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8"/>
  </p:notesMasterIdLst>
  <p:sldIdLst>
    <p:sldId id="256" r:id="rId2"/>
    <p:sldId id="258" r:id="rId3"/>
    <p:sldId id="257" r:id="rId4"/>
    <p:sldId id="270" r:id="rId5"/>
    <p:sldId id="259" r:id="rId6"/>
    <p:sldId id="263" r:id="rId7"/>
    <p:sldId id="264" r:id="rId8"/>
    <p:sldId id="269" r:id="rId9"/>
    <p:sldId id="265" r:id="rId10"/>
    <p:sldId id="267" r:id="rId11"/>
    <p:sldId id="260" r:id="rId12"/>
    <p:sldId id="274" r:id="rId13"/>
    <p:sldId id="271" r:id="rId14"/>
    <p:sldId id="272" r:id="rId15"/>
    <p:sldId id="268" r:id="rId16"/>
    <p:sldId id="261" r:id="rId17"/>
    <p:sldId id="273" r:id="rId18"/>
    <p:sldId id="262" r:id="rId19"/>
    <p:sldId id="308" r:id="rId20"/>
    <p:sldId id="293" r:id="rId21"/>
    <p:sldId id="307" r:id="rId22"/>
    <p:sldId id="303" r:id="rId23"/>
    <p:sldId id="304" r:id="rId24"/>
    <p:sldId id="285" r:id="rId25"/>
    <p:sldId id="305" r:id="rId26"/>
    <p:sldId id="306" r:id="rId2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426C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84"/>
    <p:restoredTop sz="94574"/>
  </p:normalViewPr>
  <p:slideViewPr>
    <p:cSldViewPr snapToGrid="0">
      <p:cViewPr varScale="1">
        <p:scale>
          <a:sx n="104" d="100"/>
          <a:sy n="104" d="100"/>
        </p:scale>
        <p:origin x="232" y="2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hyperlink" Target="mailto:mluquefe@ugr.es" TargetMode="External"/><Relationship Id="rId5" Type="http://schemas.openxmlformats.org/officeDocument/2006/relationships/image" Target="../media/image10.svg"/><Relationship Id="rId4" Type="http://schemas.openxmlformats.org/officeDocument/2006/relationships/image" Target="../media/image9.pn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svg"/><Relationship Id="rId1" Type="http://schemas.openxmlformats.org/officeDocument/2006/relationships/image" Target="../media/image7.png"/><Relationship Id="rId5" Type="http://schemas.openxmlformats.org/officeDocument/2006/relationships/hyperlink" Target="mailto:mluquefe@ugr.es" TargetMode="External"/><Relationship Id="rId4" Type="http://schemas.openxmlformats.org/officeDocument/2006/relationships/image" Target="../media/image10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bg_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DDE0543C-9089-411D-B9F0-DB5EE8D0C97B}" type="doc">
      <dgm:prSet loTypeId="urn:microsoft.com/office/officeart/2018/5/layout/IconLeafLabelList" loCatId="icon" qsTypeId="urn:microsoft.com/office/officeart/2005/8/quickstyle/simple1" qsCatId="simple" csTypeId="urn:microsoft.com/office/officeart/2018/5/colors/Iconchunking_neutralbg_accent1_2" csCatId="accent1" phldr="1"/>
      <dgm:spPr/>
      <dgm:t>
        <a:bodyPr/>
        <a:lstStyle/>
        <a:p>
          <a:endParaRPr lang="en-US"/>
        </a:p>
      </dgm:t>
    </dgm:pt>
    <dgm:pt modelId="{854467A9-A322-40BF-91D9-0D162ABB197C}">
      <dgm:prSet custT="1"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 sz="2400" dirty="0"/>
            <a:t>Martes</a:t>
          </a:r>
          <a:br>
            <a:rPr lang="en-US" sz="2400" dirty="0"/>
          </a:br>
          <a:r>
            <a:rPr lang="en-US" sz="2400" dirty="0" err="1"/>
            <a:t>MIéRCOLES</a:t>
          </a:r>
          <a:endParaRPr lang="en-US" sz="2400" dirty="0"/>
        </a:p>
        <a:p>
          <a:pPr>
            <a:lnSpc>
              <a:spcPct val="100000"/>
            </a:lnSpc>
            <a:defRPr cap="all"/>
          </a:pPr>
          <a:r>
            <a:rPr lang="en-US" sz="2400" dirty="0"/>
            <a:t>VIERNES</a:t>
          </a:r>
          <a:br>
            <a:rPr lang="en-US" sz="2400" dirty="0"/>
          </a:br>
          <a:r>
            <a:rPr lang="en-US" sz="2400" dirty="0"/>
            <a:t>Aula 1.16 ADT 13-14 pm </a:t>
          </a:r>
        </a:p>
        <a:p>
          <a:pPr>
            <a:lnSpc>
              <a:spcPct val="100000"/>
            </a:lnSpc>
            <a:defRPr cap="all"/>
          </a:pPr>
          <a:r>
            <a:rPr lang="en-US" sz="2400" dirty="0"/>
            <a:t>13-15 pm (</a:t>
          </a:r>
          <a:r>
            <a:rPr lang="en-US" sz="2400" dirty="0" err="1"/>
            <a:t>Miércoles</a:t>
          </a:r>
          <a:r>
            <a:rPr lang="en-US" sz="2400" dirty="0"/>
            <a:t>)* </a:t>
          </a:r>
        </a:p>
      </dgm:t>
    </dgm:pt>
    <dgm:pt modelId="{70E6BD0E-5901-4D72-814D-95C62D7F90F0}" type="parTrans" cxnId="{D2121876-1E68-4B58-8622-DB1D7D209C60}">
      <dgm:prSet/>
      <dgm:spPr/>
      <dgm:t>
        <a:bodyPr/>
        <a:lstStyle/>
        <a:p>
          <a:endParaRPr lang="en-US"/>
        </a:p>
      </dgm:t>
    </dgm:pt>
    <dgm:pt modelId="{FA6C2AAC-8023-45C3-8522-D076B74B69FD}" type="sibTrans" cxnId="{D2121876-1E68-4B58-8622-DB1D7D209C60}">
      <dgm:prSet/>
      <dgm:spPr/>
      <dgm:t>
        <a:bodyPr/>
        <a:lstStyle/>
        <a:p>
          <a:endParaRPr lang="en-US"/>
        </a:p>
      </dgm:t>
    </dgm:pt>
    <dgm:pt modelId="{DBEF29BC-95C2-40F1-8B90-685F45EDD2EE}">
      <dgm:prSet/>
      <dgm:spPr/>
      <dgm:t>
        <a:bodyPr/>
        <a:lstStyle/>
        <a:p>
          <a:pPr algn="ctr">
            <a:lnSpc>
              <a:spcPct val="100000"/>
            </a:lnSpc>
            <a:defRPr cap="all"/>
          </a:pPr>
          <a:r>
            <a:rPr lang="en-US" dirty="0" err="1"/>
            <a:t>Tutorias</a:t>
          </a:r>
          <a:r>
            <a:rPr lang="en-US" dirty="0"/>
            <a:t>:</a:t>
          </a:r>
        </a:p>
        <a:p>
          <a:pPr algn="ctr">
            <a:lnSpc>
              <a:spcPct val="100000"/>
            </a:lnSpc>
            <a:defRPr cap="all"/>
          </a:pPr>
          <a:r>
            <a:rPr lang="en-US" dirty="0"/>
            <a:t>Martes, Viernes de </a:t>
          </a:r>
        </a:p>
        <a:p>
          <a:pPr algn="ctr">
            <a:lnSpc>
              <a:spcPct val="100000"/>
            </a:lnSpc>
            <a:defRPr cap="all"/>
          </a:pPr>
          <a:r>
            <a:rPr lang="en-US" dirty="0"/>
            <a:t>8:00 a 13:00 am</a:t>
          </a:r>
        </a:p>
        <a:p>
          <a:pPr algn="ctr">
            <a:lnSpc>
              <a:spcPct val="100000"/>
            </a:lnSpc>
            <a:defRPr cap="all"/>
          </a:pPr>
          <a:r>
            <a:rPr lang="en-US" dirty="0"/>
            <a:t> </a:t>
          </a:r>
          <a:r>
            <a:rPr lang="en-US" dirty="0" err="1"/>
            <a:t>contactar</a:t>
          </a:r>
          <a:r>
            <a:rPr lang="en-US" dirty="0"/>
            <a:t> ANTES </a:t>
          </a:r>
          <a:r>
            <a:rPr lang="en-US" dirty="0" err="1"/>
            <a:t>por</a:t>
          </a:r>
          <a:r>
            <a:rPr lang="en-US" dirty="0"/>
            <a:t> email: </a:t>
          </a:r>
          <a:r>
            <a:rPr lang="en-US" dirty="0">
              <a:hlinkClick xmlns:r="http://schemas.openxmlformats.org/officeDocument/2006/relationships" r:id="rId1"/>
            </a:rPr>
            <a:t>mluquefe@ugr.es</a:t>
          </a:r>
          <a:r>
            <a:rPr lang="en-US" dirty="0"/>
            <a:t> </a:t>
          </a:r>
        </a:p>
      </dgm:t>
    </dgm:pt>
    <dgm:pt modelId="{34E9E398-4906-4ABD-83CC-B83C6C7D6031}" type="parTrans" cxnId="{4EF55426-A979-4FCD-89B7-2E127E0881EB}">
      <dgm:prSet/>
      <dgm:spPr/>
      <dgm:t>
        <a:bodyPr/>
        <a:lstStyle/>
        <a:p>
          <a:endParaRPr lang="en-US"/>
        </a:p>
      </dgm:t>
    </dgm:pt>
    <dgm:pt modelId="{0A0EDB06-B9FC-4613-A1C3-63DD9846BFC0}" type="sibTrans" cxnId="{4EF55426-A979-4FCD-89B7-2E127E0881EB}">
      <dgm:prSet/>
      <dgm:spPr/>
      <dgm:t>
        <a:bodyPr/>
        <a:lstStyle/>
        <a:p>
          <a:endParaRPr lang="en-US"/>
        </a:p>
      </dgm:t>
    </dgm:pt>
    <dgm:pt modelId="{62AFE81F-87B7-D94F-BB36-EB218F5B2309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 dirty="0" err="1"/>
            <a:t>Prácticas</a:t>
          </a:r>
          <a:r>
            <a:rPr lang="en-US" dirty="0"/>
            <a:t>: GRUPOs 1 y 2</a:t>
          </a:r>
        </a:p>
        <a:p>
          <a:pPr>
            <a:lnSpc>
              <a:spcPct val="100000"/>
            </a:lnSpc>
            <a:defRPr cap="all"/>
          </a:pPr>
          <a:r>
            <a:rPr lang="en-US" dirty="0"/>
            <a:t>Grupo 2 </a:t>
          </a:r>
          <a:r>
            <a:rPr lang="en-US" dirty="0" err="1"/>
            <a:t>Profesor</a:t>
          </a:r>
          <a:endParaRPr lang="en-US" dirty="0"/>
        </a:p>
        <a:p>
          <a:pPr>
            <a:lnSpc>
              <a:spcPct val="100000"/>
            </a:lnSpc>
            <a:defRPr cap="all"/>
          </a:pPr>
          <a:r>
            <a:rPr lang="en-US" dirty="0"/>
            <a:t> </a:t>
          </a:r>
        </a:p>
        <a:p>
          <a:pPr>
            <a:lnSpc>
              <a:spcPct val="100000"/>
            </a:lnSpc>
            <a:defRPr cap="all"/>
          </a:pPr>
          <a:endParaRPr lang="en-US" dirty="0"/>
        </a:p>
      </dgm:t>
    </dgm:pt>
    <dgm:pt modelId="{C15FEE23-E6A1-CE48-B88C-C2BDCD2679D7}" type="parTrans" cxnId="{3C83898B-C866-F843-9430-178E27110B9D}">
      <dgm:prSet/>
      <dgm:spPr/>
      <dgm:t>
        <a:bodyPr/>
        <a:lstStyle/>
        <a:p>
          <a:endParaRPr lang="en-US"/>
        </a:p>
      </dgm:t>
    </dgm:pt>
    <dgm:pt modelId="{245E288A-BB15-7C49-9304-785F3F2C334B}" type="sibTrans" cxnId="{3C83898B-C866-F843-9430-178E27110B9D}">
      <dgm:prSet/>
      <dgm:spPr/>
      <dgm:t>
        <a:bodyPr/>
        <a:lstStyle/>
        <a:p>
          <a:endParaRPr lang="en-US"/>
        </a:p>
      </dgm:t>
    </dgm:pt>
    <dgm:pt modelId="{6C3CE681-D18C-4921-A5D4-075C13294623}" type="pres">
      <dgm:prSet presAssocID="{DDE0543C-9089-411D-B9F0-DB5EE8D0C97B}" presName="root" presStyleCnt="0">
        <dgm:presLayoutVars>
          <dgm:dir/>
          <dgm:resizeHandles val="exact"/>
        </dgm:presLayoutVars>
      </dgm:prSet>
      <dgm:spPr/>
    </dgm:pt>
    <dgm:pt modelId="{6D56F140-1B73-4239-8381-B4BD1D653FE4}" type="pres">
      <dgm:prSet presAssocID="{854467A9-A322-40BF-91D9-0D162ABB197C}" presName="compNode" presStyleCnt="0"/>
      <dgm:spPr/>
    </dgm:pt>
    <dgm:pt modelId="{0DDEAFDB-4AB1-4C15-B42C-4E3ABDC1DC66}" type="pres">
      <dgm:prSet presAssocID="{854467A9-A322-40BF-91D9-0D162ABB197C}" presName="iconBgRect" presStyleLbl="bgShp" presStyleIdx="0" presStyleCnt="3"/>
      <dgm:spPr>
        <a:prstGeom prst="round2DiagRect">
          <a:avLst>
            <a:gd name="adj1" fmla="val 29727"/>
            <a:gd name="adj2" fmla="val 0"/>
          </a:avLst>
        </a:prstGeom>
      </dgm:spPr>
    </dgm:pt>
    <dgm:pt modelId="{6353FE6D-A0C9-46D6-B042-05CB143BA9B4}" type="pres">
      <dgm:prSet presAssocID="{854467A9-A322-40BF-91D9-0D162ABB197C}" presName="iconRect" presStyleLbl="node1" presStyleIdx="0" presStyleCnt="3"/>
      <dgm:spPr>
        <a:blipFill>
          <a:blip xmlns:r="http://schemas.openxmlformats.org/officeDocument/2006/relationships"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erson Eating"/>
        </a:ext>
      </dgm:extLst>
    </dgm:pt>
    <dgm:pt modelId="{5E48123C-15B4-4245-A7F1-02E299B7EBDD}" type="pres">
      <dgm:prSet presAssocID="{854467A9-A322-40BF-91D9-0D162ABB197C}" presName="spaceRect" presStyleCnt="0"/>
      <dgm:spPr/>
    </dgm:pt>
    <dgm:pt modelId="{C99B695A-0523-4E2B-ACD5-6CC4C28E8058}" type="pres">
      <dgm:prSet presAssocID="{854467A9-A322-40BF-91D9-0D162ABB197C}" presName="textRect" presStyleLbl="revTx" presStyleIdx="0" presStyleCnt="3" custScaleX="168404" custLinFactNeighborX="-2508" custLinFactNeighborY="-21044">
        <dgm:presLayoutVars>
          <dgm:chMax val="1"/>
          <dgm:chPref val="1"/>
        </dgm:presLayoutVars>
      </dgm:prSet>
      <dgm:spPr/>
    </dgm:pt>
    <dgm:pt modelId="{B25B6738-4457-436A-946E-A81DE2FE21F3}" type="pres">
      <dgm:prSet presAssocID="{FA6C2AAC-8023-45C3-8522-D076B74B69FD}" presName="sibTrans" presStyleCnt="0"/>
      <dgm:spPr/>
    </dgm:pt>
    <dgm:pt modelId="{2873D154-B5EB-F64A-8863-7AEB11527879}" type="pres">
      <dgm:prSet presAssocID="{62AFE81F-87B7-D94F-BB36-EB218F5B2309}" presName="compNode" presStyleCnt="0"/>
      <dgm:spPr/>
    </dgm:pt>
    <dgm:pt modelId="{46C9AEB6-6282-3B41-9E7E-887D2BF090E2}" type="pres">
      <dgm:prSet presAssocID="{62AFE81F-87B7-D94F-BB36-EB218F5B2309}" presName="iconBgRect" presStyleLbl="bgShp" presStyleIdx="1" presStyleCnt="3"/>
      <dgm:spPr>
        <a:prstGeom prst="round2DiagRect">
          <a:avLst>
            <a:gd name="adj1" fmla="val 29727"/>
            <a:gd name="adj2" fmla="val 0"/>
          </a:avLst>
        </a:prstGeom>
      </dgm:spPr>
    </dgm:pt>
    <dgm:pt modelId="{FA26252F-90A3-534D-8F1C-3F73515642EC}" type="pres">
      <dgm:prSet presAssocID="{62AFE81F-87B7-D94F-BB36-EB218F5B2309}" presName="iconRect" presStyleLbl="node1" presStyleIdx="1" presStyleCnt="3"/>
      <dgm:spPr/>
    </dgm:pt>
    <dgm:pt modelId="{BBF0C519-C808-CE4C-9E53-43F24483853F}" type="pres">
      <dgm:prSet presAssocID="{62AFE81F-87B7-D94F-BB36-EB218F5B2309}" presName="spaceRect" presStyleCnt="0"/>
      <dgm:spPr/>
    </dgm:pt>
    <dgm:pt modelId="{6EF693F5-704D-CD4B-97A6-D49589CE7D41}" type="pres">
      <dgm:prSet presAssocID="{62AFE81F-87B7-D94F-BB36-EB218F5B2309}" presName="textRect" presStyleLbl="revTx" presStyleIdx="1" presStyleCnt="3" custScaleX="110800">
        <dgm:presLayoutVars>
          <dgm:chMax val="1"/>
          <dgm:chPref val="1"/>
        </dgm:presLayoutVars>
      </dgm:prSet>
      <dgm:spPr/>
    </dgm:pt>
    <dgm:pt modelId="{8BCC1827-B0CD-3240-859F-867D2756B4BE}" type="pres">
      <dgm:prSet presAssocID="{245E288A-BB15-7C49-9304-785F3F2C334B}" presName="sibTrans" presStyleCnt="0"/>
      <dgm:spPr/>
    </dgm:pt>
    <dgm:pt modelId="{FC6ECAC3-C928-4B49-B729-8DE1BB0370BC}" type="pres">
      <dgm:prSet presAssocID="{DBEF29BC-95C2-40F1-8B90-685F45EDD2EE}" presName="compNode" presStyleCnt="0"/>
      <dgm:spPr/>
    </dgm:pt>
    <dgm:pt modelId="{2ABC740C-8AEB-42CE-94DD-9C82AD35A5BB}" type="pres">
      <dgm:prSet presAssocID="{DBEF29BC-95C2-40F1-8B90-685F45EDD2EE}" presName="iconBgRect" presStyleLbl="bgShp" presStyleIdx="2" presStyleCnt="3"/>
      <dgm:spPr>
        <a:prstGeom prst="round2DiagRect">
          <a:avLst>
            <a:gd name="adj1" fmla="val 29727"/>
            <a:gd name="adj2" fmla="val 0"/>
          </a:avLst>
        </a:prstGeom>
      </dgm:spPr>
    </dgm:pt>
    <dgm:pt modelId="{1E8533A1-8EFE-4637-BC98-5CB5F956FA8E}" type="pres">
      <dgm:prSet presAssocID="{DBEF29BC-95C2-40F1-8B90-685F45EDD2EE}" presName="iconRect" presStyleLbl="node1" presStyleIdx="2" presStyleCnt="3"/>
      <dgm:spPr>
        <a:blipFill>
          <a:blip xmlns:r="http://schemas.openxmlformats.org/officeDocument/2006/relationships"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Envelope"/>
        </a:ext>
      </dgm:extLst>
    </dgm:pt>
    <dgm:pt modelId="{88CA614C-9EAB-4F68-8718-34478885B391}" type="pres">
      <dgm:prSet presAssocID="{DBEF29BC-95C2-40F1-8B90-685F45EDD2EE}" presName="spaceRect" presStyleCnt="0"/>
      <dgm:spPr/>
    </dgm:pt>
    <dgm:pt modelId="{C6593CEF-FC44-4D2B-B87F-99AAC99C7649}" type="pres">
      <dgm:prSet presAssocID="{DBEF29BC-95C2-40F1-8B90-685F45EDD2EE}" presName="textRect" presStyleLbl="revTx" presStyleIdx="2" presStyleCnt="3" custScaleX="167437" custLinFactNeighborX="6049" custLinFactNeighborY="-7307">
        <dgm:presLayoutVars>
          <dgm:chMax val="1"/>
          <dgm:chPref val="1"/>
        </dgm:presLayoutVars>
      </dgm:prSet>
      <dgm:spPr/>
    </dgm:pt>
  </dgm:ptLst>
  <dgm:cxnLst>
    <dgm:cxn modelId="{4EF55426-A979-4FCD-89B7-2E127E0881EB}" srcId="{DDE0543C-9089-411D-B9F0-DB5EE8D0C97B}" destId="{DBEF29BC-95C2-40F1-8B90-685F45EDD2EE}" srcOrd="2" destOrd="0" parTransId="{34E9E398-4906-4ABD-83CC-B83C6C7D6031}" sibTransId="{0A0EDB06-B9FC-4613-A1C3-63DD9846BFC0}"/>
    <dgm:cxn modelId="{5674F941-2AB8-4818-87E1-3652F76F5DE2}" type="presOf" srcId="{DBEF29BC-95C2-40F1-8B90-685F45EDD2EE}" destId="{C6593CEF-FC44-4D2B-B87F-99AAC99C7649}" srcOrd="0" destOrd="0" presId="urn:microsoft.com/office/officeart/2018/5/layout/IconLeafLabelList"/>
    <dgm:cxn modelId="{D2121876-1E68-4B58-8622-DB1D7D209C60}" srcId="{DDE0543C-9089-411D-B9F0-DB5EE8D0C97B}" destId="{854467A9-A322-40BF-91D9-0D162ABB197C}" srcOrd="0" destOrd="0" parTransId="{70E6BD0E-5901-4D72-814D-95C62D7F90F0}" sibTransId="{FA6C2AAC-8023-45C3-8522-D076B74B69FD}"/>
    <dgm:cxn modelId="{2F810484-B0C0-4F8D-A899-99C546F613B6}" type="presOf" srcId="{854467A9-A322-40BF-91D9-0D162ABB197C}" destId="{C99B695A-0523-4E2B-ACD5-6CC4C28E8058}" srcOrd="0" destOrd="0" presId="urn:microsoft.com/office/officeart/2018/5/layout/IconLeafLabelList"/>
    <dgm:cxn modelId="{948B9388-7FBC-9E4C-93A8-8D001605E6D4}" type="presOf" srcId="{62AFE81F-87B7-D94F-BB36-EB218F5B2309}" destId="{6EF693F5-704D-CD4B-97A6-D49589CE7D41}" srcOrd="0" destOrd="0" presId="urn:microsoft.com/office/officeart/2018/5/layout/IconLeafLabelList"/>
    <dgm:cxn modelId="{3C83898B-C866-F843-9430-178E27110B9D}" srcId="{DDE0543C-9089-411D-B9F0-DB5EE8D0C97B}" destId="{62AFE81F-87B7-D94F-BB36-EB218F5B2309}" srcOrd="1" destOrd="0" parTransId="{C15FEE23-E6A1-CE48-B88C-C2BDCD2679D7}" sibTransId="{245E288A-BB15-7C49-9304-785F3F2C334B}"/>
    <dgm:cxn modelId="{0C546CC0-68EE-46D4-90EB-CF5C58ED9F30}" type="presOf" srcId="{DDE0543C-9089-411D-B9F0-DB5EE8D0C97B}" destId="{6C3CE681-D18C-4921-A5D4-075C13294623}" srcOrd="0" destOrd="0" presId="urn:microsoft.com/office/officeart/2018/5/layout/IconLeafLabelList"/>
    <dgm:cxn modelId="{C312EDDF-A302-46BC-8C45-5EBA1371F593}" type="presParOf" srcId="{6C3CE681-D18C-4921-A5D4-075C13294623}" destId="{6D56F140-1B73-4239-8381-B4BD1D653FE4}" srcOrd="0" destOrd="0" presId="urn:microsoft.com/office/officeart/2018/5/layout/IconLeafLabelList"/>
    <dgm:cxn modelId="{A8BB1432-67AC-4C7C-BAC7-9B1EFC4CE68F}" type="presParOf" srcId="{6D56F140-1B73-4239-8381-B4BD1D653FE4}" destId="{0DDEAFDB-4AB1-4C15-B42C-4E3ABDC1DC66}" srcOrd="0" destOrd="0" presId="urn:microsoft.com/office/officeart/2018/5/layout/IconLeafLabelList"/>
    <dgm:cxn modelId="{5660A12C-B185-48B4-8169-0649B8A48640}" type="presParOf" srcId="{6D56F140-1B73-4239-8381-B4BD1D653FE4}" destId="{6353FE6D-A0C9-46D6-B042-05CB143BA9B4}" srcOrd="1" destOrd="0" presId="urn:microsoft.com/office/officeart/2018/5/layout/IconLeafLabelList"/>
    <dgm:cxn modelId="{A1C27378-8883-44E0-9AAE-9D3FDC9F4C53}" type="presParOf" srcId="{6D56F140-1B73-4239-8381-B4BD1D653FE4}" destId="{5E48123C-15B4-4245-A7F1-02E299B7EBDD}" srcOrd="2" destOrd="0" presId="urn:microsoft.com/office/officeart/2018/5/layout/IconLeafLabelList"/>
    <dgm:cxn modelId="{C22ADD81-7113-478B-9862-EDE32704B858}" type="presParOf" srcId="{6D56F140-1B73-4239-8381-B4BD1D653FE4}" destId="{C99B695A-0523-4E2B-ACD5-6CC4C28E8058}" srcOrd="3" destOrd="0" presId="urn:microsoft.com/office/officeart/2018/5/layout/IconLeafLabelList"/>
    <dgm:cxn modelId="{718C8378-B931-4977-9060-0CDBFC50533E}" type="presParOf" srcId="{6C3CE681-D18C-4921-A5D4-075C13294623}" destId="{B25B6738-4457-436A-946E-A81DE2FE21F3}" srcOrd="1" destOrd="0" presId="urn:microsoft.com/office/officeart/2018/5/layout/IconLeafLabelList"/>
    <dgm:cxn modelId="{B4C6D471-CBE5-5D46-A872-F518277ADD9A}" type="presParOf" srcId="{6C3CE681-D18C-4921-A5D4-075C13294623}" destId="{2873D154-B5EB-F64A-8863-7AEB11527879}" srcOrd="2" destOrd="0" presId="urn:microsoft.com/office/officeart/2018/5/layout/IconLeafLabelList"/>
    <dgm:cxn modelId="{AD0BE073-0DB1-3D46-8871-1DAE80BB5F36}" type="presParOf" srcId="{2873D154-B5EB-F64A-8863-7AEB11527879}" destId="{46C9AEB6-6282-3B41-9E7E-887D2BF090E2}" srcOrd="0" destOrd="0" presId="urn:microsoft.com/office/officeart/2018/5/layout/IconLeafLabelList"/>
    <dgm:cxn modelId="{EBFEA1FF-C740-1C4B-B4E5-44E09137AC9B}" type="presParOf" srcId="{2873D154-B5EB-F64A-8863-7AEB11527879}" destId="{FA26252F-90A3-534D-8F1C-3F73515642EC}" srcOrd="1" destOrd="0" presId="urn:microsoft.com/office/officeart/2018/5/layout/IconLeafLabelList"/>
    <dgm:cxn modelId="{7FC63750-899F-164A-987A-6D249FF33275}" type="presParOf" srcId="{2873D154-B5EB-F64A-8863-7AEB11527879}" destId="{BBF0C519-C808-CE4C-9E53-43F24483853F}" srcOrd="2" destOrd="0" presId="urn:microsoft.com/office/officeart/2018/5/layout/IconLeafLabelList"/>
    <dgm:cxn modelId="{BF876F13-8B7A-DD47-AA18-1FF3D6C7FC30}" type="presParOf" srcId="{2873D154-B5EB-F64A-8863-7AEB11527879}" destId="{6EF693F5-704D-CD4B-97A6-D49589CE7D41}" srcOrd="3" destOrd="0" presId="urn:microsoft.com/office/officeart/2018/5/layout/IconLeafLabelList"/>
    <dgm:cxn modelId="{4CA5A00B-83C0-354A-AD69-28D85CD9E172}" type="presParOf" srcId="{6C3CE681-D18C-4921-A5D4-075C13294623}" destId="{8BCC1827-B0CD-3240-859F-867D2756B4BE}" srcOrd="3" destOrd="0" presId="urn:microsoft.com/office/officeart/2018/5/layout/IconLeafLabelList"/>
    <dgm:cxn modelId="{901F593C-113F-47AB-B48F-D718888BCC08}" type="presParOf" srcId="{6C3CE681-D18C-4921-A5D4-075C13294623}" destId="{FC6ECAC3-C928-4B49-B729-8DE1BB0370BC}" srcOrd="4" destOrd="0" presId="urn:microsoft.com/office/officeart/2018/5/layout/IconLeafLabelList"/>
    <dgm:cxn modelId="{0324B8AB-E2F6-4442-A44A-A8A122FCE095}" type="presParOf" srcId="{FC6ECAC3-C928-4B49-B729-8DE1BB0370BC}" destId="{2ABC740C-8AEB-42CE-94DD-9C82AD35A5BB}" srcOrd="0" destOrd="0" presId="urn:microsoft.com/office/officeart/2018/5/layout/IconLeafLabelList"/>
    <dgm:cxn modelId="{8A7D2DF8-0698-4DC0-BA39-DF72A6D9CDF7}" type="presParOf" srcId="{FC6ECAC3-C928-4B49-B729-8DE1BB0370BC}" destId="{1E8533A1-8EFE-4637-BC98-5CB5F956FA8E}" srcOrd="1" destOrd="0" presId="urn:microsoft.com/office/officeart/2018/5/layout/IconLeafLabelList"/>
    <dgm:cxn modelId="{0DACDA47-63FC-42A3-BD54-6CD94D197C19}" type="presParOf" srcId="{FC6ECAC3-C928-4B49-B729-8DE1BB0370BC}" destId="{88CA614C-9EAB-4F68-8718-34478885B391}" srcOrd="2" destOrd="0" presId="urn:microsoft.com/office/officeart/2018/5/layout/IconLeafLabelList"/>
    <dgm:cxn modelId="{C6E39F3C-6836-46FB-A632-ED3A02F6EF59}" type="presParOf" srcId="{FC6ECAC3-C928-4B49-B729-8DE1BB0370BC}" destId="{C6593CEF-FC44-4D2B-B87F-99AAC99C7649}" srcOrd="3" destOrd="0" presId="urn:microsoft.com/office/officeart/2018/5/layout/IconLeaf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DDEAFDB-4AB1-4C15-B42C-4E3ABDC1DC66}">
      <dsp:nvSpPr>
        <dsp:cNvPr id="0" name=""/>
        <dsp:cNvSpPr/>
      </dsp:nvSpPr>
      <dsp:spPr>
        <a:xfrm>
          <a:off x="1283068" y="148592"/>
          <a:ext cx="1441125" cy="1441125"/>
        </a:xfrm>
        <a:prstGeom prst="round2DiagRect">
          <a:avLst>
            <a:gd name="adj1" fmla="val 29727"/>
            <a:gd name="adj2" fmla="val 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353FE6D-A0C9-46D6-B042-05CB143BA9B4}">
      <dsp:nvSpPr>
        <dsp:cNvPr id="0" name=""/>
        <dsp:cNvSpPr/>
      </dsp:nvSpPr>
      <dsp:spPr>
        <a:xfrm>
          <a:off x="1590193" y="455717"/>
          <a:ext cx="826875" cy="826875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99B695A-0523-4E2B-ACD5-6CC4C28E8058}">
      <dsp:nvSpPr>
        <dsp:cNvPr id="0" name=""/>
        <dsp:cNvSpPr/>
      </dsp:nvSpPr>
      <dsp:spPr>
        <a:xfrm>
          <a:off x="0" y="1583168"/>
          <a:ext cx="3978544" cy="216415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0668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2400" kern="1200" dirty="0"/>
            <a:t>Martes</a:t>
          </a:r>
          <a:br>
            <a:rPr lang="en-US" sz="2400" kern="1200" dirty="0"/>
          </a:br>
          <a:r>
            <a:rPr lang="en-US" sz="2400" kern="1200" dirty="0" err="1"/>
            <a:t>MIéRCOLES</a:t>
          </a:r>
          <a:endParaRPr lang="en-US" sz="2400" kern="1200" dirty="0"/>
        </a:p>
        <a:p>
          <a:pPr marL="0" lvl="0" indent="0" algn="ctr" defTabSz="10668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2400" kern="1200" dirty="0"/>
            <a:t>VIERNES</a:t>
          </a:r>
          <a:br>
            <a:rPr lang="en-US" sz="2400" kern="1200" dirty="0"/>
          </a:br>
          <a:r>
            <a:rPr lang="en-US" sz="2400" kern="1200" dirty="0"/>
            <a:t>Aula 1.16 ADT 13-14 pm </a:t>
          </a:r>
        </a:p>
        <a:p>
          <a:pPr marL="0" lvl="0" indent="0" algn="ctr" defTabSz="10668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2400" kern="1200" dirty="0"/>
            <a:t>13-15 pm (</a:t>
          </a:r>
          <a:r>
            <a:rPr lang="en-US" sz="2400" kern="1200" dirty="0" err="1"/>
            <a:t>Miércoles</a:t>
          </a:r>
          <a:r>
            <a:rPr lang="en-US" sz="2400" kern="1200" dirty="0"/>
            <a:t>)* </a:t>
          </a:r>
        </a:p>
      </dsp:txBody>
      <dsp:txXfrm>
        <a:off x="0" y="1583168"/>
        <a:ext cx="3978544" cy="2164152"/>
      </dsp:txXfrm>
    </dsp:sp>
    <dsp:sp modelId="{46C9AEB6-6282-3B41-9E7E-887D2BF090E2}">
      <dsp:nvSpPr>
        <dsp:cNvPr id="0" name=""/>
        <dsp:cNvSpPr/>
      </dsp:nvSpPr>
      <dsp:spPr>
        <a:xfrm>
          <a:off x="4994603" y="148592"/>
          <a:ext cx="1441125" cy="1441125"/>
        </a:xfrm>
        <a:prstGeom prst="round2DiagRect">
          <a:avLst>
            <a:gd name="adj1" fmla="val 29727"/>
            <a:gd name="adj2" fmla="val 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A26252F-90A3-534D-8F1C-3F73515642EC}">
      <dsp:nvSpPr>
        <dsp:cNvPr id="0" name=""/>
        <dsp:cNvSpPr/>
      </dsp:nvSpPr>
      <dsp:spPr>
        <a:xfrm>
          <a:off x="5301728" y="455717"/>
          <a:ext cx="826875" cy="82687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alpha val="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EF693F5-704D-CD4B-97A6-D49589CE7D41}">
      <dsp:nvSpPr>
        <dsp:cNvPr id="0" name=""/>
        <dsp:cNvSpPr/>
      </dsp:nvSpPr>
      <dsp:spPr>
        <a:xfrm>
          <a:off x="4406341" y="2038592"/>
          <a:ext cx="2617649" cy="216415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9334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2100" kern="1200" dirty="0" err="1"/>
            <a:t>Prácticas</a:t>
          </a:r>
          <a:r>
            <a:rPr lang="en-US" sz="2100" kern="1200" dirty="0"/>
            <a:t>: GRUPOs 1 y 2</a:t>
          </a:r>
        </a:p>
        <a:p>
          <a:pPr marL="0" lvl="0" indent="0" algn="ctr" defTabSz="9334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2100" kern="1200" dirty="0"/>
            <a:t>Grupo 2 </a:t>
          </a:r>
          <a:r>
            <a:rPr lang="en-US" sz="2100" kern="1200" dirty="0" err="1"/>
            <a:t>Profesor</a:t>
          </a:r>
          <a:endParaRPr lang="en-US" sz="2100" kern="1200" dirty="0"/>
        </a:p>
        <a:p>
          <a:pPr marL="0" lvl="0" indent="0" algn="ctr" defTabSz="9334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2100" kern="1200" dirty="0"/>
            <a:t> </a:t>
          </a:r>
        </a:p>
        <a:p>
          <a:pPr marL="0" lvl="0" indent="0" algn="ctr" defTabSz="9334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endParaRPr lang="en-US" sz="2100" kern="1200" dirty="0"/>
        </a:p>
      </dsp:txBody>
      <dsp:txXfrm>
        <a:off x="4406341" y="2038592"/>
        <a:ext cx="2617649" cy="2164152"/>
      </dsp:txXfrm>
    </dsp:sp>
    <dsp:sp modelId="{2ABC740C-8AEB-42CE-94DD-9C82AD35A5BB}">
      <dsp:nvSpPr>
        <dsp:cNvPr id="0" name=""/>
        <dsp:cNvSpPr/>
      </dsp:nvSpPr>
      <dsp:spPr>
        <a:xfrm>
          <a:off x="8694715" y="148592"/>
          <a:ext cx="1441125" cy="1441125"/>
        </a:xfrm>
        <a:prstGeom prst="round2DiagRect">
          <a:avLst>
            <a:gd name="adj1" fmla="val 29727"/>
            <a:gd name="adj2" fmla="val 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E8533A1-8EFE-4637-BC98-5CB5F956FA8E}">
      <dsp:nvSpPr>
        <dsp:cNvPr id="0" name=""/>
        <dsp:cNvSpPr/>
      </dsp:nvSpPr>
      <dsp:spPr>
        <a:xfrm>
          <a:off x="9001840" y="455717"/>
          <a:ext cx="826875" cy="826875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6593CEF-FC44-4D2B-B87F-99AAC99C7649}">
      <dsp:nvSpPr>
        <dsp:cNvPr id="0" name=""/>
        <dsp:cNvSpPr/>
      </dsp:nvSpPr>
      <dsp:spPr>
        <a:xfrm>
          <a:off x="7451787" y="1880457"/>
          <a:ext cx="3955699" cy="216415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9334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2100" kern="1200" dirty="0" err="1"/>
            <a:t>Tutorias</a:t>
          </a:r>
          <a:r>
            <a:rPr lang="en-US" sz="2100" kern="1200" dirty="0"/>
            <a:t>:</a:t>
          </a:r>
        </a:p>
        <a:p>
          <a:pPr marL="0" lvl="0" indent="0" algn="ctr" defTabSz="9334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2100" kern="1200" dirty="0"/>
            <a:t>Martes, Viernes de </a:t>
          </a:r>
        </a:p>
        <a:p>
          <a:pPr marL="0" lvl="0" indent="0" algn="ctr" defTabSz="9334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2100" kern="1200" dirty="0"/>
            <a:t>8:00 a 13:00 am</a:t>
          </a:r>
        </a:p>
        <a:p>
          <a:pPr marL="0" lvl="0" indent="0" algn="ctr" defTabSz="9334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2100" kern="1200" dirty="0"/>
            <a:t> </a:t>
          </a:r>
          <a:r>
            <a:rPr lang="en-US" sz="2100" kern="1200" dirty="0" err="1"/>
            <a:t>contactar</a:t>
          </a:r>
          <a:r>
            <a:rPr lang="en-US" sz="2100" kern="1200" dirty="0"/>
            <a:t> ANTES </a:t>
          </a:r>
          <a:r>
            <a:rPr lang="en-US" sz="2100" kern="1200" dirty="0" err="1"/>
            <a:t>por</a:t>
          </a:r>
          <a:r>
            <a:rPr lang="en-US" sz="2100" kern="1200" dirty="0"/>
            <a:t> email: </a:t>
          </a:r>
          <a:r>
            <a:rPr lang="en-US" sz="2100" kern="1200" dirty="0">
              <a:hlinkClick xmlns:r="http://schemas.openxmlformats.org/officeDocument/2006/relationships" r:id="rId5"/>
            </a:rPr>
            <a:t>mluquefe@ugr.es</a:t>
          </a:r>
          <a:r>
            <a:rPr lang="en-US" sz="2100" kern="1200" dirty="0"/>
            <a:t> </a:t>
          </a:r>
        </a:p>
      </dsp:txBody>
      <dsp:txXfrm>
        <a:off x="7451787" y="1880457"/>
        <a:ext cx="3955699" cy="216415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5/layout/IconLeafLabelList">
  <dgm:title val="Icon Leaf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round2DiagRect" r:blip="">
            <dgm:adjLst/>
            <dgm:extLst>
              <a:ext uri="{B698B0E9-8C71-41B9-8309-B3DCBF30829C}">
                <dgm1612:spPr xmlns:dgm1612="http://schemas.microsoft.com/office/drawing/2016/12/diagram">
                  <a:prstGeom prst="round2DiagRect">
                    <a:avLst>
                      <a:gd name="adj1" fmla="val 29727"/>
                      <a:gd name="adj2" fmla="val 0"/>
                    </a:avLst>
                  </a:prstGeom>
                </dgm1612:spPr>
              </a:ext>
            </dgm:ext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D4CE1C1-BA49-844F-8992-609D008D8EA6}" type="datetimeFigureOut">
              <a:rPr lang="en-US" smtClean="0"/>
              <a:t>7/24/25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033AF8C-4042-ED48-BE21-523A89D99C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328578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033AF8C-4042-ED48-BE21-523A89D99C76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929386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eaLnBrk="0" hangingPunct="0">
              <a:defRPr sz="13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13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13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13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13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fld id="{8C7D1ECB-55E0-4539-9117-AE601DC95656}" type="slidenum">
              <a:rPr lang="es-ES" altLang="es-ES" sz="1200" smtClean="0"/>
              <a:pPr eaLnBrk="1" hangingPunct="1"/>
              <a:t>20</a:t>
            </a:fld>
            <a:endParaRPr lang="es-ES" altLang="es-ES" sz="1200"/>
          </a:p>
        </p:txBody>
      </p:sp>
      <p:sp>
        <p:nvSpPr>
          <p:cNvPr id="122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292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s-ES" altLang="es-E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eaLnBrk="0" hangingPunct="0">
              <a:defRPr sz="13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13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13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13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13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fld id="{6FB4A57F-76E7-47B3-9D3F-90A5A62DC53A}" type="slidenum">
              <a:rPr lang="es-ES" altLang="es-ES" sz="1200" smtClean="0"/>
              <a:pPr eaLnBrk="1" hangingPunct="1"/>
              <a:t>24</a:t>
            </a:fld>
            <a:endParaRPr lang="es-ES" altLang="es-ES" sz="1200"/>
          </a:p>
        </p:txBody>
      </p:sp>
      <p:sp>
        <p:nvSpPr>
          <p:cNvPr id="133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316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s-ES" altLang="es-E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1AAAAA-7B89-2930-61A0-18368770A04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A59F1DB-A39E-F0DA-D48A-711E7B2DDF3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D1F9AE-E9CD-9A51-ECD4-2DD2B1209A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C43608-4B30-4D4D-BF06-6E5C57997B9B}" type="datetimeFigureOut">
              <a:rPr lang="en-US" smtClean="0"/>
              <a:t>7/24/25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052DAD-827D-AC3D-1026-8039012FE3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D6AD96-4D42-24F4-60EE-D256BB1BA8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FDEBED-6CF6-D74F-B424-6A8B70952E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63328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FB8D0A-9199-7D83-9054-C2938C6396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43FDD9-BC49-50EF-4027-BEE99E56E40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A12BC9-4175-4DBA-1613-1FCE02B7B1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C43608-4B30-4D4D-BF06-6E5C57997B9B}" type="datetimeFigureOut">
              <a:rPr lang="en-US" smtClean="0"/>
              <a:t>7/24/25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DD832A-9AD9-F1EC-004C-A496DE97E4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FE16FA-71FA-2F1E-289C-306C6D497D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FDEBED-6CF6-D74F-B424-6A8B70952E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92731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1BBBAC-EB53-976F-157F-AA7E982BC8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8B77C54-67BB-B5D7-42B6-516B356F29E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497AB4-87C4-6E95-DD2A-19E51F38FB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C43608-4B30-4D4D-BF06-6E5C57997B9B}" type="datetimeFigureOut">
              <a:rPr lang="en-US" smtClean="0"/>
              <a:t>7/24/25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3506D52-2663-3B35-6DF0-CD8B8054E0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355FD3-2A94-EB56-5A55-3D6E3F5E8C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FDEBED-6CF6-D74F-B424-6A8B70952E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00103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125618-E77E-3307-ABAA-56FAE74243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509ECF-C3A7-DD8F-1B48-002FF7D0CB8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EC994D5-93F3-D92F-3BFE-9A0FC909E26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7A31800-52F3-6F06-4C9A-CC78404CD7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C43608-4B30-4D4D-BF06-6E5C57997B9B}" type="datetimeFigureOut">
              <a:rPr lang="en-US" smtClean="0"/>
              <a:t>7/24/25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27E22B7-7322-BA76-97AC-A38E4E506A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A268C71-5B8F-DA3F-5255-228FE54085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FDEBED-6CF6-D74F-B424-6A8B70952E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94561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572618-5B00-B5CB-F4EB-3B45239216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DB973B-A53C-CF6F-258E-31FE02D878F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42E2D5A-8A37-FFD9-4E81-F36297C2A6A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B1326E2-C5BA-A3A3-016A-EA7205C5885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3E0EFB0-D805-F2B7-555F-AE0CC86C84B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64E4690-03ED-9560-8C84-D60A23430F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C43608-4B30-4D4D-BF06-6E5C57997B9B}" type="datetimeFigureOut">
              <a:rPr lang="en-US" smtClean="0"/>
              <a:t>7/24/25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75492AD-644C-9A6A-38D1-4695328CA0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CEE59BC-9338-8A39-3BF8-F18E24DCC5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FDEBED-6CF6-D74F-B424-6A8B70952E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7439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45C4D0-4FDD-0B51-42CA-9E4091D269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A31F02D-C983-1A53-5078-0118817494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C43608-4B30-4D4D-BF06-6E5C57997B9B}" type="datetimeFigureOut">
              <a:rPr lang="en-US" smtClean="0"/>
              <a:t>7/24/25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06F5359-9CAF-44E9-7AB8-2D02471DCB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DC80FEA-6496-F1B2-036A-5377A1CB5B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FDEBED-6CF6-D74F-B424-6A8B70952E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22678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402D271-5BEA-56D9-72D4-BEE37764DE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C43608-4B30-4D4D-BF06-6E5C57997B9B}" type="datetimeFigureOut">
              <a:rPr lang="en-US" smtClean="0"/>
              <a:t>7/24/25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A10AA58-11E6-1A8D-1CFB-0ECCC720C2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1D677EF-0E96-2260-1AFF-B9D2C9CD14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FDEBED-6CF6-D74F-B424-6A8B70952E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63650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AF2BEE-F46D-8761-2F57-38EF42C746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F53F41-F522-7F5C-F884-351827DD5D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376388D-8C1A-FEC6-8A3F-5A87F802F5D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F8A9F2D-92CC-75A3-22C9-47269B3DB8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C43608-4B30-4D4D-BF06-6E5C57997B9B}" type="datetimeFigureOut">
              <a:rPr lang="en-US" smtClean="0"/>
              <a:t>7/24/25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B7455AF-6E95-C8A9-C748-7A123688D0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0AF9883-A9BA-5FC8-0DFF-BB779D09D1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FDEBED-6CF6-D74F-B424-6A8B70952E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5740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50AC12-0BE1-B6F7-4970-D259B8EE24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9A68F7D-4CC5-E2C6-368C-75718DA11B7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19D9E10-57E2-0B67-B5AC-EEA456C1321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CA5570A-3FA9-4262-A3B2-4736D40F29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C43608-4B30-4D4D-BF06-6E5C57997B9B}" type="datetimeFigureOut">
              <a:rPr lang="en-US" smtClean="0"/>
              <a:t>7/24/25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18FB445-754B-29BB-0F7C-F01DFFC442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18F72A1-81E2-B265-10B4-0D7576B324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FDEBED-6CF6-D74F-B424-6A8B70952E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45226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CB5BAF-280E-9270-6B7B-D9210AB76A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A764D9C-4305-1E74-061D-0439332CAD1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6AFEE3-7C54-C2AC-CADA-AEA039E046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C43608-4B30-4D4D-BF06-6E5C57997B9B}" type="datetimeFigureOut">
              <a:rPr lang="en-US" smtClean="0"/>
              <a:t>7/24/25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851349-3EDF-7CA6-E85F-E87AF50ACA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F26B1C-CCE4-DE62-33B0-5290C230AA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FDEBED-6CF6-D74F-B424-6A8B70952E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00918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BC05718-8818-230C-D4F8-3CA4C27F2D6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AC6BF08-5DDE-C0EA-9B9D-C7CCA0C8C26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7B51FE-C18D-86E1-9503-484E7A3E5C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C43608-4B30-4D4D-BF06-6E5C57997B9B}" type="datetimeFigureOut">
              <a:rPr lang="en-US" smtClean="0"/>
              <a:t>7/24/25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CA5A70D-FC06-15E2-7760-969A0EF41C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B0FD4F-C3B6-0F77-13F5-8E0E41E4FF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FDEBED-6CF6-D74F-B424-6A8B70952E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37942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38314D5-CFE1-DA67-BEFF-6368670500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CAC192C-CC58-FA8F-E55E-F62EB084121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BEE0E0-1185-2D33-E110-8CA009260CD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1C43608-4B30-4D4D-BF06-6E5C57997B9B}" type="datetimeFigureOut">
              <a:rPr lang="en-US" smtClean="0"/>
              <a:t>7/24/25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B4D912-FC1B-106E-5686-0D779756A0D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28FD4B-DC3D-6FFF-A13D-DB3FF2ECA19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3FDEBED-6CF6-D74F-B424-6A8B70952E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06361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maluque.netlify.app/" TargetMode="External"/><Relationship Id="rId2" Type="http://schemas.openxmlformats.org/officeDocument/2006/relationships/hyperlink" Target="mailto:mluquefe@ugr.es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scholar.google.es/citations?user=lA11XToAAAAJ&amp;hl" TargetMode="External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wpd.ugr.es/~bioestad/" TargetMode="External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hyperlink" Target="https://prado.ugr.es/" TargetMode="External"/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metodo.uab.cat/arxius/material/general/Uso%20de%20calculadoras%20Casio.pdf?-120002684" TargetMode="External"/><Relationship Id="rId5" Type="http://schemas.openxmlformats.org/officeDocument/2006/relationships/hyperlink" Target="https://www.wolframalpha.com/" TargetMode="External"/><Relationship Id="rId4" Type="http://schemas.openxmlformats.org/officeDocument/2006/relationships/hyperlink" Target="https://wpd.ugr.es/~bioestad/" TargetMode="Externa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9.wmf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0F9179-3A9C-2126-7D0D-47C397AB47F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b="1" dirty="0" err="1"/>
              <a:t>Estadística</a:t>
            </a:r>
            <a:r>
              <a:rPr lang="en-US" dirty="0"/>
              <a:t> </a:t>
            </a:r>
            <a:r>
              <a:rPr lang="en-US" b="1" dirty="0" err="1"/>
              <a:t>Fisioterapia</a:t>
            </a:r>
            <a:r>
              <a:rPr lang="en-US" dirty="0"/>
              <a:t> </a:t>
            </a:r>
            <a:r>
              <a:rPr lang="en-US" b="1" dirty="0"/>
              <a:t>2025/2026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1910B57-28CA-CA74-EC10-4B04E6C8412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Miguel Angel Luque Fernandez</a:t>
            </a:r>
            <a:r>
              <a:rPr lang="en-US" dirty="0"/>
              <a:t>, BSc, MA, MPH, MSc, PhD </a:t>
            </a:r>
          </a:p>
          <a:p>
            <a:r>
              <a:rPr lang="en-US" dirty="0"/>
              <a:t>Email: </a:t>
            </a:r>
            <a:r>
              <a:rPr lang="en-US" dirty="0">
                <a:hlinkClick r:id="rId2"/>
              </a:rPr>
              <a:t>mluquefe@ugr.es</a:t>
            </a:r>
            <a:endParaRPr lang="en-US" dirty="0"/>
          </a:p>
          <a:p>
            <a:r>
              <a:rPr lang="en-US" dirty="0"/>
              <a:t>Web </a:t>
            </a:r>
            <a:r>
              <a:rPr lang="en-US" dirty="0" err="1"/>
              <a:t>académica</a:t>
            </a:r>
            <a:r>
              <a:rPr lang="en-US" dirty="0"/>
              <a:t>: </a:t>
            </a:r>
            <a:r>
              <a:rPr lang="en-US" dirty="0">
                <a:hlinkClick r:id="rId3"/>
              </a:rPr>
              <a:t>https://maluque.netlify.app/</a:t>
            </a:r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398795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B649E800-A5C8-49A0-A453-ED537DA315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" y="0"/>
            <a:ext cx="12191997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8BA67DD7-B75D-4A30-90A4-EEA9F64AF1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08194" y="0"/>
            <a:ext cx="6164729" cy="6858000"/>
          </a:xfrm>
          <a:custGeom>
            <a:avLst/>
            <a:gdLst>
              <a:gd name="connsiteX0" fmla="*/ 0 w 6164729"/>
              <a:gd name="connsiteY0" fmla="*/ 6857542 h 6858000"/>
              <a:gd name="connsiteX1" fmla="*/ 199783 w 6164729"/>
              <a:gd name="connsiteY1" fmla="*/ 6857542 h 6858000"/>
              <a:gd name="connsiteX2" fmla="*/ 199783 w 6164729"/>
              <a:gd name="connsiteY2" fmla="*/ 6858000 h 6858000"/>
              <a:gd name="connsiteX3" fmla="*/ 0 w 6164729"/>
              <a:gd name="connsiteY3" fmla="*/ 6858000 h 6858000"/>
              <a:gd name="connsiteX4" fmla="*/ 4818273 w 6164729"/>
              <a:gd name="connsiteY4" fmla="*/ 0 h 6858000"/>
              <a:gd name="connsiteX5" fmla="*/ 5018056 w 6164729"/>
              <a:gd name="connsiteY5" fmla="*/ 0 h 6858000"/>
              <a:gd name="connsiteX6" fmla="*/ 5030703 w 6164729"/>
              <a:gd name="connsiteY6" fmla="*/ 31774 h 6858000"/>
              <a:gd name="connsiteX7" fmla="*/ 6085711 w 6164729"/>
              <a:gd name="connsiteY7" fmla="*/ 2682457 h 6858000"/>
              <a:gd name="connsiteX8" fmla="*/ 6085711 w 6164729"/>
              <a:gd name="connsiteY8" fmla="*/ 3752208 h 6858000"/>
              <a:gd name="connsiteX9" fmla="*/ 4928207 w 6164729"/>
              <a:gd name="connsiteY9" fmla="*/ 6660411 h 6858000"/>
              <a:gd name="connsiteX10" fmla="*/ 4849745 w 6164729"/>
              <a:gd name="connsiteY10" fmla="*/ 6857542 h 6858000"/>
              <a:gd name="connsiteX11" fmla="*/ 4649962 w 6164729"/>
              <a:gd name="connsiteY11" fmla="*/ 6857542 h 6858000"/>
              <a:gd name="connsiteX12" fmla="*/ 4728424 w 6164729"/>
              <a:gd name="connsiteY12" fmla="*/ 6660411 h 6858000"/>
              <a:gd name="connsiteX13" fmla="*/ 5885928 w 6164729"/>
              <a:gd name="connsiteY13" fmla="*/ 3752208 h 6858000"/>
              <a:gd name="connsiteX14" fmla="*/ 5885928 w 6164729"/>
              <a:gd name="connsiteY14" fmla="*/ 2682457 h 6858000"/>
              <a:gd name="connsiteX15" fmla="*/ 4830920 w 6164729"/>
              <a:gd name="connsiteY15" fmla="*/ 31774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6164729" h="6858000">
                <a:moveTo>
                  <a:pt x="0" y="6857542"/>
                </a:moveTo>
                <a:lnTo>
                  <a:pt x="199783" y="6857542"/>
                </a:lnTo>
                <a:lnTo>
                  <a:pt x="199783" y="6858000"/>
                </a:lnTo>
                <a:lnTo>
                  <a:pt x="0" y="6858000"/>
                </a:lnTo>
                <a:close/>
                <a:moveTo>
                  <a:pt x="4818273" y="0"/>
                </a:moveTo>
                <a:lnTo>
                  <a:pt x="5018056" y="0"/>
                </a:lnTo>
                <a:lnTo>
                  <a:pt x="5030703" y="31774"/>
                </a:lnTo>
                <a:cubicBezTo>
                  <a:pt x="6085711" y="2682457"/>
                  <a:pt x="6085711" y="2682457"/>
                  <a:pt x="6085711" y="2682457"/>
                </a:cubicBezTo>
                <a:cubicBezTo>
                  <a:pt x="6191069" y="2988100"/>
                  <a:pt x="6191069" y="3446565"/>
                  <a:pt x="6085711" y="3752208"/>
                </a:cubicBezTo>
                <a:cubicBezTo>
                  <a:pt x="5601723" y="4968215"/>
                  <a:pt x="5223609" y="5918220"/>
                  <a:pt x="4928207" y="6660411"/>
                </a:cubicBezTo>
                <a:lnTo>
                  <a:pt x="4849745" y="6857542"/>
                </a:lnTo>
                <a:lnTo>
                  <a:pt x="4649962" y="6857542"/>
                </a:lnTo>
                <a:lnTo>
                  <a:pt x="4728424" y="6660411"/>
                </a:lnTo>
                <a:cubicBezTo>
                  <a:pt x="5023826" y="5918220"/>
                  <a:pt x="5401940" y="4968215"/>
                  <a:pt x="5885928" y="3752208"/>
                </a:cubicBezTo>
                <a:cubicBezTo>
                  <a:pt x="5991286" y="3446565"/>
                  <a:pt x="5991286" y="2988100"/>
                  <a:pt x="5885928" y="2682457"/>
                </a:cubicBezTo>
                <a:cubicBezTo>
                  <a:pt x="5885928" y="2682457"/>
                  <a:pt x="5885928" y="2682457"/>
                  <a:pt x="4830920" y="31774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010A42C-D989-9D90-4C06-20B490EC55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656" y="280619"/>
            <a:ext cx="6460870" cy="6296762"/>
          </a:xfrm>
          <a:prstGeom prst="rect">
            <a:avLst/>
          </a:prstGeom>
        </p:spPr>
      </p:pic>
      <p:grpSp>
        <p:nvGrpSpPr>
          <p:cNvPr id="15" name="Group 14">
            <a:extLst>
              <a:ext uri="{FF2B5EF4-FFF2-40B4-BE49-F238E27FC236}">
                <a16:creationId xmlns:a16="http://schemas.microsoft.com/office/drawing/2014/main" id="{E8C5FC48-0A3C-4D6D-A0D5-EEE93213DB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9160561" y="1075188"/>
            <a:ext cx="1562267" cy="1172973"/>
            <a:chOff x="9160561" y="1000124"/>
            <a:chExt cx="1562267" cy="1172973"/>
          </a:xfrm>
        </p:grpSpPr>
        <p:sp>
          <p:nvSpPr>
            <p:cNvPr id="16" name="Freeform 5">
              <a:extLst>
                <a:ext uri="{FF2B5EF4-FFF2-40B4-BE49-F238E27FC236}">
                  <a16:creationId xmlns:a16="http://schemas.microsoft.com/office/drawing/2014/main" id="{DBBC336D-7E16-4EE1-90F2-8D9F2B618B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160561" y="1348782"/>
              <a:ext cx="935037" cy="824315"/>
            </a:xfrm>
            <a:custGeom>
              <a:avLst/>
              <a:gdLst>
                <a:gd name="T0" fmla="*/ 225 w 785"/>
                <a:gd name="T1" fmla="*/ 692 h 692"/>
                <a:gd name="T2" fmla="*/ 177 w 785"/>
                <a:gd name="T3" fmla="*/ 665 h 692"/>
                <a:gd name="T4" fmla="*/ 9 w 785"/>
                <a:gd name="T5" fmla="*/ 374 h 692"/>
                <a:gd name="T6" fmla="*/ 9 w 785"/>
                <a:gd name="T7" fmla="*/ 318 h 692"/>
                <a:gd name="T8" fmla="*/ 177 w 785"/>
                <a:gd name="T9" fmla="*/ 27 h 692"/>
                <a:gd name="T10" fmla="*/ 225 w 785"/>
                <a:gd name="T11" fmla="*/ 0 h 692"/>
                <a:gd name="T12" fmla="*/ 561 w 785"/>
                <a:gd name="T13" fmla="*/ 0 h 692"/>
                <a:gd name="T14" fmla="*/ 609 w 785"/>
                <a:gd name="T15" fmla="*/ 27 h 692"/>
                <a:gd name="T16" fmla="*/ 777 w 785"/>
                <a:gd name="T17" fmla="*/ 318 h 692"/>
                <a:gd name="T18" fmla="*/ 777 w 785"/>
                <a:gd name="T19" fmla="*/ 374 h 692"/>
                <a:gd name="T20" fmla="*/ 609 w 785"/>
                <a:gd name="T21" fmla="*/ 665 h 692"/>
                <a:gd name="T22" fmla="*/ 561 w 785"/>
                <a:gd name="T23" fmla="*/ 692 h 692"/>
                <a:gd name="T24" fmla="*/ 225 w 785"/>
                <a:gd name="T25" fmla="*/ 692 h 6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85" h="692">
                  <a:moveTo>
                    <a:pt x="225" y="692"/>
                  </a:moveTo>
                  <a:cubicBezTo>
                    <a:pt x="207" y="692"/>
                    <a:pt x="185" y="680"/>
                    <a:pt x="177" y="665"/>
                  </a:cubicBezTo>
                  <a:cubicBezTo>
                    <a:pt x="9" y="374"/>
                    <a:pt x="9" y="374"/>
                    <a:pt x="9" y="374"/>
                  </a:cubicBezTo>
                  <a:cubicBezTo>
                    <a:pt x="0" y="358"/>
                    <a:pt x="0" y="334"/>
                    <a:pt x="9" y="318"/>
                  </a:cubicBezTo>
                  <a:cubicBezTo>
                    <a:pt x="177" y="27"/>
                    <a:pt x="177" y="27"/>
                    <a:pt x="177" y="27"/>
                  </a:cubicBezTo>
                  <a:cubicBezTo>
                    <a:pt x="185" y="12"/>
                    <a:pt x="207" y="0"/>
                    <a:pt x="225" y="0"/>
                  </a:cubicBezTo>
                  <a:cubicBezTo>
                    <a:pt x="561" y="0"/>
                    <a:pt x="561" y="0"/>
                    <a:pt x="561" y="0"/>
                  </a:cubicBezTo>
                  <a:cubicBezTo>
                    <a:pt x="578" y="0"/>
                    <a:pt x="600" y="12"/>
                    <a:pt x="609" y="27"/>
                  </a:cubicBezTo>
                  <a:cubicBezTo>
                    <a:pt x="777" y="318"/>
                    <a:pt x="777" y="318"/>
                    <a:pt x="777" y="318"/>
                  </a:cubicBezTo>
                  <a:cubicBezTo>
                    <a:pt x="785" y="334"/>
                    <a:pt x="785" y="358"/>
                    <a:pt x="777" y="374"/>
                  </a:cubicBezTo>
                  <a:cubicBezTo>
                    <a:pt x="609" y="665"/>
                    <a:pt x="609" y="665"/>
                    <a:pt x="609" y="665"/>
                  </a:cubicBezTo>
                  <a:cubicBezTo>
                    <a:pt x="600" y="680"/>
                    <a:pt x="578" y="692"/>
                    <a:pt x="561" y="692"/>
                  </a:cubicBezTo>
                  <a:lnTo>
                    <a:pt x="225" y="692"/>
                  </a:lnTo>
                  <a:close/>
                </a:path>
              </a:pathLst>
            </a:custGeom>
            <a:noFill/>
            <a:ln w="28575" cmpd="sng">
              <a:solidFill>
                <a:schemeClr val="tx1"/>
              </a:solidFill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7" name="Freeform 5">
              <a:extLst>
                <a:ext uri="{FF2B5EF4-FFF2-40B4-BE49-F238E27FC236}">
                  <a16:creationId xmlns:a16="http://schemas.microsoft.com/office/drawing/2014/main" id="{0199BE21-2D26-4357-8702-909F3621A3F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960661" y="1000124"/>
              <a:ext cx="762167" cy="671915"/>
            </a:xfrm>
            <a:custGeom>
              <a:avLst/>
              <a:gdLst>
                <a:gd name="T0" fmla="*/ 225 w 785"/>
                <a:gd name="T1" fmla="*/ 692 h 692"/>
                <a:gd name="T2" fmla="*/ 177 w 785"/>
                <a:gd name="T3" fmla="*/ 665 h 692"/>
                <a:gd name="T4" fmla="*/ 9 w 785"/>
                <a:gd name="T5" fmla="*/ 374 h 692"/>
                <a:gd name="T6" fmla="*/ 9 w 785"/>
                <a:gd name="T7" fmla="*/ 318 h 692"/>
                <a:gd name="T8" fmla="*/ 177 w 785"/>
                <a:gd name="T9" fmla="*/ 27 h 692"/>
                <a:gd name="T10" fmla="*/ 225 w 785"/>
                <a:gd name="T11" fmla="*/ 0 h 692"/>
                <a:gd name="T12" fmla="*/ 561 w 785"/>
                <a:gd name="T13" fmla="*/ 0 h 692"/>
                <a:gd name="T14" fmla="*/ 609 w 785"/>
                <a:gd name="T15" fmla="*/ 27 h 692"/>
                <a:gd name="T16" fmla="*/ 777 w 785"/>
                <a:gd name="T17" fmla="*/ 318 h 692"/>
                <a:gd name="T18" fmla="*/ 777 w 785"/>
                <a:gd name="T19" fmla="*/ 374 h 692"/>
                <a:gd name="T20" fmla="*/ 609 w 785"/>
                <a:gd name="T21" fmla="*/ 665 h 692"/>
                <a:gd name="T22" fmla="*/ 561 w 785"/>
                <a:gd name="T23" fmla="*/ 692 h 692"/>
                <a:gd name="T24" fmla="*/ 225 w 785"/>
                <a:gd name="T25" fmla="*/ 692 h 6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85" h="692">
                  <a:moveTo>
                    <a:pt x="225" y="692"/>
                  </a:moveTo>
                  <a:cubicBezTo>
                    <a:pt x="207" y="692"/>
                    <a:pt x="185" y="680"/>
                    <a:pt x="177" y="665"/>
                  </a:cubicBezTo>
                  <a:cubicBezTo>
                    <a:pt x="9" y="374"/>
                    <a:pt x="9" y="374"/>
                    <a:pt x="9" y="374"/>
                  </a:cubicBezTo>
                  <a:cubicBezTo>
                    <a:pt x="0" y="358"/>
                    <a:pt x="0" y="334"/>
                    <a:pt x="9" y="318"/>
                  </a:cubicBezTo>
                  <a:cubicBezTo>
                    <a:pt x="177" y="27"/>
                    <a:pt x="177" y="27"/>
                    <a:pt x="177" y="27"/>
                  </a:cubicBezTo>
                  <a:cubicBezTo>
                    <a:pt x="185" y="12"/>
                    <a:pt x="207" y="0"/>
                    <a:pt x="225" y="0"/>
                  </a:cubicBezTo>
                  <a:cubicBezTo>
                    <a:pt x="561" y="0"/>
                    <a:pt x="561" y="0"/>
                    <a:pt x="561" y="0"/>
                  </a:cubicBezTo>
                  <a:cubicBezTo>
                    <a:pt x="578" y="0"/>
                    <a:pt x="600" y="12"/>
                    <a:pt x="609" y="27"/>
                  </a:cubicBezTo>
                  <a:cubicBezTo>
                    <a:pt x="777" y="318"/>
                    <a:pt x="777" y="318"/>
                    <a:pt x="777" y="318"/>
                  </a:cubicBezTo>
                  <a:cubicBezTo>
                    <a:pt x="785" y="334"/>
                    <a:pt x="785" y="358"/>
                    <a:pt x="777" y="374"/>
                  </a:cubicBezTo>
                  <a:cubicBezTo>
                    <a:pt x="609" y="665"/>
                    <a:pt x="609" y="665"/>
                    <a:pt x="609" y="665"/>
                  </a:cubicBezTo>
                  <a:cubicBezTo>
                    <a:pt x="600" y="680"/>
                    <a:pt x="578" y="692"/>
                    <a:pt x="561" y="692"/>
                  </a:cubicBezTo>
                  <a:lnTo>
                    <a:pt x="225" y="692"/>
                  </a:lnTo>
                  <a:close/>
                </a:path>
              </a:pathLst>
            </a:custGeom>
            <a:noFill/>
            <a:ln w="28575" cmpd="sng">
              <a:solidFill>
                <a:schemeClr val="tx1"/>
              </a:solidFill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48407316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B649E800-A5C8-49A0-A453-ED537DA315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" y="0"/>
            <a:ext cx="12191997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8BA67DD7-B75D-4A30-90A4-EEA9F64AF1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08194" y="0"/>
            <a:ext cx="6164729" cy="6858000"/>
          </a:xfrm>
          <a:custGeom>
            <a:avLst/>
            <a:gdLst>
              <a:gd name="connsiteX0" fmla="*/ 0 w 6164729"/>
              <a:gd name="connsiteY0" fmla="*/ 6857542 h 6858000"/>
              <a:gd name="connsiteX1" fmla="*/ 199783 w 6164729"/>
              <a:gd name="connsiteY1" fmla="*/ 6857542 h 6858000"/>
              <a:gd name="connsiteX2" fmla="*/ 199783 w 6164729"/>
              <a:gd name="connsiteY2" fmla="*/ 6858000 h 6858000"/>
              <a:gd name="connsiteX3" fmla="*/ 0 w 6164729"/>
              <a:gd name="connsiteY3" fmla="*/ 6858000 h 6858000"/>
              <a:gd name="connsiteX4" fmla="*/ 4818273 w 6164729"/>
              <a:gd name="connsiteY4" fmla="*/ 0 h 6858000"/>
              <a:gd name="connsiteX5" fmla="*/ 5018056 w 6164729"/>
              <a:gd name="connsiteY5" fmla="*/ 0 h 6858000"/>
              <a:gd name="connsiteX6" fmla="*/ 5030703 w 6164729"/>
              <a:gd name="connsiteY6" fmla="*/ 31774 h 6858000"/>
              <a:gd name="connsiteX7" fmla="*/ 6085711 w 6164729"/>
              <a:gd name="connsiteY7" fmla="*/ 2682457 h 6858000"/>
              <a:gd name="connsiteX8" fmla="*/ 6085711 w 6164729"/>
              <a:gd name="connsiteY8" fmla="*/ 3752208 h 6858000"/>
              <a:gd name="connsiteX9" fmla="*/ 4928207 w 6164729"/>
              <a:gd name="connsiteY9" fmla="*/ 6660411 h 6858000"/>
              <a:gd name="connsiteX10" fmla="*/ 4849745 w 6164729"/>
              <a:gd name="connsiteY10" fmla="*/ 6857542 h 6858000"/>
              <a:gd name="connsiteX11" fmla="*/ 4649962 w 6164729"/>
              <a:gd name="connsiteY11" fmla="*/ 6857542 h 6858000"/>
              <a:gd name="connsiteX12" fmla="*/ 4728424 w 6164729"/>
              <a:gd name="connsiteY12" fmla="*/ 6660411 h 6858000"/>
              <a:gd name="connsiteX13" fmla="*/ 5885928 w 6164729"/>
              <a:gd name="connsiteY13" fmla="*/ 3752208 h 6858000"/>
              <a:gd name="connsiteX14" fmla="*/ 5885928 w 6164729"/>
              <a:gd name="connsiteY14" fmla="*/ 2682457 h 6858000"/>
              <a:gd name="connsiteX15" fmla="*/ 4830920 w 6164729"/>
              <a:gd name="connsiteY15" fmla="*/ 31774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6164729" h="6858000">
                <a:moveTo>
                  <a:pt x="0" y="6857542"/>
                </a:moveTo>
                <a:lnTo>
                  <a:pt x="199783" y="6857542"/>
                </a:lnTo>
                <a:lnTo>
                  <a:pt x="199783" y="6858000"/>
                </a:lnTo>
                <a:lnTo>
                  <a:pt x="0" y="6858000"/>
                </a:lnTo>
                <a:close/>
                <a:moveTo>
                  <a:pt x="4818273" y="0"/>
                </a:moveTo>
                <a:lnTo>
                  <a:pt x="5018056" y="0"/>
                </a:lnTo>
                <a:lnTo>
                  <a:pt x="5030703" y="31774"/>
                </a:lnTo>
                <a:cubicBezTo>
                  <a:pt x="6085711" y="2682457"/>
                  <a:pt x="6085711" y="2682457"/>
                  <a:pt x="6085711" y="2682457"/>
                </a:cubicBezTo>
                <a:cubicBezTo>
                  <a:pt x="6191069" y="2988100"/>
                  <a:pt x="6191069" y="3446565"/>
                  <a:pt x="6085711" y="3752208"/>
                </a:cubicBezTo>
                <a:cubicBezTo>
                  <a:pt x="5601723" y="4968215"/>
                  <a:pt x="5223609" y="5918220"/>
                  <a:pt x="4928207" y="6660411"/>
                </a:cubicBezTo>
                <a:lnTo>
                  <a:pt x="4849745" y="6857542"/>
                </a:lnTo>
                <a:lnTo>
                  <a:pt x="4649962" y="6857542"/>
                </a:lnTo>
                <a:lnTo>
                  <a:pt x="4728424" y="6660411"/>
                </a:lnTo>
                <a:cubicBezTo>
                  <a:pt x="5023826" y="5918220"/>
                  <a:pt x="5401940" y="4968215"/>
                  <a:pt x="5885928" y="3752208"/>
                </a:cubicBezTo>
                <a:cubicBezTo>
                  <a:pt x="5991286" y="3446565"/>
                  <a:pt x="5991286" y="2988100"/>
                  <a:pt x="5885928" y="2682457"/>
                </a:cubicBezTo>
                <a:cubicBezTo>
                  <a:pt x="5885928" y="2682457"/>
                  <a:pt x="5885928" y="2682457"/>
                  <a:pt x="4830920" y="31774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E8C5FC48-0A3C-4D6D-A0D5-EEE93213DB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9160561" y="1075188"/>
            <a:ext cx="1562267" cy="1172973"/>
            <a:chOff x="9160561" y="1000124"/>
            <a:chExt cx="1562267" cy="1172973"/>
          </a:xfrm>
        </p:grpSpPr>
        <p:sp>
          <p:nvSpPr>
            <p:cNvPr id="17" name="Freeform 5">
              <a:extLst>
                <a:ext uri="{FF2B5EF4-FFF2-40B4-BE49-F238E27FC236}">
                  <a16:creationId xmlns:a16="http://schemas.microsoft.com/office/drawing/2014/main" id="{DBBC336D-7E16-4EE1-90F2-8D9F2B618B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160561" y="1348782"/>
              <a:ext cx="935037" cy="824315"/>
            </a:xfrm>
            <a:custGeom>
              <a:avLst/>
              <a:gdLst>
                <a:gd name="T0" fmla="*/ 225 w 785"/>
                <a:gd name="T1" fmla="*/ 692 h 692"/>
                <a:gd name="T2" fmla="*/ 177 w 785"/>
                <a:gd name="T3" fmla="*/ 665 h 692"/>
                <a:gd name="T4" fmla="*/ 9 w 785"/>
                <a:gd name="T5" fmla="*/ 374 h 692"/>
                <a:gd name="T6" fmla="*/ 9 w 785"/>
                <a:gd name="T7" fmla="*/ 318 h 692"/>
                <a:gd name="T8" fmla="*/ 177 w 785"/>
                <a:gd name="T9" fmla="*/ 27 h 692"/>
                <a:gd name="T10" fmla="*/ 225 w 785"/>
                <a:gd name="T11" fmla="*/ 0 h 692"/>
                <a:gd name="T12" fmla="*/ 561 w 785"/>
                <a:gd name="T13" fmla="*/ 0 h 692"/>
                <a:gd name="T14" fmla="*/ 609 w 785"/>
                <a:gd name="T15" fmla="*/ 27 h 692"/>
                <a:gd name="T16" fmla="*/ 777 w 785"/>
                <a:gd name="T17" fmla="*/ 318 h 692"/>
                <a:gd name="T18" fmla="*/ 777 w 785"/>
                <a:gd name="T19" fmla="*/ 374 h 692"/>
                <a:gd name="T20" fmla="*/ 609 w 785"/>
                <a:gd name="T21" fmla="*/ 665 h 692"/>
                <a:gd name="T22" fmla="*/ 561 w 785"/>
                <a:gd name="T23" fmla="*/ 692 h 692"/>
                <a:gd name="T24" fmla="*/ 225 w 785"/>
                <a:gd name="T25" fmla="*/ 692 h 6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85" h="692">
                  <a:moveTo>
                    <a:pt x="225" y="692"/>
                  </a:moveTo>
                  <a:cubicBezTo>
                    <a:pt x="207" y="692"/>
                    <a:pt x="185" y="680"/>
                    <a:pt x="177" y="665"/>
                  </a:cubicBezTo>
                  <a:cubicBezTo>
                    <a:pt x="9" y="374"/>
                    <a:pt x="9" y="374"/>
                    <a:pt x="9" y="374"/>
                  </a:cubicBezTo>
                  <a:cubicBezTo>
                    <a:pt x="0" y="358"/>
                    <a:pt x="0" y="334"/>
                    <a:pt x="9" y="318"/>
                  </a:cubicBezTo>
                  <a:cubicBezTo>
                    <a:pt x="177" y="27"/>
                    <a:pt x="177" y="27"/>
                    <a:pt x="177" y="27"/>
                  </a:cubicBezTo>
                  <a:cubicBezTo>
                    <a:pt x="185" y="12"/>
                    <a:pt x="207" y="0"/>
                    <a:pt x="225" y="0"/>
                  </a:cubicBezTo>
                  <a:cubicBezTo>
                    <a:pt x="561" y="0"/>
                    <a:pt x="561" y="0"/>
                    <a:pt x="561" y="0"/>
                  </a:cubicBezTo>
                  <a:cubicBezTo>
                    <a:pt x="578" y="0"/>
                    <a:pt x="600" y="12"/>
                    <a:pt x="609" y="27"/>
                  </a:cubicBezTo>
                  <a:cubicBezTo>
                    <a:pt x="777" y="318"/>
                    <a:pt x="777" y="318"/>
                    <a:pt x="777" y="318"/>
                  </a:cubicBezTo>
                  <a:cubicBezTo>
                    <a:pt x="785" y="334"/>
                    <a:pt x="785" y="358"/>
                    <a:pt x="777" y="374"/>
                  </a:cubicBezTo>
                  <a:cubicBezTo>
                    <a:pt x="609" y="665"/>
                    <a:pt x="609" y="665"/>
                    <a:pt x="609" y="665"/>
                  </a:cubicBezTo>
                  <a:cubicBezTo>
                    <a:pt x="600" y="680"/>
                    <a:pt x="578" y="692"/>
                    <a:pt x="561" y="692"/>
                  </a:cubicBezTo>
                  <a:lnTo>
                    <a:pt x="225" y="692"/>
                  </a:lnTo>
                  <a:close/>
                </a:path>
              </a:pathLst>
            </a:custGeom>
            <a:noFill/>
            <a:ln w="28575" cmpd="sng">
              <a:solidFill>
                <a:schemeClr val="tx1"/>
              </a:solidFill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8" name="Freeform 5">
              <a:extLst>
                <a:ext uri="{FF2B5EF4-FFF2-40B4-BE49-F238E27FC236}">
                  <a16:creationId xmlns:a16="http://schemas.microsoft.com/office/drawing/2014/main" id="{0199BE21-2D26-4357-8702-909F3621A3F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960661" y="1000124"/>
              <a:ext cx="762167" cy="671915"/>
            </a:xfrm>
            <a:custGeom>
              <a:avLst/>
              <a:gdLst>
                <a:gd name="T0" fmla="*/ 225 w 785"/>
                <a:gd name="T1" fmla="*/ 692 h 692"/>
                <a:gd name="T2" fmla="*/ 177 w 785"/>
                <a:gd name="T3" fmla="*/ 665 h 692"/>
                <a:gd name="T4" fmla="*/ 9 w 785"/>
                <a:gd name="T5" fmla="*/ 374 h 692"/>
                <a:gd name="T6" fmla="*/ 9 w 785"/>
                <a:gd name="T7" fmla="*/ 318 h 692"/>
                <a:gd name="T8" fmla="*/ 177 w 785"/>
                <a:gd name="T9" fmla="*/ 27 h 692"/>
                <a:gd name="T10" fmla="*/ 225 w 785"/>
                <a:gd name="T11" fmla="*/ 0 h 692"/>
                <a:gd name="T12" fmla="*/ 561 w 785"/>
                <a:gd name="T13" fmla="*/ 0 h 692"/>
                <a:gd name="T14" fmla="*/ 609 w 785"/>
                <a:gd name="T15" fmla="*/ 27 h 692"/>
                <a:gd name="T16" fmla="*/ 777 w 785"/>
                <a:gd name="T17" fmla="*/ 318 h 692"/>
                <a:gd name="T18" fmla="*/ 777 w 785"/>
                <a:gd name="T19" fmla="*/ 374 h 692"/>
                <a:gd name="T20" fmla="*/ 609 w 785"/>
                <a:gd name="T21" fmla="*/ 665 h 692"/>
                <a:gd name="T22" fmla="*/ 561 w 785"/>
                <a:gd name="T23" fmla="*/ 692 h 692"/>
                <a:gd name="T24" fmla="*/ 225 w 785"/>
                <a:gd name="T25" fmla="*/ 692 h 6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85" h="692">
                  <a:moveTo>
                    <a:pt x="225" y="692"/>
                  </a:moveTo>
                  <a:cubicBezTo>
                    <a:pt x="207" y="692"/>
                    <a:pt x="185" y="680"/>
                    <a:pt x="177" y="665"/>
                  </a:cubicBezTo>
                  <a:cubicBezTo>
                    <a:pt x="9" y="374"/>
                    <a:pt x="9" y="374"/>
                    <a:pt x="9" y="374"/>
                  </a:cubicBezTo>
                  <a:cubicBezTo>
                    <a:pt x="0" y="358"/>
                    <a:pt x="0" y="334"/>
                    <a:pt x="9" y="318"/>
                  </a:cubicBezTo>
                  <a:cubicBezTo>
                    <a:pt x="177" y="27"/>
                    <a:pt x="177" y="27"/>
                    <a:pt x="177" y="27"/>
                  </a:cubicBezTo>
                  <a:cubicBezTo>
                    <a:pt x="185" y="12"/>
                    <a:pt x="207" y="0"/>
                    <a:pt x="225" y="0"/>
                  </a:cubicBezTo>
                  <a:cubicBezTo>
                    <a:pt x="561" y="0"/>
                    <a:pt x="561" y="0"/>
                    <a:pt x="561" y="0"/>
                  </a:cubicBezTo>
                  <a:cubicBezTo>
                    <a:pt x="578" y="0"/>
                    <a:pt x="600" y="12"/>
                    <a:pt x="609" y="27"/>
                  </a:cubicBezTo>
                  <a:cubicBezTo>
                    <a:pt x="777" y="318"/>
                    <a:pt x="777" y="318"/>
                    <a:pt x="777" y="318"/>
                  </a:cubicBezTo>
                  <a:cubicBezTo>
                    <a:pt x="785" y="334"/>
                    <a:pt x="785" y="358"/>
                    <a:pt x="777" y="374"/>
                  </a:cubicBezTo>
                  <a:cubicBezTo>
                    <a:pt x="609" y="665"/>
                    <a:pt x="609" y="665"/>
                    <a:pt x="609" y="665"/>
                  </a:cubicBezTo>
                  <a:cubicBezTo>
                    <a:pt x="600" y="680"/>
                    <a:pt x="578" y="692"/>
                    <a:pt x="561" y="692"/>
                  </a:cubicBezTo>
                  <a:lnTo>
                    <a:pt x="225" y="692"/>
                  </a:lnTo>
                  <a:close/>
                </a:path>
              </a:pathLst>
            </a:custGeom>
            <a:noFill/>
            <a:ln w="28575" cmpd="sng">
              <a:solidFill>
                <a:schemeClr val="tx1"/>
              </a:solidFill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pic>
        <p:nvPicPr>
          <p:cNvPr id="5" name="Picture 4">
            <a:extLst>
              <a:ext uri="{FF2B5EF4-FFF2-40B4-BE49-F238E27FC236}">
                <a16:creationId xmlns:a16="http://schemas.microsoft.com/office/drawing/2014/main" id="{FF2C7A83-A1B2-89C2-45F8-FC504A89F8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163" y="82468"/>
            <a:ext cx="7326108" cy="6131007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8C54018D-866D-2856-15B7-FACD19A82471}"/>
              </a:ext>
            </a:extLst>
          </p:cNvPr>
          <p:cNvSpPr txBox="1"/>
          <p:nvPr/>
        </p:nvSpPr>
        <p:spPr>
          <a:xfrm>
            <a:off x="5779494" y="5508625"/>
            <a:ext cx="6022187" cy="1114425"/>
          </a:xfrm>
          <a:prstGeom prst="rect">
            <a:avLst/>
          </a:prstGeom>
          <a:solidFill>
            <a:srgbClr val="0426C1">
              <a:alpha val="50196"/>
            </a:srgbClr>
          </a:solidFill>
          <a:ln>
            <a:noFill/>
          </a:ln>
        </p:spPr>
        <p:txBody>
          <a:bodyPr wrap="square" anchor="ctr">
            <a:noAutofit/>
          </a:bodyPr>
          <a:lstStyle/>
          <a:p>
            <a:pPr algn="ctr">
              <a:spcAft>
                <a:spcPts val="600"/>
              </a:spcAft>
            </a:pPr>
            <a:r>
              <a:rPr lang="en-US" sz="1300" dirty="0">
                <a:solidFill>
                  <a:srgbClr val="FFFF00"/>
                </a:solidFill>
              </a:rPr>
              <a:t>https://</a:t>
            </a:r>
            <a:r>
              <a:rPr lang="en-US" sz="1300" dirty="0" err="1">
                <a:solidFill>
                  <a:srgbClr val="FFFF00"/>
                </a:solidFill>
              </a:rPr>
              <a:t>scholar.harvard.edu</a:t>
            </a:r>
            <a:r>
              <a:rPr lang="en-US" sz="1300" dirty="0">
                <a:solidFill>
                  <a:srgbClr val="FFFF00"/>
                </a:solidFill>
              </a:rPr>
              <a:t>/</a:t>
            </a:r>
            <a:r>
              <a:rPr lang="en-US" sz="1300" dirty="0" err="1">
                <a:solidFill>
                  <a:srgbClr val="FFFF00"/>
                </a:solidFill>
              </a:rPr>
              <a:t>mluquefe</a:t>
            </a:r>
            <a:endParaRPr lang="en-US" sz="1300" dirty="0">
              <a:solidFill>
                <a:srgbClr val="FFFF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0697653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649E800-A5C8-49A0-A453-ED537DA315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" y="0"/>
            <a:ext cx="12191997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8BA67DD7-B75D-4A30-90A4-EEA9F64AF1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08194" y="0"/>
            <a:ext cx="6164729" cy="6858000"/>
          </a:xfrm>
          <a:custGeom>
            <a:avLst/>
            <a:gdLst>
              <a:gd name="connsiteX0" fmla="*/ 0 w 6164729"/>
              <a:gd name="connsiteY0" fmla="*/ 6857542 h 6858000"/>
              <a:gd name="connsiteX1" fmla="*/ 199783 w 6164729"/>
              <a:gd name="connsiteY1" fmla="*/ 6857542 h 6858000"/>
              <a:gd name="connsiteX2" fmla="*/ 199783 w 6164729"/>
              <a:gd name="connsiteY2" fmla="*/ 6858000 h 6858000"/>
              <a:gd name="connsiteX3" fmla="*/ 0 w 6164729"/>
              <a:gd name="connsiteY3" fmla="*/ 6858000 h 6858000"/>
              <a:gd name="connsiteX4" fmla="*/ 4818273 w 6164729"/>
              <a:gd name="connsiteY4" fmla="*/ 0 h 6858000"/>
              <a:gd name="connsiteX5" fmla="*/ 5018056 w 6164729"/>
              <a:gd name="connsiteY5" fmla="*/ 0 h 6858000"/>
              <a:gd name="connsiteX6" fmla="*/ 5030703 w 6164729"/>
              <a:gd name="connsiteY6" fmla="*/ 31774 h 6858000"/>
              <a:gd name="connsiteX7" fmla="*/ 6085711 w 6164729"/>
              <a:gd name="connsiteY7" fmla="*/ 2682457 h 6858000"/>
              <a:gd name="connsiteX8" fmla="*/ 6085711 w 6164729"/>
              <a:gd name="connsiteY8" fmla="*/ 3752208 h 6858000"/>
              <a:gd name="connsiteX9" fmla="*/ 4928207 w 6164729"/>
              <a:gd name="connsiteY9" fmla="*/ 6660411 h 6858000"/>
              <a:gd name="connsiteX10" fmla="*/ 4849745 w 6164729"/>
              <a:gd name="connsiteY10" fmla="*/ 6857542 h 6858000"/>
              <a:gd name="connsiteX11" fmla="*/ 4649962 w 6164729"/>
              <a:gd name="connsiteY11" fmla="*/ 6857542 h 6858000"/>
              <a:gd name="connsiteX12" fmla="*/ 4728424 w 6164729"/>
              <a:gd name="connsiteY12" fmla="*/ 6660411 h 6858000"/>
              <a:gd name="connsiteX13" fmla="*/ 5885928 w 6164729"/>
              <a:gd name="connsiteY13" fmla="*/ 3752208 h 6858000"/>
              <a:gd name="connsiteX14" fmla="*/ 5885928 w 6164729"/>
              <a:gd name="connsiteY14" fmla="*/ 2682457 h 6858000"/>
              <a:gd name="connsiteX15" fmla="*/ 4830920 w 6164729"/>
              <a:gd name="connsiteY15" fmla="*/ 31774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6164729" h="6858000">
                <a:moveTo>
                  <a:pt x="0" y="6857542"/>
                </a:moveTo>
                <a:lnTo>
                  <a:pt x="199783" y="6857542"/>
                </a:lnTo>
                <a:lnTo>
                  <a:pt x="199783" y="6858000"/>
                </a:lnTo>
                <a:lnTo>
                  <a:pt x="0" y="6858000"/>
                </a:lnTo>
                <a:close/>
                <a:moveTo>
                  <a:pt x="4818273" y="0"/>
                </a:moveTo>
                <a:lnTo>
                  <a:pt x="5018056" y="0"/>
                </a:lnTo>
                <a:lnTo>
                  <a:pt x="5030703" y="31774"/>
                </a:lnTo>
                <a:cubicBezTo>
                  <a:pt x="6085711" y="2682457"/>
                  <a:pt x="6085711" y="2682457"/>
                  <a:pt x="6085711" y="2682457"/>
                </a:cubicBezTo>
                <a:cubicBezTo>
                  <a:pt x="6191069" y="2988100"/>
                  <a:pt x="6191069" y="3446565"/>
                  <a:pt x="6085711" y="3752208"/>
                </a:cubicBezTo>
                <a:cubicBezTo>
                  <a:pt x="5601723" y="4968215"/>
                  <a:pt x="5223609" y="5918220"/>
                  <a:pt x="4928207" y="6660411"/>
                </a:cubicBezTo>
                <a:lnTo>
                  <a:pt x="4849745" y="6857542"/>
                </a:lnTo>
                <a:lnTo>
                  <a:pt x="4649962" y="6857542"/>
                </a:lnTo>
                <a:lnTo>
                  <a:pt x="4728424" y="6660411"/>
                </a:lnTo>
                <a:cubicBezTo>
                  <a:pt x="5023826" y="5918220"/>
                  <a:pt x="5401940" y="4968215"/>
                  <a:pt x="5885928" y="3752208"/>
                </a:cubicBezTo>
                <a:cubicBezTo>
                  <a:pt x="5991286" y="3446565"/>
                  <a:pt x="5991286" y="2988100"/>
                  <a:pt x="5885928" y="2682457"/>
                </a:cubicBezTo>
                <a:cubicBezTo>
                  <a:pt x="5885928" y="2682457"/>
                  <a:pt x="5885928" y="2682457"/>
                  <a:pt x="4830920" y="31774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CAAC233-9E63-25C4-6E12-3E8D88608C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9960" y="290452"/>
            <a:ext cx="6372687" cy="6277096"/>
          </a:xfrm>
          <a:prstGeom prst="rect">
            <a:avLst/>
          </a:prstGeom>
        </p:spPr>
      </p:pic>
      <p:grpSp>
        <p:nvGrpSpPr>
          <p:cNvPr id="13" name="Group 12">
            <a:extLst>
              <a:ext uri="{FF2B5EF4-FFF2-40B4-BE49-F238E27FC236}">
                <a16:creationId xmlns:a16="http://schemas.microsoft.com/office/drawing/2014/main" id="{E8C5FC48-0A3C-4D6D-A0D5-EEE93213DB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9160561" y="1075188"/>
            <a:ext cx="1562267" cy="1172973"/>
            <a:chOff x="9160561" y="1000124"/>
            <a:chExt cx="1562267" cy="1172973"/>
          </a:xfrm>
        </p:grpSpPr>
        <p:sp>
          <p:nvSpPr>
            <p:cNvPr id="14" name="Freeform 5">
              <a:extLst>
                <a:ext uri="{FF2B5EF4-FFF2-40B4-BE49-F238E27FC236}">
                  <a16:creationId xmlns:a16="http://schemas.microsoft.com/office/drawing/2014/main" id="{DBBC336D-7E16-4EE1-90F2-8D9F2B618B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160561" y="1348782"/>
              <a:ext cx="935037" cy="824315"/>
            </a:xfrm>
            <a:custGeom>
              <a:avLst/>
              <a:gdLst>
                <a:gd name="T0" fmla="*/ 225 w 785"/>
                <a:gd name="T1" fmla="*/ 692 h 692"/>
                <a:gd name="T2" fmla="*/ 177 w 785"/>
                <a:gd name="T3" fmla="*/ 665 h 692"/>
                <a:gd name="T4" fmla="*/ 9 w 785"/>
                <a:gd name="T5" fmla="*/ 374 h 692"/>
                <a:gd name="T6" fmla="*/ 9 w 785"/>
                <a:gd name="T7" fmla="*/ 318 h 692"/>
                <a:gd name="T8" fmla="*/ 177 w 785"/>
                <a:gd name="T9" fmla="*/ 27 h 692"/>
                <a:gd name="T10" fmla="*/ 225 w 785"/>
                <a:gd name="T11" fmla="*/ 0 h 692"/>
                <a:gd name="T12" fmla="*/ 561 w 785"/>
                <a:gd name="T13" fmla="*/ 0 h 692"/>
                <a:gd name="T14" fmla="*/ 609 w 785"/>
                <a:gd name="T15" fmla="*/ 27 h 692"/>
                <a:gd name="T16" fmla="*/ 777 w 785"/>
                <a:gd name="T17" fmla="*/ 318 h 692"/>
                <a:gd name="T18" fmla="*/ 777 w 785"/>
                <a:gd name="T19" fmla="*/ 374 h 692"/>
                <a:gd name="T20" fmla="*/ 609 w 785"/>
                <a:gd name="T21" fmla="*/ 665 h 692"/>
                <a:gd name="T22" fmla="*/ 561 w 785"/>
                <a:gd name="T23" fmla="*/ 692 h 692"/>
                <a:gd name="T24" fmla="*/ 225 w 785"/>
                <a:gd name="T25" fmla="*/ 692 h 6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85" h="692">
                  <a:moveTo>
                    <a:pt x="225" y="692"/>
                  </a:moveTo>
                  <a:cubicBezTo>
                    <a:pt x="207" y="692"/>
                    <a:pt x="185" y="680"/>
                    <a:pt x="177" y="665"/>
                  </a:cubicBezTo>
                  <a:cubicBezTo>
                    <a:pt x="9" y="374"/>
                    <a:pt x="9" y="374"/>
                    <a:pt x="9" y="374"/>
                  </a:cubicBezTo>
                  <a:cubicBezTo>
                    <a:pt x="0" y="358"/>
                    <a:pt x="0" y="334"/>
                    <a:pt x="9" y="318"/>
                  </a:cubicBezTo>
                  <a:cubicBezTo>
                    <a:pt x="177" y="27"/>
                    <a:pt x="177" y="27"/>
                    <a:pt x="177" y="27"/>
                  </a:cubicBezTo>
                  <a:cubicBezTo>
                    <a:pt x="185" y="12"/>
                    <a:pt x="207" y="0"/>
                    <a:pt x="225" y="0"/>
                  </a:cubicBezTo>
                  <a:cubicBezTo>
                    <a:pt x="561" y="0"/>
                    <a:pt x="561" y="0"/>
                    <a:pt x="561" y="0"/>
                  </a:cubicBezTo>
                  <a:cubicBezTo>
                    <a:pt x="578" y="0"/>
                    <a:pt x="600" y="12"/>
                    <a:pt x="609" y="27"/>
                  </a:cubicBezTo>
                  <a:cubicBezTo>
                    <a:pt x="777" y="318"/>
                    <a:pt x="777" y="318"/>
                    <a:pt x="777" y="318"/>
                  </a:cubicBezTo>
                  <a:cubicBezTo>
                    <a:pt x="785" y="334"/>
                    <a:pt x="785" y="358"/>
                    <a:pt x="777" y="374"/>
                  </a:cubicBezTo>
                  <a:cubicBezTo>
                    <a:pt x="609" y="665"/>
                    <a:pt x="609" y="665"/>
                    <a:pt x="609" y="665"/>
                  </a:cubicBezTo>
                  <a:cubicBezTo>
                    <a:pt x="600" y="680"/>
                    <a:pt x="578" y="692"/>
                    <a:pt x="561" y="692"/>
                  </a:cubicBezTo>
                  <a:lnTo>
                    <a:pt x="225" y="692"/>
                  </a:lnTo>
                  <a:close/>
                </a:path>
              </a:pathLst>
            </a:custGeom>
            <a:noFill/>
            <a:ln w="28575" cmpd="sng">
              <a:solidFill>
                <a:schemeClr val="tx1"/>
              </a:solidFill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5" name="Freeform 5">
              <a:extLst>
                <a:ext uri="{FF2B5EF4-FFF2-40B4-BE49-F238E27FC236}">
                  <a16:creationId xmlns:a16="http://schemas.microsoft.com/office/drawing/2014/main" id="{0199BE21-2D26-4357-8702-909F3621A3F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960661" y="1000124"/>
              <a:ext cx="762167" cy="671915"/>
            </a:xfrm>
            <a:custGeom>
              <a:avLst/>
              <a:gdLst>
                <a:gd name="T0" fmla="*/ 225 w 785"/>
                <a:gd name="T1" fmla="*/ 692 h 692"/>
                <a:gd name="T2" fmla="*/ 177 w 785"/>
                <a:gd name="T3" fmla="*/ 665 h 692"/>
                <a:gd name="T4" fmla="*/ 9 w 785"/>
                <a:gd name="T5" fmla="*/ 374 h 692"/>
                <a:gd name="T6" fmla="*/ 9 w 785"/>
                <a:gd name="T7" fmla="*/ 318 h 692"/>
                <a:gd name="T8" fmla="*/ 177 w 785"/>
                <a:gd name="T9" fmla="*/ 27 h 692"/>
                <a:gd name="T10" fmla="*/ 225 w 785"/>
                <a:gd name="T11" fmla="*/ 0 h 692"/>
                <a:gd name="T12" fmla="*/ 561 w 785"/>
                <a:gd name="T13" fmla="*/ 0 h 692"/>
                <a:gd name="T14" fmla="*/ 609 w 785"/>
                <a:gd name="T15" fmla="*/ 27 h 692"/>
                <a:gd name="T16" fmla="*/ 777 w 785"/>
                <a:gd name="T17" fmla="*/ 318 h 692"/>
                <a:gd name="T18" fmla="*/ 777 w 785"/>
                <a:gd name="T19" fmla="*/ 374 h 692"/>
                <a:gd name="T20" fmla="*/ 609 w 785"/>
                <a:gd name="T21" fmla="*/ 665 h 692"/>
                <a:gd name="T22" fmla="*/ 561 w 785"/>
                <a:gd name="T23" fmla="*/ 692 h 692"/>
                <a:gd name="T24" fmla="*/ 225 w 785"/>
                <a:gd name="T25" fmla="*/ 692 h 6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85" h="692">
                  <a:moveTo>
                    <a:pt x="225" y="692"/>
                  </a:moveTo>
                  <a:cubicBezTo>
                    <a:pt x="207" y="692"/>
                    <a:pt x="185" y="680"/>
                    <a:pt x="177" y="665"/>
                  </a:cubicBezTo>
                  <a:cubicBezTo>
                    <a:pt x="9" y="374"/>
                    <a:pt x="9" y="374"/>
                    <a:pt x="9" y="374"/>
                  </a:cubicBezTo>
                  <a:cubicBezTo>
                    <a:pt x="0" y="358"/>
                    <a:pt x="0" y="334"/>
                    <a:pt x="9" y="318"/>
                  </a:cubicBezTo>
                  <a:cubicBezTo>
                    <a:pt x="177" y="27"/>
                    <a:pt x="177" y="27"/>
                    <a:pt x="177" y="27"/>
                  </a:cubicBezTo>
                  <a:cubicBezTo>
                    <a:pt x="185" y="12"/>
                    <a:pt x="207" y="0"/>
                    <a:pt x="225" y="0"/>
                  </a:cubicBezTo>
                  <a:cubicBezTo>
                    <a:pt x="561" y="0"/>
                    <a:pt x="561" y="0"/>
                    <a:pt x="561" y="0"/>
                  </a:cubicBezTo>
                  <a:cubicBezTo>
                    <a:pt x="578" y="0"/>
                    <a:pt x="600" y="12"/>
                    <a:pt x="609" y="27"/>
                  </a:cubicBezTo>
                  <a:cubicBezTo>
                    <a:pt x="777" y="318"/>
                    <a:pt x="777" y="318"/>
                    <a:pt x="777" y="318"/>
                  </a:cubicBezTo>
                  <a:cubicBezTo>
                    <a:pt x="785" y="334"/>
                    <a:pt x="785" y="358"/>
                    <a:pt x="777" y="374"/>
                  </a:cubicBezTo>
                  <a:cubicBezTo>
                    <a:pt x="609" y="665"/>
                    <a:pt x="609" y="665"/>
                    <a:pt x="609" y="665"/>
                  </a:cubicBezTo>
                  <a:cubicBezTo>
                    <a:pt x="600" y="680"/>
                    <a:pt x="578" y="692"/>
                    <a:pt x="561" y="692"/>
                  </a:cubicBezTo>
                  <a:lnTo>
                    <a:pt x="225" y="692"/>
                  </a:lnTo>
                  <a:close/>
                </a:path>
              </a:pathLst>
            </a:custGeom>
            <a:noFill/>
            <a:ln w="28575" cmpd="sng">
              <a:solidFill>
                <a:schemeClr val="tx1"/>
              </a:solidFill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18175491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0">
            <a:extLst>
              <a:ext uri="{FF2B5EF4-FFF2-40B4-BE49-F238E27FC236}">
                <a16:creationId xmlns:a16="http://schemas.microsoft.com/office/drawing/2014/main" id="{B649E800-A5C8-49A0-A453-ED537DA315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" y="0"/>
            <a:ext cx="12191997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Freeform: Shape 12">
            <a:extLst>
              <a:ext uri="{FF2B5EF4-FFF2-40B4-BE49-F238E27FC236}">
                <a16:creationId xmlns:a16="http://schemas.microsoft.com/office/drawing/2014/main" id="{8BA67DD7-B75D-4A30-90A4-EEA9F64AF1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08194" y="0"/>
            <a:ext cx="6164729" cy="6858000"/>
          </a:xfrm>
          <a:custGeom>
            <a:avLst/>
            <a:gdLst>
              <a:gd name="connsiteX0" fmla="*/ 0 w 6164729"/>
              <a:gd name="connsiteY0" fmla="*/ 6857542 h 6858000"/>
              <a:gd name="connsiteX1" fmla="*/ 199783 w 6164729"/>
              <a:gd name="connsiteY1" fmla="*/ 6857542 h 6858000"/>
              <a:gd name="connsiteX2" fmla="*/ 199783 w 6164729"/>
              <a:gd name="connsiteY2" fmla="*/ 6858000 h 6858000"/>
              <a:gd name="connsiteX3" fmla="*/ 0 w 6164729"/>
              <a:gd name="connsiteY3" fmla="*/ 6858000 h 6858000"/>
              <a:gd name="connsiteX4" fmla="*/ 4818273 w 6164729"/>
              <a:gd name="connsiteY4" fmla="*/ 0 h 6858000"/>
              <a:gd name="connsiteX5" fmla="*/ 5018056 w 6164729"/>
              <a:gd name="connsiteY5" fmla="*/ 0 h 6858000"/>
              <a:gd name="connsiteX6" fmla="*/ 5030703 w 6164729"/>
              <a:gd name="connsiteY6" fmla="*/ 31774 h 6858000"/>
              <a:gd name="connsiteX7" fmla="*/ 6085711 w 6164729"/>
              <a:gd name="connsiteY7" fmla="*/ 2682457 h 6858000"/>
              <a:gd name="connsiteX8" fmla="*/ 6085711 w 6164729"/>
              <a:gd name="connsiteY8" fmla="*/ 3752208 h 6858000"/>
              <a:gd name="connsiteX9" fmla="*/ 4928207 w 6164729"/>
              <a:gd name="connsiteY9" fmla="*/ 6660411 h 6858000"/>
              <a:gd name="connsiteX10" fmla="*/ 4849745 w 6164729"/>
              <a:gd name="connsiteY10" fmla="*/ 6857542 h 6858000"/>
              <a:gd name="connsiteX11" fmla="*/ 4649962 w 6164729"/>
              <a:gd name="connsiteY11" fmla="*/ 6857542 h 6858000"/>
              <a:gd name="connsiteX12" fmla="*/ 4728424 w 6164729"/>
              <a:gd name="connsiteY12" fmla="*/ 6660411 h 6858000"/>
              <a:gd name="connsiteX13" fmla="*/ 5885928 w 6164729"/>
              <a:gd name="connsiteY13" fmla="*/ 3752208 h 6858000"/>
              <a:gd name="connsiteX14" fmla="*/ 5885928 w 6164729"/>
              <a:gd name="connsiteY14" fmla="*/ 2682457 h 6858000"/>
              <a:gd name="connsiteX15" fmla="*/ 4830920 w 6164729"/>
              <a:gd name="connsiteY15" fmla="*/ 31774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6164729" h="6858000">
                <a:moveTo>
                  <a:pt x="0" y="6857542"/>
                </a:moveTo>
                <a:lnTo>
                  <a:pt x="199783" y="6857542"/>
                </a:lnTo>
                <a:lnTo>
                  <a:pt x="199783" y="6858000"/>
                </a:lnTo>
                <a:lnTo>
                  <a:pt x="0" y="6858000"/>
                </a:lnTo>
                <a:close/>
                <a:moveTo>
                  <a:pt x="4818273" y="0"/>
                </a:moveTo>
                <a:lnTo>
                  <a:pt x="5018056" y="0"/>
                </a:lnTo>
                <a:lnTo>
                  <a:pt x="5030703" y="31774"/>
                </a:lnTo>
                <a:cubicBezTo>
                  <a:pt x="6085711" y="2682457"/>
                  <a:pt x="6085711" y="2682457"/>
                  <a:pt x="6085711" y="2682457"/>
                </a:cubicBezTo>
                <a:cubicBezTo>
                  <a:pt x="6191069" y="2988100"/>
                  <a:pt x="6191069" y="3446565"/>
                  <a:pt x="6085711" y="3752208"/>
                </a:cubicBezTo>
                <a:cubicBezTo>
                  <a:pt x="5601723" y="4968215"/>
                  <a:pt x="5223609" y="5918220"/>
                  <a:pt x="4928207" y="6660411"/>
                </a:cubicBezTo>
                <a:lnTo>
                  <a:pt x="4849745" y="6857542"/>
                </a:lnTo>
                <a:lnTo>
                  <a:pt x="4649962" y="6857542"/>
                </a:lnTo>
                <a:lnTo>
                  <a:pt x="4728424" y="6660411"/>
                </a:lnTo>
                <a:cubicBezTo>
                  <a:pt x="5023826" y="5918220"/>
                  <a:pt x="5401940" y="4968215"/>
                  <a:pt x="5885928" y="3752208"/>
                </a:cubicBezTo>
                <a:cubicBezTo>
                  <a:pt x="5991286" y="3446565"/>
                  <a:pt x="5991286" y="2988100"/>
                  <a:pt x="5885928" y="2682457"/>
                </a:cubicBezTo>
                <a:cubicBezTo>
                  <a:pt x="5885928" y="2682457"/>
                  <a:pt x="5885928" y="2682457"/>
                  <a:pt x="4830920" y="31774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E8C5FC48-0A3C-4D6D-A0D5-EEE93213DB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9160561" y="1075188"/>
            <a:ext cx="1562267" cy="1172973"/>
            <a:chOff x="9160561" y="1000124"/>
            <a:chExt cx="1562267" cy="1172973"/>
          </a:xfrm>
        </p:grpSpPr>
        <p:sp>
          <p:nvSpPr>
            <p:cNvPr id="16" name="Freeform 5">
              <a:extLst>
                <a:ext uri="{FF2B5EF4-FFF2-40B4-BE49-F238E27FC236}">
                  <a16:creationId xmlns:a16="http://schemas.microsoft.com/office/drawing/2014/main" id="{DBBC336D-7E16-4EE1-90F2-8D9F2B618B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160561" y="1348782"/>
              <a:ext cx="935037" cy="824315"/>
            </a:xfrm>
            <a:custGeom>
              <a:avLst/>
              <a:gdLst>
                <a:gd name="T0" fmla="*/ 225 w 785"/>
                <a:gd name="T1" fmla="*/ 692 h 692"/>
                <a:gd name="T2" fmla="*/ 177 w 785"/>
                <a:gd name="T3" fmla="*/ 665 h 692"/>
                <a:gd name="T4" fmla="*/ 9 w 785"/>
                <a:gd name="T5" fmla="*/ 374 h 692"/>
                <a:gd name="T6" fmla="*/ 9 w 785"/>
                <a:gd name="T7" fmla="*/ 318 h 692"/>
                <a:gd name="T8" fmla="*/ 177 w 785"/>
                <a:gd name="T9" fmla="*/ 27 h 692"/>
                <a:gd name="T10" fmla="*/ 225 w 785"/>
                <a:gd name="T11" fmla="*/ 0 h 692"/>
                <a:gd name="T12" fmla="*/ 561 w 785"/>
                <a:gd name="T13" fmla="*/ 0 h 692"/>
                <a:gd name="T14" fmla="*/ 609 w 785"/>
                <a:gd name="T15" fmla="*/ 27 h 692"/>
                <a:gd name="T16" fmla="*/ 777 w 785"/>
                <a:gd name="T17" fmla="*/ 318 h 692"/>
                <a:gd name="T18" fmla="*/ 777 w 785"/>
                <a:gd name="T19" fmla="*/ 374 h 692"/>
                <a:gd name="T20" fmla="*/ 609 w 785"/>
                <a:gd name="T21" fmla="*/ 665 h 692"/>
                <a:gd name="T22" fmla="*/ 561 w 785"/>
                <a:gd name="T23" fmla="*/ 692 h 692"/>
                <a:gd name="T24" fmla="*/ 225 w 785"/>
                <a:gd name="T25" fmla="*/ 692 h 6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85" h="692">
                  <a:moveTo>
                    <a:pt x="225" y="692"/>
                  </a:moveTo>
                  <a:cubicBezTo>
                    <a:pt x="207" y="692"/>
                    <a:pt x="185" y="680"/>
                    <a:pt x="177" y="665"/>
                  </a:cubicBezTo>
                  <a:cubicBezTo>
                    <a:pt x="9" y="374"/>
                    <a:pt x="9" y="374"/>
                    <a:pt x="9" y="374"/>
                  </a:cubicBezTo>
                  <a:cubicBezTo>
                    <a:pt x="0" y="358"/>
                    <a:pt x="0" y="334"/>
                    <a:pt x="9" y="318"/>
                  </a:cubicBezTo>
                  <a:cubicBezTo>
                    <a:pt x="177" y="27"/>
                    <a:pt x="177" y="27"/>
                    <a:pt x="177" y="27"/>
                  </a:cubicBezTo>
                  <a:cubicBezTo>
                    <a:pt x="185" y="12"/>
                    <a:pt x="207" y="0"/>
                    <a:pt x="225" y="0"/>
                  </a:cubicBezTo>
                  <a:cubicBezTo>
                    <a:pt x="561" y="0"/>
                    <a:pt x="561" y="0"/>
                    <a:pt x="561" y="0"/>
                  </a:cubicBezTo>
                  <a:cubicBezTo>
                    <a:pt x="578" y="0"/>
                    <a:pt x="600" y="12"/>
                    <a:pt x="609" y="27"/>
                  </a:cubicBezTo>
                  <a:cubicBezTo>
                    <a:pt x="777" y="318"/>
                    <a:pt x="777" y="318"/>
                    <a:pt x="777" y="318"/>
                  </a:cubicBezTo>
                  <a:cubicBezTo>
                    <a:pt x="785" y="334"/>
                    <a:pt x="785" y="358"/>
                    <a:pt x="777" y="374"/>
                  </a:cubicBezTo>
                  <a:cubicBezTo>
                    <a:pt x="609" y="665"/>
                    <a:pt x="609" y="665"/>
                    <a:pt x="609" y="665"/>
                  </a:cubicBezTo>
                  <a:cubicBezTo>
                    <a:pt x="600" y="680"/>
                    <a:pt x="578" y="692"/>
                    <a:pt x="561" y="692"/>
                  </a:cubicBezTo>
                  <a:lnTo>
                    <a:pt x="225" y="692"/>
                  </a:lnTo>
                  <a:close/>
                </a:path>
              </a:pathLst>
            </a:custGeom>
            <a:noFill/>
            <a:ln w="28575" cmpd="sng">
              <a:solidFill>
                <a:schemeClr val="tx1"/>
              </a:solidFill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7" name="Freeform 5">
              <a:extLst>
                <a:ext uri="{FF2B5EF4-FFF2-40B4-BE49-F238E27FC236}">
                  <a16:creationId xmlns:a16="http://schemas.microsoft.com/office/drawing/2014/main" id="{0199BE21-2D26-4357-8702-909F3621A3F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960661" y="1000124"/>
              <a:ext cx="762167" cy="671915"/>
            </a:xfrm>
            <a:custGeom>
              <a:avLst/>
              <a:gdLst>
                <a:gd name="T0" fmla="*/ 225 w 785"/>
                <a:gd name="T1" fmla="*/ 692 h 692"/>
                <a:gd name="T2" fmla="*/ 177 w 785"/>
                <a:gd name="T3" fmla="*/ 665 h 692"/>
                <a:gd name="T4" fmla="*/ 9 w 785"/>
                <a:gd name="T5" fmla="*/ 374 h 692"/>
                <a:gd name="T6" fmla="*/ 9 w 785"/>
                <a:gd name="T7" fmla="*/ 318 h 692"/>
                <a:gd name="T8" fmla="*/ 177 w 785"/>
                <a:gd name="T9" fmla="*/ 27 h 692"/>
                <a:gd name="T10" fmla="*/ 225 w 785"/>
                <a:gd name="T11" fmla="*/ 0 h 692"/>
                <a:gd name="T12" fmla="*/ 561 w 785"/>
                <a:gd name="T13" fmla="*/ 0 h 692"/>
                <a:gd name="T14" fmla="*/ 609 w 785"/>
                <a:gd name="T15" fmla="*/ 27 h 692"/>
                <a:gd name="T16" fmla="*/ 777 w 785"/>
                <a:gd name="T17" fmla="*/ 318 h 692"/>
                <a:gd name="T18" fmla="*/ 777 w 785"/>
                <a:gd name="T19" fmla="*/ 374 h 692"/>
                <a:gd name="T20" fmla="*/ 609 w 785"/>
                <a:gd name="T21" fmla="*/ 665 h 692"/>
                <a:gd name="T22" fmla="*/ 561 w 785"/>
                <a:gd name="T23" fmla="*/ 692 h 692"/>
                <a:gd name="T24" fmla="*/ 225 w 785"/>
                <a:gd name="T25" fmla="*/ 692 h 6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85" h="692">
                  <a:moveTo>
                    <a:pt x="225" y="692"/>
                  </a:moveTo>
                  <a:cubicBezTo>
                    <a:pt x="207" y="692"/>
                    <a:pt x="185" y="680"/>
                    <a:pt x="177" y="665"/>
                  </a:cubicBezTo>
                  <a:cubicBezTo>
                    <a:pt x="9" y="374"/>
                    <a:pt x="9" y="374"/>
                    <a:pt x="9" y="374"/>
                  </a:cubicBezTo>
                  <a:cubicBezTo>
                    <a:pt x="0" y="358"/>
                    <a:pt x="0" y="334"/>
                    <a:pt x="9" y="318"/>
                  </a:cubicBezTo>
                  <a:cubicBezTo>
                    <a:pt x="177" y="27"/>
                    <a:pt x="177" y="27"/>
                    <a:pt x="177" y="27"/>
                  </a:cubicBezTo>
                  <a:cubicBezTo>
                    <a:pt x="185" y="12"/>
                    <a:pt x="207" y="0"/>
                    <a:pt x="225" y="0"/>
                  </a:cubicBezTo>
                  <a:cubicBezTo>
                    <a:pt x="561" y="0"/>
                    <a:pt x="561" y="0"/>
                    <a:pt x="561" y="0"/>
                  </a:cubicBezTo>
                  <a:cubicBezTo>
                    <a:pt x="578" y="0"/>
                    <a:pt x="600" y="12"/>
                    <a:pt x="609" y="27"/>
                  </a:cubicBezTo>
                  <a:cubicBezTo>
                    <a:pt x="777" y="318"/>
                    <a:pt x="777" y="318"/>
                    <a:pt x="777" y="318"/>
                  </a:cubicBezTo>
                  <a:cubicBezTo>
                    <a:pt x="785" y="334"/>
                    <a:pt x="785" y="358"/>
                    <a:pt x="777" y="374"/>
                  </a:cubicBezTo>
                  <a:cubicBezTo>
                    <a:pt x="609" y="665"/>
                    <a:pt x="609" y="665"/>
                    <a:pt x="609" y="665"/>
                  </a:cubicBezTo>
                  <a:cubicBezTo>
                    <a:pt x="600" y="680"/>
                    <a:pt x="578" y="692"/>
                    <a:pt x="561" y="692"/>
                  </a:cubicBezTo>
                  <a:lnTo>
                    <a:pt x="225" y="692"/>
                  </a:lnTo>
                  <a:close/>
                </a:path>
              </a:pathLst>
            </a:custGeom>
            <a:noFill/>
            <a:ln w="28575" cmpd="sng">
              <a:solidFill>
                <a:schemeClr val="tx1"/>
              </a:solidFill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pic>
        <p:nvPicPr>
          <p:cNvPr id="4" name="Picture 3">
            <a:extLst>
              <a:ext uri="{FF2B5EF4-FFF2-40B4-BE49-F238E27FC236}">
                <a16:creationId xmlns:a16="http://schemas.microsoft.com/office/drawing/2014/main" id="{A52A6C04-0B2C-8F76-4B36-CEC9CC32E9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7238" y="642938"/>
            <a:ext cx="6859588" cy="557053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F38D9C4-34B1-104F-7262-4AC7B0A507B7}"/>
              </a:ext>
            </a:extLst>
          </p:cNvPr>
          <p:cNvSpPr txBox="1"/>
          <p:nvPr/>
        </p:nvSpPr>
        <p:spPr>
          <a:xfrm>
            <a:off x="8989249" y="4247615"/>
            <a:ext cx="3108192" cy="824315"/>
          </a:xfrm>
          <a:prstGeom prst="rect">
            <a:avLst/>
          </a:prstGeom>
          <a:solidFill>
            <a:srgbClr val="000000">
              <a:alpha val="50000"/>
            </a:srgbClr>
          </a:solidFill>
          <a:ln>
            <a:noFill/>
          </a:ln>
        </p:spPr>
        <p:txBody>
          <a:bodyPr wrap="square" anchor="ctr">
            <a:noAutofit/>
          </a:bodyPr>
          <a:lstStyle/>
          <a:p>
            <a:pPr algn="ctr">
              <a:spcAft>
                <a:spcPts val="600"/>
              </a:spcAft>
            </a:pPr>
            <a:r>
              <a:rPr lang="en-US" sz="1300" dirty="0">
                <a:solidFill>
                  <a:schemeClr val="bg1"/>
                </a:solidFill>
              </a:rPr>
              <a:t>https://</a:t>
            </a:r>
            <a:r>
              <a:rPr lang="en-US" sz="1300" dirty="0" err="1">
                <a:solidFill>
                  <a:schemeClr val="bg1"/>
                </a:solidFill>
              </a:rPr>
              <a:t>watzile.shinyapps.io</a:t>
            </a:r>
            <a:r>
              <a:rPr lang="en-US" sz="1300" dirty="0">
                <a:solidFill>
                  <a:schemeClr val="bg1"/>
                </a:solidFill>
              </a:rPr>
              <a:t>/</a:t>
            </a:r>
            <a:r>
              <a:rPr lang="en-US" sz="1300" dirty="0" err="1">
                <a:solidFill>
                  <a:schemeClr val="bg1"/>
                </a:solidFill>
              </a:rPr>
              <a:t>EpiCollider</a:t>
            </a:r>
            <a:r>
              <a:rPr lang="en-US" sz="1300" dirty="0">
                <a:solidFill>
                  <a:schemeClr val="bg1"/>
                </a:solidFill>
              </a:rPr>
              <a:t>/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A0414E7-5D37-A3D0-EA37-A62609759B3A}"/>
              </a:ext>
            </a:extLst>
          </p:cNvPr>
          <p:cNvSpPr txBox="1"/>
          <p:nvPr/>
        </p:nvSpPr>
        <p:spPr>
          <a:xfrm>
            <a:off x="683173" y="273606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hlinkClick r:id="rId3"/>
              </a:rPr>
              <a:t>https://scholar.google.es/citations?user=lA11XToAAAAJ&amp;hl</a:t>
            </a:r>
            <a:endParaRPr lang="en-US" dirty="0"/>
          </a:p>
          <a:p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57AADBD-F801-DA26-9295-9950E6F9759C}"/>
              </a:ext>
            </a:extLst>
          </p:cNvPr>
          <p:cNvSpPr txBox="1"/>
          <p:nvPr/>
        </p:nvSpPr>
        <p:spPr>
          <a:xfrm>
            <a:off x="9627067" y="3516778"/>
            <a:ext cx="19146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highlight>
                  <a:srgbClr val="0000FF"/>
                </a:highlight>
              </a:rPr>
              <a:t>Web applications: </a:t>
            </a:r>
          </a:p>
        </p:txBody>
      </p:sp>
    </p:spTree>
    <p:extLst>
      <p:ext uri="{BB962C8B-B14F-4D97-AF65-F5344CB8AC3E}">
        <p14:creationId xmlns:p14="http://schemas.microsoft.com/office/powerpoint/2010/main" val="204656512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22F15A2D-2324-487D-A02A-BF46C5C580E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17A7F34E-D418-47E2-9F86-2C45BBC312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21732" y="321733"/>
            <a:ext cx="11546828" cy="6214534"/>
          </a:xfrm>
          <a:custGeom>
            <a:avLst/>
            <a:gdLst>
              <a:gd name="connsiteX0" fmla="*/ 0 w 11546828"/>
              <a:gd name="connsiteY0" fmla="*/ 0 h 6214534"/>
              <a:gd name="connsiteX1" fmla="*/ 7965430 w 11546828"/>
              <a:gd name="connsiteY1" fmla="*/ 0 h 6214534"/>
              <a:gd name="connsiteX2" fmla="*/ 7965430 w 11546828"/>
              <a:gd name="connsiteY2" fmla="*/ 1786 h 6214534"/>
              <a:gd name="connsiteX3" fmla="*/ 11546828 w 11546828"/>
              <a:gd name="connsiteY3" fmla="*/ 1786 h 6214534"/>
              <a:gd name="connsiteX4" fmla="*/ 11546828 w 11546828"/>
              <a:gd name="connsiteY4" fmla="*/ 2866740 h 6214534"/>
              <a:gd name="connsiteX5" fmla="*/ 11225095 w 11546828"/>
              <a:gd name="connsiteY5" fmla="*/ 3179536 h 6214534"/>
              <a:gd name="connsiteX6" fmla="*/ 11225095 w 11546828"/>
              <a:gd name="connsiteY6" fmla="*/ 301542 h 6214534"/>
              <a:gd name="connsiteX7" fmla="*/ 320042 w 11546828"/>
              <a:gd name="connsiteY7" fmla="*/ 301542 h 6214534"/>
              <a:gd name="connsiteX8" fmla="*/ 320042 w 11546828"/>
              <a:gd name="connsiteY8" fmla="*/ 5909424 h 6214534"/>
              <a:gd name="connsiteX9" fmla="*/ 8417210 w 11546828"/>
              <a:gd name="connsiteY9" fmla="*/ 5909424 h 6214534"/>
              <a:gd name="connsiteX10" fmla="*/ 8103383 w 11546828"/>
              <a:gd name="connsiteY10" fmla="*/ 6214534 h 6214534"/>
              <a:gd name="connsiteX11" fmla="*/ 7222929 w 11546828"/>
              <a:gd name="connsiteY11" fmla="*/ 6214534 h 6214534"/>
              <a:gd name="connsiteX12" fmla="*/ 7222929 w 11546828"/>
              <a:gd name="connsiteY12" fmla="*/ 6212748 h 6214534"/>
              <a:gd name="connsiteX13" fmla="*/ 0 w 11546828"/>
              <a:gd name="connsiteY13" fmla="*/ 6212748 h 62145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1546828" h="6214534">
                <a:moveTo>
                  <a:pt x="0" y="0"/>
                </a:moveTo>
                <a:lnTo>
                  <a:pt x="7965430" y="0"/>
                </a:lnTo>
                <a:lnTo>
                  <a:pt x="7965430" y="1786"/>
                </a:lnTo>
                <a:lnTo>
                  <a:pt x="11546828" y="1786"/>
                </a:lnTo>
                <a:lnTo>
                  <a:pt x="11546828" y="2866740"/>
                </a:lnTo>
                <a:lnTo>
                  <a:pt x="11225095" y="3179536"/>
                </a:lnTo>
                <a:lnTo>
                  <a:pt x="11225095" y="301542"/>
                </a:lnTo>
                <a:lnTo>
                  <a:pt x="320042" y="301542"/>
                </a:lnTo>
                <a:lnTo>
                  <a:pt x="320042" y="5909424"/>
                </a:lnTo>
                <a:lnTo>
                  <a:pt x="8417210" y="5909424"/>
                </a:lnTo>
                <a:lnTo>
                  <a:pt x="8103383" y="6214534"/>
                </a:lnTo>
                <a:lnTo>
                  <a:pt x="7222929" y="6214534"/>
                </a:lnTo>
                <a:lnTo>
                  <a:pt x="7222929" y="6212748"/>
                </a:lnTo>
                <a:lnTo>
                  <a:pt x="0" y="6212748"/>
                </a:lnTo>
                <a:close/>
              </a:path>
            </a:pathLst>
          </a:custGeom>
          <a:solidFill>
            <a:schemeClr val="tx1">
              <a:lumMod val="50000"/>
              <a:lumOff val="50000"/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4" name="Right Triangle 13">
            <a:extLst>
              <a:ext uri="{FF2B5EF4-FFF2-40B4-BE49-F238E27FC236}">
                <a16:creationId xmlns:a16="http://schemas.microsoft.com/office/drawing/2014/main" id="{2AEAFA59-923A-4F54-8B49-44C970BCC3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5" name="Picture 4" descr="A picture containing person, person, wall, indoor&#10;&#10;Description automatically generated">
            <a:extLst>
              <a:ext uri="{FF2B5EF4-FFF2-40B4-BE49-F238E27FC236}">
                <a16:creationId xmlns:a16="http://schemas.microsoft.com/office/drawing/2014/main" id="{9A4B0FAF-0B9D-FC6E-376D-82EFF3F2F5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68187" y="939333"/>
            <a:ext cx="3734500" cy="49793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512820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22F15A2D-2324-487D-A02A-BF46C5C580E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Content Placeholder 4" descr="A group of people posing for a photo&#10;&#10;Description automatically generated">
            <a:extLst>
              <a:ext uri="{FF2B5EF4-FFF2-40B4-BE49-F238E27FC236}">
                <a16:creationId xmlns:a16="http://schemas.microsoft.com/office/drawing/2014/main" id="{9AC4641C-D83B-98AE-36E0-2BB2B153167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b="12064"/>
          <a:stretch/>
        </p:blipFill>
        <p:spPr>
          <a:xfrm>
            <a:off x="20" y="10"/>
            <a:ext cx="12191980" cy="6861558"/>
          </a:xfrm>
          <a:prstGeom prst="rect">
            <a:avLst/>
          </a:prstGeom>
        </p:spPr>
      </p:pic>
      <p:sp>
        <p:nvSpPr>
          <p:cNvPr id="12" name="Right Triangle 11">
            <a:extLst>
              <a:ext uri="{FF2B5EF4-FFF2-40B4-BE49-F238E27FC236}">
                <a16:creationId xmlns:a16="http://schemas.microsoft.com/office/drawing/2014/main" id="{2AEAFA59-923A-4F54-8B49-44C970BCC3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37E9D4B-7BFA-4D10-B666-547BAC4994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1774" y="623275"/>
            <a:ext cx="10905053" cy="5607882"/>
          </a:xfrm>
          <a:prstGeom prst="rect">
            <a:avLst/>
          </a:prstGeom>
          <a:noFill/>
          <a:ln w="19050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922135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BEEDB5-D1AC-DBC7-52A1-9983C3C90E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4623" y="320675"/>
            <a:ext cx="11407487" cy="1325563"/>
          </a:xfrm>
        </p:spPr>
        <p:txBody>
          <a:bodyPr>
            <a:normAutofit/>
          </a:bodyPr>
          <a:lstStyle/>
          <a:p>
            <a:r>
              <a:rPr lang="en-US" sz="5400"/>
              <a:t>Horarios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D19922F-AD68-4E94-85E8-0AA44A1B1A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6032938" y="-6032938"/>
            <a:ext cx="126124" cy="12192000"/>
          </a:xfrm>
          <a:prstGeom prst="rect">
            <a:avLst/>
          </a:prstGeom>
          <a:solidFill>
            <a:srgbClr val="4472C4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EDE49365-E1A7-5C81-1531-F2649DE0DBB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676994060"/>
              </p:ext>
            </p:extLst>
          </p:nvPr>
        </p:nvGraphicFramePr>
        <p:xfrm>
          <a:off x="344624" y="1825625"/>
          <a:ext cx="11407487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DF993879-C709-1AAE-0EB2-D3E35FE660FF}"/>
              </a:ext>
            </a:extLst>
          </p:cNvPr>
          <p:cNvSpPr txBox="1"/>
          <p:nvPr/>
        </p:nvSpPr>
        <p:spPr>
          <a:xfrm>
            <a:off x="1415533" y="6176963"/>
            <a:ext cx="75130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* 15.09.25 al 19.09.25: Primera </a:t>
            </a:r>
            <a:r>
              <a:rPr lang="en-US" dirty="0" err="1"/>
              <a:t>semana</a:t>
            </a:r>
            <a:r>
              <a:rPr lang="en-US" dirty="0"/>
              <a:t> </a:t>
            </a:r>
            <a:r>
              <a:rPr lang="en-US" dirty="0" err="1"/>
              <a:t>clases</a:t>
            </a:r>
            <a:r>
              <a:rPr lang="en-US" dirty="0"/>
              <a:t> 11.00 a 12.00 pm </a:t>
            </a:r>
            <a:r>
              <a:rPr lang="en-US" dirty="0" err="1"/>
              <a:t>todos</a:t>
            </a:r>
            <a:r>
              <a:rPr lang="en-US" dirty="0"/>
              <a:t> </a:t>
            </a:r>
            <a:r>
              <a:rPr lang="en-US" dirty="0" err="1"/>
              <a:t>los</a:t>
            </a:r>
            <a:r>
              <a:rPr lang="en-US" dirty="0"/>
              <a:t> días</a:t>
            </a:r>
          </a:p>
        </p:txBody>
      </p:sp>
    </p:spTree>
    <p:extLst>
      <p:ext uri="{BB962C8B-B14F-4D97-AF65-F5344CB8AC3E}">
        <p14:creationId xmlns:p14="http://schemas.microsoft.com/office/powerpoint/2010/main" val="119831631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Down Arrow 7">
            <a:extLst>
              <a:ext uri="{FF2B5EF4-FFF2-40B4-BE49-F238E27FC236}">
                <a16:creationId xmlns:a16="http://schemas.microsoft.com/office/drawing/2014/main" id="{D4771268-CB57-404A-9271-370EB28F60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800100" y="1491343"/>
            <a:ext cx="3333749" cy="3499103"/>
          </a:xfrm>
          <a:prstGeom prst="downArrow">
            <a:avLst>
              <a:gd name="adj1" fmla="val 100000"/>
              <a:gd name="adj2" fmla="val 15788"/>
            </a:avLst>
          </a:prstGeom>
          <a:solidFill>
            <a:srgbClr val="404040"/>
          </a:solidFill>
          <a:ln w="539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C037A44-BCF6-0A57-161F-A8BBE3A2A8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700" y="1967266"/>
            <a:ext cx="2628900" cy="2547257"/>
          </a:xfrm>
          <a:noFill/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3600" dirty="0" err="1">
                <a:solidFill>
                  <a:srgbClr val="FFFFFF"/>
                </a:solidFill>
              </a:rPr>
              <a:t>Cronograma</a:t>
            </a:r>
            <a:endParaRPr lang="en-US" sz="3600" kern="1200" dirty="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929120A-99AF-C8F3-E936-7A2B1DE084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12646" y="0"/>
            <a:ext cx="566914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988177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A4AC5506-6312-4701-8D3C-40187889A9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51752"/>
            <a:ext cx="12192000" cy="73655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5E56116-658E-3B42-9133-CD06455E8C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532" y="643467"/>
            <a:ext cx="11210925" cy="744836"/>
          </a:xfrm>
          <a:prstGeom prst="ellipse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3000" kern="1200">
                <a:solidFill>
                  <a:schemeClr val="bg1"/>
                </a:solidFill>
                <a:latin typeface="+mj-lt"/>
                <a:ea typeface="+mj-ea"/>
                <a:cs typeface="+mj-cs"/>
              </a:rPr>
              <a:t>Guia Docente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DC3F5C6-E58D-B378-A9C8-C6B3CE123B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64725" y="1396588"/>
            <a:ext cx="9013519" cy="51827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256976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Down Arrow 7">
            <a:extLst>
              <a:ext uri="{FF2B5EF4-FFF2-40B4-BE49-F238E27FC236}">
                <a16:creationId xmlns:a16="http://schemas.microsoft.com/office/drawing/2014/main" id="{D4771268-CB57-404A-9271-370EB28F60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800100" y="1491343"/>
            <a:ext cx="3333749" cy="3499103"/>
          </a:xfrm>
          <a:prstGeom prst="downArrow">
            <a:avLst>
              <a:gd name="adj1" fmla="val 100000"/>
              <a:gd name="adj2" fmla="val 15788"/>
            </a:avLst>
          </a:prstGeom>
          <a:solidFill>
            <a:srgbClr val="404040"/>
          </a:solidFill>
          <a:ln w="539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4C20644-828A-7178-E3F4-0B458E67E0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700" y="1967266"/>
            <a:ext cx="2628900" cy="2547257"/>
          </a:xfrm>
          <a:prstGeom prst="ellipse">
            <a:avLst/>
          </a:prstGeom>
          <a:noFill/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28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GUIA DOCENTE: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162573D-AE89-1E35-EF15-0753483EF6B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436405" y="1000897"/>
            <a:ext cx="9078142" cy="48562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944669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43AD4C67-FCD9-4AF3-97E5-C0627E21A0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9862" y="0"/>
            <a:ext cx="10392276" cy="6858000"/>
          </a:xfrm>
          <a:prstGeom prst="rect">
            <a:avLst/>
          </a:prstGeom>
        </p:spPr>
      </p:pic>
      <p:sp>
        <p:nvSpPr>
          <p:cNvPr id="7" name="CuadroTexto 6">
            <a:extLst>
              <a:ext uri="{FF2B5EF4-FFF2-40B4-BE49-F238E27FC236}">
                <a16:creationId xmlns:a16="http://schemas.microsoft.com/office/drawing/2014/main" id="{198586E2-E41E-4D30-9117-6AD78E239A91}"/>
              </a:ext>
            </a:extLst>
          </p:cNvPr>
          <p:cNvSpPr txBox="1"/>
          <p:nvPr/>
        </p:nvSpPr>
        <p:spPr>
          <a:xfrm>
            <a:off x="4396028" y="4614289"/>
            <a:ext cx="609490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>
                <a:effectLst/>
                <a:latin typeface="Merriweather" panose="020F0502020204030204" pitchFamily="34" charset="0"/>
                <a:hlinkClick r:id="rId3"/>
              </a:rPr>
              <a:t>https://wpd.ugr.es/~bioestad/</a:t>
            </a:r>
            <a:endParaRPr lang="en-US" sz="1800" dirty="0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303550036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C20644-828A-7178-E3F4-0B458E67E0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1175" y="1796067"/>
            <a:ext cx="2752354" cy="2709275"/>
          </a:xfrm>
          <a:prstGeom prst="ellipse">
            <a:avLst/>
          </a:prstGeom>
          <a:solidFill>
            <a:srgbClr val="262626"/>
          </a:solidFill>
          <a:ln w="174625" cmpd="thinThick">
            <a:solidFill>
              <a:srgbClr val="262626"/>
            </a:solidFill>
          </a:ln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26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GUIA DOCENTE: </a:t>
            </a:r>
            <a:r>
              <a:rPr lang="en-US" sz="2600" kern="1200" dirty="0" err="1">
                <a:solidFill>
                  <a:srgbClr val="FFFFFF"/>
                </a:solidFill>
                <a:latin typeface="+mj-lt"/>
                <a:ea typeface="+mj-ea"/>
                <a:cs typeface="+mj-cs"/>
              </a:rPr>
              <a:t>Evaluación</a:t>
            </a:r>
            <a:r>
              <a:rPr lang="en-US" sz="26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2600" kern="1200" dirty="0" err="1">
                <a:solidFill>
                  <a:srgbClr val="FFFFFF"/>
                </a:solidFill>
                <a:latin typeface="+mj-lt"/>
                <a:ea typeface="+mj-ea"/>
                <a:cs typeface="+mj-cs"/>
              </a:rPr>
              <a:t>ordinaria</a:t>
            </a:r>
            <a:endParaRPr lang="en-US" sz="2600" kern="1200" dirty="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E3B52F5-5317-8F7E-EC63-DEC101337C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72359" y="189186"/>
            <a:ext cx="11319641" cy="6558455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dirty="0"/>
              <a:t>EN PUNTOS para que </a:t>
            </a:r>
            <a:r>
              <a:rPr lang="en-US" dirty="0" err="1"/>
              <a:t>quede</a:t>
            </a:r>
            <a:r>
              <a:rPr lang="en-US" dirty="0"/>
              <a:t> </a:t>
            </a:r>
            <a:r>
              <a:rPr lang="en-US" dirty="0" err="1"/>
              <a:t>más</a:t>
            </a:r>
            <a:r>
              <a:rPr lang="en-US" dirty="0"/>
              <a:t> claro:</a:t>
            </a:r>
            <a:r>
              <a:rPr lang="en-US" dirty="0">
                <a:sym typeface="Wingdings" pitchFamily="2" charset="2"/>
              </a:rPr>
              <a:t> </a:t>
            </a:r>
          </a:p>
          <a:p>
            <a:pPr marL="0" indent="0">
              <a:buNone/>
            </a:pPr>
            <a:endParaRPr lang="en-US" sz="2800" dirty="0">
              <a:sym typeface="Wingdings" pitchFamily="2" charset="2"/>
            </a:endParaRPr>
          </a:p>
          <a:p>
            <a:pPr lvl="5"/>
            <a:r>
              <a:rPr lang="en-US" sz="2800" dirty="0">
                <a:sym typeface="Wingdings" pitchFamily="2" charset="2"/>
              </a:rPr>
              <a:t>EXAMEN FINAL </a:t>
            </a:r>
            <a:r>
              <a:rPr lang="en-US" sz="2800" b="1" dirty="0">
                <a:sym typeface="Wingdings" pitchFamily="2" charset="2"/>
              </a:rPr>
              <a:t>7</a:t>
            </a:r>
            <a:r>
              <a:rPr lang="en-US" sz="2800" dirty="0">
                <a:sym typeface="Wingdings" pitchFamily="2" charset="2"/>
              </a:rPr>
              <a:t> pts </a:t>
            </a:r>
          </a:p>
          <a:p>
            <a:pPr lvl="5"/>
            <a:r>
              <a:rPr lang="en-US" sz="2800" dirty="0">
                <a:sym typeface="Wingdings" pitchFamily="2" charset="2"/>
              </a:rPr>
              <a:t>PARCIALES y PRÁCTCIAS  </a:t>
            </a:r>
            <a:r>
              <a:rPr lang="en-US" sz="2800" b="1" dirty="0">
                <a:sym typeface="Wingdings" pitchFamily="2" charset="2"/>
              </a:rPr>
              <a:t>3</a:t>
            </a:r>
            <a:r>
              <a:rPr lang="en-US" sz="2800" dirty="0">
                <a:sym typeface="Wingdings" pitchFamily="2" charset="2"/>
              </a:rPr>
              <a:t> pts</a:t>
            </a:r>
          </a:p>
          <a:p>
            <a:pPr marL="2743200" lvl="6" indent="0">
              <a:buNone/>
            </a:pPr>
            <a:r>
              <a:rPr lang="en-US" sz="2800" dirty="0" err="1">
                <a:sym typeface="Wingdings" pitchFamily="2" charset="2"/>
              </a:rPr>
              <a:t>Evaluación</a:t>
            </a:r>
            <a:r>
              <a:rPr lang="en-US" sz="2800" dirty="0">
                <a:sym typeface="Wingdings" pitchFamily="2" charset="2"/>
              </a:rPr>
              <a:t> continua y </a:t>
            </a:r>
            <a:r>
              <a:rPr lang="en-US" sz="2800" dirty="0" err="1">
                <a:sym typeface="Wingdings" pitchFamily="2" charset="2"/>
              </a:rPr>
              <a:t>ordinaria</a:t>
            </a:r>
            <a:r>
              <a:rPr lang="en-US" sz="2800" dirty="0">
                <a:sym typeface="Wingdings" pitchFamily="2" charset="2"/>
              </a:rPr>
              <a:t> al </a:t>
            </a:r>
            <a:r>
              <a:rPr lang="en-US" sz="2800" dirty="0" err="1">
                <a:sym typeface="Wingdings" pitchFamily="2" charset="2"/>
              </a:rPr>
              <a:t>finalizar</a:t>
            </a:r>
            <a:r>
              <a:rPr lang="en-US" sz="2800" dirty="0">
                <a:sym typeface="Wingdings" pitchFamily="2" charset="2"/>
              </a:rPr>
              <a:t> </a:t>
            </a:r>
            <a:r>
              <a:rPr lang="en-US" sz="2800" dirty="0" err="1">
                <a:sym typeface="Wingdings" pitchFamily="2" charset="2"/>
              </a:rPr>
              <a:t>cada</a:t>
            </a:r>
            <a:r>
              <a:rPr lang="en-US" sz="2800" dirty="0">
                <a:sym typeface="Wingdings" pitchFamily="2" charset="2"/>
              </a:rPr>
              <a:t> </a:t>
            </a:r>
            <a:r>
              <a:rPr lang="en-US" sz="2800" dirty="0" err="1">
                <a:sym typeface="Wingdings" pitchFamily="2" charset="2"/>
              </a:rPr>
              <a:t>tema</a:t>
            </a:r>
            <a:r>
              <a:rPr lang="en-US" sz="2800" dirty="0">
                <a:sym typeface="Wingdings" pitchFamily="2" charset="2"/>
              </a:rPr>
              <a:t> de </a:t>
            </a:r>
            <a:r>
              <a:rPr lang="en-US" sz="2800" dirty="0" err="1">
                <a:sym typeface="Wingdings" pitchFamily="2" charset="2"/>
              </a:rPr>
              <a:t>teoría</a:t>
            </a:r>
            <a:r>
              <a:rPr lang="en-US" sz="2800" dirty="0">
                <a:sym typeface="Wingdings" pitchFamily="2" charset="2"/>
              </a:rPr>
              <a:t> y </a:t>
            </a:r>
            <a:r>
              <a:rPr lang="en-US" sz="2800" dirty="0" err="1">
                <a:sym typeface="Wingdings" pitchFamily="2" charset="2"/>
              </a:rPr>
              <a:t>práctica</a:t>
            </a:r>
            <a:r>
              <a:rPr lang="en-US" sz="2800" dirty="0">
                <a:sym typeface="Wingdings" pitchFamily="2" charset="2"/>
              </a:rPr>
              <a:t>: </a:t>
            </a:r>
          </a:p>
          <a:p>
            <a:pPr marL="3200400" lvl="7" indent="0">
              <a:buNone/>
            </a:pPr>
            <a:r>
              <a:rPr lang="en-US" sz="2800" dirty="0">
                <a:sym typeface="Wingdings" pitchFamily="2" charset="2"/>
              </a:rPr>
              <a:t>-</a:t>
            </a:r>
            <a:r>
              <a:rPr lang="en-US" sz="2800" dirty="0" err="1">
                <a:sym typeface="Wingdings" pitchFamily="2" charset="2"/>
              </a:rPr>
              <a:t>Prueba</a:t>
            </a:r>
            <a:r>
              <a:rPr lang="en-US" sz="2800" dirty="0">
                <a:sym typeface="Wingdings" pitchFamily="2" charset="2"/>
              </a:rPr>
              <a:t> </a:t>
            </a:r>
            <a:r>
              <a:rPr lang="en-US" sz="2800" dirty="0" err="1">
                <a:sym typeface="Wingdings" pitchFamily="2" charset="2"/>
              </a:rPr>
              <a:t>tipo</a:t>
            </a:r>
            <a:r>
              <a:rPr lang="en-US" sz="2800" dirty="0">
                <a:sym typeface="Wingdings" pitchFamily="2" charset="2"/>
              </a:rPr>
              <a:t> test a </a:t>
            </a:r>
            <a:r>
              <a:rPr lang="en-US" sz="2800" dirty="0" err="1">
                <a:sym typeface="Wingdings" pitchFamily="2" charset="2"/>
              </a:rPr>
              <a:t>realizar</a:t>
            </a:r>
            <a:r>
              <a:rPr lang="en-US" sz="2800" dirty="0">
                <a:sym typeface="Wingdings" pitchFamily="2" charset="2"/>
              </a:rPr>
              <a:t> </a:t>
            </a:r>
            <a:r>
              <a:rPr lang="en-US" sz="2800" dirty="0" err="1">
                <a:sym typeface="Wingdings" pitchFamily="2" charset="2"/>
              </a:rPr>
              <a:t>en</a:t>
            </a:r>
            <a:r>
              <a:rPr lang="en-US" sz="2800" dirty="0">
                <a:sym typeface="Wingdings" pitchFamily="2" charset="2"/>
              </a:rPr>
              <a:t> Prado </a:t>
            </a:r>
            <a:r>
              <a:rPr lang="en-US" sz="2800" dirty="0" err="1">
                <a:sym typeface="Wingdings" pitchFamily="2" charset="2"/>
              </a:rPr>
              <a:t>usando</a:t>
            </a:r>
            <a:r>
              <a:rPr lang="en-US" sz="2800" dirty="0">
                <a:sym typeface="Wingdings" pitchFamily="2" charset="2"/>
              </a:rPr>
              <a:t> </a:t>
            </a:r>
            <a:r>
              <a:rPr lang="en-US" sz="2800" dirty="0" err="1">
                <a:sym typeface="Wingdings" pitchFamily="2" charset="2"/>
              </a:rPr>
              <a:t>vuestro</a:t>
            </a:r>
            <a:r>
              <a:rPr lang="en-US" sz="2800" dirty="0">
                <a:sym typeface="Wingdings" pitchFamily="2" charset="2"/>
              </a:rPr>
              <a:t> </a:t>
            </a:r>
            <a:r>
              <a:rPr lang="en-US" sz="2800" dirty="0" err="1">
                <a:sym typeface="Wingdings" pitchFamily="2" charset="2"/>
              </a:rPr>
              <a:t>propio</a:t>
            </a:r>
            <a:r>
              <a:rPr lang="en-US" sz="2800" dirty="0">
                <a:sym typeface="Wingdings" pitchFamily="2" charset="2"/>
              </a:rPr>
              <a:t> laptop </a:t>
            </a:r>
            <a:r>
              <a:rPr lang="en-US" sz="2800" dirty="0" err="1">
                <a:sym typeface="Wingdings" pitchFamily="2" charset="2"/>
              </a:rPr>
              <a:t>durante</a:t>
            </a:r>
            <a:r>
              <a:rPr lang="en-US" sz="2800" dirty="0">
                <a:sym typeface="Wingdings" pitchFamily="2" charset="2"/>
              </a:rPr>
              <a:t> 20 </a:t>
            </a:r>
            <a:r>
              <a:rPr lang="en-US" sz="2800" dirty="0" err="1">
                <a:sym typeface="Wingdings" pitchFamily="2" charset="2"/>
              </a:rPr>
              <a:t>minutos</a:t>
            </a:r>
            <a:r>
              <a:rPr lang="en-US" sz="2800" dirty="0">
                <a:sym typeface="Wingdings" pitchFamily="2" charset="2"/>
              </a:rPr>
              <a:t> </a:t>
            </a:r>
            <a:r>
              <a:rPr lang="en-US" sz="2800" dirty="0" err="1">
                <a:sym typeface="Wingdings" pitchFamily="2" charset="2"/>
              </a:rPr>
              <a:t>en</a:t>
            </a:r>
            <a:r>
              <a:rPr lang="en-US" sz="2800" dirty="0">
                <a:sym typeface="Wingdings" pitchFamily="2" charset="2"/>
              </a:rPr>
              <a:t> </a:t>
            </a:r>
            <a:r>
              <a:rPr lang="en-US" sz="2800" dirty="0" err="1">
                <a:sym typeface="Wingdings" pitchFamily="2" charset="2"/>
              </a:rPr>
              <a:t>horario</a:t>
            </a:r>
            <a:r>
              <a:rPr lang="en-US" sz="2800" dirty="0">
                <a:sym typeface="Wingdings" pitchFamily="2" charset="2"/>
              </a:rPr>
              <a:t> de </a:t>
            </a:r>
            <a:r>
              <a:rPr lang="en-US" sz="2800" dirty="0" err="1">
                <a:sym typeface="Wingdings" pitchFamily="2" charset="2"/>
              </a:rPr>
              <a:t>clase</a:t>
            </a:r>
            <a:r>
              <a:rPr lang="en-US" sz="2800" dirty="0">
                <a:sym typeface="Wingdings" pitchFamily="2" charset="2"/>
              </a:rPr>
              <a:t>.</a:t>
            </a:r>
          </a:p>
          <a:p>
            <a:pPr lvl="5"/>
            <a:r>
              <a:rPr lang="en-US" sz="2800" dirty="0">
                <a:sym typeface="Wingdings" pitchFamily="2" charset="2"/>
              </a:rPr>
              <a:t>Examen </a:t>
            </a:r>
            <a:r>
              <a:rPr lang="en-US" sz="2800" dirty="0" err="1">
                <a:sym typeface="Wingdings" pitchFamily="2" charset="2"/>
              </a:rPr>
              <a:t>convocatoria</a:t>
            </a:r>
            <a:r>
              <a:rPr lang="en-US" sz="2800" dirty="0">
                <a:sym typeface="Wingdings" pitchFamily="2" charset="2"/>
              </a:rPr>
              <a:t> </a:t>
            </a:r>
            <a:r>
              <a:rPr lang="en-US" sz="2800" dirty="0" err="1">
                <a:sym typeface="Wingdings" pitchFamily="2" charset="2"/>
              </a:rPr>
              <a:t>oridnaria</a:t>
            </a:r>
            <a:r>
              <a:rPr lang="en-US" sz="2800" dirty="0">
                <a:sym typeface="Wingdings" pitchFamily="2" charset="2"/>
              </a:rPr>
              <a:t>:</a:t>
            </a:r>
          </a:p>
          <a:p>
            <a:pPr marL="2286000" lvl="5" indent="0">
              <a:buNone/>
            </a:pPr>
            <a:r>
              <a:rPr lang="en-US" sz="2800" dirty="0">
                <a:sym typeface="Wingdings" pitchFamily="2" charset="2"/>
              </a:rPr>
              <a:t>	</a:t>
            </a:r>
            <a:r>
              <a:rPr lang="en-US" sz="2800" b="1" dirty="0">
                <a:sym typeface="Wingdings" pitchFamily="2" charset="2"/>
              </a:rPr>
              <a:t>13.01.2026</a:t>
            </a:r>
            <a:r>
              <a:rPr lang="en-US" sz="2800" dirty="0">
                <a:sym typeface="Wingdings" pitchFamily="2" charset="2"/>
              </a:rPr>
              <a:t> a las 12:00 del medio día</a:t>
            </a:r>
          </a:p>
          <a:p>
            <a:pPr marL="2286000" lvl="5" indent="0">
              <a:buNone/>
            </a:pPr>
            <a:endParaRPr lang="en-US" sz="2800" dirty="0">
              <a:sym typeface="Wingdings" pitchFamily="2" charset="2"/>
            </a:endParaRPr>
          </a:p>
          <a:p>
            <a:pPr marL="2286000" lvl="5" indent="0">
              <a:buNone/>
            </a:pPr>
            <a:endParaRPr lang="en-US" sz="2800" dirty="0">
              <a:sym typeface="Wingdings" pitchFamily="2" charset="2"/>
            </a:endParaRPr>
          </a:p>
          <a:p>
            <a:pPr marL="2286000" lvl="5" indent="0">
              <a:buNone/>
            </a:pPr>
            <a:endParaRPr lang="en-US" sz="2800" dirty="0">
              <a:sym typeface="Wingdings" pitchFamily="2" charset="2"/>
            </a:endParaRPr>
          </a:p>
          <a:p>
            <a:pPr marL="2286000" lvl="5" indent="0">
              <a:buNone/>
            </a:pPr>
            <a:endParaRPr lang="en-US" sz="2800" dirty="0">
              <a:sym typeface="Wingdings" pitchFamily="2" charset="2"/>
            </a:endParaRPr>
          </a:p>
          <a:p>
            <a:pPr marL="2286000" lvl="5" indent="0">
              <a:buNone/>
            </a:pPr>
            <a:endParaRPr lang="en-US" sz="2800" dirty="0">
              <a:sym typeface="Wingdings" pitchFamily="2" charset="2"/>
            </a:endParaRPr>
          </a:p>
          <a:p>
            <a:pPr marL="0" indent="0">
              <a:buNone/>
            </a:pPr>
            <a:r>
              <a:rPr lang="en-US" sz="2800" u="sng" dirty="0"/>
              <a:t>Para </a:t>
            </a:r>
            <a:r>
              <a:rPr lang="en-US" sz="2800" b="1" u="sng" dirty="0" err="1"/>
              <a:t>aprobar</a:t>
            </a:r>
            <a:r>
              <a:rPr lang="en-US" sz="2800" b="1" u="sng" dirty="0"/>
              <a:t> la </a:t>
            </a:r>
            <a:r>
              <a:rPr lang="en-US" sz="2800" b="1" u="sng" dirty="0" err="1"/>
              <a:t>asignatura</a:t>
            </a:r>
            <a:r>
              <a:rPr lang="en-US" sz="2800" u="sng" dirty="0"/>
              <a:t> son </a:t>
            </a:r>
            <a:r>
              <a:rPr lang="en-US" sz="2800" u="sng" dirty="0" err="1"/>
              <a:t>requisitos</a:t>
            </a:r>
            <a:r>
              <a:rPr lang="en-US" sz="2800" u="sng" dirty="0"/>
              <a:t> </a:t>
            </a:r>
            <a:r>
              <a:rPr lang="en-US" sz="2800" u="sng" dirty="0" err="1"/>
              <a:t>imprescindibles</a:t>
            </a:r>
            <a:r>
              <a:rPr lang="en-US" sz="2800" dirty="0"/>
              <a:t>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 err="1"/>
              <a:t>Obtener</a:t>
            </a:r>
            <a:r>
              <a:rPr lang="en-US" sz="2800" dirty="0"/>
              <a:t> </a:t>
            </a:r>
            <a:r>
              <a:rPr lang="en-US" sz="2800" dirty="0" err="1"/>
              <a:t>una</a:t>
            </a:r>
            <a:r>
              <a:rPr lang="en-US" sz="2800" dirty="0"/>
              <a:t> </a:t>
            </a:r>
            <a:r>
              <a:rPr lang="en-US" sz="2800" dirty="0" err="1"/>
              <a:t>calificación</a:t>
            </a:r>
            <a:r>
              <a:rPr lang="en-US" sz="2800" dirty="0"/>
              <a:t> final de </a:t>
            </a:r>
            <a:r>
              <a:rPr lang="en-US" sz="2800" dirty="0" err="1"/>
              <a:t>acuerdo</a:t>
            </a:r>
            <a:r>
              <a:rPr lang="en-US" sz="2800" dirty="0"/>
              <a:t> a las </a:t>
            </a:r>
            <a:r>
              <a:rPr lang="en-US" sz="2800" dirty="0" err="1"/>
              <a:t>ponderaciones</a:t>
            </a:r>
            <a:r>
              <a:rPr lang="en-US" sz="2800" dirty="0"/>
              <a:t> </a:t>
            </a:r>
            <a:r>
              <a:rPr lang="en-US" sz="2800" dirty="0" err="1"/>
              <a:t>anteriores</a:t>
            </a:r>
            <a:r>
              <a:rPr lang="en-US" sz="2800" dirty="0"/>
              <a:t> de, al </a:t>
            </a:r>
            <a:r>
              <a:rPr lang="en-US" sz="2800" dirty="0" err="1"/>
              <a:t>menos</a:t>
            </a:r>
            <a:r>
              <a:rPr lang="en-US" sz="2800" dirty="0"/>
              <a:t>, </a:t>
            </a:r>
            <a:r>
              <a:rPr lang="en-US" sz="2800" b="1" dirty="0"/>
              <a:t>5 puntos </a:t>
            </a:r>
            <a:r>
              <a:rPr lang="en-US" sz="2800" b="1" dirty="0" err="1"/>
              <a:t>sobre</a:t>
            </a:r>
            <a:r>
              <a:rPr lang="en-US" sz="2800" b="1" dirty="0"/>
              <a:t> 10.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b="1" dirty="0"/>
              <a:t>No </a:t>
            </a:r>
            <a:r>
              <a:rPr lang="en-US" sz="2800" b="1" dirty="0" err="1"/>
              <a:t>haber</a:t>
            </a:r>
            <a:r>
              <a:rPr lang="en-US" sz="2800" b="1" dirty="0"/>
              <a:t> </a:t>
            </a:r>
            <a:r>
              <a:rPr lang="en-US" sz="2800" b="1" dirty="0" err="1"/>
              <a:t>faltado</a:t>
            </a:r>
            <a:r>
              <a:rPr lang="en-US" sz="2800" b="1" dirty="0"/>
              <a:t> a </a:t>
            </a:r>
            <a:r>
              <a:rPr lang="en-US" sz="2800" b="1" dirty="0" err="1"/>
              <a:t>más</a:t>
            </a:r>
            <a:r>
              <a:rPr lang="en-US" sz="2800" b="1" dirty="0"/>
              <a:t> de </a:t>
            </a:r>
            <a:r>
              <a:rPr lang="en-US" sz="2800" b="1" dirty="0" err="1"/>
              <a:t>una</a:t>
            </a:r>
            <a:r>
              <a:rPr lang="en-US" sz="2800" b="1" dirty="0"/>
              <a:t> de las </a:t>
            </a:r>
            <a:r>
              <a:rPr lang="en-US" sz="2800" b="1" dirty="0" err="1"/>
              <a:t>prácticas</a:t>
            </a:r>
            <a:r>
              <a:rPr lang="en-US" sz="2800" b="1" dirty="0"/>
              <a:t> con </a:t>
            </a:r>
            <a:r>
              <a:rPr lang="en-US" sz="2800" b="1" dirty="0" err="1"/>
              <a:t>ordenador</a:t>
            </a:r>
            <a:r>
              <a:rPr lang="en-US" sz="2800" b="1" dirty="0"/>
              <a:t> sin </a:t>
            </a:r>
            <a:r>
              <a:rPr lang="en-US" sz="2800" b="1" dirty="0" err="1"/>
              <a:t>justificación</a:t>
            </a:r>
            <a:r>
              <a:rPr lang="en-US" sz="2800" dirty="0"/>
              <a:t>.</a:t>
            </a:r>
          </a:p>
          <a:p>
            <a:pPr marL="2286000" lvl="5" indent="0">
              <a:buNone/>
            </a:pPr>
            <a:endParaRPr lang="en-US" sz="2800" dirty="0">
              <a:sym typeface="Wingdings" pitchFamily="2" charset="2"/>
            </a:endParaRPr>
          </a:p>
          <a:p>
            <a:pPr marL="2743200" lvl="6" indent="0">
              <a:buNone/>
            </a:pPr>
            <a:endParaRPr lang="en-US" sz="2800" dirty="0">
              <a:sym typeface="Wingdings" pitchFamily="2" charset="2"/>
            </a:endParaRPr>
          </a:p>
          <a:p>
            <a:pPr marL="2286000" lvl="5" indent="0">
              <a:buNone/>
            </a:pPr>
            <a:endParaRPr lang="en-US" sz="2800" dirty="0">
              <a:sym typeface="Wingdings" pitchFamily="2" charset="2"/>
            </a:endParaRPr>
          </a:p>
          <a:p>
            <a:pPr marL="0" lvl="5" indent="0">
              <a:spcBef>
                <a:spcPts val="1000"/>
              </a:spcBef>
              <a:buNone/>
            </a:pPr>
            <a:endParaRPr lang="en-US" sz="2800" dirty="0">
              <a:sym typeface="Wingdings" pitchFamily="2" charset="2"/>
            </a:endParaRPr>
          </a:p>
          <a:p>
            <a:pPr marL="228600" lvl="3">
              <a:spcBef>
                <a:spcPts val="1000"/>
              </a:spcBef>
            </a:pPr>
            <a:endParaRPr lang="en-US" sz="2800" dirty="0"/>
          </a:p>
          <a:p>
            <a:pPr marL="228600" lvl="3">
              <a:spcBef>
                <a:spcPts val="1000"/>
              </a:spcBef>
            </a:pPr>
            <a:endParaRPr lang="en-US" sz="2800" dirty="0"/>
          </a:p>
          <a:p>
            <a:pPr marL="2286000" lvl="5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3146188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C20644-828A-7178-E3F4-0B458E67E0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1175" y="1796067"/>
            <a:ext cx="3097034" cy="3173498"/>
          </a:xfrm>
          <a:prstGeom prst="ellipse">
            <a:avLst/>
          </a:prstGeom>
          <a:solidFill>
            <a:srgbClr val="262626"/>
          </a:solidFill>
          <a:ln w="174625" cmpd="thinThick">
            <a:solidFill>
              <a:srgbClr val="262626"/>
            </a:solidFill>
          </a:ln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26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GUIA DOCENTE: </a:t>
            </a:r>
            <a:r>
              <a:rPr lang="en-US" sz="2600" kern="1200" dirty="0" err="1">
                <a:solidFill>
                  <a:srgbClr val="FFFFFF"/>
                </a:solidFill>
                <a:latin typeface="+mj-lt"/>
                <a:ea typeface="+mj-ea"/>
                <a:cs typeface="+mj-cs"/>
              </a:rPr>
              <a:t>Evaluación</a:t>
            </a:r>
            <a:r>
              <a:rPr lang="en-US" sz="26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2600" kern="1200" dirty="0" err="1">
                <a:solidFill>
                  <a:srgbClr val="FFFFFF"/>
                </a:solidFill>
                <a:latin typeface="+mj-lt"/>
                <a:ea typeface="+mj-ea"/>
                <a:cs typeface="+mj-cs"/>
              </a:rPr>
              <a:t>extraordinaria</a:t>
            </a:r>
            <a:endParaRPr lang="en-US" sz="2600" kern="1200" dirty="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E3B52F5-5317-8F7E-EC63-DEC101337C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08244" y="618227"/>
            <a:ext cx="10515600" cy="4351338"/>
          </a:xfrm>
        </p:spPr>
        <p:txBody>
          <a:bodyPr>
            <a:normAutofit/>
          </a:bodyPr>
          <a:lstStyle/>
          <a:p>
            <a:pPr marL="228600" lvl="3">
              <a:spcBef>
                <a:spcPts val="1000"/>
              </a:spcBef>
            </a:pPr>
            <a:r>
              <a:rPr lang="en-US" sz="2800" dirty="0"/>
              <a:t>EN PUNTOS para que </a:t>
            </a:r>
            <a:r>
              <a:rPr lang="en-US" sz="2800" dirty="0" err="1"/>
              <a:t>quede</a:t>
            </a:r>
            <a:r>
              <a:rPr lang="en-US" sz="2800" dirty="0"/>
              <a:t> </a:t>
            </a:r>
            <a:r>
              <a:rPr lang="en-US" sz="2800" dirty="0" err="1"/>
              <a:t>más</a:t>
            </a:r>
            <a:r>
              <a:rPr lang="en-US" sz="2800" dirty="0"/>
              <a:t> claro</a:t>
            </a:r>
            <a:r>
              <a:rPr lang="en-US" sz="2800" dirty="0">
                <a:sym typeface="Wingdings" pitchFamily="2" charset="2"/>
              </a:rPr>
              <a:t> </a:t>
            </a:r>
          </a:p>
          <a:p>
            <a:pPr marL="0" lvl="3" indent="0">
              <a:spcBef>
                <a:spcPts val="1000"/>
              </a:spcBef>
              <a:buNone/>
            </a:pPr>
            <a:r>
              <a:rPr lang="en-US" sz="2800" dirty="0">
                <a:sym typeface="Wingdings" pitchFamily="2" charset="2"/>
              </a:rPr>
              <a:t>(</a:t>
            </a:r>
            <a:r>
              <a:rPr lang="en-US" sz="2800" dirty="0" err="1">
                <a:sym typeface="Wingdings" pitchFamily="2" charset="2"/>
              </a:rPr>
              <a:t>evaluación</a:t>
            </a:r>
            <a:r>
              <a:rPr lang="en-US" sz="2800" dirty="0">
                <a:sym typeface="Wingdings" pitchFamily="2" charset="2"/>
              </a:rPr>
              <a:t> continua </a:t>
            </a:r>
            <a:r>
              <a:rPr lang="en-US" sz="2800" dirty="0" err="1">
                <a:sym typeface="Wingdings" pitchFamily="2" charset="2"/>
              </a:rPr>
              <a:t>extraordinaria</a:t>
            </a:r>
            <a:r>
              <a:rPr lang="en-US" sz="2800" dirty="0">
                <a:sym typeface="Wingdings" pitchFamily="2" charset="2"/>
              </a:rPr>
              <a:t>): </a:t>
            </a:r>
          </a:p>
          <a:p>
            <a:pPr marL="0" lvl="3" indent="0">
              <a:spcBef>
                <a:spcPts val="1000"/>
              </a:spcBef>
              <a:buNone/>
            </a:pPr>
            <a:endParaRPr lang="en-US" sz="2800" dirty="0">
              <a:sym typeface="Wingdings" pitchFamily="2" charset="2"/>
            </a:endParaRPr>
          </a:p>
          <a:p>
            <a:pPr marL="0" lvl="3" indent="0">
              <a:spcBef>
                <a:spcPts val="1000"/>
              </a:spcBef>
              <a:buNone/>
            </a:pPr>
            <a:r>
              <a:rPr lang="en-US" sz="2800" dirty="0">
                <a:sym typeface="Wingdings" pitchFamily="2" charset="2"/>
              </a:rPr>
              <a:t>		</a:t>
            </a:r>
            <a:r>
              <a:rPr lang="en-US" sz="3600" dirty="0">
                <a:sym typeface="Wingdings" pitchFamily="2" charset="2"/>
              </a:rPr>
              <a:t>7 </a:t>
            </a:r>
            <a:r>
              <a:rPr lang="en-US" sz="3600" dirty="0" err="1">
                <a:sym typeface="Wingdings" pitchFamily="2" charset="2"/>
              </a:rPr>
              <a:t>exámen</a:t>
            </a:r>
            <a:r>
              <a:rPr lang="en-US" sz="3600" dirty="0">
                <a:sym typeface="Wingdings" pitchFamily="2" charset="2"/>
              </a:rPr>
              <a:t> + 3 </a:t>
            </a:r>
            <a:r>
              <a:rPr lang="en-US" sz="3600" dirty="0" err="1">
                <a:sym typeface="Wingdings" pitchFamily="2" charset="2"/>
              </a:rPr>
              <a:t>prácticas</a:t>
            </a:r>
            <a:endParaRPr lang="en-US" sz="3600" dirty="0">
              <a:sym typeface="Wingdings" pitchFamily="2" charset="2"/>
            </a:endParaRPr>
          </a:p>
          <a:p>
            <a:pPr marL="228600" lvl="5">
              <a:spcBef>
                <a:spcPts val="1000"/>
              </a:spcBef>
            </a:pPr>
            <a:endParaRPr lang="en-US" sz="2800" dirty="0">
              <a:sym typeface="Wingdings" pitchFamily="2" charset="2"/>
            </a:endParaRPr>
          </a:p>
          <a:p>
            <a:pPr marL="228600" lvl="3">
              <a:spcBef>
                <a:spcPts val="1000"/>
              </a:spcBef>
            </a:pPr>
            <a:endParaRPr lang="en-US" sz="2800" dirty="0"/>
          </a:p>
          <a:p>
            <a:pPr marL="228600" lvl="3">
              <a:spcBef>
                <a:spcPts val="1000"/>
              </a:spcBef>
            </a:pPr>
            <a:endParaRPr lang="en-US" sz="2800" dirty="0"/>
          </a:p>
          <a:p>
            <a:pPr lvl="5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1398439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A4AC5506-6312-4701-8D3C-40187889A9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51752"/>
            <a:ext cx="12192000" cy="73655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4C20644-828A-7178-E3F4-0B458E67E0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532" y="643467"/>
            <a:ext cx="11210925" cy="744836"/>
          </a:xfrm>
          <a:prstGeom prst="ellipse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2700" kern="1200">
                <a:solidFill>
                  <a:schemeClr val="bg1"/>
                </a:solidFill>
                <a:latin typeface="+mj-lt"/>
                <a:ea typeface="+mj-ea"/>
                <a:cs typeface="+mj-cs"/>
              </a:rPr>
              <a:t>GUIA DOCENTE: Evaluación extraordinaria y única final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625006C1-9E6D-AC04-3077-DAD998DBCCF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17248" y="1532512"/>
            <a:ext cx="11689492" cy="5090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157310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0671A8AE-40A1-4631-A6B8-581AFF0654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Mano sosteniendo un bolígrafo sombreando un número en una hoja">
            <a:extLst>
              <a:ext uri="{FF2B5EF4-FFF2-40B4-BE49-F238E27FC236}">
                <a16:creationId xmlns:a16="http://schemas.microsoft.com/office/drawing/2014/main" id="{B833F9C5-CCDC-718C-3FDF-33C158A3F5EC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5628" r="-1" b="-1"/>
          <a:stretch/>
        </p:blipFill>
        <p:spPr>
          <a:xfrm>
            <a:off x="964415" y="73890"/>
            <a:ext cx="7375544" cy="685799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AB58EF07-17C2-48CF-ABB0-EEF1F17CB8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" y="0"/>
            <a:ext cx="9339206" cy="6858000"/>
          </a:xfrm>
          <a:prstGeom prst="rect">
            <a:avLst/>
          </a:prstGeom>
          <a:gradFill>
            <a:gsLst>
              <a:gs pos="58000">
                <a:schemeClr val="bg1"/>
              </a:gs>
              <a:gs pos="33000">
                <a:schemeClr val="bg1">
                  <a:alpha val="64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4C20644-828A-7178-E3F4-0B458E67E0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7981" y="1122363"/>
            <a:ext cx="4023360" cy="3204134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800"/>
              <a:t>GUIA DOCENTE: Exámenes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F2F604E-43BE-4DC3-B983-E07152336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59921" y="346791"/>
            <a:ext cx="146304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8C9B587-E65E-4B52-B37C-ABEBB6E879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029" y="4546920"/>
            <a:ext cx="3977640" cy="18288"/>
          </a:xfrm>
          <a:prstGeom prst="rect">
            <a:avLst/>
          </a:prstGeom>
          <a:solidFill>
            <a:schemeClr val="tx1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BF59C11-6AAA-56CA-0B02-97774DD451D4}"/>
              </a:ext>
            </a:extLst>
          </p:cNvPr>
          <p:cNvSpPr txBox="1"/>
          <p:nvPr/>
        </p:nvSpPr>
        <p:spPr>
          <a:xfrm>
            <a:off x="6096000" y="1122363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66A1166-9521-BA61-17F0-CACF09E3319B}"/>
              </a:ext>
            </a:extLst>
          </p:cNvPr>
          <p:cNvSpPr txBox="1"/>
          <p:nvPr/>
        </p:nvSpPr>
        <p:spPr>
          <a:xfrm>
            <a:off x="8252492" y="1554269"/>
            <a:ext cx="4126451" cy="280076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Examen </a:t>
            </a:r>
            <a:r>
              <a:rPr lang="en-US" sz="2400" dirty="0" err="1"/>
              <a:t>convocatoria</a:t>
            </a:r>
            <a:r>
              <a:rPr lang="en-US" sz="2400" dirty="0"/>
              <a:t> </a:t>
            </a:r>
            <a:r>
              <a:rPr lang="en-US" sz="2400" dirty="0" err="1"/>
              <a:t>ordinaria</a:t>
            </a:r>
            <a:r>
              <a:rPr lang="en-US" sz="2400" dirty="0"/>
              <a:t>:</a:t>
            </a:r>
          </a:p>
          <a:p>
            <a:r>
              <a:rPr lang="en-US" sz="2800" dirty="0"/>
              <a:t>JUEVES 13.01.26</a:t>
            </a:r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r>
              <a:rPr lang="en-US" sz="2000" dirty="0"/>
              <a:t>Examen </a:t>
            </a:r>
            <a:r>
              <a:rPr lang="en-US" sz="2000" dirty="0" err="1"/>
              <a:t>convocatoria</a:t>
            </a:r>
            <a:r>
              <a:rPr lang="en-US" sz="2000" dirty="0"/>
              <a:t> </a:t>
            </a:r>
            <a:r>
              <a:rPr lang="en-US" sz="2000" dirty="0" err="1"/>
              <a:t>extraordinaria</a:t>
            </a:r>
            <a:r>
              <a:rPr lang="en-US" sz="2000" dirty="0"/>
              <a:t>:</a:t>
            </a:r>
          </a:p>
          <a:p>
            <a:r>
              <a:rPr lang="en-US" sz="3200" dirty="0"/>
              <a:t>MARTES 04.02.26</a:t>
            </a:r>
            <a:endParaRPr lang="en-US" sz="24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3454866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A2679492-7988-4050-9056-5424444524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091B163-7D61-4891-ABCF-5C13D9C418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5779911" cy="6858000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7825C6DA-A495-6F8C-C7D6-EF944287DFF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27189" y="299509"/>
            <a:ext cx="4725532" cy="6258983"/>
          </a:xfrm>
          <a:prstGeom prst="rect">
            <a:avLst/>
          </a:prstGeom>
        </p:spPr>
      </p:pic>
      <p:sp>
        <p:nvSpPr>
          <p:cNvPr id="5" name="CuadroTexto 4">
            <a:extLst>
              <a:ext uri="{FF2B5EF4-FFF2-40B4-BE49-F238E27FC236}">
                <a16:creationId xmlns:a16="http://schemas.microsoft.com/office/drawing/2014/main" id="{0823F801-28B9-4180-884D-E242B89B10A4}"/>
              </a:ext>
            </a:extLst>
          </p:cNvPr>
          <p:cNvSpPr txBox="1"/>
          <p:nvPr/>
        </p:nvSpPr>
        <p:spPr>
          <a:xfrm>
            <a:off x="6392583" y="2645922"/>
            <a:ext cx="4434721" cy="371042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>
                <a:solidFill>
                  <a:schemeClr val="tx1">
                    <a:alpha val="80000"/>
                  </a:schemeClr>
                </a:solidFill>
              </a:rPr>
              <a:t>https://maralboran.eu/matematicas/2016/05/25/emuladores-de-calculadoras-casio/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C49DA8F6-BCC1-4447-B54C-57856834B9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586162" y="3610394"/>
            <a:ext cx="0" cy="3238728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9299423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8108D317-7CBD-4897-BD1F-959436D2A3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1B14463-91CB-B5D4-D076-2F20096EA7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55564" y="834888"/>
            <a:ext cx="4314645" cy="1268958"/>
          </a:xfrm>
        </p:spPr>
        <p:txBody>
          <a:bodyPr anchor="b">
            <a:normAutofit/>
          </a:bodyPr>
          <a:lstStyle/>
          <a:p>
            <a:r>
              <a:rPr lang="en-US" sz="3200"/>
              <a:t>Links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C36FEAB-D48F-8672-A470-C48DCC3BF4C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0265" r="14352" b="-1"/>
          <a:stretch/>
        </p:blipFill>
        <p:spPr>
          <a:xfrm>
            <a:off x="20" y="10"/>
            <a:ext cx="6717436" cy="6857990"/>
          </a:xfrm>
          <a:custGeom>
            <a:avLst/>
            <a:gdLst/>
            <a:ahLst/>
            <a:cxnLst/>
            <a:rect l="l" t="t" r="r" b="b"/>
            <a:pathLst>
              <a:path w="6717456" h="6858000">
                <a:moveTo>
                  <a:pt x="0" y="0"/>
                </a:moveTo>
                <a:lnTo>
                  <a:pt x="6149468" y="0"/>
                </a:lnTo>
                <a:lnTo>
                  <a:pt x="6202448" y="162605"/>
                </a:lnTo>
                <a:cubicBezTo>
                  <a:pt x="6535625" y="1263763"/>
                  <a:pt x="6717456" y="2453207"/>
                  <a:pt x="6717456" y="3694043"/>
                </a:cubicBezTo>
                <a:cubicBezTo>
                  <a:pt x="6717456" y="4757617"/>
                  <a:pt x="6583866" y="5783433"/>
                  <a:pt x="6335883" y="6748259"/>
                </a:cubicBezTo>
                <a:lnTo>
                  <a:pt x="6305198" y="6858000"/>
                </a:lnTo>
                <a:lnTo>
                  <a:pt x="0" y="6858000"/>
                </a:lnTo>
                <a:close/>
              </a:path>
            </a:pathLst>
          </a:custGeom>
          <a:effectLst>
            <a:outerShdw blurRad="50800" dist="38100" algn="l" rotWithShape="0">
              <a:schemeClr val="bg1">
                <a:lumMod val="85000"/>
                <a:alpha val="30000"/>
              </a:schemeClr>
            </a:outerShdw>
          </a:effectLst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D6297641-8B9F-4767-9606-8A11313227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589864" y="387939"/>
            <a:ext cx="73152" cy="54864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8F3CA65-EA00-46B4-9616-39E6853F7B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336172" y="2240371"/>
            <a:ext cx="420624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7266A7-0A68-4E07-2CBD-81F00697FA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55563" y="2557587"/>
            <a:ext cx="4314645" cy="3717317"/>
          </a:xfrm>
        </p:spPr>
        <p:txBody>
          <a:bodyPr anchor="t">
            <a:normAutofit/>
          </a:bodyPr>
          <a:lstStyle/>
          <a:p>
            <a:r>
              <a:rPr lang="en-US" sz="1800" dirty="0">
                <a:effectLst/>
                <a:latin typeface="Merriweather" panose="020F0502020204030204" pitchFamily="34" charset="0"/>
                <a:hlinkClick r:id="rId3"/>
              </a:rPr>
              <a:t>https://prado.ugr.es/</a:t>
            </a:r>
            <a:r>
              <a:rPr lang="en-US" sz="1800" dirty="0">
                <a:effectLst/>
                <a:latin typeface="Merriweather" panose="020F0502020204030204" pitchFamily="34" charset="0"/>
              </a:rPr>
              <a:t> </a:t>
            </a:r>
          </a:p>
          <a:p>
            <a:pPr marL="0" indent="0">
              <a:buNone/>
            </a:pPr>
            <a:r>
              <a:rPr lang="en-US" sz="1800" dirty="0">
                <a:effectLst/>
                <a:latin typeface="Merriweather" panose="020F0502020204030204" pitchFamily="34" charset="0"/>
              </a:rPr>
              <a:t>(Ver </a:t>
            </a:r>
            <a:r>
              <a:rPr lang="en-US" sz="1800" dirty="0" err="1">
                <a:effectLst/>
                <a:latin typeface="Merriweather" panose="020F0502020204030204" pitchFamily="34" charset="0"/>
              </a:rPr>
              <a:t>ficheros</a:t>
            </a:r>
            <a:r>
              <a:rPr lang="en-US" sz="1800" dirty="0">
                <a:latin typeface="Merriweather" panose="020F0502020204030204" pitchFamily="34" charset="0"/>
              </a:rPr>
              <a:t>)</a:t>
            </a:r>
            <a:endParaRPr lang="en-US" sz="1800" dirty="0">
              <a:effectLst/>
              <a:latin typeface="Merriweather" panose="020F0502020204030204" pitchFamily="34" charset="0"/>
            </a:endParaRPr>
          </a:p>
          <a:p>
            <a:r>
              <a:rPr lang="en-US" sz="1800" dirty="0">
                <a:effectLst/>
                <a:latin typeface="Merriweather" panose="020F0502020204030204" pitchFamily="34" charset="0"/>
                <a:hlinkClick r:id="rId4"/>
              </a:rPr>
              <a:t>https://wpd.ugr.es/~bioestad/</a:t>
            </a:r>
            <a:endParaRPr lang="en-US" sz="1800" dirty="0">
              <a:effectLst/>
            </a:endParaRPr>
          </a:p>
          <a:p>
            <a:r>
              <a:rPr lang="en-US" sz="1800" dirty="0">
                <a:latin typeface="Merriweather" panose="020F0502020204030204" pitchFamily="34" charset="0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https://www.wolframalpha.com/</a:t>
            </a:r>
            <a:endParaRPr lang="en-US" sz="1800" dirty="0">
              <a:latin typeface="Merriweather" panose="020F0502020204030204" pitchFamily="34" charset="0"/>
            </a:endParaRPr>
          </a:p>
          <a:p>
            <a:r>
              <a:rPr lang="en-US" sz="1800" dirty="0">
                <a:latin typeface="Merriweather" panose="020F0502020204030204" pitchFamily="34" charset="0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https://metodo.uab.cat/arxius/material/general/Uso%20de%20calculadoras%20Casio.pdf?-120002684</a:t>
            </a:r>
            <a:endParaRPr lang="en-US" sz="1800" dirty="0">
              <a:latin typeface="Merriweather" panose="020F0502020204030204" pitchFamily="34" charset="0"/>
            </a:endParaRPr>
          </a:p>
          <a:p>
            <a:endParaRPr lang="en-US" sz="1800" dirty="0">
              <a:latin typeface="Merriweather" panose="020F0502020204030204" pitchFamily="34" charset="0"/>
            </a:endParaRPr>
          </a:p>
          <a:p>
            <a:endParaRPr lang="en-US" sz="1800" dirty="0">
              <a:latin typeface="Merriweather" panose="020F0502020204030204" pitchFamily="34" charset="0"/>
            </a:endParaRPr>
          </a:p>
          <a:p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225822713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438D914-87E0-429C-B5AC-2A40B1AB03C3}" type="slidenum">
              <a:rPr lang="en-GB" altLang="es-ES" smtClean="0"/>
              <a:pPr>
                <a:defRPr/>
              </a:pPr>
              <a:t>19</a:t>
            </a:fld>
            <a:endParaRPr lang="en-GB" altLang="es-ES"/>
          </a:p>
        </p:txBody>
      </p:sp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2971800" y="1998664"/>
            <a:ext cx="6248400" cy="2725737"/>
          </a:xfrm>
          <a:prstGeom prst="rect">
            <a:avLst/>
          </a:prstGeom>
          <a:solidFill>
            <a:srgbClr val="EAEAEA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dist="89803" dir="2700000" algn="ctr" rotWithShape="0">
              <a:schemeClr val="bg2"/>
            </a:outerShdw>
          </a:effectLst>
        </p:spPr>
        <p:txBody>
          <a:bodyPr wrap="none" anchor="ctr"/>
          <a:lstStyle/>
          <a:p>
            <a:endParaRPr lang="es-ES" altLang="es-ES"/>
          </a:p>
        </p:txBody>
      </p:sp>
      <p:sp>
        <p:nvSpPr>
          <p:cNvPr id="4" name="Text Box 3"/>
          <p:cNvSpPr txBox="1">
            <a:spLocks noChangeArrowheads="1"/>
          </p:cNvSpPr>
          <p:nvPr/>
        </p:nvSpPr>
        <p:spPr bwMode="auto">
          <a:xfrm>
            <a:off x="3269704" y="2528318"/>
            <a:ext cx="5562600" cy="169277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EAEAEA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13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13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13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13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13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>
              <a:spcBef>
                <a:spcPct val="50000"/>
              </a:spcBef>
              <a:defRPr/>
            </a:pPr>
            <a:r>
              <a:rPr lang="es-ES_tradnl" altLang="es-ES" sz="2600" b="1" dirty="0">
                <a:latin typeface="+mn-lt"/>
              </a:rPr>
              <a:t>Estadística</a:t>
            </a:r>
            <a:endParaRPr lang="es-ES" altLang="es-ES" sz="2600" b="1" dirty="0">
              <a:latin typeface="+mn-lt"/>
            </a:endParaRPr>
          </a:p>
          <a:p>
            <a:pPr algn="ctr">
              <a:spcBef>
                <a:spcPct val="50000"/>
              </a:spcBef>
              <a:defRPr/>
            </a:pPr>
            <a:r>
              <a:rPr lang="es-ES_tradnl" altLang="es-ES" sz="2600" b="1" dirty="0">
                <a:latin typeface="+mn-lt"/>
              </a:rPr>
              <a:t>Grado en Fisioterapia</a:t>
            </a:r>
          </a:p>
          <a:p>
            <a:pPr algn="ctr">
              <a:spcBef>
                <a:spcPct val="50000"/>
              </a:spcBef>
              <a:defRPr/>
            </a:pPr>
            <a:r>
              <a:rPr lang="es-ES_tradnl" altLang="es-ES" sz="2600" b="1" dirty="0">
                <a:latin typeface="+mn-lt"/>
              </a:rPr>
              <a:t>Tema 0: Introducción</a:t>
            </a:r>
          </a:p>
        </p:txBody>
      </p:sp>
    </p:spTree>
    <p:extLst>
      <p:ext uri="{BB962C8B-B14F-4D97-AF65-F5344CB8AC3E}">
        <p14:creationId xmlns:p14="http://schemas.microsoft.com/office/powerpoint/2010/main" val="86101842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074" name="Object 11"/>
          <p:cNvGraphicFramePr>
            <a:graphicFrameLocks noChangeAspect="1"/>
          </p:cNvGraphicFramePr>
          <p:nvPr/>
        </p:nvGraphicFramePr>
        <p:xfrm>
          <a:off x="2166938" y="2781300"/>
          <a:ext cx="7885112" cy="2203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4305240" imgH="1422360" progId="Equation.DSMT4">
                  <p:embed/>
                </p:oleObj>
              </mc:Choice>
              <mc:Fallback>
                <p:oleObj name="Equation" r:id="rId3" imgW="4305240" imgH="1422360" progId="Equation.DSMT4">
                  <p:embed/>
                  <p:pic>
                    <p:nvPicPr>
                      <p:cNvPr id="3074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66938" y="2781300"/>
                        <a:ext cx="7885112" cy="22034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75" name="1 Marcador de número de diapositiva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defRPr sz="13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13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13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13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13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fld id="{0531073F-969F-43ED-9E59-7D3DF5BE4EE7}" type="slidenum">
              <a:rPr lang="en-GB" altLang="es-ES" sz="1400"/>
              <a:pPr eaLnBrk="1" hangingPunct="1"/>
              <a:t>20</a:t>
            </a:fld>
            <a:endParaRPr lang="en-GB" altLang="es-ES" sz="1400"/>
          </a:p>
        </p:txBody>
      </p:sp>
      <p:sp>
        <p:nvSpPr>
          <p:cNvPr id="3076" name="2 CuadroTexto"/>
          <p:cNvSpPr txBox="1">
            <a:spLocks noChangeArrowheads="1"/>
          </p:cNvSpPr>
          <p:nvPr/>
        </p:nvSpPr>
        <p:spPr bwMode="auto">
          <a:xfrm>
            <a:off x="1992314" y="981076"/>
            <a:ext cx="8135937" cy="13234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13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13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13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13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13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 eaLnBrk="1" hangingPunct="1"/>
            <a:r>
              <a:rPr lang="es-ES_tradnl" altLang="es-ES" sz="1400" dirty="0">
                <a:cs typeface="Times New Roman" pitchFamily="18" charset="0"/>
              </a:rPr>
              <a:t> </a:t>
            </a:r>
            <a:r>
              <a:rPr lang="es-ES_tradnl" altLang="es-ES" sz="2000" b="1" dirty="0">
                <a:cs typeface="Times New Roman" pitchFamily="18" charset="0"/>
              </a:rPr>
              <a:t>Definición de Estadística</a:t>
            </a:r>
            <a:r>
              <a:rPr lang="es-ES_tradnl" altLang="es-ES" sz="2000" dirty="0">
                <a:cs typeface="Times New Roman" pitchFamily="18" charset="0"/>
              </a:rPr>
              <a:t>:  </a:t>
            </a:r>
          </a:p>
          <a:p>
            <a:pPr algn="just" eaLnBrk="1" hangingPunct="1"/>
            <a:r>
              <a:rPr lang="es-ES_tradnl" altLang="es-ES" sz="2000" dirty="0">
                <a:cs typeface="Times New Roman" pitchFamily="18" charset="0"/>
              </a:rPr>
              <a:t>La </a:t>
            </a:r>
            <a:r>
              <a:rPr lang="es-ES_tradnl" altLang="es-ES" sz="2000" b="1" i="1" dirty="0">
                <a:cs typeface="Times New Roman" pitchFamily="18" charset="0"/>
              </a:rPr>
              <a:t>Estadística</a:t>
            </a:r>
            <a:r>
              <a:rPr lang="es-ES_tradnl" altLang="es-ES" sz="2000" dirty="0">
                <a:cs typeface="Times New Roman" pitchFamily="18" charset="0"/>
              </a:rPr>
              <a:t> es el conjunto de métodos y procedimientos para </a:t>
            </a:r>
            <a:r>
              <a:rPr lang="es-ES_tradnl" altLang="es-ES" sz="2000" b="1" dirty="0">
                <a:cs typeface="Times New Roman" pitchFamily="18" charset="0"/>
              </a:rPr>
              <a:t>recoger, representar, resumir y analizar datos</a:t>
            </a:r>
            <a:r>
              <a:rPr lang="es-ES_tradnl" altLang="es-ES" sz="2000" dirty="0">
                <a:cs typeface="Times New Roman" pitchFamily="18" charset="0"/>
              </a:rPr>
              <a:t>, así como para </a:t>
            </a:r>
            <a:r>
              <a:rPr lang="es-ES_tradnl" altLang="es-ES" sz="2000" b="1" dirty="0">
                <a:cs typeface="Times New Roman" pitchFamily="18" charset="0"/>
              </a:rPr>
              <a:t>extraer conclusiones científicas</a:t>
            </a:r>
            <a:r>
              <a:rPr lang="es-ES_tradnl" altLang="es-ES" sz="2000" dirty="0">
                <a:cs typeface="Times New Roman" pitchFamily="18" charset="0"/>
              </a:rPr>
              <a:t> a partir de ellos.</a:t>
            </a:r>
            <a:endParaRPr lang="es-ES" sz="2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1 Marcador de número de diapositiva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defRPr sz="13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13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13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13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13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fld id="{F166B28E-E17C-42E8-85F5-160EE82CDE51}" type="slidenum">
              <a:rPr lang="en-GB" altLang="es-ES" sz="1400"/>
              <a:pPr eaLnBrk="1" hangingPunct="1"/>
              <a:t>21</a:t>
            </a:fld>
            <a:endParaRPr lang="en-GB" altLang="es-ES" sz="1400"/>
          </a:p>
        </p:txBody>
      </p:sp>
      <p:sp>
        <p:nvSpPr>
          <p:cNvPr id="4099" name="2 CuadroTexto"/>
          <p:cNvSpPr txBox="1">
            <a:spLocks noChangeArrowheads="1"/>
          </p:cNvSpPr>
          <p:nvPr/>
        </p:nvSpPr>
        <p:spPr bwMode="auto">
          <a:xfrm>
            <a:off x="1774825" y="260350"/>
            <a:ext cx="8642350" cy="480131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tabLst>
                <a:tab pos="-179388" algn="l"/>
                <a:tab pos="320675" algn="l"/>
                <a:tab pos="809625" algn="l"/>
                <a:tab pos="936625" algn="l"/>
                <a:tab pos="1119188" algn="l"/>
                <a:tab pos="1439863" algn="l"/>
                <a:tab pos="1758950" algn="l"/>
                <a:tab pos="2079625" algn="l"/>
                <a:tab pos="2400300" algn="l"/>
                <a:tab pos="2719388" algn="l"/>
                <a:tab pos="3040063" algn="l"/>
                <a:tab pos="3359150" algn="l"/>
                <a:tab pos="3679825" algn="l"/>
                <a:tab pos="4000500" algn="l"/>
                <a:tab pos="4319588" algn="l"/>
              </a:tabLst>
              <a:defRPr sz="13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tabLst>
                <a:tab pos="-179388" algn="l"/>
                <a:tab pos="320675" algn="l"/>
                <a:tab pos="809625" algn="l"/>
                <a:tab pos="936625" algn="l"/>
                <a:tab pos="1119188" algn="l"/>
                <a:tab pos="1439863" algn="l"/>
                <a:tab pos="1758950" algn="l"/>
                <a:tab pos="2079625" algn="l"/>
                <a:tab pos="2400300" algn="l"/>
                <a:tab pos="2719388" algn="l"/>
                <a:tab pos="3040063" algn="l"/>
                <a:tab pos="3359150" algn="l"/>
                <a:tab pos="3679825" algn="l"/>
                <a:tab pos="4000500" algn="l"/>
                <a:tab pos="4319588" algn="l"/>
              </a:tabLst>
              <a:defRPr sz="13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tabLst>
                <a:tab pos="-179388" algn="l"/>
                <a:tab pos="320675" algn="l"/>
                <a:tab pos="809625" algn="l"/>
                <a:tab pos="936625" algn="l"/>
                <a:tab pos="1119188" algn="l"/>
                <a:tab pos="1439863" algn="l"/>
                <a:tab pos="1758950" algn="l"/>
                <a:tab pos="2079625" algn="l"/>
                <a:tab pos="2400300" algn="l"/>
                <a:tab pos="2719388" algn="l"/>
                <a:tab pos="3040063" algn="l"/>
                <a:tab pos="3359150" algn="l"/>
                <a:tab pos="3679825" algn="l"/>
                <a:tab pos="4000500" algn="l"/>
                <a:tab pos="4319588" algn="l"/>
              </a:tabLst>
              <a:defRPr sz="13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tabLst>
                <a:tab pos="-179388" algn="l"/>
                <a:tab pos="320675" algn="l"/>
                <a:tab pos="809625" algn="l"/>
                <a:tab pos="936625" algn="l"/>
                <a:tab pos="1119188" algn="l"/>
                <a:tab pos="1439863" algn="l"/>
                <a:tab pos="1758950" algn="l"/>
                <a:tab pos="2079625" algn="l"/>
                <a:tab pos="2400300" algn="l"/>
                <a:tab pos="2719388" algn="l"/>
                <a:tab pos="3040063" algn="l"/>
                <a:tab pos="3359150" algn="l"/>
                <a:tab pos="3679825" algn="l"/>
                <a:tab pos="4000500" algn="l"/>
                <a:tab pos="4319588" algn="l"/>
              </a:tabLst>
              <a:defRPr sz="13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tabLst>
                <a:tab pos="-179388" algn="l"/>
                <a:tab pos="320675" algn="l"/>
                <a:tab pos="809625" algn="l"/>
                <a:tab pos="936625" algn="l"/>
                <a:tab pos="1119188" algn="l"/>
                <a:tab pos="1439863" algn="l"/>
                <a:tab pos="1758950" algn="l"/>
                <a:tab pos="2079625" algn="l"/>
                <a:tab pos="2400300" algn="l"/>
                <a:tab pos="2719388" algn="l"/>
                <a:tab pos="3040063" algn="l"/>
                <a:tab pos="3359150" algn="l"/>
                <a:tab pos="3679825" algn="l"/>
                <a:tab pos="4000500" algn="l"/>
                <a:tab pos="4319588" algn="l"/>
              </a:tabLst>
              <a:defRPr sz="13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tabLst>
                <a:tab pos="-179388" algn="l"/>
                <a:tab pos="320675" algn="l"/>
                <a:tab pos="809625" algn="l"/>
                <a:tab pos="936625" algn="l"/>
                <a:tab pos="1119188" algn="l"/>
                <a:tab pos="1439863" algn="l"/>
                <a:tab pos="1758950" algn="l"/>
                <a:tab pos="2079625" algn="l"/>
                <a:tab pos="2400300" algn="l"/>
                <a:tab pos="2719388" algn="l"/>
                <a:tab pos="3040063" algn="l"/>
                <a:tab pos="3359150" algn="l"/>
                <a:tab pos="3679825" algn="l"/>
                <a:tab pos="4000500" algn="l"/>
                <a:tab pos="4319588" algn="l"/>
              </a:tabLst>
              <a:defRPr sz="13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tabLst>
                <a:tab pos="-179388" algn="l"/>
                <a:tab pos="320675" algn="l"/>
                <a:tab pos="809625" algn="l"/>
                <a:tab pos="936625" algn="l"/>
                <a:tab pos="1119188" algn="l"/>
                <a:tab pos="1439863" algn="l"/>
                <a:tab pos="1758950" algn="l"/>
                <a:tab pos="2079625" algn="l"/>
                <a:tab pos="2400300" algn="l"/>
                <a:tab pos="2719388" algn="l"/>
                <a:tab pos="3040063" algn="l"/>
                <a:tab pos="3359150" algn="l"/>
                <a:tab pos="3679825" algn="l"/>
                <a:tab pos="4000500" algn="l"/>
                <a:tab pos="4319588" algn="l"/>
              </a:tabLst>
              <a:defRPr sz="13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tabLst>
                <a:tab pos="-179388" algn="l"/>
                <a:tab pos="320675" algn="l"/>
                <a:tab pos="809625" algn="l"/>
                <a:tab pos="936625" algn="l"/>
                <a:tab pos="1119188" algn="l"/>
                <a:tab pos="1439863" algn="l"/>
                <a:tab pos="1758950" algn="l"/>
                <a:tab pos="2079625" algn="l"/>
                <a:tab pos="2400300" algn="l"/>
                <a:tab pos="2719388" algn="l"/>
                <a:tab pos="3040063" algn="l"/>
                <a:tab pos="3359150" algn="l"/>
                <a:tab pos="3679825" algn="l"/>
                <a:tab pos="4000500" algn="l"/>
                <a:tab pos="4319588" algn="l"/>
              </a:tabLst>
              <a:defRPr sz="13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tabLst>
                <a:tab pos="-179388" algn="l"/>
                <a:tab pos="320675" algn="l"/>
                <a:tab pos="809625" algn="l"/>
                <a:tab pos="936625" algn="l"/>
                <a:tab pos="1119188" algn="l"/>
                <a:tab pos="1439863" algn="l"/>
                <a:tab pos="1758950" algn="l"/>
                <a:tab pos="2079625" algn="l"/>
                <a:tab pos="2400300" algn="l"/>
                <a:tab pos="2719388" algn="l"/>
                <a:tab pos="3040063" algn="l"/>
                <a:tab pos="3359150" algn="l"/>
                <a:tab pos="3679825" algn="l"/>
                <a:tab pos="4000500" algn="l"/>
                <a:tab pos="4319588" algn="l"/>
              </a:tabLst>
              <a:defRPr sz="13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 eaLnBrk="1" hangingPunct="1"/>
            <a:r>
              <a:rPr lang="es-ES_tradnl" altLang="es-ES" sz="1700" i="1" dirty="0">
                <a:cs typeface="Times New Roman" pitchFamily="18" charset="0"/>
              </a:rPr>
              <a:t> </a:t>
            </a:r>
            <a:r>
              <a:rPr lang="es-ES_tradnl" altLang="es-ES" sz="1700" b="1" i="1" dirty="0">
                <a:cs typeface="Times New Roman" pitchFamily="18" charset="0"/>
              </a:rPr>
              <a:t>Necesidad de la Estadística en CCSS</a:t>
            </a:r>
          </a:p>
          <a:p>
            <a:pPr algn="just" eaLnBrk="1" hangingPunct="1"/>
            <a:r>
              <a:rPr lang="es-ES" altLang="es-ES" sz="1700" dirty="0"/>
              <a:t>Las Ciencias de la Salud son experimentales y se basan en el método inductivo, por lo que la única forma de validar estas inducciones es mediante la Estadística. Las razones que aparecen a continuación son consecuencia de lo anterior:</a:t>
            </a:r>
            <a:endParaRPr lang="es-ES" altLang="es-ES" sz="1700" b="1" dirty="0"/>
          </a:p>
          <a:p>
            <a:pPr marL="285750" indent="-285750" algn="just" eaLnBrk="1" hangingPunct="1">
              <a:buFont typeface="Wingdings" pitchFamily="2" charset="2"/>
              <a:buChar char="§"/>
            </a:pPr>
            <a:r>
              <a:rPr lang="es-ES" altLang="es-ES" sz="1700" dirty="0"/>
              <a:t>La variabilidad biológica de los individuos objeto de estudio en las Ciencias de la Salud origina que sus datos sean impredecibles y que el modo de controlarlos sea a través de la Estadística.</a:t>
            </a:r>
          </a:p>
          <a:p>
            <a:pPr marL="285750" indent="-285750" algn="just" eaLnBrk="1" hangingPunct="1">
              <a:buFont typeface="Wingdings" pitchFamily="2" charset="2"/>
              <a:buChar char="§"/>
            </a:pPr>
            <a:r>
              <a:rPr lang="es-ES" altLang="es-ES" sz="1700" dirty="0"/>
              <a:t>La naturaleza cada vez más cuantitativa de las Ciencias de la Salud requiere de la Estadística para analizar los datos.</a:t>
            </a:r>
          </a:p>
          <a:p>
            <a:pPr marL="285750" indent="-285750" algn="just" eaLnBrk="1" hangingPunct="1">
              <a:buFont typeface="Wingdings" pitchFamily="2" charset="2"/>
              <a:buChar char="§"/>
            </a:pPr>
            <a:r>
              <a:rPr lang="es-ES" altLang="es-ES" sz="1700" dirty="0"/>
              <a:t>La investigación en el campo de las Ciencias de la Salud requiere de la Estadística en sus etapas de diseño, recopilación de datos y análisis de los resultados.</a:t>
            </a:r>
          </a:p>
          <a:p>
            <a:pPr marL="285750" indent="-285750" algn="just" eaLnBrk="1" hangingPunct="1">
              <a:buFont typeface="Wingdings" pitchFamily="2" charset="2"/>
              <a:buChar char="§"/>
            </a:pPr>
            <a:r>
              <a:rPr lang="es-ES" altLang="es-ES" sz="1700" dirty="0"/>
              <a:t>El volumen de la información que recibe el profesional de las Ciencias de la Salud requiere conocimientos de Estadística para comprender los resultados científicos.</a:t>
            </a:r>
          </a:p>
          <a:p>
            <a:pPr marL="285750" indent="-285750" algn="just" eaLnBrk="1" hangingPunct="1">
              <a:buFont typeface="Wingdings" pitchFamily="2" charset="2"/>
              <a:buChar char="§"/>
            </a:pPr>
            <a:endParaRPr lang="es-ES" altLang="es-ES" sz="1700" dirty="0"/>
          </a:p>
          <a:p>
            <a:pPr algn="ctr" eaLnBrk="1" hangingPunct="1"/>
            <a:r>
              <a:rPr lang="es-ES" altLang="es-ES" sz="1700" b="1" dirty="0"/>
              <a:t>Objetivos del Curso:</a:t>
            </a:r>
          </a:p>
          <a:p>
            <a:pPr marL="285750" indent="-285750" algn="just" eaLnBrk="1" hangingPunct="1">
              <a:buFont typeface="Wingdings" pitchFamily="2" charset="2"/>
              <a:buChar char="§"/>
            </a:pPr>
            <a:r>
              <a:rPr lang="es-ES" altLang="es-ES" sz="1700" dirty="0"/>
              <a:t>Aprender los conceptos básicos de Estadística para comprender resultados científicos de estudios en Ciencias de la Salud en los experimentos más simples.</a:t>
            </a:r>
          </a:p>
          <a:p>
            <a:pPr marL="285750" indent="-285750" algn="just" eaLnBrk="1" hangingPunct="1">
              <a:buFont typeface="Wingdings" pitchFamily="2" charset="2"/>
              <a:buChar char="§"/>
            </a:pPr>
            <a:r>
              <a:rPr lang="en-GB" altLang="es-ES" sz="1700" dirty="0" err="1"/>
              <a:t>Comprender</a:t>
            </a:r>
            <a:r>
              <a:rPr lang="en-GB" altLang="es-ES" sz="1700" dirty="0"/>
              <a:t> los </a:t>
            </a:r>
            <a:r>
              <a:rPr lang="en-GB" altLang="es-ES" sz="1700" dirty="0" err="1"/>
              <a:t>resultados</a:t>
            </a:r>
            <a:r>
              <a:rPr lang="en-GB" altLang="es-ES" sz="1700" dirty="0"/>
              <a:t> </a:t>
            </a:r>
            <a:r>
              <a:rPr lang="en-GB" altLang="es-ES" sz="1700" dirty="0" err="1"/>
              <a:t>estadísticos</a:t>
            </a:r>
            <a:r>
              <a:rPr lang="en-GB" altLang="es-ES" sz="1700" dirty="0"/>
              <a:t> de </a:t>
            </a:r>
            <a:r>
              <a:rPr lang="en-GB" altLang="es-ES" sz="1700" dirty="0" err="1"/>
              <a:t>artículos</a:t>
            </a:r>
            <a:r>
              <a:rPr lang="en-GB" altLang="es-ES" sz="1700" dirty="0"/>
              <a:t> </a:t>
            </a:r>
            <a:r>
              <a:rPr lang="en-GB" altLang="es-ES" sz="1700" dirty="0" err="1"/>
              <a:t>científicos</a:t>
            </a:r>
            <a:r>
              <a:rPr lang="en-GB" altLang="es-ES" sz="1700" dirty="0"/>
              <a:t>.</a:t>
            </a:r>
            <a:endParaRPr lang="es-ES" sz="17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25688" y="1700213"/>
            <a:ext cx="7524750" cy="3155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123" name="1 Marcador de número de diapositiva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defRPr sz="13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13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13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13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13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fld id="{34532032-625D-4434-A4A3-65E3A6C7DAF4}" type="slidenum">
              <a:rPr lang="en-GB" altLang="es-ES" sz="1400"/>
              <a:pPr eaLnBrk="1" hangingPunct="1"/>
              <a:t>22</a:t>
            </a:fld>
            <a:endParaRPr lang="en-GB" altLang="es-ES" sz="140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7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33638" y="1881189"/>
            <a:ext cx="7277100" cy="2587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147" name="1 Marcador de número de diapositiva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defRPr sz="13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13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13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13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13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fld id="{0185363F-96B4-4682-8B79-00C2043600A1}" type="slidenum">
              <a:rPr lang="en-GB" altLang="es-ES" sz="1400"/>
              <a:pPr eaLnBrk="1" hangingPunct="1"/>
              <a:t>23</a:t>
            </a:fld>
            <a:endParaRPr lang="en-GB" altLang="es-ES" sz="140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6" name="1 Marcador de número de diapositiva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defRPr sz="13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13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13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13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13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fld id="{84A76C12-E294-42F5-8512-3094D0E1D7FF}" type="slidenum">
              <a:rPr lang="en-GB" altLang="es-ES" sz="1400"/>
              <a:pPr eaLnBrk="1" hangingPunct="1"/>
              <a:t>24</a:t>
            </a:fld>
            <a:endParaRPr lang="en-GB" altLang="es-ES" sz="1400"/>
          </a:p>
        </p:txBody>
      </p:sp>
      <p:sp>
        <p:nvSpPr>
          <p:cNvPr id="2" name="1 Rectángulo"/>
          <p:cNvSpPr/>
          <p:nvPr/>
        </p:nvSpPr>
        <p:spPr>
          <a:xfrm>
            <a:off x="2216720" y="620689"/>
            <a:ext cx="7767712" cy="56323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s-ES_tradnl" altLang="es-ES" sz="2000" dirty="0"/>
              <a:t>Nuestro interés es conocer qué ocurre en la población objeto de estudio acerca de una determinada característica. Por ejemplo, </a:t>
            </a:r>
            <a:r>
              <a:rPr lang="es-ES_tradnl" altLang="es-ES" sz="2000" i="1" dirty="0"/>
              <a:t>¿es efectivo el tratamiento de kinesioterapia en personas mayores?</a:t>
            </a:r>
          </a:p>
          <a:p>
            <a:pPr algn="just"/>
            <a:endParaRPr lang="es-ES_tradnl" altLang="es-ES" sz="2000" i="1" dirty="0"/>
          </a:p>
          <a:p>
            <a:pPr algn="just"/>
            <a:r>
              <a:rPr lang="es-ES_tradnl" altLang="es-ES" sz="2000" dirty="0">
                <a:solidFill>
                  <a:srgbClr val="000000"/>
                </a:solidFill>
              </a:rPr>
              <a:t>Como no se puede observar a todos los individuos de esa población (</a:t>
            </a:r>
            <a:r>
              <a:rPr lang="es-ES_tradnl" altLang="es-ES" sz="2000" i="1" dirty="0">
                <a:solidFill>
                  <a:srgbClr val="000000"/>
                </a:solidFill>
              </a:rPr>
              <a:t>personas mayores</a:t>
            </a:r>
            <a:r>
              <a:rPr lang="es-ES_tradnl" altLang="es-ES" sz="2000" dirty="0">
                <a:solidFill>
                  <a:srgbClr val="000000"/>
                </a:solidFill>
              </a:rPr>
              <a:t>), se deberá obtener una “imagen representativa de la población objeto de estudio”. A esta imagen representativa se la denomina </a:t>
            </a:r>
            <a:r>
              <a:rPr lang="es-ES_tradnl" altLang="es-ES" sz="2000" b="1" dirty="0">
                <a:solidFill>
                  <a:srgbClr val="000000"/>
                </a:solidFill>
              </a:rPr>
              <a:t>muestra</a:t>
            </a:r>
            <a:r>
              <a:rPr lang="es-ES_tradnl" altLang="es-ES" sz="2000" dirty="0">
                <a:solidFill>
                  <a:srgbClr val="000000"/>
                </a:solidFill>
              </a:rPr>
              <a:t>, y en ella se estudiará la característica (</a:t>
            </a:r>
            <a:r>
              <a:rPr lang="es-ES_tradnl" altLang="es-ES" sz="2000" i="1" dirty="0">
                <a:solidFill>
                  <a:srgbClr val="000000"/>
                </a:solidFill>
              </a:rPr>
              <a:t>el tratamiento de kinesioterapia</a:t>
            </a:r>
            <a:r>
              <a:rPr lang="es-ES_tradnl" altLang="es-ES" sz="2000" dirty="0">
                <a:solidFill>
                  <a:srgbClr val="000000"/>
                </a:solidFill>
              </a:rPr>
              <a:t>).</a:t>
            </a:r>
          </a:p>
          <a:p>
            <a:pPr algn="just"/>
            <a:endParaRPr lang="es-ES_tradnl" altLang="es-ES" sz="2000" dirty="0">
              <a:solidFill>
                <a:srgbClr val="000000"/>
              </a:solidFill>
            </a:endParaRPr>
          </a:p>
          <a:p>
            <a:pPr algn="just"/>
            <a:r>
              <a:rPr lang="es-ES_tradnl" altLang="es-ES" sz="2000" dirty="0"/>
              <a:t>El estudio de los datos obtenidos en la muestra se realiza mediante la Estadística Descriptiva.</a:t>
            </a:r>
          </a:p>
          <a:p>
            <a:pPr algn="just"/>
            <a:endParaRPr lang="es-ES_tradnl" altLang="es-ES" sz="2000" dirty="0"/>
          </a:p>
          <a:p>
            <a:pPr algn="just"/>
            <a:r>
              <a:rPr lang="es-ES_tradnl" altLang="es-ES" sz="2000" dirty="0"/>
              <a:t>La extensión de las conclusiones obtenidas partir de la muestra a toda la población se realiza aplicando la Inferencia Estadística.</a:t>
            </a:r>
            <a:endParaRPr lang="es-ES" altLang="es-ES" sz="2000" dirty="0"/>
          </a:p>
          <a:p>
            <a:pPr algn="just"/>
            <a:endParaRPr lang="es-ES" altLang="es-ES" sz="2000" dirty="0"/>
          </a:p>
          <a:p>
            <a:pPr algn="just"/>
            <a:endParaRPr lang="es-ES" sz="2000" dirty="0"/>
          </a:p>
          <a:p>
            <a:pPr algn="ctr"/>
            <a:endParaRPr lang="es-ES" altLang="es-ES" sz="2000" i="1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4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63764" y="1916113"/>
            <a:ext cx="7839075" cy="27876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8195" name="1 Marcador de número de diapositiva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defRPr sz="13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13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13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13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13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fld id="{C8EB05B8-51C6-4CCF-85D3-FC7AD2C9565C}" type="slidenum">
              <a:rPr lang="en-GB" altLang="es-ES" sz="1400"/>
              <a:pPr eaLnBrk="1" hangingPunct="1"/>
              <a:t>25</a:t>
            </a:fld>
            <a:endParaRPr lang="en-GB" altLang="es-ES" sz="140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18" name="Picture 36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11338" y="1557338"/>
            <a:ext cx="8532812" cy="3365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9219" name="1 Marcador de número de diapositiva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defRPr sz="13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13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13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13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13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fld id="{AD7A5352-096E-4AFE-92C6-1A0555772C75}" type="slidenum">
              <a:rPr lang="en-GB" altLang="es-ES" sz="1400"/>
              <a:pPr eaLnBrk="1" hangingPunct="1"/>
              <a:t>26</a:t>
            </a:fld>
            <a:endParaRPr lang="en-GB" altLang="es-ES" sz="1400"/>
          </a:p>
        </p:txBody>
      </p:sp>
      <p:sp>
        <p:nvSpPr>
          <p:cNvPr id="4" name="1 CuadroTexto"/>
          <p:cNvSpPr txBox="1"/>
          <p:nvPr/>
        </p:nvSpPr>
        <p:spPr>
          <a:xfrm>
            <a:off x="5123892" y="5589240"/>
            <a:ext cx="1944216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GB"/>
            </a:defPPr>
            <a:lvl1pPr algn="r" rtl="0" fontAlgn="base">
              <a:spcBef>
                <a:spcPct val="0"/>
              </a:spcBef>
              <a:spcAft>
                <a:spcPct val="0"/>
              </a:spcAft>
              <a:defRPr sz="13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1pPr>
            <a:lvl2pPr marL="457200" algn="r" rtl="0" fontAlgn="base">
              <a:spcBef>
                <a:spcPct val="0"/>
              </a:spcBef>
              <a:spcAft>
                <a:spcPct val="0"/>
              </a:spcAft>
              <a:defRPr sz="13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2pPr>
            <a:lvl3pPr marL="914400" algn="r" rtl="0" fontAlgn="base">
              <a:spcBef>
                <a:spcPct val="0"/>
              </a:spcBef>
              <a:spcAft>
                <a:spcPct val="0"/>
              </a:spcAft>
              <a:defRPr sz="13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3pPr>
            <a:lvl4pPr marL="1371600" algn="r" rtl="0" fontAlgn="base">
              <a:spcBef>
                <a:spcPct val="0"/>
              </a:spcBef>
              <a:spcAft>
                <a:spcPct val="0"/>
              </a:spcAft>
              <a:defRPr sz="13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4pPr>
            <a:lvl5pPr marL="1828800" algn="r" rtl="0" fontAlgn="base">
              <a:spcBef>
                <a:spcPct val="0"/>
              </a:spcBef>
              <a:spcAft>
                <a:spcPct val="0"/>
              </a:spcAft>
              <a:defRPr sz="13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3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3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3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3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9pPr>
          </a:lstStyle>
          <a:p>
            <a:pPr algn="ctr"/>
            <a:r>
              <a:rPr lang="es-ES" b="1" dirty="0"/>
              <a:t>FIN DEL TEMA 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361</TotalTime>
  <Words>749</Words>
  <Application>Microsoft Macintosh PowerPoint</Application>
  <PresentationFormat>Widescreen</PresentationFormat>
  <Paragraphs>105</Paragraphs>
  <Slides>26</Slides>
  <Notes>3</Notes>
  <HiddenSlides>0</HiddenSlides>
  <MMClips>0</MMClips>
  <ScaleCrop>false</ScaleCrop>
  <HeadingPairs>
    <vt:vector size="8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4" baseType="lpstr">
      <vt:lpstr>Arial</vt:lpstr>
      <vt:lpstr>Calibri</vt:lpstr>
      <vt:lpstr>Calibri Light</vt:lpstr>
      <vt:lpstr>Merriweather</vt:lpstr>
      <vt:lpstr>Times New Roman</vt:lpstr>
      <vt:lpstr>Wingdings</vt:lpstr>
      <vt:lpstr>Office Theme</vt:lpstr>
      <vt:lpstr>Equation</vt:lpstr>
      <vt:lpstr>Estadística Fisioterapia 2025/2026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Horarios</vt:lpstr>
      <vt:lpstr>Cronograma</vt:lpstr>
      <vt:lpstr>Guia Docente</vt:lpstr>
      <vt:lpstr>GUIA DOCENTE:</vt:lpstr>
      <vt:lpstr>PowerPoint Presentation</vt:lpstr>
      <vt:lpstr>GUIA DOCENTE: Evaluación ordinaria</vt:lpstr>
      <vt:lpstr>GUIA DOCENTE: Evaluación extraordinaria</vt:lpstr>
      <vt:lpstr>GUIA DOCENTE: Evaluación extraordinaria y única final</vt:lpstr>
      <vt:lpstr>GUIA DOCENTE: Exámenes</vt:lpstr>
      <vt:lpstr>PowerPoint Presentation</vt:lpstr>
      <vt:lpstr>Links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Bioestadística Biología 22/23 </dc:title>
  <dc:creator>MIGUEL ÁNGEL LUQUE FERNÁNDEZ</dc:creator>
  <cp:lastModifiedBy>MIGUEL ÁNGEL LUQUE FERNÁNDEZ</cp:lastModifiedBy>
  <cp:revision>16</cp:revision>
  <cp:lastPrinted>2024-09-03T10:44:55Z</cp:lastPrinted>
  <dcterms:created xsi:type="dcterms:W3CDTF">2023-02-17T13:43:00Z</dcterms:created>
  <dcterms:modified xsi:type="dcterms:W3CDTF">2025-07-24T08:25:36Z</dcterms:modified>
</cp:coreProperties>
</file>