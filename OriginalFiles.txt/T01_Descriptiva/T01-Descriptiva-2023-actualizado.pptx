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9"/>
  </p:notesMasterIdLst>
  <p:handoutMasterIdLst>
    <p:handoutMasterId r:id="rId50"/>
  </p:handoutMasterIdLst>
  <p:sldIdLst>
    <p:sldId id="257" r:id="rId2"/>
    <p:sldId id="317" r:id="rId3"/>
    <p:sldId id="302" r:id="rId4"/>
    <p:sldId id="272" r:id="rId5"/>
    <p:sldId id="306" r:id="rId6"/>
    <p:sldId id="338" r:id="rId7"/>
    <p:sldId id="256" r:id="rId8"/>
    <p:sldId id="337" r:id="rId9"/>
    <p:sldId id="290" r:id="rId10"/>
    <p:sldId id="333" r:id="rId11"/>
    <p:sldId id="299" r:id="rId12"/>
    <p:sldId id="342" r:id="rId13"/>
    <p:sldId id="300" r:id="rId14"/>
    <p:sldId id="314" r:id="rId15"/>
    <p:sldId id="331" r:id="rId16"/>
    <p:sldId id="303" r:id="rId17"/>
    <p:sldId id="305" r:id="rId18"/>
    <p:sldId id="307" r:id="rId19"/>
    <p:sldId id="339" r:id="rId20"/>
    <p:sldId id="309" r:id="rId21"/>
    <p:sldId id="318" r:id="rId22"/>
    <p:sldId id="315" r:id="rId23"/>
    <p:sldId id="310" r:id="rId24"/>
    <p:sldId id="311" r:id="rId25"/>
    <p:sldId id="332" r:id="rId26"/>
    <p:sldId id="316" r:id="rId27"/>
    <p:sldId id="312" r:id="rId28"/>
    <p:sldId id="343" r:id="rId29"/>
    <p:sldId id="344" r:id="rId30"/>
    <p:sldId id="345" r:id="rId31"/>
    <p:sldId id="346" r:id="rId32"/>
    <p:sldId id="319" r:id="rId33"/>
    <p:sldId id="347" r:id="rId34"/>
    <p:sldId id="341" r:id="rId35"/>
    <p:sldId id="340" r:id="rId36"/>
    <p:sldId id="323" r:id="rId37"/>
    <p:sldId id="322" r:id="rId38"/>
    <p:sldId id="324" r:id="rId39"/>
    <p:sldId id="328" r:id="rId40"/>
    <p:sldId id="325" r:id="rId41"/>
    <p:sldId id="326" r:id="rId42"/>
    <p:sldId id="327" r:id="rId43"/>
    <p:sldId id="329" r:id="rId44"/>
    <p:sldId id="330" r:id="rId45"/>
    <p:sldId id="334" r:id="rId46"/>
    <p:sldId id="294" r:id="rId47"/>
    <p:sldId id="336" r:id="rId48"/>
  </p:sldIdLst>
  <p:sldSz cx="9144000" cy="6858000" type="screen4x3"/>
  <p:notesSz cx="7099300" cy="10234613"/>
  <p:defaultTextStyle>
    <a:defPPr>
      <a:defRPr lang="es-ES"/>
    </a:defPPr>
    <a:lvl1pPr algn="l" rtl="0" fontAlgn="base">
      <a:spcBef>
        <a:spcPct val="0"/>
      </a:spcBef>
      <a:spcAft>
        <a:spcPct val="0"/>
      </a:spcAft>
      <a:defRPr sz="1200" kern="1200">
        <a:solidFill>
          <a:schemeClr val="tx1"/>
        </a:solidFill>
        <a:latin typeface="Arial" charset="0"/>
        <a:ea typeface="+mn-ea"/>
        <a:cs typeface="+mn-cs"/>
      </a:defRPr>
    </a:lvl1pPr>
    <a:lvl2pPr marL="457200" algn="l" rtl="0" fontAlgn="base">
      <a:spcBef>
        <a:spcPct val="0"/>
      </a:spcBef>
      <a:spcAft>
        <a:spcPct val="0"/>
      </a:spcAft>
      <a:defRPr sz="1200" kern="1200">
        <a:solidFill>
          <a:schemeClr val="tx1"/>
        </a:solidFill>
        <a:latin typeface="Arial" charset="0"/>
        <a:ea typeface="+mn-ea"/>
        <a:cs typeface="+mn-cs"/>
      </a:defRPr>
    </a:lvl2pPr>
    <a:lvl3pPr marL="914400" algn="l" rtl="0" fontAlgn="base">
      <a:spcBef>
        <a:spcPct val="0"/>
      </a:spcBef>
      <a:spcAft>
        <a:spcPct val="0"/>
      </a:spcAft>
      <a:defRPr sz="1200" kern="1200">
        <a:solidFill>
          <a:schemeClr val="tx1"/>
        </a:solidFill>
        <a:latin typeface="Arial" charset="0"/>
        <a:ea typeface="+mn-ea"/>
        <a:cs typeface="+mn-cs"/>
      </a:defRPr>
    </a:lvl3pPr>
    <a:lvl4pPr marL="1371600" algn="l" rtl="0" fontAlgn="base">
      <a:spcBef>
        <a:spcPct val="0"/>
      </a:spcBef>
      <a:spcAft>
        <a:spcPct val="0"/>
      </a:spcAft>
      <a:defRPr sz="1200" kern="1200">
        <a:solidFill>
          <a:schemeClr val="tx1"/>
        </a:solidFill>
        <a:latin typeface="Arial" charset="0"/>
        <a:ea typeface="+mn-ea"/>
        <a:cs typeface="+mn-cs"/>
      </a:defRPr>
    </a:lvl4pPr>
    <a:lvl5pPr marL="1828800" algn="l" rtl="0" fontAlgn="base">
      <a:spcBef>
        <a:spcPct val="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Arial" charset="0"/>
        <a:ea typeface="+mn-ea"/>
        <a:cs typeface="+mn-cs"/>
      </a:defRPr>
    </a:lvl6pPr>
    <a:lvl7pPr marL="2743200" algn="l" defTabSz="914400" rtl="0" eaLnBrk="1" latinLnBrk="0" hangingPunct="1">
      <a:defRPr sz="1200" kern="1200">
        <a:solidFill>
          <a:schemeClr val="tx1"/>
        </a:solidFill>
        <a:latin typeface="Arial" charset="0"/>
        <a:ea typeface="+mn-ea"/>
        <a:cs typeface="+mn-cs"/>
      </a:defRPr>
    </a:lvl7pPr>
    <a:lvl8pPr marL="3200400" algn="l" defTabSz="914400" rtl="0" eaLnBrk="1" latinLnBrk="0" hangingPunct="1">
      <a:defRPr sz="1200" kern="1200">
        <a:solidFill>
          <a:schemeClr val="tx1"/>
        </a:solidFill>
        <a:latin typeface="Arial" charset="0"/>
        <a:ea typeface="+mn-ea"/>
        <a:cs typeface="+mn-cs"/>
      </a:defRPr>
    </a:lvl8pPr>
    <a:lvl9pPr marL="3657600" algn="l" defTabSz="914400" rtl="0" eaLnBrk="1" latinLnBrk="0" hangingPunct="1">
      <a:defRPr sz="1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92">
          <p15:clr>
            <a:srgbClr val="A4A3A4"/>
          </p15:clr>
        </p15:guide>
        <p15:guide id="2" pos="2160" userDrawn="1">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00"/>
    <a:srgbClr val="0000CC"/>
    <a:srgbClr val="2B6367"/>
    <a:srgbClr val="EEB500"/>
    <a:srgbClr val="18294C"/>
    <a:srgbClr val="003399"/>
    <a:srgbClr val="FF9900"/>
    <a:srgbClr val="009999"/>
    <a:srgbClr val="0066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06" autoAdjust="0"/>
    <p:restoredTop sz="94025" autoAdjust="0"/>
  </p:normalViewPr>
  <p:slideViewPr>
    <p:cSldViewPr showGuides="1">
      <p:cViewPr varScale="1">
        <p:scale>
          <a:sx n="103" d="100"/>
          <a:sy n="103" d="100"/>
        </p:scale>
        <p:origin x="2280" y="176"/>
      </p:cViewPr>
      <p:guideLst>
        <p:guide orient="horz" pos="192"/>
        <p:guide pos="2160"/>
      </p:guideLst>
    </p:cSldViewPr>
  </p:slideViewPr>
  <p:notesTextViewPr>
    <p:cViewPr>
      <p:scale>
        <a:sx n="100" d="100"/>
        <a:sy n="100" d="100"/>
      </p:scale>
      <p:origin x="0" y="0"/>
    </p:cViewPr>
  </p:notesTextViewPr>
  <p:sorterViewPr>
    <p:cViewPr>
      <p:scale>
        <a:sx n="66" d="100"/>
        <a:sy n="66" d="100"/>
      </p:scale>
      <p:origin x="0" y="0"/>
    </p:cViewPr>
  </p:sorterViewPr>
  <p:notesViewPr>
    <p:cSldViewPr showGuides="1">
      <p:cViewPr varScale="1">
        <p:scale>
          <a:sx n="73" d="100"/>
          <a:sy n="73" d="100"/>
        </p:scale>
        <p:origin x="3144" y="120"/>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1549400" y="88106"/>
            <a:ext cx="3074127"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defRPr smtClean="0"/>
            </a:lvl1pPr>
          </a:lstStyle>
          <a:p>
            <a:pPr>
              <a:defRPr/>
            </a:pPr>
            <a:r>
              <a:rPr lang="es-ES_tradnl" altLang="es-ES" sz="1100" dirty="0"/>
              <a:t>Pedro Fe</a:t>
            </a:r>
            <a:r>
              <a:rPr lang="es-ES" altLang="es-ES" sz="1100" dirty="0" err="1"/>
              <a:t>mia</a:t>
            </a:r>
            <a:r>
              <a:rPr lang="es-ES" altLang="es-ES" sz="1100" dirty="0"/>
              <a:t> (</a:t>
            </a:r>
            <a:r>
              <a:rPr lang="es-ES" altLang="es-ES" sz="1100" i="1" dirty="0"/>
              <a:t>pfemia@ugr.es</a:t>
            </a:r>
            <a:r>
              <a:rPr lang="es-ES" altLang="es-ES" sz="1100" dirty="0"/>
              <a:t>)  </a:t>
            </a:r>
          </a:p>
          <a:p>
            <a:pPr>
              <a:defRPr/>
            </a:pPr>
            <a:r>
              <a:rPr lang="es-ES_tradnl" altLang="es-ES" sz="1100" dirty="0"/>
              <a:t>Bioestadística. Universidad de Granada</a:t>
            </a:r>
            <a:endParaRPr lang="es-ES" altLang="es-ES" sz="1100" dirty="0"/>
          </a:p>
        </p:txBody>
      </p:sp>
      <p:sp>
        <p:nvSpPr>
          <p:cNvPr id="12293" name="Rectangle 5"/>
          <p:cNvSpPr>
            <a:spLocks noGrp="1" noChangeArrowheads="1"/>
          </p:cNvSpPr>
          <p:nvPr>
            <p:ph type="sldNum" sz="quarter" idx="3"/>
          </p:nvPr>
        </p:nvSpPr>
        <p:spPr bwMode="auto">
          <a:xfrm>
            <a:off x="0" y="9776391"/>
            <a:ext cx="7099300" cy="392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a:defRPr/>
            </a:lvl1pPr>
          </a:lstStyle>
          <a:p>
            <a:pPr algn="ctr">
              <a:defRPr/>
            </a:pPr>
            <a:fld id="{9C4F1793-6012-4E53-BF38-A80459238650}" type="slidenum">
              <a:rPr lang="es-ES" altLang="es-ES"/>
              <a:pPr algn="ctr">
                <a:defRPr/>
              </a:pPr>
              <a:t>‹#›</a:t>
            </a:fld>
            <a:endParaRPr lang="es-ES" altLang="es-ES"/>
          </a:p>
        </p:txBody>
      </p:sp>
      <p:pic>
        <p:nvPicPr>
          <p:cNvPr id="6" name="Picture 2" descr="http://es.creativecommons.org/blog/wp-content/uploads/2013/04/by-nc-nd.eu_peti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50" y="88106"/>
            <a:ext cx="1123950" cy="39052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2"/>
          <p:cNvSpPr txBox="1">
            <a:spLocks noChangeArrowheads="1"/>
          </p:cNvSpPr>
          <p:nvPr/>
        </p:nvSpPr>
        <p:spPr bwMode="auto">
          <a:xfrm>
            <a:off x="3854450" y="88106"/>
            <a:ext cx="3074127"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defPPr>
              <a:defRPr lang="es-ES"/>
            </a:defPPr>
            <a:lvl1pPr algn="l" rtl="0" fontAlgn="base">
              <a:spcBef>
                <a:spcPct val="0"/>
              </a:spcBef>
              <a:spcAft>
                <a:spcPct val="0"/>
              </a:spcAft>
              <a:defRPr sz="1200" kern="1200" smtClean="0">
                <a:solidFill>
                  <a:schemeClr val="tx1"/>
                </a:solidFill>
                <a:latin typeface="Arial" charset="0"/>
                <a:ea typeface="+mn-ea"/>
                <a:cs typeface="+mn-cs"/>
              </a:defRPr>
            </a:lvl1pPr>
            <a:lvl2pPr marL="457200" algn="l" rtl="0" fontAlgn="base">
              <a:spcBef>
                <a:spcPct val="0"/>
              </a:spcBef>
              <a:spcAft>
                <a:spcPct val="0"/>
              </a:spcAft>
              <a:defRPr sz="1200" kern="1200">
                <a:solidFill>
                  <a:schemeClr val="tx1"/>
                </a:solidFill>
                <a:latin typeface="Arial" charset="0"/>
                <a:ea typeface="+mn-ea"/>
                <a:cs typeface="+mn-cs"/>
              </a:defRPr>
            </a:lvl2pPr>
            <a:lvl3pPr marL="914400" algn="l" rtl="0" fontAlgn="base">
              <a:spcBef>
                <a:spcPct val="0"/>
              </a:spcBef>
              <a:spcAft>
                <a:spcPct val="0"/>
              </a:spcAft>
              <a:defRPr sz="1200" kern="1200">
                <a:solidFill>
                  <a:schemeClr val="tx1"/>
                </a:solidFill>
                <a:latin typeface="Arial" charset="0"/>
                <a:ea typeface="+mn-ea"/>
                <a:cs typeface="+mn-cs"/>
              </a:defRPr>
            </a:lvl3pPr>
            <a:lvl4pPr marL="1371600" algn="l" rtl="0" fontAlgn="base">
              <a:spcBef>
                <a:spcPct val="0"/>
              </a:spcBef>
              <a:spcAft>
                <a:spcPct val="0"/>
              </a:spcAft>
              <a:defRPr sz="1200" kern="1200">
                <a:solidFill>
                  <a:schemeClr val="tx1"/>
                </a:solidFill>
                <a:latin typeface="Arial" charset="0"/>
                <a:ea typeface="+mn-ea"/>
                <a:cs typeface="+mn-cs"/>
              </a:defRPr>
            </a:lvl4pPr>
            <a:lvl5pPr marL="1828800" algn="l" rtl="0" fontAlgn="base">
              <a:spcBef>
                <a:spcPct val="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Arial" charset="0"/>
                <a:ea typeface="+mn-ea"/>
                <a:cs typeface="+mn-cs"/>
              </a:defRPr>
            </a:lvl6pPr>
            <a:lvl7pPr marL="2743200" algn="l" defTabSz="914400" rtl="0" eaLnBrk="1" latinLnBrk="0" hangingPunct="1">
              <a:defRPr sz="1200" kern="1200">
                <a:solidFill>
                  <a:schemeClr val="tx1"/>
                </a:solidFill>
                <a:latin typeface="Arial" charset="0"/>
                <a:ea typeface="+mn-ea"/>
                <a:cs typeface="+mn-cs"/>
              </a:defRPr>
            </a:lvl7pPr>
            <a:lvl8pPr marL="3200400" algn="l" defTabSz="914400" rtl="0" eaLnBrk="1" latinLnBrk="0" hangingPunct="1">
              <a:defRPr sz="1200" kern="1200">
                <a:solidFill>
                  <a:schemeClr val="tx1"/>
                </a:solidFill>
                <a:latin typeface="Arial" charset="0"/>
                <a:ea typeface="+mn-ea"/>
                <a:cs typeface="+mn-cs"/>
              </a:defRPr>
            </a:lvl8pPr>
            <a:lvl9pPr marL="3657600" algn="l" defTabSz="914400" rtl="0" eaLnBrk="1" latinLnBrk="0" hangingPunct="1">
              <a:defRPr sz="1200" kern="1200">
                <a:solidFill>
                  <a:schemeClr val="tx1"/>
                </a:solidFill>
                <a:latin typeface="Arial" charset="0"/>
                <a:ea typeface="+mn-ea"/>
                <a:cs typeface="+mn-cs"/>
              </a:defRPr>
            </a:lvl9pPr>
          </a:lstStyle>
          <a:p>
            <a:pPr algn="r">
              <a:defRPr/>
            </a:pPr>
            <a:r>
              <a:rPr lang="es-ES" altLang="es-ES" dirty="0"/>
              <a:t>Grado en Enfermería</a:t>
            </a:r>
          </a:p>
          <a:p>
            <a:pPr algn="r">
              <a:defRPr/>
            </a:pPr>
            <a:r>
              <a:rPr lang="es-ES" altLang="es-ES" dirty="0"/>
              <a:t>2018/19</a:t>
            </a:r>
          </a:p>
        </p:txBody>
      </p:sp>
    </p:spTree>
    <p:extLst>
      <p:ext uri="{BB962C8B-B14F-4D97-AF65-F5344CB8AC3E}">
        <p14:creationId xmlns:p14="http://schemas.microsoft.com/office/powerpoint/2010/main" val="418517533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defRPr/>
            </a:lvl1pPr>
          </a:lstStyle>
          <a:p>
            <a:pPr>
              <a:defRPr/>
            </a:pPr>
            <a:endParaRPr lang="es-ES" altLang="es-ES"/>
          </a:p>
        </p:txBody>
      </p:sp>
      <p:sp>
        <p:nvSpPr>
          <p:cNvPr id="44035"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a:defRPr/>
            </a:lvl1pPr>
          </a:lstStyle>
          <a:p>
            <a:pPr>
              <a:defRPr/>
            </a:pPr>
            <a:endParaRPr lang="es-ES" altLang="es-ES"/>
          </a:p>
        </p:txBody>
      </p:sp>
      <p:sp>
        <p:nvSpPr>
          <p:cNvPr id="40964"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4037"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p>
            <a:pPr lvl="0"/>
            <a:r>
              <a:rPr lang="es-ES" altLang="es-ES" noProof="0"/>
              <a:t>Haga clic para modificar el estilo de texto del patrón</a:t>
            </a:r>
          </a:p>
          <a:p>
            <a:pPr lvl="1"/>
            <a:r>
              <a:rPr lang="es-ES" altLang="es-ES" noProof="0"/>
              <a:t>Segundo nivel</a:t>
            </a:r>
          </a:p>
          <a:p>
            <a:pPr lvl="2"/>
            <a:r>
              <a:rPr lang="es-ES" altLang="es-ES" noProof="0"/>
              <a:t>Tercer nivel</a:t>
            </a:r>
          </a:p>
          <a:p>
            <a:pPr lvl="3"/>
            <a:r>
              <a:rPr lang="es-ES" altLang="es-ES" noProof="0"/>
              <a:t>Cuarto nivel</a:t>
            </a:r>
          </a:p>
          <a:p>
            <a:pPr lvl="4"/>
            <a:r>
              <a:rPr lang="es-ES" altLang="es-ES" noProof="0"/>
              <a:t>Quinto nivel</a:t>
            </a:r>
          </a:p>
        </p:txBody>
      </p:sp>
      <p:sp>
        <p:nvSpPr>
          <p:cNvPr id="44038"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defRPr/>
            </a:lvl1pPr>
          </a:lstStyle>
          <a:p>
            <a:pPr>
              <a:defRPr/>
            </a:pPr>
            <a:endParaRPr lang="es-ES" altLang="es-ES"/>
          </a:p>
        </p:txBody>
      </p:sp>
      <p:sp>
        <p:nvSpPr>
          <p:cNvPr id="44039"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a:defRPr/>
            </a:lvl1pPr>
          </a:lstStyle>
          <a:p>
            <a:pPr>
              <a:defRPr/>
            </a:pPr>
            <a:fld id="{58445C5D-153B-4697-9968-7F13084BEFAB}" type="slidenum">
              <a:rPr lang="es-ES" altLang="es-ES"/>
              <a:pPr>
                <a:defRPr/>
              </a:pPr>
              <a:t>‹#›</a:t>
            </a:fld>
            <a:endParaRPr lang="es-ES" altLang="es-ES"/>
          </a:p>
        </p:txBody>
      </p:sp>
    </p:spTree>
    <p:extLst>
      <p:ext uri="{BB962C8B-B14F-4D97-AF65-F5344CB8AC3E}">
        <p14:creationId xmlns:p14="http://schemas.microsoft.com/office/powerpoint/2010/main" val="98882395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p:nvPr>
        </p:nvSpPr>
        <p:spPr>
          <a:xfrm>
            <a:off x="1041400" y="762000"/>
            <a:ext cx="5080000" cy="3810000"/>
          </a:xfrm>
          <a:ln/>
        </p:spPr>
      </p:sp>
      <p:sp>
        <p:nvSpPr>
          <p:cNvPr id="41987" name="Rectangle 3"/>
          <p:cNvSpPr>
            <a:spLocks noGrp="1" noChangeArrowheads="1"/>
          </p:cNvSpPr>
          <p:nvPr>
            <p:ph type="body" idx="1"/>
          </p:nvPr>
        </p:nvSpPr>
        <p:spPr>
          <a:xfrm>
            <a:off x="914400" y="4876800"/>
            <a:ext cx="5257800" cy="4572000"/>
          </a:xfrm>
          <a:noFill/>
        </p:spPr>
        <p:txBody>
          <a:bodyPr/>
          <a:lstStyle/>
          <a:p>
            <a:endParaRPr lang="es-ES" alt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xfrm>
            <a:off x="1041400" y="762000"/>
            <a:ext cx="5080000" cy="3810000"/>
          </a:xfrm>
          <a:ln/>
        </p:spPr>
      </p:sp>
      <p:sp>
        <p:nvSpPr>
          <p:cNvPr id="43011" name="Rectangle 3"/>
          <p:cNvSpPr>
            <a:spLocks noGrp="1" noChangeArrowheads="1"/>
          </p:cNvSpPr>
          <p:nvPr>
            <p:ph type="body" idx="1"/>
          </p:nvPr>
        </p:nvSpPr>
        <p:spPr>
          <a:xfrm>
            <a:off x="914400" y="4876800"/>
            <a:ext cx="5257800" cy="4572000"/>
          </a:xfrm>
          <a:noFill/>
        </p:spPr>
        <p:txBody>
          <a:bodyPr/>
          <a:lstStyle/>
          <a:p>
            <a:endParaRPr lang="es-ES" altLang="es-E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xfrm>
            <a:off x="1041400" y="762000"/>
            <a:ext cx="5080000" cy="3810000"/>
          </a:xfrm>
          <a:ln/>
        </p:spPr>
      </p:sp>
      <p:sp>
        <p:nvSpPr>
          <p:cNvPr id="44035" name="Rectangle 3"/>
          <p:cNvSpPr>
            <a:spLocks noGrp="1" noChangeArrowheads="1"/>
          </p:cNvSpPr>
          <p:nvPr>
            <p:ph type="body" idx="1"/>
          </p:nvPr>
        </p:nvSpPr>
        <p:spPr>
          <a:xfrm>
            <a:off x="914400" y="4876800"/>
            <a:ext cx="5257800" cy="4572000"/>
          </a:xfrm>
          <a:noFill/>
        </p:spPr>
        <p:txBody>
          <a:bodyPr/>
          <a:lstStyle/>
          <a:p>
            <a:endParaRPr lang="es-ES" altLang="es-E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xfrm>
            <a:off x="1041400" y="762000"/>
            <a:ext cx="5080000" cy="3810000"/>
          </a:xfrm>
          <a:ln/>
        </p:spPr>
      </p:sp>
      <p:sp>
        <p:nvSpPr>
          <p:cNvPr id="45059" name="Rectangle 3"/>
          <p:cNvSpPr>
            <a:spLocks noGrp="1" noChangeArrowheads="1"/>
          </p:cNvSpPr>
          <p:nvPr>
            <p:ph type="body" idx="1"/>
          </p:nvPr>
        </p:nvSpPr>
        <p:spPr>
          <a:xfrm>
            <a:off x="914400" y="4876800"/>
            <a:ext cx="5257800" cy="4572000"/>
          </a:xfrm>
          <a:noFill/>
        </p:spPr>
        <p:txBody>
          <a:bodyPr/>
          <a:lstStyle/>
          <a:p>
            <a:endParaRPr lang="es-ES" altLang="es-E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xfrm>
            <a:off x="1041400" y="762000"/>
            <a:ext cx="5080000" cy="3810000"/>
          </a:xfrm>
          <a:ln/>
        </p:spPr>
      </p:sp>
      <p:sp>
        <p:nvSpPr>
          <p:cNvPr id="46083" name="Rectangle 3"/>
          <p:cNvSpPr>
            <a:spLocks noGrp="1" noChangeArrowheads="1"/>
          </p:cNvSpPr>
          <p:nvPr>
            <p:ph type="body" idx="1"/>
          </p:nvPr>
        </p:nvSpPr>
        <p:spPr>
          <a:xfrm>
            <a:off x="914400" y="4876800"/>
            <a:ext cx="5257800" cy="4572000"/>
          </a:xfrm>
          <a:noFill/>
        </p:spPr>
        <p:txBody>
          <a:bodyPr/>
          <a:lstStyle/>
          <a:p>
            <a:endParaRPr lang="es-ES" altLang="es-E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xfrm>
            <a:off x="1041400" y="762000"/>
            <a:ext cx="5080000" cy="3810000"/>
          </a:xfrm>
          <a:ln/>
        </p:spPr>
      </p:sp>
      <p:sp>
        <p:nvSpPr>
          <p:cNvPr id="47107" name="Rectangle 3"/>
          <p:cNvSpPr>
            <a:spLocks noGrp="1" noChangeArrowheads="1"/>
          </p:cNvSpPr>
          <p:nvPr>
            <p:ph type="body" idx="1"/>
          </p:nvPr>
        </p:nvSpPr>
        <p:spPr>
          <a:xfrm>
            <a:off x="914400" y="4876800"/>
            <a:ext cx="5257800" cy="4572000"/>
          </a:xfrm>
          <a:noFill/>
        </p:spPr>
        <p:txBody>
          <a:bodyPr/>
          <a:lstStyle/>
          <a:p>
            <a:endParaRPr lang="es-ES" altLang="es-E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xfrm>
            <a:off x="1041400" y="762000"/>
            <a:ext cx="5080000" cy="3810000"/>
          </a:xfrm>
          <a:ln/>
        </p:spPr>
      </p:sp>
      <p:sp>
        <p:nvSpPr>
          <p:cNvPr id="48131" name="Rectangle 3"/>
          <p:cNvSpPr>
            <a:spLocks noGrp="1" noChangeArrowheads="1"/>
          </p:cNvSpPr>
          <p:nvPr>
            <p:ph type="body" idx="1"/>
          </p:nvPr>
        </p:nvSpPr>
        <p:spPr>
          <a:xfrm>
            <a:off x="914400" y="4876800"/>
            <a:ext cx="5257800" cy="4572000"/>
          </a:xfrm>
          <a:noFill/>
        </p:spPr>
        <p:txBody>
          <a:bodyPr/>
          <a:lstStyle/>
          <a:p>
            <a:endParaRPr lang="es-ES" altLang="es-E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1041400" y="762000"/>
            <a:ext cx="5080000" cy="3810000"/>
          </a:xfrm>
          <a:ln/>
        </p:spPr>
      </p:sp>
      <p:sp>
        <p:nvSpPr>
          <p:cNvPr id="49155" name="Rectangle 3"/>
          <p:cNvSpPr>
            <a:spLocks noGrp="1" noChangeArrowheads="1"/>
          </p:cNvSpPr>
          <p:nvPr>
            <p:ph type="body" idx="1"/>
          </p:nvPr>
        </p:nvSpPr>
        <p:spPr>
          <a:xfrm>
            <a:off x="914400" y="4876800"/>
            <a:ext cx="5257800" cy="4572000"/>
          </a:xfrm>
          <a:noFill/>
        </p:spPr>
        <p:txBody>
          <a:bodyPr/>
          <a:lstStyle/>
          <a:p>
            <a:endParaRPr lang="es-ES" altLang="es-E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a:xfrm>
            <a:off x="1041400" y="762000"/>
            <a:ext cx="5080000" cy="3810000"/>
          </a:xfrm>
          <a:ln/>
        </p:spPr>
      </p:sp>
      <p:sp>
        <p:nvSpPr>
          <p:cNvPr id="50179" name="Rectangle 3"/>
          <p:cNvSpPr>
            <a:spLocks noGrp="1" noChangeArrowheads="1"/>
          </p:cNvSpPr>
          <p:nvPr>
            <p:ph type="body" idx="1"/>
          </p:nvPr>
        </p:nvSpPr>
        <p:spPr>
          <a:xfrm>
            <a:off x="914400" y="4876800"/>
            <a:ext cx="5257800" cy="4572000"/>
          </a:xfrm>
          <a:noFill/>
        </p:spPr>
        <p:txBody>
          <a:bodyPr/>
          <a:lstStyle/>
          <a:p>
            <a:endParaRPr lang="es-ES" altLang="es-E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xfrm>
            <a:off x="1041400" y="762000"/>
            <a:ext cx="5080000" cy="3810000"/>
          </a:xfrm>
          <a:ln/>
        </p:spPr>
      </p:sp>
      <p:sp>
        <p:nvSpPr>
          <p:cNvPr id="51203" name="Rectangle 3"/>
          <p:cNvSpPr>
            <a:spLocks noGrp="1" noChangeArrowheads="1"/>
          </p:cNvSpPr>
          <p:nvPr>
            <p:ph type="body" idx="1"/>
          </p:nvPr>
        </p:nvSpPr>
        <p:spPr>
          <a:xfrm>
            <a:off x="914400" y="4876800"/>
            <a:ext cx="5257800" cy="4572000"/>
          </a:xfrm>
          <a:noFill/>
        </p:spPr>
        <p:txBody>
          <a:bodyPr/>
          <a:lstStyle/>
          <a:p>
            <a:endParaRPr lang="es-ES" altLang="es-E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defRPr>
            </a:lvl1pPr>
            <a:lvl2pPr marL="742950" indent="-285750">
              <a:defRPr sz="1200">
                <a:solidFill>
                  <a:schemeClr val="tx1"/>
                </a:solidFill>
                <a:latin typeface="Times New Roman" pitchFamily="18" charset="0"/>
              </a:defRPr>
            </a:lvl2pPr>
            <a:lvl3pPr marL="1143000" indent="-228600">
              <a:defRPr sz="1200">
                <a:solidFill>
                  <a:schemeClr val="tx1"/>
                </a:solidFill>
                <a:latin typeface="Times New Roman" pitchFamily="18" charset="0"/>
              </a:defRPr>
            </a:lvl3pPr>
            <a:lvl4pPr marL="1600200" indent="-228600">
              <a:defRPr sz="1200">
                <a:solidFill>
                  <a:schemeClr val="tx1"/>
                </a:solidFill>
                <a:latin typeface="Times New Roman" pitchFamily="18" charset="0"/>
              </a:defRPr>
            </a:lvl4pPr>
            <a:lvl5pPr marL="2057400" indent="-228600">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fld id="{4478D815-B8A5-433F-B5EC-9B17BA9BB755}" type="slidenum">
              <a:rPr lang="es-ES" altLang="es-ES" smtClean="0"/>
              <a:pPr/>
              <a:t>46</a:t>
            </a:fld>
            <a:endParaRPr lang="es-ES" altLang="es-ES"/>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p:spPr>
        <p:txBody>
          <a:bodyPr/>
          <a:lstStyle/>
          <a:p>
            <a:pPr eaLnBrk="1" hangingPunct="1"/>
            <a:endParaRPr lang="es-ES" altLang="es-E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xfrm>
            <a:off x="1041400" y="762000"/>
            <a:ext cx="5080000" cy="3810000"/>
          </a:xfrm>
          <a:ln/>
        </p:spPr>
      </p:sp>
      <p:sp>
        <p:nvSpPr>
          <p:cNvPr id="52227" name="Rectangle 3"/>
          <p:cNvSpPr>
            <a:spLocks noGrp="1" noChangeArrowheads="1"/>
          </p:cNvSpPr>
          <p:nvPr>
            <p:ph type="body" idx="1"/>
          </p:nvPr>
        </p:nvSpPr>
        <p:spPr>
          <a:xfrm>
            <a:off x="914400" y="4876800"/>
            <a:ext cx="5257800" cy="4572000"/>
          </a:xfrm>
          <a:noFill/>
        </p:spPr>
        <p:txBody>
          <a:bodyPr/>
          <a:lstStyle/>
          <a:p>
            <a:endParaRPr lang="es-ES" altLang="es-E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a:prstGeom prst="rect">
            <a:avLst/>
          </a:prstGeo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p>
        </p:txBody>
      </p:sp>
    </p:spTree>
    <p:extLst>
      <p:ext uri="{BB962C8B-B14F-4D97-AF65-F5344CB8AC3E}">
        <p14:creationId xmlns:p14="http://schemas.microsoft.com/office/powerpoint/2010/main" val="2571519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
        <p:nvSpPr>
          <p:cNvPr id="3" name="2 Marcador de contenido"/>
          <p:cNvSpPr>
            <a:spLocks noGrp="1"/>
          </p:cNvSpPr>
          <p:nvPr>
            <p:ph idx="1"/>
          </p:nvPr>
        </p:nvSpPr>
        <p:spPr>
          <a:xfrm>
            <a:off x="457200" y="1600200"/>
            <a:ext cx="8229600" cy="4525963"/>
          </a:xfrm>
          <a:prstGeom prst="rect">
            <a:avLst/>
          </a:prstGeo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1454992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Tree>
    <p:extLst>
      <p:ext uri="{BB962C8B-B14F-4D97-AF65-F5344CB8AC3E}">
        <p14:creationId xmlns:p14="http://schemas.microsoft.com/office/powerpoint/2010/main" val="1768386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1832165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921058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Tree>
    <p:extLst>
      <p:ext uri="{BB962C8B-B14F-4D97-AF65-F5344CB8AC3E}">
        <p14:creationId xmlns:p14="http://schemas.microsoft.com/office/powerpoint/2010/main" val="2165570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7631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a:prstGeom prst="rect">
            <a:avLst/>
          </a:prstGeo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Tree>
    <p:extLst>
      <p:ext uri="{BB962C8B-B14F-4D97-AF65-F5344CB8AC3E}">
        <p14:creationId xmlns:p14="http://schemas.microsoft.com/office/powerpoint/2010/main" val="3804485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a:prstGeom prst="rect">
            <a:avLst/>
          </a:prstGeo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a:p>
        </p:txBody>
      </p:sp>
      <p:sp>
        <p:nvSpPr>
          <p:cNvPr id="4" name="3 Marcador de texto"/>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Tree>
    <p:extLst>
      <p:ext uri="{BB962C8B-B14F-4D97-AF65-F5344CB8AC3E}">
        <p14:creationId xmlns:p14="http://schemas.microsoft.com/office/powerpoint/2010/main" val="3700327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
        <p:nvSpPr>
          <p:cNvPr id="3" name="2 Marcador de texto vertical"/>
          <p:cNvSpPr>
            <a:spLocks noGrp="1"/>
          </p:cNvSpPr>
          <p:nvPr>
            <p:ph type="body" orient="vert" idx="1"/>
          </p:nvPr>
        </p:nvSpPr>
        <p:spPr>
          <a:xfrm>
            <a:off x="457200" y="1600200"/>
            <a:ext cx="8229600" cy="4525963"/>
          </a:xfrm>
          <a:prstGeom prst="rect">
            <a:avLst/>
          </a:prstGeo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3099339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a:prstGeom prst="rect">
            <a:avLst/>
          </a:prstGeo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a:prstGeom prst="rect">
            <a:avLst/>
          </a:prstGeo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3825035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Text Box 9"/>
          <p:cNvSpPr txBox="1">
            <a:spLocks noChangeArrowheads="1"/>
          </p:cNvSpPr>
          <p:nvPr userDrawn="1"/>
        </p:nvSpPr>
        <p:spPr bwMode="auto">
          <a:xfrm>
            <a:off x="8379436" y="69097"/>
            <a:ext cx="71986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r" eaLnBrk="1" hangingPunct="1">
              <a:defRPr/>
            </a:pPr>
            <a:fld id="{7FAF1F29-B240-471F-9E53-AB9CCE719600}" type="slidenum">
              <a:rPr lang="es-ES" altLang="es-ES" b="1" smtClean="0">
                <a:solidFill>
                  <a:schemeClr val="tx1">
                    <a:lumMod val="85000"/>
                    <a:lumOff val="15000"/>
                  </a:schemeClr>
                </a:solidFill>
              </a:rPr>
              <a:pPr algn="r" eaLnBrk="1" hangingPunct="1">
                <a:defRPr/>
              </a:pPr>
              <a:t>‹#›</a:t>
            </a:fld>
            <a:r>
              <a:rPr lang="es-ES" altLang="es-ES" b="1" dirty="0">
                <a:solidFill>
                  <a:schemeClr val="tx1">
                    <a:lumMod val="85000"/>
                    <a:lumOff val="15000"/>
                  </a:schemeClr>
                </a:solidFill>
              </a:rPr>
              <a:t>/41</a:t>
            </a:r>
          </a:p>
        </p:txBody>
      </p:sp>
      <p:cxnSp>
        <p:nvCxnSpPr>
          <p:cNvPr id="5" name="Conector recto 4"/>
          <p:cNvCxnSpPr/>
          <p:nvPr userDrawn="1"/>
        </p:nvCxnSpPr>
        <p:spPr>
          <a:xfrm>
            <a:off x="0" y="762000"/>
            <a:ext cx="9144000" cy="0"/>
          </a:xfrm>
          <a:prstGeom prst="line">
            <a:avLst/>
          </a:prstGeom>
          <a:ln>
            <a:gradFill flip="none" rotWithShape="1">
              <a:gsLst>
                <a:gs pos="34000">
                  <a:schemeClr val="bg1"/>
                </a:gs>
                <a:gs pos="55000">
                  <a:schemeClr val="accent4">
                    <a:lumMod val="89000"/>
                  </a:schemeClr>
                </a:gs>
                <a:gs pos="81000">
                  <a:schemeClr val="accent4">
                    <a:lumMod val="75000"/>
                  </a:schemeClr>
                </a:gs>
                <a:gs pos="100000">
                  <a:schemeClr val="accent4">
                    <a:lumMod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cxnSp>
        <p:nvCxnSpPr>
          <p:cNvPr id="3" name="Conector recto 2">
            <a:extLst>
              <a:ext uri="{FF2B5EF4-FFF2-40B4-BE49-F238E27FC236}">
                <a16:creationId xmlns:a16="http://schemas.microsoft.com/office/drawing/2014/main" id="{20074048-4F40-4318-A845-01BC11E3F9F1}"/>
              </a:ext>
            </a:extLst>
          </p:cNvPr>
          <p:cNvCxnSpPr/>
          <p:nvPr userDrawn="1"/>
        </p:nvCxnSpPr>
        <p:spPr>
          <a:xfrm>
            <a:off x="8373208" y="0"/>
            <a:ext cx="0" cy="5647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femia@ugr.es" TargetMode="External"/><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mailto:mluquefe@ugr.es"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slide" Target="slide3.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slide" Target="slide4.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 Target="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 Target="slide10.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24.png"/><Relationship Id="rId7" Type="http://schemas.openxmlformats.org/officeDocument/2006/relationships/image" Target="../media/image27.wmf"/><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oleObject" Target="../embeddings/oleObject2.bin"/><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28.wmf"/></Relationships>
</file>

<file path=ppt/slides/_rels/slide15.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image" Target="../media/image30.png"/><Relationship Id="rId7" Type="http://schemas.openxmlformats.org/officeDocument/2006/relationships/oleObject" Target="../embeddings/oleObject4.bin"/><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6.png"/><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2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8.wmf"/><Relationship Id="rId5" Type="http://schemas.openxmlformats.org/officeDocument/2006/relationships/oleObject" Target="../embeddings/oleObject6.bin"/><Relationship Id="rId4" Type="http://schemas.openxmlformats.org/officeDocument/2006/relationships/image" Target="../media/image57.wmf"/></Relationships>
</file>

<file path=ppt/slides/_rels/slide27.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oleObject" Target="../embeddings/oleObject8.bin"/><Relationship Id="rId1" Type="http://schemas.openxmlformats.org/officeDocument/2006/relationships/slideLayout" Target="../slideLayouts/slideLayout1.xml"/><Relationship Id="rId5" Type="http://schemas.openxmlformats.org/officeDocument/2006/relationships/image" Target="../media/image61.wmf"/><Relationship Id="rId4" Type="http://schemas.openxmlformats.org/officeDocument/2006/relationships/oleObject" Target="../embeddings/oleObject9.bin"/></Relationships>
</file>

<file path=ppt/slides/_rels/slide2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image" Target="../media/image64.wmf"/><Relationship Id="rId7" Type="http://schemas.openxmlformats.org/officeDocument/2006/relationships/image" Target="../media/image66.wmf"/><Relationship Id="rId12" Type="http://schemas.openxmlformats.org/officeDocument/2006/relationships/image" Target="../media/image70.png"/><Relationship Id="rId2" Type="http://schemas.openxmlformats.org/officeDocument/2006/relationships/oleObject" Target="../embeddings/oleObject10.bin"/><Relationship Id="rId1" Type="http://schemas.openxmlformats.org/officeDocument/2006/relationships/slideLayout" Target="../slideLayouts/slideLayout7.xml"/><Relationship Id="rId6" Type="http://schemas.openxmlformats.org/officeDocument/2006/relationships/oleObject" Target="../embeddings/oleObject12.bin"/><Relationship Id="rId11" Type="http://schemas.openxmlformats.org/officeDocument/2006/relationships/image" Target="../media/image68.wmf"/><Relationship Id="rId5" Type="http://schemas.openxmlformats.org/officeDocument/2006/relationships/image" Target="../media/image65.w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67.w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8.bin"/><Relationship Id="rId13" Type="http://schemas.openxmlformats.org/officeDocument/2006/relationships/image" Target="../media/image74.wmf"/><Relationship Id="rId18" Type="http://schemas.openxmlformats.org/officeDocument/2006/relationships/oleObject" Target="../embeddings/oleObject23.bin"/><Relationship Id="rId3" Type="http://schemas.openxmlformats.org/officeDocument/2006/relationships/image" Target="../media/image69.wmf"/><Relationship Id="rId7" Type="http://schemas.openxmlformats.org/officeDocument/2006/relationships/image" Target="../media/image71.wmf"/><Relationship Id="rId12" Type="http://schemas.openxmlformats.org/officeDocument/2006/relationships/oleObject" Target="../embeddings/oleObject20.bin"/><Relationship Id="rId17" Type="http://schemas.openxmlformats.org/officeDocument/2006/relationships/image" Target="../media/image76.wmf"/><Relationship Id="rId2" Type="http://schemas.openxmlformats.org/officeDocument/2006/relationships/oleObject" Target="../embeddings/oleObject15.bin"/><Relationship Id="rId16" Type="http://schemas.openxmlformats.org/officeDocument/2006/relationships/oleObject" Target="../embeddings/oleObject22.bin"/><Relationship Id="rId1" Type="http://schemas.openxmlformats.org/officeDocument/2006/relationships/slideLayout" Target="../slideLayouts/slideLayout7.xml"/><Relationship Id="rId6" Type="http://schemas.openxmlformats.org/officeDocument/2006/relationships/oleObject" Target="../embeddings/oleObject17.bin"/><Relationship Id="rId11" Type="http://schemas.openxmlformats.org/officeDocument/2006/relationships/image" Target="../media/image73.wmf"/><Relationship Id="rId5" Type="http://schemas.openxmlformats.org/officeDocument/2006/relationships/image" Target="../media/image70.wmf"/><Relationship Id="rId15" Type="http://schemas.openxmlformats.org/officeDocument/2006/relationships/image" Target="../media/image75.wmf"/><Relationship Id="rId10" Type="http://schemas.openxmlformats.org/officeDocument/2006/relationships/oleObject" Target="../embeddings/oleObject19.bin"/><Relationship Id="rId19" Type="http://schemas.openxmlformats.org/officeDocument/2006/relationships/image" Target="../media/image77.wmf"/><Relationship Id="rId4" Type="http://schemas.openxmlformats.org/officeDocument/2006/relationships/oleObject" Target="../embeddings/oleObject16.bin"/><Relationship Id="rId9" Type="http://schemas.openxmlformats.org/officeDocument/2006/relationships/image" Target="../media/image72.wmf"/><Relationship Id="rId14" Type="http://schemas.openxmlformats.org/officeDocument/2006/relationships/oleObject" Target="../embeddings/oleObject21.bin"/></Relationships>
</file>

<file path=ppt/slides/_rels/slide34.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oleObject" Target="../embeddings/oleObject28.bin"/><Relationship Id="rId3" Type="http://schemas.openxmlformats.org/officeDocument/2006/relationships/image" Target="../media/image51.png"/><Relationship Id="rId7" Type="http://schemas.openxmlformats.org/officeDocument/2006/relationships/image" Target="../media/image80.wmf"/><Relationship Id="rId12" Type="http://schemas.openxmlformats.org/officeDocument/2006/relationships/image" Target="../media/image83.wmf"/><Relationship Id="rId2" Type="http://schemas.openxmlformats.org/officeDocument/2006/relationships/image" Target="../media/image53.png"/><Relationship Id="rId16" Type="http://schemas.openxmlformats.org/officeDocument/2006/relationships/image" Target="../media/image85.wmf"/><Relationship Id="rId1" Type="http://schemas.openxmlformats.org/officeDocument/2006/relationships/slideLayout" Target="../slideLayouts/slideLayout7.xml"/><Relationship Id="rId6" Type="http://schemas.openxmlformats.org/officeDocument/2006/relationships/oleObject" Target="../embeddings/oleObject25.bin"/><Relationship Id="rId11" Type="http://schemas.openxmlformats.org/officeDocument/2006/relationships/oleObject" Target="../embeddings/oleObject27.bin"/><Relationship Id="rId5" Type="http://schemas.openxmlformats.org/officeDocument/2006/relationships/image" Target="../media/image79.wmf"/><Relationship Id="rId15" Type="http://schemas.openxmlformats.org/officeDocument/2006/relationships/oleObject" Target="../embeddings/oleObject29.bin"/><Relationship Id="rId10" Type="http://schemas.openxmlformats.org/officeDocument/2006/relationships/image" Target="../media/image82.png"/><Relationship Id="rId4" Type="http://schemas.openxmlformats.org/officeDocument/2006/relationships/oleObject" Target="../embeddings/oleObject24.bin"/><Relationship Id="rId9" Type="http://schemas.openxmlformats.org/officeDocument/2006/relationships/image" Target="../media/image81.wmf"/><Relationship Id="rId14" Type="http://schemas.openxmlformats.org/officeDocument/2006/relationships/image" Target="../media/image84.wmf"/></Relationships>
</file>

<file path=ppt/slides/_rels/slide36.xml.rels><?xml version="1.0" encoding="UTF-8" standalone="yes"?>
<Relationships xmlns="http://schemas.openxmlformats.org/package/2006/relationships"><Relationship Id="rId8" Type="http://schemas.openxmlformats.org/officeDocument/2006/relationships/image" Target="../media/image88.wmf"/><Relationship Id="rId3" Type="http://schemas.openxmlformats.org/officeDocument/2006/relationships/oleObject" Target="../embeddings/oleObject30.bin"/><Relationship Id="rId7" Type="http://schemas.openxmlformats.org/officeDocument/2006/relationships/oleObject" Target="../embeddings/oleObject32.bin"/><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7.wmf"/><Relationship Id="rId5" Type="http://schemas.openxmlformats.org/officeDocument/2006/relationships/oleObject" Target="../embeddings/oleObject31.bin"/><Relationship Id="rId10" Type="http://schemas.openxmlformats.org/officeDocument/2006/relationships/image" Target="../media/image89.wmf"/><Relationship Id="rId4" Type="http://schemas.openxmlformats.org/officeDocument/2006/relationships/image" Target="../media/image86.wmf"/><Relationship Id="rId9" Type="http://schemas.openxmlformats.org/officeDocument/2006/relationships/oleObject" Target="../embeddings/oleObject33.bin"/></Relationships>
</file>

<file path=ppt/slides/_rels/slide37.xml.rels><?xml version="1.0" encoding="UTF-8" standalone="yes"?>
<Relationships xmlns="http://schemas.openxmlformats.org/package/2006/relationships"><Relationship Id="rId8" Type="http://schemas.openxmlformats.org/officeDocument/2006/relationships/image" Target="../media/image94.wmf"/><Relationship Id="rId3" Type="http://schemas.openxmlformats.org/officeDocument/2006/relationships/image" Target="../media/image90.png"/><Relationship Id="rId7" Type="http://schemas.openxmlformats.org/officeDocument/2006/relationships/oleObject" Target="../embeddings/oleObject34.bin"/><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38.xml.rels><?xml version="1.0" encoding="UTF-8" standalone="yes"?>
<Relationships xmlns="http://schemas.openxmlformats.org/package/2006/relationships"><Relationship Id="rId8" Type="http://schemas.openxmlformats.org/officeDocument/2006/relationships/image" Target="../media/image97.wmf"/><Relationship Id="rId13" Type="http://schemas.openxmlformats.org/officeDocument/2006/relationships/oleObject" Target="../embeddings/oleObject39.bin"/><Relationship Id="rId3" Type="http://schemas.openxmlformats.org/officeDocument/2006/relationships/oleObject" Target="../embeddings/oleObject35.bin"/><Relationship Id="rId7" Type="http://schemas.openxmlformats.org/officeDocument/2006/relationships/oleObject" Target="../embeddings/oleObject37.bin"/><Relationship Id="rId12" Type="http://schemas.openxmlformats.org/officeDocument/2006/relationships/image" Target="../media/image99.wmf"/><Relationship Id="rId2" Type="http://schemas.openxmlformats.org/officeDocument/2006/relationships/notesSlide" Target="../notesSlides/notesSlide4.xml"/><Relationship Id="rId16" Type="http://schemas.openxmlformats.org/officeDocument/2006/relationships/oleObject" Target="../embeddings/oleObject41.bin"/><Relationship Id="rId1" Type="http://schemas.openxmlformats.org/officeDocument/2006/relationships/slideLayout" Target="../slideLayouts/slideLayout7.xml"/><Relationship Id="rId6" Type="http://schemas.openxmlformats.org/officeDocument/2006/relationships/image" Target="../media/image96.wmf"/><Relationship Id="rId11" Type="http://schemas.openxmlformats.org/officeDocument/2006/relationships/oleObject" Target="../embeddings/oleObject38.bin"/><Relationship Id="rId5" Type="http://schemas.openxmlformats.org/officeDocument/2006/relationships/oleObject" Target="../embeddings/oleObject36.bin"/><Relationship Id="rId15" Type="http://schemas.openxmlformats.org/officeDocument/2006/relationships/oleObject" Target="../embeddings/oleObject40.bin"/><Relationship Id="rId10" Type="http://schemas.openxmlformats.org/officeDocument/2006/relationships/image" Target="../media/image98.png"/><Relationship Id="rId4" Type="http://schemas.openxmlformats.org/officeDocument/2006/relationships/image" Target="../media/image95.wmf"/><Relationship Id="rId9" Type="http://schemas.openxmlformats.org/officeDocument/2006/relationships/image" Target="../media/image56.png"/><Relationship Id="rId14" Type="http://schemas.openxmlformats.org/officeDocument/2006/relationships/image" Target="../media/image100.wmf"/></Relationships>
</file>

<file path=ppt/slides/_rels/slide39.xml.rels><?xml version="1.0" encoding="UTF-8" standalone="yes"?>
<Relationships xmlns="http://schemas.openxmlformats.org/package/2006/relationships"><Relationship Id="rId8" Type="http://schemas.openxmlformats.org/officeDocument/2006/relationships/image" Target="../media/image99.wmf"/><Relationship Id="rId13" Type="http://schemas.openxmlformats.org/officeDocument/2006/relationships/oleObject" Target="../embeddings/oleObject48.bin"/><Relationship Id="rId3" Type="http://schemas.openxmlformats.org/officeDocument/2006/relationships/oleObject" Target="../embeddings/oleObject42.bin"/><Relationship Id="rId7" Type="http://schemas.openxmlformats.org/officeDocument/2006/relationships/oleObject" Target="../embeddings/oleObject44.bin"/><Relationship Id="rId12" Type="http://schemas.openxmlformats.org/officeDocument/2006/relationships/oleObject" Target="../embeddings/oleObject47.bin"/><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02.wmf"/><Relationship Id="rId11" Type="http://schemas.openxmlformats.org/officeDocument/2006/relationships/oleObject" Target="../embeddings/oleObject46.bin"/><Relationship Id="rId5" Type="http://schemas.openxmlformats.org/officeDocument/2006/relationships/oleObject" Target="../embeddings/oleObject43.bin"/><Relationship Id="rId10" Type="http://schemas.openxmlformats.org/officeDocument/2006/relationships/image" Target="../media/image100.wmf"/><Relationship Id="rId4" Type="http://schemas.openxmlformats.org/officeDocument/2006/relationships/image" Target="../media/image101.wmf"/><Relationship Id="rId9" Type="http://schemas.openxmlformats.org/officeDocument/2006/relationships/oleObject" Target="../embeddings/oleObject45.bin"/></Relationships>
</file>

<file path=ppt/slides/_rels/slide40.xml.rels><?xml version="1.0" encoding="UTF-8" standalone="yes"?>
<Relationships xmlns="http://schemas.openxmlformats.org/package/2006/relationships"><Relationship Id="rId8" Type="http://schemas.openxmlformats.org/officeDocument/2006/relationships/image" Target="../media/image105.wmf"/><Relationship Id="rId13" Type="http://schemas.openxmlformats.org/officeDocument/2006/relationships/oleObject" Target="../embeddings/oleObject54.bin"/><Relationship Id="rId18" Type="http://schemas.openxmlformats.org/officeDocument/2006/relationships/image" Target="../media/image110.wmf"/><Relationship Id="rId3" Type="http://schemas.openxmlformats.org/officeDocument/2006/relationships/oleObject" Target="../embeddings/oleObject49.bin"/><Relationship Id="rId7" Type="http://schemas.openxmlformats.org/officeDocument/2006/relationships/oleObject" Target="../embeddings/oleObject51.bin"/><Relationship Id="rId12" Type="http://schemas.openxmlformats.org/officeDocument/2006/relationships/image" Target="../media/image107.wmf"/><Relationship Id="rId17" Type="http://schemas.openxmlformats.org/officeDocument/2006/relationships/oleObject" Target="../embeddings/oleObject56.bin"/><Relationship Id="rId2" Type="http://schemas.openxmlformats.org/officeDocument/2006/relationships/notesSlide" Target="../notesSlides/notesSlide6.xml"/><Relationship Id="rId16" Type="http://schemas.openxmlformats.org/officeDocument/2006/relationships/image" Target="../media/image109.wmf"/><Relationship Id="rId1" Type="http://schemas.openxmlformats.org/officeDocument/2006/relationships/slideLayout" Target="../slideLayouts/slideLayout7.xml"/><Relationship Id="rId6" Type="http://schemas.openxmlformats.org/officeDocument/2006/relationships/image" Target="../media/image104.wmf"/><Relationship Id="rId11" Type="http://schemas.openxmlformats.org/officeDocument/2006/relationships/oleObject" Target="../embeddings/oleObject53.bin"/><Relationship Id="rId5" Type="http://schemas.openxmlformats.org/officeDocument/2006/relationships/oleObject" Target="../embeddings/oleObject50.bin"/><Relationship Id="rId15" Type="http://schemas.openxmlformats.org/officeDocument/2006/relationships/oleObject" Target="../embeddings/oleObject55.bin"/><Relationship Id="rId10" Type="http://schemas.openxmlformats.org/officeDocument/2006/relationships/image" Target="../media/image106.wmf"/><Relationship Id="rId4" Type="http://schemas.openxmlformats.org/officeDocument/2006/relationships/image" Target="../media/image103.wmf"/><Relationship Id="rId9" Type="http://schemas.openxmlformats.org/officeDocument/2006/relationships/oleObject" Target="../embeddings/oleObject52.bin"/><Relationship Id="rId14" Type="http://schemas.openxmlformats.org/officeDocument/2006/relationships/image" Target="../media/image108.wmf"/></Relationships>
</file>

<file path=ppt/slides/_rels/slide41.xml.rels><?xml version="1.0" encoding="UTF-8" standalone="yes"?>
<Relationships xmlns="http://schemas.openxmlformats.org/package/2006/relationships"><Relationship Id="rId8" Type="http://schemas.openxmlformats.org/officeDocument/2006/relationships/image" Target="../media/image105.wmf"/><Relationship Id="rId13" Type="http://schemas.openxmlformats.org/officeDocument/2006/relationships/oleObject" Target="../embeddings/oleObject62.bin"/><Relationship Id="rId18" Type="http://schemas.openxmlformats.org/officeDocument/2006/relationships/image" Target="../media/image111.wmf"/><Relationship Id="rId3" Type="http://schemas.openxmlformats.org/officeDocument/2006/relationships/oleObject" Target="../embeddings/oleObject57.bin"/><Relationship Id="rId7" Type="http://schemas.openxmlformats.org/officeDocument/2006/relationships/oleObject" Target="../embeddings/oleObject59.bin"/><Relationship Id="rId12" Type="http://schemas.openxmlformats.org/officeDocument/2006/relationships/image" Target="../media/image107.wmf"/><Relationship Id="rId17" Type="http://schemas.openxmlformats.org/officeDocument/2006/relationships/oleObject" Target="../embeddings/oleObject64.bin"/><Relationship Id="rId2" Type="http://schemas.openxmlformats.org/officeDocument/2006/relationships/notesSlide" Target="../notesSlides/notesSlide7.xml"/><Relationship Id="rId16" Type="http://schemas.openxmlformats.org/officeDocument/2006/relationships/image" Target="../media/image109.wmf"/><Relationship Id="rId20" Type="http://schemas.openxmlformats.org/officeDocument/2006/relationships/image" Target="../media/image112.wmf"/><Relationship Id="rId1" Type="http://schemas.openxmlformats.org/officeDocument/2006/relationships/slideLayout" Target="../slideLayouts/slideLayout7.xml"/><Relationship Id="rId6" Type="http://schemas.openxmlformats.org/officeDocument/2006/relationships/image" Target="../media/image104.wmf"/><Relationship Id="rId11" Type="http://schemas.openxmlformats.org/officeDocument/2006/relationships/oleObject" Target="../embeddings/oleObject61.bin"/><Relationship Id="rId5" Type="http://schemas.openxmlformats.org/officeDocument/2006/relationships/oleObject" Target="../embeddings/oleObject58.bin"/><Relationship Id="rId15" Type="http://schemas.openxmlformats.org/officeDocument/2006/relationships/oleObject" Target="../embeddings/oleObject63.bin"/><Relationship Id="rId10" Type="http://schemas.openxmlformats.org/officeDocument/2006/relationships/image" Target="../media/image106.wmf"/><Relationship Id="rId19" Type="http://schemas.openxmlformats.org/officeDocument/2006/relationships/oleObject" Target="../embeddings/oleObject65.bin"/><Relationship Id="rId4" Type="http://schemas.openxmlformats.org/officeDocument/2006/relationships/image" Target="../media/image103.wmf"/><Relationship Id="rId9" Type="http://schemas.openxmlformats.org/officeDocument/2006/relationships/oleObject" Target="../embeddings/oleObject60.bin"/><Relationship Id="rId14" Type="http://schemas.openxmlformats.org/officeDocument/2006/relationships/image" Target="../media/image108.wmf"/></Relationships>
</file>

<file path=ppt/slides/_rels/slide42.xml.rels><?xml version="1.0" encoding="UTF-8" standalone="yes"?>
<Relationships xmlns="http://schemas.openxmlformats.org/package/2006/relationships"><Relationship Id="rId8" Type="http://schemas.openxmlformats.org/officeDocument/2006/relationships/image" Target="../media/image115.wmf"/><Relationship Id="rId13" Type="http://schemas.openxmlformats.org/officeDocument/2006/relationships/oleObject" Target="../embeddings/oleObject71.bin"/><Relationship Id="rId3" Type="http://schemas.openxmlformats.org/officeDocument/2006/relationships/oleObject" Target="../embeddings/oleObject66.bin"/><Relationship Id="rId7" Type="http://schemas.openxmlformats.org/officeDocument/2006/relationships/oleObject" Target="../embeddings/oleObject68.bin"/><Relationship Id="rId12" Type="http://schemas.openxmlformats.org/officeDocument/2006/relationships/image" Target="../media/image117.wmf"/><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14.wmf"/><Relationship Id="rId11" Type="http://schemas.openxmlformats.org/officeDocument/2006/relationships/oleObject" Target="../embeddings/oleObject70.bin"/><Relationship Id="rId5" Type="http://schemas.openxmlformats.org/officeDocument/2006/relationships/oleObject" Target="../embeddings/oleObject67.bin"/><Relationship Id="rId10" Type="http://schemas.openxmlformats.org/officeDocument/2006/relationships/image" Target="../media/image116.wmf"/><Relationship Id="rId4" Type="http://schemas.openxmlformats.org/officeDocument/2006/relationships/image" Target="../media/image113.wmf"/><Relationship Id="rId9" Type="http://schemas.openxmlformats.org/officeDocument/2006/relationships/oleObject" Target="../embeddings/oleObject69.bin"/><Relationship Id="rId14" Type="http://schemas.openxmlformats.org/officeDocument/2006/relationships/image" Target="../media/image118.wmf"/></Relationships>
</file>

<file path=ppt/slides/_rels/slide43.xml.rels><?xml version="1.0" encoding="UTF-8" standalone="yes"?>
<Relationships xmlns="http://schemas.openxmlformats.org/package/2006/relationships"><Relationship Id="rId8" Type="http://schemas.openxmlformats.org/officeDocument/2006/relationships/image" Target="../media/image121.wmf"/><Relationship Id="rId3" Type="http://schemas.openxmlformats.org/officeDocument/2006/relationships/oleObject" Target="../embeddings/oleObject72.bin"/><Relationship Id="rId7" Type="http://schemas.openxmlformats.org/officeDocument/2006/relationships/oleObject" Target="../embeddings/oleObject74.bin"/><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20.wmf"/><Relationship Id="rId5" Type="http://schemas.openxmlformats.org/officeDocument/2006/relationships/oleObject" Target="../embeddings/oleObject73.bin"/><Relationship Id="rId4" Type="http://schemas.openxmlformats.org/officeDocument/2006/relationships/image" Target="../media/image119.wmf"/></Relationships>
</file>

<file path=ppt/slides/_rels/slide44.xml.rels><?xml version="1.0" encoding="UTF-8" standalone="yes"?>
<Relationships xmlns="http://schemas.openxmlformats.org/package/2006/relationships"><Relationship Id="rId8" Type="http://schemas.openxmlformats.org/officeDocument/2006/relationships/image" Target="../media/image124.wmf"/><Relationship Id="rId3" Type="http://schemas.openxmlformats.org/officeDocument/2006/relationships/oleObject" Target="../embeddings/oleObject75.bin"/><Relationship Id="rId7" Type="http://schemas.openxmlformats.org/officeDocument/2006/relationships/oleObject" Target="../embeddings/oleObject77.bin"/><Relationship Id="rId12" Type="http://schemas.openxmlformats.org/officeDocument/2006/relationships/image" Target="../media/image120.wmf"/><Relationship Id="rId2" Type="http://schemas.openxmlformats.org/officeDocument/2006/relationships/image" Target="../media/image54.png"/><Relationship Id="rId1" Type="http://schemas.openxmlformats.org/officeDocument/2006/relationships/slideLayout" Target="../slideLayouts/slideLayout1.xml"/><Relationship Id="rId6" Type="http://schemas.openxmlformats.org/officeDocument/2006/relationships/image" Target="../media/image123.wmf"/><Relationship Id="rId11" Type="http://schemas.openxmlformats.org/officeDocument/2006/relationships/oleObject" Target="../embeddings/oleObject79.bin"/><Relationship Id="rId5" Type="http://schemas.openxmlformats.org/officeDocument/2006/relationships/oleObject" Target="../embeddings/oleObject76.bin"/><Relationship Id="rId10" Type="http://schemas.openxmlformats.org/officeDocument/2006/relationships/image" Target="../media/image125.wmf"/><Relationship Id="rId4" Type="http://schemas.openxmlformats.org/officeDocument/2006/relationships/image" Target="../media/image122.wmf"/><Relationship Id="rId9" Type="http://schemas.openxmlformats.org/officeDocument/2006/relationships/oleObject" Target="../embeddings/oleObject78.bin"/></Relationships>
</file>

<file path=ppt/slides/_rels/slide45.xml.rels><?xml version="1.0" encoding="UTF-8" standalone="yes"?>
<Relationships xmlns="http://schemas.openxmlformats.org/package/2006/relationships"><Relationship Id="rId8" Type="http://schemas.openxmlformats.org/officeDocument/2006/relationships/image" Target="../media/image128.wmf"/><Relationship Id="rId3" Type="http://schemas.openxmlformats.org/officeDocument/2006/relationships/oleObject" Target="../embeddings/oleObject80.bin"/><Relationship Id="rId7" Type="http://schemas.openxmlformats.org/officeDocument/2006/relationships/oleObject" Target="../embeddings/oleObject82.bin"/><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27.wmf"/><Relationship Id="rId5" Type="http://schemas.openxmlformats.org/officeDocument/2006/relationships/oleObject" Target="../embeddings/oleObject81.bin"/><Relationship Id="rId4" Type="http://schemas.openxmlformats.org/officeDocument/2006/relationships/image" Target="../media/image126.w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83.bin"/><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29.wmf"/></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1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62102"/>
            <a:ext cx="9525000" cy="7085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51" name="AutoShape 120"/>
          <p:cNvSpPr>
            <a:spLocks noChangeArrowheads="1"/>
          </p:cNvSpPr>
          <p:nvPr/>
        </p:nvSpPr>
        <p:spPr bwMode="auto">
          <a:xfrm>
            <a:off x="1685925" y="2514600"/>
            <a:ext cx="5791200" cy="1676400"/>
          </a:xfrm>
          <a:prstGeom prst="roundRect">
            <a:avLst>
              <a:gd name="adj" fmla="val 16667"/>
            </a:avLst>
          </a:prstGeom>
          <a:solidFill>
            <a:srgbClr val="C0C0C0">
              <a:alpha val="14902"/>
            </a:srgbClr>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2052" name="Text Box 115"/>
          <p:cNvSpPr txBox="1">
            <a:spLocks noChangeArrowheads="1"/>
          </p:cNvSpPr>
          <p:nvPr/>
        </p:nvSpPr>
        <p:spPr bwMode="auto">
          <a:xfrm>
            <a:off x="1900238" y="1720850"/>
            <a:ext cx="5362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600" b="1" dirty="0"/>
              <a:t>Grado en Fisioterapia</a:t>
            </a:r>
            <a:endParaRPr lang="es-ES" altLang="es-ES" sz="1600" b="1" dirty="0"/>
          </a:p>
        </p:txBody>
      </p:sp>
      <p:sp>
        <p:nvSpPr>
          <p:cNvPr id="2053" name="Text Box 117"/>
          <p:cNvSpPr txBox="1">
            <a:spLocks noChangeArrowheads="1"/>
          </p:cNvSpPr>
          <p:nvPr/>
        </p:nvSpPr>
        <p:spPr bwMode="auto">
          <a:xfrm>
            <a:off x="4167188" y="2819400"/>
            <a:ext cx="8286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600" b="1"/>
              <a:t>Tema I</a:t>
            </a:r>
            <a:endParaRPr lang="es-ES" altLang="es-ES" sz="1600" b="1"/>
          </a:p>
        </p:txBody>
      </p:sp>
      <p:sp>
        <p:nvSpPr>
          <p:cNvPr id="2054" name="Rectangle 118"/>
          <p:cNvSpPr>
            <a:spLocks noChangeArrowheads="1"/>
          </p:cNvSpPr>
          <p:nvPr/>
        </p:nvSpPr>
        <p:spPr bwMode="auto">
          <a:xfrm>
            <a:off x="3178175" y="3328988"/>
            <a:ext cx="28067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sz="1900" b="1"/>
              <a:t>Estadística descriptiva</a:t>
            </a:r>
          </a:p>
        </p:txBody>
      </p:sp>
      <p:sp>
        <p:nvSpPr>
          <p:cNvPr id="2055" name="Text Box 119"/>
          <p:cNvSpPr txBox="1">
            <a:spLocks noChangeArrowheads="1"/>
          </p:cNvSpPr>
          <p:nvPr/>
        </p:nvSpPr>
        <p:spPr bwMode="auto">
          <a:xfrm>
            <a:off x="3727450" y="1339850"/>
            <a:ext cx="170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800" b="1"/>
              <a:t>ESTADÍSTICA</a:t>
            </a:r>
            <a:endParaRPr lang="es-ES" altLang="es-ES" sz="1800" b="1"/>
          </a:p>
        </p:txBody>
      </p:sp>
      <p:sp>
        <p:nvSpPr>
          <p:cNvPr id="2056" name="Text Box 127"/>
          <p:cNvSpPr txBox="1">
            <a:spLocks noChangeArrowheads="1"/>
          </p:cNvSpPr>
          <p:nvPr/>
        </p:nvSpPr>
        <p:spPr bwMode="auto">
          <a:xfrm>
            <a:off x="2116748" y="6097945"/>
            <a:ext cx="492955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600" b="1" dirty="0">
                <a:solidFill>
                  <a:srgbClr val="002060"/>
                </a:solidFill>
              </a:rPr>
              <a:t>Unidad de Bioestadística – Facultad de Medicina</a:t>
            </a:r>
          </a:p>
          <a:p>
            <a:pPr algn="ctr" eaLnBrk="1" hangingPunct="1"/>
            <a:r>
              <a:rPr lang="es-ES_tradnl" altLang="es-ES" sz="1600" b="1" dirty="0">
                <a:solidFill>
                  <a:srgbClr val="002060"/>
                </a:solidFill>
              </a:rPr>
              <a:t>Universidad de Granada</a:t>
            </a:r>
            <a:endParaRPr lang="es-ES" altLang="es-ES" sz="1600" b="1" dirty="0">
              <a:solidFill>
                <a:srgbClr val="002060"/>
              </a:solidFill>
            </a:endParaRPr>
          </a:p>
        </p:txBody>
      </p:sp>
      <p:sp>
        <p:nvSpPr>
          <p:cNvPr id="2057" name="Text Box 129"/>
          <p:cNvSpPr txBox="1">
            <a:spLocks noChangeArrowheads="1"/>
          </p:cNvSpPr>
          <p:nvPr/>
        </p:nvSpPr>
        <p:spPr bwMode="auto">
          <a:xfrm>
            <a:off x="1904963" y="5638800"/>
            <a:ext cx="535313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600" b="1" dirty="0">
                <a:solidFill>
                  <a:srgbClr val="002060"/>
                </a:solidFill>
              </a:rPr>
              <a:t>Pedro </a:t>
            </a:r>
            <a:r>
              <a:rPr lang="es-ES_tradnl" altLang="es-ES" sz="1600" b="1" dirty="0" err="1">
                <a:solidFill>
                  <a:srgbClr val="002060"/>
                </a:solidFill>
              </a:rPr>
              <a:t>Femia</a:t>
            </a:r>
            <a:r>
              <a:rPr lang="es-ES_tradnl" altLang="es-ES" sz="1600" b="1" dirty="0">
                <a:solidFill>
                  <a:srgbClr val="002060"/>
                </a:solidFill>
              </a:rPr>
              <a:t> Marzo &amp; Miguel Angel Luque Fernandez</a:t>
            </a:r>
          </a:p>
          <a:p>
            <a:pPr algn="ctr" eaLnBrk="1" hangingPunct="1"/>
            <a:r>
              <a:rPr lang="es-ES_tradnl" altLang="es-ES" b="1" i="1" dirty="0">
                <a:solidFill>
                  <a:srgbClr val="002060"/>
                </a:solidFill>
                <a:hlinkClick r:id="rId3"/>
              </a:rPr>
              <a:t>pfemia@ugr.es</a:t>
            </a:r>
            <a:r>
              <a:rPr lang="es-ES_tradnl" altLang="es-ES" b="1" i="1" dirty="0">
                <a:solidFill>
                  <a:srgbClr val="002060"/>
                </a:solidFill>
              </a:rPr>
              <a:t>; </a:t>
            </a:r>
            <a:r>
              <a:rPr lang="es-ES_tradnl" altLang="es-ES" b="1" i="1" dirty="0">
                <a:solidFill>
                  <a:srgbClr val="002060"/>
                </a:solidFill>
                <a:hlinkClick r:id="rId4"/>
              </a:rPr>
              <a:t>mluquefe@ugr.es</a:t>
            </a:r>
            <a:endParaRPr lang="es-ES_tradnl" altLang="es-ES" b="1" i="1" dirty="0">
              <a:solidFill>
                <a:srgbClr val="002060"/>
              </a:solidFill>
            </a:endParaRPr>
          </a:p>
          <a:p>
            <a:pPr algn="ctr" eaLnBrk="1" hangingPunct="1"/>
            <a:endParaRPr lang="es-ES_tradnl" altLang="es-ES" b="1" i="1" dirty="0">
              <a:solidFill>
                <a:srgbClr val="002060"/>
              </a:solidFill>
            </a:endParaRPr>
          </a:p>
        </p:txBody>
      </p:sp>
      <p:pic>
        <p:nvPicPr>
          <p:cNvPr id="39938" name="Picture 2" descr="http://es.creativecommons.org/blog/wp-content/uploads/2013/04/by-nc-nd.eu_peti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44180" y="6213475"/>
            <a:ext cx="1123950" cy="390525"/>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214A0CBE-3FCB-48D5-9A3A-9F14E2FDF02C}"/>
              </a:ext>
            </a:extLst>
          </p:cNvPr>
          <p:cNvSpPr txBox="1"/>
          <p:nvPr/>
        </p:nvSpPr>
        <p:spPr>
          <a:xfrm>
            <a:off x="3766330" y="6616700"/>
            <a:ext cx="1611339" cy="276999"/>
          </a:xfrm>
          <a:prstGeom prst="rect">
            <a:avLst/>
          </a:prstGeom>
          <a:noFill/>
        </p:spPr>
        <p:txBody>
          <a:bodyPr wrap="none" rtlCol="0">
            <a:spAutoFit/>
          </a:bodyPr>
          <a:lstStyle/>
          <a:p>
            <a:r>
              <a:rPr lang="es-ES" b="1" i="1" dirty="0">
                <a:solidFill>
                  <a:srgbClr val="002060"/>
                </a:solidFill>
              </a:rPr>
              <a:t>Actualización: 2024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2">
            <a:hlinkClick r:id="rId2" action="ppaction://hlinksldjump"/>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38938" y="1682750"/>
            <a:ext cx="2100262" cy="12128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58000" y="3189288"/>
            <a:ext cx="2033588" cy="1839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57800" y="4548188"/>
            <a:ext cx="2133600" cy="1928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8"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81400" y="3733800"/>
            <a:ext cx="1309688" cy="1090613"/>
          </a:xfrm>
          <a:prstGeom prst="rect">
            <a:avLst/>
          </a:prstGeom>
          <a:noFill/>
          <a:ln w="9525">
            <a:solidFill>
              <a:srgbClr val="808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9" name="Text Box 6"/>
          <p:cNvSpPr txBox="1">
            <a:spLocks noChangeArrowheads="1"/>
          </p:cNvSpPr>
          <p:nvPr/>
        </p:nvSpPr>
        <p:spPr bwMode="auto">
          <a:xfrm>
            <a:off x="176213" y="4876800"/>
            <a:ext cx="5160962" cy="183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sz="1200">
                <a:solidFill>
                  <a:schemeClr val="tx1"/>
                </a:solidFill>
                <a:latin typeface="Arial" charset="0"/>
              </a:defRPr>
            </a:lvl1pPr>
            <a:lvl2pPr marL="800100" indent="-342900" eaLnBrk="0" hangingPunct="0">
              <a:defRPr sz="1200">
                <a:solidFill>
                  <a:schemeClr val="tx1"/>
                </a:solidFill>
                <a:latin typeface="Arial" charset="0"/>
              </a:defRPr>
            </a:lvl2pPr>
            <a:lvl3pPr marL="1257300" indent="-342900" eaLnBrk="0" hangingPunct="0">
              <a:defRPr sz="1200">
                <a:solidFill>
                  <a:schemeClr val="tx1"/>
                </a:solidFill>
                <a:latin typeface="Arial" charset="0"/>
              </a:defRPr>
            </a:lvl3pPr>
            <a:lvl4pPr marL="1714500" indent="-342900" eaLnBrk="0" hangingPunct="0">
              <a:defRPr sz="1200">
                <a:solidFill>
                  <a:schemeClr val="tx1"/>
                </a:solidFill>
                <a:latin typeface="Arial" charset="0"/>
              </a:defRPr>
            </a:lvl4pPr>
            <a:lvl5pPr marL="2171700" indent="-342900" eaLnBrk="0" hangingPunct="0">
              <a:defRPr sz="1200">
                <a:solidFill>
                  <a:schemeClr val="tx1"/>
                </a:solidFill>
                <a:latin typeface="Arial" charset="0"/>
              </a:defRPr>
            </a:lvl5pPr>
            <a:lvl6pPr marL="2628900" indent="-342900" eaLnBrk="0" fontAlgn="base" hangingPunct="0">
              <a:spcBef>
                <a:spcPct val="0"/>
              </a:spcBef>
              <a:spcAft>
                <a:spcPct val="0"/>
              </a:spcAft>
              <a:defRPr sz="1200">
                <a:solidFill>
                  <a:schemeClr val="tx1"/>
                </a:solidFill>
                <a:latin typeface="Arial" charset="0"/>
              </a:defRPr>
            </a:lvl6pPr>
            <a:lvl7pPr marL="3086100" indent="-342900" eaLnBrk="0" fontAlgn="base" hangingPunct="0">
              <a:spcBef>
                <a:spcPct val="0"/>
              </a:spcBef>
              <a:spcAft>
                <a:spcPct val="0"/>
              </a:spcAft>
              <a:defRPr sz="1200">
                <a:solidFill>
                  <a:schemeClr val="tx1"/>
                </a:solidFill>
                <a:latin typeface="Arial" charset="0"/>
              </a:defRPr>
            </a:lvl7pPr>
            <a:lvl8pPr marL="3543300" indent="-342900" eaLnBrk="0" fontAlgn="base" hangingPunct="0">
              <a:spcBef>
                <a:spcPct val="0"/>
              </a:spcBef>
              <a:spcAft>
                <a:spcPct val="0"/>
              </a:spcAft>
              <a:defRPr sz="1200">
                <a:solidFill>
                  <a:schemeClr val="tx1"/>
                </a:solidFill>
                <a:latin typeface="Arial" charset="0"/>
              </a:defRPr>
            </a:lvl8pPr>
            <a:lvl9pPr marL="4000500" indent="-342900" eaLnBrk="0" fontAlgn="base" hangingPunct="0">
              <a:spcBef>
                <a:spcPct val="0"/>
              </a:spcBef>
              <a:spcAft>
                <a:spcPct val="0"/>
              </a:spcAft>
              <a:defRPr sz="1200">
                <a:solidFill>
                  <a:schemeClr val="tx1"/>
                </a:solidFill>
                <a:latin typeface="Arial" charset="0"/>
              </a:defRPr>
            </a:lvl9pPr>
          </a:lstStyle>
          <a:p>
            <a:pPr eaLnBrk="1" hangingPunct="1">
              <a:buFontTx/>
              <a:buAutoNum type="arabicPeriod"/>
            </a:pPr>
            <a:r>
              <a:rPr lang="es-ES_tradnl" altLang="es-ES" sz="1100" dirty="0"/>
              <a:t>Definición de la población objeto de estudio</a:t>
            </a:r>
          </a:p>
          <a:p>
            <a:pPr eaLnBrk="1" hangingPunct="1">
              <a:buFontTx/>
              <a:buAutoNum type="arabicPeriod"/>
            </a:pPr>
            <a:r>
              <a:rPr lang="es-ES_tradnl" altLang="es-ES" sz="1100" dirty="0"/>
              <a:t>Selección de la muestra → Representatividad de las observaciones</a:t>
            </a:r>
          </a:p>
          <a:p>
            <a:pPr eaLnBrk="1" hangingPunct="1">
              <a:buFontTx/>
              <a:buAutoNum type="arabicPeriod"/>
            </a:pPr>
            <a:r>
              <a:rPr lang="es-ES_tradnl" altLang="es-ES" sz="1100" dirty="0"/>
              <a:t>Medición → validez y fiabilidad del instrumento de medida</a:t>
            </a:r>
          </a:p>
          <a:p>
            <a:pPr eaLnBrk="1" hangingPunct="1">
              <a:buFontTx/>
              <a:buAutoNum type="arabicPeriod"/>
            </a:pPr>
            <a:r>
              <a:rPr lang="es-ES_tradnl" altLang="es-ES" sz="1100" dirty="0"/>
              <a:t>Formato admisible por un programa de análisis estadístico</a:t>
            </a:r>
          </a:p>
          <a:p>
            <a:pPr eaLnBrk="1" hangingPunct="1">
              <a:buFontTx/>
              <a:buAutoNum type="arabicPeriod"/>
            </a:pPr>
            <a:r>
              <a:rPr lang="es-ES_tradnl" altLang="es-ES" sz="1100" dirty="0"/>
              <a:t>Métodos descriptivos</a:t>
            </a:r>
          </a:p>
          <a:p>
            <a:pPr eaLnBrk="1" hangingPunct="1">
              <a:buFontTx/>
              <a:buAutoNum type="arabicPeriod"/>
            </a:pPr>
            <a:r>
              <a:rPr lang="es-ES_tradnl" altLang="es-ES" sz="1100" dirty="0"/>
              <a:t>Métodos inferenciales. (6b) ¿Son correctos los supuestos sobre la población? ¿es posible establecer un </a:t>
            </a:r>
            <a:r>
              <a:rPr lang="es-ES_tradnl" altLang="es-ES" sz="1100" b="1" dirty="0"/>
              <a:t>modelo</a:t>
            </a:r>
            <a:r>
              <a:rPr lang="es-ES_tradnl" altLang="es-ES" sz="1100" dirty="0"/>
              <a:t>?</a:t>
            </a:r>
          </a:p>
          <a:p>
            <a:pPr eaLnBrk="1" hangingPunct="1">
              <a:buFontTx/>
              <a:buAutoNum type="arabicPeriod"/>
            </a:pPr>
            <a:r>
              <a:rPr lang="es-ES_tradnl" altLang="es-ES" sz="1100" dirty="0"/>
              <a:t>Informe estadístico → evaluación de los resultados. </a:t>
            </a:r>
          </a:p>
          <a:p>
            <a:pPr eaLnBrk="1" hangingPunct="1">
              <a:buFontTx/>
              <a:buAutoNum type="arabicPeriod"/>
            </a:pPr>
            <a:r>
              <a:rPr lang="es-ES_tradnl" altLang="es-ES" sz="1100" dirty="0"/>
              <a:t>Publicación de resultados → Nueva información sobre la población (9)</a:t>
            </a:r>
          </a:p>
          <a:p>
            <a:pPr marL="0" indent="0" eaLnBrk="1" hangingPunct="1">
              <a:lnSpc>
                <a:spcPct val="150000"/>
              </a:lnSpc>
            </a:pPr>
            <a:r>
              <a:rPr lang="es-ES_tradnl" altLang="es-ES" sz="1100" b="1" dirty="0">
                <a:solidFill>
                  <a:srgbClr val="CC6600"/>
                </a:solidFill>
              </a:rPr>
              <a:t>¿En cuáles de esta etapas se puede cometer </a:t>
            </a:r>
            <a:r>
              <a:rPr lang="es-ES_tradnl" altLang="es-ES" sz="1100" b="1" i="1" dirty="0">
                <a:solidFill>
                  <a:srgbClr val="CC6600"/>
                </a:solidFill>
              </a:rPr>
              <a:t>error</a:t>
            </a:r>
            <a:r>
              <a:rPr lang="es-ES_tradnl" altLang="es-ES" sz="1100" b="1" dirty="0">
                <a:solidFill>
                  <a:srgbClr val="CC6600"/>
                </a:solidFill>
              </a:rPr>
              <a:t>? ¿de qué tipo?</a:t>
            </a:r>
            <a:endParaRPr lang="es-ES" altLang="es-ES" sz="1100" b="1" dirty="0">
              <a:solidFill>
                <a:srgbClr val="CC6600"/>
              </a:solidFill>
            </a:endParaRPr>
          </a:p>
        </p:txBody>
      </p:sp>
      <p:sp>
        <p:nvSpPr>
          <p:cNvPr id="3080" name="Text Box 7"/>
          <p:cNvSpPr txBox="1">
            <a:spLocks noChangeArrowheads="1"/>
          </p:cNvSpPr>
          <p:nvPr/>
        </p:nvSpPr>
        <p:spPr bwMode="auto">
          <a:xfrm flipH="1">
            <a:off x="7620000" y="3052762"/>
            <a:ext cx="304800" cy="376238"/>
          </a:xfrm>
          <a:prstGeom prst="rect">
            <a:avLst/>
          </a:prstGeom>
          <a:solidFill>
            <a:schemeClr val="bg1"/>
          </a:solidFill>
          <a:ln w="9525"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dirty="0"/>
              <a:t>5</a:t>
            </a:r>
            <a:endParaRPr lang="es-ES" altLang="es-ES" dirty="0"/>
          </a:p>
        </p:txBody>
      </p:sp>
      <p:sp>
        <p:nvSpPr>
          <p:cNvPr id="3081" name="Text Box 8"/>
          <p:cNvSpPr txBox="1">
            <a:spLocks noChangeArrowheads="1"/>
          </p:cNvSpPr>
          <p:nvPr/>
        </p:nvSpPr>
        <p:spPr bwMode="auto">
          <a:xfrm flipH="1">
            <a:off x="5867400" y="4495800"/>
            <a:ext cx="381000" cy="376238"/>
          </a:xfrm>
          <a:prstGeom prst="rect">
            <a:avLst/>
          </a:prstGeom>
          <a:solidFill>
            <a:schemeClr val="bg1"/>
          </a:solidFill>
          <a:ln w="9525"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a:t>6</a:t>
            </a:r>
            <a:endParaRPr lang="es-ES" altLang="es-ES"/>
          </a:p>
        </p:txBody>
      </p:sp>
      <p:sp>
        <p:nvSpPr>
          <p:cNvPr id="3082" name="Text Box 9"/>
          <p:cNvSpPr txBox="1">
            <a:spLocks noChangeArrowheads="1"/>
          </p:cNvSpPr>
          <p:nvPr/>
        </p:nvSpPr>
        <p:spPr bwMode="auto">
          <a:xfrm flipH="1">
            <a:off x="4343400" y="3657600"/>
            <a:ext cx="304800" cy="376238"/>
          </a:xfrm>
          <a:prstGeom prst="rect">
            <a:avLst/>
          </a:prstGeom>
          <a:solidFill>
            <a:schemeClr val="bg1"/>
          </a:solidFill>
          <a:ln w="9525">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a:t>7</a:t>
            </a:r>
            <a:endParaRPr lang="es-ES" altLang="es-ES"/>
          </a:p>
        </p:txBody>
      </p:sp>
      <p:sp>
        <p:nvSpPr>
          <p:cNvPr id="3083" name="Text Box 10"/>
          <p:cNvSpPr txBox="1">
            <a:spLocks noChangeArrowheads="1"/>
          </p:cNvSpPr>
          <p:nvPr/>
        </p:nvSpPr>
        <p:spPr bwMode="auto">
          <a:xfrm flipH="1">
            <a:off x="2667000" y="3505200"/>
            <a:ext cx="304800" cy="376238"/>
          </a:xfrm>
          <a:prstGeom prst="rect">
            <a:avLst/>
          </a:prstGeom>
          <a:solidFill>
            <a:schemeClr val="bg1"/>
          </a:solidFill>
          <a:ln w="9525"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a:t>8</a:t>
            </a:r>
            <a:endParaRPr lang="es-ES" altLang="es-ES"/>
          </a:p>
        </p:txBody>
      </p:sp>
      <p:sp>
        <p:nvSpPr>
          <p:cNvPr id="3084" name="Line 11"/>
          <p:cNvSpPr>
            <a:spLocks noChangeShapeType="1"/>
          </p:cNvSpPr>
          <p:nvPr/>
        </p:nvSpPr>
        <p:spPr bwMode="auto">
          <a:xfrm flipH="1">
            <a:off x="8382000" y="2743200"/>
            <a:ext cx="152400" cy="533400"/>
          </a:xfrm>
          <a:prstGeom prst="line">
            <a:avLst/>
          </a:prstGeom>
          <a:noFill/>
          <a:ln w="9525">
            <a:solidFill>
              <a:srgbClr val="FF99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085" name="Line 12"/>
          <p:cNvSpPr>
            <a:spLocks noChangeShapeType="1"/>
          </p:cNvSpPr>
          <p:nvPr/>
        </p:nvSpPr>
        <p:spPr bwMode="auto">
          <a:xfrm flipH="1">
            <a:off x="7239000" y="5029200"/>
            <a:ext cx="457200" cy="228600"/>
          </a:xfrm>
          <a:prstGeom prst="line">
            <a:avLst/>
          </a:prstGeom>
          <a:noFill/>
          <a:ln w="9525">
            <a:solidFill>
              <a:srgbClr val="FF99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086" name="Line 13"/>
          <p:cNvSpPr>
            <a:spLocks noChangeShapeType="1"/>
          </p:cNvSpPr>
          <p:nvPr/>
        </p:nvSpPr>
        <p:spPr bwMode="auto">
          <a:xfrm flipH="1" flipV="1">
            <a:off x="4724400" y="3962400"/>
            <a:ext cx="1143000" cy="533400"/>
          </a:xfrm>
          <a:prstGeom prst="line">
            <a:avLst/>
          </a:prstGeom>
          <a:noFill/>
          <a:ln w="9525">
            <a:solidFill>
              <a:srgbClr val="FF99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pic>
        <p:nvPicPr>
          <p:cNvPr id="3087" name="Picture 14"/>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43000" y="3257550"/>
            <a:ext cx="2057400" cy="146685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3088" name="Text Box 15"/>
          <p:cNvSpPr txBox="1">
            <a:spLocks noChangeArrowheads="1"/>
          </p:cNvSpPr>
          <p:nvPr/>
        </p:nvSpPr>
        <p:spPr bwMode="auto">
          <a:xfrm flipH="1">
            <a:off x="1981200" y="3200400"/>
            <a:ext cx="457200" cy="376238"/>
          </a:xfrm>
          <a:prstGeom prst="rect">
            <a:avLst/>
          </a:prstGeom>
          <a:solidFill>
            <a:schemeClr val="bg1"/>
          </a:solidFill>
          <a:ln w="9525"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a:t>8</a:t>
            </a:r>
            <a:endParaRPr lang="es-ES" altLang="es-ES"/>
          </a:p>
        </p:txBody>
      </p:sp>
      <p:sp>
        <p:nvSpPr>
          <p:cNvPr id="3089" name="Line 16"/>
          <p:cNvSpPr>
            <a:spLocks noChangeShapeType="1"/>
          </p:cNvSpPr>
          <p:nvPr/>
        </p:nvSpPr>
        <p:spPr bwMode="auto">
          <a:xfrm flipH="1" flipV="1">
            <a:off x="2667000" y="3429000"/>
            <a:ext cx="1524000" cy="381000"/>
          </a:xfrm>
          <a:prstGeom prst="line">
            <a:avLst/>
          </a:prstGeom>
          <a:noFill/>
          <a:ln w="9525">
            <a:solidFill>
              <a:srgbClr val="FF99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pic>
        <p:nvPicPr>
          <p:cNvPr id="3090" name="Picture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6400" y="1524000"/>
            <a:ext cx="1905000" cy="1346200"/>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091" name="Group 18"/>
          <p:cNvGrpSpPr>
            <a:grpSpLocks/>
          </p:cNvGrpSpPr>
          <p:nvPr/>
        </p:nvGrpSpPr>
        <p:grpSpPr bwMode="auto">
          <a:xfrm>
            <a:off x="4879975" y="1447800"/>
            <a:ext cx="1520825" cy="1752600"/>
            <a:chOff x="2112" y="760"/>
            <a:chExt cx="958" cy="1104"/>
          </a:xfrm>
        </p:grpSpPr>
        <p:sp>
          <p:nvSpPr>
            <p:cNvPr id="3142" name="Rectangle 19"/>
            <p:cNvSpPr>
              <a:spLocks noChangeArrowheads="1"/>
            </p:cNvSpPr>
            <p:nvPr/>
          </p:nvSpPr>
          <p:spPr bwMode="auto">
            <a:xfrm flipH="1">
              <a:off x="2132" y="760"/>
              <a:ext cx="768" cy="816"/>
            </a:xfrm>
            <a:prstGeom prst="rect">
              <a:avLst/>
            </a:prstGeom>
            <a:solidFill>
              <a:schemeClr val="bg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43" name="Rectangle 20"/>
            <p:cNvSpPr>
              <a:spLocks noChangeArrowheads="1"/>
            </p:cNvSpPr>
            <p:nvPr/>
          </p:nvSpPr>
          <p:spPr bwMode="auto">
            <a:xfrm flipH="1">
              <a:off x="2152" y="780"/>
              <a:ext cx="768" cy="816"/>
            </a:xfrm>
            <a:prstGeom prst="rect">
              <a:avLst/>
            </a:prstGeom>
            <a:solidFill>
              <a:schemeClr val="bg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44" name="Rectangle 21"/>
            <p:cNvSpPr>
              <a:spLocks noChangeArrowheads="1"/>
            </p:cNvSpPr>
            <p:nvPr/>
          </p:nvSpPr>
          <p:spPr bwMode="auto">
            <a:xfrm flipH="1">
              <a:off x="2188" y="808"/>
              <a:ext cx="768" cy="816"/>
            </a:xfrm>
            <a:prstGeom prst="rect">
              <a:avLst/>
            </a:prstGeom>
            <a:solidFill>
              <a:schemeClr val="bg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45" name="Rectangle 22"/>
            <p:cNvSpPr>
              <a:spLocks noChangeArrowheads="1"/>
            </p:cNvSpPr>
            <p:nvPr/>
          </p:nvSpPr>
          <p:spPr bwMode="auto">
            <a:xfrm flipH="1">
              <a:off x="2236" y="848"/>
              <a:ext cx="768" cy="816"/>
            </a:xfrm>
            <a:prstGeom prst="rect">
              <a:avLst/>
            </a:prstGeom>
            <a:solidFill>
              <a:schemeClr val="bg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46" name="Rectangle 23"/>
            <p:cNvSpPr>
              <a:spLocks noChangeArrowheads="1"/>
            </p:cNvSpPr>
            <p:nvPr/>
          </p:nvSpPr>
          <p:spPr bwMode="auto">
            <a:xfrm flipH="1">
              <a:off x="2284" y="876"/>
              <a:ext cx="768" cy="816"/>
            </a:xfrm>
            <a:prstGeom prst="rect">
              <a:avLst/>
            </a:prstGeom>
            <a:solidFill>
              <a:schemeClr val="bg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pic>
          <p:nvPicPr>
            <p:cNvPr id="3147" name="Picture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12" y="960"/>
              <a:ext cx="758" cy="816"/>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48" name="Picture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52" y="900"/>
              <a:ext cx="718" cy="81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49" name="Picture 2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22" y="1048"/>
              <a:ext cx="758" cy="816"/>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092" name="Group 27"/>
          <p:cNvGrpSpPr>
            <a:grpSpLocks/>
          </p:cNvGrpSpPr>
          <p:nvPr/>
        </p:nvGrpSpPr>
        <p:grpSpPr bwMode="auto">
          <a:xfrm>
            <a:off x="533400" y="990600"/>
            <a:ext cx="1600200" cy="1066800"/>
            <a:chOff x="288" y="576"/>
            <a:chExt cx="1008" cy="672"/>
          </a:xfrm>
        </p:grpSpPr>
        <p:pic>
          <p:nvPicPr>
            <p:cNvPr id="3136" name="Picture 28" descr="SNAGHTMLb4ee0d"/>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6" y="576"/>
              <a:ext cx="960" cy="610"/>
            </a:xfrm>
            <a:prstGeom prst="rect">
              <a:avLst/>
            </a:prstGeom>
            <a:noFill/>
            <a:ln w="6350">
              <a:solidFill>
                <a:srgbClr val="800000"/>
              </a:solidFill>
              <a:miter lim="800000"/>
              <a:headEnd/>
              <a:tailEnd/>
            </a:ln>
            <a:extLst>
              <a:ext uri="{909E8E84-426E-40DD-AFC4-6F175D3DCCD1}">
                <a14:hiddenFill xmlns:a14="http://schemas.microsoft.com/office/drawing/2010/main">
                  <a:solidFill>
                    <a:srgbClr val="FFFFFF"/>
                  </a:solidFill>
                </a14:hiddenFill>
              </a:ext>
            </a:extLst>
          </p:spPr>
        </p:pic>
        <p:pic>
          <p:nvPicPr>
            <p:cNvPr id="3137" name="Picture 29" descr="SNAGHTMLb8708d"/>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88" y="960"/>
              <a:ext cx="2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38" name="Picture 30" descr="SNAGHTMLb8708d"/>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324" y="666"/>
              <a:ext cx="2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39" name="Picture 31" descr="SNAGHTMLb8708d"/>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88" y="576"/>
              <a:ext cx="2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40" name="Picture 32" descr="SNAGHTMLb8708d"/>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72" y="720"/>
              <a:ext cx="2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41" name="Picture 33" descr="SNAGHTMLb8708d"/>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flipV="1">
              <a:off x="288" y="768"/>
              <a:ext cx="2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093" name="Picture 34"/>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727575" y="1066800"/>
            <a:ext cx="609600" cy="476250"/>
          </a:xfrm>
          <a:prstGeom prst="rect">
            <a:avLst/>
          </a:prstGeom>
          <a:noFill/>
          <a:ln w="9525">
            <a:solidFill>
              <a:srgbClr val="C0C0C0"/>
            </a:solidFill>
            <a:miter lim="800000"/>
            <a:headEnd/>
            <a:tailEnd/>
          </a:ln>
          <a:effectLst>
            <a:outerShdw dist="28398" dir="20006097" algn="ctr" rotWithShape="0">
              <a:schemeClr val="bg2">
                <a:alpha val="50000"/>
              </a:schemeClr>
            </a:outerShdw>
          </a:effectLst>
          <a:extLst>
            <a:ext uri="{909E8E84-426E-40DD-AFC4-6F175D3DCCD1}">
              <a14:hiddenFill xmlns:a14="http://schemas.microsoft.com/office/drawing/2010/main">
                <a:solidFill>
                  <a:schemeClr val="accent1"/>
                </a:solidFill>
              </a14:hiddenFill>
            </a:ext>
          </a:extLst>
        </p:spPr>
      </p:pic>
      <p:sp>
        <p:nvSpPr>
          <p:cNvPr id="3094" name="Text Box 35"/>
          <p:cNvSpPr txBox="1">
            <a:spLocks noChangeArrowheads="1"/>
          </p:cNvSpPr>
          <p:nvPr/>
        </p:nvSpPr>
        <p:spPr bwMode="auto">
          <a:xfrm>
            <a:off x="533400" y="914400"/>
            <a:ext cx="311150" cy="376238"/>
          </a:xfrm>
          <a:prstGeom prst="rect">
            <a:avLst/>
          </a:prstGeom>
          <a:solidFill>
            <a:schemeClr val="bg1"/>
          </a:solidFill>
          <a:ln w="9525"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a:t>1</a:t>
            </a:r>
            <a:endParaRPr lang="es-ES" altLang="es-ES"/>
          </a:p>
        </p:txBody>
      </p:sp>
      <p:sp>
        <p:nvSpPr>
          <p:cNvPr id="3095" name="Text Box 36"/>
          <p:cNvSpPr txBox="1">
            <a:spLocks noChangeArrowheads="1"/>
          </p:cNvSpPr>
          <p:nvPr/>
        </p:nvSpPr>
        <p:spPr bwMode="auto">
          <a:xfrm flipH="1">
            <a:off x="8001000" y="1524000"/>
            <a:ext cx="304800" cy="376238"/>
          </a:xfrm>
          <a:prstGeom prst="rect">
            <a:avLst/>
          </a:prstGeom>
          <a:solidFill>
            <a:schemeClr val="bg1"/>
          </a:solidFill>
          <a:ln w="9525"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a:t>4</a:t>
            </a:r>
            <a:endParaRPr lang="es-ES" altLang="es-ES"/>
          </a:p>
        </p:txBody>
      </p:sp>
      <p:sp>
        <p:nvSpPr>
          <p:cNvPr id="3096" name="Line 37"/>
          <p:cNvSpPr>
            <a:spLocks noChangeShapeType="1"/>
          </p:cNvSpPr>
          <p:nvPr/>
        </p:nvSpPr>
        <p:spPr bwMode="auto">
          <a:xfrm flipV="1">
            <a:off x="1981200" y="1109663"/>
            <a:ext cx="1524000" cy="109537"/>
          </a:xfrm>
          <a:prstGeom prst="line">
            <a:avLst/>
          </a:prstGeom>
          <a:noFill/>
          <a:ln w="9525">
            <a:solidFill>
              <a:srgbClr val="FF99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097" name="Line 38"/>
          <p:cNvSpPr>
            <a:spLocks noChangeShapeType="1"/>
          </p:cNvSpPr>
          <p:nvPr/>
        </p:nvSpPr>
        <p:spPr bwMode="auto">
          <a:xfrm>
            <a:off x="6096000" y="1828800"/>
            <a:ext cx="685800" cy="76200"/>
          </a:xfrm>
          <a:prstGeom prst="line">
            <a:avLst/>
          </a:prstGeom>
          <a:noFill/>
          <a:ln w="9525">
            <a:solidFill>
              <a:srgbClr val="FF99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098" name="Line 39"/>
          <p:cNvSpPr>
            <a:spLocks noChangeShapeType="1"/>
          </p:cNvSpPr>
          <p:nvPr/>
        </p:nvSpPr>
        <p:spPr bwMode="auto">
          <a:xfrm flipH="1" flipV="1">
            <a:off x="1143000" y="2133600"/>
            <a:ext cx="685800" cy="1143000"/>
          </a:xfrm>
          <a:prstGeom prst="line">
            <a:avLst/>
          </a:prstGeom>
          <a:noFill/>
          <a:ln w="22225">
            <a:solidFill>
              <a:srgbClr val="FF9900"/>
            </a:solidFill>
            <a:prstDash val="dash"/>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3099" name="Group 40"/>
          <p:cNvGrpSpPr>
            <a:grpSpLocks/>
          </p:cNvGrpSpPr>
          <p:nvPr/>
        </p:nvGrpSpPr>
        <p:grpSpPr bwMode="auto">
          <a:xfrm>
            <a:off x="3833813" y="914400"/>
            <a:ext cx="533400" cy="555625"/>
            <a:chOff x="2400" y="423"/>
            <a:chExt cx="336" cy="350"/>
          </a:xfrm>
        </p:grpSpPr>
        <p:grpSp>
          <p:nvGrpSpPr>
            <p:cNvPr id="3114" name="Group 41"/>
            <p:cNvGrpSpPr>
              <a:grpSpLocks/>
            </p:cNvGrpSpPr>
            <p:nvPr/>
          </p:nvGrpSpPr>
          <p:grpSpPr bwMode="auto">
            <a:xfrm>
              <a:off x="2461" y="423"/>
              <a:ext cx="275" cy="287"/>
              <a:chOff x="2400" y="486"/>
              <a:chExt cx="275" cy="287"/>
            </a:xfrm>
          </p:grpSpPr>
          <p:sp>
            <p:nvSpPr>
              <p:cNvPr id="3126" name="Rectangle 42"/>
              <p:cNvSpPr>
                <a:spLocks noChangeArrowheads="1"/>
              </p:cNvSpPr>
              <p:nvPr/>
            </p:nvSpPr>
            <p:spPr bwMode="auto">
              <a:xfrm>
                <a:off x="2439" y="486"/>
                <a:ext cx="236" cy="24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27" name="Rectangle 43"/>
              <p:cNvSpPr>
                <a:spLocks noChangeArrowheads="1"/>
              </p:cNvSpPr>
              <p:nvPr/>
            </p:nvSpPr>
            <p:spPr bwMode="auto">
              <a:xfrm>
                <a:off x="2421" y="507"/>
                <a:ext cx="236" cy="24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nvGrpSpPr>
              <p:cNvPr id="3128" name="Group 44"/>
              <p:cNvGrpSpPr>
                <a:grpSpLocks/>
              </p:cNvGrpSpPr>
              <p:nvPr/>
            </p:nvGrpSpPr>
            <p:grpSpPr bwMode="auto">
              <a:xfrm>
                <a:off x="2400" y="528"/>
                <a:ext cx="236" cy="245"/>
                <a:chOff x="3315" y="1243"/>
                <a:chExt cx="236" cy="245"/>
              </a:xfrm>
            </p:grpSpPr>
            <p:sp>
              <p:nvSpPr>
                <p:cNvPr id="3129" name="Rectangle 45"/>
                <p:cNvSpPr>
                  <a:spLocks noChangeArrowheads="1"/>
                </p:cNvSpPr>
                <p:nvPr/>
              </p:nvSpPr>
              <p:spPr bwMode="auto">
                <a:xfrm>
                  <a:off x="3315" y="1243"/>
                  <a:ext cx="236" cy="24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30" name="Line 46"/>
                <p:cNvSpPr>
                  <a:spLocks noChangeShapeType="1"/>
                </p:cNvSpPr>
                <p:nvPr/>
              </p:nvSpPr>
              <p:spPr bwMode="auto">
                <a:xfrm>
                  <a:off x="3373" y="1278"/>
                  <a:ext cx="1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131" name="Line 47"/>
                <p:cNvSpPr>
                  <a:spLocks noChangeShapeType="1"/>
                </p:cNvSpPr>
                <p:nvPr/>
              </p:nvSpPr>
              <p:spPr bwMode="auto">
                <a:xfrm>
                  <a:off x="3373" y="1313"/>
                  <a:ext cx="1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132" name="Line 48"/>
                <p:cNvSpPr>
                  <a:spLocks noChangeShapeType="1"/>
                </p:cNvSpPr>
                <p:nvPr/>
              </p:nvSpPr>
              <p:spPr bwMode="auto">
                <a:xfrm>
                  <a:off x="3373" y="1348"/>
                  <a:ext cx="1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133" name="Line 49"/>
                <p:cNvSpPr>
                  <a:spLocks noChangeShapeType="1"/>
                </p:cNvSpPr>
                <p:nvPr/>
              </p:nvSpPr>
              <p:spPr bwMode="auto">
                <a:xfrm>
                  <a:off x="3373" y="1383"/>
                  <a:ext cx="1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134" name="Line 50"/>
                <p:cNvSpPr>
                  <a:spLocks noChangeShapeType="1"/>
                </p:cNvSpPr>
                <p:nvPr/>
              </p:nvSpPr>
              <p:spPr bwMode="auto">
                <a:xfrm>
                  <a:off x="3373" y="1418"/>
                  <a:ext cx="1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135" name="Line 51"/>
                <p:cNvSpPr>
                  <a:spLocks noChangeShapeType="1"/>
                </p:cNvSpPr>
                <p:nvPr/>
              </p:nvSpPr>
              <p:spPr bwMode="auto">
                <a:xfrm>
                  <a:off x="3373" y="1453"/>
                  <a:ext cx="1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grpSp>
        <p:grpSp>
          <p:nvGrpSpPr>
            <p:cNvPr id="3115" name="Group 52"/>
            <p:cNvGrpSpPr>
              <a:grpSpLocks/>
            </p:cNvGrpSpPr>
            <p:nvPr/>
          </p:nvGrpSpPr>
          <p:grpSpPr bwMode="auto">
            <a:xfrm>
              <a:off x="2400" y="486"/>
              <a:ext cx="275" cy="287"/>
              <a:chOff x="2400" y="486"/>
              <a:chExt cx="275" cy="287"/>
            </a:xfrm>
          </p:grpSpPr>
          <p:sp>
            <p:nvSpPr>
              <p:cNvPr id="3116" name="Rectangle 53"/>
              <p:cNvSpPr>
                <a:spLocks noChangeArrowheads="1"/>
              </p:cNvSpPr>
              <p:nvPr/>
            </p:nvSpPr>
            <p:spPr bwMode="auto">
              <a:xfrm>
                <a:off x="2439" y="486"/>
                <a:ext cx="236" cy="24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17" name="Rectangle 54"/>
              <p:cNvSpPr>
                <a:spLocks noChangeArrowheads="1"/>
              </p:cNvSpPr>
              <p:nvPr/>
            </p:nvSpPr>
            <p:spPr bwMode="auto">
              <a:xfrm>
                <a:off x="2421" y="507"/>
                <a:ext cx="236" cy="24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nvGrpSpPr>
              <p:cNvPr id="3118" name="Group 55"/>
              <p:cNvGrpSpPr>
                <a:grpSpLocks/>
              </p:cNvGrpSpPr>
              <p:nvPr/>
            </p:nvGrpSpPr>
            <p:grpSpPr bwMode="auto">
              <a:xfrm>
                <a:off x="2400" y="528"/>
                <a:ext cx="236" cy="245"/>
                <a:chOff x="3315" y="1243"/>
                <a:chExt cx="236" cy="245"/>
              </a:xfrm>
            </p:grpSpPr>
            <p:sp>
              <p:nvSpPr>
                <p:cNvPr id="3119" name="Rectangle 56"/>
                <p:cNvSpPr>
                  <a:spLocks noChangeArrowheads="1"/>
                </p:cNvSpPr>
                <p:nvPr/>
              </p:nvSpPr>
              <p:spPr bwMode="auto">
                <a:xfrm>
                  <a:off x="3315" y="1243"/>
                  <a:ext cx="236" cy="24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20" name="Line 57"/>
                <p:cNvSpPr>
                  <a:spLocks noChangeShapeType="1"/>
                </p:cNvSpPr>
                <p:nvPr/>
              </p:nvSpPr>
              <p:spPr bwMode="auto">
                <a:xfrm>
                  <a:off x="3373" y="1278"/>
                  <a:ext cx="1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121" name="Line 58"/>
                <p:cNvSpPr>
                  <a:spLocks noChangeShapeType="1"/>
                </p:cNvSpPr>
                <p:nvPr/>
              </p:nvSpPr>
              <p:spPr bwMode="auto">
                <a:xfrm>
                  <a:off x="3373" y="1313"/>
                  <a:ext cx="1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122" name="Line 59"/>
                <p:cNvSpPr>
                  <a:spLocks noChangeShapeType="1"/>
                </p:cNvSpPr>
                <p:nvPr/>
              </p:nvSpPr>
              <p:spPr bwMode="auto">
                <a:xfrm>
                  <a:off x="3373" y="1348"/>
                  <a:ext cx="1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123" name="Line 60"/>
                <p:cNvSpPr>
                  <a:spLocks noChangeShapeType="1"/>
                </p:cNvSpPr>
                <p:nvPr/>
              </p:nvSpPr>
              <p:spPr bwMode="auto">
                <a:xfrm>
                  <a:off x="3373" y="1383"/>
                  <a:ext cx="1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124" name="Line 61"/>
                <p:cNvSpPr>
                  <a:spLocks noChangeShapeType="1"/>
                </p:cNvSpPr>
                <p:nvPr/>
              </p:nvSpPr>
              <p:spPr bwMode="auto">
                <a:xfrm>
                  <a:off x="3373" y="1418"/>
                  <a:ext cx="1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125" name="Line 62"/>
                <p:cNvSpPr>
                  <a:spLocks noChangeShapeType="1"/>
                </p:cNvSpPr>
                <p:nvPr/>
              </p:nvSpPr>
              <p:spPr bwMode="auto">
                <a:xfrm>
                  <a:off x="3373" y="1453"/>
                  <a:ext cx="1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grpSp>
      </p:grpSp>
      <p:sp>
        <p:nvSpPr>
          <p:cNvPr id="3100" name="Text Box 63"/>
          <p:cNvSpPr txBox="1">
            <a:spLocks noChangeArrowheads="1"/>
          </p:cNvSpPr>
          <p:nvPr/>
        </p:nvSpPr>
        <p:spPr bwMode="auto">
          <a:xfrm flipH="1">
            <a:off x="4648200" y="1524000"/>
            <a:ext cx="292100" cy="376238"/>
          </a:xfrm>
          <a:prstGeom prst="rect">
            <a:avLst/>
          </a:prstGeom>
          <a:solidFill>
            <a:schemeClr val="bg1"/>
          </a:solidFill>
          <a:ln w="9525"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a:t>3</a:t>
            </a:r>
            <a:endParaRPr lang="es-ES" altLang="es-ES"/>
          </a:p>
        </p:txBody>
      </p:sp>
      <p:sp>
        <p:nvSpPr>
          <p:cNvPr id="3101" name="Line 64"/>
          <p:cNvSpPr>
            <a:spLocks noChangeShapeType="1"/>
          </p:cNvSpPr>
          <p:nvPr/>
        </p:nvSpPr>
        <p:spPr bwMode="auto">
          <a:xfrm>
            <a:off x="4114800" y="1295400"/>
            <a:ext cx="457200" cy="152400"/>
          </a:xfrm>
          <a:prstGeom prst="line">
            <a:avLst/>
          </a:prstGeom>
          <a:noFill/>
          <a:ln w="9525">
            <a:solidFill>
              <a:srgbClr val="FF99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102" name="Text Box 66"/>
          <p:cNvSpPr txBox="1">
            <a:spLocks noChangeArrowheads="1"/>
          </p:cNvSpPr>
          <p:nvPr/>
        </p:nvSpPr>
        <p:spPr bwMode="auto">
          <a:xfrm>
            <a:off x="3581400" y="914400"/>
            <a:ext cx="311150" cy="376238"/>
          </a:xfrm>
          <a:prstGeom prst="rect">
            <a:avLst/>
          </a:prstGeom>
          <a:solidFill>
            <a:schemeClr val="bg1"/>
          </a:solidFill>
          <a:ln w="9525"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a:t>2</a:t>
            </a:r>
            <a:endParaRPr lang="es-ES" altLang="es-ES"/>
          </a:p>
        </p:txBody>
      </p:sp>
      <p:sp>
        <p:nvSpPr>
          <p:cNvPr id="3103" name="Text Box 68"/>
          <p:cNvSpPr txBox="1">
            <a:spLocks noChangeArrowheads="1"/>
          </p:cNvSpPr>
          <p:nvPr/>
        </p:nvSpPr>
        <p:spPr bwMode="auto">
          <a:xfrm flipH="1">
            <a:off x="990600" y="2438400"/>
            <a:ext cx="457200" cy="376238"/>
          </a:xfrm>
          <a:prstGeom prst="rect">
            <a:avLst/>
          </a:prstGeom>
          <a:solidFill>
            <a:schemeClr val="bg1"/>
          </a:solidFill>
          <a:ln w="9525"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a:t>9</a:t>
            </a:r>
            <a:endParaRPr lang="es-ES" altLang="es-ES"/>
          </a:p>
        </p:txBody>
      </p:sp>
      <p:sp>
        <p:nvSpPr>
          <p:cNvPr id="3104" name="1 CuadroTexto"/>
          <p:cNvSpPr txBox="1">
            <a:spLocks noChangeArrowheads="1"/>
          </p:cNvSpPr>
          <p:nvPr/>
        </p:nvSpPr>
        <p:spPr bwMode="auto">
          <a:xfrm>
            <a:off x="844550" y="1295400"/>
            <a:ext cx="9715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sz="1400"/>
              <a:t>Población</a:t>
            </a:r>
          </a:p>
        </p:txBody>
      </p:sp>
      <p:sp>
        <p:nvSpPr>
          <p:cNvPr id="3105" name="Line 65"/>
          <p:cNvSpPr>
            <a:spLocks noChangeShapeType="1"/>
          </p:cNvSpPr>
          <p:nvPr/>
        </p:nvSpPr>
        <p:spPr bwMode="auto">
          <a:xfrm flipH="1" flipV="1">
            <a:off x="3706813" y="2362200"/>
            <a:ext cx="2114550" cy="1916113"/>
          </a:xfrm>
          <a:prstGeom prst="line">
            <a:avLst/>
          </a:prstGeom>
          <a:noFill/>
          <a:ln w="9525">
            <a:solidFill>
              <a:srgbClr val="99CC00"/>
            </a:solidFill>
            <a:prstDash val="dash"/>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dirty="0"/>
          </a:p>
        </p:txBody>
      </p:sp>
      <p:sp>
        <p:nvSpPr>
          <p:cNvPr id="3106" name="71 CuadroTexto"/>
          <p:cNvSpPr txBox="1">
            <a:spLocks noChangeArrowheads="1"/>
          </p:cNvSpPr>
          <p:nvPr/>
        </p:nvSpPr>
        <p:spPr bwMode="auto">
          <a:xfrm>
            <a:off x="2389188" y="862013"/>
            <a:ext cx="86754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b="1" dirty="0">
                <a:solidFill>
                  <a:srgbClr val="CC6600"/>
                </a:solidFill>
              </a:rPr>
              <a:t>Muestreo</a:t>
            </a:r>
          </a:p>
        </p:txBody>
      </p:sp>
      <p:sp>
        <p:nvSpPr>
          <p:cNvPr id="3107" name="72 CuadroTexto"/>
          <p:cNvSpPr txBox="1">
            <a:spLocks noChangeArrowheads="1"/>
          </p:cNvSpPr>
          <p:nvPr/>
        </p:nvSpPr>
        <p:spPr bwMode="auto">
          <a:xfrm>
            <a:off x="5396439" y="1107301"/>
            <a:ext cx="182774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b="1" dirty="0">
                <a:solidFill>
                  <a:srgbClr val="CC6600"/>
                </a:solidFill>
              </a:rPr>
              <a:t>Medición/Observación</a:t>
            </a:r>
          </a:p>
        </p:txBody>
      </p:sp>
      <p:sp>
        <p:nvSpPr>
          <p:cNvPr id="3108" name="73 CuadroTexto"/>
          <p:cNvSpPr txBox="1">
            <a:spLocks noChangeArrowheads="1"/>
          </p:cNvSpPr>
          <p:nvPr/>
        </p:nvSpPr>
        <p:spPr bwMode="auto">
          <a:xfrm>
            <a:off x="7554913" y="2119313"/>
            <a:ext cx="739775" cy="277812"/>
          </a:xfrm>
          <a:prstGeom prst="rect">
            <a:avLst/>
          </a:prstGeom>
          <a:solidFill>
            <a:schemeClr val="bg1">
              <a:alpha val="56078"/>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dirty="0"/>
              <a:t>Muestra</a:t>
            </a:r>
          </a:p>
        </p:txBody>
      </p:sp>
      <p:sp>
        <p:nvSpPr>
          <p:cNvPr id="3109" name="74 CuadroTexto"/>
          <p:cNvSpPr txBox="1">
            <a:spLocks noChangeArrowheads="1"/>
          </p:cNvSpPr>
          <p:nvPr/>
        </p:nvSpPr>
        <p:spPr bwMode="auto">
          <a:xfrm>
            <a:off x="7326312" y="5741769"/>
            <a:ext cx="151288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b="1" dirty="0">
                <a:solidFill>
                  <a:srgbClr val="CC6600"/>
                </a:solidFill>
              </a:rPr>
              <a:t>Análisis de los datos (asociación entre variables,…)</a:t>
            </a:r>
          </a:p>
        </p:txBody>
      </p:sp>
      <p:sp>
        <p:nvSpPr>
          <p:cNvPr id="3110" name="76 CuadroTexto"/>
          <p:cNvSpPr txBox="1">
            <a:spLocks noChangeArrowheads="1"/>
          </p:cNvSpPr>
          <p:nvPr/>
        </p:nvSpPr>
        <p:spPr bwMode="auto">
          <a:xfrm>
            <a:off x="3671094" y="2567841"/>
            <a:ext cx="1060450" cy="830997"/>
          </a:xfrm>
          <a:prstGeom prst="rect">
            <a:avLst/>
          </a:prstGeom>
          <a:solidFill>
            <a:schemeClr val="bg1">
              <a:alpha val="54901"/>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s-ES"/>
            </a:defPPr>
            <a:lvl1pPr algn="ctr" eaLnBrk="1" hangingPunct="1">
              <a:defRPr b="1">
                <a:solidFill>
                  <a:srgbClr val="CC6600"/>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s-ES" altLang="es-ES" b="0" dirty="0"/>
              <a:t>Supuestos acerca de la población</a:t>
            </a:r>
          </a:p>
          <a:p>
            <a:r>
              <a:rPr lang="es-ES" altLang="es-ES" b="0" dirty="0"/>
              <a:t>(¿modelo?)</a:t>
            </a:r>
          </a:p>
        </p:txBody>
      </p:sp>
      <p:sp>
        <p:nvSpPr>
          <p:cNvPr id="3111" name="Text Box 67"/>
          <p:cNvSpPr txBox="1">
            <a:spLocks noChangeArrowheads="1"/>
          </p:cNvSpPr>
          <p:nvPr/>
        </p:nvSpPr>
        <p:spPr bwMode="auto">
          <a:xfrm flipH="1">
            <a:off x="5105400" y="3657600"/>
            <a:ext cx="457200" cy="346075"/>
          </a:xfrm>
          <a:prstGeom prst="rect">
            <a:avLst/>
          </a:prstGeom>
          <a:solidFill>
            <a:schemeClr val="bg1"/>
          </a:solidFill>
          <a:ln w="9525" algn="ctr">
            <a:solidFill>
              <a:srgbClr val="99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600"/>
              <a:t>6b</a:t>
            </a:r>
            <a:endParaRPr lang="es-ES" altLang="es-ES" sz="1600"/>
          </a:p>
        </p:txBody>
      </p:sp>
      <p:sp>
        <p:nvSpPr>
          <p:cNvPr id="3112" name="Text Box 2"/>
          <p:cNvSpPr txBox="1">
            <a:spLocks noChangeArrowheads="1"/>
          </p:cNvSpPr>
          <p:nvPr/>
        </p:nvSpPr>
        <p:spPr bwMode="auto">
          <a:xfrm>
            <a:off x="0" y="50800"/>
            <a:ext cx="4910138" cy="338554"/>
          </a:xfrm>
          <a:prstGeom prst="rect">
            <a:avLst/>
          </a:prstGeom>
          <a:solidFill>
            <a:schemeClr val="bg1"/>
          </a:solidFill>
          <a:ln>
            <a:noFill/>
          </a:ln>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400" b="1" dirty="0"/>
              <a:t>    </a:t>
            </a:r>
            <a:r>
              <a:rPr lang="es-ES_tradnl" altLang="es-ES" sz="1600" b="1" dirty="0"/>
              <a:t>Preámbulo</a:t>
            </a:r>
            <a:endParaRPr lang="es-ES" altLang="es-ES" sz="1400" b="1" dirty="0"/>
          </a:p>
        </p:txBody>
      </p:sp>
      <p:sp>
        <p:nvSpPr>
          <p:cNvPr id="3113" name="Text Box 2"/>
          <p:cNvSpPr txBox="1">
            <a:spLocks noChangeArrowheads="1"/>
          </p:cNvSpPr>
          <p:nvPr/>
        </p:nvSpPr>
        <p:spPr bwMode="auto">
          <a:xfrm>
            <a:off x="187325" y="349250"/>
            <a:ext cx="269496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600" b="1" dirty="0"/>
              <a:t>La investigación empírica</a:t>
            </a:r>
            <a:endParaRPr lang="es-ES" altLang="es-ES" sz="1600" b="1" dirty="0"/>
          </a:p>
        </p:txBody>
      </p:sp>
      <p:sp>
        <p:nvSpPr>
          <p:cNvPr id="78" name="74 CuadroTexto">
            <a:extLst>
              <a:ext uri="{FF2B5EF4-FFF2-40B4-BE49-F238E27FC236}">
                <a16:creationId xmlns:a16="http://schemas.microsoft.com/office/drawing/2014/main" id="{0179354F-ACB1-4FF6-BF76-8E7F6908AD58}"/>
              </a:ext>
            </a:extLst>
          </p:cNvPr>
          <p:cNvSpPr txBox="1">
            <a:spLocks noChangeArrowheads="1"/>
          </p:cNvSpPr>
          <p:nvPr/>
        </p:nvSpPr>
        <p:spPr bwMode="auto">
          <a:xfrm>
            <a:off x="7391400" y="791349"/>
            <a:ext cx="16002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b="1" dirty="0">
                <a:solidFill>
                  <a:srgbClr val="CC6600"/>
                </a:solidFill>
              </a:rPr>
              <a:t>Generación del archivo de datos en bruto</a:t>
            </a:r>
          </a:p>
        </p:txBody>
      </p:sp>
      <p:sp>
        <p:nvSpPr>
          <p:cNvPr id="79" name="74 CuadroTexto">
            <a:extLst>
              <a:ext uri="{FF2B5EF4-FFF2-40B4-BE49-F238E27FC236}">
                <a16:creationId xmlns:a16="http://schemas.microsoft.com/office/drawing/2014/main" id="{50DF642F-F26A-49F8-9C6D-8CD34F077647}"/>
              </a:ext>
            </a:extLst>
          </p:cNvPr>
          <p:cNvSpPr txBox="1">
            <a:spLocks noChangeArrowheads="1"/>
          </p:cNvSpPr>
          <p:nvPr/>
        </p:nvSpPr>
        <p:spPr bwMode="auto">
          <a:xfrm>
            <a:off x="6974151" y="3388519"/>
            <a:ext cx="11318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b="1" dirty="0">
                <a:solidFill>
                  <a:srgbClr val="CC6600"/>
                </a:solidFill>
              </a:rPr>
              <a:t>Resumen descriptivo</a:t>
            </a:r>
          </a:p>
        </p:txBody>
      </p:sp>
      <p:sp>
        <p:nvSpPr>
          <p:cNvPr id="3074" name="75 CuadroTexto"/>
          <p:cNvSpPr txBox="1">
            <a:spLocks noChangeArrowheads="1"/>
          </p:cNvSpPr>
          <p:nvPr/>
        </p:nvSpPr>
        <p:spPr bwMode="auto">
          <a:xfrm>
            <a:off x="4151314" y="4387076"/>
            <a:ext cx="1763713" cy="276999"/>
          </a:xfrm>
          <a:prstGeom prst="rect">
            <a:avLst/>
          </a:prstGeom>
          <a:solidFill>
            <a:schemeClr val="bg1">
              <a:alpha val="54901"/>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b="1" dirty="0">
                <a:solidFill>
                  <a:srgbClr val="CC6600"/>
                </a:solidFill>
              </a:rPr>
              <a:t>Inferencia estadística</a:t>
            </a:r>
          </a:p>
        </p:txBody>
      </p:sp>
      <p:sp>
        <p:nvSpPr>
          <p:cNvPr id="2" name="Rectángulo 1">
            <a:hlinkClick r:id="rId14" action="ppaction://hlinksldjump"/>
            <a:extLst>
              <a:ext uri="{FF2B5EF4-FFF2-40B4-BE49-F238E27FC236}">
                <a16:creationId xmlns:a16="http://schemas.microsoft.com/office/drawing/2014/main" id="{3FF99918-C345-48BD-B2B9-11CFB1FA09DE}"/>
              </a:ext>
            </a:extLst>
          </p:cNvPr>
          <p:cNvSpPr/>
          <p:nvPr/>
        </p:nvSpPr>
        <p:spPr>
          <a:xfrm>
            <a:off x="0" y="3257550"/>
            <a:ext cx="9144000" cy="354965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81" name="Rectángulo 80">
            <a:hlinkClick r:id="rId14" action="ppaction://hlinksldjump"/>
            <a:extLst>
              <a:ext uri="{FF2B5EF4-FFF2-40B4-BE49-F238E27FC236}">
                <a16:creationId xmlns:a16="http://schemas.microsoft.com/office/drawing/2014/main" id="{E847E452-4470-479B-8DEB-89822E87973E}"/>
              </a:ext>
            </a:extLst>
          </p:cNvPr>
          <p:cNvSpPr/>
          <p:nvPr/>
        </p:nvSpPr>
        <p:spPr>
          <a:xfrm>
            <a:off x="103980" y="740191"/>
            <a:ext cx="6336771" cy="354965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164306" y="381000"/>
            <a:ext cx="8815387" cy="304800"/>
          </a:xfrm>
          <a:prstGeom prst="rect">
            <a:avLst/>
          </a:prstGeom>
          <a:solidFill>
            <a:schemeClr val="bg1"/>
          </a:solidFill>
          <a:ln>
            <a:noFill/>
          </a:ln>
          <a:effec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400" b="1" dirty="0"/>
              <a:t>Tabla de datos en bruto (casos </a:t>
            </a:r>
            <a:r>
              <a:rPr lang="es-ES_tradnl" altLang="es-ES" sz="1400" b="1" dirty="0">
                <a:cs typeface="Arial" charset="0"/>
              </a:rPr>
              <a:t>× variables) </a:t>
            </a:r>
            <a:r>
              <a:rPr lang="es-ES_tradnl" altLang="es-ES" sz="1400" b="1" dirty="0"/>
              <a:t>→ cómo son los datos que analiza un paquete informático </a:t>
            </a:r>
            <a:endParaRPr lang="es-ES" altLang="es-ES" sz="1400" b="1" dirty="0"/>
          </a:p>
        </p:txBody>
      </p:sp>
      <p:pic>
        <p:nvPicPr>
          <p:cNvPr id="4099" name="Picture 3">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62000"/>
            <a:ext cx="9144000" cy="667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00" name="AutoShape 122"/>
          <p:cNvSpPr>
            <a:spLocks noChangeArrowheads="1"/>
          </p:cNvSpPr>
          <p:nvPr/>
        </p:nvSpPr>
        <p:spPr bwMode="auto">
          <a:xfrm>
            <a:off x="0" y="2314575"/>
            <a:ext cx="9144000" cy="323850"/>
          </a:xfrm>
          <a:prstGeom prst="roundRect">
            <a:avLst>
              <a:gd name="adj" fmla="val 16667"/>
            </a:avLst>
          </a:prstGeom>
          <a:solidFill>
            <a:srgbClr val="FFFFFF">
              <a:alpha val="30196"/>
            </a:srgbClr>
          </a:solidFill>
          <a:ln w="25400">
            <a:solidFill>
              <a:srgbClr val="FFC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endParaRPr lang="es-ES" altLang="es-ES" sz="1400" b="1"/>
          </a:p>
        </p:txBody>
      </p:sp>
      <p:sp>
        <p:nvSpPr>
          <p:cNvPr id="4101" name="Rectangle 7"/>
          <p:cNvSpPr>
            <a:spLocks noChangeArrowheads="1"/>
          </p:cNvSpPr>
          <p:nvPr/>
        </p:nvSpPr>
        <p:spPr bwMode="auto">
          <a:xfrm>
            <a:off x="4314825" y="2914650"/>
            <a:ext cx="1841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sz="1400" b="1"/>
          </a:p>
        </p:txBody>
      </p:sp>
      <p:sp>
        <p:nvSpPr>
          <p:cNvPr id="4102" name="AutoShape 122"/>
          <p:cNvSpPr>
            <a:spLocks noChangeArrowheads="1"/>
          </p:cNvSpPr>
          <p:nvPr/>
        </p:nvSpPr>
        <p:spPr bwMode="auto">
          <a:xfrm>
            <a:off x="4191000" y="2362200"/>
            <a:ext cx="762000" cy="228600"/>
          </a:xfrm>
          <a:prstGeom prst="roundRect">
            <a:avLst>
              <a:gd name="adj" fmla="val 16667"/>
            </a:avLst>
          </a:prstGeom>
          <a:solidFill>
            <a:schemeClr val="bg1">
              <a:alpha val="72156"/>
            </a:schemeClr>
          </a:solidFill>
          <a:ln>
            <a:noFill/>
          </a:ln>
          <a:effectLst/>
          <a:extLst>
            <a:ext uri="{91240B29-F687-4F45-9708-019B960494DF}">
              <a14:hiddenLine xmlns:a14="http://schemas.microsoft.com/office/drawing/2010/main" w="6350">
                <a:solidFill>
                  <a:srgbClr val="FFC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600" b="1">
                <a:solidFill>
                  <a:srgbClr val="008080"/>
                </a:solidFill>
              </a:rPr>
              <a:t>caso</a:t>
            </a:r>
            <a:endParaRPr lang="es-ES" altLang="es-ES" sz="1600" b="1">
              <a:solidFill>
                <a:srgbClr val="008080"/>
              </a:solidFill>
            </a:endParaRPr>
          </a:p>
        </p:txBody>
      </p:sp>
      <p:sp>
        <p:nvSpPr>
          <p:cNvPr id="4103" name="AutoShape 122"/>
          <p:cNvSpPr>
            <a:spLocks noChangeArrowheads="1"/>
          </p:cNvSpPr>
          <p:nvPr/>
        </p:nvSpPr>
        <p:spPr bwMode="auto">
          <a:xfrm rot="5400000">
            <a:off x="-1714500" y="3771900"/>
            <a:ext cx="6705600" cy="685800"/>
          </a:xfrm>
          <a:prstGeom prst="roundRect">
            <a:avLst>
              <a:gd name="adj" fmla="val 16667"/>
            </a:avLst>
          </a:prstGeom>
          <a:solidFill>
            <a:srgbClr val="FFFFFF">
              <a:alpha val="30196"/>
            </a:srgbClr>
          </a:solidFill>
          <a:ln w="25400">
            <a:solidFill>
              <a:srgbClr val="FFC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endParaRPr lang="es-ES" altLang="es-ES" sz="1400" b="1"/>
          </a:p>
        </p:txBody>
      </p:sp>
      <p:sp>
        <p:nvSpPr>
          <p:cNvPr id="4104" name="AutoShape 122"/>
          <p:cNvSpPr>
            <a:spLocks noChangeArrowheads="1"/>
          </p:cNvSpPr>
          <p:nvPr/>
        </p:nvSpPr>
        <p:spPr bwMode="auto">
          <a:xfrm rot="-5400000">
            <a:off x="1295400" y="3162300"/>
            <a:ext cx="762000" cy="228600"/>
          </a:xfrm>
          <a:prstGeom prst="roundRect">
            <a:avLst>
              <a:gd name="adj" fmla="val 16667"/>
            </a:avLst>
          </a:prstGeom>
          <a:solidFill>
            <a:schemeClr val="bg1">
              <a:alpha val="72156"/>
            </a:schemeClr>
          </a:solidFill>
          <a:ln>
            <a:noFill/>
          </a:ln>
          <a:effectLst/>
          <a:extLst>
            <a:ext uri="{91240B29-F687-4F45-9708-019B960494DF}">
              <a14:hiddenLine xmlns:a14="http://schemas.microsoft.com/office/drawing/2010/main" w="6350">
                <a:solidFill>
                  <a:srgbClr val="FFC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600" b="1">
                <a:solidFill>
                  <a:srgbClr val="008080"/>
                </a:solidFill>
              </a:rPr>
              <a:t>Variable</a:t>
            </a:r>
            <a:endParaRPr lang="es-ES" altLang="es-ES" sz="1600" b="1">
              <a:solidFill>
                <a:srgbClr val="008080"/>
              </a:solidFill>
            </a:endParaRPr>
          </a:p>
        </p:txBody>
      </p:sp>
      <p:sp>
        <p:nvSpPr>
          <p:cNvPr id="4105" name="Oval 11"/>
          <p:cNvSpPr>
            <a:spLocks noChangeArrowheads="1"/>
          </p:cNvSpPr>
          <p:nvPr/>
        </p:nvSpPr>
        <p:spPr bwMode="auto">
          <a:xfrm>
            <a:off x="5381625" y="4381500"/>
            <a:ext cx="762000" cy="304800"/>
          </a:xfrm>
          <a:prstGeom prst="ellipse">
            <a:avLst/>
          </a:prstGeom>
          <a:noFill/>
          <a:ln w="31750">
            <a:solidFill>
              <a:srgbClr val="FF66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4106" name="AutoShape 122"/>
          <p:cNvSpPr>
            <a:spLocks noChangeArrowheads="1"/>
          </p:cNvSpPr>
          <p:nvPr/>
        </p:nvSpPr>
        <p:spPr bwMode="auto">
          <a:xfrm>
            <a:off x="3276600" y="4267200"/>
            <a:ext cx="2133600" cy="228600"/>
          </a:xfrm>
          <a:prstGeom prst="roundRect">
            <a:avLst>
              <a:gd name="adj" fmla="val 16667"/>
            </a:avLst>
          </a:prstGeom>
          <a:solidFill>
            <a:schemeClr val="bg1">
              <a:alpha val="79999"/>
            </a:schemeClr>
          </a:solidFill>
          <a:ln>
            <a:noFill/>
          </a:ln>
          <a:effectLst/>
          <a:extLst>
            <a:ext uri="{91240B29-F687-4F45-9708-019B960494DF}">
              <a14:hiddenLine xmlns:a14="http://schemas.microsoft.com/office/drawing/2010/main" w="6350">
                <a:solidFill>
                  <a:srgbClr val="FFC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400" b="1">
                <a:solidFill>
                  <a:srgbClr val="008080"/>
                </a:solidFill>
              </a:rPr>
              <a:t>Valor perdido o faltante</a:t>
            </a:r>
            <a:endParaRPr lang="es-ES" altLang="es-ES" sz="1400" b="1">
              <a:solidFill>
                <a:srgbClr val="008080"/>
              </a:solidFill>
            </a:endParaRPr>
          </a:p>
        </p:txBody>
      </p:sp>
      <p:sp>
        <p:nvSpPr>
          <p:cNvPr id="11" name="Text Box 2"/>
          <p:cNvSpPr txBox="1">
            <a:spLocks noChangeArrowheads="1"/>
          </p:cNvSpPr>
          <p:nvPr/>
        </p:nvSpPr>
        <p:spPr bwMode="auto">
          <a:xfrm>
            <a:off x="0" y="50800"/>
            <a:ext cx="4910138" cy="338554"/>
          </a:xfrm>
          <a:prstGeom prst="rect">
            <a:avLst/>
          </a:prstGeom>
          <a:solidFill>
            <a:schemeClr val="bg1"/>
          </a:solidFill>
          <a:ln>
            <a:noFill/>
          </a:ln>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400" b="1" dirty="0"/>
              <a:t>    </a:t>
            </a:r>
            <a:r>
              <a:rPr lang="es-ES_tradnl" altLang="es-ES" sz="1600" b="1" dirty="0"/>
              <a:t>Preámbulo</a:t>
            </a:r>
            <a:endParaRPr lang="es-ES" altLang="es-ES" sz="14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228600" y="304800"/>
            <a:ext cx="24497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2000" b="1" dirty="0"/>
              <a:t>Los tipos de datos</a:t>
            </a:r>
            <a:endParaRPr lang="es-ES" altLang="es-ES" sz="2000" b="1" dirty="0"/>
          </a:p>
        </p:txBody>
      </p:sp>
      <p:sp>
        <p:nvSpPr>
          <p:cNvPr id="5123" name="Rectangle 94"/>
          <p:cNvSpPr>
            <a:spLocks noChangeArrowheads="1"/>
          </p:cNvSpPr>
          <p:nvPr/>
        </p:nvSpPr>
        <p:spPr bwMode="auto">
          <a:xfrm>
            <a:off x="228600" y="990600"/>
            <a:ext cx="5983288" cy="611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tabLst>
                <a:tab pos="228600" algn="l"/>
              </a:tabLst>
              <a:defRPr sz="1200">
                <a:solidFill>
                  <a:schemeClr val="tx1"/>
                </a:solidFill>
                <a:latin typeface="Arial" charset="0"/>
              </a:defRPr>
            </a:lvl1pPr>
            <a:lvl2pPr marL="742950" indent="-285750" eaLnBrk="0" hangingPunct="0">
              <a:tabLst>
                <a:tab pos="228600" algn="l"/>
              </a:tabLst>
              <a:defRPr sz="1200">
                <a:solidFill>
                  <a:schemeClr val="tx1"/>
                </a:solidFill>
                <a:latin typeface="Arial" charset="0"/>
              </a:defRPr>
            </a:lvl2pPr>
            <a:lvl3pPr marL="1143000" indent="-228600" eaLnBrk="0" hangingPunct="0">
              <a:tabLst>
                <a:tab pos="228600" algn="l"/>
              </a:tabLst>
              <a:defRPr sz="1200">
                <a:solidFill>
                  <a:schemeClr val="tx1"/>
                </a:solidFill>
                <a:latin typeface="Arial" charset="0"/>
              </a:defRPr>
            </a:lvl3pPr>
            <a:lvl4pPr marL="1600200" indent="-228600" eaLnBrk="0" hangingPunct="0">
              <a:tabLst>
                <a:tab pos="228600" algn="l"/>
              </a:tabLst>
              <a:defRPr sz="1200">
                <a:solidFill>
                  <a:schemeClr val="tx1"/>
                </a:solidFill>
                <a:latin typeface="Arial" charset="0"/>
              </a:defRPr>
            </a:lvl4pPr>
            <a:lvl5pPr marL="2057400" indent="-228600" eaLnBrk="0" hangingPunct="0">
              <a:tabLst>
                <a:tab pos="228600" algn="l"/>
              </a:tabLst>
              <a:defRPr sz="1200">
                <a:solidFill>
                  <a:schemeClr val="tx1"/>
                </a:solidFill>
                <a:latin typeface="Arial" charset="0"/>
              </a:defRPr>
            </a:lvl5pPr>
            <a:lvl6pPr marL="2514600" indent="-228600" eaLnBrk="0" fontAlgn="base" hangingPunct="0">
              <a:spcBef>
                <a:spcPct val="0"/>
              </a:spcBef>
              <a:spcAft>
                <a:spcPct val="0"/>
              </a:spcAft>
              <a:tabLst>
                <a:tab pos="228600" algn="l"/>
              </a:tabLst>
              <a:defRPr sz="1200">
                <a:solidFill>
                  <a:schemeClr val="tx1"/>
                </a:solidFill>
                <a:latin typeface="Arial" charset="0"/>
              </a:defRPr>
            </a:lvl6pPr>
            <a:lvl7pPr marL="2971800" indent="-228600" eaLnBrk="0" fontAlgn="base" hangingPunct="0">
              <a:spcBef>
                <a:spcPct val="0"/>
              </a:spcBef>
              <a:spcAft>
                <a:spcPct val="0"/>
              </a:spcAft>
              <a:tabLst>
                <a:tab pos="228600" algn="l"/>
              </a:tabLst>
              <a:defRPr sz="1200">
                <a:solidFill>
                  <a:schemeClr val="tx1"/>
                </a:solidFill>
                <a:latin typeface="Arial" charset="0"/>
              </a:defRPr>
            </a:lvl7pPr>
            <a:lvl8pPr marL="3429000" indent="-228600" eaLnBrk="0" fontAlgn="base" hangingPunct="0">
              <a:spcBef>
                <a:spcPct val="0"/>
              </a:spcBef>
              <a:spcAft>
                <a:spcPct val="0"/>
              </a:spcAft>
              <a:tabLst>
                <a:tab pos="228600" algn="l"/>
              </a:tabLst>
              <a:defRPr sz="1200">
                <a:solidFill>
                  <a:schemeClr val="tx1"/>
                </a:solidFill>
                <a:latin typeface="Arial" charset="0"/>
              </a:defRPr>
            </a:lvl8pPr>
            <a:lvl9pPr marL="3886200" indent="-228600" eaLnBrk="0" fontAlgn="base" hangingPunct="0">
              <a:spcBef>
                <a:spcPct val="0"/>
              </a:spcBef>
              <a:spcAft>
                <a:spcPct val="0"/>
              </a:spcAft>
              <a:tabLst>
                <a:tab pos="228600" algn="l"/>
              </a:tabLst>
              <a:defRPr sz="1200">
                <a:solidFill>
                  <a:schemeClr val="tx1"/>
                </a:solidFill>
                <a:latin typeface="Arial" charset="0"/>
              </a:defRPr>
            </a:lvl9pPr>
          </a:lstStyle>
          <a:p>
            <a:r>
              <a:rPr lang="es-ES_tradnl" altLang="es-ES" sz="1800" b="1" dirty="0">
                <a:cs typeface="Times New Roman" pitchFamily="18" charset="0"/>
              </a:rPr>
              <a:t>Modalidad</a:t>
            </a:r>
            <a:r>
              <a:rPr lang="es-ES_tradnl" altLang="es-ES" sz="1800" dirty="0">
                <a:cs typeface="Times New Roman" pitchFamily="18" charset="0"/>
              </a:rPr>
              <a:t> </a:t>
            </a:r>
          </a:p>
          <a:p>
            <a:r>
              <a:rPr lang="es-ES_tradnl" altLang="es-ES" sz="1600" dirty="0">
                <a:cs typeface="Times New Roman" pitchFamily="18" charset="0"/>
              </a:rPr>
              <a:t>	Cada una de las maneras en las que se presenta un carácter.</a:t>
            </a:r>
            <a:endParaRPr lang="en-GB" altLang="es-ES" sz="1600" dirty="0">
              <a:cs typeface="Times New Roman" pitchFamily="18" charset="0"/>
            </a:endParaRPr>
          </a:p>
        </p:txBody>
      </p:sp>
      <p:sp>
        <p:nvSpPr>
          <p:cNvPr id="5124" name="Rectangle 96"/>
          <p:cNvSpPr>
            <a:spLocks noChangeArrowheads="1"/>
          </p:cNvSpPr>
          <p:nvPr/>
        </p:nvSpPr>
        <p:spPr bwMode="auto">
          <a:xfrm>
            <a:off x="457200" y="4038600"/>
            <a:ext cx="8458200" cy="2208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1pPr>
            <a:lvl2pPr marL="9144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2pPr>
            <a:lvl3pPr marL="13716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3pPr>
            <a:lvl4pPr marL="18288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4pPr>
            <a:lvl5pPr marL="22860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5pPr>
            <a:lvl6pPr marL="2743200" indent="-4572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6pPr>
            <a:lvl7pPr marL="3200400" indent="-4572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7pPr>
            <a:lvl8pPr marL="3657600" indent="-4572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8pPr>
            <a:lvl9pPr marL="4114800" indent="-4572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9pPr>
          </a:lstStyle>
          <a:p>
            <a:pPr algn="just">
              <a:lnSpc>
                <a:spcPct val="120000"/>
              </a:lnSpc>
            </a:pPr>
            <a:r>
              <a:rPr lang="es-ES_tradnl" altLang="es-ES" sz="1600" b="1" dirty="0">
                <a:cs typeface="Times New Roman" pitchFamily="18" charset="0"/>
              </a:rPr>
              <a:t>Cuantitativos:</a:t>
            </a:r>
            <a:r>
              <a:rPr lang="es-ES_tradnl" altLang="es-ES" sz="1600" dirty="0">
                <a:cs typeface="Times New Roman" pitchFamily="18" charset="0"/>
              </a:rPr>
              <a:t> </a:t>
            </a:r>
            <a:r>
              <a:rPr lang="es-ES_tradnl" altLang="es-ES" sz="1400" dirty="0">
                <a:cs typeface="Times New Roman" pitchFamily="18" charset="0"/>
              </a:rPr>
              <a:t>aquellos que necesariamente requieren de un número para ser expresados de manera rigurosa.</a:t>
            </a:r>
            <a:endParaRPr lang="es-ES_tradnl" altLang="es-ES" sz="1600" dirty="0">
              <a:cs typeface="Times New Roman" pitchFamily="18" charset="0"/>
            </a:endParaRPr>
          </a:p>
          <a:p>
            <a:pPr lvl="1" algn="just">
              <a:lnSpc>
                <a:spcPct val="120000"/>
              </a:lnSpc>
            </a:pPr>
            <a:r>
              <a:rPr lang="es-ES_tradnl" altLang="es-ES" sz="1600" b="1" dirty="0">
                <a:cs typeface="Times New Roman" pitchFamily="18" charset="0"/>
              </a:rPr>
              <a:t>3.	Discretos: </a:t>
            </a:r>
            <a:r>
              <a:rPr lang="es-ES_tradnl" altLang="es-ES" sz="1400" dirty="0">
                <a:cs typeface="Times New Roman" pitchFamily="18" charset="0"/>
              </a:rPr>
              <a:t>aquellos datos que sólo pueden tomar "valores numéricos aislados“ (</a:t>
            </a:r>
            <a:r>
              <a:rPr lang="es-ES_tradnl" altLang="es-ES" sz="1400" i="1" dirty="0">
                <a:cs typeface="Times New Roman" pitchFamily="18" charset="0"/>
              </a:rPr>
              <a:t>números enteros</a:t>
            </a:r>
            <a:r>
              <a:rPr lang="es-ES_tradnl" altLang="es-ES" sz="1400" dirty="0">
                <a:cs typeface="Times New Roman" pitchFamily="18" charset="0"/>
              </a:rPr>
              <a:t>)</a:t>
            </a:r>
          </a:p>
          <a:p>
            <a:pPr lvl="1" algn="just">
              <a:lnSpc>
                <a:spcPct val="120000"/>
              </a:lnSpc>
            </a:pPr>
            <a:r>
              <a:rPr lang="es-ES_tradnl" altLang="es-ES" sz="1400" dirty="0">
                <a:cs typeface="Times New Roman" pitchFamily="18" charset="0"/>
              </a:rPr>
              <a:t>		</a:t>
            </a:r>
            <a:r>
              <a:rPr lang="es-ES_tradnl" altLang="es-ES" sz="1400" dirty="0">
                <a:solidFill>
                  <a:srgbClr val="002060"/>
                </a:solidFill>
                <a:cs typeface="Times New Roman" pitchFamily="18" charset="0"/>
              </a:rPr>
              <a:t>→ </a:t>
            </a:r>
            <a:r>
              <a:rPr lang="es-ES_tradnl" altLang="es-ES" sz="1400" b="1" dirty="0">
                <a:solidFill>
                  <a:srgbClr val="002060"/>
                </a:solidFill>
                <a:cs typeface="Times New Roman" pitchFamily="18" charset="0"/>
              </a:rPr>
              <a:t>Recuentos</a:t>
            </a:r>
            <a:r>
              <a:rPr lang="es-ES_tradnl" altLang="es-ES" sz="1400" dirty="0">
                <a:solidFill>
                  <a:srgbClr val="002060"/>
                </a:solidFill>
                <a:cs typeface="Times New Roman" pitchFamily="18" charset="0"/>
              </a:rPr>
              <a:t> (nº de recaídas tras un tratamiento, nº de hijos, nº de afectados,…)</a:t>
            </a:r>
          </a:p>
          <a:p>
            <a:pPr lvl="1" algn="just">
              <a:lnSpc>
                <a:spcPct val="120000"/>
              </a:lnSpc>
            </a:pPr>
            <a:r>
              <a:rPr lang="es-ES_tradnl" altLang="es-ES" sz="1400" b="1" dirty="0">
                <a:cs typeface="Times New Roman" pitchFamily="18" charset="0"/>
              </a:rPr>
              <a:t>4. 	</a:t>
            </a:r>
            <a:r>
              <a:rPr lang="es-ES_tradnl" altLang="es-ES" sz="1600" b="1" dirty="0">
                <a:cs typeface="Times New Roman" pitchFamily="18" charset="0"/>
              </a:rPr>
              <a:t>Continuos:</a:t>
            </a:r>
            <a:r>
              <a:rPr lang="es-ES_tradnl" altLang="es-ES" sz="1400" dirty="0">
                <a:cs typeface="Times New Roman" pitchFamily="18" charset="0"/>
              </a:rPr>
              <a:t> pueden tomar cualquier valor dentro de un intervalo, de modo que entre dos valores cualquiera siempre existe otro valor posible (</a:t>
            </a:r>
            <a:r>
              <a:rPr lang="es-ES_tradnl" altLang="es-ES" sz="1400" i="1" dirty="0">
                <a:cs typeface="Times New Roman" pitchFamily="18" charset="0"/>
              </a:rPr>
              <a:t>números reales</a:t>
            </a:r>
            <a:r>
              <a:rPr lang="es-ES_tradnl" altLang="es-ES" sz="1400" dirty="0">
                <a:cs typeface="Times New Roman" pitchFamily="18" charset="0"/>
              </a:rPr>
              <a:t>)</a:t>
            </a:r>
          </a:p>
          <a:p>
            <a:pPr lvl="2" algn="just"/>
            <a:r>
              <a:rPr lang="es-ES_tradnl" altLang="es-ES" sz="1400" dirty="0">
                <a:solidFill>
                  <a:srgbClr val="002060"/>
                </a:solidFill>
                <a:cs typeface="Times New Roman" pitchFamily="18" charset="0"/>
              </a:rPr>
              <a:t>→ </a:t>
            </a:r>
            <a:r>
              <a:rPr lang="es-ES_tradnl" altLang="es-ES" sz="1400" b="1" dirty="0">
                <a:solidFill>
                  <a:srgbClr val="002060"/>
                </a:solidFill>
                <a:cs typeface="Times New Roman" pitchFamily="18" charset="0"/>
              </a:rPr>
              <a:t>Medidas</a:t>
            </a:r>
            <a:r>
              <a:rPr lang="es-ES_tradnl" altLang="es-ES" sz="1400" dirty="0">
                <a:solidFill>
                  <a:srgbClr val="002060"/>
                </a:solidFill>
                <a:cs typeface="Times New Roman" pitchFamily="18" charset="0"/>
              </a:rPr>
              <a:t> (peso, nivel de colesterol, presión arterial,…)</a:t>
            </a:r>
            <a:endParaRPr lang="en-GB" altLang="es-ES" sz="1400" dirty="0">
              <a:solidFill>
                <a:srgbClr val="002060"/>
              </a:solidFill>
            </a:endParaRPr>
          </a:p>
        </p:txBody>
      </p:sp>
      <p:sp>
        <p:nvSpPr>
          <p:cNvPr id="5125" name="Rectangle 99"/>
          <p:cNvSpPr>
            <a:spLocks noChangeArrowheads="1"/>
          </p:cNvSpPr>
          <p:nvPr/>
        </p:nvSpPr>
        <p:spPr bwMode="auto">
          <a:xfrm>
            <a:off x="457200" y="2209800"/>
            <a:ext cx="845820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1pPr>
            <a:lvl2pPr marL="9144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2pPr>
            <a:lvl3pPr marL="13716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3pPr>
            <a:lvl4pPr marL="18288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4pPr>
            <a:lvl5pPr marL="22860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5pPr>
            <a:lvl6pPr marL="2743200" indent="-4572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6pPr>
            <a:lvl7pPr marL="3200400" indent="-4572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7pPr>
            <a:lvl8pPr marL="3657600" indent="-4572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8pPr>
            <a:lvl9pPr marL="4114800" indent="-4572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9pPr>
          </a:lstStyle>
          <a:p>
            <a:pPr algn="just"/>
            <a:r>
              <a:rPr lang="es-ES_tradnl" altLang="es-ES" sz="1600" b="1" dirty="0">
                <a:cs typeface="Times New Roman" pitchFamily="18" charset="0"/>
              </a:rPr>
              <a:t>Cualitativos:</a:t>
            </a:r>
            <a:r>
              <a:rPr lang="es-ES_tradnl" altLang="es-ES" sz="1600" dirty="0">
                <a:cs typeface="Times New Roman" pitchFamily="18" charset="0"/>
              </a:rPr>
              <a:t> </a:t>
            </a:r>
            <a:r>
              <a:rPr lang="es-ES_tradnl" altLang="es-ES" sz="1400" dirty="0">
                <a:cs typeface="Times New Roman" pitchFamily="18" charset="0"/>
              </a:rPr>
              <a:t>aquellos que se refieren a una cualidad, no son expresables de manera rigurosa por un número.</a:t>
            </a:r>
            <a:endParaRPr lang="es-ES_tradnl" altLang="es-ES" sz="1600" dirty="0">
              <a:cs typeface="Times New Roman" pitchFamily="18" charset="0"/>
            </a:endParaRPr>
          </a:p>
          <a:p>
            <a:pPr lvl="1" algn="just">
              <a:lnSpc>
                <a:spcPct val="120000"/>
              </a:lnSpc>
              <a:buFontTx/>
              <a:buAutoNum type="arabicPeriod"/>
            </a:pPr>
            <a:r>
              <a:rPr lang="es-ES_tradnl" altLang="es-ES" sz="1600" b="1" dirty="0">
                <a:cs typeface="Times New Roman" pitchFamily="18" charset="0"/>
              </a:rPr>
              <a:t>Nominales:</a:t>
            </a:r>
            <a:r>
              <a:rPr lang="es-ES_tradnl" altLang="es-ES" sz="1600" dirty="0">
                <a:cs typeface="Times New Roman" pitchFamily="18" charset="0"/>
              </a:rPr>
              <a:t> </a:t>
            </a:r>
            <a:r>
              <a:rPr lang="es-ES_tradnl" altLang="es-ES" sz="1400" dirty="0">
                <a:cs typeface="Times New Roman" pitchFamily="18" charset="0"/>
              </a:rPr>
              <a:t>las modalidades no son susceptibles de estar ordenadas. Si solo hay dos modalidades se habla de datos </a:t>
            </a:r>
            <a:r>
              <a:rPr lang="es-ES_tradnl" altLang="es-ES" sz="1400" i="1" dirty="0">
                <a:cs typeface="Times New Roman" pitchFamily="18" charset="0"/>
              </a:rPr>
              <a:t>Binarios</a:t>
            </a:r>
            <a:r>
              <a:rPr lang="es-ES_tradnl" altLang="es-ES" sz="1400" dirty="0">
                <a:cs typeface="Times New Roman" pitchFamily="18" charset="0"/>
              </a:rPr>
              <a:t> o </a:t>
            </a:r>
            <a:r>
              <a:rPr lang="es-ES_tradnl" altLang="es-ES" sz="1400" i="1" dirty="0">
                <a:cs typeface="Times New Roman" pitchFamily="18" charset="0"/>
              </a:rPr>
              <a:t>Dicotómicos</a:t>
            </a:r>
            <a:r>
              <a:rPr lang="es-ES_tradnl" altLang="es-ES" sz="1400" dirty="0">
                <a:cs typeface="Times New Roman" pitchFamily="18" charset="0"/>
              </a:rPr>
              <a:t>.</a:t>
            </a:r>
          </a:p>
          <a:p>
            <a:pPr lvl="1" algn="just">
              <a:lnSpc>
                <a:spcPct val="120000"/>
              </a:lnSpc>
            </a:pPr>
            <a:r>
              <a:rPr lang="es-ES_tradnl" altLang="es-ES" sz="1400" b="1" dirty="0">
                <a:cs typeface="Times New Roman" pitchFamily="18" charset="0"/>
              </a:rPr>
              <a:t>	</a:t>
            </a:r>
            <a:r>
              <a:rPr lang="es-ES_tradnl" altLang="es-ES" sz="1400" b="1" dirty="0">
                <a:solidFill>
                  <a:srgbClr val="000099"/>
                </a:solidFill>
                <a:cs typeface="Times New Roman" pitchFamily="18" charset="0"/>
              </a:rPr>
              <a:t>	</a:t>
            </a:r>
            <a:r>
              <a:rPr lang="es-ES_tradnl" altLang="es-ES" sz="1400" b="1" dirty="0">
                <a:solidFill>
                  <a:srgbClr val="002060"/>
                </a:solidFill>
                <a:cs typeface="Times New Roman" pitchFamily="18" charset="0"/>
              </a:rPr>
              <a:t>→ Categorías</a:t>
            </a:r>
            <a:r>
              <a:rPr lang="es-ES_tradnl" altLang="es-ES" sz="1400" dirty="0">
                <a:solidFill>
                  <a:srgbClr val="002060"/>
                </a:solidFill>
                <a:cs typeface="Times New Roman" pitchFamily="18" charset="0"/>
              </a:rPr>
              <a:t> (sexo, grupo sanguíneo, ser o no seropositivo para VIH,…)</a:t>
            </a:r>
          </a:p>
          <a:p>
            <a:pPr lvl="1" algn="just">
              <a:lnSpc>
                <a:spcPct val="120000"/>
              </a:lnSpc>
            </a:pPr>
            <a:r>
              <a:rPr lang="es-ES_tradnl" altLang="es-ES" sz="1600" b="1" dirty="0">
                <a:cs typeface="Times New Roman" pitchFamily="18" charset="0"/>
              </a:rPr>
              <a:t>2.		Ordinales:</a:t>
            </a:r>
            <a:r>
              <a:rPr lang="es-ES_tradnl" altLang="es-ES" sz="1600" dirty="0">
                <a:cs typeface="Times New Roman" pitchFamily="18" charset="0"/>
              </a:rPr>
              <a:t> </a:t>
            </a:r>
            <a:r>
              <a:rPr lang="es-ES_tradnl" altLang="es-ES" sz="1400" dirty="0">
                <a:cs typeface="Times New Roman" pitchFamily="18" charset="0"/>
              </a:rPr>
              <a:t>cuando las modalidades son susceptibles de estar ordenadas </a:t>
            </a:r>
          </a:p>
          <a:p>
            <a:pPr lvl="1" algn="just">
              <a:lnSpc>
                <a:spcPct val="120000"/>
              </a:lnSpc>
            </a:pPr>
            <a:r>
              <a:rPr lang="es-ES_tradnl" altLang="es-ES" sz="1400" dirty="0">
                <a:cs typeface="Times New Roman" pitchFamily="18" charset="0"/>
              </a:rPr>
              <a:t>		</a:t>
            </a:r>
            <a:r>
              <a:rPr lang="es-ES_tradnl" altLang="es-ES" sz="1400" b="1" dirty="0">
                <a:solidFill>
                  <a:srgbClr val="002060"/>
                </a:solidFill>
                <a:cs typeface="Times New Roman" pitchFamily="18" charset="0"/>
              </a:rPr>
              <a:t>→ Escalas</a:t>
            </a:r>
            <a:r>
              <a:rPr lang="es-ES_tradnl" altLang="es-ES" sz="1400" dirty="0">
                <a:solidFill>
                  <a:srgbClr val="002060"/>
                </a:solidFill>
                <a:cs typeface="Times New Roman" pitchFamily="18" charset="0"/>
              </a:rPr>
              <a:t> (escala de dolor (nada/poco/mucho), escala de satisfacción (baja/media/alta),...)</a:t>
            </a:r>
            <a:endParaRPr lang="es-ES_tradnl" altLang="es-ES" sz="1600" dirty="0">
              <a:solidFill>
                <a:srgbClr val="002060"/>
              </a:solidFill>
              <a:cs typeface="Times New Roman" pitchFamily="18" charset="0"/>
            </a:endParaRPr>
          </a:p>
        </p:txBody>
      </p:sp>
      <p:sp>
        <p:nvSpPr>
          <p:cNvPr id="5126" name="Rectangle 101"/>
          <p:cNvSpPr>
            <a:spLocks noChangeArrowheads="1"/>
          </p:cNvSpPr>
          <p:nvPr/>
        </p:nvSpPr>
        <p:spPr bwMode="auto">
          <a:xfrm>
            <a:off x="228600" y="1828800"/>
            <a:ext cx="4171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r>
              <a:rPr lang="es-ES_tradnl" altLang="es-ES" sz="1800" b="1"/>
              <a:t>Tipos de Datos (o tipos de variables)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96"/>
          <p:cNvSpPr>
            <a:spLocks noChangeArrowheads="1"/>
          </p:cNvSpPr>
          <p:nvPr/>
        </p:nvSpPr>
        <p:spPr bwMode="auto">
          <a:xfrm>
            <a:off x="457200" y="4038600"/>
            <a:ext cx="8458200" cy="179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1pPr>
            <a:lvl2pPr marL="9144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2pPr>
            <a:lvl3pPr marL="13716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3pPr>
            <a:lvl4pPr marL="18288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4pPr>
            <a:lvl5pPr marL="22860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5pPr>
            <a:lvl6pPr marL="2743200" indent="-4572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6pPr>
            <a:lvl7pPr marL="3200400" indent="-4572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7pPr>
            <a:lvl8pPr marL="3657600" indent="-4572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8pPr>
            <a:lvl9pPr marL="4114800" indent="-4572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9pPr>
          </a:lstStyle>
          <a:p>
            <a:pPr algn="just">
              <a:lnSpc>
                <a:spcPct val="120000"/>
              </a:lnSpc>
            </a:pPr>
            <a:r>
              <a:rPr lang="es-ES_tradnl" altLang="es-ES" sz="1600" b="1" dirty="0">
                <a:cs typeface="Times New Roman" pitchFamily="18" charset="0"/>
              </a:rPr>
              <a:t>Cuantitativos:</a:t>
            </a:r>
          </a:p>
          <a:p>
            <a:pPr algn="just">
              <a:lnSpc>
                <a:spcPct val="120000"/>
              </a:lnSpc>
            </a:pPr>
            <a:endParaRPr lang="es-ES_tradnl" altLang="es-ES" sz="1600" dirty="0">
              <a:cs typeface="Times New Roman" pitchFamily="18" charset="0"/>
            </a:endParaRPr>
          </a:p>
          <a:p>
            <a:pPr lvl="1" algn="just">
              <a:lnSpc>
                <a:spcPct val="120000"/>
              </a:lnSpc>
            </a:pPr>
            <a:r>
              <a:rPr lang="es-ES_tradnl" altLang="es-ES" sz="1600" b="1" dirty="0">
                <a:cs typeface="Times New Roman" pitchFamily="18" charset="0"/>
              </a:rPr>
              <a:t>3.	Discretos </a:t>
            </a:r>
            <a:r>
              <a:rPr lang="es-ES_tradnl" altLang="es-ES" sz="1400" dirty="0">
                <a:solidFill>
                  <a:srgbClr val="000099"/>
                </a:solidFill>
                <a:cs typeface="Times New Roman" pitchFamily="18" charset="0"/>
              </a:rPr>
              <a:t>→ </a:t>
            </a:r>
            <a:r>
              <a:rPr lang="es-ES_tradnl" altLang="es-ES" sz="1400" dirty="0">
                <a:solidFill>
                  <a:srgbClr val="002060"/>
                </a:solidFill>
                <a:cs typeface="Times New Roman" pitchFamily="18" charset="0"/>
              </a:rPr>
              <a:t>Recuentos</a:t>
            </a:r>
          </a:p>
          <a:p>
            <a:pPr lvl="1" algn="just">
              <a:lnSpc>
                <a:spcPct val="120000"/>
              </a:lnSpc>
            </a:pPr>
            <a:endParaRPr lang="es-ES_tradnl" altLang="es-ES" sz="1400" b="1" dirty="0">
              <a:cs typeface="Times New Roman" pitchFamily="18" charset="0"/>
            </a:endParaRPr>
          </a:p>
          <a:p>
            <a:pPr lvl="1" algn="just">
              <a:lnSpc>
                <a:spcPct val="120000"/>
              </a:lnSpc>
            </a:pPr>
            <a:endParaRPr lang="es-ES_tradnl" altLang="es-ES" sz="1400" b="1" dirty="0">
              <a:cs typeface="Times New Roman" pitchFamily="18" charset="0"/>
            </a:endParaRPr>
          </a:p>
          <a:p>
            <a:pPr lvl="1" algn="just">
              <a:lnSpc>
                <a:spcPct val="120000"/>
              </a:lnSpc>
            </a:pPr>
            <a:r>
              <a:rPr lang="es-ES_tradnl" altLang="es-ES" sz="1400" b="1" dirty="0">
                <a:cs typeface="Times New Roman" pitchFamily="18" charset="0"/>
              </a:rPr>
              <a:t>4. 	</a:t>
            </a:r>
            <a:r>
              <a:rPr lang="es-ES_tradnl" altLang="es-ES" sz="1600" b="1" dirty="0">
                <a:cs typeface="Times New Roman" pitchFamily="18" charset="0"/>
              </a:rPr>
              <a:t>Continuos:</a:t>
            </a:r>
            <a:r>
              <a:rPr lang="es-ES_tradnl" altLang="es-ES" sz="1400" dirty="0">
                <a:cs typeface="Times New Roman" pitchFamily="18" charset="0"/>
              </a:rPr>
              <a:t> </a:t>
            </a:r>
            <a:r>
              <a:rPr lang="es-ES_tradnl" altLang="es-ES" sz="1400" dirty="0">
                <a:solidFill>
                  <a:srgbClr val="000099"/>
                </a:solidFill>
                <a:cs typeface="Times New Roman" pitchFamily="18" charset="0"/>
              </a:rPr>
              <a:t>→ </a:t>
            </a:r>
            <a:r>
              <a:rPr lang="es-ES_tradnl" altLang="es-ES" sz="1400" dirty="0">
                <a:solidFill>
                  <a:srgbClr val="002060"/>
                </a:solidFill>
                <a:cs typeface="Times New Roman" pitchFamily="18" charset="0"/>
              </a:rPr>
              <a:t>Medidas</a:t>
            </a:r>
            <a:endParaRPr lang="en-GB" altLang="es-ES" sz="1400" dirty="0">
              <a:solidFill>
                <a:srgbClr val="002060"/>
              </a:solidFill>
            </a:endParaRPr>
          </a:p>
        </p:txBody>
      </p:sp>
      <p:sp>
        <p:nvSpPr>
          <p:cNvPr id="20579" name="Rectangle 99"/>
          <p:cNvSpPr>
            <a:spLocks noChangeArrowheads="1"/>
          </p:cNvSpPr>
          <p:nvPr/>
        </p:nvSpPr>
        <p:spPr bwMode="auto">
          <a:xfrm>
            <a:off x="457200" y="1749425"/>
            <a:ext cx="8458200" cy="1433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charset="0"/>
              </a:defRPr>
            </a:lvl1pPr>
            <a:lvl2pPr marL="914400" indent="-45720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charset="0"/>
              </a:defRPr>
            </a:lvl2pPr>
            <a:lvl3pPr marL="1371600" indent="-45720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charset="0"/>
              </a:defRPr>
            </a:lvl3pPr>
            <a:lvl4pPr marL="1828800" indent="-45720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charset="0"/>
              </a:defRPr>
            </a:lvl4pPr>
            <a:lvl5pPr marL="2286000" indent="-45720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charset="0"/>
              </a:defRPr>
            </a:lvl5pPr>
            <a:lvl6pPr marL="2743200" indent="-457200" fontAlgn="base">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charset="0"/>
              </a:defRPr>
            </a:lvl6pPr>
            <a:lvl7pPr marL="3200400" indent="-457200" fontAlgn="base">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charset="0"/>
              </a:defRPr>
            </a:lvl7pPr>
            <a:lvl8pPr marL="3657600" indent="-457200" fontAlgn="base">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charset="0"/>
              </a:defRPr>
            </a:lvl8pPr>
            <a:lvl9pPr marL="4114800" indent="-457200" fontAlgn="base">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charset="0"/>
              </a:defRPr>
            </a:lvl9pPr>
          </a:lstStyle>
          <a:p>
            <a:pPr algn="just" eaLnBrk="0" hangingPunct="0">
              <a:defRPr/>
            </a:pPr>
            <a:r>
              <a:rPr lang="es-ES_tradnl" altLang="es-ES" sz="1600" b="1" dirty="0">
                <a:cs typeface="Times New Roman" pitchFamily="18" charset="0"/>
              </a:rPr>
              <a:t>Cualitativos:</a:t>
            </a:r>
          </a:p>
          <a:p>
            <a:pPr algn="just" eaLnBrk="0" hangingPunct="0">
              <a:defRPr/>
            </a:pPr>
            <a:endParaRPr lang="es-ES_tradnl" altLang="es-ES" sz="1600" dirty="0">
              <a:cs typeface="Times New Roman" pitchFamily="18" charset="0"/>
            </a:endParaRPr>
          </a:p>
          <a:p>
            <a:pPr lvl="1" algn="just" eaLnBrk="0" hangingPunct="0">
              <a:lnSpc>
                <a:spcPct val="120000"/>
              </a:lnSpc>
              <a:buFontTx/>
              <a:buAutoNum type="arabicPeriod"/>
              <a:defRPr/>
            </a:pPr>
            <a:r>
              <a:rPr lang="es-ES_tradnl" altLang="es-ES" sz="1600" b="1" dirty="0">
                <a:cs typeface="Times New Roman" pitchFamily="18" charset="0"/>
              </a:rPr>
              <a:t>Nominales</a:t>
            </a:r>
            <a:r>
              <a:rPr lang="es-ES_tradnl" altLang="es-ES" sz="1600" dirty="0">
                <a:cs typeface="Times New Roman" pitchFamily="18" charset="0"/>
              </a:rPr>
              <a:t> </a:t>
            </a:r>
            <a:r>
              <a:rPr lang="es-ES_tradnl" altLang="es-ES" sz="1400" b="1" dirty="0">
                <a:solidFill>
                  <a:srgbClr val="000099"/>
                </a:solidFill>
                <a:cs typeface="Times New Roman" pitchFamily="18" charset="0"/>
              </a:rPr>
              <a:t>	→ </a:t>
            </a:r>
            <a:r>
              <a:rPr lang="es-ES_tradnl" altLang="es-ES" sz="1400" dirty="0">
                <a:solidFill>
                  <a:srgbClr val="002060"/>
                </a:solidFill>
                <a:cs typeface="Times New Roman" pitchFamily="18" charset="0"/>
              </a:rPr>
              <a:t>Categorías</a:t>
            </a:r>
          </a:p>
          <a:p>
            <a:pPr marL="457200" lvl="1" indent="0" algn="just" eaLnBrk="0" hangingPunct="0">
              <a:lnSpc>
                <a:spcPct val="120000"/>
              </a:lnSpc>
              <a:defRPr/>
            </a:pPr>
            <a:endParaRPr lang="es-ES_tradnl" altLang="es-ES" sz="1400" dirty="0">
              <a:solidFill>
                <a:srgbClr val="000099"/>
              </a:solidFill>
              <a:cs typeface="Times New Roman" pitchFamily="18" charset="0"/>
            </a:endParaRPr>
          </a:p>
          <a:p>
            <a:pPr lvl="1" algn="just" eaLnBrk="0" hangingPunct="0">
              <a:lnSpc>
                <a:spcPct val="120000"/>
              </a:lnSpc>
              <a:defRPr/>
            </a:pPr>
            <a:r>
              <a:rPr lang="es-ES_tradnl" altLang="es-ES" sz="1600" b="1" dirty="0">
                <a:cs typeface="Times New Roman" pitchFamily="18" charset="0"/>
              </a:rPr>
              <a:t>2.		Ordinales </a:t>
            </a:r>
            <a:r>
              <a:rPr lang="es-ES_tradnl" altLang="es-ES" sz="1400" b="1" dirty="0">
                <a:solidFill>
                  <a:srgbClr val="000099"/>
                </a:solidFill>
                <a:cs typeface="Times New Roman" pitchFamily="18" charset="0"/>
              </a:rPr>
              <a:t>→ </a:t>
            </a:r>
            <a:r>
              <a:rPr lang="es-ES_tradnl" altLang="es-ES" sz="1400" dirty="0">
                <a:solidFill>
                  <a:srgbClr val="002060"/>
                </a:solidFill>
                <a:cs typeface="Times New Roman" pitchFamily="18" charset="0"/>
              </a:rPr>
              <a:t>Escalas</a:t>
            </a:r>
            <a:r>
              <a:rPr lang="es-ES_tradnl" altLang="es-ES" sz="1400" dirty="0">
                <a:solidFill>
                  <a:srgbClr val="000099"/>
                </a:solidFill>
                <a:cs typeface="Times New Roman" pitchFamily="18" charset="0"/>
              </a:rPr>
              <a:t> </a:t>
            </a:r>
            <a:endParaRPr lang="es-ES_tradnl" altLang="es-ES" sz="1600" dirty="0">
              <a:solidFill>
                <a:srgbClr val="000099"/>
              </a:solidFill>
              <a:cs typeface="Times New Roman" pitchFamily="18" charset="0"/>
            </a:endParaRPr>
          </a:p>
        </p:txBody>
      </p:sp>
      <p:sp>
        <p:nvSpPr>
          <p:cNvPr id="2" name="1 Flecha abajo"/>
          <p:cNvSpPr/>
          <p:nvPr/>
        </p:nvSpPr>
        <p:spPr>
          <a:xfrm flipV="1">
            <a:off x="1733550" y="5049838"/>
            <a:ext cx="285750" cy="2857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6150" name="2 CuadroTexto"/>
          <p:cNvSpPr txBox="1">
            <a:spLocks noChangeArrowheads="1"/>
          </p:cNvSpPr>
          <p:nvPr/>
        </p:nvSpPr>
        <p:spPr bwMode="auto">
          <a:xfrm>
            <a:off x="2133600" y="5048250"/>
            <a:ext cx="10509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sz="1600" dirty="0">
                <a:solidFill>
                  <a:schemeClr val="accent1">
                    <a:lumMod val="25000"/>
                  </a:schemeClr>
                </a:solidFill>
              </a:rPr>
              <a:t>redondeo</a:t>
            </a:r>
          </a:p>
        </p:txBody>
      </p:sp>
      <p:sp>
        <p:nvSpPr>
          <p:cNvPr id="9" name="8 Flecha abajo"/>
          <p:cNvSpPr/>
          <p:nvPr/>
        </p:nvSpPr>
        <p:spPr>
          <a:xfrm flipV="1">
            <a:off x="974725" y="3489325"/>
            <a:ext cx="285750" cy="4286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6152" name="9 CuadroTexto"/>
          <p:cNvSpPr txBox="1">
            <a:spLocks noChangeArrowheads="1"/>
          </p:cNvSpPr>
          <p:nvPr/>
        </p:nvSpPr>
        <p:spPr bwMode="auto">
          <a:xfrm>
            <a:off x="1376363" y="3578225"/>
            <a:ext cx="150653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sz="1600" dirty="0">
                <a:solidFill>
                  <a:schemeClr val="accent1">
                    <a:lumMod val="25000"/>
                  </a:schemeClr>
                </a:solidFill>
              </a:rPr>
              <a:t>categorización</a:t>
            </a:r>
          </a:p>
        </p:txBody>
      </p:sp>
      <p:sp>
        <p:nvSpPr>
          <p:cNvPr id="6153" name="10 CuadroTexto"/>
          <p:cNvSpPr txBox="1">
            <a:spLocks noChangeArrowheads="1"/>
          </p:cNvSpPr>
          <p:nvPr/>
        </p:nvSpPr>
        <p:spPr bwMode="auto">
          <a:xfrm>
            <a:off x="3817938" y="1717675"/>
            <a:ext cx="217963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sz="1600">
                <a:solidFill>
                  <a:schemeClr val="accent1">
                    <a:lumMod val="25000"/>
                  </a:schemeClr>
                </a:solidFill>
              </a:rPr>
              <a:t>Contenido informativo</a:t>
            </a:r>
          </a:p>
        </p:txBody>
      </p:sp>
      <p:sp>
        <p:nvSpPr>
          <p:cNvPr id="6154" name="14 CuadroTexto"/>
          <p:cNvSpPr txBox="1">
            <a:spLocks noChangeArrowheads="1"/>
          </p:cNvSpPr>
          <p:nvPr/>
        </p:nvSpPr>
        <p:spPr bwMode="auto">
          <a:xfrm>
            <a:off x="4649788" y="5211763"/>
            <a:ext cx="515937"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sz="4400" dirty="0">
                <a:solidFill>
                  <a:schemeClr val="accent1">
                    <a:lumMod val="25000"/>
                  </a:schemeClr>
                </a:solidFill>
              </a:rPr>
              <a:t>+</a:t>
            </a:r>
          </a:p>
        </p:txBody>
      </p:sp>
      <p:sp>
        <p:nvSpPr>
          <p:cNvPr id="6155" name="15 CuadroTexto"/>
          <p:cNvSpPr txBox="1">
            <a:spLocks noChangeArrowheads="1"/>
          </p:cNvSpPr>
          <p:nvPr/>
        </p:nvSpPr>
        <p:spPr bwMode="auto">
          <a:xfrm>
            <a:off x="4679950" y="1884363"/>
            <a:ext cx="4413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sz="6000" dirty="0">
                <a:solidFill>
                  <a:schemeClr val="accent1">
                    <a:lumMod val="25000"/>
                  </a:schemeClr>
                </a:solidFill>
              </a:rPr>
              <a:t>-</a:t>
            </a:r>
          </a:p>
        </p:txBody>
      </p:sp>
      <p:sp>
        <p:nvSpPr>
          <p:cNvPr id="17" name="16 Flecha abajo"/>
          <p:cNvSpPr/>
          <p:nvPr/>
        </p:nvSpPr>
        <p:spPr>
          <a:xfrm flipV="1">
            <a:off x="4783138" y="2667000"/>
            <a:ext cx="249237" cy="26685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6157" name="AutoShape 4"/>
          <p:cNvSpPr>
            <a:spLocks noChangeArrowheads="1"/>
          </p:cNvSpPr>
          <p:nvPr/>
        </p:nvSpPr>
        <p:spPr bwMode="auto">
          <a:xfrm>
            <a:off x="6311900" y="977900"/>
            <a:ext cx="2532063" cy="5576888"/>
          </a:xfrm>
          <a:prstGeom prst="roundRect">
            <a:avLst>
              <a:gd name="adj" fmla="val 5153"/>
            </a:avLst>
          </a:prstGeom>
          <a:solidFill>
            <a:schemeClr val="bg1">
              <a:alpha val="98822"/>
            </a:schemeClr>
          </a:solidFill>
          <a:ln w="9525">
            <a:solidFill>
              <a:srgbClr val="FFC000"/>
            </a:solidFill>
            <a:round/>
            <a:headEnd/>
            <a:tailEnd/>
          </a:ln>
          <a:effectLst>
            <a:outerShdw sx="999" sy="999" algn="ctr" rotWithShape="0">
              <a:schemeClr val="bg2"/>
            </a:outerShdw>
          </a:effectLst>
        </p:spPr>
        <p:txBody>
          <a:bodyPr lIns="90000" tIns="46800" rIns="90000" bIns="46800" anchor="ct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nvGrpSpPr>
          <p:cNvPr id="6158" name="Group 5"/>
          <p:cNvGrpSpPr>
            <a:grpSpLocks/>
          </p:cNvGrpSpPr>
          <p:nvPr/>
        </p:nvGrpSpPr>
        <p:grpSpPr bwMode="auto">
          <a:xfrm>
            <a:off x="6523038" y="5446713"/>
            <a:ext cx="1970087" cy="923925"/>
            <a:chOff x="3962" y="3355"/>
            <a:chExt cx="1241" cy="582"/>
          </a:xfrm>
        </p:grpSpPr>
        <p:sp>
          <p:nvSpPr>
            <p:cNvPr id="6171" name="Text Box 6"/>
            <p:cNvSpPr txBox="1">
              <a:spLocks noChangeArrowheads="1"/>
            </p:cNvSpPr>
            <p:nvPr/>
          </p:nvSpPr>
          <p:spPr bwMode="auto">
            <a:xfrm>
              <a:off x="3962" y="3586"/>
              <a:ext cx="547"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a:cs typeface="Arial" charset="0"/>
                </a:rPr>
                <a:t>Edad</a:t>
              </a:r>
            </a:p>
            <a:p>
              <a:pPr algn="ctr" eaLnBrk="1" hangingPunct="1"/>
              <a:r>
                <a:rPr lang="es-ES" altLang="es-ES">
                  <a:cs typeface="Arial" charset="0"/>
                </a:rPr>
                <a:t>(exacta)</a:t>
              </a:r>
              <a:endParaRPr lang="es-ES" altLang="es-ES" baseline="-25000">
                <a:cs typeface="Arial" charset="0"/>
              </a:endParaRPr>
            </a:p>
          </p:txBody>
        </p:sp>
        <p:sp>
          <p:nvSpPr>
            <p:cNvPr id="6172" name="Text Box 7"/>
            <p:cNvSpPr txBox="1">
              <a:spLocks noChangeArrowheads="1"/>
            </p:cNvSpPr>
            <p:nvPr/>
          </p:nvSpPr>
          <p:spPr bwMode="auto">
            <a:xfrm>
              <a:off x="4694" y="3355"/>
              <a:ext cx="509" cy="58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lIns="90000" tIns="46800" rIns="90000" bIns="46800"/>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a:cs typeface="Arial" charset="0"/>
                </a:rPr>
                <a:t>22.2</a:t>
              </a:r>
            </a:p>
            <a:p>
              <a:pPr algn="ctr" eaLnBrk="1" hangingPunct="1"/>
              <a:r>
                <a:rPr lang="es-ES" altLang="es-ES">
                  <a:cs typeface="Arial" charset="0"/>
                </a:rPr>
                <a:t>38.5</a:t>
              </a:r>
            </a:p>
            <a:p>
              <a:pPr algn="ctr" eaLnBrk="1" hangingPunct="1"/>
              <a:r>
                <a:rPr lang="es-ES" altLang="es-ES">
                  <a:cs typeface="Arial" charset="0"/>
                </a:rPr>
                <a:t>48.8</a:t>
              </a:r>
            </a:p>
            <a:p>
              <a:pPr algn="ctr" eaLnBrk="1" hangingPunct="1"/>
              <a:r>
                <a:rPr lang="es-ES" altLang="es-ES" b="1">
                  <a:cs typeface="Arial" charset="0"/>
                </a:rPr>
                <a:t>….</a:t>
              </a:r>
            </a:p>
          </p:txBody>
        </p:sp>
      </p:grpSp>
      <p:sp>
        <p:nvSpPr>
          <p:cNvPr id="6159" name="Text Box 9"/>
          <p:cNvSpPr txBox="1">
            <a:spLocks noChangeArrowheads="1"/>
          </p:cNvSpPr>
          <p:nvPr/>
        </p:nvSpPr>
        <p:spPr bwMode="auto">
          <a:xfrm>
            <a:off x="7685088" y="4160838"/>
            <a:ext cx="808037" cy="909637"/>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lIns="90000" tIns="46800" rIns="90000" bIns="46800"/>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a:cs typeface="Arial" charset="0"/>
              </a:rPr>
              <a:t>22</a:t>
            </a:r>
          </a:p>
          <a:p>
            <a:pPr algn="ctr" eaLnBrk="1" hangingPunct="1"/>
            <a:r>
              <a:rPr lang="es-ES" altLang="es-ES">
                <a:cs typeface="Arial" charset="0"/>
              </a:rPr>
              <a:t>38</a:t>
            </a:r>
          </a:p>
          <a:p>
            <a:pPr algn="ctr" eaLnBrk="1" hangingPunct="1"/>
            <a:r>
              <a:rPr lang="es-ES" altLang="es-ES">
                <a:cs typeface="Arial" charset="0"/>
              </a:rPr>
              <a:t>48</a:t>
            </a:r>
          </a:p>
          <a:p>
            <a:pPr algn="ctr" eaLnBrk="1" hangingPunct="1"/>
            <a:r>
              <a:rPr lang="es-ES" altLang="es-ES">
                <a:cs typeface="Arial" charset="0"/>
              </a:rPr>
              <a:t> </a:t>
            </a:r>
            <a:r>
              <a:rPr lang="es-ES" altLang="es-ES" b="1">
                <a:cs typeface="Arial" charset="0"/>
              </a:rPr>
              <a:t>….</a:t>
            </a:r>
          </a:p>
        </p:txBody>
      </p:sp>
      <p:sp>
        <p:nvSpPr>
          <p:cNvPr id="6160" name="Text Box 10"/>
          <p:cNvSpPr txBox="1">
            <a:spLocks noChangeArrowheads="1"/>
          </p:cNvSpPr>
          <p:nvPr/>
        </p:nvSpPr>
        <p:spPr bwMode="auto">
          <a:xfrm>
            <a:off x="6332538" y="4419600"/>
            <a:ext cx="1255712"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a:cs typeface="Arial" charset="0"/>
              </a:rPr>
              <a:t>Edad</a:t>
            </a:r>
          </a:p>
          <a:p>
            <a:pPr algn="ctr" eaLnBrk="1" hangingPunct="1"/>
            <a:r>
              <a:rPr lang="es-ES" altLang="es-ES">
                <a:cs typeface="Arial" charset="0"/>
              </a:rPr>
              <a:t>(forma habitual)</a:t>
            </a:r>
          </a:p>
        </p:txBody>
      </p:sp>
      <p:grpSp>
        <p:nvGrpSpPr>
          <p:cNvPr id="6161" name="Group 11"/>
          <p:cNvGrpSpPr>
            <a:grpSpLocks/>
          </p:cNvGrpSpPr>
          <p:nvPr/>
        </p:nvGrpSpPr>
        <p:grpSpPr bwMode="auto">
          <a:xfrm>
            <a:off x="6486525" y="2865438"/>
            <a:ext cx="2006600" cy="792162"/>
            <a:chOff x="3939" y="1949"/>
            <a:chExt cx="1264" cy="499"/>
          </a:xfrm>
        </p:grpSpPr>
        <p:sp>
          <p:nvSpPr>
            <p:cNvPr id="6169" name="Text Box 12"/>
            <p:cNvSpPr txBox="1">
              <a:spLocks noChangeArrowheads="1"/>
            </p:cNvSpPr>
            <p:nvPr/>
          </p:nvSpPr>
          <p:spPr bwMode="auto">
            <a:xfrm>
              <a:off x="3939" y="2006"/>
              <a:ext cx="593"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a:cs typeface="Arial" charset="0"/>
                </a:rPr>
                <a:t>Grupos de </a:t>
              </a:r>
            </a:p>
            <a:p>
              <a:pPr algn="ctr" eaLnBrk="1" hangingPunct="1"/>
              <a:r>
                <a:rPr lang="es-ES" altLang="es-ES">
                  <a:cs typeface="Arial" charset="0"/>
                </a:rPr>
                <a:t>Edad </a:t>
              </a:r>
              <a:endParaRPr lang="es-ES" altLang="es-ES" baseline="-25000">
                <a:cs typeface="Arial" charset="0"/>
              </a:endParaRPr>
            </a:p>
          </p:txBody>
        </p:sp>
        <p:sp>
          <p:nvSpPr>
            <p:cNvPr id="6170" name="Text Box 13"/>
            <p:cNvSpPr txBox="1">
              <a:spLocks noChangeArrowheads="1"/>
            </p:cNvSpPr>
            <p:nvPr/>
          </p:nvSpPr>
          <p:spPr bwMode="auto">
            <a:xfrm>
              <a:off x="4694" y="1949"/>
              <a:ext cx="509" cy="499"/>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lIns="90000" tIns="46800" rIns="90000" bIns="46800"/>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a:cs typeface="Arial" charset="0"/>
                </a:rPr>
                <a:t>20-30</a:t>
              </a:r>
            </a:p>
            <a:p>
              <a:pPr algn="ctr" eaLnBrk="1" hangingPunct="1"/>
              <a:r>
                <a:rPr lang="es-ES" altLang="es-ES">
                  <a:cs typeface="Arial" charset="0"/>
                </a:rPr>
                <a:t>30-40</a:t>
              </a:r>
            </a:p>
            <a:p>
              <a:pPr algn="ctr" eaLnBrk="1" hangingPunct="1"/>
              <a:r>
                <a:rPr lang="es-ES" altLang="es-ES">
                  <a:cs typeface="Arial" charset="0"/>
                </a:rPr>
                <a:t>40-50</a:t>
              </a:r>
            </a:p>
          </p:txBody>
        </p:sp>
      </p:grpSp>
      <p:grpSp>
        <p:nvGrpSpPr>
          <p:cNvPr id="6162" name="Group 14"/>
          <p:cNvGrpSpPr>
            <a:grpSpLocks/>
          </p:cNvGrpSpPr>
          <p:nvPr/>
        </p:nvGrpSpPr>
        <p:grpSpPr bwMode="auto">
          <a:xfrm>
            <a:off x="6515100" y="1574800"/>
            <a:ext cx="1978025" cy="450850"/>
            <a:chOff x="3957" y="796"/>
            <a:chExt cx="1246" cy="284"/>
          </a:xfrm>
        </p:grpSpPr>
        <p:sp>
          <p:nvSpPr>
            <p:cNvPr id="6167" name="Text Box 15"/>
            <p:cNvSpPr txBox="1">
              <a:spLocks noChangeArrowheads="1"/>
            </p:cNvSpPr>
            <p:nvPr/>
          </p:nvSpPr>
          <p:spPr bwMode="auto">
            <a:xfrm>
              <a:off x="4694" y="796"/>
              <a:ext cx="509" cy="284"/>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lIns="90000" tIns="46800" rIns="90000" bIns="46800"/>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a:cs typeface="Arial" charset="0"/>
                </a:rPr>
                <a:t>si</a:t>
              </a:r>
            </a:p>
            <a:p>
              <a:pPr algn="ctr" eaLnBrk="1" hangingPunct="1"/>
              <a:r>
                <a:rPr lang="es-ES" altLang="es-ES">
                  <a:cs typeface="Arial" charset="0"/>
                </a:rPr>
                <a:t>no</a:t>
              </a:r>
            </a:p>
          </p:txBody>
        </p:sp>
        <p:sp>
          <p:nvSpPr>
            <p:cNvPr id="6168" name="Text Box 16"/>
            <p:cNvSpPr txBox="1">
              <a:spLocks noChangeArrowheads="1"/>
            </p:cNvSpPr>
            <p:nvPr/>
          </p:nvSpPr>
          <p:spPr bwMode="auto">
            <a:xfrm>
              <a:off x="3957" y="848"/>
              <a:ext cx="558"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a:cs typeface="Arial" charset="0"/>
                </a:rPr>
                <a:t>Edad &gt; 35</a:t>
              </a:r>
            </a:p>
          </p:txBody>
        </p:sp>
      </p:grpSp>
      <p:sp>
        <p:nvSpPr>
          <p:cNvPr id="6163" name="Text Box 17"/>
          <p:cNvSpPr txBox="1">
            <a:spLocks noChangeArrowheads="1"/>
          </p:cNvSpPr>
          <p:nvPr/>
        </p:nvSpPr>
        <p:spPr bwMode="auto">
          <a:xfrm>
            <a:off x="6556375" y="763588"/>
            <a:ext cx="2054225" cy="463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dirty="0">
                <a:solidFill>
                  <a:schemeClr val="accent1">
                    <a:lumMod val="25000"/>
                  </a:schemeClr>
                </a:solidFill>
                <a:cs typeface="Arial" charset="0"/>
              </a:rPr>
              <a:t>¿Qué tipo de carácter es la edad de un paciente?</a:t>
            </a:r>
          </a:p>
        </p:txBody>
      </p:sp>
      <p:sp>
        <p:nvSpPr>
          <p:cNvPr id="33" name="32 Flecha abajo"/>
          <p:cNvSpPr/>
          <p:nvPr/>
        </p:nvSpPr>
        <p:spPr>
          <a:xfrm flipV="1">
            <a:off x="6781800" y="5249863"/>
            <a:ext cx="285750" cy="39528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34" name="33 Flecha abajo"/>
          <p:cNvSpPr/>
          <p:nvPr/>
        </p:nvSpPr>
        <p:spPr>
          <a:xfrm flipV="1">
            <a:off x="6781800" y="3767138"/>
            <a:ext cx="285750" cy="3937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36" name="35 Flecha abajo"/>
          <p:cNvSpPr/>
          <p:nvPr/>
        </p:nvSpPr>
        <p:spPr>
          <a:xfrm flipV="1">
            <a:off x="6781800" y="2195513"/>
            <a:ext cx="285750" cy="39528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29" name="CuadroTexto 28"/>
          <p:cNvSpPr txBox="1"/>
          <p:nvPr/>
        </p:nvSpPr>
        <p:spPr>
          <a:xfrm>
            <a:off x="6135964" y="874365"/>
            <a:ext cx="325730" cy="369332"/>
          </a:xfrm>
          <a:prstGeom prst="rect">
            <a:avLst/>
          </a:prstGeom>
          <a:solidFill>
            <a:schemeClr val="bg1"/>
          </a:solidFill>
        </p:spPr>
        <p:txBody>
          <a:bodyPr wrap="none" rtlCol="0">
            <a:spAutoFit/>
          </a:bodyPr>
          <a:lstStyle/>
          <a:p>
            <a:pPr algn="ctr"/>
            <a:r>
              <a:rPr lang="es-ES" sz="1800" b="1" dirty="0">
                <a:solidFill>
                  <a:srgbClr val="FF9900"/>
                </a:solidFill>
              </a:rPr>
              <a:t>?</a:t>
            </a:r>
            <a:endParaRPr lang="es-ES" sz="1050" b="1" dirty="0">
              <a:solidFill>
                <a:srgbClr val="FF9900"/>
              </a:solidFill>
            </a:endParaRPr>
          </a:p>
        </p:txBody>
      </p:sp>
      <p:sp>
        <p:nvSpPr>
          <p:cNvPr id="31" name="Text Box 2"/>
          <p:cNvSpPr txBox="1">
            <a:spLocks noChangeArrowheads="1"/>
          </p:cNvSpPr>
          <p:nvPr/>
        </p:nvSpPr>
        <p:spPr bwMode="auto">
          <a:xfrm>
            <a:off x="228600" y="304800"/>
            <a:ext cx="24497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2000" b="1" dirty="0"/>
              <a:t>Los tipos de datos</a:t>
            </a:r>
            <a:endParaRPr lang="es-ES" altLang="es-ES" sz="20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51491A8-4848-4A17-979D-8EC31544822D}"/>
              </a:ext>
            </a:extLst>
          </p:cNvPr>
          <p:cNvSpPr txBox="1"/>
          <p:nvPr/>
        </p:nvSpPr>
        <p:spPr>
          <a:xfrm>
            <a:off x="2327295" y="2268142"/>
            <a:ext cx="1683474" cy="830997"/>
          </a:xfrm>
          <a:prstGeom prst="rect">
            <a:avLst/>
          </a:prstGeom>
          <a:noFill/>
        </p:spPr>
        <p:txBody>
          <a:bodyPr wrap="none" rtlCol="0">
            <a:spAutoFit/>
          </a:bodyPr>
          <a:lstStyle/>
          <a:p>
            <a:r>
              <a:rPr lang="es-ES" dirty="0"/>
              <a:t>Nivel de Sobrecarga</a:t>
            </a:r>
          </a:p>
          <a:p>
            <a:r>
              <a:rPr lang="es-ES" dirty="0"/>
              <a:t>Nivel de Compromiso</a:t>
            </a:r>
          </a:p>
          <a:p>
            <a:r>
              <a:rPr lang="es-ES" dirty="0"/>
              <a:t>Nivel de Competencia</a:t>
            </a:r>
          </a:p>
          <a:p>
            <a:r>
              <a:rPr lang="es-ES" dirty="0"/>
              <a:t>… </a:t>
            </a:r>
            <a:r>
              <a:rPr lang="es-ES" dirty="0" err="1"/>
              <a:t>etc</a:t>
            </a:r>
            <a:endParaRPr lang="es-ES" dirty="0"/>
          </a:p>
        </p:txBody>
      </p:sp>
      <p:sp>
        <p:nvSpPr>
          <p:cNvPr id="3" name="CuadroTexto 2">
            <a:extLst>
              <a:ext uri="{FF2B5EF4-FFF2-40B4-BE49-F238E27FC236}">
                <a16:creationId xmlns:a16="http://schemas.microsoft.com/office/drawing/2014/main" id="{4E39C21D-E5D9-4DE0-8915-DD95F1FA8132}"/>
              </a:ext>
            </a:extLst>
          </p:cNvPr>
          <p:cNvSpPr txBox="1"/>
          <p:nvPr/>
        </p:nvSpPr>
        <p:spPr>
          <a:xfrm>
            <a:off x="438150" y="2545141"/>
            <a:ext cx="1854995" cy="276999"/>
          </a:xfrm>
          <a:prstGeom prst="rect">
            <a:avLst/>
          </a:prstGeom>
          <a:noFill/>
        </p:spPr>
        <p:txBody>
          <a:bodyPr wrap="none" rtlCol="0">
            <a:spAutoFit/>
          </a:bodyPr>
          <a:lstStyle/>
          <a:p>
            <a:r>
              <a:rPr lang="es-ES" dirty="0"/>
              <a:t>Por parte del profesional</a:t>
            </a:r>
          </a:p>
        </p:txBody>
      </p:sp>
      <p:sp>
        <p:nvSpPr>
          <p:cNvPr id="4" name="CuadroTexto 3">
            <a:extLst>
              <a:ext uri="{FF2B5EF4-FFF2-40B4-BE49-F238E27FC236}">
                <a16:creationId xmlns:a16="http://schemas.microsoft.com/office/drawing/2014/main" id="{C19BD204-00EF-4897-8D6D-F72081170E67}"/>
              </a:ext>
            </a:extLst>
          </p:cNvPr>
          <p:cNvSpPr txBox="1"/>
          <p:nvPr/>
        </p:nvSpPr>
        <p:spPr>
          <a:xfrm>
            <a:off x="438150" y="3142358"/>
            <a:ext cx="1685077" cy="276999"/>
          </a:xfrm>
          <a:prstGeom prst="rect">
            <a:avLst/>
          </a:prstGeom>
          <a:noFill/>
        </p:spPr>
        <p:txBody>
          <a:bodyPr wrap="none" rtlCol="0">
            <a:spAutoFit/>
          </a:bodyPr>
          <a:lstStyle/>
          <a:p>
            <a:r>
              <a:rPr lang="es-ES" dirty="0"/>
              <a:t>Por parte del paciente</a:t>
            </a:r>
          </a:p>
        </p:txBody>
      </p:sp>
      <p:sp>
        <p:nvSpPr>
          <p:cNvPr id="5" name="CuadroTexto 4">
            <a:extLst>
              <a:ext uri="{FF2B5EF4-FFF2-40B4-BE49-F238E27FC236}">
                <a16:creationId xmlns:a16="http://schemas.microsoft.com/office/drawing/2014/main" id="{07ADED11-974B-414A-AFBB-DA7164D77B35}"/>
              </a:ext>
            </a:extLst>
          </p:cNvPr>
          <p:cNvSpPr txBox="1"/>
          <p:nvPr/>
        </p:nvSpPr>
        <p:spPr>
          <a:xfrm>
            <a:off x="747315" y="3491794"/>
            <a:ext cx="7127620" cy="1200329"/>
          </a:xfrm>
          <a:prstGeom prst="rect">
            <a:avLst/>
          </a:prstGeom>
          <a:noFill/>
        </p:spPr>
        <p:txBody>
          <a:bodyPr wrap="square" rtlCol="0">
            <a:spAutoFit/>
          </a:bodyPr>
          <a:lstStyle/>
          <a:p>
            <a:r>
              <a:rPr lang="es-ES" dirty="0"/>
              <a:t>Nivel de calidad de vida (Cuestionario SF36)</a:t>
            </a:r>
          </a:p>
          <a:p>
            <a:r>
              <a:rPr lang="es-ES" dirty="0"/>
              <a:t>Nivel de dependencia (Escala de Barthel)</a:t>
            </a:r>
          </a:p>
          <a:p>
            <a:r>
              <a:rPr lang="es-ES" dirty="0"/>
              <a:t>Capacidad funcional física de las actividades cotidianas (Test de Barthel, Escala de Lawton y Brody)</a:t>
            </a:r>
          </a:p>
          <a:p>
            <a:r>
              <a:rPr lang="es-ES" dirty="0"/>
              <a:t>Riesgo de deterioro de la integridad cutánea (Escala Norton) </a:t>
            </a:r>
          </a:p>
          <a:p>
            <a:r>
              <a:rPr lang="es-ES" dirty="0"/>
              <a:t>Nivel de impacto de la fibromialgia (FIQ, </a:t>
            </a:r>
            <a:r>
              <a:rPr lang="es-ES" i="1" dirty="0" err="1"/>
              <a:t>Fibromyalgia</a:t>
            </a:r>
            <a:r>
              <a:rPr lang="es-ES" i="1" dirty="0"/>
              <a:t> </a:t>
            </a:r>
            <a:r>
              <a:rPr lang="es-ES" i="1" dirty="0" err="1"/>
              <a:t>Impact</a:t>
            </a:r>
            <a:r>
              <a:rPr lang="es-ES" i="1" dirty="0"/>
              <a:t> </a:t>
            </a:r>
            <a:r>
              <a:rPr lang="es-ES" i="1" dirty="0" err="1"/>
              <a:t>Questionnaire</a:t>
            </a:r>
            <a:r>
              <a:rPr lang="es-ES" dirty="0"/>
              <a:t>)</a:t>
            </a:r>
          </a:p>
          <a:p>
            <a:r>
              <a:rPr lang="es-ES" dirty="0"/>
              <a:t>… </a:t>
            </a:r>
            <a:r>
              <a:rPr lang="es-ES" dirty="0" err="1"/>
              <a:t>etc</a:t>
            </a:r>
            <a:r>
              <a:rPr lang="es-ES" dirty="0"/>
              <a:t> </a:t>
            </a:r>
          </a:p>
        </p:txBody>
      </p:sp>
      <p:sp>
        <p:nvSpPr>
          <p:cNvPr id="8" name="Rectángulo 7">
            <a:extLst>
              <a:ext uri="{FF2B5EF4-FFF2-40B4-BE49-F238E27FC236}">
                <a16:creationId xmlns:a16="http://schemas.microsoft.com/office/drawing/2014/main" id="{9A3845DB-A361-4763-9CFE-00F80AC04046}"/>
              </a:ext>
            </a:extLst>
          </p:cNvPr>
          <p:cNvSpPr/>
          <p:nvPr/>
        </p:nvSpPr>
        <p:spPr>
          <a:xfrm>
            <a:off x="503757" y="5029200"/>
            <a:ext cx="3992043" cy="1015663"/>
          </a:xfrm>
          <a:prstGeom prst="rect">
            <a:avLst/>
          </a:prstGeom>
        </p:spPr>
        <p:txBody>
          <a:bodyPr wrap="square">
            <a:spAutoFit/>
          </a:bodyPr>
          <a:lstStyle/>
          <a:p>
            <a:pPr algn="just"/>
            <a:r>
              <a:rPr lang="es-ES" dirty="0"/>
              <a:t>Suele constar de varias preguntas = </a:t>
            </a:r>
            <a:r>
              <a:rPr lang="es-ES" b="1" i="1" dirty="0"/>
              <a:t>ítems</a:t>
            </a:r>
            <a:r>
              <a:rPr lang="es-ES" i="1" dirty="0"/>
              <a:t> </a:t>
            </a:r>
            <a:r>
              <a:rPr lang="es-ES" dirty="0"/>
              <a:t>cada uno de los cuales evalúa un aspecto determinado</a:t>
            </a:r>
            <a:endParaRPr lang="es-ES" i="1" dirty="0"/>
          </a:p>
          <a:p>
            <a:pPr algn="just"/>
            <a:r>
              <a:rPr lang="es-ES" dirty="0"/>
              <a:t>Con frecuencia, los ítems se construyen en forma de un enunciado y una escala de intensidad (habitualmente con un número impar de opciones) = </a:t>
            </a:r>
            <a:r>
              <a:rPr lang="es-ES" b="1" dirty="0"/>
              <a:t>escalas de Likert</a:t>
            </a:r>
          </a:p>
        </p:txBody>
      </p:sp>
      <p:sp>
        <p:nvSpPr>
          <p:cNvPr id="10" name="Rectángulo 9">
            <a:extLst>
              <a:ext uri="{FF2B5EF4-FFF2-40B4-BE49-F238E27FC236}">
                <a16:creationId xmlns:a16="http://schemas.microsoft.com/office/drawing/2014/main" id="{8103A9A0-50F2-4D70-A4F6-1BCE0A76177E}"/>
              </a:ext>
            </a:extLst>
          </p:cNvPr>
          <p:cNvSpPr/>
          <p:nvPr/>
        </p:nvSpPr>
        <p:spPr>
          <a:xfrm>
            <a:off x="4876800" y="4724400"/>
            <a:ext cx="4038600" cy="261610"/>
          </a:xfrm>
          <a:prstGeom prst="rect">
            <a:avLst/>
          </a:prstGeom>
        </p:spPr>
        <p:txBody>
          <a:bodyPr wrap="square">
            <a:spAutoFit/>
          </a:bodyPr>
          <a:lstStyle/>
          <a:p>
            <a:r>
              <a:rPr lang="es-ES" sz="1100" dirty="0">
                <a:solidFill>
                  <a:srgbClr val="18294C"/>
                </a:solidFill>
              </a:rPr>
              <a:t>El paciente con esquizofrenia debe permanecer aislado</a:t>
            </a:r>
          </a:p>
        </p:txBody>
      </p:sp>
      <p:sp>
        <p:nvSpPr>
          <p:cNvPr id="11" name="Rectángulo 10">
            <a:extLst>
              <a:ext uri="{FF2B5EF4-FFF2-40B4-BE49-F238E27FC236}">
                <a16:creationId xmlns:a16="http://schemas.microsoft.com/office/drawing/2014/main" id="{500E5EF6-D74D-42C7-AA6D-60925E7E4E72}"/>
              </a:ext>
            </a:extLst>
          </p:cNvPr>
          <p:cNvSpPr/>
          <p:nvPr/>
        </p:nvSpPr>
        <p:spPr>
          <a:xfrm>
            <a:off x="235093" y="906377"/>
            <a:ext cx="1365107" cy="307777"/>
          </a:xfrm>
          <a:prstGeom prst="rect">
            <a:avLst/>
          </a:prstGeom>
        </p:spPr>
        <p:txBody>
          <a:bodyPr wrap="square">
            <a:spAutoFit/>
          </a:bodyPr>
          <a:lstStyle/>
          <a:p>
            <a:pPr algn="just"/>
            <a:r>
              <a:rPr lang="es-ES" sz="1400" b="1" dirty="0"/>
              <a:t>Constructo</a:t>
            </a:r>
            <a:r>
              <a:rPr lang="es-ES" sz="1400" dirty="0"/>
              <a:t> </a:t>
            </a:r>
          </a:p>
        </p:txBody>
      </p:sp>
      <p:sp>
        <p:nvSpPr>
          <p:cNvPr id="6" name="Rectángulo 5">
            <a:extLst>
              <a:ext uri="{FF2B5EF4-FFF2-40B4-BE49-F238E27FC236}">
                <a16:creationId xmlns:a16="http://schemas.microsoft.com/office/drawing/2014/main" id="{EBE32972-3198-4728-8597-409D4F820D47}"/>
              </a:ext>
            </a:extLst>
          </p:cNvPr>
          <p:cNvSpPr/>
          <p:nvPr/>
        </p:nvSpPr>
        <p:spPr>
          <a:xfrm>
            <a:off x="416984" y="2019300"/>
            <a:ext cx="5602816" cy="276999"/>
          </a:xfrm>
          <a:prstGeom prst="rect">
            <a:avLst/>
          </a:prstGeom>
        </p:spPr>
        <p:txBody>
          <a:bodyPr wrap="none">
            <a:spAutoFit/>
          </a:bodyPr>
          <a:lstStyle/>
          <a:p>
            <a:pPr algn="just"/>
            <a:r>
              <a:rPr lang="es-ES" b="1" dirty="0"/>
              <a:t>Ejemplos de constructos</a:t>
            </a:r>
            <a:r>
              <a:rPr lang="es-ES" dirty="0"/>
              <a:t>: Inteligencia, personalidad, innovación, ansiedad,… </a:t>
            </a:r>
          </a:p>
        </p:txBody>
      </p:sp>
      <p:sp>
        <p:nvSpPr>
          <p:cNvPr id="12" name="Rectángulo 11">
            <a:extLst>
              <a:ext uri="{FF2B5EF4-FFF2-40B4-BE49-F238E27FC236}">
                <a16:creationId xmlns:a16="http://schemas.microsoft.com/office/drawing/2014/main" id="{4FA1099D-27EE-44E4-AA4E-ABAD3E51EC56}"/>
              </a:ext>
            </a:extLst>
          </p:cNvPr>
          <p:cNvSpPr/>
          <p:nvPr/>
        </p:nvSpPr>
        <p:spPr>
          <a:xfrm>
            <a:off x="428624" y="1170049"/>
            <a:ext cx="8353425" cy="830997"/>
          </a:xfrm>
          <a:prstGeom prst="rect">
            <a:avLst/>
          </a:prstGeom>
        </p:spPr>
        <p:txBody>
          <a:bodyPr wrap="square">
            <a:spAutoFit/>
          </a:bodyPr>
          <a:lstStyle/>
          <a:p>
            <a:pPr algn="just"/>
            <a:r>
              <a:rPr lang="es-ES" dirty="0"/>
              <a:t>Idealización de un concepto en el marco de una teoría (habitualmente psicológica). Desde el punto de vista físico, el constructo es una magnitud </a:t>
            </a:r>
            <a:r>
              <a:rPr lang="es-ES" b="1" i="1" dirty="0"/>
              <a:t>mal medible</a:t>
            </a:r>
            <a:r>
              <a:rPr lang="es-ES" dirty="0"/>
              <a:t>, no hay un instrumento físico de medida que permita evaluar su magnitud o intensidad. En su lugar se utilizan </a:t>
            </a:r>
            <a:r>
              <a:rPr lang="es-ES" b="1" i="1" dirty="0"/>
              <a:t>cuestionarios</a:t>
            </a:r>
            <a:r>
              <a:rPr lang="es-ES" dirty="0"/>
              <a:t> (= </a:t>
            </a:r>
            <a:r>
              <a:rPr lang="es-ES" b="1" i="1" dirty="0"/>
              <a:t>instrumentos</a:t>
            </a:r>
            <a:r>
              <a:rPr lang="es-ES" dirty="0"/>
              <a:t> en el ámbito psicométrico). Habitualmente se define a través de múltiples aspectos (=variables = </a:t>
            </a:r>
            <a:r>
              <a:rPr lang="es-ES" b="1" i="1" dirty="0"/>
              <a:t>ítems </a:t>
            </a:r>
            <a:r>
              <a:rPr lang="es-ES" dirty="0"/>
              <a:t>del cuestionario). </a:t>
            </a:r>
          </a:p>
        </p:txBody>
      </p:sp>
      <p:sp>
        <p:nvSpPr>
          <p:cNvPr id="7" name="Rectángulo 6">
            <a:extLst>
              <a:ext uri="{FF2B5EF4-FFF2-40B4-BE49-F238E27FC236}">
                <a16:creationId xmlns:a16="http://schemas.microsoft.com/office/drawing/2014/main" id="{BFE49C44-0709-425C-BDD6-5CA64AC390C6}"/>
              </a:ext>
            </a:extLst>
          </p:cNvPr>
          <p:cNvSpPr/>
          <p:nvPr/>
        </p:nvSpPr>
        <p:spPr>
          <a:xfrm>
            <a:off x="1346597" y="927426"/>
            <a:ext cx="5140469" cy="276999"/>
          </a:xfrm>
          <a:prstGeom prst="rect">
            <a:avLst/>
          </a:prstGeom>
        </p:spPr>
        <p:txBody>
          <a:bodyPr wrap="square">
            <a:spAutoFit/>
          </a:bodyPr>
          <a:lstStyle/>
          <a:p>
            <a:r>
              <a:rPr lang="es-ES" dirty="0"/>
              <a:t>(RAE: Construcción</a:t>
            </a:r>
            <a:r>
              <a:rPr lang="es-ES" dirty="0">
                <a:solidFill>
                  <a:srgbClr val="000000"/>
                </a:solidFill>
                <a:latin typeface="Arial Unicode MS" panose="020B0604020202020204" pitchFamily="34" charset="-128"/>
                <a:ea typeface="Arial Unicode MS" panose="020B0604020202020204" pitchFamily="34" charset="-128"/>
              </a:rPr>
              <a:t> </a:t>
            </a:r>
            <a:r>
              <a:rPr lang="es-ES" dirty="0"/>
              <a:t>teórica</a:t>
            </a:r>
            <a:r>
              <a:rPr lang="es-ES" dirty="0">
                <a:solidFill>
                  <a:srgbClr val="000000"/>
                </a:solidFill>
                <a:latin typeface="Arial Unicode MS" panose="020B0604020202020204" pitchFamily="34" charset="-128"/>
                <a:ea typeface="Arial Unicode MS" panose="020B0604020202020204" pitchFamily="34" charset="-128"/>
              </a:rPr>
              <a:t> </a:t>
            </a:r>
            <a:r>
              <a:rPr lang="es-ES" dirty="0"/>
              <a:t>para</a:t>
            </a:r>
            <a:r>
              <a:rPr lang="es-ES" dirty="0">
                <a:solidFill>
                  <a:srgbClr val="000000"/>
                </a:solidFill>
                <a:latin typeface="Arial Unicode MS" panose="020B0604020202020204" pitchFamily="34" charset="-128"/>
                <a:ea typeface="Arial Unicode MS" panose="020B0604020202020204" pitchFamily="34" charset="-128"/>
              </a:rPr>
              <a:t> </a:t>
            </a:r>
            <a:r>
              <a:rPr lang="es-ES" dirty="0"/>
              <a:t>comprender</a:t>
            </a:r>
            <a:r>
              <a:rPr lang="es-ES" dirty="0">
                <a:solidFill>
                  <a:srgbClr val="000000"/>
                </a:solidFill>
                <a:latin typeface="Arial Unicode MS" panose="020B0604020202020204" pitchFamily="34" charset="-128"/>
                <a:ea typeface="Arial Unicode MS" panose="020B0604020202020204" pitchFamily="34" charset="-128"/>
              </a:rPr>
              <a:t> </a:t>
            </a:r>
            <a:r>
              <a:rPr lang="es-ES" dirty="0"/>
              <a:t>un</a:t>
            </a:r>
            <a:r>
              <a:rPr lang="es-ES" dirty="0">
                <a:solidFill>
                  <a:srgbClr val="000000"/>
                </a:solidFill>
                <a:latin typeface="Arial Unicode MS" panose="020B0604020202020204" pitchFamily="34" charset="-128"/>
                <a:ea typeface="Arial Unicode MS" panose="020B0604020202020204" pitchFamily="34" charset="-128"/>
              </a:rPr>
              <a:t> </a:t>
            </a:r>
            <a:r>
              <a:rPr lang="es-ES" dirty="0"/>
              <a:t>problema</a:t>
            </a:r>
            <a:r>
              <a:rPr lang="es-ES" dirty="0">
                <a:solidFill>
                  <a:srgbClr val="000000"/>
                </a:solidFill>
                <a:latin typeface="Arial Unicode MS" panose="020B0604020202020204" pitchFamily="34" charset="-128"/>
                <a:ea typeface="Arial Unicode MS" panose="020B0604020202020204" pitchFamily="34" charset="-128"/>
              </a:rPr>
              <a:t> </a:t>
            </a:r>
            <a:r>
              <a:rPr lang="es-ES" dirty="0"/>
              <a:t>determinado</a:t>
            </a:r>
            <a:r>
              <a:rPr lang="es-ES" dirty="0">
                <a:solidFill>
                  <a:srgbClr val="000000"/>
                </a:solidFill>
                <a:latin typeface="Arial Unicode MS" panose="020B0604020202020204" pitchFamily="34" charset="-128"/>
                <a:ea typeface="Arial Unicode MS" panose="020B0604020202020204" pitchFamily="34" charset="-128"/>
              </a:rPr>
              <a:t>)</a:t>
            </a:r>
            <a:endParaRPr lang="es-ES" dirty="0"/>
          </a:p>
        </p:txBody>
      </p:sp>
      <p:sp>
        <p:nvSpPr>
          <p:cNvPr id="14" name="CuadroTexto 13">
            <a:extLst>
              <a:ext uri="{FF2B5EF4-FFF2-40B4-BE49-F238E27FC236}">
                <a16:creationId xmlns:a16="http://schemas.microsoft.com/office/drawing/2014/main" id="{043A1502-A424-4D0C-981F-7D1CEA9AFE17}"/>
              </a:ext>
            </a:extLst>
          </p:cNvPr>
          <p:cNvSpPr txBox="1"/>
          <p:nvPr/>
        </p:nvSpPr>
        <p:spPr>
          <a:xfrm>
            <a:off x="4626043" y="2365210"/>
            <a:ext cx="3836307" cy="276999"/>
          </a:xfrm>
          <a:prstGeom prst="rect">
            <a:avLst/>
          </a:prstGeom>
          <a:noFill/>
        </p:spPr>
        <p:txBody>
          <a:bodyPr wrap="none" rtlCol="0">
            <a:spAutoFit/>
          </a:bodyPr>
          <a:lstStyle/>
          <a:p>
            <a:r>
              <a:rPr lang="es-ES" dirty="0">
                <a:solidFill>
                  <a:schemeClr val="accent5">
                    <a:lumMod val="25000"/>
                  </a:schemeClr>
                </a:solidFill>
              </a:rPr>
              <a:t>¿Puede </a:t>
            </a:r>
            <a:r>
              <a:rPr lang="es-ES" b="1" dirty="0">
                <a:solidFill>
                  <a:schemeClr val="accent5">
                    <a:lumMod val="25000"/>
                  </a:schemeClr>
                </a:solidFill>
              </a:rPr>
              <a:t>definir</a:t>
            </a:r>
            <a:r>
              <a:rPr lang="es-ES" dirty="0">
                <a:solidFill>
                  <a:schemeClr val="accent5">
                    <a:lumMod val="25000"/>
                  </a:schemeClr>
                </a:solidFill>
              </a:rPr>
              <a:t> lo que es la </a:t>
            </a:r>
            <a:r>
              <a:rPr lang="es-ES" b="1" dirty="0">
                <a:solidFill>
                  <a:schemeClr val="accent5">
                    <a:lumMod val="25000"/>
                  </a:schemeClr>
                </a:solidFill>
              </a:rPr>
              <a:t>estatura</a:t>
            </a:r>
            <a:r>
              <a:rPr lang="es-ES" dirty="0">
                <a:solidFill>
                  <a:schemeClr val="accent5">
                    <a:lumMod val="25000"/>
                  </a:schemeClr>
                </a:solidFill>
              </a:rPr>
              <a:t> de un paciente?</a:t>
            </a:r>
          </a:p>
        </p:txBody>
      </p:sp>
      <p:sp>
        <p:nvSpPr>
          <p:cNvPr id="15" name="CuadroTexto 14">
            <a:extLst>
              <a:ext uri="{FF2B5EF4-FFF2-40B4-BE49-F238E27FC236}">
                <a16:creationId xmlns:a16="http://schemas.microsoft.com/office/drawing/2014/main" id="{1577CC35-0DAB-44F2-A232-B3EB2A6C2A32}"/>
              </a:ext>
            </a:extLst>
          </p:cNvPr>
          <p:cNvSpPr txBox="1"/>
          <p:nvPr/>
        </p:nvSpPr>
        <p:spPr>
          <a:xfrm>
            <a:off x="4331892" y="2590800"/>
            <a:ext cx="4424609" cy="276999"/>
          </a:xfrm>
          <a:prstGeom prst="rect">
            <a:avLst/>
          </a:prstGeom>
          <a:noFill/>
        </p:spPr>
        <p:txBody>
          <a:bodyPr wrap="none" rtlCol="0">
            <a:spAutoFit/>
          </a:bodyPr>
          <a:lstStyle/>
          <a:p>
            <a:r>
              <a:rPr lang="es-ES" dirty="0">
                <a:solidFill>
                  <a:schemeClr val="accent5">
                    <a:lumMod val="25000"/>
                  </a:schemeClr>
                </a:solidFill>
              </a:rPr>
              <a:t>¿Puede explicar cómo </a:t>
            </a:r>
            <a:r>
              <a:rPr lang="es-ES" b="1" dirty="0">
                <a:solidFill>
                  <a:schemeClr val="accent5">
                    <a:lumMod val="25000"/>
                  </a:schemeClr>
                </a:solidFill>
              </a:rPr>
              <a:t>cuantificar</a:t>
            </a:r>
            <a:r>
              <a:rPr lang="es-ES" dirty="0">
                <a:solidFill>
                  <a:schemeClr val="accent5">
                    <a:lumMod val="25000"/>
                  </a:schemeClr>
                </a:solidFill>
              </a:rPr>
              <a:t> la </a:t>
            </a:r>
            <a:r>
              <a:rPr lang="es-ES" b="1" dirty="0">
                <a:solidFill>
                  <a:schemeClr val="accent5">
                    <a:lumMod val="25000"/>
                  </a:schemeClr>
                </a:solidFill>
              </a:rPr>
              <a:t>estatura</a:t>
            </a:r>
            <a:r>
              <a:rPr lang="es-ES" dirty="0">
                <a:solidFill>
                  <a:schemeClr val="accent5">
                    <a:lumMod val="25000"/>
                  </a:schemeClr>
                </a:solidFill>
              </a:rPr>
              <a:t> de un paciente?</a:t>
            </a:r>
          </a:p>
        </p:txBody>
      </p:sp>
      <p:sp>
        <p:nvSpPr>
          <p:cNvPr id="16" name="CuadroTexto 15">
            <a:extLst>
              <a:ext uri="{FF2B5EF4-FFF2-40B4-BE49-F238E27FC236}">
                <a16:creationId xmlns:a16="http://schemas.microsoft.com/office/drawing/2014/main" id="{2046062C-6107-4E1B-80CB-B2D3BBDABA31}"/>
              </a:ext>
            </a:extLst>
          </p:cNvPr>
          <p:cNvSpPr txBox="1"/>
          <p:nvPr/>
        </p:nvSpPr>
        <p:spPr>
          <a:xfrm>
            <a:off x="4309450" y="2971800"/>
            <a:ext cx="4469493" cy="276999"/>
          </a:xfrm>
          <a:prstGeom prst="rect">
            <a:avLst/>
          </a:prstGeom>
          <a:noFill/>
        </p:spPr>
        <p:txBody>
          <a:bodyPr wrap="none" rtlCol="0">
            <a:spAutoFit/>
          </a:bodyPr>
          <a:lstStyle/>
          <a:p>
            <a:r>
              <a:rPr lang="es-ES" dirty="0">
                <a:solidFill>
                  <a:schemeClr val="accent5">
                    <a:lumMod val="25000"/>
                  </a:schemeClr>
                </a:solidFill>
              </a:rPr>
              <a:t>¿Puede definir lo que es el </a:t>
            </a:r>
            <a:r>
              <a:rPr lang="es-ES" b="1" dirty="0">
                <a:solidFill>
                  <a:schemeClr val="accent5">
                    <a:lumMod val="25000"/>
                  </a:schemeClr>
                </a:solidFill>
              </a:rPr>
              <a:t>nivel de ansiedad </a:t>
            </a:r>
            <a:r>
              <a:rPr lang="es-ES" dirty="0">
                <a:solidFill>
                  <a:schemeClr val="accent5">
                    <a:lumMod val="25000"/>
                  </a:schemeClr>
                </a:solidFill>
              </a:rPr>
              <a:t>de un paciente?</a:t>
            </a:r>
          </a:p>
        </p:txBody>
      </p:sp>
      <p:sp>
        <p:nvSpPr>
          <p:cNvPr id="17" name="CuadroTexto 16">
            <a:extLst>
              <a:ext uri="{FF2B5EF4-FFF2-40B4-BE49-F238E27FC236}">
                <a16:creationId xmlns:a16="http://schemas.microsoft.com/office/drawing/2014/main" id="{05BDD9CB-ACAD-4424-BB28-72C45B5D3ACB}"/>
              </a:ext>
            </a:extLst>
          </p:cNvPr>
          <p:cNvSpPr txBox="1"/>
          <p:nvPr/>
        </p:nvSpPr>
        <p:spPr>
          <a:xfrm>
            <a:off x="3962400" y="3195741"/>
            <a:ext cx="5163593" cy="276999"/>
          </a:xfrm>
          <a:prstGeom prst="rect">
            <a:avLst/>
          </a:prstGeom>
          <a:noFill/>
        </p:spPr>
        <p:txBody>
          <a:bodyPr wrap="none" rtlCol="0">
            <a:spAutoFit/>
          </a:bodyPr>
          <a:lstStyle/>
          <a:p>
            <a:r>
              <a:rPr lang="es-ES" dirty="0">
                <a:solidFill>
                  <a:schemeClr val="accent5">
                    <a:lumMod val="25000"/>
                  </a:schemeClr>
                </a:solidFill>
              </a:rPr>
              <a:t>¿Puede explicar cómo </a:t>
            </a:r>
            <a:r>
              <a:rPr lang="es-ES" b="1" dirty="0">
                <a:solidFill>
                  <a:schemeClr val="accent5">
                    <a:lumMod val="25000"/>
                  </a:schemeClr>
                </a:solidFill>
              </a:rPr>
              <a:t>cuantificar el nivel de ansiedad </a:t>
            </a:r>
            <a:r>
              <a:rPr lang="es-ES" dirty="0">
                <a:solidFill>
                  <a:schemeClr val="accent5">
                    <a:lumMod val="25000"/>
                  </a:schemeClr>
                </a:solidFill>
              </a:rPr>
              <a:t>de un paciente?</a:t>
            </a:r>
          </a:p>
        </p:txBody>
      </p:sp>
      <p:sp>
        <p:nvSpPr>
          <p:cNvPr id="18" name="Rectángulo: esquinas redondeadas 17">
            <a:extLst>
              <a:ext uri="{FF2B5EF4-FFF2-40B4-BE49-F238E27FC236}">
                <a16:creationId xmlns:a16="http://schemas.microsoft.com/office/drawing/2014/main" id="{B7ABFB09-FE8D-47B8-BC0B-4FF0841AED49}"/>
              </a:ext>
            </a:extLst>
          </p:cNvPr>
          <p:cNvSpPr/>
          <p:nvPr/>
        </p:nvSpPr>
        <p:spPr>
          <a:xfrm>
            <a:off x="3957118" y="2336635"/>
            <a:ext cx="5107805" cy="1175393"/>
          </a:xfrm>
          <a:prstGeom prst="roundRect">
            <a:avLst>
              <a:gd name="adj" fmla="val 12264"/>
            </a:avLst>
          </a:prstGeom>
          <a:no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a:p>
        </p:txBody>
      </p:sp>
      <p:sp>
        <p:nvSpPr>
          <p:cNvPr id="21" name="Rectángulo 20">
            <a:extLst>
              <a:ext uri="{FF2B5EF4-FFF2-40B4-BE49-F238E27FC236}">
                <a16:creationId xmlns:a16="http://schemas.microsoft.com/office/drawing/2014/main" id="{8ADF016E-74B3-41D6-BEAA-5149D5670BE7}"/>
              </a:ext>
            </a:extLst>
          </p:cNvPr>
          <p:cNvSpPr/>
          <p:nvPr/>
        </p:nvSpPr>
        <p:spPr>
          <a:xfrm>
            <a:off x="176237" y="4764560"/>
            <a:ext cx="4038600" cy="307777"/>
          </a:xfrm>
          <a:prstGeom prst="rect">
            <a:avLst/>
          </a:prstGeom>
        </p:spPr>
        <p:txBody>
          <a:bodyPr wrap="square">
            <a:spAutoFit/>
          </a:bodyPr>
          <a:lstStyle/>
          <a:p>
            <a:r>
              <a:rPr lang="es-ES" sz="1400" b="1" dirty="0"/>
              <a:t>Cuestionario</a:t>
            </a:r>
            <a:r>
              <a:rPr lang="es-ES" dirty="0"/>
              <a:t> = Instrumento para </a:t>
            </a:r>
            <a:r>
              <a:rPr lang="es-ES" i="1" dirty="0"/>
              <a:t>medir constructos</a:t>
            </a:r>
          </a:p>
        </p:txBody>
      </p:sp>
      <p:sp>
        <p:nvSpPr>
          <p:cNvPr id="22" name="Abrir llave 21">
            <a:extLst>
              <a:ext uri="{FF2B5EF4-FFF2-40B4-BE49-F238E27FC236}">
                <a16:creationId xmlns:a16="http://schemas.microsoft.com/office/drawing/2014/main" id="{AB2E44F1-08FE-4082-BD45-9BA192A0F234}"/>
              </a:ext>
            </a:extLst>
          </p:cNvPr>
          <p:cNvSpPr/>
          <p:nvPr/>
        </p:nvSpPr>
        <p:spPr>
          <a:xfrm>
            <a:off x="2250875" y="2288376"/>
            <a:ext cx="122139" cy="790529"/>
          </a:xfrm>
          <a:prstGeom prst="leftBrac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23" name="Abrir llave 22">
            <a:extLst>
              <a:ext uri="{FF2B5EF4-FFF2-40B4-BE49-F238E27FC236}">
                <a16:creationId xmlns:a16="http://schemas.microsoft.com/office/drawing/2014/main" id="{94FFDD76-05DA-46C3-A04B-D1EB9DFA9926}"/>
              </a:ext>
            </a:extLst>
          </p:cNvPr>
          <p:cNvSpPr/>
          <p:nvPr/>
        </p:nvSpPr>
        <p:spPr>
          <a:xfrm>
            <a:off x="686246" y="3479580"/>
            <a:ext cx="61070" cy="1187902"/>
          </a:xfrm>
          <a:prstGeom prst="leftBrac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25" name="Rectángulo 24">
            <a:extLst>
              <a:ext uri="{FF2B5EF4-FFF2-40B4-BE49-F238E27FC236}">
                <a16:creationId xmlns:a16="http://schemas.microsoft.com/office/drawing/2014/main" id="{A5C06243-5FB0-4518-8205-B0F26A3EE749}"/>
              </a:ext>
            </a:extLst>
          </p:cNvPr>
          <p:cNvSpPr/>
          <p:nvPr/>
        </p:nvSpPr>
        <p:spPr>
          <a:xfrm>
            <a:off x="503757" y="6058391"/>
            <a:ext cx="3915843" cy="646331"/>
          </a:xfrm>
          <a:prstGeom prst="rect">
            <a:avLst/>
          </a:prstGeom>
        </p:spPr>
        <p:txBody>
          <a:bodyPr wrap="square">
            <a:spAutoFit/>
          </a:bodyPr>
          <a:lstStyle/>
          <a:p>
            <a:pPr algn="just"/>
            <a:r>
              <a:rPr lang="es-ES" dirty="0"/>
              <a:t>Las escalas de Likert son </a:t>
            </a:r>
            <a:r>
              <a:rPr lang="es-ES" b="1" i="1" dirty="0"/>
              <a:t>sumativas</a:t>
            </a:r>
            <a:r>
              <a:rPr lang="es-ES" dirty="0"/>
              <a:t>, de manera que se obtiene una </a:t>
            </a:r>
            <a:r>
              <a:rPr lang="es-ES" b="1" i="1" dirty="0"/>
              <a:t>puntuación total </a:t>
            </a:r>
            <a:r>
              <a:rPr lang="es-ES" dirty="0"/>
              <a:t>del cuestionario obtenida por la suma de los ítems </a:t>
            </a:r>
          </a:p>
        </p:txBody>
      </p:sp>
      <p:pic>
        <p:nvPicPr>
          <p:cNvPr id="26" name="Imagen 25">
            <a:extLst>
              <a:ext uri="{FF2B5EF4-FFF2-40B4-BE49-F238E27FC236}">
                <a16:creationId xmlns:a16="http://schemas.microsoft.com/office/drawing/2014/main" id="{483AC81E-B8E6-459E-A124-C5F2232E39AD}"/>
              </a:ext>
            </a:extLst>
          </p:cNvPr>
          <p:cNvPicPr>
            <a:picLocks noChangeAspect="1"/>
          </p:cNvPicPr>
          <p:nvPr/>
        </p:nvPicPr>
        <p:blipFill>
          <a:blip r:embed="rId2"/>
          <a:stretch>
            <a:fillRect/>
          </a:stretch>
        </p:blipFill>
        <p:spPr>
          <a:xfrm>
            <a:off x="4905375" y="4986010"/>
            <a:ext cx="3180952" cy="1400000"/>
          </a:xfrm>
          <a:prstGeom prst="rect">
            <a:avLst/>
          </a:prstGeom>
        </p:spPr>
      </p:pic>
      <p:sp>
        <p:nvSpPr>
          <p:cNvPr id="27" name="Rectángulo: esquinas redondeadas 26">
            <a:extLst>
              <a:ext uri="{FF2B5EF4-FFF2-40B4-BE49-F238E27FC236}">
                <a16:creationId xmlns:a16="http://schemas.microsoft.com/office/drawing/2014/main" id="{5E5557C6-BC3D-47D1-98B6-C684F46EE440}"/>
              </a:ext>
            </a:extLst>
          </p:cNvPr>
          <p:cNvSpPr/>
          <p:nvPr/>
        </p:nvSpPr>
        <p:spPr>
          <a:xfrm>
            <a:off x="4700248" y="4667482"/>
            <a:ext cx="3915842" cy="1852574"/>
          </a:xfrm>
          <a:prstGeom prst="roundRect">
            <a:avLst>
              <a:gd name="adj" fmla="val 7412"/>
            </a:avLst>
          </a:prstGeom>
          <a:noFill/>
          <a:ln w="12700">
            <a:solidFill>
              <a:srgbClr val="EEB5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Text Box 2">
            <a:extLst>
              <a:ext uri="{FF2B5EF4-FFF2-40B4-BE49-F238E27FC236}">
                <a16:creationId xmlns:a16="http://schemas.microsoft.com/office/drawing/2014/main" id="{01E7964F-C6F8-4068-9D4B-1663FBCA484E}"/>
              </a:ext>
            </a:extLst>
          </p:cNvPr>
          <p:cNvSpPr txBox="1">
            <a:spLocks noChangeArrowheads="1"/>
          </p:cNvSpPr>
          <p:nvPr/>
        </p:nvSpPr>
        <p:spPr bwMode="auto">
          <a:xfrm>
            <a:off x="244475" y="315913"/>
            <a:ext cx="53527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Las escalas en Medicina y Ciencias de la Salud</a:t>
            </a:r>
            <a:endParaRPr lang="es-ES" altLang="es-ES" sz="1800" b="1" dirty="0"/>
          </a:p>
        </p:txBody>
      </p:sp>
      <p:sp>
        <p:nvSpPr>
          <p:cNvPr id="31" name="CuadroTexto 30">
            <a:extLst>
              <a:ext uri="{FF2B5EF4-FFF2-40B4-BE49-F238E27FC236}">
                <a16:creationId xmlns:a16="http://schemas.microsoft.com/office/drawing/2014/main" id="{D1C7B3F0-38F1-4585-A92F-8F5AEC797835}"/>
              </a:ext>
            </a:extLst>
          </p:cNvPr>
          <p:cNvSpPr txBox="1"/>
          <p:nvPr/>
        </p:nvSpPr>
        <p:spPr>
          <a:xfrm>
            <a:off x="5943600" y="6413833"/>
            <a:ext cx="2465740" cy="276999"/>
          </a:xfrm>
          <a:prstGeom prst="rect">
            <a:avLst/>
          </a:prstGeom>
          <a:solidFill>
            <a:schemeClr val="bg1"/>
          </a:solidFill>
        </p:spPr>
        <p:txBody>
          <a:bodyPr wrap="none" rtlCol="0">
            <a:spAutoFit/>
          </a:bodyPr>
          <a:lstStyle/>
          <a:p>
            <a:r>
              <a:rPr lang="es-ES" dirty="0">
                <a:solidFill>
                  <a:schemeClr val="accent1">
                    <a:lumMod val="25000"/>
                  </a:schemeClr>
                </a:solidFill>
              </a:rPr>
              <a:t>¿Da igual la codificación elegida?</a:t>
            </a:r>
          </a:p>
        </p:txBody>
      </p:sp>
    </p:spTree>
    <p:extLst>
      <p:ext uri="{BB962C8B-B14F-4D97-AF65-F5344CB8AC3E}">
        <p14:creationId xmlns:p14="http://schemas.microsoft.com/office/powerpoint/2010/main" val="3841300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AF3C8E2-7FC3-45E8-AC6B-63DF9A57FED7}"/>
              </a:ext>
            </a:extLst>
          </p:cNvPr>
          <p:cNvPicPr>
            <a:picLocks noChangeAspect="1"/>
          </p:cNvPicPr>
          <p:nvPr/>
        </p:nvPicPr>
        <p:blipFill>
          <a:blip r:embed="rId2"/>
          <a:stretch>
            <a:fillRect/>
          </a:stretch>
        </p:blipFill>
        <p:spPr>
          <a:xfrm>
            <a:off x="463656" y="354440"/>
            <a:ext cx="7045162" cy="4548344"/>
          </a:xfrm>
          <a:prstGeom prst="rect">
            <a:avLst/>
          </a:prstGeom>
        </p:spPr>
      </p:pic>
      <p:sp>
        <p:nvSpPr>
          <p:cNvPr id="10" name="CuadroTexto 9">
            <a:extLst>
              <a:ext uri="{FF2B5EF4-FFF2-40B4-BE49-F238E27FC236}">
                <a16:creationId xmlns:a16="http://schemas.microsoft.com/office/drawing/2014/main" id="{D6042941-16A2-4A85-B802-D8D8A96D057C}"/>
              </a:ext>
            </a:extLst>
          </p:cNvPr>
          <p:cNvSpPr txBox="1"/>
          <p:nvPr/>
        </p:nvSpPr>
        <p:spPr>
          <a:xfrm>
            <a:off x="394712" y="4968101"/>
            <a:ext cx="8635260" cy="276999"/>
          </a:xfrm>
          <a:prstGeom prst="rect">
            <a:avLst/>
          </a:prstGeom>
          <a:noFill/>
        </p:spPr>
        <p:txBody>
          <a:bodyPr wrap="square" rtlCol="0">
            <a:spAutoFit/>
          </a:bodyPr>
          <a:lstStyle/>
          <a:p>
            <a:r>
              <a:rPr lang="es-ES" dirty="0"/>
              <a:t>La escala es </a:t>
            </a:r>
            <a:r>
              <a:rPr lang="es-ES" b="1" dirty="0"/>
              <a:t>sumativa</a:t>
            </a:r>
            <a:r>
              <a:rPr lang="es-ES" dirty="0"/>
              <a:t>. Para el diagnóstico suelen asumirse </a:t>
            </a:r>
            <a:r>
              <a:rPr lang="es-ES" b="1" i="1" dirty="0"/>
              <a:t>puntos de corte </a:t>
            </a:r>
            <a:r>
              <a:rPr lang="es-ES" dirty="0"/>
              <a:t>(=categorización de la variable numérica)</a:t>
            </a:r>
          </a:p>
        </p:txBody>
      </p:sp>
      <p:grpSp>
        <p:nvGrpSpPr>
          <p:cNvPr id="4" name="Grupo 3">
            <a:extLst>
              <a:ext uri="{FF2B5EF4-FFF2-40B4-BE49-F238E27FC236}">
                <a16:creationId xmlns:a16="http://schemas.microsoft.com/office/drawing/2014/main" id="{CADDD3C8-BFF9-4FC0-BC4C-7D14897A104D}"/>
              </a:ext>
            </a:extLst>
          </p:cNvPr>
          <p:cNvGrpSpPr/>
          <p:nvPr/>
        </p:nvGrpSpPr>
        <p:grpSpPr>
          <a:xfrm>
            <a:off x="394713" y="5267236"/>
            <a:ext cx="8580374" cy="600164"/>
            <a:chOff x="394713" y="5191036"/>
            <a:chExt cx="8580374" cy="600164"/>
          </a:xfrm>
        </p:grpSpPr>
        <p:cxnSp>
          <p:nvCxnSpPr>
            <p:cNvPr id="15" name="Conector recto de flecha 14">
              <a:extLst>
                <a:ext uri="{FF2B5EF4-FFF2-40B4-BE49-F238E27FC236}">
                  <a16:creationId xmlns:a16="http://schemas.microsoft.com/office/drawing/2014/main" id="{FD097C90-B1CC-472A-96F5-1A5B829A3954}"/>
                </a:ext>
              </a:extLst>
            </p:cNvPr>
            <p:cNvCxnSpPr>
              <a:cxnSpLocks/>
            </p:cNvCxnSpPr>
            <p:nvPr/>
          </p:nvCxnSpPr>
          <p:spPr>
            <a:xfrm>
              <a:off x="6407057" y="5493820"/>
              <a:ext cx="204201" cy="55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F1472DFB-CD96-4031-963E-2B111A361C97}"/>
                </a:ext>
              </a:extLst>
            </p:cNvPr>
            <p:cNvSpPr txBox="1"/>
            <p:nvPr/>
          </p:nvSpPr>
          <p:spPr>
            <a:xfrm>
              <a:off x="394713" y="5353881"/>
              <a:ext cx="6052494" cy="276999"/>
            </a:xfrm>
            <a:prstGeom prst="rect">
              <a:avLst/>
            </a:prstGeom>
            <a:noFill/>
          </p:spPr>
          <p:txBody>
            <a:bodyPr wrap="none" rtlCol="0">
              <a:spAutoFit/>
            </a:bodyPr>
            <a:lstStyle/>
            <a:p>
              <a:r>
                <a:rPr lang="es-ES" dirty="0"/>
                <a:t>Un total de 22 ítems puntuados en una escala de 0 a 4 → Puntuación total 0-88 puntos</a:t>
              </a:r>
            </a:p>
          </p:txBody>
        </p:sp>
        <p:sp>
          <p:nvSpPr>
            <p:cNvPr id="11" name="Rectángulo 10">
              <a:extLst>
                <a:ext uri="{FF2B5EF4-FFF2-40B4-BE49-F238E27FC236}">
                  <a16:creationId xmlns:a16="http://schemas.microsoft.com/office/drawing/2014/main" id="{B1CB1B8C-B90E-48D3-9469-597D1868A030}"/>
                </a:ext>
              </a:extLst>
            </p:cNvPr>
            <p:cNvSpPr/>
            <p:nvPr/>
          </p:nvSpPr>
          <p:spPr>
            <a:xfrm>
              <a:off x="6737900" y="5191036"/>
              <a:ext cx="2237187" cy="600164"/>
            </a:xfrm>
            <a:prstGeom prst="rect">
              <a:avLst/>
            </a:prstGeom>
          </p:spPr>
          <p:txBody>
            <a:bodyPr wrap="square">
              <a:spAutoFit/>
            </a:bodyPr>
            <a:lstStyle/>
            <a:p>
              <a:pPr defTabSz="536575"/>
              <a:r>
                <a:rPr lang="es-ES" sz="1100" dirty="0"/>
                <a:t>&lt; 46	No hay sobrecarga</a:t>
              </a:r>
            </a:p>
            <a:p>
              <a:pPr defTabSz="536575"/>
              <a:r>
                <a:rPr lang="es-ES" sz="1100" dirty="0"/>
                <a:t>46-56	Sobrecarga moderada</a:t>
              </a:r>
            </a:p>
            <a:p>
              <a:pPr defTabSz="536575"/>
              <a:r>
                <a:rPr lang="es-ES" sz="1100" dirty="0"/>
                <a:t>&gt;56	Sobrecarga intensa</a:t>
              </a:r>
            </a:p>
          </p:txBody>
        </p:sp>
        <p:sp>
          <p:nvSpPr>
            <p:cNvPr id="12" name="Abrir llave 11">
              <a:extLst>
                <a:ext uri="{FF2B5EF4-FFF2-40B4-BE49-F238E27FC236}">
                  <a16:creationId xmlns:a16="http://schemas.microsoft.com/office/drawing/2014/main" id="{31FEF29D-F93B-4F88-93E2-C8D81920B40C}"/>
                </a:ext>
              </a:extLst>
            </p:cNvPr>
            <p:cNvSpPr/>
            <p:nvPr/>
          </p:nvSpPr>
          <p:spPr>
            <a:xfrm>
              <a:off x="6683015" y="5224131"/>
              <a:ext cx="122338" cy="567069"/>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sz="1100"/>
            </a:p>
          </p:txBody>
        </p:sp>
      </p:grpSp>
      <p:grpSp>
        <p:nvGrpSpPr>
          <p:cNvPr id="5" name="Grupo 4">
            <a:extLst>
              <a:ext uri="{FF2B5EF4-FFF2-40B4-BE49-F238E27FC236}">
                <a16:creationId xmlns:a16="http://schemas.microsoft.com/office/drawing/2014/main" id="{D99536A3-00AB-4117-9938-155FD20C6BBC}"/>
              </a:ext>
            </a:extLst>
          </p:cNvPr>
          <p:cNvGrpSpPr/>
          <p:nvPr/>
        </p:nvGrpSpPr>
        <p:grpSpPr>
          <a:xfrm>
            <a:off x="381000" y="5867400"/>
            <a:ext cx="7459292" cy="783122"/>
            <a:chOff x="381000" y="5771298"/>
            <a:chExt cx="7459292" cy="783122"/>
          </a:xfrm>
        </p:grpSpPr>
        <p:sp>
          <p:nvSpPr>
            <p:cNvPr id="9" name="CuadroTexto 8">
              <a:extLst>
                <a:ext uri="{FF2B5EF4-FFF2-40B4-BE49-F238E27FC236}">
                  <a16:creationId xmlns:a16="http://schemas.microsoft.com/office/drawing/2014/main" id="{E06BBA8F-4918-4B13-AF40-4630AD77A9C3}"/>
                </a:ext>
              </a:extLst>
            </p:cNvPr>
            <p:cNvSpPr txBox="1"/>
            <p:nvPr/>
          </p:nvSpPr>
          <p:spPr>
            <a:xfrm>
              <a:off x="381000" y="5896342"/>
              <a:ext cx="4722564" cy="461665"/>
            </a:xfrm>
            <a:prstGeom prst="rect">
              <a:avLst/>
            </a:prstGeom>
            <a:noFill/>
          </p:spPr>
          <p:txBody>
            <a:bodyPr wrap="square" rtlCol="0">
              <a:spAutoFit/>
            </a:bodyPr>
            <a:lstStyle/>
            <a:p>
              <a:r>
                <a:rPr lang="es-ES" dirty="0"/>
                <a:t>En España es más habitual puntuar los ítems de 1 a 5, entonces la escala iría de 22 a 110 puntos </a:t>
              </a:r>
            </a:p>
          </p:txBody>
        </p:sp>
        <p:cxnSp>
          <p:nvCxnSpPr>
            <p:cNvPr id="17" name="Conector recto de flecha 16">
              <a:extLst>
                <a:ext uri="{FF2B5EF4-FFF2-40B4-BE49-F238E27FC236}">
                  <a16:creationId xmlns:a16="http://schemas.microsoft.com/office/drawing/2014/main" id="{DE111D58-7A14-42EE-84D4-47739C1377FB}"/>
                </a:ext>
              </a:extLst>
            </p:cNvPr>
            <p:cNvCxnSpPr>
              <a:cxnSpLocks/>
            </p:cNvCxnSpPr>
            <p:nvPr/>
          </p:nvCxnSpPr>
          <p:spPr>
            <a:xfrm>
              <a:off x="5099820" y="6132872"/>
              <a:ext cx="428251" cy="55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tángulo 17">
              <a:extLst>
                <a:ext uri="{FF2B5EF4-FFF2-40B4-BE49-F238E27FC236}">
                  <a16:creationId xmlns:a16="http://schemas.microsoft.com/office/drawing/2014/main" id="{2949B75B-6D25-4403-82C1-2A2FFD5950B2}"/>
                </a:ext>
              </a:extLst>
            </p:cNvPr>
            <p:cNvSpPr/>
            <p:nvPr/>
          </p:nvSpPr>
          <p:spPr>
            <a:xfrm>
              <a:off x="5770413" y="5784979"/>
              <a:ext cx="2069879" cy="769441"/>
            </a:xfrm>
            <a:prstGeom prst="rect">
              <a:avLst/>
            </a:prstGeom>
          </p:spPr>
          <p:txBody>
            <a:bodyPr wrap="square">
              <a:spAutoFit/>
            </a:bodyPr>
            <a:lstStyle/>
            <a:p>
              <a:pPr defTabSz="536575"/>
              <a:r>
                <a:rPr lang="es-ES" sz="1100" dirty="0"/>
                <a:t>&lt; 68	No hay sobrecarga</a:t>
              </a:r>
            </a:p>
            <a:p>
              <a:pPr defTabSz="536575"/>
              <a:r>
                <a:rPr lang="es-ES" sz="1100" dirty="0"/>
                <a:t>68-78	Sobrecarga moderada</a:t>
              </a:r>
            </a:p>
            <a:p>
              <a:pPr defTabSz="536575"/>
              <a:r>
                <a:rPr lang="es-ES" sz="1100" dirty="0"/>
                <a:t>&gt;78	Sobrecarga intensa</a:t>
              </a:r>
            </a:p>
          </p:txBody>
        </p:sp>
        <p:sp>
          <p:nvSpPr>
            <p:cNvPr id="19" name="Abrir llave 18">
              <a:extLst>
                <a:ext uri="{FF2B5EF4-FFF2-40B4-BE49-F238E27FC236}">
                  <a16:creationId xmlns:a16="http://schemas.microsoft.com/office/drawing/2014/main" id="{E9E6E5A8-B0F6-47A2-A507-588926AD98E1}"/>
                </a:ext>
              </a:extLst>
            </p:cNvPr>
            <p:cNvSpPr/>
            <p:nvPr/>
          </p:nvSpPr>
          <p:spPr>
            <a:xfrm>
              <a:off x="5636855" y="5771298"/>
              <a:ext cx="92512" cy="732262"/>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sz="1100"/>
            </a:p>
          </p:txBody>
        </p:sp>
      </p:grpSp>
      <p:sp>
        <p:nvSpPr>
          <p:cNvPr id="23" name="CuadroTexto 22">
            <a:extLst>
              <a:ext uri="{FF2B5EF4-FFF2-40B4-BE49-F238E27FC236}">
                <a16:creationId xmlns:a16="http://schemas.microsoft.com/office/drawing/2014/main" id="{A86F106D-E613-47AE-BACD-E1490EBF1FF8}"/>
              </a:ext>
            </a:extLst>
          </p:cNvPr>
          <p:cNvSpPr txBox="1"/>
          <p:nvPr/>
        </p:nvSpPr>
        <p:spPr>
          <a:xfrm>
            <a:off x="381000" y="6477000"/>
            <a:ext cx="4131397" cy="276999"/>
          </a:xfrm>
          <a:prstGeom prst="rect">
            <a:avLst/>
          </a:prstGeom>
          <a:noFill/>
        </p:spPr>
        <p:txBody>
          <a:bodyPr wrap="square" rtlCol="0">
            <a:spAutoFit/>
          </a:bodyPr>
          <a:lstStyle/>
          <a:p>
            <a:r>
              <a:rPr lang="es-ES" dirty="0"/>
              <a:t>Fiabilidad </a:t>
            </a:r>
            <a:r>
              <a:rPr lang="es-ES" i="1" dirty="0"/>
              <a:t>test-</a:t>
            </a:r>
            <a:r>
              <a:rPr lang="es-ES" i="1" dirty="0" err="1"/>
              <a:t>retest</a:t>
            </a:r>
            <a:r>
              <a:rPr lang="es-ES" dirty="0"/>
              <a:t> = 0.86</a:t>
            </a:r>
          </a:p>
        </p:txBody>
      </p:sp>
      <p:sp>
        <p:nvSpPr>
          <p:cNvPr id="20" name="Text Box 2">
            <a:extLst>
              <a:ext uri="{FF2B5EF4-FFF2-40B4-BE49-F238E27FC236}">
                <a16:creationId xmlns:a16="http://schemas.microsoft.com/office/drawing/2014/main" id="{3AECBCAB-B6EC-4A37-B909-2058837850F6}"/>
              </a:ext>
            </a:extLst>
          </p:cNvPr>
          <p:cNvSpPr txBox="1">
            <a:spLocks noChangeArrowheads="1"/>
          </p:cNvSpPr>
          <p:nvPr/>
        </p:nvSpPr>
        <p:spPr bwMode="auto">
          <a:xfrm>
            <a:off x="244475" y="315913"/>
            <a:ext cx="469391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600" b="1" dirty="0"/>
              <a:t>Ejemplo de variables de tipo ordinal (escalas) </a:t>
            </a:r>
            <a:endParaRPr lang="es-ES" altLang="es-ES" sz="1600" b="1" dirty="0"/>
          </a:p>
        </p:txBody>
      </p:sp>
      <p:sp>
        <p:nvSpPr>
          <p:cNvPr id="21" name="Rectángulo 20">
            <a:extLst>
              <a:ext uri="{FF2B5EF4-FFF2-40B4-BE49-F238E27FC236}">
                <a16:creationId xmlns:a16="http://schemas.microsoft.com/office/drawing/2014/main" id="{7B0743D4-D948-44A4-AC5C-FD55A074ACA5}"/>
              </a:ext>
            </a:extLst>
          </p:cNvPr>
          <p:cNvSpPr/>
          <p:nvPr/>
        </p:nvSpPr>
        <p:spPr>
          <a:xfrm>
            <a:off x="228599" y="825908"/>
            <a:ext cx="5500768" cy="307777"/>
          </a:xfrm>
          <a:prstGeom prst="rect">
            <a:avLst/>
          </a:prstGeom>
        </p:spPr>
        <p:txBody>
          <a:bodyPr wrap="square">
            <a:spAutoFit/>
          </a:bodyPr>
          <a:lstStyle/>
          <a:p>
            <a:r>
              <a:rPr lang="es-ES" sz="1400" b="1" dirty="0">
                <a:solidFill>
                  <a:schemeClr val="accent5">
                    <a:lumMod val="25000"/>
                  </a:schemeClr>
                </a:solidFill>
              </a:rPr>
              <a:t>Test de Zarit para evaluar el nivel de sobrecarga del cuidador</a:t>
            </a:r>
          </a:p>
        </p:txBody>
      </p:sp>
    </p:spTree>
    <p:extLst>
      <p:ext uri="{BB962C8B-B14F-4D97-AF65-F5344CB8AC3E}">
        <p14:creationId xmlns:p14="http://schemas.microsoft.com/office/powerpoint/2010/main" val="4156443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702E51FA-7B8F-4126-95AC-2167D59EE1A1}"/>
              </a:ext>
            </a:extLst>
          </p:cNvPr>
          <p:cNvSpPr txBox="1"/>
          <p:nvPr/>
        </p:nvSpPr>
        <p:spPr>
          <a:xfrm>
            <a:off x="247650" y="1110134"/>
            <a:ext cx="5690789" cy="276999"/>
          </a:xfrm>
          <a:prstGeom prst="rect">
            <a:avLst/>
          </a:prstGeom>
          <a:noFill/>
        </p:spPr>
        <p:txBody>
          <a:bodyPr wrap="none" rtlCol="0">
            <a:spAutoFit/>
          </a:bodyPr>
          <a:lstStyle/>
          <a:p>
            <a:r>
              <a:rPr lang="es-ES" sz="1200" b="1" dirty="0">
                <a:solidFill>
                  <a:schemeClr val="accent1">
                    <a:lumMod val="25000"/>
                  </a:schemeClr>
                </a:solidFill>
              </a:rPr>
              <a:t>Escala de Norton </a:t>
            </a:r>
            <a:r>
              <a:rPr lang="es-ES" sz="1200" dirty="0"/>
              <a:t>– Valoración del riesgo del deterioro de la integridad cutánea. </a:t>
            </a:r>
          </a:p>
        </p:txBody>
      </p:sp>
      <p:sp>
        <p:nvSpPr>
          <p:cNvPr id="5" name="CuadroTexto 4">
            <a:extLst>
              <a:ext uri="{FF2B5EF4-FFF2-40B4-BE49-F238E27FC236}">
                <a16:creationId xmlns:a16="http://schemas.microsoft.com/office/drawing/2014/main" id="{86658AA4-EB7B-405A-9314-504D05B5EA61}"/>
              </a:ext>
            </a:extLst>
          </p:cNvPr>
          <p:cNvSpPr txBox="1"/>
          <p:nvPr/>
        </p:nvSpPr>
        <p:spPr>
          <a:xfrm>
            <a:off x="533400" y="1367995"/>
            <a:ext cx="5716117" cy="276999"/>
          </a:xfrm>
          <a:prstGeom prst="rect">
            <a:avLst/>
          </a:prstGeom>
          <a:noFill/>
        </p:spPr>
        <p:txBody>
          <a:bodyPr wrap="none" rtlCol="0">
            <a:spAutoFit/>
          </a:bodyPr>
          <a:lstStyle/>
          <a:p>
            <a:r>
              <a:rPr lang="es-ES" sz="1200" dirty="0"/>
              <a:t>Consta de 14 ítems. Cada uno se puntúa de 1 (=mayor deterioro) a 4 (=menor deterioro)</a:t>
            </a:r>
          </a:p>
        </p:txBody>
      </p:sp>
      <p:sp>
        <p:nvSpPr>
          <p:cNvPr id="6" name="CuadroTexto 5">
            <a:extLst>
              <a:ext uri="{FF2B5EF4-FFF2-40B4-BE49-F238E27FC236}">
                <a16:creationId xmlns:a16="http://schemas.microsoft.com/office/drawing/2014/main" id="{06FD9772-2071-4101-9C51-4AF7AFB5303A}"/>
              </a:ext>
            </a:extLst>
          </p:cNvPr>
          <p:cNvSpPr txBox="1"/>
          <p:nvPr/>
        </p:nvSpPr>
        <p:spPr>
          <a:xfrm>
            <a:off x="533400" y="1749844"/>
            <a:ext cx="3869072" cy="276999"/>
          </a:xfrm>
          <a:prstGeom prst="rect">
            <a:avLst/>
          </a:prstGeom>
          <a:noFill/>
        </p:spPr>
        <p:txBody>
          <a:bodyPr wrap="none" rtlCol="0">
            <a:spAutoFit/>
          </a:bodyPr>
          <a:lstStyle/>
          <a:p>
            <a:r>
              <a:rPr lang="es-ES" sz="1200" dirty="0"/>
              <a:t>Riesgo de formación de úlceras según la puntuación total:</a:t>
            </a:r>
          </a:p>
        </p:txBody>
      </p:sp>
      <p:sp>
        <p:nvSpPr>
          <p:cNvPr id="8" name="CuadroTexto 7">
            <a:extLst>
              <a:ext uri="{FF2B5EF4-FFF2-40B4-BE49-F238E27FC236}">
                <a16:creationId xmlns:a16="http://schemas.microsoft.com/office/drawing/2014/main" id="{D67099B0-B9B9-4472-A9CA-C008ADEB9EEF}"/>
              </a:ext>
            </a:extLst>
          </p:cNvPr>
          <p:cNvSpPr txBox="1"/>
          <p:nvPr/>
        </p:nvSpPr>
        <p:spPr>
          <a:xfrm>
            <a:off x="228600" y="2465402"/>
            <a:ext cx="7085401" cy="276999"/>
          </a:xfrm>
          <a:prstGeom prst="rect">
            <a:avLst/>
          </a:prstGeom>
          <a:noFill/>
        </p:spPr>
        <p:txBody>
          <a:bodyPr wrap="none" rtlCol="0">
            <a:spAutoFit/>
          </a:bodyPr>
          <a:lstStyle/>
          <a:p>
            <a:r>
              <a:rPr lang="es-ES" sz="1200" b="1" dirty="0">
                <a:solidFill>
                  <a:schemeClr val="accent1">
                    <a:lumMod val="25000"/>
                  </a:schemeClr>
                </a:solidFill>
              </a:rPr>
              <a:t>Escala de Barthel </a:t>
            </a:r>
            <a:r>
              <a:rPr lang="es-ES" sz="1200" dirty="0"/>
              <a:t>– Valoración de la capacidad para realizar las actividades básicas de la vida diaria</a:t>
            </a:r>
          </a:p>
        </p:txBody>
      </p:sp>
      <p:sp>
        <p:nvSpPr>
          <p:cNvPr id="9" name="CuadroTexto 8">
            <a:extLst>
              <a:ext uri="{FF2B5EF4-FFF2-40B4-BE49-F238E27FC236}">
                <a16:creationId xmlns:a16="http://schemas.microsoft.com/office/drawing/2014/main" id="{B66DB50D-639D-4AFC-99A0-9997D051281B}"/>
              </a:ext>
            </a:extLst>
          </p:cNvPr>
          <p:cNvSpPr txBox="1"/>
          <p:nvPr/>
        </p:nvSpPr>
        <p:spPr>
          <a:xfrm>
            <a:off x="533401" y="2780885"/>
            <a:ext cx="4495799" cy="646331"/>
          </a:xfrm>
          <a:prstGeom prst="rect">
            <a:avLst/>
          </a:prstGeom>
          <a:noFill/>
        </p:spPr>
        <p:txBody>
          <a:bodyPr wrap="square" rtlCol="0">
            <a:spAutoFit/>
          </a:bodyPr>
          <a:lstStyle/>
          <a:p>
            <a:pPr algn="just"/>
            <a:r>
              <a:rPr lang="es-ES" sz="1200" dirty="0"/>
              <a:t>Consta de 10 ítems. No todos se puntúan igual. Valoración de cada ítem: 0 (=independencia), 5, 10 incluso 15 en algunos ítems (mayor puntuación = mayor independencia) </a:t>
            </a:r>
          </a:p>
        </p:txBody>
      </p:sp>
      <p:sp>
        <p:nvSpPr>
          <p:cNvPr id="10" name="CuadroTexto 9">
            <a:extLst>
              <a:ext uri="{FF2B5EF4-FFF2-40B4-BE49-F238E27FC236}">
                <a16:creationId xmlns:a16="http://schemas.microsoft.com/office/drawing/2014/main" id="{3E13FB57-45DC-4378-A918-71F3FB8D808B}"/>
              </a:ext>
            </a:extLst>
          </p:cNvPr>
          <p:cNvSpPr txBox="1"/>
          <p:nvPr/>
        </p:nvSpPr>
        <p:spPr>
          <a:xfrm>
            <a:off x="5334000" y="2824816"/>
            <a:ext cx="3458201" cy="2123658"/>
          </a:xfrm>
          <a:prstGeom prst="rect">
            <a:avLst/>
          </a:prstGeom>
          <a:noFill/>
        </p:spPr>
        <p:txBody>
          <a:bodyPr wrap="square" rtlCol="0">
            <a:spAutoFit/>
          </a:bodyPr>
          <a:lstStyle/>
          <a:p>
            <a:r>
              <a:rPr lang="es-ES" sz="1100" dirty="0">
                <a:solidFill>
                  <a:schemeClr val="accent1">
                    <a:lumMod val="10000"/>
                  </a:schemeClr>
                </a:solidFill>
              </a:rPr>
              <a:t>Actividad		Puntuación</a:t>
            </a:r>
          </a:p>
          <a:p>
            <a:r>
              <a:rPr lang="es-ES" sz="1100" dirty="0"/>
              <a:t>Comer</a:t>
            </a:r>
            <a:r>
              <a:rPr lang="es-ES" sz="1100" u="sng" dirty="0">
                <a:solidFill>
                  <a:schemeClr val="bg1">
                    <a:lumMod val="65000"/>
                  </a:schemeClr>
                </a:solidFill>
              </a:rPr>
              <a:t>		</a:t>
            </a:r>
            <a:r>
              <a:rPr lang="es-ES" sz="1100" dirty="0"/>
              <a:t>0 – 5 – 10</a:t>
            </a:r>
          </a:p>
          <a:p>
            <a:r>
              <a:rPr lang="es-ES" sz="1100" dirty="0"/>
              <a:t>Empleo ducha/baño</a:t>
            </a:r>
            <a:r>
              <a:rPr lang="es-ES" sz="1100" u="sng" dirty="0">
                <a:solidFill>
                  <a:schemeClr val="bg1">
                    <a:lumMod val="65000"/>
                  </a:schemeClr>
                </a:solidFill>
              </a:rPr>
              <a:t> 	</a:t>
            </a:r>
            <a:r>
              <a:rPr lang="es-ES" sz="1100" dirty="0"/>
              <a:t>0 – 5</a:t>
            </a:r>
          </a:p>
          <a:p>
            <a:r>
              <a:rPr lang="es-ES" sz="1100" dirty="0"/>
              <a:t>Vestirse</a:t>
            </a:r>
            <a:r>
              <a:rPr lang="es-ES" sz="1100" u="sng" dirty="0">
                <a:solidFill>
                  <a:schemeClr val="bg1">
                    <a:lumMod val="65000"/>
                  </a:schemeClr>
                </a:solidFill>
              </a:rPr>
              <a:t> 		</a:t>
            </a:r>
            <a:r>
              <a:rPr lang="es-ES" sz="1100" dirty="0"/>
              <a:t>0 – 5 – 10</a:t>
            </a:r>
          </a:p>
          <a:p>
            <a:r>
              <a:rPr lang="es-ES" sz="1100" dirty="0"/>
              <a:t>Aseo personal</a:t>
            </a:r>
            <a:r>
              <a:rPr lang="es-ES" sz="1100" u="sng" dirty="0">
                <a:solidFill>
                  <a:schemeClr val="bg1">
                    <a:lumMod val="65000"/>
                  </a:schemeClr>
                </a:solidFill>
              </a:rPr>
              <a:t>		</a:t>
            </a:r>
            <a:r>
              <a:rPr lang="es-ES" sz="1100" dirty="0"/>
              <a:t>0 – 5</a:t>
            </a:r>
          </a:p>
          <a:p>
            <a:r>
              <a:rPr lang="es-ES" sz="1100" dirty="0"/>
              <a:t>Control anal</a:t>
            </a:r>
            <a:r>
              <a:rPr lang="es-ES" sz="1100" u="sng" dirty="0">
                <a:solidFill>
                  <a:schemeClr val="bg1">
                    <a:lumMod val="65000"/>
                  </a:schemeClr>
                </a:solidFill>
              </a:rPr>
              <a:t> 		</a:t>
            </a:r>
            <a:r>
              <a:rPr lang="es-ES" sz="1100" dirty="0"/>
              <a:t>0 – 5 – 10</a:t>
            </a:r>
          </a:p>
          <a:p>
            <a:r>
              <a:rPr lang="es-ES" sz="1100" dirty="0"/>
              <a:t>Control vesical</a:t>
            </a:r>
            <a:r>
              <a:rPr lang="es-ES" sz="1100" u="sng" dirty="0">
                <a:solidFill>
                  <a:schemeClr val="bg1">
                    <a:lumMod val="65000"/>
                  </a:schemeClr>
                </a:solidFill>
              </a:rPr>
              <a:t> 	</a:t>
            </a:r>
            <a:r>
              <a:rPr lang="es-ES" sz="1100" dirty="0"/>
              <a:t>0 – 5 – 10</a:t>
            </a:r>
          </a:p>
          <a:p>
            <a:r>
              <a:rPr lang="es-ES" sz="1100" dirty="0"/>
              <a:t>Uso retrete</a:t>
            </a:r>
            <a:r>
              <a:rPr lang="es-ES" sz="1100" u="sng" dirty="0">
                <a:solidFill>
                  <a:schemeClr val="bg1">
                    <a:lumMod val="65000"/>
                  </a:schemeClr>
                </a:solidFill>
              </a:rPr>
              <a:t> 		</a:t>
            </a:r>
            <a:r>
              <a:rPr lang="es-ES" sz="1100" dirty="0"/>
              <a:t>0 – 5 – 10</a:t>
            </a:r>
          </a:p>
          <a:p>
            <a:r>
              <a:rPr lang="es-ES" sz="1100" dirty="0"/>
              <a:t>Trasladarse (sillón/cama)</a:t>
            </a:r>
            <a:r>
              <a:rPr lang="es-ES" sz="1100" u="sng" dirty="0">
                <a:solidFill>
                  <a:schemeClr val="bg1">
                    <a:lumMod val="65000"/>
                  </a:schemeClr>
                </a:solidFill>
              </a:rPr>
              <a:t> 	</a:t>
            </a:r>
            <a:r>
              <a:rPr lang="es-ES" sz="1100" dirty="0"/>
              <a:t>0 – 5 – 10 – 15</a:t>
            </a:r>
          </a:p>
          <a:p>
            <a:r>
              <a:rPr lang="es-ES" sz="1100" dirty="0"/>
              <a:t>Desplazamiento</a:t>
            </a:r>
            <a:r>
              <a:rPr lang="es-ES" sz="1100" u="sng" dirty="0">
                <a:solidFill>
                  <a:schemeClr val="bg1">
                    <a:lumMod val="65000"/>
                  </a:schemeClr>
                </a:solidFill>
              </a:rPr>
              <a:t> 	</a:t>
            </a:r>
            <a:r>
              <a:rPr lang="es-ES" sz="1100" dirty="0"/>
              <a:t>0 – 5 – 10 – 15</a:t>
            </a:r>
          </a:p>
          <a:p>
            <a:r>
              <a:rPr lang="es-ES" sz="1100" dirty="0"/>
              <a:t>Subir escaleras</a:t>
            </a:r>
            <a:r>
              <a:rPr lang="es-ES" sz="1100" u="sng" dirty="0">
                <a:solidFill>
                  <a:schemeClr val="bg1">
                    <a:lumMod val="65000"/>
                  </a:schemeClr>
                </a:solidFill>
              </a:rPr>
              <a:t> 	</a:t>
            </a:r>
            <a:r>
              <a:rPr lang="es-ES" sz="1100" dirty="0"/>
              <a:t>0 – 5 – 10</a:t>
            </a:r>
          </a:p>
          <a:p>
            <a:endParaRPr lang="es-ES" sz="1100" dirty="0"/>
          </a:p>
        </p:txBody>
      </p:sp>
      <p:grpSp>
        <p:nvGrpSpPr>
          <p:cNvPr id="36" name="Grupo 35">
            <a:extLst>
              <a:ext uri="{FF2B5EF4-FFF2-40B4-BE49-F238E27FC236}">
                <a16:creationId xmlns:a16="http://schemas.microsoft.com/office/drawing/2014/main" id="{3C30C2D4-46CE-42DC-B50F-B0539543EBAE}"/>
              </a:ext>
            </a:extLst>
          </p:cNvPr>
          <p:cNvGrpSpPr/>
          <p:nvPr/>
        </p:nvGrpSpPr>
        <p:grpSpPr>
          <a:xfrm>
            <a:off x="4826604" y="1676400"/>
            <a:ext cx="1752310" cy="769441"/>
            <a:chOff x="4826604" y="1745159"/>
            <a:chExt cx="1752310" cy="769441"/>
          </a:xfrm>
        </p:grpSpPr>
        <p:sp>
          <p:nvSpPr>
            <p:cNvPr id="7" name="CuadroTexto 6">
              <a:extLst>
                <a:ext uri="{FF2B5EF4-FFF2-40B4-BE49-F238E27FC236}">
                  <a16:creationId xmlns:a16="http://schemas.microsoft.com/office/drawing/2014/main" id="{B947F950-08A8-4B97-8BB5-DC295D5A9AED}"/>
                </a:ext>
              </a:extLst>
            </p:cNvPr>
            <p:cNvSpPr txBox="1"/>
            <p:nvPr/>
          </p:nvSpPr>
          <p:spPr>
            <a:xfrm>
              <a:off x="4826604" y="1745159"/>
              <a:ext cx="1742785" cy="769441"/>
            </a:xfrm>
            <a:prstGeom prst="rect">
              <a:avLst/>
            </a:prstGeom>
            <a:noFill/>
          </p:spPr>
          <p:txBody>
            <a:bodyPr wrap="none" rtlCol="0">
              <a:spAutoFit/>
            </a:bodyPr>
            <a:lstStyle/>
            <a:p>
              <a:r>
                <a:rPr lang="es-ES" sz="1100" dirty="0">
                  <a:solidFill>
                    <a:schemeClr val="accent1">
                      <a:lumMod val="25000"/>
                    </a:schemeClr>
                  </a:solidFill>
                </a:rPr>
                <a:t>Puntuación 	Riesgo</a:t>
              </a:r>
            </a:p>
            <a:p>
              <a:pPr>
                <a:tabLst>
                  <a:tab pos="179388" algn="l"/>
                </a:tabLst>
              </a:pPr>
              <a:r>
                <a:rPr lang="es-ES" sz="1100" dirty="0"/>
                <a:t> 	 1-11    	Muy alto</a:t>
              </a:r>
            </a:p>
            <a:p>
              <a:pPr>
                <a:tabLst>
                  <a:tab pos="179388" algn="l"/>
                </a:tabLst>
              </a:pPr>
              <a:r>
                <a:rPr lang="es-ES" sz="1100" dirty="0"/>
                <a:t>	12-14  	Moderado</a:t>
              </a:r>
            </a:p>
            <a:p>
              <a:pPr>
                <a:tabLst>
                  <a:tab pos="179388" algn="l"/>
                </a:tabLst>
              </a:pPr>
              <a:r>
                <a:rPr lang="es-ES" sz="1100" dirty="0"/>
                <a:t>	15-20  	Mínimo</a:t>
              </a:r>
            </a:p>
          </p:txBody>
        </p:sp>
        <p:grpSp>
          <p:nvGrpSpPr>
            <p:cNvPr id="23" name="Grupo 22">
              <a:extLst>
                <a:ext uri="{FF2B5EF4-FFF2-40B4-BE49-F238E27FC236}">
                  <a16:creationId xmlns:a16="http://schemas.microsoft.com/office/drawing/2014/main" id="{C107FF26-DD39-4B26-8046-9BFBCF305E5A}"/>
                </a:ext>
              </a:extLst>
            </p:cNvPr>
            <p:cNvGrpSpPr/>
            <p:nvPr/>
          </p:nvGrpSpPr>
          <p:grpSpPr>
            <a:xfrm>
              <a:off x="4841898" y="1753786"/>
              <a:ext cx="1737016" cy="738915"/>
              <a:chOff x="4861279" y="1585185"/>
              <a:chExt cx="1737016" cy="738915"/>
            </a:xfrm>
          </p:grpSpPr>
          <p:cxnSp>
            <p:nvCxnSpPr>
              <p:cNvPr id="3" name="Conector recto 2">
                <a:extLst>
                  <a:ext uri="{FF2B5EF4-FFF2-40B4-BE49-F238E27FC236}">
                    <a16:creationId xmlns:a16="http://schemas.microsoft.com/office/drawing/2014/main" id="{514D65B9-1E27-4A4F-8063-D6E7D597ED7D}"/>
                  </a:ext>
                </a:extLst>
              </p:cNvPr>
              <p:cNvCxnSpPr/>
              <p:nvPr/>
            </p:nvCxnSpPr>
            <p:spPr>
              <a:xfrm>
                <a:off x="4861279" y="1796845"/>
                <a:ext cx="1737016" cy="0"/>
              </a:xfrm>
              <a:prstGeom prst="line">
                <a:avLst/>
              </a:prstGeom>
              <a:ln>
                <a:solidFill>
                  <a:srgbClr val="2B6367"/>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5ECE8FAD-00FF-434C-A610-71D2C6BDF201}"/>
                  </a:ext>
                </a:extLst>
              </p:cNvPr>
              <p:cNvCxnSpPr/>
              <p:nvPr/>
            </p:nvCxnSpPr>
            <p:spPr>
              <a:xfrm>
                <a:off x="4861279" y="2324100"/>
                <a:ext cx="1737016" cy="0"/>
              </a:xfrm>
              <a:prstGeom prst="line">
                <a:avLst/>
              </a:prstGeom>
              <a:ln>
                <a:solidFill>
                  <a:srgbClr val="2B6367"/>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88FC1BD4-6E65-4010-9682-E089F18A12F0}"/>
                  </a:ext>
                </a:extLst>
              </p:cNvPr>
              <p:cNvCxnSpPr/>
              <p:nvPr/>
            </p:nvCxnSpPr>
            <p:spPr>
              <a:xfrm>
                <a:off x="4861279" y="1585185"/>
                <a:ext cx="1737016" cy="0"/>
              </a:xfrm>
              <a:prstGeom prst="line">
                <a:avLst/>
              </a:prstGeom>
              <a:ln>
                <a:solidFill>
                  <a:srgbClr val="2B6367"/>
                </a:solidFill>
              </a:ln>
            </p:spPr>
            <p:style>
              <a:lnRef idx="1">
                <a:schemeClr val="accent1"/>
              </a:lnRef>
              <a:fillRef idx="0">
                <a:schemeClr val="accent1"/>
              </a:fillRef>
              <a:effectRef idx="0">
                <a:schemeClr val="accent1"/>
              </a:effectRef>
              <a:fontRef idx="minor">
                <a:schemeClr val="tx1"/>
              </a:fontRef>
            </p:style>
          </p:cxnSp>
        </p:grpSp>
      </p:grpSp>
      <p:grpSp>
        <p:nvGrpSpPr>
          <p:cNvPr id="24" name="Grupo 23">
            <a:extLst>
              <a:ext uri="{FF2B5EF4-FFF2-40B4-BE49-F238E27FC236}">
                <a16:creationId xmlns:a16="http://schemas.microsoft.com/office/drawing/2014/main" id="{4A089574-4EBD-42CC-9810-3BB03AD85F78}"/>
              </a:ext>
            </a:extLst>
          </p:cNvPr>
          <p:cNvGrpSpPr/>
          <p:nvPr/>
        </p:nvGrpSpPr>
        <p:grpSpPr>
          <a:xfrm>
            <a:off x="5355775" y="3028951"/>
            <a:ext cx="3067025" cy="1792148"/>
            <a:chOff x="4861279" y="1665139"/>
            <a:chExt cx="1737016" cy="658961"/>
          </a:xfrm>
        </p:grpSpPr>
        <p:cxnSp>
          <p:nvCxnSpPr>
            <p:cNvPr id="25" name="Conector recto 24">
              <a:extLst>
                <a:ext uri="{FF2B5EF4-FFF2-40B4-BE49-F238E27FC236}">
                  <a16:creationId xmlns:a16="http://schemas.microsoft.com/office/drawing/2014/main" id="{9E7F9481-6788-405A-AEC4-86CFF0AC6718}"/>
                </a:ext>
              </a:extLst>
            </p:cNvPr>
            <p:cNvCxnSpPr/>
            <p:nvPr/>
          </p:nvCxnSpPr>
          <p:spPr>
            <a:xfrm>
              <a:off x="4861279" y="1665139"/>
              <a:ext cx="1737016" cy="0"/>
            </a:xfrm>
            <a:prstGeom prst="line">
              <a:avLst/>
            </a:prstGeom>
            <a:ln>
              <a:solidFill>
                <a:srgbClr val="2B6367"/>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FD03B27C-6CBB-4DB4-B9DF-991A0B135A0E}"/>
                </a:ext>
              </a:extLst>
            </p:cNvPr>
            <p:cNvCxnSpPr>
              <a:cxnSpLocks/>
            </p:cNvCxnSpPr>
            <p:nvPr/>
          </p:nvCxnSpPr>
          <p:spPr>
            <a:xfrm>
              <a:off x="4861279" y="2324100"/>
              <a:ext cx="1737016" cy="0"/>
            </a:xfrm>
            <a:prstGeom prst="line">
              <a:avLst/>
            </a:prstGeom>
            <a:ln>
              <a:solidFill>
                <a:srgbClr val="2B6367"/>
              </a:solidFill>
            </a:ln>
          </p:spPr>
          <p:style>
            <a:lnRef idx="1">
              <a:schemeClr val="accent1"/>
            </a:lnRef>
            <a:fillRef idx="0">
              <a:schemeClr val="accent1"/>
            </a:fillRef>
            <a:effectRef idx="0">
              <a:schemeClr val="accent1"/>
            </a:effectRef>
            <a:fontRef idx="minor">
              <a:schemeClr val="tx1"/>
            </a:fontRef>
          </p:style>
        </p:cxnSp>
      </p:grpSp>
      <p:grpSp>
        <p:nvGrpSpPr>
          <p:cNvPr id="33" name="Grupo 32">
            <a:extLst>
              <a:ext uri="{FF2B5EF4-FFF2-40B4-BE49-F238E27FC236}">
                <a16:creationId xmlns:a16="http://schemas.microsoft.com/office/drawing/2014/main" id="{44C1DD12-3663-4348-BC2B-9430C842CCDB}"/>
              </a:ext>
            </a:extLst>
          </p:cNvPr>
          <p:cNvGrpSpPr/>
          <p:nvPr/>
        </p:nvGrpSpPr>
        <p:grpSpPr>
          <a:xfrm>
            <a:off x="561975" y="3505200"/>
            <a:ext cx="2696969" cy="1167720"/>
            <a:chOff x="627257" y="3672429"/>
            <a:chExt cx="2696969" cy="1167720"/>
          </a:xfrm>
        </p:grpSpPr>
        <p:sp>
          <p:nvSpPr>
            <p:cNvPr id="11" name="CuadroTexto 10">
              <a:extLst>
                <a:ext uri="{FF2B5EF4-FFF2-40B4-BE49-F238E27FC236}">
                  <a16:creationId xmlns:a16="http://schemas.microsoft.com/office/drawing/2014/main" id="{956D059A-72C1-4AC9-9F12-A9AF98570CA7}"/>
                </a:ext>
              </a:extLst>
            </p:cNvPr>
            <p:cNvSpPr txBox="1"/>
            <p:nvPr/>
          </p:nvSpPr>
          <p:spPr>
            <a:xfrm>
              <a:off x="627257" y="3920853"/>
              <a:ext cx="2696969" cy="900246"/>
            </a:xfrm>
            <a:prstGeom prst="rect">
              <a:avLst/>
            </a:prstGeom>
            <a:noFill/>
          </p:spPr>
          <p:txBody>
            <a:bodyPr wrap="square" rtlCol="0">
              <a:spAutoFit/>
            </a:bodyPr>
            <a:lstStyle/>
            <a:p>
              <a:r>
                <a:rPr lang="es-ES" sz="1050" dirty="0"/>
                <a:t> 0   –   19 </a:t>
              </a:r>
              <a:r>
                <a:rPr lang="es-ES" sz="1050" u="sng" dirty="0">
                  <a:solidFill>
                    <a:schemeClr val="bg1">
                      <a:lumMod val="65000"/>
                    </a:schemeClr>
                  </a:solidFill>
                </a:rPr>
                <a:t> 	</a:t>
              </a:r>
              <a:r>
                <a:rPr lang="es-ES" sz="1050" dirty="0"/>
                <a:t> Dependencia Total</a:t>
              </a:r>
            </a:p>
            <a:p>
              <a:pPr>
                <a:tabLst>
                  <a:tab pos="179388" algn="l"/>
                </a:tabLst>
              </a:pPr>
              <a:r>
                <a:rPr lang="es-ES" sz="1050" dirty="0"/>
                <a:t>20  –   39 </a:t>
              </a:r>
              <a:r>
                <a:rPr lang="es-ES" sz="1050" u="sng" dirty="0">
                  <a:solidFill>
                    <a:schemeClr val="bg1">
                      <a:lumMod val="65000"/>
                    </a:schemeClr>
                  </a:solidFill>
                </a:rPr>
                <a:t>	</a:t>
              </a:r>
              <a:r>
                <a:rPr lang="es-ES" sz="1050" dirty="0"/>
                <a:t> Dependencia Grave</a:t>
              </a:r>
            </a:p>
            <a:p>
              <a:pPr>
                <a:tabLst>
                  <a:tab pos="179388" algn="l"/>
                </a:tabLst>
              </a:pPr>
              <a:r>
                <a:rPr lang="es-ES" sz="1050" dirty="0"/>
                <a:t>40  –   59 </a:t>
              </a:r>
              <a:r>
                <a:rPr lang="es-ES" sz="1050" u="sng" dirty="0">
                  <a:solidFill>
                    <a:schemeClr val="bg1">
                      <a:lumMod val="65000"/>
                    </a:schemeClr>
                  </a:solidFill>
                </a:rPr>
                <a:t>	</a:t>
              </a:r>
              <a:r>
                <a:rPr lang="es-ES" sz="1050" dirty="0"/>
                <a:t> Dependencia Moderada</a:t>
              </a:r>
            </a:p>
            <a:p>
              <a:pPr>
                <a:tabLst>
                  <a:tab pos="179388" algn="l"/>
                </a:tabLst>
              </a:pPr>
              <a:r>
                <a:rPr lang="es-ES" sz="1050" dirty="0"/>
                <a:t>60  –   85 </a:t>
              </a:r>
              <a:r>
                <a:rPr lang="es-ES" sz="1050" u="sng" dirty="0">
                  <a:solidFill>
                    <a:schemeClr val="bg1">
                      <a:lumMod val="65000"/>
                    </a:schemeClr>
                  </a:solidFill>
                </a:rPr>
                <a:t>	</a:t>
              </a:r>
              <a:r>
                <a:rPr lang="es-ES" sz="1050" dirty="0"/>
                <a:t> Dependencia Leve</a:t>
              </a:r>
            </a:p>
            <a:p>
              <a:pPr>
                <a:tabLst>
                  <a:tab pos="179388" algn="l"/>
                </a:tabLst>
              </a:pPr>
              <a:r>
                <a:rPr lang="es-ES" sz="1050" dirty="0"/>
                <a:t>86  – 100 </a:t>
              </a:r>
              <a:r>
                <a:rPr lang="es-ES" sz="1050" u="sng" dirty="0">
                  <a:solidFill>
                    <a:schemeClr val="bg1">
                      <a:lumMod val="65000"/>
                    </a:schemeClr>
                  </a:solidFill>
                </a:rPr>
                <a:t>	</a:t>
              </a:r>
              <a:r>
                <a:rPr lang="es-ES" sz="1050" dirty="0"/>
                <a:t> Independiente</a:t>
              </a:r>
            </a:p>
          </p:txBody>
        </p:sp>
        <p:grpSp>
          <p:nvGrpSpPr>
            <p:cNvPr id="29" name="Grupo 28">
              <a:extLst>
                <a:ext uri="{FF2B5EF4-FFF2-40B4-BE49-F238E27FC236}">
                  <a16:creationId xmlns:a16="http://schemas.microsoft.com/office/drawing/2014/main" id="{AB9F0C8F-7D22-4FD2-999F-EB8ED2A8F7FC}"/>
                </a:ext>
              </a:extLst>
            </p:cNvPr>
            <p:cNvGrpSpPr/>
            <p:nvPr/>
          </p:nvGrpSpPr>
          <p:grpSpPr>
            <a:xfrm>
              <a:off x="670502" y="3926094"/>
              <a:ext cx="2653724" cy="914055"/>
              <a:chOff x="4861279" y="1665139"/>
              <a:chExt cx="1737016" cy="658961"/>
            </a:xfrm>
          </p:grpSpPr>
          <p:cxnSp>
            <p:nvCxnSpPr>
              <p:cNvPr id="30" name="Conector recto 29">
                <a:extLst>
                  <a:ext uri="{FF2B5EF4-FFF2-40B4-BE49-F238E27FC236}">
                    <a16:creationId xmlns:a16="http://schemas.microsoft.com/office/drawing/2014/main" id="{87356105-8BF7-4389-9F3D-C321E484CF30}"/>
                  </a:ext>
                </a:extLst>
              </p:cNvPr>
              <p:cNvCxnSpPr/>
              <p:nvPr/>
            </p:nvCxnSpPr>
            <p:spPr>
              <a:xfrm>
                <a:off x="4861279" y="1665139"/>
                <a:ext cx="1737016" cy="0"/>
              </a:xfrm>
              <a:prstGeom prst="line">
                <a:avLst/>
              </a:prstGeom>
              <a:ln>
                <a:solidFill>
                  <a:srgbClr val="2B6367"/>
                </a:solidFill>
              </a:ln>
            </p:spPr>
            <p:style>
              <a:lnRef idx="1">
                <a:schemeClr val="accent1"/>
              </a:lnRef>
              <a:fillRef idx="0">
                <a:schemeClr val="accent1"/>
              </a:fillRef>
              <a:effectRef idx="0">
                <a:schemeClr val="accent1"/>
              </a:effectRef>
              <a:fontRef idx="minor">
                <a:schemeClr val="tx1"/>
              </a:fontRef>
            </p:style>
          </p:cxnSp>
          <p:cxnSp>
            <p:nvCxnSpPr>
              <p:cNvPr id="31" name="Conector recto 30">
                <a:extLst>
                  <a:ext uri="{FF2B5EF4-FFF2-40B4-BE49-F238E27FC236}">
                    <a16:creationId xmlns:a16="http://schemas.microsoft.com/office/drawing/2014/main" id="{F63024F4-1A77-413E-B3A1-D1E209E10636}"/>
                  </a:ext>
                </a:extLst>
              </p:cNvPr>
              <p:cNvCxnSpPr>
                <a:cxnSpLocks/>
              </p:cNvCxnSpPr>
              <p:nvPr/>
            </p:nvCxnSpPr>
            <p:spPr>
              <a:xfrm>
                <a:off x="4861279" y="2324100"/>
                <a:ext cx="1737016" cy="0"/>
              </a:xfrm>
              <a:prstGeom prst="line">
                <a:avLst/>
              </a:prstGeom>
              <a:ln>
                <a:solidFill>
                  <a:srgbClr val="2B6367"/>
                </a:solidFill>
              </a:ln>
            </p:spPr>
            <p:style>
              <a:lnRef idx="1">
                <a:schemeClr val="accent1"/>
              </a:lnRef>
              <a:fillRef idx="0">
                <a:schemeClr val="accent1"/>
              </a:fillRef>
              <a:effectRef idx="0">
                <a:schemeClr val="accent1"/>
              </a:effectRef>
              <a:fontRef idx="minor">
                <a:schemeClr val="tx1"/>
              </a:fontRef>
            </p:style>
          </p:cxnSp>
        </p:grpSp>
        <p:sp>
          <p:nvSpPr>
            <p:cNvPr id="32" name="Rectángulo 31">
              <a:extLst>
                <a:ext uri="{FF2B5EF4-FFF2-40B4-BE49-F238E27FC236}">
                  <a16:creationId xmlns:a16="http://schemas.microsoft.com/office/drawing/2014/main" id="{0932357E-D55C-4EA9-BDA7-EAF9E376E7FE}"/>
                </a:ext>
              </a:extLst>
            </p:cNvPr>
            <p:cNvSpPr/>
            <p:nvPr/>
          </p:nvSpPr>
          <p:spPr>
            <a:xfrm>
              <a:off x="646307" y="3672429"/>
              <a:ext cx="2467342" cy="261610"/>
            </a:xfrm>
            <a:prstGeom prst="rect">
              <a:avLst/>
            </a:prstGeom>
          </p:spPr>
          <p:txBody>
            <a:bodyPr wrap="none">
              <a:spAutoFit/>
            </a:bodyPr>
            <a:lstStyle/>
            <a:p>
              <a:r>
                <a:rPr lang="es-ES" sz="1050" dirty="0">
                  <a:solidFill>
                    <a:schemeClr val="accent1">
                      <a:lumMod val="25000"/>
                    </a:schemeClr>
                  </a:solidFill>
                </a:rPr>
                <a:t>Puntuación	Nivel de dependencia</a:t>
              </a:r>
            </a:p>
          </p:txBody>
        </p:sp>
      </p:grpSp>
      <p:sp>
        <p:nvSpPr>
          <p:cNvPr id="34" name="CuadroTexto 33">
            <a:extLst>
              <a:ext uri="{FF2B5EF4-FFF2-40B4-BE49-F238E27FC236}">
                <a16:creationId xmlns:a16="http://schemas.microsoft.com/office/drawing/2014/main" id="{2B54EC09-9A8F-40CC-BD18-85D7A8AE19D8}"/>
              </a:ext>
            </a:extLst>
          </p:cNvPr>
          <p:cNvSpPr txBox="1"/>
          <p:nvPr/>
        </p:nvSpPr>
        <p:spPr>
          <a:xfrm>
            <a:off x="238125" y="4902294"/>
            <a:ext cx="8549761" cy="889154"/>
          </a:xfrm>
          <a:prstGeom prst="rect">
            <a:avLst/>
          </a:prstGeom>
          <a:noFill/>
        </p:spPr>
        <p:txBody>
          <a:bodyPr wrap="square" rtlCol="0">
            <a:spAutoFit/>
          </a:bodyPr>
          <a:lstStyle/>
          <a:p>
            <a:pPr>
              <a:lnSpc>
                <a:spcPct val="150000"/>
              </a:lnSpc>
            </a:pPr>
            <a:r>
              <a:rPr lang="es-ES" dirty="0"/>
              <a:t>Construir un instrumento no es inmediato. Debe demostrarse su</a:t>
            </a:r>
          </a:p>
          <a:p>
            <a:pPr marL="171450" indent="-171450">
              <a:lnSpc>
                <a:spcPct val="150000"/>
              </a:lnSpc>
              <a:buFont typeface="Arial" panose="020B0604020202020204" pitchFamily="34" charset="0"/>
              <a:buChar char="•"/>
            </a:pPr>
            <a:r>
              <a:rPr lang="es-ES" b="1" dirty="0"/>
              <a:t>Validez</a:t>
            </a:r>
            <a:r>
              <a:rPr lang="es-ES" dirty="0"/>
              <a:t>: que el instrumento realmente mide el constructo que se pretende medir</a:t>
            </a:r>
          </a:p>
          <a:p>
            <a:pPr marL="171450" indent="-171450">
              <a:lnSpc>
                <a:spcPct val="150000"/>
              </a:lnSpc>
              <a:buFont typeface="Arial" panose="020B0604020202020204" pitchFamily="34" charset="0"/>
              <a:buChar char="•"/>
            </a:pPr>
            <a:r>
              <a:rPr lang="es-ES" b="1" dirty="0"/>
              <a:t>Fiabilidad</a:t>
            </a:r>
            <a:r>
              <a:rPr lang="es-ES" dirty="0"/>
              <a:t>: si se mide repetidamente a los mismos pacientes ¿se obtiene siempre el mismo resultado? </a:t>
            </a:r>
          </a:p>
        </p:txBody>
      </p:sp>
      <p:sp>
        <p:nvSpPr>
          <p:cNvPr id="35" name="CuadroTexto 34">
            <a:extLst>
              <a:ext uri="{FF2B5EF4-FFF2-40B4-BE49-F238E27FC236}">
                <a16:creationId xmlns:a16="http://schemas.microsoft.com/office/drawing/2014/main" id="{9115B27E-DC61-4624-84D7-3CB8499BC0C1}"/>
              </a:ext>
            </a:extLst>
          </p:cNvPr>
          <p:cNvSpPr txBox="1"/>
          <p:nvPr/>
        </p:nvSpPr>
        <p:spPr>
          <a:xfrm>
            <a:off x="235779" y="5930437"/>
            <a:ext cx="8295286" cy="646331"/>
          </a:xfrm>
          <a:prstGeom prst="rect">
            <a:avLst/>
          </a:prstGeom>
          <a:noFill/>
        </p:spPr>
        <p:txBody>
          <a:bodyPr wrap="square" rtlCol="0">
            <a:spAutoFit/>
          </a:bodyPr>
          <a:lstStyle/>
          <a:p>
            <a:pPr algn="just"/>
            <a:r>
              <a:rPr lang="es-ES" dirty="0"/>
              <a:t>El </a:t>
            </a:r>
            <a:r>
              <a:rPr lang="es-ES" b="1" dirty="0"/>
              <a:t>análisis de cuestionarios </a:t>
            </a:r>
            <a:r>
              <a:rPr lang="es-ES" dirty="0"/>
              <a:t>no se va a abordar en este curso. Requiere conocimientos un tanto más avanzados (para los que este curso constituye la base). Técnicas habituales son las propias del </a:t>
            </a:r>
            <a:r>
              <a:rPr lang="es-ES" b="1" dirty="0"/>
              <a:t>Análisis Factorial </a:t>
            </a:r>
            <a:r>
              <a:rPr lang="es-ES" dirty="0"/>
              <a:t>(tanto exploratorio como confirmatorio)</a:t>
            </a:r>
          </a:p>
        </p:txBody>
      </p:sp>
      <p:sp>
        <p:nvSpPr>
          <p:cNvPr id="37" name="Rectángulo 36">
            <a:extLst>
              <a:ext uri="{FF2B5EF4-FFF2-40B4-BE49-F238E27FC236}">
                <a16:creationId xmlns:a16="http://schemas.microsoft.com/office/drawing/2014/main" id="{9537BF1A-9228-4830-B682-153F0723A3E1}"/>
              </a:ext>
            </a:extLst>
          </p:cNvPr>
          <p:cNvSpPr/>
          <p:nvPr/>
        </p:nvSpPr>
        <p:spPr>
          <a:xfrm>
            <a:off x="192223" y="804472"/>
            <a:ext cx="1192955" cy="276999"/>
          </a:xfrm>
          <a:prstGeom prst="rect">
            <a:avLst/>
          </a:prstGeom>
        </p:spPr>
        <p:txBody>
          <a:bodyPr wrap="none">
            <a:spAutoFit/>
          </a:bodyPr>
          <a:lstStyle/>
          <a:p>
            <a:r>
              <a:rPr lang="es-ES" b="1" i="1" dirty="0"/>
              <a:t>Más ejemplos</a:t>
            </a:r>
          </a:p>
        </p:txBody>
      </p:sp>
      <p:cxnSp>
        <p:nvCxnSpPr>
          <p:cNvPr id="38" name="Conector recto de flecha 37">
            <a:extLst>
              <a:ext uri="{FF2B5EF4-FFF2-40B4-BE49-F238E27FC236}">
                <a16:creationId xmlns:a16="http://schemas.microsoft.com/office/drawing/2014/main" id="{19724680-792F-4F4B-A6EF-672EF356045D}"/>
              </a:ext>
            </a:extLst>
          </p:cNvPr>
          <p:cNvCxnSpPr>
            <a:cxnSpLocks/>
          </p:cNvCxnSpPr>
          <p:nvPr/>
        </p:nvCxnSpPr>
        <p:spPr>
          <a:xfrm>
            <a:off x="4570155" y="3337929"/>
            <a:ext cx="428251" cy="55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1" name="Grupo 40">
            <a:extLst>
              <a:ext uri="{FF2B5EF4-FFF2-40B4-BE49-F238E27FC236}">
                <a16:creationId xmlns:a16="http://schemas.microsoft.com/office/drawing/2014/main" id="{61E4C4C0-E949-419C-80AA-BA047083E777}"/>
              </a:ext>
            </a:extLst>
          </p:cNvPr>
          <p:cNvGrpSpPr/>
          <p:nvPr/>
        </p:nvGrpSpPr>
        <p:grpSpPr>
          <a:xfrm rot="21428463">
            <a:off x="3880212" y="3454079"/>
            <a:ext cx="1238723" cy="883494"/>
            <a:chOff x="3986348" y="3553414"/>
            <a:chExt cx="1121249" cy="883494"/>
          </a:xfrm>
        </p:grpSpPr>
        <p:sp>
          <p:nvSpPr>
            <p:cNvPr id="39" name="Flecha: curvada hacia la izquierda 38">
              <a:extLst>
                <a:ext uri="{FF2B5EF4-FFF2-40B4-BE49-F238E27FC236}">
                  <a16:creationId xmlns:a16="http://schemas.microsoft.com/office/drawing/2014/main" id="{7668D563-700D-487B-A171-D2FC083ECE59}"/>
                </a:ext>
              </a:extLst>
            </p:cNvPr>
            <p:cNvSpPr/>
            <p:nvPr/>
          </p:nvSpPr>
          <p:spPr>
            <a:xfrm rot="21423409">
              <a:off x="4081391" y="3587975"/>
              <a:ext cx="760154" cy="848933"/>
            </a:xfrm>
            <a:prstGeom prst="curvedLeftArrow">
              <a:avLst>
                <a:gd name="adj1" fmla="val 25000"/>
                <a:gd name="adj2" fmla="val 55840"/>
                <a:gd name="adj3" fmla="val 25000"/>
              </a:avLst>
            </a:prstGeom>
            <a:noFill/>
            <a:ln w="12700">
              <a:solidFill>
                <a:schemeClr val="accent1">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solidFill>
                  <a:schemeClr val="tx1"/>
                </a:solidFill>
              </a:endParaRPr>
            </a:p>
          </p:txBody>
        </p:sp>
        <p:sp>
          <p:nvSpPr>
            <p:cNvPr id="40" name="Rectángulo: una sola esquina redondeada 39">
              <a:extLst>
                <a:ext uri="{FF2B5EF4-FFF2-40B4-BE49-F238E27FC236}">
                  <a16:creationId xmlns:a16="http://schemas.microsoft.com/office/drawing/2014/main" id="{16F88647-AAA4-4CD5-B4ED-F63063AF28EB}"/>
                </a:ext>
              </a:extLst>
            </p:cNvPr>
            <p:cNvSpPr/>
            <p:nvPr/>
          </p:nvSpPr>
          <p:spPr>
            <a:xfrm rot="507183">
              <a:off x="3986348" y="3553414"/>
              <a:ext cx="1121249" cy="378077"/>
            </a:xfrm>
            <a:prstGeom prst="round1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grpSp>
      <p:sp>
        <p:nvSpPr>
          <p:cNvPr id="43" name="Text Box 2">
            <a:extLst>
              <a:ext uri="{FF2B5EF4-FFF2-40B4-BE49-F238E27FC236}">
                <a16:creationId xmlns:a16="http://schemas.microsoft.com/office/drawing/2014/main" id="{A03325AF-888A-43E1-8A62-E6B81151F33C}"/>
              </a:ext>
            </a:extLst>
          </p:cNvPr>
          <p:cNvSpPr txBox="1">
            <a:spLocks noChangeArrowheads="1"/>
          </p:cNvSpPr>
          <p:nvPr/>
        </p:nvSpPr>
        <p:spPr bwMode="auto">
          <a:xfrm>
            <a:off x="244475" y="315913"/>
            <a:ext cx="469391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600" b="1" dirty="0"/>
              <a:t>Ejemplo de variables de tipo ordinal (escalas) </a:t>
            </a:r>
            <a:endParaRPr lang="es-ES" altLang="es-ES" sz="1600" b="1" dirty="0"/>
          </a:p>
        </p:txBody>
      </p:sp>
    </p:spTree>
    <p:extLst>
      <p:ext uri="{BB962C8B-B14F-4D97-AF65-F5344CB8AC3E}">
        <p14:creationId xmlns:p14="http://schemas.microsoft.com/office/powerpoint/2010/main" val="2777290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67"/>
          <p:cNvSpPr txBox="1">
            <a:spLocks noChangeArrowheads="1"/>
          </p:cNvSpPr>
          <p:nvPr/>
        </p:nvSpPr>
        <p:spPr bwMode="auto">
          <a:xfrm>
            <a:off x="244475" y="315913"/>
            <a:ext cx="282000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2000" b="1" dirty="0"/>
              <a:t>Métodos descriptivos</a:t>
            </a:r>
            <a:endParaRPr lang="es-ES" altLang="es-ES" sz="2000" b="1" dirty="0"/>
          </a:p>
        </p:txBody>
      </p:sp>
      <p:sp>
        <p:nvSpPr>
          <p:cNvPr id="7171" name="Rectangle 102"/>
          <p:cNvSpPr>
            <a:spLocks noChangeArrowheads="1"/>
          </p:cNvSpPr>
          <p:nvPr/>
        </p:nvSpPr>
        <p:spPr bwMode="auto">
          <a:xfrm>
            <a:off x="3276600" y="2057400"/>
            <a:ext cx="3200400" cy="253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1pPr>
            <a:lvl2pPr marL="9144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2pPr>
            <a:lvl3pPr marL="13716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3pPr>
            <a:lvl4pPr marL="18288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4pPr>
            <a:lvl5pPr marL="22860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5pPr>
            <a:lvl6pPr marL="2743200" indent="-4572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6pPr>
            <a:lvl7pPr marL="3200400" indent="-4572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7pPr>
            <a:lvl8pPr marL="3657600" indent="-4572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8pPr>
            <a:lvl9pPr marL="4114800" indent="-4572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9pPr>
          </a:lstStyle>
          <a:p>
            <a:r>
              <a:rPr lang="es-ES_tradnl" altLang="es-ES" sz="1600" b="1" dirty="0">
                <a:cs typeface="Times New Roman" pitchFamily="18" charset="0"/>
              </a:rPr>
              <a:t>3 niveles descriptivos:</a:t>
            </a:r>
          </a:p>
          <a:p>
            <a:endParaRPr lang="es-ES_tradnl" altLang="es-ES" sz="1600" b="1" dirty="0">
              <a:latin typeface="Times New Roman" pitchFamily="18" charset="0"/>
              <a:cs typeface="Times New Roman" pitchFamily="18" charset="0"/>
            </a:endParaRPr>
          </a:p>
          <a:p>
            <a:pPr>
              <a:buFontTx/>
              <a:buChar char="•"/>
            </a:pPr>
            <a:r>
              <a:rPr lang="es-ES_tradnl" altLang="es-ES" sz="1600" b="1" dirty="0">
                <a:cs typeface="Times New Roman" pitchFamily="18" charset="0"/>
              </a:rPr>
              <a:t>Tablas de frecuencias</a:t>
            </a:r>
          </a:p>
          <a:p>
            <a:pPr>
              <a:buFontTx/>
              <a:buChar char="•"/>
            </a:pPr>
            <a:endParaRPr lang="es-ES_tradnl" altLang="es-ES" sz="1600" b="1" dirty="0">
              <a:cs typeface="Times New Roman" pitchFamily="18" charset="0"/>
            </a:endParaRPr>
          </a:p>
          <a:p>
            <a:pPr>
              <a:buFontTx/>
              <a:buChar char="•"/>
            </a:pPr>
            <a:endParaRPr lang="es-ES_tradnl" altLang="es-ES" sz="1600" b="1" dirty="0">
              <a:cs typeface="Times New Roman" pitchFamily="18" charset="0"/>
            </a:endParaRPr>
          </a:p>
          <a:p>
            <a:pPr>
              <a:buFontTx/>
              <a:buChar char="•"/>
            </a:pPr>
            <a:r>
              <a:rPr lang="es-ES_tradnl" altLang="es-ES" sz="1600" b="1" dirty="0">
                <a:cs typeface="Times New Roman" pitchFamily="18" charset="0"/>
              </a:rPr>
              <a:t>Representaciones gráficas</a:t>
            </a:r>
          </a:p>
          <a:p>
            <a:pPr>
              <a:buFontTx/>
              <a:buChar char="•"/>
            </a:pPr>
            <a:endParaRPr lang="es-ES_tradnl" altLang="es-ES" sz="1600" b="1" dirty="0">
              <a:cs typeface="Times New Roman" pitchFamily="18" charset="0"/>
            </a:endParaRPr>
          </a:p>
          <a:p>
            <a:pPr>
              <a:buFontTx/>
              <a:buChar char="•"/>
            </a:pPr>
            <a:endParaRPr lang="es-ES_tradnl" altLang="es-ES" sz="1600" b="1" dirty="0">
              <a:cs typeface="Times New Roman" pitchFamily="18" charset="0"/>
            </a:endParaRPr>
          </a:p>
          <a:p>
            <a:pPr>
              <a:buFontTx/>
              <a:buChar char="•"/>
            </a:pPr>
            <a:r>
              <a:rPr lang="es-ES_tradnl" altLang="es-ES" sz="1600" b="1" dirty="0">
                <a:cs typeface="Times New Roman" pitchFamily="18" charset="0"/>
              </a:rPr>
              <a:t>Medidas descriptivas</a:t>
            </a:r>
            <a:endParaRPr lang="en-GB" altLang="es-ES" sz="1600" dirty="0"/>
          </a:p>
        </p:txBody>
      </p:sp>
      <p:sp>
        <p:nvSpPr>
          <p:cNvPr id="7172" name="Rectangle 103"/>
          <p:cNvSpPr>
            <a:spLocks noChangeArrowheads="1"/>
          </p:cNvSpPr>
          <p:nvPr/>
        </p:nvSpPr>
        <p:spPr bwMode="auto">
          <a:xfrm>
            <a:off x="3276600" y="1524000"/>
            <a:ext cx="3733800" cy="376238"/>
          </a:xfrm>
          <a:prstGeom prst="rect">
            <a:avLst/>
          </a:prstGeom>
          <a:solidFill>
            <a:schemeClr val="bg1">
              <a:lumMod val="95000"/>
            </a:schemeClr>
          </a:solidFill>
          <a:ln w="9525">
            <a:solidFill>
              <a:schemeClr val="bg1">
                <a:lumMod val="85000"/>
              </a:schemeClr>
            </a:solidFill>
            <a:miter lim="800000"/>
            <a:headEnd/>
            <a:tailEnd/>
          </a:ln>
          <a:effec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cs typeface="Times New Roman" pitchFamily="18" charset="0"/>
              </a:rPr>
              <a:t>Resumen de la información</a:t>
            </a:r>
            <a:endParaRPr lang="en-GB" altLang="es-ES" sz="1800" b="1" dirty="0">
              <a:cs typeface="Times New Roman" pitchFamily="18" charset="0"/>
            </a:endParaRPr>
          </a:p>
        </p:txBody>
      </p:sp>
      <p:sp>
        <p:nvSpPr>
          <p:cNvPr id="7173" name="Rectangle 108"/>
          <p:cNvSpPr>
            <a:spLocks noChangeArrowheads="1"/>
          </p:cNvSpPr>
          <p:nvPr/>
        </p:nvSpPr>
        <p:spPr bwMode="auto">
          <a:xfrm>
            <a:off x="381000" y="2057400"/>
            <a:ext cx="814388" cy="406400"/>
          </a:xfrm>
          <a:prstGeom prst="rect">
            <a:avLst/>
          </a:prstGeom>
          <a:solidFill>
            <a:schemeClr val="bg1">
              <a:lumMod val="95000"/>
              <a:alpha val="50000"/>
            </a:schemeClr>
          </a:solidFill>
          <a:ln w="9525">
            <a:solidFill>
              <a:schemeClr val="bg2"/>
            </a:solidFill>
            <a:miter lim="800000"/>
            <a:headEnd/>
            <a:tailEnd/>
          </a:ln>
          <a:effec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2000" b="1">
                <a:latin typeface="Times New Roman" pitchFamily="18" charset="0"/>
                <a:cs typeface="Times New Roman" pitchFamily="18" charset="0"/>
              </a:rPr>
              <a:t>Datos</a:t>
            </a:r>
            <a:endParaRPr lang="en-GB" altLang="es-ES" sz="2000" b="1">
              <a:latin typeface="Times New Roman" pitchFamily="18" charset="0"/>
              <a:cs typeface="Times New Roman" pitchFamily="18" charset="0"/>
            </a:endParaRPr>
          </a:p>
        </p:txBody>
      </p:sp>
      <p:pic>
        <p:nvPicPr>
          <p:cNvPr id="7174" name="Picture 112">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1913" y="1904999"/>
            <a:ext cx="2057400" cy="121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pic>
        <p:nvPicPr>
          <p:cNvPr id="7176" name="Picture 1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2537" y="5295900"/>
            <a:ext cx="389572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7" name="Picture 12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1000" y="2590800"/>
            <a:ext cx="2819400" cy="2058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78" name="AutoShape 105"/>
          <p:cNvSpPr>
            <a:spLocks noChangeArrowheads="1"/>
          </p:cNvSpPr>
          <p:nvPr/>
        </p:nvSpPr>
        <p:spPr bwMode="auto">
          <a:xfrm rot="-3090022">
            <a:off x="1603375" y="1978025"/>
            <a:ext cx="1397000" cy="488950"/>
          </a:xfrm>
          <a:prstGeom prst="curvedDownArrow">
            <a:avLst>
              <a:gd name="adj1" fmla="val 54921"/>
              <a:gd name="adj2" fmla="val 99365"/>
              <a:gd name="adj3" fmla="val 74236"/>
            </a:avLst>
          </a:prstGeom>
          <a:solidFill>
            <a:schemeClr val="bg1">
              <a:lumMod val="95000"/>
              <a:alpha val="50000"/>
            </a:schemeClr>
          </a:solidFill>
          <a:ln w="9525">
            <a:solidFill>
              <a:schemeClr val="tx1"/>
            </a:solidFill>
            <a:miter lim="800000"/>
            <a:headEnd/>
            <a:tailEnd/>
          </a:ln>
          <a:effec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nvGrpSpPr>
          <p:cNvPr id="2" name="Grupo 1">
            <a:extLst>
              <a:ext uri="{FF2B5EF4-FFF2-40B4-BE49-F238E27FC236}">
                <a16:creationId xmlns:a16="http://schemas.microsoft.com/office/drawing/2014/main" id="{180101BB-BB7B-4A98-9A1F-D75760543470}"/>
              </a:ext>
            </a:extLst>
          </p:cNvPr>
          <p:cNvGrpSpPr/>
          <p:nvPr/>
        </p:nvGrpSpPr>
        <p:grpSpPr>
          <a:xfrm>
            <a:off x="6806406" y="3279776"/>
            <a:ext cx="1371600" cy="1752600"/>
            <a:chOff x="6629400" y="3505200"/>
            <a:chExt cx="1371600" cy="1752600"/>
          </a:xfrm>
        </p:grpSpPr>
        <p:pic>
          <p:nvPicPr>
            <p:cNvPr id="7175" name="Picture 1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45288" y="3581400"/>
              <a:ext cx="1217612" cy="1538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79" name="AutoShape 122"/>
            <p:cNvSpPr>
              <a:spLocks noChangeArrowheads="1"/>
            </p:cNvSpPr>
            <p:nvPr/>
          </p:nvSpPr>
          <p:spPr bwMode="auto">
            <a:xfrm>
              <a:off x="6629400" y="3505200"/>
              <a:ext cx="1371600" cy="1752600"/>
            </a:xfrm>
            <a:prstGeom prst="roundRect">
              <a:avLst>
                <a:gd name="adj" fmla="val 2778"/>
              </a:avLst>
            </a:prstGeom>
            <a:noFill/>
            <a:ln w="6350">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7180" name="Rectangle 94"/>
          <p:cNvSpPr>
            <a:spLocks noChangeArrowheads="1"/>
          </p:cNvSpPr>
          <p:nvPr/>
        </p:nvSpPr>
        <p:spPr bwMode="auto">
          <a:xfrm>
            <a:off x="381000" y="5165725"/>
            <a:ext cx="32766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tabLst>
                <a:tab pos="228600" algn="l"/>
              </a:tabLst>
              <a:defRPr sz="1200">
                <a:solidFill>
                  <a:schemeClr val="tx1"/>
                </a:solidFill>
                <a:latin typeface="Arial" charset="0"/>
              </a:defRPr>
            </a:lvl1pPr>
            <a:lvl2pPr marL="742950" indent="-285750" eaLnBrk="0" hangingPunct="0">
              <a:tabLst>
                <a:tab pos="228600" algn="l"/>
              </a:tabLst>
              <a:defRPr sz="1200">
                <a:solidFill>
                  <a:schemeClr val="tx1"/>
                </a:solidFill>
                <a:latin typeface="Arial" charset="0"/>
              </a:defRPr>
            </a:lvl2pPr>
            <a:lvl3pPr marL="1143000" indent="-228600" eaLnBrk="0" hangingPunct="0">
              <a:tabLst>
                <a:tab pos="228600" algn="l"/>
              </a:tabLst>
              <a:defRPr sz="1200">
                <a:solidFill>
                  <a:schemeClr val="tx1"/>
                </a:solidFill>
                <a:latin typeface="Arial" charset="0"/>
              </a:defRPr>
            </a:lvl3pPr>
            <a:lvl4pPr marL="1600200" indent="-228600" eaLnBrk="0" hangingPunct="0">
              <a:tabLst>
                <a:tab pos="228600" algn="l"/>
              </a:tabLst>
              <a:defRPr sz="1200">
                <a:solidFill>
                  <a:schemeClr val="tx1"/>
                </a:solidFill>
                <a:latin typeface="Arial" charset="0"/>
              </a:defRPr>
            </a:lvl4pPr>
            <a:lvl5pPr marL="2057400" indent="-228600" eaLnBrk="0" hangingPunct="0">
              <a:tabLst>
                <a:tab pos="228600" algn="l"/>
              </a:tabLst>
              <a:defRPr sz="1200">
                <a:solidFill>
                  <a:schemeClr val="tx1"/>
                </a:solidFill>
                <a:latin typeface="Arial" charset="0"/>
              </a:defRPr>
            </a:lvl5pPr>
            <a:lvl6pPr marL="2514600" indent="-228600" eaLnBrk="0" fontAlgn="base" hangingPunct="0">
              <a:spcBef>
                <a:spcPct val="0"/>
              </a:spcBef>
              <a:spcAft>
                <a:spcPct val="0"/>
              </a:spcAft>
              <a:tabLst>
                <a:tab pos="228600" algn="l"/>
              </a:tabLst>
              <a:defRPr sz="1200">
                <a:solidFill>
                  <a:schemeClr val="tx1"/>
                </a:solidFill>
                <a:latin typeface="Arial" charset="0"/>
              </a:defRPr>
            </a:lvl6pPr>
            <a:lvl7pPr marL="2971800" indent="-228600" eaLnBrk="0" fontAlgn="base" hangingPunct="0">
              <a:spcBef>
                <a:spcPct val="0"/>
              </a:spcBef>
              <a:spcAft>
                <a:spcPct val="0"/>
              </a:spcAft>
              <a:tabLst>
                <a:tab pos="228600" algn="l"/>
              </a:tabLst>
              <a:defRPr sz="1200">
                <a:solidFill>
                  <a:schemeClr val="tx1"/>
                </a:solidFill>
                <a:latin typeface="Arial" charset="0"/>
              </a:defRPr>
            </a:lvl7pPr>
            <a:lvl8pPr marL="3429000" indent="-228600" eaLnBrk="0" fontAlgn="base" hangingPunct="0">
              <a:spcBef>
                <a:spcPct val="0"/>
              </a:spcBef>
              <a:spcAft>
                <a:spcPct val="0"/>
              </a:spcAft>
              <a:tabLst>
                <a:tab pos="228600" algn="l"/>
              </a:tabLst>
              <a:defRPr sz="1200">
                <a:solidFill>
                  <a:schemeClr val="tx1"/>
                </a:solidFill>
                <a:latin typeface="Arial" charset="0"/>
              </a:defRPr>
            </a:lvl8pPr>
            <a:lvl9pPr marL="3886200" indent="-228600" eaLnBrk="0" fontAlgn="base" hangingPunct="0">
              <a:spcBef>
                <a:spcPct val="0"/>
              </a:spcBef>
              <a:spcAft>
                <a:spcPct val="0"/>
              </a:spcAft>
              <a:tabLst>
                <a:tab pos="228600" algn="l"/>
              </a:tabLst>
              <a:defRPr sz="1200">
                <a:solidFill>
                  <a:schemeClr val="tx1"/>
                </a:solidFill>
                <a:latin typeface="Arial" charset="0"/>
              </a:defRPr>
            </a:lvl9pPr>
          </a:lstStyle>
          <a:p>
            <a:r>
              <a:rPr lang="es-ES_tradnl" altLang="es-ES" sz="1600" dirty="0">
                <a:cs typeface="Times New Roman" pitchFamily="18" charset="0"/>
              </a:rPr>
              <a:t>Se trata de sintetizar cómo es la </a:t>
            </a:r>
            <a:r>
              <a:rPr lang="es-ES_tradnl" altLang="es-ES" sz="1600" b="1" i="1" dirty="0">
                <a:cs typeface="Times New Roman" pitchFamily="18" charset="0"/>
              </a:rPr>
              <a:t>distribución</a:t>
            </a:r>
            <a:r>
              <a:rPr lang="es-ES_tradnl" altLang="es-ES" sz="1600" b="1" dirty="0">
                <a:cs typeface="Times New Roman" pitchFamily="18" charset="0"/>
              </a:rPr>
              <a:t> </a:t>
            </a:r>
            <a:r>
              <a:rPr lang="es-ES_tradnl" altLang="es-ES" sz="1600" b="1" i="1" dirty="0">
                <a:cs typeface="Times New Roman" pitchFamily="18" charset="0"/>
              </a:rPr>
              <a:t>de la variable</a:t>
            </a:r>
            <a:endParaRPr lang="en-GB" altLang="es-ES" sz="1600" b="1" i="1" dirty="0">
              <a:cs typeface="Times New Roman" pitchFamily="18" charset="0"/>
            </a:endParaRPr>
          </a:p>
        </p:txBody>
      </p:sp>
      <p:sp>
        <p:nvSpPr>
          <p:cNvPr id="7181" name="AutoShape 122"/>
          <p:cNvSpPr>
            <a:spLocks noChangeArrowheads="1"/>
          </p:cNvSpPr>
          <p:nvPr/>
        </p:nvSpPr>
        <p:spPr bwMode="auto">
          <a:xfrm>
            <a:off x="304800" y="5029200"/>
            <a:ext cx="3352800" cy="838200"/>
          </a:xfrm>
          <a:prstGeom prst="roundRect">
            <a:avLst>
              <a:gd name="adj" fmla="val 16667"/>
            </a:avLst>
          </a:prstGeom>
          <a:noFill/>
          <a:ln w="6350">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244475" y="315913"/>
            <a:ext cx="506632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Tablas de frecuencias // variables ordinales</a:t>
            </a:r>
            <a:endParaRPr lang="es-ES" altLang="es-ES" sz="1800" b="1" dirty="0"/>
          </a:p>
        </p:txBody>
      </p:sp>
      <p:sp>
        <p:nvSpPr>
          <p:cNvPr id="10244" name="AutoShape 122"/>
          <p:cNvSpPr>
            <a:spLocks noChangeArrowheads="1"/>
          </p:cNvSpPr>
          <p:nvPr/>
        </p:nvSpPr>
        <p:spPr bwMode="auto">
          <a:xfrm>
            <a:off x="3232150" y="4894792"/>
            <a:ext cx="5575300" cy="1481668"/>
          </a:xfrm>
          <a:prstGeom prst="roundRect">
            <a:avLst>
              <a:gd name="adj" fmla="val 16667"/>
            </a:avLst>
          </a:prstGeom>
          <a:noFill/>
          <a:ln w="6350">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10245" name="54 CuadroTexto"/>
          <p:cNvSpPr txBox="1">
            <a:spLocks noChangeArrowheads="1"/>
          </p:cNvSpPr>
          <p:nvPr/>
        </p:nvSpPr>
        <p:spPr bwMode="auto">
          <a:xfrm>
            <a:off x="3352800" y="5032265"/>
            <a:ext cx="5257800" cy="738664"/>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sz="1400" dirty="0"/>
              <a:t>La posibilidad de ordenar de forma unívoca a las categorías de la variable permite poder definir un nuevo tipo de frecuencia: la </a:t>
            </a:r>
            <a:r>
              <a:rPr lang="es-ES" altLang="es-ES" sz="1400" b="1" dirty="0"/>
              <a:t>frecuencia acumulada </a:t>
            </a:r>
            <a:r>
              <a:rPr lang="es-ES" altLang="es-ES" sz="1400" dirty="0"/>
              <a:t>(que podrá ser relativa o absoluta)</a:t>
            </a:r>
            <a:endParaRPr lang="es-ES" altLang="es-ES" sz="1400" b="1" dirty="0"/>
          </a:p>
        </p:txBody>
      </p:sp>
      <p:graphicFrame>
        <p:nvGraphicFramePr>
          <p:cNvPr id="49439" name="Group 287"/>
          <p:cNvGraphicFramePr>
            <a:graphicFrameLocks noGrp="1"/>
          </p:cNvGraphicFramePr>
          <p:nvPr>
            <p:extLst>
              <p:ext uri="{D42A27DB-BD31-4B8C-83A1-F6EECF244321}">
                <p14:modId xmlns:p14="http://schemas.microsoft.com/office/powerpoint/2010/main" val="3296971308"/>
              </p:ext>
            </p:extLst>
          </p:nvPr>
        </p:nvGraphicFramePr>
        <p:xfrm>
          <a:off x="838200" y="1905000"/>
          <a:ext cx="7620000" cy="3127265"/>
        </p:xfrm>
        <a:graphic>
          <a:graphicData uri="http://schemas.openxmlformats.org/drawingml/2006/table">
            <a:tbl>
              <a:tblPr/>
              <a:tblGrid>
                <a:gridCol w="2012950">
                  <a:extLst>
                    <a:ext uri="{9D8B030D-6E8A-4147-A177-3AD203B41FA5}">
                      <a16:colId xmlns:a16="http://schemas.microsoft.com/office/drawing/2014/main" val="20000"/>
                    </a:ext>
                  </a:extLst>
                </a:gridCol>
                <a:gridCol w="1146175">
                  <a:extLst>
                    <a:ext uri="{9D8B030D-6E8A-4147-A177-3AD203B41FA5}">
                      <a16:colId xmlns:a16="http://schemas.microsoft.com/office/drawing/2014/main" val="20001"/>
                    </a:ext>
                  </a:extLst>
                </a:gridCol>
                <a:gridCol w="1717675">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tblGrid>
              <a:tr h="548771">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20000"/>
                        </a:spcBef>
                        <a:spcAft>
                          <a:spcPct val="0"/>
                        </a:spcAft>
                        <a:buClrTx/>
                        <a:buSzTx/>
                        <a:buFontTx/>
                        <a:buNone/>
                        <a:tabLst/>
                      </a:pPr>
                      <a:r>
                        <a:rPr kumimoji="0" lang="es-ES" altLang="es-ES" sz="1500" b="0" i="0" u="none" strike="noStrike" cap="none" normalizeH="0" baseline="0">
                          <a:ln>
                            <a:noFill/>
                          </a:ln>
                          <a:solidFill>
                            <a:schemeClr val="tx1"/>
                          </a:solidFill>
                          <a:effectLst/>
                          <a:latin typeface="Arial" charset="0"/>
                          <a:cs typeface="Arial" charset="0"/>
                        </a:rPr>
                        <a:t>Estado</a:t>
                      </a:r>
                      <a:endParaRPr kumimoji="0" lang="es-ES" altLang="es-ES" sz="1200" b="0" i="0" u="none" strike="noStrike" cap="none" normalizeH="0" baseline="0">
                        <a:ln>
                          <a:noFill/>
                        </a:ln>
                        <a:solidFill>
                          <a:schemeClr val="tx1"/>
                        </a:solidFill>
                        <a:effectLst/>
                        <a:latin typeface="Arial" charset="0"/>
                      </a:endParaRPr>
                    </a:p>
                  </a:txBody>
                  <a:tcPr marT="45731" marB="45731"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s-ES" altLang="es-ES" sz="1500" b="0" i="0" u="none" strike="noStrike" cap="none" normalizeH="0" baseline="0" dirty="0">
                          <a:ln>
                            <a:noFill/>
                          </a:ln>
                          <a:solidFill>
                            <a:srgbClr val="000000"/>
                          </a:solidFill>
                          <a:effectLst/>
                          <a:latin typeface="Arial" charset="0"/>
                          <a:cs typeface="Arial" charset="0"/>
                        </a:rPr>
                        <a:t>Frecuencia absoluta: </a:t>
                      </a:r>
                      <a:r>
                        <a:rPr kumimoji="0" lang="es-ES" altLang="es-ES" sz="1500" b="1" i="0" u="none" strike="noStrike" cap="none" normalizeH="0" baseline="0" dirty="0">
                          <a:ln>
                            <a:noFill/>
                          </a:ln>
                          <a:solidFill>
                            <a:srgbClr val="000000"/>
                          </a:solidFill>
                          <a:effectLst/>
                          <a:latin typeface="Arial" charset="0"/>
                          <a:cs typeface="Arial" charset="0"/>
                        </a:rPr>
                        <a:t>n</a:t>
                      </a:r>
                      <a:r>
                        <a:rPr kumimoji="0" lang="es-ES" altLang="es-ES" sz="1500" b="1" i="0" u="none" strike="noStrike" cap="none" normalizeH="0" baseline="-25000" dirty="0">
                          <a:ln>
                            <a:noFill/>
                          </a:ln>
                          <a:solidFill>
                            <a:srgbClr val="000000"/>
                          </a:solidFill>
                          <a:effectLst/>
                          <a:latin typeface="Arial" charset="0"/>
                          <a:cs typeface="Arial" charset="0"/>
                        </a:rPr>
                        <a:t>i </a:t>
                      </a:r>
                      <a:r>
                        <a:rPr kumimoji="0" lang="es-ES" altLang="es-ES" sz="1500" b="0" i="0" u="none" strike="noStrike" cap="none" normalizeH="0" baseline="0" dirty="0">
                          <a:ln>
                            <a:noFill/>
                          </a:ln>
                          <a:solidFill>
                            <a:srgbClr val="000000"/>
                          </a:solidFill>
                          <a:effectLst/>
                          <a:latin typeface="Arial" charset="0"/>
                          <a:cs typeface="Arial" charset="0"/>
                        </a:rPr>
                        <a:t> </a:t>
                      </a:r>
                      <a:endParaRPr kumimoji="0" lang="es-ES" altLang="es-ES" sz="1200" b="0" i="0" u="none" strike="noStrike" cap="none" normalizeH="0" baseline="0" dirty="0">
                        <a:ln>
                          <a:noFill/>
                        </a:ln>
                        <a:solidFill>
                          <a:schemeClr val="tx1"/>
                        </a:solidFill>
                        <a:effectLst/>
                        <a:latin typeface="Arial" charset="0"/>
                      </a:endParaRPr>
                    </a:p>
                  </a:txBody>
                  <a:tcPr marT="45731" marB="45731"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500" b="0" i="0" u="none" strike="noStrike" cap="none" normalizeH="0" baseline="0" dirty="0">
                          <a:ln>
                            <a:noFill/>
                          </a:ln>
                          <a:solidFill>
                            <a:srgbClr val="000000"/>
                          </a:solidFill>
                          <a:effectLst/>
                          <a:latin typeface="Arial" charset="0"/>
                          <a:cs typeface="Arial" charset="0"/>
                        </a:rPr>
                        <a:t>Frecuencia absoluta acumulada</a:t>
                      </a:r>
                    </a:p>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500" b="0" i="0" u="none" strike="noStrike" cap="none" normalizeH="0" baseline="0" dirty="0">
                          <a:ln>
                            <a:noFill/>
                          </a:ln>
                          <a:solidFill>
                            <a:srgbClr val="000000"/>
                          </a:solidFill>
                          <a:effectLst/>
                          <a:latin typeface="Arial" charset="0"/>
                          <a:cs typeface="Arial" charset="0"/>
                        </a:rPr>
                        <a:t>N</a:t>
                      </a:r>
                      <a:r>
                        <a:rPr kumimoji="0" lang="es-ES" altLang="es-ES" sz="1500" b="0" i="0" u="none" strike="noStrike" cap="none" normalizeH="0" baseline="-25000" dirty="0">
                          <a:ln>
                            <a:noFill/>
                          </a:ln>
                          <a:solidFill>
                            <a:srgbClr val="000000"/>
                          </a:solidFill>
                          <a:effectLst/>
                          <a:latin typeface="Arial" charset="0"/>
                          <a:cs typeface="Arial" charset="0"/>
                        </a:rPr>
                        <a:t>i</a:t>
                      </a:r>
                      <a:endParaRPr kumimoji="0" lang="es-ES" altLang="es-ES" sz="1200" b="0" i="0" u="none" strike="noStrike" cap="none" normalizeH="0" baseline="0" dirty="0">
                        <a:ln>
                          <a:noFill/>
                        </a:ln>
                        <a:solidFill>
                          <a:schemeClr val="tx1"/>
                        </a:solidFill>
                        <a:effectLst/>
                        <a:latin typeface="Arial" charset="0"/>
                      </a:endParaRPr>
                    </a:p>
                  </a:txBody>
                  <a:tcPr marT="45731" marB="45731"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s-ES" altLang="es-ES" sz="1500" b="0" i="0" u="none" strike="noStrike" cap="none" normalizeH="0" baseline="0" dirty="0">
                          <a:ln>
                            <a:noFill/>
                          </a:ln>
                          <a:solidFill>
                            <a:srgbClr val="000000"/>
                          </a:solidFill>
                          <a:effectLst/>
                          <a:latin typeface="Arial" charset="0"/>
                          <a:cs typeface="Arial" charset="0"/>
                        </a:rPr>
                        <a:t>Frecuencia relativa </a:t>
                      </a:r>
                    </a:p>
                    <a:p>
                      <a:pPr marL="0" marR="0" lvl="0" indent="0" algn="r" defTabSz="914400" rtl="0" eaLnBrk="1" fontAlgn="b" latinLnBrk="0" hangingPunct="1">
                        <a:lnSpc>
                          <a:spcPct val="100000"/>
                        </a:lnSpc>
                        <a:spcBef>
                          <a:spcPct val="0"/>
                        </a:spcBef>
                        <a:spcAft>
                          <a:spcPct val="0"/>
                        </a:spcAft>
                        <a:buClrTx/>
                        <a:buSzTx/>
                        <a:buFontTx/>
                        <a:buNone/>
                        <a:tabLst/>
                      </a:pPr>
                      <a:r>
                        <a:rPr kumimoji="0" lang="es-ES" altLang="es-ES" sz="1500" b="1" i="0" u="none" strike="noStrike" cap="none" normalizeH="0" baseline="0" dirty="0">
                          <a:ln>
                            <a:noFill/>
                          </a:ln>
                          <a:solidFill>
                            <a:srgbClr val="000000"/>
                          </a:solidFill>
                          <a:effectLst/>
                          <a:latin typeface="Arial" charset="0"/>
                          <a:cs typeface="Arial" charset="0"/>
                        </a:rPr>
                        <a:t>f</a:t>
                      </a:r>
                      <a:r>
                        <a:rPr kumimoji="0" lang="es-ES" altLang="es-ES" sz="1500" b="1" i="0" u="none" strike="noStrike" cap="none" normalizeH="0" baseline="-25000" dirty="0">
                          <a:ln>
                            <a:noFill/>
                          </a:ln>
                          <a:solidFill>
                            <a:srgbClr val="000000"/>
                          </a:solidFill>
                          <a:effectLst/>
                          <a:latin typeface="Arial" charset="0"/>
                          <a:cs typeface="Arial" charset="0"/>
                        </a:rPr>
                        <a:t>i</a:t>
                      </a:r>
                      <a:endParaRPr kumimoji="0" lang="es-ES" altLang="es-ES" sz="1200" b="1" i="0" u="none" strike="noStrike" cap="none" normalizeH="0" baseline="0" dirty="0">
                        <a:ln>
                          <a:noFill/>
                        </a:ln>
                        <a:solidFill>
                          <a:schemeClr val="tx1"/>
                        </a:solidFill>
                        <a:effectLst/>
                        <a:latin typeface="Arial" charset="0"/>
                      </a:endParaRPr>
                    </a:p>
                  </a:txBody>
                  <a:tcPr marT="45731" marB="45731"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s-ES" altLang="es-ES" sz="1500" b="0" i="0" u="none" strike="noStrike" cap="none" normalizeH="0" baseline="0" dirty="0">
                          <a:ln>
                            <a:noFill/>
                          </a:ln>
                          <a:solidFill>
                            <a:srgbClr val="000000"/>
                          </a:solidFill>
                          <a:effectLst/>
                          <a:latin typeface="Arial" charset="0"/>
                          <a:cs typeface="Arial" charset="0"/>
                        </a:rPr>
                        <a:t>Frecuencia relativa acumulada</a:t>
                      </a:r>
                    </a:p>
                    <a:p>
                      <a:pPr marL="0" marR="0" lvl="0" indent="0" algn="r" defTabSz="914400" rtl="0" eaLnBrk="1" fontAlgn="b" latinLnBrk="0" hangingPunct="1">
                        <a:lnSpc>
                          <a:spcPct val="100000"/>
                        </a:lnSpc>
                        <a:spcBef>
                          <a:spcPct val="0"/>
                        </a:spcBef>
                        <a:spcAft>
                          <a:spcPct val="0"/>
                        </a:spcAft>
                        <a:buClrTx/>
                        <a:buSzTx/>
                        <a:buFontTx/>
                        <a:buNone/>
                        <a:tabLst/>
                      </a:pPr>
                      <a:r>
                        <a:rPr kumimoji="0" lang="es-ES" altLang="es-ES" sz="1500" b="1" i="0" u="none" strike="noStrike" cap="none" normalizeH="0" baseline="0" dirty="0">
                          <a:ln>
                            <a:noFill/>
                          </a:ln>
                          <a:solidFill>
                            <a:srgbClr val="000000"/>
                          </a:solidFill>
                          <a:effectLst/>
                          <a:latin typeface="Arial" charset="0"/>
                          <a:cs typeface="Arial" charset="0"/>
                        </a:rPr>
                        <a:t>F</a:t>
                      </a:r>
                      <a:r>
                        <a:rPr kumimoji="0" lang="es-ES" altLang="es-ES" sz="1500" b="1" i="0" u="none" strike="noStrike" cap="none" normalizeH="0" baseline="-25000" dirty="0">
                          <a:ln>
                            <a:noFill/>
                          </a:ln>
                          <a:solidFill>
                            <a:srgbClr val="000000"/>
                          </a:solidFill>
                          <a:effectLst/>
                          <a:latin typeface="Arial" charset="0"/>
                          <a:cs typeface="Arial" charset="0"/>
                        </a:rPr>
                        <a:t>i</a:t>
                      </a:r>
                      <a:endParaRPr kumimoji="0" lang="es-ES" altLang="es-ES" sz="1200" b="1" i="0" u="none" strike="noStrike" cap="none" normalizeH="0" baseline="0" dirty="0">
                        <a:ln>
                          <a:noFill/>
                        </a:ln>
                        <a:solidFill>
                          <a:schemeClr val="tx1"/>
                        </a:solidFill>
                        <a:effectLst/>
                        <a:latin typeface="Arial" charset="0"/>
                      </a:endParaRPr>
                    </a:p>
                  </a:txBody>
                  <a:tcPr marT="45731" marB="45731"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0751">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500" b="0" i="0" u="none" strike="noStrike" cap="none" normalizeH="0" baseline="0" dirty="0">
                          <a:ln>
                            <a:noFill/>
                          </a:ln>
                          <a:solidFill>
                            <a:srgbClr val="000000"/>
                          </a:solidFill>
                          <a:effectLst/>
                          <a:latin typeface="Arial" charset="0"/>
                          <a:cs typeface="Arial" charset="0"/>
                        </a:rPr>
                        <a:t>Mucho peor </a:t>
                      </a:r>
                      <a:endParaRPr kumimoji="0" lang="es-ES" altLang="es-ES" sz="1200" b="0" i="0" u="none" strike="noStrike" cap="none" normalizeH="0" baseline="0" dirty="0">
                        <a:ln>
                          <a:noFill/>
                        </a:ln>
                        <a:solidFill>
                          <a:schemeClr val="tx1"/>
                        </a:solidFill>
                        <a:effectLst/>
                        <a:latin typeface="Arial"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500" b="0" i="0" u="none" strike="noStrike" cap="none" normalizeH="0" baseline="0">
                          <a:ln>
                            <a:noFill/>
                          </a:ln>
                          <a:solidFill>
                            <a:srgbClr val="000000"/>
                          </a:solidFill>
                          <a:effectLst/>
                          <a:latin typeface="Arial" charset="0"/>
                          <a:cs typeface="Arial" charset="0"/>
                        </a:rPr>
                        <a:t>25</a:t>
                      </a:r>
                      <a:endParaRPr kumimoji="0" lang="es-ES" altLang="es-ES" sz="1200" b="0" i="0" u="none" strike="noStrike" cap="none" normalizeH="0" baseline="0">
                        <a:ln>
                          <a:noFill/>
                        </a:ln>
                        <a:solidFill>
                          <a:schemeClr val="tx1"/>
                        </a:solidFill>
                        <a:effectLst/>
                        <a:latin typeface="Arial"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t" latinLnBrk="0" hangingPunct="0">
                        <a:lnSpc>
                          <a:spcPct val="100000"/>
                        </a:lnSpc>
                        <a:spcBef>
                          <a:spcPct val="0"/>
                        </a:spcBef>
                        <a:spcAft>
                          <a:spcPct val="0"/>
                        </a:spcAft>
                        <a:buClrTx/>
                        <a:buSzTx/>
                        <a:buFontTx/>
                        <a:buNone/>
                        <a:tabLst/>
                      </a:pPr>
                      <a:r>
                        <a:rPr kumimoji="0" lang="es-ES" altLang="es-ES" sz="1500" b="0" i="0" u="none" strike="noStrike" cap="none" normalizeH="0" baseline="0">
                          <a:ln>
                            <a:noFill/>
                          </a:ln>
                          <a:solidFill>
                            <a:srgbClr val="000000"/>
                          </a:solidFill>
                          <a:effectLst/>
                          <a:latin typeface="Arial" charset="0"/>
                          <a:cs typeface="Arial" charset="0"/>
                        </a:rPr>
                        <a:t>25</a:t>
                      </a:r>
                      <a:endParaRPr kumimoji="0" lang="es-ES" altLang="es-ES" sz="1200" b="0" i="0" u="none" strike="noStrike" cap="none" normalizeH="0" baseline="0">
                        <a:ln>
                          <a:noFill/>
                        </a:ln>
                        <a:solidFill>
                          <a:schemeClr val="tx1"/>
                        </a:solidFill>
                        <a:effectLst/>
                        <a:latin typeface="Arial"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500" b="0" i="0" u="none" strike="noStrike" cap="none" normalizeH="0" baseline="0">
                          <a:ln>
                            <a:noFill/>
                          </a:ln>
                          <a:solidFill>
                            <a:srgbClr val="000000"/>
                          </a:solidFill>
                          <a:effectLst/>
                          <a:latin typeface="Arial" charset="0"/>
                          <a:cs typeface="Arial" charset="0"/>
                        </a:rPr>
                        <a:t>5.0</a:t>
                      </a:r>
                      <a:endParaRPr kumimoji="0" lang="es-ES" altLang="es-ES" sz="1200" b="0" i="0" u="none" strike="noStrike" cap="none" normalizeH="0" baseline="0">
                        <a:ln>
                          <a:noFill/>
                        </a:ln>
                        <a:solidFill>
                          <a:schemeClr val="tx1"/>
                        </a:solidFill>
                        <a:effectLst/>
                        <a:latin typeface="Arial"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500" b="0" i="0" u="none" strike="noStrike" cap="none" normalizeH="0" baseline="0">
                          <a:ln>
                            <a:noFill/>
                          </a:ln>
                          <a:solidFill>
                            <a:srgbClr val="000000"/>
                          </a:solidFill>
                          <a:effectLst/>
                          <a:latin typeface="Arial" charset="0"/>
                          <a:cs typeface="Arial" charset="0"/>
                        </a:rPr>
                        <a:t>5.0</a:t>
                      </a:r>
                      <a:endParaRPr kumimoji="0" lang="es-ES" altLang="es-ES" sz="1200" b="0" i="0" u="none" strike="noStrike" cap="none" normalizeH="0" baseline="0">
                        <a:ln>
                          <a:noFill/>
                        </a:ln>
                        <a:solidFill>
                          <a:schemeClr val="tx1"/>
                        </a:solidFill>
                        <a:effectLst/>
                        <a:latin typeface="Arial"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0751">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500" b="0" i="0" u="none" strike="noStrike" cap="none" normalizeH="0" baseline="0">
                          <a:ln>
                            <a:noFill/>
                          </a:ln>
                          <a:solidFill>
                            <a:srgbClr val="000000"/>
                          </a:solidFill>
                          <a:effectLst/>
                          <a:latin typeface="Arial" charset="0"/>
                          <a:cs typeface="Arial" charset="0"/>
                        </a:rPr>
                        <a:t>Peor</a:t>
                      </a:r>
                      <a:endParaRPr kumimoji="0" lang="es-ES" altLang="es-ES" sz="1200" b="0" i="0" u="none" strike="noStrike" cap="none" normalizeH="0" baseline="0">
                        <a:ln>
                          <a:noFill/>
                        </a:ln>
                        <a:solidFill>
                          <a:schemeClr val="tx1"/>
                        </a:solidFill>
                        <a:effectLst/>
                        <a:latin typeface="Arial"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500" b="0" i="0" u="none" strike="noStrike" cap="none" normalizeH="0" baseline="0">
                          <a:ln>
                            <a:noFill/>
                          </a:ln>
                          <a:solidFill>
                            <a:srgbClr val="000000"/>
                          </a:solidFill>
                          <a:effectLst/>
                          <a:latin typeface="Arial" charset="0"/>
                          <a:cs typeface="Arial" charset="0"/>
                        </a:rPr>
                        <a:t>98</a:t>
                      </a:r>
                      <a:endParaRPr kumimoji="0" lang="es-ES" altLang="es-ES" sz="1200" b="0" i="0" u="none" strike="noStrike" cap="none" normalizeH="0" baseline="0">
                        <a:ln>
                          <a:noFill/>
                        </a:ln>
                        <a:solidFill>
                          <a:schemeClr val="tx1"/>
                        </a:solidFill>
                        <a:effectLst/>
                        <a:latin typeface="Arial"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t" latinLnBrk="0" hangingPunct="0">
                        <a:lnSpc>
                          <a:spcPct val="100000"/>
                        </a:lnSpc>
                        <a:spcBef>
                          <a:spcPct val="0"/>
                        </a:spcBef>
                        <a:spcAft>
                          <a:spcPct val="0"/>
                        </a:spcAft>
                        <a:buClrTx/>
                        <a:buSzTx/>
                        <a:buFontTx/>
                        <a:buNone/>
                        <a:tabLst/>
                      </a:pPr>
                      <a:r>
                        <a:rPr kumimoji="0" lang="es-ES" altLang="es-ES" sz="1400" b="0" i="0" u="none" strike="noStrike" cap="none" normalizeH="0" baseline="0">
                          <a:ln>
                            <a:noFill/>
                          </a:ln>
                          <a:solidFill>
                            <a:schemeClr val="bg2"/>
                          </a:solidFill>
                          <a:effectLst/>
                          <a:latin typeface="Arial" charset="0"/>
                          <a:cs typeface="Arial" charset="0"/>
                        </a:rPr>
                        <a:t>25+98=</a:t>
                      </a:r>
                      <a:r>
                        <a:rPr kumimoji="0" lang="es-ES" altLang="es-ES" sz="1500" b="0" i="0" u="none" strike="noStrike" cap="none" normalizeH="0" baseline="0">
                          <a:ln>
                            <a:noFill/>
                          </a:ln>
                          <a:solidFill>
                            <a:schemeClr val="bg2"/>
                          </a:solidFill>
                          <a:effectLst/>
                          <a:latin typeface="Arial" charset="0"/>
                          <a:cs typeface="Arial" charset="0"/>
                        </a:rPr>
                        <a:t> </a:t>
                      </a:r>
                      <a:r>
                        <a:rPr kumimoji="0" lang="es-ES" altLang="es-ES" sz="1500" b="0" i="0" u="none" strike="noStrike" cap="none" normalizeH="0" baseline="0">
                          <a:ln>
                            <a:noFill/>
                          </a:ln>
                          <a:solidFill>
                            <a:srgbClr val="000000"/>
                          </a:solidFill>
                          <a:effectLst/>
                          <a:latin typeface="Arial" charset="0"/>
                          <a:cs typeface="Arial" charset="0"/>
                        </a:rPr>
                        <a:t>123</a:t>
                      </a:r>
                      <a:endParaRPr kumimoji="0" lang="es-ES" altLang="es-ES" sz="1200" b="0" i="0" u="none" strike="noStrike" cap="none" normalizeH="0" baseline="0">
                        <a:ln>
                          <a:noFill/>
                        </a:ln>
                        <a:solidFill>
                          <a:schemeClr val="tx1"/>
                        </a:solidFill>
                        <a:effectLst/>
                        <a:latin typeface="Arial"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500" b="0" i="0" u="none" strike="noStrike" cap="none" normalizeH="0" baseline="0">
                          <a:ln>
                            <a:noFill/>
                          </a:ln>
                          <a:solidFill>
                            <a:srgbClr val="000000"/>
                          </a:solidFill>
                          <a:effectLst/>
                          <a:latin typeface="Arial" charset="0"/>
                          <a:cs typeface="Arial" charset="0"/>
                        </a:rPr>
                        <a:t>19.6</a:t>
                      </a:r>
                      <a:endParaRPr kumimoji="0" lang="es-ES" altLang="es-ES" sz="1200" b="0" i="0" u="none" strike="noStrike" cap="none" normalizeH="0" baseline="0">
                        <a:ln>
                          <a:noFill/>
                        </a:ln>
                        <a:solidFill>
                          <a:schemeClr val="tx1"/>
                        </a:solidFill>
                        <a:effectLst/>
                        <a:latin typeface="Arial"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400" b="0" i="0" u="none" strike="noStrike" cap="none" normalizeH="0" baseline="0">
                          <a:ln>
                            <a:noFill/>
                          </a:ln>
                          <a:solidFill>
                            <a:schemeClr val="bg2"/>
                          </a:solidFill>
                          <a:effectLst/>
                          <a:latin typeface="Arial" charset="0"/>
                          <a:cs typeface="Arial" charset="0"/>
                        </a:rPr>
                        <a:t>5+19.6= </a:t>
                      </a:r>
                      <a:r>
                        <a:rPr kumimoji="0" lang="es-ES" altLang="es-ES" sz="1500" b="0" i="0" u="none" strike="noStrike" cap="none" normalizeH="0" baseline="0">
                          <a:ln>
                            <a:noFill/>
                          </a:ln>
                          <a:solidFill>
                            <a:srgbClr val="000000"/>
                          </a:solidFill>
                          <a:effectLst/>
                          <a:latin typeface="Arial" charset="0"/>
                          <a:cs typeface="Arial" charset="0"/>
                        </a:rPr>
                        <a:t>24.6</a:t>
                      </a:r>
                      <a:endParaRPr kumimoji="0" lang="es-ES" altLang="es-ES" sz="1200" b="0" i="0" u="none" strike="noStrike" cap="none" normalizeH="0" baseline="0">
                        <a:ln>
                          <a:noFill/>
                        </a:ln>
                        <a:solidFill>
                          <a:schemeClr val="tx1"/>
                        </a:solidFill>
                        <a:effectLst/>
                        <a:latin typeface="Arial"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0751">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500" b="0" i="0" u="none" strike="noStrike" cap="none" normalizeH="0" baseline="0">
                          <a:ln>
                            <a:noFill/>
                          </a:ln>
                          <a:solidFill>
                            <a:srgbClr val="000000"/>
                          </a:solidFill>
                          <a:effectLst/>
                          <a:latin typeface="Arial" charset="0"/>
                          <a:cs typeface="Arial" charset="0"/>
                        </a:rPr>
                        <a:t>Igual</a:t>
                      </a:r>
                      <a:endParaRPr kumimoji="0" lang="es-ES" altLang="es-ES" sz="1200" b="0" i="0" u="none" strike="noStrike" cap="none" normalizeH="0" baseline="0">
                        <a:ln>
                          <a:noFill/>
                        </a:ln>
                        <a:solidFill>
                          <a:schemeClr val="tx1"/>
                        </a:solidFill>
                        <a:effectLst/>
                        <a:latin typeface="Arial"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500" b="0" i="0" u="none" strike="noStrike" cap="none" normalizeH="0" baseline="0">
                          <a:ln>
                            <a:noFill/>
                          </a:ln>
                          <a:solidFill>
                            <a:srgbClr val="000000"/>
                          </a:solidFill>
                          <a:effectLst/>
                          <a:latin typeface="Arial" charset="0"/>
                          <a:cs typeface="Arial" charset="0"/>
                        </a:rPr>
                        <a:t>159</a:t>
                      </a:r>
                      <a:endParaRPr kumimoji="0" lang="es-ES" altLang="es-ES" sz="1200" b="0" i="0" u="none" strike="noStrike" cap="none" normalizeH="0" baseline="0">
                        <a:ln>
                          <a:noFill/>
                        </a:ln>
                        <a:solidFill>
                          <a:schemeClr val="tx1"/>
                        </a:solidFill>
                        <a:effectLst/>
                        <a:latin typeface="Arial"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t" latinLnBrk="0" hangingPunct="0">
                        <a:lnSpc>
                          <a:spcPct val="100000"/>
                        </a:lnSpc>
                        <a:spcBef>
                          <a:spcPct val="0"/>
                        </a:spcBef>
                        <a:spcAft>
                          <a:spcPct val="0"/>
                        </a:spcAft>
                        <a:buClrTx/>
                        <a:buSzTx/>
                        <a:buFontTx/>
                        <a:buNone/>
                        <a:tabLst/>
                      </a:pPr>
                      <a:r>
                        <a:rPr kumimoji="0" lang="es-ES" altLang="es-ES" sz="1400" b="0" i="0" u="none" strike="noStrike" cap="none" normalizeH="0" baseline="0">
                          <a:ln>
                            <a:noFill/>
                          </a:ln>
                          <a:solidFill>
                            <a:schemeClr val="bg2"/>
                          </a:solidFill>
                          <a:effectLst/>
                          <a:latin typeface="Arial" charset="0"/>
                          <a:cs typeface="Arial" charset="0"/>
                        </a:rPr>
                        <a:t>123+159=</a:t>
                      </a:r>
                      <a:r>
                        <a:rPr kumimoji="0" lang="es-ES" altLang="es-ES" sz="1500" b="0" i="0" u="none" strike="noStrike" cap="none" normalizeH="0" baseline="0">
                          <a:ln>
                            <a:noFill/>
                          </a:ln>
                          <a:solidFill>
                            <a:schemeClr val="bg2"/>
                          </a:solidFill>
                          <a:effectLst/>
                          <a:latin typeface="Arial" charset="0"/>
                          <a:cs typeface="Arial" charset="0"/>
                        </a:rPr>
                        <a:t> </a:t>
                      </a:r>
                      <a:r>
                        <a:rPr kumimoji="0" lang="es-ES" altLang="es-ES" sz="1500" b="0" i="0" u="none" strike="noStrike" cap="none" normalizeH="0" baseline="0">
                          <a:ln>
                            <a:noFill/>
                          </a:ln>
                          <a:solidFill>
                            <a:srgbClr val="000000"/>
                          </a:solidFill>
                          <a:effectLst/>
                          <a:latin typeface="Arial" charset="0"/>
                          <a:cs typeface="Arial" charset="0"/>
                        </a:rPr>
                        <a:t>282</a:t>
                      </a:r>
                      <a:endParaRPr kumimoji="0" lang="es-ES" altLang="es-ES" sz="1200" b="0" i="0" u="none" strike="noStrike" cap="none" normalizeH="0" baseline="0">
                        <a:ln>
                          <a:noFill/>
                        </a:ln>
                        <a:solidFill>
                          <a:schemeClr val="tx1"/>
                        </a:solidFill>
                        <a:effectLst/>
                        <a:latin typeface="Arial"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500" b="0" i="0" u="none" strike="noStrike" cap="none" normalizeH="0" baseline="0">
                          <a:ln>
                            <a:noFill/>
                          </a:ln>
                          <a:solidFill>
                            <a:srgbClr val="000000"/>
                          </a:solidFill>
                          <a:effectLst/>
                          <a:latin typeface="Arial" charset="0"/>
                          <a:cs typeface="Arial" charset="0"/>
                        </a:rPr>
                        <a:t>31.8</a:t>
                      </a:r>
                      <a:endParaRPr kumimoji="0" lang="es-ES" altLang="es-ES" sz="1200" b="0" i="0" u="none" strike="noStrike" cap="none" normalizeH="0" baseline="0">
                        <a:ln>
                          <a:noFill/>
                        </a:ln>
                        <a:solidFill>
                          <a:schemeClr val="tx1"/>
                        </a:solidFill>
                        <a:effectLst/>
                        <a:latin typeface="Arial"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400" b="0" i="0" u="none" strike="noStrike" cap="none" normalizeH="0" baseline="0">
                          <a:ln>
                            <a:noFill/>
                          </a:ln>
                          <a:solidFill>
                            <a:schemeClr val="bg2"/>
                          </a:solidFill>
                          <a:effectLst/>
                          <a:latin typeface="Arial" charset="0"/>
                        </a:rPr>
                        <a:t>24.6+31.8=</a:t>
                      </a:r>
                      <a:r>
                        <a:rPr kumimoji="0" lang="es-ES" altLang="es-ES" sz="1400" b="0" i="0" u="none" strike="noStrike" cap="none" normalizeH="0" baseline="0">
                          <a:ln>
                            <a:noFill/>
                          </a:ln>
                          <a:solidFill>
                            <a:schemeClr val="tx1"/>
                          </a:solidFill>
                          <a:effectLst/>
                          <a:latin typeface="Arial" charset="0"/>
                        </a:rPr>
                        <a:t> </a:t>
                      </a:r>
                      <a:r>
                        <a:rPr kumimoji="0" lang="es-ES" altLang="es-ES" sz="1500" b="0" i="0" u="none" strike="noStrike" cap="none" normalizeH="0" baseline="0">
                          <a:ln>
                            <a:noFill/>
                          </a:ln>
                          <a:solidFill>
                            <a:srgbClr val="000000"/>
                          </a:solidFill>
                          <a:effectLst/>
                          <a:latin typeface="Arial" charset="0"/>
                          <a:cs typeface="Arial" charset="0"/>
                        </a:rPr>
                        <a:t>56.4</a:t>
                      </a: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0751">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500" b="0" i="0" u="none" strike="noStrike" cap="none" normalizeH="0" baseline="0">
                          <a:ln>
                            <a:noFill/>
                          </a:ln>
                          <a:solidFill>
                            <a:srgbClr val="000000"/>
                          </a:solidFill>
                          <a:effectLst/>
                          <a:latin typeface="Arial" charset="0"/>
                          <a:cs typeface="Arial" charset="0"/>
                        </a:rPr>
                        <a:t>Mejor</a:t>
                      </a:r>
                      <a:endParaRPr kumimoji="0" lang="es-ES" altLang="es-ES" sz="1200" b="0" i="0" u="none" strike="noStrike" cap="none" normalizeH="0" baseline="0">
                        <a:ln>
                          <a:noFill/>
                        </a:ln>
                        <a:solidFill>
                          <a:schemeClr val="tx1"/>
                        </a:solidFill>
                        <a:effectLst/>
                        <a:latin typeface="Arial"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500" b="0" i="0" u="none" strike="noStrike" cap="none" normalizeH="0" baseline="0">
                          <a:ln>
                            <a:noFill/>
                          </a:ln>
                          <a:solidFill>
                            <a:srgbClr val="000000"/>
                          </a:solidFill>
                          <a:effectLst/>
                          <a:latin typeface="Arial" charset="0"/>
                          <a:cs typeface="Arial" charset="0"/>
                        </a:rPr>
                        <a:t>147</a:t>
                      </a:r>
                      <a:endParaRPr kumimoji="0" lang="es-ES" altLang="es-ES" sz="1200" b="0" i="0" u="none" strike="noStrike" cap="none" normalizeH="0" baseline="0">
                        <a:ln>
                          <a:noFill/>
                        </a:ln>
                        <a:solidFill>
                          <a:schemeClr val="tx1"/>
                        </a:solidFill>
                        <a:effectLst/>
                        <a:latin typeface="Arial"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t" latinLnBrk="0" hangingPunct="0">
                        <a:lnSpc>
                          <a:spcPct val="100000"/>
                        </a:lnSpc>
                        <a:spcBef>
                          <a:spcPct val="0"/>
                        </a:spcBef>
                        <a:spcAft>
                          <a:spcPct val="0"/>
                        </a:spcAft>
                        <a:buClrTx/>
                        <a:buSzTx/>
                        <a:buFontTx/>
                        <a:buNone/>
                        <a:tabLst/>
                      </a:pPr>
                      <a:r>
                        <a:rPr kumimoji="0" lang="es-ES" altLang="es-ES" sz="1400" b="0" i="0" u="none" strike="noStrike" cap="none" normalizeH="0" baseline="0">
                          <a:ln>
                            <a:noFill/>
                          </a:ln>
                          <a:solidFill>
                            <a:schemeClr val="bg2"/>
                          </a:solidFill>
                          <a:effectLst/>
                          <a:latin typeface="Arial" charset="0"/>
                          <a:cs typeface="Arial" charset="0"/>
                        </a:rPr>
                        <a:t>282+147=</a:t>
                      </a:r>
                      <a:r>
                        <a:rPr kumimoji="0" lang="es-ES" altLang="es-ES" sz="1500" b="0" i="0" u="none" strike="noStrike" cap="none" normalizeH="0" baseline="0">
                          <a:ln>
                            <a:noFill/>
                          </a:ln>
                          <a:solidFill>
                            <a:schemeClr val="bg2"/>
                          </a:solidFill>
                          <a:effectLst/>
                          <a:latin typeface="Arial" charset="0"/>
                          <a:cs typeface="Arial" charset="0"/>
                        </a:rPr>
                        <a:t> </a:t>
                      </a:r>
                      <a:r>
                        <a:rPr kumimoji="0" lang="es-ES" altLang="es-ES" sz="1500" b="0" i="0" u="none" strike="noStrike" cap="none" normalizeH="0" baseline="0">
                          <a:ln>
                            <a:noFill/>
                          </a:ln>
                          <a:solidFill>
                            <a:srgbClr val="000000"/>
                          </a:solidFill>
                          <a:effectLst/>
                          <a:latin typeface="Arial" charset="0"/>
                          <a:cs typeface="Arial" charset="0"/>
                        </a:rPr>
                        <a:t>429</a:t>
                      </a:r>
                      <a:endParaRPr kumimoji="0" lang="es-ES" altLang="es-ES" sz="1200" b="0" i="0" u="none" strike="noStrike" cap="none" normalizeH="0" baseline="0">
                        <a:ln>
                          <a:noFill/>
                        </a:ln>
                        <a:solidFill>
                          <a:schemeClr val="tx1"/>
                        </a:solidFill>
                        <a:effectLst/>
                        <a:latin typeface="Arial"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500" b="0" i="0" u="none" strike="noStrike" cap="none" normalizeH="0" baseline="0">
                          <a:ln>
                            <a:noFill/>
                          </a:ln>
                          <a:solidFill>
                            <a:srgbClr val="000000"/>
                          </a:solidFill>
                          <a:effectLst/>
                          <a:latin typeface="Arial" charset="0"/>
                          <a:cs typeface="Arial" charset="0"/>
                        </a:rPr>
                        <a:t>29.4</a:t>
                      </a:r>
                      <a:endParaRPr kumimoji="0" lang="es-ES" altLang="es-ES" sz="1200" b="0" i="0" u="none" strike="noStrike" cap="none" normalizeH="0" baseline="0">
                        <a:ln>
                          <a:noFill/>
                        </a:ln>
                        <a:solidFill>
                          <a:schemeClr val="tx1"/>
                        </a:solidFill>
                        <a:effectLst/>
                        <a:latin typeface="Arial"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500" b="0" i="0" u="none" strike="noStrike" cap="none" normalizeH="0" baseline="0">
                          <a:ln>
                            <a:noFill/>
                          </a:ln>
                          <a:solidFill>
                            <a:srgbClr val="000000"/>
                          </a:solidFill>
                          <a:effectLst/>
                          <a:latin typeface="Arial" charset="0"/>
                          <a:cs typeface="Arial" charset="0"/>
                        </a:rPr>
                        <a:t>85.8</a:t>
                      </a:r>
                      <a:endParaRPr kumimoji="0" lang="es-ES" altLang="es-ES" sz="1200" b="0" i="0" u="none" strike="noStrike" cap="none" normalizeH="0" baseline="0">
                        <a:ln>
                          <a:noFill/>
                        </a:ln>
                        <a:solidFill>
                          <a:schemeClr val="tx1"/>
                        </a:solidFill>
                        <a:effectLst/>
                        <a:latin typeface="Arial"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0116">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500" b="0" i="0" u="none" strike="noStrike" cap="none" normalizeH="0" baseline="0">
                          <a:ln>
                            <a:noFill/>
                          </a:ln>
                          <a:solidFill>
                            <a:srgbClr val="000000"/>
                          </a:solidFill>
                          <a:effectLst/>
                          <a:latin typeface="Arial" charset="0"/>
                          <a:cs typeface="Arial" charset="0"/>
                        </a:rPr>
                        <a:t>Mucho mejor</a:t>
                      </a:r>
                      <a:endParaRPr kumimoji="0" lang="es-ES" altLang="es-ES" sz="1200" b="0" i="0" u="none" strike="noStrike" cap="none" normalizeH="0" baseline="0">
                        <a:ln>
                          <a:noFill/>
                        </a:ln>
                        <a:solidFill>
                          <a:schemeClr val="tx1"/>
                        </a:solidFill>
                        <a:effectLst/>
                        <a:latin typeface="Arial"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s-ES" altLang="es-ES" sz="1500" b="0" i="0" u="none" strike="noStrike" cap="none" normalizeH="0" baseline="0">
                          <a:ln>
                            <a:noFill/>
                          </a:ln>
                          <a:solidFill>
                            <a:schemeClr val="tx1"/>
                          </a:solidFill>
                          <a:effectLst/>
                          <a:latin typeface="Arial" charset="0"/>
                          <a:cs typeface="Arial" charset="0"/>
                        </a:rPr>
                        <a:t>71</a:t>
                      </a:r>
                      <a:endParaRPr kumimoji="0" lang="es-ES" altLang="es-ES" sz="1200" b="0" i="0" u="none" strike="noStrike" cap="none" normalizeH="0" baseline="0">
                        <a:ln>
                          <a:noFill/>
                        </a:ln>
                        <a:solidFill>
                          <a:schemeClr val="tx1"/>
                        </a:solidFill>
                        <a:effectLst/>
                        <a:latin typeface="Arial" charset="0"/>
                      </a:endParaRPr>
                    </a:p>
                  </a:txBody>
                  <a:tcPr marT="45731" marB="45731"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400" b="0" i="0" u="none" strike="noStrike" cap="none" normalizeH="0" baseline="0">
                          <a:ln>
                            <a:noFill/>
                          </a:ln>
                          <a:solidFill>
                            <a:schemeClr val="bg2"/>
                          </a:solidFill>
                          <a:effectLst/>
                          <a:latin typeface="Arial" charset="0"/>
                        </a:rPr>
                        <a:t>429+71=</a:t>
                      </a:r>
                      <a:r>
                        <a:rPr kumimoji="0" lang="es-ES" altLang="es-ES" sz="1200" b="0" i="0" u="none" strike="noStrike" cap="none" normalizeH="0" baseline="0">
                          <a:ln>
                            <a:noFill/>
                          </a:ln>
                          <a:solidFill>
                            <a:schemeClr val="tx1"/>
                          </a:solidFill>
                          <a:effectLst/>
                          <a:latin typeface="Arial" charset="0"/>
                        </a:rPr>
                        <a:t> </a:t>
                      </a:r>
                      <a:r>
                        <a:rPr kumimoji="0" lang="es-ES" altLang="es-ES" sz="1500" b="0" i="0" u="none" strike="noStrike" cap="none" normalizeH="0" baseline="0">
                          <a:ln>
                            <a:noFill/>
                          </a:ln>
                          <a:solidFill>
                            <a:schemeClr val="tx1"/>
                          </a:solidFill>
                          <a:effectLst/>
                          <a:latin typeface="Arial" charset="0"/>
                          <a:cs typeface="Arial" charset="0"/>
                        </a:rPr>
                        <a:t>500</a:t>
                      </a:r>
                    </a:p>
                  </a:txBody>
                  <a:tcPr marT="45731" marB="45731"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500" b="0" i="0" u="none" strike="noStrike" cap="none" normalizeH="0" baseline="0">
                          <a:ln>
                            <a:noFill/>
                          </a:ln>
                          <a:solidFill>
                            <a:srgbClr val="000000"/>
                          </a:solidFill>
                          <a:effectLst/>
                          <a:latin typeface="Arial" charset="0"/>
                          <a:cs typeface="Arial" charset="0"/>
                        </a:rPr>
                        <a:t>14.2</a:t>
                      </a:r>
                      <a:endParaRPr kumimoji="0" lang="es-ES" altLang="es-ES" sz="1200" b="0" i="0" u="none" strike="noStrike" cap="none" normalizeH="0" baseline="0">
                        <a:ln>
                          <a:noFill/>
                        </a:ln>
                        <a:solidFill>
                          <a:schemeClr val="tx1"/>
                        </a:solidFill>
                        <a:effectLst/>
                        <a:latin typeface="Arial"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500" b="0" i="0" u="none" strike="noStrike" cap="none" normalizeH="0" baseline="0">
                          <a:ln>
                            <a:noFill/>
                          </a:ln>
                          <a:solidFill>
                            <a:srgbClr val="000000"/>
                          </a:solidFill>
                          <a:effectLst/>
                          <a:latin typeface="Arial" charset="0"/>
                          <a:cs typeface="Arial" charset="0"/>
                        </a:rPr>
                        <a:t>100</a:t>
                      </a:r>
                      <a:endParaRPr kumimoji="0" lang="es-ES" altLang="es-ES" sz="1200" b="0" i="0" u="none" strike="noStrike" cap="none" normalizeH="0" baseline="0">
                        <a:ln>
                          <a:noFill/>
                        </a:ln>
                        <a:solidFill>
                          <a:schemeClr val="tx1"/>
                        </a:solidFill>
                        <a:effectLst/>
                        <a:latin typeface="Arial"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283">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500" b="0" i="0" u="none" strike="noStrike" cap="none" normalizeH="0" baseline="0">
                          <a:ln>
                            <a:noFill/>
                          </a:ln>
                          <a:solidFill>
                            <a:srgbClr val="969696"/>
                          </a:solidFill>
                          <a:effectLst/>
                          <a:latin typeface="Arial" charset="0"/>
                          <a:cs typeface="Arial" charset="0"/>
                        </a:rPr>
                        <a:t>Total</a:t>
                      </a:r>
                      <a:endParaRPr kumimoji="0" lang="es-ES" altLang="es-ES" sz="1200" b="0" i="0" u="none" strike="noStrike" cap="none" normalizeH="0" baseline="0">
                        <a:ln>
                          <a:noFill/>
                        </a:ln>
                        <a:solidFill>
                          <a:schemeClr val="tx1"/>
                        </a:solidFill>
                        <a:effectLst/>
                        <a:latin typeface="Arial" charset="0"/>
                      </a:endParaRPr>
                    </a:p>
                  </a:txBody>
                  <a:tcPr marT="45731" marB="45731" horzOverflow="overflow">
                    <a:lnL cap="flat">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500" b="0" i="0" u="none" strike="noStrike" cap="none" normalizeH="0" baseline="0" dirty="0">
                          <a:ln>
                            <a:noFill/>
                          </a:ln>
                          <a:solidFill>
                            <a:srgbClr val="969696"/>
                          </a:solidFill>
                          <a:effectLst/>
                          <a:latin typeface="Arial" charset="0"/>
                          <a:cs typeface="Arial" charset="0"/>
                        </a:rPr>
                        <a:t>500</a:t>
                      </a:r>
                      <a:endParaRPr kumimoji="0" lang="es-ES" altLang="es-ES" sz="1200" b="0" i="0" u="none" strike="noStrike" cap="none" normalizeH="0" baseline="0" dirty="0">
                        <a:ln>
                          <a:noFill/>
                        </a:ln>
                        <a:solidFill>
                          <a:schemeClr val="tx1"/>
                        </a:solidFill>
                        <a:effectLst/>
                        <a:latin typeface="Arial" charset="0"/>
                      </a:endParaRPr>
                    </a:p>
                  </a:txBody>
                  <a:tcPr marT="45731" marB="45731"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2800" b="0" i="0" u="none" strike="noStrike" cap="none" normalizeH="0" baseline="0" dirty="0">
                        <a:ln>
                          <a:noFill/>
                        </a:ln>
                        <a:solidFill>
                          <a:schemeClr val="tx1"/>
                        </a:solidFill>
                        <a:effectLst/>
                        <a:latin typeface="Arial" charset="0"/>
                      </a:endParaRPr>
                    </a:p>
                  </a:txBody>
                  <a:tcPr marT="45731" marB="45731"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500" b="0" i="0" u="none" strike="noStrike" cap="none" normalizeH="0" baseline="0">
                          <a:ln>
                            <a:noFill/>
                          </a:ln>
                          <a:solidFill>
                            <a:srgbClr val="969696"/>
                          </a:solidFill>
                          <a:effectLst/>
                          <a:latin typeface="Arial" charset="0"/>
                          <a:cs typeface="Arial" charset="0"/>
                        </a:rPr>
                        <a:t>100</a:t>
                      </a:r>
                      <a:endParaRPr kumimoji="0" lang="es-ES" altLang="es-ES" sz="1200" b="0" i="0" u="none" strike="noStrike" cap="none" normalizeH="0" baseline="0">
                        <a:ln>
                          <a:noFill/>
                        </a:ln>
                        <a:solidFill>
                          <a:schemeClr val="tx1"/>
                        </a:solidFill>
                        <a:effectLst/>
                        <a:latin typeface="Arial" charset="0"/>
                      </a:endParaRPr>
                    </a:p>
                  </a:txBody>
                  <a:tcPr marT="45731" marB="45731"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2800" b="0" i="0" u="none" strike="noStrike" cap="none" normalizeH="0" baseline="0" dirty="0">
                        <a:ln>
                          <a:noFill/>
                        </a:ln>
                        <a:solidFill>
                          <a:schemeClr val="tx1"/>
                        </a:solidFill>
                        <a:effectLst/>
                        <a:latin typeface="Arial" charset="0"/>
                      </a:endParaRPr>
                    </a:p>
                  </a:txBody>
                  <a:tcPr marT="45731" marB="45731" horzOverflow="overflow">
                    <a:lnL>
                      <a:noFill/>
                    </a:lnL>
                    <a:lnR cap="flat">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0295" name="Rectangle 280"/>
          <p:cNvSpPr>
            <a:spLocks noChangeArrowheads="1"/>
          </p:cNvSpPr>
          <p:nvPr/>
        </p:nvSpPr>
        <p:spPr bwMode="auto">
          <a:xfrm>
            <a:off x="914400" y="1143000"/>
            <a:ext cx="73914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sz="1500" b="1"/>
              <a:t>Efecto observado tras la aplicación de una terapia acuática</a:t>
            </a:r>
            <a:endParaRPr lang="es-ES" altLang="es-ES" sz="1500"/>
          </a:p>
          <a:p>
            <a:pPr algn="ctr" eaLnBrk="1" hangingPunct="1"/>
            <a:r>
              <a:rPr lang="es-ES" altLang="es-ES" sz="1500" b="1"/>
              <a:t>en n=500 mujeres con fibromialgia</a:t>
            </a:r>
            <a:r>
              <a:rPr lang="es-ES" altLang="es-ES" sz="1500"/>
              <a:t> </a:t>
            </a:r>
          </a:p>
        </p:txBody>
      </p:sp>
      <p:grpSp>
        <p:nvGrpSpPr>
          <p:cNvPr id="2" name="Group 51">
            <a:extLst>
              <a:ext uri="{FF2B5EF4-FFF2-40B4-BE49-F238E27FC236}">
                <a16:creationId xmlns:a16="http://schemas.microsoft.com/office/drawing/2014/main" id="{BAAF672D-F3C9-B4C6-DD82-C896BE2E8503}"/>
              </a:ext>
            </a:extLst>
          </p:cNvPr>
          <p:cNvGrpSpPr>
            <a:grpSpLocks/>
          </p:cNvGrpSpPr>
          <p:nvPr/>
        </p:nvGrpSpPr>
        <p:grpSpPr bwMode="auto">
          <a:xfrm>
            <a:off x="244475" y="4757154"/>
            <a:ext cx="2895600" cy="1894417"/>
            <a:chOff x="3832" y="888"/>
            <a:chExt cx="1824" cy="1144"/>
          </a:xfrm>
        </p:grpSpPr>
        <p:sp>
          <p:nvSpPr>
            <p:cNvPr id="3" name="AutoShape 122">
              <a:extLst>
                <a:ext uri="{FF2B5EF4-FFF2-40B4-BE49-F238E27FC236}">
                  <a16:creationId xmlns:a16="http://schemas.microsoft.com/office/drawing/2014/main" id="{E7CC573B-78A7-57C1-66E4-1E6A3ACBD51D}"/>
                </a:ext>
              </a:extLst>
            </p:cNvPr>
            <p:cNvSpPr>
              <a:spLocks noChangeArrowheads="1"/>
            </p:cNvSpPr>
            <p:nvPr/>
          </p:nvSpPr>
          <p:spPr bwMode="auto">
            <a:xfrm>
              <a:off x="3832" y="888"/>
              <a:ext cx="1824" cy="1144"/>
            </a:xfrm>
            <a:prstGeom prst="roundRect">
              <a:avLst>
                <a:gd name="adj" fmla="val 7264"/>
              </a:avLst>
            </a:prstGeom>
            <a:noFill/>
            <a:ln w="6350">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4" name="54 CuadroTexto">
              <a:extLst>
                <a:ext uri="{FF2B5EF4-FFF2-40B4-BE49-F238E27FC236}">
                  <a16:creationId xmlns:a16="http://schemas.microsoft.com/office/drawing/2014/main" id="{E229A08F-7092-A1C6-0407-1FC7D19D280D}"/>
                </a:ext>
              </a:extLst>
            </p:cNvPr>
            <p:cNvSpPr txBox="1">
              <a:spLocks noChangeArrowheads="1"/>
            </p:cNvSpPr>
            <p:nvPr/>
          </p:nvSpPr>
          <p:spPr bwMode="auto">
            <a:xfrm>
              <a:off x="3890" y="994"/>
              <a:ext cx="1708" cy="933"/>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 altLang="es-ES" sz="1300" dirty="0"/>
                <a:t>La </a:t>
              </a:r>
              <a:r>
                <a:rPr lang="es-ES" altLang="es-ES" sz="1300" b="1" dirty="0"/>
                <a:t>frecuencia relativa</a:t>
              </a:r>
              <a:r>
                <a:rPr lang="es-ES" altLang="es-ES" sz="1300" dirty="0"/>
                <a:t> (o el %) no es más que la </a:t>
              </a:r>
              <a:r>
                <a:rPr lang="es-ES" altLang="es-ES" sz="1300" i="1" dirty="0"/>
                <a:t>estandarización</a:t>
              </a:r>
              <a:r>
                <a:rPr lang="es-ES" altLang="es-ES" sz="1300" dirty="0"/>
                <a:t> de la frecuencia absoluta. Este tipo de estandarización es muy conveniente, ya que permitirá hacer comparaciones coherentes, como veremos más adelante</a:t>
              </a:r>
            </a:p>
          </p:txBody>
        </p:sp>
      </p:grpSp>
      <p:sp>
        <p:nvSpPr>
          <p:cNvPr id="5" name="54 CuadroTexto">
            <a:extLst>
              <a:ext uri="{FF2B5EF4-FFF2-40B4-BE49-F238E27FC236}">
                <a16:creationId xmlns:a16="http://schemas.microsoft.com/office/drawing/2014/main" id="{AF523BB6-B5DD-429A-C40D-F444041E8E18}"/>
              </a:ext>
            </a:extLst>
          </p:cNvPr>
          <p:cNvSpPr txBox="1">
            <a:spLocks noChangeArrowheads="1"/>
          </p:cNvSpPr>
          <p:nvPr/>
        </p:nvSpPr>
        <p:spPr bwMode="auto">
          <a:xfrm>
            <a:off x="3386667" y="5786684"/>
            <a:ext cx="4919133"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sz="1400" dirty="0"/>
              <a:t>La frecuencia acumulada es relativa al orden </a:t>
            </a:r>
            <a:r>
              <a:rPr lang="es-ES" altLang="es-ES" sz="1400" u="sng" dirty="0"/>
              <a:t>natural</a:t>
            </a:r>
            <a:r>
              <a:rPr lang="es-ES" altLang="es-ES" sz="1400" dirty="0"/>
              <a:t> de las categorías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354" name="Group 114"/>
          <p:cNvGraphicFramePr>
            <a:graphicFrameLocks noGrp="1"/>
          </p:cNvGraphicFramePr>
          <p:nvPr>
            <p:extLst>
              <p:ext uri="{D42A27DB-BD31-4B8C-83A1-F6EECF244321}">
                <p14:modId xmlns:p14="http://schemas.microsoft.com/office/powerpoint/2010/main" val="4140656828"/>
              </p:ext>
            </p:extLst>
          </p:nvPr>
        </p:nvGraphicFramePr>
        <p:xfrm>
          <a:off x="170121" y="969962"/>
          <a:ext cx="8745279" cy="3261138"/>
        </p:xfrm>
        <a:graphic>
          <a:graphicData uri="http://schemas.openxmlformats.org/drawingml/2006/table">
            <a:tbl>
              <a:tblPr/>
              <a:tblGrid>
                <a:gridCol w="937229">
                  <a:extLst>
                    <a:ext uri="{9D8B030D-6E8A-4147-A177-3AD203B41FA5}">
                      <a16:colId xmlns:a16="http://schemas.microsoft.com/office/drawing/2014/main" val="20000"/>
                    </a:ext>
                  </a:extLst>
                </a:gridCol>
                <a:gridCol w="814125">
                  <a:extLst>
                    <a:ext uri="{9D8B030D-6E8A-4147-A177-3AD203B41FA5}">
                      <a16:colId xmlns:a16="http://schemas.microsoft.com/office/drawing/2014/main" val="20001"/>
                    </a:ext>
                  </a:extLst>
                </a:gridCol>
                <a:gridCol w="919173">
                  <a:extLst>
                    <a:ext uri="{9D8B030D-6E8A-4147-A177-3AD203B41FA5}">
                      <a16:colId xmlns:a16="http://schemas.microsoft.com/office/drawing/2014/main" val="20002"/>
                    </a:ext>
                  </a:extLst>
                </a:gridCol>
                <a:gridCol w="1426360">
                  <a:extLst>
                    <a:ext uri="{9D8B030D-6E8A-4147-A177-3AD203B41FA5}">
                      <a16:colId xmlns:a16="http://schemas.microsoft.com/office/drawing/2014/main" val="20003"/>
                    </a:ext>
                  </a:extLst>
                </a:gridCol>
                <a:gridCol w="498979">
                  <a:extLst>
                    <a:ext uri="{9D8B030D-6E8A-4147-A177-3AD203B41FA5}">
                      <a16:colId xmlns:a16="http://schemas.microsoft.com/office/drawing/2014/main" val="20004"/>
                    </a:ext>
                  </a:extLst>
                </a:gridCol>
                <a:gridCol w="1406213">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gridCol w="1295400">
                  <a:extLst>
                    <a:ext uri="{9D8B030D-6E8A-4147-A177-3AD203B41FA5}">
                      <a16:colId xmlns:a16="http://schemas.microsoft.com/office/drawing/2014/main" val="20008"/>
                    </a:ext>
                  </a:extLst>
                </a:gridCol>
              </a:tblGrid>
              <a:tr h="579314">
                <a:tc gridSpan="4">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s-ES" altLang="es-ES" sz="1600" b="1" i="0" u="none" strike="noStrike" cap="none" normalizeH="0" baseline="0" dirty="0">
                          <a:ln>
                            <a:noFill/>
                          </a:ln>
                          <a:solidFill>
                            <a:schemeClr val="tx1"/>
                          </a:solidFill>
                          <a:effectLst/>
                          <a:latin typeface="Arial" charset="0"/>
                          <a:cs typeface="Arial" charset="0"/>
                        </a:rPr>
                        <a:t>         Distribución de la edad (años)</a:t>
                      </a:r>
                    </a:p>
                    <a:p>
                      <a:pPr marL="0" marR="0" lvl="0" indent="0" algn="ctr" defTabSz="914400" rtl="0" eaLnBrk="1" fontAlgn="b" latinLnBrk="0" hangingPunct="1">
                        <a:lnSpc>
                          <a:spcPct val="100000"/>
                        </a:lnSpc>
                        <a:spcBef>
                          <a:spcPct val="0"/>
                        </a:spcBef>
                        <a:spcAft>
                          <a:spcPct val="0"/>
                        </a:spcAft>
                        <a:buClrTx/>
                        <a:buSzTx/>
                        <a:buFontTx/>
                        <a:buNone/>
                        <a:tabLst/>
                      </a:pPr>
                      <a:r>
                        <a:rPr kumimoji="0" lang="es-ES" altLang="es-ES" sz="1600" b="1" i="0" u="none" strike="noStrike" cap="none" normalizeH="0" baseline="0" dirty="0">
                          <a:ln>
                            <a:noFill/>
                          </a:ln>
                          <a:solidFill>
                            <a:schemeClr val="tx1"/>
                          </a:solidFill>
                          <a:effectLst/>
                          <a:latin typeface="Arial" charset="0"/>
                          <a:cs typeface="Arial" charset="0"/>
                        </a:rPr>
                        <a:t> n=124n</a:t>
                      </a:r>
                      <a:endParaRPr kumimoji="0" lang="es-ES" altLang="es-ES" sz="1600" b="0" i="0" u="none" strike="noStrike" cap="none" normalizeH="0" baseline="0" dirty="0">
                        <a:ln>
                          <a:noFill/>
                        </a:ln>
                        <a:solidFill>
                          <a:schemeClr val="tx1"/>
                        </a:solidFill>
                        <a:effectLst/>
                        <a:latin typeface="Arial" charset="0"/>
                      </a:endParaRPr>
                    </a:p>
                  </a:txBody>
                  <a:tcPr marT="45694" marB="45694" anchor="b" horzOverflow="overflow">
                    <a:lnL>
                      <a:noFill/>
                    </a:lnL>
                    <a:lnR>
                      <a:noFill/>
                    </a:lnR>
                    <a:lnT>
                      <a:noFill/>
                    </a:lnT>
                    <a:lnB>
                      <a:noFill/>
                    </a:lnB>
                    <a:lnTlToBr>
                      <a:noFill/>
                    </a:lnTlToBr>
                    <a:lnBlToTr>
                      <a:noFill/>
                    </a:lnBlToTr>
                    <a:noFill/>
                  </a:tcPr>
                </a:tc>
                <a:tc hMerge="1">
                  <a:txBody>
                    <a:bodyPr/>
                    <a:lstStyle/>
                    <a:p>
                      <a:endParaRPr lang="es-ES"/>
                    </a:p>
                  </a:txBody>
                  <a:tcPr/>
                </a:tc>
                <a:tc hMerge="1">
                  <a:txBody>
                    <a:bodyPr/>
                    <a:lstStyle/>
                    <a:p>
                      <a:endParaRPr lang="es-ES"/>
                    </a:p>
                  </a:txBody>
                  <a:tcPr/>
                </a:tc>
                <a:tc hMerge="1">
                  <a:txBody>
                    <a:bodyPr/>
                    <a:lstStyle/>
                    <a:p>
                      <a:endParaRPr lang="es-ES"/>
                    </a:p>
                  </a:txBody>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694" marB="45694" anchor="b" horzOverflow="overflow">
                    <a:lnL>
                      <a:noFill/>
                    </a:lnL>
                    <a:lnR>
                      <a:noFill/>
                    </a:lnR>
                    <a:lnT>
                      <a:noFill/>
                    </a:lnT>
                    <a:lnB>
                      <a:noFill/>
                    </a:lnB>
                    <a:lnTlToBr>
                      <a:noFill/>
                    </a:lnTlToBr>
                    <a:lnBlToTr>
                      <a:noFill/>
                    </a:lnBlToTr>
                    <a:noFill/>
                  </a:tcPr>
                </a:tc>
                <a:tc gridSpan="4">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s-ES" altLang="es-ES" sz="1600" b="1" i="0" u="none" strike="noStrike" cap="none" normalizeH="0" baseline="0" dirty="0">
                          <a:ln>
                            <a:noFill/>
                          </a:ln>
                          <a:solidFill>
                            <a:schemeClr val="tx1"/>
                          </a:solidFill>
                          <a:effectLst/>
                          <a:latin typeface="Arial" charset="0"/>
                          <a:cs typeface="Arial" charset="0"/>
                        </a:rPr>
                        <a:t>Distribución de la edad (años)</a:t>
                      </a:r>
                    </a:p>
                    <a:p>
                      <a:pPr marL="0" marR="0" lvl="0" indent="0" algn="ctr" defTabSz="914400" rtl="0" eaLnBrk="1" fontAlgn="b" latinLnBrk="0" hangingPunct="1">
                        <a:lnSpc>
                          <a:spcPct val="100000"/>
                        </a:lnSpc>
                        <a:spcBef>
                          <a:spcPct val="0"/>
                        </a:spcBef>
                        <a:spcAft>
                          <a:spcPct val="0"/>
                        </a:spcAft>
                        <a:buClrTx/>
                        <a:buSzTx/>
                        <a:buFontTx/>
                        <a:buNone/>
                        <a:tabLst/>
                      </a:pPr>
                      <a:r>
                        <a:rPr kumimoji="0" lang="es-ES" altLang="es-ES" sz="1600" b="1" i="0" u="none" strike="noStrike" cap="none" normalizeH="0" baseline="0" dirty="0">
                          <a:ln>
                            <a:noFill/>
                          </a:ln>
                          <a:solidFill>
                            <a:schemeClr val="tx1"/>
                          </a:solidFill>
                          <a:effectLst/>
                          <a:latin typeface="Arial" charset="0"/>
                          <a:cs typeface="Arial" charset="0"/>
                        </a:rPr>
                        <a:t> n=124</a:t>
                      </a:r>
                    </a:p>
                  </a:txBody>
                  <a:tcPr marT="45694" marB="45694" anchor="b" horzOverflow="overflow">
                    <a:lnL>
                      <a:noFill/>
                    </a:lnL>
                    <a:lnR>
                      <a:noFill/>
                    </a:lnR>
                    <a:lnT>
                      <a:noFill/>
                    </a:lnT>
                    <a:lnB>
                      <a:noFill/>
                    </a:lnB>
                    <a:lnTlToBr>
                      <a:noFill/>
                    </a:lnTlToBr>
                    <a:lnBlToTr>
                      <a:noFill/>
                    </a:lnBlToTr>
                    <a:noFill/>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0"/>
                  </a:ext>
                </a:extLst>
              </a:tr>
              <a:tr h="335176">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694" marB="45694" anchor="b"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n</a:t>
                      </a:r>
                      <a:r>
                        <a:rPr kumimoji="0" lang="es-ES" altLang="es-ES" sz="1600" b="0" i="0" u="none" strike="noStrike" cap="none" normalizeH="0" baseline="-25000" dirty="0">
                          <a:ln>
                            <a:noFill/>
                          </a:ln>
                          <a:solidFill>
                            <a:srgbClr val="000000"/>
                          </a:solidFill>
                          <a:effectLst/>
                          <a:latin typeface="Arial" charset="0"/>
                          <a:cs typeface="Arial" charset="0"/>
                        </a:rPr>
                        <a:t>i</a:t>
                      </a:r>
                      <a:endParaRPr kumimoji="0" lang="es-ES" altLang="es-ES" sz="1600" b="0" i="0" u="none" strike="noStrike" cap="none" normalizeH="0" baseline="-25000" dirty="0">
                        <a:ln>
                          <a:noFill/>
                        </a:ln>
                        <a:solidFill>
                          <a:schemeClr val="tx1"/>
                        </a:solidFill>
                        <a:effectLst/>
                        <a:latin typeface="Arial" charset="0"/>
                      </a:endParaRPr>
                    </a:p>
                  </a:txBody>
                  <a:tcPr marT="45694" marB="4569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f</a:t>
                      </a:r>
                      <a:r>
                        <a:rPr kumimoji="0" lang="es-ES" altLang="es-ES" sz="1600" b="0" i="0" u="none" strike="noStrike" cap="none" normalizeH="0" baseline="-25000" dirty="0">
                          <a:ln>
                            <a:noFill/>
                          </a:ln>
                          <a:solidFill>
                            <a:srgbClr val="000000"/>
                          </a:solidFill>
                          <a:effectLst/>
                          <a:latin typeface="Arial" charset="0"/>
                          <a:cs typeface="Arial" charset="0"/>
                        </a:rPr>
                        <a:t>i</a:t>
                      </a:r>
                      <a:r>
                        <a:rPr kumimoji="0" lang="es-ES" altLang="es-ES" sz="1600" b="0" i="0" u="none" strike="noStrike" cap="none" normalizeH="0" baseline="0" dirty="0">
                          <a:ln>
                            <a:noFill/>
                          </a:ln>
                          <a:solidFill>
                            <a:srgbClr val="000000"/>
                          </a:solidFill>
                          <a:effectLst/>
                          <a:latin typeface="Arial" charset="0"/>
                          <a:cs typeface="Arial" charset="0"/>
                        </a:rPr>
                        <a:t>(%)</a:t>
                      </a:r>
                      <a:endParaRPr kumimoji="0" lang="es-ES" altLang="es-ES" sz="1600" b="0" i="0" u="none" strike="noStrike" cap="none" normalizeH="0" baseline="0" dirty="0">
                        <a:ln>
                          <a:noFill/>
                        </a:ln>
                        <a:solidFill>
                          <a:schemeClr val="tx1"/>
                        </a:solidFill>
                        <a:effectLst/>
                        <a:latin typeface="Arial" charset="0"/>
                      </a:endParaRPr>
                    </a:p>
                  </a:txBody>
                  <a:tcPr marT="45694" marB="4569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F</a:t>
                      </a:r>
                      <a:r>
                        <a:rPr kumimoji="0" lang="es-ES" altLang="es-ES" sz="1600" b="0" i="0" u="none" strike="noStrike" cap="none" normalizeH="0" baseline="-25000" dirty="0">
                          <a:ln>
                            <a:noFill/>
                          </a:ln>
                          <a:solidFill>
                            <a:srgbClr val="000000"/>
                          </a:solidFill>
                          <a:effectLst/>
                          <a:latin typeface="Arial" charset="0"/>
                          <a:cs typeface="Arial" charset="0"/>
                        </a:rPr>
                        <a:t>i</a:t>
                      </a:r>
                      <a:r>
                        <a:rPr kumimoji="0" lang="es-ES" altLang="es-ES" sz="1600" b="0" i="0" u="none" strike="noStrike" cap="none" normalizeH="0" baseline="0" dirty="0">
                          <a:ln>
                            <a:noFill/>
                          </a:ln>
                          <a:solidFill>
                            <a:srgbClr val="000000"/>
                          </a:solidFill>
                          <a:effectLst/>
                          <a:latin typeface="Arial" charset="0"/>
                          <a:cs typeface="Arial" charset="0"/>
                        </a:rPr>
                        <a:t>(%) </a:t>
                      </a:r>
                      <a:r>
                        <a:rPr kumimoji="0" lang="es-ES" altLang="es-ES" sz="1600" b="0" i="0" u="none" strike="noStrike" cap="none" normalizeH="0" baseline="0" dirty="0" err="1">
                          <a:ln>
                            <a:noFill/>
                          </a:ln>
                          <a:solidFill>
                            <a:srgbClr val="000000"/>
                          </a:solidFill>
                          <a:effectLst/>
                          <a:latin typeface="Arial" charset="0"/>
                          <a:cs typeface="Arial" charset="0"/>
                        </a:rPr>
                        <a:t>acum</a:t>
                      </a:r>
                      <a:r>
                        <a:rPr kumimoji="0" lang="es-ES" altLang="es-ES" sz="1600" b="0" i="0" u="none" strike="noStrike" cap="none" normalizeH="0" baseline="0" dirty="0">
                          <a:ln>
                            <a:noFill/>
                          </a:ln>
                          <a:solidFill>
                            <a:srgbClr val="000000"/>
                          </a:solidFill>
                          <a:effectLst/>
                          <a:latin typeface="Arial" charset="0"/>
                          <a:cs typeface="Arial" charset="0"/>
                        </a:rPr>
                        <a:t>.</a:t>
                      </a:r>
                      <a:endParaRPr kumimoji="0" lang="es-ES" altLang="es-ES" sz="1600" b="0" i="0" u="none" strike="noStrike" cap="none" normalizeH="0" baseline="0" dirty="0">
                        <a:ln>
                          <a:noFill/>
                        </a:ln>
                        <a:solidFill>
                          <a:schemeClr val="tx1"/>
                        </a:solidFill>
                        <a:effectLst/>
                        <a:latin typeface="Arial" charset="0"/>
                      </a:endParaRPr>
                    </a:p>
                  </a:txBody>
                  <a:tcPr marT="45694" marB="4569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694" marB="45694" anchor="b"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694" marB="45694" anchor="b"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n</a:t>
                      </a:r>
                      <a:r>
                        <a:rPr kumimoji="0" lang="es-ES" altLang="es-ES" sz="1600" b="0" i="0" u="none" strike="noStrike" cap="none" normalizeH="0" baseline="-25000" dirty="0">
                          <a:ln>
                            <a:noFill/>
                          </a:ln>
                          <a:solidFill>
                            <a:srgbClr val="000000"/>
                          </a:solidFill>
                          <a:effectLst/>
                          <a:latin typeface="Arial" charset="0"/>
                          <a:cs typeface="Arial" charset="0"/>
                        </a:rPr>
                        <a:t>i</a:t>
                      </a:r>
                      <a:endParaRPr kumimoji="0" lang="es-ES" altLang="es-ES" sz="1600" b="0" i="0" u="none" strike="noStrike" cap="none" normalizeH="0" baseline="-25000" dirty="0">
                        <a:ln>
                          <a:noFill/>
                        </a:ln>
                        <a:solidFill>
                          <a:schemeClr val="tx1"/>
                        </a:solidFill>
                        <a:effectLst/>
                        <a:latin typeface="Arial" charset="0"/>
                      </a:endParaRPr>
                    </a:p>
                  </a:txBody>
                  <a:tcPr marT="45694" marB="4569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f</a:t>
                      </a:r>
                      <a:r>
                        <a:rPr kumimoji="0" lang="es-ES" altLang="es-ES" sz="1600" b="0" i="0" u="none" strike="noStrike" cap="none" normalizeH="0" baseline="-25000" dirty="0">
                          <a:ln>
                            <a:noFill/>
                          </a:ln>
                          <a:solidFill>
                            <a:srgbClr val="000000"/>
                          </a:solidFill>
                          <a:effectLst/>
                          <a:latin typeface="Arial" charset="0"/>
                          <a:cs typeface="Arial" charset="0"/>
                        </a:rPr>
                        <a:t>i</a:t>
                      </a:r>
                      <a:r>
                        <a:rPr kumimoji="0" lang="es-ES" altLang="es-ES" sz="1600" b="0" i="0" u="none" strike="noStrike" cap="none" normalizeH="0" baseline="0" dirty="0">
                          <a:ln>
                            <a:noFill/>
                          </a:ln>
                          <a:solidFill>
                            <a:srgbClr val="000000"/>
                          </a:solidFill>
                          <a:effectLst/>
                          <a:latin typeface="Arial" charset="0"/>
                          <a:cs typeface="Arial" charset="0"/>
                        </a:rPr>
                        <a:t>(%)</a:t>
                      </a:r>
                      <a:endParaRPr kumimoji="0" lang="es-ES" altLang="es-ES" sz="1600" b="0" i="0" u="none" strike="noStrike" cap="none" normalizeH="0" baseline="0" dirty="0">
                        <a:ln>
                          <a:noFill/>
                        </a:ln>
                        <a:solidFill>
                          <a:schemeClr val="tx1"/>
                        </a:solidFill>
                        <a:effectLst/>
                        <a:latin typeface="Arial" charset="0"/>
                      </a:endParaRPr>
                    </a:p>
                  </a:txBody>
                  <a:tcPr marT="45694" marB="4569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F</a:t>
                      </a:r>
                      <a:r>
                        <a:rPr kumimoji="0" lang="es-ES" altLang="es-ES" sz="1600" b="0" i="0" u="none" strike="noStrike" cap="none" normalizeH="0" baseline="-25000" dirty="0">
                          <a:ln>
                            <a:noFill/>
                          </a:ln>
                          <a:solidFill>
                            <a:srgbClr val="000000"/>
                          </a:solidFill>
                          <a:effectLst/>
                          <a:latin typeface="Arial" charset="0"/>
                          <a:cs typeface="Arial" charset="0"/>
                        </a:rPr>
                        <a:t>i</a:t>
                      </a:r>
                      <a:r>
                        <a:rPr kumimoji="0" lang="es-ES" altLang="es-ES" sz="1600" b="0" i="0" u="none" strike="noStrike" cap="none" normalizeH="0" baseline="0" dirty="0">
                          <a:ln>
                            <a:noFill/>
                          </a:ln>
                          <a:solidFill>
                            <a:srgbClr val="000000"/>
                          </a:solidFill>
                          <a:effectLst/>
                          <a:latin typeface="Arial" charset="0"/>
                          <a:cs typeface="Arial" charset="0"/>
                        </a:rPr>
                        <a:t>(%) </a:t>
                      </a:r>
                      <a:r>
                        <a:rPr kumimoji="0" lang="es-ES" altLang="es-ES" sz="1600" b="0" i="0" u="none" strike="noStrike" cap="none" normalizeH="0" baseline="0" dirty="0" err="1">
                          <a:ln>
                            <a:noFill/>
                          </a:ln>
                          <a:solidFill>
                            <a:srgbClr val="000000"/>
                          </a:solidFill>
                          <a:effectLst/>
                          <a:latin typeface="Arial" charset="0"/>
                          <a:cs typeface="Arial" charset="0"/>
                        </a:rPr>
                        <a:t>acum</a:t>
                      </a:r>
                      <a:r>
                        <a:rPr kumimoji="0" lang="es-ES" altLang="es-ES" sz="1600" b="0" i="0" u="none" strike="noStrike" cap="none" normalizeH="0" baseline="0" dirty="0">
                          <a:ln>
                            <a:noFill/>
                          </a:ln>
                          <a:solidFill>
                            <a:srgbClr val="000000"/>
                          </a:solidFill>
                          <a:effectLst/>
                          <a:latin typeface="Arial" charset="0"/>
                          <a:cs typeface="Arial" charset="0"/>
                        </a:rPr>
                        <a:t>.</a:t>
                      </a:r>
                      <a:endParaRPr kumimoji="0" lang="es-ES" altLang="es-ES" sz="1600" b="0" i="0" u="none" strike="noStrike" cap="none" normalizeH="0" baseline="0" dirty="0">
                        <a:ln>
                          <a:noFill/>
                        </a:ln>
                        <a:solidFill>
                          <a:schemeClr val="tx1"/>
                        </a:solidFill>
                        <a:effectLst/>
                        <a:latin typeface="Arial" charset="0"/>
                      </a:endParaRPr>
                    </a:p>
                  </a:txBody>
                  <a:tcPr marT="45694" marB="4569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176">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15</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5</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4.0</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4.0</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694" marB="4569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menos de 21</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5</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4.0</a:t>
                      </a:r>
                      <a:endParaRPr kumimoji="0" lang="es-ES" altLang="es-ES" sz="1600" b="0" i="0" u="none" strike="noStrike" cap="none" normalizeH="0" baseline="0" dirty="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4.0</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176">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16</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28</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22.6</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26.6</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dirty="0">
                        <a:ln>
                          <a:noFill/>
                        </a:ln>
                        <a:solidFill>
                          <a:schemeClr val="tx1"/>
                        </a:solidFill>
                        <a:effectLst/>
                        <a:latin typeface="Arial" charset="0"/>
                      </a:endParaRPr>
                    </a:p>
                  </a:txBody>
                  <a:tcPr marT="45694" marB="4569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21-25</a:t>
                      </a:r>
                      <a:endParaRPr kumimoji="0" lang="es-ES" altLang="es-ES" sz="1600" b="0" i="0" u="none" strike="noStrike" cap="none" normalizeH="0" baseline="0" dirty="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28</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22.6</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26.6</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176">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17</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64</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51.6</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78.2</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694" marB="4569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26-30</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64</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51.6</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78.2</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176">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18</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18</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14.5</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92.7</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694" marB="4569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31-35</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18</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14.5</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92.7</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176">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19</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6</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4.8</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97.6</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694" marB="4569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36-40</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6</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4.8</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97.6</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176">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20</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3</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2.4</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100.0</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694" marB="4569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más de 40</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3</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2.4</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100.0</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5176">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969696"/>
                          </a:solidFill>
                          <a:effectLst/>
                          <a:latin typeface="Arial" charset="0"/>
                          <a:cs typeface="Arial" charset="0"/>
                        </a:rPr>
                        <a:t>Total</a:t>
                      </a:r>
                      <a:endParaRPr kumimoji="0" lang="es-ES" altLang="es-ES" sz="1600" b="0" i="0" u="none" strike="noStrike" cap="none" normalizeH="0" baseline="0">
                        <a:ln>
                          <a:noFill/>
                        </a:ln>
                        <a:solidFill>
                          <a:srgbClr val="969696"/>
                        </a:solidFill>
                        <a:effectLst/>
                        <a:latin typeface="Arial" charset="0"/>
                      </a:endParaRPr>
                    </a:p>
                  </a:txBody>
                  <a:tcPr marT="45694" marB="45694"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969696"/>
                          </a:solidFill>
                          <a:effectLst/>
                          <a:latin typeface="Arial" charset="0"/>
                          <a:cs typeface="Arial" charset="0"/>
                        </a:rPr>
                        <a:t>n=124</a:t>
                      </a:r>
                      <a:endParaRPr kumimoji="0" lang="es-ES" altLang="es-ES" sz="1600" b="0" i="0" u="none" strike="noStrike" cap="none" normalizeH="0" baseline="0" dirty="0">
                        <a:ln>
                          <a:noFill/>
                        </a:ln>
                        <a:solidFill>
                          <a:srgbClr val="969696"/>
                        </a:solidFill>
                        <a:effectLst/>
                        <a:latin typeface="Arial" charset="0"/>
                      </a:endParaRPr>
                    </a:p>
                  </a:txBody>
                  <a:tcPr marT="45694" marB="45694"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969696"/>
                          </a:solidFill>
                          <a:effectLst/>
                          <a:latin typeface="Arial" charset="0"/>
                          <a:cs typeface="Arial" charset="0"/>
                        </a:rPr>
                        <a:t>100.0</a:t>
                      </a:r>
                      <a:endParaRPr kumimoji="0" lang="es-ES" altLang="es-ES" sz="1600" b="0" i="0" u="none" strike="noStrike" cap="none" normalizeH="0" baseline="0">
                        <a:ln>
                          <a:noFill/>
                        </a:ln>
                        <a:solidFill>
                          <a:srgbClr val="969696"/>
                        </a:solidFill>
                        <a:effectLst/>
                        <a:latin typeface="Arial" charset="0"/>
                      </a:endParaRPr>
                    </a:p>
                  </a:txBody>
                  <a:tcPr marT="45694" marB="45694"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969696"/>
                          </a:solidFill>
                          <a:effectLst/>
                          <a:latin typeface="Arial" charset="0"/>
                          <a:cs typeface="Arial" charset="0"/>
                        </a:rPr>
                        <a:t> </a:t>
                      </a:r>
                      <a:endParaRPr kumimoji="0" lang="es-ES" altLang="es-ES" sz="1600" b="0" i="0" u="none" strike="noStrike" cap="none" normalizeH="0" baseline="0">
                        <a:ln>
                          <a:noFill/>
                        </a:ln>
                        <a:solidFill>
                          <a:srgbClr val="969696"/>
                        </a:solidFill>
                        <a:effectLst/>
                        <a:latin typeface="Arial" charset="0"/>
                      </a:endParaRPr>
                    </a:p>
                  </a:txBody>
                  <a:tcPr marT="45694" marB="45694"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rgbClr val="969696"/>
                        </a:solidFill>
                        <a:effectLst/>
                        <a:latin typeface="Arial" charset="0"/>
                      </a:endParaRPr>
                    </a:p>
                  </a:txBody>
                  <a:tcPr marT="45694" marB="45694" anchor="b" horzOverflow="overflow">
                    <a:lnL>
                      <a:noFill/>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969696"/>
                          </a:solidFill>
                          <a:effectLst/>
                          <a:latin typeface="Arial" charset="0"/>
                          <a:cs typeface="Arial" charset="0"/>
                        </a:rPr>
                        <a:t>Total</a:t>
                      </a:r>
                      <a:endParaRPr kumimoji="0" lang="es-ES" altLang="es-ES" sz="1600" b="0" i="0" u="none" strike="noStrike" cap="none" normalizeH="0" baseline="0">
                        <a:ln>
                          <a:noFill/>
                        </a:ln>
                        <a:solidFill>
                          <a:srgbClr val="969696"/>
                        </a:solidFill>
                        <a:effectLst/>
                        <a:latin typeface="Arial" charset="0"/>
                      </a:endParaRPr>
                    </a:p>
                  </a:txBody>
                  <a:tcPr marT="45694" marB="45694"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FF0000"/>
                          </a:solidFill>
                          <a:effectLst/>
                          <a:latin typeface="Arial" charset="0"/>
                          <a:cs typeface="Arial" charset="0"/>
                        </a:rPr>
                        <a:t>n=124</a:t>
                      </a:r>
                      <a:endParaRPr kumimoji="0" lang="es-ES" altLang="es-ES" sz="1600" b="0" i="0" u="none" strike="noStrike" cap="none" normalizeH="0" baseline="0" dirty="0">
                        <a:ln>
                          <a:noFill/>
                        </a:ln>
                        <a:solidFill>
                          <a:srgbClr val="FF0000"/>
                        </a:solidFill>
                        <a:effectLst/>
                        <a:latin typeface="Arial" charset="0"/>
                      </a:endParaRPr>
                    </a:p>
                  </a:txBody>
                  <a:tcPr marT="45694" marB="45694"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969696"/>
                          </a:solidFill>
                          <a:effectLst/>
                          <a:latin typeface="Arial" charset="0"/>
                          <a:cs typeface="Arial" charset="0"/>
                        </a:rPr>
                        <a:t>100</a:t>
                      </a:r>
                      <a:endParaRPr kumimoji="0" lang="es-ES" altLang="es-ES" sz="1600" b="0" i="0" u="none" strike="noStrike" cap="none" normalizeH="0" baseline="0" dirty="0">
                        <a:ln>
                          <a:noFill/>
                        </a:ln>
                        <a:solidFill>
                          <a:srgbClr val="969696"/>
                        </a:solidFill>
                        <a:effectLst/>
                        <a:latin typeface="Arial" charset="0"/>
                      </a:endParaRPr>
                    </a:p>
                  </a:txBody>
                  <a:tcPr marT="45694" marB="45694"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969696"/>
                          </a:solidFill>
                          <a:effectLst/>
                          <a:latin typeface="Arial" charset="0"/>
                          <a:cs typeface="Arial" charset="0"/>
                        </a:rPr>
                        <a:t> </a:t>
                      </a:r>
                      <a:endParaRPr kumimoji="0" lang="es-ES" altLang="es-ES" sz="1600" b="0" i="0" u="none" strike="noStrike" cap="none" normalizeH="0" baseline="0" dirty="0">
                        <a:ln>
                          <a:noFill/>
                        </a:ln>
                        <a:solidFill>
                          <a:srgbClr val="969696"/>
                        </a:solidFill>
                        <a:effectLst/>
                        <a:latin typeface="Arial" charset="0"/>
                      </a:endParaRPr>
                    </a:p>
                  </a:txBody>
                  <a:tcPr marT="45694" marB="45694"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8"/>
                  </a:ext>
                </a:extLst>
              </a:tr>
            </a:tbl>
          </a:graphicData>
        </a:graphic>
      </p:graphicFrame>
      <p:sp>
        <p:nvSpPr>
          <p:cNvPr id="11368" name="Text Box 2765"/>
          <p:cNvSpPr txBox="1">
            <a:spLocks noChangeArrowheads="1"/>
          </p:cNvSpPr>
          <p:nvPr/>
        </p:nvSpPr>
        <p:spPr bwMode="auto">
          <a:xfrm>
            <a:off x="231775" y="315913"/>
            <a:ext cx="491243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Tablas de frecuencias // variables discretas</a:t>
            </a:r>
            <a:endParaRPr lang="es-ES" altLang="es-ES" sz="1800" b="1" dirty="0"/>
          </a:p>
        </p:txBody>
      </p:sp>
      <p:grpSp>
        <p:nvGrpSpPr>
          <p:cNvPr id="11369" name="Group 112"/>
          <p:cNvGrpSpPr>
            <a:grpSpLocks/>
          </p:cNvGrpSpPr>
          <p:nvPr/>
        </p:nvGrpSpPr>
        <p:grpSpPr bwMode="auto">
          <a:xfrm>
            <a:off x="620713" y="4953207"/>
            <a:ext cx="7989887" cy="1752393"/>
            <a:chOff x="391" y="2919"/>
            <a:chExt cx="5033" cy="1209"/>
          </a:xfrm>
        </p:grpSpPr>
        <p:sp>
          <p:nvSpPr>
            <p:cNvPr id="11372" name="AutoShape 122"/>
            <p:cNvSpPr>
              <a:spLocks noChangeArrowheads="1"/>
            </p:cNvSpPr>
            <p:nvPr/>
          </p:nvSpPr>
          <p:spPr bwMode="auto">
            <a:xfrm>
              <a:off x="391" y="2919"/>
              <a:ext cx="5033" cy="1209"/>
            </a:xfrm>
            <a:prstGeom prst="roundRect">
              <a:avLst>
                <a:gd name="adj" fmla="val 16667"/>
              </a:avLst>
            </a:prstGeom>
            <a:noFill/>
            <a:ln w="6350">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dirty="0"/>
            </a:p>
          </p:txBody>
        </p:sp>
        <p:sp>
          <p:nvSpPr>
            <p:cNvPr id="11373" name="111 CuadroTexto"/>
            <p:cNvSpPr txBox="1">
              <a:spLocks noChangeArrowheads="1"/>
            </p:cNvSpPr>
            <p:nvPr/>
          </p:nvSpPr>
          <p:spPr bwMode="auto">
            <a:xfrm>
              <a:off x="724" y="3033"/>
              <a:ext cx="4367" cy="4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sz="1400" dirty="0"/>
                <a:t>Si la variable discreta puede tomar muchos valores distintos, su resumen como tabla de frecuencias suele hacerse agrupándola en intervalos.</a:t>
              </a:r>
            </a:p>
            <a:p>
              <a:pPr eaLnBrk="1" hangingPunct="1"/>
              <a:r>
                <a:rPr lang="es-ES" altLang="es-ES" sz="1400" dirty="0"/>
                <a:t>Los intervalos deben ser: </a:t>
              </a:r>
            </a:p>
          </p:txBody>
        </p:sp>
        <p:sp>
          <p:nvSpPr>
            <p:cNvPr id="11374" name="112 CuadroTexto"/>
            <p:cNvSpPr txBox="1">
              <a:spLocks noChangeArrowheads="1"/>
            </p:cNvSpPr>
            <p:nvPr/>
          </p:nvSpPr>
          <p:spPr bwMode="auto">
            <a:xfrm>
              <a:off x="724" y="3527"/>
              <a:ext cx="4367" cy="4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buFont typeface="Arial" charset="0"/>
                <a:buChar char="•"/>
              </a:pPr>
              <a:r>
                <a:rPr lang="es-ES" altLang="es-ES" sz="1400" b="1"/>
                <a:t>Homogéneos</a:t>
              </a:r>
              <a:r>
                <a:rPr lang="es-ES" altLang="es-ES" sz="1400"/>
                <a:t> (todos con la misma amplitud)</a:t>
              </a:r>
            </a:p>
            <a:p>
              <a:pPr eaLnBrk="1" hangingPunct="1">
                <a:buFont typeface="Arial" charset="0"/>
                <a:buChar char="•"/>
              </a:pPr>
              <a:r>
                <a:rPr lang="es-ES" altLang="es-ES" sz="1400" b="1"/>
                <a:t>Exhaustivos</a:t>
              </a:r>
              <a:r>
                <a:rPr lang="es-ES" altLang="es-ES" sz="1400"/>
                <a:t> (recorren todos los valores de la variable)</a:t>
              </a:r>
            </a:p>
            <a:p>
              <a:pPr eaLnBrk="1" hangingPunct="1">
                <a:buFont typeface="Arial" charset="0"/>
                <a:buChar char="•"/>
              </a:pPr>
              <a:r>
                <a:rPr lang="es-ES" altLang="es-ES" sz="1400" b="1"/>
                <a:t>Excluyentes</a:t>
              </a:r>
              <a:r>
                <a:rPr lang="es-ES" altLang="es-ES" sz="1400"/>
                <a:t> (no pueden solaparse)</a:t>
              </a:r>
            </a:p>
          </p:txBody>
        </p:sp>
      </p:grpSp>
      <p:sp>
        <p:nvSpPr>
          <p:cNvPr id="11370" name="Text Box 110"/>
          <p:cNvSpPr txBox="1">
            <a:spLocks noChangeArrowheads="1"/>
          </p:cNvSpPr>
          <p:nvPr/>
        </p:nvSpPr>
        <p:spPr bwMode="auto">
          <a:xfrm>
            <a:off x="911225" y="4376738"/>
            <a:ext cx="31273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400"/>
              <a:t>Con pocos valores distintos (</a:t>
            </a:r>
            <a:r>
              <a:rPr lang="es-ES_tradnl" altLang="es-ES" sz="1400" i="1"/>
              <a:t>k</a:t>
            </a:r>
            <a:r>
              <a:rPr lang="es-ES_tradnl" altLang="es-ES" sz="1400"/>
              <a:t>=6)</a:t>
            </a:r>
            <a:endParaRPr lang="es-ES" altLang="es-ES" sz="1400"/>
          </a:p>
        </p:txBody>
      </p:sp>
      <p:sp>
        <p:nvSpPr>
          <p:cNvPr id="11371" name="Text Box 111"/>
          <p:cNvSpPr txBox="1">
            <a:spLocks noChangeArrowheads="1"/>
          </p:cNvSpPr>
          <p:nvPr/>
        </p:nvSpPr>
        <p:spPr bwMode="auto">
          <a:xfrm>
            <a:off x="4876800" y="4376738"/>
            <a:ext cx="4038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400"/>
              <a:t>Con muchos valores distintos (k grande)</a:t>
            </a:r>
            <a:endParaRPr lang="es-ES" altLang="es-ES" sz="1400"/>
          </a:p>
        </p:txBody>
      </p:sp>
      <p:sp>
        <p:nvSpPr>
          <p:cNvPr id="2" name="CuadroTexto 1">
            <a:extLst>
              <a:ext uri="{FF2B5EF4-FFF2-40B4-BE49-F238E27FC236}">
                <a16:creationId xmlns:a16="http://schemas.microsoft.com/office/drawing/2014/main" id="{6F9987D1-6025-4291-B79C-6BAA2E360E48}"/>
              </a:ext>
            </a:extLst>
          </p:cNvPr>
          <p:cNvSpPr txBox="1"/>
          <p:nvPr/>
        </p:nvSpPr>
        <p:spPr>
          <a:xfrm>
            <a:off x="911225" y="4802188"/>
            <a:ext cx="5338321" cy="307777"/>
          </a:xfrm>
          <a:prstGeom prst="rect">
            <a:avLst/>
          </a:prstGeom>
          <a:solidFill>
            <a:schemeClr val="bg1"/>
          </a:solidFill>
        </p:spPr>
        <p:txBody>
          <a:bodyPr wrap="none" rtlCol="0">
            <a:spAutoFit/>
          </a:bodyPr>
          <a:lstStyle/>
          <a:p>
            <a:r>
              <a:rPr lang="es-ES" sz="1400" b="1" dirty="0"/>
              <a:t>Agrupación en intervalos desde </a:t>
            </a:r>
            <a:r>
              <a:rPr lang="es-ES" sz="1400" b="1" i="1" dirty="0"/>
              <a:t>el punto de vista estadístico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48D1868-A2EE-1AE8-F1A1-CCB3FF1EBA45}"/>
              </a:ext>
            </a:extLst>
          </p:cNvPr>
          <p:cNvPicPr>
            <a:picLocks noChangeAspect="1"/>
          </p:cNvPicPr>
          <p:nvPr/>
        </p:nvPicPr>
        <p:blipFill>
          <a:blip r:embed="rId2"/>
          <a:stretch>
            <a:fillRect/>
          </a:stretch>
        </p:blipFill>
        <p:spPr>
          <a:xfrm>
            <a:off x="685800" y="1009003"/>
            <a:ext cx="7772400" cy="4839993"/>
          </a:xfrm>
          <a:prstGeom prst="rect">
            <a:avLst/>
          </a:prstGeom>
        </p:spPr>
      </p:pic>
    </p:spTree>
    <p:extLst>
      <p:ext uri="{BB962C8B-B14F-4D97-AF65-F5344CB8AC3E}">
        <p14:creationId xmlns:p14="http://schemas.microsoft.com/office/powerpoint/2010/main" val="2033626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171" name="Group 707"/>
          <p:cNvGraphicFramePr>
            <a:graphicFrameLocks noGrp="1"/>
          </p:cNvGraphicFramePr>
          <p:nvPr>
            <p:extLst>
              <p:ext uri="{D42A27DB-BD31-4B8C-83A1-F6EECF244321}">
                <p14:modId xmlns:p14="http://schemas.microsoft.com/office/powerpoint/2010/main" val="2137834369"/>
              </p:ext>
            </p:extLst>
          </p:nvPr>
        </p:nvGraphicFramePr>
        <p:xfrm>
          <a:off x="381000" y="1600200"/>
          <a:ext cx="8686801" cy="2925856"/>
        </p:xfrm>
        <a:graphic>
          <a:graphicData uri="http://schemas.openxmlformats.org/drawingml/2006/table">
            <a:tbl>
              <a:tblPr/>
              <a:tblGrid>
                <a:gridCol w="1211886">
                  <a:extLst>
                    <a:ext uri="{9D8B030D-6E8A-4147-A177-3AD203B41FA5}">
                      <a16:colId xmlns:a16="http://schemas.microsoft.com/office/drawing/2014/main" val="20000"/>
                    </a:ext>
                  </a:extLst>
                </a:gridCol>
                <a:gridCol w="788534">
                  <a:extLst>
                    <a:ext uri="{9D8B030D-6E8A-4147-A177-3AD203B41FA5}">
                      <a16:colId xmlns:a16="http://schemas.microsoft.com/office/drawing/2014/main" val="20001"/>
                    </a:ext>
                  </a:extLst>
                </a:gridCol>
                <a:gridCol w="888717">
                  <a:extLst>
                    <a:ext uri="{9D8B030D-6E8A-4147-A177-3AD203B41FA5}">
                      <a16:colId xmlns:a16="http://schemas.microsoft.com/office/drawing/2014/main" val="20002"/>
                    </a:ext>
                  </a:extLst>
                </a:gridCol>
                <a:gridCol w="1221581">
                  <a:extLst>
                    <a:ext uri="{9D8B030D-6E8A-4147-A177-3AD203B41FA5}">
                      <a16:colId xmlns:a16="http://schemas.microsoft.com/office/drawing/2014/main" val="20003"/>
                    </a:ext>
                  </a:extLst>
                </a:gridCol>
                <a:gridCol w="615639">
                  <a:extLst>
                    <a:ext uri="{9D8B030D-6E8A-4147-A177-3AD203B41FA5}">
                      <a16:colId xmlns:a16="http://schemas.microsoft.com/office/drawing/2014/main" val="20004"/>
                    </a:ext>
                  </a:extLst>
                </a:gridCol>
                <a:gridCol w="1232892">
                  <a:extLst>
                    <a:ext uri="{9D8B030D-6E8A-4147-A177-3AD203B41FA5}">
                      <a16:colId xmlns:a16="http://schemas.microsoft.com/office/drawing/2014/main" val="20005"/>
                    </a:ext>
                  </a:extLst>
                </a:gridCol>
                <a:gridCol w="867711">
                  <a:extLst>
                    <a:ext uri="{9D8B030D-6E8A-4147-A177-3AD203B41FA5}">
                      <a16:colId xmlns:a16="http://schemas.microsoft.com/office/drawing/2014/main" val="20006"/>
                    </a:ext>
                  </a:extLst>
                </a:gridCol>
                <a:gridCol w="716840">
                  <a:extLst>
                    <a:ext uri="{9D8B030D-6E8A-4147-A177-3AD203B41FA5}">
                      <a16:colId xmlns:a16="http://schemas.microsoft.com/office/drawing/2014/main" val="20007"/>
                    </a:ext>
                  </a:extLst>
                </a:gridCol>
                <a:gridCol w="1143001">
                  <a:extLst>
                    <a:ext uri="{9D8B030D-6E8A-4147-A177-3AD203B41FA5}">
                      <a16:colId xmlns:a16="http://schemas.microsoft.com/office/drawing/2014/main" val="20008"/>
                    </a:ext>
                  </a:extLst>
                </a:gridCol>
              </a:tblGrid>
              <a:tr h="579071">
                <a:tc gridSpan="4">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s-ES" altLang="es-ES" sz="1600" b="1" i="0" u="none" strike="noStrike" cap="none" normalizeH="0" baseline="0" dirty="0">
                          <a:ln>
                            <a:noFill/>
                          </a:ln>
                          <a:solidFill>
                            <a:schemeClr val="tx1"/>
                          </a:solidFill>
                          <a:effectLst/>
                          <a:latin typeface="Arial" charset="0"/>
                          <a:cs typeface="Arial" charset="0"/>
                        </a:rPr>
                        <a:t>Nivel de colesterol (mg/</a:t>
                      </a:r>
                      <a:r>
                        <a:rPr kumimoji="0" lang="es-ES" altLang="es-ES" sz="1600" b="1" i="0" u="none" strike="noStrike" cap="none" normalizeH="0" baseline="0" dirty="0" err="1">
                          <a:ln>
                            <a:noFill/>
                          </a:ln>
                          <a:solidFill>
                            <a:schemeClr val="tx1"/>
                          </a:solidFill>
                          <a:effectLst/>
                          <a:latin typeface="Arial" charset="0"/>
                          <a:cs typeface="Arial" charset="0"/>
                        </a:rPr>
                        <a:t>dL</a:t>
                      </a:r>
                      <a:r>
                        <a:rPr kumimoji="0" lang="es-ES" altLang="es-ES" sz="1600" b="1" i="0" u="none" strike="noStrike" cap="none" normalizeH="0" baseline="0" dirty="0">
                          <a:ln>
                            <a:noFill/>
                          </a:ln>
                          <a:solidFill>
                            <a:schemeClr val="tx1"/>
                          </a:solidFill>
                          <a:effectLst/>
                          <a:latin typeface="Arial" charset="0"/>
                          <a:cs typeface="Arial" charset="0"/>
                        </a:rPr>
                        <a:t>) observado</a:t>
                      </a:r>
                      <a:br>
                        <a:rPr kumimoji="0" lang="es-ES" altLang="es-ES" sz="1600" b="1" i="0" u="none" strike="noStrike" cap="none" normalizeH="0" baseline="0" dirty="0">
                          <a:ln>
                            <a:noFill/>
                          </a:ln>
                          <a:solidFill>
                            <a:schemeClr val="tx1"/>
                          </a:solidFill>
                          <a:effectLst/>
                          <a:latin typeface="Arial" charset="0"/>
                          <a:cs typeface="Arial" charset="0"/>
                        </a:rPr>
                      </a:br>
                      <a:r>
                        <a:rPr kumimoji="0" lang="es-ES" altLang="es-ES" sz="1600" b="1" i="0" u="none" strike="noStrike" cap="none" normalizeH="0" baseline="0" dirty="0">
                          <a:ln>
                            <a:noFill/>
                          </a:ln>
                          <a:solidFill>
                            <a:schemeClr val="tx1"/>
                          </a:solidFill>
                          <a:effectLst/>
                          <a:latin typeface="Arial" charset="0"/>
                          <a:cs typeface="Arial" charset="0"/>
                        </a:rPr>
                        <a:t>n=157</a:t>
                      </a:r>
                      <a:endParaRPr kumimoji="0" lang="es-ES" altLang="es-ES" sz="1600" b="0" i="0" u="none" strike="noStrike" cap="none" normalizeH="0" baseline="0" dirty="0">
                        <a:ln>
                          <a:noFill/>
                        </a:ln>
                        <a:solidFill>
                          <a:schemeClr val="tx1"/>
                        </a:solidFill>
                        <a:effectLst/>
                        <a:latin typeface="Arial" charset="0"/>
                      </a:endParaRPr>
                    </a:p>
                  </a:txBody>
                  <a:tcPr marT="45706" marB="45706" anchor="ctr" horzOverflow="overflow">
                    <a:lnL cap="flat">
                      <a:noFill/>
                    </a:lnL>
                    <a:lnR>
                      <a:noFill/>
                    </a:lnR>
                    <a:lnT cap="flat">
                      <a:noFill/>
                    </a:lnT>
                    <a:lnB>
                      <a:noFill/>
                    </a:lnB>
                    <a:lnTlToBr>
                      <a:noFill/>
                    </a:lnTlToBr>
                    <a:lnBlToTr>
                      <a:noFill/>
                    </a:lnBlToTr>
                    <a:noFill/>
                  </a:tcPr>
                </a:tc>
                <a:tc hMerge="1">
                  <a:txBody>
                    <a:bodyPr/>
                    <a:lstStyle/>
                    <a:p>
                      <a:endParaRPr lang="es-ES"/>
                    </a:p>
                  </a:txBody>
                  <a:tcPr/>
                </a:tc>
                <a:tc hMerge="1">
                  <a:txBody>
                    <a:bodyPr/>
                    <a:lstStyle/>
                    <a:p>
                      <a:endParaRPr lang="es-ES"/>
                    </a:p>
                  </a:txBody>
                  <a:tcPr/>
                </a:tc>
                <a:tc hMerge="1">
                  <a:txBody>
                    <a:bodyPr/>
                    <a:lstStyle/>
                    <a:p>
                      <a:endParaRPr lang="es-ES"/>
                    </a:p>
                  </a:txBody>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706" marB="45706" anchor="b" horzOverflow="overflow">
                    <a:lnL>
                      <a:noFill/>
                    </a:lnL>
                    <a:lnR>
                      <a:noFill/>
                    </a:lnR>
                    <a:lnT cap="flat">
                      <a:noFill/>
                    </a:lnT>
                    <a:lnB>
                      <a:noFill/>
                    </a:lnB>
                    <a:lnTlToBr>
                      <a:noFill/>
                    </a:lnTlToBr>
                    <a:lnBlToTr>
                      <a:noFill/>
                    </a:lnBlToTr>
                    <a:noFill/>
                  </a:tcPr>
                </a:tc>
                <a:tc gridSpan="4">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s-ES" altLang="es-ES" sz="1600" b="1" i="0" u="none" strike="noStrike" cap="none" normalizeH="0" baseline="0" dirty="0">
                          <a:ln>
                            <a:noFill/>
                          </a:ln>
                          <a:solidFill>
                            <a:schemeClr val="tx1"/>
                          </a:solidFill>
                          <a:effectLst/>
                          <a:latin typeface="Arial" charset="0"/>
                          <a:cs typeface="Arial" charset="0"/>
                        </a:rPr>
                        <a:t>Nivel de colesterol (mg/</a:t>
                      </a:r>
                      <a:r>
                        <a:rPr kumimoji="0" lang="es-ES" altLang="es-ES" sz="1600" b="1" i="0" u="none" strike="noStrike" cap="none" normalizeH="0" baseline="0" dirty="0" err="1">
                          <a:ln>
                            <a:noFill/>
                          </a:ln>
                          <a:solidFill>
                            <a:schemeClr val="tx1"/>
                          </a:solidFill>
                          <a:effectLst/>
                          <a:latin typeface="Arial" charset="0"/>
                          <a:cs typeface="Arial" charset="0"/>
                        </a:rPr>
                        <a:t>dL</a:t>
                      </a:r>
                      <a:r>
                        <a:rPr kumimoji="0" lang="es-ES" altLang="es-ES" sz="1600" b="1" i="0" u="none" strike="noStrike" cap="none" normalizeH="0" baseline="0" dirty="0">
                          <a:ln>
                            <a:noFill/>
                          </a:ln>
                          <a:solidFill>
                            <a:schemeClr val="tx1"/>
                          </a:solidFill>
                          <a:effectLst/>
                          <a:latin typeface="Arial" charset="0"/>
                          <a:cs typeface="Arial" charset="0"/>
                        </a:rPr>
                        <a:t>) observado</a:t>
                      </a:r>
                      <a:br>
                        <a:rPr kumimoji="0" lang="es-ES" altLang="es-ES" sz="1600" b="1" i="0" u="none" strike="noStrike" cap="none" normalizeH="0" baseline="0" dirty="0">
                          <a:ln>
                            <a:noFill/>
                          </a:ln>
                          <a:solidFill>
                            <a:schemeClr val="tx1"/>
                          </a:solidFill>
                          <a:effectLst/>
                          <a:latin typeface="Arial" charset="0"/>
                          <a:cs typeface="Arial" charset="0"/>
                        </a:rPr>
                      </a:br>
                      <a:r>
                        <a:rPr kumimoji="0" lang="es-ES" altLang="es-ES" sz="1600" b="1" i="0" u="none" strike="noStrike" cap="none" normalizeH="0" baseline="0" dirty="0">
                          <a:ln>
                            <a:noFill/>
                          </a:ln>
                          <a:solidFill>
                            <a:schemeClr val="tx1"/>
                          </a:solidFill>
                          <a:effectLst/>
                          <a:latin typeface="Arial" charset="0"/>
                          <a:cs typeface="Arial" charset="0"/>
                        </a:rPr>
                        <a:t>n=157</a:t>
                      </a:r>
                      <a:endParaRPr kumimoji="0" lang="es-ES" altLang="es-ES" sz="1600" b="0" i="0" u="none" strike="noStrike" cap="none" normalizeH="0" baseline="0" dirty="0">
                        <a:ln>
                          <a:noFill/>
                        </a:ln>
                        <a:solidFill>
                          <a:schemeClr val="tx1"/>
                        </a:solidFill>
                        <a:effectLst/>
                        <a:latin typeface="Arial" charset="0"/>
                      </a:endParaRPr>
                    </a:p>
                  </a:txBody>
                  <a:tcPr marT="45706" marB="45706" anchor="ctr" horzOverflow="overflow">
                    <a:lnL>
                      <a:noFill/>
                    </a:lnL>
                    <a:lnR cap="flat">
                      <a:noFill/>
                    </a:lnR>
                    <a:lnT cap="flat">
                      <a:noFill/>
                    </a:lnT>
                    <a:lnB>
                      <a:noFill/>
                    </a:lnB>
                    <a:lnTlToBr>
                      <a:noFill/>
                    </a:lnTlToBr>
                    <a:lnBlToTr>
                      <a:noFill/>
                    </a:lnBlToTr>
                    <a:noFill/>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0"/>
                  </a:ext>
                </a:extLst>
              </a:tr>
              <a:tr h="335242">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706" marB="45706" anchor="b" horzOverflow="overflow">
                    <a:lnL cap="flat">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n</a:t>
                      </a:r>
                      <a:endParaRPr kumimoji="0" lang="es-ES" altLang="es-ES" sz="1600" b="0" i="0" u="none" strike="noStrike" cap="none" normalizeH="0" baseline="0" dirty="0">
                        <a:ln>
                          <a:noFill/>
                        </a:ln>
                        <a:solidFill>
                          <a:schemeClr val="tx1"/>
                        </a:solidFill>
                        <a:effectLst/>
                        <a:latin typeface="Arial" charset="0"/>
                      </a:endParaRPr>
                    </a:p>
                  </a:txBody>
                  <a:tcPr marT="45706" marB="45706"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f(%)</a:t>
                      </a:r>
                      <a:endParaRPr kumimoji="0" lang="es-ES" altLang="es-ES" sz="1600" b="0" i="0" u="none" strike="noStrike" cap="none" normalizeH="0" baseline="0" dirty="0">
                        <a:ln>
                          <a:noFill/>
                        </a:ln>
                        <a:solidFill>
                          <a:schemeClr val="tx1"/>
                        </a:solidFill>
                        <a:effectLst/>
                        <a:latin typeface="Arial" charset="0"/>
                      </a:endParaRPr>
                    </a:p>
                  </a:txBody>
                  <a:tcPr marT="45706" marB="45706"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F % </a:t>
                      </a:r>
                      <a:r>
                        <a:rPr kumimoji="0" lang="es-ES" altLang="es-ES" sz="1600" b="0" i="0" u="none" strike="noStrike" cap="none" normalizeH="0" baseline="0" dirty="0" err="1">
                          <a:ln>
                            <a:noFill/>
                          </a:ln>
                          <a:solidFill>
                            <a:srgbClr val="000000"/>
                          </a:solidFill>
                          <a:effectLst/>
                          <a:latin typeface="Arial" charset="0"/>
                          <a:cs typeface="Arial" charset="0"/>
                        </a:rPr>
                        <a:t>acum</a:t>
                      </a:r>
                      <a:r>
                        <a:rPr kumimoji="0" lang="es-ES" altLang="es-ES" sz="1600" b="0" i="0" u="none" strike="noStrike" cap="none" normalizeH="0" baseline="0" dirty="0">
                          <a:ln>
                            <a:noFill/>
                          </a:ln>
                          <a:solidFill>
                            <a:srgbClr val="000000"/>
                          </a:solidFill>
                          <a:effectLst/>
                          <a:latin typeface="Arial" charset="0"/>
                          <a:cs typeface="Arial" charset="0"/>
                        </a:rPr>
                        <a:t>.</a:t>
                      </a:r>
                      <a:endParaRPr kumimoji="0" lang="es-ES" altLang="es-ES" sz="1600" b="0" i="0" u="none" strike="noStrike" cap="none" normalizeH="0" baseline="0" dirty="0">
                        <a:ln>
                          <a:noFill/>
                        </a:ln>
                        <a:solidFill>
                          <a:schemeClr val="tx1"/>
                        </a:solidFill>
                        <a:effectLst/>
                        <a:latin typeface="Arial" charset="0"/>
                      </a:endParaRPr>
                    </a:p>
                  </a:txBody>
                  <a:tcPr marT="45706" marB="45706"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706" marB="45706" anchor="b"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706" marB="45706" anchor="b"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n</a:t>
                      </a:r>
                      <a:endParaRPr kumimoji="0" lang="es-ES" altLang="es-ES" sz="1600" b="0" i="0" u="none" strike="noStrike" cap="none" normalizeH="0" baseline="0" dirty="0">
                        <a:ln>
                          <a:noFill/>
                        </a:ln>
                        <a:solidFill>
                          <a:schemeClr val="tx1"/>
                        </a:solidFill>
                        <a:effectLst/>
                        <a:latin typeface="Arial" charset="0"/>
                      </a:endParaRPr>
                    </a:p>
                  </a:txBody>
                  <a:tcPr marT="45706" marB="45706"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f(%)</a:t>
                      </a:r>
                      <a:endParaRPr kumimoji="0" lang="es-ES" altLang="es-ES" sz="1600" b="0" i="0" u="none" strike="noStrike" cap="none" normalizeH="0" baseline="0" dirty="0">
                        <a:ln>
                          <a:noFill/>
                        </a:ln>
                        <a:solidFill>
                          <a:schemeClr val="tx1"/>
                        </a:solidFill>
                        <a:effectLst/>
                        <a:latin typeface="Arial" charset="0"/>
                      </a:endParaRPr>
                    </a:p>
                  </a:txBody>
                  <a:tcPr marT="45706" marB="45706"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F% </a:t>
                      </a:r>
                      <a:r>
                        <a:rPr kumimoji="0" lang="es-ES" altLang="es-ES" sz="1600" b="0" i="0" u="none" strike="noStrike" cap="none" normalizeH="0" baseline="0" dirty="0" err="1">
                          <a:ln>
                            <a:noFill/>
                          </a:ln>
                          <a:solidFill>
                            <a:srgbClr val="000000"/>
                          </a:solidFill>
                          <a:effectLst/>
                          <a:latin typeface="Arial" charset="0"/>
                          <a:cs typeface="Arial" charset="0"/>
                        </a:rPr>
                        <a:t>acum</a:t>
                      </a:r>
                      <a:r>
                        <a:rPr kumimoji="0" lang="es-ES" altLang="es-ES" sz="1600" b="0" i="0" u="none" strike="noStrike" cap="none" normalizeH="0" baseline="0" dirty="0">
                          <a:ln>
                            <a:noFill/>
                          </a:ln>
                          <a:solidFill>
                            <a:srgbClr val="000000"/>
                          </a:solidFill>
                          <a:effectLst/>
                          <a:latin typeface="Arial" charset="0"/>
                          <a:cs typeface="Arial" charset="0"/>
                        </a:rPr>
                        <a:t>.</a:t>
                      </a:r>
                      <a:endParaRPr kumimoji="0" lang="es-ES" altLang="es-ES" sz="1600" b="0" i="0" u="none" strike="noStrike" cap="none" normalizeH="0" baseline="0" dirty="0">
                        <a:ln>
                          <a:noFill/>
                        </a:ln>
                        <a:solidFill>
                          <a:schemeClr val="tx1"/>
                        </a:solidFill>
                        <a:effectLst/>
                        <a:latin typeface="Arial" charset="0"/>
                      </a:endParaRPr>
                    </a:p>
                  </a:txBody>
                  <a:tcPr marT="45706" marB="45706"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242">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102 </a:t>
                      </a:r>
                      <a:r>
                        <a:rPr kumimoji="0" lang="es-ES" altLang="es-ES" sz="1600" b="0" i="0" u="none" strike="noStrike" cap="none" normalizeH="0" baseline="0" dirty="0">
                          <a:ln>
                            <a:noFill/>
                          </a:ln>
                          <a:solidFill>
                            <a:srgbClr val="000000"/>
                          </a:solidFill>
                          <a:effectLst/>
                          <a:latin typeface="Arial" charset="0"/>
                          <a:cs typeface="Arial" charset="0"/>
                        </a:rPr>
                        <a:t>- 128</a:t>
                      </a:r>
                      <a:endParaRPr kumimoji="0" lang="es-ES" altLang="es-ES" sz="1600" b="0" i="0" u="none" strike="noStrike" cap="none" normalizeH="0" baseline="0" dirty="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20</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12.7</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12.7</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706" marB="45706"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(101,  128]</a:t>
                      </a:r>
                      <a:endParaRPr kumimoji="0" lang="es-ES" altLang="es-ES" sz="1600" b="0" i="0" u="none" strike="noStrike" cap="none" normalizeH="0" baseline="0" dirty="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20</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12.7</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12.7</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242">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129 - 155</a:t>
                      </a:r>
                      <a:endParaRPr kumimoji="0" lang="es-ES" altLang="es-ES" sz="1600" b="0" i="0" u="none" strike="noStrike" cap="none" normalizeH="0" baseline="0" dirty="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69</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43.9</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56.7</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706" marB="45706"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(128,  155]</a:t>
                      </a:r>
                      <a:endParaRPr kumimoji="0" lang="es-ES" altLang="es-ES" sz="1600" b="0" i="0" u="none" strike="noStrike" cap="none" normalizeH="0" baseline="0" dirty="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69</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43.9</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56.7</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242">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156 - 182</a:t>
                      </a:r>
                      <a:endParaRPr kumimoji="0" lang="es-ES" altLang="es-ES" sz="1600" b="0" i="0" u="none" strike="noStrike" cap="none" normalizeH="0" baseline="0" dirty="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85</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28.7</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85.4</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706" marB="45706"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(155, 182]</a:t>
                      </a:r>
                      <a:endParaRPr kumimoji="0" lang="es-ES" altLang="es-ES" sz="1600" b="0" i="0" u="none" strike="noStrike" cap="none" normalizeH="0" baseline="0" dirty="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45</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28.7</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85.4</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242">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183 - 209</a:t>
                      </a:r>
                      <a:endParaRPr kumimoji="0" lang="es-ES" altLang="es-ES" sz="1600" b="0" i="0" u="none" strike="noStrike" cap="none" normalizeH="0" baseline="0" dirty="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13</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8.3</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93.6</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706" marB="45706"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(182, 209]</a:t>
                      </a:r>
                      <a:endParaRPr kumimoji="0" lang="es-ES" altLang="es-ES" sz="1600" b="0" i="0" u="none" strike="noStrike" cap="none" normalizeH="0" baseline="0" dirty="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13</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8.3</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93.6</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242">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210 - 236</a:t>
                      </a:r>
                      <a:endParaRPr kumimoji="0" lang="es-ES" altLang="es-ES" sz="1600" b="0" i="0" u="none" strike="noStrike" cap="none" normalizeH="0" baseline="0" dirty="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10</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6.4</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100.0</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706" marB="45706"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(209, 236]</a:t>
                      </a:r>
                      <a:endParaRPr kumimoji="0" lang="es-ES" altLang="es-ES" sz="1600" b="0" i="0" u="none" strike="noStrike" cap="none" normalizeH="0" baseline="0" dirty="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10</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6.4</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100.0</a:t>
                      </a:r>
                      <a:endParaRPr kumimoji="0" lang="es-ES" altLang="es-ES" sz="1600" b="0" i="0" u="none" strike="noStrike" cap="none" normalizeH="0" baseline="0">
                        <a:ln>
                          <a:noFill/>
                        </a:ln>
                        <a:solidFill>
                          <a:schemeClr val="tx1"/>
                        </a:solidFill>
                        <a:effectLst/>
                        <a:latin typeface="Arial"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242">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969696"/>
                          </a:solidFill>
                          <a:effectLst/>
                          <a:latin typeface="Arial" charset="0"/>
                          <a:cs typeface="Arial" charset="0"/>
                        </a:rPr>
                        <a:t>Total</a:t>
                      </a:r>
                      <a:endParaRPr kumimoji="0" lang="es-ES" altLang="es-ES" sz="1600" b="0" i="0" u="none" strike="noStrike" cap="none" normalizeH="0" baseline="0">
                        <a:ln>
                          <a:noFill/>
                        </a:ln>
                        <a:solidFill>
                          <a:srgbClr val="969696"/>
                        </a:solidFill>
                        <a:effectLst/>
                        <a:latin typeface="Arial" charset="0"/>
                      </a:endParaRPr>
                    </a:p>
                  </a:txBody>
                  <a:tcPr marT="45706" marB="45706" horzOverflow="overflow">
                    <a:lnL cap="flat">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969696"/>
                          </a:solidFill>
                          <a:effectLst/>
                          <a:latin typeface="Arial" charset="0"/>
                          <a:cs typeface="Arial" charset="0"/>
                        </a:rPr>
                        <a:t>157</a:t>
                      </a:r>
                      <a:endParaRPr kumimoji="0" lang="es-ES" altLang="es-ES" sz="1600" b="0" i="0" u="none" strike="noStrike" cap="none" normalizeH="0" baseline="0">
                        <a:ln>
                          <a:noFill/>
                        </a:ln>
                        <a:solidFill>
                          <a:srgbClr val="969696"/>
                        </a:solidFill>
                        <a:effectLst/>
                        <a:latin typeface="Arial" charset="0"/>
                      </a:endParaRPr>
                    </a:p>
                  </a:txBody>
                  <a:tcPr marT="45706" marB="45706"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969696"/>
                          </a:solidFill>
                          <a:effectLst/>
                          <a:latin typeface="Arial" charset="0"/>
                          <a:cs typeface="Arial" charset="0"/>
                        </a:rPr>
                        <a:t>100.0</a:t>
                      </a:r>
                      <a:endParaRPr kumimoji="0" lang="es-ES" altLang="es-ES" sz="1600" b="0" i="0" u="none" strike="noStrike" cap="none" normalizeH="0" baseline="0">
                        <a:ln>
                          <a:noFill/>
                        </a:ln>
                        <a:solidFill>
                          <a:srgbClr val="969696"/>
                        </a:solidFill>
                        <a:effectLst/>
                        <a:latin typeface="Arial" charset="0"/>
                      </a:endParaRPr>
                    </a:p>
                  </a:txBody>
                  <a:tcPr marT="45706" marB="45706"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969696"/>
                          </a:solidFill>
                          <a:effectLst/>
                          <a:latin typeface="Arial" charset="0"/>
                          <a:cs typeface="Arial" charset="0"/>
                        </a:rPr>
                        <a:t> </a:t>
                      </a:r>
                      <a:endParaRPr kumimoji="0" lang="es-ES" altLang="es-ES" sz="1600" b="0" i="0" u="none" strike="noStrike" cap="none" normalizeH="0" baseline="0">
                        <a:ln>
                          <a:noFill/>
                        </a:ln>
                        <a:solidFill>
                          <a:srgbClr val="969696"/>
                        </a:solidFill>
                        <a:effectLst/>
                        <a:latin typeface="Arial" charset="0"/>
                      </a:endParaRPr>
                    </a:p>
                  </a:txBody>
                  <a:tcPr marT="45706" marB="45706"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rgbClr val="969696"/>
                        </a:solidFill>
                        <a:effectLst/>
                        <a:latin typeface="Arial" charset="0"/>
                      </a:endParaRPr>
                    </a:p>
                  </a:txBody>
                  <a:tcPr marT="45706" marB="45706" anchor="b" horzOverflow="overflow">
                    <a:lnL>
                      <a:noFill/>
                    </a:lnL>
                    <a:lnR>
                      <a:noFill/>
                    </a:lnR>
                    <a:lnT>
                      <a:noFill/>
                    </a:lnT>
                    <a:lnB cap="flat">
                      <a:noFill/>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969696"/>
                          </a:solidFill>
                          <a:effectLst/>
                          <a:latin typeface="Arial" charset="0"/>
                          <a:cs typeface="Arial" charset="0"/>
                        </a:rPr>
                        <a:t>Total</a:t>
                      </a:r>
                      <a:endParaRPr kumimoji="0" lang="es-ES" altLang="es-ES" sz="1600" b="0" i="0" u="none" strike="noStrike" cap="none" normalizeH="0" baseline="0">
                        <a:ln>
                          <a:noFill/>
                        </a:ln>
                        <a:solidFill>
                          <a:srgbClr val="969696"/>
                        </a:solidFill>
                        <a:effectLst/>
                        <a:latin typeface="Arial" charset="0"/>
                      </a:endParaRPr>
                    </a:p>
                  </a:txBody>
                  <a:tcPr marT="45706" marB="45706"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969696"/>
                          </a:solidFill>
                          <a:effectLst/>
                          <a:latin typeface="Arial" charset="0"/>
                          <a:cs typeface="Arial" charset="0"/>
                        </a:rPr>
                        <a:t>157</a:t>
                      </a:r>
                      <a:endParaRPr kumimoji="0" lang="es-ES" altLang="es-ES" sz="1600" b="0" i="0" u="none" strike="noStrike" cap="none" normalizeH="0" baseline="0">
                        <a:ln>
                          <a:noFill/>
                        </a:ln>
                        <a:solidFill>
                          <a:srgbClr val="969696"/>
                        </a:solidFill>
                        <a:effectLst/>
                        <a:latin typeface="Arial" charset="0"/>
                      </a:endParaRPr>
                    </a:p>
                  </a:txBody>
                  <a:tcPr marT="45706" marB="45706"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969696"/>
                          </a:solidFill>
                          <a:effectLst/>
                          <a:latin typeface="Arial" charset="0"/>
                          <a:cs typeface="Arial" charset="0"/>
                        </a:rPr>
                        <a:t>100.0</a:t>
                      </a:r>
                      <a:endParaRPr kumimoji="0" lang="es-ES" altLang="es-ES" sz="1600" b="0" i="0" u="none" strike="noStrike" cap="none" normalizeH="0" baseline="0">
                        <a:ln>
                          <a:noFill/>
                        </a:ln>
                        <a:solidFill>
                          <a:srgbClr val="969696"/>
                        </a:solidFill>
                        <a:effectLst/>
                        <a:latin typeface="Arial" charset="0"/>
                      </a:endParaRPr>
                    </a:p>
                  </a:txBody>
                  <a:tcPr marT="45706" marB="45706"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969696"/>
                          </a:solidFill>
                          <a:effectLst/>
                          <a:latin typeface="Arial" charset="0"/>
                          <a:cs typeface="Arial" charset="0"/>
                        </a:rPr>
                        <a:t> </a:t>
                      </a:r>
                      <a:endParaRPr kumimoji="0" lang="es-ES" altLang="es-ES" sz="1600" b="0" i="0" u="none" strike="noStrike" cap="none" normalizeH="0" baseline="0" dirty="0">
                        <a:ln>
                          <a:noFill/>
                        </a:ln>
                        <a:solidFill>
                          <a:srgbClr val="969696"/>
                        </a:solidFill>
                        <a:effectLst/>
                        <a:latin typeface="Arial" charset="0"/>
                      </a:endParaRPr>
                    </a:p>
                  </a:txBody>
                  <a:tcPr marT="45706" marB="45706" horzOverflow="overflow">
                    <a:lnL>
                      <a:noFill/>
                    </a:lnL>
                    <a:lnR cap="flat">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2381" name="Text Box 708"/>
          <p:cNvSpPr txBox="1">
            <a:spLocks noChangeArrowheads="1"/>
          </p:cNvSpPr>
          <p:nvPr/>
        </p:nvSpPr>
        <p:spPr bwMode="auto">
          <a:xfrm>
            <a:off x="257175" y="315913"/>
            <a:ext cx="49893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Tablas de frecuencias // variables continuas</a:t>
            </a:r>
            <a:endParaRPr lang="es-ES" altLang="es-ES" sz="1800" b="1" dirty="0"/>
          </a:p>
        </p:txBody>
      </p:sp>
      <p:graphicFrame>
        <p:nvGraphicFramePr>
          <p:cNvPr id="12382" name="Object 710"/>
          <p:cNvGraphicFramePr>
            <a:graphicFrameLocks noChangeAspect="1"/>
          </p:cNvGraphicFramePr>
          <p:nvPr/>
        </p:nvGraphicFramePr>
        <p:xfrm>
          <a:off x="5376863" y="5867400"/>
          <a:ext cx="2963862" cy="365125"/>
        </p:xfrm>
        <a:graphic>
          <a:graphicData uri="http://schemas.openxmlformats.org/presentationml/2006/ole">
            <mc:AlternateContent xmlns:mc="http://schemas.openxmlformats.org/markup-compatibility/2006">
              <mc:Choice xmlns:v="urn:schemas-microsoft-com:vml" Requires="v">
                <p:oleObj name="Equation" r:id="rId2" imgW="1739900" imgH="215900" progId="Equation.DSMT4">
                  <p:embed/>
                </p:oleObj>
              </mc:Choice>
              <mc:Fallback>
                <p:oleObj name="Equation" r:id="rId2" imgW="1739900" imgH="215900" progId="Equation.DSMT4">
                  <p:embed/>
                  <p:pic>
                    <p:nvPicPr>
                      <p:cNvPr id="0" name="Object 7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6863" y="5867400"/>
                        <a:ext cx="29638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83" name="100 CuadroTexto"/>
          <p:cNvSpPr txBox="1">
            <a:spLocks noChangeArrowheads="1"/>
          </p:cNvSpPr>
          <p:nvPr/>
        </p:nvSpPr>
        <p:spPr bwMode="auto">
          <a:xfrm>
            <a:off x="692150" y="4897438"/>
            <a:ext cx="3651250" cy="7381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sz="1400" dirty="0"/>
              <a:t>No se han observado (se han redondeado) los valores decimales, por tanto, no hace falta solapar los intervalos</a:t>
            </a:r>
          </a:p>
        </p:txBody>
      </p:sp>
      <p:sp>
        <p:nvSpPr>
          <p:cNvPr id="12384" name="101 CuadroTexto"/>
          <p:cNvSpPr txBox="1">
            <a:spLocks noChangeArrowheads="1"/>
          </p:cNvSpPr>
          <p:nvPr/>
        </p:nvSpPr>
        <p:spPr bwMode="auto">
          <a:xfrm>
            <a:off x="5032375" y="4876800"/>
            <a:ext cx="3651250" cy="7381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sz="1400"/>
              <a:t>Si que se han observado los valores decimales, es preciso establecer un criterio para los límites de los intervalos</a:t>
            </a:r>
          </a:p>
        </p:txBody>
      </p:sp>
      <p:sp>
        <p:nvSpPr>
          <p:cNvPr id="12385" name="AutoShape 122"/>
          <p:cNvSpPr>
            <a:spLocks noChangeArrowheads="1"/>
          </p:cNvSpPr>
          <p:nvPr/>
        </p:nvSpPr>
        <p:spPr bwMode="auto">
          <a:xfrm>
            <a:off x="620713" y="4572000"/>
            <a:ext cx="3784600" cy="1752600"/>
          </a:xfrm>
          <a:prstGeom prst="roundRect">
            <a:avLst>
              <a:gd name="adj" fmla="val 16667"/>
            </a:avLst>
          </a:prstGeom>
          <a:noFill/>
          <a:ln w="6350">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12386" name="AutoShape 122"/>
          <p:cNvSpPr>
            <a:spLocks noChangeArrowheads="1"/>
          </p:cNvSpPr>
          <p:nvPr/>
        </p:nvSpPr>
        <p:spPr bwMode="auto">
          <a:xfrm>
            <a:off x="4800600" y="4575175"/>
            <a:ext cx="4114800" cy="1752600"/>
          </a:xfrm>
          <a:prstGeom prst="roundRect">
            <a:avLst>
              <a:gd name="adj" fmla="val 16667"/>
            </a:avLst>
          </a:prstGeom>
          <a:noFill/>
          <a:ln w="6350">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9" name="CuadroTexto 8">
            <a:extLst>
              <a:ext uri="{FF2B5EF4-FFF2-40B4-BE49-F238E27FC236}">
                <a16:creationId xmlns:a16="http://schemas.microsoft.com/office/drawing/2014/main" id="{8F506D3A-8136-4A26-8CA5-8A7E5E7D068B}"/>
              </a:ext>
            </a:extLst>
          </p:cNvPr>
          <p:cNvSpPr txBox="1"/>
          <p:nvPr/>
        </p:nvSpPr>
        <p:spPr>
          <a:xfrm>
            <a:off x="358775" y="957460"/>
            <a:ext cx="6101350" cy="307777"/>
          </a:xfrm>
          <a:prstGeom prst="rect">
            <a:avLst/>
          </a:prstGeom>
          <a:solidFill>
            <a:schemeClr val="bg1"/>
          </a:solidFill>
        </p:spPr>
        <p:txBody>
          <a:bodyPr wrap="none" rtlCol="0">
            <a:spAutoFit/>
          </a:bodyPr>
          <a:lstStyle/>
          <a:p>
            <a:r>
              <a:rPr lang="es-ES" sz="1400" dirty="0"/>
              <a:t>Con variables continuas, no queda más remedio que agrupar en intervalos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257175" y="311150"/>
            <a:ext cx="1797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Tipos de datos</a:t>
            </a:r>
            <a:endParaRPr lang="es-ES" altLang="es-ES" sz="1800" b="1" dirty="0"/>
          </a:p>
        </p:txBody>
      </p:sp>
      <p:sp>
        <p:nvSpPr>
          <p:cNvPr id="13315" name="Rectangle 99"/>
          <p:cNvSpPr>
            <a:spLocks noChangeArrowheads="1"/>
          </p:cNvSpPr>
          <p:nvPr/>
        </p:nvSpPr>
        <p:spPr bwMode="auto">
          <a:xfrm>
            <a:off x="457200" y="1749425"/>
            <a:ext cx="8229600" cy="3773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1pPr>
            <a:lvl2pPr marL="9144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2pPr>
            <a:lvl3pPr marL="13716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3pPr>
            <a:lvl4pPr marL="18288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4pPr>
            <a:lvl5pPr marL="22860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5pPr>
            <a:lvl6pPr marL="2743200" indent="-4572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6pPr>
            <a:lvl7pPr marL="3200400" indent="-4572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7pPr>
            <a:lvl8pPr marL="3657600" indent="-4572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8pPr>
            <a:lvl9pPr marL="4114800" indent="-4572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9pPr>
          </a:lstStyle>
          <a:p>
            <a:pPr algn="just"/>
            <a:r>
              <a:rPr lang="es-ES_tradnl" altLang="es-ES" sz="1600" b="1">
                <a:cs typeface="Times New Roman" pitchFamily="18" charset="0"/>
              </a:rPr>
              <a:t>Datos cualitativos:</a:t>
            </a:r>
          </a:p>
          <a:p>
            <a:pPr algn="just"/>
            <a:endParaRPr lang="es-ES_tradnl" altLang="es-ES" sz="1600">
              <a:cs typeface="Times New Roman" pitchFamily="18" charset="0"/>
            </a:endParaRPr>
          </a:p>
          <a:p>
            <a:pPr lvl="1" algn="just">
              <a:lnSpc>
                <a:spcPct val="120000"/>
              </a:lnSpc>
              <a:buFontTx/>
              <a:buAutoNum type="arabicPeriod"/>
            </a:pPr>
            <a:r>
              <a:rPr lang="es-ES_tradnl" altLang="es-ES" sz="1600" b="1">
                <a:cs typeface="Times New Roman" pitchFamily="18" charset="0"/>
              </a:rPr>
              <a:t>Nominales</a:t>
            </a:r>
            <a:r>
              <a:rPr lang="es-ES_tradnl" altLang="es-ES" sz="1600">
                <a:cs typeface="Times New Roman" pitchFamily="18" charset="0"/>
              </a:rPr>
              <a:t> </a:t>
            </a:r>
            <a:r>
              <a:rPr lang="es-ES_tradnl" altLang="es-ES" sz="1400" b="1">
                <a:solidFill>
                  <a:srgbClr val="000099"/>
                </a:solidFill>
                <a:cs typeface="Times New Roman" pitchFamily="18" charset="0"/>
              </a:rPr>
              <a:t>	</a:t>
            </a:r>
            <a:endParaRPr lang="es-ES" altLang="es-ES" sz="1400" b="1">
              <a:solidFill>
                <a:srgbClr val="000099"/>
              </a:solidFill>
              <a:cs typeface="Times New Roman" pitchFamily="18" charset="0"/>
            </a:endParaRPr>
          </a:p>
          <a:p>
            <a:pPr lvl="1" algn="just">
              <a:lnSpc>
                <a:spcPct val="120000"/>
              </a:lnSpc>
              <a:buFontTx/>
              <a:buAutoNum type="arabicPeriod"/>
            </a:pPr>
            <a:endParaRPr lang="es-ES_tradnl" altLang="es-ES" sz="1400">
              <a:solidFill>
                <a:schemeClr val="hlink"/>
              </a:solidFill>
              <a:cs typeface="Times New Roman" pitchFamily="18" charset="0"/>
            </a:endParaRPr>
          </a:p>
          <a:p>
            <a:pPr lvl="1" algn="just">
              <a:lnSpc>
                <a:spcPct val="120000"/>
              </a:lnSpc>
              <a:buFontTx/>
              <a:buAutoNum type="arabicPeriod" startAt="2"/>
            </a:pPr>
            <a:endParaRPr lang="es-ES_tradnl" altLang="es-ES" sz="1600" b="1">
              <a:cs typeface="Times New Roman" pitchFamily="18" charset="0"/>
            </a:endParaRPr>
          </a:p>
          <a:p>
            <a:pPr lvl="1" algn="just">
              <a:lnSpc>
                <a:spcPct val="120000"/>
              </a:lnSpc>
              <a:buFontTx/>
              <a:buAutoNum type="arabicPeriod" startAt="2"/>
            </a:pPr>
            <a:r>
              <a:rPr lang="es-ES_tradnl" altLang="es-ES" sz="1600" b="1">
                <a:cs typeface="Times New Roman" pitchFamily="18" charset="0"/>
              </a:rPr>
              <a:t>Ordinales		</a:t>
            </a:r>
            <a:endParaRPr lang="es-ES" altLang="es-ES" sz="1400">
              <a:solidFill>
                <a:schemeClr val="hlink"/>
              </a:solidFill>
              <a:cs typeface="Times New Roman" pitchFamily="18" charset="0"/>
            </a:endParaRPr>
          </a:p>
          <a:p>
            <a:pPr algn="just">
              <a:lnSpc>
                <a:spcPct val="120000"/>
              </a:lnSpc>
              <a:buFontTx/>
              <a:buAutoNum type="arabicPeriod" startAt="2"/>
            </a:pPr>
            <a:endParaRPr lang="es-ES" altLang="es-ES" sz="1600" b="1">
              <a:cs typeface="Times New Roman" pitchFamily="18" charset="0"/>
            </a:endParaRPr>
          </a:p>
          <a:p>
            <a:pPr algn="just">
              <a:lnSpc>
                <a:spcPct val="120000"/>
              </a:lnSpc>
            </a:pPr>
            <a:r>
              <a:rPr lang="es-ES" altLang="es-ES" sz="1600" b="1">
                <a:cs typeface="Times New Roman" pitchFamily="18" charset="0"/>
              </a:rPr>
              <a:t>Cuantitativos</a:t>
            </a:r>
            <a:endParaRPr lang="es-ES_tradnl" altLang="es-ES" sz="1600" b="1">
              <a:cs typeface="Times New Roman" pitchFamily="18" charset="0"/>
            </a:endParaRPr>
          </a:p>
          <a:p>
            <a:pPr lvl="1" algn="just">
              <a:lnSpc>
                <a:spcPct val="120000"/>
              </a:lnSpc>
            </a:pPr>
            <a:endParaRPr lang="es-ES_tradnl" altLang="es-ES" sz="1600" b="1">
              <a:cs typeface="Times New Roman" pitchFamily="18" charset="0"/>
            </a:endParaRPr>
          </a:p>
          <a:p>
            <a:pPr lvl="1" algn="just">
              <a:lnSpc>
                <a:spcPct val="120000"/>
              </a:lnSpc>
            </a:pPr>
            <a:r>
              <a:rPr lang="es-ES_tradnl" altLang="es-ES" sz="1600" b="1">
                <a:cs typeface="Times New Roman" pitchFamily="18" charset="0"/>
              </a:rPr>
              <a:t>3. 	  Discretos </a:t>
            </a:r>
            <a:endParaRPr lang="es-ES" altLang="es-ES" sz="1600">
              <a:solidFill>
                <a:srgbClr val="000099"/>
              </a:solidFill>
              <a:cs typeface="Times New Roman" pitchFamily="18" charset="0"/>
            </a:endParaRPr>
          </a:p>
          <a:p>
            <a:pPr lvl="1" algn="just">
              <a:lnSpc>
                <a:spcPct val="120000"/>
              </a:lnSpc>
              <a:buFontTx/>
              <a:buChar char="•"/>
            </a:pPr>
            <a:endParaRPr lang="es-ES_tradnl" altLang="es-ES" sz="1600">
              <a:solidFill>
                <a:srgbClr val="000099"/>
              </a:solidFill>
              <a:cs typeface="Times New Roman" pitchFamily="18" charset="0"/>
            </a:endParaRPr>
          </a:p>
          <a:p>
            <a:pPr lvl="1" algn="just">
              <a:lnSpc>
                <a:spcPct val="120000"/>
              </a:lnSpc>
              <a:buFontTx/>
              <a:buChar char="•"/>
            </a:pPr>
            <a:endParaRPr lang="es-ES_tradnl" altLang="es-ES" sz="1600">
              <a:solidFill>
                <a:srgbClr val="000099"/>
              </a:solidFill>
              <a:cs typeface="Times New Roman" pitchFamily="18" charset="0"/>
            </a:endParaRPr>
          </a:p>
          <a:p>
            <a:pPr lvl="1" algn="just">
              <a:lnSpc>
                <a:spcPct val="120000"/>
              </a:lnSpc>
            </a:pPr>
            <a:r>
              <a:rPr lang="es-ES_tradnl" altLang="es-ES" sz="1600" b="1">
                <a:cs typeface="Times New Roman" pitchFamily="18" charset="0"/>
              </a:rPr>
              <a:t>4.	  Con</a:t>
            </a:r>
            <a:r>
              <a:rPr lang="es-ES" altLang="es-ES" sz="1600" b="1">
                <a:cs typeface="Times New Roman" pitchFamily="18" charset="0"/>
              </a:rPr>
              <a:t>tinuos</a:t>
            </a:r>
            <a:endParaRPr lang="es-ES_tradnl" altLang="es-ES" sz="1600" b="1">
              <a:cs typeface="Times New Roman" pitchFamily="18" charset="0"/>
            </a:endParaRPr>
          </a:p>
        </p:txBody>
      </p:sp>
      <p:sp>
        <p:nvSpPr>
          <p:cNvPr id="13316" name="Text Box 29"/>
          <p:cNvSpPr txBox="1">
            <a:spLocks noChangeArrowheads="1"/>
          </p:cNvSpPr>
          <p:nvPr/>
        </p:nvSpPr>
        <p:spPr bwMode="auto">
          <a:xfrm>
            <a:off x="457200" y="1143000"/>
            <a:ext cx="2701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600" b="1"/>
              <a:t>Diagramas de frecuencias</a:t>
            </a:r>
            <a:endParaRPr lang="es-ES" altLang="es-ES" sz="1600" b="1"/>
          </a:p>
        </p:txBody>
      </p:sp>
      <p:sp>
        <p:nvSpPr>
          <p:cNvPr id="13317" name="Line 32"/>
          <p:cNvSpPr>
            <a:spLocks noChangeShapeType="1"/>
          </p:cNvSpPr>
          <p:nvPr/>
        </p:nvSpPr>
        <p:spPr bwMode="auto">
          <a:xfrm flipH="1">
            <a:off x="3238500" y="1343025"/>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3318" name="Rectangle 33"/>
          <p:cNvSpPr>
            <a:spLocks noChangeArrowheads="1"/>
          </p:cNvSpPr>
          <p:nvPr/>
        </p:nvSpPr>
        <p:spPr bwMode="auto">
          <a:xfrm>
            <a:off x="3714750" y="1190625"/>
            <a:ext cx="45069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sz="1400" dirty="0">
                <a:solidFill>
                  <a:schemeClr val="accent1">
                    <a:lumMod val="25000"/>
                  </a:schemeClr>
                </a:solidFill>
                <a:cs typeface="Times New Roman" pitchFamily="18" charset="0"/>
              </a:rPr>
              <a:t>Qué diagrama es correcto depende del </a:t>
            </a:r>
            <a:r>
              <a:rPr lang="es-ES" altLang="es-ES" sz="1400" i="1" dirty="0">
                <a:solidFill>
                  <a:schemeClr val="accent1">
                    <a:lumMod val="25000"/>
                  </a:schemeClr>
                </a:solidFill>
                <a:cs typeface="Times New Roman" pitchFamily="18" charset="0"/>
              </a:rPr>
              <a:t>tipo</a:t>
            </a:r>
            <a:r>
              <a:rPr lang="es-ES" altLang="es-ES" sz="1400" dirty="0">
                <a:solidFill>
                  <a:schemeClr val="accent1">
                    <a:lumMod val="25000"/>
                  </a:schemeClr>
                </a:solidFill>
                <a:cs typeface="Times New Roman" pitchFamily="18" charset="0"/>
              </a:rPr>
              <a:t> de variable</a:t>
            </a:r>
          </a:p>
        </p:txBody>
      </p:sp>
      <p:pic>
        <p:nvPicPr>
          <p:cNvPr id="13319" name="Picture 1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1600200"/>
            <a:ext cx="7445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20" name="Picture 1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67200" y="2438400"/>
            <a:ext cx="1295400" cy="1039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21" name="Picture 10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67200" y="3505200"/>
            <a:ext cx="1447800" cy="115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22" name="Picture 10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67200" y="4876800"/>
            <a:ext cx="1600200"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23" name="Line 14"/>
          <p:cNvSpPr>
            <a:spLocks noChangeShapeType="1"/>
          </p:cNvSpPr>
          <p:nvPr/>
        </p:nvSpPr>
        <p:spPr bwMode="auto">
          <a:xfrm flipV="1">
            <a:off x="2590800" y="2133600"/>
            <a:ext cx="1600200" cy="30480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3324" name="Line 15"/>
          <p:cNvSpPr>
            <a:spLocks noChangeShapeType="1"/>
          </p:cNvSpPr>
          <p:nvPr/>
        </p:nvSpPr>
        <p:spPr bwMode="auto">
          <a:xfrm>
            <a:off x="2590800" y="2438400"/>
            <a:ext cx="1600200" cy="45720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3325" name="Line 16"/>
          <p:cNvSpPr>
            <a:spLocks noChangeShapeType="1"/>
          </p:cNvSpPr>
          <p:nvPr/>
        </p:nvSpPr>
        <p:spPr bwMode="auto">
          <a:xfrm>
            <a:off x="2514600" y="3352800"/>
            <a:ext cx="1676400" cy="53340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3326" name="Line 17"/>
          <p:cNvSpPr>
            <a:spLocks noChangeShapeType="1"/>
          </p:cNvSpPr>
          <p:nvPr/>
        </p:nvSpPr>
        <p:spPr bwMode="auto">
          <a:xfrm flipV="1">
            <a:off x="2514600" y="3048000"/>
            <a:ext cx="1676400" cy="30480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3327" name="Line 18"/>
          <p:cNvSpPr>
            <a:spLocks noChangeShapeType="1"/>
          </p:cNvSpPr>
          <p:nvPr/>
        </p:nvSpPr>
        <p:spPr bwMode="auto">
          <a:xfrm flipV="1">
            <a:off x="2438400" y="3200400"/>
            <a:ext cx="1752600" cy="129540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3328" name="Line 19"/>
          <p:cNvSpPr>
            <a:spLocks noChangeShapeType="1"/>
          </p:cNvSpPr>
          <p:nvPr/>
        </p:nvSpPr>
        <p:spPr bwMode="auto">
          <a:xfrm flipV="1">
            <a:off x="2438400" y="4114800"/>
            <a:ext cx="1752600" cy="38100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3329" name="Line 20"/>
          <p:cNvSpPr>
            <a:spLocks noChangeShapeType="1"/>
          </p:cNvSpPr>
          <p:nvPr/>
        </p:nvSpPr>
        <p:spPr bwMode="auto">
          <a:xfrm flipV="1">
            <a:off x="2667000" y="4343400"/>
            <a:ext cx="1600200" cy="99060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3330" name="Line 21"/>
          <p:cNvSpPr>
            <a:spLocks noChangeShapeType="1"/>
          </p:cNvSpPr>
          <p:nvPr/>
        </p:nvSpPr>
        <p:spPr bwMode="auto">
          <a:xfrm>
            <a:off x="2667000" y="5334000"/>
            <a:ext cx="1524000" cy="15240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3331" name="Text Box 22"/>
          <p:cNvSpPr txBox="1">
            <a:spLocks noChangeArrowheads="1"/>
          </p:cNvSpPr>
          <p:nvPr/>
        </p:nvSpPr>
        <p:spPr bwMode="auto">
          <a:xfrm>
            <a:off x="6035675" y="1828800"/>
            <a:ext cx="176371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b="1"/>
              <a:t>Diagrama de sectores</a:t>
            </a:r>
            <a:endParaRPr lang="es-ES" altLang="es-ES" b="1"/>
          </a:p>
        </p:txBody>
      </p:sp>
      <p:sp>
        <p:nvSpPr>
          <p:cNvPr id="13332" name="Text Box 23"/>
          <p:cNvSpPr txBox="1">
            <a:spLocks noChangeArrowheads="1"/>
          </p:cNvSpPr>
          <p:nvPr/>
        </p:nvSpPr>
        <p:spPr bwMode="auto">
          <a:xfrm>
            <a:off x="6035675" y="2667000"/>
            <a:ext cx="16033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b="1"/>
              <a:t>Diagrama de barras</a:t>
            </a:r>
            <a:endParaRPr lang="es-ES" altLang="es-ES" b="1"/>
          </a:p>
        </p:txBody>
      </p:sp>
      <p:sp>
        <p:nvSpPr>
          <p:cNvPr id="13333" name="Text Box 24"/>
          <p:cNvSpPr txBox="1">
            <a:spLocks noChangeArrowheads="1"/>
          </p:cNvSpPr>
          <p:nvPr/>
        </p:nvSpPr>
        <p:spPr bwMode="auto">
          <a:xfrm>
            <a:off x="6035675" y="3810000"/>
            <a:ext cx="194786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b="1"/>
              <a:t>Polígono de frecuencias</a:t>
            </a:r>
            <a:endParaRPr lang="es-ES" altLang="es-ES" b="1"/>
          </a:p>
        </p:txBody>
      </p:sp>
      <p:sp>
        <p:nvSpPr>
          <p:cNvPr id="13334" name="Text Box 25"/>
          <p:cNvSpPr txBox="1">
            <a:spLocks noChangeArrowheads="1"/>
          </p:cNvSpPr>
          <p:nvPr/>
        </p:nvSpPr>
        <p:spPr bwMode="auto">
          <a:xfrm>
            <a:off x="6035675" y="5334000"/>
            <a:ext cx="102076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b="1"/>
              <a:t>Histograma</a:t>
            </a:r>
            <a:endParaRPr lang="es-ES" altLang="es-ES" b="1"/>
          </a:p>
        </p:txBody>
      </p:sp>
      <p:graphicFrame>
        <p:nvGraphicFramePr>
          <p:cNvPr id="13335" name="Object 340"/>
          <p:cNvGraphicFramePr>
            <a:graphicFrameLocks noChangeAspect="1"/>
          </p:cNvGraphicFramePr>
          <p:nvPr/>
        </p:nvGraphicFramePr>
        <p:xfrm>
          <a:off x="3048000" y="3810000"/>
          <a:ext cx="327025" cy="239713"/>
        </p:xfrm>
        <a:graphic>
          <a:graphicData uri="http://schemas.openxmlformats.org/presentationml/2006/ole">
            <mc:AlternateContent xmlns:mc="http://schemas.openxmlformats.org/markup-compatibility/2006">
              <mc:Choice xmlns:v="urn:schemas-microsoft-com:vml" Requires="v">
                <p:oleObj name="Equation" r:id="rId6" imgW="241091" imgH="177646" progId="Equation.DSMT4">
                  <p:embed/>
                </p:oleObj>
              </mc:Choice>
              <mc:Fallback>
                <p:oleObj name="Equation" r:id="rId6" imgW="241091" imgH="177646" progId="Equation.DSMT4">
                  <p:embed/>
                  <p:pic>
                    <p:nvPicPr>
                      <p:cNvPr id="0" name="Object 34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0" y="3810000"/>
                        <a:ext cx="327025" cy="239713"/>
                      </a:xfrm>
                      <a:prstGeom prst="rect">
                        <a:avLst/>
                      </a:prstGeom>
                      <a:solidFill>
                        <a:schemeClr val="bg1"/>
                      </a:solidFill>
                      <a:ln>
                        <a:noFill/>
                      </a:ln>
                      <a:extLst>
                        <a:ext uri="{91240B29-F687-4F45-9708-019B960494DF}">
                          <a14:hiddenLine xmlns:a14="http://schemas.microsoft.com/office/drawing/2010/main" w="9525">
                            <a:solidFill>
                              <a:schemeClr val="hlink"/>
                            </a:solidFill>
                            <a:miter lim="800000"/>
                            <a:headEnd/>
                            <a:tailEnd/>
                          </a14:hiddenLine>
                        </a:ext>
                      </a:extLst>
                    </p:spPr>
                  </p:pic>
                </p:oleObj>
              </mc:Fallback>
            </mc:AlternateContent>
          </a:graphicData>
        </a:graphic>
      </p:graphicFrame>
      <p:sp>
        <p:nvSpPr>
          <p:cNvPr id="13336" name="Line 29"/>
          <p:cNvSpPr>
            <a:spLocks noChangeShapeType="1"/>
          </p:cNvSpPr>
          <p:nvPr/>
        </p:nvSpPr>
        <p:spPr bwMode="auto">
          <a:xfrm>
            <a:off x="2438400" y="4495800"/>
            <a:ext cx="1752600" cy="68580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13337" name="Object 340"/>
          <p:cNvGraphicFramePr>
            <a:graphicFrameLocks noChangeAspect="1"/>
          </p:cNvGraphicFramePr>
          <p:nvPr/>
        </p:nvGraphicFramePr>
        <p:xfrm>
          <a:off x="2895600" y="4572000"/>
          <a:ext cx="327025" cy="239713"/>
        </p:xfrm>
        <a:graphic>
          <a:graphicData uri="http://schemas.openxmlformats.org/presentationml/2006/ole">
            <mc:AlternateContent xmlns:mc="http://schemas.openxmlformats.org/markup-compatibility/2006">
              <mc:Choice xmlns:v="urn:schemas-microsoft-com:vml" Requires="v">
                <p:oleObj name="Equation" r:id="rId8" imgW="241091" imgH="177646" progId="Equation.DSMT4">
                  <p:embed/>
                </p:oleObj>
              </mc:Choice>
              <mc:Fallback>
                <p:oleObj name="Equation" r:id="rId8" imgW="241091" imgH="177646" progId="Equation.DSMT4">
                  <p:embed/>
                  <p:pic>
                    <p:nvPicPr>
                      <p:cNvPr id="0" name="Object 34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95600" y="4572000"/>
                        <a:ext cx="327025" cy="239713"/>
                      </a:xfrm>
                      <a:prstGeom prst="rect">
                        <a:avLst/>
                      </a:prstGeom>
                      <a:solidFill>
                        <a:schemeClr val="bg1"/>
                      </a:solidFill>
                      <a:ln>
                        <a:noFill/>
                      </a:ln>
                      <a:effectLst/>
                      <a:extLs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99"/>
          <p:cNvSpPr txBox="1">
            <a:spLocks noChangeArrowheads="1"/>
          </p:cNvSpPr>
          <p:nvPr/>
        </p:nvSpPr>
        <p:spPr bwMode="auto">
          <a:xfrm>
            <a:off x="219075" y="315913"/>
            <a:ext cx="562205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Diagramas de frecuencias // variables cualitativas</a:t>
            </a:r>
            <a:endParaRPr lang="es-ES" altLang="es-ES" sz="1800" b="1" dirty="0"/>
          </a:p>
        </p:txBody>
      </p:sp>
      <p:pic>
        <p:nvPicPr>
          <p:cNvPr id="14339" name="Picture 1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1575" y="1143000"/>
            <a:ext cx="245745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0" name="Picture 1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219200"/>
            <a:ext cx="514350"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341" name="Text Box 106"/>
          <p:cNvSpPr txBox="1">
            <a:spLocks noChangeArrowheads="1"/>
          </p:cNvSpPr>
          <p:nvPr/>
        </p:nvSpPr>
        <p:spPr bwMode="auto">
          <a:xfrm>
            <a:off x="1279525" y="5748338"/>
            <a:ext cx="1841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14342" name="Text Box 107"/>
          <p:cNvSpPr txBox="1">
            <a:spLocks noChangeArrowheads="1"/>
          </p:cNvSpPr>
          <p:nvPr/>
        </p:nvSpPr>
        <p:spPr bwMode="auto">
          <a:xfrm>
            <a:off x="1252538" y="4114800"/>
            <a:ext cx="2295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sz="1600" b="1"/>
              <a:t>Diagrama de sectores</a:t>
            </a:r>
          </a:p>
        </p:txBody>
      </p:sp>
      <p:sp>
        <p:nvSpPr>
          <p:cNvPr id="14343" name="Text Box 109"/>
          <p:cNvSpPr txBox="1">
            <a:spLocks noChangeArrowheads="1"/>
          </p:cNvSpPr>
          <p:nvPr/>
        </p:nvSpPr>
        <p:spPr bwMode="auto">
          <a:xfrm>
            <a:off x="2667000" y="838200"/>
            <a:ext cx="39433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sz="1600" b="1" dirty="0"/>
              <a:t>Distribución de los grupos sanguíneos</a:t>
            </a:r>
          </a:p>
          <a:p>
            <a:pPr algn="ctr" eaLnBrk="1" hangingPunct="1"/>
            <a:r>
              <a:rPr lang="es-ES" altLang="es-ES" sz="1600" b="1" dirty="0"/>
              <a:t> (n=500)</a:t>
            </a:r>
          </a:p>
        </p:txBody>
      </p:sp>
      <p:pic>
        <p:nvPicPr>
          <p:cNvPr id="14344" name="Picture 1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1447800"/>
            <a:ext cx="3352800" cy="2687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345" name="Text Box 112"/>
          <p:cNvSpPr txBox="1">
            <a:spLocks noChangeArrowheads="1"/>
          </p:cNvSpPr>
          <p:nvPr/>
        </p:nvSpPr>
        <p:spPr bwMode="auto">
          <a:xfrm>
            <a:off x="6172200" y="4213225"/>
            <a:ext cx="20812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sz="1600" b="1"/>
              <a:t>Diagrama de barras</a:t>
            </a:r>
          </a:p>
        </p:txBody>
      </p:sp>
      <p:grpSp>
        <p:nvGrpSpPr>
          <p:cNvPr id="14346" name="Group 16"/>
          <p:cNvGrpSpPr>
            <a:grpSpLocks/>
          </p:cNvGrpSpPr>
          <p:nvPr/>
        </p:nvGrpSpPr>
        <p:grpSpPr bwMode="auto">
          <a:xfrm>
            <a:off x="5486400" y="4724400"/>
            <a:ext cx="3276600" cy="1524000"/>
            <a:chOff x="3216" y="2976"/>
            <a:chExt cx="2256" cy="960"/>
          </a:xfrm>
        </p:grpSpPr>
        <p:sp>
          <p:nvSpPr>
            <p:cNvPr id="14353" name="Text Box 104"/>
            <p:cNvSpPr txBox="1">
              <a:spLocks noChangeArrowheads="1"/>
            </p:cNvSpPr>
            <p:nvPr/>
          </p:nvSpPr>
          <p:spPr bwMode="auto">
            <a:xfrm>
              <a:off x="3384" y="3042"/>
              <a:ext cx="1920" cy="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 altLang="es-ES" sz="1400" b="1"/>
                <a:t>Principio básico: </a:t>
              </a:r>
              <a:r>
                <a:rPr lang="es-ES" altLang="es-ES" sz="1400"/>
                <a:t>para cada categoría de la variable, el área del objeto gráfico debe ser proporcional (o igual) a la frecuencia de dicha categoría.</a:t>
              </a:r>
              <a:r>
                <a:rPr lang="es-ES" altLang="es-ES" sz="1400" b="1"/>
                <a:t> </a:t>
              </a:r>
            </a:p>
          </p:txBody>
        </p:sp>
        <p:sp>
          <p:nvSpPr>
            <p:cNvPr id="14354" name="AutoShape 122"/>
            <p:cNvSpPr>
              <a:spLocks noChangeArrowheads="1"/>
            </p:cNvSpPr>
            <p:nvPr/>
          </p:nvSpPr>
          <p:spPr bwMode="auto">
            <a:xfrm>
              <a:off x="3216" y="2976"/>
              <a:ext cx="2256" cy="960"/>
            </a:xfrm>
            <a:prstGeom prst="roundRect">
              <a:avLst>
                <a:gd name="adj" fmla="val 16667"/>
              </a:avLst>
            </a:prstGeom>
            <a:noFill/>
            <a:ln w="6350">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grpSp>
        <p:nvGrpSpPr>
          <p:cNvPr id="14347" name="Group 18"/>
          <p:cNvGrpSpPr>
            <a:grpSpLocks/>
          </p:cNvGrpSpPr>
          <p:nvPr/>
        </p:nvGrpSpPr>
        <p:grpSpPr bwMode="auto">
          <a:xfrm>
            <a:off x="152400" y="4648200"/>
            <a:ext cx="4495800" cy="1981200"/>
            <a:chOff x="192" y="2928"/>
            <a:chExt cx="2832" cy="1248"/>
          </a:xfrm>
        </p:grpSpPr>
        <p:pic>
          <p:nvPicPr>
            <p:cNvPr id="14349" name="Picture 10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80" y="3124"/>
              <a:ext cx="1344" cy="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50" name="Picture 10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 y="2928"/>
              <a:ext cx="1278" cy="1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351" name="Text Box 108"/>
            <p:cNvSpPr txBox="1">
              <a:spLocks noChangeArrowheads="1"/>
            </p:cNvSpPr>
            <p:nvPr/>
          </p:nvSpPr>
          <p:spPr bwMode="auto">
            <a:xfrm>
              <a:off x="1824" y="3888"/>
              <a:ext cx="117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a:t>¡menos adecuado!</a:t>
              </a:r>
            </a:p>
            <a:p>
              <a:pPr algn="ctr" eaLnBrk="1" hangingPunct="1"/>
              <a:r>
                <a:rPr lang="es-ES_tradnl" altLang="es-ES"/>
                <a:t>(falsa </a:t>
              </a:r>
              <a:r>
                <a:rPr lang="es-ES" altLang="es-ES"/>
                <a:t>tridimensionalidad)</a:t>
              </a:r>
            </a:p>
          </p:txBody>
        </p:sp>
        <p:sp>
          <p:nvSpPr>
            <p:cNvPr id="14352" name="Text Box 108"/>
            <p:cNvSpPr txBox="1">
              <a:spLocks noChangeArrowheads="1"/>
            </p:cNvSpPr>
            <p:nvPr/>
          </p:nvSpPr>
          <p:spPr bwMode="auto">
            <a:xfrm>
              <a:off x="288" y="4003"/>
              <a:ext cx="112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a:t>Desgajado de un sector</a:t>
              </a:r>
            </a:p>
          </p:txBody>
        </p:sp>
      </p:grpSp>
      <p:graphicFrame>
        <p:nvGraphicFramePr>
          <p:cNvPr id="14348" name="Object 340"/>
          <p:cNvGraphicFramePr>
            <a:graphicFrameLocks noChangeAspect="1"/>
          </p:cNvGraphicFramePr>
          <p:nvPr/>
        </p:nvGraphicFramePr>
        <p:xfrm>
          <a:off x="1547813" y="3657600"/>
          <a:ext cx="1703387" cy="531813"/>
        </p:xfrm>
        <a:graphic>
          <a:graphicData uri="http://schemas.openxmlformats.org/presentationml/2006/ole">
            <mc:AlternateContent xmlns:mc="http://schemas.openxmlformats.org/markup-compatibility/2006">
              <mc:Choice xmlns:v="urn:schemas-microsoft-com:vml" Requires="v">
                <p:oleObj name="Equation" r:id="rId7" imgW="1256755" imgH="393529" progId="Equation.DSMT4">
                  <p:embed/>
                </p:oleObj>
              </mc:Choice>
              <mc:Fallback>
                <p:oleObj name="Equation" r:id="rId7" imgW="1256755" imgH="393529" progId="Equation.DSMT4">
                  <p:embed/>
                  <p:pic>
                    <p:nvPicPr>
                      <p:cNvPr id="0" name="Object 34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7813" y="3657600"/>
                        <a:ext cx="1703387" cy="531813"/>
                      </a:xfrm>
                      <a:prstGeom prst="rect">
                        <a:avLst/>
                      </a:prstGeom>
                      <a:solidFill>
                        <a:schemeClr val="bg1"/>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99"/>
          <p:cNvSpPr txBox="1">
            <a:spLocks noChangeArrowheads="1"/>
          </p:cNvSpPr>
          <p:nvPr/>
        </p:nvSpPr>
        <p:spPr bwMode="auto">
          <a:xfrm>
            <a:off x="231775" y="315913"/>
            <a:ext cx="66607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Diagramas de frecuencias // variables ordinales y discretas</a:t>
            </a:r>
            <a:endParaRPr lang="es-ES" altLang="es-ES" sz="1800" b="1" dirty="0"/>
          </a:p>
        </p:txBody>
      </p:sp>
      <p:pic>
        <p:nvPicPr>
          <p:cNvPr id="15363" name="Picture 1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752600"/>
            <a:ext cx="3910013" cy="313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4" name="Picture 1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1752600"/>
            <a:ext cx="3962400" cy="317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365" name="Text Box 104"/>
          <p:cNvSpPr txBox="1">
            <a:spLocks noChangeArrowheads="1"/>
          </p:cNvSpPr>
          <p:nvPr/>
        </p:nvSpPr>
        <p:spPr bwMode="auto">
          <a:xfrm>
            <a:off x="1500188" y="5105400"/>
            <a:ext cx="20812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sz="1600" b="1"/>
              <a:t>Diagrama de barras</a:t>
            </a:r>
          </a:p>
        </p:txBody>
      </p:sp>
      <p:sp>
        <p:nvSpPr>
          <p:cNvPr id="15366" name="Text Box 105"/>
          <p:cNvSpPr txBox="1">
            <a:spLocks noChangeArrowheads="1"/>
          </p:cNvSpPr>
          <p:nvPr/>
        </p:nvSpPr>
        <p:spPr bwMode="auto">
          <a:xfrm>
            <a:off x="5562600" y="5181600"/>
            <a:ext cx="25320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sz="1600" b="1"/>
              <a:t>Polígono de frecuencias</a:t>
            </a:r>
          </a:p>
        </p:txBody>
      </p:sp>
      <p:sp>
        <p:nvSpPr>
          <p:cNvPr id="7" name="Text Box 103">
            <a:extLst>
              <a:ext uri="{FF2B5EF4-FFF2-40B4-BE49-F238E27FC236}">
                <a16:creationId xmlns:a16="http://schemas.microsoft.com/office/drawing/2014/main" id="{588BFFD4-6B97-42F9-B91E-8E1F172C1513}"/>
              </a:ext>
            </a:extLst>
          </p:cNvPr>
          <p:cNvSpPr txBox="1">
            <a:spLocks noChangeArrowheads="1"/>
          </p:cNvSpPr>
          <p:nvPr/>
        </p:nvSpPr>
        <p:spPr bwMode="auto">
          <a:xfrm>
            <a:off x="762000" y="1366063"/>
            <a:ext cx="352901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b="1" dirty="0"/>
              <a:t>Distribución de la edad (n=124)</a:t>
            </a:r>
          </a:p>
        </p:txBody>
      </p:sp>
      <p:sp>
        <p:nvSpPr>
          <p:cNvPr id="8" name="Text Box 103">
            <a:extLst>
              <a:ext uri="{FF2B5EF4-FFF2-40B4-BE49-F238E27FC236}">
                <a16:creationId xmlns:a16="http://schemas.microsoft.com/office/drawing/2014/main" id="{95E725EC-9F4F-419D-B1BE-607EF87804C6}"/>
              </a:ext>
            </a:extLst>
          </p:cNvPr>
          <p:cNvSpPr txBox="1">
            <a:spLocks noChangeArrowheads="1"/>
          </p:cNvSpPr>
          <p:nvPr/>
        </p:nvSpPr>
        <p:spPr bwMode="auto">
          <a:xfrm>
            <a:off x="5093493" y="1360100"/>
            <a:ext cx="352901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b="1" dirty="0"/>
              <a:t>Distribución de la edad (n=124)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99"/>
          <p:cNvSpPr txBox="1">
            <a:spLocks noChangeArrowheads="1"/>
          </p:cNvSpPr>
          <p:nvPr/>
        </p:nvSpPr>
        <p:spPr bwMode="auto">
          <a:xfrm>
            <a:off x="244475" y="315913"/>
            <a:ext cx="8392041" cy="369332"/>
          </a:xfrm>
          <a:prstGeom prst="rect">
            <a:avLst/>
          </a:prstGeom>
          <a:solidFill>
            <a:schemeClr val="bg1"/>
          </a:solidFill>
          <a:ln>
            <a:noFill/>
          </a:ln>
          <a:effec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D. frecuencias // variables agrupadas en intervalos (discretas o continuas)</a:t>
            </a:r>
            <a:endParaRPr lang="es-ES" altLang="es-ES" sz="1800" b="1" dirty="0"/>
          </a:p>
        </p:txBody>
      </p:sp>
      <p:pic>
        <p:nvPicPr>
          <p:cNvPr id="16387" name="Picture 1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465263"/>
            <a:ext cx="3810000" cy="305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388" name="Text Box 103"/>
          <p:cNvSpPr txBox="1">
            <a:spLocks noChangeArrowheads="1"/>
          </p:cNvSpPr>
          <p:nvPr/>
        </p:nvSpPr>
        <p:spPr bwMode="auto">
          <a:xfrm>
            <a:off x="3863975" y="4648200"/>
            <a:ext cx="14144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sz="1600" b="1" dirty="0"/>
              <a:t>Histogramas</a:t>
            </a:r>
          </a:p>
        </p:txBody>
      </p:sp>
      <p:grpSp>
        <p:nvGrpSpPr>
          <p:cNvPr id="16389" name="Group 106"/>
          <p:cNvGrpSpPr>
            <a:grpSpLocks/>
          </p:cNvGrpSpPr>
          <p:nvPr/>
        </p:nvGrpSpPr>
        <p:grpSpPr bwMode="auto">
          <a:xfrm>
            <a:off x="4724400" y="1447800"/>
            <a:ext cx="3886200" cy="3113088"/>
            <a:chOff x="2976" y="912"/>
            <a:chExt cx="2448" cy="1961"/>
          </a:xfrm>
        </p:grpSpPr>
        <p:pic>
          <p:nvPicPr>
            <p:cNvPr id="16392" name="Picture 1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6" y="912"/>
              <a:ext cx="2448" cy="1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93" name="Picture 10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92" y="2588"/>
              <a:ext cx="2112" cy="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6390" name="Text Box 9"/>
          <p:cNvSpPr txBox="1">
            <a:spLocks noChangeArrowheads="1"/>
          </p:cNvSpPr>
          <p:nvPr/>
        </p:nvSpPr>
        <p:spPr bwMode="auto">
          <a:xfrm>
            <a:off x="838200" y="5105400"/>
            <a:ext cx="7481888"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400" dirty="0"/>
              <a:t>Las dos representaciones corresponden a los mismos datos. Pocos intervalos y muy anchos (</a:t>
            </a:r>
            <a:r>
              <a:rPr lang="es-ES_tradnl" altLang="es-ES" sz="1400" dirty="0" err="1"/>
              <a:t>dcha</a:t>
            </a:r>
            <a:r>
              <a:rPr lang="es-ES_tradnl" altLang="es-ES" sz="1400" dirty="0"/>
              <a:t>) pueden enmascarar la distribución real de la variable </a:t>
            </a:r>
            <a:endParaRPr lang="es-ES" altLang="es-ES" sz="1400" dirty="0"/>
          </a:p>
        </p:txBody>
      </p:sp>
      <p:sp>
        <p:nvSpPr>
          <p:cNvPr id="16391" name="AutoShape 122"/>
          <p:cNvSpPr>
            <a:spLocks noChangeArrowheads="1"/>
          </p:cNvSpPr>
          <p:nvPr/>
        </p:nvSpPr>
        <p:spPr bwMode="auto">
          <a:xfrm>
            <a:off x="609600" y="5067300"/>
            <a:ext cx="7924800" cy="685800"/>
          </a:xfrm>
          <a:prstGeom prst="roundRect">
            <a:avLst>
              <a:gd name="adj" fmla="val 16667"/>
            </a:avLst>
          </a:prstGeom>
          <a:noFill/>
          <a:ln w="6350">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10" name="Text Box 103">
            <a:extLst>
              <a:ext uri="{FF2B5EF4-FFF2-40B4-BE49-F238E27FC236}">
                <a16:creationId xmlns:a16="http://schemas.microsoft.com/office/drawing/2014/main" id="{39E5A240-AE25-4FC0-9097-CA71B184432E}"/>
              </a:ext>
            </a:extLst>
          </p:cNvPr>
          <p:cNvSpPr txBox="1">
            <a:spLocks noChangeArrowheads="1"/>
          </p:cNvSpPr>
          <p:nvPr/>
        </p:nvSpPr>
        <p:spPr bwMode="auto">
          <a:xfrm>
            <a:off x="1118752" y="1103715"/>
            <a:ext cx="33217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b="1" dirty="0"/>
              <a:t>Distribución del nivel de colesterol (n=500)</a:t>
            </a:r>
          </a:p>
        </p:txBody>
      </p:sp>
      <p:sp>
        <p:nvSpPr>
          <p:cNvPr id="11" name="Text Box 103">
            <a:extLst>
              <a:ext uri="{FF2B5EF4-FFF2-40B4-BE49-F238E27FC236}">
                <a16:creationId xmlns:a16="http://schemas.microsoft.com/office/drawing/2014/main" id="{5DA347A2-9B60-498F-A634-3FB6BE770DD7}"/>
              </a:ext>
            </a:extLst>
          </p:cNvPr>
          <p:cNvSpPr txBox="1">
            <a:spLocks noChangeArrowheads="1"/>
          </p:cNvSpPr>
          <p:nvPr/>
        </p:nvSpPr>
        <p:spPr bwMode="auto">
          <a:xfrm>
            <a:off x="5181600" y="1103715"/>
            <a:ext cx="33217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b="1" dirty="0"/>
              <a:t>Distribución del nivel de colesterol (n=500)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99"/>
          <p:cNvSpPr txBox="1">
            <a:spLocks noChangeArrowheads="1"/>
          </p:cNvSpPr>
          <p:nvPr/>
        </p:nvSpPr>
        <p:spPr bwMode="auto">
          <a:xfrm>
            <a:off x="257175" y="328613"/>
            <a:ext cx="54681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Diagramas de frecuencias // muestras pequeñas</a:t>
            </a:r>
            <a:endParaRPr lang="es-ES" altLang="es-ES" sz="1800" b="1" dirty="0"/>
          </a:p>
        </p:txBody>
      </p:sp>
      <p:sp>
        <p:nvSpPr>
          <p:cNvPr id="17411" name="Text Box 8"/>
          <p:cNvSpPr txBox="1">
            <a:spLocks noChangeArrowheads="1"/>
          </p:cNvSpPr>
          <p:nvPr/>
        </p:nvSpPr>
        <p:spPr bwMode="auto">
          <a:xfrm>
            <a:off x="830263" y="5257800"/>
            <a:ext cx="7481887"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400" dirty="0"/>
              <a:t>Cuando hay pocos datos, los histogramas (</a:t>
            </a:r>
            <a:r>
              <a:rPr lang="es-ES_tradnl" altLang="es-ES" sz="1400" dirty="0" err="1"/>
              <a:t>izda</a:t>
            </a:r>
            <a:r>
              <a:rPr lang="es-ES_tradnl" altLang="es-ES" sz="1400" dirty="0"/>
              <a:t>) carecen de sentido. En su lugar es mejor hacer un </a:t>
            </a:r>
            <a:r>
              <a:rPr lang="es-ES_tradnl" altLang="es-ES" sz="1400" b="1" dirty="0"/>
              <a:t>diagrama de puntos</a:t>
            </a:r>
            <a:r>
              <a:rPr lang="es-ES_tradnl" altLang="es-ES" sz="1400" dirty="0"/>
              <a:t> (</a:t>
            </a:r>
            <a:r>
              <a:rPr lang="es-ES_tradnl" altLang="es-ES" sz="1400" dirty="0" err="1"/>
              <a:t>dcha</a:t>
            </a:r>
            <a:r>
              <a:rPr lang="es-ES_tradnl" altLang="es-ES" sz="1400" dirty="0"/>
              <a:t>). Tales </a:t>
            </a:r>
            <a:r>
              <a:rPr lang="es-ES_tradnl" altLang="es-ES" sz="1400" dirty="0" err="1"/>
              <a:t>diagr</a:t>
            </a:r>
            <a:r>
              <a:rPr lang="es-ES" altLang="es-ES" sz="1400" dirty="0"/>
              <a:t>amas tienen mayor interés si se usan con fines comparativos.</a:t>
            </a:r>
          </a:p>
        </p:txBody>
      </p:sp>
      <p:pic>
        <p:nvPicPr>
          <p:cNvPr id="17412"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538" y="1600200"/>
            <a:ext cx="3446462" cy="283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3"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9675" y="1600200"/>
            <a:ext cx="3429000" cy="284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14" name="Rectangle 13"/>
          <p:cNvSpPr>
            <a:spLocks noChangeArrowheads="1"/>
          </p:cNvSpPr>
          <p:nvPr/>
        </p:nvSpPr>
        <p:spPr bwMode="auto">
          <a:xfrm>
            <a:off x="1143000" y="6294438"/>
            <a:ext cx="1524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17415" name="Text Box 103"/>
          <p:cNvSpPr txBox="1">
            <a:spLocks noChangeArrowheads="1"/>
          </p:cNvSpPr>
          <p:nvPr/>
        </p:nvSpPr>
        <p:spPr bwMode="auto">
          <a:xfrm>
            <a:off x="2406650" y="4648200"/>
            <a:ext cx="4327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sz="1600" b="1" dirty="0"/>
              <a:t>Muestras pequeñas de variables continuas</a:t>
            </a:r>
          </a:p>
        </p:txBody>
      </p:sp>
      <p:sp>
        <p:nvSpPr>
          <p:cNvPr id="17416" name="AutoShape 122"/>
          <p:cNvSpPr>
            <a:spLocks noChangeArrowheads="1"/>
          </p:cNvSpPr>
          <p:nvPr/>
        </p:nvSpPr>
        <p:spPr bwMode="auto">
          <a:xfrm>
            <a:off x="762000" y="5181600"/>
            <a:ext cx="7620000" cy="762000"/>
          </a:xfrm>
          <a:prstGeom prst="roundRect">
            <a:avLst>
              <a:gd name="adj" fmla="val 16667"/>
            </a:avLst>
          </a:prstGeom>
          <a:noFill/>
          <a:ln w="6350">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9" name="Text Box 103">
            <a:extLst>
              <a:ext uri="{FF2B5EF4-FFF2-40B4-BE49-F238E27FC236}">
                <a16:creationId xmlns:a16="http://schemas.microsoft.com/office/drawing/2014/main" id="{3F69EAF9-7E46-496B-83A3-1F6C8416FE8B}"/>
              </a:ext>
            </a:extLst>
          </p:cNvPr>
          <p:cNvSpPr txBox="1">
            <a:spLocks noChangeArrowheads="1"/>
          </p:cNvSpPr>
          <p:nvPr/>
        </p:nvSpPr>
        <p:spPr bwMode="auto">
          <a:xfrm>
            <a:off x="1131964" y="1090226"/>
            <a:ext cx="307007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sz="1100" b="1" dirty="0"/>
              <a:t>Distribución del nivel de colesterol (mg/</a:t>
            </a:r>
            <a:r>
              <a:rPr lang="es-ES" altLang="es-ES" sz="1100" b="1" dirty="0" err="1"/>
              <a:t>dL</a:t>
            </a:r>
            <a:r>
              <a:rPr lang="es-ES" altLang="es-ES" sz="1100" b="1" dirty="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99">
            <a:extLst>
              <a:ext uri="{FF2B5EF4-FFF2-40B4-BE49-F238E27FC236}">
                <a16:creationId xmlns:a16="http://schemas.microsoft.com/office/drawing/2014/main" id="{0DF52065-91C0-4099-9AC2-622E05DBB248}"/>
              </a:ext>
            </a:extLst>
          </p:cNvPr>
          <p:cNvSpPr txBox="1">
            <a:spLocks noChangeArrowheads="1"/>
          </p:cNvSpPr>
          <p:nvPr/>
        </p:nvSpPr>
        <p:spPr bwMode="auto">
          <a:xfrm>
            <a:off x="257175" y="328613"/>
            <a:ext cx="31085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Diagramas de frecuencias </a:t>
            </a:r>
            <a:endParaRPr lang="es-ES" altLang="es-ES" sz="1800" b="1" dirty="0"/>
          </a:p>
        </p:txBody>
      </p:sp>
      <p:grpSp>
        <p:nvGrpSpPr>
          <p:cNvPr id="39944" name="Grupo 39943">
            <a:extLst>
              <a:ext uri="{FF2B5EF4-FFF2-40B4-BE49-F238E27FC236}">
                <a16:creationId xmlns:a16="http://schemas.microsoft.com/office/drawing/2014/main" id="{C9769EEC-EED9-4497-97E8-CF082DFA1AF5}"/>
              </a:ext>
            </a:extLst>
          </p:cNvPr>
          <p:cNvGrpSpPr/>
          <p:nvPr/>
        </p:nvGrpSpPr>
        <p:grpSpPr>
          <a:xfrm>
            <a:off x="914400" y="1874118"/>
            <a:ext cx="3073398" cy="2697882"/>
            <a:chOff x="1193802" y="1074018"/>
            <a:chExt cx="3073398" cy="2697882"/>
          </a:xfrm>
        </p:grpSpPr>
        <p:pic>
          <p:nvPicPr>
            <p:cNvPr id="43" name="Picture 2">
              <a:extLst>
                <a:ext uri="{FF2B5EF4-FFF2-40B4-BE49-F238E27FC236}">
                  <a16:creationId xmlns:a16="http://schemas.microsoft.com/office/drawing/2014/main" id="{CCAA8D10-BF95-4379-B0FB-4652EF7C059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1958648" y="2853620"/>
              <a:ext cx="369332" cy="171829"/>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a:extLst>
                <a:ext uri="{FF2B5EF4-FFF2-40B4-BE49-F238E27FC236}">
                  <a16:creationId xmlns:a16="http://schemas.microsoft.com/office/drawing/2014/main" id="{05DE5EF6-1FF2-4F7D-B8FC-55A0BE1F972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2057174" y="2853620"/>
              <a:ext cx="369332" cy="171829"/>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a:extLst>
                <a:ext uri="{FF2B5EF4-FFF2-40B4-BE49-F238E27FC236}">
                  <a16:creationId xmlns:a16="http://schemas.microsoft.com/office/drawing/2014/main" id="{1D1C829D-BE03-49B3-8B6C-0D1BB585D22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2155700" y="2853620"/>
              <a:ext cx="369332" cy="171829"/>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a:extLst>
                <a:ext uri="{FF2B5EF4-FFF2-40B4-BE49-F238E27FC236}">
                  <a16:creationId xmlns:a16="http://schemas.microsoft.com/office/drawing/2014/main" id="{C0BFC9B3-3730-4FA0-AABE-D61E33CA634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2254226" y="2853620"/>
              <a:ext cx="369332" cy="171829"/>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a:extLst>
                <a:ext uri="{FF2B5EF4-FFF2-40B4-BE49-F238E27FC236}">
                  <a16:creationId xmlns:a16="http://schemas.microsoft.com/office/drawing/2014/main" id="{7CEFAB9F-1A1D-42BE-AF63-9BC3A5BBE1E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2352752" y="2853620"/>
              <a:ext cx="369332" cy="171829"/>
            </a:xfrm>
            <a:prstGeom prst="rect">
              <a:avLst/>
            </a:prstGeom>
            <a:noFill/>
            <a:extLst>
              <a:ext uri="{909E8E84-426E-40DD-AFC4-6F175D3DCCD1}">
                <a14:hiddenFill xmlns:a14="http://schemas.microsoft.com/office/drawing/2010/main">
                  <a:solidFill>
                    <a:srgbClr val="FFFFFF"/>
                  </a:solidFill>
                </a14:hiddenFill>
              </a:ext>
            </a:extLst>
          </p:spPr>
        </p:pic>
        <p:grpSp>
          <p:nvGrpSpPr>
            <p:cNvPr id="49" name="Grupo 48">
              <a:extLst>
                <a:ext uri="{FF2B5EF4-FFF2-40B4-BE49-F238E27FC236}">
                  <a16:creationId xmlns:a16="http://schemas.microsoft.com/office/drawing/2014/main" id="{C16D0B68-A97A-45F2-9DBD-010719E12538}"/>
                </a:ext>
              </a:extLst>
            </p:cNvPr>
            <p:cNvGrpSpPr/>
            <p:nvPr/>
          </p:nvGrpSpPr>
          <p:grpSpPr>
            <a:xfrm>
              <a:off x="3430054" y="2196434"/>
              <a:ext cx="467407" cy="369332"/>
              <a:chOff x="711937" y="1600199"/>
              <a:chExt cx="557420" cy="457141"/>
            </a:xfrm>
          </p:grpSpPr>
          <p:pic>
            <p:nvPicPr>
              <p:cNvPr id="50" name="Picture 2">
                <a:extLst>
                  <a:ext uri="{FF2B5EF4-FFF2-40B4-BE49-F238E27FC236}">
                    <a16:creationId xmlns:a16="http://schemas.microsoft.com/office/drawing/2014/main" id="{AA5E4447-200D-4A2E-B584-4A208385CC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5858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
                <a:extLst>
                  <a:ext uri="{FF2B5EF4-FFF2-40B4-BE49-F238E27FC236}">
                    <a16:creationId xmlns:a16="http://schemas.microsoft.com/office/drawing/2014/main" id="{C44379A8-C53C-44B2-A99B-FDABFF4C745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7033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
                <a:extLst>
                  <a:ext uri="{FF2B5EF4-FFF2-40B4-BE49-F238E27FC236}">
                    <a16:creationId xmlns:a16="http://schemas.microsoft.com/office/drawing/2014/main" id="{4512221A-B2D6-4023-8F88-FD3D6E34DFC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8208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a:extLst>
                  <a:ext uri="{FF2B5EF4-FFF2-40B4-BE49-F238E27FC236}">
                    <a16:creationId xmlns:a16="http://schemas.microsoft.com/office/drawing/2014/main" id="{45BDE592-FBFB-4C88-BFE3-B311A559F1A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9383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6" name="Grupo 55">
              <a:extLst>
                <a:ext uri="{FF2B5EF4-FFF2-40B4-BE49-F238E27FC236}">
                  <a16:creationId xmlns:a16="http://schemas.microsoft.com/office/drawing/2014/main" id="{C6715993-D2EF-4BCC-A3BD-891DCB4A9579}"/>
                </a:ext>
              </a:extLst>
            </p:cNvPr>
            <p:cNvGrpSpPr/>
            <p:nvPr/>
          </p:nvGrpSpPr>
          <p:grpSpPr>
            <a:xfrm>
              <a:off x="2732993" y="2196434"/>
              <a:ext cx="664457" cy="369332"/>
              <a:chOff x="711937" y="1600199"/>
              <a:chExt cx="792418" cy="457141"/>
            </a:xfrm>
          </p:grpSpPr>
          <p:pic>
            <p:nvPicPr>
              <p:cNvPr id="57" name="Picture 2">
                <a:extLst>
                  <a:ext uri="{FF2B5EF4-FFF2-40B4-BE49-F238E27FC236}">
                    <a16:creationId xmlns:a16="http://schemas.microsoft.com/office/drawing/2014/main" id="{1529DBA1-F561-4CEE-B151-C3227AD1DC2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5858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2">
                <a:extLst>
                  <a:ext uri="{FF2B5EF4-FFF2-40B4-BE49-F238E27FC236}">
                    <a16:creationId xmlns:a16="http://schemas.microsoft.com/office/drawing/2014/main" id="{0FB02441-C875-46F8-B937-EE02752A2F5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7033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2">
                <a:extLst>
                  <a:ext uri="{FF2B5EF4-FFF2-40B4-BE49-F238E27FC236}">
                    <a16:creationId xmlns:a16="http://schemas.microsoft.com/office/drawing/2014/main" id="{6BE151A0-5296-4CF5-B748-41FF1FFF2CD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8208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2">
                <a:extLst>
                  <a:ext uri="{FF2B5EF4-FFF2-40B4-BE49-F238E27FC236}">
                    <a16:creationId xmlns:a16="http://schemas.microsoft.com/office/drawing/2014/main" id="{A5E4060D-9B86-4433-ADFD-A4F8F15EE50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9383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
                <a:extLst>
                  <a:ext uri="{FF2B5EF4-FFF2-40B4-BE49-F238E27FC236}">
                    <a16:creationId xmlns:a16="http://schemas.microsoft.com/office/drawing/2014/main" id="{D30CA74B-22A0-40DE-B6F7-489B62A3F6E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10558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
                <a:extLst>
                  <a:ext uri="{FF2B5EF4-FFF2-40B4-BE49-F238E27FC236}">
                    <a16:creationId xmlns:a16="http://schemas.microsoft.com/office/drawing/2014/main" id="{B32F25D9-896D-4D15-9718-F790B129B15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1173324" y="1726310"/>
                <a:ext cx="457141" cy="20492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3" name="Grupo 62">
              <a:extLst>
                <a:ext uri="{FF2B5EF4-FFF2-40B4-BE49-F238E27FC236}">
                  <a16:creationId xmlns:a16="http://schemas.microsoft.com/office/drawing/2014/main" id="{DD870149-176F-4BF8-8453-E14E5D2D5CF1}"/>
                </a:ext>
              </a:extLst>
            </p:cNvPr>
            <p:cNvGrpSpPr/>
            <p:nvPr/>
          </p:nvGrpSpPr>
          <p:grpSpPr>
            <a:xfrm>
              <a:off x="2057400" y="2196434"/>
              <a:ext cx="664457" cy="369332"/>
              <a:chOff x="711937" y="1600199"/>
              <a:chExt cx="792418" cy="457141"/>
            </a:xfrm>
          </p:grpSpPr>
          <p:pic>
            <p:nvPicPr>
              <p:cNvPr id="64" name="Picture 2">
                <a:extLst>
                  <a:ext uri="{FF2B5EF4-FFF2-40B4-BE49-F238E27FC236}">
                    <a16:creationId xmlns:a16="http://schemas.microsoft.com/office/drawing/2014/main" id="{79C235D8-9990-4A98-930C-644852F1AD8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5858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
                <a:extLst>
                  <a:ext uri="{FF2B5EF4-FFF2-40B4-BE49-F238E27FC236}">
                    <a16:creationId xmlns:a16="http://schemas.microsoft.com/office/drawing/2014/main" id="{0806F18E-DF07-430C-A562-A1B8960CC9C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7033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
                <a:extLst>
                  <a:ext uri="{FF2B5EF4-FFF2-40B4-BE49-F238E27FC236}">
                    <a16:creationId xmlns:a16="http://schemas.microsoft.com/office/drawing/2014/main" id="{1DB30A24-7CD2-46B7-AF77-84FC5F0F1B0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8208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2">
                <a:extLst>
                  <a:ext uri="{FF2B5EF4-FFF2-40B4-BE49-F238E27FC236}">
                    <a16:creationId xmlns:a16="http://schemas.microsoft.com/office/drawing/2014/main" id="{952DB0E5-6F35-4780-ABF2-EC249BA7393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9383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2">
                <a:extLst>
                  <a:ext uri="{FF2B5EF4-FFF2-40B4-BE49-F238E27FC236}">
                    <a16:creationId xmlns:a16="http://schemas.microsoft.com/office/drawing/2014/main" id="{D8D31057-83D8-48C8-B182-8C47FA9D424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10558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2">
                <a:extLst>
                  <a:ext uri="{FF2B5EF4-FFF2-40B4-BE49-F238E27FC236}">
                    <a16:creationId xmlns:a16="http://schemas.microsoft.com/office/drawing/2014/main" id="{E4E7FC6D-B56C-4A01-B4E0-3E675D12E3D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1173324" y="1726310"/>
                <a:ext cx="457141" cy="20492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3" name="Grupo 22">
              <a:extLst>
                <a:ext uri="{FF2B5EF4-FFF2-40B4-BE49-F238E27FC236}">
                  <a16:creationId xmlns:a16="http://schemas.microsoft.com/office/drawing/2014/main" id="{6795AC0D-310D-4D81-95F8-A56D75A38DA4}"/>
                </a:ext>
              </a:extLst>
            </p:cNvPr>
            <p:cNvGrpSpPr/>
            <p:nvPr/>
          </p:nvGrpSpPr>
          <p:grpSpPr>
            <a:xfrm>
              <a:off x="2057400" y="1676401"/>
              <a:ext cx="664457" cy="369332"/>
              <a:chOff x="711937" y="1600199"/>
              <a:chExt cx="792418" cy="457141"/>
            </a:xfrm>
          </p:grpSpPr>
          <p:pic>
            <p:nvPicPr>
              <p:cNvPr id="39938" name="Picture 2">
                <a:extLst>
                  <a:ext uri="{FF2B5EF4-FFF2-40B4-BE49-F238E27FC236}">
                    <a16:creationId xmlns:a16="http://schemas.microsoft.com/office/drawing/2014/main" id="{9F3D2D4A-CE11-41D9-B0D2-4246FFE0D81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5858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a:extLst>
                  <a:ext uri="{FF2B5EF4-FFF2-40B4-BE49-F238E27FC236}">
                    <a16:creationId xmlns:a16="http://schemas.microsoft.com/office/drawing/2014/main" id="{10A365C6-D7AB-481B-BED9-7CAEB93DC46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7033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a:extLst>
                  <a:ext uri="{FF2B5EF4-FFF2-40B4-BE49-F238E27FC236}">
                    <a16:creationId xmlns:a16="http://schemas.microsoft.com/office/drawing/2014/main" id="{AABC1D1B-B009-490D-8C3B-2C734CD3CB9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8208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a:extLst>
                  <a:ext uri="{FF2B5EF4-FFF2-40B4-BE49-F238E27FC236}">
                    <a16:creationId xmlns:a16="http://schemas.microsoft.com/office/drawing/2014/main" id="{80BB5D5D-C8CB-4EF2-BAA1-0876B950F4C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9383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a:extLst>
                  <a:ext uri="{FF2B5EF4-FFF2-40B4-BE49-F238E27FC236}">
                    <a16:creationId xmlns:a16="http://schemas.microsoft.com/office/drawing/2014/main" id="{8FBE2577-2D6D-486E-A979-40BF43C45EE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10558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5A99AF08-43FF-4971-8D72-45A94A92FF3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1173324" y="1726310"/>
                <a:ext cx="457141" cy="20492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0" name="Grupo 69">
              <a:extLst>
                <a:ext uri="{FF2B5EF4-FFF2-40B4-BE49-F238E27FC236}">
                  <a16:creationId xmlns:a16="http://schemas.microsoft.com/office/drawing/2014/main" id="{B917469D-02BF-44C3-B435-CDE935F8200A}"/>
                </a:ext>
              </a:extLst>
            </p:cNvPr>
            <p:cNvGrpSpPr/>
            <p:nvPr/>
          </p:nvGrpSpPr>
          <p:grpSpPr>
            <a:xfrm>
              <a:off x="2732993" y="1676401"/>
              <a:ext cx="368881" cy="369332"/>
              <a:chOff x="711937" y="1600199"/>
              <a:chExt cx="439920" cy="457141"/>
            </a:xfrm>
          </p:grpSpPr>
          <p:pic>
            <p:nvPicPr>
              <p:cNvPr id="71" name="Picture 2">
                <a:extLst>
                  <a:ext uri="{FF2B5EF4-FFF2-40B4-BE49-F238E27FC236}">
                    <a16:creationId xmlns:a16="http://schemas.microsoft.com/office/drawing/2014/main" id="{E8B446E3-1DE8-4744-B4C0-3C6E7ED037A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5858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2">
                <a:extLst>
                  <a:ext uri="{FF2B5EF4-FFF2-40B4-BE49-F238E27FC236}">
                    <a16:creationId xmlns:a16="http://schemas.microsoft.com/office/drawing/2014/main" id="{CD460E8A-32AE-4D7E-A166-3D85F97C44F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7033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2">
                <a:extLst>
                  <a:ext uri="{FF2B5EF4-FFF2-40B4-BE49-F238E27FC236}">
                    <a16:creationId xmlns:a16="http://schemas.microsoft.com/office/drawing/2014/main" id="{B742176C-A21C-4C0A-9B6C-6E016C42ABA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8208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1" name="Grupo 80">
              <a:extLst>
                <a:ext uri="{FF2B5EF4-FFF2-40B4-BE49-F238E27FC236}">
                  <a16:creationId xmlns:a16="http://schemas.microsoft.com/office/drawing/2014/main" id="{6CF528BC-9478-4DDF-869D-9B8BC1F3B33B}"/>
                </a:ext>
              </a:extLst>
            </p:cNvPr>
            <p:cNvGrpSpPr/>
            <p:nvPr/>
          </p:nvGrpSpPr>
          <p:grpSpPr>
            <a:xfrm>
              <a:off x="2732993" y="3236504"/>
              <a:ext cx="467407" cy="369332"/>
              <a:chOff x="711937" y="1600199"/>
              <a:chExt cx="557420" cy="457141"/>
            </a:xfrm>
          </p:grpSpPr>
          <p:pic>
            <p:nvPicPr>
              <p:cNvPr id="82" name="Picture 2">
                <a:extLst>
                  <a:ext uri="{FF2B5EF4-FFF2-40B4-BE49-F238E27FC236}">
                    <a16:creationId xmlns:a16="http://schemas.microsoft.com/office/drawing/2014/main" id="{437E6651-4E02-474D-825F-623A8D9ADA5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5858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2">
                <a:extLst>
                  <a:ext uri="{FF2B5EF4-FFF2-40B4-BE49-F238E27FC236}">
                    <a16:creationId xmlns:a16="http://schemas.microsoft.com/office/drawing/2014/main" id="{404D0970-3F93-4FF0-A254-B3C1B6EDD3C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7033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2">
                <a:extLst>
                  <a:ext uri="{FF2B5EF4-FFF2-40B4-BE49-F238E27FC236}">
                    <a16:creationId xmlns:a16="http://schemas.microsoft.com/office/drawing/2014/main" id="{87A356A2-6782-43F1-A4CC-D0A07E9071D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8208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2">
                <a:extLst>
                  <a:ext uri="{FF2B5EF4-FFF2-40B4-BE49-F238E27FC236}">
                    <a16:creationId xmlns:a16="http://schemas.microsoft.com/office/drawing/2014/main" id="{629FA262-EBAD-43A7-86CD-24D25D4FB5A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9383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8" name="Grupo 87">
              <a:extLst>
                <a:ext uri="{FF2B5EF4-FFF2-40B4-BE49-F238E27FC236}">
                  <a16:creationId xmlns:a16="http://schemas.microsoft.com/office/drawing/2014/main" id="{DAA1F7CD-C543-40AC-8E2B-053A8187A36E}"/>
                </a:ext>
              </a:extLst>
            </p:cNvPr>
            <p:cNvGrpSpPr/>
            <p:nvPr/>
          </p:nvGrpSpPr>
          <p:grpSpPr>
            <a:xfrm>
              <a:off x="2057400" y="3236504"/>
              <a:ext cx="664457" cy="369332"/>
              <a:chOff x="711937" y="1600199"/>
              <a:chExt cx="792418" cy="457141"/>
            </a:xfrm>
          </p:grpSpPr>
          <p:pic>
            <p:nvPicPr>
              <p:cNvPr id="89" name="Picture 2">
                <a:extLst>
                  <a:ext uri="{FF2B5EF4-FFF2-40B4-BE49-F238E27FC236}">
                    <a16:creationId xmlns:a16="http://schemas.microsoft.com/office/drawing/2014/main" id="{5ACE2A1B-5FCE-41AA-BB78-3E0394766EF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5858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
                <a:extLst>
                  <a:ext uri="{FF2B5EF4-FFF2-40B4-BE49-F238E27FC236}">
                    <a16:creationId xmlns:a16="http://schemas.microsoft.com/office/drawing/2014/main" id="{CF396451-90DC-4F12-96DC-B5B1FD3FC95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7033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
                <a:extLst>
                  <a:ext uri="{FF2B5EF4-FFF2-40B4-BE49-F238E27FC236}">
                    <a16:creationId xmlns:a16="http://schemas.microsoft.com/office/drawing/2014/main" id="{1EBFBC0A-DF2A-48B7-A29E-914641DF97F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8208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
                <a:extLst>
                  <a:ext uri="{FF2B5EF4-FFF2-40B4-BE49-F238E27FC236}">
                    <a16:creationId xmlns:a16="http://schemas.microsoft.com/office/drawing/2014/main" id="{A9F520C2-2487-40AB-91DD-9F1999F1655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9383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2">
                <a:extLst>
                  <a:ext uri="{FF2B5EF4-FFF2-40B4-BE49-F238E27FC236}">
                    <a16:creationId xmlns:a16="http://schemas.microsoft.com/office/drawing/2014/main" id="{8CF2354C-F835-4DE0-B6C2-4CCB619CA4C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1055826" y="1726310"/>
                <a:ext cx="457141" cy="204920"/>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2">
                <a:extLst>
                  <a:ext uri="{FF2B5EF4-FFF2-40B4-BE49-F238E27FC236}">
                    <a16:creationId xmlns:a16="http://schemas.microsoft.com/office/drawing/2014/main" id="{882539E6-2249-49AD-BD9D-32864659FB8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1173324" y="1726310"/>
                <a:ext cx="457141" cy="204920"/>
              </a:xfrm>
              <a:prstGeom prst="rect">
                <a:avLst/>
              </a:prstGeom>
              <a:noFill/>
              <a:extLst>
                <a:ext uri="{909E8E84-426E-40DD-AFC4-6F175D3DCCD1}">
                  <a14:hiddenFill xmlns:a14="http://schemas.microsoft.com/office/drawing/2010/main">
                    <a:solidFill>
                      <a:srgbClr val="FFFFFF"/>
                    </a:solidFill>
                  </a14:hiddenFill>
                </a:ext>
              </a:extLst>
            </p:spPr>
          </p:pic>
        </p:grpSp>
        <p:sp>
          <p:nvSpPr>
            <p:cNvPr id="39940" name="CuadroTexto 39939">
              <a:extLst>
                <a:ext uri="{FF2B5EF4-FFF2-40B4-BE49-F238E27FC236}">
                  <a16:creationId xmlns:a16="http://schemas.microsoft.com/office/drawing/2014/main" id="{AA9BF212-2419-414E-97DE-9EC2A3550C29}"/>
                </a:ext>
              </a:extLst>
            </p:cNvPr>
            <p:cNvSpPr txBox="1"/>
            <p:nvPr/>
          </p:nvSpPr>
          <p:spPr>
            <a:xfrm>
              <a:off x="1193802" y="1074018"/>
              <a:ext cx="3073398" cy="430887"/>
            </a:xfrm>
            <a:prstGeom prst="rect">
              <a:avLst/>
            </a:prstGeom>
            <a:noFill/>
          </p:spPr>
          <p:txBody>
            <a:bodyPr wrap="square" rtlCol="0">
              <a:spAutoFit/>
            </a:bodyPr>
            <a:lstStyle/>
            <a:p>
              <a:r>
                <a:rPr lang="es-ES" sz="1100" b="1" dirty="0"/>
                <a:t>Consumo de medicamentos en los cuatro distritos de una ciudad</a:t>
              </a:r>
            </a:p>
          </p:txBody>
        </p:sp>
        <p:sp>
          <p:nvSpPr>
            <p:cNvPr id="99" name="CuadroTexto 98">
              <a:extLst>
                <a:ext uri="{FF2B5EF4-FFF2-40B4-BE49-F238E27FC236}">
                  <a16:creationId xmlns:a16="http://schemas.microsoft.com/office/drawing/2014/main" id="{85C3BC9C-8149-4F25-876F-E6F84634B8E3}"/>
                </a:ext>
              </a:extLst>
            </p:cNvPr>
            <p:cNvSpPr txBox="1"/>
            <p:nvPr/>
          </p:nvSpPr>
          <p:spPr>
            <a:xfrm rot="16200000">
              <a:off x="1023862" y="2544023"/>
              <a:ext cx="723275" cy="276999"/>
            </a:xfrm>
            <a:prstGeom prst="rect">
              <a:avLst/>
            </a:prstGeom>
            <a:noFill/>
          </p:spPr>
          <p:txBody>
            <a:bodyPr wrap="none" rtlCol="0">
              <a:spAutoFit/>
            </a:bodyPr>
            <a:lstStyle/>
            <a:p>
              <a:r>
                <a:rPr lang="es-ES" b="1" dirty="0">
                  <a:solidFill>
                    <a:schemeClr val="accent5">
                      <a:lumMod val="25000"/>
                    </a:schemeClr>
                  </a:solidFill>
                </a:rPr>
                <a:t>Distrito</a:t>
              </a:r>
            </a:p>
          </p:txBody>
        </p:sp>
        <p:sp>
          <p:nvSpPr>
            <p:cNvPr id="100" name="CuadroTexto 99">
              <a:extLst>
                <a:ext uri="{FF2B5EF4-FFF2-40B4-BE49-F238E27FC236}">
                  <a16:creationId xmlns:a16="http://schemas.microsoft.com/office/drawing/2014/main" id="{9B5C3E17-E39B-4011-9C42-72B03D0EE4E2}"/>
                </a:ext>
              </a:extLst>
            </p:cNvPr>
            <p:cNvSpPr txBox="1"/>
            <p:nvPr/>
          </p:nvSpPr>
          <p:spPr>
            <a:xfrm>
              <a:off x="1658280" y="1722568"/>
              <a:ext cx="295274" cy="276999"/>
            </a:xfrm>
            <a:prstGeom prst="rect">
              <a:avLst/>
            </a:prstGeom>
            <a:noFill/>
          </p:spPr>
          <p:txBody>
            <a:bodyPr wrap="none" rtlCol="0">
              <a:spAutoFit/>
            </a:bodyPr>
            <a:lstStyle/>
            <a:p>
              <a:r>
                <a:rPr lang="es-ES" b="1" dirty="0">
                  <a:solidFill>
                    <a:schemeClr val="accent5">
                      <a:lumMod val="25000"/>
                    </a:schemeClr>
                  </a:solidFill>
                </a:rPr>
                <a:t>A</a:t>
              </a:r>
            </a:p>
          </p:txBody>
        </p:sp>
        <p:sp>
          <p:nvSpPr>
            <p:cNvPr id="101" name="CuadroTexto 100">
              <a:extLst>
                <a:ext uri="{FF2B5EF4-FFF2-40B4-BE49-F238E27FC236}">
                  <a16:creationId xmlns:a16="http://schemas.microsoft.com/office/drawing/2014/main" id="{3C9C8DA2-FFFB-4B38-9C7F-F52A02470E1C}"/>
                </a:ext>
              </a:extLst>
            </p:cNvPr>
            <p:cNvSpPr txBox="1"/>
            <p:nvPr/>
          </p:nvSpPr>
          <p:spPr>
            <a:xfrm>
              <a:off x="1658280" y="2242601"/>
              <a:ext cx="206080" cy="276999"/>
            </a:xfrm>
            <a:prstGeom prst="rect">
              <a:avLst/>
            </a:prstGeom>
            <a:noFill/>
          </p:spPr>
          <p:txBody>
            <a:bodyPr wrap="square" rtlCol="0">
              <a:spAutoFit/>
            </a:bodyPr>
            <a:lstStyle/>
            <a:p>
              <a:r>
                <a:rPr lang="es-ES" b="1" dirty="0">
                  <a:solidFill>
                    <a:schemeClr val="accent5">
                      <a:lumMod val="25000"/>
                    </a:schemeClr>
                  </a:solidFill>
                </a:rPr>
                <a:t>B</a:t>
              </a:r>
            </a:p>
          </p:txBody>
        </p:sp>
        <p:sp>
          <p:nvSpPr>
            <p:cNvPr id="102" name="CuadroTexto 101">
              <a:extLst>
                <a:ext uri="{FF2B5EF4-FFF2-40B4-BE49-F238E27FC236}">
                  <a16:creationId xmlns:a16="http://schemas.microsoft.com/office/drawing/2014/main" id="{CF8128E1-4C0D-4F85-ACE0-FC7F74BB10F6}"/>
                </a:ext>
              </a:extLst>
            </p:cNvPr>
            <p:cNvSpPr txBox="1"/>
            <p:nvPr/>
          </p:nvSpPr>
          <p:spPr>
            <a:xfrm>
              <a:off x="1658280" y="2801035"/>
              <a:ext cx="206080" cy="276999"/>
            </a:xfrm>
            <a:prstGeom prst="rect">
              <a:avLst/>
            </a:prstGeom>
            <a:noFill/>
          </p:spPr>
          <p:txBody>
            <a:bodyPr wrap="square" rtlCol="0">
              <a:spAutoFit/>
            </a:bodyPr>
            <a:lstStyle/>
            <a:p>
              <a:r>
                <a:rPr lang="es-ES" b="1" dirty="0">
                  <a:solidFill>
                    <a:schemeClr val="accent5">
                      <a:lumMod val="25000"/>
                    </a:schemeClr>
                  </a:solidFill>
                </a:rPr>
                <a:t>C</a:t>
              </a:r>
            </a:p>
          </p:txBody>
        </p:sp>
        <p:sp>
          <p:nvSpPr>
            <p:cNvPr id="103" name="CuadroTexto 102">
              <a:extLst>
                <a:ext uri="{FF2B5EF4-FFF2-40B4-BE49-F238E27FC236}">
                  <a16:creationId xmlns:a16="http://schemas.microsoft.com/office/drawing/2014/main" id="{67FB6056-23B9-4E2C-83B0-EA65042DC34D}"/>
                </a:ext>
              </a:extLst>
            </p:cNvPr>
            <p:cNvSpPr txBox="1"/>
            <p:nvPr/>
          </p:nvSpPr>
          <p:spPr>
            <a:xfrm>
              <a:off x="1658280" y="3282671"/>
              <a:ext cx="206080" cy="276999"/>
            </a:xfrm>
            <a:prstGeom prst="rect">
              <a:avLst/>
            </a:prstGeom>
            <a:noFill/>
          </p:spPr>
          <p:txBody>
            <a:bodyPr wrap="square" rtlCol="0">
              <a:spAutoFit/>
            </a:bodyPr>
            <a:lstStyle/>
            <a:p>
              <a:r>
                <a:rPr lang="es-ES" b="1" dirty="0">
                  <a:solidFill>
                    <a:schemeClr val="accent5">
                      <a:lumMod val="25000"/>
                    </a:schemeClr>
                  </a:solidFill>
                </a:rPr>
                <a:t>D</a:t>
              </a:r>
            </a:p>
          </p:txBody>
        </p:sp>
        <p:cxnSp>
          <p:nvCxnSpPr>
            <p:cNvPr id="39942" name="Conector recto 39941">
              <a:extLst>
                <a:ext uri="{FF2B5EF4-FFF2-40B4-BE49-F238E27FC236}">
                  <a16:creationId xmlns:a16="http://schemas.microsoft.com/office/drawing/2014/main" id="{0B02C1CB-589E-456C-8B7C-6801B02DA6FB}"/>
                </a:ext>
              </a:extLst>
            </p:cNvPr>
            <p:cNvCxnSpPr>
              <a:cxnSpLocks/>
            </p:cNvCxnSpPr>
            <p:nvPr/>
          </p:nvCxnSpPr>
          <p:spPr>
            <a:xfrm>
              <a:off x="1252206" y="1535683"/>
              <a:ext cx="3006825" cy="0"/>
            </a:xfrm>
            <a:prstGeom prst="line">
              <a:avLst/>
            </a:prstGeom>
            <a:ln>
              <a:gradFill flip="none" rotWithShape="1">
                <a:gsLst>
                  <a:gs pos="27000">
                    <a:schemeClr val="accent1">
                      <a:lumMod val="67000"/>
                    </a:schemeClr>
                  </a:gs>
                  <a:gs pos="80000">
                    <a:schemeClr val="accent1">
                      <a:lumMod val="97000"/>
                      <a:lumOff val="3000"/>
                    </a:schemeClr>
                  </a:gs>
                  <a:gs pos="100000">
                    <a:schemeClr val="accent1">
                      <a:lumMod val="60000"/>
                      <a:lumOff val="4000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07" name="Conector recto 106">
              <a:extLst>
                <a:ext uri="{FF2B5EF4-FFF2-40B4-BE49-F238E27FC236}">
                  <a16:creationId xmlns:a16="http://schemas.microsoft.com/office/drawing/2014/main" id="{EA0B7771-8C26-4CB8-808A-98F3D725E73C}"/>
                </a:ext>
              </a:extLst>
            </p:cNvPr>
            <p:cNvCxnSpPr>
              <a:cxnSpLocks/>
            </p:cNvCxnSpPr>
            <p:nvPr/>
          </p:nvCxnSpPr>
          <p:spPr>
            <a:xfrm>
              <a:off x="1252206" y="3771900"/>
              <a:ext cx="3006825" cy="0"/>
            </a:xfrm>
            <a:prstGeom prst="line">
              <a:avLst/>
            </a:prstGeom>
            <a:ln>
              <a:gradFill flip="none" rotWithShape="1">
                <a:gsLst>
                  <a:gs pos="27000">
                    <a:schemeClr val="accent1">
                      <a:lumMod val="67000"/>
                    </a:schemeClr>
                  </a:gs>
                  <a:gs pos="80000">
                    <a:schemeClr val="accent1">
                      <a:lumMod val="97000"/>
                      <a:lumOff val="3000"/>
                    </a:schemeClr>
                  </a:gs>
                  <a:gs pos="100000">
                    <a:schemeClr val="accent1">
                      <a:lumMod val="60000"/>
                      <a:lumOff val="4000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39945" name="CuadroTexto 39944">
            <a:extLst>
              <a:ext uri="{FF2B5EF4-FFF2-40B4-BE49-F238E27FC236}">
                <a16:creationId xmlns:a16="http://schemas.microsoft.com/office/drawing/2014/main" id="{9B82CF2F-93C9-4AA7-9FC5-86DDBCE01698}"/>
              </a:ext>
            </a:extLst>
          </p:cNvPr>
          <p:cNvSpPr txBox="1"/>
          <p:nvPr/>
        </p:nvSpPr>
        <p:spPr>
          <a:xfrm>
            <a:off x="1337960" y="1388686"/>
            <a:ext cx="2274982" cy="292388"/>
          </a:xfrm>
          <a:prstGeom prst="rect">
            <a:avLst/>
          </a:prstGeom>
          <a:noFill/>
        </p:spPr>
        <p:txBody>
          <a:bodyPr wrap="none" rtlCol="0">
            <a:spAutoFit/>
          </a:bodyPr>
          <a:lstStyle/>
          <a:p>
            <a:r>
              <a:rPr lang="es-ES" sz="1300" b="1" dirty="0"/>
              <a:t>Pictogramas de repetición</a:t>
            </a:r>
          </a:p>
        </p:txBody>
      </p:sp>
      <p:pic>
        <p:nvPicPr>
          <p:cNvPr id="39946" name="Imagen 39945">
            <a:extLst>
              <a:ext uri="{FF2B5EF4-FFF2-40B4-BE49-F238E27FC236}">
                <a16:creationId xmlns:a16="http://schemas.microsoft.com/office/drawing/2014/main" id="{FFE9B7A1-F039-4B96-87C7-31E39B3FD6EF}"/>
              </a:ext>
            </a:extLst>
          </p:cNvPr>
          <p:cNvPicPr>
            <a:picLocks noChangeAspect="1"/>
          </p:cNvPicPr>
          <p:nvPr/>
        </p:nvPicPr>
        <p:blipFill>
          <a:blip r:embed="rId3"/>
          <a:stretch>
            <a:fillRect/>
          </a:stretch>
        </p:blipFill>
        <p:spPr>
          <a:xfrm>
            <a:off x="4495800" y="2687677"/>
            <a:ext cx="4190999" cy="1122323"/>
          </a:xfrm>
          <a:prstGeom prst="rect">
            <a:avLst/>
          </a:prstGeom>
        </p:spPr>
      </p:pic>
      <p:sp>
        <p:nvSpPr>
          <p:cNvPr id="111" name="CuadroTexto 110">
            <a:extLst>
              <a:ext uri="{FF2B5EF4-FFF2-40B4-BE49-F238E27FC236}">
                <a16:creationId xmlns:a16="http://schemas.microsoft.com/office/drawing/2014/main" id="{A9BD13AC-C787-4D81-A4C5-B297EEB20CFB}"/>
              </a:ext>
            </a:extLst>
          </p:cNvPr>
          <p:cNvSpPr txBox="1"/>
          <p:nvPr/>
        </p:nvSpPr>
        <p:spPr>
          <a:xfrm>
            <a:off x="5447675" y="1388686"/>
            <a:ext cx="2544286" cy="292388"/>
          </a:xfrm>
          <a:prstGeom prst="rect">
            <a:avLst/>
          </a:prstGeom>
          <a:noFill/>
        </p:spPr>
        <p:txBody>
          <a:bodyPr wrap="none" rtlCol="0">
            <a:spAutoFit/>
          </a:bodyPr>
          <a:lstStyle/>
          <a:p>
            <a:r>
              <a:rPr lang="es-ES" sz="1300" b="1" dirty="0"/>
              <a:t>Pictogramas de amplificación</a:t>
            </a:r>
          </a:p>
        </p:txBody>
      </p:sp>
      <p:sp>
        <p:nvSpPr>
          <p:cNvPr id="112" name="CuadroTexto 111">
            <a:extLst>
              <a:ext uri="{FF2B5EF4-FFF2-40B4-BE49-F238E27FC236}">
                <a16:creationId xmlns:a16="http://schemas.microsoft.com/office/drawing/2014/main" id="{02AF2D7F-E8E6-4F94-AEBF-6C05D9DBA142}"/>
              </a:ext>
            </a:extLst>
          </p:cNvPr>
          <p:cNvSpPr txBox="1"/>
          <p:nvPr/>
        </p:nvSpPr>
        <p:spPr>
          <a:xfrm>
            <a:off x="5029200" y="1878417"/>
            <a:ext cx="3352800" cy="430887"/>
          </a:xfrm>
          <a:prstGeom prst="rect">
            <a:avLst/>
          </a:prstGeom>
          <a:noFill/>
        </p:spPr>
        <p:txBody>
          <a:bodyPr wrap="square" rtlCol="0">
            <a:spAutoFit/>
          </a:bodyPr>
          <a:lstStyle/>
          <a:p>
            <a:pPr algn="ctr"/>
            <a:r>
              <a:rPr lang="es-ES" sz="1100" b="1" dirty="0"/>
              <a:t>Enfermedades más comunes en España</a:t>
            </a:r>
          </a:p>
          <a:p>
            <a:pPr algn="ctr"/>
            <a:r>
              <a:rPr lang="es-ES" sz="1050" dirty="0"/>
              <a:t>(los datos son ficticios)</a:t>
            </a:r>
          </a:p>
        </p:txBody>
      </p:sp>
      <p:cxnSp>
        <p:nvCxnSpPr>
          <p:cNvPr id="113" name="Conector recto 112">
            <a:extLst>
              <a:ext uri="{FF2B5EF4-FFF2-40B4-BE49-F238E27FC236}">
                <a16:creationId xmlns:a16="http://schemas.microsoft.com/office/drawing/2014/main" id="{C4F31212-FC41-4092-B449-FE4E466E24EA}"/>
              </a:ext>
            </a:extLst>
          </p:cNvPr>
          <p:cNvCxnSpPr>
            <a:cxnSpLocks/>
          </p:cNvCxnSpPr>
          <p:nvPr/>
        </p:nvCxnSpPr>
        <p:spPr>
          <a:xfrm>
            <a:off x="4481978" y="2335783"/>
            <a:ext cx="4447244" cy="0"/>
          </a:xfrm>
          <a:prstGeom prst="line">
            <a:avLst/>
          </a:prstGeom>
          <a:ln>
            <a:gradFill flip="none" rotWithShape="1">
              <a:gsLst>
                <a:gs pos="27000">
                  <a:schemeClr val="accent1">
                    <a:lumMod val="67000"/>
                  </a:schemeClr>
                </a:gs>
                <a:gs pos="80000">
                  <a:schemeClr val="accent1">
                    <a:lumMod val="97000"/>
                    <a:lumOff val="3000"/>
                  </a:schemeClr>
                </a:gs>
                <a:gs pos="100000">
                  <a:schemeClr val="accent1">
                    <a:lumMod val="60000"/>
                    <a:lumOff val="4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21" name="CuadroTexto 120">
            <a:extLst>
              <a:ext uri="{FF2B5EF4-FFF2-40B4-BE49-F238E27FC236}">
                <a16:creationId xmlns:a16="http://schemas.microsoft.com/office/drawing/2014/main" id="{090F773D-5FD7-4137-B5A8-F8E120E0B6F1}"/>
              </a:ext>
            </a:extLst>
          </p:cNvPr>
          <p:cNvSpPr txBox="1"/>
          <p:nvPr/>
        </p:nvSpPr>
        <p:spPr>
          <a:xfrm>
            <a:off x="4419600" y="4217313"/>
            <a:ext cx="4343399" cy="430887"/>
          </a:xfrm>
          <a:prstGeom prst="rect">
            <a:avLst/>
          </a:prstGeom>
          <a:noFill/>
        </p:spPr>
        <p:txBody>
          <a:bodyPr wrap="square" rtlCol="0">
            <a:spAutoFit/>
          </a:bodyPr>
          <a:lstStyle/>
          <a:p>
            <a:r>
              <a:rPr lang="es-ES" sz="1100" dirty="0"/>
              <a:t>La </a:t>
            </a:r>
            <a:r>
              <a:rPr lang="es-ES" sz="1100" b="1" i="1" dirty="0"/>
              <a:t>nube de palabras </a:t>
            </a:r>
            <a:r>
              <a:rPr lang="es-ES" sz="1100" dirty="0"/>
              <a:t>es un tipo de pictograma de amplificación muy utilizado en el ámbito de internet</a:t>
            </a:r>
          </a:p>
        </p:txBody>
      </p:sp>
      <p:sp>
        <p:nvSpPr>
          <p:cNvPr id="39952" name="CuadroTexto 39951">
            <a:extLst>
              <a:ext uri="{FF2B5EF4-FFF2-40B4-BE49-F238E27FC236}">
                <a16:creationId xmlns:a16="http://schemas.microsoft.com/office/drawing/2014/main" id="{7268AC3F-6727-4B19-B101-B270B199C263}"/>
              </a:ext>
            </a:extLst>
          </p:cNvPr>
          <p:cNvSpPr txBox="1"/>
          <p:nvPr/>
        </p:nvSpPr>
        <p:spPr>
          <a:xfrm>
            <a:off x="381003" y="5105400"/>
            <a:ext cx="8219934" cy="1015663"/>
          </a:xfrm>
          <a:prstGeom prst="rect">
            <a:avLst/>
          </a:prstGeom>
          <a:noFill/>
        </p:spPr>
        <p:txBody>
          <a:bodyPr wrap="square" rtlCol="0">
            <a:spAutoFit/>
          </a:bodyPr>
          <a:lstStyle/>
          <a:p>
            <a:pPr>
              <a:spcAft>
                <a:spcPts val="600"/>
              </a:spcAft>
            </a:pPr>
            <a:r>
              <a:rPr lang="es-ES" sz="1400" b="1" dirty="0"/>
              <a:t>Principios básicos de los diagramas de frecuencias</a:t>
            </a:r>
            <a:r>
              <a:rPr lang="es-ES" sz="1400" dirty="0"/>
              <a:t>:</a:t>
            </a:r>
          </a:p>
          <a:p>
            <a:pPr marL="171450" indent="-171450">
              <a:spcBef>
                <a:spcPts val="0"/>
              </a:spcBef>
              <a:spcAft>
                <a:spcPts val="600"/>
              </a:spcAft>
              <a:buFontTx/>
              <a:buChar char="-"/>
            </a:pPr>
            <a:r>
              <a:rPr lang="es-ES" dirty="0"/>
              <a:t>El área del motivo gráfico asignado a cada categoría/valor/intervalo debe ser proporcional a su frecuencia</a:t>
            </a:r>
          </a:p>
          <a:p>
            <a:pPr marL="171450" indent="-171450">
              <a:buFontTx/>
              <a:buChar char="-"/>
            </a:pPr>
            <a:r>
              <a:rPr lang="es-ES" dirty="0"/>
              <a:t>Siempre deben tener un encabezado en donde aparezcan </a:t>
            </a:r>
            <a:r>
              <a:rPr lang="es-ES" i="1" dirty="0"/>
              <a:t>datos básicos</a:t>
            </a:r>
            <a:r>
              <a:rPr lang="es-ES" dirty="0"/>
              <a:t> como son el tamaño muestral, las unidades de medida si las hay, el año de referencia,…</a:t>
            </a:r>
          </a:p>
        </p:txBody>
      </p:sp>
      <p:sp>
        <p:nvSpPr>
          <p:cNvPr id="124" name="AutoShape 122">
            <a:extLst>
              <a:ext uri="{FF2B5EF4-FFF2-40B4-BE49-F238E27FC236}">
                <a16:creationId xmlns:a16="http://schemas.microsoft.com/office/drawing/2014/main" id="{DA44A603-3B17-43B1-ACA1-5602A303EFA9}"/>
              </a:ext>
            </a:extLst>
          </p:cNvPr>
          <p:cNvSpPr>
            <a:spLocks noChangeArrowheads="1"/>
          </p:cNvSpPr>
          <p:nvPr/>
        </p:nvSpPr>
        <p:spPr bwMode="auto">
          <a:xfrm>
            <a:off x="238265" y="5085116"/>
            <a:ext cx="8362672" cy="1087084"/>
          </a:xfrm>
          <a:prstGeom prst="roundRect">
            <a:avLst>
              <a:gd name="adj" fmla="val 16667"/>
            </a:avLst>
          </a:prstGeom>
          <a:noFill/>
          <a:ln w="6350">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125" name="CuadroTexto 124">
            <a:extLst>
              <a:ext uri="{FF2B5EF4-FFF2-40B4-BE49-F238E27FC236}">
                <a16:creationId xmlns:a16="http://schemas.microsoft.com/office/drawing/2014/main" id="{F5AA724D-4DFF-4650-9FCC-E5FF1EA7838B}"/>
              </a:ext>
            </a:extLst>
          </p:cNvPr>
          <p:cNvSpPr txBox="1"/>
          <p:nvPr/>
        </p:nvSpPr>
        <p:spPr>
          <a:xfrm>
            <a:off x="390528" y="932557"/>
            <a:ext cx="1608133" cy="307777"/>
          </a:xfrm>
          <a:prstGeom prst="rect">
            <a:avLst/>
          </a:prstGeom>
          <a:noFill/>
        </p:spPr>
        <p:txBody>
          <a:bodyPr wrap="none" rtlCol="0">
            <a:spAutoFit/>
          </a:bodyPr>
          <a:lstStyle/>
          <a:p>
            <a:r>
              <a:rPr lang="es-ES" sz="1400" b="1" dirty="0"/>
              <a:t>Otros diagramas</a:t>
            </a:r>
          </a:p>
        </p:txBody>
      </p:sp>
      <p:cxnSp>
        <p:nvCxnSpPr>
          <p:cNvPr id="126" name="Conector recto 125">
            <a:extLst>
              <a:ext uri="{FF2B5EF4-FFF2-40B4-BE49-F238E27FC236}">
                <a16:creationId xmlns:a16="http://schemas.microsoft.com/office/drawing/2014/main" id="{5617C259-D21C-463E-AF8C-BAD6AE5F04B2}"/>
              </a:ext>
            </a:extLst>
          </p:cNvPr>
          <p:cNvCxnSpPr>
            <a:cxnSpLocks/>
          </p:cNvCxnSpPr>
          <p:nvPr/>
        </p:nvCxnSpPr>
        <p:spPr>
          <a:xfrm>
            <a:off x="4481978" y="4057290"/>
            <a:ext cx="4447244" cy="0"/>
          </a:xfrm>
          <a:prstGeom prst="line">
            <a:avLst/>
          </a:prstGeom>
          <a:ln>
            <a:gradFill flip="none" rotWithShape="1">
              <a:gsLst>
                <a:gs pos="27000">
                  <a:schemeClr val="accent1">
                    <a:lumMod val="67000"/>
                  </a:schemeClr>
                </a:gs>
                <a:gs pos="80000">
                  <a:schemeClr val="accent1">
                    <a:lumMod val="97000"/>
                    <a:lumOff val="3000"/>
                  </a:schemeClr>
                </a:gs>
                <a:gs pos="100000">
                  <a:schemeClr val="accent1">
                    <a:lumMod val="60000"/>
                    <a:lumOff val="4000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4611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219200"/>
            <a:ext cx="3576638" cy="2865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442" name="AutoShape 15"/>
          <p:cNvSpPr>
            <a:spLocks noChangeArrowheads="1"/>
          </p:cNvSpPr>
          <p:nvPr/>
        </p:nvSpPr>
        <p:spPr bwMode="auto">
          <a:xfrm rot="13802431">
            <a:off x="1028700" y="2324100"/>
            <a:ext cx="381000" cy="304800"/>
          </a:xfrm>
          <a:prstGeom prst="curvedLeftArrow">
            <a:avLst>
              <a:gd name="adj1" fmla="val 20000"/>
              <a:gd name="adj2" fmla="val 40000"/>
              <a:gd name="adj3" fmla="val 41667"/>
            </a:avLst>
          </a:prstGeom>
          <a:noFill/>
          <a:ln w="9525">
            <a:solidFill>
              <a:srgbClr val="EEB500"/>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18443" name="AutoShape 122"/>
          <p:cNvSpPr>
            <a:spLocks noChangeArrowheads="1"/>
          </p:cNvSpPr>
          <p:nvPr/>
        </p:nvSpPr>
        <p:spPr bwMode="auto">
          <a:xfrm>
            <a:off x="190500" y="2667000"/>
            <a:ext cx="1219200" cy="1143000"/>
          </a:xfrm>
          <a:prstGeom prst="roundRect">
            <a:avLst>
              <a:gd name="adj" fmla="val 16667"/>
            </a:avLst>
          </a:prstGeom>
          <a:solidFill>
            <a:schemeClr val="bg1"/>
          </a:solidFill>
          <a:ln w="6350">
            <a:solidFill>
              <a:srgbClr val="FFC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2" name="CuadroTexto 1"/>
          <p:cNvSpPr txBox="1"/>
          <p:nvPr/>
        </p:nvSpPr>
        <p:spPr>
          <a:xfrm>
            <a:off x="167191" y="2349866"/>
            <a:ext cx="304892" cy="523220"/>
          </a:xfrm>
          <a:prstGeom prst="rect">
            <a:avLst/>
          </a:prstGeom>
          <a:solidFill>
            <a:schemeClr val="bg1"/>
          </a:solidFill>
        </p:spPr>
        <p:txBody>
          <a:bodyPr wrap="none" rtlCol="0">
            <a:spAutoFit/>
          </a:bodyPr>
          <a:lstStyle/>
          <a:p>
            <a:r>
              <a:rPr lang="es-ES" sz="2800" b="1" dirty="0">
                <a:solidFill>
                  <a:srgbClr val="FF9900"/>
                </a:solidFill>
              </a:rPr>
              <a:t>!</a:t>
            </a:r>
            <a:endParaRPr lang="es-ES" b="1" dirty="0">
              <a:solidFill>
                <a:srgbClr val="FF9900"/>
              </a:solidFill>
            </a:endParaRPr>
          </a:p>
        </p:txBody>
      </p:sp>
      <p:pic>
        <p:nvPicPr>
          <p:cNvPr id="1843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1413" y="1295400"/>
            <a:ext cx="3582987" cy="287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436" name="Text Box 3"/>
          <p:cNvSpPr txBox="1">
            <a:spLocks noChangeArrowheads="1"/>
          </p:cNvSpPr>
          <p:nvPr/>
        </p:nvSpPr>
        <p:spPr bwMode="auto">
          <a:xfrm>
            <a:off x="244475" y="315913"/>
            <a:ext cx="577594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Diagramas de frecuencias // Gráficas comparativas</a:t>
            </a:r>
            <a:endParaRPr lang="es-ES" altLang="es-ES" sz="1800" b="1" dirty="0"/>
          </a:p>
        </p:txBody>
      </p:sp>
      <p:pic>
        <p:nvPicPr>
          <p:cNvPr id="1843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4445000"/>
            <a:ext cx="3048000" cy="224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8"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4572000"/>
            <a:ext cx="2819400" cy="207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439" name="Text Box 7"/>
          <p:cNvSpPr txBox="1">
            <a:spLocks noChangeArrowheads="1"/>
          </p:cNvSpPr>
          <p:nvPr/>
        </p:nvSpPr>
        <p:spPr bwMode="auto">
          <a:xfrm>
            <a:off x="304800" y="4089400"/>
            <a:ext cx="16732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sz="1600" b="1"/>
              <a:t>Uso de paneles</a:t>
            </a:r>
          </a:p>
        </p:txBody>
      </p:sp>
      <p:grpSp>
        <p:nvGrpSpPr>
          <p:cNvPr id="18440" name="Group 8"/>
          <p:cNvGrpSpPr>
            <a:grpSpLocks/>
          </p:cNvGrpSpPr>
          <p:nvPr/>
        </p:nvGrpSpPr>
        <p:grpSpPr bwMode="auto">
          <a:xfrm>
            <a:off x="304800" y="806450"/>
            <a:ext cx="7140575" cy="336550"/>
            <a:chOff x="192" y="480"/>
            <a:chExt cx="4498" cy="212"/>
          </a:xfrm>
        </p:grpSpPr>
        <p:sp>
          <p:nvSpPr>
            <p:cNvPr id="18445" name="Text Box 9"/>
            <p:cNvSpPr txBox="1">
              <a:spLocks noChangeArrowheads="1"/>
            </p:cNvSpPr>
            <p:nvPr/>
          </p:nvSpPr>
          <p:spPr bwMode="auto">
            <a:xfrm>
              <a:off x="192" y="480"/>
              <a:ext cx="1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sz="1600" b="1"/>
                <a:t>Barras solapadas</a:t>
              </a:r>
            </a:p>
          </p:txBody>
        </p:sp>
        <p:sp>
          <p:nvSpPr>
            <p:cNvPr id="18446" name="Text Box 10"/>
            <p:cNvSpPr txBox="1">
              <a:spLocks noChangeArrowheads="1"/>
            </p:cNvSpPr>
            <p:nvPr/>
          </p:nvSpPr>
          <p:spPr bwMode="auto">
            <a:xfrm>
              <a:off x="3024" y="480"/>
              <a:ext cx="166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sz="1600" b="1"/>
                <a:t>Polígonos de frecuencias</a:t>
              </a:r>
            </a:p>
          </p:txBody>
        </p:sp>
      </p:grpSp>
      <p:sp>
        <p:nvSpPr>
          <p:cNvPr id="18444" name="Text Box 8"/>
          <p:cNvSpPr txBox="1">
            <a:spLocks noChangeArrowheads="1"/>
          </p:cNvSpPr>
          <p:nvPr/>
        </p:nvSpPr>
        <p:spPr bwMode="auto">
          <a:xfrm>
            <a:off x="152400" y="2771775"/>
            <a:ext cx="1295400" cy="9334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100" dirty="0"/>
              <a:t>Cuidado: En el eje d</a:t>
            </a:r>
            <a:r>
              <a:rPr lang="es-ES" altLang="es-ES" sz="1100" dirty="0"/>
              <a:t>e ordenadas </a:t>
            </a:r>
            <a:r>
              <a:rPr lang="es-ES_tradnl" altLang="es-ES" sz="1100" dirty="0"/>
              <a:t>debe aparecer la frecuencia relativa (%)</a:t>
            </a:r>
            <a:endParaRPr lang="es-ES" altLang="es-E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6350" y="762000"/>
            <a:ext cx="4057650" cy="325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459" name="Text Box 11"/>
          <p:cNvSpPr txBox="1">
            <a:spLocks noChangeArrowheads="1"/>
          </p:cNvSpPr>
          <p:nvPr/>
        </p:nvSpPr>
        <p:spPr bwMode="auto">
          <a:xfrm>
            <a:off x="438150" y="1143000"/>
            <a:ext cx="23526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sz="1600" b="1"/>
              <a:t>Pirámide de población</a:t>
            </a:r>
          </a:p>
        </p:txBody>
      </p:sp>
      <p:grpSp>
        <p:nvGrpSpPr>
          <p:cNvPr id="19461" name="Group 14"/>
          <p:cNvGrpSpPr>
            <a:grpSpLocks/>
          </p:cNvGrpSpPr>
          <p:nvPr/>
        </p:nvGrpSpPr>
        <p:grpSpPr bwMode="auto">
          <a:xfrm>
            <a:off x="304800" y="4419600"/>
            <a:ext cx="8534400" cy="1828800"/>
            <a:chOff x="576" y="3168"/>
            <a:chExt cx="5040" cy="1006"/>
          </a:xfrm>
        </p:grpSpPr>
        <p:pic>
          <p:nvPicPr>
            <p:cNvPr id="19467"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 y="3168"/>
              <a:ext cx="1222" cy="1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8"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2" y="3181"/>
              <a:ext cx="1241" cy="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9"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19" y="3181"/>
              <a:ext cx="1213" cy="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70"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72" y="3184"/>
              <a:ext cx="1244" cy="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19462" name="Picture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00538" y="6324600"/>
            <a:ext cx="542925"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463" name="Text Box 16"/>
          <p:cNvSpPr txBox="1">
            <a:spLocks noChangeArrowheads="1"/>
          </p:cNvSpPr>
          <p:nvPr/>
        </p:nvSpPr>
        <p:spPr bwMode="auto">
          <a:xfrm>
            <a:off x="1066800" y="4144963"/>
            <a:ext cx="699452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b="1"/>
              <a:t>Evolución de la pirámide de población española con pronóstico para el año 2025 (fuente: INE)</a:t>
            </a:r>
            <a:endParaRPr lang="es-ES" altLang="es-ES" b="1"/>
          </a:p>
        </p:txBody>
      </p:sp>
      <p:sp>
        <p:nvSpPr>
          <p:cNvPr id="19464" name="Text Box 8"/>
          <p:cNvSpPr txBox="1">
            <a:spLocks noChangeArrowheads="1"/>
          </p:cNvSpPr>
          <p:nvPr/>
        </p:nvSpPr>
        <p:spPr bwMode="auto">
          <a:xfrm>
            <a:off x="438150" y="1752600"/>
            <a:ext cx="3810000" cy="136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_tradnl" altLang="es-ES" sz="1400"/>
              <a:t>Muy utilizada en </a:t>
            </a:r>
            <a:r>
              <a:rPr lang="es-ES_tradnl" altLang="es-ES" sz="1400" b="1"/>
              <a:t>demografía</a:t>
            </a:r>
            <a:r>
              <a:rPr lang="es-ES_tradnl" altLang="es-ES" sz="1400"/>
              <a:t>. Se trata de un doble histograma en donde se representa la frecuencia </a:t>
            </a:r>
            <a:r>
              <a:rPr lang="es-ES" altLang="es-ES" sz="1400"/>
              <a:t>de individuos en función de grupos de edad y sexo. </a:t>
            </a:r>
            <a:r>
              <a:rPr lang="es-ES_tradnl" altLang="es-ES" sz="1400"/>
              <a:t>No obstante, pueden </a:t>
            </a:r>
            <a:r>
              <a:rPr lang="es-ES" altLang="es-ES" sz="1400"/>
              <a:t>representarse otras variables con fines comparativos (dcha)</a:t>
            </a:r>
          </a:p>
        </p:txBody>
      </p:sp>
      <p:sp>
        <p:nvSpPr>
          <p:cNvPr id="19465" name="AutoShape 122"/>
          <p:cNvSpPr>
            <a:spLocks noChangeArrowheads="1"/>
          </p:cNvSpPr>
          <p:nvPr/>
        </p:nvSpPr>
        <p:spPr bwMode="auto">
          <a:xfrm>
            <a:off x="95250" y="4086225"/>
            <a:ext cx="8915400" cy="2638425"/>
          </a:xfrm>
          <a:prstGeom prst="roundRect">
            <a:avLst>
              <a:gd name="adj" fmla="val 3829"/>
            </a:avLst>
          </a:prstGeom>
          <a:noFill/>
          <a:ln w="6350">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19466" name="AutoShape 122"/>
          <p:cNvSpPr>
            <a:spLocks noChangeArrowheads="1"/>
          </p:cNvSpPr>
          <p:nvPr/>
        </p:nvSpPr>
        <p:spPr bwMode="auto">
          <a:xfrm>
            <a:off x="381000" y="1066800"/>
            <a:ext cx="3962400" cy="2514600"/>
          </a:xfrm>
          <a:prstGeom prst="roundRect">
            <a:avLst>
              <a:gd name="adj" fmla="val 5681"/>
            </a:avLst>
          </a:prstGeom>
          <a:noFill/>
          <a:ln w="6350">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15" name="Text Box 3"/>
          <p:cNvSpPr txBox="1">
            <a:spLocks noChangeArrowheads="1"/>
          </p:cNvSpPr>
          <p:nvPr/>
        </p:nvSpPr>
        <p:spPr bwMode="auto">
          <a:xfrm>
            <a:off x="244475" y="315913"/>
            <a:ext cx="577594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Diagramas de frecuencias // Gráficas comparativas</a:t>
            </a:r>
            <a:endParaRPr lang="es-ES" altLang="es-ES" sz="1800"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5"/>
          <p:cNvSpPr txBox="1">
            <a:spLocks noChangeArrowheads="1"/>
          </p:cNvSpPr>
          <p:nvPr/>
        </p:nvSpPr>
        <p:spPr bwMode="auto">
          <a:xfrm>
            <a:off x="231775" y="315913"/>
            <a:ext cx="596830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a:t>Diagramas de frecuencias // aspectos de las gráficas</a:t>
            </a:r>
            <a:endParaRPr lang="es-ES" altLang="es-ES" sz="1800" b="1"/>
          </a:p>
        </p:txBody>
      </p:sp>
      <p:pic>
        <p:nvPicPr>
          <p:cNvPr id="20483"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34150" y="914400"/>
            <a:ext cx="2286000" cy="183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4"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34150" y="4572000"/>
            <a:ext cx="2286000" cy="1830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5"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34150" y="2743200"/>
            <a:ext cx="2286000" cy="1830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486" name="Text Box 9"/>
          <p:cNvSpPr txBox="1">
            <a:spLocks noChangeArrowheads="1"/>
          </p:cNvSpPr>
          <p:nvPr/>
        </p:nvSpPr>
        <p:spPr bwMode="auto">
          <a:xfrm>
            <a:off x="6699250" y="901700"/>
            <a:ext cx="2133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sz="1000" b="1"/>
              <a:t>Asimetría positiva</a:t>
            </a:r>
          </a:p>
        </p:txBody>
      </p:sp>
      <p:sp>
        <p:nvSpPr>
          <p:cNvPr id="20487" name="Text Box 10"/>
          <p:cNvSpPr txBox="1">
            <a:spLocks noChangeArrowheads="1"/>
          </p:cNvSpPr>
          <p:nvPr/>
        </p:nvSpPr>
        <p:spPr bwMode="auto">
          <a:xfrm>
            <a:off x="6731000" y="2730500"/>
            <a:ext cx="20701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sz="1000" b="1"/>
              <a:t>Asimetría negativa</a:t>
            </a:r>
          </a:p>
        </p:txBody>
      </p:sp>
      <p:sp>
        <p:nvSpPr>
          <p:cNvPr id="20488" name="Text Box 11"/>
          <p:cNvSpPr txBox="1">
            <a:spLocks noChangeArrowheads="1"/>
          </p:cNvSpPr>
          <p:nvPr/>
        </p:nvSpPr>
        <p:spPr bwMode="auto">
          <a:xfrm>
            <a:off x="6737350" y="4559300"/>
            <a:ext cx="20574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sz="1000" b="1"/>
              <a:t>Bimodal</a:t>
            </a:r>
          </a:p>
        </p:txBody>
      </p:sp>
      <p:sp>
        <p:nvSpPr>
          <p:cNvPr id="20489" name="Text Box 12"/>
          <p:cNvSpPr txBox="1">
            <a:spLocks noChangeArrowheads="1"/>
          </p:cNvSpPr>
          <p:nvPr/>
        </p:nvSpPr>
        <p:spPr bwMode="auto">
          <a:xfrm>
            <a:off x="304800" y="990600"/>
            <a:ext cx="2398713"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sz="1600" b="1"/>
              <a:t>En qué hay que fijarse </a:t>
            </a:r>
          </a:p>
          <a:p>
            <a:pPr eaLnBrk="1" hangingPunct="1"/>
            <a:r>
              <a:rPr lang="es-ES" altLang="es-ES" sz="1600" b="1"/>
              <a:t>(histogramas):</a:t>
            </a:r>
          </a:p>
        </p:txBody>
      </p:sp>
      <p:grpSp>
        <p:nvGrpSpPr>
          <p:cNvPr id="20490" name="Group 20"/>
          <p:cNvGrpSpPr>
            <a:grpSpLocks/>
          </p:cNvGrpSpPr>
          <p:nvPr/>
        </p:nvGrpSpPr>
        <p:grpSpPr bwMode="auto">
          <a:xfrm>
            <a:off x="3073400" y="901700"/>
            <a:ext cx="3505200" cy="2808288"/>
            <a:chOff x="1920" y="912"/>
            <a:chExt cx="2208" cy="1769"/>
          </a:xfrm>
        </p:grpSpPr>
        <p:pic>
          <p:nvPicPr>
            <p:cNvPr id="20498"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0" y="912"/>
              <a:ext cx="2208" cy="1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499" name="Text Box 27"/>
            <p:cNvSpPr txBox="1">
              <a:spLocks noChangeArrowheads="1"/>
            </p:cNvSpPr>
            <p:nvPr/>
          </p:nvSpPr>
          <p:spPr bwMode="auto">
            <a:xfrm>
              <a:off x="2112" y="960"/>
              <a:ext cx="192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b="1" dirty="0"/>
                <a:t>Simetría aceptable</a:t>
              </a:r>
            </a:p>
          </p:txBody>
        </p:sp>
      </p:grpSp>
      <p:sp>
        <p:nvSpPr>
          <p:cNvPr id="20491" name="Text Box 30"/>
          <p:cNvSpPr txBox="1">
            <a:spLocks noChangeArrowheads="1"/>
          </p:cNvSpPr>
          <p:nvPr/>
        </p:nvSpPr>
        <p:spPr bwMode="auto">
          <a:xfrm>
            <a:off x="304800" y="1600200"/>
            <a:ext cx="2903538"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14300" indent="-114300"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buFontTx/>
              <a:buChar char="•"/>
            </a:pPr>
            <a:r>
              <a:rPr lang="es-ES" altLang="es-ES" sz="1400" b="1" i="1" dirty="0"/>
              <a:t>Simetría</a:t>
            </a:r>
            <a:r>
              <a:rPr lang="es-ES" altLang="es-ES" sz="1400" dirty="0"/>
              <a:t> de la distribución</a:t>
            </a:r>
          </a:p>
          <a:p>
            <a:pPr eaLnBrk="1" hangingPunct="1">
              <a:lnSpc>
                <a:spcPct val="140000"/>
              </a:lnSpc>
              <a:buFontTx/>
              <a:buChar char="•"/>
            </a:pPr>
            <a:r>
              <a:rPr lang="es-ES_tradnl" altLang="es-ES" sz="1400" dirty="0"/>
              <a:t>Presencia de </a:t>
            </a:r>
            <a:r>
              <a:rPr lang="es-ES_tradnl" altLang="es-ES" sz="1400" b="1" i="1" dirty="0"/>
              <a:t>valores extremos o atípicos</a:t>
            </a:r>
          </a:p>
          <a:p>
            <a:pPr eaLnBrk="1" hangingPunct="1">
              <a:lnSpc>
                <a:spcPct val="130000"/>
              </a:lnSpc>
              <a:buFontTx/>
              <a:buChar char="•"/>
            </a:pPr>
            <a:r>
              <a:rPr lang="es-ES_tradnl" altLang="es-ES" sz="1400" dirty="0"/>
              <a:t>Posible </a:t>
            </a:r>
            <a:r>
              <a:rPr lang="es-ES_tradnl" altLang="es-ES" sz="1400" b="1" i="1" dirty="0"/>
              <a:t>mezcla</a:t>
            </a:r>
            <a:r>
              <a:rPr lang="es-ES_tradnl" altLang="es-ES" sz="1400" dirty="0"/>
              <a:t> de grupos (</a:t>
            </a:r>
            <a:r>
              <a:rPr lang="es-ES_tradnl" altLang="es-ES" sz="1400" i="1" dirty="0" err="1"/>
              <a:t>bimodalidad</a:t>
            </a:r>
            <a:r>
              <a:rPr lang="es-ES_tradnl" altLang="es-ES" sz="1400" dirty="0"/>
              <a:t>)</a:t>
            </a:r>
          </a:p>
          <a:p>
            <a:pPr eaLnBrk="1" hangingPunct="1">
              <a:lnSpc>
                <a:spcPct val="130000"/>
              </a:lnSpc>
              <a:buFontTx/>
              <a:buChar char="•"/>
            </a:pPr>
            <a:r>
              <a:rPr lang="es-ES" altLang="es-ES" sz="1400" b="1" i="1" dirty="0"/>
              <a:t>Equilibrio</a:t>
            </a:r>
            <a:r>
              <a:rPr lang="es-ES" altLang="es-ES" sz="1400" dirty="0"/>
              <a:t> en las gráficas comparativas</a:t>
            </a:r>
          </a:p>
          <a:p>
            <a:pPr eaLnBrk="1" hangingPunct="1">
              <a:buFontTx/>
              <a:buChar char="•"/>
            </a:pPr>
            <a:endParaRPr lang="es-ES" altLang="es-ES" sz="1400" dirty="0"/>
          </a:p>
        </p:txBody>
      </p:sp>
      <p:grpSp>
        <p:nvGrpSpPr>
          <p:cNvPr id="20492" name="Group 21"/>
          <p:cNvGrpSpPr>
            <a:grpSpLocks/>
          </p:cNvGrpSpPr>
          <p:nvPr/>
        </p:nvGrpSpPr>
        <p:grpSpPr bwMode="auto">
          <a:xfrm>
            <a:off x="457200" y="4038600"/>
            <a:ext cx="3581400" cy="2470150"/>
            <a:chOff x="336" y="2448"/>
            <a:chExt cx="2256" cy="1556"/>
          </a:xfrm>
        </p:grpSpPr>
        <p:pic>
          <p:nvPicPr>
            <p:cNvPr id="20495"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6" y="2448"/>
              <a:ext cx="2256" cy="1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496" name="Text Box 18"/>
            <p:cNvSpPr txBox="1">
              <a:spLocks noChangeArrowheads="1"/>
            </p:cNvSpPr>
            <p:nvPr/>
          </p:nvSpPr>
          <p:spPr bwMode="auto">
            <a:xfrm>
              <a:off x="1008" y="2726"/>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000"/>
                <a:t>M</a:t>
              </a:r>
              <a:endParaRPr lang="es-ES" altLang="es-ES" sz="1000"/>
            </a:p>
          </p:txBody>
        </p:sp>
        <p:sp>
          <p:nvSpPr>
            <p:cNvPr id="20497" name="Text Box 19"/>
            <p:cNvSpPr txBox="1">
              <a:spLocks noChangeArrowheads="1"/>
            </p:cNvSpPr>
            <p:nvPr/>
          </p:nvSpPr>
          <p:spPr bwMode="auto">
            <a:xfrm>
              <a:off x="1904" y="2726"/>
              <a:ext cx="165"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000"/>
                <a:t>F</a:t>
              </a:r>
              <a:endParaRPr lang="es-ES" altLang="es-ES" sz="1000"/>
            </a:p>
          </p:txBody>
        </p:sp>
      </p:grpSp>
      <p:sp>
        <p:nvSpPr>
          <p:cNvPr id="20493" name="Text Box 8"/>
          <p:cNvSpPr txBox="1">
            <a:spLocks noChangeArrowheads="1"/>
          </p:cNvSpPr>
          <p:nvPr/>
        </p:nvSpPr>
        <p:spPr bwMode="auto">
          <a:xfrm>
            <a:off x="4000500" y="5433824"/>
            <a:ext cx="2019300"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_tradnl" altLang="es-ES" sz="1100" dirty="0">
                <a:solidFill>
                  <a:schemeClr val="accent1">
                    <a:lumMod val="25000"/>
                  </a:schemeClr>
                </a:solidFill>
              </a:rPr>
              <a:t>Pirámide de población de los Emiratos Árabes en 2005. </a:t>
            </a:r>
          </a:p>
          <a:p>
            <a:pPr eaLnBrk="1" hangingPunct="1"/>
            <a:r>
              <a:rPr lang="es-ES" altLang="es-ES" sz="1000" dirty="0">
                <a:solidFill>
                  <a:schemeClr val="accent1">
                    <a:lumMod val="25000"/>
                  </a:schemeClr>
                </a:solidFill>
              </a:rPr>
              <a:t>(en ese año hubo mucha inmigración procedente, sobre todo, de Pakistán)</a:t>
            </a:r>
          </a:p>
        </p:txBody>
      </p:sp>
      <p:sp>
        <p:nvSpPr>
          <p:cNvPr id="20494" name="AutoShape 122"/>
          <p:cNvSpPr>
            <a:spLocks noChangeArrowheads="1"/>
          </p:cNvSpPr>
          <p:nvPr/>
        </p:nvSpPr>
        <p:spPr bwMode="auto">
          <a:xfrm>
            <a:off x="381000" y="3875544"/>
            <a:ext cx="5638800" cy="2677656"/>
          </a:xfrm>
          <a:prstGeom prst="roundRect">
            <a:avLst>
              <a:gd name="adj" fmla="val 4861"/>
            </a:avLst>
          </a:prstGeom>
          <a:noFill/>
          <a:ln w="6350">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20" name="Text Box 8">
            <a:extLst>
              <a:ext uri="{FF2B5EF4-FFF2-40B4-BE49-F238E27FC236}">
                <a16:creationId xmlns:a16="http://schemas.microsoft.com/office/drawing/2014/main" id="{E032087F-8A11-4CE3-8172-374AE3F54B51}"/>
              </a:ext>
            </a:extLst>
          </p:cNvPr>
          <p:cNvSpPr txBox="1">
            <a:spLocks noChangeArrowheads="1"/>
          </p:cNvSpPr>
          <p:nvPr/>
        </p:nvSpPr>
        <p:spPr bwMode="auto">
          <a:xfrm>
            <a:off x="571500" y="3750915"/>
            <a:ext cx="1676400" cy="261610"/>
          </a:xfrm>
          <a:prstGeom prst="rect">
            <a:avLst/>
          </a:prstGeom>
          <a:solidFill>
            <a:schemeClr val="bg1"/>
          </a:solidFill>
          <a:ln w="9525">
            <a:noFill/>
            <a:miter lim="800000"/>
            <a:headEnd/>
            <a:tailEnd/>
          </a:ln>
          <a:effec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sz="1100" b="1" dirty="0">
                <a:solidFill>
                  <a:schemeClr val="accent1">
                    <a:lumMod val="25000"/>
                  </a:schemeClr>
                </a:solidFill>
              </a:rPr>
              <a:t>Analice esta imagen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228600" y="317500"/>
            <a:ext cx="4527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Síntesis de datos: medidas descriptivas</a:t>
            </a:r>
            <a:endParaRPr lang="es-ES" altLang="es-ES" sz="1800" b="1" dirty="0"/>
          </a:p>
        </p:txBody>
      </p:sp>
      <p:pic>
        <p:nvPicPr>
          <p:cNvPr id="2150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8775" y="1630363"/>
            <a:ext cx="6143625" cy="4922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508" name="Text Box 4"/>
          <p:cNvSpPr txBox="1">
            <a:spLocks noChangeArrowheads="1"/>
          </p:cNvSpPr>
          <p:nvPr/>
        </p:nvSpPr>
        <p:spPr bwMode="auto">
          <a:xfrm>
            <a:off x="1981200" y="1039813"/>
            <a:ext cx="5181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600" b="1"/>
              <a:t>¿En qué se diferencian estas dos distribuciones?</a:t>
            </a:r>
            <a:endParaRPr lang="es-ES" altLang="es-ES" sz="1600" b="1"/>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241300" y="311150"/>
            <a:ext cx="45704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Síntesis de datos: medidas descriptivas</a:t>
            </a:r>
            <a:endParaRPr lang="es-ES" altLang="es-ES" sz="1800" b="1" dirty="0"/>
          </a:p>
        </p:txBody>
      </p:sp>
      <p:sp>
        <p:nvSpPr>
          <p:cNvPr id="22542" name="Text Box 5"/>
          <p:cNvSpPr txBox="1">
            <a:spLocks noChangeArrowheads="1"/>
          </p:cNvSpPr>
          <p:nvPr/>
        </p:nvSpPr>
        <p:spPr bwMode="auto">
          <a:xfrm>
            <a:off x="4954588" y="5762625"/>
            <a:ext cx="1912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b="1"/>
              <a:t>Posición central </a:t>
            </a:r>
          </a:p>
          <a:p>
            <a:pPr algn="ctr" eaLnBrk="1" hangingPunct="1"/>
            <a:r>
              <a:rPr lang="es-ES_tradnl" altLang="es-ES" b="1"/>
              <a:t>(Moda, media, mediana)</a:t>
            </a:r>
            <a:endParaRPr lang="es-ES" altLang="es-ES" b="1"/>
          </a:p>
        </p:txBody>
      </p:sp>
      <p:pic>
        <p:nvPicPr>
          <p:cNvPr id="2254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8638" y="838200"/>
            <a:ext cx="5991225"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544" name="Line 10"/>
          <p:cNvSpPr>
            <a:spLocks noChangeShapeType="1"/>
          </p:cNvSpPr>
          <p:nvPr/>
        </p:nvSpPr>
        <p:spPr bwMode="auto">
          <a:xfrm flipV="1">
            <a:off x="5126038" y="1600200"/>
            <a:ext cx="0" cy="3733800"/>
          </a:xfrm>
          <a:prstGeom prst="line">
            <a:avLst/>
          </a:prstGeom>
          <a:noFill/>
          <a:ln w="1587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2545" name="Line 11"/>
          <p:cNvSpPr>
            <a:spLocks noChangeShapeType="1"/>
          </p:cNvSpPr>
          <p:nvPr/>
        </p:nvSpPr>
        <p:spPr bwMode="auto">
          <a:xfrm flipV="1">
            <a:off x="5905501" y="1600200"/>
            <a:ext cx="0" cy="3733800"/>
          </a:xfrm>
          <a:prstGeom prst="line">
            <a:avLst/>
          </a:prstGeom>
          <a:noFill/>
          <a:ln w="22225">
            <a:solidFill>
              <a:srgbClr val="8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2546" name="Line 12"/>
          <p:cNvSpPr>
            <a:spLocks noChangeShapeType="1"/>
          </p:cNvSpPr>
          <p:nvPr/>
        </p:nvSpPr>
        <p:spPr bwMode="auto">
          <a:xfrm flipV="1">
            <a:off x="7277101" y="1600200"/>
            <a:ext cx="0" cy="3733800"/>
          </a:xfrm>
          <a:prstGeom prst="line">
            <a:avLst/>
          </a:prstGeom>
          <a:noFill/>
          <a:ln w="15875">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22547" name="Group 23"/>
          <p:cNvGrpSpPr>
            <a:grpSpLocks/>
          </p:cNvGrpSpPr>
          <p:nvPr/>
        </p:nvGrpSpPr>
        <p:grpSpPr bwMode="auto">
          <a:xfrm>
            <a:off x="4191001" y="1219200"/>
            <a:ext cx="3670300" cy="3841750"/>
            <a:chOff x="1865" y="980"/>
            <a:chExt cx="2312" cy="2352"/>
          </a:xfrm>
        </p:grpSpPr>
        <p:sp>
          <p:nvSpPr>
            <p:cNvPr id="22559" name="Line 20"/>
            <p:cNvSpPr>
              <a:spLocks noChangeShapeType="1"/>
            </p:cNvSpPr>
            <p:nvPr/>
          </p:nvSpPr>
          <p:spPr bwMode="auto">
            <a:xfrm flipV="1">
              <a:off x="1865" y="980"/>
              <a:ext cx="0" cy="2352"/>
            </a:xfrm>
            <a:prstGeom prst="line">
              <a:avLst/>
            </a:prstGeom>
            <a:noFill/>
            <a:ln w="15875">
              <a:solidFill>
                <a:srgbClr val="008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2560" name="Line 22"/>
            <p:cNvSpPr>
              <a:spLocks noChangeShapeType="1"/>
            </p:cNvSpPr>
            <p:nvPr/>
          </p:nvSpPr>
          <p:spPr bwMode="auto">
            <a:xfrm flipV="1">
              <a:off x="4177" y="980"/>
              <a:ext cx="0" cy="2352"/>
            </a:xfrm>
            <a:prstGeom prst="line">
              <a:avLst/>
            </a:prstGeom>
            <a:noFill/>
            <a:ln w="15875">
              <a:solidFill>
                <a:srgbClr val="0066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22548" name="Line 24"/>
          <p:cNvSpPr>
            <a:spLocks noChangeShapeType="1"/>
          </p:cNvSpPr>
          <p:nvPr/>
        </p:nvSpPr>
        <p:spPr bwMode="auto">
          <a:xfrm flipV="1">
            <a:off x="5907088" y="5391150"/>
            <a:ext cx="0" cy="304800"/>
          </a:xfrm>
          <a:prstGeom prst="line">
            <a:avLst/>
          </a:prstGeom>
          <a:noFill/>
          <a:ln w="254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2549" name="Text Box 25"/>
          <p:cNvSpPr txBox="1">
            <a:spLocks noChangeArrowheads="1"/>
          </p:cNvSpPr>
          <p:nvPr/>
        </p:nvSpPr>
        <p:spPr bwMode="auto">
          <a:xfrm>
            <a:off x="7612063" y="5535613"/>
            <a:ext cx="1350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b="1" dirty="0"/>
              <a:t>Posición no</a:t>
            </a:r>
          </a:p>
          <a:p>
            <a:pPr eaLnBrk="1" hangingPunct="1"/>
            <a:r>
              <a:rPr lang="es-ES_tradnl" altLang="es-ES" b="1" dirty="0"/>
              <a:t>central: máximo</a:t>
            </a:r>
            <a:endParaRPr lang="es-ES" altLang="es-ES" b="1" dirty="0"/>
          </a:p>
        </p:txBody>
      </p:sp>
      <p:sp>
        <p:nvSpPr>
          <p:cNvPr id="22550" name="Line 26"/>
          <p:cNvSpPr>
            <a:spLocks noChangeShapeType="1"/>
          </p:cNvSpPr>
          <p:nvPr/>
        </p:nvSpPr>
        <p:spPr bwMode="auto">
          <a:xfrm flipV="1">
            <a:off x="7869238" y="5229225"/>
            <a:ext cx="0" cy="304800"/>
          </a:xfrm>
          <a:prstGeom prst="line">
            <a:avLst/>
          </a:prstGeom>
          <a:noFill/>
          <a:ln w="254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2551" name="Text Box 27"/>
          <p:cNvSpPr txBox="1">
            <a:spLocks noChangeArrowheads="1"/>
          </p:cNvSpPr>
          <p:nvPr/>
        </p:nvSpPr>
        <p:spPr bwMode="auto">
          <a:xfrm>
            <a:off x="7161213" y="6019800"/>
            <a:ext cx="1685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b="1"/>
              <a:t>Posición no central: </a:t>
            </a:r>
          </a:p>
          <a:p>
            <a:pPr eaLnBrk="1" hangingPunct="1"/>
            <a:r>
              <a:rPr lang="es-ES_tradnl" altLang="es-ES" b="1"/>
              <a:t>Percentil 97</a:t>
            </a:r>
            <a:endParaRPr lang="es-ES" altLang="es-ES" b="1"/>
          </a:p>
        </p:txBody>
      </p:sp>
      <p:sp>
        <p:nvSpPr>
          <p:cNvPr id="22552" name="Line 28"/>
          <p:cNvSpPr>
            <a:spLocks noChangeShapeType="1"/>
          </p:cNvSpPr>
          <p:nvPr/>
        </p:nvSpPr>
        <p:spPr bwMode="auto">
          <a:xfrm flipV="1">
            <a:off x="7259638" y="5410200"/>
            <a:ext cx="0" cy="533400"/>
          </a:xfrm>
          <a:prstGeom prst="line">
            <a:avLst/>
          </a:prstGeom>
          <a:noFill/>
          <a:ln w="254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2553" name="Text Box 29"/>
          <p:cNvSpPr txBox="1">
            <a:spLocks noChangeArrowheads="1"/>
          </p:cNvSpPr>
          <p:nvPr/>
        </p:nvSpPr>
        <p:spPr bwMode="auto">
          <a:xfrm>
            <a:off x="4637088" y="1066800"/>
            <a:ext cx="235585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b="1"/>
              <a:t>Dispersión: Rango o amplitud</a:t>
            </a:r>
          </a:p>
        </p:txBody>
      </p:sp>
      <p:sp>
        <p:nvSpPr>
          <p:cNvPr id="22554" name="Line 31"/>
          <p:cNvSpPr>
            <a:spLocks noChangeShapeType="1"/>
          </p:cNvSpPr>
          <p:nvPr/>
        </p:nvSpPr>
        <p:spPr bwMode="auto">
          <a:xfrm rot="5400000" flipV="1">
            <a:off x="6019801" y="-501650"/>
            <a:ext cx="14288" cy="3670300"/>
          </a:xfrm>
          <a:prstGeom prst="line">
            <a:avLst/>
          </a:prstGeom>
          <a:noFill/>
          <a:ln w="25400">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2555" name="Text Box 32"/>
          <p:cNvSpPr txBox="1">
            <a:spLocks noChangeArrowheads="1"/>
          </p:cNvSpPr>
          <p:nvPr/>
        </p:nvSpPr>
        <p:spPr bwMode="auto">
          <a:xfrm>
            <a:off x="4021138" y="3009900"/>
            <a:ext cx="1428750" cy="457200"/>
          </a:xfrm>
          <a:prstGeom prst="rect">
            <a:avLst/>
          </a:prstGeom>
          <a:solidFill>
            <a:schemeClr val="bg1">
              <a:alpha val="12000"/>
            </a:schemeClr>
          </a:solidFill>
          <a:ln>
            <a:noFill/>
          </a:ln>
          <a:effec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r" eaLnBrk="1" hangingPunct="1"/>
            <a:r>
              <a:rPr lang="es-ES_tradnl" altLang="es-ES" b="1" dirty="0"/>
              <a:t>Dispersión: </a:t>
            </a:r>
          </a:p>
          <a:p>
            <a:pPr algn="r" eaLnBrk="1" hangingPunct="1"/>
            <a:r>
              <a:rPr lang="es-ES_tradnl" altLang="es-ES" b="1" dirty="0"/>
              <a:t>Desviación típica</a:t>
            </a:r>
          </a:p>
        </p:txBody>
      </p:sp>
      <p:sp>
        <p:nvSpPr>
          <p:cNvPr id="22556" name="Line 33"/>
          <p:cNvSpPr>
            <a:spLocks noChangeShapeType="1"/>
          </p:cNvSpPr>
          <p:nvPr/>
        </p:nvSpPr>
        <p:spPr bwMode="auto">
          <a:xfrm rot="16200000" flipV="1">
            <a:off x="5526088" y="3114675"/>
            <a:ext cx="0" cy="781050"/>
          </a:xfrm>
          <a:prstGeom prst="line">
            <a:avLst/>
          </a:prstGeom>
          <a:noFill/>
          <a:ln w="25400">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2557" name="Text Box 34"/>
          <p:cNvSpPr txBox="1">
            <a:spLocks noChangeArrowheads="1"/>
          </p:cNvSpPr>
          <p:nvPr/>
        </p:nvSpPr>
        <p:spPr bwMode="auto">
          <a:xfrm>
            <a:off x="3346451" y="5438775"/>
            <a:ext cx="1685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b="1" dirty="0"/>
              <a:t>Posición no central: </a:t>
            </a:r>
          </a:p>
          <a:p>
            <a:pPr algn="ctr" eaLnBrk="1" hangingPunct="1"/>
            <a:r>
              <a:rPr lang="es-ES_tradnl" altLang="es-ES" b="1" dirty="0"/>
              <a:t>Mínimo </a:t>
            </a:r>
            <a:endParaRPr lang="es-ES" altLang="es-ES" b="1" dirty="0"/>
          </a:p>
        </p:txBody>
      </p:sp>
      <p:sp>
        <p:nvSpPr>
          <p:cNvPr id="22558" name="Line 35"/>
          <p:cNvSpPr>
            <a:spLocks noChangeShapeType="1"/>
          </p:cNvSpPr>
          <p:nvPr/>
        </p:nvSpPr>
        <p:spPr bwMode="auto">
          <a:xfrm flipV="1">
            <a:off x="4191001" y="5105400"/>
            <a:ext cx="0" cy="304800"/>
          </a:xfrm>
          <a:prstGeom prst="line">
            <a:avLst/>
          </a:prstGeom>
          <a:noFill/>
          <a:ln w="254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22532" name="Group 35"/>
          <p:cNvGrpSpPr>
            <a:grpSpLocks/>
          </p:cNvGrpSpPr>
          <p:nvPr/>
        </p:nvGrpSpPr>
        <p:grpSpPr bwMode="auto">
          <a:xfrm>
            <a:off x="381000" y="1219200"/>
            <a:ext cx="2835275" cy="2644775"/>
            <a:chOff x="240" y="768"/>
            <a:chExt cx="1786" cy="1666"/>
          </a:xfrm>
        </p:grpSpPr>
        <p:sp>
          <p:nvSpPr>
            <p:cNvPr id="22539" name="Text Box 25"/>
            <p:cNvSpPr txBox="1">
              <a:spLocks noChangeArrowheads="1"/>
            </p:cNvSpPr>
            <p:nvPr/>
          </p:nvSpPr>
          <p:spPr bwMode="auto">
            <a:xfrm>
              <a:off x="288" y="768"/>
              <a:ext cx="1738" cy="1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buFontTx/>
                <a:buChar char="•"/>
              </a:pPr>
              <a:r>
                <a:rPr lang="es-ES_tradnl" altLang="es-ES" sz="1400"/>
                <a:t> De </a:t>
              </a:r>
              <a:r>
                <a:rPr lang="es-ES_tradnl" altLang="es-ES" sz="1400" b="1"/>
                <a:t>posición, </a:t>
              </a:r>
              <a:r>
                <a:rPr lang="es-ES_tradnl" altLang="es-ES" sz="1400"/>
                <a:t>con tendencia</a:t>
              </a:r>
            </a:p>
            <a:p>
              <a:pPr eaLnBrk="1" hangingPunct="1">
                <a:buFontTx/>
                <a:buChar char="•"/>
              </a:pPr>
              <a:endParaRPr lang="es-ES_tradnl" altLang="es-ES" sz="1400" b="1"/>
            </a:p>
            <a:p>
              <a:pPr lvl="1" eaLnBrk="1" hangingPunct="1">
                <a:buFontTx/>
                <a:buChar char="•"/>
              </a:pPr>
              <a:r>
                <a:rPr lang="es-ES_tradnl" altLang="es-ES" sz="1400"/>
                <a:t> </a:t>
              </a:r>
              <a:r>
                <a:rPr lang="es-ES_tradnl" altLang="es-ES" sz="1400" b="1"/>
                <a:t>Central</a:t>
              </a:r>
              <a:r>
                <a:rPr lang="es-ES_tradnl" altLang="es-ES" sz="1400"/>
                <a:t>: media, mediana, moda</a:t>
              </a:r>
            </a:p>
            <a:p>
              <a:pPr lvl="1" eaLnBrk="1" hangingPunct="1"/>
              <a:endParaRPr lang="es-ES_tradnl" altLang="es-ES" sz="1400"/>
            </a:p>
            <a:p>
              <a:pPr lvl="1" eaLnBrk="1" hangingPunct="1">
                <a:buFontTx/>
                <a:buChar char="•"/>
              </a:pPr>
              <a:r>
                <a:rPr lang="es-ES_tradnl" altLang="es-ES" sz="1400"/>
                <a:t> </a:t>
              </a:r>
              <a:r>
                <a:rPr lang="es-ES_tradnl" altLang="es-ES" sz="1400" b="1"/>
                <a:t>No</a:t>
              </a:r>
              <a:r>
                <a:rPr lang="es-ES_tradnl" altLang="es-ES" sz="1400"/>
                <a:t> </a:t>
              </a:r>
              <a:r>
                <a:rPr lang="es-ES_tradnl" altLang="es-ES" sz="1400" b="1"/>
                <a:t>central</a:t>
              </a:r>
              <a:r>
                <a:rPr lang="es-ES_tradnl" altLang="es-ES" sz="1400"/>
                <a:t>: extremos, percentiles</a:t>
              </a:r>
            </a:p>
            <a:p>
              <a:pPr eaLnBrk="1" hangingPunct="1">
                <a:buFontTx/>
                <a:buChar char="•"/>
              </a:pPr>
              <a:endParaRPr lang="es-ES_tradnl" altLang="es-ES" sz="1400"/>
            </a:p>
            <a:p>
              <a:pPr eaLnBrk="1" hangingPunct="1">
                <a:buFontTx/>
                <a:buChar char="•"/>
              </a:pPr>
              <a:r>
                <a:rPr lang="es-ES_tradnl" altLang="es-ES" sz="1400"/>
                <a:t> De </a:t>
              </a:r>
              <a:r>
                <a:rPr lang="es-ES_tradnl" altLang="es-ES" sz="1400" b="1"/>
                <a:t>dispersión</a:t>
              </a:r>
              <a:r>
                <a:rPr lang="es-ES_tradnl" altLang="es-ES" sz="1400"/>
                <a:t>: Rango, varianza, desviación típica, coeficiente de variación, rango intercuartílico</a:t>
              </a:r>
              <a:endParaRPr lang="es-ES" altLang="es-ES" sz="1400"/>
            </a:p>
          </p:txBody>
        </p:sp>
        <p:sp>
          <p:nvSpPr>
            <p:cNvPr id="22540" name="AutoShape 26"/>
            <p:cNvSpPr>
              <a:spLocks/>
            </p:cNvSpPr>
            <p:nvPr/>
          </p:nvSpPr>
          <p:spPr bwMode="auto">
            <a:xfrm>
              <a:off x="240" y="800"/>
              <a:ext cx="48" cy="1632"/>
            </a:xfrm>
            <a:prstGeom prst="leftBrace">
              <a:avLst>
                <a:gd name="adj1" fmla="val 283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22541" name="AutoShape 27"/>
            <p:cNvSpPr>
              <a:spLocks/>
            </p:cNvSpPr>
            <p:nvPr/>
          </p:nvSpPr>
          <p:spPr bwMode="auto">
            <a:xfrm>
              <a:off x="504" y="1000"/>
              <a:ext cx="96" cy="768"/>
            </a:xfrm>
            <a:prstGeom prst="leftBrace">
              <a:avLst>
                <a:gd name="adj1" fmla="val 66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22533" name="Rectangle 28"/>
          <p:cNvSpPr>
            <a:spLocks noChangeArrowheads="1"/>
          </p:cNvSpPr>
          <p:nvPr/>
        </p:nvSpPr>
        <p:spPr bwMode="auto">
          <a:xfrm>
            <a:off x="228600" y="838200"/>
            <a:ext cx="22399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600" b="1"/>
              <a:t>Medidas descriptivas</a:t>
            </a:r>
          </a:p>
        </p:txBody>
      </p:sp>
      <p:sp>
        <p:nvSpPr>
          <p:cNvPr id="22534" name="Text Box 30"/>
          <p:cNvSpPr txBox="1">
            <a:spLocks noChangeArrowheads="1"/>
          </p:cNvSpPr>
          <p:nvPr/>
        </p:nvSpPr>
        <p:spPr bwMode="auto">
          <a:xfrm>
            <a:off x="457200" y="4749800"/>
            <a:ext cx="2438400" cy="167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_tradnl" altLang="es-ES" sz="1300" dirty="0"/>
              <a:t>Normalmente se </a:t>
            </a:r>
            <a:r>
              <a:rPr lang="es-ES_tradnl" altLang="es-ES" sz="1300" b="1" dirty="0"/>
              <a:t>resumen</a:t>
            </a:r>
            <a:r>
              <a:rPr lang="es-ES_tradnl" altLang="es-ES" sz="1300" dirty="0"/>
              <a:t> los datos proporcionando una medida de </a:t>
            </a:r>
            <a:r>
              <a:rPr lang="es-ES_tradnl" altLang="es-ES" sz="1300" b="1" dirty="0"/>
              <a:t>posición central </a:t>
            </a:r>
            <a:r>
              <a:rPr lang="es-ES_tradnl" altLang="es-ES" sz="1300" dirty="0"/>
              <a:t>junto a una de </a:t>
            </a:r>
            <a:r>
              <a:rPr lang="es-ES_tradnl" altLang="es-ES" sz="1300" b="1" dirty="0"/>
              <a:t>dispersión</a:t>
            </a:r>
            <a:r>
              <a:rPr lang="es-ES_tradnl" altLang="es-ES" sz="1300" dirty="0"/>
              <a:t>. Adicionalmente puede darse información relativa a otras medidas, como extremos y percentiles</a:t>
            </a:r>
            <a:endParaRPr lang="es-ES" altLang="es-ES" sz="1300" dirty="0"/>
          </a:p>
        </p:txBody>
      </p:sp>
      <p:sp>
        <p:nvSpPr>
          <p:cNvPr id="22535" name="AutoShape 122"/>
          <p:cNvSpPr>
            <a:spLocks noChangeArrowheads="1"/>
          </p:cNvSpPr>
          <p:nvPr/>
        </p:nvSpPr>
        <p:spPr bwMode="auto">
          <a:xfrm>
            <a:off x="368300" y="4711700"/>
            <a:ext cx="2667000" cy="1752600"/>
          </a:xfrm>
          <a:prstGeom prst="roundRect">
            <a:avLst>
              <a:gd name="adj" fmla="val 4903"/>
            </a:avLst>
          </a:prstGeom>
          <a:noFill/>
          <a:ln w="6350">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nvGrpSpPr>
          <p:cNvPr id="22536" name="Group 34"/>
          <p:cNvGrpSpPr>
            <a:grpSpLocks/>
          </p:cNvGrpSpPr>
          <p:nvPr/>
        </p:nvGrpSpPr>
        <p:grpSpPr bwMode="auto">
          <a:xfrm>
            <a:off x="381000" y="4152900"/>
            <a:ext cx="2667000" cy="381000"/>
            <a:chOff x="-2208" y="1968"/>
            <a:chExt cx="1680" cy="240"/>
          </a:xfrm>
        </p:grpSpPr>
        <p:sp>
          <p:nvSpPr>
            <p:cNvPr id="22537" name="Text Box 32"/>
            <p:cNvSpPr txBox="1">
              <a:spLocks noChangeArrowheads="1"/>
            </p:cNvSpPr>
            <p:nvPr/>
          </p:nvSpPr>
          <p:spPr bwMode="auto">
            <a:xfrm>
              <a:off x="-2152" y="1992"/>
              <a:ext cx="153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300" b="1"/>
                <a:t>Dispersión</a:t>
              </a:r>
              <a:r>
                <a:rPr lang="es-ES_tradnl" altLang="es-ES" sz="1300"/>
                <a:t> = </a:t>
              </a:r>
              <a:r>
                <a:rPr lang="es-ES_tradnl" altLang="es-ES" sz="1300" b="1"/>
                <a:t>Variabilidad</a:t>
              </a:r>
              <a:endParaRPr lang="es-ES" altLang="es-ES" sz="1300" b="1"/>
            </a:p>
          </p:txBody>
        </p:sp>
        <p:sp>
          <p:nvSpPr>
            <p:cNvPr id="22538" name="AutoShape 122"/>
            <p:cNvSpPr>
              <a:spLocks noChangeArrowheads="1"/>
            </p:cNvSpPr>
            <p:nvPr/>
          </p:nvSpPr>
          <p:spPr bwMode="auto">
            <a:xfrm>
              <a:off x="-2208" y="1968"/>
              <a:ext cx="1680" cy="240"/>
            </a:xfrm>
            <a:prstGeom prst="roundRect">
              <a:avLst>
                <a:gd name="adj" fmla="val 4903"/>
              </a:avLst>
            </a:prstGeom>
            <a:noFill/>
            <a:ln w="6350">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99"/>
          <p:cNvSpPr>
            <a:spLocks noChangeArrowheads="1"/>
          </p:cNvSpPr>
          <p:nvPr/>
        </p:nvSpPr>
        <p:spPr bwMode="auto">
          <a:xfrm>
            <a:off x="457200" y="1749425"/>
            <a:ext cx="8229600" cy="340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1pPr>
            <a:lvl2pPr marL="9144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2pPr>
            <a:lvl3pPr marL="13716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3pPr>
            <a:lvl4pPr marL="18288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4pPr>
            <a:lvl5pPr marL="2286000" indent="-4572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5pPr>
            <a:lvl6pPr marL="2743200" indent="-4572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6pPr>
            <a:lvl7pPr marL="3200400" indent="-4572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7pPr>
            <a:lvl8pPr marL="3657600" indent="-4572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8pPr>
            <a:lvl9pPr marL="4114800" indent="-4572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sz="1200">
                <a:solidFill>
                  <a:schemeClr val="tx1"/>
                </a:solidFill>
                <a:latin typeface="Arial" charset="0"/>
              </a:defRPr>
            </a:lvl9pPr>
          </a:lstStyle>
          <a:p>
            <a:pPr algn="just"/>
            <a:r>
              <a:rPr lang="es-ES_tradnl" altLang="es-ES" sz="1600" b="1" dirty="0">
                <a:cs typeface="Times New Roman" pitchFamily="18" charset="0"/>
              </a:rPr>
              <a:t>Datos cualitativos:</a:t>
            </a:r>
          </a:p>
          <a:p>
            <a:pPr algn="just"/>
            <a:endParaRPr lang="es-ES_tradnl" altLang="es-ES" sz="1600" dirty="0">
              <a:cs typeface="Times New Roman" pitchFamily="18" charset="0"/>
            </a:endParaRPr>
          </a:p>
          <a:p>
            <a:pPr lvl="1" algn="just">
              <a:lnSpc>
                <a:spcPct val="120000"/>
              </a:lnSpc>
            </a:pPr>
            <a:r>
              <a:rPr lang="es-ES_tradnl" altLang="es-ES" sz="1600" b="1" dirty="0">
                <a:cs typeface="Times New Roman" pitchFamily="18" charset="0"/>
              </a:rPr>
              <a:t>1.	Nominales</a:t>
            </a:r>
            <a:r>
              <a:rPr lang="es-ES_tradnl" altLang="es-ES" sz="1600" dirty="0">
                <a:cs typeface="Times New Roman" pitchFamily="18" charset="0"/>
              </a:rPr>
              <a:t> </a:t>
            </a:r>
            <a:r>
              <a:rPr lang="es-ES_tradnl" altLang="es-ES" sz="1400" b="1" dirty="0">
                <a:solidFill>
                  <a:srgbClr val="000099"/>
                </a:solidFill>
                <a:cs typeface="Times New Roman" pitchFamily="18" charset="0"/>
              </a:rPr>
              <a:t>	→ 	</a:t>
            </a:r>
            <a:r>
              <a:rPr lang="es-ES" altLang="es-ES" sz="1400" dirty="0">
                <a:solidFill>
                  <a:schemeClr val="accent1">
                    <a:lumMod val="25000"/>
                  </a:schemeClr>
                </a:solidFill>
                <a:cs typeface="Times New Roman" pitchFamily="18" charset="0"/>
              </a:rPr>
              <a:t>Proporción (porcentajes), moda</a:t>
            </a:r>
            <a:endParaRPr lang="es-ES_tradnl" altLang="es-ES" sz="1400" dirty="0">
              <a:solidFill>
                <a:schemeClr val="accent1">
                  <a:lumMod val="25000"/>
                </a:schemeClr>
              </a:solidFill>
              <a:cs typeface="Times New Roman" pitchFamily="18" charset="0"/>
            </a:endParaRPr>
          </a:p>
          <a:p>
            <a:pPr lvl="1" algn="just">
              <a:lnSpc>
                <a:spcPct val="120000"/>
              </a:lnSpc>
            </a:pPr>
            <a:endParaRPr lang="es-ES_tradnl" altLang="es-ES" sz="1400" dirty="0">
              <a:solidFill>
                <a:schemeClr val="hlink"/>
              </a:solidFill>
              <a:cs typeface="Times New Roman" pitchFamily="18" charset="0"/>
            </a:endParaRPr>
          </a:p>
          <a:p>
            <a:pPr lvl="1" algn="just">
              <a:lnSpc>
                <a:spcPct val="120000"/>
              </a:lnSpc>
            </a:pPr>
            <a:r>
              <a:rPr lang="es-ES_tradnl" altLang="es-ES" sz="1600" b="1" dirty="0">
                <a:cs typeface="Times New Roman" pitchFamily="18" charset="0"/>
              </a:rPr>
              <a:t>2.	Ordinales		</a:t>
            </a:r>
            <a:r>
              <a:rPr lang="es-ES_tradnl" altLang="es-ES" sz="1400" dirty="0">
                <a:solidFill>
                  <a:srgbClr val="000099"/>
                </a:solidFill>
                <a:cs typeface="Times New Roman" pitchFamily="18" charset="0"/>
              </a:rPr>
              <a:t>→ 	</a:t>
            </a:r>
            <a:r>
              <a:rPr lang="es-ES_tradnl" altLang="es-ES" sz="1400" dirty="0">
                <a:solidFill>
                  <a:schemeClr val="accent1">
                    <a:lumMod val="25000"/>
                  </a:schemeClr>
                </a:solidFill>
                <a:cs typeface="Times New Roman" pitchFamily="18" charset="0"/>
              </a:rPr>
              <a:t>Las anteriores y además</a:t>
            </a:r>
            <a:r>
              <a:rPr lang="es-ES_tradnl" altLang="es-ES" sz="1600" b="1" dirty="0">
                <a:solidFill>
                  <a:schemeClr val="accent1">
                    <a:lumMod val="25000"/>
                  </a:schemeClr>
                </a:solidFill>
                <a:cs typeface="Times New Roman" pitchFamily="18" charset="0"/>
              </a:rPr>
              <a:t> </a:t>
            </a:r>
            <a:r>
              <a:rPr lang="es-ES_tradnl" altLang="es-ES" sz="1400" dirty="0">
                <a:solidFill>
                  <a:schemeClr val="accent1">
                    <a:lumMod val="25000"/>
                  </a:schemeClr>
                </a:solidFill>
                <a:cs typeface="Times New Roman" pitchFamily="18" charset="0"/>
              </a:rPr>
              <a:t>medidas </a:t>
            </a:r>
            <a:r>
              <a:rPr lang="es-ES" altLang="es-ES" sz="1400" dirty="0">
                <a:solidFill>
                  <a:schemeClr val="accent1">
                    <a:lumMod val="25000"/>
                  </a:schemeClr>
                </a:solidFill>
                <a:cs typeface="Times New Roman" pitchFamily="18" charset="0"/>
              </a:rPr>
              <a:t>basadas en el orden de los datos: 						Mediana y Percentiles, Rango intercuartílico</a:t>
            </a:r>
          </a:p>
          <a:p>
            <a:pPr algn="just">
              <a:lnSpc>
                <a:spcPct val="120000"/>
              </a:lnSpc>
            </a:pPr>
            <a:endParaRPr lang="es-ES" altLang="es-ES" sz="1400" dirty="0">
              <a:solidFill>
                <a:schemeClr val="hlink"/>
              </a:solidFill>
              <a:cs typeface="Times New Roman" pitchFamily="18" charset="0"/>
            </a:endParaRPr>
          </a:p>
          <a:p>
            <a:pPr algn="just">
              <a:lnSpc>
                <a:spcPct val="120000"/>
              </a:lnSpc>
            </a:pPr>
            <a:r>
              <a:rPr lang="es-ES" altLang="es-ES" sz="1600" b="1" dirty="0">
                <a:cs typeface="Times New Roman" pitchFamily="18" charset="0"/>
              </a:rPr>
              <a:t>Cuantitativos</a:t>
            </a:r>
            <a:endParaRPr lang="es-ES_tradnl" altLang="es-ES" sz="1600" b="1" dirty="0">
              <a:cs typeface="Times New Roman" pitchFamily="18" charset="0"/>
            </a:endParaRPr>
          </a:p>
          <a:p>
            <a:pPr lvl="1" algn="just">
              <a:lnSpc>
                <a:spcPct val="120000"/>
              </a:lnSpc>
            </a:pPr>
            <a:endParaRPr lang="es-ES_tradnl" altLang="es-ES" sz="1600" b="1" dirty="0">
              <a:cs typeface="Times New Roman" pitchFamily="18" charset="0"/>
            </a:endParaRPr>
          </a:p>
          <a:p>
            <a:pPr lvl="1" algn="just">
              <a:lnSpc>
                <a:spcPct val="120000"/>
              </a:lnSpc>
            </a:pPr>
            <a:r>
              <a:rPr lang="es-ES_tradnl" altLang="es-ES" sz="1600" b="1" dirty="0">
                <a:cs typeface="Times New Roman" pitchFamily="18" charset="0"/>
              </a:rPr>
              <a:t>3. 	Discretos </a:t>
            </a:r>
            <a:endParaRPr lang="es-ES" altLang="es-ES" sz="1600" dirty="0">
              <a:solidFill>
                <a:srgbClr val="000099"/>
              </a:solidFill>
              <a:cs typeface="Times New Roman" pitchFamily="18" charset="0"/>
            </a:endParaRPr>
          </a:p>
          <a:p>
            <a:pPr lvl="1" algn="just">
              <a:lnSpc>
                <a:spcPct val="120000"/>
              </a:lnSpc>
              <a:buFontTx/>
              <a:buChar char="•"/>
            </a:pPr>
            <a:endParaRPr lang="es-ES_tradnl" altLang="es-ES" sz="1600" dirty="0">
              <a:solidFill>
                <a:srgbClr val="000099"/>
              </a:solidFill>
              <a:cs typeface="Times New Roman" pitchFamily="18" charset="0"/>
            </a:endParaRPr>
          </a:p>
          <a:p>
            <a:pPr lvl="1" algn="just">
              <a:lnSpc>
                <a:spcPct val="120000"/>
              </a:lnSpc>
            </a:pPr>
            <a:r>
              <a:rPr lang="es-ES_tradnl" altLang="es-ES" sz="1600" b="1" dirty="0">
                <a:cs typeface="Times New Roman" pitchFamily="18" charset="0"/>
              </a:rPr>
              <a:t>4.	Con</a:t>
            </a:r>
            <a:r>
              <a:rPr lang="es-ES" altLang="es-ES" sz="1600" b="1" dirty="0" err="1">
                <a:cs typeface="Times New Roman" pitchFamily="18" charset="0"/>
              </a:rPr>
              <a:t>tinuos</a:t>
            </a:r>
            <a:endParaRPr lang="es-ES_tradnl" altLang="es-ES" sz="1600" b="1" dirty="0">
              <a:cs typeface="Times New Roman" pitchFamily="18" charset="0"/>
            </a:endParaRPr>
          </a:p>
        </p:txBody>
      </p:sp>
      <p:sp>
        <p:nvSpPr>
          <p:cNvPr id="23555" name="Text Box 29"/>
          <p:cNvSpPr txBox="1">
            <a:spLocks noChangeArrowheads="1"/>
          </p:cNvSpPr>
          <p:nvPr/>
        </p:nvSpPr>
        <p:spPr bwMode="auto">
          <a:xfrm>
            <a:off x="457200" y="1143000"/>
            <a:ext cx="22399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600" b="1"/>
              <a:t>Medidas descriptivas</a:t>
            </a:r>
            <a:endParaRPr lang="es-ES" altLang="es-ES" sz="1600" b="1"/>
          </a:p>
        </p:txBody>
      </p:sp>
      <p:sp>
        <p:nvSpPr>
          <p:cNvPr id="23556" name="Rectangle 30"/>
          <p:cNvSpPr>
            <a:spLocks noChangeArrowheads="1"/>
          </p:cNvSpPr>
          <p:nvPr/>
        </p:nvSpPr>
        <p:spPr bwMode="auto">
          <a:xfrm>
            <a:off x="3048000" y="4495800"/>
            <a:ext cx="571500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tabLst>
                <a:tab pos="282575" algn="l"/>
              </a:tabLst>
              <a:defRPr sz="1200">
                <a:solidFill>
                  <a:schemeClr val="tx1"/>
                </a:solidFill>
                <a:latin typeface="Arial" charset="0"/>
              </a:defRPr>
            </a:lvl1pPr>
            <a:lvl2pPr marL="742950" indent="-285750" eaLnBrk="0" hangingPunct="0">
              <a:tabLst>
                <a:tab pos="282575" algn="l"/>
              </a:tabLst>
              <a:defRPr sz="1200">
                <a:solidFill>
                  <a:schemeClr val="tx1"/>
                </a:solidFill>
                <a:latin typeface="Arial" charset="0"/>
              </a:defRPr>
            </a:lvl2pPr>
            <a:lvl3pPr marL="1143000" indent="-228600" eaLnBrk="0" hangingPunct="0">
              <a:tabLst>
                <a:tab pos="282575" algn="l"/>
              </a:tabLst>
              <a:defRPr sz="1200">
                <a:solidFill>
                  <a:schemeClr val="tx1"/>
                </a:solidFill>
                <a:latin typeface="Arial" charset="0"/>
              </a:defRPr>
            </a:lvl3pPr>
            <a:lvl4pPr marL="1600200" indent="-228600" eaLnBrk="0" hangingPunct="0">
              <a:tabLst>
                <a:tab pos="282575" algn="l"/>
              </a:tabLst>
              <a:defRPr sz="1200">
                <a:solidFill>
                  <a:schemeClr val="tx1"/>
                </a:solidFill>
                <a:latin typeface="Arial" charset="0"/>
              </a:defRPr>
            </a:lvl4pPr>
            <a:lvl5pPr marL="2057400" indent="-228600" eaLnBrk="0" hangingPunct="0">
              <a:tabLst>
                <a:tab pos="282575" algn="l"/>
              </a:tabLst>
              <a:defRPr sz="1200">
                <a:solidFill>
                  <a:schemeClr val="tx1"/>
                </a:solidFill>
                <a:latin typeface="Arial" charset="0"/>
              </a:defRPr>
            </a:lvl5pPr>
            <a:lvl6pPr marL="2514600" indent="-228600" eaLnBrk="0" fontAlgn="base" hangingPunct="0">
              <a:spcBef>
                <a:spcPct val="0"/>
              </a:spcBef>
              <a:spcAft>
                <a:spcPct val="0"/>
              </a:spcAft>
              <a:tabLst>
                <a:tab pos="282575" algn="l"/>
              </a:tabLst>
              <a:defRPr sz="1200">
                <a:solidFill>
                  <a:schemeClr val="tx1"/>
                </a:solidFill>
                <a:latin typeface="Arial" charset="0"/>
              </a:defRPr>
            </a:lvl6pPr>
            <a:lvl7pPr marL="2971800" indent="-228600" eaLnBrk="0" fontAlgn="base" hangingPunct="0">
              <a:spcBef>
                <a:spcPct val="0"/>
              </a:spcBef>
              <a:spcAft>
                <a:spcPct val="0"/>
              </a:spcAft>
              <a:tabLst>
                <a:tab pos="282575" algn="l"/>
              </a:tabLst>
              <a:defRPr sz="1200">
                <a:solidFill>
                  <a:schemeClr val="tx1"/>
                </a:solidFill>
                <a:latin typeface="Arial" charset="0"/>
              </a:defRPr>
            </a:lvl7pPr>
            <a:lvl8pPr marL="3429000" indent="-228600" eaLnBrk="0" fontAlgn="base" hangingPunct="0">
              <a:spcBef>
                <a:spcPct val="0"/>
              </a:spcBef>
              <a:spcAft>
                <a:spcPct val="0"/>
              </a:spcAft>
              <a:tabLst>
                <a:tab pos="282575" algn="l"/>
              </a:tabLst>
              <a:defRPr sz="1200">
                <a:solidFill>
                  <a:schemeClr val="tx1"/>
                </a:solidFill>
                <a:latin typeface="Arial" charset="0"/>
              </a:defRPr>
            </a:lvl8pPr>
            <a:lvl9pPr marL="3886200" indent="-228600" eaLnBrk="0" fontAlgn="base" hangingPunct="0">
              <a:spcBef>
                <a:spcPct val="0"/>
              </a:spcBef>
              <a:spcAft>
                <a:spcPct val="0"/>
              </a:spcAft>
              <a:tabLst>
                <a:tab pos="282575" algn="l"/>
              </a:tabLst>
              <a:defRPr sz="1200">
                <a:solidFill>
                  <a:schemeClr val="tx1"/>
                </a:solidFill>
                <a:latin typeface="Arial" charset="0"/>
              </a:defRPr>
            </a:lvl9pPr>
          </a:lstStyle>
          <a:p>
            <a:pPr eaLnBrk="1" hangingPunct="1"/>
            <a:r>
              <a:rPr lang="es-ES" altLang="es-ES" sz="1400" dirty="0">
                <a:solidFill>
                  <a:srgbClr val="000099"/>
                </a:solidFill>
              </a:rPr>
              <a:t>→	</a:t>
            </a:r>
            <a:r>
              <a:rPr lang="es-ES" altLang="es-ES" sz="1400" dirty="0">
                <a:solidFill>
                  <a:schemeClr val="accent1">
                    <a:lumMod val="25000"/>
                  </a:schemeClr>
                </a:solidFill>
              </a:rPr>
              <a:t>Todas las anteriores y además </a:t>
            </a:r>
          </a:p>
          <a:p>
            <a:pPr eaLnBrk="1" hangingPunct="1"/>
            <a:r>
              <a:rPr lang="es-ES" altLang="es-ES" sz="1400" dirty="0">
                <a:solidFill>
                  <a:schemeClr val="accent1">
                    <a:lumMod val="25000"/>
                  </a:schemeClr>
                </a:solidFill>
              </a:rPr>
              <a:t>	Medidas basadas en el valor numérico de los datos: </a:t>
            </a:r>
          </a:p>
          <a:p>
            <a:pPr eaLnBrk="1" hangingPunct="1"/>
            <a:r>
              <a:rPr lang="es-ES" altLang="es-ES" sz="1400" dirty="0">
                <a:solidFill>
                  <a:schemeClr val="accent1">
                    <a:lumMod val="25000"/>
                  </a:schemeClr>
                </a:solidFill>
              </a:rPr>
              <a:t>	Media y varianza (desviación típica)</a:t>
            </a:r>
          </a:p>
        </p:txBody>
      </p:sp>
      <p:sp>
        <p:nvSpPr>
          <p:cNvPr id="23557" name="AutoShape 31"/>
          <p:cNvSpPr>
            <a:spLocks/>
          </p:cNvSpPr>
          <p:nvPr/>
        </p:nvSpPr>
        <p:spPr bwMode="auto">
          <a:xfrm>
            <a:off x="2743200" y="4114800"/>
            <a:ext cx="76200" cy="1143000"/>
          </a:xfrm>
          <a:prstGeom prst="rightBrace">
            <a:avLst>
              <a:gd name="adj1" fmla="val 125000"/>
              <a:gd name="adj2" fmla="val 50000"/>
            </a:avLst>
          </a:prstGeom>
          <a:noFill/>
          <a:ln w="9525">
            <a:solidFill>
              <a:srgbClr val="0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23558" name="Line 32"/>
          <p:cNvSpPr>
            <a:spLocks noChangeShapeType="1"/>
          </p:cNvSpPr>
          <p:nvPr/>
        </p:nvSpPr>
        <p:spPr bwMode="auto">
          <a:xfrm flipH="1">
            <a:off x="2971800" y="137160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3559" name="Rectangle 33"/>
          <p:cNvSpPr>
            <a:spLocks noChangeArrowheads="1"/>
          </p:cNvSpPr>
          <p:nvPr/>
        </p:nvSpPr>
        <p:spPr bwMode="auto">
          <a:xfrm>
            <a:off x="3448050" y="1219200"/>
            <a:ext cx="50498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sz="1400" dirty="0">
                <a:solidFill>
                  <a:schemeClr val="accent1">
                    <a:lumMod val="25000"/>
                  </a:schemeClr>
                </a:solidFill>
                <a:cs typeface="Times New Roman" pitchFamily="18" charset="0"/>
              </a:rPr>
              <a:t>Qué medida se puede calcular depende del tipo de la variable</a:t>
            </a:r>
          </a:p>
        </p:txBody>
      </p:sp>
      <p:sp>
        <p:nvSpPr>
          <p:cNvPr id="23560" name="Text Box 2"/>
          <p:cNvSpPr txBox="1">
            <a:spLocks noChangeArrowheads="1"/>
          </p:cNvSpPr>
          <p:nvPr/>
        </p:nvSpPr>
        <p:spPr bwMode="auto">
          <a:xfrm>
            <a:off x="241300" y="311150"/>
            <a:ext cx="460574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600" b="1" dirty="0"/>
              <a:t>Síntesis de datos: </a:t>
            </a:r>
            <a:r>
              <a:rPr lang="es-ES_tradnl" altLang="es-ES" sz="2000" b="1" dirty="0">
                <a:solidFill>
                  <a:srgbClr val="FF0000"/>
                </a:solidFill>
              </a:rPr>
              <a:t>medidas descriptivas</a:t>
            </a:r>
            <a:endParaRPr lang="es-ES" altLang="es-ES" sz="2000" b="1" dirty="0">
              <a:solidFill>
                <a:srgbClr val="FF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ext Box 4"/>
          <p:cNvSpPr txBox="1">
            <a:spLocks noChangeArrowheads="1"/>
          </p:cNvSpPr>
          <p:nvPr/>
        </p:nvSpPr>
        <p:spPr bwMode="auto">
          <a:xfrm>
            <a:off x="457200" y="2862263"/>
            <a:ext cx="81534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_tradnl" altLang="es-ES" sz="1600" b="1" dirty="0"/>
              <a:t>Mediana</a:t>
            </a:r>
            <a:r>
              <a:rPr lang="es-ES_tradnl" altLang="es-ES" sz="1600" dirty="0"/>
              <a:t>: </a:t>
            </a:r>
            <a:r>
              <a:rPr lang="es-ES_tradnl" altLang="es-ES" sz="1600" dirty="0">
                <a:solidFill>
                  <a:srgbClr val="FF0000"/>
                </a:solidFill>
              </a:rPr>
              <a:t>es el valor de la variable que divide a la muestra ordenada en dos partes iguales (es decir, deja tanto por debajo como por encima el 50% de las observaciones).</a:t>
            </a:r>
            <a:endParaRPr lang="en-GB" altLang="es-ES" sz="1600" dirty="0">
              <a:solidFill>
                <a:srgbClr val="FF0000"/>
              </a:solidFill>
            </a:endParaRPr>
          </a:p>
        </p:txBody>
      </p:sp>
      <p:graphicFrame>
        <p:nvGraphicFramePr>
          <p:cNvPr id="24580" name="Object 5"/>
          <p:cNvGraphicFramePr>
            <a:graphicFrameLocks noChangeAspect="1"/>
          </p:cNvGraphicFramePr>
          <p:nvPr/>
        </p:nvGraphicFramePr>
        <p:xfrm>
          <a:off x="4233863" y="3459163"/>
          <a:ext cx="1100137" cy="579437"/>
        </p:xfrm>
        <a:graphic>
          <a:graphicData uri="http://schemas.openxmlformats.org/presentationml/2006/ole">
            <mc:AlternateContent xmlns:mc="http://schemas.openxmlformats.org/markup-compatibility/2006">
              <mc:Choice xmlns:v="urn:schemas-microsoft-com:vml" Requires="v">
                <p:oleObj name="Equation" r:id="rId3" imgW="698500" imgH="368300" progId="Equation.DSMT4">
                  <p:embed/>
                </p:oleObj>
              </mc:Choice>
              <mc:Fallback>
                <p:oleObj name="Equation" r:id="rId3" imgW="698500" imgH="3683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3863" y="3459163"/>
                        <a:ext cx="1100137"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81" name="Object 9"/>
          <p:cNvGraphicFramePr>
            <a:graphicFrameLocks noChangeAspect="1"/>
          </p:cNvGraphicFramePr>
          <p:nvPr/>
        </p:nvGraphicFramePr>
        <p:xfrm>
          <a:off x="533400" y="4241800"/>
          <a:ext cx="7475538" cy="2463800"/>
        </p:xfrm>
        <a:graphic>
          <a:graphicData uri="http://schemas.openxmlformats.org/presentationml/2006/ole">
            <mc:AlternateContent xmlns:mc="http://schemas.openxmlformats.org/markup-compatibility/2006">
              <mc:Choice xmlns:v="urn:schemas-microsoft-com:vml" Requires="v">
                <p:oleObj name="Equation" r:id="rId5" imgW="4622800" imgH="1524000" progId="Equation.DSMT4">
                  <p:embed/>
                </p:oleObj>
              </mc:Choice>
              <mc:Fallback>
                <p:oleObj name="Equation" r:id="rId5" imgW="4622800" imgH="15240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4241800"/>
                        <a:ext cx="7475538" cy="2463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2" name="Text Box 13"/>
          <p:cNvSpPr txBox="1">
            <a:spLocks noChangeArrowheads="1"/>
          </p:cNvSpPr>
          <p:nvPr/>
        </p:nvSpPr>
        <p:spPr bwMode="auto">
          <a:xfrm>
            <a:off x="244475" y="317500"/>
            <a:ext cx="591700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Síntesis de datos: medidas descriptivas de posición</a:t>
            </a:r>
            <a:endParaRPr lang="es-ES" altLang="es-ES" sz="1800" b="1" dirty="0"/>
          </a:p>
        </p:txBody>
      </p:sp>
      <p:sp>
        <p:nvSpPr>
          <p:cNvPr id="24583" name="Text Box 14"/>
          <p:cNvSpPr txBox="1">
            <a:spLocks noChangeArrowheads="1"/>
          </p:cNvSpPr>
          <p:nvPr/>
        </p:nvSpPr>
        <p:spPr bwMode="auto">
          <a:xfrm>
            <a:off x="228600" y="914400"/>
            <a:ext cx="122180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600" b="1" dirty="0">
                <a:solidFill>
                  <a:schemeClr val="accent1">
                    <a:lumMod val="25000"/>
                  </a:schemeClr>
                </a:solidFill>
              </a:rPr>
              <a:t>Nominales</a:t>
            </a:r>
            <a:endParaRPr lang="es-ES" altLang="es-ES" sz="1600" b="1" dirty="0">
              <a:solidFill>
                <a:schemeClr val="accent1">
                  <a:lumMod val="25000"/>
                </a:schemeClr>
              </a:solidFill>
            </a:endParaRPr>
          </a:p>
        </p:txBody>
      </p:sp>
      <p:sp>
        <p:nvSpPr>
          <p:cNvPr id="24584" name="Text Box 15"/>
          <p:cNvSpPr txBox="1">
            <a:spLocks noChangeArrowheads="1"/>
          </p:cNvSpPr>
          <p:nvPr/>
        </p:nvSpPr>
        <p:spPr bwMode="auto">
          <a:xfrm>
            <a:off x="228600" y="2552700"/>
            <a:ext cx="113204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600" b="1" dirty="0">
                <a:solidFill>
                  <a:schemeClr val="accent1">
                    <a:lumMod val="25000"/>
                  </a:schemeClr>
                </a:solidFill>
              </a:rPr>
              <a:t>Ordinales</a:t>
            </a:r>
            <a:endParaRPr lang="es-ES" altLang="es-ES" sz="1600" b="1" dirty="0">
              <a:solidFill>
                <a:schemeClr val="accent1">
                  <a:lumMod val="25000"/>
                </a:schemeClr>
              </a:solidFill>
            </a:endParaRPr>
          </a:p>
        </p:txBody>
      </p:sp>
      <p:sp>
        <p:nvSpPr>
          <p:cNvPr id="15" name="Text Box 6"/>
          <p:cNvSpPr txBox="1">
            <a:spLocks noChangeArrowheads="1"/>
          </p:cNvSpPr>
          <p:nvPr/>
        </p:nvSpPr>
        <p:spPr bwMode="auto">
          <a:xfrm>
            <a:off x="457200" y="3810000"/>
            <a:ext cx="10747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s-ES_tradnl" altLang="es-ES" sz="1600" dirty="0">
                <a:latin typeface="+mn-lt"/>
              </a:rPr>
              <a:t>Ejemplos:</a:t>
            </a:r>
            <a:endParaRPr lang="en-GB" altLang="es-ES" sz="1600" dirty="0">
              <a:latin typeface="+mn-lt"/>
            </a:endParaRPr>
          </a:p>
        </p:txBody>
      </p:sp>
      <p:grpSp>
        <p:nvGrpSpPr>
          <p:cNvPr id="24586" name="Group 19"/>
          <p:cNvGrpSpPr>
            <a:grpSpLocks/>
          </p:cNvGrpSpPr>
          <p:nvPr/>
        </p:nvGrpSpPr>
        <p:grpSpPr bwMode="auto">
          <a:xfrm>
            <a:off x="6248400" y="3886200"/>
            <a:ext cx="2667000" cy="1752600"/>
            <a:chOff x="3888" y="2736"/>
            <a:chExt cx="1680" cy="1104"/>
          </a:xfrm>
        </p:grpSpPr>
        <p:sp>
          <p:nvSpPr>
            <p:cNvPr id="24592" name="Text Box 17"/>
            <p:cNvSpPr txBox="1">
              <a:spLocks noChangeArrowheads="1"/>
            </p:cNvSpPr>
            <p:nvPr/>
          </p:nvSpPr>
          <p:spPr bwMode="auto">
            <a:xfrm>
              <a:off x="3984" y="2790"/>
              <a:ext cx="1488" cy="1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_tradnl" altLang="es-ES" sz="1400" b="1" dirty="0"/>
                <a:t>No confundir</a:t>
              </a:r>
              <a:r>
                <a:rPr lang="es-ES_tradnl" altLang="es-ES" sz="1400" dirty="0"/>
                <a:t> la </a:t>
              </a:r>
              <a:r>
                <a:rPr lang="es-ES_tradnl" altLang="es-ES" sz="1400" i="1" dirty="0"/>
                <a:t>posición mediana</a:t>
              </a:r>
              <a:r>
                <a:rPr lang="es-ES_tradnl" altLang="es-ES" sz="1400" dirty="0"/>
                <a:t> (</a:t>
              </a:r>
              <a:r>
                <a:rPr lang="es-ES_tradnl" altLang="es-ES" sz="1400" i="1" dirty="0">
                  <a:latin typeface="Times New Roman" pitchFamily="18" charset="0"/>
                </a:rPr>
                <a:t>n</a:t>
              </a:r>
              <a:r>
                <a:rPr lang="es-ES_tradnl" altLang="es-ES" sz="1400" dirty="0"/>
                <a:t>+1)/2, con la </a:t>
              </a:r>
              <a:r>
                <a:rPr lang="es-ES_tradnl" altLang="es-ES" sz="1400" i="1" dirty="0"/>
                <a:t>mediana</a:t>
              </a:r>
              <a:r>
                <a:rPr lang="es-ES_tradnl" altLang="es-ES" sz="1400" dirty="0"/>
                <a:t> en si, que es el valor que </a:t>
              </a:r>
              <a:r>
                <a:rPr lang="es-ES_tradnl" altLang="es-ES" sz="1400" i="1" dirty="0"/>
                <a:t>ocupa</a:t>
              </a:r>
              <a:r>
                <a:rPr lang="es-ES_tradnl" altLang="es-ES" sz="1400" dirty="0"/>
                <a:t> la posición mediana cuando los datos están ordenados de menor a mayor</a:t>
              </a:r>
              <a:endParaRPr lang="es-ES" altLang="es-ES" sz="1400" dirty="0"/>
            </a:p>
          </p:txBody>
        </p:sp>
        <p:sp>
          <p:nvSpPr>
            <p:cNvPr id="24593" name="AutoShape 122"/>
            <p:cNvSpPr>
              <a:spLocks noChangeArrowheads="1"/>
            </p:cNvSpPr>
            <p:nvPr/>
          </p:nvSpPr>
          <p:spPr bwMode="auto">
            <a:xfrm>
              <a:off x="3888" y="2736"/>
              <a:ext cx="1680" cy="1104"/>
            </a:xfrm>
            <a:prstGeom prst="roundRect">
              <a:avLst>
                <a:gd name="adj" fmla="val 4903"/>
              </a:avLst>
            </a:prstGeom>
            <a:noFill/>
            <a:ln w="6350">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grpSp>
        <p:nvGrpSpPr>
          <p:cNvPr id="24587" name="Group 22"/>
          <p:cNvGrpSpPr>
            <a:grpSpLocks/>
          </p:cNvGrpSpPr>
          <p:nvPr/>
        </p:nvGrpSpPr>
        <p:grpSpPr bwMode="auto">
          <a:xfrm>
            <a:off x="457200" y="1241425"/>
            <a:ext cx="8153400" cy="1143000"/>
            <a:chOff x="288" y="816"/>
            <a:chExt cx="5136" cy="720"/>
          </a:xfrm>
        </p:grpSpPr>
        <p:sp>
          <p:nvSpPr>
            <p:cNvPr id="24589" name="Text Box 3"/>
            <p:cNvSpPr txBox="1">
              <a:spLocks noChangeArrowheads="1"/>
            </p:cNvSpPr>
            <p:nvPr/>
          </p:nvSpPr>
          <p:spPr bwMode="auto">
            <a:xfrm>
              <a:off x="288" y="816"/>
              <a:ext cx="5136" cy="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600" b="1"/>
                <a:t>Proporción (de cada categoría): </a:t>
              </a:r>
              <a:r>
                <a:rPr lang="es-ES_tradnl" altLang="es-ES" sz="1600"/>
                <a:t>es la frecuencia relativa de dicha categoría:</a:t>
              </a:r>
            </a:p>
            <a:p>
              <a:pPr eaLnBrk="1" hangingPunct="1">
                <a:lnSpc>
                  <a:spcPct val="130000"/>
                </a:lnSpc>
              </a:pPr>
              <a:r>
                <a:rPr lang="es-ES_tradnl" altLang="es-ES" sz="1600"/>
                <a:t>C</a:t>
              </a:r>
              <a:r>
                <a:rPr lang="es-ES" altLang="es-ES" sz="1600"/>
                <a:t>uando se informa de ella se suele dar como porcentaje:</a:t>
              </a:r>
              <a:endParaRPr lang="es-ES_tradnl" altLang="es-ES" sz="1600"/>
            </a:p>
            <a:p>
              <a:pPr eaLnBrk="1" hangingPunct="1"/>
              <a:endParaRPr lang="es-ES_tradnl" altLang="es-ES" sz="1600" b="1"/>
            </a:p>
            <a:p>
              <a:pPr eaLnBrk="1" hangingPunct="1"/>
              <a:r>
                <a:rPr lang="es-ES_tradnl" altLang="es-ES" sz="1600" b="1"/>
                <a:t>Moda</a:t>
              </a:r>
              <a:r>
                <a:rPr lang="es-ES_tradnl" altLang="es-ES" sz="1600"/>
                <a:t>: es el valor de la variable que tiene mayor frecuencia (puede no ser única). </a:t>
              </a:r>
              <a:endParaRPr lang="en-GB" altLang="es-ES" sz="1600"/>
            </a:p>
          </p:txBody>
        </p:sp>
        <p:graphicFrame>
          <p:nvGraphicFramePr>
            <p:cNvPr id="24591" name="1 Objeto"/>
            <p:cNvGraphicFramePr>
              <a:graphicFrameLocks noChangeAspect="1"/>
            </p:cNvGraphicFramePr>
            <p:nvPr/>
          </p:nvGraphicFramePr>
          <p:xfrm>
            <a:off x="3605" y="992"/>
            <a:ext cx="768" cy="251"/>
          </p:xfrm>
          <a:graphic>
            <a:graphicData uri="http://schemas.openxmlformats.org/presentationml/2006/ole">
              <mc:AlternateContent xmlns:mc="http://schemas.openxmlformats.org/markup-compatibility/2006">
                <mc:Choice xmlns:v="urn:schemas-microsoft-com:vml" Requires="v">
                  <p:oleObj name="Equation" r:id="rId7" imgW="698500" imgH="228600" progId="Equation.DSMT4">
                    <p:embed/>
                  </p:oleObj>
                </mc:Choice>
                <mc:Fallback>
                  <p:oleObj name="Equation" r:id="rId7" imgW="698500" imgH="228600" progId="Equation.DSMT4">
                    <p:embed/>
                    <p:pic>
                      <p:nvPicPr>
                        <p:cNvPr id="0" name="1 Objeto"/>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5" y="992"/>
                          <a:ext cx="768" cy="2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4588" name="Text Box 23"/>
          <p:cNvSpPr txBox="1">
            <a:spLocks noChangeArrowheads="1"/>
          </p:cNvSpPr>
          <p:nvPr/>
        </p:nvSpPr>
        <p:spPr bwMode="auto">
          <a:xfrm>
            <a:off x="1295400" y="2590800"/>
            <a:ext cx="289649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dirty="0">
                <a:solidFill>
                  <a:schemeClr val="accent1">
                    <a:lumMod val="25000"/>
                  </a:schemeClr>
                </a:solidFill>
              </a:rPr>
              <a:t>A las medidas descritas hay que añadir</a:t>
            </a:r>
            <a:endParaRPr lang="es-ES" altLang="es-ES" dirty="0">
              <a:solidFill>
                <a:schemeClr val="accent1">
                  <a:lumMod val="25000"/>
                </a:schemeClr>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241300" y="311150"/>
            <a:ext cx="591700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Síntesis de datos: medidas descriptivas de posición</a:t>
            </a:r>
            <a:endParaRPr lang="es-ES" altLang="es-ES" sz="1800" b="1" dirty="0"/>
          </a:p>
        </p:txBody>
      </p:sp>
      <p:graphicFrame>
        <p:nvGraphicFramePr>
          <p:cNvPr id="23663" name="Group 111"/>
          <p:cNvGraphicFramePr>
            <a:graphicFrameLocks noGrp="1"/>
          </p:cNvGraphicFramePr>
          <p:nvPr>
            <p:extLst>
              <p:ext uri="{D42A27DB-BD31-4B8C-83A1-F6EECF244321}">
                <p14:modId xmlns:p14="http://schemas.microsoft.com/office/powerpoint/2010/main" val="237469158"/>
              </p:ext>
            </p:extLst>
          </p:nvPr>
        </p:nvGraphicFramePr>
        <p:xfrm>
          <a:off x="355600" y="1235075"/>
          <a:ext cx="8458200" cy="3261138"/>
        </p:xfrm>
        <a:graphic>
          <a:graphicData uri="http://schemas.openxmlformats.org/drawingml/2006/table">
            <a:tbl>
              <a:tblPr/>
              <a:tblGrid>
                <a:gridCol w="906463">
                  <a:extLst>
                    <a:ext uri="{9D8B030D-6E8A-4147-A177-3AD203B41FA5}">
                      <a16:colId xmlns:a16="http://schemas.microsoft.com/office/drawing/2014/main" val="20000"/>
                    </a:ext>
                  </a:extLst>
                </a:gridCol>
                <a:gridCol w="787400">
                  <a:extLst>
                    <a:ext uri="{9D8B030D-6E8A-4147-A177-3AD203B41FA5}">
                      <a16:colId xmlns:a16="http://schemas.microsoft.com/office/drawing/2014/main" val="20001"/>
                    </a:ext>
                  </a:extLst>
                </a:gridCol>
                <a:gridCol w="889000">
                  <a:extLst>
                    <a:ext uri="{9D8B030D-6E8A-4147-A177-3AD203B41FA5}">
                      <a16:colId xmlns:a16="http://schemas.microsoft.com/office/drawing/2014/main" val="20002"/>
                    </a:ext>
                  </a:extLst>
                </a:gridCol>
                <a:gridCol w="1404937">
                  <a:extLst>
                    <a:ext uri="{9D8B030D-6E8A-4147-A177-3AD203B41FA5}">
                      <a16:colId xmlns:a16="http://schemas.microsoft.com/office/drawing/2014/main" val="20003"/>
                    </a:ext>
                  </a:extLst>
                </a:gridCol>
                <a:gridCol w="355600">
                  <a:extLst>
                    <a:ext uri="{9D8B030D-6E8A-4147-A177-3AD203B41FA5}">
                      <a16:colId xmlns:a16="http://schemas.microsoft.com/office/drawing/2014/main" val="20004"/>
                    </a:ext>
                  </a:extLst>
                </a:gridCol>
                <a:gridCol w="1389063">
                  <a:extLst>
                    <a:ext uri="{9D8B030D-6E8A-4147-A177-3AD203B41FA5}">
                      <a16:colId xmlns:a16="http://schemas.microsoft.com/office/drawing/2014/main" val="20005"/>
                    </a:ext>
                  </a:extLst>
                </a:gridCol>
                <a:gridCol w="846137">
                  <a:extLst>
                    <a:ext uri="{9D8B030D-6E8A-4147-A177-3AD203B41FA5}">
                      <a16:colId xmlns:a16="http://schemas.microsoft.com/office/drawing/2014/main" val="20006"/>
                    </a:ext>
                  </a:extLst>
                </a:gridCol>
                <a:gridCol w="533400">
                  <a:extLst>
                    <a:ext uri="{9D8B030D-6E8A-4147-A177-3AD203B41FA5}">
                      <a16:colId xmlns:a16="http://schemas.microsoft.com/office/drawing/2014/main" val="20007"/>
                    </a:ext>
                  </a:extLst>
                </a:gridCol>
                <a:gridCol w="1346200">
                  <a:extLst>
                    <a:ext uri="{9D8B030D-6E8A-4147-A177-3AD203B41FA5}">
                      <a16:colId xmlns:a16="http://schemas.microsoft.com/office/drawing/2014/main" val="20008"/>
                    </a:ext>
                  </a:extLst>
                </a:gridCol>
              </a:tblGrid>
              <a:tr h="579314">
                <a:tc gridSpan="4">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s-ES" altLang="es-ES" sz="1600" b="1" i="0" u="none" strike="noStrike" cap="none" normalizeH="0" baseline="0" dirty="0">
                          <a:ln>
                            <a:noFill/>
                          </a:ln>
                          <a:solidFill>
                            <a:schemeClr val="tx1"/>
                          </a:solidFill>
                          <a:effectLst/>
                          <a:latin typeface="Arial" charset="0"/>
                          <a:cs typeface="Arial" charset="0"/>
                        </a:rPr>
                        <a:t>Edad (años)</a:t>
                      </a:r>
                    </a:p>
                    <a:p>
                      <a:pPr marL="0" marR="0" lvl="0" indent="0" algn="ctr" defTabSz="914400" rtl="0" eaLnBrk="1" fontAlgn="b" latinLnBrk="0" hangingPunct="1">
                        <a:lnSpc>
                          <a:spcPct val="100000"/>
                        </a:lnSpc>
                        <a:spcBef>
                          <a:spcPct val="0"/>
                        </a:spcBef>
                        <a:spcAft>
                          <a:spcPct val="0"/>
                        </a:spcAft>
                        <a:buClrTx/>
                        <a:buSzTx/>
                        <a:buFontTx/>
                        <a:buNone/>
                        <a:tabLst/>
                      </a:pPr>
                      <a:r>
                        <a:rPr kumimoji="0" lang="es-ES" altLang="es-ES" sz="1600" b="1" i="0" u="none" strike="noStrike" cap="none" normalizeH="0" baseline="0" dirty="0">
                          <a:ln>
                            <a:noFill/>
                          </a:ln>
                          <a:solidFill>
                            <a:schemeClr val="tx1"/>
                          </a:solidFill>
                          <a:effectLst/>
                          <a:latin typeface="Arial" charset="0"/>
                          <a:cs typeface="Arial" charset="0"/>
                        </a:rPr>
                        <a:t> n=124</a:t>
                      </a:r>
                      <a:endParaRPr kumimoji="0" lang="es-ES" altLang="es-ES" sz="1600" b="0" i="0" u="none" strike="noStrike" cap="none" normalizeH="0" baseline="0" dirty="0">
                        <a:ln>
                          <a:noFill/>
                        </a:ln>
                        <a:solidFill>
                          <a:schemeClr val="tx1"/>
                        </a:solidFill>
                        <a:effectLst/>
                        <a:latin typeface="Arial" charset="0"/>
                      </a:endParaRPr>
                    </a:p>
                  </a:txBody>
                  <a:tcPr marT="45694" marB="45694" anchor="b" horzOverflow="overflow">
                    <a:lnL>
                      <a:noFill/>
                    </a:lnL>
                    <a:lnR>
                      <a:noFill/>
                    </a:lnR>
                    <a:lnT>
                      <a:noFill/>
                    </a:lnT>
                    <a:lnB>
                      <a:noFill/>
                    </a:lnB>
                    <a:lnTlToBr>
                      <a:noFill/>
                    </a:lnTlToBr>
                    <a:lnBlToTr>
                      <a:noFill/>
                    </a:lnBlToTr>
                    <a:noFill/>
                  </a:tcPr>
                </a:tc>
                <a:tc hMerge="1">
                  <a:txBody>
                    <a:bodyPr/>
                    <a:lstStyle/>
                    <a:p>
                      <a:endParaRPr lang="es-ES"/>
                    </a:p>
                  </a:txBody>
                  <a:tcPr/>
                </a:tc>
                <a:tc hMerge="1">
                  <a:txBody>
                    <a:bodyPr/>
                    <a:lstStyle/>
                    <a:p>
                      <a:endParaRPr lang="es-ES"/>
                    </a:p>
                  </a:txBody>
                  <a:tcPr/>
                </a:tc>
                <a:tc hMerge="1">
                  <a:txBody>
                    <a:bodyPr/>
                    <a:lstStyle/>
                    <a:p>
                      <a:endParaRPr lang="es-ES"/>
                    </a:p>
                  </a:txBody>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694" marB="45694" anchor="b" horzOverflow="overflow">
                    <a:lnL>
                      <a:noFill/>
                    </a:lnL>
                    <a:lnR>
                      <a:noFill/>
                    </a:lnR>
                    <a:lnT>
                      <a:noFill/>
                    </a:lnT>
                    <a:lnB>
                      <a:noFill/>
                    </a:lnB>
                    <a:lnTlToBr>
                      <a:noFill/>
                    </a:lnTlToBr>
                    <a:lnBlToTr>
                      <a:noFill/>
                    </a:lnBlToTr>
                    <a:noFill/>
                  </a:tcPr>
                </a:tc>
                <a:tc gridSpan="4">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s-ES" altLang="es-ES" sz="1600" b="1" i="0" u="none" strike="noStrike" cap="none" normalizeH="0" baseline="0">
                          <a:ln>
                            <a:noFill/>
                          </a:ln>
                          <a:solidFill>
                            <a:schemeClr val="tx1"/>
                          </a:solidFill>
                          <a:effectLst/>
                          <a:latin typeface="Arial" charset="0"/>
                          <a:cs typeface="Arial" charset="0"/>
                        </a:rPr>
                        <a:t>Edad (años)</a:t>
                      </a:r>
                    </a:p>
                    <a:p>
                      <a:pPr marL="0" marR="0" lvl="0" indent="0" algn="ctr" defTabSz="914400" rtl="0" eaLnBrk="1" fontAlgn="b" latinLnBrk="0" hangingPunct="1">
                        <a:lnSpc>
                          <a:spcPct val="100000"/>
                        </a:lnSpc>
                        <a:spcBef>
                          <a:spcPct val="0"/>
                        </a:spcBef>
                        <a:spcAft>
                          <a:spcPct val="0"/>
                        </a:spcAft>
                        <a:buClrTx/>
                        <a:buSzTx/>
                        <a:buFontTx/>
                        <a:buNone/>
                        <a:tabLst/>
                      </a:pPr>
                      <a:r>
                        <a:rPr kumimoji="0" lang="es-ES" altLang="es-ES" sz="1600" b="1" i="0" u="none" strike="noStrike" cap="none" normalizeH="0" baseline="0">
                          <a:ln>
                            <a:noFill/>
                          </a:ln>
                          <a:solidFill>
                            <a:schemeClr val="tx1"/>
                          </a:solidFill>
                          <a:effectLst/>
                          <a:latin typeface="Arial" charset="0"/>
                          <a:cs typeface="Arial" charset="0"/>
                        </a:rPr>
                        <a:t> n=124</a:t>
                      </a:r>
                    </a:p>
                  </a:txBody>
                  <a:tcPr marT="45694" marB="45694" anchor="b" horzOverflow="overflow">
                    <a:lnL>
                      <a:noFill/>
                    </a:lnL>
                    <a:lnR>
                      <a:noFill/>
                    </a:lnR>
                    <a:lnT>
                      <a:noFill/>
                    </a:lnT>
                    <a:lnB>
                      <a:noFill/>
                    </a:lnB>
                    <a:lnTlToBr>
                      <a:noFill/>
                    </a:lnTlToBr>
                    <a:lnBlToTr>
                      <a:noFill/>
                    </a:lnBlToTr>
                    <a:noFill/>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0"/>
                  </a:ext>
                </a:extLst>
              </a:tr>
              <a:tr h="335176">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694" marB="45694" anchor="b"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s-ES" altLang="es-ES" sz="1600" b="0" i="1" u="none" strike="noStrike" cap="none" normalizeH="0" baseline="0" dirty="0">
                          <a:ln>
                            <a:noFill/>
                          </a:ln>
                          <a:solidFill>
                            <a:srgbClr val="000000"/>
                          </a:solidFill>
                          <a:effectLst/>
                          <a:latin typeface="Arial" charset="0"/>
                          <a:cs typeface="Arial" charset="0"/>
                        </a:rPr>
                        <a:t>n</a:t>
                      </a:r>
                      <a:r>
                        <a:rPr kumimoji="0" lang="es-ES" altLang="es-ES" sz="1600" b="0" i="1" u="none" strike="noStrike" cap="none" normalizeH="0" baseline="-25000" dirty="0">
                          <a:ln>
                            <a:noFill/>
                          </a:ln>
                          <a:solidFill>
                            <a:srgbClr val="000000"/>
                          </a:solidFill>
                          <a:effectLst/>
                          <a:latin typeface="Arial" charset="0"/>
                          <a:cs typeface="Arial" charset="0"/>
                        </a:rPr>
                        <a:t>i</a:t>
                      </a:r>
                      <a:endParaRPr kumimoji="0" lang="es-ES" altLang="es-ES" sz="1600" b="0" i="1" u="none" strike="noStrike" cap="none" normalizeH="0" baseline="-25000" dirty="0">
                        <a:ln>
                          <a:noFill/>
                        </a:ln>
                        <a:solidFill>
                          <a:schemeClr val="tx1"/>
                        </a:solidFill>
                        <a:effectLst/>
                        <a:latin typeface="Arial" charset="0"/>
                      </a:endParaRPr>
                    </a:p>
                  </a:txBody>
                  <a:tcPr marT="45694" marB="4569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s-ES" altLang="es-ES" sz="1600" b="0" i="1" u="none" strike="noStrike" cap="none" normalizeH="0" baseline="0" dirty="0">
                          <a:ln>
                            <a:noFill/>
                          </a:ln>
                          <a:solidFill>
                            <a:schemeClr val="tx1"/>
                          </a:solidFill>
                          <a:effectLst/>
                          <a:latin typeface="Arial" charset="0"/>
                        </a:rPr>
                        <a:t>N</a:t>
                      </a:r>
                      <a:r>
                        <a:rPr kumimoji="0" lang="es-ES" altLang="es-ES" sz="1600" b="0" i="1" u="none" strike="noStrike" cap="none" normalizeH="0" baseline="-25000" dirty="0">
                          <a:ln>
                            <a:noFill/>
                          </a:ln>
                          <a:solidFill>
                            <a:schemeClr val="tx1"/>
                          </a:solidFill>
                          <a:effectLst/>
                          <a:latin typeface="Arial" charset="0"/>
                        </a:rPr>
                        <a:t>i</a:t>
                      </a:r>
                    </a:p>
                  </a:txBody>
                  <a:tcPr marT="45694" marB="4569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F</a:t>
                      </a:r>
                      <a:r>
                        <a:rPr kumimoji="0" lang="es-ES" altLang="es-ES" sz="1600" b="0" i="0" u="none" strike="noStrike" cap="none" normalizeH="0" baseline="-25000" dirty="0">
                          <a:ln>
                            <a:noFill/>
                          </a:ln>
                          <a:solidFill>
                            <a:srgbClr val="000000"/>
                          </a:solidFill>
                          <a:effectLst/>
                          <a:latin typeface="Arial" charset="0"/>
                          <a:cs typeface="Arial" charset="0"/>
                        </a:rPr>
                        <a:t>i</a:t>
                      </a:r>
                      <a:r>
                        <a:rPr kumimoji="0" lang="es-ES" altLang="es-ES" sz="1600" b="0" i="0" u="none" strike="noStrike" cap="none" normalizeH="0" baseline="0" dirty="0">
                          <a:ln>
                            <a:noFill/>
                          </a:ln>
                          <a:solidFill>
                            <a:srgbClr val="000000"/>
                          </a:solidFill>
                          <a:effectLst/>
                          <a:latin typeface="Arial" charset="0"/>
                          <a:cs typeface="Arial" charset="0"/>
                        </a:rPr>
                        <a:t>(%) </a:t>
                      </a:r>
                      <a:r>
                        <a:rPr kumimoji="0" lang="es-ES" altLang="es-ES" sz="1600" b="0" i="0" u="none" strike="noStrike" cap="none" normalizeH="0" baseline="0" dirty="0" err="1">
                          <a:ln>
                            <a:noFill/>
                          </a:ln>
                          <a:solidFill>
                            <a:srgbClr val="000000"/>
                          </a:solidFill>
                          <a:effectLst/>
                          <a:latin typeface="Arial" charset="0"/>
                          <a:cs typeface="Arial" charset="0"/>
                        </a:rPr>
                        <a:t>acum</a:t>
                      </a:r>
                      <a:r>
                        <a:rPr kumimoji="0" lang="es-ES" altLang="es-ES" sz="1600" b="0" i="0" u="none" strike="noStrike" cap="none" normalizeH="0" baseline="0" dirty="0">
                          <a:ln>
                            <a:noFill/>
                          </a:ln>
                          <a:solidFill>
                            <a:srgbClr val="000000"/>
                          </a:solidFill>
                          <a:effectLst/>
                          <a:latin typeface="Arial" charset="0"/>
                          <a:cs typeface="Arial" charset="0"/>
                        </a:rPr>
                        <a:t>.</a:t>
                      </a:r>
                      <a:endParaRPr kumimoji="0" lang="es-ES" altLang="es-ES" sz="1600" b="0" i="0" u="none" strike="noStrike" cap="none" normalizeH="0" baseline="0" dirty="0">
                        <a:ln>
                          <a:noFill/>
                        </a:ln>
                        <a:solidFill>
                          <a:schemeClr val="tx1"/>
                        </a:solidFill>
                        <a:effectLst/>
                        <a:latin typeface="Arial" charset="0"/>
                      </a:endParaRPr>
                    </a:p>
                  </a:txBody>
                  <a:tcPr marT="45694" marB="4569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694" marB="45694" anchor="b"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dirty="0">
                        <a:ln>
                          <a:noFill/>
                        </a:ln>
                        <a:solidFill>
                          <a:schemeClr val="tx1"/>
                        </a:solidFill>
                        <a:effectLst/>
                        <a:latin typeface="Arial" charset="0"/>
                      </a:endParaRPr>
                    </a:p>
                  </a:txBody>
                  <a:tcPr marT="45694" marB="45694" anchor="b"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s-ES" altLang="es-ES" sz="1600" b="0" i="1" u="none" strike="noStrike" cap="none" normalizeH="0" baseline="0" dirty="0">
                          <a:ln>
                            <a:noFill/>
                          </a:ln>
                          <a:solidFill>
                            <a:srgbClr val="000000"/>
                          </a:solidFill>
                          <a:effectLst/>
                          <a:latin typeface="Arial" charset="0"/>
                          <a:cs typeface="Arial" charset="0"/>
                        </a:rPr>
                        <a:t>n</a:t>
                      </a:r>
                      <a:r>
                        <a:rPr kumimoji="0" lang="es-ES" altLang="es-ES" sz="1600" b="0" i="1" u="none" strike="noStrike" cap="none" normalizeH="0" baseline="-25000" dirty="0">
                          <a:ln>
                            <a:noFill/>
                          </a:ln>
                          <a:solidFill>
                            <a:srgbClr val="000000"/>
                          </a:solidFill>
                          <a:effectLst/>
                          <a:latin typeface="Arial" charset="0"/>
                          <a:cs typeface="Arial" charset="0"/>
                        </a:rPr>
                        <a:t>i</a:t>
                      </a:r>
                      <a:endParaRPr kumimoji="0" lang="es-ES" altLang="es-ES" sz="1600" b="0" i="1" u="none" strike="noStrike" cap="none" normalizeH="0" baseline="-25000" dirty="0">
                        <a:ln>
                          <a:noFill/>
                        </a:ln>
                        <a:solidFill>
                          <a:schemeClr val="tx1"/>
                        </a:solidFill>
                        <a:effectLst/>
                        <a:latin typeface="Arial" charset="0"/>
                      </a:endParaRPr>
                    </a:p>
                  </a:txBody>
                  <a:tcPr marT="45694" marB="4569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s-ES" altLang="es-ES" sz="1600" b="0" i="1" u="none" strike="noStrike" cap="none" normalizeH="0" baseline="0" dirty="0">
                          <a:ln>
                            <a:noFill/>
                          </a:ln>
                          <a:solidFill>
                            <a:schemeClr val="tx1"/>
                          </a:solidFill>
                          <a:effectLst/>
                          <a:latin typeface="Arial" charset="0"/>
                        </a:rPr>
                        <a:t>N</a:t>
                      </a:r>
                      <a:r>
                        <a:rPr kumimoji="0" lang="es-ES" altLang="es-ES" sz="1600" b="0" i="1" u="none" strike="noStrike" cap="none" normalizeH="0" baseline="-25000" dirty="0">
                          <a:ln>
                            <a:noFill/>
                          </a:ln>
                          <a:solidFill>
                            <a:schemeClr val="tx1"/>
                          </a:solidFill>
                          <a:effectLst/>
                          <a:latin typeface="Arial" charset="0"/>
                        </a:rPr>
                        <a:t>i</a:t>
                      </a:r>
                    </a:p>
                  </a:txBody>
                  <a:tcPr marT="45694" marB="4569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F</a:t>
                      </a:r>
                      <a:r>
                        <a:rPr kumimoji="0" lang="es-ES" altLang="es-ES" sz="1600" b="0" i="0" u="none" strike="noStrike" cap="none" normalizeH="0" baseline="-25000" dirty="0">
                          <a:ln>
                            <a:noFill/>
                          </a:ln>
                          <a:solidFill>
                            <a:srgbClr val="000000"/>
                          </a:solidFill>
                          <a:effectLst/>
                          <a:latin typeface="Arial" charset="0"/>
                          <a:cs typeface="Arial" charset="0"/>
                        </a:rPr>
                        <a:t>i</a:t>
                      </a:r>
                      <a:r>
                        <a:rPr kumimoji="0" lang="es-ES" altLang="es-ES" sz="1600" b="0" i="0" u="none" strike="noStrike" cap="none" normalizeH="0" baseline="0" dirty="0">
                          <a:ln>
                            <a:noFill/>
                          </a:ln>
                          <a:solidFill>
                            <a:srgbClr val="000000"/>
                          </a:solidFill>
                          <a:effectLst/>
                          <a:latin typeface="Arial" charset="0"/>
                          <a:cs typeface="Arial" charset="0"/>
                        </a:rPr>
                        <a:t>(%) </a:t>
                      </a:r>
                      <a:r>
                        <a:rPr kumimoji="0" lang="es-ES" altLang="es-ES" sz="1600" b="0" i="0" u="none" strike="noStrike" cap="none" normalizeH="0" baseline="0" dirty="0" err="1">
                          <a:ln>
                            <a:noFill/>
                          </a:ln>
                          <a:solidFill>
                            <a:srgbClr val="000000"/>
                          </a:solidFill>
                          <a:effectLst/>
                          <a:latin typeface="Arial" charset="0"/>
                          <a:cs typeface="Arial" charset="0"/>
                        </a:rPr>
                        <a:t>acum</a:t>
                      </a:r>
                      <a:r>
                        <a:rPr kumimoji="0" lang="es-ES" altLang="es-ES" sz="1600" b="0" i="0" u="none" strike="noStrike" cap="none" normalizeH="0" baseline="0" dirty="0">
                          <a:ln>
                            <a:noFill/>
                          </a:ln>
                          <a:solidFill>
                            <a:srgbClr val="000000"/>
                          </a:solidFill>
                          <a:effectLst/>
                          <a:latin typeface="Arial" charset="0"/>
                          <a:cs typeface="Arial" charset="0"/>
                        </a:rPr>
                        <a:t>.</a:t>
                      </a:r>
                      <a:endParaRPr kumimoji="0" lang="es-ES" altLang="es-ES" sz="1600" b="0" i="0" u="none" strike="noStrike" cap="none" normalizeH="0" baseline="0" dirty="0">
                        <a:ln>
                          <a:noFill/>
                        </a:ln>
                        <a:solidFill>
                          <a:schemeClr val="tx1"/>
                        </a:solidFill>
                        <a:effectLst/>
                        <a:latin typeface="Arial" charset="0"/>
                      </a:endParaRPr>
                    </a:p>
                  </a:txBody>
                  <a:tcPr marT="45694" marB="4569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176">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15</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5</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chemeClr val="tx1"/>
                          </a:solidFill>
                          <a:effectLst/>
                          <a:latin typeface="Arial" charset="0"/>
                        </a:rPr>
                        <a:t>5</a:t>
                      </a: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4.0</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694" marB="4569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menos de 21</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5</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chemeClr val="tx1"/>
                          </a:solidFill>
                          <a:effectLst/>
                          <a:latin typeface="Arial" charset="0"/>
                        </a:rPr>
                        <a:t>5</a:t>
                      </a: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4.0</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176">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16</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28</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33</a:t>
                      </a:r>
                      <a:endParaRPr kumimoji="0" lang="es-ES" altLang="es-ES" sz="1600" b="0" i="0" u="none" strike="noStrike" cap="none" normalizeH="0" baseline="0" dirty="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26.6</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694" marB="4569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21-25</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28</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33</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26.6</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176">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17</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64</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97</a:t>
                      </a:r>
                      <a:endParaRPr kumimoji="0" lang="es-ES" altLang="es-ES" sz="1600" b="0" i="0" u="none" strike="noStrike" cap="none" normalizeH="0" baseline="0" dirty="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78.2</a:t>
                      </a:r>
                      <a:endParaRPr kumimoji="0" lang="es-ES" altLang="es-ES" sz="1600" b="0" i="0" u="none" strike="noStrike" cap="none" normalizeH="0" baseline="0" dirty="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694" marB="4569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26-30</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64</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97</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78.2</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176">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18</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18</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115</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92.7</a:t>
                      </a:r>
                      <a:endParaRPr kumimoji="0" lang="es-ES" altLang="es-ES" sz="1600" b="0" i="0" u="none" strike="noStrike" cap="none" normalizeH="0" baseline="0" dirty="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694" marB="4569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31-35</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18</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115</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92.7</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176">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19</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6</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chemeClr val="tx1"/>
                          </a:solidFill>
                          <a:effectLst/>
                          <a:latin typeface="Arial" charset="0"/>
                        </a:rPr>
                        <a:t>121</a:t>
                      </a: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charset="0"/>
                          <a:cs typeface="Arial" charset="0"/>
                        </a:rPr>
                        <a:t>97.6</a:t>
                      </a:r>
                      <a:endParaRPr kumimoji="0" lang="es-ES" altLang="es-ES" sz="1600" b="0" i="0" u="none" strike="noStrike" cap="none" normalizeH="0" baseline="0" dirty="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694" marB="4569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36-40</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6</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chemeClr val="tx1"/>
                          </a:solidFill>
                          <a:effectLst/>
                          <a:latin typeface="Arial" charset="0"/>
                        </a:rPr>
                        <a:t>121</a:t>
                      </a: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97.6</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176">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20</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3</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FF0000"/>
                          </a:solidFill>
                          <a:effectLst/>
                          <a:latin typeface="Arial" charset="0"/>
                        </a:rPr>
                        <a:t>124</a:t>
                      </a: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FF0000"/>
                          </a:solidFill>
                          <a:effectLst/>
                          <a:latin typeface="Arial" charset="0"/>
                          <a:cs typeface="Arial" charset="0"/>
                        </a:rPr>
                        <a:t>100.0</a:t>
                      </a:r>
                      <a:endParaRPr kumimoji="0" lang="es-ES" altLang="es-ES" sz="1600" b="0" i="0" u="none" strike="noStrike" cap="none" normalizeH="0" baseline="0" dirty="0">
                        <a:ln>
                          <a:noFill/>
                        </a:ln>
                        <a:solidFill>
                          <a:srgbClr val="FF0000"/>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chemeClr val="tx1"/>
                        </a:solidFill>
                        <a:effectLst/>
                        <a:latin typeface="Arial" charset="0"/>
                      </a:endParaRPr>
                    </a:p>
                  </a:txBody>
                  <a:tcPr marT="45694" marB="4569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más de 40</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000000"/>
                          </a:solidFill>
                          <a:effectLst/>
                          <a:latin typeface="Arial" charset="0"/>
                          <a:cs typeface="Arial" charset="0"/>
                        </a:rPr>
                        <a:t>3</a:t>
                      </a:r>
                      <a:endParaRPr kumimoji="0" lang="es-ES" altLang="es-ES" sz="1600" b="0" i="0" u="none" strike="noStrike" cap="none" normalizeH="0" baseline="0">
                        <a:ln>
                          <a:noFill/>
                        </a:ln>
                        <a:solidFill>
                          <a:schemeClr val="tx1"/>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FF0000"/>
                          </a:solidFill>
                          <a:effectLst/>
                          <a:latin typeface="Arial" charset="0"/>
                        </a:rPr>
                        <a:t>124</a:t>
                      </a: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FF0000"/>
                          </a:solidFill>
                          <a:effectLst/>
                          <a:latin typeface="Arial" charset="0"/>
                          <a:cs typeface="Arial" charset="0"/>
                        </a:rPr>
                        <a:t>100.0</a:t>
                      </a:r>
                      <a:endParaRPr kumimoji="0" lang="es-ES" altLang="es-ES" sz="1600" b="0" i="0" u="none" strike="noStrike" cap="none" normalizeH="0" baseline="0" dirty="0">
                        <a:ln>
                          <a:noFill/>
                        </a:ln>
                        <a:solidFill>
                          <a:srgbClr val="FF0000"/>
                        </a:solidFill>
                        <a:effectLst/>
                        <a:latin typeface="Arial"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5176">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969696"/>
                          </a:solidFill>
                          <a:effectLst/>
                          <a:latin typeface="Arial" charset="0"/>
                          <a:cs typeface="Arial" charset="0"/>
                        </a:rPr>
                        <a:t>Total</a:t>
                      </a:r>
                      <a:endParaRPr kumimoji="0" lang="es-ES" altLang="es-ES" sz="1600" b="0" i="0" u="none" strike="noStrike" cap="none" normalizeH="0" baseline="0" dirty="0">
                        <a:ln>
                          <a:noFill/>
                        </a:ln>
                        <a:solidFill>
                          <a:srgbClr val="969696"/>
                        </a:solidFill>
                        <a:effectLst/>
                        <a:latin typeface="Arial" charset="0"/>
                      </a:endParaRPr>
                    </a:p>
                  </a:txBody>
                  <a:tcPr marT="45694" marB="45694"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1" i="0" u="none" strike="noStrike" cap="none" normalizeH="0" baseline="0" dirty="0">
                          <a:ln>
                            <a:noFill/>
                          </a:ln>
                          <a:solidFill>
                            <a:srgbClr val="FF0000"/>
                          </a:solidFill>
                          <a:effectLst/>
                          <a:latin typeface="Arial" charset="0"/>
                          <a:cs typeface="Arial" charset="0"/>
                        </a:rPr>
                        <a:t>n=124</a:t>
                      </a:r>
                      <a:endParaRPr kumimoji="0" lang="es-ES" altLang="es-ES" sz="1600" b="1" i="0" u="none" strike="noStrike" cap="none" normalizeH="0" baseline="0" dirty="0">
                        <a:ln>
                          <a:noFill/>
                        </a:ln>
                        <a:solidFill>
                          <a:srgbClr val="FF0000"/>
                        </a:solidFill>
                        <a:effectLst/>
                        <a:latin typeface="Arial" charset="0"/>
                      </a:endParaRPr>
                    </a:p>
                  </a:txBody>
                  <a:tcPr marT="45694" marB="45694"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endParaRPr kumimoji="0" lang="es-ES" altLang="es-ES" sz="1600" b="0" i="0" u="none" strike="noStrike" cap="none" normalizeH="0" baseline="0">
                        <a:ln>
                          <a:noFill/>
                        </a:ln>
                        <a:solidFill>
                          <a:srgbClr val="969696"/>
                        </a:solidFill>
                        <a:effectLst/>
                        <a:latin typeface="Arial" charset="0"/>
                      </a:endParaRPr>
                    </a:p>
                  </a:txBody>
                  <a:tcPr marT="45694" marB="45694"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endParaRPr kumimoji="0" lang="es-ES" altLang="es-ES" sz="1600" b="0" i="0" u="none" strike="noStrike" cap="none" normalizeH="0" baseline="0" dirty="0">
                        <a:ln>
                          <a:noFill/>
                        </a:ln>
                        <a:solidFill>
                          <a:srgbClr val="969696"/>
                        </a:solidFill>
                        <a:effectLst/>
                        <a:latin typeface="Arial" charset="0"/>
                      </a:endParaRPr>
                    </a:p>
                  </a:txBody>
                  <a:tcPr marT="45694" marB="45694"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600" b="0" i="0" u="none" strike="noStrike" cap="none" normalizeH="0" baseline="0">
                        <a:ln>
                          <a:noFill/>
                        </a:ln>
                        <a:solidFill>
                          <a:srgbClr val="969696"/>
                        </a:solidFill>
                        <a:effectLst/>
                        <a:latin typeface="Arial" charset="0"/>
                      </a:endParaRPr>
                    </a:p>
                  </a:txBody>
                  <a:tcPr marT="45694" marB="45694" anchor="b" horzOverflow="overflow">
                    <a:lnL>
                      <a:noFill/>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969696"/>
                          </a:solidFill>
                          <a:effectLst/>
                          <a:latin typeface="Arial" charset="0"/>
                          <a:cs typeface="Arial" charset="0"/>
                        </a:rPr>
                        <a:t>Total</a:t>
                      </a:r>
                      <a:endParaRPr kumimoji="0" lang="es-ES" altLang="es-ES" sz="1600" b="0" i="0" u="none" strike="noStrike" cap="none" normalizeH="0" baseline="0" dirty="0">
                        <a:ln>
                          <a:noFill/>
                        </a:ln>
                        <a:solidFill>
                          <a:srgbClr val="969696"/>
                        </a:solidFill>
                        <a:effectLst/>
                        <a:latin typeface="Arial" charset="0"/>
                      </a:endParaRPr>
                    </a:p>
                  </a:txBody>
                  <a:tcPr marT="45694" marB="45694"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FF0000"/>
                          </a:solidFill>
                          <a:effectLst/>
                          <a:latin typeface="Arial" charset="0"/>
                          <a:cs typeface="Arial" charset="0"/>
                        </a:rPr>
                        <a:t>n=124</a:t>
                      </a:r>
                      <a:endParaRPr kumimoji="0" lang="es-ES" altLang="es-ES" sz="1600" b="0" i="0" u="none" strike="noStrike" cap="none" normalizeH="0" baseline="0" dirty="0">
                        <a:ln>
                          <a:noFill/>
                        </a:ln>
                        <a:solidFill>
                          <a:srgbClr val="FF0000"/>
                        </a:solidFill>
                        <a:effectLst/>
                        <a:latin typeface="Arial" charset="0"/>
                      </a:endParaRPr>
                    </a:p>
                  </a:txBody>
                  <a:tcPr marT="45694" marB="45694"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endParaRPr kumimoji="0" lang="es-ES" altLang="es-ES" sz="1600" b="0" i="0" u="none" strike="noStrike" cap="none" normalizeH="0" baseline="0">
                        <a:ln>
                          <a:noFill/>
                        </a:ln>
                        <a:solidFill>
                          <a:srgbClr val="969696"/>
                        </a:solidFill>
                        <a:effectLst/>
                        <a:latin typeface="Arial" charset="0"/>
                      </a:endParaRPr>
                    </a:p>
                  </a:txBody>
                  <a:tcPr marT="45694" marB="45694"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969696"/>
                          </a:solidFill>
                          <a:effectLst/>
                          <a:latin typeface="Arial" charset="0"/>
                          <a:cs typeface="Arial" charset="0"/>
                        </a:rPr>
                        <a:t> </a:t>
                      </a:r>
                      <a:endParaRPr kumimoji="0" lang="es-ES" altLang="es-ES" sz="1600" b="0" i="0" u="none" strike="noStrike" cap="none" normalizeH="0" baseline="0" dirty="0">
                        <a:ln>
                          <a:noFill/>
                        </a:ln>
                        <a:solidFill>
                          <a:srgbClr val="969696"/>
                        </a:solidFill>
                        <a:effectLst/>
                        <a:latin typeface="Arial" charset="0"/>
                      </a:endParaRPr>
                    </a:p>
                  </a:txBody>
                  <a:tcPr marT="45694" marB="45694"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8"/>
                  </a:ext>
                </a:extLst>
              </a:tr>
            </a:tbl>
          </a:graphicData>
        </a:graphic>
      </p:graphicFrame>
      <p:graphicFrame>
        <p:nvGraphicFramePr>
          <p:cNvPr id="25705" name="3 Objeto"/>
          <p:cNvGraphicFramePr>
            <a:graphicFrameLocks noChangeAspect="1"/>
          </p:cNvGraphicFramePr>
          <p:nvPr/>
        </p:nvGraphicFramePr>
        <p:xfrm>
          <a:off x="5441950" y="4484688"/>
          <a:ext cx="2792413" cy="598487"/>
        </p:xfrm>
        <a:graphic>
          <a:graphicData uri="http://schemas.openxmlformats.org/presentationml/2006/ole">
            <mc:AlternateContent xmlns:mc="http://schemas.openxmlformats.org/markup-compatibility/2006">
              <mc:Choice xmlns:v="urn:schemas-microsoft-com:vml" Requires="v">
                <p:oleObj name="Equation" r:id="rId2" imgW="1600200" imgH="342900" progId="Equation.DSMT4">
                  <p:embed/>
                </p:oleObj>
              </mc:Choice>
              <mc:Fallback>
                <p:oleObj name="Equation" r:id="rId2" imgW="1600200" imgH="342900" progId="Equation.DSMT4">
                  <p:embed/>
                  <p:pic>
                    <p:nvPicPr>
                      <p:cNvPr id="0" name="3 Objet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1950" y="4484688"/>
                        <a:ext cx="2792413" cy="598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706" name="5 Objeto"/>
          <p:cNvGraphicFramePr>
            <a:graphicFrameLocks noChangeAspect="1"/>
          </p:cNvGraphicFramePr>
          <p:nvPr/>
        </p:nvGraphicFramePr>
        <p:xfrm>
          <a:off x="1098550" y="4441825"/>
          <a:ext cx="2305050" cy="598488"/>
        </p:xfrm>
        <a:graphic>
          <a:graphicData uri="http://schemas.openxmlformats.org/presentationml/2006/ole">
            <mc:AlternateContent xmlns:mc="http://schemas.openxmlformats.org/markup-compatibility/2006">
              <mc:Choice xmlns:v="urn:schemas-microsoft-com:vml" Requires="v">
                <p:oleObj name="Equation" r:id="rId4" imgW="1320227" imgH="342751" progId="Equation.DSMT4">
                  <p:embed/>
                </p:oleObj>
              </mc:Choice>
              <mc:Fallback>
                <p:oleObj name="Equation" r:id="rId4" imgW="1320227" imgH="342751" progId="Equation.DSMT4">
                  <p:embed/>
                  <p:pic>
                    <p:nvPicPr>
                      <p:cNvPr id="0" name="5 Objet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8550" y="4441825"/>
                        <a:ext cx="2305050" cy="598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707" name="Text Box 4"/>
          <p:cNvSpPr txBox="1">
            <a:spLocks noChangeArrowheads="1"/>
          </p:cNvSpPr>
          <p:nvPr/>
        </p:nvSpPr>
        <p:spPr bwMode="auto">
          <a:xfrm>
            <a:off x="330200" y="5105400"/>
            <a:ext cx="3556000" cy="1169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_tradnl" altLang="es-ES" sz="1400" b="1"/>
              <a:t>La mediana </a:t>
            </a:r>
            <a:r>
              <a:rPr lang="es-ES_tradnl" altLang="es-ES" sz="1400"/>
              <a:t>es el primer valor de la variable cuya frecuencia acumulada es mayor o igual a 62.5 o, equivalentemente, cuyo porcentaje acumulado es mayor o igual al 50%</a:t>
            </a:r>
            <a:endParaRPr lang="en-GB" altLang="es-ES" sz="1400"/>
          </a:p>
        </p:txBody>
      </p:sp>
      <p:sp>
        <p:nvSpPr>
          <p:cNvPr id="25708" name="Text Box 4"/>
          <p:cNvSpPr txBox="1">
            <a:spLocks noChangeArrowheads="1"/>
          </p:cNvSpPr>
          <p:nvPr/>
        </p:nvSpPr>
        <p:spPr bwMode="auto">
          <a:xfrm>
            <a:off x="4953000" y="5092700"/>
            <a:ext cx="386080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_tradnl" altLang="es-ES" sz="1400" dirty="0"/>
              <a:t>Cuando la variable está agrupada en intervalos, la mediana se puede aproximar por </a:t>
            </a:r>
            <a:r>
              <a:rPr lang="es-ES_tradnl" altLang="es-ES" sz="1400" b="1" i="1" dirty="0"/>
              <a:t>interpolación</a:t>
            </a:r>
            <a:r>
              <a:rPr lang="es-ES_tradnl" altLang="es-ES" sz="1400" dirty="0"/>
              <a:t> </a:t>
            </a:r>
            <a:r>
              <a:rPr lang="es-ES_tradnl" altLang="es-ES" sz="1400" b="1" i="1" dirty="0"/>
              <a:t>lineal</a:t>
            </a:r>
            <a:r>
              <a:rPr lang="es-ES_tradnl" altLang="es-ES" sz="1400" dirty="0"/>
              <a:t> (se ve en prácticas)</a:t>
            </a:r>
          </a:p>
        </p:txBody>
      </p:sp>
      <p:sp>
        <p:nvSpPr>
          <p:cNvPr id="9" name="Text Box 6"/>
          <p:cNvSpPr txBox="1">
            <a:spLocks noChangeArrowheads="1"/>
          </p:cNvSpPr>
          <p:nvPr/>
        </p:nvSpPr>
        <p:spPr bwMode="auto">
          <a:xfrm>
            <a:off x="246063" y="838200"/>
            <a:ext cx="1506537"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s-ES_tradnl" altLang="es-ES" sz="1600" dirty="0">
                <a:latin typeface="+mn-lt"/>
              </a:rPr>
              <a:t>Más ejemplos:</a:t>
            </a:r>
            <a:endParaRPr lang="en-GB" altLang="es-ES" sz="1600" dirty="0">
              <a:latin typeface="+mn-l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7E4456E-3C95-932D-E936-C3B738A751AC}"/>
              </a:ext>
            </a:extLst>
          </p:cNvPr>
          <p:cNvPicPr>
            <a:picLocks noChangeAspect="1"/>
          </p:cNvPicPr>
          <p:nvPr/>
        </p:nvPicPr>
        <p:blipFill>
          <a:blip r:embed="rId2"/>
          <a:stretch>
            <a:fillRect/>
          </a:stretch>
        </p:blipFill>
        <p:spPr>
          <a:xfrm>
            <a:off x="209919" y="1447800"/>
            <a:ext cx="8248281" cy="3429000"/>
          </a:xfrm>
          <a:prstGeom prst="rect">
            <a:avLst/>
          </a:prstGeom>
        </p:spPr>
      </p:pic>
      <p:sp>
        <p:nvSpPr>
          <p:cNvPr id="2" name="TextBox 1">
            <a:extLst>
              <a:ext uri="{FF2B5EF4-FFF2-40B4-BE49-F238E27FC236}">
                <a16:creationId xmlns:a16="http://schemas.microsoft.com/office/drawing/2014/main" id="{36184E72-063A-8131-0A2A-EE896B82CFDC}"/>
              </a:ext>
            </a:extLst>
          </p:cNvPr>
          <p:cNvSpPr txBox="1"/>
          <p:nvPr/>
        </p:nvSpPr>
        <p:spPr>
          <a:xfrm>
            <a:off x="1905000" y="4901609"/>
            <a:ext cx="5059398" cy="1200329"/>
          </a:xfrm>
          <a:prstGeom prst="rect">
            <a:avLst/>
          </a:prstGeom>
          <a:noFill/>
        </p:spPr>
        <p:txBody>
          <a:bodyPr wrap="none" rtlCol="0">
            <a:spAutoFit/>
          </a:bodyPr>
          <a:lstStyle/>
          <a:p>
            <a:r>
              <a:rPr lang="en-US" b="1" dirty="0"/>
              <a:t>C</a:t>
            </a:r>
            <a:r>
              <a:rPr lang="en-US" dirty="0"/>
              <a:t> = </a:t>
            </a:r>
            <a:r>
              <a:rPr lang="en-US" dirty="0" err="1"/>
              <a:t>cuantil</a:t>
            </a:r>
            <a:r>
              <a:rPr lang="en-US" dirty="0"/>
              <a:t> (alfa)</a:t>
            </a:r>
          </a:p>
          <a:p>
            <a:r>
              <a:rPr lang="en-US" b="1" dirty="0"/>
              <a:t>I</a:t>
            </a:r>
            <a:r>
              <a:rPr lang="en-US" b="1" baseline="-25000" dirty="0"/>
              <a:t>i-1</a:t>
            </a:r>
            <a:r>
              <a:rPr lang="en-US" dirty="0"/>
              <a:t> = </a:t>
            </a:r>
            <a:r>
              <a:rPr lang="en-US" dirty="0" err="1"/>
              <a:t>extremo</a:t>
            </a:r>
            <a:r>
              <a:rPr lang="en-US" dirty="0"/>
              <a:t> inferior del interval </a:t>
            </a:r>
            <a:r>
              <a:rPr lang="en-US" dirty="0" err="1"/>
              <a:t>agrupado</a:t>
            </a:r>
            <a:r>
              <a:rPr lang="en-US" dirty="0"/>
              <a:t> para la </a:t>
            </a:r>
            <a:r>
              <a:rPr lang="en-US" dirty="0" err="1"/>
              <a:t>categoria</a:t>
            </a:r>
            <a:r>
              <a:rPr lang="en-US" dirty="0"/>
              <a:t> </a:t>
            </a:r>
            <a:r>
              <a:rPr lang="en-US" dirty="0" err="1"/>
              <a:t>identificada</a:t>
            </a:r>
            <a:endParaRPr lang="en-US" dirty="0"/>
          </a:p>
          <a:p>
            <a:r>
              <a:rPr lang="en-US" b="1" dirty="0"/>
              <a:t>ALFA </a:t>
            </a:r>
            <a:r>
              <a:rPr lang="en-US" dirty="0"/>
              <a:t> = 0.3 (</a:t>
            </a:r>
            <a:r>
              <a:rPr lang="en-US" dirty="0" err="1"/>
              <a:t>cuantil</a:t>
            </a:r>
            <a:r>
              <a:rPr lang="en-US" dirty="0"/>
              <a:t> 30% o </a:t>
            </a:r>
            <a:r>
              <a:rPr lang="en-US" dirty="0" err="1"/>
              <a:t>Decil</a:t>
            </a:r>
            <a:r>
              <a:rPr lang="en-US" dirty="0"/>
              <a:t> 3 o </a:t>
            </a:r>
            <a:r>
              <a:rPr lang="en-US" dirty="0" err="1"/>
              <a:t>Percentil</a:t>
            </a:r>
            <a:r>
              <a:rPr lang="en-US" dirty="0"/>
              <a:t> 30)</a:t>
            </a:r>
          </a:p>
          <a:p>
            <a:r>
              <a:rPr lang="en-US" b="1" dirty="0"/>
              <a:t>n</a:t>
            </a:r>
            <a:r>
              <a:rPr lang="en-US" dirty="0"/>
              <a:t> = </a:t>
            </a:r>
            <a:r>
              <a:rPr lang="en-US" dirty="0" err="1"/>
              <a:t>tamaño</a:t>
            </a:r>
            <a:r>
              <a:rPr lang="en-US" dirty="0"/>
              <a:t> de la </a:t>
            </a:r>
            <a:r>
              <a:rPr lang="en-US" dirty="0" err="1"/>
              <a:t>muestra</a:t>
            </a:r>
            <a:endParaRPr lang="en-US" dirty="0"/>
          </a:p>
          <a:p>
            <a:r>
              <a:rPr lang="en-US" b="1" dirty="0"/>
              <a:t>N</a:t>
            </a:r>
            <a:r>
              <a:rPr lang="en-US" dirty="0"/>
              <a:t> = </a:t>
            </a:r>
            <a:r>
              <a:rPr lang="en-US" dirty="0" err="1"/>
              <a:t>frecuencia</a:t>
            </a:r>
            <a:r>
              <a:rPr lang="en-US" dirty="0"/>
              <a:t> </a:t>
            </a:r>
            <a:r>
              <a:rPr lang="en-US" dirty="0" err="1"/>
              <a:t>absoluta</a:t>
            </a:r>
            <a:r>
              <a:rPr lang="en-US" dirty="0"/>
              <a:t> </a:t>
            </a:r>
            <a:r>
              <a:rPr lang="en-US" dirty="0" err="1"/>
              <a:t>acumulada</a:t>
            </a:r>
            <a:endParaRPr lang="en-US" dirty="0"/>
          </a:p>
          <a:p>
            <a:r>
              <a:rPr lang="en-US" b="1" dirty="0"/>
              <a:t>a</a:t>
            </a:r>
            <a:r>
              <a:rPr lang="en-US" dirty="0"/>
              <a:t> = </a:t>
            </a:r>
            <a:r>
              <a:rPr lang="en-US" dirty="0" err="1"/>
              <a:t>amplitud</a:t>
            </a:r>
            <a:endParaRPr lang="en-US" dirty="0"/>
          </a:p>
        </p:txBody>
      </p:sp>
    </p:spTree>
    <p:extLst>
      <p:ext uri="{BB962C8B-B14F-4D97-AF65-F5344CB8AC3E}">
        <p14:creationId xmlns:p14="http://schemas.microsoft.com/office/powerpoint/2010/main" val="10948103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48D1868-A2EE-1AE8-F1A1-CCB3FF1EBA45}"/>
              </a:ext>
            </a:extLst>
          </p:cNvPr>
          <p:cNvPicPr>
            <a:picLocks noChangeAspect="1"/>
          </p:cNvPicPr>
          <p:nvPr/>
        </p:nvPicPr>
        <p:blipFill>
          <a:blip r:embed="rId2"/>
          <a:stretch>
            <a:fillRect/>
          </a:stretch>
        </p:blipFill>
        <p:spPr>
          <a:xfrm>
            <a:off x="1524000" y="3048000"/>
            <a:ext cx="5867400" cy="3653720"/>
          </a:xfrm>
          <a:prstGeom prst="rect">
            <a:avLst/>
          </a:prstGeom>
        </p:spPr>
      </p:pic>
      <p:pic>
        <p:nvPicPr>
          <p:cNvPr id="2" name="Picture 1">
            <a:extLst>
              <a:ext uri="{FF2B5EF4-FFF2-40B4-BE49-F238E27FC236}">
                <a16:creationId xmlns:a16="http://schemas.microsoft.com/office/drawing/2014/main" id="{D9F35E51-AB80-B994-A85C-9D07DA9114AE}"/>
              </a:ext>
            </a:extLst>
          </p:cNvPr>
          <p:cNvPicPr>
            <a:picLocks noChangeAspect="1"/>
          </p:cNvPicPr>
          <p:nvPr/>
        </p:nvPicPr>
        <p:blipFill>
          <a:blip r:embed="rId3"/>
          <a:stretch>
            <a:fillRect/>
          </a:stretch>
        </p:blipFill>
        <p:spPr>
          <a:xfrm>
            <a:off x="0" y="30126"/>
            <a:ext cx="8248281" cy="3276600"/>
          </a:xfrm>
          <a:prstGeom prst="rect">
            <a:avLst/>
          </a:prstGeom>
        </p:spPr>
      </p:pic>
    </p:spTree>
    <p:extLst>
      <p:ext uri="{BB962C8B-B14F-4D97-AF65-F5344CB8AC3E}">
        <p14:creationId xmlns:p14="http://schemas.microsoft.com/office/powerpoint/2010/main" val="34288058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F7DE32-760F-BD4F-CE64-7C966F9286A3}"/>
              </a:ext>
            </a:extLst>
          </p:cNvPr>
          <p:cNvPicPr>
            <a:picLocks noChangeAspect="1"/>
          </p:cNvPicPr>
          <p:nvPr/>
        </p:nvPicPr>
        <p:blipFill>
          <a:blip r:embed="rId2"/>
          <a:stretch>
            <a:fillRect/>
          </a:stretch>
        </p:blipFill>
        <p:spPr>
          <a:xfrm>
            <a:off x="191418" y="990600"/>
            <a:ext cx="8761166" cy="4876800"/>
          </a:xfrm>
          <a:prstGeom prst="rect">
            <a:avLst/>
          </a:prstGeom>
        </p:spPr>
      </p:pic>
    </p:spTree>
    <p:extLst>
      <p:ext uri="{BB962C8B-B14F-4D97-AF65-F5344CB8AC3E}">
        <p14:creationId xmlns:p14="http://schemas.microsoft.com/office/powerpoint/2010/main" val="30513179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F7DE32-760F-BD4F-CE64-7C966F9286A3}"/>
              </a:ext>
            </a:extLst>
          </p:cNvPr>
          <p:cNvPicPr>
            <a:picLocks noChangeAspect="1"/>
          </p:cNvPicPr>
          <p:nvPr/>
        </p:nvPicPr>
        <p:blipFill>
          <a:blip r:embed="rId2"/>
          <a:stretch>
            <a:fillRect/>
          </a:stretch>
        </p:blipFill>
        <p:spPr>
          <a:xfrm>
            <a:off x="-1" y="1981200"/>
            <a:ext cx="8248281" cy="4495800"/>
          </a:xfrm>
          <a:prstGeom prst="rect">
            <a:avLst/>
          </a:prstGeom>
        </p:spPr>
      </p:pic>
      <p:pic>
        <p:nvPicPr>
          <p:cNvPr id="2" name="Picture 1">
            <a:extLst>
              <a:ext uri="{FF2B5EF4-FFF2-40B4-BE49-F238E27FC236}">
                <a16:creationId xmlns:a16="http://schemas.microsoft.com/office/drawing/2014/main" id="{4600A3D9-4ED8-27E2-AD04-8BEB69944918}"/>
              </a:ext>
            </a:extLst>
          </p:cNvPr>
          <p:cNvPicPr>
            <a:picLocks noChangeAspect="1"/>
          </p:cNvPicPr>
          <p:nvPr/>
        </p:nvPicPr>
        <p:blipFill>
          <a:blip r:embed="rId3"/>
          <a:stretch>
            <a:fillRect/>
          </a:stretch>
        </p:blipFill>
        <p:spPr>
          <a:xfrm>
            <a:off x="0" y="12700"/>
            <a:ext cx="8248281" cy="2959100"/>
          </a:xfrm>
          <a:prstGeom prst="rect">
            <a:avLst/>
          </a:prstGeom>
        </p:spPr>
      </p:pic>
    </p:spTree>
    <p:extLst>
      <p:ext uri="{BB962C8B-B14F-4D97-AF65-F5344CB8AC3E}">
        <p14:creationId xmlns:p14="http://schemas.microsoft.com/office/powerpoint/2010/main" val="8642630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ext Box 4"/>
          <p:cNvSpPr txBox="1">
            <a:spLocks noChangeArrowheads="1"/>
          </p:cNvSpPr>
          <p:nvPr/>
        </p:nvSpPr>
        <p:spPr bwMode="auto">
          <a:xfrm>
            <a:off x="304800" y="1273175"/>
            <a:ext cx="815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_tradnl" altLang="es-ES" sz="1600" b="1"/>
              <a:t>Media ar</a:t>
            </a:r>
            <a:r>
              <a:rPr lang="es-ES" altLang="es-ES" sz="1600" b="1"/>
              <a:t>itmética</a:t>
            </a:r>
            <a:r>
              <a:rPr lang="es-ES_tradnl" altLang="es-ES" sz="1600"/>
              <a:t>: dada una muestra de </a:t>
            </a:r>
            <a:r>
              <a:rPr lang="es-ES_tradnl" altLang="es-ES" sz="1800" i="1">
                <a:latin typeface="Times New Roman" pitchFamily="18" charset="0"/>
              </a:rPr>
              <a:t>n</a:t>
            </a:r>
            <a:r>
              <a:rPr lang="es-ES_tradnl" altLang="es-ES" sz="1600" i="1">
                <a:latin typeface="Times New Roman" pitchFamily="18" charset="0"/>
              </a:rPr>
              <a:t> </a:t>
            </a:r>
            <a:r>
              <a:rPr lang="es-ES_tradnl" altLang="es-ES" sz="1600"/>
              <a:t>observaciones numérica</a:t>
            </a:r>
            <a:r>
              <a:rPr lang="es-ES" altLang="es-ES" sz="1600"/>
              <a:t>s</a:t>
            </a:r>
            <a:endParaRPr lang="en-GB" altLang="es-ES" sz="1600"/>
          </a:p>
        </p:txBody>
      </p:sp>
      <p:sp>
        <p:nvSpPr>
          <p:cNvPr id="26628" name="Text Box 15"/>
          <p:cNvSpPr txBox="1">
            <a:spLocks noChangeArrowheads="1"/>
          </p:cNvSpPr>
          <p:nvPr/>
        </p:nvSpPr>
        <p:spPr bwMode="auto">
          <a:xfrm>
            <a:off x="228600" y="914400"/>
            <a:ext cx="147348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600" b="1" dirty="0">
                <a:solidFill>
                  <a:schemeClr val="accent1">
                    <a:lumMod val="25000"/>
                  </a:schemeClr>
                </a:solidFill>
              </a:rPr>
              <a:t>Cuantitativas</a:t>
            </a:r>
            <a:endParaRPr lang="es-ES" altLang="es-ES" sz="1600" b="1" dirty="0">
              <a:solidFill>
                <a:schemeClr val="accent1">
                  <a:lumMod val="25000"/>
                </a:schemeClr>
              </a:solidFill>
            </a:endParaRPr>
          </a:p>
        </p:txBody>
      </p:sp>
      <p:sp>
        <p:nvSpPr>
          <p:cNvPr id="26629" name="Text Box 112"/>
          <p:cNvSpPr txBox="1">
            <a:spLocks noChangeArrowheads="1"/>
          </p:cNvSpPr>
          <p:nvPr/>
        </p:nvSpPr>
        <p:spPr bwMode="auto">
          <a:xfrm>
            <a:off x="1644650" y="957263"/>
            <a:ext cx="62039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dirty="0">
                <a:solidFill>
                  <a:schemeClr val="accent1">
                    <a:lumMod val="25000"/>
                  </a:schemeClr>
                </a:solidFill>
              </a:rPr>
              <a:t>(Además de las medidas anteriores, al manejar números, ahora podemos hacer cálculos)</a:t>
            </a:r>
            <a:endParaRPr lang="es-ES" altLang="es-ES" dirty="0">
              <a:solidFill>
                <a:schemeClr val="accent1">
                  <a:lumMod val="25000"/>
                </a:schemeClr>
              </a:solidFill>
            </a:endParaRPr>
          </a:p>
        </p:txBody>
      </p:sp>
      <p:graphicFrame>
        <p:nvGraphicFramePr>
          <p:cNvPr id="26630" name="Object 113"/>
          <p:cNvGraphicFramePr>
            <a:graphicFrameLocks noChangeAspect="1"/>
          </p:cNvGraphicFramePr>
          <p:nvPr/>
        </p:nvGraphicFramePr>
        <p:xfrm>
          <a:off x="527050" y="1600200"/>
          <a:ext cx="2398713" cy="1039813"/>
        </p:xfrm>
        <a:graphic>
          <a:graphicData uri="http://schemas.openxmlformats.org/presentationml/2006/ole">
            <mc:AlternateContent xmlns:mc="http://schemas.openxmlformats.org/markup-compatibility/2006">
              <mc:Choice xmlns:v="urn:schemas-microsoft-com:vml" Requires="v">
                <p:oleObj name="Equation" r:id="rId2" imgW="1345616" imgH="583947" progId="Equation.DSMT4">
                  <p:embed/>
                </p:oleObj>
              </mc:Choice>
              <mc:Fallback>
                <p:oleObj name="Equation" r:id="rId2" imgW="1345616" imgH="583947" progId="Equation.DSMT4">
                  <p:embed/>
                  <p:pic>
                    <p:nvPicPr>
                      <p:cNvPr id="0" name="Object 1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050" y="1600200"/>
                        <a:ext cx="2398713" cy="1039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31" name="Object 114"/>
          <p:cNvGraphicFramePr>
            <a:graphicFrameLocks noChangeAspect="1"/>
          </p:cNvGraphicFramePr>
          <p:nvPr/>
        </p:nvGraphicFramePr>
        <p:xfrm>
          <a:off x="6657975" y="1235075"/>
          <a:ext cx="933450" cy="479425"/>
        </p:xfrm>
        <a:graphic>
          <a:graphicData uri="http://schemas.openxmlformats.org/presentationml/2006/ole">
            <mc:AlternateContent xmlns:mc="http://schemas.openxmlformats.org/markup-compatibility/2006">
              <mc:Choice xmlns:v="urn:schemas-microsoft-com:vml" Requires="v">
                <p:oleObj name="Equation" r:id="rId4" imgW="444307" imgH="228501" progId="Equation.DSMT4">
                  <p:embed/>
                </p:oleObj>
              </mc:Choice>
              <mc:Fallback>
                <p:oleObj name="Equation" r:id="rId4" imgW="444307" imgH="228501" progId="Equation.DSMT4">
                  <p:embed/>
                  <p:pic>
                    <p:nvPicPr>
                      <p:cNvPr id="0" name="Object 1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57975" y="1235075"/>
                        <a:ext cx="933450"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707" name="Group 131"/>
          <p:cNvGraphicFramePr>
            <a:graphicFrameLocks noGrp="1"/>
          </p:cNvGraphicFramePr>
          <p:nvPr>
            <p:extLst>
              <p:ext uri="{D42A27DB-BD31-4B8C-83A1-F6EECF244321}">
                <p14:modId xmlns:p14="http://schemas.microsoft.com/office/powerpoint/2010/main" val="1316942063"/>
              </p:ext>
            </p:extLst>
          </p:nvPr>
        </p:nvGraphicFramePr>
        <p:xfrm>
          <a:off x="533400" y="3276600"/>
          <a:ext cx="8102599" cy="2827337"/>
        </p:xfrm>
        <a:graphic>
          <a:graphicData uri="http://schemas.openxmlformats.org/drawingml/2006/table">
            <a:tbl>
              <a:tblPr/>
              <a:tblGrid>
                <a:gridCol w="525442">
                  <a:extLst>
                    <a:ext uri="{9D8B030D-6E8A-4147-A177-3AD203B41FA5}">
                      <a16:colId xmlns:a16="http://schemas.microsoft.com/office/drawing/2014/main" val="20000"/>
                    </a:ext>
                  </a:extLst>
                </a:gridCol>
                <a:gridCol w="665136">
                  <a:extLst>
                    <a:ext uri="{9D8B030D-6E8A-4147-A177-3AD203B41FA5}">
                      <a16:colId xmlns:a16="http://schemas.microsoft.com/office/drawing/2014/main" val="20001"/>
                    </a:ext>
                  </a:extLst>
                </a:gridCol>
                <a:gridCol w="208272">
                  <a:extLst>
                    <a:ext uri="{9D8B030D-6E8A-4147-A177-3AD203B41FA5}">
                      <a16:colId xmlns:a16="http://schemas.microsoft.com/office/drawing/2014/main" val="20002"/>
                    </a:ext>
                  </a:extLst>
                </a:gridCol>
                <a:gridCol w="1217564">
                  <a:extLst>
                    <a:ext uri="{9D8B030D-6E8A-4147-A177-3AD203B41FA5}">
                      <a16:colId xmlns:a16="http://schemas.microsoft.com/office/drawing/2014/main" val="20003"/>
                    </a:ext>
                  </a:extLst>
                </a:gridCol>
                <a:gridCol w="1600137">
                  <a:extLst>
                    <a:ext uri="{9D8B030D-6E8A-4147-A177-3AD203B41FA5}">
                      <a16:colId xmlns:a16="http://schemas.microsoft.com/office/drawing/2014/main" val="20004"/>
                    </a:ext>
                  </a:extLst>
                </a:gridCol>
                <a:gridCol w="1160418">
                  <a:extLst>
                    <a:ext uri="{9D8B030D-6E8A-4147-A177-3AD203B41FA5}">
                      <a16:colId xmlns:a16="http://schemas.microsoft.com/office/drawing/2014/main" val="20005"/>
                    </a:ext>
                  </a:extLst>
                </a:gridCol>
                <a:gridCol w="592114">
                  <a:extLst>
                    <a:ext uri="{9D8B030D-6E8A-4147-A177-3AD203B41FA5}">
                      <a16:colId xmlns:a16="http://schemas.microsoft.com/office/drawing/2014/main" val="20006"/>
                    </a:ext>
                  </a:extLst>
                </a:gridCol>
                <a:gridCol w="1219152">
                  <a:extLst>
                    <a:ext uri="{9D8B030D-6E8A-4147-A177-3AD203B41FA5}">
                      <a16:colId xmlns:a16="http://schemas.microsoft.com/office/drawing/2014/main" val="20007"/>
                    </a:ext>
                  </a:extLst>
                </a:gridCol>
                <a:gridCol w="914364">
                  <a:extLst>
                    <a:ext uri="{9D8B030D-6E8A-4147-A177-3AD203B41FA5}">
                      <a16:colId xmlns:a16="http://schemas.microsoft.com/office/drawing/2014/main" val="20008"/>
                    </a:ext>
                  </a:extLst>
                </a:gridCol>
              </a:tblGrid>
              <a:tr h="509611">
                <a:tc gridSpan="4">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s-ES" altLang="es-ES" sz="1200" b="1" i="0" u="none" strike="noStrike" cap="none" normalizeH="0" baseline="0">
                          <a:ln>
                            <a:noFill/>
                          </a:ln>
                          <a:solidFill>
                            <a:schemeClr val="tx1"/>
                          </a:solidFill>
                          <a:effectLst/>
                          <a:latin typeface="Arial" charset="0"/>
                          <a:cs typeface="Arial" charset="0"/>
                        </a:rPr>
                        <a:t>Edad (años)</a:t>
                      </a:r>
                    </a:p>
                    <a:p>
                      <a:pPr marL="0" marR="0" lvl="0" indent="0" algn="ctr" defTabSz="914400" rtl="0" eaLnBrk="1" fontAlgn="b" latinLnBrk="0" hangingPunct="1">
                        <a:lnSpc>
                          <a:spcPct val="100000"/>
                        </a:lnSpc>
                        <a:spcBef>
                          <a:spcPct val="0"/>
                        </a:spcBef>
                        <a:spcAft>
                          <a:spcPct val="0"/>
                        </a:spcAft>
                        <a:buClrTx/>
                        <a:buSzTx/>
                        <a:buFontTx/>
                        <a:buNone/>
                        <a:tabLst/>
                      </a:pPr>
                      <a:r>
                        <a:rPr kumimoji="0" lang="es-ES" altLang="es-ES" sz="1200" b="1" i="0" u="none" strike="noStrike" cap="none" normalizeH="0" baseline="0">
                          <a:ln>
                            <a:noFill/>
                          </a:ln>
                          <a:solidFill>
                            <a:schemeClr val="tx1"/>
                          </a:solidFill>
                          <a:effectLst/>
                          <a:latin typeface="Arial" charset="0"/>
                          <a:cs typeface="Arial" charset="0"/>
                        </a:rPr>
                        <a:t> n=124</a:t>
                      </a:r>
                      <a:endParaRPr kumimoji="0" lang="es-ES" altLang="es-ES" sz="1200" b="0" i="0" u="none" strike="noStrike" cap="none" normalizeH="0" baseline="0">
                        <a:ln>
                          <a:noFill/>
                        </a:ln>
                        <a:solidFill>
                          <a:schemeClr val="tx1"/>
                        </a:solidFill>
                        <a:effectLst/>
                        <a:latin typeface="Arial" charset="0"/>
                      </a:endParaRPr>
                    </a:p>
                  </a:txBody>
                  <a:tcPr marL="91436" marR="91436" marT="45713" marB="45713" anchor="b" horzOverflow="overflow">
                    <a:lnL>
                      <a:noFill/>
                    </a:lnL>
                    <a:lnR>
                      <a:noFill/>
                    </a:lnR>
                    <a:lnT>
                      <a:noFill/>
                    </a:lnT>
                    <a:lnB>
                      <a:noFill/>
                    </a:lnB>
                    <a:lnTlToBr>
                      <a:noFill/>
                    </a:lnTlToBr>
                    <a:lnBlToTr>
                      <a:noFill/>
                    </a:lnBlToTr>
                    <a:noFill/>
                  </a:tcPr>
                </a:tc>
                <a:tc hMerge="1">
                  <a:txBody>
                    <a:bodyPr/>
                    <a:lstStyle/>
                    <a:p>
                      <a:endParaRPr lang="es-ES"/>
                    </a:p>
                  </a:txBody>
                  <a:tcPr/>
                </a:tc>
                <a:tc hMerge="1">
                  <a:txBody>
                    <a:bodyPr/>
                    <a:lstStyle/>
                    <a:p>
                      <a:endParaRPr lang="es-ES"/>
                    </a:p>
                  </a:txBody>
                  <a:tcPr/>
                </a:tc>
                <a:tc hMerge="1">
                  <a:txBody>
                    <a:bodyPr/>
                    <a:lstStyle/>
                    <a:p>
                      <a:endParaRPr lang="es-ES"/>
                    </a:p>
                  </a:txBody>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200" b="0" i="0" u="none" strike="noStrike" cap="none" normalizeH="0" baseline="0" dirty="0">
                        <a:ln>
                          <a:noFill/>
                        </a:ln>
                        <a:solidFill>
                          <a:schemeClr val="tx1"/>
                        </a:solidFill>
                        <a:effectLst/>
                        <a:latin typeface="Arial" charset="0"/>
                      </a:endParaRPr>
                    </a:p>
                  </a:txBody>
                  <a:tcPr marL="91436" marR="91436" marT="45713" marB="45713" anchor="b" horzOverflow="overflow">
                    <a:lnL>
                      <a:noFill/>
                    </a:lnL>
                    <a:lnR>
                      <a:noFill/>
                    </a:lnR>
                    <a:lnT>
                      <a:noFill/>
                    </a:lnT>
                    <a:lnB>
                      <a:noFill/>
                    </a:lnB>
                    <a:lnTlToBr>
                      <a:noFill/>
                    </a:lnTlToBr>
                    <a:lnBlToTr>
                      <a:noFill/>
                    </a:lnBlToTr>
                    <a:noFill/>
                  </a:tcPr>
                </a:tc>
                <a:tc gridSpan="4">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s-ES" altLang="es-ES" sz="1200" b="1" i="0" u="none" strike="noStrike" cap="none" normalizeH="0" baseline="0">
                          <a:ln>
                            <a:noFill/>
                          </a:ln>
                          <a:solidFill>
                            <a:schemeClr val="tx1"/>
                          </a:solidFill>
                          <a:effectLst/>
                          <a:latin typeface="Arial" charset="0"/>
                          <a:cs typeface="Arial" charset="0"/>
                        </a:rPr>
                        <a:t>Edad (años)</a:t>
                      </a:r>
                    </a:p>
                    <a:p>
                      <a:pPr marL="0" marR="0" lvl="0" indent="0" algn="ctr" defTabSz="914400" rtl="0" eaLnBrk="1" fontAlgn="b" latinLnBrk="0" hangingPunct="1">
                        <a:lnSpc>
                          <a:spcPct val="100000"/>
                        </a:lnSpc>
                        <a:spcBef>
                          <a:spcPct val="0"/>
                        </a:spcBef>
                        <a:spcAft>
                          <a:spcPct val="0"/>
                        </a:spcAft>
                        <a:buClrTx/>
                        <a:buSzTx/>
                        <a:buFontTx/>
                        <a:buNone/>
                        <a:tabLst/>
                      </a:pPr>
                      <a:r>
                        <a:rPr kumimoji="0" lang="es-ES" altLang="es-ES" sz="1200" b="1" i="0" u="none" strike="noStrike" cap="none" normalizeH="0" baseline="0">
                          <a:ln>
                            <a:noFill/>
                          </a:ln>
                          <a:solidFill>
                            <a:schemeClr val="tx1"/>
                          </a:solidFill>
                          <a:effectLst/>
                          <a:latin typeface="Arial" charset="0"/>
                          <a:cs typeface="Arial" charset="0"/>
                        </a:rPr>
                        <a:t> n=124</a:t>
                      </a:r>
                    </a:p>
                  </a:txBody>
                  <a:tcPr marL="91436" marR="91436" marT="45713" marB="45713" anchor="b" horzOverflow="overflow">
                    <a:lnL>
                      <a:noFill/>
                    </a:lnL>
                    <a:lnR>
                      <a:noFill/>
                    </a:lnR>
                    <a:lnT>
                      <a:noFill/>
                    </a:lnT>
                    <a:lnB>
                      <a:noFill/>
                    </a:lnB>
                    <a:lnTlToBr>
                      <a:noFill/>
                    </a:lnTlToBr>
                    <a:lnBlToTr>
                      <a:noFill/>
                    </a:lnBlToTr>
                    <a:noFill/>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0"/>
                  </a:ext>
                </a:extLst>
              </a:tr>
              <a:tr h="336565">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s-ES_tradnl" altLang="es-ES" sz="1600" b="0" i="1" u="none" strike="noStrike" cap="none" normalizeH="0" baseline="0">
                          <a:ln>
                            <a:noFill/>
                          </a:ln>
                          <a:solidFill>
                            <a:schemeClr val="tx1"/>
                          </a:solidFill>
                          <a:effectLst/>
                          <a:latin typeface="Times New Roman" pitchFamily="18" charset="0"/>
                        </a:rPr>
                        <a:t>x</a:t>
                      </a:r>
                      <a:r>
                        <a:rPr kumimoji="0" lang="es-ES" altLang="es-ES" sz="1600" b="0" i="1" u="none" strike="noStrike" cap="none" normalizeH="0" baseline="-25000">
                          <a:ln>
                            <a:noFill/>
                          </a:ln>
                          <a:solidFill>
                            <a:schemeClr val="tx1"/>
                          </a:solidFill>
                          <a:effectLst/>
                          <a:latin typeface="Times New Roman" pitchFamily="18" charset="0"/>
                        </a:rPr>
                        <a:t>i</a:t>
                      </a:r>
                      <a:endParaRPr kumimoji="0" lang="es-ES" altLang="es-ES" sz="1200" b="0" i="0" u="none" strike="noStrike" cap="none" normalizeH="0" baseline="0">
                        <a:ln>
                          <a:noFill/>
                        </a:ln>
                        <a:solidFill>
                          <a:schemeClr val="tx1"/>
                        </a:solidFill>
                        <a:effectLst/>
                        <a:latin typeface="Arial" charset="0"/>
                      </a:endParaRPr>
                    </a:p>
                  </a:txBody>
                  <a:tcPr marL="91436" marR="91436" marT="45713" marB="45713" anchor="b" horzOverflow="overflow">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s-ES_tradnl" altLang="es-ES" sz="1600" b="0" i="1" u="none" strike="noStrike" cap="none" normalizeH="0" baseline="0" dirty="0">
                          <a:ln>
                            <a:noFill/>
                          </a:ln>
                          <a:solidFill>
                            <a:schemeClr val="tx1"/>
                          </a:solidFill>
                          <a:effectLst/>
                          <a:latin typeface="Times New Roman" pitchFamily="18" charset="0"/>
                        </a:rPr>
                        <a:t>n</a:t>
                      </a:r>
                      <a:r>
                        <a:rPr kumimoji="0" lang="es-ES" altLang="es-ES" sz="1600" b="0" i="1" u="none" strike="noStrike" cap="none" normalizeH="0" baseline="-25000" dirty="0">
                          <a:ln>
                            <a:noFill/>
                          </a:ln>
                          <a:solidFill>
                            <a:schemeClr val="tx1"/>
                          </a:solidFill>
                          <a:effectLst/>
                          <a:latin typeface="Times New Roman" pitchFamily="18" charset="0"/>
                        </a:rPr>
                        <a:t>i</a:t>
                      </a:r>
                      <a:endParaRPr kumimoji="0" lang="es-ES" altLang="es-ES" sz="1600" b="0" i="0" u="none" strike="noStrike" cap="none" normalizeH="0" baseline="0" dirty="0">
                        <a:ln>
                          <a:noFill/>
                        </a:ln>
                        <a:solidFill>
                          <a:schemeClr val="tx1"/>
                        </a:solidFill>
                        <a:effectLst/>
                        <a:latin typeface="Times New Roman" pitchFamily="18" charset="0"/>
                      </a:endParaRPr>
                    </a:p>
                  </a:txBody>
                  <a:tcPr marL="91436" marR="91436" marT="45713" marB="45713"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s-ES" altLang="es-ES" sz="1200" b="0" i="1" u="none" strike="noStrike" cap="none" normalizeH="0" baseline="-25000">
                        <a:ln>
                          <a:noFill/>
                        </a:ln>
                        <a:solidFill>
                          <a:schemeClr val="tx1"/>
                        </a:solidFill>
                        <a:effectLst/>
                        <a:latin typeface="Arial" charset="0"/>
                      </a:endParaRPr>
                    </a:p>
                  </a:txBody>
                  <a:tcPr marL="91436" marR="91436" marT="45713" marB="45713"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s-ES_tradnl" altLang="es-ES" sz="1600" b="0" i="0" u="none" strike="noStrike" cap="none" normalizeH="0" baseline="0" dirty="0">
                          <a:ln>
                            <a:noFill/>
                          </a:ln>
                          <a:solidFill>
                            <a:schemeClr val="accent1">
                              <a:lumMod val="25000"/>
                            </a:schemeClr>
                          </a:solidFill>
                          <a:effectLst/>
                          <a:latin typeface="Times New Roman" pitchFamily="18" charset="0"/>
                        </a:rPr>
                        <a:t>(</a:t>
                      </a:r>
                      <a:r>
                        <a:rPr kumimoji="0" lang="es-ES_tradnl" altLang="es-ES" sz="1600" b="0" i="1" u="none" strike="noStrike" cap="none" normalizeH="0" baseline="0" dirty="0">
                          <a:ln>
                            <a:noFill/>
                          </a:ln>
                          <a:solidFill>
                            <a:schemeClr val="accent1">
                              <a:lumMod val="25000"/>
                            </a:schemeClr>
                          </a:solidFill>
                          <a:effectLst/>
                          <a:latin typeface="Times New Roman" pitchFamily="18" charset="0"/>
                        </a:rPr>
                        <a:t>x</a:t>
                      </a:r>
                      <a:r>
                        <a:rPr kumimoji="0" lang="es-ES_tradnl" altLang="es-ES" sz="1600" b="0" i="1" u="none" strike="noStrike" cap="none" normalizeH="0" baseline="-25000" dirty="0">
                          <a:ln>
                            <a:noFill/>
                          </a:ln>
                          <a:solidFill>
                            <a:schemeClr val="accent1">
                              <a:lumMod val="25000"/>
                            </a:schemeClr>
                          </a:solidFill>
                          <a:effectLst/>
                          <a:latin typeface="Times New Roman" pitchFamily="18" charset="0"/>
                        </a:rPr>
                        <a:t>i</a:t>
                      </a:r>
                      <a:r>
                        <a:rPr kumimoji="0" lang="es-ES_tradnl" altLang="es-ES" sz="1600" b="0" i="1" u="none" strike="noStrike" cap="none" normalizeH="0" baseline="0" dirty="0">
                          <a:ln>
                            <a:noFill/>
                          </a:ln>
                          <a:solidFill>
                            <a:schemeClr val="accent1">
                              <a:lumMod val="25000"/>
                            </a:schemeClr>
                          </a:solidFill>
                          <a:effectLst/>
                          <a:latin typeface="Times New Roman" pitchFamily="18" charset="0"/>
                        </a:rPr>
                        <a:t> n</a:t>
                      </a:r>
                      <a:r>
                        <a:rPr kumimoji="0" lang="es-ES_tradnl" altLang="es-ES" sz="1600" b="0" i="1" u="none" strike="noStrike" cap="none" normalizeH="0" baseline="-25000" dirty="0">
                          <a:ln>
                            <a:noFill/>
                          </a:ln>
                          <a:solidFill>
                            <a:schemeClr val="accent1">
                              <a:lumMod val="25000"/>
                            </a:schemeClr>
                          </a:solidFill>
                          <a:effectLst/>
                          <a:latin typeface="Times New Roman" pitchFamily="18" charset="0"/>
                        </a:rPr>
                        <a:t>i</a:t>
                      </a:r>
                      <a:r>
                        <a:rPr kumimoji="0" lang="es-ES_tradnl" altLang="es-ES" sz="1600" b="0" i="0" u="none" strike="noStrike" cap="none" normalizeH="0" baseline="0" dirty="0">
                          <a:ln>
                            <a:noFill/>
                          </a:ln>
                          <a:solidFill>
                            <a:schemeClr val="accent1">
                              <a:lumMod val="25000"/>
                            </a:schemeClr>
                          </a:solidFill>
                          <a:effectLst/>
                          <a:latin typeface="Times New Roman" pitchFamily="18" charset="0"/>
                        </a:rPr>
                        <a:t>)</a:t>
                      </a:r>
                      <a:endParaRPr kumimoji="0" lang="es-ES" altLang="es-ES" sz="1600" b="0" i="0" u="none" strike="noStrike" cap="none" normalizeH="0" baseline="0" dirty="0">
                        <a:ln>
                          <a:noFill/>
                        </a:ln>
                        <a:solidFill>
                          <a:schemeClr val="accent1">
                            <a:lumMod val="25000"/>
                          </a:schemeClr>
                        </a:solidFill>
                        <a:effectLst/>
                        <a:latin typeface="Times New Roman" pitchFamily="18" charset="0"/>
                      </a:endParaRPr>
                    </a:p>
                  </a:txBody>
                  <a:tcPr marL="91436" marR="91436" marT="45713" marB="45713"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200" b="0" i="0" u="none" strike="noStrike" cap="none" normalizeH="0" baseline="0">
                        <a:ln>
                          <a:noFill/>
                        </a:ln>
                        <a:solidFill>
                          <a:schemeClr val="accent1">
                            <a:lumMod val="25000"/>
                          </a:schemeClr>
                        </a:solidFill>
                        <a:effectLst/>
                        <a:latin typeface="Arial" charset="0"/>
                      </a:endParaRPr>
                    </a:p>
                  </a:txBody>
                  <a:tcPr marL="91436" marR="91436" marT="45713" marB="45713"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200" b="0" i="0" u="none" strike="noStrike" cap="none" normalizeH="0" baseline="0">
                        <a:ln>
                          <a:noFill/>
                        </a:ln>
                        <a:solidFill>
                          <a:schemeClr val="tx1"/>
                        </a:solidFill>
                        <a:effectLst/>
                        <a:latin typeface="Arial" charset="0"/>
                      </a:endParaRPr>
                    </a:p>
                  </a:txBody>
                  <a:tcPr marL="91436" marR="91436" marT="45713" marB="45713" anchor="b"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s-ES_tradnl" altLang="es-ES" sz="1600" b="0" i="1" u="none" strike="noStrike" cap="none" normalizeH="0" baseline="0" dirty="0">
                          <a:ln>
                            <a:noFill/>
                          </a:ln>
                          <a:solidFill>
                            <a:schemeClr val="tx1"/>
                          </a:solidFill>
                          <a:effectLst/>
                          <a:latin typeface="Times New Roman" pitchFamily="18" charset="0"/>
                        </a:rPr>
                        <a:t>n</a:t>
                      </a:r>
                      <a:r>
                        <a:rPr kumimoji="0" lang="es-ES" altLang="es-ES" sz="1600" b="0" i="1" u="none" strike="noStrike" cap="none" normalizeH="0" baseline="-25000" dirty="0">
                          <a:ln>
                            <a:noFill/>
                          </a:ln>
                          <a:solidFill>
                            <a:schemeClr val="tx1"/>
                          </a:solidFill>
                          <a:effectLst/>
                          <a:latin typeface="Times New Roman" pitchFamily="18" charset="0"/>
                        </a:rPr>
                        <a:t>i</a:t>
                      </a:r>
                    </a:p>
                  </a:txBody>
                  <a:tcPr marL="91436" marR="91436" marT="45713" marB="4571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s-ES" altLang="es-ES" sz="1000" b="0" i="1" u="none" strike="noStrike" cap="none" normalizeH="0" baseline="0" dirty="0">
                          <a:ln>
                            <a:noFill/>
                          </a:ln>
                          <a:solidFill>
                            <a:schemeClr val="accent1">
                              <a:lumMod val="25000"/>
                            </a:schemeClr>
                          </a:solidFill>
                          <a:effectLst/>
                          <a:latin typeface="Arial" charset="0"/>
                        </a:rPr>
                        <a:t>Marca de clase</a:t>
                      </a:r>
                      <a:r>
                        <a:rPr kumimoji="0" lang="es-ES" altLang="es-ES" sz="1200" b="0" i="1" u="none" strike="noStrike" cap="none" normalizeH="0" baseline="0" dirty="0">
                          <a:ln>
                            <a:noFill/>
                          </a:ln>
                          <a:solidFill>
                            <a:schemeClr val="accent1">
                              <a:lumMod val="25000"/>
                            </a:schemeClr>
                          </a:solidFill>
                          <a:effectLst/>
                          <a:latin typeface="Arial" charset="0"/>
                        </a:rPr>
                        <a:t> </a:t>
                      </a:r>
                      <a:r>
                        <a:rPr kumimoji="0" lang="es-ES_tradnl" altLang="es-ES" sz="1600" b="0" i="1" u="none" strike="noStrike" cap="none" normalizeH="0" baseline="0" dirty="0">
                          <a:ln>
                            <a:noFill/>
                          </a:ln>
                          <a:solidFill>
                            <a:schemeClr val="accent1">
                              <a:lumMod val="25000"/>
                            </a:schemeClr>
                          </a:solidFill>
                          <a:effectLst/>
                          <a:latin typeface="Times New Roman" pitchFamily="18" charset="0"/>
                        </a:rPr>
                        <a:t>x</a:t>
                      </a:r>
                      <a:r>
                        <a:rPr kumimoji="0" lang="es-ES" altLang="es-ES" sz="1600" b="0" i="1" u="none" strike="noStrike" cap="none" normalizeH="0" baseline="-25000" dirty="0">
                          <a:ln>
                            <a:noFill/>
                          </a:ln>
                          <a:solidFill>
                            <a:schemeClr val="accent1">
                              <a:lumMod val="25000"/>
                            </a:schemeClr>
                          </a:solidFill>
                          <a:effectLst/>
                          <a:latin typeface="Times New Roman" pitchFamily="18" charset="0"/>
                        </a:rPr>
                        <a:t>i</a:t>
                      </a:r>
                    </a:p>
                  </a:txBody>
                  <a:tcPr marL="91436" marR="91436" marT="45713" marB="4571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s-ES_tradnl" altLang="es-ES" sz="1600" b="0" i="0" u="none" strike="noStrike" cap="none" normalizeH="0" baseline="0" dirty="0">
                          <a:ln>
                            <a:noFill/>
                          </a:ln>
                          <a:solidFill>
                            <a:schemeClr val="accent1">
                              <a:lumMod val="25000"/>
                            </a:schemeClr>
                          </a:solidFill>
                          <a:effectLst/>
                          <a:latin typeface="Times New Roman" pitchFamily="18" charset="0"/>
                        </a:rPr>
                        <a:t>(</a:t>
                      </a:r>
                      <a:r>
                        <a:rPr kumimoji="0" lang="es-ES_tradnl" altLang="es-ES" sz="1600" b="0" i="1" u="none" strike="noStrike" cap="none" normalizeH="0" baseline="0" dirty="0">
                          <a:ln>
                            <a:noFill/>
                          </a:ln>
                          <a:solidFill>
                            <a:schemeClr val="accent1">
                              <a:lumMod val="25000"/>
                            </a:schemeClr>
                          </a:solidFill>
                          <a:effectLst/>
                          <a:latin typeface="Times New Roman" pitchFamily="18" charset="0"/>
                        </a:rPr>
                        <a:t>x</a:t>
                      </a:r>
                      <a:r>
                        <a:rPr kumimoji="0" lang="es-ES_tradnl" altLang="es-ES" sz="1600" b="0" i="1" u="none" strike="noStrike" cap="none" normalizeH="0" baseline="-25000" dirty="0">
                          <a:ln>
                            <a:noFill/>
                          </a:ln>
                          <a:solidFill>
                            <a:schemeClr val="accent1">
                              <a:lumMod val="25000"/>
                            </a:schemeClr>
                          </a:solidFill>
                          <a:effectLst/>
                          <a:latin typeface="Times New Roman" pitchFamily="18" charset="0"/>
                        </a:rPr>
                        <a:t>i</a:t>
                      </a:r>
                      <a:r>
                        <a:rPr kumimoji="0" lang="es-ES_tradnl" altLang="es-ES" sz="1600" b="0" i="1" u="none" strike="noStrike" cap="none" normalizeH="0" baseline="0" dirty="0">
                          <a:ln>
                            <a:noFill/>
                          </a:ln>
                          <a:solidFill>
                            <a:schemeClr val="accent1">
                              <a:lumMod val="25000"/>
                            </a:schemeClr>
                          </a:solidFill>
                          <a:effectLst/>
                          <a:latin typeface="Times New Roman" pitchFamily="18" charset="0"/>
                        </a:rPr>
                        <a:t> n</a:t>
                      </a:r>
                      <a:r>
                        <a:rPr kumimoji="0" lang="es-ES_tradnl" altLang="es-ES" sz="1600" b="0" i="1" u="none" strike="noStrike" cap="none" normalizeH="0" baseline="-25000" dirty="0">
                          <a:ln>
                            <a:noFill/>
                          </a:ln>
                          <a:solidFill>
                            <a:schemeClr val="accent1">
                              <a:lumMod val="25000"/>
                            </a:schemeClr>
                          </a:solidFill>
                          <a:effectLst/>
                          <a:latin typeface="Times New Roman" pitchFamily="18" charset="0"/>
                        </a:rPr>
                        <a:t>i</a:t>
                      </a:r>
                      <a:r>
                        <a:rPr kumimoji="0" lang="es-ES_tradnl" altLang="es-ES" sz="1600" b="0" i="0" u="none" strike="noStrike" cap="none" normalizeH="0" baseline="0" dirty="0">
                          <a:ln>
                            <a:noFill/>
                          </a:ln>
                          <a:solidFill>
                            <a:schemeClr val="accent1">
                              <a:lumMod val="25000"/>
                            </a:schemeClr>
                          </a:solidFill>
                          <a:effectLst/>
                          <a:latin typeface="Times New Roman" pitchFamily="18" charset="0"/>
                        </a:rPr>
                        <a:t>)</a:t>
                      </a:r>
                      <a:endParaRPr kumimoji="0" lang="es-ES" altLang="es-ES" sz="1600" b="0" i="0" u="none" strike="noStrike" cap="none" normalizeH="0" baseline="0" dirty="0">
                        <a:ln>
                          <a:noFill/>
                        </a:ln>
                        <a:solidFill>
                          <a:schemeClr val="accent1">
                            <a:lumMod val="25000"/>
                          </a:schemeClr>
                        </a:solidFill>
                        <a:effectLst/>
                        <a:latin typeface="Times New Roman" pitchFamily="18" charset="0"/>
                      </a:endParaRPr>
                    </a:p>
                  </a:txBody>
                  <a:tcPr marL="91436" marR="91436" marT="45713" marB="4571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14">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15</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5</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_tradnl" altLang="es-ES" sz="1200" b="0" i="0" u="none" strike="noStrike" cap="none" normalizeH="0" baseline="0" dirty="0">
                          <a:ln>
                            <a:noFill/>
                          </a:ln>
                          <a:solidFill>
                            <a:schemeClr val="accent1">
                              <a:lumMod val="25000"/>
                            </a:schemeClr>
                          </a:solidFill>
                          <a:effectLst/>
                          <a:latin typeface="Arial" charset="0"/>
                        </a:rPr>
                        <a:t>15</a:t>
                      </a:r>
                      <a:r>
                        <a:rPr kumimoji="0" lang="es-ES_tradnl" altLang="es-ES" sz="1200" b="0" i="0" u="none" strike="noStrike" cap="none" normalizeH="0" baseline="0" dirty="0">
                          <a:ln>
                            <a:noFill/>
                          </a:ln>
                          <a:solidFill>
                            <a:schemeClr val="accent1">
                              <a:lumMod val="25000"/>
                            </a:schemeClr>
                          </a:solidFill>
                          <a:effectLst/>
                          <a:latin typeface="Arial" charset="0"/>
                          <a:cs typeface="Arial" charset="0"/>
                        </a:rPr>
                        <a:t>×5=</a:t>
                      </a:r>
                      <a:r>
                        <a:rPr kumimoji="0" lang="es-ES" altLang="es-ES" sz="1200" b="0" i="0" u="none" strike="noStrike" cap="none" normalizeH="0" baseline="0" dirty="0">
                          <a:ln>
                            <a:noFill/>
                          </a:ln>
                          <a:solidFill>
                            <a:schemeClr val="accent1">
                              <a:lumMod val="25000"/>
                            </a:schemeClr>
                          </a:solidFill>
                          <a:effectLst/>
                          <a:latin typeface="Arial" charset="0"/>
                          <a:cs typeface="Arial" charset="0"/>
                        </a:rPr>
                        <a:t>7</a:t>
                      </a:r>
                      <a:r>
                        <a:rPr kumimoji="0" lang="es-ES_tradnl" altLang="es-ES" sz="1200" b="0" i="0" u="none" strike="noStrike" cap="none" normalizeH="0" baseline="0" dirty="0">
                          <a:ln>
                            <a:noFill/>
                          </a:ln>
                          <a:solidFill>
                            <a:schemeClr val="accent1">
                              <a:lumMod val="25000"/>
                            </a:schemeClr>
                          </a:solidFill>
                          <a:effectLst/>
                          <a:latin typeface="Arial" charset="0"/>
                          <a:cs typeface="Arial" charset="0"/>
                        </a:rPr>
                        <a:t>5</a:t>
                      </a:r>
                      <a:endParaRPr kumimoji="0" lang="es-ES" altLang="es-ES" sz="1200" b="0" i="0" u="none" strike="noStrike" cap="none" normalizeH="0" baseline="0" dirty="0">
                        <a:ln>
                          <a:noFill/>
                        </a:ln>
                        <a:solidFill>
                          <a:schemeClr val="accent1">
                            <a:lumMod val="25000"/>
                          </a:schemeClr>
                        </a:solidFill>
                        <a:effectLst/>
                        <a:latin typeface="Arial" charset="0"/>
                        <a:cs typeface="Arial" charset="0"/>
                      </a:endParaRPr>
                    </a:p>
                  </a:txBody>
                  <a:tcPr marL="91436" marR="91436"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200" b="0" i="0" u="none" strike="noStrike" cap="none" normalizeH="0" baseline="0">
                        <a:ln>
                          <a:noFill/>
                        </a:ln>
                        <a:solidFill>
                          <a:schemeClr val="accent1">
                            <a:lumMod val="25000"/>
                          </a:schemeClr>
                        </a:solidFill>
                        <a:effectLst/>
                        <a:latin typeface="Arial" charset="0"/>
                      </a:endParaRPr>
                    </a:p>
                  </a:txBody>
                  <a:tcPr marL="91436" marR="91436" marT="45713" marB="45713" anchor="b"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menos de 21</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5</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dirty="0">
                          <a:ln>
                            <a:noFill/>
                          </a:ln>
                          <a:solidFill>
                            <a:schemeClr val="accent1">
                              <a:lumMod val="25000"/>
                            </a:schemeClr>
                          </a:solidFill>
                          <a:effectLst/>
                          <a:latin typeface="Arial" charset="0"/>
                        </a:rPr>
                        <a:t>18*</a:t>
                      </a: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_tradnl" altLang="es-ES" sz="1200" b="0" i="0" u="none" strike="noStrike" cap="none" normalizeH="0" baseline="0">
                          <a:ln>
                            <a:noFill/>
                          </a:ln>
                          <a:solidFill>
                            <a:schemeClr val="accent1">
                              <a:lumMod val="25000"/>
                            </a:schemeClr>
                          </a:solidFill>
                          <a:effectLst/>
                          <a:latin typeface="Arial" charset="0"/>
                        </a:rPr>
                        <a:t>5</a:t>
                      </a:r>
                      <a:r>
                        <a:rPr kumimoji="0" lang="es-ES_tradnl" altLang="es-ES" sz="1200" b="0" i="0" u="none" strike="noStrike" cap="none" normalizeH="0" baseline="0">
                          <a:ln>
                            <a:noFill/>
                          </a:ln>
                          <a:solidFill>
                            <a:schemeClr val="accent1">
                              <a:lumMod val="25000"/>
                            </a:schemeClr>
                          </a:solidFill>
                          <a:effectLst/>
                          <a:latin typeface="Arial" charset="0"/>
                          <a:cs typeface="Arial" charset="0"/>
                        </a:rPr>
                        <a:t>×18=90</a:t>
                      </a: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314">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16</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28</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_tradnl" altLang="es-ES" sz="1200" b="0" i="0" u="none" strike="noStrike" cap="none" normalizeH="0" baseline="0" dirty="0">
                          <a:ln>
                            <a:noFill/>
                          </a:ln>
                          <a:solidFill>
                            <a:schemeClr val="accent1">
                              <a:lumMod val="25000"/>
                            </a:schemeClr>
                          </a:solidFill>
                          <a:effectLst/>
                          <a:latin typeface="Arial" charset="0"/>
                        </a:rPr>
                        <a:t>44</a:t>
                      </a:r>
                      <a:r>
                        <a:rPr kumimoji="0" lang="es-ES" altLang="es-ES" sz="1200" b="0" i="0" u="none" strike="noStrike" cap="none" normalizeH="0" baseline="0" dirty="0">
                          <a:ln>
                            <a:noFill/>
                          </a:ln>
                          <a:solidFill>
                            <a:schemeClr val="accent1">
                              <a:lumMod val="25000"/>
                            </a:schemeClr>
                          </a:solidFill>
                          <a:effectLst/>
                          <a:latin typeface="Arial" charset="0"/>
                        </a:rPr>
                        <a:t>8</a:t>
                      </a:r>
                    </a:p>
                  </a:txBody>
                  <a:tcPr marL="91436" marR="91436"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200" b="0" i="0" u="none" strike="noStrike" cap="none" normalizeH="0" baseline="0">
                        <a:ln>
                          <a:noFill/>
                        </a:ln>
                        <a:solidFill>
                          <a:schemeClr val="accent1">
                            <a:lumMod val="25000"/>
                          </a:schemeClr>
                        </a:solidFill>
                        <a:effectLst/>
                        <a:latin typeface="Arial" charset="0"/>
                      </a:endParaRPr>
                    </a:p>
                  </a:txBody>
                  <a:tcPr marL="91436" marR="91436" marT="45713" marB="45713" anchor="b"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21-25</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28</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dirty="0">
                          <a:ln>
                            <a:noFill/>
                          </a:ln>
                          <a:solidFill>
                            <a:schemeClr val="accent1">
                              <a:lumMod val="25000"/>
                            </a:schemeClr>
                          </a:solidFill>
                          <a:effectLst/>
                          <a:latin typeface="Arial" charset="0"/>
                          <a:cs typeface="Arial" charset="0"/>
                        </a:rPr>
                        <a:t>(21+25)/2=23</a:t>
                      </a:r>
                      <a:endParaRPr kumimoji="0" lang="es-ES" altLang="es-ES" sz="1200" b="0" i="0" u="none" strike="noStrike" cap="none" normalizeH="0" baseline="0" dirty="0">
                        <a:ln>
                          <a:noFill/>
                        </a:ln>
                        <a:solidFill>
                          <a:schemeClr val="accent1">
                            <a:lumMod val="25000"/>
                          </a:schemeClr>
                        </a:solidFill>
                        <a:effectLst/>
                        <a:latin typeface="Arial" charset="0"/>
                      </a:endParaRP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_tradnl" altLang="es-ES" sz="1200" b="0" i="0" u="none" strike="noStrike" cap="none" normalizeH="0" baseline="0">
                          <a:ln>
                            <a:noFill/>
                          </a:ln>
                          <a:solidFill>
                            <a:schemeClr val="accent1">
                              <a:lumMod val="25000"/>
                            </a:schemeClr>
                          </a:solidFill>
                          <a:effectLst/>
                          <a:latin typeface="Arial" charset="0"/>
                        </a:rPr>
                        <a:t>644</a:t>
                      </a:r>
                      <a:endParaRPr kumimoji="0" lang="es-ES" altLang="es-ES" sz="1200" b="0" i="0" u="none" strike="noStrike" cap="none" normalizeH="0" baseline="0">
                        <a:ln>
                          <a:noFill/>
                        </a:ln>
                        <a:solidFill>
                          <a:schemeClr val="accent1">
                            <a:lumMod val="25000"/>
                          </a:schemeClr>
                        </a:solidFill>
                        <a:effectLst/>
                        <a:latin typeface="Arial" charset="0"/>
                      </a:endParaRP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14">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17</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64</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_tradnl" altLang="es-ES" sz="1200" b="0" i="0" u="none" strike="noStrike" cap="none" normalizeH="0" baseline="0" dirty="0">
                          <a:ln>
                            <a:noFill/>
                          </a:ln>
                          <a:solidFill>
                            <a:schemeClr val="accent1">
                              <a:lumMod val="25000"/>
                            </a:schemeClr>
                          </a:solidFill>
                          <a:effectLst/>
                          <a:latin typeface="Arial" charset="0"/>
                        </a:rPr>
                        <a:t>1088</a:t>
                      </a:r>
                      <a:endParaRPr kumimoji="0" lang="es-ES" altLang="es-ES" sz="1200" b="0" i="0" u="none" strike="noStrike" cap="none" normalizeH="0" baseline="0" dirty="0">
                        <a:ln>
                          <a:noFill/>
                        </a:ln>
                        <a:solidFill>
                          <a:schemeClr val="accent1">
                            <a:lumMod val="25000"/>
                          </a:schemeClr>
                        </a:solidFill>
                        <a:effectLst/>
                        <a:latin typeface="Arial" charset="0"/>
                      </a:endParaRPr>
                    </a:p>
                  </a:txBody>
                  <a:tcPr marL="91436" marR="91436"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200" b="0" i="0" u="none" strike="noStrike" cap="none" normalizeH="0" baseline="0" dirty="0">
                        <a:ln>
                          <a:noFill/>
                        </a:ln>
                        <a:solidFill>
                          <a:schemeClr val="accent1">
                            <a:lumMod val="25000"/>
                          </a:schemeClr>
                        </a:solidFill>
                        <a:effectLst/>
                        <a:latin typeface="Arial" charset="0"/>
                      </a:endParaRPr>
                    </a:p>
                  </a:txBody>
                  <a:tcPr marL="91436" marR="91436" marT="45713" marB="45713" anchor="b"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26-30</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64</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dirty="0">
                          <a:ln>
                            <a:noFill/>
                          </a:ln>
                          <a:solidFill>
                            <a:schemeClr val="accent1">
                              <a:lumMod val="25000"/>
                            </a:schemeClr>
                          </a:solidFill>
                          <a:effectLst/>
                          <a:latin typeface="Arial" charset="0"/>
                          <a:cs typeface="Arial" charset="0"/>
                        </a:rPr>
                        <a:t>(26+30)/2=28</a:t>
                      </a:r>
                      <a:endParaRPr kumimoji="0" lang="es-ES" altLang="es-ES" sz="1200" b="0" i="0" u="none" strike="noStrike" cap="none" normalizeH="0" baseline="0" dirty="0">
                        <a:ln>
                          <a:noFill/>
                        </a:ln>
                        <a:solidFill>
                          <a:schemeClr val="accent1">
                            <a:lumMod val="25000"/>
                          </a:schemeClr>
                        </a:solidFill>
                        <a:effectLst/>
                        <a:latin typeface="Arial" charset="0"/>
                      </a:endParaRP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_tradnl" altLang="es-ES" sz="1200" b="0" i="0" u="none" strike="noStrike" cap="none" normalizeH="0" baseline="0">
                          <a:ln>
                            <a:noFill/>
                          </a:ln>
                          <a:solidFill>
                            <a:schemeClr val="accent1">
                              <a:lumMod val="25000"/>
                            </a:schemeClr>
                          </a:solidFill>
                          <a:effectLst/>
                          <a:latin typeface="Arial" charset="0"/>
                        </a:rPr>
                        <a:t>1792</a:t>
                      </a:r>
                      <a:endParaRPr kumimoji="0" lang="es-ES" altLang="es-ES" sz="1200" b="0" i="0" u="none" strike="noStrike" cap="none" normalizeH="0" baseline="0">
                        <a:ln>
                          <a:noFill/>
                        </a:ln>
                        <a:solidFill>
                          <a:schemeClr val="accent1">
                            <a:lumMod val="25000"/>
                          </a:schemeClr>
                        </a:solidFill>
                        <a:effectLst/>
                        <a:latin typeface="Arial" charset="0"/>
                      </a:endParaRP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14">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18</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18</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_tradnl" altLang="es-ES" sz="1200" b="0" i="0" u="none" strike="noStrike" cap="none" normalizeH="0" baseline="0">
                          <a:ln>
                            <a:noFill/>
                          </a:ln>
                          <a:solidFill>
                            <a:schemeClr val="accent1">
                              <a:lumMod val="25000"/>
                            </a:schemeClr>
                          </a:solidFill>
                          <a:effectLst/>
                          <a:latin typeface="Arial" charset="0"/>
                        </a:rPr>
                        <a:t>324</a:t>
                      </a:r>
                      <a:endParaRPr kumimoji="0" lang="es-ES" altLang="es-ES" sz="1200" b="0" i="0" u="none" strike="noStrike" cap="none" normalizeH="0" baseline="0">
                        <a:ln>
                          <a:noFill/>
                        </a:ln>
                        <a:solidFill>
                          <a:schemeClr val="accent1">
                            <a:lumMod val="25000"/>
                          </a:schemeClr>
                        </a:solidFill>
                        <a:effectLst/>
                        <a:latin typeface="Arial" charset="0"/>
                      </a:endParaRPr>
                    </a:p>
                  </a:txBody>
                  <a:tcPr marL="91436" marR="91436"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200" b="0" i="0" u="none" strike="noStrike" cap="none" normalizeH="0" baseline="0" dirty="0">
                        <a:ln>
                          <a:noFill/>
                        </a:ln>
                        <a:solidFill>
                          <a:schemeClr val="accent1">
                            <a:lumMod val="25000"/>
                          </a:schemeClr>
                        </a:solidFill>
                        <a:effectLst/>
                        <a:latin typeface="Arial" charset="0"/>
                      </a:endParaRPr>
                    </a:p>
                  </a:txBody>
                  <a:tcPr marL="91436" marR="91436" marT="45713" marB="45713" anchor="b"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31-35</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18</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_tradnl" altLang="es-ES" sz="1200" b="0" i="0" u="none" strike="noStrike" cap="none" normalizeH="0" baseline="0" dirty="0">
                          <a:ln>
                            <a:noFill/>
                          </a:ln>
                          <a:solidFill>
                            <a:schemeClr val="accent1">
                              <a:lumMod val="25000"/>
                            </a:schemeClr>
                          </a:solidFill>
                          <a:effectLst/>
                          <a:latin typeface="Arial" charset="0"/>
                          <a:cs typeface="Arial" charset="0"/>
                        </a:rPr>
                        <a:t>33</a:t>
                      </a:r>
                      <a:endParaRPr kumimoji="0" lang="es-ES" altLang="es-ES" sz="1200" b="0" i="0" u="none" strike="noStrike" cap="none" normalizeH="0" baseline="0" dirty="0">
                        <a:ln>
                          <a:noFill/>
                        </a:ln>
                        <a:solidFill>
                          <a:schemeClr val="accent1">
                            <a:lumMod val="25000"/>
                          </a:schemeClr>
                        </a:solidFill>
                        <a:effectLst/>
                        <a:latin typeface="Arial" charset="0"/>
                      </a:endParaRP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_tradnl" altLang="es-ES" sz="1200" b="0" i="0" u="none" strike="noStrike" cap="none" normalizeH="0" baseline="0">
                          <a:ln>
                            <a:noFill/>
                          </a:ln>
                          <a:solidFill>
                            <a:schemeClr val="accent1">
                              <a:lumMod val="25000"/>
                            </a:schemeClr>
                          </a:solidFill>
                          <a:effectLst/>
                          <a:latin typeface="Arial" charset="0"/>
                        </a:rPr>
                        <a:t>594</a:t>
                      </a:r>
                      <a:endParaRPr kumimoji="0" lang="es-ES" altLang="es-ES" sz="1200" b="0" i="0" u="none" strike="noStrike" cap="none" normalizeH="0" baseline="0">
                        <a:ln>
                          <a:noFill/>
                        </a:ln>
                        <a:solidFill>
                          <a:schemeClr val="accent1">
                            <a:lumMod val="25000"/>
                          </a:schemeClr>
                        </a:solidFill>
                        <a:effectLst/>
                        <a:latin typeface="Arial" charset="0"/>
                      </a:endParaRP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314">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19</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6</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_tradnl" altLang="es-ES" sz="1200" b="0" i="0" u="none" strike="noStrike" cap="none" normalizeH="0" baseline="0">
                          <a:ln>
                            <a:noFill/>
                          </a:ln>
                          <a:solidFill>
                            <a:schemeClr val="accent1">
                              <a:lumMod val="25000"/>
                            </a:schemeClr>
                          </a:solidFill>
                          <a:effectLst/>
                          <a:latin typeface="Arial" charset="0"/>
                        </a:rPr>
                        <a:t>114</a:t>
                      </a:r>
                      <a:endParaRPr kumimoji="0" lang="es-ES" altLang="es-ES" sz="1200" b="0" i="0" u="none" strike="noStrike" cap="none" normalizeH="0" baseline="0">
                        <a:ln>
                          <a:noFill/>
                        </a:ln>
                        <a:solidFill>
                          <a:schemeClr val="accent1">
                            <a:lumMod val="25000"/>
                          </a:schemeClr>
                        </a:solidFill>
                        <a:effectLst/>
                        <a:latin typeface="Arial" charset="0"/>
                      </a:endParaRPr>
                    </a:p>
                  </a:txBody>
                  <a:tcPr marL="91436" marR="91436"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200" b="0" i="0" u="none" strike="noStrike" cap="none" normalizeH="0" baseline="0" dirty="0">
                        <a:ln>
                          <a:noFill/>
                        </a:ln>
                        <a:solidFill>
                          <a:schemeClr val="accent1">
                            <a:lumMod val="25000"/>
                          </a:schemeClr>
                        </a:solidFill>
                        <a:effectLst/>
                        <a:latin typeface="Arial" charset="0"/>
                      </a:endParaRPr>
                    </a:p>
                  </a:txBody>
                  <a:tcPr marL="91436" marR="91436" marT="45713" marB="45713" anchor="b"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36-40</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6</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dirty="0">
                          <a:ln>
                            <a:noFill/>
                          </a:ln>
                          <a:solidFill>
                            <a:schemeClr val="accent1">
                              <a:lumMod val="25000"/>
                            </a:schemeClr>
                          </a:solidFill>
                          <a:effectLst/>
                          <a:latin typeface="Arial" charset="0"/>
                        </a:rPr>
                        <a:t>38</a:t>
                      </a: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_tradnl" altLang="es-ES" sz="1200" b="0" i="0" u="none" strike="noStrike" cap="none" normalizeH="0" baseline="0" dirty="0">
                          <a:ln>
                            <a:noFill/>
                          </a:ln>
                          <a:solidFill>
                            <a:schemeClr val="accent1">
                              <a:lumMod val="25000"/>
                            </a:schemeClr>
                          </a:solidFill>
                          <a:effectLst/>
                          <a:latin typeface="Arial" charset="0"/>
                        </a:rPr>
                        <a:t>228</a:t>
                      </a:r>
                      <a:endParaRPr kumimoji="0" lang="es-ES" altLang="es-ES" sz="1200" b="0" i="0" u="none" strike="noStrike" cap="none" normalizeH="0" baseline="0" dirty="0">
                        <a:ln>
                          <a:noFill/>
                        </a:ln>
                        <a:solidFill>
                          <a:schemeClr val="accent1">
                            <a:lumMod val="25000"/>
                          </a:schemeClr>
                        </a:solidFill>
                        <a:effectLst/>
                        <a:latin typeface="Arial" charset="0"/>
                      </a:endParaRP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314">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20</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3</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_tradnl" altLang="es-ES" sz="1200" b="0" i="0" u="none" strike="noStrike" cap="none" normalizeH="0" baseline="0">
                          <a:ln>
                            <a:noFill/>
                          </a:ln>
                          <a:solidFill>
                            <a:schemeClr val="accent1">
                              <a:lumMod val="25000"/>
                            </a:schemeClr>
                          </a:solidFill>
                          <a:effectLst/>
                          <a:latin typeface="Arial" charset="0"/>
                        </a:rPr>
                        <a:t>60</a:t>
                      </a:r>
                      <a:endParaRPr kumimoji="0" lang="es-ES" altLang="es-ES" sz="1200" b="0" i="0" u="none" strike="noStrike" cap="none" normalizeH="0" baseline="0">
                        <a:ln>
                          <a:noFill/>
                        </a:ln>
                        <a:solidFill>
                          <a:schemeClr val="accent1">
                            <a:lumMod val="25000"/>
                          </a:schemeClr>
                        </a:solidFill>
                        <a:effectLst/>
                        <a:latin typeface="Arial" charset="0"/>
                      </a:endParaRPr>
                    </a:p>
                  </a:txBody>
                  <a:tcPr marL="91436" marR="91436"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200" b="0" i="0" u="none" strike="noStrike" cap="none" normalizeH="0" baseline="0" dirty="0">
                        <a:ln>
                          <a:noFill/>
                        </a:ln>
                        <a:solidFill>
                          <a:schemeClr val="accent1">
                            <a:lumMod val="25000"/>
                          </a:schemeClr>
                        </a:solidFill>
                        <a:effectLst/>
                        <a:latin typeface="Arial" charset="0"/>
                      </a:endParaRPr>
                    </a:p>
                  </a:txBody>
                  <a:tcPr marL="91436" marR="91436" marT="45713" marB="45713" anchor="b"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más de 40</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3</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_tradnl" altLang="es-ES" sz="1200" b="0" i="0" u="none" strike="noStrike" cap="none" normalizeH="0" baseline="0">
                          <a:ln>
                            <a:noFill/>
                          </a:ln>
                          <a:solidFill>
                            <a:schemeClr val="accent1">
                              <a:lumMod val="25000"/>
                            </a:schemeClr>
                          </a:solidFill>
                          <a:effectLst/>
                          <a:latin typeface="Arial" charset="0"/>
                        </a:rPr>
                        <a:t>4</a:t>
                      </a:r>
                      <a:r>
                        <a:rPr kumimoji="0" lang="es-ES" altLang="es-ES" sz="1200" b="0" i="0" u="none" strike="noStrike" cap="none" normalizeH="0" baseline="0">
                          <a:ln>
                            <a:noFill/>
                          </a:ln>
                          <a:solidFill>
                            <a:schemeClr val="accent1">
                              <a:lumMod val="25000"/>
                            </a:schemeClr>
                          </a:solidFill>
                          <a:effectLst/>
                          <a:latin typeface="Arial" charset="0"/>
                        </a:rPr>
                        <a:t>3*</a:t>
                      </a: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_tradnl" altLang="es-ES" sz="1200" b="0" i="0" u="none" strike="noStrike" cap="none" normalizeH="0" baseline="0" dirty="0">
                          <a:ln>
                            <a:noFill/>
                          </a:ln>
                          <a:solidFill>
                            <a:schemeClr val="accent1">
                              <a:lumMod val="25000"/>
                            </a:schemeClr>
                          </a:solidFill>
                          <a:effectLst/>
                          <a:latin typeface="Arial" charset="0"/>
                        </a:rPr>
                        <a:t>129</a:t>
                      </a:r>
                      <a:endParaRPr kumimoji="0" lang="es-ES" altLang="es-ES" sz="1200" b="0" i="0" u="none" strike="noStrike" cap="none" normalizeH="0" baseline="0" dirty="0">
                        <a:ln>
                          <a:noFill/>
                        </a:ln>
                        <a:solidFill>
                          <a:schemeClr val="accent1">
                            <a:lumMod val="25000"/>
                          </a:schemeClr>
                        </a:solidFill>
                        <a:effectLst/>
                        <a:latin typeface="Arial" charset="0"/>
                      </a:endParaRPr>
                    </a:p>
                  </a:txBody>
                  <a:tcPr marL="91436" marR="91436"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5277">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chemeClr val="tx1"/>
                          </a:solidFill>
                          <a:effectLst/>
                          <a:latin typeface="Arial" charset="0"/>
                          <a:cs typeface="Arial" charset="0"/>
                        </a:rPr>
                        <a:t>Total</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200" b="0" i="1" u="none" strike="noStrike" cap="none" normalizeH="0" baseline="0">
                          <a:ln>
                            <a:noFill/>
                          </a:ln>
                          <a:solidFill>
                            <a:schemeClr val="tx1"/>
                          </a:solidFill>
                          <a:effectLst/>
                          <a:latin typeface="Arial" charset="0"/>
                          <a:cs typeface="Arial" charset="0"/>
                        </a:rPr>
                        <a:t>n</a:t>
                      </a:r>
                      <a:r>
                        <a:rPr kumimoji="0" lang="es-ES" altLang="es-ES" sz="1200" b="0" i="0" u="none" strike="noStrike" cap="none" normalizeH="0" baseline="0">
                          <a:ln>
                            <a:noFill/>
                          </a:ln>
                          <a:solidFill>
                            <a:schemeClr val="tx1"/>
                          </a:solidFill>
                          <a:effectLst/>
                          <a:latin typeface="Arial" charset="0"/>
                          <a:cs typeface="Arial" charset="0"/>
                        </a:rPr>
                        <a:t>=124</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endParaRPr kumimoji="0" lang="es-ES" altLang="es-ES" sz="1200" b="0" i="0" u="none" strike="noStrike" cap="none" normalizeH="0" baseline="0">
                        <a:ln>
                          <a:noFill/>
                        </a:ln>
                        <a:solidFill>
                          <a:srgbClr val="969696"/>
                        </a:solidFill>
                        <a:effectLst/>
                        <a:latin typeface="Arial" charset="0"/>
                      </a:endParaRPr>
                    </a:p>
                  </a:txBody>
                  <a:tcPr marL="91436" marR="91436" marT="45713" marB="45713" horzOverflow="overflow">
                    <a:lnL>
                      <a:noFill/>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_tradnl" altLang="es-ES" sz="1200" b="1" i="0" u="none" strike="noStrike" cap="none" normalizeH="0" baseline="0">
                          <a:ln>
                            <a:noFill/>
                          </a:ln>
                          <a:solidFill>
                            <a:schemeClr val="accent1">
                              <a:lumMod val="25000"/>
                            </a:schemeClr>
                          </a:solidFill>
                          <a:effectLst/>
                          <a:latin typeface="Arial" charset="0"/>
                          <a:cs typeface="Arial" charset="0"/>
                        </a:rPr>
                        <a:t>∑</a:t>
                      </a:r>
                      <a:r>
                        <a:rPr kumimoji="0" lang="es-ES_tradnl" altLang="es-ES" sz="1200" b="0" i="0" u="none" strike="noStrike" cap="none" normalizeH="0" baseline="0">
                          <a:ln>
                            <a:noFill/>
                          </a:ln>
                          <a:solidFill>
                            <a:schemeClr val="accent1">
                              <a:lumMod val="25000"/>
                            </a:schemeClr>
                          </a:solidFill>
                          <a:effectLst/>
                          <a:latin typeface="Arial" charset="0"/>
                          <a:cs typeface="Arial" charset="0"/>
                        </a:rPr>
                        <a:t> </a:t>
                      </a:r>
                      <a:r>
                        <a:rPr kumimoji="0" lang="es-ES_tradnl" altLang="es-ES" sz="1600" b="0" i="0" u="none" strike="noStrike" cap="none" normalizeH="0" baseline="0">
                          <a:ln>
                            <a:noFill/>
                          </a:ln>
                          <a:solidFill>
                            <a:schemeClr val="accent1">
                              <a:lumMod val="25000"/>
                            </a:schemeClr>
                          </a:solidFill>
                          <a:effectLst/>
                          <a:latin typeface="Times New Roman" pitchFamily="18" charset="0"/>
                        </a:rPr>
                        <a:t>(</a:t>
                      </a:r>
                      <a:r>
                        <a:rPr kumimoji="0" lang="es-ES_tradnl" altLang="es-ES" sz="1600" b="0" i="1" u="none" strike="noStrike" cap="none" normalizeH="0" baseline="0">
                          <a:ln>
                            <a:noFill/>
                          </a:ln>
                          <a:solidFill>
                            <a:schemeClr val="accent1">
                              <a:lumMod val="25000"/>
                            </a:schemeClr>
                          </a:solidFill>
                          <a:effectLst/>
                          <a:latin typeface="Times New Roman" pitchFamily="18" charset="0"/>
                        </a:rPr>
                        <a:t>x</a:t>
                      </a:r>
                      <a:r>
                        <a:rPr kumimoji="0" lang="es-ES_tradnl" altLang="es-ES" sz="1600" b="0" i="1" u="none" strike="noStrike" cap="none" normalizeH="0" baseline="-25000">
                          <a:ln>
                            <a:noFill/>
                          </a:ln>
                          <a:solidFill>
                            <a:schemeClr val="accent1">
                              <a:lumMod val="25000"/>
                            </a:schemeClr>
                          </a:solidFill>
                          <a:effectLst/>
                          <a:latin typeface="Times New Roman" pitchFamily="18" charset="0"/>
                        </a:rPr>
                        <a:t>i</a:t>
                      </a:r>
                      <a:r>
                        <a:rPr kumimoji="0" lang="es-ES_tradnl" altLang="es-ES" sz="1600" b="0" i="1" u="none" strike="noStrike" cap="none" normalizeH="0" baseline="0">
                          <a:ln>
                            <a:noFill/>
                          </a:ln>
                          <a:solidFill>
                            <a:schemeClr val="accent1">
                              <a:lumMod val="25000"/>
                            </a:schemeClr>
                          </a:solidFill>
                          <a:effectLst/>
                          <a:latin typeface="Times New Roman" pitchFamily="18" charset="0"/>
                        </a:rPr>
                        <a:t> f</a:t>
                      </a:r>
                      <a:r>
                        <a:rPr kumimoji="0" lang="es-ES_tradnl" altLang="es-ES" sz="1600" b="0" i="1" u="none" strike="noStrike" cap="none" normalizeH="0" baseline="-25000">
                          <a:ln>
                            <a:noFill/>
                          </a:ln>
                          <a:solidFill>
                            <a:schemeClr val="accent1">
                              <a:lumMod val="25000"/>
                            </a:schemeClr>
                          </a:solidFill>
                          <a:effectLst/>
                          <a:latin typeface="Times New Roman" pitchFamily="18" charset="0"/>
                        </a:rPr>
                        <a:t>i</a:t>
                      </a:r>
                      <a:r>
                        <a:rPr kumimoji="0" lang="es-ES_tradnl" altLang="es-ES" sz="1600" b="0" i="0" u="none" strike="noStrike" cap="none" normalizeH="0" baseline="0">
                          <a:ln>
                            <a:noFill/>
                          </a:ln>
                          <a:solidFill>
                            <a:schemeClr val="accent1">
                              <a:lumMod val="25000"/>
                            </a:schemeClr>
                          </a:solidFill>
                          <a:effectLst/>
                          <a:latin typeface="Times New Roman" pitchFamily="18" charset="0"/>
                        </a:rPr>
                        <a:t>)</a:t>
                      </a:r>
                      <a:r>
                        <a:rPr kumimoji="0" lang="es-ES_tradnl" altLang="es-ES" sz="1200" b="0" i="0" u="none" strike="noStrike" cap="none" normalizeH="0" baseline="0">
                          <a:ln>
                            <a:noFill/>
                          </a:ln>
                          <a:solidFill>
                            <a:schemeClr val="accent1">
                              <a:lumMod val="25000"/>
                            </a:schemeClr>
                          </a:solidFill>
                          <a:effectLst/>
                          <a:latin typeface="Arial" charset="0"/>
                          <a:cs typeface="Arial" charset="0"/>
                        </a:rPr>
                        <a:t> =</a:t>
                      </a:r>
                      <a:r>
                        <a:rPr kumimoji="0" lang="es-ES_tradnl" altLang="es-ES" sz="1200" b="0" i="0" u="none" strike="noStrike" cap="none" normalizeH="0" baseline="0">
                          <a:ln>
                            <a:noFill/>
                          </a:ln>
                          <a:solidFill>
                            <a:schemeClr val="accent1">
                              <a:lumMod val="25000"/>
                            </a:schemeClr>
                          </a:solidFill>
                          <a:effectLst/>
                          <a:latin typeface="Arial" charset="0"/>
                        </a:rPr>
                        <a:t>2109</a:t>
                      </a:r>
                      <a:endParaRPr kumimoji="0" lang="es-ES" altLang="es-ES" sz="1200" b="0" i="0" u="none" strike="noStrike" cap="none" normalizeH="0" baseline="0">
                        <a:ln>
                          <a:noFill/>
                        </a:ln>
                        <a:solidFill>
                          <a:schemeClr val="accent1">
                            <a:lumMod val="25000"/>
                          </a:schemeClr>
                        </a:solidFill>
                        <a:effectLst/>
                        <a:latin typeface="Arial" charset="0"/>
                      </a:endParaRPr>
                    </a:p>
                  </a:txBody>
                  <a:tcPr marL="91436" marR="91436" marT="45713" marB="45713"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ES" sz="1200" b="0" i="0" u="none" strike="noStrike" cap="none" normalizeH="0" baseline="0" dirty="0">
                        <a:ln>
                          <a:noFill/>
                        </a:ln>
                        <a:solidFill>
                          <a:schemeClr val="accent1">
                            <a:lumMod val="25000"/>
                          </a:schemeClr>
                        </a:solidFill>
                        <a:effectLst/>
                        <a:latin typeface="Arial" charset="0"/>
                      </a:endParaRPr>
                    </a:p>
                  </a:txBody>
                  <a:tcPr marL="91436" marR="91436" marT="45713" marB="45713" anchor="b" horzOverflow="overflow">
                    <a:lnL>
                      <a:noFill/>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chemeClr val="tx1"/>
                          </a:solidFill>
                          <a:effectLst/>
                          <a:latin typeface="Arial" charset="0"/>
                          <a:cs typeface="Arial" charset="0"/>
                        </a:rPr>
                        <a:t>Total</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chemeClr val="tx1"/>
                          </a:solidFill>
                          <a:effectLst/>
                          <a:latin typeface="Arial" charset="0"/>
                          <a:cs typeface="Arial" charset="0"/>
                        </a:rPr>
                        <a:t>124</a:t>
                      </a:r>
                      <a:endParaRPr kumimoji="0" lang="es-ES" altLang="es-ES" sz="1200" b="0" i="0" u="none" strike="noStrike" cap="none" normalizeH="0" baseline="0">
                        <a:ln>
                          <a:noFill/>
                        </a:ln>
                        <a:solidFill>
                          <a:schemeClr val="tx1"/>
                        </a:solidFill>
                        <a:effectLst/>
                        <a:latin typeface="Arial" charset="0"/>
                      </a:endParaRPr>
                    </a:p>
                  </a:txBody>
                  <a:tcPr marL="91436" marR="91436" marT="45713" marB="45713"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endParaRPr kumimoji="0" lang="es-ES" altLang="es-ES" sz="1200" b="0" i="0" u="none" strike="noStrike" cap="none" normalizeH="0" baseline="0">
                        <a:ln>
                          <a:noFill/>
                        </a:ln>
                        <a:solidFill>
                          <a:schemeClr val="accent1">
                            <a:lumMod val="25000"/>
                          </a:schemeClr>
                        </a:solidFill>
                        <a:effectLst/>
                        <a:latin typeface="Arial" charset="0"/>
                      </a:endParaRPr>
                    </a:p>
                  </a:txBody>
                  <a:tcPr marL="91436" marR="91436" marT="45713" marB="45713"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dirty="0">
                          <a:ln>
                            <a:noFill/>
                          </a:ln>
                          <a:solidFill>
                            <a:schemeClr val="accent1">
                              <a:lumMod val="25000"/>
                            </a:schemeClr>
                          </a:solidFill>
                          <a:effectLst/>
                          <a:latin typeface="Arial" charset="0"/>
                          <a:cs typeface="Arial" charset="0"/>
                        </a:rPr>
                        <a:t>3477 </a:t>
                      </a:r>
                      <a:endParaRPr kumimoji="0" lang="es-ES" altLang="es-ES" sz="1200" b="0" i="0" u="none" strike="noStrike" cap="none" normalizeH="0" baseline="0" dirty="0">
                        <a:ln>
                          <a:noFill/>
                        </a:ln>
                        <a:solidFill>
                          <a:schemeClr val="accent1">
                            <a:lumMod val="25000"/>
                          </a:schemeClr>
                        </a:solidFill>
                        <a:effectLst/>
                        <a:latin typeface="Arial" charset="0"/>
                      </a:endParaRPr>
                    </a:p>
                  </a:txBody>
                  <a:tcPr marL="91436" marR="91436" marT="45713" marB="45713"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6744" name="Text Box 4"/>
          <p:cNvSpPr txBox="1">
            <a:spLocks noChangeArrowheads="1"/>
          </p:cNvSpPr>
          <p:nvPr/>
        </p:nvSpPr>
        <p:spPr bwMode="auto">
          <a:xfrm>
            <a:off x="3257550" y="1939925"/>
            <a:ext cx="26670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 altLang="es-ES" sz="1400"/>
              <a:t>si los datos están agrupados en una tabla de frecuencias:</a:t>
            </a:r>
            <a:endParaRPr lang="en-GB" altLang="es-ES" sz="1400"/>
          </a:p>
        </p:txBody>
      </p:sp>
      <p:graphicFrame>
        <p:nvGraphicFramePr>
          <p:cNvPr id="26745" name="Object 349"/>
          <p:cNvGraphicFramePr>
            <a:graphicFrameLocks noChangeAspect="1"/>
          </p:cNvGraphicFramePr>
          <p:nvPr/>
        </p:nvGraphicFramePr>
        <p:xfrm>
          <a:off x="692150" y="6172200"/>
          <a:ext cx="2122488" cy="242888"/>
        </p:xfrm>
        <a:graphic>
          <a:graphicData uri="http://schemas.openxmlformats.org/presentationml/2006/ole">
            <mc:AlternateContent xmlns:mc="http://schemas.openxmlformats.org/markup-compatibility/2006">
              <mc:Choice xmlns:v="urn:schemas-microsoft-com:vml" Requires="v">
                <p:oleObj name="Equation" r:id="rId6" imgW="1219200" imgH="139700" progId="Equation.DSMT4">
                  <p:embed/>
                </p:oleObj>
              </mc:Choice>
              <mc:Fallback>
                <p:oleObj name="Equation" r:id="rId6" imgW="1219200" imgH="139700" progId="Equation.DSMT4">
                  <p:embed/>
                  <p:pic>
                    <p:nvPicPr>
                      <p:cNvPr id="0" name="Object 34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2150" y="6172200"/>
                        <a:ext cx="2122488" cy="242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46" name="Object 350"/>
          <p:cNvGraphicFramePr>
            <a:graphicFrameLocks noChangeAspect="1"/>
          </p:cNvGraphicFramePr>
          <p:nvPr/>
        </p:nvGraphicFramePr>
        <p:xfrm>
          <a:off x="6016625" y="6056313"/>
          <a:ext cx="2171700" cy="249237"/>
        </p:xfrm>
        <a:graphic>
          <a:graphicData uri="http://schemas.openxmlformats.org/presentationml/2006/ole">
            <mc:AlternateContent xmlns:mc="http://schemas.openxmlformats.org/markup-compatibility/2006">
              <mc:Choice xmlns:v="urn:schemas-microsoft-com:vml" Requires="v">
                <p:oleObj name="Equation" r:id="rId8" imgW="1219200" imgH="139700" progId="Equation.DSMT4">
                  <p:embed/>
                </p:oleObj>
              </mc:Choice>
              <mc:Fallback>
                <p:oleObj name="Equation" r:id="rId8" imgW="1219200" imgH="139700" progId="Equation.DSMT4">
                  <p:embed/>
                  <p:pic>
                    <p:nvPicPr>
                      <p:cNvPr id="0" name="Object 35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16625" y="6056313"/>
                        <a:ext cx="2171700" cy="249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747" name="Text Box 4"/>
          <p:cNvSpPr txBox="1">
            <a:spLocks noChangeArrowheads="1"/>
          </p:cNvSpPr>
          <p:nvPr/>
        </p:nvSpPr>
        <p:spPr bwMode="auto">
          <a:xfrm>
            <a:off x="304800" y="2733675"/>
            <a:ext cx="2667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 altLang="es-ES" sz="1400"/>
              <a:t>Ejemplos:</a:t>
            </a:r>
            <a:endParaRPr lang="en-GB" altLang="es-ES" sz="1400"/>
          </a:p>
        </p:txBody>
      </p:sp>
      <p:graphicFrame>
        <p:nvGraphicFramePr>
          <p:cNvPr id="26748" name="Object 354"/>
          <p:cNvGraphicFramePr>
            <a:graphicFrameLocks noChangeAspect="1"/>
          </p:cNvGraphicFramePr>
          <p:nvPr/>
        </p:nvGraphicFramePr>
        <p:xfrm>
          <a:off x="1562100" y="2778125"/>
          <a:ext cx="3314700" cy="279400"/>
        </p:xfrm>
        <a:graphic>
          <a:graphicData uri="http://schemas.openxmlformats.org/presentationml/2006/ole">
            <mc:AlternateContent xmlns:mc="http://schemas.openxmlformats.org/markup-compatibility/2006">
              <mc:Choice xmlns:v="urn:schemas-microsoft-com:vml" Requires="v">
                <p:oleObj name="Equation" r:id="rId10" imgW="3314700" imgH="279400" progId="Equation.DSMT4">
                  <p:embed/>
                </p:oleObj>
              </mc:Choice>
              <mc:Fallback>
                <p:oleObj name="Equation" r:id="rId10" imgW="3314700" imgH="279400" progId="Equation.DSMT4">
                  <p:embed/>
                  <p:pic>
                    <p:nvPicPr>
                      <p:cNvPr id="0" name="Object 35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62100" y="2778125"/>
                        <a:ext cx="33147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749" name="Text Box 355"/>
          <p:cNvSpPr txBox="1">
            <a:spLocks noChangeArrowheads="1"/>
          </p:cNvSpPr>
          <p:nvPr/>
        </p:nvSpPr>
        <p:spPr bwMode="auto">
          <a:xfrm>
            <a:off x="1247775" y="2762250"/>
            <a:ext cx="31908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b="1"/>
              <a:t>a)</a:t>
            </a:r>
            <a:endParaRPr lang="es-ES" altLang="es-ES" b="1"/>
          </a:p>
        </p:txBody>
      </p:sp>
      <p:sp>
        <p:nvSpPr>
          <p:cNvPr id="26750" name="Text Box 356"/>
          <p:cNvSpPr txBox="1">
            <a:spLocks noChangeArrowheads="1"/>
          </p:cNvSpPr>
          <p:nvPr/>
        </p:nvSpPr>
        <p:spPr bwMode="auto">
          <a:xfrm>
            <a:off x="457200" y="3276600"/>
            <a:ext cx="32861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b="1"/>
              <a:t>b)</a:t>
            </a:r>
            <a:endParaRPr lang="es-ES" altLang="es-ES" b="1"/>
          </a:p>
        </p:txBody>
      </p:sp>
      <p:sp>
        <p:nvSpPr>
          <p:cNvPr id="26751" name="Text Box 357"/>
          <p:cNvSpPr txBox="1">
            <a:spLocks noChangeArrowheads="1"/>
          </p:cNvSpPr>
          <p:nvPr/>
        </p:nvSpPr>
        <p:spPr bwMode="auto">
          <a:xfrm>
            <a:off x="4724400" y="3276600"/>
            <a:ext cx="31908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b="1"/>
              <a:t>c)</a:t>
            </a:r>
            <a:endParaRPr lang="es-ES" altLang="es-ES" b="1"/>
          </a:p>
        </p:txBody>
      </p:sp>
      <p:sp>
        <p:nvSpPr>
          <p:cNvPr id="26752" name="Text Box 4"/>
          <p:cNvSpPr txBox="1">
            <a:spLocks noChangeArrowheads="1"/>
          </p:cNvSpPr>
          <p:nvPr/>
        </p:nvSpPr>
        <p:spPr bwMode="auto">
          <a:xfrm>
            <a:off x="4676775" y="6267450"/>
            <a:ext cx="4095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 altLang="es-ES" sz="1000" dirty="0"/>
              <a:t>* En estos intervalos “mal definidos” se usa la misma regla que con los restantes de la tabla</a:t>
            </a:r>
            <a:endParaRPr lang="en-GB" altLang="es-ES" sz="1000" dirty="0"/>
          </a:p>
        </p:txBody>
      </p:sp>
      <p:sp>
        <p:nvSpPr>
          <p:cNvPr id="26753" name="AutoShape 122"/>
          <p:cNvSpPr>
            <a:spLocks noChangeArrowheads="1"/>
          </p:cNvSpPr>
          <p:nvPr/>
        </p:nvSpPr>
        <p:spPr bwMode="auto">
          <a:xfrm>
            <a:off x="3155950" y="1651000"/>
            <a:ext cx="5683250" cy="1093788"/>
          </a:xfrm>
          <a:prstGeom prst="roundRect">
            <a:avLst>
              <a:gd name="adj" fmla="val 3361"/>
            </a:avLst>
          </a:prstGeom>
          <a:noFill/>
          <a:ln w="6350">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20" name="Text Box 2"/>
          <p:cNvSpPr txBox="1">
            <a:spLocks noChangeArrowheads="1"/>
          </p:cNvSpPr>
          <p:nvPr/>
        </p:nvSpPr>
        <p:spPr bwMode="auto">
          <a:xfrm>
            <a:off x="241300" y="311150"/>
            <a:ext cx="591700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Síntesis de datos: medidas descriptivas de posición</a:t>
            </a:r>
            <a:endParaRPr lang="es-ES" altLang="es-ES" sz="1800" b="1"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104C078-F41A-BD0E-9F2E-DDA6D5AD9468}"/>
                  </a:ext>
                </a:extLst>
              </p:cNvPr>
              <p:cNvSpPr txBox="1"/>
              <p:nvPr/>
            </p:nvSpPr>
            <p:spPr>
              <a:xfrm>
                <a:off x="6145877" y="1725612"/>
                <a:ext cx="2552700" cy="96584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3200" i="1" smtClean="0">
                              <a:latin typeface="Cambria Math" panose="02040503050406030204" pitchFamily="18" charset="0"/>
                            </a:rPr>
                          </m:ctrlPr>
                        </m:accPr>
                        <m:e>
                          <m:r>
                            <a:rPr lang="en-US" sz="3200" b="0" i="1" smtClean="0">
                              <a:latin typeface="Cambria Math" panose="02040503050406030204" pitchFamily="18" charset="0"/>
                            </a:rPr>
                            <m:t>𝑥</m:t>
                          </m:r>
                        </m:e>
                      </m:acc>
                      <m:r>
                        <a:rPr lang="en-US" sz="3200" i="1" smtClean="0">
                          <a:latin typeface="Cambria Math" panose="02040503050406030204" pitchFamily="18" charset="0"/>
                        </a:rPr>
                        <m:t>=</m:t>
                      </m:r>
                      <m:f>
                        <m:fPr>
                          <m:ctrlPr>
                            <a:rPr lang="en-US" sz="3200" i="1" smtClean="0">
                              <a:latin typeface="Cambria Math" panose="02040503050406030204" pitchFamily="18" charset="0"/>
                            </a:rPr>
                          </m:ctrlPr>
                        </m:fPr>
                        <m:num>
                          <m:nary>
                            <m:naryPr>
                              <m:chr m:val="∑"/>
                              <m:ctrlPr>
                                <a:rPr lang="en-US" sz="3200" i="1" smtClean="0">
                                  <a:latin typeface="Cambria Math" panose="02040503050406030204" pitchFamily="18" charset="0"/>
                                </a:rPr>
                              </m:ctrlPr>
                            </m:naryPr>
                            <m:sub>
                              <m:r>
                                <m:rPr>
                                  <m:brk m:alnAt="23"/>
                                </m:rPr>
                                <a:rPr lang="en-US" sz="3200" b="0" i="1" smtClean="0">
                                  <a:latin typeface="Cambria Math" panose="02040503050406030204" pitchFamily="18" charset="0"/>
                                </a:rPr>
                                <m:t>𝑖</m:t>
                              </m:r>
                              <m:r>
                                <a:rPr lang="en-US" sz="3200" b="0" i="1" smtClean="0">
                                  <a:latin typeface="Cambria Math" panose="02040503050406030204" pitchFamily="18" charset="0"/>
                                </a:rPr>
                                <m:t>=1</m:t>
                              </m:r>
                            </m:sub>
                            <m:sup>
                              <m:r>
                                <a:rPr lang="en-US" sz="3200" b="0" i="1" smtClean="0">
                                  <a:latin typeface="Cambria Math" panose="02040503050406030204" pitchFamily="18" charset="0"/>
                                </a:rPr>
                                <m:t>𝑛</m:t>
                              </m:r>
                            </m:sup>
                            <m:e>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𝑛</m:t>
                                  </m:r>
                                </m:e>
                                <m:sub>
                                  <m:r>
                                    <a:rPr lang="en-US" sz="3200" b="0" i="1" smtClean="0">
                                      <a:latin typeface="Cambria Math" panose="02040503050406030204" pitchFamily="18" charset="0"/>
                                    </a:rPr>
                                    <m:t>𝑖</m:t>
                                  </m:r>
                                </m:sub>
                              </m:sSub>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𝑖</m:t>
                                  </m:r>
                                </m:sub>
                              </m:sSub>
                            </m:e>
                          </m:nary>
                        </m:num>
                        <m:den>
                          <m:r>
                            <a:rPr lang="en-US" sz="3200" b="0" i="1" smtClean="0">
                              <a:latin typeface="Cambria Math" panose="02040503050406030204" pitchFamily="18" charset="0"/>
                            </a:rPr>
                            <m:t>𝑛</m:t>
                          </m:r>
                        </m:den>
                      </m:f>
                    </m:oMath>
                  </m:oMathPara>
                </a14:m>
                <a:endParaRPr lang="en-US" sz="3200" dirty="0"/>
              </a:p>
            </p:txBody>
          </p:sp>
        </mc:Choice>
        <mc:Fallback xmlns="">
          <p:sp>
            <p:nvSpPr>
              <p:cNvPr id="4" name="TextBox 3">
                <a:extLst>
                  <a:ext uri="{FF2B5EF4-FFF2-40B4-BE49-F238E27FC236}">
                    <a16:creationId xmlns:a16="http://schemas.microsoft.com/office/drawing/2014/main" id="{D104C078-F41A-BD0E-9F2E-DDA6D5AD9468}"/>
                  </a:ext>
                </a:extLst>
              </p:cNvPr>
              <p:cNvSpPr txBox="1">
                <a:spLocks noRot="1" noChangeAspect="1" noMove="1" noResize="1" noEditPoints="1" noAdjustHandles="1" noChangeArrowheads="1" noChangeShapeType="1" noTextEdit="1"/>
              </p:cNvSpPr>
              <p:nvPr/>
            </p:nvSpPr>
            <p:spPr>
              <a:xfrm>
                <a:off x="6145877" y="1725612"/>
                <a:ext cx="2552700" cy="965842"/>
              </a:xfrm>
              <a:prstGeom prst="rect">
                <a:avLst/>
              </a:prstGeom>
              <a:blipFill>
                <a:blip r:embed="rId12"/>
                <a:stretch>
                  <a:fillRect t="-83333" b="-78205"/>
                </a:stretch>
              </a:blipFill>
            </p:spPr>
            <p:txBody>
              <a:bodyPr/>
              <a:lstStyle/>
              <a:p>
                <a:r>
                  <a:rPr 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ext Box 6"/>
          <p:cNvSpPr txBox="1">
            <a:spLocks noChangeArrowheads="1"/>
          </p:cNvSpPr>
          <p:nvPr/>
        </p:nvSpPr>
        <p:spPr bwMode="auto">
          <a:xfrm>
            <a:off x="246063" y="838200"/>
            <a:ext cx="874553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600" b="1" dirty="0"/>
              <a:t>Media ponderada</a:t>
            </a:r>
            <a:r>
              <a:rPr lang="es-ES_tradnl" altLang="es-ES" sz="1600" dirty="0"/>
              <a:t>: Debe utilizarse cuando no todas las </a:t>
            </a:r>
            <a:r>
              <a:rPr lang="es-ES_tradnl" altLang="es-ES" sz="1600" dirty="0" err="1"/>
              <a:t>ob</a:t>
            </a:r>
            <a:r>
              <a:rPr lang="es-ES" altLang="es-ES" sz="1600" dirty="0" err="1"/>
              <a:t>servaciones</a:t>
            </a:r>
            <a:r>
              <a:rPr lang="es-ES" altLang="es-ES" sz="1600" dirty="0"/>
              <a:t> tienen la misma </a:t>
            </a:r>
            <a:r>
              <a:rPr lang="es-ES" altLang="es-ES" sz="1600" i="1" dirty="0"/>
              <a:t>importancia</a:t>
            </a:r>
            <a:r>
              <a:rPr lang="es-ES" altLang="es-ES" sz="1600" dirty="0"/>
              <a:t> (= peso o ponderación: </a:t>
            </a:r>
            <a:r>
              <a:rPr lang="es-ES" altLang="es-ES" sz="1600" i="1" dirty="0" err="1">
                <a:latin typeface="Times New Roman" pitchFamily="18" charset="0"/>
              </a:rPr>
              <a:t>w</a:t>
            </a:r>
            <a:r>
              <a:rPr lang="es-ES" altLang="es-ES" sz="1600" i="1" baseline="-25000" dirty="0" err="1">
                <a:latin typeface="Times New Roman" pitchFamily="18" charset="0"/>
              </a:rPr>
              <a:t>i</a:t>
            </a:r>
            <a:r>
              <a:rPr lang="es-ES" altLang="es-ES" sz="1600" dirty="0"/>
              <a:t>)</a:t>
            </a:r>
            <a:endParaRPr lang="en-GB" altLang="es-ES" sz="1600" dirty="0"/>
          </a:p>
        </p:txBody>
      </p:sp>
      <p:graphicFrame>
        <p:nvGraphicFramePr>
          <p:cNvPr id="27652" name="Object 110"/>
          <p:cNvGraphicFramePr>
            <a:graphicFrameLocks noChangeAspect="1"/>
          </p:cNvGraphicFramePr>
          <p:nvPr/>
        </p:nvGraphicFramePr>
        <p:xfrm>
          <a:off x="2154238" y="1660525"/>
          <a:ext cx="1695450" cy="746125"/>
        </p:xfrm>
        <a:graphic>
          <a:graphicData uri="http://schemas.openxmlformats.org/presentationml/2006/ole">
            <mc:AlternateContent xmlns:mc="http://schemas.openxmlformats.org/markup-compatibility/2006">
              <mc:Choice xmlns:v="urn:schemas-microsoft-com:vml" Requires="v">
                <p:oleObj name="Equation" r:id="rId2" imgW="1155700" imgH="508000" progId="Equation.DSMT4">
                  <p:embed/>
                </p:oleObj>
              </mc:Choice>
              <mc:Fallback>
                <p:oleObj name="Equation" r:id="rId2" imgW="1155700" imgH="508000" progId="Equation.DSMT4">
                  <p:embed/>
                  <p:pic>
                    <p:nvPicPr>
                      <p:cNvPr id="27652" name="Object 1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4238" y="1660525"/>
                        <a:ext cx="1695450" cy="746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53" name="Object 111"/>
          <p:cNvGraphicFramePr>
            <a:graphicFrameLocks noChangeAspect="1"/>
          </p:cNvGraphicFramePr>
          <p:nvPr/>
        </p:nvGraphicFramePr>
        <p:xfrm>
          <a:off x="4079875" y="1371600"/>
          <a:ext cx="3311525" cy="1323975"/>
        </p:xfrm>
        <a:graphic>
          <a:graphicData uri="http://schemas.openxmlformats.org/presentationml/2006/ole">
            <mc:AlternateContent xmlns:mc="http://schemas.openxmlformats.org/markup-compatibility/2006">
              <mc:Choice xmlns:v="urn:schemas-microsoft-com:vml" Requires="v">
                <p:oleObj name="Equation" r:id="rId4" imgW="2095500" imgH="838200" progId="Equation.DSMT4">
                  <p:embed/>
                </p:oleObj>
              </mc:Choice>
              <mc:Fallback>
                <p:oleObj name="Equation" r:id="rId4" imgW="2095500" imgH="838200" progId="Equation.DSMT4">
                  <p:embed/>
                  <p:pic>
                    <p:nvPicPr>
                      <p:cNvPr id="27653" name="Object 1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79875" y="1371600"/>
                        <a:ext cx="3311525" cy="1323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54" name="Text Box 112"/>
          <p:cNvSpPr txBox="1">
            <a:spLocks noChangeArrowheads="1"/>
          </p:cNvSpPr>
          <p:nvPr/>
        </p:nvSpPr>
        <p:spPr bwMode="auto">
          <a:xfrm>
            <a:off x="285750" y="2590800"/>
            <a:ext cx="874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400"/>
              <a:t>Ejemplo:</a:t>
            </a:r>
            <a:endParaRPr lang="en-GB" altLang="es-ES" sz="1400"/>
          </a:p>
        </p:txBody>
      </p:sp>
      <p:graphicFrame>
        <p:nvGraphicFramePr>
          <p:cNvPr id="27655" name="Object 114"/>
          <p:cNvGraphicFramePr>
            <a:graphicFrameLocks noChangeAspect="1"/>
          </p:cNvGraphicFramePr>
          <p:nvPr/>
        </p:nvGraphicFramePr>
        <p:xfrm>
          <a:off x="762000" y="3048000"/>
          <a:ext cx="2808288" cy="649288"/>
        </p:xfrm>
        <a:graphic>
          <a:graphicData uri="http://schemas.openxmlformats.org/presentationml/2006/ole">
            <mc:AlternateContent xmlns:mc="http://schemas.openxmlformats.org/markup-compatibility/2006">
              <mc:Choice xmlns:v="urn:schemas-microsoft-com:vml" Requires="v">
                <p:oleObj name="Equation" r:id="rId6" imgW="2120760" imgH="482400" progId="Equation.DSMT4">
                  <p:embed/>
                </p:oleObj>
              </mc:Choice>
              <mc:Fallback>
                <p:oleObj name="Equation" r:id="rId6" imgW="2120760" imgH="482400" progId="Equation.DSMT4">
                  <p:embed/>
                  <p:pic>
                    <p:nvPicPr>
                      <p:cNvPr id="27655" name="Object 114"/>
                      <p:cNvPicPr>
                        <a:picLocks noChangeAspect="1" noChangeArrowheads="1"/>
                      </p:cNvPicPr>
                      <p:nvPr/>
                    </p:nvPicPr>
                    <p:blipFill>
                      <a:blip r:embed="rId7"/>
                      <a:srcRect/>
                      <a:stretch>
                        <a:fillRect/>
                      </a:stretch>
                    </p:blipFill>
                    <p:spPr bwMode="auto">
                      <a:xfrm>
                        <a:off x="762000" y="3048000"/>
                        <a:ext cx="2808288" cy="649288"/>
                      </a:xfrm>
                      <a:prstGeom prst="rect">
                        <a:avLst/>
                      </a:prstGeom>
                      <a:noFill/>
                      <a:ln>
                        <a:noFill/>
                      </a:ln>
                      <a:effectLst/>
                    </p:spPr>
                  </p:pic>
                </p:oleObj>
              </mc:Fallback>
            </mc:AlternateContent>
          </a:graphicData>
        </a:graphic>
      </p:graphicFrame>
      <p:graphicFrame>
        <p:nvGraphicFramePr>
          <p:cNvPr id="27656" name="Object 115"/>
          <p:cNvGraphicFramePr>
            <a:graphicFrameLocks noChangeAspect="1"/>
          </p:cNvGraphicFramePr>
          <p:nvPr/>
        </p:nvGraphicFramePr>
        <p:xfrm>
          <a:off x="3668713" y="3092450"/>
          <a:ext cx="3295650" cy="536575"/>
        </p:xfrm>
        <a:graphic>
          <a:graphicData uri="http://schemas.openxmlformats.org/presentationml/2006/ole">
            <mc:AlternateContent xmlns:mc="http://schemas.openxmlformats.org/markup-compatibility/2006">
              <mc:Choice xmlns:v="urn:schemas-microsoft-com:vml" Requires="v">
                <p:oleObj name="Equation" r:id="rId8" imgW="2425700" imgH="393700" progId="Equation.DSMT4">
                  <p:embed/>
                </p:oleObj>
              </mc:Choice>
              <mc:Fallback>
                <p:oleObj name="Equation" r:id="rId8" imgW="2425700" imgH="393700" progId="Equation.DSMT4">
                  <p:embed/>
                  <p:pic>
                    <p:nvPicPr>
                      <p:cNvPr id="27656" name="Object 1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68713" y="3092450"/>
                        <a:ext cx="3295650"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57" name="Object 116"/>
          <p:cNvGraphicFramePr>
            <a:graphicFrameLocks noChangeAspect="1"/>
          </p:cNvGraphicFramePr>
          <p:nvPr/>
        </p:nvGraphicFramePr>
        <p:xfrm>
          <a:off x="7062788" y="3052763"/>
          <a:ext cx="1876425" cy="619125"/>
        </p:xfrm>
        <a:graphic>
          <a:graphicData uri="http://schemas.openxmlformats.org/presentationml/2006/ole">
            <mc:AlternateContent xmlns:mc="http://schemas.openxmlformats.org/markup-compatibility/2006">
              <mc:Choice xmlns:v="urn:schemas-microsoft-com:vml" Requires="v">
                <p:oleObj name="Equation" r:id="rId10" imgW="1307532" imgH="431613" progId="Equation.DSMT4">
                  <p:embed/>
                </p:oleObj>
              </mc:Choice>
              <mc:Fallback>
                <p:oleObj name="Equation" r:id="rId10" imgW="1307532" imgH="431613" progId="Equation.DSMT4">
                  <p:embed/>
                  <p:pic>
                    <p:nvPicPr>
                      <p:cNvPr id="27657" name="Object 1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062788" y="3052763"/>
                        <a:ext cx="1876425" cy="619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58" name="Object 117"/>
          <p:cNvGraphicFramePr>
            <a:graphicFrameLocks noChangeAspect="1"/>
          </p:cNvGraphicFramePr>
          <p:nvPr/>
        </p:nvGraphicFramePr>
        <p:xfrm>
          <a:off x="1981200" y="4962525"/>
          <a:ext cx="1881187" cy="1239838"/>
        </p:xfrm>
        <a:graphic>
          <a:graphicData uri="http://schemas.openxmlformats.org/presentationml/2006/ole">
            <mc:AlternateContent xmlns:mc="http://schemas.openxmlformats.org/markup-compatibility/2006">
              <mc:Choice xmlns:v="urn:schemas-microsoft-com:vml" Requires="v">
                <p:oleObj name="Equation" r:id="rId12" imgW="1193800" imgH="787400" progId="Equation.DSMT4">
                  <p:embed/>
                </p:oleObj>
              </mc:Choice>
              <mc:Fallback>
                <p:oleObj name="Equation" r:id="rId12" imgW="1193800" imgH="787400" progId="Equation.DSMT4">
                  <p:embed/>
                  <p:pic>
                    <p:nvPicPr>
                      <p:cNvPr id="27658" name="Object 1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81200" y="4962525"/>
                        <a:ext cx="1881187" cy="1239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59" name="Object 118"/>
          <p:cNvGraphicFramePr>
            <a:graphicFrameLocks noChangeAspect="1"/>
          </p:cNvGraphicFramePr>
          <p:nvPr/>
        </p:nvGraphicFramePr>
        <p:xfrm>
          <a:off x="5586412" y="4997450"/>
          <a:ext cx="1119188" cy="1171575"/>
        </p:xfrm>
        <a:graphic>
          <a:graphicData uri="http://schemas.openxmlformats.org/presentationml/2006/ole">
            <mc:AlternateContent xmlns:mc="http://schemas.openxmlformats.org/markup-compatibility/2006">
              <mc:Choice xmlns:v="urn:schemas-microsoft-com:vml" Requires="v">
                <p:oleObj name="Equation" r:id="rId14" imgW="800100" imgH="838200" progId="Equation.DSMT4">
                  <p:embed/>
                </p:oleObj>
              </mc:Choice>
              <mc:Fallback>
                <p:oleObj name="Equation" r:id="rId14" imgW="800100" imgH="838200" progId="Equation.DSMT4">
                  <p:embed/>
                  <p:pic>
                    <p:nvPicPr>
                      <p:cNvPr id="27659" name="Object 1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586412" y="4997450"/>
                        <a:ext cx="1119188" cy="1171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60" name="Text Box 6"/>
          <p:cNvSpPr txBox="1">
            <a:spLocks noChangeArrowheads="1"/>
          </p:cNvSpPr>
          <p:nvPr/>
        </p:nvSpPr>
        <p:spPr bwMode="auto">
          <a:xfrm>
            <a:off x="609600" y="4175125"/>
            <a:ext cx="78486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_tradnl" altLang="es-ES" sz="1400" dirty="0"/>
              <a:t>Observe la </a:t>
            </a:r>
            <a:r>
              <a:rPr lang="es-ES" altLang="es-ES" sz="1400" dirty="0"/>
              <a:t>similitud entre la </a:t>
            </a:r>
            <a:r>
              <a:rPr lang="es-ES" altLang="es-ES" sz="1400" b="1" dirty="0"/>
              <a:t>media aritmética </a:t>
            </a:r>
            <a:r>
              <a:rPr lang="es-ES" altLang="es-ES" sz="1400" dirty="0"/>
              <a:t>para datos agrupados y la </a:t>
            </a:r>
            <a:r>
              <a:rPr lang="es-ES" altLang="es-ES" sz="1400" b="1" dirty="0"/>
              <a:t>media ponderada</a:t>
            </a:r>
            <a:r>
              <a:rPr lang="es-ES" altLang="es-ES" sz="1400" dirty="0"/>
              <a:t>. Cuando la ponderación</a:t>
            </a:r>
            <a:r>
              <a:rPr lang="es-ES" altLang="es-ES" sz="1600" dirty="0"/>
              <a:t> </a:t>
            </a:r>
            <a:r>
              <a:rPr lang="es-ES" altLang="es-ES" sz="1400" dirty="0"/>
              <a:t>(</a:t>
            </a:r>
            <a:r>
              <a:rPr lang="es-ES" altLang="es-ES" sz="1600" i="1" dirty="0" err="1">
                <a:latin typeface="Times New Roman" pitchFamily="18" charset="0"/>
              </a:rPr>
              <a:t>w</a:t>
            </a:r>
            <a:r>
              <a:rPr lang="es-ES" altLang="es-ES" sz="1600" i="1" baseline="-25000" dirty="0" err="1">
                <a:latin typeface="Times New Roman" pitchFamily="18" charset="0"/>
              </a:rPr>
              <a:t>i</a:t>
            </a:r>
            <a:r>
              <a:rPr lang="es-ES" altLang="es-ES" sz="1400" dirty="0"/>
              <a:t>) de cada valor es su frecuencia de aparición </a:t>
            </a:r>
            <a:r>
              <a:rPr lang="es-ES" altLang="es-ES" sz="1400" dirty="0">
                <a:latin typeface="Times New Roman" pitchFamily="18" charset="0"/>
              </a:rPr>
              <a:t>(</a:t>
            </a:r>
            <a:r>
              <a:rPr lang="es-ES" altLang="es-ES" sz="1400" i="1" dirty="0">
                <a:latin typeface="Times New Roman" pitchFamily="18" charset="0"/>
              </a:rPr>
              <a:t>f</a:t>
            </a:r>
            <a:r>
              <a:rPr lang="es-ES" altLang="es-ES" sz="1400" i="1" baseline="-25000" dirty="0">
                <a:latin typeface="Times New Roman" pitchFamily="18" charset="0"/>
              </a:rPr>
              <a:t>i</a:t>
            </a:r>
            <a:r>
              <a:rPr lang="es-ES" altLang="es-ES" sz="1400" dirty="0">
                <a:latin typeface="Times New Roman" pitchFamily="18" charset="0"/>
              </a:rPr>
              <a:t>)</a:t>
            </a:r>
            <a:r>
              <a:rPr lang="es-ES" altLang="es-ES" sz="1400" dirty="0"/>
              <a:t>, entonces tenemos la misma expresión</a:t>
            </a:r>
          </a:p>
        </p:txBody>
      </p:sp>
      <p:sp>
        <p:nvSpPr>
          <p:cNvPr id="27661" name="AutoShape 122"/>
          <p:cNvSpPr>
            <a:spLocks noChangeArrowheads="1"/>
          </p:cNvSpPr>
          <p:nvPr/>
        </p:nvSpPr>
        <p:spPr bwMode="auto">
          <a:xfrm>
            <a:off x="533400" y="3962400"/>
            <a:ext cx="8077200" cy="2362200"/>
          </a:xfrm>
          <a:prstGeom prst="roundRect">
            <a:avLst>
              <a:gd name="adj" fmla="val 4903"/>
            </a:avLst>
          </a:prstGeom>
          <a:noFill/>
          <a:ln w="6350">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27662" name="Text Box 123"/>
          <p:cNvSpPr txBox="1">
            <a:spLocks noChangeArrowheads="1"/>
          </p:cNvSpPr>
          <p:nvPr/>
        </p:nvSpPr>
        <p:spPr bwMode="auto">
          <a:xfrm>
            <a:off x="1316038" y="1881188"/>
            <a:ext cx="6969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400"/>
              <a:t>Dados</a:t>
            </a:r>
            <a:endParaRPr lang="en-GB" altLang="es-ES" sz="1400"/>
          </a:p>
        </p:txBody>
      </p:sp>
      <p:sp>
        <p:nvSpPr>
          <p:cNvPr id="15" name="Text Box 2"/>
          <p:cNvSpPr txBox="1">
            <a:spLocks noChangeArrowheads="1"/>
          </p:cNvSpPr>
          <p:nvPr/>
        </p:nvSpPr>
        <p:spPr bwMode="auto">
          <a:xfrm>
            <a:off x="241300" y="311150"/>
            <a:ext cx="591700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Síntesis de datos: medidas descriptivas de posición</a:t>
            </a:r>
            <a:endParaRPr lang="es-ES" altLang="es-ES" sz="1800" b="1" dirty="0"/>
          </a:p>
        </p:txBody>
      </p:sp>
      <p:cxnSp>
        <p:nvCxnSpPr>
          <p:cNvPr id="3" name="Conector recto de flecha 2">
            <a:extLst>
              <a:ext uri="{FF2B5EF4-FFF2-40B4-BE49-F238E27FC236}">
                <a16:creationId xmlns:a16="http://schemas.microsoft.com/office/drawing/2014/main" id="{5FB7AE95-5E95-4781-AAA7-4BAB1761DBE0}"/>
              </a:ext>
            </a:extLst>
          </p:cNvPr>
          <p:cNvCxnSpPr/>
          <p:nvPr/>
        </p:nvCxnSpPr>
        <p:spPr>
          <a:xfrm>
            <a:off x="4267200" y="5562600"/>
            <a:ext cx="9144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 name="Objeto 3">
            <a:extLst>
              <a:ext uri="{FF2B5EF4-FFF2-40B4-BE49-F238E27FC236}">
                <a16:creationId xmlns:a16="http://schemas.microsoft.com/office/drawing/2014/main" id="{10F861B2-C663-46EB-B91D-603004B3FEE4}"/>
              </a:ext>
            </a:extLst>
          </p:cNvPr>
          <p:cNvGraphicFramePr>
            <a:graphicFrameLocks noChangeAspect="1"/>
          </p:cNvGraphicFramePr>
          <p:nvPr/>
        </p:nvGraphicFramePr>
        <p:xfrm>
          <a:off x="4460874" y="5302250"/>
          <a:ext cx="508000" cy="228600"/>
        </p:xfrm>
        <a:graphic>
          <a:graphicData uri="http://schemas.openxmlformats.org/presentationml/2006/ole">
            <mc:AlternateContent xmlns:mc="http://schemas.openxmlformats.org/markup-compatibility/2006">
              <mc:Choice xmlns:v="urn:schemas-microsoft-com:vml" Requires="v">
                <p:oleObj name="Equation" r:id="rId16" imgW="507960" imgH="228600" progId="Equation.DSMT4">
                  <p:embed/>
                </p:oleObj>
              </mc:Choice>
              <mc:Fallback>
                <p:oleObj name="Equation" r:id="rId16" imgW="507960" imgH="228600" progId="Equation.DSMT4">
                  <p:embed/>
                  <p:pic>
                    <p:nvPicPr>
                      <p:cNvPr id="4" name="Objeto 3">
                        <a:extLst>
                          <a:ext uri="{FF2B5EF4-FFF2-40B4-BE49-F238E27FC236}">
                            <a16:creationId xmlns:a16="http://schemas.microsoft.com/office/drawing/2014/main" id="{10F861B2-C663-46EB-B91D-603004B3FEE4}"/>
                          </a:ext>
                        </a:extLst>
                      </p:cNvPr>
                      <p:cNvPicPr/>
                      <p:nvPr/>
                    </p:nvPicPr>
                    <p:blipFill>
                      <a:blip r:embed="rId17"/>
                      <a:stretch>
                        <a:fillRect/>
                      </a:stretch>
                    </p:blipFill>
                    <p:spPr>
                      <a:xfrm>
                        <a:off x="4460874" y="5302250"/>
                        <a:ext cx="508000" cy="228600"/>
                      </a:xfrm>
                      <a:prstGeom prst="rect">
                        <a:avLst/>
                      </a:prstGeom>
                    </p:spPr>
                  </p:pic>
                </p:oleObj>
              </mc:Fallback>
            </mc:AlternateContent>
          </a:graphicData>
        </a:graphic>
      </p:graphicFrame>
      <p:graphicFrame>
        <p:nvGraphicFramePr>
          <p:cNvPr id="18" name="Objeto 17">
            <a:extLst>
              <a:ext uri="{FF2B5EF4-FFF2-40B4-BE49-F238E27FC236}">
                <a16:creationId xmlns:a16="http://schemas.microsoft.com/office/drawing/2014/main" id="{7AE87155-1E3E-4D90-BEEF-B14DEC43FC78}"/>
              </a:ext>
            </a:extLst>
          </p:cNvPr>
          <p:cNvGraphicFramePr>
            <a:graphicFrameLocks noChangeAspect="1"/>
          </p:cNvGraphicFramePr>
          <p:nvPr/>
        </p:nvGraphicFramePr>
        <p:xfrm>
          <a:off x="4473574" y="5586413"/>
          <a:ext cx="482600" cy="241300"/>
        </p:xfrm>
        <a:graphic>
          <a:graphicData uri="http://schemas.openxmlformats.org/presentationml/2006/ole">
            <mc:AlternateContent xmlns:mc="http://schemas.openxmlformats.org/markup-compatibility/2006">
              <mc:Choice xmlns:v="urn:schemas-microsoft-com:vml" Requires="v">
                <p:oleObj name="Equation" r:id="rId18" imgW="482400" imgH="241200" progId="Equation.DSMT4">
                  <p:embed/>
                </p:oleObj>
              </mc:Choice>
              <mc:Fallback>
                <p:oleObj name="Equation" r:id="rId18" imgW="482400" imgH="241200" progId="Equation.DSMT4">
                  <p:embed/>
                  <p:pic>
                    <p:nvPicPr>
                      <p:cNvPr id="18" name="Objeto 17">
                        <a:extLst>
                          <a:ext uri="{FF2B5EF4-FFF2-40B4-BE49-F238E27FC236}">
                            <a16:creationId xmlns:a16="http://schemas.microsoft.com/office/drawing/2014/main" id="{7AE87155-1E3E-4D90-BEEF-B14DEC43FC78}"/>
                          </a:ext>
                        </a:extLst>
                      </p:cNvPr>
                      <p:cNvPicPr/>
                      <p:nvPr/>
                    </p:nvPicPr>
                    <p:blipFill>
                      <a:blip r:embed="rId19"/>
                      <a:stretch>
                        <a:fillRect/>
                      </a:stretch>
                    </p:blipFill>
                    <p:spPr>
                      <a:xfrm>
                        <a:off x="4473574" y="5586413"/>
                        <a:ext cx="482600" cy="241300"/>
                      </a:xfrm>
                      <a:prstGeom prst="rect">
                        <a:avLst/>
                      </a:prstGeom>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46D974-90CB-1086-F0C3-E49E698585C7}"/>
              </a:ext>
            </a:extLst>
          </p:cNvPr>
          <p:cNvSpPr txBox="1"/>
          <p:nvPr/>
        </p:nvSpPr>
        <p:spPr>
          <a:xfrm>
            <a:off x="533400" y="293876"/>
            <a:ext cx="7391399" cy="3108543"/>
          </a:xfrm>
          <a:prstGeom prst="rect">
            <a:avLst/>
          </a:prstGeom>
          <a:noFill/>
        </p:spPr>
        <p:txBody>
          <a:bodyPr wrap="square">
            <a:spAutoFit/>
          </a:bodyPr>
          <a:lstStyle/>
          <a:p>
            <a:r>
              <a:rPr lang="es-ES" sz="1800" dirty="0"/>
              <a:t>Si </a:t>
            </a:r>
            <a:r>
              <a:rPr lang="es-ES" sz="1800" b="1" dirty="0"/>
              <a:t>media</a:t>
            </a:r>
            <a:r>
              <a:rPr lang="es-ES" sz="1800" dirty="0"/>
              <a:t>=moda=</a:t>
            </a:r>
            <a:r>
              <a:rPr lang="es-ES" sz="1800" b="1" dirty="0"/>
              <a:t>mediana</a:t>
            </a:r>
            <a:r>
              <a:rPr lang="es-ES" sz="1800" dirty="0"/>
              <a:t>, la </a:t>
            </a:r>
            <a:r>
              <a:rPr lang="es-ES" sz="1800" b="1" dirty="0"/>
              <a:t>distribución</a:t>
            </a:r>
            <a:r>
              <a:rPr lang="es-ES" sz="1800" dirty="0"/>
              <a:t> es simétrica </a:t>
            </a:r>
          </a:p>
          <a:p>
            <a:endParaRPr lang="es-ES" sz="2000" dirty="0"/>
          </a:p>
          <a:p>
            <a:endParaRPr lang="es-ES" sz="2000" dirty="0"/>
          </a:p>
          <a:p>
            <a:endParaRPr lang="es-ES" sz="2000" dirty="0"/>
          </a:p>
          <a:p>
            <a:endParaRPr lang="es-ES" sz="2000" dirty="0"/>
          </a:p>
          <a:p>
            <a:r>
              <a:rPr lang="es-ES" sz="1800" dirty="0"/>
              <a:t>Si </a:t>
            </a:r>
            <a:r>
              <a:rPr lang="es-ES" sz="1800" b="1" dirty="0"/>
              <a:t>media</a:t>
            </a:r>
            <a:r>
              <a:rPr lang="es-ES" sz="1800" dirty="0"/>
              <a:t> &gt; </a:t>
            </a:r>
            <a:r>
              <a:rPr lang="es-ES" sz="1800" b="1" dirty="0"/>
              <a:t>mediana</a:t>
            </a:r>
            <a:r>
              <a:rPr lang="es-ES" sz="1800" dirty="0"/>
              <a:t>, la </a:t>
            </a:r>
            <a:r>
              <a:rPr lang="es-ES" sz="1800" b="1" dirty="0"/>
              <a:t>distribución</a:t>
            </a:r>
            <a:r>
              <a:rPr lang="es-ES" sz="1800" dirty="0"/>
              <a:t> es </a:t>
            </a:r>
            <a:r>
              <a:rPr lang="es-ES" sz="1800" b="1" dirty="0"/>
              <a:t>asimétrica</a:t>
            </a:r>
            <a:r>
              <a:rPr lang="es-ES" sz="1800" dirty="0"/>
              <a:t> con cola a la derecha (sesgada a la derecha). </a:t>
            </a:r>
          </a:p>
          <a:p>
            <a:endParaRPr lang="es-ES" sz="2000" dirty="0"/>
          </a:p>
          <a:p>
            <a:r>
              <a:rPr lang="es-ES" sz="1800" dirty="0"/>
              <a:t>Si </a:t>
            </a:r>
            <a:r>
              <a:rPr lang="es-ES" sz="1800" b="1" dirty="0"/>
              <a:t>media</a:t>
            </a:r>
            <a:r>
              <a:rPr lang="es-ES" sz="1800" dirty="0"/>
              <a:t> &lt; </a:t>
            </a:r>
            <a:r>
              <a:rPr lang="es-ES" sz="1800" b="1" dirty="0"/>
              <a:t>mediana</a:t>
            </a:r>
            <a:r>
              <a:rPr lang="es-ES" sz="1800" dirty="0"/>
              <a:t>, la </a:t>
            </a:r>
            <a:r>
              <a:rPr lang="es-ES" sz="1800" b="1" dirty="0"/>
              <a:t>distribución</a:t>
            </a:r>
            <a:r>
              <a:rPr lang="es-ES" sz="1800" dirty="0"/>
              <a:t> es </a:t>
            </a:r>
            <a:r>
              <a:rPr lang="es-ES" sz="1800" b="1" dirty="0"/>
              <a:t>asimétrica</a:t>
            </a:r>
            <a:r>
              <a:rPr lang="es-ES" sz="1800" dirty="0"/>
              <a:t> con cola a la izquierda (sesgada a la izquierda).</a:t>
            </a:r>
          </a:p>
        </p:txBody>
      </p:sp>
      <p:pic>
        <p:nvPicPr>
          <p:cNvPr id="4" name="Picture 3">
            <a:extLst>
              <a:ext uri="{FF2B5EF4-FFF2-40B4-BE49-F238E27FC236}">
                <a16:creationId xmlns:a16="http://schemas.microsoft.com/office/drawing/2014/main" id="{4AC46BED-94F7-BBC9-809D-D4EF35933316}"/>
              </a:ext>
            </a:extLst>
          </p:cNvPr>
          <p:cNvPicPr>
            <a:picLocks noChangeAspect="1"/>
          </p:cNvPicPr>
          <p:nvPr/>
        </p:nvPicPr>
        <p:blipFill>
          <a:blip r:embed="rId2"/>
          <a:stretch>
            <a:fillRect/>
          </a:stretch>
        </p:blipFill>
        <p:spPr>
          <a:xfrm>
            <a:off x="1333499" y="3429000"/>
            <a:ext cx="5791200" cy="3331062"/>
          </a:xfrm>
          <a:prstGeom prst="rect">
            <a:avLst/>
          </a:prstGeom>
        </p:spPr>
      </p:pic>
      <p:sp>
        <p:nvSpPr>
          <p:cNvPr id="6" name="TextBox 5">
            <a:extLst>
              <a:ext uri="{FF2B5EF4-FFF2-40B4-BE49-F238E27FC236}">
                <a16:creationId xmlns:a16="http://schemas.microsoft.com/office/drawing/2014/main" id="{FE107EE4-AB5A-13DD-7F80-1BA22C717D6C}"/>
              </a:ext>
            </a:extLst>
          </p:cNvPr>
          <p:cNvSpPr txBox="1"/>
          <p:nvPr/>
        </p:nvSpPr>
        <p:spPr>
          <a:xfrm>
            <a:off x="699977" y="767208"/>
            <a:ext cx="7224822" cy="830997"/>
          </a:xfrm>
          <a:prstGeom prst="rect">
            <a:avLst/>
          </a:prstGeom>
          <a:noFill/>
        </p:spPr>
        <p:txBody>
          <a:bodyPr wrap="square">
            <a:spAutoFit/>
          </a:bodyPr>
          <a:lstStyle/>
          <a:p>
            <a:r>
              <a:rPr lang="en-US" b="1" dirty="0" err="1">
                <a:solidFill>
                  <a:srgbClr val="FF0000"/>
                </a:solidFill>
              </a:rPr>
              <a:t>Ejemplo</a:t>
            </a:r>
            <a:r>
              <a:rPr lang="en-US" b="1" dirty="0">
                <a:solidFill>
                  <a:srgbClr val="FF0000"/>
                </a:solidFill>
              </a:rPr>
              <a:t>: </a:t>
            </a:r>
            <a:r>
              <a:rPr lang="en-US" dirty="0"/>
              <a:t>al </a:t>
            </a:r>
            <a:r>
              <a:rPr lang="en-US" dirty="0" err="1"/>
              <a:t>estudiar</a:t>
            </a:r>
            <a:r>
              <a:rPr lang="en-US" dirty="0"/>
              <a:t> la </a:t>
            </a:r>
            <a:r>
              <a:rPr lang="en-US" dirty="0" err="1"/>
              <a:t>fuerza</a:t>
            </a:r>
            <a:r>
              <a:rPr lang="en-US" dirty="0"/>
              <a:t> muscular de un </a:t>
            </a:r>
            <a:r>
              <a:rPr lang="en-US" dirty="0" err="1"/>
              <a:t>paciente</a:t>
            </a:r>
            <a:r>
              <a:rPr lang="en-US" dirty="0"/>
              <a:t> </a:t>
            </a:r>
            <a:r>
              <a:rPr lang="en-US" dirty="0" err="1"/>
              <a:t>usando</a:t>
            </a:r>
            <a:r>
              <a:rPr lang="en-US" dirty="0"/>
              <a:t> la </a:t>
            </a:r>
            <a:r>
              <a:rPr lang="en-US" b="1" i="1" dirty="0" err="1"/>
              <a:t>Escala</a:t>
            </a:r>
            <a:r>
              <a:rPr lang="en-US" b="1" i="1" dirty="0"/>
              <a:t> de Robert Lovett &amp; Kendall </a:t>
            </a:r>
            <a:r>
              <a:rPr lang="en-US" dirty="0"/>
              <a:t>de </a:t>
            </a:r>
            <a:r>
              <a:rPr lang="en-US" dirty="0" err="1"/>
              <a:t>una</a:t>
            </a:r>
            <a:r>
              <a:rPr lang="en-US" dirty="0"/>
              <a:t> </a:t>
            </a:r>
            <a:r>
              <a:rPr lang="en-US" dirty="0" err="1"/>
              <a:t>muestra</a:t>
            </a:r>
            <a:r>
              <a:rPr lang="en-US" dirty="0"/>
              <a:t> de n=300 </a:t>
            </a:r>
            <a:r>
              <a:rPr lang="en-US" dirty="0" err="1"/>
              <a:t>pacientes</a:t>
            </a:r>
            <a:r>
              <a:rPr lang="en-US" dirty="0"/>
              <a:t>, se </a:t>
            </a:r>
            <a:r>
              <a:rPr lang="en-US" dirty="0" err="1"/>
              <a:t>obtuvo</a:t>
            </a:r>
            <a:r>
              <a:rPr lang="en-US" dirty="0"/>
              <a:t> un valor medio de 4 </a:t>
            </a:r>
            <a:r>
              <a:rPr lang="en-US" dirty="0" err="1"/>
              <a:t>unidades</a:t>
            </a:r>
            <a:r>
              <a:rPr lang="en-US" dirty="0"/>
              <a:t> </a:t>
            </a:r>
            <a:r>
              <a:rPr lang="en-US" dirty="0" err="1"/>
              <a:t>en</a:t>
            </a:r>
            <a:r>
              <a:rPr lang="en-US" dirty="0"/>
              <a:t> la </a:t>
            </a:r>
            <a:r>
              <a:rPr lang="en-US" dirty="0" err="1"/>
              <a:t>escala</a:t>
            </a:r>
            <a:r>
              <a:rPr lang="en-US" dirty="0"/>
              <a:t>. </a:t>
            </a:r>
            <a:r>
              <a:rPr lang="en-US" i="1" dirty="0"/>
              <a:t>¿</a:t>
            </a:r>
            <a:r>
              <a:rPr lang="en-US" i="1" dirty="0" err="1"/>
              <a:t>quiere</a:t>
            </a:r>
            <a:r>
              <a:rPr lang="en-US" i="1" dirty="0"/>
              <a:t> </a:t>
            </a:r>
            <a:r>
              <a:rPr lang="en-US" i="1" dirty="0" err="1"/>
              <a:t>esto</a:t>
            </a:r>
            <a:r>
              <a:rPr lang="en-US" i="1" dirty="0"/>
              <a:t> </a:t>
            </a:r>
            <a:r>
              <a:rPr lang="en-US" i="1" dirty="0" err="1"/>
              <a:t>decir</a:t>
            </a:r>
            <a:r>
              <a:rPr lang="en-US" i="1" dirty="0"/>
              <a:t> que, </a:t>
            </a:r>
            <a:r>
              <a:rPr lang="en-US" i="1" dirty="0" err="1"/>
              <a:t>aproximadamente</a:t>
            </a:r>
            <a:r>
              <a:rPr lang="en-US" i="1" dirty="0"/>
              <a:t>, la </a:t>
            </a:r>
            <a:r>
              <a:rPr lang="en-US" i="1" dirty="0" err="1"/>
              <a:t>mitad</a:t>
            </a:r>
            <a:r>
              <a:rPr lang="en-US" i="1" dirty="0"/>
              <a:t> de </a:t>
            </a:r>
            <a:r>
              <a:rPr lang="en-US" i="1" dirty="0" err="1"/>
              <a:t>los</a:t>
            </a:r>
            <a:r>
              <a:rPr lang="en-US" i="1" dirty="0"/>
              <a:t> </a:t>
            </a:r>
            <a:r>
              <a:rPr lang="en-US" i="1" dirty="0" err="1"/>
              <a:t>pacientes</a:t>
            </a:r>
            <a:r>
              <a:rPr lang="en-US" i="1" dirty="0"/>
              <a:t> </a:t>
            </a:r>
            <a:r>
              <a:rPr lang="en-US" i="1" dirty="0" err="1"/>
              <a:t>tienen</a:t>
            </a:r>
            <a:r>
              <a:rPr lang="en-US" i="1" dirty="0"/>
              <a:t> un </a:t>
            </a:r>
            <a:r>
              <a:rPr lang="en-US" i="1" dirty="0" err="1"/>
              <a:t>nivel</a:t>
            </a:r>
            <a:r>
              <a:rPr lang="en-US" i="1" dirty="0"/>
              <a:t> de </a:t>
            </a:r>
            <a:r>
              <a:rPr lang="en-US" i="1" dirty="0" err="1"/>
              <a:t>colesterol</a:t>
            </a:r>
            <a:r>
              <a:rPr lang="en-US" i="1" dirty="0"/>
              <a:t> </a:t>
            </a:r>
            <a:r>
              <a:rPr lang="en-US" i="1" dirty="0" err="1"/>
              <a:t>por</a:t>
            </a:r>
            <a:r>
              <a:rPr lang="en-US" i="1" dirty="0"/>
              <a:t> </a:t>
            </a:r>
            <a:r>
              <a:rPr lang="en-US" i="1" dirty="0" err="1"/>
              <a:t>debajo</a:t>
            </a:r>
            <a:r>
              <a:rPr lang="en-US" i="1" dirty="0"/>
              <a:t> de </a:t>
            </a:r>
            <a:r>
              <a:rPr lang="en-US" i="1" dirty="0" err="1"/>
              <a:t>este</a:t>
            </a:r>
            <a:r>
              <a:rPr lang="en-US" i="1" dirty="0"/>
              <a:t> valor?</a:t>
            </a:r>
            <a:r>
              <a:rPr lang="en-US" dirty="0"/>
              <a:t> </a:t>
            </a:r>
            <a:r>
              <a:rPr lang="en-US" b="1" dirty="0"/>
              <a:t>NO. </a:t>
            </a:r>
            <a:r>
              <a:rPr lang="en-US" dirty="0"/>
              <a:t>Solo </a:t>
            </a:r>
            <a:r>
              <a:rPr lang="en-US" dirty="0" err="1"/>
              <a:t>si</a:t>
            </a:r>
            <a:r>
              <a:rPr lang="en-US" dirty="0"/>
              <a:t> la </a:t>
            </a:r>
            <a:r>
              <a:rPr lang="en-US" dirty="0" err="1"/>
              <a:t>distribucion</a:t>
            </a:r>
            <a:r>
              <a:rPr lang="en-US" dirty="0"/>
              <a:t> de la </a:t>
            </a:r>
            <a:r>
              <a:rPr lang="en-US" dirty="0" err="1"/>
              <a:t>escala</a:t>
            </a:r>
            <a:r>
              <a:rPr lang="en-US" dirty="0"/>
              <a:t> es SIMETRICA </a:t>
            </a:r>
            <a:r>
              <a:rPr lang="en-US" dirty="0" err="1"/>
              <a:t>donde</a:t>
            </a:r>
            <a:r>
              <a:rPr lang="en-US" dirty="0"/>
              <a:t> media, </a:t>
            </a:r>
            <a:r>
              <a:rPr lang="en-US" dirty="0" err="1"/>
              <a:t>mediana</a:t>
            </a:r>
            <a:r>
              <a:rPr lang="en-US" dirty="0"/>
              <a:t> y </a:t>
            </a:r>
            <a:r>
              <a:rPr lang="en-US" dirty="0" err="1"/>
              <a:t>moda</a:t>
            </a:r>
            <a:r>
              <a:rPr lang="en-US" dirty="0"/>
              <a:t> </a:t>
            </a:r>
            <a:r>
              <a:rPr lang="en-US" dirty="0" err="1"/>
              <a:t>coinciden</a:t>
            </a:r>
            <a:r>
              <a:rPr lang="en-US" dirty="0"/>
              <a:t> </a:t>
            </a:r>
          </a:p>
        </p:txBody>
      </p:sp>
    </p:spTree>
    <p:extLst>
      <p:ext uri="{BB962C8B-B14F-4D97-AF65-F5344CB8AC3E}">
        <p14:creationId xmlns:p14="http://schemas.microsoft.com/office/powerpoint/2010/main" val="3627577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upo 4">
            <a:extLst>
              <a:ext uri="{FF2B5EF4-FFF2-40B4-BE49-F238E27FC236}">
                <a16:creationId xmlns:a16="http://schemas.microsoft.com/office/drawing/2014/main" id="{C9BA0D16-316E-4B98-AB00-EE97FBE08045}"/>
              </a:ext>
            </a:extLst>
          </p:cNvPr>
          <p:cNvGrpSpPr/>
          <p:nvPr/>
        </p:nvGrpSpPr>
        <p:grpSpPr>
          <a:xfrm>
            <a:off x="6962775" y="4470400"/>
            <a:ext cx="1890713" cy="1701800"/>
            <a:chOff x="6781800" y="4470400"/>
            <a:chExt cx="1890713" cy="1701800"/>
          </a:xfrm>
        </p:grpSpPr>
        <p:pic>
          <p:nvPicPr>
            <p:cNvPr id="28725" name="Picture 2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81800" y="4470400"/>
              <a:ext cx="1890713" cy="1556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726" name="Line 24"/>
            <p:cNvSpPr>
              <a:spLocks noChangeShapeType="1"/>
            </p:cNvSpPr>
            <p:nvPr/>
          </p:nvSpPr>
          <p:spPr bwMode="auto">
            <a:xfrm>
              <a:off x="8189331" y="4529781"/>
              <a:ext cx="0" cy="1425139"/>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8727" name="Line 25"/>
            <p:cNvSpPr>
              <a:spLocks noChangeShapeType="1"/>
            </p:cNvSpPr>
            <p:nvPr/>
          </p:nvSpPr>
          <p:spPr bwMode="auto">
            <a:xfrm>
              <a:off x="8294370" y="4535179"/>
              <a:ext cx="0" cy="1425139"/>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8728" name="Text Box 26"/>
            <p:cNvSpPr txBox="1">
              <a:spLocks noChangeArrowheads="1"/>
            </p:cNvSpPr>
            <p:nvPr/>
          </p:nvSpPr>
          <p:spPr bwMode="auto">
            <a:xfrm>
              <a:off x="8089543" y="5895539"/>
              <a:ext cx="248156" cy="244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000">
                  <a:solidFill>
                    <a:srgbClr val="FF0000"/>
                  </a:solidFill>
                </a:rPr>
                <a:t>c</a:t>
              </a:r>
              <a:endParaRPr lang="es-ES" altLang="es-ES" sz="1000">
                <a:solidFill>
                  <a:srgbClr val="FF0000"/>
                </a:solidFill>
              </a:endParaRPr>
            </a:p>
          </p:txBody>
        </p:sp>
        <p:sp>
          <p:nvSpPr>
            <p:cNvPr id="28729" name="Text Box 27"/>
            <p:cNvSpPr txBox="1">
              <a:spLocks noChangeArrowheads="1"/>
            </p:cNvSpPr>
            <p:nvPr/>
          </p:nvSpPr>
          <p:spPr bwMode="auto">
            <a:xfrm>
              <a:off x="8189331" y="5927929"/>
              <a:ext cx="254721" cy="244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000">
                  <a:solidFill>
                    <a:srgbClr val="FF0000"/>
                  </a:solidFill>
                </a:rPr>
                <a:t>d</a:t>
              </a:r>
              <a:endParaRPr lang="es-ES" altLang="es-ES" sz="1000">
                <a:solidFill>
                  <a:srgbClr val="FF0000"/>
                </a:solidFill>
              </a:endParaRPr>
            </a:p>
          </p:txBody>
        </p:sp>
      </p:grpSp>
      <p:grpSp>
        <p:nvGrpSpPr>
          <p:cNvPr id="4" name="Grupo 3">
            <a:extLst>
              <a:ext uri="{FF2B5EF4-FFF2-40B4-BE49-F238E27FC236}">
                <a16:creationId xmlns:a16="http://schemas.microsoft.com/office/drawing/2014/main" id="{BE73A8DA-6E8B-4937-9A1E-F7010EC75250}"/>
              </a:ext>
            </a:extLst>
          </p:cNvPr>
          <p:cNvGrpSpPr/>
          <p:nvPr/>
        </p:nvGrpSpPr>
        <p:grpSpPr>
          <a:xfrm>
            <a:off x="6962775" y="2590800"/>
            <a:ext cx="1890713" cy="1725613"/>
            <a:chOff x="6781800" y="2590800"/>
            <a:chExt cx="1890713" cy="1725613"/>
          </a:xfrm>
        </p:grpSpPr>
        <p:pic>
          <p:nvPicPr>
            <p:cNvPr id="28677" name="Picture 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81800" y="2590800"/>
              <a:ext cx="1890713" cy="155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678" name="Line 18"/>
            <p:cNvSpPr>
              <a:spLocks noChangeShapeType="1"/>
            </p:cNvSpPr>
            <p:nvPr/>
          </p:nvSpPr>
          <p:spPr bwMode="auto">
            <a:xfrm>
              <a:off x="7254875" y="2695575"/>
              <a:ext cx="0" cy="1425575"/>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8679" name="Line 19"/>
            <p:cNvSpPr>
              <a:spLocks noChangeShapeType="1"/>
            </p:cNvSpPr>
            <p:nvPr/>
          </p:nvSpPr>
          <p:spPr bwMode="auto">
            <a:xfrm>
              <a:off x="7323138" y="2760663"/>
              <a:ext cx="0" cy="1425575"/>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8680" name="Text Box 20"/>
            <p:cNvSpPr txBox="1">
              <a:spLocks noChangeArrowheads="1"/>
            </p:cNvSpPr>
            <p:nvPr/>
          </p:nvSpPr>
          <p:spPr bwMode="auto">
            <a:xfrm>
              <a:off x="7154863" y="4071938"/>
              <a:ext cx="2540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000">
                  <a:solidFill>
                    <a:srgbClr val="FF0000"/>
                  </a:solidFill>
                </a:rPr>
                <a:t>a</a:t>
              </a:r>
              <a:endParaRPr lang="es-ES" altLang="es-ES" sz="1000">
                <a:solidFill>
                  <a:srgbClr val="FF0000"/>
                </a:solidFill>
              </a:endParaRPr>
            </a:p>
          </p:txBody>
        </p:sp>
      </p:grpSp>
      <p:sp>
        <p:nvSpPr>
          <p:cNvPr id="28681" name="Text Box 21"/>
          <p:cNvSpPr txBox="1">
            <a:spLocks noChangeArrowheads="1"/>
          </p:cNvSpPr>
          <p:nvPr/>
        </p:nvSpPr>
        <p:spPr bwMode="auto">
          <a:xfrm>
            <a:off x="7218363" y="4171950"/>
            <a:ext cx="2540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000">
                <a:solidFill>
                  <a:srgbClr val="FF0000"/>
                </a:solidFill>
              </a:rPr>
              <a:t>b</a:t>
            </a:r>
            <a:endParaRPr lang="es-ES" altLang="es-ES" sz="1000">
              <a:solidFill>
                <a:srgbClr val="FF0000"/>
              </a:solidFill>
            </a:endParaRPr>
          </a:p>
        </p:txBody>
      </p:sp>
      <p:sp>
        <p:nvSpPr>
          <p:cNvPr id="28682" name="Text Box 28"/>
          <p:cNvSpPr txBox="1">
            <a:spLocks noChangeArrowheads="1"/>
          </p:cNvSpPr>
          <p:nvPr/>
        </p:nvSpPr>
        <p:spPr bwMode="auto">
          <a:xfrm>
            <a:off x="6943725" y="6191250"/>
            <a:ext cx="2200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dirty="0"/>
              <a:t>¿Quiénes son cada caso la media y la mediana? </a:t>
            </a:r>
            <a:endParaRPr lang="es-ES" altLang="es-ES" dirty="0"/>
          </a:p>
        </p:txBody>
      </p:sp>
      <p:sp>
        <p:nvSpPr>
          <p:cNvPr id="28683" name="Text Box 95"/>
          <p:cNvSpPr txBox="1">
            <a:spLocks noChangeArrowheads="1"/>
          </p:cNvSpPr>
          <p:nvPr/>
        </p:nvSpPr>
        <p:spPr bwMode="auto">
          <a:xfrm>
            <a:off x="609600" y="2209800"/>
            <a:ext cx="89960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400" b="1" dirty="0">
                <a:solidFill>
                  <a:schemeClr val="tx1">
                    <a:lumMod val="75000"/>
                    <a:lumOff val="25000"/>
                  </a:schemeClr>
                </a:solidFill>
              </a:rPr>
              <a:t>Mediana</a:t>
            </a:r>
            <a:endParaRPr lang="es-ES" altLang="es-ES" sz="1400" b="1" dirty="0">
              <a:solidFill>
                <a:schemeClr val="tx1">
                  <a:lumMod val="75000"/>
                  <a:lumOff val="25000"/>
                </a:schemeClr>
              </a:solidFill>
            </a:endParaRPr>
          </a:p>
        </p:txBody>
      </p:sp>
      <p:sp>
        <p:nvSpPr>
          <p:cNvPr id="28684" name="Text Box 96"/>
          <p:cNvSpPr txBox="1">
            <a:spLocks noChangeArrowheads="1"/>
          </p:cNvSpPr>
          <p:nvPr/>
        </p:nvSpPr>
        <p:spPr bwMode="auto">
          <a:xfrm>
            <a:off x="3468688" y="2209800"/>
            <a:ext cx="158729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400" b="1" dirty="0">
                <a:solidFill>
                  <a:schemeClr val="tx1">
                    <a:lumMod val="75000"/>
                    <a:lumOff val="25000"/>
                  </a:schemeClr>
                </a:solidFill>
              </a:rPr>
              <a:t>Media aritmética</a:t>
            </a:r>
            <a:endParaRPr lang="es-ES" altLang="es-ES" sz="1400" b="1" dirty="0">
              <a:solidFill>
                <a:schemeClr val="tx1">
                  <a:lumMod val="75000"/>
                  <a:lumOff val="25000"/>
                </a:schemeClr>
              </a:solidFill>
            </a:endParaRPr>
          </a:p>
        </p:txBody>
      </p:sp>
      <p:sp>
        <p:nvSpPr>
          <p:cNvPr id="28685" name="Text Box 97"/>
          <p:cNvSpPr txBox="1">
            <a:spLocks noChangeArrowheads="1"/>
          </p:cNvSpPr>
          <p:nvPr/>
        </p:nvSpPr>
        <p:spPr bwMode="auto">
          <a:xfrm>
            <a:off x="515905" y="2590800"/>
            <a:ext cx="29130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dirty="0"/>
              <a:t>Se puede calcular con variables ordinales en adelante</a:t>
            </a:r>
            <a:endParaRPr lang="es-ES" altLang="es-ES" dirty="0"/>
          </a:p>
        </p:txBody>
      </p:sp>
      <p:sp>
        <p:nvSpPr>
          <p:cNvPr id="28686" name="Text Box 98"/>
          <p:cNvSpPr txBox="1">
            <a:spLocks noChangeArrowheads="1"/>
          </p:cNvSpPr>
          <p:nvPr/>
        </p:nvSpPr>
        <p:spPr bwMode="auto">
          <a:xfrm>
            <a:off x="3505200" y="2590800"/>
            <a:ext cx="32004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dirty="0"/>
              <a:t>Requiere que los datos sean cuantitativos</a:t>
            </a:r>
            <a:endParaRPr lang="es-ES" altLang="es-ES" dirty="0"/>
          </a:p>
        </p:txBody>
      </p:sp>
      <p:sp>
        <p:nvSpPr>
          <p:cNvPr id="28687" name="Text Box 99"/>
          <p:cNvSpPr txBox="1">
            <a:spLocks noChangeArrowheads="1"/>
          </p:cNvSpPr>
          <p:nvPr/>
        </p:nvSpPr>
        <p:spPr bwMode="auto">
          <a:xfrm>
            <a:off x="515905" y="4457014"/>
            <a:ext cx="290944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dirty="0"/>
              <a:t>Es </a:t>
            </a:r>
            <a:r>
              <a:rPr lang="es-ES_tradnl" altLang="es-ES" b="1" i="1" dirty="0"/>
              <a:t>robusta</a:t>
            </a:r>
            <a:r>
              <a:rPr lang="es-ES_tradnl" altLang="es-ES" dirty="0"/>
              <a:t> frente a valores extremos</a:t>
            </a:r>
            <a:endParaRPr lang="es-ES" altLang="es-ES" dirty="0"/>
          </a:p>
        </p:txBody>
      </p:sp>
      <p:sp>
        <p:nvSpPr>
          <p:cNvPr id="28688" name="Text Box 100"/>
          <p:cNvSpPr txBox="1">
            <a:spLocks noChangeArrowheads="1"/>
          </p:cNvSpPr>
          <p:nvPr/>
        </p:nvSpPr>
        <p:spPr bwMode="auto">
          <a:xfrm>
            <a:off x="3505200" y="4451885"/>
            <a:ext cx="3200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_tradnl" altLang="es-ES" dirty="0"/>
              <a:t>Más </a:t>
            </a:r>
            <a:r>
              <a:rPr lang="es-ES_tradnl" altLang="es-ES" b="1" i="1" dirty="0"/>
              <a:t>sensible</a:t>
            </a:r>
            <a:r>
              <a:rPr lang="es-ES_tradnl" altLang="es-ES" dirty="0"/>
              <a:t> a los valores extremos, especialmente cuando el tamaño de muestra es pequeño (gana robustez al aumentar </a:t>
            </a:r>
            <a:r>
              <a:rPr lang="es-ES_tradnl" altLang="es-ES" i="1" dirty="0">
                <a:latin typeface="Times New Roman" panose="02020603050405020304" pitchFamily="18" charset="0"/>
                <a:cs typeface="Times New Roman" panose="02020603050405020304" pitchFamily="18" charset="0"/>
              </a:rPr>
              <a:t>n</a:t>
            </a:r>
            <a:r>
              <a:rPr lang="es-ES_tradnl" altLang="es-ES" dirty="0"/>
              <a:t>) </a:t>
            </a:r>
            <a:endParaRPr lang="es-ES" altLang="es-ES" dirty="0"/>
          </a:p>
        </p:txBody>
      </p:sp>
      <p:sp>
        <p:nvSpPr>
          <p:cNvPr id="28689" name="Text Box 101"/>
          <p:cNvSpPr txBox="1">
            <a:spLocks noChangeArrowheads="1"/>
          </p:cNvSpPr>
          <p:nvPr/>
        </p:nvSpPr>
        <p:spPr bwMode="auto">
          <a:xfrm>
            <a:off x="317500" y="5298757"/>
            <a:ext cx="310785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dirty="0"/>
              <a:t>Es menos frecuente como medida de posición en </a:t>
            </a:r>
            <a:r>
              <a:rPr lang="es-ES_tradnl" altLang="es-ES" i="1" dirty="0"/>
              <a:t>inferencia</a:t>
            </a:r>
            <a:endParaRPr lang="es-ES" altLang="es-ES" i="1" dirty="0"/>
          </a:p>
        </p:txBody>
      </p:sp>
      <p:sp>
        <p:nvSpPr>
          <p:cNvPr id="28690" name="Text Box 102"/>
          <p:cNvSpPr txBox="1">
            <a:spLocks noChangeArrowheads="1"/>
          </p:cNvSpPr>
          <p:nvPr/>
        </p:nvSpPr>
        <p:spPr bwMode="auto">
          <a:xfrm>
            <a:off x="3505200" y="5298757"/>
            <a:ext cx="32369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dirty="0"/>
              <a:t>Es la medida de posición más habitual en </a:t>
            </a:r>
            <a:r>
              <a:rPr lang="es-ES_tradnl" altLang="es-ES" i="1" dirty="0"/>
              <a:t>inferencia</a:t>
            </a:r>
            <a:endParaRPr lang="es-ES" altLang="es-ES" i="1" dirty="0"/>
          </a:p>
        </p:txBody>
      </p:sp>
      <p:grpSp>
        <p:nvGrpSpPr>
          <p:cNvPr id="28691" name="Group 112"/>
          <p:cNvGrpSpPr>
            <a:grpSpLocks/>
          </p:cNvGrpSpPr>
          <p:nvPr/>
        </p:nvGrpSpPr>
        <p:grpSpPr bwMode="auto">
          <a:xfrm>
            <a:off x="304800" y="5997574"/>
            <a:ext cx="6400800" cy="708026"/>
            <a:chOff x="192" y="3806"/>
            <a:chExt cx="3648" cy="446"/>
          </a:xfrm>
        </p:grpSpPr>
        <p:sp>
          <p:nvSpPr>
            <p:cNvPr id="28723" name="Text Box 103"/>
            <p:cNvSpPr txBox="1">
              <a:spLocks noChangeArrowheads="1"/>
            </p:cNvSpPr>
            <p:nvPr/>
          </p:nvSpPr>
          <p:spPr bwMode="auto">
            <a:xfrm>
              <a:off x="192" y="3806"/>
              <a:ext cx="3648"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_tradnl" altLang="es-ES" sz="1300" dirty="0"/>
                <a:t>Si la distribución es </a:t>
              </a:r>
              <a:r>
                <a:rPr lang="es-ES_tradnl" altLang="es-ES" sz="1300" b="1" dirty="0"/>
                <a:t>simétrica</a:t>
              </a:r>
              <a:r>
                <a:rPr lang="es-ES_tradnl" altLang="es-ES" sz="1300" dirty="0"/>
                <a:t>, </a:t>
              </a:r>
              <a:r>
                <a:rPr lang="es-ES_tradnl" altLang="es-ES" sz="1400" i="1" dirty="0">
                  <a:latin typeface="Times New Roman" panose="02020603050405020304" pitchFamily="18" charset="0"/>
                  <a:cs typeface="Times New Roman" panose="02020603050405020304" pitchFamily="18" charset="0"/>
                </a:rPr>
                <a:t>Me</a:t>
              </a:r>
              <a:r>
                <a:rPr lang="es-ES_tradnl" altLang="es-ES" sz="1300" dirty="0"/>
                <a:t>       lo cuál permite decir que en esta situación y de forma </a:t>
              </a:r>
              <a:r>
                <a:rPr lang="es-ES_tradnl" altLang="es-ES" sz="1300" u="sng" dirty="0"/>
                <a:t>aproximada</a:t>
              </a:r>
              <a:r>
                <a:rPr lang="es-ES_tradnl" altLang="es-ES" sz="1300" dirty="0"/>
                <a:t>, la media viene a dividir a la muestra en dos partes iguales</a:t>
              </a:r>
              <a:endParaRPr lang="es-ES" altLang="es-ES" sz="1300" dirty="0"/>
            </a:p>
          </p:txBody>
        </p:sp>
        <p:graphicFrame>
          <p:nvGraphicFramePr>
            <p:cNvPr id="28724" name="Object 104"/>
            <p:cNvGraphicFramePr>
              <a:graphicFrameLocks noChangeAspect="1"/>
            </p:cNvGraphicFramePr>
            <p:nvPr>
              <p:extLst>
                <p:ext uri="{D42A27DB-BD31-4B8C-83A1-F6EECF244321}">
                  <p14:modId xmlns:p14="http://schemas.microsoft.com/office/powerpoint/2010/main" val="474558982"/>
                </p:ext>
              </p:extLst>
            </p:nvPr>
          </p:nvGraphicFramePr>
          <p:xfrm>
            <a:off x="1697" y="3835"/>
            <a:ext cx="212" cy="152"/>
          </p:xfrm>
          <a:graphic>
            <a:graphicData uri="http://schemas.openxmlformats.org/presentationml/2006/ole">
              <mc:AlternateContent xmlns:mc="http://schemas.openxmlformats.org/markup-compatibility/2006">
                <mc:Choice xmlns:v="urn:schemas-microsoft-com:vml" Requires="v">
                  <p:oleObj name="Equation" r:id="rId4" imgW="241200" imgH="164880" progId="Equation.DSMT4">
                    <p:embed/>
                  </p:oleObj>
                </mc:Choice>
                <mc:Fallback>
                  <p:oleObj name="Equation" r:id="rId4" imgW="241200" imgH="164880" progId="Equation.DSMT4">
                    <p:embed/>
                    <p:pic>
                      <p:nvPicPr>
                        <p:cNvPr id="28724" name="Object 104"/>
                        <p:cNvPicPr>
                          <a:picLocks noChangeAspect="1" noChangeArrowheads="1"/>
                        </p:cNvPicPr>
                        <p:nvPr/>
                      </p:nvPicPr>
                      <p:blipFill>
                        <a:blip r:embed="rId5"/>
                        <a:srcRect/>
                        <a:stretch>
                          <a:fillRect/>
                        </a:stretch>
                      </p:blipFill>
                      <p:spPr bwMode="auto">
                        <a:xfrm>
                          <a:off x="1697" y="3835"/>
                          <a:ext cx="212"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8692" name="Group 106"/>
          <p:cNvGrpSpPr>
            <a:grpSpLocks/>
          </p:cNvGrpSpPr>
          <p:nvPr/>
        </p:nvGrpSpPr>
        <p:grpSpPr bwMode="auto">
          <a:xfrm>
            <a:off x="1408112" y="1116344"/>
            <a:ext cx="4491038" cy="1466850"/>
            <a:chOff x="432" y="722"/>
            <a:chExt cx="2829" cy="924"/>
          </a:xfrm>
        </p:grpSpPr>
        <p:grpSp>
          <p:nvGrpSpPr>
            <p:cNvPr id="28697" name="Group 94"/>
            <p:cNvGrpSpPr>
              <a:grpSpLocks/>
            </p:cNvGrpSpPr>
            <p:nvPr/>
          </p:nvGrpSpPr>
          <p:grpSpPr bwMode="auto">
            <a:xfrm>
              <a:off x="432" y="722"/>
              <a:ext cx="2829" cy="924"/>
              <a:chOff x="531" y="2126"/>
              <a:chExt cx="2829" cy="924"/>
            </a:xfrm>
          </p:grpSpPr>
          <p:sp>
            <p:nvSpPr>
              <p:cNvPr id="28699" name="Line 85"/>
              <p:cNvSpPr>
                <a:spLocks noChangeShapeType="1"/>
              </p:cNvSpPr>
              <p:nvPr/>
            </p:nvSpPr>
            <p:spPr bwMode="auto">
              <a:xfrm>
                <a:off x="1435" y="2678"/>
                <a:ext cx="0" cy="29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28700" name="Group 92"/>
              <p:cNvGrpSpPr>
                <a:grpSpLocks/>
              </p:cNvGrpSpPr>
              <p:nvPr/>
            </p:nvGrpSpPr>
            <p:grpSpPr bwMode="auto">
              <a:xfrm>
                <a:off x="531" y="2126"/>
                <a:ext cx="2829" cy="544"/>
                <a:chOff x="531" y="2126"/>
                <a:chExt cx="2829" cy="544"/>
              </a:xfrm>
            </p:grpSpPr>
            <p:sp>
              <p:nvSpPr>
                <p:cNvPr id="28702" name="Line 249"/>
                <p:cNvSpPr>
                  <a:spLocks noChangeShapeType="1"/>
                </p:cNvSpPr>
                <p:nvPr/>
              </p:nvSpPr>
              <p:spPr bwMode="auto">
                <a:xfrm>
                  <a:off x="531" y="2670"/>
                  <a:ext cx="282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sp>
              <p:nvSpPr>
                <p:cNvPr id="28703" name="Oval 250"/>
                <p:cNvSpPr>
                  <a:spLocks noChangeArrowheads="1"/>
                </p:cNvSpPr>
                <p:nvPr/>
              </p:nvSpPr>
              <p:spPr bwMode="auto">
                <a:xfrm flipH="1">
                  <a:off x="928" y="2611"/>
                  <a:ext cx="45" cy="59"/>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28704" name="Oval 251"/>
                <p:cNvSpPr>
                  <a:spLocks noChangeArrowheads="1"/>
                </p:cNvSpPr>
                <p:nvPr/>
              </p:nvSpPr>
              <p:spPr bwMode="auto">
                <a:xfrm flipH="1">
                  <a:off x="1003" y="2611"/>
                  <a:ext cx="43" cy="59"/>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28705" name="Oval 252"/>
                <p:cNvSpPr>
                  <a:spLocks noChangeArrowheads="1"/>
                </p:cNvSpPr>
                <p:nvPr/>
              </p:nvSpPr>
              <p:spPr bwMode="auto">
                <a:xfrm flipH="1">
                  <a:off x="1061" y="2611"/>
                  <a:ext cx="44" cy="59"/>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28706" name="Oval 253"/>
                <p:cNvSpPr>
                  <a:spLocks noChangeArrowheads="1"/>
                </p:cNvSpPr>
                <p:nvPr/>
              </p:nvSpPr>
              <p:spPr bwMode="auto">
                <a:xfrm flipH="1">
                  <a:off x="1091" y="2611"/>
                  <a:ext cx="45" cy="59"/>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28707" name="Oval 254"/>
                <p:cNvSpPr>
                  <a:spLocks noChangeArrowheads="1"/>
                </p:cNvSpPr>
                <p:nvPr/>
              </p:nvSpPr>
              <p:spPr bwMode="auto">
                <a:xfrm flipH="1">
                  <a:off x="1136" y="2611"/>
                  <a:ext cx="43" cy="59"/>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28708" name="Oval 255"/>
                <p:cNvSpPr>
                  <a:spLocks noChangeArrowheads="1"/>
                </p:cNvSpPr>
                <p:nvPr/>
              </p:nvSpPr>
              <p:spPr bwMode="auto">
                <a:xfrm flipH="1">
                  <a:off x="1268" y="2611"/>
                  <a:ext cx="43" cy="59"/>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28709" name="Oval 256"/>
                <p:cNvSpPr>
                  <a:spLocks noChangeArrowheads="1"/>
                </p:cNvSpPr>
                <p:nvPr/>
              </p:nvSpPr>
              <p:spPr bwMode="auto">
                <a:xfrm flipH="1">
                  <a:off x="1209" y="2611"/>
                  <a:ext cx="43" cy="59"/>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28710" name="Oval 257"/>
                <p:cNvSpPr>
                  <a:spLocks noChangeArrowheads="1"/>
                </p:cNvSpPr>
                <p:nvPr/>
              </p:nvSpPr>
              <p:spPr bwMode="auto">
                <a:xfrm flipH="1">
                  <a:off x="1488" y="2611"/>
                  <a:ext cx="45" cy="59"/>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28711" name="Oval 258"/>
                <p:cNvSpPr>
                  <a:spLocks noChangeArrowheads="1"/>
                </p:cNvSpPr>
                <p:nvPr/>
              </p:nvSpPr>
              <p:spPr bwMode="auto">
                <a:xfrm flipH="1">
                  <a:off x="1386" y="2611"/>
                  <a:ext cx="43" cy="59"/>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28712" name="Oval 259"/>
                <p:cNvSpPr>
                  <a:spLocks noChangeArrowheads="1"/>
                </p:cNvSpPr>
                <p:nvPr/>
              </p:nvSpPr>
              <p:spPr bwMode="auto">
                <a:xfrm flipH="1">
                  <a:off x="1445" y="2611"/>
                  <a:ext cx="43" cy="59"/>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28713" name="Oval 260"/>
                <p:cNvSpPr>
                  <a:spLocks noChangeArrowheads="1"/>
                </p:cNvSpPr>
                <p:nvPr/>
              </p:nvSpPr>
              <p:spPr bwMode="auto">
                <a:xfrm flipH="1">
                  <a:off x="1562" y="2611"/>
                  <a:ext cx="44" cy="59"/>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28714" name="Oval 262"/>
                <p:cNvSpPr>
                  <a:spLocks noChangeArrowheads="1"/>
                </p:cNvSpPr>
                <p:nvPr/>
              </p:nvSpPr>
              <p:spPr bwMode="auto">
                <a:xfrm flipH="1">
                  <a:off x="1327" y="2611"/>
                  <a:ext cx="43" cy="59"/>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28715" name="Oval 263"/>
                <p:cNvSpPr>
                  <a:spLocks noChangeArrowheads="1"/>
                </p:cNvSpPr>
                <p:nvPr/>
              </p:nvSpPr>
              <p:spPr bwMode="auto">
                <a:xfrm flipH="1">
                  <a:off x="2918" y="2611"/>
                  <a:ext cx="45" cy="59"/>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28716" name="Oval 271"/>
                <p:cNvSpPr>
                  <a:spLocks noChangeArrowheads="1"/>
                </p:cNvSpPr>
                <p:nvPr/>
              </p:nvSpPr>
              <p:spPr bwMode="auto">
                <a:xfrm flipH="1">
                  <a:off x="1327" y="2577"/>
                  <a:ext cx="43" cy="60"/>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28717" name="Line 84"/>
                <p:cNvSpPr>
                  <a:spLocks noChangeShapeType="1"/>
                </p:cNvSpPr>
                <p:nvPr/>
              </p:nvSpPr>
              <p:spPr bwMode="auto">
                <a:xfrm flipV="1">
                  <a:off x="1314" y="2238"/>
                  <a:ext cx="0" cy="432"/>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8718" name="AutoShape 86"/>
                <p:cNvSpPr>
                  <a:spLocks/>
                </p:cNvSpPr>
                <p:nvPr/>
              </p:nvSpPr>
              <p:spPr bwMode="auto">
                <a:xfrm rot="5400000">
                  <a:off x="1104" y="2268"/>
                  <a:ext cx="48" cy="336"/>
                </a:xfrm>
                <a:prstGeom prst="leftBrace">
                  <a:avLst>
                    <a:gd name="adj1" fmla="val 58333"/>
                    <a:gd name="adj2" fmla="val 50000"/>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28719" name="AutoShape 87"/>
                <p:cNvSpPr>
                  <a:spLocks/>
                </p:cNvSpPr>
                <p:nvPr/>
              </p:nvSpPr>
              <p:spPr bwMode="auto">
                <a:xfrm rot="5400000">
                  <a:off x="2097" y="1632"/>
                  <a:ext cx="78" cy="1584"/>
                </a:xfrm>
                <a:prstGeom prst="leftBrace">
                  <a:avLst>
                    <a:gd name="adj1" fmla="val 73051"/>
                    <a:gd name="adj2" fmla="val 50565"/>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28721" name="Text Box 90"/>
                <p:cNvSpPr txBox="1">
                  <a:spLocks noChangeArrowheads="1"/>
                </p:cNvSpPr>
                <p:nvPr/>
              </p:nvSpPr>
              <p:spPr bwMode="auto">
                <a:xfrm>
                  <a:off x="1997" y="2227"/>
                  <a:ext cx="307"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a:solidFill>
                        <a:srgbClr val="008080"/>
                      </a:solidFill>
                    </a:rPr>
                    <a:t>50%</a:t>
                  </a:r>
                  <a:endParaRPr lang="es-ES" altLang="es-ES">
                    <a:solidFill>
                      <a:srgbClr val="008080"/>
                    </a:solidFill>
                  </a:endParaRPr>
                </a:p>
              </p:txBody>
            </p:sp>
            <p:sp>
              <p:nvSpPr>
                <p:cNvPr id="28722" name="Text Box 91"/>
                <p:cNvSpPr txBox="1">
                  <a:spLocks noChangeArrowheads="1"/>
                </p:cNvSpPr>
                <p:nvPr/>
              </p:nvSpPr>
              <p:spPr bwMode="auto">
                <a:xfrm>
                  <a:off x="1190" y="2126"/>
                  <a:ext cx="261" cy="19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400" i="1" dirty="0">
                      <a:solidFill>
                        <a:srgbClr val="C00000"/>
                      </a:solidFill>
                      <a:latin typeface="Times New Roman" panose="02020603050405020304" pitchFamily="18" charset="0"/>
                      <a:cs typeface="Times New Roman" panose="02020603050405020304" pitchFamily="18" charset="0"/>
                    </a:rPr>
                    <a:t>Me</a:t>
                  </a:r>
                  <a:endParaRPr lang="es-ES" altLang="es-ES" sz="1400" i="1" dirty="0">
                    <a:solidFill>
                      <a:srgbClr val="C00000"/>
                    </a:solidFill>
                    <a:latin typeface="Times New Roman" panose="02020603050405020304" pitchFamily="18" charset="0"/>
                    <a:cs typeface="Times New Roman" panose="02020603050405020304" pitchFamily="18" charset="0"/>
                  </a:endParaRPr>
                </a:p>
              </p:txBody>
            </p:sp>
            <p:sp>
              <p:nvSpPr>
                <p:cNvPr id="28720" name="Text Box 88"/>
                <p:cNvSpPr txBox="1">
                  <a:spLocks noChangeArrowheads="1"/>
                </p:cNvSpPr>
                <p:nvPr/>
              </p:nvSpPr>
              <p:spPr bwMode="auto">
                <a:xfrm>
                  <a:off x="989" y="2227"/>
                  <a:ext cx="307"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dirty="0">
                      <a:solidFill>
                        <a:srgbClr val="008080"/>
                      </a:solidFill>
                    </a:rPr>
                    <a:t>50%</a:t>
                  </a:r>
                  <a:endParaRPr lang="es-ES" altLang="es-ES" dirty="0">
                    <a:solidFill>
                      <a:srgbClr val="008080"/>
                    </a:solidFill>
                  </a:endParaRPr>
                </a:p>
              </p:txBody>
            </p:sp>
          </p:grpSp>
          <p:graphicFrame>
            <p:nvGraphicFramePr>
              <p:cNvPr id="28701" name="Object 77"/>
              <p:cNvGraphicFramePr>
                <a:graphicFrameLocks noChangeAspect="1"/>
              </p:cNvGraphicFramePr>
              <p:nvPr/>
            </p:nvGraphicFramePr>
            <p:xfrm>
              <a:off x="1379" y="2874"/>
              <a:ext cx="114" cy="176"/>
            </p:xfrm>
            <a:graphic>
              <a:graphicData uri="http://schemas.openxmlformats.org/presentationml/2006/ole">
                <mc:AlternateContent xmlns:mc="http://schemas.openxmlformats.org/markup-compatibility/2006">
                  <mc:Choice xmlns:v="urn:schemas-microsoft-com:vml" Requires="v">
                    <p:oleObj name="Equation" r:id="rId6" imgW="114102" imgH="177492" progId="Equation.DSMT4">
                      <p:embed/>
                    </p:oleObj>
                  </mc:Choice>
                  <mc:Fallback>
                    <p:oleObj name="Equation" r:id="rId6" imgW="114102" imgH="177492" progId="Equation.DSMT4">
                      <p:embed/>
                      <p:pic>
                        <p:nvPicPr>
                          <p:cNvPr id="28701" name="Object 7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79" y="2874"/>
                            <a:ext cx="114" cy="176"/>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8698" name="Object 105"/>
            <p:cNvGraphicFramePr>
              <a:graphicFrameLocks noChangeAspect="1"/>
            </p:cNvGraphicFramePr>
            <p:nvPr>
              <p:extLst>
                <p:ext uri="{D42A27DB-BD31-4B8C-83A1-F6EECF244321}">
                  <p14:modId xmlns:p14="http://schemas.microsoft.com/office/powerpoint/2010/main" val="2343422920"/>
                </p:ext>
              </p:extLst>
            </p:nvPr>
          </p:nvGraphicFramePr>
          <p:xfrm>
            <a:off x="1274" y="1347"/>
            <a:ext cx="128" cy="152"/>
          </p:xfrm>
          <a:graphic>
            <a:graphicData uri="http://schemas.openxmlformats.org/presentationml/2006/ole">
              <mc:AlternateContent xmlns:mc="http://schemas.openxmlformats.org/markup-compatibility/2006">
                <mc:Choice xmlns:v="urn:schemas-microsoft-com:vml" Requires="v">
                  <p:oleObj name="Equation" r:id="rId8" imgW="139680" imgH="164880" progId="Equation.DSMT4">
                    <p:embed/>
                  </p:oleObj>
                </mc:Choice>
                <mc:Fallback>
                  <p:oleObj name="Equation" r:id="rId8" imgW="139680" imgH="164880" progId="Equation.DSMT4">
                    <p:embed/>
                    <p:pic>
                      <p:nvPicPr>
                        <p:cNvPr id="28698" name="Object 105"/>
                        <p:cNvPicPr>
                          <a:picLocks noChangeAspect="1" noChangeArrowheads="1"/>
                        </p:cNvPicPr>
                        <p:nvPr/>
                      </p:nvPicPr>
                      <p:blipFill>
                        <a:blip r:embed="rId9"/>
                        <a:srcRect/>
                        <a:stretch>
                          <a:fillRect/>
                        </a:stretch>
                      </p:blipFill>
                      <p:spPr bwMode="auto">
                        <a:xfrm>
                          <a:off x="1274" y="1347"/>
                          <a:ext cx="128" cy="152"/>
                        </a:xfrm>
                        <a:prstGeom prst="rect">
                          <a:avLst/>
                        </a:prstGeom>
                        <a:solidFill>
                          <a:schemeClr val="bg1"/>
                        </a:solidFill>
                        <a:ln>
                          <a:noFill/>
                        </a:ln>
                        <a:effectLst/>
                      </p:spPr>
                    </p:pic>
                  </p:oleObj>
                </mc:Fallback>
              </mc:AlternateContent>
            </a:graphicData>
          </a:graphic>
        </p:graphicFrame>
      </p:grpSp>
      <p:sp>
        <p:nvSpPr>
          <p:cNvPr id="28693" name="Text Box 108"/>
          <p:cNvSpPr txBox="1">
            <a:spLocks noChangeArrowheads="1"/>
          </p:cNvSpPr>
          <p:nvPr/>
        </p:nvSpPr>
        <p:spPr bwMode="auto">
          <a:xfrm>
            <a:off x="285750" y="828824"/>
            <a:ext cx="2649538"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400" b="1" dirty="0"/>
              <a:t>Mediana vs. Media aritmética</a:t>
            </a:r>
            <a:endParaRPr lang="es-ES" altLang="es-ES" sz="1400" b="1" dirty="0"/>
          </a:p>
        </p:txBody>
      </p:sp>
      <p:grpSp>
        <p:nvGrpSpPr>
          <p:cNvPr id="2" name="Grupo 1">
            <a:extLst>
              <a:ext uri="{FF2B5EF4-FFF2-40B4-BE49-F238E27FC236}">
                <a16:creationId xmlns:a16="http://schemas.microsoft.com/office/drawing/2014/main" id="{262E9CBD-6683-42DB-BD8F-AD300F5CD948}"/>
              </a:ext>
            </a:extLst>
          </p:cNvPr>
          <p:cNvGrpSpPr/>
          <p:nvPr/>
        </p:nvGrpSpPr>
        <p:grpSpPr>
          <a:xfrm>
            <a:off x="6962775" y="914400"/>
            <a:ext cx="1943100" cy="1628775"/>
            <a:chOff x="6781800" y="914400"/>
            <a:chExt cx="1943100" cy="1628775"/>
          </a:xfrm>
        </p:grpSpPr>
        <p:pic>
          <p:nvPicPr>
            <p:cNvPr id="28676" name="Picture 4"/>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781800" y="914400"/>
              <a:ext cx="1943100" cy="155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694" name="Line 18"/>
            <p:cNvSpPr>
              <a:spLocks noChangeShapeType="1"/>
            </p:cNvSpPr>
            <p:nvPr/>
          </p:nvSpPr>
          <p:spPr bwMode="auto">
            <a:xfrm>
              <a:off x="7696200" y="990600"/>
              <a:ext cx="0" cy="1425575"/>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8695" name="Line 18"/>
            <p:cNvSpPr>
              <a:spLocks noChangeShapeType="1"/>
            </p:cNvSpPr>
            <p:nvPr/>
          </p:nvSpPr>
          <p:spPr bwMode="auto">
            <a:xfrm>
              <a:off x="7708900" y="996950"/>
              <a:ext cx="0" cy="1425575"/>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28696" name="Object 117"/>
            <p:cNvGraphicFramePr>
              <a:graphicFrameLocks noChangeAspect="1"/>
            </p:cNvGraphicFramePr>
            <p:nvPr>
              <p:extLst>
                <p:ext uri="{D42A27DB-BD31-4B8C-83A1-F6EECF244321}">
                  <p14:modId xmlns:p14="http://schemas.microsoft.com/office/powerpoint/2010/main" val="1036057177"/>
                </p:ext>
              </p:extLst>
            </p:nvPr>
          </p:nvGraphicFramePr>
          <p:xfrm>
            <a:off x="7427913" y="2351088"/>
            <a:ext cx="546100" cy="192087"/>
          </p:xfrm>
          <a:graphic>
            <a:graphicData uri="http://schemas.openxmlformats.org/presentationml/2006/ole">
              <mc:AlternateContent xmlns:mc="http://schemas.openxmlformats.org/markup-compatibility/2006">
                <mc:Choice xmlns:v="urn:schemas-microsoft-com:vml" Requires="v">
                  <p:oleObj name="Equation" r:id="rId11" imgW="469696" imgH="165028" progId="Equation.DSMT4">
                    <p:embed/>
                  </p:oleObj>
                </mc:Choice>
                <mc:Fallback>
                  <p:oleObj name="Equation" r:id="rId11" imgW="469696" imgH="165028" progId="Equation.DSMT4">
                    <p:embed/>
                    <p:pic>
                      <p:nvPicPr>
                        <p:cNvPr id="28696" name="Object 1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27913" y="2351088"/>
                          <a:ext cx="546100" cy="192087"/>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cxnSp>
        <p:nvCxnSpPr>
          <p:cNvPr id="3" name="Conector recto 2"/>
          <p:cNvCxnSpPr>
            <a:cxnSpLocks/>
          </p:cNvCxnSpPr>
          <p:nvPr/>
        </p:nvCxnSpPr>
        <p:spPr>
          <a:xfrm>
            <a:off x="3468688" y="2514600"/>
            <a:ext cx="3236912"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Conector recto 59"/>
          <p:cNvCxnSpPr/>
          <p:nvPr/>
        </p:nvCxnSpPr>
        <p:spPr>
          <a:xfrm>
            <a:off x="619125" y="2514600"/>
            <a:ext cx="265747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2" name="Text Box 2"/>
          <p:cNvSpPr txBox="1">
            <a:spLocks noChangeArrowheads="1"/>
          </p:cNvSpPr>
          <p:nvPr/>
        </p:nvSpPr>
        <p:spPr bwMode="auto">
          <a:xfrm>
            <a:off x="241300" y="311150"/>
            <a:ext cx="8763938" cy="369332"/>
          </a:xfrm>
          <a:prstGeom prst="rect">
            <a:avLst/>
          </a:prstGeom>
          <a:solidFill>
            <a:schemeClr val="bg1"/>
          </a:solidFill>
          <a:ln>
            <a:noFill/>
          </a:ln>
          <a:effec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Síntesis de datos: comparativa media y mediana y simetría de la distribución</a:t>
            </a:r>
            <a:endParaRPr lang="es-ES" altLang="es-ES" sz="1800" b="1" dirty="0"/>
          </a:p>
        </p:txBody>
      </p:sp>
      <p:sp>
        <p:nvSpPr>
          <p:cNvPr id="61" name="Text Box 99">
            <a:extLst>
              <a:ext uri="{FF2B5EF4-FFF2-40B4-BE49-F238E27FC236}">
                <a16:creationId xmlns:a16="http://schemas.microsoft.com/office/drawing/2014/main" id="{7C32F605-290A-449B-AFCC-28D2AE575DB7}"/>
              </a:ext>
            </a:extLst>
          </p:cNvPr>
          <p:cNvSpPr txBox="1">
            <a:spLocks noChangeArrowheads="1"/>
          </p:cNvSpPr>
          <p:nvPr/>
        </p:nvSpPr>
        <p:spPr bwMode="auto">
          <a:xfrm>
            <a:off x="526065" y="3124200"/>
            <a:ext cx="2909447"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_tradnl" altLang="es-ES" dirty="0"/>
              <a:t>El </a:t>
            </a:r>
            <a:r>
              <a:rPr lang="es-ES_tradnl" altLang="es-ES" i="1" dirty="0"/>
              <a:t>número de casos </a:t>
            </a:r>
            <a:r>
              <a:rPr lang="es-ES_tradnl" altLang="es-ES" dirty="0"/>
              <a:t>con valores por debajo de la </a:t>
            </a:r>
            <a:r>
              <a:rPr lang="es-ES_tradnl" altLang="es-ES" sz="1400" i="1" dirty="0">
                <a:latin typeface="Times New Roman" panose="02020603050405020304" pitchFamily="18" charset="0"/>
                <a:cs typeface="Times New Roman" panose="02020603050405020304" pitchFamily="18" charset="0"/>
              </a:rPr>
              <a:t>Me</a:t>
            </a:r>
            <a:r>
              <a:rPr lang="es-ES_tradnl" altLang="es-ES" dirty="0"/>
              <a:t> es el mismo que el número de casos con valores por encima de ella</a:t>
            </a:r>
            <a:endParaRPr lang="es-ES" altLang="es-ES" dirty="0"/>
          </a:p>
        </p:txBody>
      </p:sp>
      <p:sp>
        <p:nvSpPr>
          <p:cNvPr id="63" name="Text Box 99">
            <a:extLst>
              <a:ext uri="{FF2B5EF4-FFF2-40B4-BE49-F238E27FC236}">
                <a16:creationId xmlns:a16="http://schemas.microsoft.com/office/drawing/2014/main" id="{A6CA47C7-E1C0-4E61-A320-614719FF9789}"/>
              </a:ext>
            </a:extLst>
          </p:cNvPr>
          <p:cNvSpPr txBox="1">
            <a:spLocks noChangeArrowheads="1"/>
          </p:cNvSpPr>
          <p:nvPr/>
        </p:nvSpPr>
        <p:spPr bwMode="auto">
          <a:xfrm rot="16200000">
            <a:off x="-258347" y="3395532"/>
            <a:ext cx="91680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900" b="1" dirty="0"/>
              <a:t>Criterio de </a:t>
            </a:r>
          </a:p>
          <a:p>
            <a:pPr algn="ctr" eaLnBrk="1" hangingPunct="1"/>
            <a:r>
              <a:rPr lang="es-ES_tradnl" altLang="es-ES" sz="900" b="1" dirty="0"/>
              <a:t>centralidad</a:t>
            </a:r>
            <a:endParaRPr lang="es-ES" altLang="es-ES" sz="900" b="1" dirty="0"/>
          </a:p>
        </p:txBody>
      </p:sp>
      <p:sp>
        <p:nvSpPr>
          <p:cNvPr id="64" name="Text Box 99">
            <a:extLst>
              <a:ext uri="{FF2B5EF4-FFF2-40B4-BE49-F238E27FC236}">
                <a16:creationId xmlns:a16="http://schemas.microsoft.com/office/drawing/2014/main" id="{B2920DAC-FD8A-46A7-A616-A43B17D600D3}"/>
              </a:ext>
            </a:extLst>
          </p:cNvPr>
          <p:cNvSpPr txBox="1">
            <a:spLocks noChangeArrowheads="1"/>
          </p:cNvSpPr>
          <p:nvPr/>
        </p:nvSpPr>
        <p:spPr bwMode="auto">
          <a:xfrm rot="16200000">
            <a:off x="-232537" y="2610126"/>
            <a:ext cx="8651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sz="900" b="1" dirty="0"/>
              <a:t>Métrica de la variable</a:t>
            </a:r>
          </a:p>
        </p:txBody>
      </p:sp>
      <p:sp>
        <p:nvSpPr>
          <p:cNvPr id="65" name="Text Box 99">
            <a:extLst>
              <a:ext uri="{FF2B5EF4-FFF2-40B4-BE49-F238E27FC236}">
                <a16:creationId xmlns:a16="http://schemas.microsoft.com/office/drawing/2014/main" id="{3889A960-7C80-414B-9785-981827CA7B8D}"/>
              </a:ext>
            </a:extLst>
          </p:cNvPr>
          <p:cNvSpPr txBox="1">
            <a:spLocks noChangeArrowheads="1"/>
          </p:cNvSpPr>
          <p:nvPr/>
        </p:nvSpPr>
        <p:spPr bwMode="auto">
          <a:xfrm rot="16200000">
            <a:off x="-317468" y="4669307"/>
            <a:ext cx="103504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sz="900" b="1" dirty="0"/>
              <a:t>Robustez</a:t>
            </a:r>
          </a:p>
        </p:txBody>
      </p:sp>
      <p:sp>
        <p:nvSpPr>
          <p:cNvPr id="67" name="Text Box 99">
            <a:extLst>
              <a:ext uri="{FF2B5EF4-FFF2-40B4-BE49-F238E27FC236}">
                <a16:creationId xmlns:a16="http://schemas.microsoft.com/office/drawing/2014/main" id="{17FAB52B-5D43-431A-83E8-93E486B18BF1}"/>
              </a:ext>
            </a:extLst>
          </p:cNvPr>
          <p:cNvSpPr txBox="1">
            <a:spLocks noChangeArrowheads="1"/>
          </p:cNvSpPr>
          <p:nvPr/>
        </p:nvSpPr>
        <p:spPr bwMode="auto">
          <a:xfrm>
            <a:off x="3503774" y="3131293"/>
            <a:ext cx="318658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_tradnl" altLang="es-ES" dirty="0"/>
              <a:t>La suma de las </a:t>
            </a:r>
            <a:r>
              <a:rPr lang="es-ES_tradnl" altLang="es-ES" i="1" dirty="0"/>
              <a:t>distancias a la media </a:t>
            </a:r>
            <a:r>
              <a:rPr lang="es-ES_tradnl" altLang="es-ES" dirty="0"/>
              <a:t>de los valores inferiores a    se compensa con la suma de distancias a la media de los valores por encima de ella:</a:t>
            </a:r>
            <a:endParaRPr lang="es-ES" altLang="es-ES" dirty="0"/>
          </a:p>
        </p:txBody>
      </p:sp>
      <p:graphicFrame>
        <p:nvGraphicFramePr>
          <p:cNvPr id="68" name="Object 105">
            <a:extLst>
              <a:ext uri="{FF2B5EF4-FFF2-40B4-BE49-F238E27FC236}">
                <a16:creationId xmlns:a16="http://schemas.microsoft.com/office/drawing/2014/main" id="{D9C38E9B-591A-4661-8FFE-66E527B9703A}"/>
              </a:ext>
            </a:extLst>
          </p:cNvPr>
          <p:cNvGraphicFramePr>
            <a:graphicFrameLocks noChangeAspect="1"/>
          </p:cNvGraphicFramePr>
          <p:nvPr>
            <p:extLst>
              <p:ext uri="{D42A27DB-BD31-4B8C-83A1-F6EECF244321}">
                <p14:modId xmlns:p14="http://schemas.microsoft.com/office/powerpoint/2010/main" val="3795922990"/>
              </p:ext>
            </p:extLst>
          </p:nvPr>
        </p:nvGraphicFramePr>
        <p:xfrm>
          <a:off x="4159202" y="3999272"/>
          <a:ext cx="1803978" cy="417154"/>
        </p:xfrm>
        <a:graphic>
          <a:graphicData uri="http://schemas.openxmlformats.org/presentationml/2006/ole">
            <mc:AlternateContent xmlns:mc="http://schemas.openxmlformats.org/markup-compatibility/2006">
              <mc:Choice xmlns:v="urn:schemas-microsoft-com:vml" Requires="v">
                <p:oleObj name="Equation" r:id="rId13" imgW="1600200" imgH="368280" progId="Equation.DSMT4">
                  <p:embed/>
                </p:oleObj>
              </mc:Choice>
              <mc:Fallback>
                <p:oleObj name="Equation" r:id="rId13" imgW="1600200" imgH="368280" progId="Equation.DSMT4">
                  <p:embed/>
                  <p:pic>
                    <p:nvPicPr>
                      <p:cNvPr id="28698" name="Object 105"/>
                      <p:cNvPicPr>
                        <a:picLocks noChangeAspect="1" noChangeArrowheads="1"/>
                      </p:cNvPicPr>
                      <p:nvPr/>
                    </p:nvPicPr>
                    <p:blipFill>
                      <a:blip r:embed="rId14"/>
                      <a:srcRect/>
                      <a:stretch>
                        <a:fillRect/>
                      </a:stretch>
                    </p:blipFill>
                    <p:spPr bwMode="auto">
                      <a:xfrm>
                        <a:off x="4159202" y="3999272"/>
                        <a:ext cx="1803978" cy="417154"/>
                      </a:xfrm>
                      <a:prstGeom prst="rect">
                        <a:avLst/>
                      </a:prstGeom>
                      <a:solidFill>
                        <a:schemeClr val="bg1"/>
                      </a:solidFill>
                      <a:ln>
                        <a:noFill/>
                      </a:ln>
                      <a:effectLst/>
                    </p:spPr>
                  </p:pic>
                </p:oleObj>
              </mc:Fallback>
            </mc:AlternateContent>
          </a:graphicData>
        </a:graphic>
      </p:graphicFrame>
      <p:sp>
        <p:nvSpPr>
          <p:cNvPr id="69" name="Text Box 99">
            <a:extLst>
              <a:ext uri="{FF2B5EF4-FFF2-40B4-BE49-F238E27FC236}">
                <a16:creationId xmlns:a16="http://schemas.microsoft.com/office/drawing/2014/main" id="{45A54F01-73A1-412D-AF63-4EE2B2DCB9EF}"/>
              </a:ext>
            </a:extLst>
          </p:cNvPr>
          <p:cNvSpPr txBox="1">
            <a:spLocks noChangeArrowheads="1"/>
          </p:cNvSpPr>
          <p:nvPr/>
        </p:nvSpPr>
        <p:spPr bwMode="auto">
          <a:xfrm rot="16200000">
            <a:off x="-50772" y="5414172"/>
            <a:ext cx="501654"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sz="900" b="1" dirty="0"/>
              <a:t>Uso</a:t>
            </a:r>
          </a:p>
        </p:txBody>
      </p:sp>
      <p:graphicFrame>
        <p:nvGraphicFramePr>
          <p:cNvPr id="74" name="Object 104">
            <a:extLst>
              <a:ext uri="{FF2B5EF4-FFF2-40B4-BE49-F238E27FC236}">
                <a16:creationId xmlns:a16="http://schemas.microsoft.com/office/drawing/2014/main" id="{049AC79A-3D48-47B0-844C-4FD35B705A40}"/>
              </a:ext>
            </a:extLst>
          </p:cNvPr>
          <p:cNvGraphicFramePr>
            <a:graphicFrameLocks noChangeAspect="1"/>
          </p:cNvGraphicFramePr>
          <p:nvPr>
            <p:extLst>
              <p:ext uri="{D42A27DB-BD31-4B8C-83A1-F6EECF244321}">
                <p14:modId xmlns:p14="http://schemas.microsoft.com/office/powerpoint/2010/main" val="1692412645"/>
              </p:ext>
            </p:extLst>
          </p:nvPr>
        </p:nvGraphicFramePr>
        <p:xfrm>
          <a:off x="4968875" y="3340100"/>
          <a:ext cx="195262" cy="223838"/>
        </p:xfrm>
        <a:graphic>
          <a:graphicData uri="http://schemas.openxmlformats.org/presentationml/2006/ole">
            <mc:AlternateContent xmlns:mc="http://schemas.openxmlformats.org/markup-compatibility/2006">
              <mc:Choice xmlns:v="urn:schemas-microsoft-com:vml" Requires="v">
                <p:oleObj name="Equation" r:id="rId15" imgW="126720" imgH="152280" progId="Equation.DSMT4">
                  <p:embed/>
                </p:oleObj>
              </mc:Choice>
              <mc:Fallback>
                <p:oleObj name="Equation" r:id="rId15" imgW="126720" imgH="152280" progId="Equation.DSMT4">
                  <p:embed/>
                  <p:pic>
                    <p:nvPicPr>
                      <p:cNvPr id="28724" name="Object 104"/>
                      <p:cNvPicPr>
                        <a:picLocks noChangeAspect="1" noChangeArrowheads="1"/>
                      </p:cNvPicPr>
                      <p:nvPr/>
                    </p:nvPicPr>
                    <p:blipFill>
                      <a:blip r:embed="rId16"/>
                      <a:srcRect/>
                      <a:stretch>
                        <a:fillRect/>
                      </a:stretch>
                    </p:blipFill>
                    <p:spPr bwMode="auto">
                      <a:xfrm>
                        <a:off x="4968875" y="3340100"/>
                        <a:ext cx="195262" cy="223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2997600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Text Box 5"/>
          <p:cNvSpPr txBox="1">
            <a:spLocks noChangeArrowheads="1"/>
          </p:cNvSpPr>
          <p:nvPr/>
        </p:nvSpPr>
        <p:spPr bwMode="auto">
          <a:xfrm>
            <a:off x="219075" y="304800"/>
            <a:ext cx="701987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Síntesis de datos: medidas descriptivas de posición no central</a:t>
            </a:r>
            <a:endParaRPr lang="es-ES" altLang="es-ES" sz="1800" b="1" dirty="0"/>
          </a:p>
        </p:txBody>
      </p:sp>
      <p:sp>
        <p:nvSpPr>
          <p:cNvPr id="29700" name="Text Box 15"/>
          <p:cNvSpPr txBox="1">
            <a:spLocks noChangeArrowheads="1"/>
          </p:cNvSpPr>
          <p:nvPr/>
        </p:nvSpPr>
        <p:spPr bwMode="auto">
          <a:xfrm>
            <a:off x="228600" y="838200"/>
            <a:ext cx="714490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600" b="1" dirty="0">
                <a:solidFill>
                  <a:schemeClr val="accent1">
                    <a:lumMod val="25000"/>
                  </a:schemeClr>
                </a:solidFill>
              </a:rPr>
              <a:t>Medidas de posición no central para variables ordinales o cuantitativas</a:t>
            </a:r>
            <a:endParaRPr lang="es-ES" altLang="es-ES" sz="1600" b="1" dirty="0">
              <a:solidFill>
                <a:schemeClr val="accent1">
                  <a:lumMod val="25000"/>
                </a:schemeClr>
              </a:solidFill>
            </a:endParaRPr>
          </a:p>
        </p:txBody>
      </p:sp>
      <p:sp>
        <p:nvSpPr>
          <p:cNvPr id="29701" name="Text Box 3"/>
          <p:cNvSpPr txBox="1">
            <a:spLocks noChangeArrowheads="1"/>
          </p:cNvSpPr>
          <p:nvPr/>
        </p:nvSpPr>
        <p:spPr bwMode="auto">
          <a:xfrm>
            <a:off x="381000" y="1717675"/>
            <a:ext cx="8382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_tradnl" altLang="es-ES" sz="1400" b="1"/>
              <a:t>Percentiles</a:t>
            </a:r>
            <a:r>
              <a:rPr lang="es-ES_tradnl" altLang="es-ES" sz="1400"/>
              <a:t>: el percentil</a:t>
            </a:r>
            <a:r>
              <a:rPr lang="es-ES_tradnl" altLang="es-ES" sz="1400">
                <a:latin typeface="Times New Roman" pitchFamily="18" charset="0"/>
              </a:rPr>
              <a:t> </a:t>
            </a:r>
            <a:r>
              <a:rPr lang="es-ES_tradnl" altLang="es-ES" sz="1400">
                <a:latin typeface="Symbol" pitchFamily="18" charset="2"/>
              </a:rPr>
              <a:t>a,</a:t>
            </a:r>
            <a:r>
              <a:rPr lang="es-ES_tradnl" altLang="es-ES" sz="1400">
                <a:latin typeface="Times New Roman" pitchFamily="18" charset="0"/>
              </a:rPr>
              <a:t> </a:t>
            </a:r>
            <a:r>
              <a:rPr lang="es-ES_tradnl" altLang="es-ES" sz="1600">
                <a:latin typeface="Times New Roman" pitchFamily="18" charset="0"/>
              </a:rPr>
              <a:t>P</a:t>
            </a:r>
            <a:r>
              <a:rPr lang="es-ES_tradnl" altLang="es-ES" sz="1600" b="1" baseline="-25000">
                <a:latin typeface="Symbol" pitchFamily="18" charset="2"/>
              </a:rPr>
              <a:t>a</a:t>
            </a:r>
            <a:r>
              <a:rPr lang="es-ES_tradnl" altLang="es-ES" sz="1400">
                <a:latin typeface="Times New Roman" pitchFamily="18" charset="0"/>
              </a:rPr>
              <a:t>, </a:t>
            </a:r>
            <a:r>
              <a:rPr lang="es-ES_tradnl" altLang="es-ES" sz="1400"/>
              <a:t>es el valor de la variable que divide a la muestra ordenada en dos partes, dejando por debajo el </a:t>
            </a:r>
            <a:r>
              <a:rPr lang="es-ES_tradnl" altLang="es-ES" sz="1400">
                <a:latin typeface="Symbol" pitchFamily="18" charset="2"/>
              </a:rPr>
              <a:t>a</a:t>
            </a:r>
            <a:r>
              <a:rPr lang="es-ES_tradnl" altLang="es-ES" sz="1400"/>
              <a:t>% de las observaciones y por encima el</a:t>
            </a:r>
            <a:r>
              <a:rPr lang="es-ES_tradnl" altLang="es-ES" sz="1400">
                <a:latin typeface="Times New Roman" pitchFamily="18" charset="0"/>
              </a:rPr>
              <a:t> (1</a:t>
            </a:r>
            <a:r>
              <a:rPr lang="es-ES_tradnl" altLang="es-ES" sz="1400">
                <a:latin typeface="Times New Roman" pitchFamily="18" charset="0"/>
                <a:cs typeface="Times New Roman" pitchFamily="18" charset="0"/>
              </a:rPr>
              <a:t>–</a:t>
            </a:r>
            <a:r>
              <a:rPr lang="es-ES_tradnl" altLang="es-ES" sz="1400">
                <a:latin typeface="Symbol" pitchFamily="18" charset="2"/>
              </a:rPr>
              <a:t>a</a:t>
            </a:r>
            <a:r>
              <a:rPr lang="es-ES_tradnl" altLang="es-ES" sz="1400">
                <a:latin typeface="Times New Roman" pitchFamily="18" charset="0"/>
              </a:rPr>
              <a:t>) %. (</a:t>
            </a:r>
            <a:r>
              <a:rPr lang="es-ES" altLang="es-ES" sz="1400"/>
              <a:t>generalización del concepto de mediana). </a:t>
            </a:r>
            <a:r>
              <a:rPr lang="es-ES_tradnl" altLang="es-ES" sz="1400"/>
              <a:t>Se habla de percentil 1</a:t>
            </a:r>
            <a:r>
              <a:rPr lang="es-ES_tradnl" altLang="es-ES" sz="1400">
                <a:latin typeface="Times New Roman" pitchFamily="18" charset="0"/>
              </a:rPr>
              <a:t> (P</a:t>
            </a:r>
            <a:r>
              <a:rPr lang="es-ES_tradnl" altLang="es-ES" sz="1400" baseline="-25000">
                <a:latin typeface="Times New Roman" pitchFamily="18" charset="0"/>
              </a:rPr>
              <a:t>1</a:t>
            </a:r>
            <a:r>
              <a:rPr lang="es-ES_tradnl" altLang="es-ES" sz="1400">
                <a:latin typeface="Times New Roman" pitchFamily="18" charset="0"/>
              </a:rPr>
              <a:t>), ..., </a:t>
            </a:r>
            <a:r>
              <a:rPr lang="es-ES_tradnl" altLang="es-ES" sz="1400"/>
              <a:t>percentil 99</a:t>
            </a:r>
            <a:r>
              <a:rPr lang="es-ES_tradnl" altLang="es-ES" sz="1400">
                <a:latin typeface="Times New Roman" pitchFamily="18" charset="0"/>
              </a:rPr>
              <a:t> (P</a:t>
            </a:r>
            <a:r>
              <a:rPr lang="es-ES_tradnl" altLang="es-ES" sz="1400" baseline="-25000">
                <a:latin typeface="Times New Roman" pitchFamily="18" charset="0"/>
              </a:rPr>
              <a:t>99</a:t>
            </a:r>
            <a:r>
              <a:rPr lang="es-ES_tradnl" altLang="es-ES" sz="1400">
                <a:latin typeface="Times New Roman" pitchFamily="18" charset="0"/>
              </a:rPr>
              <a:t>).</a:t>
            </a:r>
          </a:p>
        </p:txBody>
      </p:sp>
      <p:sp>
        <p:nvSpPr>
          <p:cNvPr id="29702" name="Text Box 4"/>
          <p:cNvSpPr txBox="1">
            <a:spLocks noChangeArrowheads="1"/>
          </p:cNvSpPr>
          <p:nvPr/>
        </p:nvSpPr>
        <p:spPr bwMode="auto">
          <a:xfrm>
            <a:off x="381000" y="3048000"/>
            <a:ext cx="49228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400"/>
              <a:t>Ejemplo: Cálculo del P</a:t>
            </a:r>
            <a:r>
              <a:rPr lang="es-ES_tradnl" altLang="es-ES" sz="1400" baseline="-25000"/>
              <a:t>40</a:t>
            </a:r>
            <a:r>
              <a:rPr lang="es-ES_tradnl" altLang="es-ES" sz="1400"/>
              <a:t> a partir de una tabla de frecuencias</a:t>
            </a:r>
            <a:endParaRPr lang="en-GB" altLang="es-ES" sz="1400" baseline="-25000"/>
          </a:p>
        </p:txBody>
      </p:sp>
      <p:grpSp>
        <p:nvGrpSpPr>
          <p:cNvPr id="29703" name="Group 6"/>
          <p:cNvGrpSpPr>
            <a:grpSpLocks/>
          </p:cNvGrpSpPr>
          <p:nvPr/>
        </p:nvGrpSpPr>
        <p:grpSpPr bwMode="auto">
          <a:xfrm>
            <a:off x="533400" y="3352800"/>
            <a:ext cx="3879850" cy="3019425"/>
            <a:chOff x="2880" y="1452"/>
            <a:chExt cx="2801" cy="2046"/>
          </a:xfrm>
        </p:grpSpPr>
        <p:grpSp>
          <p:nvGrpSpPr>
            <p:cNvPr id="29768" name="Group 7"/>
            <p:cNvGrpSpPr>
              <a:grpSpLocks/>
            </p:cNvGrpSpPr>
            <p:nvPr/>
          </p:nvGrpSpPr>
          <p:grpSpPr bwMode="auto">
            <a:xfrm>
              <a:off x="2880" y="1488"/>
              <a:ext cx="2688" cy="2010"/>
              <a:chOff x="2880" y="1488"/>
              <a:chExt cx="2688" cy="2010"/>
            </a:xfrm>
          </p:grpSpPr>
          <p:graphicFrame>
            <p:nvGraphicFramePr>
              <p:cNvPr id="29770" name="Object 8"/>
              <p:cNvGraphicFramePr>
                <a:graphicFrameLocks noChangeAspect="1"/>
              </p:cNvGraphicFramePr>
              <p:nvPr/>
            </p:nvGraphicFramePr>
            <p:xfrm>
              <a:off x="2880" y="1536"/>
              <a:ext cx="2688" cy="1920"/>
            </p:xfrm>
            <a:graphic>
              <a:graphicData uri="http://schemas.openxmlformats.org/presentationml/2006/ole">
                <mc:AlternateContent xmlns:mc="http://schemas.openxmlformats.org/markup-compatibility/2006">
                  <mc:Choice xmlns:v="urn:schemas-microsoft-com:vml" Requires="v">
                    <p:oleObj name="CorelDRAW" r:id="rId3" imgW="5162550" imgH="3314700" progId="CorelDraw.Graphic.8">
                      <p:embed/>
                    </p:oleObj>
                  </mc:Choice>
                  <mc:Fallback>
                    <p:oleObj name="CorelDRAW" r:id="rId3" imgW="5162550" imgH="3314700" progId="CorelDraw.Graphic.8">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0" y="1536"/>
                            <a:ext cx="2688" cy="1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771" name="Rectangle 9"/>
              <p:cNvSpPr>
                <a:spLocks noChangeArrowheads="1"/>
              </p:cNvSpPr>
              <p:nvPr/>
            </p:nvSpPr>
            <p:spPr bwMode="auto">
              <a:xfrm>
                <a:off x="3312" y="1488"/>
                <a:ext cx="1824" cy="1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29772" name="Rectangle 10"/>
              <p:cNvSpPr>
                <a:spLocks noChangeArrowheads="1"/>
              </p:cNvSpPr>
              <p:nvPr/>
            </p:nvSpPr>
            <p:spPr bwMode="auto">
              <a:xfrm>
                <a:off x="3294" y="3354"/>
                <a:ext cx="1824" cy="1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29769" name="Text Box 11"/>
            <p:cNvSpPr txBox="1">
              <a:spLocks noChangeArrowheads="1"/>
            </p:cNvSpPr>
            <p:nvPr/>
          </p:nvSpPr>
          <p:spPr bwMode="auto">
            <a:xfrm>
              <a:off x="3019" y="1452"/>
              <a:ext cx="2662"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b="1"/>
                <a:t>Nº de recaídas tras una operación (n=500 casos)</a:t>
              </a:r>
              <a:endParaRPr lang="es-ES" altLang="es-ES" b="1"/>
            </a:p>
          </p:txBody>
        </p:sp>
      </p:grpSp>
      <p:graphicFrame>
        <p:nvGraphicFramePr>
          <p:cNvPr id="29" name="Group 12"/>
          <p:cNvGraphicFramePr>
            <a:graphicFrameLocks noGrp="1"/>
          </p:cNvGraphicFramePr>
          <p:nvPr>
            <p:extLst>
              <p:ext uri="{D42A27DB-BD31-4B8C-83A1-F6EECF244321}">
                <p14:modId xmlns:p14="http://schemas.microsoft.com/office/powerpoint/2010/main" val="2482950929"/>
              </p:ext>
            </p:extLst>
          </p:nvPr>
        </p:nvGraphicFramePr>
        <p:xfrm>
          <a:off x="4572000" y="3548063"/>
          <a:ext cx="3048000" cy="2641599"/>
        </p:xfrm>
        <a:graphic>
          <a:graphicData uri="http://schemas.openxmlformats.org/drawingml/2006/table">
            <a:tbl>
              <a:tblPr/>
              <a:tblGrid>
                <a:gridCol w="850900">
                  <a:extLst>
                    <a:ext uri="{9D8B030D-6E8A-4147-A177-3AD203B41FA5}">
                      <a16:colId xmlns:a16="http://schemas.microsoft.com/office/drawing/2014/main" val="20000"/>
                    </a:ext>
                  </a:extLst>
                </a:gridCol>
                <a:gridCol w="646113">
                  <a:extLst>
                    <a:ext uri="{9D8B030D-6E8A-4147-A177-3AD203B41FA5}">
                      <a16:colId xmlns:a16="http://schemas.microsoft.com/office/drawing/2014/main" val="20001"/>
                    </a:ext>
                  </a:extLst>
                </a:gridCol>
                <a:gridCol w="615950">
                  <a:extLst>
                    <a:ext uri="{9D8B030D-6E8A-4147-A177-3AD203B41FA5}">
                      <a16:colId xmlns:a16="http://schemas.microsoft.com/office/drawing/2014/main" val="20002"/>
                    </a:ext>
                  </a:extLst>
                </a:gridCol>
                <a:gridCol w="935037">
                  <a:extLst>
                    <a:ext uri="{9D8B030D-6E8A-4147-A177-3AD203B41FA5}">
                      <a16:colId xmlns:a16="http://schemas.microsoft.com/office/drawing/2014/main" val="20003"/>
                    </a:ext>
                  </a:extLst>
                </a:gridCol>
              </a:tblGrid>
              <a:tr h="259111">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_tradnl" altLang="es-ES" sz="1100" b="1" i="0" u="none" strike="noStrike" cap="none" normalizeH="0" baseline="0">
                          <a:ln>
                            <a:noFill/>
                          </a:ln>
                          <a:solidFill>
                            <a:schemeClr val="tx1"/>
                          </a:solidFill>
                          <a:effectLst/>
                          <a:latin typeface="Arial" charset="0"/>
                        </a:rPr>
                        <a:t>x</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_tradnl" altLang="es-ES" sz="1100" b="1" i="0" u="none" strike="noStrike" cap="none" normalizeH="0" baseline="0" dirty="0">
                          <a:ln>
                            <a:noFill/>
                          </a:ln>
                          <a:solidFill>
                            <a:schemeClr val="tx1"/>
                          </a:solidFill>
                          <a:effectLst/>
                          <a:latin typeface="Arial" charset="0"/>
                        </a:rPr>
                        <a:t>n</a:t>
                      </a:r>
                      <a:r>
                        <a:rPr kumimoji="0" lang="es-ES_tradnl" altLang="es-ES" sz="1100" b="1" i="0" u="none" strike="noStrike" cap="none" normalizeH="0" baseline="-25000" dirty="0">
                          <a:ln>
                            <a:noFill/>
                          </a:ln>
                          <a:solidFill>
                            <a:schemeClr val="tx1"/>
                          </a:solidFill>
                          <a:effectLst/>
                          <a:latin typeface="Arial" charset="0"/>
                        </a:rPr>
                        <a:t>i</a:t>
                      </a:r>
                      <a:endParaRPr kumimoji="0" lang="es-ES" altLang="es-ES" sz="1100" b="1" i="0" u="none" strike="noStrike" cap="none" normalizeH="0" baseline="-25000" dirty="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_tradnl" altLang="es-ES" sz="1100" b="1" i="0" u="none" strike="noStrike" cap="none" normalizeH="0" baseline="0" dirty="0">
                          <a:ln>
                            <a:noFill/>
                          </a:ln>
                          <a:solidFill>
                            <a:schemeClr val="tx1"/>
                          </a:solidFill>
                          <a:effectLst/>
                          <a:latin typeface="Arial" charset="0"/>
                        </a:rPr>
                        <a:t>N</a:t>
                      </a:r>
                      <a:r>
                        <a:rPr kumimoji="0" lang="es-ES_tradnl" altLang="es-ES" sz="1100" b="1" i="0" u="none" strike="noStrike" cap="none" normalizeH="0" baseline="-25000" dirty="0">
                          <a:ln>
                            <a:noFill/>
                          </a:ln>
                          <a:solidFill>
                            <a:schemeClr val="tx1"/>
                          </a:solidFill>
                          <a:effectLst/>
                          <a:latin typeface="Arial" charset="0"/>
                        </a:rPr>
                        <a:t>i</a:t>
                      </a:r>
                      <a:endParaRPr kumimoji="0" lang="es-ES" altLang="es-ES" sz="1100" b="1" i="0" u="none" strike="noStrike" cap="none" normalizeH="0" baseline="-25000" dirty="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_tradnl" altLang="es-ES" sz="1100" b="1" i="0" u="none" strike="noStrike" cap="none" normalizeH="0" baseline="0" dirty="0" err="1">
                          <a:ln>
                            <a:noFill/>
                          </a:ln>
                          <a:solidFill>
                            <a:schemeClr val="tx1"/>
                          </a:solidFill>
                          <a:effectLst/>
                          <a:latin typeface="Arial" charset="0"/>
                        </a:rPr>
                        <a:t>F</a:t>
                      </a:r>
                      <a:r>
                        <a:rPr kumimoji="0" lang="es-ES_tradnl" altLang="es-ES" sz="1100" b="1" i="0" u="none" strike="noStrike" cap="none" normalizeH="0" baseline="-25000" dirty="0" err="1">
                          <a:ln>
                            <a:noFill/>
                          </a:ln>
                          <a:solidFill>
                            <a:schemeClr val="tx1"/>
                          </a:solidFill>
                          <a:effectLst/>
                          <a:latin typeface="Arial" charset="0"/>
                        </a:rPr>
                        <a:t>i</a:t>
                      </a:r>
                      <a:r>
                        <a:rPr kumimoji="0" lang="es-ES_tradnl" altLang="es-ES" sz="1100" b="1" i="0" u="none" strike="noStrike" cap="none" normalizeH="0" baseline="0" dirty="0" err="1">
                          <a:ln>
                            <a:noFill/>
                          </a:ln>
                          <a:solidFill>
                            <a:schemeClr val="tx1"/>
                          </a:solidFill>
                          <a:effectLst/>
                          <a:latin typeface="Arial" charset="0"/>
                        </a:rPr>
                        <a:t>acum</a:t>
                      </a:r>
                      <a:endParaRPr kumimoji="0" lang="es-ES" altLang="es-ES" sz="1100" b="1" i="0" u="none" strike="noStrike" cap="none" normalizeH="0" baseline="0" dirty="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9111">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0</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72</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72</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14.4%</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9111">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1</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155</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227</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45.4%</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9111">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2</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97</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324</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64.8%</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9111">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3</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81</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405</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81.0%</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59111">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4</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30</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435</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87.0%</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59111">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5</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27</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462</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92.4%</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09600">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6</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20</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482</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96.4%</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59111">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más de 6</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18</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500</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_tradnl" altLang="es-ES" sz="1100" b="1" i="0" u="none" strike="noStrike" cap="none" normalizeH="0" baseline="0">
                          <a:ln>
                            <a:noFill/>
                          </a:ln>
                          <a:solidFill>
                            <a:schemeClr val="tx1"/>
                          </a:solidFill>
                          <a:effectLst/>
                          <a:latin typeface="Arial" charset="0"/>
                        </a:rPr>
                        <a:t>100.0%</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59111">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cap="flat">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100" b="1" i="0" u="none" strike="noStrike" cap="none" normalizeH="0" baseline="0">
                          <a:ln>
                            <a:noFill/>
                          </a:ln>
                          <a:solidFill>
                            <a:schemeClr val="tx1"/>
                          </a:solidFill>
                          <a:effectLst/>
                          <a:latin typeface="Arial" charset="0"/>
                          <a:cs typeface="Arial" charset="0"/>
                        </a:rPr>
                        <a:t>500</a:t>
                      </a: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100" b="1" i="0" u="none" strike="noStrike" cap="none" normalizeH="0" baseline="0">
                        <a:ln>
                          <a:noFill/>
                        </a:ln>
                        <a:solidFill>
                          <a:schemeClr val="tx1"/>
                        </a:solidFill>
                        <a:effectLst/>
                        <a:latin typeface="Arial" charset="0"/>
                      </a:endParaRPr>
                    </a:p>
                  </a:txBody>
                  <a:tcPr marT="45725" marB="45725" anchor="b"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100" b="1" i="0" u="none" strike="noStrike" cap="none" normalizeH="0" baseline="0" dirty="0">
                        <a:ln>
                          <a:noFill/>
                        </a:ln>
                        <a:solidFill>
                          <a:schemeClr val="tx1"/>
                        </a:solidFill>
                        <a:effectLst/>
                        <a:latin typeface="Arial" charset="0"/>
                      </a:endParaRPr>
                    </a:p>
                  </a:txBody>
                  <a:tcPr marT="45725" marB="45725" anchor="b" horzOverflow="overflow">
                    <a:lnL>
                      <a:noFill/>
                    </a:lnL>
                    <a:lnR cap="flat">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9"/>
                  </a:ext>
                </a:extLst>
              </a:tr>
            </a:tbl>
          </a:graphicData>
        </a:graphic>
      </p:graphicFrame>
      <p:grpSp>
        <p:nvGrpSpPr>
          <p:cNvPr id="29760" name="Group 71"/>
          <p:cNvGrpSpPr>
            <a:grpSpLocks/>
          </p:cNvGrpSpPr>
          <p:nvPr/>
        </p:nvGrpSpPr>
        <p:grpSpPr bwMode="auto">
          <a:xfrm>
            <a:off x="1716088" y="6173788"/>
            <a:ext cx="5710237" cy="303212"/>
            <a:chOff x="1107" y="3888"/>
            <a:chExt cx="3597" cy="191"/>
          </a:xfrm>
        </p:grpSpPr>
        <p:graphicFrame>
          <p:nvGraphicFramePr>
            <p:cNvPr id="29765" name="Object 72"/>
            <p:cNvGraphicFramePr>
              <a:graphicFrameLocks noChangeAspect="1"/>
            </p:cNvGraphicFramePr>
            <p:nvPr/>
          </p:nvGraphicFramePr>
          <p:xfrm>
            <a:off x="1107" y="3893"/>
            <a:ext cx="2478" cy="181"/>
          </p:xfrm>
          <a:graphic>
            <a:graphicData uri="http://schemas.openxmlformats.org/presentationml/2006/ole">
              <mc:AlternateContent xmlns:mc="http://schemas.openxmlformats.org/markup-compatibility/2006">
                <mc:Choice xmlns:v="urn:schemas-microsoft-com:vml" Requires="v">
                  <p:oleObj name="Equation" r:id="rId5" imgW="2971800" imgH="228600" progId="Equation.DSMT4">
                    <p:embed/>
                  </p:oleObj>
                </mc:Choice>
                <mc:Fallback>
                  <p:oleObj name="Equation" r:id="rId5" imgW="2971800" imgH="228600" progId="Equation.DSMT4">
                    <p:embed/>
                    <p:pic>
                      <p:nvPicPr>
                        <p:cNvPr id="0" name="Object 7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7" y="3893"/>
                          <a:ext cx="2478" cy="1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66" name="Object 73"/>
            <p:cNvGraphicFramePr>
              <a:graphicFrameLocks noChangeAspect="1"/>
            </p:cNvGraphicFramePr>
            <p:nvPr/>
          </p:nvGraphicFramePr>
          <p:xfrm>
            <a:off x="3921" y="3888"/>
            <a:ext cx="783" cy="191"/>
          </p:xfrm>
          <a:graphic>
            <a:graphicData uri="http://schemas.openxmlformats.org/presentationml/2006/ole">
              <mc:AlternateContent xmlns:mc="http://schemas.openxmlformats.org/markup-compatibility/2006">
                <mc:Choice xmlns:v="urn:schemas-microsoft-com:vml" Requires="v">
                  <p:oleObj name="Equation" r:id="rId7" imgW="939392" imgH="241195" progId="Equation.DSMT4">
                    <p:embed/>
                  </p:oleObj>
                </mc:Choice>
                <mc:Fallback>
                  <p:oleObj name="Equation" r:id="rId7" imgW="939392" imgH="241195" progId="Equation.DSMT4">
                    <p:embed/>
                    <p:pic>
                      <p:nvPicPr>
                        <p:cNvPr id="0" name="Object 7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21" y="3888"/>
                          <a:ext cx="783"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67" name="Line 74"/>
            <p:cNvSpPr>
              <a:spLocks noChangeShapeType="1"/>
            </p:cNvSpPr>
            <p:nvPr/>
          </p:nvSpPr>
          <p:spPr bwMode="auto">
            <a:xfrm>
              <a:off x="3633" y="3983"/>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29761" name="Text Box 75"/>
          <p:cNvSpPr txBox="1">
            <a:spLocks noChangeArrowheads="1"/>
          </p:cNvSpPr>
          <p:nvPr/>
        </p:nvSpPr>
        <p:spPr bwMode="auto">
          <a:xfrm>
            <a:off x="336550" y="6477000"/>
            <a:ext cx="84709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400"/>
              <a:t>El 40% de los casos observados tienen una recaida o ninguna. El 60% restante tienen una recaida o más</a:t>
            </a:r>
            <a:endParaRPr lang="en-GB" altLang="es-ES" sz="1400" baseline="-25000"/>
          </a:p>
        </p:txBody>
      </p:sp>
      <p:graphicFrame>
        <p:nvGraphicFramePr>
          <p:cNvPr id="29762" name="Object 77"/>
          <p:cNvGraphicFramePr>
            <a:graphicFrameLocks noChangeAspect="1"/>
          </p:cNvGraphicFramePr>
          <p:nvPr/>
        </p:nvGraphicFramePr>
        <p:xfrm>
          <a:off x="3810000" y="2479675"/>
          <a:ext cx="1373188" cy="568325"/>
        </p:xfrm>
        <a:graphic>
          <a:graphicData uri="http://schemas.openxmlformats.org/presentationml/2006/ole">
            <mc:AlternateContent xmlns:mc="http://schemas.openxmlformats.org/markup-compatibility/2006">
              <mc:Choice xmlns:v="urn:schemas-microsoft-com:vml" Requires="v">
                <p:oleObj name="Equation" r:id="rId9" imgW="889000" imgH="368300" progId="Equation.DSMT4">
                  <p:embed/>
                </p:oleObj>
              </mc:Choice>
              <mc:Fallback>
                <p:oleObj name="Equation" r:id="rId9" imgW="889000" imgH="368300" progId="Equation.DSMT4">
                  <p:embed/>
                  <p:pic>
                    <p:nvPicPr>
                      <p:cNvPr id="0" name="Object 7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0" y="2479675"/>
                        <a:ext cx="1373188"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63" name="AutoShape 122"/>
          <p:cNvSpPr>
            <a:spLocks noChangeArrowheads="1"/>
          </p:cNvSpPr>
          <p:nvPr/>
        </p:nvSpPr>
        <p:spPr bwMode="auto">
          <a:xfrm>
            <a:off x="4533900" y="4030663"/>
            <a:ext cx="3143250" cy="333375"/>
          </a:xfrm>
          <a:prstGeom prst="roundRect">
            <a:avLst>
              <a:gd name="adj" fmla="val 4903"/>
            </a:avLst>
          </a:prstGeom>
          <a:noFill/>
          <a:ln w="6350">
            <a:solidFill>
              <a:srgbClr val="EEB5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29764" name="Text Box 3"/>
          <p:cNvSpPr txBox="1">
            <a:spLocks noChangeArrowheads="1"/>
          </p:cNvSpPr>
          <p:nvPr/>
        </p:nvSpPr>
        <p:spPr bwMode="auto">
          <a:xfrm>
            <a:off x="381000" y="1152525"/>
            <a:ext cx="83820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_tradnl" altLang="es-ES" sz="1400" b="1"/>
              <a:t>Extremos (mínimo y máximo)</a:t>
            </a:r>
            <a:r>
              <a:rPr lang="es-ES_tradnl" altLang="es-ES" sz="1400"/>
              <a:t>: Pueden estar muy alejados del resto de los datos en cuyo caso deben estudiarse. Para caracterizar la distribución se usa </a:t>
            </a:r>
            <a:r>
              <a:rPr lang="es-ES_tradnl" altLang="es-ES" sz="1400" i="1"/>
              <a:t>otro criterio de extremo</a:t>
            </a:r>
            <a:r>
              <a:rPr lang="es-ES_tradnl" altLang="es-ES" sz="1400"/>
              <a:t>: los </a:t>
            </a:r>
            <a:r>
              <a:rPr lang="es-ES_tradnl" altLang="es-ES" sz="1400" b="1" i="1"/>
              <a:t>percentiles</a:t>
            </a:r>
            <a:endParaRPr lang="es-ES_tradnl" altLang="es-ES" sz="1400" b="1" i="1">
              <a:latin typeface="Times New Roman"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4" name="Group 285"/>
          <p:cNvGrpSpPr>
            <a:grpSpLocks/>
          </p:cNvGrpSpPr>
          <p:nvPr/>
        </p:nvGrpSpPr>
        <p:grpSpPr bwMode="auto">
          <a:xfrm>
            <a:off x="5105400" y="1752600"/>
            <a:ext cx="3449638" cy="1752600"/>
            <a:chOff x="1584" y="624"/>
            <a:chExt cx="2549" cy="1218"/>
          </a:xfrm>
        </p:grpSpPr>
        <p:pic>
          <p:nvPicPr>
            <p:cNvPr id="30755" name="Picture 28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4" y="624"/>
              <a:ext cx="2496" cy="1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56" name="Text Box 287"/>
            <p:cNvSpPr txBox="1">
              <a:spLocks noChangeArrowheads="1"/>
            </p:cNvSpPr>
            <p:nvPr/>
          </p:nvSpPr>
          <p:spPr bwMode="auto">
            <a:xfrm>
              <a:off x="2160" y="1248"/>
              <a:ext cx="266" cy="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b="1">
                  <a:solidFill>
                    <a:srgbClr val="008080"/>
                  </a:solidFill>
                </a:rPr>
                <a:t>Q</a:t>
              </a:r>
              <a:r>
                <a:rPr lang="es-ES_tradnl" altLang="es-ES" b="1" baseline="-25000">
                  <a:solidFill>
                    <a:srgbClr val="008080"/>
                  </a:solidFill>
                </a:rPr>
                <a:t>1</a:t>
              </a:r>
              <a:endParaRPr lang="es-ES" altLang="es-ES" b="1" baseline="-25000">
                <a:solidFill>
                  <a:srgbClr val="008080"/>
                </a:solidFill>
              </a:endParaRPr>
            </a:p>
          </p:txBody>
        </p:sp>
        <p:sp>
          <p:nvSpPr>
            <p:cNvPr id="30757" name="Text Box 288"/>
            <p:cNvSpPr txBox="1">
              <a:spLocks noChangeArrowheads="1"/>
            </p:cNvSpPr>
            <p:nvPr/>
          </p:nvSpPr>
          <p:spPr bwMode="auto">
            <a:xfrm>
              <a:off x="2880" y="1248"/>
              <a:ext cx="266" cy="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b="1">
                  <a:solidFill>
                    <a:srgbClr val="008080"/>
                  </a:solidFill>
                </a:rPr>
                <a:t>Q</a:t>
              </a:r>
              <a:r>
                <a:rPr lang="es-ES_tradnl" altLang="es-ES" b="1" baseline="-25000">
                  <a:solidFill>
                    <a:srgbClr val="008080"/>
                  </a:solidFill>
                </a:rPr>
                <a:t>3</a:t>
              </a:r>
              <a:endParaRPr lang="es-ES" altLang="es-ES" b="1" baseline="-25000">
                <a:solidFill>
                  <a:srgbClr val="008080"/>
                </a:solidFill>
              </a:endParaRPr>
            </a:p>
          </p:txBody>
        </p:sp>
        <p:sp>
          <p:nvSpPr>
            <p:cNvPr id="30758" name="Text Box 289"/>
            <p:cNvSpPr txBox="1">
              <a:spLocks noChangeArrowheads="1"/>
            </p:cNvSpPr>
            <p:nvPr/>
          </p:nvSpPr>
          <p:spPr bwMode="auto">
            <a:xfrm>
              <a:off x="2495" y="1248"/>
              <a:ext cx="267" cy="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b="1">
                  <a:solidFill>
                    <a:srgbClr val="008080"/>
                  </a:solidFill>
                </a:rPr>
                <a:t>Q</a:t>
              </a:r>
              <a:r>
                <a:rPr lang="es-ES_tradnl" altLang="es-ES" b="1" baseline="-25000">
                  <a:solidFill>
                    <a:srgbClr val="008080"/>
                  </a:solidFill>
                </a:rPr>
                <a:t>2</a:t>
              </a:r>
              <a:endParaRPr lang="es-ES" altLang="es-ES" b="1" baseline="-25000">
                <a:solidFill>
                  <a:srgbClr val="008080"/>
                </a:solidFill>
              </a:endParaRPr>
            </a:p>
          </p:txBody>
        </p:sp>
        <p:sp>
          <p:nvSpPr>
            <p:cNvPr id="30759" name="Text Box 290"/>
            <p:cNvSpPr txBox="1">
              <a:spLocks noChangeArrowheads="1"/>
            </p:cNvSpPr>
            <p:nvPr/>
          </p:nvSpPr>
          <p:spPr bwMode="auto">
            <a:xfrm>
              <a:off x="3939" y="941"/>
              <a:ext cx="194"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600" b="1"/>
                <a:t>*</a:t>
              </a:r>
              <a:endParaRPr lang="es-ES" altLang="es-ES" sz="1600" b="1" baseline="-25000"/>
            </a:p>
          </p:txBody>
        </p:sp>
      </p:grpSp>
      <p:sp>
        <p:nvSpPr>
          <p:cNvPr id="30725" name="Text Box 291"/>
          <p:cNvSpPr txBox="1">
            <a:spLocks noChangeArrowheads="1"/>
          </p:cNvSpPr>
          <p:nvPr/>
        </p:nvSpPr>
        <p:spPr bwMode="auto">
          <a:xfrm>
            <a:off x="4724400" y="1219200"/>
            <a:ext cx="4114800" cy="65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_tradnl" altLang="es-ES"/>
              <a:t>Un diagrama de caja es una interesante representación de la </a:t>
            </a:r>
            <a:r>
              <a:rPr lang="es-ES_tradnl" altLang="es-ES" sz="1300"/>
              <a:t>distribución</a:t>
            </a:r>
            <a:r>
              <a:rPr lang="es-ES_tradnl" altLang="es-ES"/>
              <a:t> de la variable que está basada en los cuartiles</a:t>
            </a:r>
            <a:endParaRPr lang="es-ES" altLang="es-ES"/>
          </a:p>
        </p:txBody>
      </p:sp>
      <p:sp>
        <p:nvSpPr>
          <p:cNvPr id="30726" name="AutoShape 122"/>
          <p:cNvSpPr>
            <a:spLocks noChangeArrowheads="1"/>
          </p:cNvSpPr>
          <p:nvPr/>
        </p:nvSpPr>
        <p:spPr bwMode="auto">
          <a:xfrm>
            <a:off x="4495800" y="990600"/>
            <a:ext cx="4495800" cy="5638800"/>
          </a:xfrm>
          <a:prstGeom prst="roundRect">
            <a:avLst>
              <a:gd name="adj" fmla="val 3361"/>
            </a:avLst>
          </a:prstGeom>
          <a:noFill/>
          <a:ln w="6350">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pic>
        <p:nvPicPr>
          <p:cNvPr id="30727" name="Picture 29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3870325"/>
            <a:ext cx="2614613"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0728" name="Group 294"/>
          <p:cNvGrpSpPr>
            <a:grpSpLocks/>
          </p:cNvGrpSpPr>
          <p:nvPr/>
        </p:nvGrpSpPr>
        <p:grpSpPr bwMode="auto">
          <a:xfrm>
            <a:off x="4505325" y="3889375"/>
            <a:ext cx="1828800" cy="1752600"/>
            <a:chOff x="3522" y="768"/>
            <a:chExt cx="1839" cy="1923"/>
          </a:xfrm>
        </p:grpSpPr>
        <p:pic>
          <p:nvPicPr>
            <p:cNvPr id="30753" name="Picture 29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22" y="768"/>
              <a:ext cx="1839" cy="14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4" name="Picture 29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616" y="2136"/>
              <a:ext cx="1722" cy="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30729" name="Text Box 305"/>
          <p:cNvSpPr txBox="1">
            <a:spLocks noChangeArrowheads="1"/>
          </p:cNvSpPr>
          <p:nvPr/>
        </p:nvSpPr>
        <p:spPr bwMode="auto">
          <a:xfrm>
            <a:off x="152400" y="838200"/>
            <a:ext cx="3760966"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500" dirty="0"/>
              <a:t>Observaciones respecto a los percentiles:</a:t>
            </a:r>
            <a:endParaRPr lang="en-GB" altLang="es-ES" sz="1500" baseline="-25000" dirty="0"/>
          </a:p>
        </p:txBody>
      </p:sp>
      <p:sp>
        <p:nvSpPr>
          <p:cNvPr id="30751" name="Text Box 16"/>
          <p:cNvSpPr txBox="1">
            <a:spLocks noChangeArrowheads="1"/>
          </p:cNvSpPr>
          <p:nvPr/>
        </p:nvSpPr>
        <p:spPr bwMode="auto">
          <a:xfrm>
            <a:off x="381000" y="1143000"/>
            <a:ext cx="3835112" cy="1234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lnSpc>
                <a:spcPct val="130000"/>
              </a:lnSpc>
            </a:pPr>
            <a:r>
              <a:rPr lang="es-ES_tradnl" altLang="es-ES" sz="1400" dirty="0"/>
              <a:t>Casos particulares: hay percentiles que reciben también otro nombre:</a:t>
            </a:r>
          </a:p>
          <a:p>
            <a:pPr algn="just" eaLnBrk="1" hangingPunct="1">
              <a:lnSpc>
                <a:spcPct val="130000"/>
              </a:lnSpc>
            </a:pPr>
            <a:r>
              <a:rPr lang="es-ES_tradnl" altLang="es-ES" sz="1400" dirty="0"/>
              <a:t>- </a:t>
            </a:r>
            <a:r>
              <a:rPr lang="es-ES_tradnl" altLang="es-ES" sz="1400" i="1" dirty="0"/>
              <a:t>Cuartiles</a:t>
            </a:r>
            <a:r>
              <a:rPr lang="es-ES_tradnl" altLang="es-ES" sz="1400" dirty="0">
                <a:latin typeface="Times New Roman" pitchFamily="18" charset="0"/>
              </a:rPr>
              <a:t>: 	Q</a:t>
            </a:r>
            <a:r>
              <a:rPr lang="es-ES_tradnl" altLang="es-ES" sz="1400" baseline="-25000" dirty="0">
                <a:latin typeface="Times New Roman" pitchFamily="18" charset="0"/>
              </a:rPr>
              <a:t>1</a:t>
            </a:r>
            <a:r>
              <a:rPr lang="es-ES_tradnl" altLang="es-ES" sz="1400" dirty="0">
                <a:latin typeface="Times New Roman" pitchFamily="18" charset="0"/>
              </a:rPr>
              <a:t>=P</a:t>
            </a:r>
            <a:r>
              <a:rPr lang="es-ES_tradnl" altLang="es-ES" sz="1400" baseline="-25000" dirty="0">
                <a:latin typeface="Times New Roman" pitchFamily="18" charset="0"/>
              </a:rPr>
              <a:t>25</a:t>
            </a:r>
            <a:r>
              <a:rPr lang="es-ES_tradnl" altLang="es-ES" sz="1400" dirty="0">
                <a:latin typeface="Times New Roman" pitchFamily="18" charset="0"/>
              </a:rPr>
              <a:t>, Q</a:t>
            </a:r>
            <a:r>
              <a:rPr lang="es-ES_tradnl" altLang="es-ES" sz="1400" baseline="-25000" dirty="0">
                <a:latin typeface="Times New Roman" pitchFamily="18" charset="0"/>
              </a:rPr>
              <a:t>2</a:t>
            </a:r>
            <a:r>
              <a:rPr lang="es-ES_tradnl" altLang="es-ES" sz="1400" dirty="0">
                <a:latin typeface="Times New Roman" pitchFamily="18" charset="0"/>
              </a:rPr>
              <a:t>=P</a:t>
            </a:r>
            <a:r>
              <a:rPr lang="es-ES_tradnl" altLang="es-ES" sz="1400" baseline="-25000" dirty="0">
                <a:latin typeface="Times New Roman" pitchFamily="18" charset="0"/>
              </a:rPr>
              <a:t>50</a:t>
            </a:r>
            <a:r>
              <a:rPr lang="es-ES_tradnl" altLang="es-ES" sz="1400" dirty="0">
                <a:latin typeface="Times New Roman" pitchFamily="18" charset="0"/>
              </a:rPr>
              <a:t>=</a:t>
            </a:r>
            <a:r>
              <a:rPr lang="es-ES_tradnl" altLang="es-ES" sz="1400" i="1" dirty="0">
                <a:latin typeface="Times New Roman" pitchFamily="18" charset="0"/>
              </a:rPr>
              <a:t>Me</a:t>
            </a:r>
            <a:r>
              <a:rPr lang="es-ES_tradnl" altLang="es-ES" sz="1400" dirty="0">
                <a:latin typeface="Times New Roman" pitchFamily="18" charset="0"/>
              </a:rPr>
              <a:t>, Q</a:t>
            </a:r>
            <a:r>
              <a:rPr lang="es-ES_tradnl" altLang="es-ES" sz="1400" baseline="-25000" dirty="0">
                <a:latin typeface="Times New Roman" pitchFamily="18" charset="0"/>
              </a:rPr>
              <a:t>3</a:t>
            </a:r>
            <a:r>
              <a:rPr lang="es-ES_tradnl" altLang="es-ES" sz="1400" dirty="0">
                <a:latin typeface="Times New Roman" pitchFamily="18" charset="0"/>
              </a:rPr>
              <a:t>=P</a:t>
            </a:r>
            <a:r>
              <a:rPr lang="es-ES_tradnl" altLang="es-ES" sz="1400" baseline="-25000" dirty="0">
                <a:latin typeface="Times New Roman" pitchFamily="18" charset="0"/>
              </a:rPr>
              <a:t>75 </a:t>
            </a:r>
          </a:p>
          <a:p>
            <a:pPr algn="just" eaLnBrk="1" hangingPunct="1">
              <a:lnSpc>
                <a:spcPct val="140000"/>
              </a:lnSpc>
            </a:pPr>
            <a:r>
              <a:rPr lang="es-ES_tradnl" altLang="es-ES" sz="1400" dirty="0"/>
              <a:t>- </a:t>
            </a:r>
            <a:r>
              <a:rPr lang="es-ES_tradnl" altLang="es-ES" sz="1400" i="1" dirty="0" err="1"/>
              <a:t>Deciles</a:t>
            </a:r>
            <a:r>
              <a:rPr lang="es-ES_tradnl" altLang="es-ES" sz="1400" dirty="0">
                <a:latin typeface="Times New Roman" pitchFamily="18" charset="0"/>
              </a:rPr>
              <a:t>: D</a:t>
            </a:r>
            <a:r>
              <a:rPr lang="es-ES_tradnl" altLang="es-ES" sz="1400" baseline="-25000" dirty="0">
                <a:latin typeface="Times New Roman" pitchFamily="18" charset="0"/>
              </a:rPr>
              <a:t>1</a:t>
            </a:r>
            <a:r>
              <a:rPr lang="es-ES_tradnl" altLang="es-ES" sz="1400" dirty="0">
                <a:latin typeface="Times New Roman" pitchFamily="18" charset="0"/>
              </a:rPr>
              <a:t>=P</a:t>
            </a:r>
            <a:r>
              <a:rPr lang="es-ES_tradnl" altLang="es-ES" sz="1400" baseline="-25000" dirty="0">
                <a:latin typeface="Times New Roman" pitchFamily="18" charset="0"/>
              </a:rPr>
              <a:t>10</a:t>
            </a:r>
            <a:r>
              <a:rPr lang="es-ES_tradnl" altLang="es-ES" sz="1400" dirty="0">
                <a:latin typeface="Times New Roman" pitchFamily="18" charset="0"/>
              </a:rPr>
              <a:t>, ..., D</a:t>
            </a:r>
            <a:r>
              <a:rPr lang="es-ES_tradnl" altLang="es-ES" sz="1400" baseline="-25000" dirty="0">
                <a:latin typeface="Times New Roman" pitchFamily="18" charset="0"/>
              </a:rPr>
              <a:t>9</a:t>
            </a:r>
            <a:r>
              <a:rPr lang="es-ES_tradnl" altLang="es-ES" sz="1400" dirty="0">
                <a:latin typeface="Times New Roman" pitchFamily="18" charset="0"/>
              </a:rPr>
              <a:t>=P</a:t>
            </a:r>
            <a:r>
              <a:rPr lang="es-ES_tradnl" altLang="es-ES" sz="1400" baseline="-25000" dirty="0">
                <a:latin typeface="Times New Roman" pitchFamily="18" charset="0"/>
              </a:rPr>
              <a:t>90</a:t>
            </a:r>
            <a:endParaRPr lang="en-GB" altLang="es-ES" sz="1400" baseline="-25000" dirty="0">
              <a:latin typeface="Times New Roman" pitchFamily="18" charset="0"/>
            </a:endParaRPr>
          </a:p>
        </p:txBody>
      </p:sp>
      <p:sp>
        <p:nvSpPr>
          <p:cNvPr id="30752" name="Oval 306"/>
          <p:cNvSpPr>
            <a:spLocks noChangeArrowheads="1"/>
          </p:cNvSpPr>
          <p:nvPr/>
        </p:nvSpPr>
        <p:spPr bwMode="auto">
          <a:xfrm>
            <a:off x="304800" y="1295400"/>
            <a:ext cx="76200" cy="76200"/>
          </a:xfrm>
          <a:prstGeom prst="ellipse">
            <a:avLst/>
          </a:prstGeom>
          <a:solidFill>
            <a:srgbClr val="333333"/>
          </a:solidFill>
          <a:ln w="9525">
            <a:solidFill>
              <a:srgbClr val="3333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nvGrpSpPr>
          <p:cNvPr id="30731" name="Group 38"/>
          <p:cNvGrpSpPr>
            <a:grpSpLocks/>
          </p:cNvGrpSpPr>
          <p:nvPr/>
        </p:nvGrpSpPr>
        <p:grpSpPr bwMode="auto">
          <a:xfrm>
            <a:off x="304800" y="2286001"/>
            <a:ext cx="3581400" cy="1573213"/>
            <a:chOff x="192" y="1584"/>
            <a:chExt cx="2256" cy="991"/>
          </a:xfrm>
        </p:grpSpPr>
        <p:grpSp>
          <p:nvGrpSpPr>
            <p:cNvPr id="30747" name="Group 300"/>
            <p:cNvGrpSpPr>
              <a:grpSpLocks/>
            </p:cNvGrpSpPr>
            <p:nvPr/>
          </p:nvGrpSpPr>
          <p:grpSpPr bwMode="auto">
            <a:xfrm>
              <a:off x="240" y="1584"/>
              <a:ext cx="2208" cy="991"/>
              <a:chOff x="192" y="1680"/>
              <a:chExt cx="2208" cy="991"/>
            </a:xfrm>
          </p:grpSpPr>
          <p:sp>
            <p:nvSpPr>
              <p:cNvPr id="30749" name="Text Box 298"/>
              <p:cNvSpPr txBox="1">
                <a:spLocks noChangeArrowheads="1"/>
              </p:cNvSpPr>
              <p:nvPr/>
            </p:nvSpPr>
            <p:spPr bwMode="auto">
              <a:xfrm>
                <a:off x="192" y="1680"/>
                <a:ext cx="2208" cy="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lnSpc>
                    <a:spcPct val="130000"/>
                  </a:lnSpc>
                </a:pPr>
                <a:r>
                  <a:rPr lang="es-ES_tradnl" altLang="es-ES" sz="1400" dirty="0"/>
                  <a:t>Obsérvese que si </a:t>
                </a:r>
                <a:r>
                  <a:rPr lang="es-ES_tradnl" altLang="es-ES" sz="1600" dirty="0">
                    <a:latin typeface="Symbol" pitchFamily="18" charset="2"/>
                  </a:rPr>
                  <a:t>a</a:t>
                </a:r>
                <a:r>
                  <a:rPr lang="es-ES_tradnl" altLang="es-ES" sz="1600" baseline="-25000" dirty="0"/>
                  <a:t>1</a:t>
                </a:r>
                <a:r>
                  <a:rPr lang="es-ES_tradnl" altLang="es-ES" sz="1600" dirty="0"/>
                  <a:t> &lt; </a:t>
                </a:r>
                <a:r>
                  <a:rPr lang="es-ES_tradnl" altLang="es-ES" sz="1600" dirty="0">
                    <a:latin typeface="Symbol" pitchFamily="18" charset="2"/>
                  </a:rPr>
                  <a:t>a</a:t>
                </a:r>
                <a:r>
                  <a:rPr lang="es-ES_tradnl" altLang="es-ES" sz="1600" baseline="-25000" dirty="0"/>
                  <a:t>2</a:t>
                </a:r>
                <a:r>
                  <a:rPr lang="es-ES_tradnl" altLang="es-ES" sz="1600" dirty="0"/>
                  <a:t> entonces</a:t>
                </a:r>
              </a:p>
              <a:p>
                <a:pPr algn="just" eaLnBrk="1" hangingPunct="1">
                  <a:lnSpc>
                    <a:spcPct val="130000"/>
                  </a:lnSpc>
                </a:pPr>
                <a:endParaRPr lang="es-ES_tradnl" altLang="es-ES" sz="1600" dirty="0"/>
              </a:p>
              <a:p>
                <a:pPr algn="just" eaLnBrk="1" hangingPunct="1">
                  <a:lnSpc>
                    <a:spcPct val="130000"/>
                  </a:lnSpc>
                </a:pPr>
                <a:r>
                  <a:rPr lang="es-ES_tradnl" altLang="es-ES" sz="1400" dirty="0"/>
                  <a:t>Es decir, el P</a:t>
                </a:r>
                <a:r>
                  <a:rPr lang="es-ES_tradnl" altLang="es-ES" sz="1400" baseline="-25000" dirty="0"/>
                  <a:t>20</a:t>
                </a:r>
                <a:r>
                  <a:rPr lang="es-ES_tradnl" altLang="es-ES" sz="1400" dirty="0"/>
                  <a:t> por ejemplo, no puede ser mayor que el P</a:t>
                </a:r>
                <a:r>
                  <a:rPr lang="es-ES_tradnl" altLang="es-ES" sz="1400" baseline="-25000" dirty="0"/>
                  <a:t>25</a:t>
                </a:r>
                <a:r>
                  <a:rPr lang="es-ES_tradnl" altLang="es-ES" sz="1400" dirty="0"/>
                  <a:t> (aunque si que podría ser igual)</a:t>
                </a:r>
                <a:endParaRPr lang="en-GB" altLang="es-ES" sz="1400" baseline="-25000" dirty="0"/>
              </a:p>
            </p:txBody>
          </p:sp>
          <p:graphicFrame>
            <p:nvGraphicFramePr>
              <p:cNvPr id="30750" name="Object 280"/>
              <p:cNvGraphicFramePr>
                <a:graphicFrameLocks noChangeAspect="1"/>
              </p:cNvGraphicFramePr>
              <p:nvPr/>
            </p:nvGraphicFramePr>
            <p:xfrm>
              <a:off x="1024" y="1920"/>
              <a:ext cx="544" cy="240"/>
            </p:xfrm>
            <a:graphic>
              <a:graphicData uri="http://schemas.openxmlformats.org/presentationml/2006/ole">
                <mc:AlternateContent xmlns:mc="http://schemas.openxmlformats.org/markup-compatibility/2006">
                  <mc:Choice xmlns:v="urn:schemas-microsoft-com:vml" Requires="v">
                    <p:oleObj name="Equation" r:id="rId7" imgW="545863" imgH="241195" progId="Equation.DSMT4">
                      <p:embed/>
                    </p:oleObj>
                  </mc:Choice>
                  <mc:Fallback>
                    <p:oleObj name="Equation" r:id="rId7" imgW="545863" imgH="241195" progId="Equation.DSMT4">
                      <p:embed/>
                      <p:pic>
                        <p:nvPicPr>
                          <p:cNvPr id="0" name="Object 28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4" y="1920"/>
                            <a:ext cx="544"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0748" name="Oval 307"/>
            <p:cNvSpPr>
              <a:spLocks noChangeArrowheads="1"/>
            </p:cNvSpPr>
            <p:nvPr/>
          </p:nvSpPr>
          <p:spPr bwMode="auto">
            <a:xfrm>
              <a:off x="192" y="1710"/>
              <a:ext cx="48" cy="48"/>
            </a:xfrm>
            <a:prstGeom prst="ellipse">
              <a:avLst/>
            </a:prstGeom>
            <a:solidFill>
              <a:srgbClr val="333333"/>
            </a:solidFill>
            <a:ln w="9525">
              <a:solidFill>
                <a:srgbClr val="3333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grpSp>
        <p:nvGrpSpPr>
          <p:cNvPr id="30732" name="Group 36"/>
          <p:cNvGrpSpPr>
            <a:grpSpLocks/>
          </p:cNvGrpSpPr>
          <p:nvPr/>
        </p:nvGrpSpPr>
        <p:grpSpPr bwMode="auto">
          <a:xfrm>
            <a:off x="304800" y="3911600"/>
            <a:ext cx="3581400" cy="920750"/>
            <a:chOff x="192" y="2826"/>
            <a:chExt cx="2256" cy="580"/>
          </a:xfrm>
        </p:grpSpPr>
        <p:sp>
          <p:nvSpPr>
            <p:cNvPr id="30745" name="Text Box 302"/>
            <p:cNvSpPr txBox="1">
              <a:spLocks noChangeArrowheads="1"/>
            </p:cNvSpPr>
            <p:nvPr/>
          </p:nvSpPr>
          <p:spPr bwMode="auto">
            <a:xfrm>
              <a:off x="240" y="2826"/>
              <a:ext cx="2208" cy="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lnSpc>
                  <a:spcPct val="130000"/>
                </a:lnSpc>
              </a:pPr>
              <a:r>
                <a:rPr lang="es-ES_tradnl" altLang="es-ES" sz="1400" dirty="0"/>
                <a:t>Si la muestra es muy pequeña, no tiene sentido hablar de percentiles respecto a ella.</a:t>
              </a:r>
              <a:endParaRPr lang="en-GB" altLang="es-ES" sz="1400" baseline="-25000" dirty="0"/>
            </a:p>
          </p:txBody>
        </p:sp>
        <p:sp>
          <p:nvSpPr>
            <p:cNvPr id="30746" name="Oval 308"/>
            <p:cNvSpPr>
              <a:spLocks noChangeArrowheads="1"/>
            </p:cNvSpPr>
            <p:nvPr/>
          </p:nvSpPr>
          <p:spPr bwMode="auto">
            <a:xfrm>
              <a:off x="192" y="2928"/>
              <a:ext cx="48" cy="48"/>
            </a:xfrm>
            <a:prstGeom prst="ellipse">
              <a:avLst/>
            </a:prstGeom>
            <a:solidFill>
              <a:srgbClr val="333333"/>
            </a:solidFill>
            <a:ln w="9525">
              <a:solidFill>
                <a:srgbClr val="3333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grpSp>
        <p:nvGrpSpPr>
          <p:cNvPr id="30733" name="Group 37"/>
          <p:cNvGrpSpPr>
            <a:grpSpLocks/>
          </p:cNvGrpSpPr>
          <p:nvPr/>
        </p:nvGrpSpPr>
        <p:grpSpPr bwMode="auto">
          <a:xfrm>
            <a:off x="304800" y="4876800"/>
            <a:ext cx="3581400" cy="920750"/>
            <a:chOff x="192" y="3552"/>
            <a:chExt cx="2256" cy="580"/>
          </a:xfrm>
        </p:grpSpPr>
        <p:sp>
          <p:nvSpPr>
            <p:cNvPr id="30743" name="Text Box 304"/>
            <p:cNvSpPr txBox="1">
              <a:spLocks noChangeArrowheads="1"/>
            </p:cNvSpPr>
            <p:nvPr/>
          </p:nvSpPr>
          <p:spPr bwMode="auto">
            <a:xfrm>
              <a:off x="240" y="3552"/>
              <a:ext cx="2208" cy="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lnSpc>
                  <a:spcPct val="130000"/>
                </a:lnSpc>
              </a:pPr>
              <a:r>
                <a:rPr lang="es-ES_tradnl" altLang="es-ES" sz="1400" dirty="0"/>
                <a:t>Además de los cuartiles, se utilizan mucho los percentiles 5 y 95 ¿cómo se interpreta cada uno de ellos?</a:t>
              </a:r>
              <a:endParaRPr lang="en-GB" altLang="es-ES" sz="1400" baseline="-25000" dirty="0"/>
            </a:p>
          </p:txBody>
        </p:sp>
        <p:sp>
          <p:nvSpPr>
            <p:cNvPr id="30744" name="Oval 309"/>
            <p:cNvSpPr>
              <a:spLocks noChangeArrowheads="1"/>
            </p:cNvSpPr>
            <p:nvPr/>
          </p:nvSpPr>
          <p:spPr bwMode="auto">
            <a:xfrm>
              <a:off x="192" y="3648"/>
              <a:ext cx="48" cy="48"/>
            </a:xfrm>
            <a:prstGeom prst="ellipse">
              <a:avLst/>
            </a:prstGeom>
            <a:solidFill>
              <a:srgbClr val="333333"/>
            </a:solidFill>
            <a:ln w="9525">
              <a:solidFill>
                <a:srgbClr val="3333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0734" name="Text Box 311"/>
          <p:cNvSpPr txBox="1">
            <a:spLocks noChangeArrowheads="1"/>
          </p:cNvSpPr>
          <p:nvPr/>
        </p:nvSpPr>
        <p:spPr bwMode="auto">
          <a:xfrm>
            <a:off x="4876800" y="838200"/>
            <a:ext cx="1524000" cy="2746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_tradnl" altLang="es-ES" b="1"/>
              <a:t>Diagramas de caja</a:t>
            </a:r>
            <a:endParaRPr lang="es-ES" altLang="es-ES"/>
          </a:p>
        </p:txBody>
      </p:sp>
      <p:sp>
        <p:nvSpPr>
          <p:cNvPr id="30735" name="Text Box 312"/>
          <p:cNvSpPr txBox="1">
            <a:spLocks noChangeArrowheads="1"/>
          </p:cNvSpPr>
          <p:nvPr/>
        </p:nvSpPr>
        <p:spPr bwMode="auto">
          <a:xfrm>
            <a:off x="4572000" y="5927725"/>
            <a:ext cx="175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000" b="1"/>
              <a:t>Relación con el histograma</a:t>
            </a:r>
            <a:endParaRPr lang="es-ES" altLang="es-ES" sz="1000" b="1"/>
          </a:p>
        </p:txBody>
      </p:sp>
      <p:sp>
        <p:nvSpPr>
          <p:cNvPr id="30736" name="Text Box 313"/>
          <p:cNvSpPr txBox="1">
            <a:spLocks noChangeArrowheads="1"/>
          </p:cNvSpPr>
          <p:nvPr/>
        </p:nvSpPr>
        <p:spPr bwMode="auto">
          <a:xfrm>
            <a:off x="6934200" y="5927725"/>
            <a:ext cx="18224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000" b="1"/>
              <a:t>Diagramas con fines comparativos</a:t>
            </a:r>
            <a:endParaRPr lang="es-ES" altLang="es-ES" sz="1000" b="1"/>
          </a:p>
        </p:txBody>
      </p:sp>
      <p:sp>
        <p:nvSpPr>
          <p:cNvPr id="30737" name="Text Box 320"/>
          <p:cNvSpPr txBox="1">
            <a:spLocks noChangeArrowheads="1"/>
          </p:cNvSpPr>
          <p:nvPr/>
        </p:nvSpPr>
        <p:spPr bwMode="auto">
          <a:xfrm>
            <a:off x="5638800" y="1914525"/>
            <a:ext cx="43656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000" b="1">
                <a:solidFill>
                  <a:srgbClr val="008080"/>
                </a:solidFill>
              </a:rPr>
              <a:t>25%</a:t>
            </a:r>
            <a:endParaRPr lang="es-ES" altLang="es-ES" sz="1000" b="1">
              <a:solidFill>
                <a:srgbClr val="008080"/>
              </a:solidFill>
            </a:endParaRPr>
          </a:p>
        </p:txBody>
      </p:sp>
      <p:sp>
        <p:nvSpPr>
          <p:cNvPr id="30738" name="Text Box 321"/>
          <p:cNvSpPr txBox="1">
            <a:spLocks noChangeArrowheads="1"/>
          </p:cNvSpPr>
          <p:nvPr/>
        </p:nvSpPr>
        <p:spPr bwMode="auto">
          <a:xfrm>
            <a:off x="6057900" y="1914525"/>
            <a:ext cx="43656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000" b="1">
                <a:solidFill>
                  <a:srgbClr val="008080"/>
                </a:solidFill>
              </a:rPr>
              <a:t>25%</a:t>
            </a:r>
            <a:endParaRPr lang="es-ES" altLang="es-ES" sz="1000" b="1">
              <a:solidFill>
                <a:srgbClr val="008080"/>
              </a:solidFill>
            </a:endParaRPr>
          </a:p>
        </p:txBody>
      </p:sp>
      <p:sp>
        <p:nvSpPr>
          <p:cNvPr id="30739" name="Text Box 322"/>
          <p:cNvSpPr txBox="1">
            <a:spLocks noChangeArrowheads="1"/>
          </p:cNvSpPr>
          <p:nvPr/>
        </p:nvSpPr>
        <p:spPr bwMode="auto">
          <a:xfrm>
            <a:off x="6553200" y="1914525"/>
            <a:ext cx="43656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000" b="1">
                <a:solidFill>
                  <a:srgbClr val="008080"/>
                </a:solidFill>
              </a:rPr>
              <a:t>25%</a:t>
            </a:r>
            <a:endParaRPr lang="es-ES" altLang="es-ES" sz="1000" b="1">
              <a:solidFill>
                <a:srgbClr val="008080"/>
              </a:solidFill>
            </a:endParaRPr>
          </a:p>
        </p:txBody>
      </p:sp>
      <p:sp>
        <p:nvSpPr>
          <p:cNvPr id="30740" name="Text Box 323"/>
          <p:cNvSpPr txBox="1">
            <a:spLocks noChangeArrowheads="1"/>
          </p:cNvSpPr>
          <p:nvPr/>
        </p:nvSpPr>
        <p:spPr bwMode="auto">
          <a:xfrm>
            <a:off x="7391400" y="1914525"/>
            <a:ext cx="43656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000" b="1">
                <a:solidFill>
                  <a:srgbClr val="008080"/>
                </a:solidFill>
              </a:rPr>
              <a:t>25%</a:t>
            </a:r>
            <a:endParaRPr lang="es-ES" altLang="es-ES" sz="1000" b="1">
              <a:solidFill>
                <a:srgbClr val="008080"/>
              </a:solidFill>
            </a:endParaRPr>
          </a:p>
        </p:txBody>
      </p:sp>
      <p:sp>
        <p:nvSpPr>
          <p:cNvPr id="30741" name="Text Box 304"/>
          <p:cNvSpPr txBox="1">
            <a:spLocks noChangeArrowheads="1"/>
          </p:cNvSpPr>
          <p:nvPr/>
        </p:nvSpPr>
        <p:spPr bwMode="auto">
          <a:xfrm>
            <a:off x="381000" y="5819775"/>
            <a:ext cx="3657600" cy="92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lnSpc>
                <a:spcPct val="130000"/>
              </a:lnSpc>
            </a:pPr>
            <a:r>
              <a:rPr lang="es-ES_tradnl" altLang="es-ES" sz="1400" dirty="0">
                <a:solidFill>
                  <a:schemeClr val="accent1">
                    <a:lumMod val="25000"/>
                  </a:schemeClr>
                </a:solidFill>
              </a:rPr>
              <a:t>¿Encuentra alguna relación </a:t>
            </a:r>
            <a:r>
              <a:rPr lang="es-ES_tradnl" altLang="es-ES" sz="1400" dirty="0" err="1">
                <a:solidFill>
                  <a:schemeClr val="accent1">
                    <a:lumMod val="25000"/>
                  </a:schemeClr>
                </a:solidFill>
              </a:rPr>
              <a:t>ent</a:t>
            </a:r>
            <a:r>
              <a:rPr lang="es-ES" altLang="es-ES" sz="1400" dirty="0">
                <a:solidFill>
                  <a:schemeClr val="accent1">
                    <a:lumMod val="25000"/>
                  </a:schemeClr>
                </a:solidFill>
              </a:rPr>
              <a:t>re los percentiles y la frecuencia relativa acumulada?</a:t>
            </a:r>
            <a:endParaRPr lang="en-GB" altLang="es-ES" sz="1400" baseline="-25000" dirty="0">
              <a:solidFill>
                <a:schemeClr val="accent1">
                  <a:lumMod val="25000"/>
                </a:schemeClr>
              </a:solidFill>
            </a:endParaRPr>
          </a:p>
        </p:txBody>
      </p:sp>
      <p:sp>
        <p:nvSpPr>
          <p:cNvPr id="30742" name="Oval 309"/>
          <p:cNvSpPr>
            <a:spLocks noChangeArrowheads="1"/>
          </p:cNvSpPr>
          <p:nvPr/>
        </p:nvSpPr>
        <p:spPr bwMode="auto">
          <a:xfrm>
            <a:off x="304800" y="5981700"/>
            <a:ext cx="76200" cy="76200"/>
          </a:xfrm>
          <a:prstGeom prst="ellipse">
            <a:avLst/>
          </a:prstGeom>
          <a:solidFill>
            <a:srgbClr val="333333"/>
          </a:solidFill>
          <a:ln w="9525">
            <a:solidFill>
              <a:srgbClr val="3333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40" name="Text Box 5"/>
          <p:cNvSpPr txBox="1">
            <a:spLocks noChangeArrowheads="1"/>
          </p:cNvSpPr>
          <p:nvPr/>
        </p:nvSpPr>
        <p:spPr bwMode="auto">
          <a:xfrm>
            <a:off x="219075" y="304800"/>
            <a:ext cx="701987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Síntesis de datos: medidas descriptivas de posición no central</a:t>
            </a:r>
            <a:endParaRPr lang="es-ES" altLang="es-ES" sz="1800" b="1" dirty="0"/>
          </a:p>
        </p:txBody>
      </p:sp>
      <p:sp>
        <p:nvSpPr>
          <p:cNvPr id="3" name="Rectángulo: esquinas redondeadas 2">
            <a:extLst>
              <a:ext uri="{FF2B5EF4-FFF2-40B4-BE49-F238E27FC236}">
                <a16:creationId xmlns:a16="http://schemas.microsoft.com/office/drawing/2014/main" id="{895CA91F-BC9A-45F6-B88F-6933C44BDBE7}"/>
              </a:ext>
            </a:extLst>
          </p:cNvPr>
          <p:cNvSpPr/>
          <p:nvPr/>
        </p:nvSpPr>
        <p:spPr>
          <a:xfrm>
            <a:off x="304800" y="5819776"/>
            <a:ext cx="3733800" cy="857250"/>
          </a:xfrm>
          <a:prstGeom prst="roundRect">
            <a:avLst/>
          </a:prstGeom>
          <a:noFill/>
          <a:ln w="12700">
            <a:solidFill>
              <a:srgbClr val="EEB5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sp>
        <p:nvSpPr>
          <p:cNvPr id="2" name="CuadroTexto 1"/>
          <p:cNvSpPr txBox="1"/>
          <p:nvPr/>
        </p:nvSpPr>
        <p:spPr>
          <a:xfrm>
            <a:off x="125412" y="5927725"/>
            <a:ext cx="282575" cy="461665"/>
          </a:xfrm>
          <a:prstGeom prst="rect">
            <a:avLst/>
          </a:prstGeom>
          <a:solidFill>
            <a:schemeClr val="bg1"/>
          </a:solidFill>
        </p:spPr>
        <p:txBody>
          <a:bodyPr wrap="square" rtlCol="0">
            <a:spAutoFit/>
          </a:bodyPr>
          <a:lstStyle/>
          <a:p>
            <a:pPr algn="ctr"/>
            <a:r>
              <a:rPr lang="es-ES" sz="2400" b="1" dirty="0">
                <a:solidFill>
                  <a:srgbClr val="FF9900"/>
                </a:solidFill>
              </a:rPr>
              <a:t>?</a:t>
            </a:r>
            <a:endParaRPr lang="es-ES" b="1" dirty="0">
              <a:solidFill>
                <a:srgbClr val="FF99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Text Box 3"/>
          <p:cNvSpPr txBox="1">
            <a:spLocks noChangeArrowheads="1"/>
          </p:cNvSpPr>
          <p:nvPr/>
        </p:nvSpPr>
        <p:spPr bwMode="auto">
          <a:xfrm>
            <a:off x="219075" y="304800"/>
            <a:ext cx="61350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Síntesis de datos: medidas descriptivas de dispersión</a:t>
            </a:r>
            <a:endParaRPr lang="es-ES" altLang="es-ES" sz="1800" b="1" dirty="0"/>
          </a:p>
        </p:txBody>
      </p:sp>
      <p:sp>
        <p:nvSpPr>
          <p:cNvPr id="31748" name="Text Box 37"/>
          <p:cNvSpPr txBox="1">
            <a:spLocks noChangeArrowheads="1"/>
          </p:cNvSpPr>
          <p:nvPr/>
        </p:nvSpPr>
        <p:spPr bwMode="auto">
          <a:xfrm>
            <a:off x="609600" y="4310063"/>
            <a:ext cx="3454400" cy="325437"/>
          </a:xfrm>
          <a:prstGeom prst="rect">
            <a:avLst/>
          </a:prstGeom>
          <a:solidFill>
            <a:schemeClr val="bg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lnSpc>
                <a:spcPct val="110000"/>
              </a:lnSpc>
            </a:pPr>
            <a:r>
              <a:rPr lang="es-ES" altLang="es-ES" sz="1400"/>
              <a:t>¿Son iguales en estatura los dos grupos?</a:t>
            </a:r>
          </a:p>
        </p:txBody>
      </p:sp>
      <p:grpSp>
        <p:nvGrpSpPr>
          <p:cNvPr id="31749" name="Group 309"/>
          <p:cNvGrpSpPr>
            <a:grpSpLocks/>
          </p:cNvGrpSpPr>
          <p:nvPr/>
        </p:nvGrpSpPr>
        <p:grpSpPr bwMode="auto">
          <a:xfrm>
            <a:off x="588963" y="1066800"/>
            <a:ext cx="3548062" cy="2838450"/>
            <a:chOff x="371" y="1076"/>
            <a:chExt cx="2235" cy="1788"/>
          </a:xfrm>
        </p:grpSpPr>
        <p:graphicFrame>
          <p:nvGraphicFramePr>
            <p:cNvPr id="31800" name="Object 38"/>
            <p:cNvGraphicFramePr>
              <a:graphicFrameLocks noChangeAspect="1"/>
            </p:cNvGraphicFramePr>
            <p:nvPr/>
          </p:nvGraphicFramePr>
          <p:xfrm>
            <a:off x="1043" y="1076"/>
            <a:ext cx="977" cy="178"/>
          </p:xfrm>
          <a:graphic>
            <a:graphicData uri="http://schemas.openxmlformats.org/presentationml/2006/ole">
              <mc:AlternateContent xmlns:mc="http://schemas.openxmlformats.org/markup-compatibility/2006">
                <mc:Choice xmlns:v="urn:schemas-microsoft-com:vml" Requires="v">
                  <p:oleObj name="Equation" r:id="rId3" imgW="1104900" imgH="203200" progId="Equation.DSMT4">
                    <p:embed/>
                  </p:oleObj>
                </mc:Choice>
                <mc:Fallback>
                  <p:oleObj name="Equation" r:id="rId3" imgW="1104900" imgH="203200" progId="Equation.DSMT4">
                    <p:embed/>
                    <p:pic>
                      <p:nvPicPr>
                        <p:cNvPr id="0" name="Object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 y="1076"/>
                          <a:ext cx="977" cy="17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Lst>
                      </p:spPr>
                    </p:pic>
                  </p:oleObj>
                </mc:Fallback>
              </mc:AlternateContent>
            </a:graphicData>
          </a:graphic>
        </p:graphicFrame>
        <p:sp>
          <p:nvSpPr>
            <p:cNvPr id="31801" name="Text Box 39"/>
            <p:cNvSpPr txBox="1">
              <a:spLocks noChangeArrowheads="1"/>
            </p:cNvSpPr>
            <p:nvPr/>
          </p:nvSpPr>
          <p:spPr bwMode="auto">
            <a:xfrm>
              <a:off x="616" y="2441"/>
              <a:ext cx="5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sz="1800"/>
                <a:t>Grupo I</a:t>
              </a:r>
            </a:p>
          </p:txBody>
        </p:sp>
        <p:sp>
          <p:nvSpPr>
            <p:cNvPr id="31802" name="Text Box 40"/>
            <p:cNvSpPr txBox="1">
              <a:spLocks noChangeArrowheads="1"/>
            </p:cNvSpPr>
            <p:nvPr/>
          </p:nvSpPr>
          <p:spPr bwMode="auto">
            <a:xfrm>
              <a:off x="1758" y="2441"/>
              <a:ext cx="6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sz="1800"/>
                <a:t>Grupo II</a:t>
              </a:r>
            </a:p>
          </p:txBody>
        </p:sp>
        <p:graphicFrame>
          <p:nvGraphicFramePr>
            <p:cNvPr id="31803" name="Object 41"/>
            <p:cNvGraphicFramePr>
              <a:graphicFrameLocks noChangeAspect="1"/>
            </p:cNvGraphicFramePr>
            <p:nvPr/>
          </p:nvGraphicFramePr>
          <p:xfrm>
            <a:off x="551" y="2692"/>
            <a:ext cx="717" cy="172"/>
          </p:xfrm>
          <a:graphic>
            <a:graphicData uri="http://schemas.openxmlformats.org/presentationml/2006/ole">
              <mc:AlternateContent xmlns:mc="http://schemas.openxmlformats.org/markup-compatibility/2006">
                <mc:Choice xmlns:v="urn:schemas-microsoft-com:vml" Requires="v">
                  <p:oleObj name="Equation" r:id="rId5" imgW="736280" imgH="177723" progId="Equation.DSMT4">
                    <p:embed/>
                  </p:oleObj>
                </mc:Choice>
                <mc:Fallback>
                  <p:oleObj name="Equation" r:id="rId5" imgW="736280" imgH="177723" progId="Equation.DSMT4">
                    <p:embed/>
                    <p:pic>
                      <p:nvPicPr>
                        <p:cNvPr id="0" name="Object 4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1" y="2692"/>
                          <a:ext cx="717"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804" name="Object 42"/>
            <p:cNvGraphicFramePr>
              <a:graphicFrameLocks noChangeAspect="1"/>
            </p:cNvGraphicFramePr>
            <p:nvPr/>
          </p:nvGraphicFramePr>
          <p:xfrm>
            <a:off x="1713" y="2692"/>
            <a:ext cx="715" cy="172"/>
          </p:xfrm>
          <a:graphic>
            <a:graphicData uri="http://schemas.openxmlformats.org/presentationml/2006/ole">
              <mc:AlternateContent xmlns:mc="http://schemas.openxmlformats.org/markup-compatibility/2006">
                <mc:Choice xmlns:v="urn:schemas-microsoft-com:vml" Requires="v">
                  <p:oleObj name="Equation" r:id="rId7" imgW="736280" imgH="177723" progId="Equation.DSMT4">
                    <p:embed/>
                  </p:oleObj>
                </mc:Choice>
                <mc:Fallback>
                  <p:oleObj name="Equation" r:id="rId7" imgW="736280" imgH="177723" progId="Equation.DSMT4">
                    <p:embed/>
                    <p:pic>
                      <p:nvPicPr>
                        <p:cNvPr id="0" name="Object 4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13" y="2692"/>
                          <a:ext cx="715"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1805" name="Group 43"/>
            <p:cNvGrpSpPr>
              <a:grpSpLocks/>
            </p:cNvGrpSpPr>
            <p:nvPr/>
          </p:nvGrpSpPr>
          <p:grpSpPr bwMode="auto">
            <a:xfrm>
              <a:off x="371" y="1341"/>
              <a:ext cx="2235" cy="1053"/>
              <a:chOff x="1383" y="1159"/>
              <a:chExt cx="1860" cy="823"/>
            </a:xfrm>
          </p:grpSpPr>
          <p:sp>
            <p:nvSpPr>
              <p:cNvPr id="31806" name="AutoShape 44"/>
              <p:cNvSpPr>
                <a:spLocks noChangeArrowheads="1"/>
              </p:cNvSpPr>
              <p:nvPr/>
            </p:nvSpPr>
            <p:spPr bwMode="auto">
              <a:xfrm flipV="1">
                <a:off x="1383" y="1841"/>
                <a:ext cx="1860" cy="141"/>
              </a:xfrm>
              <a:prstGeom prst="flowChartManualOperation">
                <a:avLst/>
              </a:prstGeom>
              <a:gradFill rotWithShape="1">
                <a:gsLst>
                  <a:gs pos="0">
                    <a:srgbClr val="D5E3DA"/>
                  </a:gs>
                  <a:gs pos="100000">
                    <a:srgbClr val="AECAB9"/>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nvGrpSpPr>
              <p:cNvPr id="31807" name="Group 45"/>
              <p:cNvGrpSpPr>
                <a:grpSpLocks/>
              </p:cNvGrpSpPr>
              <p:nvPr/>
            </p:nvGrpSpPr>
            <p:grpSpPr bwMode="auto">
              <a:xfrm>
                <a:off x="2482" y="1188"/>
                <a:ext cx="617" cy="738"/>
                <a:chOff x="3152" y="1344"/>
                <a:chExt cx="994" cy="1179"/>
              </a:xfrm>
            </p:grpSpPr>
            <p:grpSp>
              <p:nvGrpSpPr>
                <p:cNvPr id="31930" name="Group 46"/>
                <p:cNvGrpSpPr>
                  <a:grpSpLocks/>
                </p:cNvGrpSpPr>
                <p:nvPr/>
              </p:nvGrpSpPr>
              <p:grpSpPr bwMode="auto">
                <a:xfrm>
                  <a:off x="3397" y="1983"/>
                  <a:ext cx="254" cy="540"/>
                  <a:chOff x="851" y="1434"/>
                  <a:chExt cx="254" cy="414"/>
                </a:xfrm>
              </p:grpSpPr>
              <p:grpSp>
                <p:nvGrpSpPr>
                  <p:cNvPr id="32001" name="Group 47"/>
                  <p:cNvGrpSpPr>
                    <a:grpSpLocks/>
                  </p:cNvGrpSpPr>
                  <p:nvPr/>
                </p:nvGrpSpPr>
                <p:grpSpPr bwMode="auto">
                  <a:xfrm>
                    <a:off x="889" y="1434"/>
                    <a:ext cx="181" cy="408"/>
                    <a:chOff x="884" y="1434"/>
                    <a:chExt cx="181" cy="408"/>
                  </a:xfrm>
                </p:grpSpPr>
                <p:sp>
                  <p:nvSpPr>
                    <p:cNvPr id="32004" name="Oval 48"/>
                    <p:cNvSpPr>
                      <a:spLocks noChangeArrowheads="1"/>
                    </p:cNvSpPr>
                    <p:nvPr/>
                  </p:nvSpPr>
                  <p:spPr bwMode="auto">
                    <a:xfrm>
                      <a:off x="884"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005" name="Oval 49"/>
                    <p:cNvSpPr>
                      <a:spLocks noChangeArrowheads="1"/>
                    </p:cNvSpPr>
                    <p:nvPr/>
                  </p:nvSpPr>
                  <p:spPr bwMode="auto">
                    <a:xfrm>
                      <a:off x="975"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2002" name="Oval 50"/>
                  <p:cNvSpPr>
                    <a:spLocks noChangeArrowheads="1"/>
                  </p:cNvSpPr>
                  <p:nvPr/>
                </p:nvSpPr>
                <p:spPr bwMode="auto">
                  <a:xfrm>
                    <a:off x="851"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003" name="Oval 51"/>
                  <p:cNvSpPr>
                    <a:spLocks noChangeArrowheads="1"/>
                  </p:cNvSpPr>
                  <p:nvPr/>
                </p:nvSpPr>
                <p:spPr bwMode="auto">
                  <a:xfrm>
                    <a:off x="990"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931" name="AutoShape 52"/>
                <p:cNvSpPr>
                  <a:spLocks noChangeArrowheads="1"/>
                </p:cNvSpPr>
                <p:nvPr/>
              </p:nvSpPr>
              <p:spPr bwMode="auto">
                <a:xfrm rot="-147979">
                  <a:off x="3427" y="1344"/>
                  <a:ext cx="163" cy="243"/>
                </a:xfrm>
                <a:prstGeom prst="smileyFace">
                  <a:avLst>
                    <a:gd name="adj" fmla="val 4653"/>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32" name="Oval 53"/>
                <p:cNvSpPr>
                  <a:spLocks noChangeArrowheads="1"/>
                </p:cNvSpPr>
                <p:nvPr/>
              </p:nvSpPr>
              <p:spPr bwMode="auto">
                <a:xfrm rot="-372232">
                  <a:off x="3494" y="1622"/>
                  <a:ext cx="142" cy="392"/>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33" name="Oval 54"/>
                <p:cNvSpPr>
                  <a:spLocks noChangeArrowheads="1"/>
                </p:cNvSpPr>
                <p:nvPr/>
              </p:nvSpPr>
              <p:spPr bwMode="auto">
                <a:xfrm>
                  <a:off x="3405" y="1642"/>
                  <a:ext cx="136" cy="439"/>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34" name="AutoShape 55"/>
                <p:cNvSpPr>
                  <a:spLocks noChangeArrowheads="1"/>
                </p:cNvSpPr>
                <p:nvPr/>
              </p:nvSpPr>
              <p:spPr bwMode="auto">
                <a:xfrm rot="-5400000">
                  <a:off x="3272" y="1745"/>
                  <a:ext cx="491" cy="182"/>
                </a:xfrm>
                <a:prstGeom prst="flowChartDelay">
                  <a:avLst/>
                </a:prstGeom>
                <a:solidFill>
                  <a:srgbClr val="DAEE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nvGrpSpPr>
                <p:cNvPr id="31935" name="Group 56"/>
                <p:cNvGrpSpPr>
                  <a:grpSpLocks/>
                </p:cNvGrpSpPr>
                <p:nvPr/>
              </p:nvGrpSpPr>
              <p:grpSpPr bwMode="auto">
                <a:xfrm>
                  <a:off x="3787" y="1983"/>
                  <a:ext cx="254" cy="540"/>
                  <a:chOff x="851" y="1434"/>
                  <a:chExt cx="254" cy="414"/>
                </a:xfrm>
              </p:grpSpPr>
              <p:grpSp>
                <p:nvGrpSpPr>
                  <p:cNvPr id="31996" name="Group 57"/>
                  <p:cNvGrpSpPr>
                    <a:grpSpLocks/>
                  </p:cNvGrpSpPr>
                  <p:nvPr/>
                </p:nvGrpSpPr>
                <p:grpSpPr bwMode="auto">
                  <a:xfrm>
                    <a:off x="889" y="1434"/>
                    <a:ext cx="181" cy="408"/>
                    <a:chOff x="884" y="1434"/>
                    <a:chExt cx="181" cy="408"/>
                  </a:xfrm>
                </p:grpSpPr>
                <p:sp>
                  <p:nvSpPr>
                    <p:cNvPr id="31999" name="Oval 58"/>
                    <p:cNvSpPr>
                      <a:spLocks noChangeArrowheads="1"/>
                    </p:cNvSpPr>
                    <p:nvPr/>
                  </p:nvSpPr>
                  <p:spPr bwMode="auto">
                    <a:xfrm>
                      <a:off x="884"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000" name="Oval 59"/>
                    <p:cNvSpPr>
                      <a:spLocks noChangeArrowheads="1"/>
                    </p:cNvSpPr>
                    <p:nvPr/>
                  </p:nvSpPr>
                  <p:spPr bwMode="auto">
                    <a:xfrm>
                      <a:off x="975"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997" name="Oval 60"/>
                  <p:cNvSpPr>
                    <a:spLocks noChangeArrowheads="1"/>
                  </p:cNvSpPr>
                  <p:nvPr/>
                </p:nvSpPr>
                <p:spPr bwMode="auto">
                  <a:xfrm>
                    <a:off x="851"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98" name="Oval 61"/>
                  <p:cNvSpPr>
                    <a:spLocks noChangeArrowheads="1"/>
                  </p:cNvSpPr>
                  <p:nvPr/>
                </p:nvSpPr>
                <p:spPr bwMode="auto">
                  <a:xfrm>
                    <a:off x="990"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936" name="AutoShape 62"/>
                <p:cNvSpPr>
                  <a:spLocks noChangeArrowheads="1"/>
                </p:cNvSpPr>
                <p:nvPr/>
              </p:nvSpPr>
              <p:spPr bwMode="auto">
                <a:xfrm rot="189323">
                  <a:off x="3817" y="1344"/>
                  <a:ext cx="163" cy="243"/>
                </a:xfrm>
                <a:prstGeom prst="smileyFace">
                  <a:avLst>
                    <a:gd name="adj" fmla="val 4653"/>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37" name="Oval 63"/>
                <p:cNvSpPr>
                  <a:spLocks noChangeArrowheads="1"/>
                </p:cNvSpPr>
                <p:nvPr/>
              </p:nvSpPr>
              <p:spPr bwMode="auto">
                <a:xfrm rot="-372232">
                  <a:off x="3884" y="1622"/>
                  <a:ext cx="142" cy="392"/>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38" name="Oval 64"/>
                <p:cNvSpPr>
                  <a:spLocks noChangeArrowheads="1"/>
                </p:cNvSpPr>
                <p:nvPr/>
              </p:nvSpPr>
              <p:spPr bwMode="auto">
                <a:xfrm>
                  <a:off x="3795" y="1642"/>
                  <a:ext cx="136" cy="439"/>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39" name="AutoShape 65"/>
                <p:cNvSpPr>
                  <a:spLocks noChangeArrowheads="1"/>
                </p:cNvSpPr>
                <p:nvPr/>
              </p:nvSpPr>
              <p:spPr bwMode="auto">
                <a:xfrm rot="-5400000">
                  <a:off x="3662" y="1745"/>
                  <a:ext cx="491" cy="182"/>
                </a:xfrm>
                <a:prstGeom prst="flowChartDelay">
                  <a:avLst/>
                </a:prstGeom>
                <a:solidFill>
                  <a:srgbClr val="DAEE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nvGrpSpPr>
                <p:cNvPr id="31940" name="Group 66"/>
                <p:cNvGrpSpPr>
                  <a:grpSpLocks/>
                </p:cNvGrpSpPr>
                <p:nvPr/>
              </p:nvGrpSpPr>
              <p:grpSpPr bwMode="auto">
                <a:xfrm>
                  <a:off x="3892" y="2109"/>
                  <a:ext cx="254" cy="414"/>
                  <a:chOff x="851" y="1434"/>
                  <a:chExt cx="254" cy="414"/>
                </a:xfrm>
              </p:grpSpPr>
              <p:grpSp>
                <p:nvGrpSpPr>
                  <p:cNvPr id="31991" name="Group 67"/>
                  <p:cNvGrpSpPr>
                    <a:grpSpLocks/>
                  </p:cNvGrpSpPr>
                  <p:nvPr/>
                </p:nvGrpSpPr>
                <p:grpSpPr bwMode="auto">
                  <a:xfrm>
                    <a:off x="889" y="1434"/>
                    <a:ext cx="181" cy="408"/>
                    <a:chOff x="884" y="1434"/>
                    <a:chExt cx="181" cy="408"/>
                  </a:xfrm>
                </p:grpSpPr>
                <p:sp>
                  <p:nvSpPr>
                    <p:cNvPr id="31994" name="Oval 68"/>
                    <p:cNvSpPr>
                      <a:spLocks noChangeArrowheads="1"/>
                    </p:cNvSpPr>
                    <p:nvPr/>
                  </p:nvSpPr>
                  <p:spPr bwMode="auto">
                    <a:xfrm>
                      <a:off x="884"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95" name="Oval 69"/>
                    <p:cNvSpPr>
                      <a:spLocks noChangeArrowheads="1"/>
                    </p:cNvSpPr>
                    <p:nvPr/>
                  </p:nvSpPr>
                  <p:spPr bwMode="auto">
                    <a:xfrm>
                      <a:off x="975"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992" name="Oval 70"/>
                  <p:cNvSpPr>
                    <a:spLocks noChangeArrowheads="1"/>
                  </p:cNvSpPr>
                  <p:nvPr/>
                </p:nvSpPr>
                <p:spPr bwMode="auto">
                  <a:xfrm>
                    <a:off x="851"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93" name="Oval 71"/>
                  <p:cNvSpPr>
                    <a:spLocks noChangeArrowheads="1"/>
                  </p:cNvSpPr>
                  <p:nvPr/>
                </p:nvSpPr>
                <p:spPr bwMode="auto">
                  <a:xfrm>
                    <a:off x="990"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941" name="AutoShape 72"/>
                <p:cNvSpPr>
                  <a:spLocks noChangeArrowheads="1"/>
                </p:cNvSpPr>
                <p:nvPr/>
              </p:nvSpPr>
              <p:spPr bwMode="auto">
                <a:xfrm rot="-481050">
                  <a:off x="3926" y="1708"/>
                  <a:ext cx="178" cy="181"/>
                </a:xfrm>
                <a:prstGeom prst="smileyFace">
                  <a:avLst>
                    <a:gd name="adj" fmla="val 4653"/>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42" name="Oval 73"/>
                <p:cNvSpPr>
                  <a:spLocks noChangeArrowheads="1"/>
                </p:cNvSpPr>
                <p:nvPr/>
              </p:nvSpPr>
              <p:spPr bwMode="auto">
                <a:xfrm rot="-554596">
                  <a:off x="3968" y="1911"/>
                  <a:ext cx="175" cy="28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43" name="Oval 74"/>
                <p:cNvSpPr>
                  <a:spLocks noChangeArrowheads="1"/>
                </p:cNvSpPr>
                <p:nvPr/>
              </p:nvSpPr>
              <p:spPr bwMode="auto">
                <a:xfrm rot="432598">
                  <a:off x="3878" y="1903"/>
                  <a:ext cx="181" cy="3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44" name="AutoShape 75"/>
                <p:cNvSpPr>
                  <a:spLocks noChangeArrowheads="1"/>
                </p:cNvSpPr>
                <p:nvPr/>
              </p:nvSpPr>
              <p:spPr bwMode="auto">
                <a:xfrm rot="-5400000">
                  <a:off x="3852" y="1959"/>
                  <a:ext cx="323" cy="181"/>
                </a:xfrm>
                <a:prstGeom prst="flowChartDelay">
                  <a:avLst/>
                </a:prstGeom>
                <a:solidFill>
                  <a:srgbClr val="DAEE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nvGrpSpPr>
                <p:cNvPr id="31945" name="Group 76"/>
                <p:cNvGrpSpPr>
                  <a:grpSpLocks/>
                </p:cNvGrpSpPr>
                <p:nvPr/>
              </p:nvGrpSpPr>
              <p:grpSpPr bwMode="auto">
                <a:xfrm>
                  <a:off x="3152" y="2024"/>
                  <a:ext cx="254" cy="499"/>
                  <a:chOff x="851" y="1434"/>
                  <a:chExt cx="254" cy="414"/>
                </a:xfrm>
              </p:grpSpPr>
              <p:grpSp>
                <p:nvGrpSpPr>
                  <p:cNvPr id="31986" name="Group 77"/>
                  <p:cNvGrpSpPr>
                    <a:grpSpLocks/>
                  </p:cNvGrpSpPr>
                  <p:nvPr/>
                </p:nvGrpSpPr>
                <p:grpSpPr bwMode="auto">
                  <a:xfrm>
                    <a:off x="889" y="1434"/>
                    <a:ext cx="181" cy="408"/>
                    <a:chOff x="884" y="1434"/>
                    <a:chExt cx="181" cy="408"/>
                  </a:xfrm>
                </p:grpSpPr>
                <p:sp>
                  <p:nvSpPr>
                    <p:cNvPr id="31989" name="Oval 78"/>
                    <p:cNvSpPr>
                      <a:spLocks noChangeArrowheads="1"/>
                    </p:cNvSpPr>
                    <p:nvPr/>
                  </p:nvSpPr>
                  <p:spPr bwMode="auto">
                    <a:xfrm>
                      <a:off x="884"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90" name="Oval 79"/>
                    <p:cNvSpPr>
                      <a:spLocks noChangeArrowheads="1"/>
                    </p:cNvSpPr>
                    <p:nvPr/>
                  </p:nvSpPr>
                  <p:spPr bwMode="auto">
                    <a:xfrm>
                      <a:off x="975"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987" name="Oval 80"/>
                  <p:cNvSpPr>
                    <a:spLocks noChangeArrowheads="1"/>
                  </p:cNvSpPr>
                  <p:nvPr/>
                </p:nvSpPr>
                <p:spPr bwMode="auto">
                  <a:xfrm>
                    <a:off x="851"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88" name="Oval 81"/>
                  <p:cNvSpPr>
                    <a:spLocks noChangeArrowheads="1"/>
                  </p:cNvSpPr>
                  <p:nvPr/>
                </p:nvSpPr>
                <p:spPr bwMode="auto">
                  <a:xfrm>
                    <a:off x="990"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946" name="AutoShape 82"/>
                <p:cNvSpPr>
                  <a:spLocks noChangeArrowheads="1"/>
                </p:cNvSpPr>
                <p:nvPr/>
              </p:nvSpPr>
              <p:spPr bwMode="auto">
                <a:xfrm rot="-147979">
                  <a:off x="3182" y="1434"/>
                  <a:ext cx="163" cy="224"/>
                </a:xfrm>
                <a:prstGeom prst="smileyFace">
                  <a:avLst>
                    <a:gd name="adj" fmla="val 4653"/>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47" name="Oval 83"/>
                <p:cNvSpPr>
                  <a:spLocks noChangeArrowheads="1"/>
                </p:cNvSpPr>
                <p:nvPr/>
              </p:nvSpPr>
              <p:spPr bwMode="auto">
                <a:xfrm rot="-372232">
                  <a:off x="3249" y="1691"/>
                  <a:ext cx="142" cy="362"/>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48" name="Oval 84"/>
                <p:cNvSpPr>
                  <a:spLocks noChangeArrowheads="1"/>
                </p:cNvSpPr>
                <p:nvPr/>
              </p:nvSpPr>
              <p:spPr bwMode="auto">
                <a:xfrm>
                  <a:off x="3160" y="1709"/>
                  <a:ext cx="136" cy="406"/>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49" name="AutoShape 85"/>
                <p:cNvSpPr>
                  <a:spLocks noChangeArrowheads="1"/>
                </p:cNvSpPr>
                <p:nvPr/>
              </p:nvSpPr>
              <p:spPr bwMode="auto">
                <a:xfrm rot="-5400000">
                  <a:off x="3046" y="1797"/>
                  <a:ext cx="454" cy="182"/>
                </a:xfrm>
                <a:prstGeom prst="flowChartDelay">
                  <a:avLst/>
                </a:prstGeom>
                <a:solidFill>
                  <a:srgbClr val="DAEE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nvGrpSpPr>
                <p:cNvPr id="31950" name="Group 86"/>
                <p:cNvGrpSpPr>
                  <a:grpSpLocks/>
                </p:cNvGrpSpPr>
                <p:nvPr/>
              </p:nvGrpSpPr>
              <p:grpSpPr bwMode="auto">
                <a:xfrm>
                  <a:off x="3444" y="2187"/>
                  <a:ext cx="336" cy="336"/>
                  <a:chOff x="851" y="1434"/>
                  <a:chExt cx="254" cy="414"/>
                </a:xfrm>
              </p:grpSpPr>
              <p:grpSp>
                <p:nvGrpSpPr>
                  <p:cNvPr id="31981" name="Group 87"/>
                  <p:cNvGrpSpPr>
                    <a:grpSpLocks/>
                  </p:cNvGrpSpPr>
                  <p:nvPr/>
                </p:nvGrpSpPr>
                <p:grpSpPr bwMode="auto">
                  <a:xfrm>
                    <a:off x="889" y="1434"/>
                    <a:ext cx="181" cy="408"/>
                    <a:chOff x="884" y="1434"/>
                    <a:chExt cx="181" cy="408"/>
                  </a:xfrm>
                </p:grpSpPr>
                <p:sp>
                  <p:nvSpPr>
                    <p:cNvPr id="31984" name="Oval 88"/>
                    <p:cNvSpPr>
                      <a:spLocks noChangeArrowheads="1"/>
                    </p:cNvSpPr>
                    <p:nvPr/>
                  </p:nvSpPr>
                  <p:spPr bwMode="auto">
                    <a:xfrm>
                      <a:off x="884"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85" name="Oval 89"/>
                    <p:cNvSpPr>
                      <a:spLocks noChangeArrowheads="1"/>
                    </p:cNvSpPr>
                    <p:nvPr/>
                  </p:nvSpPr>
                  <p:spPr bwMode="auto">
                    <a:xfrm>
                      <a:off x="975"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982" name="Oval 90"/>
                  <p:cNvSpPr>
                    <a:spLocks noChangeArrowheads="1"/>
                  </p:cNvSpPr>
                  <p:nvPr/>
                </p:nvSpPr>
                <p:spPr bwMode="auto">
                  <a:xfrm>
                    <a:off x="851"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83" name="Oval 91"/>
                  <p:cNvSpPr>
                    <a:spLocks noChangeArrowheads="1"/>
                  </p:cNvSpPr>
                  <p:nvPr/>
                </p:nvSpPr>
                <p:spPr bwMode="auto">
                  <a:xfrm>
                    <a:off x="990"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951" name="AutoShape 92"/>
                <p:cNvSpPr>
                  <a:spLocks noChangeArrowheads="1"/>
                </p:cNvSpPr>
                <p:nvPr/>
              </p:nvSpPr>
              <p:spPr bwMode="auto">
                <a:xfrm rot="180767">
                  <a:off x="3515" y="1661"/>
                  <a:ext cx="243" cy="230"/>
                </a:xfrm>
                <a:prstGeom prst="smileyFace">
                  <a:avLst>
                    <a:gd name="adj" fmla="val 361"/>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52" name="Oval 93"/>
                <p:cNvSpPr>
                  <a:spLocks noChangeArrowheads="1"/>
                </p:cNvSpPr>
                <p:nvPr/>
              </p:nvSpPr>
              <p:spPr bwMode="auto">
                <a:xfrm rot="-554596">
                  <a:off x="3600" y="1911"/>
                  <a:ext cx="188" cy="234"/>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53" name="Oval 94"/>
                <p:cNvSpPr>
                  <a:spLocks noChangeArrowheads="1"/>
                </p:cNvSpPr>
                <p:nvPr/>
              </p:nvSpPr>
              <p:spPr bwMode="auto">
                <a:xfrm rot="432598">
                  <a:off x="3424" y="1904"/>
                  <a:ext cx="240" cy="270"/>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54" name="AutoShape 95"/>
                <p:cNvSpPr>
                  <a:spLocks noChangeArrowheads="1"/>
                </p:cNvSpPr>
                <p:nvPr/>
              </p:nvSpPr>
              <p:spPr bwMode="auto">
                <a:xfrm rot="-5400000">
                  <a:off x="3446" y="1906"/>
                  <a:ext cx="332" cy="302"/>
                </a:xfrm>
                <a:prstGeom prst="flowChartDelay">
                  <a:avLst/>
                </a:prstGeom>
                <a:solidFill>
                  <a:srgbClr val="DAEE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55" name="AutoShape 96"/>
                <p:cNvSpPr>
                  <a:spLocks noChangeArrowheads="1"/>
                </p:cNvSpPr>
                <p:nvPr/>
              </p:nvSpPr>
              <p:spPr bwMode="auto">
                <a:xfrm rot="21237426" flipV="1">
                  <a:off x="3266" y="1570"/>
                  <a:ext cx="259" cy="173"/>
                </a:xfrm>
                <a:custGeom>
                  <a:avLst/>
                  <a:gdLst>
                    <a:gd name="T0" fmla="*/ 2 w 21600"/>
                    <a:gd name="T1" fmla="*/ 1 h 21600"/>
                    <a:gd name="T2" fmla="*/ 2 w 21600"/>
                    <a:gd name="T3" fmla="*/ 1 h 21600"/>
                    <a:gd name="T4" fmla="*/ 1 w 21600"/>
                    <a:gd name="T5" fmla="*/ 1 h 21600"/>
                    <a:gd name="T6" fmla="*/ 2 w 21600"/>
                    <a:gd name="T7" fmla="*/ 0 h 21600"/>
                    <a:gd name="T8" fmla="*/ 0 60000 65536"/>
                    <a:gd name="T9" fmla="*/ 0 60000 65536"/>
                    <a:gd name="T10" fmla="*/ 0 60000 65536"/>
                    <a:gd name="T11" fmla="*/ 0 60000 65536"/>
                    <a:gd name="T12" fmla="*/ 6255 w 21600"/>
                    <a:gd name="T13" fmla="*/ 6243 h 21600"/>
                    <a:gd name="T14" fmla="*/ 15345 w 21600"/>
                    <a:gd name="T15" fmla="*/ 15357 h 21600"/>
                  </a:gdLst>
                  <a:ahLst/>
                  <a:cxnLst>
                    <a:cxn ang="T8">
                      <a:pos x="T0" y="T1"/>
                    </a:cxn>
                    <a:cxn ang="T9">
                      <a:pos x="T2" y="T3"/>
                    </a:cxn>
                    <a:cxn ang="T10">
                      <a:pos x="T4" y="T5"/>
                    </a:cxn>
                    <a:cxn ang="T11">
                      <a:pos x="T6" y="T7"/>
                    </a:cxn>
                  </a:cxnLst>
                  <a:rect l="T12" t="T13" r="T14" b="T15"/>
                  <a:pathLst>
                    <a:path w="21600" h="21600">
                      <a:moveTo>
                        <a:pt x="0" y="0"/>
                      </a:moveTo>
                      <a:lnTo>
                        <a:pt x="8899" y="21600"/>
                      </a:lnTo>
                      <a:lnTo>
                        <a:pt x="12701" y="21600"/>
                      </a:lnTo>
                      <a:lnTo>
                        <a:pt x="21600" y="0"/>
                      </a:lnTo>
                      <a:lnTo>
                        <a:pt x="0" y="0"/>
                      </a:lnTo>
                      <a:close/>
                    </a:path>
                  </a:pathLst>
                </a:custGeom>
                <a:solidFill>
                  <a:srgbClr val="DAEE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nvGrpSpPr>
                <p:cNvPr id="31956" name="Group 97"/>
                <p:cNvGrpSpPr>
                  <a:grpSpLocks/>
                </p:cNvGrpSpPr>
                <p:nvPr/>
              </p:nvGrpSpPr>
              <p:grpSpPr bwMode="auto">
                <a:xfrm>
                  <a:off x="3257" y="1570"/>
                  <a:ext cx="262" cy="953"/>
                  <a:chOff x="842" y="754"/>
                  <a:chExt cx="275" cy="1004"/>
                </a:xfrm>
              </p:grpSpPr>
              <p:grpSp>
                <p:nvGrpSpPr>
                  <p:cNvPr id="31971" name="Group 98"/>
                  <p:cNvGrpSpPr>
                    <a:grpSpLocks/>
                  </p:cNvGrpSpPr>
                  <p:nvPr/>
                </p:nvGrpSpPr>
                <p:grpSpPr bwMode="auto">
                  <a:xfrm>
                    <a:off x="857" y="1344"/>
                    <a:ext cx="254" cy="414"/>
                    <a:chOff x="851" y="1434"/>
                    <a:chExt cx="254" cy="414"/>
                  </a:xfrm>
                </p:grpSpPr>
                <p:grpSp>
                  <p:nvGrpSpPr>
                    <p:cNvPr id="31976" name="Group 99"/>
                    <p:cNvGrpSpPr>
                      <a:grpSpLocks/>
                    </p:cNvGrpSpPr>
                    <p:nvPr/>
                  </p:nvGrpSpPr>
                  <p:grpSpPr bwMode="auto">
                    <a:xfrm>
                      <a:off x="889" y="1434"/>
                      <a:ext cx="181" cy="408"/>
                      <a:chOff x="884" y="1434"/>
                      <a:chExt cx="181" cy="408"/>
                    </a:xfrm>
                  </p:grpSpPr>
                  <p:sp>
                    <p:nvSpPr>
                      <p:cNvPr id="31979" name="Oval 100"/>
                      <p:cNvSpPr>
                        <a:spLocks noChangeArrowheads="1"/>
                      </p:cNvSpPr>
                      <p:nvPr/>
                    </p:nvSpPr>
                    <p:spPr bwMode="auto">
                      <a:xfrm>
                        <a:off x="884"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80" name="Oval 101"/>
                      <p:cNvSpPr>
                        <a:spLocks noChangeArrowheads="1"/>
                      </p:cNvSpPr>
                      <p:nvPr/>
                    </p:nvSpPr>
                    <p:spPr bwMode="auto">
                      <a:xfrm>
                        <a:off x="975"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977" name="Oval 102"/>
                    <p:cNvSpPr>
                      <a:spLocks noChangeArrowheads="1"/>
                    </p:cNvSpPr>
                    <p:nvPr/>
                  </p:nvSpPr>
                  <p:spPr bwMode="auto">
                    <a:xfrm>
                      <a:off x="851"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78" name="Oval 103"/>
                    <p:cNvSpPr>
                      <a:spLocks noChangeArrowheads="1"/>
                    </p:cNvSpPr>
                    <p:nvPr/>
                  </p:nvSpPr>
                  <p:spPr bwMode="auto">
                    <a:xfrm>
                      <a:off x="990"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972" name="AutoShape 104"/>
                  <p:cNvSpPr>
                    <a:spLocks noChangeArrowheads="1"/>
                  </p:cNvSpPr>
                  <p:nvPr/>
                </p:nvSpPr>
                <p:spPr bwMode="auto">
                  <a:xfrm rot="180767">
                    <a:off x="884" y="754"/>
                    <a:ext cx="210" cy="227"/>
                  </a:xfrm>
                  <a:prstGeom prst="smileyFace">
                    <a:avLst>
                      <a:gd name="adj" fmla="val 4653"/>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73" name="Oval 105"/>
                  <p:cNvSpPr>
                    <a:spLocks noChangeArrowheads="1"/>
                  </p:cNvSpPr>
                  <p:nvPr/>
                </p:nvSpPr>
                <p:spPr bwMode="auto">
                  <a:xfrm rot="-554596">
                    <a:off x="975" y="1005"/>
                    <a:ext cx="142" cy="28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74" name="Oval 106"/>
                  <p:cNvSpPr>
                    <a:spLocks noChangeArrowheads="1"/>
                  </p:cNvSpPr>
                  <p:nvPr/>
                </p:nvSpPr>
                <p:spPr bwMode="auto">
                  <a:xfrm rot="432598">
                    <a:off x="842" y="996"/>
                    <a:ext cx="181" cy="333"/>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75" name="AutoShape 107"/>
                  <p:cNvSpPr>
                    <a:spLocks noChangeArrowheads="1"/>
                  </p:cNvSpPr>
                  <p:nvPr/>
                </p:nvSpPr>
                <p:spPr bwMode="auto">
                  <a:xfrm rot="-5400000">
                    <a:off x="780" y="1071"/>
                    <a:ext cx="408" cy="228"/>
                  </a:xfrm>
                  <a:prstGeom prst="flowChartDelay">
                    <a:avLst/>
                  </a:prstGeom>
                  <a:solidFill>
                    <a:srgbClr val="DAEE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957" name="AutoShape 108"/>
                <p:cNvSpPr>
                  <a:spLocks noChangeArrowheads="1"/>
                </p:cNvSpPr>
                <p:nvPr/>
              </p:nvSpPr>
              <p:spPr bwMode="auto">
                <a:xfrm flipV="1">
                  <a:off x="3243" y="2118"/>
                  <a:ext cx="303" cy="172"/>
                </a:xfrm>
                <a:custGeom>
                  <a:avLst/>
                  <a:gdLst>
                    <a:gd name="T0" fmla="*/ 4 w 21600"/>
                    <a:gd name="T1" fmla="*/ 1 h 21600"/>
                    <a:gd name="T2" fmla="*/ 2 w 21600"/>
                    <a:gd name="T3" fmla="*/ 1 h 21600"/>
                    <a:gd name="T4" fmla="*/ 0 w 21600"/>
                    <a:gd name="T5" fmla="*/ 1 h 21600"/>
                    <a:gd name="T6" fmla="*/ 2 w 21600"/>
                    <a:gd name="T7" fmla="*/ 0 h 21600"/>
                    <a:gd name="T8" fmla="*/ 0 60000 65536"/>
                    <a:gd name="T9" fmla="*/ 0 60000 65536"/>
                    <a:gd name="T10" fmla="*/ 0 60000 65536"/>
                    <a:gd name="T11" fmla="*/ 0 60000 65536"/>
                    <a:gd name="T12" fmla="*/ 3350 w 21600"/>
                    <a:gd name="T13" fmla="*/ 3391 h 21600"/>
                    <a:gd name="T14" fmla="*/ 18250 w 21600"/>
                    <a:gd name="T15" fmla="*/ 18209 h 21600"/>
                  </a:gdLst>
                  <a:ahLst/>
                  <a:cxnLst>
                    <a:cxn ang="T8">
                      <a:pos x="T0" y="T1"/>
                    </a:cxn>
                    <a:cxn ang="T9">
                      <a:pos x="T2" y="T3"/>
                    </a:cxn>
                    <a:cxn ang="T10">
                      <a:pos x="T4" y="T5"/>
                    </a:cxn>
                    <a:cxn ang="T11">
                      <a:pos x="T6" y="T7"/>
                    </a:cxn>
                  </a:cxnLst>
                  <a:rect l="T12" t="T13" r="T14" b="T15"/>
                  <a:pathLst>
                    <a:path w="21600" h="21600">
                      <a:moveTo>
                        <a:pt x="0" y="0"/>
                      </a:moveTo>
                      <a:lnTo>
                        <a:pt x="3124" y="21600"/>
                      </a:lnTo>
                      <a:lnTo>
                        <a:pt x="18476" y="21600"/>
                      </a:lnTo>
                      <a:lnTo>
                        <a:pt x="21600" y="0"/>
                      </a:lnTo>
                      <a:lnTo>
                        <a:pt x="0" y="0"/>
                      </a:lnTo>
                      <a:close/>
                    </a:path>
                  </a:pathLst>
                </a:custGeom>
                <a:solidFill>
                  <a:srgbClr val="DAEE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1958" name="AutoShape 109"/>
                <p:cNvSpPr>
                  <a:spLocks noChangeArrowheads="1"/>
                </p:cNvSpPr>
                <p:nvPr/>
              </p:nvSpPr>
              <p:spPr bwMode="auto">
                <a:xfrm flipV="1">
                  <a:off x="3674" y="1483"/>
                  <a:ext cx="259" cy="189"/>
                </a:xfrm>
                <a:custGeom>
                  <a:avLst/>
                  <a:gdLst>
                    <a:gd name="T0" fmla="*/ 2 w 21600"/>
                    <a:gd name="T1" fmla="*/ 1 h 21600"/>
                    <a:gd name="T2" fmla="*/ 2 w 21600"/>
                    <a:gd name="T3" fmla="*/ 2 h 21600"/>
                    <a:gd name="T4" fmla="*/ 1 w 21600"/>
                    <a:gd name="T5" fmla="*/ 1 h 21600"/>
                    <a:gd name="T6" fmla="*/ 2 w 21600"/>
                    <a:gd name="T7" fmla="*/ 0 h 21600"/>
                    <a:gd name="T8" fmla="*/ 0 60000 65536"/>
                    <a:gd name="T9" fmla="*/ 0 60000 65536"/>
                    <a:gd name="T10" fmla="*/ 0 60000 65536"/>
                    <a:gd name="T11" fmla="*/ 0 60000 65536"/>
                    <a:gd name="T12" fmla="*/ 7089 w 21600"/>
                    <a:gd name="T13" fmla="*/ 7086 h 21600"/>
                    <a:gd name="T14" fmla="*/ 14511 w 21600"/>
                    <a:gd name="T15" fmla="*/ 14514 h 21600"/>
                  </a:gdLst>
                  <a:ahLst/>
                  <a:cxnLst>
                    <a:cxn ang="T8">
                      <a:pos x="T0" y="T1"/>
                    </a:cxn>
                    <a:cxn ang="T9">
                      <a:pos x="T2" y="T3"/>
                    </a:cxn>
                    <a:cxn ang="T10">
                      <a:pos x="T4" y="T5"/>
                    </a:cxn>
                    <a:cxn ang="T11">
                      <a:pos x="T6" y="T7"/>
                    </a:cxn>
                  </a:cxnLst>
                  <a:rect l="T12" t="T13" r="T14" b="T15"/>
                  <a:pathLst>
                    <a:path w="21600" h="21600">
                      <a:moveTo>
                        <a:pt x="0" y="0"/>
                      </a:moveTo>
                      <a:lnTo>
                        <a:pt x="10508" y="21600"/>
                      </a:lnTo>
                      <a:lnTo>
                        <a:pt x="11092" y="21600"/>
                      </a:lnTo>
                      <a:lnTo>
                        <a:pt x="21600" y="0"/>
                      </a:lnTo>
                      <a:lnTo>
                        <a:pt x="0" y="0"/>
                      </a:lnTo>
                      <a:close/>
                    </a:path>
                  </a:pathLst>
                </a:custGeom>
                <a:solidFill>
                  <a:srgbClr val="DAEE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nvGrpSpPr>
                <p:cNvPr id="31959" name="Group 110"/>
                <p:cNvGrpSpPr>
                  <a:grpSpLocks/>
                </p:cNvGrpSpPr>
                <p:nvPr/>
              </p:nvGrpSpPr>
              <p:grpSpPr bwMode="auto">
                <a:xfrm>
                  <a:off x="3665" y="1480"/>
                  <a:ext cx="262" cy="1043"/>
                  <a:chOff x="842" y="754"/>
                  <a:chExt cx="275" cy="1004"/>
                </a:xfrm>
              </p:grpSpPr>
              <p:grpSp>
                <p:nvGrpSpPr>
                  <p:cNvPr id="31961" name="Group 111"/>
                  <p:cNvGrpSpPr>
                    <a:grpSpLocks/>
                  </p:cNvGrpSpPr>
                  <p:nvPr/>
                </p:nvGrpSpPr>
                <p:grpSpPr bwMode="auto">
                  <a:xfrm>
                    <a:off x="857" y="1344"/>
                    <a:ext cx="254" cy="414"/>
                    <a:chOff x="851" y="1434"/>
                    <a:chExt cx="254" cy="414"/>
                  </a:xfrm>
                </p:grpSpPr>
                <p:grpSp>
                  <p:nvGrpSpPr>
                    <p:cNvPr id="31966" name="Group 112"/>
                    <p:cNvGrpSpPr>
                      <a:grpSpLocks/>
                    </p:cNvGrpSpPr>
                    <p:nvPr/>
                  </p:nvGrpSpPr>
                  <p:grpSpPr bwMode="auto">
                    <a:xfrm>
                      <a:off x="889" y="1434"/>
                      <a:ext cx="181" cy="408"/>
                      <a:chOff x="884" y="1434"/>
                      <a:chExt cx="181" cy="408"/>
                    </a:xfrm>
                  </p:grpSpPr>
                  <p:sp>
                    <p:nvSpPr>
                      <p:cNvPr id="31969" name="Oval 113"/>
                      <p:cNvSpPr>
                        <a:spLocks noChangeArrowheads="1"/>
                      </p:cNvSpPr>
                      <p:nvPr/>
                    </p:nvSpPr>
                    <p:spPr bwMode="auto">
                      <a:xfrm>
                        <a:off x="884"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70" name="Oval 114"/>
                      <p:cNvSpPr>
                        <a:spLocks noChangeArrowheads="1"/>
                      </p:cNvSpPr>
                      <p:nvPr/>
                    </p:nvSpPr>
                    <p:spPr bwMode="auto">
                      <a:xfrm>
                        <a:off x="975"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967" name="Oval 115"/>
                    <p:cNvSpPr>
                      <a:spLocks noChangeArrowheads="1"/>
                    </p:cNvSpPr>
                    <p:nvPr/>
                  </p:nvSpPr>
                  <p:spPr bwMode="auto">
                    <a:xfrm>
                      <a:off x="851"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68" name="Oval 116"/>
                    <p:cNvSpPr>
                      <a:spLocks noChangeArrowheads="1"/>
                    </p:cNvSpPr>
                    <p:nvPr/>
                  </p:nvSpPr>
                  <p:spPr bwMode="auto">
                    <a:xfrm>
                      <a:off x="990"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962" name="AutoShape 117"/>
                  <p:cNvSpPr>
                    <a:spLocks noChangeArrowheads="1"/>
                  </p:cNvSpPr>
                  <p:nvPr/>
                </p:nvSpPr>
                <p:spPr bwMode="auto">
                  <a:xfrm rot="180767">
                    <a:off x="884" y="754"/>
                    <a:ext cx="210" cy="227"/>
                  </a:xfrm>
                  <a:prstGeom prst="smileyFace">
                    <a:avLst>
                      <a:gd name="adj" fmla="val 4653"/>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63" name="Oval 118"/>
                  <p:cNvSpPr>
                    <a:spLocks noChangeArrowheads="1"/>
                  </p:cNvSpPr>
                  <p:nvPr/>
                </p:nvSpPr>
                <p:spPr bwMode="auto">
                  <a:xfrm rot="-554596">
                    <a:off x="975" y="1005"/>
                    <a:ext cx="142" cy="28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64" name="Oval 119"/>
                  <p:cNvSpPr>
                    <a:spLocks noChangeArrowheads="1"/>
                  </p:cNvSpPr>
                  <p:nvPr/>
                </p:nvSpPr>
                <p:spPr bwMode="auto">
                  <a:xfrm rot="432598">
                    <a:off x="842" y="996"/>
                    <a:ext cx="181" cy="333"/>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65" name="AutoShape 120"/>
                  <p:cNvSpPr>
                    <a:spLocks noChangeArrowheads="1"/>
                  </p:cNvSpPr>
                  <p:nvPr/>
                </p:nvSpPr>
                <p:spPr bwMode="auto">
                  <a:xfrm rot="-5400000">
                    <a:off x="780" y="1071"/>
                    <a:ext cx="408" cy="228"/>
                  </a:xfrm>
                  <a:prstGeom prst="flowChartDelay">
                    <a:avLst/>
                  </a:prstGeom>
                  <a:solidFill>
                    <a:srgbClr val="DAEE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960" name="AutoShape 121"/>
                <p:cNvSpPr>
                  <a:spLocks noChangeArrowheads="1"/>
                </p:cNvSpPr>
                <p:nvPr/>
              </p:nvSpPr>
              <p:spPr bwMode="auto">
                <a:xfrm flipV="1">
                  <a:off x="3651" y="2024"/>
                  <a:ext cx="303" cy="244"/>
                </a:xfrm>
                <a:custGeom>
                  <a:avLst/>
                  <a:gdLst>
                    <a:gd name="T0" fmla="*/ 4 w 21600"/>
                    <a:gd name="T1" fmla="*/ 1 h 21600"/>
                    <a:gd name="T2" fmla="*/ 2 w 21600"/>
                    <a:gd name="T3" fmla="*/ 3 h 21600"/>
                    <a:gd name="T4" fmla="*/ 0 w 21600"/>
                    <a:gd name="T5" fmla="*/ 1 h 21600"/>
                    <a:gd name="T6" fmla="*/ 2 w 21600"/>
                    <a:gd name="T7" fmla="*/ 0 h 21600"/>
                    <a:gd name="T8" fmla="*/ 0 60000 65536"/>
                    <a:gd name="T9" fmla="*/ 0 60000 65536"/>
                    <a:gd name="T10" fmla="*/ 0 60000 65536"/>
                    <a:gd name="T11" fmla="*/ 0 60000 65536"/>
                    <a:gd name="T12" fmla="*/ 3350 w 21600"/>
                    <a:gd name="T13" fmla="*/ 3364 h 21600"/>
                    <a:gd name="T14" fmla="*/ 18250 w 21600"/>
                    <a:gd name="T15" fmla="*/ 18236 h 21600"/>
                  </a:gdLst>
                  <a:ahLst/>
                  <a:cxnLst>
                    <a:cxn ang="T8">
                      <a:pos x="T0" y="T1"/>
                    </a:cxn>
                    <a:cxn ang="T9">
                      <a:pos x="T2" y="T3"/>
                    </a:cxn>
                    <a:cxn ang="T10">
                      <a:pos x="T4" y="T5"/>
                    </a:cxn>
                    <a:cxn ang="T11">
                      <a:pos x="T6" y="T7"/>
                    </a:cxn>
                  </a:cxnLst>
                  <a:rect l="T12" t="T13" r="T14" b="T15"/>
                  <a:pathLst>
                    <a:path w="21600" h="21600">
                      <a:moveTo>
                        <a:pt x="0" y="0"/>
                      </a:moveTo>
                      <a:lnTo>
                        <a:pt x="3124" y="21600"/>
                      </a:lnTo>
                      <a:lnTo>
                        <a:pt x="18476" y="21600"/>
                      </a:lnTo>
                      <a:lnTo>
                        <a:pt x="21600" y="0"/>
                      </a:lnTo>
                      <a:lnTo>
                        <a:pt x="0" y="0"/>
                      </a:lnTo>
                      <a:close/>
                    </a:path>
                  </a:pathLst>
                </a:custGeom>
                <a:solidFill>
                  <a:srgbClr val="DAEE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grpSp>
            <p:nvGrpSpPr>
              <p:cNvPr id="31808" name="Group 122"/>
              <p:cNvGrpSpPr>
                <a:grpSpLocks/>
              </p:cNvGrpSpPr>
              <p:nvPr/>
            </p:nvGrpSpPr>
            <p:grpSpPr bwMode="auto">
              <a:xfrm>
                <a:off x="1524" y="1273"/>
                <a:ext cx="735" cy="653"/>
                <a:chOff x="1610" y="1480"/>
                <a:chExt cx="1183" cy="1043"/>
              </a:xfrm>
            </p:grpSpPr>
            <p:grpSp>
              <p:nvGrpSpPr>
                <p:cNvPr id="31843" name="Group 123"/>
                <p:cNvGrpSpPr>
                  <a:grpSpLocks/>
                </p:cNvGrpSpPr>
                <p:nvPr/>
              </p:nvGrpSpPr>
              <p:grpSpPr bwMode="auto">
                <a:xfrm>
                  <a:off x="1883" y="1524"/>
                  <a:ext cx="229" cy="999"/>
                  <a:chOff x="4468" y="1161"/>
                  <a:chExt cx="229" cy="999"/>
                </a:xfrm>
              </p:grpSpPr>
              <p:grpSp>
                <p:nvGrpSpPr>
                  <p:cNvPr id="31916" name="Group 124"/>
                  <p:cNvGrpSpPr>
                    <a:grpSpLocks/>
                  </p:cNvGrpSpPr>
                  <p:nvPr/>
                </p:nvGrpSpPr>
                <p:grpSpPr bwMode="auto">
                  <a:xfrm>
                    <a:off x="4480" y="1730"/>
                    <a:ext cx="212" cy="430"/>
                    <a:chOff x="851" y="1434"/>
                    <a:chExt cx="254" cy="414"/>
                  </a:xfrm>
                </p:grpSpPr>
                <p:grpSp>
                  <p:nvGrpSpPr>
                    <p:cNvPr id="31925" name="Group 125"/>
                    <p:cNvGrpSpPr>
                      <a:grpSpLocks/>
                    </p:cNvGrpSpPr>
                    <p:nvPr/>
                  </p:nvGrpSpPr>
                  <p:grpSpPr bwMode="auto">
                    <a:xfrm>
                      <a:off x="889" y="1434"/>
                      <a:ext cx="181" cy="408"/>
                      <a:chOff x="884" y="1434"/>
                      <a:chExt cx="181" cy="408"/>
                    </a:xfrm>
                  </p:grpSpPr>
                  <p:sp>
                    <p:nvSpPr>
                      <p:cNvPr id="31928" name="Oval 126"/>
                      <p:cNvSpPr>
                        <a:spLocks noChangeArrowheads="1"/>
                      </p:cNvSpPr>
                      <p:nvPr/>
                    </p:nvSpPr>
                    <p:spPr bwMode="auto">
                      <a:xfrm>
                        <a:off x="884"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29" name="Oval 127"/>
                      <p:cNvSpPr>
                        <a:spLocks noChangeArrowheads="1"/>
                      </p:cNvSpPr>
                      <p:nvPr/>
                    </p:nvSpPr>
                    <p:spPr bwMode="auto">
                      <a:xfrm>
                        <a:off x="975"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926" name="Oval 128"/>
                    <p:cNvSpPr>
                      <a:spLocks noChangeArrowheads="1"/>
                    </p:cNvSpPr>
                    <p:nvPr/>
                  </p:nvSpPr>
                  <p:spPr bwMode="auto">
                    <a:xfrm>
                      <a:off x="851"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27" name="Oval 129"/>
                    <p:cNvSpPr>
                      <a:spLocks noChangeArrowheads="1"/>
                    </p:cNvSpPr>
                    <p:nvPr/>
                  </p:nvSpPr>
                  <p:spPr bwMode="auto">
                    <a:xfrm>
                      <a:off x="990"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917" name="AutoShape 130"/>
                  <p:cNvSpPr>
                    <a:spLocks noChangeArrowheads="1"/>
                  </p:cNvSpPr>
                  <p:nvPr/>
                </p:nvSpPr>
                <p:spPr bwMode="auto">
                  <a:xfrm>
                    <a:off x="4501" y="1161"/>
                    <a:ext cx="175" cy="191"/>
                  </a:xfrm>
                  <a:prstGeom prst="smileyFace">
                    <a:avLst>
                      <a:gd name="adj" fmla="val 3870"/>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18" name="Oval 131"/>
                  <p:cNvSpPr>
                    <a:spLocks noChangeArrowheads="1"/>
                  </p:cNvSpPr>
                  <p:nvPr/>
                </p:nvSpPr>
                <p:spPr bwMode="auto">
                  <a:xfrm rot="-554596">
                    <a:off x="4579" y="1378"/>
                    <a:ext cx="118" cy="299"/>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19" name="Oval 132"/>
                  <p:cNvSpPr>
                    <a:spLocks noChangeArrowheads="1"/>
                  </p:cNvSpPr>
                  <p:nvPr/>
                </p:nvSpPr>
                <p:spPr bwMode="auto">
                  <a:xfrm rot="432598">
                    <a:off x="4468" y="1368"/>
                    <a:ext cx="151" cy="346"/>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20" name="AutoShape 133"/>
                  <p:cNvSpPr>
                    <a:spLocks noChangeArrowheads="1"/>
                  </p:cNvSpPr>
                  <p:nvPr/>
                </p:nvSpPr>
                <p:spPr bwMode="auto">
                  <a:xfrm rot="-5400000">
                    <a:off x="4374" y="1470"/>
                    <a:ext cx="424" cy="190"/>
                  </a:xfrm>
                  <a:prstGeom prst="flowChartDelay">
                    <a:avLst/>
                  </a:prstGeom>
                  <a:solidFill>
                    <a:srgbClr val="DAEE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21" name="Oval 134"/>
                  <p:cNvSpPr>
                    <a:spLocks noChangeArrowheads="1"/>
                  </p:cNvSpPr>
                  <p:nvPr/>
                </p:nvSpPr>
                <p:spPr bwMode="auto">
                  <a:xfrm>
                    <a:off x="4540" y="1207"/>
                    <a:ext cx="46" cy="4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22" name="Oval 135"/>
                  <p:cNvSpPr>
                    <a:spLocks noChangeArrowheads="1"/>
                  </p:cNvSpPr>
                  <p:nvPr/>
                </p:nvSpPr>
                <p:spPr bwMode="auto">
                  <a:xfrm>
                    <a:off x="4595" y="1207"/>
                    <a:ext cx="46" cy="4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23" name="Line 136"/>
                  <p:cNvSpPr>
                    <a:spLocks noChangeShapeType="1"/>
                  </p:cNvSpPr>
                  <p:nvPr/>
                </p:nvSpPr>
                <p:spPr bwMode="auto">
                  <a:xfrm>
                    <a:off x="4513" y="1207"/>
                    <a:ext cx="22" cy="2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1924" name="Line 137"/>
                  <p:cNvSpPr>
                    <a:spLocks noChangeShapeType="1"/>
                  </p:cNvSpPr>
                  <p:nvPr/>
                </p:nvSpPr>
                <p:spPr bwMode="auto">
                  <a:xfrm flipH="1">
                    <a:off x="4643" y="1209"/>
                    <a:ext cx="22" cy="2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31844" name="Group 138"/>
                <p:cNvGrpSpPr>
                  <a:grpSpLocks/>
                </p:cNvGrpSpPr>
                <p:nvPr/>
              </p:nvGrpSpPr>
              <p:grpSpPr bwMode="auto">
                <a:xfrm>
                  <a:off x="2336" y="1480"/>
                  <a:ext cx="303" cy="1043"/>
                  <a:chOff x="3152" y="1117"/>
                  <a:chExt cx="303" cy="1043"/>
                </a:xfrm>
              </p:grpSpPr>
              <p:sp>
                <p:nvSpPr>
                  <p:cNvPr id="31903" name="AutoShape 139"/>
                  <p:cNvSpPr>
                    <a:spLocks noChangeArrowheads="1"/>
                  </p:cNvSpPr>
                  <p:nvPr/>
                </p:nvSpPr>
                <p:spPr bwMode="auto">
                  <a:xfrm flipV="1">
                    <a:off x="3175" y="1120"/>
                    <a:ext cx="259" cy="189"/>
                  </a:xfrm>
                  <a:custGeom>
                    <a:avLst/>
                    <a:gdLst>
                      <a:gd name="T0" fmla="*/ 2 w 21600"/>
                      <a:gd name="T1" fmla="*/ 1 h 21600"/>
                      <a:gd name="T2" fmla="*/ 2 w 21600"/>
                      <a:gd name="T3" fmla="*/ 2 h 21600"/>
                      <a:gd name="T4" fmla="*/ 1 w 21600"/>
                      <a:gd name="T5" fmla="*/ 1 h 21600"/>
                      <a:gd name="T6" fmla="*/ 2 w 21600"/>
                      <a:gd name="T7" fmla="*/ 0 h 21600"/>
                      <a:gd name="T8" fmla="*/ 0 60000 65536"/>
                      <a:gd name="T9" fmla="*/ 0 60000 65536"/>
                      <a:gd name="T10" fmla="*/ 0 60000 65536"/>
                      <a:gd name="T11" fmla="*/ 0 60000 65536"/>
                      <a:gd name="T12" fmla="*/ 7089 w 21600"/>
                      <a:gd name="T13" fmla="*/ 7086 h 21600"/>
                      <a:gd name="T14" fmla="*/ 14511 w 21600"/>
                      <a:gd name="T15" fmla="*/ 14514 h 21600"/>
                    </a:gdLst>
                    <a:ahLst/>
                    <a:cxnLst>
                      <a:cxn ang="T8">
                        <a:pos x="T0" y="T1"/>
                      </a:cxn>
                      <a:cxn ang="T9">
                        <a:pos x="T2" y="T3"/>
                      </a:cxn>
                      <a:cxn ang="T10">
                        <a:pos x="T4" y="T5"/>
                      </a:cxn>
                      <a:cxn ang="T11">
                        <a:pos x="T6" y="T7"/>
                      </a:cxn>
                    </a:cxnLst>
                    <a:rect l="T12" t="T13" r="T14" b="T15"/>
                    <a:pathLst>
                      <a:path w="21600" h="21600">
                        <a:moveTo>
                          <a:pt x="0" y="0"/>
                        </a:moveTo>
                        <a:lnTo>
                          <a:pt x="10508" y="21600"/>
                        </a:lnTo>
                        <a:lnTo>
                          <a:pt x="11092" y="21600"/>
                        </a:lnTo>
                        <a:lnTo>
                          <a:pt x="21600" y="0"/>
                        </a:lnTo>
                        <a:lnTo>
                          <a:pt x="0" y="0"/>
                        </a:lnTo>
                        <a:close/>
                      </a:path>
                    </a:pathLst>
                  </a:custGeom>
                  <a:solidFill>
                    <a:srgbClr val="DAEE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nvGrpSpPr>
                  <p:cNvPr id="31904" name="Group 140"/>
                  <p:cNvGrpSpPr>
                    <a:grpSpLocks/>
                  </p:cNvGrpSpPr>
                  <p:nvPr/>
                </p:nvGrpSpPr>
                <p:grpSpPr bwMode="auto">
                  <a:xfrm>
                    <a:off x="3166" y="1117"/>
                    <a:ext cx="262" cy="1043"/>
                    <a:chOff x="842" y="754"/>
                    <a:chExt cx="275" cy="1004"/>
                  </a:xfrm>
                </p:grpSpPr>
                <p:grpSp>
                  <p:nvGrpSpPr>
                    <p:cNvPr id="31906" name="Group 141"/>
                    <p:cNvGrpSpPr>
                      <a:grpSpLocks/>
                    </p:cNvGrpSpPr>
                    <p:nvPr/>
                  </p:nvGrpSpPr>
                  <p:grpSpPr bwMode="auto">
                    <a:xfrm>
                      <a:off x="857" y="1344"/>
                      <a:ext cx="254" cy="414"/>
                      <a:chOff x="851" y="1434"/>
                      <a:chExt cx="254" cy="414"/>
                    </a:xfrm>
                  </p:grpSpPr>
                  <p:grpSp>
                    <p:nvGrpSpPr>
                      <p:cNvPr id="31911" name="Group 142"/>
                      <p:cNvGrpSpPr>
                        <a:grpSpLocks/>
                      </p:cNvGrpSpPr>
                      <p:nvPr/>
                    </p:nvGrpSpPr>
                    <p:grpSpPr bwMode="auto">
                      <a:xfrm>
                        <a:off x="889" y="1434"/>
                        <a:ext cx="181" cy="408"/>
                        <a:chOff x="884" y="1434"/>
                        <a:chExt cx="181" cy="408"/>
                      </a:xfrm>
                    </p:grpSpPr>
                    <p:sp>
                      <p:nvSpPr>
                        <p:cNvPr id="31914" name="Oval 143"/>
                        <p:cNvSpPr>
                          <a:spLocks noChangeArrowheads="1"/>
                        </p:cNvSpPr>
                        <p:nvPr/>
                      </p:nvSpPr>
                      <p:spPr bwMode="auto">
                        <a:xfrm>
                          <a:off x="884"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15" name="Oval 144"/>
                        <p:cNvSpPr>
                          <a:spLocks noChangeArrowheads="1"/>
                        </p:cNvSpPr>
                        <p:nvPr/>
                      </p:nvSpPr>
                      <p:spPr bwMode="auto">
                        <a:xfrm>
                          <a:off x="975"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912" name="Oval 145"/>
                      <p:cNvSpPr>
                        <a:spLocks noChangeArrowheads="1"/>
                      </p:cNvSpPr>
                      <p:nvPr/>
                    </p:nvSpPr>
                    <p:spPr bwMode="auto">
                      <a:xfrm>
                        <a:off x="851"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13" name="Oval 146"/>
                      <p:cNvSpPr>
                        <a:spLocks noChangeArrowheads="1"/>
                      </p:cNvSpPr>
                      <p:nvPr/>
                    </p:nvSpPr>
                    <p:spPr bwMode="auto">
                      <a:xfrm>
                        <a:off x="990"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907" name="AutoShape 147"/>
                    <p:cNvSpPr>
                      <a:spLocks noChangeArrowheads="1"/>
                    </p:cNvSpPr>
                    <p:nvPr/>
                  </p:nvSpPr>
                  <p:spPr bwMode="auto">
                    <a:xfrm rot="180767">
                      <a:off x="884" y="754"/>
                      <a:ext cx="210" cy="227"/>
                    </a:xfrm>
                    <a:prstGeom prst="smileyFace">
                      <a:avLst>
                        <a:gd name="adj" fmla="val 4653"/>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08" name="Oval 148"/>
                    <p:cNvSpPr>
                      <a:spLocks noChangeArrowheads="1"/>
                    </p:cNvSpPr>
                    <p:nvPr/>
                  </p:nvSpPr>
                  <p:spPr bwMode="auto">
                    <a:xfrm rot="-554596">
                      <a:off x="975" y="1005"/>
                      <a:ext cx="142" cy="28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09" name="Oval 149"/>
                    <p:cNvSpPr>
                      <a:spLocks noChangeArrowheads="1"/>
                    </p:cNvSpPr>
                    <p:nvPr/>
                  </p:nvSpPr>
                  <p:spPr bwMode="auto">
                    <a:xfrm rot="432598">
                      <a:off x="842" y="996"/>
                      <a:ext cx="181" cy="333"/>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10" name="AutoShape 150"/>
                    <p:cNvSpPr>
                      <a:spLocks noChangeArrowheads="1"/>
                    </p:cNvSpPr>
                    <p:nvPr/>
                  </p:nvSpPr>
                  <p:spPr bwMode="auto">
                    <a:xfrm rot="-5400000">
                      <a:off x="780" y="1071"/>
                      <a:ext cx="408" cy="228"/>
                    </a:xfrm>
                    <a:prstGeom prst="flowChartDelay">
                      <a:avLst/>
                    </a:prstGeom>
                    <a:solidFill>
                      <a:srgbClr val="DAEE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905" name="AutoShape 151"/>
                  <p:cNvSpPr>
                    <a:spLocks noChangeArrowheads="1"/>
                  </p:cNvSpPr>
                  <p:nvPr/>
                </p:nvSpPr>
                <p:spPr bwMode="auto">
                  <a:xfrm flipV="1">
                    <a:off x="3152" y="1661"/>
                    <a:ext cx="303" cy="244"/>
                  </a:xfrm>
                  <a:custGeom>
                    <a:avLst/>
                    <a:gdLst>
                      <a:gd name="T0" fmla="*/ 4 w 21600"/>
                      <a:gd name="T1" fmla="*/ 1 h 21600"/>
                      <a:gd name="T2" fmla="*/ 2 w 21600"/>
                      <a:gd name="T3" fmla="*/ 3 h 21600"/>
                      <a:gd name="T4" fmla="*/ 0 w 21600"/>
                      <a:gd name="T5" fmla="*/ 1 h 21600"/>
                      <a:gd name="T6" fmla="*/ 2 w 21600"/>
                      <a:gd name="T7" fmla="*/ 0 h 21600"/>
                      <a:gd name="T8" fmla="*/ 0 60000 65536"/>
                      <a:gd name="T9" fmla="*/ 0 60000 65536"/>
                      <a:gd name="T10" fmla="*/ 0 60000 65536"/>
                      <a:gd name="T11" fmla="*/ 0 60000 65536"/>
                      <a:gd name="T12" fmla="*/ 3350 w 21600"/>
                      <a:gd name="T13" fmla="*/ 3364 h 21600"/>
                      <a:gd name="T14" fmla="*/ 18250 w 21600"/>
                      <a:gd name="T15" fmla="*/ 18236 h 21600"/>
                    </a:gdLst>
                    <a:ahLst/>
                    <a:cxnLst>
                      <a:cxn ang="T8">
                        <a:pos x="T0" y="T1"/>
                      </a:cxn>
                      <a:cxn ang="T9">
                        <a:pos x="T2" y="T3"/>
                      </a:cxn>
                      <a:cxn ang="T10">
                        <a:pos x="T4" y="T5"/>
                      </a:cxn>
                      <a:cxn ang="T11">
                        <a:pos x="T6" y="T7"/>
                      </a:cxn>
                    </a:cxnLst>
                    <a:rect l="T12" t="T13" r="T14" b="T15"/>
                    <a:pathLst>
                      <a:path w="21600" h="21600">
                        <a:moveTo>
                          <a:pt x="0" y="0"/>
                        </a:moveTo>
                        <a:lnTo>
                          <a:pt x="3124" y="21600"/>
                        </a:lnTo>
                        <a:lnTo>
                          <a:pt x="18476" y="21600"/>
                        </a:lnTo>
                        <a:lnTo>
                          <a:pt x="21600" y="0"/>
                        </a:lnTo>
                        <a:lnTo>
                          <a:pt x="0" y="0"/>
                        </a:lnTo>
                        <a:close/>
                      </a:path>
                    </a:pathLst>
                  </a:custGeom>
                  <a:solidFill>
                    <a:srgbClr val="DAEE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grpSp>
              <p:nvGrpSpPr>
                <p:cNvPr id="31845" name="Group 152"/>
                <p:cNvGrpSpPr>
                  <a:grpSpLocks/>
                </p:cNvGrpSpPr>
                <p:nvPr/>
              </p:nvGrpSpPr>
              <p:grpSpPr bwMode="auto">
                <a:xfrm>
                  <a:off x="1610" y="1519"/>
                  <a:ext cx="275" cy="1004"/>
                  <a:chOff x="842" y="754"/>
                  <a:chExt cx="275" cy="1004"/>
                </a:xfrm>
              </p:grpSpPr>
              <p:grpSp>
                <p:nvGrpSpPr>
                  <p:cNvPr id="31893" name="Group 153"/>
                  <p:cNvGrpSpPr>
                    <a:grpSpLocks/>
                  </p:cNvGrpSpPr>
                  <p:nvPr/>
                </p:nvGrpSpPr>
                <p:grpSpPr bwMode="auto">
                  <a:xfrm>
                    <a:off x="857" y="1344"/>
                    <a:ext cx="254" cy="414"/>
                    <a:chOff x="851" y="1434"/>
                    <a:chExt cx="254" cy="414"/>
                  </a:xfrm>
                </p:grpSpPr>
                <p:grpSp>
                  <p:nvGrpSpPr>
                    <p:cNvPr id="31898" name="Group 154"/>
                    <p:cNvGrpSpPr>
                      <a:grpSpLocks/>
                    </p:cNvGrpSpPr>
                    <p:nvPr/>
                  </p:nvGrpSpPr>
                  <p:grpSpPr bwMode="auto">
                    <a:xfrm>
                      <a:off x="889" y="1434"/>
                      <a:ext cx="181" cy="408"/>
                      <a:chOff x="884" y="1434"/>
                      <a:chExt cx="181" cy="408"/>
                    </a:xfrm>
                  </p:grpSpPr>
                  <p:sp>
                    <p:nvSpPr>
                      <p:cNvPr id="31901" name="Oval 155"/>
                      <p:cNvSpPr>
                        <a:spLocks noChangeArrowheads="1"/>
                      </p:cNvSpPr>
                      <p:nvPr/>
                    </p:nvSpPr>
                    <p:spPr bwMode="auto">
                      <a:xfrm>
                        <a:off x="884"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02" name="Oval 156"/>
                      <p:cNvSpPr>
                        <a:spLocks noChangeArrowheads="1"/>
                      </p:cNvSpPr>
                      <p:nvPr/>
                    </p:nvSpPr>
                    <p:spPr bwMode="auto">
                      <a:xfrm>
                        <a:off x="975"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899" name="Oval 157"/>
                    <p:cNvSpPr>
                      <a:spLocks noChangeArrowheads="1"/>
                    </p:cNvSpPr>
                    <p:nvPr/>
                  </p:nvSpPr>
                  <p:spPr bwMode="auto">
                    <a:xfrm>
                      <a:off x="851"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900" name="Oval 158"/>
                    <p:cNvSpPr>
                      <a:spLocks noChangeArrowheads="1"/>
                    </p:cNvSpPr>
                    <p:nvPr/>
                  </p:nvSpPr>
                  <p:spPr bwMode="auto">
                    <a:xfrm>
                      <a:off x="990"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894" name="AutoShape 159"/>
                  <p:cNvSpPr>
                    <a:spLocks noChangeArrowheads="1"/>
                  </p:cNvSpPr>
                  <p:nvPr/>
                </p:nvSpPr>
                <p:spPr bwMode="auto">
                  <a:xfrm rot="180767">
                    <a:off x="884" y="754"/>
                    <a:ext cx="210" cy="227"/>
                  </a:xfrm>
                  <a:prstGeom prst="smileyFace">
                    <a:avLst>
                      <a:gd name="adj" fmla="val 4653"/>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895" name="Oval 160"/>
                  <p:cNvSpPr>
                    <a:spLocks noChangeArrowheads="1"/>
                  </p:cNvSpPr>
                  <p:nvPr/>
                </p:nvSpPr>
                <p:spPr bwMode="auto">
                  <a:xfrm rot="-554596">
                    <a:off x="975" y="1005"/>
                    <a:ext cx="142" cy="28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896" name="Oval 161"/>
                  <p:cNvSpPr>
                    <a:spLocks noChangeArrowheads="1"/>
                  </p:cNvSpPr>
                  <p:nvPr/>
                </p:nvSpPr>
                <p:spPr bwMode="auto">
                  <a:xfrm rot="432598">
                    <a:off x="842" y="996"/>
                    <a:ext cx="181" cy="333"/>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897" name="AutoShape 162"/>
                  <p:cNvSpPr>
                    <a:spLocks noChangeArrowheads="1"/>
                  </p:cNvSpPr>
                  <p:nvPr/>
                </p:nvSpPr>
                <p:spPr bwMode="auto">
                  <a:xfrm rot="-5400000">
                    <a:off x="780" y="1071"/>
                    <a:ext cx="408" cy="228"/>
                  </a:xfrm>
                  <a:prstGeom prst="flowChartDelay">
                    <a:avLst/>
                  </a:prstGeom>
                  <a:solidFill>
                    <a:srgbClr val="DAEE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grpSp>
              <p:nvGrpSpPr>
                <p:cNvPr id="31846" name="Group 163"/>
                <p:cNvGrpSpPr>
                  <a:grpSpLocks/>
                </p:cNvGrpSpPr>
                <p:nvPr/>
              </p:nvGrpSpPr>
              <p:grpSpPr bwMode="auto">
                <a:xfrm>
                  <a:off x="2205" y="1519"/>
                  <a:ext cx="275" cy="1004"/>
                  <a:chOff x="842" y="754"/>
                  <a:chExt cx="275" cy="1004"/>
                </a:xfrm>
              </p:grpSpPr>
              <p:grpSp>
                <p:nvGrpSpPr>
                  <p:cNvPr id="31883" name="Group 164"/>
                  <p:cNvGrpSpPr>
                    <a:grpSpLocks/>
                  </p:cNvGrpSpPr>
                  <p:nvPr/>
                </p:nvGrpSpPr>
                <p:grpSpPr bwMode="auto">
                  <a:xfrm>
                    <a:off x="857" y="1344"/>
                    <a:ext cx="254" cy="414"/>
                    <a:chOff x="851" y="1434"/>
                    <a:chExt cx="254" cy="414"/>
                  </a:xfrm>
                </p:grpSpPr>
                <p:grpSp>
                  <p:nvGrpSpPr>
                    <p:cNvPr id="31888" name="Group 165"/>
                    <p:cNvGrpSpPr>
                      <a:grpSpLocks/>
                    </p:cNvGrpSpPr>
                    <p:nvPr/>
                  </p:nvGrpSpPr>
                  <p:grpSpPr bwMode="auto">
                    <a:xfrm>
                      <a:off x="889" y="1434"/>
                      <a:ext cx="181" cy="408"/>
                      <a:chOff x="884" y="1434"/>
                      <a:chExt cx="181" cy="408"/>
                    </a:xfrm>
                  </p:grpSpPr>
                  <p:sp>
                    <p:nvSpPr>
                      <p:cNvPr id="31891" name="Oval 166"/>
                      <p:cNvSpPr>
                        <a:spLocks noChangeArrowheads="1"/>
                      </p:cNvSpPr>
                      <p:nvPr/>
                    </p:nvSpPr>
                    <p:spPr bwMode="auto">
                      <a:xfrm>
                        <a:off x="884"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892" name="Oval 167"/>
                      <p:cNvSpPr>
                        <a:spLocks noChangeArrowheads="1"/>
                      </p:cNvSpPr>
                      <p:nvPr/>
                    </p:nvSpPr>
                    <p:spPr bwMode="auto">
                      <a:xfrm>
                        <a:off x="975"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889" name="Oval 168"/>
                    <p:cNvSpPr>
                      <a:spLocks noChangeArrowheads="1"/>
                    </p:cNvSpPr>
                    <p:nvPr/>
                  </p:nvSpPr>
                  <p:spPr bwMode="auto">
                    <a:xfrm>
                      <a:off x="851"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890" name="Oval 169"/>
                    <p:cNvSpPr>
                      <a:spLocks noChangeArrowheads="1"/>
                    </p:cNvSpPr>
                    <p:nvPr/>
                  </p:nvSpPr>
                  <p:spPr bwMode="auto">
                    <a:xfrm>
                      <a:off x="990"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884" name="AutoShape 170"/>
                  <p:cNvSpPr>
                    <a:spLocks noChangeArrowheads="1"/>
                  </p:cNvSpPr>
                  <p:nvPr/>
                </p:nvSpPr>
                <p:spPr bwMode="auto">
                  <a:xfrm rot="180767">
                    <a:off x="884" y="754"/>
                    <a:ext cx="210" cy="227"/>
                  </a:xfrm>
                  <a:prstGeom prst="smileyFace">
                    <a:avLst>
                      <a:gd name="adj" fmla="val 4653"/>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885" name="Oval 171"/>
                  <p:cNvSpPr>
                    <a:spLocks noChangeArrowheads="1"/>
                  </p:cNvSpPr>
                  <p:nvPr/>
                </p:nvSpPr>
                <p:spPr bwMode="auto">
                  <a:xfrm rot="-554596">
                    <a:off x="975" y="1005"/>
                    <a:ext cx="142" cy="28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886" name="Oval 172"/>
                  <p:cNvSpPr>
                    <a:spLocks noChangeArrowheads="1"/>
                  </p:cNvSpPr>
                  <p:nvPr/>
                </p:nvSpPr>
                <p:spPr bwMode="auto">
                  <a:xfrm rot="432598">
                    <a:off x="842" y="996"/>
                    <a:ext cx="181" cy="333"/>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887" name="AutoShape 173"/>
                  <p:cNvSpPr>
                    <a:spLocks noChangeArrowheads="1"/>
                  </p:cNvSpPr>
                  <p:nvPr/>
                </p:nvSpPr>
                <p:spPr bwMode="auto">
                  <a:xfrm rot="-5400000">
                    <a:off x="780" y="1071"/>
                    <a:ext cx="408" cy="228"/>
                  </a:xfrm>
                  <a:prstGeom prst="flowChartDelay">
                    <a:avLst/>
                  </a:prstGeom>
                  <a:solidFill>
                    <a:srgbClr val="DAEE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grpSp>
              <p:nvGrpSpPr>
                <p:cNvPr id="31847" name="Group 174"/>
                <p:cNvGrpSpPr>
                  <a:grpSpLocks/>
                </p:cNvGrpSpPr>
                <p:nvPr/>
              </p:nvGrpSpPr>
              <p:grpSpPr bwMode="auto">
                <a:xfrm>
                  <a:off x="1747" y="1570"/>
                  <a:ext cx="275" cy="953"/>
                  <a:chOff x="842" y="754"/>
                  <a:chExt cx="275" cy="1004"/>
                </a:xfrm>
              </p:grpSpPr>
              <p:grpSp>
                <p:nvGrpSpPr>
                  <p:cNvPr id="31873" name="Group 175"/>
                  <p:cNvGrpSpPr>
                    <a:grpSpLocks/>
                  </p:cNvGrpSpPr>
                  <p:nvPr/>
                </p:nvGrpSpPr>
                <p:grpSpPr bwMode="auto">
                  <a:xfrm>
                    <a:off x="857" y="1344"/>
                    <a:ext cx="254" cy="414"/>
                    <a:chOff x="851" y="1434"/>
                    <a:chExt cx="254" cy="414"/>
                  </a:xfrm>
                </p:grpSpPr>
                <p:grpSp>
                  <p:nvGrpSpPr>
                    <p:cNvPr id="31878" name="Group 176"/>
                    <p:cNvGrpSpPr>
                      <a:grpSpLocks/>
                    </p:cNvGrpSpPr>
                    <p:nvPr/>
                  </p:nvGrpSpPr>
                  <p:grpSpPr bwMode="auto">
                    <a:xfrm>
                      <a:off x="889" y="1434"/>
                      <a:ext cx="181" cy="408"/>
                      <a:chOff x="884" y="1434"/>
                      <a:chExt cx="181" cy="408"/>
                    </a:xfrm>
                  </p:grpSpPr>
                  <p:sp>
                    <p:nvSpPr>
                      <p:cNvPr id="31881" name="Oval 177"/>
                      <p:cNvSpPr>
                        <a:spLocks noChangeArrowheads="1"/>
                      </p:cNvSpPr>
                      <p:nvPr/>
                    </p:nvSpPr>
                    <p:spPr bwMode="auto">
                      <a:xfrm>
                        <a:off x="884"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882" name="Oval 178"/>
                      <p:cNvSpPr>
                        <a:spLocks noChangeArrowheads="1"/>
                      </p:cNvSpPr>
                      <p:nvPr/>
                    </p:nvSpPr>
                    <p:spPr bwMode="auto">
                      <a:xfrm>
                        <a:off x="975"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879" name="Oval 179"/>
                    <p:cNvSpPr>
                      <a:spLocks noChangeArrowheads="1"/>
                    </p:cNvSpPr>
                    <p:nvPr/>
                  </p:nvSpPr>
                  <p:spPr bwMode="auto">
                    <a:xfrm>
                      <a:off x="851"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880" name="Oval 180"/>
                    <p:cNvSpPr>
                      <a:spLocks noChangeArrowheads="1"/>
                    </p:cNvSpPr>
                    <p:nvPr/>
                  </p:nvSpPr>
                  <p:spPr bwMode="auto">
                    <a:xfrm>
                      <a:off x="990"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874" name="AutoShape 181"/>
                  <p:cNvSpPr>
                    <a:spLocks noChangeArrowheads="1"/>
                  </p:cNvSpPr>
                  <p:nvPr/>
                </p:nvSpPr>
                <p:spPr bwMode="auto">
                  <a:xfrm rot="180767">
                    <a:off x="884" y="754"/>
                    <a:ext cx="210" cy="227"/>
                  </a:xfrm>
                  <a:prstGeom prst="smileyFace">
                    <a:avLst>
                      <a:gd name="adj" fmla="val 4653"/>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875" name="Oval 182"/>
                  <p:cNvSpPr>
                    <a:spLocks noChangeArrowheads="1"/>
                  </p:cNvSpPr>
                  <p:nvPr/>
                </p:nvSpPr>
                <p:spPr bwMode="auto">
                  <a:xfrm rot="-554596">
                    <a:off x="975" y="1005"/>
                    <a:ext cx="142" cy="28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876" name="Oval 183"/>
                  <p:cNvSpPr>
                    <a:spLocks noChangeArrowheads="1"/>
                  </p:cNvSpPr>
                  <p:nvPr/>
                </p:nvSpPr>
                <p:spPr bwMode="auto">
                  <a:xfrm rot="432598">
                    <a:off x="842" y="996"/>
                    <a:ext cx="181" cy="333"/>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877" name="AutoShape 184"/>
                  <p:cNvSpPr>
                    <a:spLocks noChangeArrowheads="1"/>
                  </p:cNvSpPr>
                  <p:nvPr/>
                </p:nvSpPr>
                <p:spPr bwMode="auto">
                  <a:xfrm rot="-5400000">
                    <a:off x="780" y="1071"/>
                    <a:ext cx="408" cy="228"/>
                  </a:xfrm>
                  <a:prstGeom prst="flowChartDelay">
                    <a:avLst/>
                  </a:prstGeom>
                  <a:solidFill>
                    <a:srgbClr val="DAEE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grpSp>
              <p:nvGrpSpPr>
                <p:cNvPr id="31848" name="Group 185"/>
                <p:cNvGrpSpPr>
                  <a:grpSpLocks/>
                </p:cNvGrpSpPr>
                <p:nvPr/>
              </p:nvGrpSpPr>
              <p:grpSpPr bwMode="auto">
                <a:xfrm>
                  <a:off x="2019" y="1480"/>
                  <a:ext cx="303" cy="1043"/>
                  <a:chOff x="3152" y="1117"/>
                  <a:chExt cx="303" cy="1043"/>
                </a:xfrm>
              </p:grpSpPr>
              <p:sp>
                <p:nvSpPr>
                  <p:cNvPr id="31860" name="AutoShape 186"/>
                  <p:cNvSpPr>
                    <a:spLocks noChangeArrowheads="1"/>
                  </p:cNvSpPr>
                  <p:nvPr/>
                </p:nvSpPr>
                <p:spPr bwMode="auto">
                  <a:xfrm flipV="1">
                    <a:off x="3175" y="1120"/>
                    <a:ext cx="259" cy="189"/>
                  </a:xfrm>
                  <a:custGeom>
                    <a:avLst/>
                    <a:gdLst>
                      <a:gd name="T0" fmla="*/ 2 w 21600"/>
                      <a:gd name="T1" fmla="*/ 1 h 21600"/>
                      <a:gd name="T2" fmla="*/ 2 w 21600"/>
                      <a:gd name="T3" fmla="*/ 2 h 21600"/>
                      <a:gd name="T4" fmla="*/ 1 w 21600"/>
                      <a:gd name="T5" fmla="*/ 1 h 21600"/>
                      <a:gd name="T6" fmla="*/ 2 w 21600"/>
                      <a:gd name="T7" fmla="*/ 0 h 21600"/>
                      <a:gd name="T8" fmla="*/ 0 60000 65536"/>
                      <a:gd name="T9" fmla="*/ 0 60000 65536"/>
                      <a:gd name="T10" fmla="*/ 0 60000 65536"/>
                      <a:gd name="T11" fmla="*/ 0 60000 65536"/>
                      <a:gd name="T12" fmla="*/ 7089 w 21600"/>
                      <a:gd name="T13" fmla="*/ 7086 h 21600"/>
                      <a:gd name="T14" fmla="*/ 14511 w 21600"/>
                      <a:gd name="T15" fmla="*/ 14514 h 21600"/>
                    </a:gdLst>
                    <a:ahLst/>
                    <a:cxnLst>
                      <a:cxn ang="T8">
                        <a:pos x="T0" y="T1"/>
                      </a:cxn>
                      <a:cxn ang="T9">
                        <a:pos x="T2" y="T3"/>
                      </a:cxn>
                      <a:cxn ang="T10">
                        <a:pos x="T4" y="T5"/>
                      </a:cxn>
                      <a:cxn ang="T11">
                        <a:pos x="T6" y="T7"/>
                      </a:cxn>
                    </a:cxnLst>
                    <a:rect l="T12" t="T13" r="T14" b="T15"/>
                    <a:pathLst>
                      <a:path w="21600" h="21600">
                        <a:moveTo>
                          <a:pt x="0" y="0"/>
                        </a:moveTo>
                        <a:lnTo>
                          <a:pt x="10508" y="21600"/>
                        </a:lnTo>
                        <a:lnTo>
                          <a:pt x="11092" y="21600"/>
                        </a:lnTo>
                        <a:lnTo>
                          <a:pt x="21600" y="0"/>
                        </a:lnTo>
                        <a:lnTo>
                          <a:pt x="0" y="0"/>
                        </a:lnTo>
                        <a:close/>
                      </a:path>
                    </a:pathLst>
                  </a:custGeom>
                  <a:solidFill>
                    <a:srgbClr val="DAEE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nvGrpSpPr>
                  <p:cNvPr id="31861" name="Group 187"/>
                  <p:cNvGrpSpPr>
                    <a:grpSpLocks/>
                  </p:cNvGrpSpPr>
                  <p:nvPr/>
                </p:nvGrpSpPr>
                <p:grpSpPr bwMode="auto">
                  <a:xfrm>
                    <a:off x="3166" y="1117"/>
                    <a:ext cx="262" cy="1043"/>
                    <a:chOff x="842" y="754"/>
                    <a:chExt cx="275" cy="1004"/>
                  </a:xfrm>
                </p:grpSpPr>
                <p:grpSp>
                  <p:nvGrpSpPr>
                    <p:cNvPr id="31863" name="Group 188"/>
                    <p:cNvGrpSpPr>
                      <a:grpSpLocks/>
                    </p:cNvGrpSpPr>
                    <p:nvPr/>
                  </p:nvGrpSpPr>
                  <p:grpSpPr bwMode="auto">
                    <a:xfrm>
                      <a:off x="857" y="1344"/>
                      <a:ext cx="254" cy="414"/>
                      <a:chOff x="851" y="1434"/>
                      <a:chExt cx="254" cy="414"/>
                    </a:xfrm>
                  </p:grpSpPr>
                  <p:grpSp>
                    <p:nvGrpSpPr>
                      <p:cNvPr id="31868" name="Group 189"/>
                      <p:cNvGrpSpPr>
                        <a:grpSpLocks/>
                      </p:cNvGrpSpPr>
                      <p:nvPr/>
                    </p:nvGrpSpPr>
                    <p:grpSpPr bwMode="auto">
                      <a:xfrm>
                        <a:off x="889" y="1434"/>
                        <a:ext cx="181" cy="408"/>
                        <a:chOff x="884" y="1434"/>
                        <a:chExt cx="181" cy="408"/>
                      </a:xfrm>
                    </p:grpSpPr>
                    <p:sp>
                      <p:nvSpPr>
                        <p:cNvPr id="31871" name="Oval 190"/>
                        <p:cNvSpPr>
                          <a:spLocks noChangeArrowheads="1"/>
                        </p:cNvSpPr>
                        <p:nvPr/>
                      </p:nvSpPr>
                      <p:spPr bwMode="auto">
                        <a:xfrm>
                          <a:off x="884"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872" name="Oval 191"/>
                        <p:cNvSpPr>
                          <a:spLocks noChangeArrowheads="1"/>
                        </p:cNvSpPr>
                        <p:nvPr/>
                      </p:nvSpPr>
                      <p:spPr bwMode="auto">
                        <a:xfrm>
                          <a:off x="975"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869" name="Oval 192"/>
                      <p:cNvSpPr>
                        <a:spLocks noChangeArrowheads="1"/>
                      </p:cNvSpPr>
                      <p:nvPr/>
                    </p:nvSpPr>
                    <p:spPr bwMode="auto">
                      <a:xfrm>
                        <a:off x="851"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870" name="Oval 193"/>
                      <p:cNvSpPr>
                        <a:spLocks noChangeArrowheads="1"/>
                      </p:cNvSpPr>
                      <p:nvPr/>
                    </p:nvSpPr>
                    <p:spPr bwMode="auto">
                      <a:xfrm>
                        <a:off x="990"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864" name="AutoShape 194"/>
                    <p:cNvSpPr>
                      <a:spLocks noChangeArrowheads="1"/>
                    </p:cNvSpPr>
                    <p:nvPr/>
                  </p:nvSpPr>
                  <p:spPr bwMode="auto">
                    <a:xfrm rot="180767">
                      <a:off x="884" y="754"/>
                      <a:ext cx="210" cy="227"/>
                    </a:xfrm>
                    <a:prstGeom prst="smileyFace">
                      <a:avLst>
                        <a:gd name="adj" fmla="val 4653"/>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865" name="Oval 195"/>
                    <p:cNvSpPr>
                      <a:spLocks noChangeArrowheads="1"/>
                    </p:cNvSpPr>
                    <p:nvPr/>
                  </p:nvSpPr>
                  <p:spPr bwMode="auto">
                    <a:xfrm rot="-554596">
                      <a:off x="975" y="1005"/>
                      <a:ext cx="142" cy="28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866" name="Oval 196"/>
                    <p:cNvSpPr>
                      <a:spLocks noChangeArrowheads="1"/>
                    </p:cNvSpPr>
                    <p:nvPr/>
                  </p:nvSpPr>
                  <p:spPr bwMode="auto">
                    <a:xfrm rot="432598">
                      <a:off x="842" y="996"/>
                      <a:ext cx="181" cy="333"/>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867" name="AutoShape 197"/>
                    <p:cNvSpPr>
                      <a:spLocks noChangeArrowheads="1"/>
                    </p:cNvSpPr>
                    <p:nvPr/>
                  </p:nvSpPr>
                  <p:spPr bwMode="auto">
                    <a:xfrm rot="-5400000">
                      <a:off x="780" y="1071"/>
                      <a:ext cx="408" cy="228"/>
                    </a:xfrm>
                    <a:prstGeom prst="flowChartDelay">
                      <a:avLst/>
                    </a:prstGeom>
                    <a:solidFill>
                      <a:srgbClr val="DAEE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862" name="AutoShape 198"/>
                  <p:cNvSpPr>
                    <a:spLocks noChangeArrowheads="1"/>
                  </p:cNvSpPr>
                  <p:nvPr/>
                </p:nvSpPr>
                <p:spPr bwMode="auto">
                  <a:xfrm flipV="1">
                    <a:off x="3152" y="1661"/>
                    <a:ext cx="303" cy="244"/>
                  </a:xfrm>
                  <a:custGeom>
                    <a:avLst/>
                    <a:gdLst>
                      <a:gd name="T0" fmla="*/ 4 w 21600"/>
                      <a:gd name="T1" fmla="*/ 1 h 21600"/>
                      <a:gd name="T2" fmla="*/ 2 w 21600"/>
                      <a:gd name="T3" fmla="*/ 3 h 21600"/>
                      <a:gd name="T4" fmla="*/ 0 w 21600"/>
                      <a:gd name="T5" fmla="*/ 1 h 21600"/>
                      <a:gd name="T6" fmla="*/ 2 w 21600"/>
                      <a:gd name="T7" fmla="*/ 0 h 21600"/>
                      <a:gd name="T8" fmla="*/ 0 60000 65536"/>
                      <a:gd name="T9" fmla="*/ 0 60000 65536"/>
                      <a:gd name="T10" fmla="*/ 0 60000 65536"/>
                      <a:gd name="T11" fmla="*/ 0 60000 65536"/>
                      <a:gd name="T12" fmla="*/ 3350 w 21600"/>
                      <a:gd name="T13" fmla="*/ 3364 h 21600"/>
                      <a:gd name="T14" fmla="*/ 18250 w 21600"/>
                      <a:gd name="T15" fmla="*/ 18236 h 21600"/>
                    </a:gdLst>
                    <a:ahLst/>
                    <a:cxnLst>
                      <a:cxn ang="T8">
                        <a:pos x="T0" y="T1"/>
                      </a:cxn>
                      <a:cxn ang="T9">
                        <a:pos x="T2" y="T3"/>
                      </a:cxn>
                      <a:cxn ang="T10">
                        <a:pos x="T4" y="T5"/>
                      </a:cxn>
                      <a:cxn ang="T11">
                        <a:pos x="T6" y="T7"/>
                      </a:cxn>
                    </a:cxnLst>
                    <a:rect l="T12" t="T13" r="T14" b="T15"/>
                    <a:pathLst>
                      <a:path w="21600" h="21600">
                        <a:moveTo>
                          <a:pt x="0" y="0"/>
                        </a:moveTo>
                        <a:lnTo>
                          <a:pt x="3124" y="21600"/>
                        </a:lnTo>
                        <a:lnTo>
                          <a:pt x="18476" y="21600"/>
                        </a:lnTo>
                        <a:lnTo>
                          <a:pt x="21600" y="0"/>
                        </a:lnTo>
                        <a:lnTo>
                          <a:pt x="0" y="0"/>
                        </a:lnTo>
                        <a:close/>
                      </a:path>
                    </a:pathLst>
                  </a:custGeom>
                  <a:solidFill>
                    <a:srgbClr val="DAEE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grpSp>
              <p:nvGrpSpPr>
                <p:cNvPr id="31849" name="Group 199"/>
                <p:cNvGrpSpPr>
                  <a:grpSpLocks/>
                </p:cNvGrpSpPr>
                <p:nvPr/>
              </p:nvGrpSpPr>
              <p:grpSpPr bwMode="auto">
                <a:xfrm>
                  <a:off x="2518" y="1519"/>
                  <a:ext cx="275" cy="1004"/>
                  <a:chOff x="842" y="754"/>
                  <a:chExt cx="275" cy="1004"/>
                </a:xfrm>
              </p:grpSpPr>
              <p:grpSp>
                <p:nvGrpSpPr>
                  <p:cNvPr id="31850" name="Group 200"/>
                  <p:cNvGrpSpPr>
                    <a:grpSpLocks/>
                  </p:cNvGrpSpPr>
                  <p:nvPr/>
                </p:nvGrpSpPr>
                <p:grpSpPr bwMode="auto">
                  <a:xfrm>
                    <a:off x="857" y="1344"/>
                    <a:ext cx="254" cy="414"/>
                    <a:chOff x="851" y="1434"/>
                    <a:chExt cx="254" cy="414"/>
                  </a:xfrm>
                </p:grpSpPr>
                <p:grpSp>
                  <p:nvGrpSpPr>
                    <p:cNvPr id="31855" name="Group 201"/>
                    <p:cNvGrpSpPr>
                      <a:grpSpLocks/>
                    </p:cNvGrpSpPr>
                    <p:nvPr/>
                  </p:nvGrpSpPr>
                  <p:grpSpPr bwMode="auto">
                    <a:xfrm>
                      <a:off x="889" y="1434"/>
                      <a:ext cx="181" cy="408"/>
                      <a:chOff x="884" y="1434"/>
                      <a:chExt cx="181" cy="408"/>
                    </a:xfrm>
                  </p:grpSpPr>
                  <p:sp>
                    <p:nvSpPr>
                      <p:cNvPr id="31858" name="Oval 202"/>
                      <p:cNvSpPr>
                        <a:spLocks noChangeArrowheads="1"/>
                      </p:cNvSpPr>
                      <p:nvPr/>
                    </p:nvSpPr>
                    <p:spPr bwMode="auto">
                      <a:xfrm>
                        <a:off x="884"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859" name="Oval 203"/>
                      <p:cNvSpPr>
                        <a:spLocks noChangeArrowheads="1"/>
                      </p:cNvSpPr>
                      <p:nvPr/>
                    </p:nvSpPr>
                    <p:spPr bwMode="auto">
                      <a:xfrm>
                        <a:off x="975" y="1434"/>
                        <a:ext cx="90" cy="40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856" name="Oval 204"/>
                    <p:cNvSpPr>
                      <a:spLocks noChangeArrowheads="1"/>
                    </p:cNvSpPr>
                    <p:nvPr/>
                  </p:nvSpPr>
                  <p:spPr bwMode="auto">
                    <a:xfrm>
                      <a:off x="851"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857" name="Oval 205"/>
                    <p:cNvSpPr>
                      <a:spLocks noChangeArrowheads="1"/>
                    </p:cNvSpPr>
                    <p:nvPr/>
                  </p:nvSpPr>
                  <p:spPr bwMode="auto">
                    <a:xfrm>
                      <a:off x="990" y="1803"/>
                      <a:ext cx="115" cy="45"/>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sp>
                <p:nvSpPr>
                  <p:cNvPr id="31851" name="AutoShape 206"/>
                  <p:cNvSpPr>
                    <a:spLocks noChangeArrowheads="1"/>
                  </p:cNvSpPr>
                  <p:nvPr/>
                </p:nvSpPr>
                <p:spPr bwMode="auto">
                  <a:xfrm rot="180767">
                    <a:off x="884" y="754"/>
                    <a:ext cx="210" cy="227"/>
                  </a:xfrm>
                  <a:prstGeom prst="smileyFace">
                    <a:avLst>
                      <a:gd name="adj" fmla="val 4653"/>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852" name="Oval 207"/>
                  <p:cNvSpPr>
                    <a:spLocks noChangeArrowheads="1"/>
                  </p:cNvSpPr>
                  <p:nvPr/>
                </p:nvSpPr>
                <p:spPr bwMode="auto">
                  <a:xfrm rot="-554596">
                    <a:off x="975" y="1005"/>
                    <a:ext cx="142" cy="288"/>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853" name="Oval 208"/>
                  <p:cNvSpPr>
                    <a:spLocks noChangeArrowheads="1"/>
                  </p:cNvSpPr>
                  <p:nvPr/>
                </p:nvSpPr>
                <p:spPr bwMode="auto">
                  <a:xfrm rot="432598">
                    <a:off x="842" y="996"/>
                    <a:ext cx="181" cy="333"/>
                  </a:xfrm>
                  <a:prstGeom prst="ellipse">
                    <a:avLst/>
                  </a:prstGeom>
                  <a:solidFill>
                    <a:srgbClr val="DAEE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854" name="AutoShape 209"/>
                  <p:cNvSpPr>
                    <a:spLocks noChangeArrowheads="1"/>
                  </p:cNvSpPr>
                  <p:nvPr/>
                </p:nvSpPr>
                <p:spPr bwMode="auto">
                  <a:xfrm rot="-5400000">
                    <a:off x="780" y="1071"/>
                    <a:ext cx="408" cy="228"/>
                  </a:xfrm>
                  <a:prstGeom prst="flowChartDelay">
                    <a:avLst/>
                  </a:prstGeom>
                  <a:solidFill>
                    <a:srgbClr val="DAEE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grpSp>
          <p:grpSp>
            <p:nvGrpSpPr>
              <p:cNvPr id="31809" name="Group 210"/>
              <p:cNvGrpSpPr>
                <a:grpSpLocks/>
              </p:cNvGrpSpPr>
              <p:nvPr/>
            </p:nvGrpSpPr>
            <p:grpSpPr bwMode="auto">
              <a:xfrm>
                <a:off x="2325" y="1159"/>
                <a:ext cx="85" cy="682"/>
                <a:chOff x="745" y="1120"/>
                <a:chExt cx="93" cy="1089"/>
              </a:xfrm>
            </p:grpSpPr>
            <p:sp>
              <p:nvSpPr>
                <p:cNvPr id="31814" name="Rectangle 211"/>
                <p:cNvSpPr>
                  <a:spLocks noChangeArrowheads="1"/>
                </p:cNvSpPr>
                <p:nvPr/>
              </p:nvSpPr>
              <p:spPr bwMode="auto">
                <a:xfrm>
                  <a:off x="745" y="1120"/>
                  <a:ext cx="93" cy="1089"/>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nvGrpSpPr>
                <p:cNvPr id="31815" name="Group 212"/>
                <p:cNvGrpSpPr>
                  <a:grpSpLocks/>
                </p:cNvGrpSpPr>
                <p:nvPr/>
              </p:nvGrpSpPr>
              <p:grpSpPr bwMode="auto">
                <a:xfrm>
                  <a:off x="748" y="1120"/>
                  <a:ext cx="78" cy="1089"/>
                  <a:chOff x="657" y="1117"/>
                  <a:chExt cx="181" cy="1089"/>
                </a:xfrm>
              </p:grpSpPr>
              <p:grpSp>
                <p:nvGrpSpPr>
                  <p:cNvPr id="31829" name="Group 213"/>
                  <p:cNvGrpSpPr>
                    <a:grpSpLocks/>
                  </p:cNvGrpSpPr>
                  <p:nvPr/>
                </p:nvGrpSpPr>
                <p:grpSpPr bwMode="auto">
                  <a:xfrm>
                    <a:off x="657" y="1698"/>
                    <a:ext cx="181" cy="508"/>
                    <a:chOff x="1111" y="1071"/>
                    <a:chExt cx="45" cy="635"/>
                  </a:xfrm>
                </p:grpSpPr>
                <p:sp>
                  <p:nvSpPr>
                    <p:cNvPr id="31837" name="Line 214"/>
                    <p:cNvSpPr>
                      <a:spLocks noChangeShapeType="1"/>
                    </p:cNvSpPr>
                    <p:nvPr/>
                  </p:nvSpPr>
                  <p:spPr bwMode="auto">
                    <a:xfrm>
                      <a:off x="1111" y="1071"/>
                      <a:ext cx="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1838" name="Line 215"/>
                    <p:cNvSpPr>
                      <a:spLocks noChangeShapeType="1"/>
                    </p:cNvSpPr>
                    <p:nvPr/>
                  </p:nvSpPr>
                  <p:spPr bwMode="auto">
                    <a:xfrm>
                      <a:off x="1111" y="1198"/>
                      <a:ext cx="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1839" name="Line 216"/>
                    <p:cNvSpPr>
                      <a:spLocks noChangeShapeType="1"/>
                    </p:cNvSpPr>
                    <p:nvPr/>
                  </p:nvSpPr>
                  <p:spPr bwMode="auto">
                    <a:xfrm>
                      <a:off x="1111" y="1325"/>
                      <a:ext cx="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1840" name="Line 217"/>
                    <p:cNvSpPr>
                      <a:spLocks noChangeShapeType="1"/>
                    </p:cNvSpPr>
                    <p:nvPr/>
                  </p:nvSpPr>
                  <p:spPr bwMode="auto">
                    <a:xfrm>
                      <a:off x="1111" y="1452"/>
                      <a:ext cx="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1841" name="Line 218"/>
                    <p:cNvSpPr>
                      <a:spLocks noChangeShapeType="1"/>
                    </p:cNvSpPr>
                    <p:nvPr/>
                  </p:nvSpPr>
                  <p:spPr bwMode="auto">
                    <a:xfrm>
                      <a:off x="1111" y="1579"/>
                      <a:ext cx="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1842" name="Line 219"/>
                    <p:cNvSpPr>
                      <a:spLocks noChangeShapeType="1"/>
                    </p:cNvSpPr>
                    <p:nvPr/>
                  </p:nvSpPr>
                  <p:spPr bwMode="auto">
                    <a:xfrm>
                      <a:off x="1111" y="1706"/>
                      <a:ext cx="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31830" name="Group 220"/>
                  <p:cNvGrpSpPr>
                    <a:grpSpLocks/>
                  </p:cNvGrpSpPr>
                  <p:nvPr/>
                </p:nvGrpSpPr>
                <p:grpSpPr bwMode="auto">
                  <a:xfrm>
                    <a:off x="657" y="1117"/>
                    <a:ext cx="181" cy="508"/>
                    <a:chOff x="1111" y="1071"/>
                    <a:chExt cx="45" cy="635"/>
                  </a:xfrm>
                </p:grpSpPr>
                <p:sp>
                  <p:nvSpPr>
                    <p:cNvPr id="31831" name="Line 221"/>
                    <p:cNvSpPr>
                      <a:spLocks noChangeShapeType="1"/>
                    </p:cNvSpPr>
                    <p:nvPr/>
                  </p:nvSpPr>
                  <p:spPr bwMode="auto">
                    <a:xfrm>
                      <a:off x="1111" y="1071"/>
                      <a:ext cx="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1832" name="Line 222"/>
                    <p:cNvSpPr>
                      <a:spLocks noChangeShapeType="1"/>
                    </p:cNvSpPr>
                    <p:nvPr/>
                  </p:nvSpPr>
                  <p:spPr bwMode="auto">
                    <a:xfrm>
                      <a:off x="1111" y="1198"/>
                      <a:ext cx="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1833" name="Line 223"/>
                    <p:cNvSpPr>
                      <a:spLocks noChangeShapeType="1"/>
                    </p:cNvSpPr>
                    <p:nvPr/>
                  </p:nvSpPr>
                  <p:spPr bwMode="auto">
                    <a:xfrm>
                      <a:off x="1111" y="1325"/>
                      <a:ext cx="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1834" name="Line 224"/>
                    <p:cNvSpPr>
                      <a:spLocks noChangeShapeType="1"/>
                    </p:cNvSpPr>
                    <p:nvPr/>
                  </p:nvSpPr>
                  <p:spPr bwMode="auto">
                    <a:xfrm>
                      <a:off x="1111" y="1452"/>
                      <a:ext cx="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1835" name="Line 225"/>
                    <p:cNvSpPr>
                      <a:spLocks noChangeShapeType="1"/>
                    </p:cNvSpPr>
                    <p:nvPr/>
                  </p:nvSpPr>
                  <p:spPr bwMode="auto">
                    <a:xfrm>
                      <a:off x="1111" y="1579"/>
                      <a:ext cx="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1836" name="Line 226"/>
                    <p:cNvSpPr>
                      <a:spLocks noChangeShapeType="1"/>
                    </p:cNvSpPr>
                    <p:nvPr/>
                  </p:nvSpPr>
                  <p:spPr bwMode="auto">
                    <a:xfrm>
                      <a:off x="1111" y="1706"/>
                      <a:ext cx="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31816" name="Group 227"/>
                <p:cNvGrpSpPr>
                  <a:grpSpLocks/>
                </p:cNvGrpSpPr>
                <p:nvPr/>
              </p:nvGrpSpPr>
              <p:grpSpPr bwMode="auto">
                <a:xfrm>
                  <a:off x="794" y="1743"/>
                  <a:ext cx="44" cy="407"/>
                  <a:chOff x="2962" y="1996"/>
                  <a:chExt cx="11" cy="474"/>
                </a:xfrm>
              </p:grpSpPr>
              <p:sp>
                <p:nvSpPr>
                  <p:cNvPr id="31824" name="Line 228"/>
                  <p:cNvSpPr>
                    <a:spLocks noChangeShapeType="1"/>
                  </p:cNvSpPr>
                  <p:nvPr/>
                </p:nvSpPr>
                <p:spPr bwMode="auto">
                  <a:xfrm>
                    <a:off x="2962" y="1996"/>
                    <a:ext cx="1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1825" name="Line 229"/>
                  <p:cNvSpPr>
                    <a:spLocks noChangeShapeType="1"/>
                  </p:cNvSpPr>
                  <p:nvPr/>
                </p:nvSpPr>
                <p:spPr bwMode="auto">
                  <a:xfrm>
                    <a:off x="2962" y="2115"/>
                    <a:ext cx="1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1826" name="Line 230"/>
                  <p:cNvSpPr>
                    <a:spLocks noChangeShapeType="1"/>
                  </p:cNvSpPr>
                  <p:nvPr/>
                </p:nvSpPr>
                <p:spPr bwMode="auto">
                  <a:xfrm>
                    <a:off x="2962" y="2233"/>
                    <a:ext cx="1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1827" name="Line 231"/>
                  <p:cNvSpPr>
                    <a:spLocks noChangeShapeType="1"/>
                  </p:cNvSpPr>
                  <p:nvPr/>
                </p:nvSpPr>
                <p:spPr bwMode="auto">
                  <a:xfrm>
                    <a:off x="2962" y="2352"/>
                    <a:ext cx="1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1828" name="Line 232"/>
                  <p:cNvSpPr>
                    <a:spLocks noChangeShapeType="1"/>
                  </p:cNvSpPr>
                  <p:nvPr/>
                </p:nvSpPr>
                <p:spPr bwMode="auto">
                  <a:xfrm>
                    <a:off x="2962" y="2470"/>
                    <a:ext cx="1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31817" name="Group 233"/>
                <p:cNvGrpSpPr>
                  <a:grpSpLocks/>
                </p:cNvGrpSpPr>
                <p:nvPr/>
              </p:nvGrpSpPr>
              <p:grpSpPr bwMode="auto">
                <a:xfrm>
                  <a:off x="794" y="1162"/>
                  <a:ext cx="44" cy="509"/>
                  <a:chOff x="2962" y="1318"/>
                  <a:chExt cx="11" cy="593"/>
                </a:xfrm>
              </p:grpSpPr>
              <p:sp>
                <p:nvSpPr>
                  <p:cNvPr id="31818" name="Line 234"/>
                  <p:cNvSpPr>
                    <a:spLocks noChangeShapeType="1"/>
                  </p:cNvSpPr>
                  <p:nvPr/>
                </p:nvSpPr>
                <p:spPr bwMode="auto">
                  <a:xfrm>
                    <a:off x="2962" y="1318"/>
                    <a:ext cx="1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1819" name="Line 235"/>
                  <p:cNvSpPr>
                    <a:spLocks noChangeShapeType="1"/>
                  </p:cNvSpPr>
                  <p:nvPr/>
                </p:nvSpPr>
                <p:spPr bwMode="auto">
                  <a:xfrm>
                    <a:off x="2962" y="1437"/>
                    <a:ext cx="1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1820" name="Line 236"/>
                  <p:cNvSpPr>
                    <a:spLocks noChangeShapeType="1"/>
                  </p:cNvSpPr>
                  <p:nvPr/>
                </p:nvSpPr>
                <p:spPr bwMode="auto">
                  <a:xfrm>
                    <a:off x="2962" y="1555"/>
                    <a:ext cx="1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1821" name="Line 237"/>
                  <p:cNvSpPr>
                    <a:spLocks noChangeShapeType="1"/>
                  </p:cNvSpPr>
                  <p:nvPr/>
                </p:nvSpPr>
                <p:spPr bwMode="auto">
                  <a:xfrm>
                    <a:off x="2962" y="1674"/>
                    <a:ext cx="1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1822" name="Line 238"/>
                  <p:cNvSpPr>
                    <a:spLocks noChangeShapeType="1"/>
                  </p:cNvSpPr>
                  <p:nvPr/>
                </p:nvSpPr>
                <p:spPr bwMode="auto">
                  <a:xfrm>
                    <a:off x="2962" y="1792"/>
                    <a:ext cx="1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1823" name="Line 239"/>
                  <p:cNvSpPr>
                    <a:spLocks noChangeShapeType="1"/>
                  </p:cNvSpPr>
                  <p:nvPr/>
                </p:nvSpPr>
                <p:spPr bwMode="auto">
                  <a:xfrm>
                    <a:off x="2962" y="1911"/>
                    <a:ext cx="1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31810" name="Group 240"/>
              <p:cNvGrpSpPr>
                <a:grpSpLocks/>
              </p:cNvGrpSpPr>
              <p:nvPr/>
            </p:nvGrpSpPr>
            <p:grpSpPr bwMode="auto">
              <a:xfrm>
                <a:off x="1845" y="1442"/>
                <a:ext cx="57" cy="57"/>
                <a:chOff x="2127" y="1750"/>
                <a:chExt cx="91" cy="90"/>
              </a:xfrm>
            </p:grpSpPr>
            <p:sp>
              <p:nvSpPr>
                <p:cNvPr id="31812" name="Line 241"/>
                <p:cNvSpPr>
                  <a:spLocks noChangeShapeType="1"/>
                </p:cNvSpPr>
                <p:nvPr/>
              </p:nvSpPr>
              <p:spPr bwMode="auto">
                <a:xfrm>
                  <a:off x="2127" y="1750"/>
                  <a:ext cx="45" cy="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1813" name="Line 242"/>
                <p:cNvSpPr>
                  <a:spLocks noChangeShapeType="1"/>
                </p:cNvSpPr>
                <p:nvPr/>
              </p:nvSpPr>
              <p:spPr bwMode="auto">
                <a:xfrm rot="-5400000">
                  <a:off x="2150" y="1772"/>
                  <a:ext cx="90" cy="4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31811" name="Arc 243"/>
              <p:cNvSpPr>
                <a:spLocks/>
              </p:cNvSpPr>
              <p:nvPr/>
            </p:nvSpPr>
            <p:spPr bwMode="auto">
              <a:xfrm rot="-3612834" flipH="1" flipV="1">
                <a:off x="2619" y="1462"/>
                <a:ext cx="28" cy="41"/>
              </a:xfrm>
              <a:custGeom>
                <a:avLst/>
                <a:gdLst>
                  <a:gd name="T0" fmla="*/ 0 w 21600"/>
                  <a:gd name="T1" fmla="*/ 0 h 31416"/>
                  <a:gd name="T2" fmla="*/ 0 w 21600"/>
                  <a:gd name="T3" fmla="*/ 0 h 31416"/>
                  <a:gd name="T4" fmla="*/ 0 w 21600"/>
                  <a:gd name="T5" fmla="*/ 0 h 31416"/>
                  <a:gd name="T6" fmla="*/ 0 60000 65536"/>
                  <a:gd name="T7" fmla="*/ 0 60000 65536"/>
                  <a:gd name="T8" fmla="*/ 0 60000 65536"/>
                </a:gdLst>
                <a:ahLst/>
                <a:cxnLst>
                  <a:cxn ang="T6">
                    <a:pos x="T0" y="T1"/>
                  </a:cxn>
                  <a:cxn ang="T7">
                    <a:pos x="T2" y="T3"/>
                  </a:cxn>
                  <a:cxn ang="T8">
                    <a:pos x="T4" y="T5"/>
                  </a:cxn>
                </a:cxnLst>
                <a:rect l="0" t="0" r="r" b="b"/>
                <a:pathLst>
                  <a:path w="21600" h="31416" fill="none" extrusionOk="0">
                    <a:moveTo>
                      <a:pt x="-1" y="0"/>
                    </a:moveTo>
                    <a:cubicBezTo>
                      <a:pt x="11929" y="0"/>
                      <a:pt x="21600" y="9670"/>
                      <a:pt x="21600" y="21600"/>
                    </a:cubicBezTo>
                    <a:cubicBezTo>
                      <a:pt x="21600" y="25012"/>
                      <a:pt x="20791" y="28376"/>
                      <a:pt x="19240" y="31415"/>
                    </a:cubicBezTo>
                  </a:path>
                  <a:path w="21600" h="31416" stroke="0" extrusionOk="0">
                    <a:moveTo>
                      <a:pt x="-1" y="0"/>
                    </a:moveTo>
                    <a:cubicBezTo>
                      <a:pt x="11929" y="0"/>
                      <a:pt x="21600" y="9670"/>
                      <a:pt x="21600" y="21600"/>
                    </a:cubicBezTo>
                    <a:cubicBezTo>
                      <a:pt x="21600" y="25012"/>
                      <a:pt x="20791" y="28376"/>
                      <a:pt x="19240" y="31415"/>
                    </a:cubicBezTo>
                    <a:lnTo>
                      <a:pt x="0" y="21600"/>
                    </a:lnTo>
                    <a:lnTo>
                      <a:pt x="-1" y="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grpSp>
      <p:grpSp>
        <p:nvGrpSpPr>
          <p:cNvPr id="31750" name="Group 312"/>
          <p:cNvGrpSpPr>
            <a:grpSpLocks/>
          </p:cNvGrpSpPr>
          <p:nvPr/>
        </p:nvGrpSpPr>
        <p:grpSpPr bwMode="auto">
          <a:xfrm>
            <a:off x="4648200" y="914400"/>
            <a:ext cx="4010025" cy="3213100"/>
            <a:chOff x="2928" y="944"/>
            <a:chExt cx="2526" cy="2024"/>
          </a:xfrm>
        </p:grpSpPr>
        <p:pic>
          <p:nvPicPr>
            <p:cNvPr id="31797" name="Picture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28" y="944"/>
              <a:ext cx="2526" cy="2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798" name="Picture 30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84" y="1886"/>
              <a:ext cx="1962" cy="7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799" name="Line 306"/>
            <p:cNvSpPr>
              <a:spLocks noChangeShapeType="1"/>
            </p:cNvSpPr>
            <p:nvPr/>
          </p:nvSpPr>
          <p:spPr bwMode="auto">
            <a:xfrm>
              <a:off x="4224" y="972"/>
              <a:ext cx="0" cy="1728"/>
            </a:xfrm>
            <a:prstGeom prst="line">
              <a:avLst/>
            </a:prstGeom>
            <a:noFill/>
            <a:ln w="952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31751" name="Text Box 308"/>
          <p:cNvSpPr txBox="1">
            <a:spLocks noChangeArrowheads="1"/>
          </p:cNvSpPr>
          <p:nvPr/>
        </p:nvSpPr>
        <p:spPr bwMode="auto">
          <a:xfrm>
            <a:off x="4724400" y="4194175"/>
            <a:ext cx="3962400" cy="558800"/>
          </a:xfrm>
          <a:prstGeom prst="rect">
            <a:avLst/>
          </a:prstGeom>
          <a:solidFill>
            <a:schemeClr val="bg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lnSpc>
                <a:spcPct val="110000"/>
              </a:lnSpc>
            </a:pPr>
            <a:r>
              <a:rPr lang="es-ES" altLang="es-ES" sz="1400"/>
              <a:t>¿Son “iguales” estas dos distribuciones </a:t>
            </a:r>
          </a:p>
          <a:p>
            <a:pPr algn="ctr" eaLnBrk="1" hangingPunct="1">
              <a:lnSpc>
                <a:spcPct val="110000"/>
              </a:lnSpc>
            </a:pPr>
            <a:r>
              <a:rPr lang="es-ES" altLang="es-ES" sz="1400"/>
              <a:t>con la misma media?</a:t>
            </a:r>
          </a:p>
        </p:txBody>
      </p:sp>
      <p:grpSp>
        <p:nvGrpSpPr>
          <p:cNvPr id="31752" name="Group 367"/>
          <p:cNvGrpSpPr>
            <a:grpSpLocks/>
          </p:cNvGrpSpPr>
          <p:nvPr/>
        </p:nvGrpSpPr>
        <p:grpSpPr bwMode="auto">
          <a:xfrm>
            <a:off x="685800" y="5257800"/>
            <a:ext cx="5335588" cy="1244600"/>
            <a:chOff x="911" y="3024"/>
            <a:chExt cx="3769" cy="1024"/>
          </a:xfrm>
        </p:grpSpPr>
        <p:sp>
          <p:nvSpPr>
            <p:cNvPr id="31754" name="Line 316"/>
            <p:cNvSpPr>
              <a:spLocks noChangeShapeType="1"/>
            </p:cNvSpPr>
            <p:nvPr/>
          </p:nvSpPr>
          <p:spPr bwMode="auto">
            <a:xfrm>
              <a:off x="1200" y="3139"/>
              <a:ext cx="348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sp>
          <p:nvSpPr>
            <p:cNvPr id="31755" name="Oval 317"/>
            <p:cNvSpPr>
              <a:spLocks noChangeArrowheads="1"/>
            </p:cNvSpPr>
            <p:nvPr/>
          </p:nvSpPr>
          <p:spPr bwMode="auto">
            <a:xfrm flipH="1">
              <a:off x="1689" y="3072"/>
              <a:ext cx="55" cy="67"/>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56" name="Oval 318"/>
            <p:cNvSpPr>
              <a:spLocks noChangeArrowheads="1"/>
            </p:cNvSpPr>
            <p:nvPr/>
          </p:nvSpPr>
          <p:spPr bwMode="auto">
            <a:xfrm flipH="1">
              <a:off x="1907" y="3072"/>
              <a:ext cx="54" cy="67"/>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57" name="Oval 319"/>
            <p:cNvSpPr>
              <a:spLocks noChangeArrowheads="1"/>
            </p:cNvSpPr>
            <p:nvPr/>
          </p:nvSpPr>
          <p:spPr bwMode="auto">
            <a:xfrm flipH="1">
              <a:off x="2016" y="3072"/>
              <a:ext cx="54" cy="67"/>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58" name="Oval 320"/>
            <p:cNvSpPr>
              <a:spLocks noChangeArrowheads="1"/>
            </p:cNvSpPr>
            <p:nvPr/>
          </p:nvSpPr>
          <p:spPr bwMode="auto">
            <a:xfrm flipH="1">
              <a:off x="2233" y="3072"/>
              <a:ext cx="55" cy="67"/>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59" name="Oval 321"/>
            <p:cNvSpPr>
              <a:spLocks noChangeArrowheads="1"/>
            </p:cNvSpPr>
            <p:nvPr/>
          </p:nvSpPr>
          <p:spPr bwMode="auto">
            <a:xfrm flipH="1">
              <a:off x="2288" y="3072"/>
              <a:ext cx="54" cy="67"/>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60" name="Oval 322"/>
            <p:cNvSpPr>
              <a:spLocks noChangeArrowheads="1"/>
            </p:cNvSpPr>
            <p:nvPr/>
          </p:nvSpPr>
          <p:spPr bwMode="auto">
            <a:xfrm flipH="1">
              <a:off x="2451" y="3072"/>
              <a:ext cx="54" cy="67"/>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61" name="Oval 323"/>
            <p:cNvSpPr>
              <a:spLocks noChangeArrowheads="1"/>
            </p:cNvSpPr>
            <p:nvPr/>
          </p:nvSpPr>
          <p:spPr bwMode="auto">
            <a:xfrm flipH="1">
              <a:off x="2994" y="3072"/>
              <a:ext cx="55" cy="67"/>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62" name="Oval 324"/>
            <p:cNvSpPr>
              <a:spLocks noChangeArrowheads="1"/>
            </p:cNvSpPr>
            <p:nvPr/>
          </p:nvSpPr>
          <p:spPr bwMode="auto">
            <a:xfrm flipH="1">
              <a:off x="2723" y="3072"/>
              <a:ext cx="54" cy="67"/>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63" name="Oval 325"/>
            <p:cNvSpPr>
              <a:spLocks noChangeArrowheads="1"/>
            </p:cNvSpPr>
            <p:nvPr/>
          </p:nvSpPr>
          <p:spPr bwMode="auto">
            <a:xfrm flipH="1">
              <a:off x="3212" y="3072"/>
              <a:ext cx="54" cy="67"/>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64" name="Oval 326"/>
            <p:cNvSpPr>
              <a:spLocks noChangeArrowheads="1"/>
            </p:cNvSpPr>
            <p:nvPr/>
          </p:nvSpPr>
          <p:spPr bwMode="auto">
            <a:xfrm flipH="1">
              <a:off x="3321" y="3072"/>
              <a:ext cx="54" cy="67"/>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65" name="Oval 327"/>
            <p:cNvSpPr>
              <a:spLocks noChangeArrowheads="1"/>
            </p:cNvSpPr>
            <p:nvPr/>
          </p:nvSpPr>
          <p:spPr bwMode="auto">
            <a:xfrm flipH="1">
              <a:off x="3429" y="3072"/>
              <a:ext cx="55" cy="67"/>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66" name="Oval 328"/>
            <p:cNvSpPr>
              <a:spLocks noChangeArrowheads="1"/>
            </p:cNvSpPr>
            <p:nvPr/>
          </p:nvSpPr>
          <p:spPr bwMode="auto">
            <a:xfrm flipH="1">
              <a:off x="4028" y="3072"/>
              <a:ext cx="54" cy="67"/>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67" name="Oval 329"/>
            <p:cNvSpPr>
              <a:spLocks noChangeArrowheads="1"/>
            </p:cNvSpPr>
            <p:nvPr/>
          </p:nvSpPr>
          <p:spPr bwMode="auto">
            <a:xfrm flipH="1">
              <a:off x="3756" y="3072"/>
              <a:ext cx="54" cy="67"/>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68" name="Oval 330"/>
            <p:cNvSpPr>
              <a:spLocks noChangeArrowheads="1"/>
            </p:cNvSpPr>
            <p:nvPr/>
          </p:nvSpPr>
          <p:spPr bwMode="auto">
            <a:xfrm flipH="1">
              <a:off x="4136" y="3072"/>
              <a:ext cx="55" cy="67"/>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69" name="Line 333"/>
            <p:cNvSpPr>
              <a:spLocks noChangeShapeType="1"/>
            </p:cNvSpPr>
            <p:nvPr/>
          </p:nvSpPr>
          <p:spPr bwMode="auto">
            <a:xfrm>
              <a:off x="4164" y="30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sp>
          <p:nvSpPr>
            <p:cNvPr id="31770" name="Line 335"/>
            <p:cNvSpPr>
              <a:spLocks noChangeShapeType="1"/>
            </p:cNvSpPr>
            <p:nvPr/>
          </p:nvSpPr>
          <p:spPr bwMode="auto">
            <a:xfrm>
              <a:off x="1717" y="3095"/>
              <a:ext cx="0" cy="2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graphicFrame>
          <p:nvGraphicFramePr>
            <p:cNvPr id="31771" name="Object 336"/>
            <p:cNvGraphicFramePr>
              <a:graphicFrameLocks noChangeAspect="1"/>
            </p:cNvGraphicFramePr>
            <p:nvPr/>
          </p:nvGraphicFramePr>
          <p:xfrm>
            <a:off x="1528" y="3216"/>
            <a:ext cx="331" cy="278"/>
          </p:xfrm>
          <a:graphic>
            <a:graphicData uri="http://schemas.openxmlformats.org/presentationml/2006/ole">
              <mc:AlternateContent xmlns:mc="http://schemas.openxmlformats.org/markup-compatibility/2006">
                <mc:Choice xmlns:v="urn:schemas-microsoft-com:vml" Requires="v">
                  <p:oleObj name="Equation" r:id="rId11" imgW="266353" imgH="215619" progId="Equation.DSMT4">
                    <p:embed/>
                  </p:oleObj>
                </mc:Choice>
                <mc:Fallback>
                  <p:oleObj name="Equation" r:id="rId11" imgW="266353" imgH="215619" progId="Equation.DSMT4">
                    <p:embed/>
                    <p:pic>
                      <p:nvPicPr>
                        <p:cNvPr id="0" name="Object 33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28" y="3216"/>
                          <a:ext cx="331"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72" name="Object 337"/>
            <p:cNvGraphicFramePr>
              <a:graphicFrameLocks noChangeAspect="1"/>
            </p:cNvGraphicFramePr>
            <p:nvPr/>
          </p:nvGraphicFramePr>
          <p:xfrm>
            <a:off x="4173" y="3199"/>
            <a:ext cx="347" cy="295"/>
          </p:xfrm>
          <a:graphic>
            <a:graphicData uri="http://schemas.openxmlformats.org/presentationml/2006/ole">
              <mc:AlternateContent xmlns:mc="http://schemas.openxmlformats.org/markup-compatibility/2006">
                <mc:Choice xmlns:v="urn:schemas-microsoft-com:vml" Requires="v">
                  <p:oleObj name="Equation" r:id="rId13" imgW="279400" imgH="228600" progId="Equation.DSMT4">
                    <p:embed/>
                  </p:oleObj>
                </mc:Choice>
                <mc:Fallback>
                  <p:oleObj name="Equation" r:id="rId13" imgW="279400" imgH="228600" progId="Equation.DSMT4">
                    <p:embed/>
                    <p:pic>
                      <p:nvPicPr>
                        <p:cNvPr id="0" name="Object 33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73" y="3199"/>
                          <a:ext cx="347" cy="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73" name="Text Box 338"/>
            <p:cNvSpPr txBox="1">
              <a:spLocks noChangeArrowheads="1"/>
            </p:cNvSpPr>
            <p:nvPr/>
          </p:nvSpPr>
          <p:spPr bwMode="auto">
            <a:xfrm>
              <a:off x="912" y="3024"/>
              <a:ext cx="288"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r" eaLnBrk="1" hangingPunct="1">
                <a:spcBef>
                  <a:spcPct val="50000"/>
                </a:spcBef>
              </a:pPr>
              <a:r>
                <a:rPr lang="es-ES_tradnl" altLang="es-ES" sz="1400"/>
                <a:t>[A] </a:t>
              </a:r>
              <a:endParaRPr lang="es-ES" altLang="es-ES" sz="1400"/>
            </a:p>
          </p:txBody>
        </p:sp>
        <p:sp>
          <p:nvSpPr>
            <p:cNvPr id="31774" name="Line 341"/>
            <p:cNvSpPr>
              <a:spLocks noChangeShapeType="1"/>
            </p:cNvSpPr>
            <p:nvPr/>
          </p:nvSpPr>
          <p:spPr bwMode="auto">
            <a:xfrm>
              <a:off x="1200" y="3693"/>
              <a:ext cx="348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sp>
          <p:nvSpPr>
            <p:cNvPr id="31775" name="Oval 342"/>
            <p:cNvSpPr>
              <a:spLocks noChangeArrowheads="1"/>
            </p:cNvSpPr>
            <p:nvPr/>
          </p:nvSpPr>
          <p:spPr bwMode="auto">
            <a:xfrm flipH="1">
              <a:off x="1689" y="3625"/>
              <a:ext cx="55" cy="68"/>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76" name="Oval 343"/>
            <p:cNvSpPr>
              <a:spLocks noChangeArrowheads="1"/>
            </p:cNvSpPr>
            <p:nvPr/>
          </p:nvSpPr>
          <p:spPr bwMode="auto">
            <a:xfrm flipH="1">
              <a:off x="1780" y="3625"/>
              <a:ext cx="54" cy="68"/>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77" name="Oval 344"/>
            <p:cNvSpPr>
              <a:spLocks noChangeArrowheads="1"/>
            </p:cNvSpPr>
            <p:nvPr/>
          </p:nvSpPr>
          <p:spPr bwMode="auto">
            <a:xfrm flipH="1">
              <a:off x="1853" y="3625"/>
              <a:ext cx="54" cy="68"/>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78" name="Oval 345"/>
            <p:cNvSpPr>
              <a:spLocks noChangeArrowheads="1"/>
            </p:cNvSpPr>
            <p:nvPr/>
          </p:nvSpPr>
          <p:spPr bwMode="auto">
            <a:xfrm flipH="1">
              <a:off x="1889" y="3625"/>
              <a:ext cx="54" cy="68"/>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79" name="Oval 346"/>
            <p:cNvSpPr>
              <a:spLocks noChangeArrowheads="1"/>
            </p:cNvSpPr>
            <p:nvPr/>
          </p:nvSpPr>
          <p:spPr bwMode="auto">
            <a:xfrm flipH="1">
              <a:off x="1943" y="3625"/>
              <a:ext cx="55" cy="68"/>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80" name="Oval 347"/>
            <p:cNvSpPr>
              <a:spLocks noChangeArrowheads="1"/>
            </p:cNvSpPr>
            <p:nvPr/>
          </p:nvSpPr>
          <p:spPr bwMode="auto">
            <a:xfrm flipH="1">
              <a:off x="2106" y="3625"/>
              <a:ext cx="55" cy="68"/>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81" name="Oval 348"/>
            <p:cNvSpPr>
              <a:spLocks noChangeArrowheads="1"/>
            </p:cNvSpPr>
            <p:nvPr/>
          </p:nvSpPr>
          <p:spPr bwMode="auto">
            <a:xfrm flipH="1">
              <a:off x="2034" y="3625"/>
              <a:ext cx="54" cy="68"/>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82" name="Oval 349"/>
            <p:cNvSpPr>
              <a:spLocks noChangeArrowheads="1"/>
            </p:cNvSpPr>
            <p:nvPr/>
          </p:nvSpPr>
          <p:spPr bwMode="auto">
            <a:xfrm flipH="1">
              <a:off x="2378" y="3625"/>
              <a:ext cx="55" cy="68"/>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83" name="Oval 350"/>
            <p:cNvSpPr>
              <a:spLocks noChangeArrowheads="1"/>
            </p:cNvSpPr>
            <p:nvPr/>
          </p:nvSpPr>
          <p:spPr bwMode="auto">
            <a:xfrm flipH="1">
              <a:off x="2251" y="3625"/>
              <a:ext cx="55" cy="68"/>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84" name="Oval 351"/>
            <p:cNvSpPr>
              <a:spLocks noChangeArrowheads="1"/>
            </p:cNvSpPr>
            <p:nvPr/>
          </p:nvSpPr>
          <p:spPr bwMode="auto">
            <a:xfrm flipH="1">
              <a:off x="2324" y="3625"/>
              <a:ext cx="54" cy="68"/>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85" name="Oval 352"/>
            <p:cNvSpPr>
              <a:spLocks noChangeArrowheads="1"/>
            </p:cNvSpPr>
            <p:nvPr/>
          </p:nvSpPr>
          <p:spPr bwMode="auto">
            <a:xfrm flipH="1">
              <a:off x="2469" y="3625"/>
              <a:ext cx="54" cy="68"/>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86" name="Oval 353"/>
            <p:cNvSpPr>
              <a:spLocks noChangeArrowheads="1"/>
            </p:cNvSpPr>
            <p:nvPr/>
          </p:nvSpPr>
          <p:spPr bwMode="auto">
            <a:xfrm flipH="1">
              <a:off x="2106" y="3558"/>
              <a:ext cx="55" cy="67"/>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87" name="Oval 354"/>
            <p:cNvSpPr>
              <a:spLocks noChangeArrowheads="1"/>
            </p:cNvSpPr>
            <p:nvPr/>
          </p:nvSpPr>
          <p:spPr bwMode="auto">
            <a:xfrm flipH="1">
              <a:off x="2179" y="3625"/>
              <a:ext cx="54" cy="68"/>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88" name="Oval 355"/>
            <p:cNvSpPr>
              <a:spLocks noChangeArrowheads="1"/>
            </p:cNvSpPr>
            <p:nvPr/>
          </p:nvSpPr>
          <p:spPr bwMode="auto">
            <a:xfrm flipH="1">
              <a:off x="4136" y="3625"/>
              <a:ext cx="55" cy="68"/>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89" name="Line 358"/>
            <p:cNvSpPr>
              <a:spLocks noChangeShapeType="1"/>
            </p:cNvSpPr>
            <p:nvPr/>
          </p:nvSpPr>
          <p:spPr bwMode="auto">
            <a:xfrm>
              <a:off x="4164" y="3625"/>
              <a:ext cx="0" cy="24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sp>
          <p:nvSpPr>
            <p:cNvPr id="31790" name="Line 360"/>
            <p:cNvSpPr>
              <a:spLocks noChangeShapeType="1"/>
            </p:cNvSpPr>
            <p:nvPr/>
          </p:nvSpPr>
          <p:spPr bwMode="auto">
            <a:xfrm>
              <a:off x="1717" y="3649"/>
              <a:ext cx="0" cy="2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graphicFrame>
          <p:nvGraphicFramePr>
            <p:cNvPr id="31791" name="Object 361"/>
            <p:cNvGraphicFramePr>
              <a:graphicFrameLocks noChangeAspect="1"/>
            </p:cNvGraphicFramePr>
            <p:nvPr/>
          </p:nvGraphicFramePr>
          <p:xfrm>
            <a:off x="1528" y="3769"/>
            <a:ext cx="331" cy="279"/>
          </p:xfrm>
          <a:graphic>
            <a:graphicData uri="http://schemas.openxmlformats.org/presentationml/2006/ole">
              <mc:AlternateContent xmlns:mc="http://schemas.openxmlformats.org/markup-compatibility/2006">
                <mc:Choice xmlns:v="urn:schemas-microsoft-com:vml" Requires="v">
                  <p:oleObj name="Equation" r:id="rId15" imgW="266353" imgH="215619" progId="Equation.DSMT4">
                    <p:embed/>
                  </p:oleObj>
                </mc:Choice>
                <mc:Fallback>
                  <p:oleObj name="Equation" r:id="rId15" imgW="266353" imgH="215619" progId="Equation.DSMT4">
                    <p:embed/>
                    <p:pic>
                      <p:nvPicPr>
                        <p:cNvPr id="0" name="Object 36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28" y="3769"/>
                          <a:ext cx="331" cy="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92" name="Object 362"/>
            <p:cNvGraphicFramePr>
              <a:graphicFrameLocks noChangeAspect="1"/>
            </p:cNvGraphicFramePr>
            <p:nvPr/>
          </p:nvGraphicFramePr>
          <p:xfrm>
            <a:off x="4173" y="3753"/>
            <a:ext cx="347" cy="295"/>
          </p:xfrm>
          <a:graphic>
            <a:graphicData uri="http://schemas.openxmlformats.org/presentationml/2006/ole">
              <mc:AlternateContent xmlns:mc="http://schemas.openxmlformats.org/markup-compatibility/2006">
                <mc:Choice xmlns:v="urn:schemas-microsoft-com:vml" Requires="v">
                  <p:oleObj name="Equation" r:id="rId16" imgW="279400" imgH="228600" progId="Equation.DSMT4">
                    <p:embed/>
                  </p:oleObj>
                </mc:Choice>
                <mc:Fallback>
                  <p:oleObj name="Equation" r:id="rId16" imgW="279400" imgH="228600" progId="Equation.DSMT4">
                    <p:embed/>
                    <p:pic>
                      <p:nvPicPr>
                        <p:cNvPr id="0" name="Object 36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73" y="3753"/>
                          <a:ext cx="347" cy="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93" name="Oval 363"/>
            <p:cNvSpPr>
              <a:spLocks noChangeArrowheads="1"/>
            </p:cNvSpPr>
            <p:nvPr/>
          </p:nvSpPr>
          <p:spPr bwMode="auto">
            <a:xfrm flipH="1">
              <a:off x="2179" y="3588"/>
              <a:ext cx="54" cy="67"/>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94" name="Oval 364"/>
            <p:cNvSpPr>
              <a:spLocks noChangeArrowheads="1"/>
            </p:cNvSpPr>
            <p:nvPr/>
          </p:nvSpPr>
          <p:spPr bwMode="auto">
            <a:xfrm flipH="1">
              <a:off x="2179" y="3520"/>
              <a:ext cx="54" cy="68"/>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1795" name="Oval 365"/>
            <p:cNvSpPr>
              <a:spLocks noChangeArrowheads="1"/>
            </p:cNvSpPr>
            <p:nvPr/>
          </p:nvSpPr>
          <p:spPr bwMode="auto">
            <a:xfrm flipH="1">
              <a:off x="2179" y="3475"/>
              <a:ext cx="54" cy="67"/>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endParaRPr lang="es-ES" altLang="es-ES" sz="1300">
                <a:latin typeface="Times New Roman" pitchFamily="18" charset="0"/>
              </a:endParaRPr>
            </a:p>
          </p:txBody>
        </p:sp>
        <p:sp>
          <p:nvSpPr>
            <p:cNvPr id="31796" name="Rectangle 366"/>
            <p:cNvSpPr>
              <a:spLocks noChangeArrowheads="1"/>
            </p:cNvSpPr>
            <p:nvPr/>
          </p:nvSpPr>
          <p:spPr bwMode="auto">
            <a:xfrm>
              <a:off x="911" y="3569"/>
              <a:ext cx="28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r" eaLnBrk="1" hangingPunct="1"/>
              <a:r>
                <a:rPr lang="es-ES_tradnl" altLang="es-ES" sz="1400"/>
                <a:t>[B]</a:t>
              </a:r>
              <a:endParaRPr lang="es-ES" altLang="es-ES" sz="1400"/>
            </a:p>
          </p:txBody>
        </p:sp>
      </p:grpSp>
      <p:sp>
        <p:nvSpPr>
          <p:cNvPr id="31753" name="Text Box 368"/>
          <p:cNvSpPr txBox="1">
            <a:spLocks noChangeArrowheads="1"/>
          </p:cNvSpPr>
          <p:nvPr/>
        </p:nvSpPr>
        <p:spPr bwMode="auto">
          <a:xfrm>
            <a:off x="6477000" y="5334000"/>
            <a:ext cx="1905000" cy="792163"/>
          </a:xfrm>
          <a:prstGeom prst="rect">
            <a:avLst/>
          </a:prstGeom>
          <a:solidFill>
            <a:schemeClr val="bg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lnSpc>
                <a:spcPct val="110000"/>
              </a:lnSpc>
            </a:pPr>
            <a:r>
              <a:rPr lang="es-ES" altLang="es-ES" sz="1400"/>
              <a:t>¿Qué se puede decir de estas dos distribuciones?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Text Box 212"/>
          <p:cNvSpPr txBox="1">
            <a:spLocks noChangeArrowheads="1"/>
          </p:cNvSpPr>
          <p:nvPr/>
        </p:nvSpPr>
        <p:spPr bwMode="auto">
          <a:xfrm>
            <a:off x="247650" y="914400"/>
            <a:ext cx="86677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400" dirty="0"/>
              <a:t>Para caracterizar un conjunto de datos, no basta con dar solamente medidas de posición, también es necesario conocer su </a:t>
            </a:r>
            <a:r>
              <a:rPr lang="es-ES_tradnl" altLang="es-ES" sz="1400" b="1" i="1" dirty="0"/>
              <a:t>dispersión</a:t>
            </a:r>
            <a:r>
              <a:rPr lang="es-ES_tradnl" altLang="es-ES" sz="1400" dirty="0"/>
              <a:t> = </a:t>
            </a:r>
            <a:r>
              <a:rPr lang="es-ES_tradnl" altLang="es-ES" sz="1400" b="1" i="1" dirty="0"/>
              <a:t>heterogeneidad</a:t>
            </a:r>
            <a:r>
              <a:rPr lang="es-ES_tradnl" altLang="es-ES" sz="1400" dirty="0"/>
              <a:t> = </a:t>
            </a:r>
            <a:r>
              <a:rPr lang="es-ES_tradnl" altLang="es-ES" sz="1400" b="1" i="1" dirty="0"/>
              <a:t>variabilidad</a:t>
            </a:r>
            <a:endParaRPr lang="es-ES_tradnl" altLang="es-ES" sz="1400" b="1" i="1" dirty="0">
              <a:latin typeface="Times New Roman" pitchFamily="18" charset="0"/>
            </a:endParaRPr>
          </a:p>
        </p:txBody>
      </p:sp>
      <p:sp>
        <p:nvSpPr>
          <p:cNvPr id="32772" name="Text Box 218"/>
          <p:cNvSpPr txBox="1">
            <a:spLocks noChangeArrowheads="1"/>
          </p:cNvSpPr>
          <p:nvPr/>
        </p:nvSpPr>
        <p:spPr bwMode="auto">
          <a:xfrm>
            <a:off x="457200" y="2286000"/>
            <a:ext cx="2667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600" b="1"/>
              <a:t>Rango (R) o amplitud (A):</a:t>
            </a:r>
            <a:endParaRPr lang="en-GB" altLang="es-ES" sz="1600" b="1"/>
          </a:p>
        </p:txBody>
      </p:sp>
      <p:graphicFrame>
        <p:nvGraphicFramePr>
          <p:cNvPr id="32773" name="Object 219"/>
          <p:cNvGraphicFramePr>
            <a:graphicFrameLocks noChangeAspect="1"/>
          </p:cNvGraphicFramePr>
          <p:nvPr/>
        </p:nvGraphicFramePr>
        <p:xfrm>
          <a:off x="3765550" y="2286000"/>
          <a:ext cx="1543050" cy="392113"/>
        </p:xfrm>
        <a:graphic>
          <a:graphicData uri="http://schemas.openxmlformats.org/presentationml/2006/ole">
            <mc:AlternateContent xmlns:mc="http://schemas.openxmlformats.org/markup-compatibility/2006">
              <mc:Choice xmlns:v="urn:schemas-microsoft-com:vml" Requires="v">
                <p:oleObj name="Equation" r:id="rId3" imgW="901309" imgH="228501" progId="Equation.DSMT4">
                  <p:embed/>
                </p:oleObj>
              </mc:Choice>
              <mc:Fallback>
                <p:oleObj name="Equation" r:id="rId3" imgW="901309" imgH="228501" progId="Equation.DSMT4">
                  <p:embed/>
                  <p:pic>
                    <p:nvPicPr>
                      <p:cNvPr id="0" name="Object 2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5550" y="2286000"/>
                        <a:ext cx="1543050"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74" name="Text Box 220"/>
          <p:cNvSpPr txBox="1">
            <a:spLocks noChangeArrowheads="1"/>
          </p:cNvSpPr>
          <p:nvPr/>
        </p:nvSpPr>
        <p:spPr bwMode="auto">
          <a:xfrm>
            <a:off x="457200" y="2895600"/>
            <a:ext cx="79248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400"/>
              <a:t>Es una medida fácil de calcular, pero muy pobre, ya que solo tiene en cuenta a dos observaciones de toda la muestra (los extremos)</a:t>
            </a:r>
            <a:endParaRPr lang="en-GB" altLang="es-ES" sz="1400"/>
          </a:p>
        </p:txBody>
      </p:sp>
      <p:grpSp>
        <p:nvGrpSpPr>
          <p:cNvPr id="32775" name="Group 221"/>
          <p:cNvGrpSpPr>
            <a:grpSpLocks/>
          </p:cNvGrpSpPr>
          <p:nvPr/>
        </p:nvGrpSpPr>
        <p:grpSpPr bwMode="auto">
          <a:xfrm>
            <a:off x="1384300" y="4027488"/>
            <a:ext cx="5981700" cy="1687512"/>
            <a:chOff x="869" y="912"/>
            <a:chExt cx="3768" cy="1063"/>
          </a:xfrm>
        </p:grpSpPr>
        <p:grpSp>
          <p:nvGrpSpPr>
            <p:cNvPr id="32780" name="Group 222"/>
            <p:cNvGrpSpPr>
              <a:grpSpLocks/>
            </p:cNvGrpSpPr>
            <p:nvPr/>
          </p:nvGrpSpPr>
          <p:grpSpPr bwMode="auto">
            <a:xfrm>
              <a:off x="869" y="912"/>
              <a:ext cx="3768" cy="509"/>
              <a:chOff x="888" y="883"/>
              <a:chExt cx="3768" cy="509"/>
            </a:xfrm>
          </p:grpSpPr>
          <p:grpSp>
            <p:nvGrpSpPr>
              <p:cNvPr id="32809" name="Group 223"/>
              <p:cNvGrpSpPr>
                <a:grpSpLocks/>
              </p:cNvGrpSpPr>
              <p:nvPr/>
            </p:nvGrpSpPr>
            <p:grpSpPr bwMode="auto">
              <a:xfrm>
                <a:off x="1176" y="931"/>
                <a:ext cx="3480" cy="461"/>
                <a:chOff x="672" y="1181"/>
                <a:chExt cx="4608" cy="590"/>
              </a:xfrm>
            </p:grpSpPr>
            <p:sp>
              <p:nvSpPr>
                <p:cNvPr id="32811" name="Line 224"/>
                <p:cNvSpPr>
                  <a:spLocks noChangeShapeType="1"/>
                </p:cNvSpPr>
                <p:nvPr/>
              </p:nvSpPr>
              <p:spPr bwMode="auto">
                <a:xfrm>
                  <a:off x="672" y="1267"/>
                  <a:ext cx="460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sp>
              <p:nvSpPr>
                <p:cNvPr id="32812" name="Oval 225"/>
                <p:cNvSpPr>
                  <a:spLocks noChangeArrowheads="1"/>
                </p:cNvSpPr>
                <p:nvPr/>
              </p:nvSpPr>
              <p:spPr bwMode="auto">
                <a:xfrm flipH="1">
                  <a:off x="1320" y="118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813" name="Oval 226"/>
                <p:cNvSpPr>
                  <a:spLocks noChangeArrowheads="1"/>
                </p:cNvSpPr>
                <p:nvPr/>
              </p:nvSpPr>
              <p:spPr bwMode="auto">
                <a:xfrm flipH="1">
                  <a:off x="1608" y="118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814" name="Oval 227"/>
                <p:cNvSpPr>
                  <a:spLocks noChangeArrowheads="1"/>
                </p:cNvSpPr>
                <p:nvPr/>
              </p:nvSpPr>
              <p:spPr bwMode="auto">
                <a:xfrm flipH="1">
                  <a:off x="1752" y="118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815" name="Oval 228"/>
                <p:cNvSpPr>
                  <a:spLocks noChangeArrowheads="1"/>
                </p:cNvSpPr>
                <p:nvPr/>
              </p:nvSpPr>
              <p:spPr bwMode="auto">
                <a:xfrm flipH="1">
                  <a:off x="2040" y="118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816" name="Oval 229"/>
                <p:cNvSpPr>
                  <a:spLocks noChangeArrowheads="1"/>
                </p:cNvSpPr>
                <p:nvPr/>
              </p:nvSpPr>
              <p:spPr bwMode="auto">
                <a:xfrm flipH="1">
                  <a:off x="2112" y="118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817" name="Oval 230"/>
                <p:cNvSpPr>
                  <a:spLocks noChangeArrowheads="1"/>
                </p:cNvSpPr>
                <p:nvPr/>
              </p:nvSpPr>
              <p:spPr bwMode="auto">
                <a:xfrm flipH="1">
                  <a:off x="2328" y="118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818" name="Oval 231"/>
                <p:cNvSpPr>
                  <a:spLocks noChangeArrowheads="1"/>
                </p:cNvSpPr>
                <p:nvPr/>
              </p:nvSpPr>
              <p:spPr bwMode="auto">
                <a:xfrm flipH="1">
                  <a:off x="3048" y="118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819" name="Oval 232"/>
                <p:cNvSpPr>
                  <a:spLocks noChangeArrowheads="1"/>
                </p:cNvSpPr>
                <p:nvPr/>
              </p:nvSpPr>
              <p:spPr bwMode="auto">
                <a:xfrm flipH="1">
                  <a:off x="2688" y="118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820" name="Oval 233"/>
                <p:cNvSpPr>
                  <a:spLocks noChangeArrowheads="1"/>
                </p:cNvSpPr>
                <p:nvPr/>
              </p:nvSpPr>
              <p:spPr bwMode="auto">
                <a:xfrm flipH="1">
                  <a:off x="3336" y="118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821" name="Oval 234"/>
                <p:cNvSpPr>
                  <a:spLocks noChangeArrowheads="1"/>
                </p:cNvSpPr>
                <p:nvPr/>
              </p:nvSpPr>
              <p:spPr bwMode="auto">
                <a:xfrm flipH="1">
                  <a:off x="3480" y="118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822" name="Oval 235"/>
                <p:cNvSpPr>
                  <a:spLocks noChangeArrowheads="1"/>
                </p:cNvSpPr>
                <p:nvPr/>
              </p:nvSpPr>
              <p:spPr bwMode="auto">
                <a:xfrm flipH="1">
                  <a:off x="3624" y="118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823" name="Oval 236"/>
                <p:cNvSpPr>
                  <a:spLocks noChangeArrowheads="1"/>
                </p:cNvSpPr>
                <p:nvPr/>
              </p:nvSpPr>
              <p:spPr bwMode="auto">
                <a:xfrm flipH="1">
                  <a:off x="4416" y="118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824" name="Oval 237"/>
                <p:cNvSpPr>
                  <a:spLocks noChangeArrowheads="1"/>
                </p:cNvSpPr>
                <p:nvPr/>
              </p:nvSpPr>
              <p:spPr bwMode="auto">
                <a:xfrm flipH="1">
                  <a:off x="4056" y="118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825" name="Oval 238"/>
                <p:cNvSpPr>
                  <a:spLocks noChangeArrowheads="1"/>
                </p:cNvSpPr>
                <p:nvPr/>
              </p:nvSpPr>
              <p:spPr bwMode="auto">
                <a:xfrm flipH="1">
                  <a:off x="4560" y="118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aphicFrame>
              <p:nvGraphicFramePr>
                <p:cNvPr id="32826" name="Object 239"/>
                <p:cNvGraphicFramePr>
                  <a:graphicFrameLocks noChangeAspect="1"/>
                </p:cNvGraphicFramePr>
                <p:nvPr/>
              </p:nvGraphicFramePr>
              <p:xfrm>
                <a:off x="2378" y="1488"/>
                <a:ext cx="1099" cy="283"/>
              </p:xfrm>
              <a:graphic>
                <a:graphicData uri="http://schemas.openxmlformats.org/presentationml/2006/ole">
                  <mc:AlternateContent xmlns:mc="http://schemas.openxmlformats.org/markup-compatibility/2006">
                    <mc:Choice xmlns:v="urn:schemas-microsoft-com:vml" Requires="v">
                      <p:oleObj name="Equation" r:id="rId5" imgW="889000" imgH="228600" progId="Equation.DSMT4">
                        <p:embed/>
                      </p:oleObj>
                    </mc:Choice>
                    <mc:Fallback>
                      <p:oleObj name="Equation" r:id="rId5" imgW="889000" imgH="228600" progId="Equation.DSMT4">
                        <p:embed/>
                        <p:pic>
                          <p:nvPicPr>
                            <p:cNvPr id="0" name="Object 2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78" y="1488"/>
                              <a:ext cx="1099"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2827" name="Group 240"/>
                <p:cNvGrpSpPr>
                  <a:grpSpLocks/>
                </p:cNvGrpSpPr>
                <p:nvPr/>
              </p:nvGrpSpPr>
              <p:grpSpPr bwMode="auto">
                <a:xfrm>
                  <a:off x="1356" y="1181"/>
                  <a:ext cx="3252" cy="307"/>
                  <a:chOff x="1356" y="1181"/>
                  <a:chExt cx="3252" cy="307"/>
                </a:xfrm>
              </p:grpSpPr>
              <p:sp>
                <p:nvSpPr>
                  <p:cNvPr id="32830" name="Line 241"/>
                  <p:cNvSpPr>
                    <a:spLocks noChangeShapeType="1"/>
                  </p:cNvSpPr>
                  <p:nvPr/>
                </p:nvSpPr>
                <p:spPr bwMode="auto">
                  <a:xfrm>
                    <a:off x="4596" y="1181"/>
                    <a:ext cx="0" cy="30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sp>
                <p:nvSpPr>
                  <p:cNvPr id="32831" name="Line 242"/>
                  <p:cNvSpPr>
                    <a:spLocks noChangeShapeType="1"/>
                  </p:cNvSpPr>
                  <p:nvPr/>
                </p:nvSpPr>
                <p:spPr bwMode="auto">
                  <a:xfrm>
                    <a:off x="1368" y="1488"/>
                    <a:ext cx="324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sp>
                <p:nvSpPr>
                  <p:cNvPr id="32832" name="Line 243"/>
                  <p:cNvSpPr>
                    <a:spLocks noChangeShapeType="1"/>
                  </p:cNvSpPr>
                  <p:nvPr/>
                </p:nvSpPr>
                <p:spPr bwMode="auto">
                  <a:xfrm>
                    <a:off x="1356" y="1211"/>
                    <a:ext cx="0" cy="27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grpSp>
            <p:graphicFrame>
              <p:nvGraphicFramePr>
                <p:cNvPr id="32828" name="Object 244"/>
                <p:cNvGraphicFramePr>
                  <a:graphicFrameLocks noChangeAspect="1"/>
                </p:cNvGraphicFramePr>
                <p:nvPr/>
              </p:nvGraphicFramePr>
              <p:xfrm>
                <a:off x="1106" y="1365"/>
                <a:ext cx="439" cy="356"/>
              </p:xfrm>
              <a:graphic>
                <a:graphicData uri="http://schemas.openxmlformats.org/presentationml/2006/ole">
                  <mc:AlternateContent xmlns:mc="http://schemas.openxmlformats.org/markup-compatibility/2006">
                    <mc:Choice xmlns:v="urn:schemas-microsoft-com:vml" Requires="v">
                      <p:oleObj name="Equation" r:id="rId7" imgW="266353" imgH="215619" progId="Equation.DSMT4">
                        <p:embed/>
                      </p:oleObj>
                    </mc:Choice>
                    <mc:Fallback>
                      <p:oleObj name="Equation" r:id="rId7" imgW="266353" imgH="215619" progId="Equation.DSMT4">
                        <p:embed/>
                        <p:pic>
                          <p:nvPicPr>
                            <p:cNvPr id="0" name="Object 24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6" y="1365"/>
                              <a:ext cx="439" cy="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829" name="Object 245"/>
                <p:cNvGraphicFramePr>
                  <a:graphicFrameLocks noChangeAspect="1"/>
                </p:cNvGraphicFramePr>
                <p:nvPr/>
              </p:nvGraphicFramePr>
              <p:xfrm>
                <a:off x="4608" y="1344"/>
                <a:ext cx="460" cy="377"/>
              </p:xfrm>
              <a:graphic>
                <a:graphicData uri="http://schemas.openxmlformats.org/presentationml/2006/ole">
                  <mc:AlternateContent xmlns:mc="http://schemas.openxmlformats.org/markup-compatibility/2006">
                    <mc:Choice xmlns:v="urn:schemas-microsoft-com:vml" Requires="v">
                      <p:oleObj name="Equation" r:id="rId9" imgW="279400" imgH="228600" progId="Equation.DSMT4">
                        <p:embed/>
                      </p:oleObj>
                    </mc:Choice>
                    <mc:Fallback>
                      <p:oleObj name="Equation" r:id="rId9" imgW="279400" imgH="228600" progId="Equation.DSMT4">
                        <p:embed/>
                        <p:pic>
                          <p:nvPicPr>
                            <p:cNvPr id="0" name="Object 24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08" y="1344"/>
                              <a:ext cx="460" cy="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32810" name="Text Box 246"/>
              <p:cNvSpPr txBox="1">
                <a:spLocks noChangeArrowheads="1"/>
              </p:cNvSpPr>
              <p:nvPr/>
            </p:nvSpPr>
            <p:spPr bwMode="auto">
              <a:xfrm>
                <a:off x="888" y="883"/>
                <a:ext cx="288"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r" eaLnBrk="1" hangingPunct="1">
                  <a:spcBef>
                    <a:spcPct val="50000"/>
                  </a:spcBef>
                </a:pPr>
                <a:r>
                  <a:rPr lang="es-ES_tradnl" altLang="es-ES" sz="1500" b="1"/>
                  <a:t>[A]</a:t>
                </a:r>
                <a:endParaRPr lang="es-ES" altLang="es-ES" sz="1500" b="1"/>
              </a:p>
            </p:txBody>
          </p:sp>
        </p:grpSp>
        <p:grpSp>
          <p:nvGrpSpPr>
            <p:cNvPr id="32781" name="Group 247"/>
            <p:cNvGrpSpPr>
              <a:grpSpLocks/>
            </p:cNvGrpSpPr>
            <p:nvPr/>
          </p:nvGrpSpPr>
          <p:grpSpPr bwMode="auto">
            <a:xfrm>
              <a:off x="869" y="1363"/>
              <a:ext cx="3768" cy="612"/>
              <a:chOff x="888" y="1471"/>
              <a:chExt cx="3768" cy="612"/>
            </a:xfrm>
          </p:grpSpPr>
          <p:grpSp>
            <p:nvGrpSpPr>
              <p:cNvPr id="32782" name="Group 248"/>
              <p:cNvGrpSpPr>
                <a:grpSpLocks/>
              </p:cNvGrpSpPr>
              <p:nvPr/>
            </p:nvGrpSpPr>
            <p:grpSpPr bwMode="auto">
              <a:xfrm>
                <a:off x="1176" y="1471"/>
                <a:ext cx="3480" cy="612"/>
                <a:chOff x="624" y="1872"/>
                <a:chExt cx="4608" cy="782"/>
              </a:xfrm>
            </p:grpSpPr>
            <p:sp>
              <p:nvSpPr>
                <p:cNvPr id="32784" name="Line 249"/>
                <p:cNvSpPr>
                  <a:spLocks noChangeShapeType="1"/>
                </p:cNvSpPr>
                <p:nvPr/>
              </p:nvSpPr>
              <p:spPr bwMode="auto">
                <a:xfrm>
                  <a:off x="624" y="2150"/>
                  <a:ext cx="460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sp>
              <p:nvSpPr>
                <p:cNvPr id="32785" name="Oval 250"/>
                <p:cNvSpPr>
                  <a:spLocks noChangeArrowheads="1"/>
                </p:cNvSpPr>
                <p:nvPr/>
              </p:nvSpPr>
              <p:spPr bwMode="auto">
                <a:xfrm flipH="1">
                  <a:off x="1272" y="2064"/>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786" name="Oval 251"/>
                <p:cNvSpPr>
                  <a:spLocks noChangeArrowheads="1"/>
                </p:cNvSpPr>
                <p:nvPr/>
              </p:nvSpPr>
              <p:spPr bwMode="auto">
                <a:xfrm flipH="1">
                  <a:off x="1392" y="2064"/>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787" name="Oval 252"/>
                <p:cNvSpPr>
                  <a:spLocks noChangeArrowheads="1"/>
                </p:cNvSpPr>
                <p:nvPr/>
              </p:nvSpPr>
              <p:spPr bwMode="auto">
                <a:xfrm flipH="1">
                  <a:off x="1488" y="2064"/>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788" name="Oval 253"/>
                <p:cNvSpPr>
                  <a:spLocks noChangeArrowheads="1"/>
                </p:cNvSpPr>
                <p:nvPr/>
              </p:nvSpPr>
              <p:spPr bwMode="auto">
                <a:xfrm flipH="1">
                  <a:off x="1536" y="2064"/>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789" name="Oval 254"/>
                <p:cNvSpPr>
                  <a:spLocks noChangeArrowheads="1"/>
                </p:cNvSpPr>
                <p:nvPr/>
              </p:nvSpPr>
              <p:spPr bwMode="auto">
                <a:xfrm flipH="1">
                  <a:off x="1608" y="2064"/>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790" name="Oval 255"/>
                <p:cNvSpPr>
                  <a:spLocks noChangeArrowheads="1"/>
                </p:cNvSpPr>
                <p:nvPr/>
              </p:nvSpPr>
              <p:spPr bwMode="auto">
                <a:xfrm flipH="1">
                  <a:off x="1824" y="2064"/>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791" name="Oval 256"/>
                <p:cNvSpPr>
                  <a:spLocks noChangeArrowheads="1"/>
                </p:cNvSpPr>
                <p:nvPr/>
              </p:nvSpPr>
              <p:spPr bwMode="auto">
                <a:xfrm flipH="1">
                  <a:off x="1728" y="2064"/>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792" name="Oval 257"/>
                <p:cNvSpPr>
                  <a:spLocks noChangeArrowheads="1"/>
                </p:cNvSpPr>
                <p:nvPr/>
              </p:nvSpPr>
              <p:spPr bwMode="auto">
                <a:xfrm flipH="1">
                  <a:off x="2184" y="2064"/>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793" name="Oval 258"/>
                <p:cNvSpPr>
                  <a:spLocks noChangeArrowheads="1"/>
                </p:cNvSpPr>
                <p:nvPr/>
              </p:nvSpPr>
              <p:spPr bwMode="auto">
                <a:xfrm flipH="1">
                  <a:off x="2016" y="2064"/>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794" name="Oval 259"/>
                <p:cNvSpPr>
                  <a:spLocks noChangeArrowheads="1"/>
                </p:cNvSpPr>
                <p:nvPr/>
              </p:nvSpPr>
              <p:spPr bwMode="auto">
                <a:xfrm flipH="1">
                  <a:off x="2112" y="2064"/>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795" name="Oval 260"/>
                <p:cNvSpPr>
                  <a:spLocks noChangeArrowheads="1"/>
                </p:cNvSpPr>
                <p:nvPr/>
              </p:nvSpPr>
              <p:spPr bwMode="auto">
                <a:xfrm flipH="1">
                  <a:off x="2304" y="2064"/>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796" name="Oval 261"/>
                <p:cNvSpPr>
                  <a:spLocks noChangeArrowheads="1"/>
                </p:cNvSpPr>
                <p:nvPr/>
              </p:nvSpPr>
              <p:spPr bwMode="auto">
                <a:xfrm flipH="1">
                  <a:off x="1824" y="1978"/>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797" name="Oval 262"/>
                <p:cNvSpPr>
                  <a:spLocks noChangeArrowheads="1"/>
                </p:cNvSpPr>
                <p:nvPr/>
              </p:nvSpPr>
              <p:spPr bwMode="auto">
                <a:xfrm flipH="1">
                  <a:off x="1920" y="2064"/>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798" name="Oval 263"/>
                <p:cNvSpPr>
                  <a:spLocks noChangeArrowheads="1"/>
                </p:cNvSpPr>
                <p:nvPr/>
              </p:nvSpPr>
              <p:spPr bwMode="auto">
                <a:xfrm flipH="1">
                  <a:off x="4512" y="2064"/>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aphicFrame>
              <p:nvGraphicFramePr>
                <p:cNvPr id="32799" name="Object 264"/>
                <p:cNvGraphicFramePr>
                  <a:graphicFrameLocks noChangeAspect="1"/>
                </p:cNvGraphicFramePr>
                <p:nvPr/>
              </p:nvGraphicFramePr>
              <p:xfrm>
                <a:off x="2330" y="2371"/>
                <a:ext cx="1099" cy="283"/>
              </p:xfrm>
              <a:graphic>
                <a:graphicData uri="http://schemas.openxmlformats.org/presentationml/2006/ole">
                  <mc:AlternateContent xmlns:mc="http://schemas.openxmlformats.org/markup-compatibility/2006">
                    <mc:Choice xmlns:v="urn:schemas-microsoft-com:vml" Requires="v">
                      <p:oleObj name="Equation" r:id="rId11" imgW="889000" imgH="228600" progId="Equation.DSMT4">
                        <p:embed/>
                      </p:oleObj>
                    </mc:Choice>
                    <mc:Fallback>
                      <p:oleObj name="Equation" r:id="rId11" imgW="889000" imgH="228600" progId="Equation.DSMT4">
                        <p:embed/>
                        <p:pic>
                          <p:nvPicPr>
                            <p:cNvPr id="0" name="Object 26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0" y="2371"/>
                              <a:ext cx="1099"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2800" name="Group 265"/>
                <p:cNvGrpSpPr>
                  <a:grpSpLocks/>
                </p:cNvGrpSpPr>
                <p:nvPr/>
              </p:nvGrpSpPr>
              <p:grpSpPr bwMode="auto">
                <a:xfrm>
                  <a:off x="1308" y="2064"/>
                  <a:ext cx="3252" cy="307"/>
                  <a:chOff x="1356" y="1181"/>
                  <a:chExt cx="3252" cy="307"/>
                </a:xfrm>
              </p:grpSpPr>
              <p:sp>
                <p:nvSpPr>
                  <p:cNvPr id="32806" name="Line 266"/>
                  <p:cNvSpPr>
                    <a:spLocks noChangeShapeType="1"/>
                  </p:cNvSpPr>
                  <p:nvPr/>
                </p:nvSpPr>
                <p:spPr bwMode="auto">
                  <a:xfrm>
                    <a:off x="4596" y="1181"/>
                    <a:ext cx="0" cy="30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sp>
                <p:nvSpPr>
                  <p:cNvPr id="32807" name="Line 267"/>
                  <p:cNvSpPr>
                    <a:spLocks noChangeShapeType="1"/>
                  </p:cNvSpPr>
                  <p:nvPr/>
                </p:nvSpPr>
                <p:spPr bwMode="auto">
                  <a:xfrm>
                    <a:off x="1368" y="1488"/>
                    <a:ext cx="324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sp>
                <p:nvSpPr>
                  <p:cNvPr id="32808" name="Line 268"/>
                  <p:cNvSpPr>
                    <a:spLocks noChangeShapeType="1"/>
                  </p:cNvSpPr>
                  <p:nvPr/>
                </p:nvSpPr>
                <p:spPr bwMode="auto">
                  <a:xfrm>
                    <a:off x="1356" y="1211"/>
                    <a:ext cx="0" cy="27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grpSp>
            <p:graphicFrame>
              <p:nvGraphicFramePr>
                <p:cNvPr id="32801" name="Object 269"/>
                <p:cNvGraphicFramePr>
                  <a:graphicFrameLocks noChangeAspect="1"/>
                </p:cNvGraphicFramePr>
                <p:nvPr/>
              </p:nvGraphicFramePr>
              <p:xfrm>
                <a:off x="1058" y="2248"/>
                <a:ext cx="439" cy="356"/>
              </p:xfrm>
              <a:graphic>
                <a:graphicData uri="http://schemas.openxmlformats.org/presentationml/2006/ole">
                  <mc:AlternateContent xmlns:mc="http://schemas.openxmlformats.org/markup-compatibility/2006">
                    <mc:Choice xmlns:v="urn:schemas-microsoft-com:vml" Requires="v">
                      <p:oleObj name="Equation" r:id="rId12" imgW="266353" imgH="215619" progId="Equation.DSMT4">
                        <p:embed/>
                      </p:oleObj>
                    </mc:Choice>
                    <mc:Fallback>
                      <p:oleObj name="Equation" r:id="rId12" imgW="266353" imgH="215619" progId="Equation.DSMT4">
                        <p:embed/>
                        <p:pic>
                          <p:nvPicPr>
                            <p:cNvPr id="0" name="Object 26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58" y="2248"/>
                              <a:ext cx="439" cy="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802" name="Object 270"/>
                <p:cNvGraphicFramePr>
                  <a:graphicFrameLocks noChangeAspect="1"/>
                </p:cNvGraphicFramePr>
                <p:nvPr/>
              </p:nvGraphicFramePr>
              <p:xfrm>
                <a:off x="4560" y="2227"/>
                <a:ext cx="460" cy="377"/>
              </p:xfrm>
              <a:graphic>
                <a:graphicData uri="http://schemas.openxmlformats.org/presentationml/2006/ole">
                  <mc:AlternateContent xmlns:mc="http://schemas.openxmlformats.org/markup-compatibility/2006">
                    <mc:Choice xmlns:v="urn:schemas-microsoft-com:vml" Requires="v">
                      <p:oleObj name="Equation" r:id="rId13" imgW="279400" imgH="228600" progId="Equation.DSMT4">
                        <p:embed/>
                      </p:oleObj>
                    </mc:Choice>
                    <mc:Fallback>
                      <p:oleObj name="Equation" r:id="rId13" imgW="279400" imgH="228600" progId="Equation.DSMT4">
                        <p:embed/>
                        <p:pic>
                          <p:nvPicPr>
                            <p:cNvPr id="0" name="Object 27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60" y="2227"/>
                              <a:ext cx="460" cy="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803" name="Oval 271"/>
                <p:cNvSpPr>
                  <a:spLocks noChangeArrowheads="1"/>
                </p:cNvSpPr>
                <p:nvPr/>
              </p:nvSpPr>
              <p:spPr bwMode="auto">
                <a:xfrm flipH="1">
                  <a:off x="1920" y="2016"/>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804" name="Oval 272"/>
                <p:cNvSpPr>
                  <a:spLocks noChangeArrowheads="1"/>
                </p:cNvSpPr>
                <p:nvPr/>
              </p:nvSpPr>
              <p:spPr bwMode="auto">
                <a:xfrm flipH="1">
                  <a:off x="1920" y="1930"/>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805" name="Oval 273"/>
                <p:cNvSpPr>
                  <a:spLocks noChangeArrowheads="1"/>
                </p:cNvSpPr>
                <p:nvPr/>
              </p:nvSpPr>
              <p:spPr bwMode="auto">
                <a:xfrm flipH="1">
                  <a:off x="1920" y="1872"/>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endParaRPr lang="es-ES" altLang="es-ES" sz="1300">
                    <a:latin typeface="Times New Roman" pitchFamily="18" charset="0"/>
                  </a:endParaRPr>
                </a:p>
              </p:txBody>
            </p:sp>
          </p:grpSp>
          <p:sp>
            <p:nvSpPr>
              <p:cNvPr id="32783" name="Rectangle 274"/>
              <p:cNvSpPr>
                <a:spLocks noChangeArrowheads="1"/>
              </p:cNvSpPr>
              <p:nvPr/>
            </p:nvSpPr>
            <p:spPr bwMode="auto">
              <a:xfrm>
                <a:off x="888" y="1555"/>
                <a:ext cx="285"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r" eaLnBrk="1" hangingPunct="1"/>
                <a:r>
                  <a:rPr lang="es-ES_tradnl" altLang="es-ES" sz="1500" b="1"/>
                  <a:t>[B]</a:t>
                </a:r>
                <a:endParaRPr lang="es-ES" altLang="es-ES" sz="1500" b="1"/>
              </a:p>
            </p:txBody>
          </p:sp>
        </p:grpSp>
      </p:grpSp>
      <p:sp>
        <p:nvSpPr>
          <p:cNvPr id="32776" name="Text Box 15"/>
          <p:cNvSpPr txBox="1">
            <a:spLocks noChangeArrowheads="1"/>
          </p:cNvSpPr>
          <p:nvPr/>
        </p:nvSpPr>
        <p:spPr bwMode="auto">
          <a:xfrm>
            <a:off x="247650" y="1657350"/>
            <a:ext cx="527420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600" b="1" dirty="0">
                <a:solidFill>
                  <a:schemeClr val="accent1">
                    <a:lumMod val="25000"/>
                  </a:schemeClr>
                </a:solidFill>
              </a:rPr>
              <a:t>Medidas de dispersión (solo variables cuantitativas)</a:t>
            </a:r>
            <a:endParaRPr lang="es-ES" altLang="es-ES" sz="1600" b="1" dirty="0">
              <a:solidFill>
                <a:schemeClr val="accent1">
                  <a:lumMod val="25000"/>
                </a:schemeClr>
              </a:solidFill>
            </a:endParaRPr>
          </a:p>
        </p:txBody>
      </p:sp>
      <p:sp>
        <p:nvSpPr>
          <p:cNvPr id="32777" name="Text Box 276"/>
          <p:cNvSpPr txBox="1">
            <a:spLocks noChangeArrowheads="1"/>
          </p:cNvSpPr>
          <p:nvPr/>
        </p:nvSpPr>
        <p:spPr bwMode="auto">
          <a:xfrm>
            <a:off x="609600" y="5943600"/>
            <a:ext cx="792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400"/>
              <a:t>A y B tienen el mismo rango o amplitud</a:t>
            </a:r>
            <a:endParaRPr lang="en-GB" altLang="es-ES" sz="1400"/>
          </a:p>
        </p:txBody>
      </p:sp>
      <p:sp>
        <p:nvSpPr>
          <p:cNvPr id="32778" name="AutoShape 122"/>
          <p:cNvSpPr>
            <a:spLocks noChangeArrowheads="1"/>
          </p:cNvSpPr>
          <p:nvPr/>
        </p:nvSpPr>
        <p:spPr bwMode="auto">
          <a:xfrm>
            <a:off x="533400" y="3581400"/>
            <a:ext cx="8077200" cy="2895600"/>
          </a:xfrm>
          <a:prstGeom prst="roundRect">
            <a:avLst>
              <a:gd name="adj" fmla="val 3361"/>
            </a:avLst>
          </a:prstGeom>
          <a:noFill/>
          <a:ln w="6350">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2779" name="Text Box 278"/>
          <p:cNvSpPr txBox="1">
            <a:spLocks noChangeArrowheads="1"/>
          </p:cNvSpPr>
          <p:nvPr/>
        </p:nvSpPr>
        <p:spPr bwMode="auto">
          <a:xfrm>
            <a:off x="219075" y="304800"/>
            <a:ext cx="61350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Síntesis de datos: medidas descriptivas de dispersión</a:t>
            </a:r>
            <a:endParaRPr lang="es-ES" altLang="es-ES" sz="1800" b="1"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5" name="Group 37"/>
          <p:cNvGrpSpPr>
            <a:grpSpLocks/>
          </p:cNvGrpSpPr>
          <p:nvPr/>
        </p:nvGrpSpPr>
        <p:grpSpPr bwMode="auto">
          <a:xfrm>
            <a:off x="1638300" y="2819400"/>
            <a:ext cx="5943600" cy="1600200"/>
            <a:chOff x="624" y="1056"/>
            <a:chExt cx="4608" cy="1392"/>
          </a:xfrm>
        </p:grpSpPr>
        <p:sp>
          <p:nvSpPr>
            <p:cNvPr id="33806" name="Line 38"/>
            <p:cNvSpPr>
              <a:spLocks noChangeShapeType="1"/>
            </p:cNvSpPr>
            <p:nvPr/>
          </p:nvSpPr>
          <p:spPr bwMode="auto">
            <a:xfrm>
              <a:off x="624" y="1507"/>
              <a:ext cx="460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sp>
          <p:nvSpPr>
            <p:cNvPr id="33807" name="Oval 39"/>
            <p:cNvSpPr>
              <a:spLocks noChangeArrowheads="1"/>
            </p:cNvSpPr>
            <p:nvPr/>
          </p:nvSpPr>
          <p:spPr bwMode="auto">
            <a:xfrm flipH="1">
              <a:off x="1200"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3808" name="Oval 40"/>
            <p:cNvSpPr>
              <a:spLocks noChangeArrowheads="1"/>
            </p:cNvSpPr>
            <p:nvPr/>
          </p:nvSpPr>
          <p:spPr bwMode="auto">
            <a:xfrm flipH="1">
              <a:off x="1560"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3809" name="Oval 41"/>
            <p:cNvSpPr>
              <a:spLocks noChangeArrowheads="1"/>
            </p:cNvSpPr>
            <p:nvPr/>
          </p:nvSpPr>
          <p:spPr bwMode="auto">
            <a:xfrm flipH="1">
              <a:off x="1704"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3810" name="Oval 42"/>
            <p:cNvSpPr>
              <a:spLocks noChangeArrowheads="1"/>
            </p:cNvSpPr>
            <p:nvPr/>
          </p:nvSpPr>
          <p:spPr bwMode="auto">
            <a:xfrm flipH="1">
              <a:off x="1992"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3811" name="Oval 43"/>
            <p:cNvSpPr>
              <a:spLocks noChangeArrowheads="1"/>
            </p:cNvSpPr>
            <p:nvPr/>
          </p:nvSpPr>
          <p:spPr bwMode="auto">
            <a:xfrm flipH="1">
              <a:off x="2064"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3812" name="Oval 44"/>
            <p:cNvSpPr>
              <a:spLocks noChangeArrowheads="1"/>
            </p:cNvSpPr>
            <p:nvPr/>
          </p:nvSpPr>
          <p:spPr bwMode="auto">
            <a:xfrm flipH="1">
              <a:off x="2280"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3813" name="Line 45"/>
            <p:cNvSpPr>
              <a:spLocks noChangeShapeType="1"/>
            </p:cNvSpPr>
            <p:nvPr/>
          </p:nvSpPr>
          <p:spPr bwMode="auto">
            <a:xfrm>
              <a:off x="2316" y="1431"/>
              <a:ext cx="0" cy="3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sp>
          <p:nvSpPr>
            <p:cNvPr id="33814" name="Oval 46"/>
            <p:cNvSpPr>
              <a:spLocks noChangeArrowheads="1"/>
            </p:cNvSpPr>
            <p:nvPr/>
          </p:nvSpPr>
          <p:spPr bwMode="auto">
            <a:xfrm flipH="1">
              <a:off x="3000"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3815" name="Oval 47"/>
            <p:cNvSpPr>
              <a:spLocks noChangeArrowheads="1"/>
            </p:cNvSpPr>
            <p:nvPr/>
          </p:nvSpPr>
          <p:spPr bwMode="auto">
            <a:xfrm flipH="1">
              <a:off x="2640"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3816" name="Oval 48"/>
            <p:cNvSpPr>
              <a:spLocks noChangeArrowheads="1"/>
            </p:cNvSpPr>
            <p:nvPr/>
          </p:nvSpPr>
          <p:spPr bwMode="auto">
            <a:xfrm flipH="1">
              <a:off x="3288"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3817" name="Oval 49"/>
            <p:cNvSpPr>
              <a:spLocks noChangeArrowheads="1"/>
            </p:cNvSpPr>
            <p:nvPr/>
          </p:nvSpPr>
          <p:spPr bwMode="auto">
            <a:xfrm flipH="1">
              <a:off x="3432"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3818" name="Oval 50"/>
            <p:cNvSpPr>
              <a:spLocks noChangeArrowheads="1"/>
            </p:cNvSpPr>
            <p:nvPr/>
          </p:nvSpPr>
          <p:spPr bwMode="auto">
            <a:xfrm flipH="1">
              <a:off x="3576"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3819" name="Oval 51"/>
            <p:cNvSpPr>
              <a:spLocks noChangeArrowheads="1"/>
            </p:cNvSpPr>
            <p:nvPr/>
          </p:nvSpPr>
          <p:spPr bwMode="auto">
            <a:xfrm flipH="1">
              <a:off x="4368"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3820" name="Oval 52"/>
            <p:cNvSpPr>
              <a:spLocks noChangeArrowheads="1"/>
            </p:cNvSpPr>
            <p:nvPr/>
          </p:nvSpPr>
          <p:spPr bwMode="auto">
            <a:xfrm flipH="1">
              <a:off x="4008"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3821" name="Oval 53"/>
            <p:cNvSpPr>
              <a:spLocks noChangeArrowheads="1"/>
            </p:cNvSpPr>
            <p:nvPr/>
          </p:nvSpPr>
          <p:spPr bwMode="auto">
            <a:xfrm flipH="1">
              <a:off x="4512"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3822" name="Line 54"/>
            <p:cNvSpPr>
              <a:spLocks noChangeShapeType="1"/>
            </p:cNvSpPr>
            <p:nvPr/>
          </p:nvSpPr>
          <p:spPr bwMode="auto">
            <a:xfrm>
              <a:off x="2856" y="1296"/>
              <a:ext cx="0" cy="864"/>
            </a:xfrm>
            <a:prstGeom prst="line">
              <a:avLst/>
            </a:prstGeom>
            <a:noFill/>
            <a:ln w="28575">
              <a:solidFill>
                <a:srgbClr val="99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sp>
          <p:nvSpPr>
            <p:cNvPr id="33823" name="Line 55"/>
            <p:cNvSpPr>
              <a:spLocks noChangeShapeType="1"/>
            </p:cNvSpPr>
            <p:nvPr/>
          </p:nvSpPr>
          <p:spPr bwMode="auto">
            <a:xfrm>
              <a:off x="2316" y="1680"/>
              <a:ext cx="504"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sp>
          <p:nvSpPr>
            <p:cNvPr id="33824" name="Line 56"/>
            <p:cNvSpPr>
              <a:spLocks noChangeShapeType="1"/>
            </p:cNvSpPr>
            <p:nvPr/>
          </p:nvSpPr>
          <p:spPr bwMode="auto">
            <a:xfrm>
              <a:off x="2856" y="2026"/>
              <a:ext cx="151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sp>
          <p:nvSpPr>
            <p:cNvPr id="33825" name="Line 57"/>
            <p:cNvSpPr>
              <a:spLocks noChangeShapeType="1"/>
            </p:cNvSpPr>
            <p:nvPr/>
          </p:nvSpPr>
          <p:spPr bwMode="auto">
            <a:xfrm>
              <a:off x="4404" y="1421"/>
              <a:ext cx="0" cy="6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sp>
          <p:nvSpPr>
            <p:cNvPr id="33826" name="Line 58"/>
            <p:cNvSpPr>
              <a:spLocks noChangeShapeType="1"/>
            </p:cNvSpPr>
            <p:nvPr/>
          </p:nvSpPr>
          <p:spPr bwMode="auto">
            <a:xfrm>
              <a:off x="1272" y="2112"/>
              <a:ext cx="151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graphicFrame>
          <p:nvGraphicFramePr>
            <p:cNvPr id="33827" name="Object 59"/>
            <p:cNvGraphicFramePr>
              <a:graphicFrameLocks noChangeAspect="1"/>
            </p:cNvGraphicFramePr>
            <p:nvPr/>
          </p:nvGraphicFramePr>
          <p:xfrm>
            <a:off x="2208" y="1056"/>
            <a:ext cx="251" cy="356"/>
          </p:xfrm>
          <a:graphic>
            <a:graphicData uri="http://schemas.openxmlformats.org/presentationml/2006/ole">
              <mc:AlternateContent xmlns:mc="http://schemas.openxmlformats.org/markup-compatibility/2006">
                <mc:Choice xmlns:v="urn:schemas-microsoft-com:vml" Requires="v">
                  <p:oleObj name="Equation" r:id="rId3" imgW="152268" imgH="215713" progId="Equation.DSMT4">
                    <p:embed/>
                  </p:oleObj>
                </mc:Choice>
                <mc:Fallback>
                  <p:oleObj name="Equation" r:id="rId3" imgW="152268" imgH="215713" progId="Equation.DSMT4">
                    <p:embed/>
                    <p:pic>
                      <p:nvPicPr>
                        <p:cNvPr id="0" name="Object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8" y="1056"/>
                          <a:ext cx="251" cy="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828" name="Object 60"/>
            <p:cNvGraphicFramePr>
              <a:graphicFrameLocks noChangeAspect="1"/>
            </p:cNvGraphicFramePr>
            <p:nvPr/>
          </p:nvGraphicFramePr>
          <p:xfrm>
            <a:off x="1104" y="1056"/>
            <a:ext cx="251" cy="377"/>
          </p:xfrm>
          <a:graphic>
            <a:graphicData uri="http://schemas.openxmlformats.org/presentationml/2006/ole">
              <mc:AlternateContent xmlns:mc="http://schemas.openxmlformats.org/markup-compatibility/2006">
                <mc:Choice xmlns:v="urn:schemas-microsoft-com:vml" Requires="v">
                  <p:oleObj name="Equation" r:id="rId5" imgW="152334" imgH="228501" progId="Equation.DSMT4">
                    <p:embed/>
                  </p:oleObj>
                </mc:Choice>
                <mc:Fallback>
                  <p:oleObj name="Equation" r:id="rId5" imgW="152334" imgH="228501" progId="Equation.DSMT4">
                    <p:embed/>
                    <p:pic>
                      <p:nvPicPr>
                        <p:cNvPr id="0" name="Object 6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4" y="1056"/>
                          <a:ext cx="251" cy="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829" name="Object 61"/>
            <p:cNvGraphicFramePr>
              <a:graphicFrameLocks noChangeAspect="1"/>
            </p:cNvGraphicFramePr>
            <p:nvPr/>
          </p:nvGraphicFramePr>
          <p:xfrm>
            <a:off x="4272" y="1056"/>
            <a:ext cx="272" cy="356"/>
          </p:xfrm>
          <a:graphic>
            <a:graphicData uri="http://schemas.openxmlformats.org/presentationml/2006/ole">
              <mc:AlternateContent xmlns:mc="http://schemas.openxmlformats.org/markup-compatibility/2006">
                <mc:Choice xmlns:v="urn:schemas-microsoft-com:vml" Requires="v">
                  <p:oleObj name="Equation" r:id="rId7" imgW="164885" imgH="215619" progId="Equation.DSMT4">
                    <p:embed/>
                  </p:oleObj>
                </mc:Choice>
                <mc:Fallback>
                  <p:oleObj name="Equation" r:id="rId7" imgW="164885" imgH="215619" progId="Equation.DSMT4">
                    <p:embed/>
                    <p:pic>
                      <p:nvPicPr>
                        <p:cNvPr id="0" name="Object 6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72" y="1056"/>
                          <a:ext cx="272" cy="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830" name="Object 62"/>
            <p:cNvGraphicFramePr>
              <a:graphicFrameLocks noChangeAspect="1"/>
            </p:cNvGraphicFramePr>
            <p:nvPr/>
          </p:nvGraphicFramePr>
          <p:xfrm>
            <a:off x="1440" y="2071"/>
            <a:ext cx="1088" cy="377"/>
          </p:xfrm>
          <a:graphic>
            <a:graphicData uri="http://schemas.openxmlformats.org/presentationml/2006/ole">
              <mc:AlternateContent xmlns:mc="http://schemas.openxmlformats.org/markup-compatibility/2006">
                <mc:Choice xmlns:v="urn:schemas-microsoft-com:vml" Requires="v">
                  <p:oleObj name="Equation" r:id="rId9" imgW="660400" imgH="228600" progId="Equation.DSMT4">
                    <p:embed/>
                  </p:oleObj>
                </mc:Choice>
                <mc:Fallback>
                  <p:oleObj name="Equation" r:id="rId9" imgW="660400" imgH="228600" progId="Equation.DSMT4">
                    <p:embed/>
                    <p:pic>
                      <p:nvPicPr>
                        <p:cNvPr id="0" name="Object 6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0" y="2071"/>
                          <a:ext cx="1088" cy="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831" name="Object 63"/>
            <p:cNvGraphicFramePr>
              <a:graphicFrameLocks noChangeAspect="1"/>
            </p:cNvGraphicFramePr>
            <p:nvPr/>
          </p:nvGraphicFramePr>
          <p:xfrm>
            <a:off x="2736" y="1056"/>
            <a:ext cx="230" cy="273"/>
          </p:xfrm>
          <a:graphic>
            <a:graphicData uri="http://schemas.openxmlformats.org/presentationml/2006/ole">
              <mc:AlternateContent xmlns:mc="http://schemas.openxmlformats.org/markup-compatibility/2006">
                <mc:Choice xmlns:v="urn:schemas-microsoft-com:vml" Requires="v">
                  <p:oleObj name="Equation" r:id="rId11" imgW="139579" imgH="164957" progId="Equation.DSMT4">
                    <p:embed/>
                  </p:oleObj>
                </mc:Choice>
                <mc:Fallback>
                  <p:oleObj name="Equation" r:id="rId11" imgW="139579" imgH="164957" progId="Equation.DSMT4">
                    <p:embed/>
                    <p:pic>
                      <p:nvPicPr>
                        <p:cNvPr id="0" name="Object 6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36" y="1056"/>
                          <a:ext cx="230" cy="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832" name="Object 64"/>
            <p:cNvGraphicFramePr>
              <a:graphicFrameLocks noChangeAspect="1"/>
            </p:cNvGraphicFramePr>
            <p:nvPr/>
          </p:nvGraphicFramePr>
          <p:xfrm>
            <a:off x="1968" y="1680"/>
            <a:ext cx="816" cy="267"/>
          </p:xfrm>
          <a:graphic>
            <a:graphicData uri="http://schemas.openxmlformats.org/presentationml/2006/ole">
              <mc:AlternateContent xmlns:mc="http://schemas.openxmlformats.org/markup-compatibility/2006">
                <mc:Choice xmlns:v="urn:schemas-microsoft-com:vml" Requires="v">
                  <p:oleObj name="Equation" r:id="rId13" imgW="660113" imgH="215806" progId="Equation.DSMT4">
                    <p:embed/>
                  </p:oleObj>
                </mc:Choice>
                <mc:Fallback>
                  <p:oleObj name="Equation" r:id="rId13" imgW="660113" imgH="215806" progId="Equation.DSMT4">
                    <p:embed/>
                    <p:pic>
                      <p:nvPicPr>
                        <p:cNvPr id="0" name="Object 6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68" y="1680"/>
                          <a:ext cx="816"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833" name="Line 65"/>
            <p:cNvSpPr>
              <a:spLocks noChangeShapeType="1"/>
            </p:cNvSpPr>
            <p:nvPr/>
          </p:nvSpPr>
          <p:spPr bwMode="auto">
            <a:xfrm>
              <a:off x="1236" y="1440"/>
              <a:ext cx="0" cy="7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graphicFrame>
          <p:nvGraphicFramePr>
            <p:cNvPr id="33834" name="Object 66"/>
            <p:cNvGraphicFramePr>
              <a:graphicFrameLocks noChangeAspect="1"/>
            </p:cNvGraphicFramePr>
            <p:nvPr/>
          </p:nvGraphicFramePr>
          <p:xfrm>
            <a:off x="3169" y="2016"/>
            <a:ext cx="863" cy="267"/>
          </p:xfrm>
          <a:graphic>
            <a:graphicData uri="http://schemas.openxmlformats.org/presentationml/2006/ole">
              <mc:AlternateContent xmlns:mc="http://schemas.openxmlformats.org/markup-compatibility/2006">
                <mc:Choice xmlns:v="urn:schemas-microsoft-com:vml" Requires="v">
                  <p:oleObj name="Equation" r:id="rId15" imgW="698197" imgH="215806" progId="Equation.DSMT4">
                    <p:embed/>
                  </p:oleObj>
                </mc:Choice>
                <mc:Fallback>
                  <p:oleObj name="Equation" r:id="rId15" imgW="698197" imgH="215806" progId="Equation.DSMT4">
                    <p:embed/>
                    <p:pic>
                      <p:nvPicPr>
                        <p:cNvPr id="0" name="Object 6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69" y="2016"/>
                          <a:ext cx="863"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33796" name="Object 68"/>
          <p:cNvGraphicFramePr>
            <a:graphicFrameLocks noChangeAspect="1"/>
          </p:cNvGraphicFramePr>
          <p:nvPr/>
        </p:nvGraphicFramePr>
        <p:xfrm>
          <a:off x="1905000" y="4884738"/>
          <a:ext cx="5094288" cy="620712"/>
        </p:xfrm>
        <a:graphic>
          <a:graphicData uri="http://schemas.openxmlformats.org/presentationml/2006/ole">
            <mc:AlternateContent xmlns:mc="http://schemas.openxmlformats.org/markup-compatibility/2006">
              <mc:Choice xmlns:v="urn:schemas-microsoft-com:vml" Requires="v">
                <p:oleObj name="Equation" r:id="rId17" imgW="3136900" imgH="431800" progId="Equation.DSMT4">
                  <p:embed/>
                </p:oleObj>
              </mc:Choice>
              <mc:Fallback>
                <p:oleObj name="Equation" r:id="rId17" imgW="3136900" imgH="431800" progId="Equation.DSMT4">
                  <p:embed/>
                  <p:pic>
                    <p:nvPicPr>
                      <p:cNvPr id="0" name="Object 6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05000" y="4884738"/>
                        <a:ext cx="5094288" cy="620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797" name="Text Box 73"/>
          <p:cNvSpPr txBox="1">
            <a:spLocks noChangeArrowheads="1"/>
          </p:cNvSpPr>
          <p:nvPr/>
        </p:nvSpPr>
        <p:spPr bwMode="auto">
          <a:xfrm>
            <a:off x="285750" y="990600"/>
            <a:ext cx="85725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400"/>
              <a:t>¿Cómo se puede definir una buena medida de dispersión que tenga en cuenta a todas las observaciones?</a:t>
            </a:r>
            <a:endParaRPr lang="en-GB" altLang="es-ES" sz="1400"/>
          </a:p>
        </p:txBody>
      </p:sp>
      <p:sp>
        <p:nvSpPr>
          <p:cNvPr id="33798" name="Text Box 74"/>
          <p:cNvSpPr txBox="1">
            <a:spLocks noChangeArrowheads="1"/>
          </p:cNvSpPr>
          <p:nvPr/>
        </p:nvSpPr>
        <p:spPr bwMode="auto">
          <a:xfrm>
            <a:off x="381000" y="1447800"/>
            <a:ext cx="8324850" cy="1155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buFontTx/>
              <a:buChar char="•"/>
            </a:pPr>
            <a:r>
              <a:rPr lang="es-ES_tradnl" altLang="es-ES" sz="1400"/>
              <a:t>Es necesario utilizar el concepto de </a:t>
            </a:r>
            <a:r>
              <a:rPr lang="es-ES_tradnl" altLang="es-ES" sz="1400" b="1"/>
              <a:t>distancia</a:t>
            </a:r>
            <a:r>
              <a:rPr lang="es-ES_tradnl" altLang="es-ES" sz="1400"/>
              <a:t> de cada observación respecto a un valor de referencia</a:t>
            </a:r>
          </a:p>
          <a:p>
            <a:pPr algn="just" eaLnBrk="1" hangingPunct="1">
              <a:buFontTx/>
              <a:buChar char="•"/>
            </a:pPr>
            <a:r>
              <a:rPr lang="es-ES_tradnl" altLang="es-ES" sz="1400"/>
              <a:t>La mejor referencia es una medida de posición central: optamos por la media aritmética como referencia</a:t>
            </a:r>
          </a:p>
          <a:p>
            <a:pPr eaLnBrk="1" hangingPunct="1">
              <a:buFontTx/>
              <a:buChar char="•"/>
            </a:pPr>
            <a:r>
              <a:rPr lang="es-ES_tradnl" altLang="es-ES" sz="1400"/>
              <a:t>La idea es calcular todas las distancias de cada observación a la media y hacer la media de dichas distancias:</a:t>
            </a:r>
            <a:endParaRPr lang="en-GB" altLang="es-ES" sz="1400"/>
          </a:p>
        </p:txBody>
      </p:sp>
      <p:sp>
        <p:nvSpPr>
          <p:cNvPr id="33799" name="Text Box 76"/>
          <p:cNvSpPr txBox="1">
            <a:spLocks noChangeArrowheads="1"/>
          </p:cNvSpPr>
          <p:nvPr/>
        </p:nvSpPr>
        <p:spPr bwMode="auto">
          <a:xfrm>
            <a:off x="609600" y="5638800"/>
            <a:ext cx="8153400" cy="8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_tradnl" altLang="es-ES" sz="1400"/>
              <a:t>El problema es que debido al carácter central de la media aritmética, las distancias negativas se compensan siempre con las positivas. En la imagen </a:t>
            </a:r>
            <a:r>
              <a:rPr lang="es-ES_tradnl" altLang="es-ES" sz="1600" i="1">
                <a:latin typeface="Times New Roman" pitchFamily="18" charset="0"/>
              </a:rPr>
              <a:t>d</a:t>
            </a:r>
            <a:r>
              <a:rPr lang="es-ES_tradnl" altLang="es-ES" sz="1600" baseline="-25000">
                <a:latin typeface="Times New Roman" pitchFamily="18" charset="0"/>
              </a:rPr>
              <a:t>1</a:t>
            </a:r>
            <a:r>
              <a:rPr lang="es-ES_tradnl" altLang="es-ES" sz="1400"/>
              <a:t>&lt;0 y </a:t>
            </a:r>
            <a:r>
              <a:rPr lang="es-ES_tradnl" altLang="es-ES" sz="1600" i="1">
                <a:latin typeface="Times New Roman" pitchFamily="18" charset="0"/>
              </a:rPr>
              <a:t>d</a:t>
            </a:r>
            <a:r>
              <a:rPr lang="es-ES_tradnl" altLang="es-ES" sz="1400" baseline="-25000"/>
              <a:t>2</a:t>
            </a:r>
            <a:r>
              <a:rPr lang="es-ES_tradnl" altLang="es-ES" sz="1400"/>
              <a:t>&gt;0. </a:t>
            </a:r>
          </a:p>
          <a:p>
            <a:pPr algn="just" eaLnBrk="1" hangingPunct="1">
              <a:lnSpc>
                <a:spcPct val="120000"/>
              </a:lnSpc>
            </a:pPr>
            <a:r>
              <a:rPr lang="es-ES_tradnl" altLang="es-ES" sz="1400"/>
              <a:t>De hecho, el problema es permitir que haya ¡¡distancias negativas!! (eso no tiene sentido)</a:t>
            </a:r>
            <a:endParaRPr lang="en-GB" altLang="es-ES" sz="1400"/>
          </a:p>
        </p:txBody>
      </p:sp>
      <p:sp>
        <p:nvSpPr>
          <p:cNvPr id="33800" name="Text Box 78"/>
          <p:cNvSpPr txBox="1">
            <a:spLocks noChangeArrowheads="1"/>
          </p:cNvSpPr>
          <p:nvPr/>
        </p:nvSpPr>
        <p:spPr bwMode="auto">
          <a:xfrm>
            <a:off x="1676400" y="3352800"/>
            <a:ext cx="727075" cy="2746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b="1"/>
              <a:t>mínimo</a:t>
            </a:r>
            <a:endParaRPr lang="es-ES" altLang="es-ES" b="1"/>
          </a:p>
        </p:txBody>
      </p:sp>
      <p:sp>
        <p:nvSpPr>
          <p:cNvPr id="33801" name="Text Box 79"/>
          <p:cNvSpPr txBox="1">
            <a:spLocks noChangeArrowheads="1"/>
          </p:cNvSpPr>
          <p:nvPr/>
        </p:nvSpPr>
        <p:spPr bwMode="auto">
          <a:xfrm>
            <a:off x="6629400" y="3352800"/>
            <a:ext cx="758825" cy="2746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b="1"/>
              <a:t>máximo</a:t>
            </a:r>
            <a:endParaRPr lang="es-ES" altLang="es-ES" b="1"/>
          </a:p>
        </p:txBody>
      </p:sp>
      <p:sp>
        <p:nvSpPr>
          <p:cNvPr id="33802" name="AutoShape 122"/>
          <p:cNvSpPr>
            <a:spLocks noChangeArrowheads="1"/>
          </p:cNvSpPr>
          <p:nvPr/>
        </p:nvSpPr>
        <p:spPr bwMode="auto">
          <a:xfrm flipV="1">
            <a:off x="304800" y="1371600"/>
            <a:ext cx="8534400" cy="1295400"/>
          </a:xfrm>
          <a:prstGeom prst="roundRect">
            <a:avLst>
              <a:gd name="adj" fmla="val 3361"/>
            </a:avLst>
          </a:prstGeom>
          <a:noFill/>
          <a:ln w="6350">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3803" name="Text Box 81"/>
          <p:cNvSpPr txBox="1">
            <a:spLocks noChangeArrowheads="1"/>
          </p:cNvSpPr>
          <p:nvPr/>
        </p:nvSpPr>
        <p:spPr bwMode="auto">
          <a:xfrm>
            <a:off x="638175" y="4435475"/>
            <a:ext cx="7134225"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400"/>
              <a:t>Ahora la media de las distancias (o distancia media respecto a la media aritmética) será</a:t>
            </a:r>
          </a:p>
          <a:p>
            <a:pPr algn="ctr" eaLnBrk="1" hangingPunct="1"/>
            <a:endParaRPr lang="en-GB" altLang="es-ES" sz="1400"/>
          </a:p>
        </p:txBody>
      </p:sp>
      <p:sp>
        <p:nvSpPr>
          <p:cNvPr id="33804" name="Text Box 82"/>
          <p:cNvSpPr txBox="1">
            <a:spLocks noChangeArrowheads="1"/>
          </p:cNvSpPr>
          <p:nvPr/>
        </p:nvSpPr>
        <p:spPr bwMode="auto">
          <a:xfrm>
            <a:off x="7134225" y="5048250"/>
            <a:ext cx="1562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r" eaLnBrk="1" hangingPunct="1"/>
            <a:r>
              <a:rPr lang="es-ES_tradnl" altLang="es-ES" sz="1400"/>
              <a:t>¡¡Siempre cero!!</a:t>
            </a:r>
            <a:endParaRPr lang="en-GB" altLang="es-ES" sz="1400"/>
          </a:p>
        </p:txBody>
      </p:sp>
      <p:sp>
        <p:nvSpPr>
          <p:cNvPr id="42" name="Text Box 278"/>
          <p:cNvSpPr txBox="1">
            <a:spLocks noChangeArrowheads="1"/>
          </p:cNvSpPr>
          <p:nvPr/>
        </p:nvSpPr>
        <p:spPr bwMode="auto">
          <a:xfrm>
            <a:off x="219075" y="304800"/>
            <a:ext cx="61350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Síntesis de datos: medidas descriptivas de dispersión</a:t>
            </a:r>
            <a:endParaRPr lang="es-ES" altLang="es-ES" sz="1800" b="1"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9" name="Group 37"/>
          <p:cNvGrpSpPr>
            <a:grpSpLocks/>
          </p:cNvGrpSpPr>
          <p:nvPr/>
        </p:nvGrpSpPr>
        <p:grpSpPr bwMode="auto">
          <a:xfrm>
            <a:off x="1676400" y="1905000"/>
            <a:ext cx="5943600" cy="1600200"/>
            <a:chOff x="624" y="1056"/>
            <a:chExt cx="4608" cy="1392"/>
          </a:xfrm>
        </p:grpSpPr>
        <p:sp>
          <p:nvSpPr>
            <p:cNvPr id="34826" name="Line 38"/>
            <p:cNvSpPr>
              <a:spLocks noChangeShapeType="1"/>
            </p:cNvSpPr>
            <p:nvPr/>
          </p:nvSpPr>
          <p:spPr bwMode="auto">
            <a:xfrm>
              <a:off x="624" y="1507"/>
              <a:ext cx="460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sp>
          <p:nvSpPr>
            <p:cNvPr id="34827" name="Oval 39"/>
            <p:cNvSpPr>
              <a:spLocks noChangeArrowheads="1"/>
            </p:cNvSpPr>
            <p:nvPr/>
          </p:nvSpPr>
          <p:spPr bwMode="auto">
            <a:xfrm flipH="1">
              <a:off x="1200"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4828" name="Oval 40"/>
            <p:cNvSpPr>
              <a:spLocks noChangeArrowheads="1"/>
            </p:cNvSpPr>
            <p:nvPr/>
          </p:nvSpPr>
          <p:spPr bwMode="auto">
            <a:xfrm flipH="1">
              <a:off x="1560"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4829" name="Oval 41"/>
            <p:cNvSpPr>
              <a:spLocks noChangeArrowheads="1"/>
            </p:cNvSpPr>
            <p:nvPr/>
          </p:nvSpPr>
          <p:spPr bwMode="auto">
            <a:xfrm flipH="1">
              <a:off x="1704"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4830" name="Oval 42"/>
            <p:cNvSpPr>
              <a:spLocks noChangeArrowheads="1"/>
            </p:cNvSpPr>
            <p:nvPr/>
          </p:nvSpPr>
          <p:spPr bwMode="auto">
            <a:xfrm flipH="1">
              <a:off x="1992"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4831" name="Oval 43"/>
            <p:cNvSpPr>
              <a:spLocks noChangeArrowheads="1"/>
            </p:cNvSpPr>
            <p:nvPr/>
          </p:nvSpPr>
          <p:spPr bwMode="auto">
            <a:xfrm flipH="1">
              <a:off x="2064"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4832" name="Oval 44"/>
            <p:cNvSpPr>
              <a:spLocks noChangeArrowheads="1"/>
            </p:cNvSpPr>
            <p:nvPr/>
          </p:nvSpPr>
          <p:spPr bwMode="auto">
            <a:xfrm flipH="1">
              <a:off x="2280"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4833" name="Line 45"/>
            <p:cNvSpPr>
              <a:spLocks noChangeShapeType="1"/>
            </p:cNvSpPr>
            <p:nvPr/>
          </p:nvSpPr>
          <p:spPr bwMode="auto">
            <a:xfrm>
              <a:off x="2316" y="1431"/>
              <a:ext cx="0" cy="3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sp>
          <p:nvSpPr>
            <p:cNvPr id="34834" name="Oval 46"/>
            <p:cNvSpPr>
              <a:spLocks noChangeArrowheads="1"/>
            </p:cNvSpPr>
            <p:nvPr/>
          </p:nvSpPr>
          <p:spPr bwMode="auto">
            <a:xfrm flipH="1">
              <a:off x="3000"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4835" name="Oval 47"/>
            <p:cNvSpPr>
              <a:spLocks noChangeArrowheads="1"/>
            </p:cNvSpPr>
            <p:nvPr/>
          </p:nvSpPr>
          <p:spPr bwMode="auto">
            <a:xfrm flipH="1">
              <a:off x="2640"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4836" name="Oval 48"/>
            <p:cNvSpPr>
              <a:spLocks noChangeArrowheads="1"/>
            </p:cNvSpPr>
            <p:nvPr/>
          </p:nvSpPr>
          <p:spPr bwMode="auto">
            <a:xfrm flipH="1">
              <a:off x="3288"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4837" name="Oval 49"/>
            <p:cNvSpPr>
              <a:spLocks noChangeArrowheads="1"/>
            </p:cNvSpPr>
            <p:nvPr/>
          </p:nvSpPr>
          <p:spPr bwMode="auto">
            <a:xfrm flipH="1">
              <a:off x="3432"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4838" name="Oval 50"/>
            <p:cNvSpPr>
              <a:spLocks noChangeArrowheads="1"/>
            </p:cNvSpPr>
            <p:nvPr/>
          </p:nvSpPr>
          <p:spPr bwMode="auto">
            <a:xfrm flipH="1">
              <a:off x="3576"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4839" name="Oval 51"/>
            <p:cNvSpPr>
              <a:spLocks noChangeArrowheads="1"/>
            </p:cNvSpPr>
            <p:nvPr/>
          </p:nvSpPr>
          <p:spPr bwMode="auto">
            <a:xfrm flipH="1">
              <a:off x="4368"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4840" name="Oval 52"/>
            <p:cNvSpPr>
              <a:spLocks noChangeArrowheads="1"/>
            </p:cNvSpPr>
            <p:nvPr/>
          </p:nvSpPr>
          <p:spPr bwMode="auto">
            <a:xfrm flipH="1">
              <a:off x="4008"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4841" name="Oval 53"/>
            <p:cNvSpPr>
              <a:spLocks noChangeArrowheads="1"/>
            </p:cNvSpPr>
            <p:nvPr/>
          </p:nvSpPr>
          <p:spPr bwMode="auto">
            <a:xfrm flipH="1">
              <a:off x="4512" y="1421"/>
              <a:ext cx="72" cy="86"/>
            </a:xfrm>
            <a:prstGeom prst="ellipse">
              <a:avLst/>
            </a:prstGeom>
            <a:solidFill>
              <a:schemeClr val="tx1"/>
            </a:solidFill>
            <a:ln w="9525">
              <a:solidFill>
                <a:srgbClr val="000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34842" name="Line 54"/>
            <p:cNvSpPr>
              <a:spLocks noChangeShapeType="1"/>
            </p:cNvSpPr>
            <p:nvPr/>
          </p:nvSpPr>
          <p:spPr bwMode="auto">
            <a:xfrm>
              <a:off x="2856" y="1296"/>
              <a:ext cx="0" cy="864"/>
            </a:xfrm>
            <a:prstGeom prst="line">
              <a:avLst/>
            </a:prstGeom>
            <a:noFill/>
            <a:ln w="28575">
              <a:solidFill>
                <a:srgbClr val="99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sp>
          <p:nvSpPr>
            <p:cNvPr id="34843" name="Line 55"/>
            <p:cNvSpPr>
              <a:spLocks noChangeShapeType="1"/>
            </p:cNvSpPr>
            <p:nvPr/>
          </p:nvSpPr>
          <p:spPr bwMode="auto">
            <a:xfrm>
              <a:off x="2316" y="1680"/>
              <a:ext cx="504"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sp>
          <p:nvSpPr>
            <p:cNvPr id="34844" name="Line 56"/>
            <p:cNvSpPr>
              <a:spLocks noChangeShapeType="1"/>
            </p:cNvSpPr>
            <p:nvPr/>
          </p:nvSpPr>
          <p:spPr bwMode="auto">
            <a:xfrm>
              <a:off x="2856" y="2026"/>
              <a:ext cx="151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sp>
          <p:nvSpPr>
            <p:cNvPr id="34845" name="Line 57"/>
            <p:cNvSpPr>
              <a:spLocks noChangeShapeType="1"/>
            </p:cNvSpPr>
            <p:nvPr/>
          </p:nvSpPr>
          <p:spPr bwMode="auto">
            <a:xfrm>
              <a:off x="4404" y="1421"/>
              <a:ext cx="0" cy="6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sp>
          <p:nvSpPr>
            <p:cNvPr id="34846" name="Line 58"/>
            <p:cNvSpPr>
              <a:spLocks noChangeShapeType="1"/>
            </p:cNvSpPr>
            <p:nvPr/>
          </p:nvSpPr>
          <p:spPr bwMode="auto">
            <a:xfrm>
              <a:off x="1272" y="2112"/>
              <a:ext cx="151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graphicFrame>
          <p:nvGraphicFramePr>
            <p:cNvPr id="34847" name="Object 59"/>
            <p:cNvGraphicFramePr>
              <a:graphicFrameLocks noChangeAspect="1"/>
            </p:cNvGraphicFramePr>
            <p:nvPr/>
          </p:nvGraphicFramePr>
          <p:xfrm>
            <a:off x="2208" y="1056"/>
            <a:ext cx="251" cy="356"/>
          </p:xfrm>
          <a:graphic>
            <a:graphicData uri="http://schemas.openxmlformats.org/presentationml/2006/ole">
              <mc:AlternateContent xmlns:mc="http://schemas.openxmlformats.org/markup-compatibility/2006">
                <mc:Choice xmlns:v="urn:schemas-microsoft-com:vml" Requires="v">
                  <p:oleObj name="Equation" r:id="rId3" imgW="152268" imgH="215713" progId="Equation.DSMT4">
                    <p:embed/>
                  </p:oleObj>
                </mc:Choice>
                <mc:Fallback>
                  <p:oleObj name="Equation" r:id="rId3" imgW="152268" imgH="215713" progId="Equation.DSMT4">
                    <p:embed/>
                    <p:pic>
                      <p:nvPicPr>
                        <p:cNvPr id="0" name="Object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8" y="1056"/>
                          <a:ext cx="251" cy="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48" name="Object 60"/>
            <p:cNvGraphicFramePr>
              <a:graphicFrameLocks noChangeAspect="1"/>
            </p:cNvGraphicFramePr>
            <p:nvPr/>
          </p:nvGraphicFramePr>
          <p:xfrm>
            <a:off x="1104" y="1056"/>
            <a:ext cx="251" cy="377"/>
          </p:xfrm>
          <a:graphic>
            <a:graphicData uri="http://schemas.openxmlformats.org/presentationml/2006/ole">
              <mc:AlternateContent xmlns:mc="http://schemas.openxmlformats.org/markup-compatibility/2006">
                <mc:Choice xmlns:v="urn:schemas-microsoft-com:vml" Requires="v">
                  <p:oleObj name="Equation" r:id="rId5" imgW="152334" imgH="228501" progId="Equation.DSMT4">
                    <p:embed/>
                  </p:oleObj>
                </mc:Choice>
                <mc:Fallback>
                  <p:oleObj name="Equation" r:id="rId5" imgW="152334" imgH="228501" progId="Equation.DSMT4">
                    <p:embed/>
                    <p:pic>
                      <p:nvPicPr>
                        <p:cNvPr id="0" name="Object 6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4" y="1056"/>
                          <a:ext cx="251" cy="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49" name="Object 61"/>
            <p:cNvGraphicFramePr>
              <a:graphicFrameLocks noChangeAspect="1"/>
            </p:cNvGraphicFramePr>
            <p:nvPr/>
          </p:nvGraphicFramePr>
          <p:xfrm>
            <a:off x="4272" y="1056"/>
            <a:ext cx="272" cy="356"/>
          </p:xfrm>
          <a:graphic>
            <a:graphicData uri="http://schemas.openxmlformats.org/presentationml/2006/ole">
              <mc:AlternateContent xmlns:mc="http://schemas.openxmlformats.org/markup-compatibility/2006">
                <mc:Choice xmlns:v="urn:schemas-microsoft-com:vml" Requires="v">
                  <p:oleObj name="Equation" r:id="rId7" imgW="164885" imgH="215619" progId="Equation.DSMT4">
                    <p:embed/>
                  </p:oleObj>
                </mc:Choice>
                <mc:Fallback>
                  <p:oleObj name="Equation" r:id="rId7" imgW="164885" imgH="215619" progId="Equation.DSMT4">
                    <p:embed/>
                    <p:pic>
                      <p:nvPicPr>
                        <p:cNvPr id="0" name="Object 6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72" y="1056"/>
                          <a:ext cx="272" cy="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50" name="Object 62"/>
            <p:cNvGraphicFramePr>
              <a:graphicFrameLocks noChangeAspect="1"/>
            </p:cNvGraphicFramePr>
            <p:nvPr/>
          </p:nvGraphicFramePr>
          <p:xfrm>
            <a:off x="1440" y="2071"/>
            <a:ext cx="1088" cy="377"/>
          </p:xfrm>
          <a:graphic>
            <a:graphicData uri="http://schemas.openxmlformats.org/presentationml/2006/ole">
              <mc:AlternateContent xmlns:mc="http://schemas.openxmlformats.org/markup-compatibility/2006">
                <mc:Choice xmlns:v="urn:schemas-microsoft-com:vml" Requires="v">
                  <p:oleObj name="Equation" r:id="rId9" imgW="660400" imgH="228600" progId="Equation.DSMT4">
                    <p:embed/>
                  </p:oleObj>
                </mc:Choice>
                <mc:Fallback>
                  <p:oleObj name="Equation" r:id="rId9" imgW="660400" imgH="228600" progId="Equation.DSMT4">
                    <p:embed/>
                    <p:pic>
                      <p:nvPicPr>
                        <p:cNvPr id="0" name="Object 6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0" y="2071"/>
                          <a:ext cx="1088" cy="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51" name="Object 63"/>
            <p:cNvGraphicFramePr>
              <a:graphicFrameLocks noChangeAspect="1"/>
            </p:cNvGraphicFramePr>
            <p:nvPr/>
          </p:nvGraphicFramePr>
          <p:xfrm>
            <a:off x="2736" y="1056"/>
            <a:ext cx="230" cy="273"/>
          </p:xfrm>
          <a:graphic>
            <a:graphicData uri="http://schemas.openxmlformats.org/presentationml/2006/ole">
              <mc:AlternateContent xmlns:mc="http://schemas.openxmlformats.org/markup-compatibility/2006">
                <mc:Choice xmlns:v="urn:schemas-microsoft-com:vml" Requires="v">
                  <p:oleObj name="Equation" r:id="rId11" imgW="139579" imgH="164957" progId="Equation.DSMT4">
                    <p:embed/>
                  </p:oleObj>
                </mc:Choice>
                <mc:Fallback>
                  <p:oleObj name="Equation" r:id="rId11" imgW="139579" imgH="164957" progId="Equation.DSMT4">
                    <p:embed/>
                    <p:pic>
                      <p:nvPicPr>
                        <p:cNvPr id="0" name="Object 6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36" y="1056"/>
                          <a:ext cx="230" cy="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52" name="Object 64"/>
            <p:cNvGraphicFramePr>
              <a:graphicFrameLocks noChangeAspect="1"/>
            </p:cNvGraphicFramePr>
            <p:nvPr/>
          </p:nvGraphicFramePr>
          <p:xfrm>
            <a:off x="1968" y="1680"/>
            <a:ext cx="816" cy="267"/>
          </p:xfrm>
          <a:graphic>
            <a:graphicData uri="http://schemas.openxmlformats.org/presentationml/2006/ole">
              <mc:AlternateContent xmlns:mc="http://schemas.openxmlformats.org/markup-compatibility/2006">
                <mc:Choice xmlns:v="urn:schemas-microsoft-com:vml" Requires="v">
                  <p:oleObj name="Equation" r:id="rId13" imgW="660113" imgH="215806" progId="Equation.DSMT4">
                    <p:embed/>
                  </p:oleObj>
                </mc:Choice>
                <mc:Fallback>
                  <p:oleObj name="Equation" r:id="rId13" imgW="660113" imgH="215806" progId="Equation.DSMT4">
                    <p:embed/>
                    <p:pic>
                      <p:nvPicPr>
                        <p:cNvPr id="0" name="Object 6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68" y="1680"/>
                          <a:ext cx="816"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853" name="Line 65"/>
            <p:cNvSpPr>
              <a:spLocks noChangeShapeType="1"/>
            </p:cNvSpPr>
            <p:nvPr/>
          </p:nvSpPr>
          <p:spPr bwMode="auto">
            <a:xfrm>
              <a:off x="1236" y="1440"/>
              <a:ext cx="0" cy="7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lstStyle/>
            <a:p>
              <a:endParaRPr lang="es-ES"/>
            </a:p>
          </p:txBody>
        </p:sp>
        <p:graphicFrame>
          <p:nvGraphicFramePr>
            <p:cNvPr id="34854" name="Object 66"/>
            <p:cNvGraphicFramePr>
              <a:graphicFrameLocks noChangeAspect="1"/>
            </p:cNvGraphicFramePr>
            <p:nvPr/>
          </p:nvGraphicFramePr>
          <p:xfrm>
            <a:off x="3169" y="2016"/>
            <a:ext cx="863" cy="267"/>
          </p:xfrm>
          <a:graphic>
            <a:graphicData uri="http://schemas.openxmlformats.org/presentationml/2006/ole">
              <mc:AlternateContent xmlns:mc="http://schemas.openxmlformats.org/markup-compatibility/2006">
                <mc:Choice xmlns:v="urn:schemas-microsoft-com:vml" Requires="v">
                  <p:oleObj name="Equation" r:id="rId15" imgW="698197" imgH="215806" progId="Equation.DSMT4">
                    <p:embed/>
                  </p:oleObj>
                </mc:Choice>
                <mc:Fallback>
                  <p:oleObj name="Equation" r:id="rId15" imgW="698197" imgH="215806" progId="Equation.DSMT4">
                    <p:embed/>
                    <p:pic>
                      <p:nvPicPr>
                        <p:cNvPr id="0" name="Object 6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69" y="2016"/>
                          <a:ext cx="863"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34820" name="Object 69"/>
          <p:cNvGraphicFramePr>
            <a:graphicFrameLocks noChangeAspect="1"/>
          </p:cNvGraphicFramePr>
          <p:nvPr/>
        </p:nvGraphicFramePr>
        <p:xfrm>
          <a:off x="3282950" y="4038600"/>
          <a:ext cx="2576513" cy="657225"/>
        </p:xfrm>
        <a:graphic>
          <a:graphicData uri="http://schemas.openxmlformats.org/presentationml/2006/ole">
            <mc:AlternateContent xmlns:mc="http://schemas.openxmlformats.org/markup-compatibility/2006">
              <mc:Choice xmlns:v="urn:schemas-microsoft-com:vml" Requires="v">
                <p:oleObj name="Equation" r:id="rId17" imgW="1587500" imgH="457200" progId="Equation.DSMT4">
                  <p:embed/>
                </p:oleObj>
              </mc:Choice>
              <mc:Fallback>
                <p:oleObj name="Equation" r:id="rId17" imgW="1587500" imgH="457200" progId="Equation.DSMT4">
                  <p:embed/>
                  <p:pic>
                    <p:nvPicPr>
                      <p:cNvPr id="0" name="Object 6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282950" y="4038600"/>
                        <a:ext cx="2576513" cy="657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1" name="Object 70"/>
          <p:cNvGraphicFramePr>
            <a:graphicFrameLocks noChangeAspect="1"/>
          </p:cNvGraphicFramePr>
          <p:nvPr/>
        </p:nvGraphicFramePr>
        <p:xfrm>
          <a:off x="3714750" y="5743575"/>
          <a:ext cx="1714500" cy="657225"/>
        </p:xfrm>
        <a:graphic>
          <a:graphicData uri="http://schemas.openxmlformats.org/presentationml/2006/ole">
            <mc:AlternateContent xmlns:mc="http://schemas.openxmlformats.org/markup-compatibility/2006">
              <mc:Choice xmlns:v="urn:schemas-microsoft-com:vml" Requires="v">
                <p:oleObj name="Equation" r:id="rId19" imgW="1054100" imgH="457200" progId="Equation.DSMT4">
                  <p:embed/>
                </p:oleObj>
              </mc:Choice>
              <mc:Fallback>
                <p:oleObj name="Equation" r:id="rId19" imgW="1054100" imgH="457200" progId="Equation.DSMT4">
                  <p:embed/>
                  <p:pic>
                    <p:nvPicPr>
                      <p:cNvPr id="0" name="Object 7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714750" y="5743575"/>
                        <a:ext cx="1714500" cy="657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2" name="Text Box 72"/>
          <p:cNvSpPr txBox="1">
            <a:spLocks noChangeArrowheads="1"/>
          </p:cNvSpPr>
          <p:nvPr/>
        </p:nvSpPr>
        <p:spPr bwMode="auto">
          <a:xfrm>
            <a:off x="304800" y="990600"/>
            <a:ext cx="8610600"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_tradnl" altLang="es-ES" sz="1400"/>
              <a:t>La estrategia que se usa para impedir que las distancias sean negativas es una muy utilizada en las ciencias en general. Se trata de elevar cada distancia al cuadrado. Esto mantiene la información sobre su magnitud pero evita el problema del signo negativo.</a:t>
            </a:r>
            <a:endParaRPr lang="en-GB" altLang="es-ES" sz="1400"/>
          </a:p>
        </p:txBody>
      </p:sp>
      <p:sp>
        <p:nvSpPr>
          <p:cNvPr id="34823" name="Text Box 73"/>
          <p:cNvSpPr txBox="1">
            <a:spLocks noChangeArrowheads="1"/>
          </p:cNvSpPr>
          <p:nvPr/>
        </p:nvSpPr>
        <p:spPr bwMode="auto">
          <a:xfrm>
            <a:off x="304800" y="3505200"/>
            <a:ext cx="7239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_tradnl" altLang="es-ES" sz="1400"/>
              <a:t>El promedio (de las distancias al cuadrado respecto a la media) entonces es:</a:t>
            </a:r>
            <a:endParaRPr lang="en-GB" altLang="es-ES" sz="1400"/>
          </a:p>
        </p:txBody>
      </p:sp>
      <p:sp>
        <p:nvSpPr>
          <p:cNvPr id="34824" name="Text Box 74"/>
          <p:cNvSpPr txBox="1">
            <a:spLocks noChangeArrowheads="1"/>
          </p:cNvSpPr>
          <p:nvPr/>
        </p:nvSpPr>
        <p:spPr bwMode="auto">
          <a:xfrm>
            <a:off x="304800" y="4648200"/>
            <a:ext cx="86106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_tradnl" altLang="es-ES" sz="1400"/>
              <a:t>Por cuestiones que veremos mas adelante, se considera un promedio no respecto al tamaño de muestra </a:t>
            </a:r>
            <a:r>
              <a:rPr lang="es-ES_tradnl" altLang="es-ES" sz="1600" i="1">
                <a:latin typeface="Times New Roman" pitchFamily="18" charset="0"/>
              </a:rPr>
              <a:t>n</a:t>
            </a:r>
            <a:r>
              <a:rPr lang="es-ES_tradnl" altLang="es-ES" sz="1400"/>
              <a:t>, sino respecto a una cantidad que se denomina grados de libertad y que es </a:t>
            </a:r>
            <a:r>
              <a:rPr lang="es-ES_tradnl" altLang="es-ES" sz="1600" i="1">
                <a:latin typeface="Times New Roman" pitchFamily="18" charset="0"/>
              </a:rPr>
              <a:t>n-</a:t>
            </a:r>
            <a:r>
              <a:rPr lang="es-ES_tradnl" altLang="es-ES" sz="1600">
                <a:latin typeface="Times New Roman" pitchFamily="18" charset="0"/>
              </a:rPr>
              <a:t>1. </a:t>
            </a:r>
          </a:p>
          <a:p>
            <a:pPr algn="just" eaLnBrk="1" hangingPunct="1"/>
            <a:r>
              <a:rPr lang="es-ES_tradnl" altLang="es-ES" sz="1400"/>
              <a:t>Se define así la</a:t>
            </a:r>
          </a:p>
          <a:p>
            <a:pPr algn="just" eaLnBrk="1" hangingPunct="1"/>
            <a:endParaRPr lang="es-ES_tradnl" altLang="es-ES" sz="1400"/>
          </a:p>
          <a:p>
            <a:pPr algn="just" eaLnBrk="1" hangingPunct="1"/>
            <a:r>
              <a:rPr lang="es-ES_tradnl" altLang="es-ES" sz="1600" b="1"/>
              <a:t>Varianza muestral</a:t>
            </a:r>
            <a:endParaRPr lang="en-GB" altLang="es-ES" sz="1600" b="1"/>
          </a:p>
        </p:txBody>
      </p:sp>
      <p:sp>
        <p:nvSpPr>
          <p:cNvPr id="38" name="Text Box 278"/>
          <p:cNvSpPr txBox="1">
            <a:spLocks noChangeArrowheads="1"/>
          </p:cNvSpPr>
          <p:nvPr/>
        </p:nvSpPr>
        <p:spPr bwMode="auto">
          <a:xfrm>
            <a:off x="219075" y="304800"/>
            <a:ext cx="61350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Síntesis de datos: medidas descriptivas de dispersión</a:t>
            </a:r>
            <a:endParaRPr lang="es-ES" altLang="es-ES" sz="1800" b="1"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43" name="Object 35"/>
          <p:cNvGraphicFramePr>
            <a:graphicFrameLocks noChangeAspect="1"/>
          </p:cNvGraphicFramePr>
          <p:nvPr/>
        </p:nvGraphicFramePr>
        <p:xfrm>
          <a:off x="509588" y="1828800"/>
          <a:ext cx="2386012" cy="1295400"/>
        </p:xfrm>
        <a:graphic>
          <a:graphicData uri="http://schemas.openxmlformats.org/presentationml/2006/ole">
            <mc:AlternateContent xmlns:mc="http://schemas.openxmlformats.org/markup-compatibility/2006">
              <mc:Choice xmlns:v="urn:schemas-microsoft-com:vml" Requires="v">
                <p:oleObj name="Equation" r:id="rId3" imgW="1778000" imgH="965200" progId="Equation.DSMT4">
                  <p:embed/>
                </p:oleObj>
              </mc:Choice>
              <mc:Fallback>
                <p:oleObj name="Equation" r:id="rId3" imgW="1778000" imgH="965200" progId="Equation.DSMT4">
                  <p:embed/>
                  <p:pic>
                    <p:nvPicPr>
                      <p:cNvPr id="35843" name="Object 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9588" y="1828800"/>
                        <a:ext cx="2386012" cy="1295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44" name="Text Box 36"/>
          <p:cNvSpPr txBox="1">
            <a:spLocks noChangeArrowheads="1"/>
          </p:cNvSpPr>
          <p:nvPr/>
        </p:nvSpPr>
        <p:spPr bwMode="auto">
          <a:xfrm>
            <a:off x="350469" y="907051"/>
            <a:ext cx="481093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400" dirty="0"/>
              <a:t>Cálculo práctico de la varianza (</a:t>
            </a:r>
            <a:r>
              <a:rPr lang="es-ES_tradnl" altLang="es-ES" sz="1400" b="1" dirty="0"/>
              <a:t>cuasi varianza muestral</a:t>
            </a:r>
            <a:r>
              <a:rPr lang="es-ES_tradnl" altLang="es-ES" sz="1400" dirty="0"/>
              <a:t>)</a:t>
            </a:r>
            <a:endParaRPr lang="es-ES" altLang="es-ES" sz="1400" dirty="0"/>
          </a:p>
        </p:txBody>
      </p:sp>
      <p:grpSp>
        <p:nvGrpSpPr>
          <p:cNvPr id="35845" name="Group 44"/>
          <p:cNvGrpSpPr>
            <a:grpSpLocks/>
          </p:cNvGrpSpPr>
          <p:nvPr/>
        </p:nvGrpSpPr>
        <p:grpSpPr bwMode="auto">
          <a:xfrm>
            <a:off x="3886200" y="1828800"/>
            <a:ext cx="4608513" cy="1265238"/>
            <a:chOff x="2519" y="1200"/>
            <a:chExt cx="2903" cy="797"/>
          </a:xfrm>
        </p:grpSpPr>
        <p:graphicFrame>
          <p:nvGraphicFramePr>
            <p:cNvPr id="35903" name="Object 39"/>
            <p:cNvGraphicFramePr>
              <a:graphicFrameLocks noChangeAspect="1"/>
            </p:cNvGraphicFramePr>
            <p:nvPr/>
          </p:nvGraphicFramePr>
          <p:xfrm>
            <a:off x="3714" y="1200"/>
            <a:ext cx="1708" cy="797"/>
          </p:xfrm>
          <a:graphic>
            <a:graphicData uri="http://schemas.openxmlformats.org/presentationml/2006/ole">
              <mc:AlternateContent xmlns:mc="http://schemas.openxmlformats.org/markup-compatibility/2006">
                <mc:Choice xmlns:v="urn:schemas-microsoft-com:vml" Requires="v">
                  <p:oleObj name="Equation" r:id="rId5" imgW="1930400" imgH="965200" progId="Equation.DSMT4">
                    <p:embed/>
                  </p:oleObj>
                </mc:Choice>
                <mc:Fallback>
                  <p:oleObj name="Equation" r:id="rId5" imgW="1930400" imgH="965200" progId="Equation.DSMT4">
                    <p:embed/>
                    <p:pic>
                      <p:nvPicPr>
                        <p:cNvPr id="35903" name="Object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14" y="1200"/>
                          <a:ext cx="1708" cy="7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904" name="Object 40"/>
            <p:cNvGraphicFramePr>
              <a:graphicFrameLocks noChangeAspect="1"/>
            </p:cNvGraphicFramePr>
            <p:nvPr/>
          </p:nvGraphicFramePr>
          <p:xfrm>
            <a:off x="2519" y="1254"/>
            <a:ext cx="1177" cy="515"/>
          </p:xfrm>
          <a:graphic>
            <a:graphicData uri="http://schemas.openxmlformats.org/presentationml/2006/ole">
              <mc:AlternateContent xmlns:mc="http://schemas.openxmlformats.org/markup-compatibility/2006">
                <mc:Choice xmlns:v="urn:schemas-microsoft-com:vml" Requires="v">
                  <p:oleObj name="Equation" r:id="rId7" imgW="1168400" imgH="609600" progId="Equation.DSMT4">
                    <p:embed/>
                  </p:oleObj>
                </mc:Choice>
                <mc:Fallback>
                  <p:oleObj name="Equation" r:id="rId7" imgW="1168400" imgH="609600" progId="Equation.DSMT4">
                    <p:embed/>
                    <p:pic>
                      <p:nvPicPr>
                        <p:cNvPr id="35904" name="Object 4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19" y="1254"/>
                          <a:ext cx="1177" cy="5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5846" name="Text Box 41"/>
          <p:cNvSpPr txBox="1">
            <a:spLocks noChangeArrowheads="1"/>
          </p:cNvSpPr>
          <p:nvPr/>
        </p:nvSpPr>
        <p:spPr bwMode="auto">
          <a:xfrm>
            <a:off x="381000" y="1295400"/>
            <a:ext cx="259080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dirty="0"/>
              <a:t>Si los datos </a:t>
            </a:r>
            <a:r>
              <a:rPr lang="es-ES_tradnl" altLang="es-ES" sz="1800" b="1" dirty="0">
                <a:solidFill>
                  <a:srgbClr val="FF0000"/>
                </a:solidFill>
              </a:rPr>
              <a:t>no</a:t>
            </a:r>
            <a:r>
              <a:rPr lang="es-ES_tradnl" altLang="es-ES" dirty="0"/>
              <a:t> están agrupados en una tabla de frecuencias</a:t>
            </a:r>
            <a:endParaRPr lang="es-ES" altLang="es-ES" dirty="0"/>
          </a:p>
        </p:txBody>
      </p:sp>
      <p:sp>
        <p:nvSpPr>
          <p:cNvPr id="35847" name="Text Box 43"/>
          <p:cNvSpPr txBox="1">
            <a:spLocks noChangeArrowheads="1"/>
          </p:cNvSpPr>
          <p:nvPr/>
        </p:nvSpPr>
        <p:spPr bwMode="auto">
          <a:xfrm>
            <a:off x="3733800" y="1295400"/>
            <a:ext cx="48768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a:t>Si los datos están agrupados en una tabla de frecuencias</a:t>
            </a:r>
            <a:endParaRPr lang="es-ES" altLang="es-ES"/>
          </a:p>
        </p:txBody>
      </p:sp>
      <p:graphicFrame>
        <p:nvGraphicFramePr>
          <p:cNvPr id="35848" name="Object 45"/>
          <p:cNvGraphicFramePr>
            <a:graphicFrameLocks noChangeAspect="1"/>
          </p:cNvGraphicFramePr>
          <p:nvPr/>
        </p:nvGraphicFramePr>
        <p:xfrm>
          <a:off x="1143000" y="3352800"/>
          <a:ext cx="5468938" cy="673100"/>
        </p:xfrm>
        <a:graphic>
          <a:graphicData uri="http://schemas.openxmlformats.org/presentationml/2006/ole">
            <mc:AlternateContent xmlns:mc="http://schemas.openxmlformats.org/markup-compatibility/2006">
              <mc:Choice xmlns:v="urn:schemas-microsoft-com:vml" Requires="v">
                <p:oleObj name="Equation" r:id="rId9" imgW="4940300" imgH="609600" progId="Equation.DSMT4">
                  <p:embed/>
                </p:oleObj>
              </mc:Choice>
              <mc:Fallback>
                <p:oleObj name="Equation" r:id="rId9" imgW="4940300" imgH="609600" progId="Equation.DSMT4">
                  <p:embed/>
                  <p:pic>
                    <p:nvPicPr>
                      <p:cNvPr id="35848" name="Object 4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43000" y="3352800"/>
                        <a:ext cx="5468938" cy="673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54" name="Group 46"/>
          <p:cNvGraphicFramePr>
            <a:graphicFrameLocks noGrp="1"/>
          </p:cNvGraphicFramePr>
          <p:nvPr>
            <p:extLst>
              <p:ext uri="{D42A27DB-BD31-4B8C-83A1-F6EECF244321}">
                <p14:modId xmlns:p14="http://schemas.microsoft.com/office/powerpoint/2010/main" val="1706816220"/>
              </p:ext>
            </p:extLst>
          </p:nvPr>
        </p:nvGraphicFramePr>
        <p:xfrm>
          <a:off x="1192213" y="4267200"/>
          <a:ext cx="3048000" cy="2227263"/>
        </p:xfrm>
        <a:graphic>
          <a:graphicData uri="http://schemas.openxmlformats.org/drawingml/2006/table">
            <a:tbl>
              <a:tblPr/>
              <a:tblGrid>
                <a:gridCol w="7620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tblGrid>
              <a:tr h="304887">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400" b="0" i="1" u="none" strike="noStrike" cap="none" normalizeH="0" baseline="0">
                          <a:ln>
                            <a:noFill/>
                          </a:ln>
                          <a:solidFill>
                            <a:schemeClr val="tx1"/>
                          </a:solidFill>
                          <a:effectLst/>
                          <a:latin typeface="Times New Roman" pitchFamily="18" charset="0"/>
                          <a:cs typeface="Arial" charset="0"/>
                        </a:rPr>
                        <a:t>x</a:t>
                      </a:r>
                      <a:r>
                        <a:rPr kumimoji="0" lang="es-ES" altLang="es-ES" sz="1400" b="0" i="1" u="none" strike="noStrike" cap="none" normalizeH="0" baseline="-25000">
                          <a:ln>
                            <a:noFill/>
                          </a:ln>
                          <a:solidFill>
                            <a:schemeClr val="tx1"/>
                          </a:solidFill>
                          <a:effectLst/>
                          <a:latin typeface="Times New Roman" pitchFamily="18" charset="0"/>
                          <a:cs typeface="Arial" charset="0"/>
                        </a:rPr>
                        <a:t>i</a:t>
                      </a:r>
                      <a:endParaRPr kumimoji="0" lang="es-ES" altLang="es-ES" sz="1400" b="0" i="1" u="none" strike="noStrike" cap="none" normalizeH="0" baseline="-25000">
                        <a:ln>
                          <a:noFill/>
                        </a:ln>
                        <a:solidFill>
                          <a:schemeClr val="tx1"/>
                        </a:solidFill>
                        <a:effectLst/>
                        <a:latin typeface="Times New Roman" pitchFamily="18" charset="0"/>
                      </a:endParaRPr>
                    </a:p>
                  </a:txBody>
                  <a:tcPr marT="45733" marB="4573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400" b="0" i="1" u="none" strike="noStrike" cap="none" normalizeH="0" baseline="0" dirty="0">
                          <a:ln>
                            <a:noFill/>
                          </a:ln>
                          <a:solidFill>
                            <a:schemeClr val="tx1"/>
                          </a:solidFill>
                          <a:effectLst/>
                          <a:latin typeface="Times New Roman" pitchFamily="18" charset="0"/>
                          <a:cs typeface="Arial" charset="0"/>
                        </a:rPr>
                        <a:t>f</a:t>
                      </a:r>
                      <a:r>
                        <a:rPr kumimoji="0" lang="es-ES" altLang="es-ES" sz="1400" b="0" i="1" u="none" strike="noStrike" cap="none" normalizeH="0" baseline="-25000" dirty="0">
                          <a:ln>
                            <a:noFill/>
                          </a:ln>
                          <a:solidFill>
                            <a:schemeClr val="tx1"/>
                          </a:solidFill>
                          <a:effectLst/>
                          <a:latin typeface="Times New Roman" pitchFamily="18" charset="0"/>
                          <a:cs typeface="Arial" charset="0"/>
                        </a:rPr>
                        <a:t>i</a:t>
                      </a:r>
                      <a:endParaRPr kumimoji="0" lang="es-ES" altLang="es-ES" sz="1400" b="0" i="1" u="none" strike="noStrike" cap="none" normalizeH="0" baseline="-25000" dirty="0">
                        <a:ln>
                          <a:noFill/>
                        </a:ln>
                        <a:solidFill>
                          <a:schemeClr val="tx1"/>
                        </a:solidFill>
                        <a:effectLst/>
                        <a:latin typeface="Times New Roman" pitchFamily="18" charset="0"/>
                      </a:endParaRPr>
                    </a:p>
                  </a:txBody>
                  <a:tcPr marT="45733" marB="4573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400" b="0" i="1" u="none" strike="noStrike" cap="none" normalizeH="0" baseline="0" dirty="0" err="1">
                          <a:ln>
                            <a:noFill/>
                          </a:ln>
                          <a:solidFill>
                            <a:schemeClr val="tx1"/>
                          </a:solidFill>
                          <a:effectLst/>
                          <a:latin typeface="Times New Roman" pitchFamily="18" charset="0"/>
                          <a:cs typeface="Arial" charset="0"/>
                        </a:rPr>
                        <a:t>x</a:t>
                      </a:r>
                      <a:r>
                        <a:rPr kumimoji="0" lang="es-ES" altLang="es-ES" sz="1400" b="0" i="1" u="none" strike="noStrike" cap="none" normalizeH="0" baseline="-25000" dirty="0" err="1">
                          <a:ln>
                            <a:noFill/>
                          </a:ln>
                          <a:solidFill>
                            <a:schemeClr val="tx1"/>
                          </a:solidFill>
                          <a:effectLst/>
                          <a:latin typeface="Times New Roman" pitchFamily="18" charset="0"/>
                          <a:cs typeface="Arial" charset="0"/>
                        </a:rPr>
                        <a:t>i</a:t>
                      </a:r>
                      <a:r>
                        <a:rPr kumimoji="0" lang="es-ES" altLang="es-ES" sz="1400" b="0" i="1" u="none" strike="noStrike" cap="none" normalizeH="0" baseline="0" dirty="0" err="1">
                          <a:ln>
                            <a:noFill/>
                          </a:ln>
                          <a:solidFill>
                            <a:schemeClr val="tx1"/>
                          </a:solidFill>
                          <a:effectLst/>
                          <a:latin typeface="Times New Roman" pitchFamily="18" charset="0"/>
                          <a:cs typeface="Arial" charset="0"/>
                        </a:rPr>
                        <a:t>f</a:t>
                      </a:r>
                      <a:r>
                        <a:rPr kumimoji="0" lang="es-ES" altLang="es-ES" sz="1400" b="0" i="1" u="none" strike="noStrike" cap="none" normalizeH="0" baseline="-25000" dirty="0" err="1">
                          <a:ln>
                            <a:noFill/>
                          </a:ln>
                          <a:solidFill>
                            <a:schemeClr val="tx1"/>
                          </a:solidFill>
                          <a:effectLst/>
                          <a:latin typeface="Times New Roman" pitchFamily="18" charset="0"/>
                          <a:cs typeface="Arial" charset="0"/>
                        </a:rPr>
                        <a:t>i</a:t>
                      </a:r>
                      <a:endParaRPr kumimoji="0" lang="es-ES" altLang="es-ES" sz="1400" b="0" i="1" u="none" strike="noStrike" cap="none" normalizeH="0" baseline="-25000" dirty="0">
                        <a:ln>
                          <a:noFill/>
                        </a:ln>
                        <a:solidFill>
                          <a:schemeClr val="tx1"/>
                        </a:solidFill>
                        <a:effectLst/>
                        <a:latin typeface="Times New Roman" pitchFamily="18" charset="0"/>
                      </a:endParaRPr>
                    </a:p>
                  </a:txBody>
                  <a:tcPr marT="45733" marB="4573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400" b="0" i="1" u="none" strike="noStrike" cap="none" normalizeH="0" baseline="0" dirty="0">
                          <a:ln>
                            <a:noFill/>
                          </a:ln>
                          <a:solidFill>
                            <a:schemeClr val="tx1"/>
                          </a:solidFill>
                          <a:effectLst/>
                          <a:latin typeface="Times New Roman" pitchFamily="18" charset="0"/>
                          <a:cs typeface="Arial" charset="0"/>
                        </a:rPr>
                        <a:t>x</a:t>
                      </a:r>
                      <a:r>
                        <a:rPr kumimoji="0" lang="es-ES" altLang="es-ES" sz="1400" b="0" i="1" u="none" strike="noStrike" cap="none" normalizeH="0" baseline="30000" dirty="0">
                          <a:ln>
                            <a:noFill/>
                          </a:ln>
                          <a:solidFill>
                            <a:schemeClr val="tx1"/>
                          </a:solidFill>
                          <a:effectLst/>
                          <a:latin typeface="Times New Roman" pitchFamily="18" charset="0"/>
                          <a:cs typeface="Arial" charset="0"/>
                        </a:rPr>
                        <a:t>2</a:t>
                      </a:r>
                      <a:r>
                        <a:rPr kumimoji="0" lang="es-ES" altLang="es-ES" sz="1400" b="0" i="1" u="none" strike="noStrike" cap="none" normalizeH="0" baseline="-25000" dirty="0">
                          <a:ln>
                            <a:noFill/>
                          </a:ln>
                          <a:solidFill>
                            <a:schemeClr val="tx1"/>
                          </a:solidFill>
                          <a:effectLst/>
                          <a:latin typeface="Times New Roman" pitchFamily="18" charset="0"/>
                          <a:cs typeface="Arial" charset="0"/>
                        </a:rPr>
                        <a:t>i</a:t>
                      </a:r>
                      <a:r>
                        <a:rPr kumimoji="0" lang="es-ES" altLang="es-ES" sz="1400" b="0" i="1" u="none" strike="noStrike" cap="none" normalizeH="0" baseline="0" dirty="0">
                          <a:ln>
                            <a:noFill/>
                          </a:ln>
                          <a:solidFill>
                            <a:schemeClr val="tx1"/>
                          </a:solidFill>
                          <a:effectLst/>
                          <a:latin typeface="Times New Roman" pitchFamily="18" charset="0"/>
                          <a:cs typeface="Arial" charset="0"/>
                        </a:rPr>
                        <a:t>f</a:t>
                      </a:r>
                      <a:r>
                        <a:rPr kumimoji="0" lang="es-ES" altLang="es-ES" sz="1400" b="0" i="1" u="none" strike="noStrike" cap="none" normalizeH="0" baseline="-25000" dirty="0">
                          <a:ln>
                            <a:noFill/>
                          </a:ln>
                          <a:solidFill>
                            <a:schemeClr val="tx1"/>
                          </a:solidFill>
                          <a:effectLst/>
                          <a:latin typeface="Times New Roman" pitchFamily="18" charset="0"/>
                          <a:cs typeface="Arial" charset="0"/>
                        </a:rPr>
                        <a:t>i</a:t>
                      </a:r>
                      <a:endParaRPr kumimoji="0" lang="es-ES" altLang="es-ES" sz="1400" b="0" i="1" u="none" strike="noStrike" cap="none" normalizeH="0" baseline="-25000" dirty="0">
                        <a:ln>
                          <a:noFill/>
                        </a:ln>
                        <a:solidFill>
                          <a:schemeClr val="tx1"/>
                        </a:solidFill>
                        <a:effectLst/>
                        <a:latin typeface="Times New Roman" pitchFamily="18" charset="0"/>
                      </a:endParaRPr>
                    </a:p>
                  </a:txBody>
                  <a:tcPr marT="45733" marB="4573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716">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15</a:t>
                      </a:r>
                      <a:endParaRPr kumimoji="0" lang="es-ES" altLang="es-ES" sz="1200" b="0" i="0" u="none" strike="noStrike" cap="none" normalizeH="0" baseline="0">
                        <a:ln>
                          <a:noFill/>
                        </a:ln>
                        <a:solidFill>
                          <a:schemeClr val="tx1"/>
                        </a:solidFill>
                        <a:effectLst/>
                        <a:latin typeface="Arial" charset="0"/>
                      </a:endParaRPr>
                    </a:p>
                  </a:txBody>
                  <a:tcPr marT="45733" marB="4573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5</a:t>
                      </a:r>
                      <a:endParaRPr kumimoji="0" lang="es-ES" altLang="es-ES" sz="1200" b="0" i="0" u="none" strike="noStrike" cap="none" normalizeH="0" baseline="0">
                        <a:ln>
                          <a:noFill/>
                        </a:ln>
                        <a:solidFill>
                          <a:schemeClr val="tx1"/>
                        </a:solidFill>
                        <a:effectLst/>
                        <a:latin typeface="Arial" charset="0"/>
                      </a:endParaRPr>
                    </a:p>
                  </a:txBody>
                  <a:tcPr marT="45733" marB="4573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200" b="0" i="0" u="none" strike="noStrike" cap="none" normalizeH="0" baseline="0">
                          <a:ln>
                            <a:noFill/>
                          </a:ln>
                          <a:solidFill>
                            <a:schemeClr val="tx1"/>
                          </a:solidFill>
                          <a:effectLst/>
                          <a:latin typeface="Arial" charset="0"/>
                          <a:cs typeface="Arial" charset="0"/>
                        </a:rPr>
                        <a:t>75</a:t>
                      </a:r>
                      <a:endParaRPr kumimoji="0" lang="es-ES" altLang="es-ES" sz="1200" b="0" i="0" u="none" strike="noStrike" cap="none" normalizeH="0" baseline="0">
                        <a:ln>
                          <a:noFill/>
                        </a:ln>
                        <a:solidFill>
                          <a:schemeClr val="tx1"/>
                        </a:solidFill>
                        <a:effectLst/>
                        <a:latin typeface="Arial" charset="0"/>
                      </a:endParaRPr>
                    </a:p>
                  </a:txBody>
                  <a:tcPr marT="45733" marB="4573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200" b="0" i="0" u="none" strike="noStrike" cap="none" normalizeH="0" baseline="0">
                          <a:ln>
                            <a:noFill/>
                          </a:ln>
                          <a:solidFill>
                            <a:schemeClr val="tx1"/>
                          </a:solidFill>
                          <a:effectLst/>
                          <a:latin typeface="Arial" charset="0"/>
                          <a:cs typeface="Arial" charset="0"/>
                        </a:rPr>
                        <a:t>1125</a:t>
                      </a:r>
                      <a:endParaRPr kumimoji="0" lang="es-ES" altLang="es-ES" sz="1200" b="0" i="0" u="none" strike="noStrike" cap="none" normalizeH="0" baseline="0">
                        <a:ln>
                          <a:noFill/>
                        </a:ln>
                        <a:solidFill>
                          <a:schemeClr val="tx1"/>
                        </a:solidFill>
                        <a:effectLst/>
                        <a:latin typeface="Arial" charset="0"/>
                      </a:endParaRPr>
                    </a:p>
                  </a:txBody>
                  <a:tcPr marT="45733" marB="4573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716">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16</a:t>
                      </a:r>
                      <a:endParaRPr kumimoji="0" lang="es-ES" altLang="es-ES" sz="1200" b="0" i="0" u="none" strike="noStrike" cap="none" normalizeH="0" baseline="0">
                        <a:ln>
                          <a:noFill/>
                        </a:ln>
                        <a:solidFill>
                          <a:schemeClr val="tx1"/>
                        </a:solidFill>
                        <a:effectLst/>
                        <a:latin typeface="Arial" charset="0"/>
                      </a:endParaRPr>
                    </a:p>
                  </a:txBody>
                  <a:tcPr marT="45733" marB="4573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28</a:t>
                      </a:r>
                      <a:endParaRPr kumimoji="0" lang="es-ES" altLang="es-ES" sz="1200" b="0" i="0" u="none" strike="noStrike" cap="none" normalizeH="0" baseline="0">
                        <a:ln>
                          <a:noFill/>
                        </a:ln>
                        <a:solidFill>
                          <a:schemeClr val="tx1"/>
                        </a:solidFill>
                        <a:effectLst/>
                        <a:latin typeface="Arial" charset="0"/>
                      </a:endParaRPr>
                    </a:p>
                  </a:txBody>
                  <a:tcPr marT="45733" marB="4573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200" b="0" i="0" u="none" strike="noStrike" cap="none" normalizeH="0" baseline="0">
                          <a:ln>
                            <a:noFill/>
                          </a:ln>
                          <a:solidFill>
                            <a:schemeClr val="tx1"/>
                          </a:solidFill>
                          <a:effectLst/>
                          <a:latin typeface="Arial" charset="0"/>
                          <a:cs typeface="Arial" charset="0"/>
                        </a:rPr>
                        <a:t>448</a:t>
                      </a:r>
                      <a:endParaRPr kumimoji="0" lang="es-ES" altLang="es-ES" sz="1200" b="0" i="0" u="none" strike="noStrike" cap="none" normalizeH="0" baseline="0">
                        <a:ln>
                          <a:noFill/>
                        </a:ln>
                        <a:solidFill>
                          <a:schemeClr val="tx1"/>
                        </a:solidFill>
                        <a:effectLst/>
                        <a:latin typeface="Arial" charset="0"/>
                      </a:endParaRPr>
                    </a:p>
                  </a:txBody>
                  <a:tcPr marT="45733" marB="4573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200" b="0" i="0" u="none" strike="noStrike" cap="none" normalizeH="0" baseline="0">
                          <a:ln>
                            <a:noFill/>
                          </a:ln>
                          <a:solidFill>
                            <a:schemeClr val="tx1"/>
                          </a:solidFill>
                          <a:effectLst/>
                          <a:latin typeface="Arial" charset="0"/>
                          <a:cs typeface="Arial" charset="0"/>
                        </a:rPr>
                        <a:t>7168</a:t>
                      </a:r>
                      <a:endParaRPr kumimoji="0" lang="es-ES" altLang="es-ES" sz="1200" b="0" i="0" u="none" strike="noStrike" cap="none" normalizeH="0" baseline="0">
                        <a:ln>
                          <a:noFill/>
                        </a:ln>
                        <a:solidFill>
                          <a:schemeClr val="tx1"/>
                        </a:solidFill>
                        <a:effectLst/>
                        <a:latin typeface="Arial" charset="0"/>
                      </a:endParaRPr>
                    </a:p>
                  </a:txBody>
                  <a:tcPr marT="45733" marB="4573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716">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17</a:t>
                      </a:r>
                      <a:endParaRPr kumimoji="0" lang="es-ES" altLang="es-ES" sz="1200" b="0" i="0" u="none" strike="noStrike" cap="none" normalizeH="0" baseline="0">
                        <a:ln>
                          <a:noFill/>
                        </a:ln>
                        <a:solidFill>
                          <a:schemeClr val="tx1"/>
                        </a:solidFill>
                        <a:effectLst/>
                        <a:latin typeface="Arial" charset="0"/>
                      </a:endParaRPr>
                    </a:p>
                  </a:txBody>
                  <a:tcPr marT="45733" marB="4573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000000"/>
                          </a:solidFill>
                          <a:effectLst/>
                          <a:latin typeface="Arial" charset="0"/>
                          <a:cs typeface="Arial" charset="0"/>
                        </a:rPr>
                        <a:t>64</a:t>
                      </a:r>
                      <a:endParaRPr kumimoji="0" lang="es-ES" altLang="es-ES" sz="1200" b="0" i="0" u="none" strike="noStrike" cap="none" normalizeH="0" baseline="0" dirty="0">
                        <a:ln>
                          <a:noFill/>
                        </a:ln>
                        <a:solidFill>
                          <a:schemeClr val="tx1"/>
                        </a:solidFill>
                        <a:effectLst/>
                        <a:latin typeface="Arial" charset="0"/>
                      </a:endParaRPr>
                    </a:p>
                  </a:txBody>
                  <a:tcPr marT="45733" marB="4573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200" b="0" i="0" u="none" strike="noStrike" cap="none" normalizeH="0" baseline="0">
                          <a:ln>
                            <a:noFill/>
                          </a:ln>
                          <a:solidFill>
                            <a:schemeClr val="tx1"/>
                          </a:solidFill>
                          <a:effectLst/>
                          <a:latin typeface="Arial" charset="0"/>
                          <a:cs typeface="Arial" charset="0"/>
                        </a:rPr>
                        <a:t>1088</a:t>
                      </a:r>
                      <a:endParaRPr kumimoji="0" lang="es-ES" altLang="es-ES" sz="1200" b="0" i="0" u="none" strike="noStrike" cap="none" normalizeH="0" baseline="0">
                        <a:ln>
                          <a:noFill/>
                        </a:ln>
                        <a:solidFill>
                          <a:schemeClr val="tx1"/>
                        </a:solidFill>
                        <a:effectLst/>
                        <a:latin typeface="Arial" charset="0"/>
                      </a:endParaRPr>
                    </a:p>
                  </a:txBody>
                  <a:tcPr marT="45733" marB="4573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200" b="0" i="0" u="none" strike="noStrike" cap="none" normalizeH="0" baseline="0">
                          <a:ln>
                            <a:noFill/>
                          </a:ln>
                          <a:solidFill>
                            <a:schemeClr val="tx1"/>
                          </a:solidFill>
                          <a:effectLst/>
                          <a:latin typeface="Arial" charset="0"/>
                          <a:cs typeface="Arial" charset="0"/>
                        </a:rPr>
                        <a:t>18496</a:t>
                      </a:r>
                      <a:endParaRPr kumimoji="0" lang="es-ES" altLang="es-ES" sz="1200" b="0" i="0" u="none" strike="noStrike" cap="none" normalizeH="0" baseline="0">
                        <a:ln>
                          <a:noFill/>
                        </a:ln>
                        <a:solidFill>
                          <a:schemeClr val="tx1"/>
                        </a:solidFill>
                        <a:effectLst/>
                        <a:latin typeface="Arial" charset="0"/>
                      </a:endParaRPr>
                    </a:p>
                  </a:txBody>
                  <a:tcPr marT="45733" marB="4573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716">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18</a:t>
                      </a:r>
                      <a:endParaRPr kumimoji="0" lang="es-ES" altLang="es-ES" sz="1200" b="0" i="0" u="none" strike="noStrike" cap="none" normalizeH="0" baseline="0">
                        <a:ln>
                          <a:noFill/>
                        </a:ln>
                        <a:solidFill>
                          <a:schemeClr val="tx1"/>
                        </a:solidFill>
                        <a:effectLst/>
                        <a:latin typeface="Arial" charset="0"/>
                      </a:endParaRPr>
                    </a:p>
                  </a:txBody>
                  <a:tcPr marT="45733" marB="4573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18</a:t>
                      </a:r>
                      <a:endParaRPr kumimoji="0" lang="es-ES" altLang="es-ES" sz="1200" b="0" i="0" u="none" strike="noStrike" cap="none" normalizeH="0" baseline="0">
                        <a:ln>
                          <a:noFill/>
                        </a:ln>
                        <a:solidFill>
                          <a:schemeClr val="tx1"/>
                        </a:solidFill>
                        <a:effectLst/>
                        <a:latin typeface="Arial" charset="0"/>
                      </a:endParaRPr>
                    </a:p>
                  </a:txBody>
                  <a:tcPr marT="45733" marB="4573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200" b="0" i="0" u="none" strike="noStrike" cap="none" normalizeH="0" baseline="0">
                          <a:ln>
                            <a:noFill/>
                          </a:ln>
                          <a:solidFill>
                            <a:schemeClr val="tx1"/>
                          </a:solidFill>
                          <a:effectLst/>
                          <a:latin typeface="Arial" charset="0"/>
                          <a:cs typeface="Arial" charset="0"/>
                        </a:rPr>
                        <a:t>324</a:t>
                      </a:r>
                      <a:endParaRPr kumimoji="0" lang="es-ES" altLang="es-ES" sz="1200" b="0" i="0" u="none" strike="noStrike" cap="none" normalizeH="0" baseline="0">
                        <a:ln>
                          <a:noFill/>
                        </a:ln>
                        <a:solidFill>
                          <a:schemeClr val="tx1"/>
                        </a:solidFill>
                        <a:effectLst/>
                        <a:latin typeface="Arial" charset="0"/>
                      </a:endParaRPr>
                    </a:p>
                  </a:txBody>
                  <a:tcPr marT="45733" marB="4573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200" b="0" i="0" u="none" strike="noStrike" cap="none" normalizeH="0" baseline="0">
                          <a:ln>
                            <a:noFill/>
                          </a:ln>
                          <a:solidFill>
                            <a:schemeClr val="tx1"/>
                          </a:solidFill>
                          <a:effectLst/>
                          <a:latin typeface="Arial" charset="0"/>
                          <a:cs typeface="Arial" charset="0"/>
                        </a:rPr>
                        <a:t>5832</a:t>
                      </a:r>
                      <a:endParaRPr kumimoji="0" lang="es-ES" altLang="es-ES" sz="1200" b="0" i="0" u="none" strike="noStrike" cap="none" normalizeH="0" baseline="0">
                        <a:ln>
                          <a:noFill/>
                        </a:ln>
                        <a:solidFill>
                          <a:schemeClr val="tx1"/>
                        </a:solidFill>
                        <a:effectLst/>
                        <a:latin typeface="Arial" charset="0"/>
                      </a:endParaRPr>
                    </a:p>
                  </a:txBody>
                  <a:tcPr marT="45733" marB="4573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716">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19</a:t>
                      </a:r>
                      <a:endParaRPr kumimoji="0" lang="es-ES" altLang="es-ES" sz="1200" b="0" i="0" u="none" strike="noStrike" cap="none" normalizeH="0" baseline="0">
                        <a:ln>
                          <a:noFill/>
                        </a:ln>
                        <a:solidFill>
                          <a:schemeClr val="tx1"/>
                        </a:solidFill>
                        <a:effectLst/>
                        <a:latin typeface="Arial" charset="0"/>
                      </a:endParaRPr>
                    </a:p>
                  </a:txBody>
                  <a:tcPr marT="45733" marB="4573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6</a:t>
                      </a:r>
                      <a:endParaRPr kumimoji="0" lang="es-ES" altLang="es-ES" sz="1200" b="0" i="0" u="none" strike="noStrike" cap="none" normalizeH="0" baseline="0">
                        <a:ln>
                          <a:noFill/>
                        </a:ln>
                        <a:solidFill>
                          <a:schemeClr val="tx1"/>
                        </a:solidFill>
                        <a:effectLst/>
                        <a:latin typeface="Arial" charset="0"/>
                      </a:endParaRPr>
                    </a:p>
                  </a:txBody>
                  <a:tcPr marT="45733" marB="4573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200" b="0" i="0" u="none" strike="noStrike" cap="none" normalizeH="0" baseline="0">
                          <a:ln>
                            <a:noFill/>
                          </a:ln>
                          <a:solidFill>
                            <a:schemeClr val="tx1"/>
                          </a:solidFill>
                          <a:effectLst/>
                          <a:latin typeface="Arial" charset="0"/>
                          <a:cs typeface="Arial" charset="0"/>
                        </a:rPr>
                        <a:t>114</a:t>
                      </a:r>
                      <a:endParaRPr kumimoji="0" lang="es-ES" altLang="es-ES" sz="1200" b="0" i="0" u="none" strike="noStrike" cap="none" normalizeH="0" baseline="0">
                        <a:ln>
                          <a:noFill/>
                        </a:ln>
                        <a:solidFill>
                          <a:schemeClr val="tx1"/>
                        </a:solidFill>
                        <a:effectLst/>
                        <a:latin typeface="Arial" charset="0"/>
                      </a:endParaRPr>
                    </a:p>
                  </a:txBody>
                  <a:tcPr marT="45733" marB="4573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200" b="0" i="0" u="none" strike="noStrike" cap="none" normalizeH="0" baseline="0">
                          <a:ln>
                            <a:noFill/>
                          </a:ln>
                          <a:solidFill>
                            <a:schemeClr val="tx1"/>
                          </a:solidFill>
                          <a:effectLst/>
                          <a:latin typeface="Arial" charset="0"/>
                          <a:cs typeface="Arial" charset="0"/>
                        </a:rPr>
                        <a:t>2166</a:t>
                      </a:r>
                      <a:endParaRPr kumimoji="0" lang="es-ES" altLang="es-ES" sz="1200" b="0" i="0" u="none" strike="noStrike" cap="none" normalizeH="0" baseline="0">
                        <a:ln>
                          <a:noFill/>
                        </a:ln>
                        <a:solidFill>
                          <a:schemeClr val="tx1"/>
                        </a:solidFill>
                        <a:effectLst/>
                        <a:latin typeface="Arial" charset="0"/>
                      </a:endParaRPr>
                    </a:p>
                  </a:txBody>
                  <a:tcPr marT="45733" marB="4573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398">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20</a:t>
                      </a:r>
                      <a:endParaRPr kumimoji="0" lang="es-ES" altLang="es-ES" sz="1200" b="0" i="0" u="none" strike="noStrike" cap="none" normalizeH="0" baseline="0">
                        <a:ln>
                          <a:noFill/>
                        </a:ln>
                        <a:solidFill>
                          <a:schemeClr val="tx1"/>
                        </a:solidFill>
                        <a:effectLst/>
                        <a:latin typeface="Arial" charset="0"/>
                      </a:endParaRPr>
                    </a:p>
                  </a:txBody>
                  <a:tcPr marT="45733" marB="4573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000000"/>
                          </a:solidFill>
                          <a:effectLst/>
                          <a:latin typeface="Arial" charset="0"/>
                          <a:cs typeface="Arial" charset="0"/>
                        </a:rPr>
                        <a:t>3</a:t>
                      </a:r>
                      <a:endParaRPr kumimoji="0" lang="es-ES" altLang="es-ES" sz="1200" b="0" i="0" u="none" strike="noStrike" cap="none" normalizeH="0" baseline="0">
                        <a:ln>
                          <a:noFill/>
                        </a:ln>
                        <a:solidFill>
                          <a:schemeClr val="tx1"/>
                        </a:solidFill>
                        <a:effectLst/>
                        <a:latin typeface="Arial" charset="0"/>
                      </a:endParaRPr>
                    </a:p>
                  </a:txBody>
                  <a:tcPr marT="45733" marB="4573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200" b="0" i="0" u="none" strike="noStrike" cap="none" normalizeH="0" baseline="0">
                          <a:ln>
                            <a:noFill/>
                          </a:ln>
                          <a:solidFill>
                            <a:schemeClr val="tx1"/>
                          </a:solidFill>
                          <a:effectLst/>
                          <a:latin typeface="Arial" charset="0"/>
                          <a:cs typeface="Arial" charset="0"/>
                        </a:rPr>
                        <a:t>60</a:t>
                      </a:r>
                      <a:endParaRPr kumimoji="0" lang="es-ES" altLang="es-ES" sz="1200" b="0" i="0" u="none" strike="noStrike" cap="none" normalizeH="0" baseline="0">
                        <a:ln>
                          <a:noFill/>
                        </a:ln>
                        <a:solidFill>
                          <a:schemeClr val="tx1"/>
                        </a:solidFill>
                        <a:effectLst/>
                        <a:latin typeface="Arial" charset="0"/>
                      </a:endParaRPr>
                    </a:p>
                  </a:txBody>
                  <a:tcPr marT="45733" marB="4573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200" b="0" i="0" u="none" strike="noStrike" cap="none" normalizeH="0" baseline="0">
                          <a:ln>
                            <a:noFill/>
                          </a:ln>
                          <a:solidFill>
                            <a:schemeClr val="tx1"/>
                          </a:solidFill>
                          <a:effectLst/>
                          <a:latin typeface="Arial" charset="0"/>
                          <a:cs typeface="Arial" charset="0"/>
                        </a:rPr>
                        <a:t>1200</a:t>
                      </a:r>
                      <a:endParaRPr kumimoji="0" lang="es-ES" altLang="es-ES" sz="1200" b="0" i="0" u="none" strike="noStrike" cap="none" normalizeH="0" baseline="0">
                        <a:ln>
                          <a:noFill/>
                        </a:ln>
                        <a:solidFill>
                          <a:schemeClr val="tx1"/>
                        </a:solidFill>
                        <a:effectLst/>
                        <a:latin typeface="Arial" charset="0"/>
                      </a:endParaRPr>
                    </a:p>
                  </a:txBody>
                  <a:tcPr marT="45733" marB="4573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398">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s-ES" altLang="es-ES" sz="1200" b="0" i="0" u="none" strike="noStrike" cap="none" normalizeH="0" baseline="0">
                          <a:ln>
                            <a:noFill/>
                          </a:ln>
                          <a:solidFill>
                            <a:schemeClr val="tx1"/>
                          </a:solidFill>
                          <a:effectLst/>
                          <a:latin typeface="Arial" charset="0"/>
                          <a:cs typeface="Arial" charset="0"/>
                        </a:rPr>
                        <a:t>Suma</a:t>
                      </a:r>
                      <a:endParaRPr kumimoji="0" lang="es-ES" altLang="es-ES" sz="1200" b="0" i="0" u="none" strike="noStrike" cap="none" normalizeH="0" baseline="0">
                        <a:ln>
                          <a:noFill/>
                        </a:ln>
                        <a:solidFill>
                          <a:schemeClr val="tx1"/>
                        </a:solidFill>
                        <a:effectLst/>
                        <a:latin typeface="Arial" charset="0"/>
                      </a:endParaRPr>
                    </a:p>
                  </a:txBody>
                  <a:tcPr marT="45733" marB="45733" anchor="b" horzOverflow="overflow">
                    <a:lnL cap="flat">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200" b="0" i="0" u="none" strike="noStrike" cap="none" normalizeH="0" baseline="0">
                          <a:ln>
                            <a:noFill/>
                          </a:ln>
                          <a:solidFill>
                            <a:schemeClr val="tx1"/>
                          </a:solidFill>
                          <a:effectLst/>
                          <a:latin typeface="Arial" charset="0"/>
                          <a:cs typeface="Arial" charset="0"/>
                        </a:rPr>
                        <a:t>124</a:t>
                      </a:r>
                      <a:endParaRPr kumimoji="0" lang="es-ES" altLang="es-ES" sz="1200" b="0" i="0" u="none" strike="noStrike" cap="none" normalizeH="0" baseline="0">
                        <a:ln>
                          <a:noFill/>
                        </a:ln>
                        <a:solidFill>
                          <a:schemeClr val="tx1"/>
                        </a:solidFill>
                        <a:effectLst/>
                        <a:latin typeface="Arial" charset="0"/>
                      </a:endParaRPr>
                    </a:p>
                  </a:txBody>
                  <a:tcPr marT="45733" marB="45733" anchor="b"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200" b="0" i="0" u="none" strike="noStrike" cap="none" normalizeH="0" baseline="0">
                          <a:ln>
                            <a:noFill/>
                          </a:ln>
                          <a:solidFill>
                            <a:schemeClr val="tx1"/>
                          </a:solidFill>
                          <a:effectLst/>
                          <a:latin typeface="Arial" charset="0"/>
                          <a:cs typeface="Arial" charset="0"/>
                        </a:rPr>
                        <a:t>2109</a:t>
                      </a:r>
                      <a:endParaRPr kumimoji="0" lang="es-ES" altLang="es-ES" sz="1200" b="0" i="0" u="none" strike="noStrike" cap="none" normalizeH="0" baseline="0">
                        <a:ln>
                          <a:noFill/>
                        </a:ln>
                        <a:solidFill>
                          <a:schemeClr val="tx1"/>
                        </a:solidFill>
                        <a:effectLst/>
                        <a:latin typeface="Arial" charset="0"/>
                      </a:endParaRPr>
                    </a:p>
                  </a:txBody>
                  <a:tcPr marT="45733" marB="45733" anchor="b"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chemeClr val="tx1"/>
                          </a:solidFill>
                          <a:effectLst/>
                          <a:latin typeface="Arial" charset="0"/>
                          <a:cs typeface="Arial" charset="0"/>
                        </a:rPr>
                        <a:t>35987</a:t>
                      </a:r>
                      <a:endParaRPr kumimoji="0" lang="es-ES" altLang="es-ES" sz="1200" b="0" i="0" u="none" strike="noStrike" cap="none" normalizeH="0" baseline="0" dirty="0">
                        <a:ln>
                          <a:noFill/>
                        </a:ln>
                        <a:solidFill>
                          <a:schemeClr val="tx1"/>
                        </a:solidFill>
                        <a:effectLst/>
                        <a:latin typeface="Arial" charset="0"/>
                      </a:endParaRPr>
                    </a:p>
                  </a:txBody>
                  <a:tcPr marT="45733" marB="45733" anchor="b" horzOverflow="overflow">
                    <a:lnL>
                      <a:noFill/>
                    </a:lnL>
                    <a:lnR cap="flat">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35895" name="Object 95"/>
          <p:cNvGraphicFramePr>
            <a:graphicFrameLocks noChangeAspect="1"/>
          </p:cNvGraphicFramePr>
          <p:nvPr/>
        </p:nvGraphicFramePr>
        <p:xfrm>
          <a:off x="4562475" y="4924425"/>
          <a:ext cx="3227388" cy="633413"/>
        </p:xfrm>
        <a:graphic>
          <a:graphicData uri="http://schemas.openxmlformats.org/presentationml/2006/ole">
            <mc:AlternateContent xmlns:mc="http://schemas.openxmlformats.org/markup-compatibility/2006">
              <mc:Choice xmlns:v="urn:schemas-microsoft-com:vml" Requires="v">
                <p:oleObj name="Equation" r:id="rId11" imgW="2298700" imgH="482600" progId="Equation.DSMT4">
                  <p:embed/>
                </p:oleObj>
              </mc:Choice>
              <mc:Fallback>
                <p:oleObj name="Equation" r:id="rId11" imgW="2298700" imgH="482600" progId="Equation.DSMT4">
                  <p:embed/>
                  <p:pic>
                    <p:nvPicPr>
                      <p:cNvPr id="35895" name="Object 9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62475" y="4924425"/>
                        <a:ext cx="3227388" cy="633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96" name="Object 96"/>
          <p:cNvGraphicFramePr>
            <a:graphicFrameLocks noChangeAspect="1"/>
          </p:cNvGraphicFramePr>
          <p:nvPr/>
        </p:nvGraphicFramePr>
        <p:xfrm>
          <a:off x="4545013" y="4319588"/>
          <a:ext cx="1425575" cy="517525"/>
        </p:xfrm>
        <a:graphic>
          <a:graphicData uri="http://schemas.openxmlformats.org/presentationml/2006/ole">
            <mc:AlternateContent xmlns:mc="http://schemas.openxmlformats.org/markup-compatibility/2006">
              <mc:Choice xmlns:v="urn:schemas-microsoft-com:vml" Requires="v">
                <p:oleObj name="Equation" r:id="rId13" imgW="1016000" imgH="393700" progId="Equation.DSMT4">
                  <p:embed/>
                </p:oleObj>
              </mc:Choice>
              <mc:Fallback>
                <p:oleObj name="Equation" r:id="rId13" imgW="1016000" imgH="393700" progId="Equation.DSMT4">
                  <p:embed/>
                  <p:pic>
                    <p:nvPicPr>
                      <p:cNvPr id="35896" name="Object 9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45013" y="4319588"/>
                        <a:ext cx="1425575"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97" name="Text Box 97"/>
          <p:cNvSpPr txBox="1">
            <a:spLocks noChangeArrowheads="1"/>
          </p:cNvSpPr>
          <p:nvPr/>
        </p:nvSpPr>
        <p:spPr bwMode="auto">
          <a:xfrm>
            <a:off x="441325" y="3538538"/>
            <a:ext cx="31908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a:t>a)</a:t>
            </a:r>
            <a:endParaRPr lang="es-ES" altLang="es-ES"/>
          </a:p>
        </p:txBody>
      </p:sp>
      <p:sp>
        <p:nvSpPr>
          <p:cNvPr id="35898" name="Text Box 98"/>
          <p:cNvSpPr txBox="1">
            <a:spLocks noChangeArrowheads="1"/>
          </p:cNvSpPr>
          <p:nvPr/>
        </p:nvSpPr>
        <p:spPr bwMode="auto">
          <a:xfrm>
            <a:off x="441325" y="4191000"/>
            <a:ext cx="31908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a:t>b)</a:t>
            </a:r>
            <a:endParaRPr lang="es-ES" altLang="es-ES"/>
          </a:p>
        </p:txBody>
      </p:sp>
      <p:sp>
        <p:nvSpPr>
          <p:cNvPr id="35899" name="Text Box 99"/>
          <p:cNvSpPr txBox="1">
            <a:spLocks noChangeArrowheads="1"/>
          </p:cNvSpPr>
          <p:nvPr/>
        </p:nvSpPr>
        <p:spPr bwMode="auto">
          <a:xfrm>
            <a:off x="4495800" y="5897563"/>
            <a:ext cx="37338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b="1" dirty="0">
                <a:solidFill>
                  <a:srgbClr val="FF0000"/>
                </a:solidFill>
              </a:rPr>
              <a:t>Obsérvese </a:t>
            </a:r>
            <a:r>
              <a:rPr lang="es-ES_tradnl" altLang="es-ES" dirty="0"/>
              <a:t>que la varianza </a:t>
            </a:r>
            <a:r>
              <a:rPr lang="es-ES_tradnl" altLang="es-ES" b="1" dirty="0"/>
              <a:t>depende de la media y su valor no puede ser negativo, pero en el caso de que todos sus valores sean iguales podría ser igual a cero.</a:t>
            </a:r>
            <a:endParaRPr lang="es-ES" altLang="es-ES" b="1" dirty="0"/>
          </a:p>
        </p:txBody>
      </p:sp>
      <p:sp>
        <p:nvSpPr>
          <p:cNvPr id="35900" name="Text Box 100"/>
          <p:cNvSpPr txBox="1">
            <a:spLocks noChangeArrowheads="1"/>
          </p:cNvSpPr>
          <p:nvPr/>
        </p:nvSpPr>
        <p:spPr bwMode="auto">
          <a:xfrm>
            <a:off x="228600" y="3124200"/>
            <a:ext cx="914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400"/>
              <a:t>Ejemplos</a:t>
            </a:r>
            <a:endParaRPr lang="es-ES" altLang="es-ES" sz="1400"/>
          </a:p>
        </p:txBody>
      </p:sp>
      <p:sp>
        <p:nvSpPr>
          <p:cNvPr id="35902" name="AutoShape 122"/>
          <p:cNvSpPr>
            <a:spLocks noChangeArrowheads="1"/>
          </p:cNvSpPr>
          <p:nvPr/>
        </p:nvSpPr>
        <p:spPr bwMode="auto">
          <a:xfrm>
            <a:off x="3657600" y="1187450"/>
            <a:ext cx="5029200" cy="2012950"/>
          </a:xfrm>
          <a:prstGeom prst="roundRect">
            <a:avLst>
              <a:gd name="adj" fmla="val 3361"/>
            </a:avLst>
          </a:prstGeom>
          <a:noFill/>
          <a:ln w="6350">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19" name="Text Box 278"/>
          <p:cNvSpPr txBox="1">
            <a:spLocks noChangeArrowheads="1"/>
          </p:cNvSpPr>
          <p:nvPr/>
        </p:nvSpPr>
        <p:spPr bwMode="auto">
          <a:xfrm>
            <a:off x="219075" y="304800"/>
            <a:ext cx="61350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Síntesis de datos: medidas descriptivas de dispersión</a:t>
            </a:r>
            <a:endParaRPr lang="es-ES" altLang="es-ES" sz="1800" b="1" dirty="0"/>
          </a:p>
        </p:txBody>
      </p:sp>
      <p:sp>
        <p:nvSpPr>
          <p:cNvPr id="2" name="TextBox 1">
            <a:extLst>
              <a:ext uri="{FF2B5EF4-FFF2-40B4-BE49-F238E27FC236}">
                <a16:creationId xmlns:a16="http://schemas.microsoft.com/office/drawing/2014/main" id="{4D46B88E-3334-6BC5-18F1-B523628EC53B}"/>
              </a:ext>
            </a:extLst>
          </p:cNvPr>
          <p:cNvSpPr txBox="1"/>
          <p:nvPr/>
        </p:nvSpPr>
        <p:spPr>
          <a:xfrm>
            <a:off x="3733800" y="1586727"/>
            <a:ext cx="4262962" cy="276999"/>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NOTA</a:t>
            </a:r>
            <a:r>
              <a:rPr lang="en-US" dirty="0"/>
              <a:t>: </a:t>
            </a:r>
            <a:r>
              <a:rPr lang="en-US" dirty="0" err="1">
                <a:latin typeface="Times New Roman" panose="02020603050405020304" pitchFamily="18" charset="0"/>
                <a:cs typeface="Times New Roman" panose="02020603050405020304" pitchFamily="18" charset="0"/>
              </a:rPr>
              <a:t>aquí</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f</a:t>
            </a:r>
            <a:r>
              <a:rPr lang="en-US" b="1" baseline="-25000" dirty="0">
                <a:latin typeface="Times New Roman" panose="02020603050405020304" pitchFamily="18" charset="0"/>
                <a:cs typeface="Times New Roman" panose="02020603050405020304" pitchFamily="18" charset="0"/>
              </a:rPr>
              <a:t>i</a:t>
            </a:r>
            <a:r>
              <a:rPr lang="en-US" baseline="-25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es la </a:t>
            </a:r>
            <a:r>
              <a:rPr lang="en-US" b="1" dirty="0" err="1">
                <a:latin typeface="Times New Roman" panose="02020603050405020304" pitchFamily="18" charset="0"/>
                <a:cs typeface="Times New Roman" panose="02020603050405020304" pitchFamily="18" charset="0"/>
              </a:rPr>
              <a:t>frecuencia</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absoluta</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(antes </a:t>
            </a:r>
            <a:r>
              <a:rPr lang="en-US" dirty="0" err="1">
                <a:latin typeface="Times New Roman" panose="02020603050405020304" pitchFamily="18" charset="0"/>
                <a:cs typeface="Times New Roman" panose="02020603050405020304" pitchFamily="18" charset="0"/>
              </a:rPr>
              <a:t>descrita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como</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a:t>
            </a:r>
            <a:r>
              <a:rPr lang="en-US" b="1" baseline="-25000"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a:t>
            </a:r>
            <a:r>
              <a:rPr lang="en-US" dirty="0"/>
              <a: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Text Box 325"/>
          <p:cNvSpPr txBox="1">
            <a:spLocks noChangeArrowheads="1"/>
          </p:cNvSpPr>
          <p:nvPr/>
        </p:nvSpPr>
        <p:spPr bwMode="auto">
          <a:xfrm>
            <a:off x="304800" y="990600"/>
            <a:ext cx="8382000" cy="161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_tradnl" altLang="es-ES" sz="1400"/>
              <a:t>La varianza tiene unidades de medida que son aquellas que tenga la variable pero al cuadrado.</a:t>
            </a:r>
          </a:p>
          <a:p>
            <a:pPr algn="just" eaLnBrk="1" hangingPunct="1"/>
            <a:r>
              <a:rPr lang="es-ES_tradnl" altLang="es-ES" sz="1400"/>
              <a:t>Esto supone que si la variable es por ejemplo la estatura en cm (unidad de longitud) su varianza viene dada en cm</a:t>
            </a:r>
            <a:r>
              <a:rPr lang="es-ES_tradnl" altLang="es-ES" sz="1400" baseline="30000"/>
              <a:t>2</a:t>
            </a:r>
            <a:r>
              <a:rPr lang="es-ES_tradnl" altLang="es-ES" sz="1400"/>
              <a:t> (¡¡unidad de superficie!!)</a:t>
            </a:r>
          </a:p>
          <a:p>
            <a:pPr algn="just" eaLnBrk="1" hangingPunct="1"/>
            <a:r>
              <a:rPr lang="es-ES_tradnl" altLang="es-ES" sz="1400"/>
              <a:t>Para evitar este problema de dimensionalidad se define la</a:t>
            </a:r>
            <a:endParaRPr lang="es-ES_tradnl" altLang="es-ES" sz="1400" baseline="30000"/>
          </a:p>
          <a:p>
            <a:pPr algn="just" eaLnBrk="1" hangingPunct="1"/>
            <a:endParaRPr lang="es-ES_tradnl" altLang="es-ES" sz="1400"/>
          </a:p>
          <a:p>
            <a:pPr algn="just" eaLnBrk="1" hangingPunct="1"/>
            <a:endParaRPr lang="es-ES_tradnl" altLang="es-ES" sz="1400"/>
          </a:p>
          <a:p>
            <a:pPr algn="just" eaLnBrk="1" hangingPunct="1"/>
            <a:r>
              <a:rPr lang="es-ES_tradnl" altLang="es-ES" sz="1600" b="1"/>
              <a:t>Desviación típica (o estándar)</a:t>
            </a:r>
            <a:endParaRPr lang="en-GB" altLang="es-ES" sz="1600" b="1"/>
          </a:p>
        </p:txBody>
      </p:sp>
      <p:graphicFrame>
        <p:nvGraphicFramePr>
          <p:cNvPr id="36869" name="Object 326"/>
          <p:cNvGraphicFramePr>
            <a:graphicFrameLocks noChangeAspect="1"/>
          </p:cNvGraphicFramePr>
          <p:nvPr/>
        </p:nvGraphicFramePr>
        <p:xfrm>
          <a:off x="3352800" y="2584450"/>
          <a:ext cx="1066800" cy="533400"/>
        </p:xfrm>
        <a:graphic>
          <a:graphicData uri="http://schemas.openxmlformats.org/presentationml/2006/ole">
            <mc:AlternateContent xmlns:mc="http://schemas.openxmlformats.org/markup-compatibility/2006">
              <mc:Choice xmlns:v="urn:schemas-microsoft-com:vml" Requires="v">
                <p:oleObj name="Equation" r:id="rId3" imgW="507780" imgH="253890" progId="Equation.DSMT4">
                  <p:embed/>
                </p:oleObj>
              </mc:Choice>
              <mc:Fallback>
                <p:oleObj name="Equation" r:id="rId3" imgW="507780" imgH="253890" progId="Equation.DSMT4">
                  <p:embed/>
                  <p:pic>
                    <p:nvPicPr>
                      <p:cNvPr id="0" name="Object 3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2584450"/>
                        <a:ext cx="10668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455" name="Text Box 327"/>
          <p:cNvSpPr txBox="1">
            <a:spLocks noChangeArrowheads="1"/>
          </p:cNvSpPr>
          <p:nvPr/>
        </p:nvSpPr>
        <p:spPr bwMode="auto">
          <a:xfrm>
            <a:off x="304800" y="3232150"/>
            <a:ext cx="7872413" cy="3354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93663" indent="-93663">
              <a:buFontTx/>
              <a:buChar char="•"/>
              <a:defRPr/>
            </a:pPr>
            <a:r>
              <a:rPr lang="es-ES_tradnl" altLang="es-ES" sz="1400" dirty="0"/>
              <a:t>Es una medida de dispersión que tiene en cuenta a todas las observaciones</a:t>
            </a:r>
          </a:p>
          <a:p>
            <a:pPr marL="93663" indent="-93663">
              <a:buFontTx/>
              <a:buChar char="•"/>
              <a:defRPr/>
            </a:pPr>
            <a:r>
              <a:rPr lang="es-ES_tradnl" altLang="es-ES" sz="1400" dirty="0"/>
              <a:t>Se expresa en las mismas unidades que la variable</a:t>
            </a:r>
          </a:p>
          <a:p>
            <a:pPr marL="93663" indent="-93663">
              <a:buFontTx/>
              <a:buChar char="•"/>
              <a:defRPr/>
            </a:pPr>
            <a:r>
              <a:rPr lang="es-ES_tradnl" altLang="es-ES" sz="1400" dirty="0"/>
              <a:t>La desviación típica de forma aislada no dice nada, debe de ir acompañada de la media. Normalmente se expresa</a:t>
            </a:r>
          </a:p>
          <a:p>
            <a:pPr>
              <a:defRPr/>
            </a:pPr>
            <a:endParaRPr lang="es-ES_tradnl" altLang="es-ES" sz="1400" dirty="0"/>
          </a:p>
          <a:p>
            <a:pPr>
              <a:tabLst>
                <a:tab pos="93663" algn="l"/>
              </a:tabLst>
              <a:defRPr/>
            </a:pPr>
            <a:endParaRPr lang="es-ES_tradnl" altLang="es-ES" sz="1400" dirty="0"/>
          </a:p>
          <a:p>
            <a:pPr>
              <a:tabLst>
                <a:tab pos="93663" algn="l"/>
              </a:tabLst>
              <a:defRPr/>
            </a:pPr>
            <a:r>
              <a:rPr lang="es-ES_tradnl" altLang="es-ES" sz="1400" dirty="0"/>
              <a:t>	por ejemplo: “…</a:t>
            </a:r>
            <a:r>
              <a:rPr lang="es-ES_tradnl" altLang="es-ES" sz="1400" i="1" dirty="0"/>
              <a:t>el nivel de colesterol observado en la muestra fue </a:t>
            </a:r>
            <a:r>
              <a:rPr lang="es-ES_tradnl" altLang="es-ES" sz="1400" dirty="0"/>
              <a:t>175.3</a:t>
            </a:r>
            <a:r>
              <a:rPr lang="es-ES_tradnl" altLang="es-ES" sz="1600" dirty="0"/>
              <a:t>±</a:t>
            </a:r>
            <a:r>
              <a:rPr lang="es-ES_tradnl" altLang="es-ES" sz="1400" dirty="0"/>
              <a:t>12.5</a:t>
            </a:r>
            <a:r>
              <a:rPr lang="es-ES_tradnl" altLang="es-ES" sz="1400" i="1" dirty="0"/>
              <a:t>….</a:t>
            </a:r>
            <a:r>
              <a:rPr lang="es-ES_tradnl" altLang="es-ES" sz="1400" dirty="0"/>
              <a:t>”</a:t>
            </a:r>
          </a:p>
          <a:p>
            <a:pPr>
              <a:tabLst>
                <a:tab pos="93663" algn="l"/>
              </a:tabLst>
              <a:defRPr/>
            </a:pPr>
            <a:endParaRPr lang="es-ES_tradnl" altLang="es-ES" sz="1400" dirty="0"/>
          </a:p>
          <a:p>
            <a:pPr marL="93663" indent="-93663">
              <a:buFont typeface="Arial" panose="020B0604020202020204" pitchFamily="34" charset="0"/>
              <a:buChar char="•"/>
              <a:tabLst>
                <a:tab pos="93663" algn="l"/>
              </a:tabLst>
              <a:defRPr/>
            </a:pPr>
            <a:r>
              <a:rPr lang="es-ES_tradnl" altLang="es-ES" sz="1400" dirty="0"/>
              <a:t>Cuando la distribución de la variable es simétrica (mas concretamente </a:t>
            </a:r>
            <a:r>
              <a:rPr lang="es-ES_tradnl" altLang="es-ES" sz="1400" i="1" dirty="0"/>
              <a:t>normal</a:t>
            </a:r>
            <a:r>
              <a:rPr lang="es-ES_tradnl" altLang="es-ES" sz="1400" i="1" baseline="30000" dirty="0"/>
              <a:t>*</a:t>
            </a:r>
            <a:r>
              <a:rPr lang="es-ES_tradnl" altLang="es-ES" sz="1400" dirty="0"/>
              <a:t>) el intervalo</a:t>
            </a:r>
          </a:p>
          <a:p>
            <a:pPr marL="93663" indent="-93663">
              <a:buFont typeface="Arial" panose="020B0604020202020204" pitchFamily="34" charset="0"/>
              <a:buChar char="•"/>
              <a:tabLst>
                <a:tab pos="93663" algn="l"/>
              </a:tabLst>
              <a:defRPr/>
            </a:pPr>
            <a:endParaRPr lang="es-ES_tradnl" altLang="es-ES" sz="1400" dirty="0"/>
          </a:p>
          <a:p>
            <a:pPr marL="93663" indent="-93663">
              <a:buFont typeface="Arial" panose="020B0604020202020204" pitchFamily="34" charset="0"/>
              <a:buChar char="•"/>
              <a:tabLst>
                <a:tab pos="93663" algn="l"/>
              </a:tabLst>
              <a:defRPr/>
            </a:pPr>
            <a:endParaRPr lang="es-ES_tradnl" altLang="es-ES" sz="1400" dirty="0"/>
          </a:p>
          <a:p>
            <a:pPr marL="93663" indent="-93663">
              <a:tabLst>
                <a:tab pos="93663" algn="l"/>
              </a:tabLst>
              <a:defRPr/>
            </a:pPr>
            <a:r>
              <a:rPr lang="es-ES_tradnl" altLang="es-ES" sz="1400" dirty="0"/>
              <a:t>	contiene aproximadamente al 95% de las observaciones. </a:t>
            </a:r>
          </a:p>
          <a:p>
            <a:pPr marL="93663" indent="-93663" algn="just">
              <a:tabLst>
                <a:tab pos="93663" algn="l"/>
              </a:tabLst>
              <a:defRPr/>
            </a:pPr>
            <a:r>
              <a:rPr lang="es-ES_tradnl" altLang="es-ES" sz="1400" dirty="0"/>
              <a:t>	En el ejemplo anterior, aproximadamente el 95% de los casos tienen un nivel de colesterol comprendido en el intervalo (150.5, 200.5) si la distribución del colesterol es simétrica (</a:t>
            </a:r>
            <a:r>
              <a:rPr lang="es-ES_tradnl" altLang="es-ES" sz="1400" i="1" dirty="0"/>
              <a:t>normal</a:t>
            </a:r>
            <a:r>
              <a:rPr lang="es-ES_tradnl" altLang="es-ES" sz="1400" baseline="30000" dirty="0"/>
              <a:t>*</a:t>
            </a:r>
            <a:r>
              <a:rPr lang="es-ES_tradnl" altLang="es-ES" sz="1400" dirty="0"/>
              <a:t>)</a:t>
            </a:r>
          </a:p>
          <a:p>
            <a:pPr marL="93663" indent="-93663">
              <a:buFont typeface="Arial" panose="020B0604020202020204" pitchFamily="34" charset="0"/>
              <a:buChar char="•"/>
              <a:tabLst>
                <a:tab pos="93663" algn="l"/>
              </a:tabLst>
              <a:defRPr/>
            </a:pPr>
            <a:endParaRPr lang="en-GB" altLang="es-ES" sz="1400" dirty="0"/>
          </a:p>
        </p:txBody>
      </p:sp>
      <p:grpSp>
        <p:nvGrpSpPr>
          <p:cNvPr id="36871" name="1 Grupo"/>
          <p:cNvGrpSpPr>
            <a:grpSpLocks/>
          </p:cNvGrpSpPr>
          <p:nvPr/>
        </p:nvGrpSpPr>
        <p:grpSpPr bwMode="auto">
          <a:xfrm>
            <a:off x="4845050" y="2551113"/>
            <a:ext cx="4054475" cy="641350"/>
            <a:chOff x="4975514" y="2551545"/>
            <a:chExt cx="4054186" cy="641350"/>
          </a:xfrm>
        </p:grpSpPr>
        <p:sp>
          <p:nvSpPr>
            <p:cNvPr id="36875" name="Text Box 327"/>
            <p:cNvSpPr txBox="1">
              <a:spLocks noChangeArrowheads="1"/>
            </p:cNvSpPr>
            <p:nvPr/>
          </p:nvSpPr>
          <p:spPr bwMode="auto">
            <a:xfrm>
              <a:off x="4991100" y="2664281"/>
              <a:ext cx="40386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100"/>
                <a:t>Esto debe entenderse en el sentido de que la d.t. se obtiene una vez calculada la varianza al considerar su raíz cuadrada</a:t>
              </a:r>
              <a:endParaRPr lang="en-GB" altLang="es-ES" sz="1100"/>
            </a:p>
          </p:txBody>
        </p:sp>
        <p:sp>
          <p:nvSpPr>
            <p:cNvPr id="36876" name="AutoShape 122"/>
            <p:cNvSpPr>
              <a:spLocks noChangeArrowheads="1"/>
            </p:cNvSpPr>
            <p:nvPr/>
          </p:nvSpPr>
          <p:spPr bwMode="auto">
            <a:xfrm>
              <a:off x="4975514" y="2551545"/>
              <a:ext cx="3924299" cy="641350"/>
            </a:xfrm>
            <a:prstGeom prst="roundRect">
              <a:avLst>
                <a:gd name="adj" fmla="val 3361"/>
              </a:avLst>
            </a:prstGeom>
            <a:noFill/>
            <a:ln w="6350">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pSp>
      <p:graphicFrame>
        <p:nvGraphicFramePr>
          <p:cNvPr id="36872" name="2 Objeto"/>
          <p:cNvGraphicFramePr>
            <a:graphicFrameLocks noChangeAspect="1"/>
          </p:cNvGraphicFramePr>
          <p:nvPr/>
        </p:nvGraphicFramePr>
        <p:xfrm>
          <a:off x="3733800" y="4114800"/>
          <a:ext cx="598488" cy="287338"/>
        </p:xfrm>
        <a:graphic>
          <a:graphicData uri="http://schemas.openxmlformats.org/presentationml/2006/ole">
            <mc:AlternateContent xmlns:mc="http://schemas.openxmlformats.org/markup-compatibility/2006">
              <mc:Choice xmlns:v="urn:schemas-microsoft-com:vml" Requires="v">
                <p:oleObj name="Equation" r:id="rId5" imgW="342603" imgH="164957" progId="Equation.DSMT4">
                  <p:embed/>
                </p:oleObj>
              </mc:Choice>
              <mc:Fallback>
                <p:oleObj name="Equation" r:id="rId5" imgW="342603" imgH="164957" progId="Equation.DSMT4">
                  <p:embed/>
                  <p:pic>
                    <p:nvPicPr>
                      <p:cNvPr id="0" name="2 Objet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0" y="4114800"/>
                        <a:ext cx="59848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73" name="3 Objeto"/>
          <p:cNvGraphicFramePr>
            <a:graphicFrameLocks noChangeAspect="1"/>
          </p:cNvGraphicFramePr>
          <p:nvPr/>
        </p:nvGraphicFramePr>
        <p:xfrm>
          <a:off x="3702050" y="5302250"/>
          <a:ext cx="731838" cy="309563"/>
        </p:xfrm>
        <a:graphic>
          <a:graphicData uri="http://schemas.openxmlformats.org/presentationml/2006/ole">
            <mc:AlternateContent xmlns:mc="http://schemas.openxmlformats.org/markup-compatibility/2006">
              <mc:Choice xmlns:v="urn:schemas-microsoft-com:vml" Requires="v">
                <p:oleObj name="Equation" r:id="rId7" imgW="418918" imgH="177723" progId="Equation.DSMT4">
                  <p:embed/>
                </p:oleObj>
              </mc:Choice>
              <mc:Fallback>
                <p:oleObj name="Equation" r:id="rId7" imgW="418918" imgH="177723" progId="Equation.DSMT4">
                  <p:embed/>
                  <p:pic>
                    <p:nvPicPr>
                      <p:cNvPr id="0" name="3 Objeto"/>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02050" y="5302250"/>
                        <a:ext cx="731838"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874" name="Text Box 327"/>
          <p:cNvSpPr txBox="1">
            <a:spLocks noChangeArrowheads="1"/>
          </p:cNvSpPr>
          <p:nvPr/>
        </p:nvSpPr>
        <p:spPr bwMode="auto">
          <a:xfrm>
            <a:off x="263525" y="6502400"/>
            <a:ext cx="8464550"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100" dirty="0"/>
              <a:t>* Más adelante se verá qué quiere decir exactamente que una distribución sea </a:t>
            </a:r>
            <a:r>
              <a:rPr lang="es-ES_tradnl" altLang="es-ES" sz="1100" i="1" dirty="0"/>
              <a:t>normal</a:t>
            </a:r>
            <a:endParaRPr lang="en-GB" altLang="es-ES" sz="1100" i="1" dirty="0"/>
          </a:p>
        </p:txBody>
      </p:sp>
      <p:sp>
        <p:nvSpPr>
          <p:cNvPr id="12" name="Text Box 278"/>
          <p:cNvSpPr txBox="1">
            <a:spLocks noChangeArrowheads="1"/>
          </p:cNvSpPr>
          <p:nvPr/>
        </p:nvSpPr>
        <p:spPr bwMode="auto">
          <a:xfrm>
            <a:off x="219075" y="304800"/>
            <a:ext cx="61350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Síntesis de datos: medidas descriptivas de dispersión</a:t>
            </a:r>
            <a:endParaRPr lang="es-ES" altLang="es-ES" sz="1800" b="1"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219075" y="354013"/>
            <a:ext cx="628890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Posición y dispersión sobre el diagrama de frecuencias</a:t>
            </a:r>
            <a:endParaRPr lang="es-ES" altLang="es-ES" sz="1800" b="1" dirty="0"/>
          </a:p>
        </p:txBody>
      </p:sp>
      <p:grpSp>
        <p:nvGrpSpPr>
          <p:cNvPr id="37891" name="Group 3"/>
          <p:cNvGrpSpPr>
            <a:grpSpLocks/>
          </p:cNvGrpSpPr>
          <p:nvPr/>
        </p:nvGrpSpPr>
        <p:grpSpPr bwMode="auto">
          <a:xfrm>
            <a:off x="2009775" y="1524000"/>
            <a:ext cx="5381625" cy="4976813"/>
            <a:chOff x="192" y="528"/>
            <a:chExt cx="3774" cy="3424"/>
          </a:xfrm>
        </p:grpSpPr>
        <p:pic>
          <p:nvPicPr>
            <p:cNvPr id="3789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 y="528"/>
              <a:ext cx="3774" cy="3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896" name="Text Box 5"/>
            <p:cNvSpPr txBox="1">
              <a:spLocks noChangeArrowheads="1"/>
            </p:cNvSpPr>
            <p:nvPr/>
          </p:nvSpPr>
          <p:spPr bwMode="auto">
            <a:xfrm>
              <a:off x="1800" y="3763"/>
              <a:ext cx="404" cy="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 altLang="es-ES">
                  <a:solidFill>
                    <a:srgbClr val="000099"/>
                  </a:solidFill>
                </a:rPr>
                <a:t>~95%</a:t>
              </a:r>
            </a:p>
          </p:txBody>
        </p:sp>
        <p:grpSp>
          <p:nvGrpSpPr>
            <p:cNvPr id="37897" name="Group 6"/>
            <p:cNvGrpSpPr>
              <a:grpSpLocks/>
            </p:cNvGrpSpPr>
            <p:nvPr/>
          </p:nvGrpSpPr>
          <p:grpSpPr bwMode="auto">
            <a:xfrm>
              <a:off x="1115" y="1008"/>
              <a:ext cx="1728" cy="2352"/>
              <a:chOff x="2112" y="1248"/>
              <a:chExt cx="192" cy="2352"/>
            </a:xfrm>
          </p:grpSpPr>
          <p:sp>
            <p:nvSpPr>
              <p:cNvPr id="37904" name="Line 7"/>
              <p:cNvSpPr>
                <a:spLocks noChangeShapeType="1"/>
              </p:cNvSpPr>
              <p:nvPr/>
            </p:nvSpPr>
            <p:spPr bwMode="auto">
              <a:xfrm flipV="1">
                <a:off x="2112" y="1248"/>
                <a:ext cx="0" cy="2352"/>
              </a:xfrm>
              <a:prstGeom prst="line">
                <a:avLst/>
              </a:prstGeom>
              <a:noFill/>
              <a:ln w="15875">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7905" name="Line 8"/>
              <p:cNvSpPr>
                <a:spLocks noChangeShapeType="1"/>
              </p:cNvSpPr>
              <p:nvPr/>
            </p:nvSpPr>
            <p:spPr bwMode="auto">
              <a:xfrm flipV="1">
                <a:off x="2208" y="1248"/>
                <a:ext cx="0" cy="2352"/>
              </a:xfrm>
              <a:prstGeom prst="line">
                <a:avLst/>
              </a:prstGeom>
              <a:noFill/>
              <a:ln w="15875">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7906" name="Line 9"/>
              <p:cNvSpPr>
                <a:spLocks noChangeShapeType="1"/>
              </p:cNvSpPr>
              <p:nvPr/>
            </p:nvSpPr>
            <p:spPr bwMode="auto">
              <a:xfrm flipV="1">
                <a:off x="2304" y="1248"/>
                <a:ext cx="0" cy="2352"/>
              </a:xfrm>
              <a:prstGeom prst="line">
                <a:avLst/>
              </a:prstGeom>
              <a:noFill/>
              <a:ln w="15875">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37898" name="Group 10"/>
            <p:cNvGrpSpPr>
              <a:grpSpLocks/>
            </p:cNvGrpSpPr>
            <p:nvPr/>
          </p:nvGrpSpPr>
          <p:grpSpPr bwMode="auto">
            <a:xfrm>
              <a:off x="892" y="3369"/>
              <a:ext cx="2175" cy="183"/>
              <a:chOff x="897" y="3336"/>
              <a:chExt cx="2175" cy="183"/>
            </a:xfrm>
          </p:grpSpPr>
          <p:graphicFrame>
            <p:nvGraphicFramePr>
              <p:cNvPr id="37901" name="Object 11"/>
              <p:cNvGraphicFramePr>
                <a:graphicFrameLocks noChangeAspect="1"/>
              </p:cNvGraphicFramePr>
              <p:nvPr/>
            </p:nvGraphicFramePr>
            <p:xfrm>
              <a:off x="897" y="3336"/>
              <a:ext cx="432" cy="183"/>
            </p:xfrm>
            <a:graphic>
              <a:graphicData uri="http://schemas.openxmlformats.org/presentationml/2006/ole">
                <mc:AlternateContent xmlns:mc="http://schemas.openxmlformats.org/markup-compatibility/2006">
                  <mc:Choice xmlns:v="urn:schemas-microsoft-com:vml" Requires="v">
                    <p:oleObj name="Equation" r:id="rId3" imgW="418918" imgH="177723" progId="Equation.DSMT4">
                      <p:embed/>
                    </p:oleObj>
                  </mc:Choice>
                  <mc:Fallback>
                    <p:oleObj name="Equation" r:id="rId3" imgW="418918" imgH="177723" progId="Equation.DSMT4">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 y="3336"/>
                            <a:ext cx="432" cy="1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02" name="Object 12"/>
              <p:cNvGraphicFramePr>
                <a:graphicFrameLocks noChangeAspect="1"/>
              </p:cNvGraphicFramePr>
              <p:nvPr/>
            </p:nvGraphicFramePr>
            <p:xfrm>
              <a:off x="2640" y="3336"/>
              <a:ext cx="432" cy="183"/>
            </p:xfrm>
            <a:graphic>
              <a:graphicData uri="http://schemas.openxmlformats.org/presentationml/2006/ole">
                <mc:AlternateContent xmlns:mc="http://schemas.openxmlformats.org/markup-compatibility/2006">
                  <mc:Choice xmlns:v="urn:schemas-microsoft-com:vml" Requires="v">
                    <p:oleObj name="Equation" r:id="rId5" imgW="418918" imgH="177723" progId="Equation.DSMT4">
                      <p:embed/>
                    </p:oleObj>
                  </mc:Choice>
                  <mc:Fallback>
                    <p:oleObj name="Equation" r:id="rId5" imgW="418918" imgH="177723" progId="Equation.DSMT4">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40" y="3336"/>
                            <a:ext cx="432" cy="1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03" name="Object 13"/>
              <p:cNvGraphicFramePr>
                <a:graphicFrameLocks noChangeAspect="1"/>
              </p:cNvGraphicFramePr>
              <p:nvPr/>
            </p:nvGraphicFramePr>
            <p:xfrm>
              <a:off x="1912" y="3343"/>
              <a:ext cx="144" cy="170"/>
            </p:xfrm>
            <a:graphic>
              <a:graphicData uri="http://schemas.openxmlformats.org/presentationml/2006/ole">
                <mc:AlternateContent xmlns:mc="http://schemas.openxmlformats.org/markup-compatibility/2006">
                  <mc:Choice xmlns:v="urn:schemas-microsoft-com:vml" Requires="v">
                    <p:oleObj name="Equation" r:id="rId7" imgW="139579" imgH="164957" progId="Equation.DSMT4">
                      <p:embed/>
                    </p:oleObj>
                  </mc:Choice>
                  <mc:Fallback>
                    <p:oleObj name="Equation" r:id="rId7" imgW="139579" imgH="164957" progId="Equation.DSMT4">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12" y="3343"/>
                            <a:ext cx="144" cy="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7899" name="AutoShape 14"/>
            <p:cNvSpPr>
              <a:spLocks/>
            </p:cNvSpPr>
            <p:nvPr/>
          </p:nvSpPr>
          <p:spPr bwMode="auto">
            <a:xfrm rot="-5400000">
              <a:off x="1882" y="2784"/>
              <a:ext cx="192" cy="1728"/>
            </a:xfrm>
            <a:prstGeom prst="leftBrace">
              <a:avLst>
                <a:gd name="adj1" fmla="val 75000"/>
                <a:gd name="adj2" fmla="val 50000"/>
              </a:avLst>
            </a:prstGeom>
            <a:noFill/>
            <a:ln w="9525">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graphicFrame>
          <p:nvGraphicFramePr>
            <p:cNvPr id="37900" name="Object 15"/>
            <p:cNvGraphicFramePr>
              <a:graphicFrameLocks noChangeAspect="1"/>
            </p:cNvGraphicFramePr>
            <p:nvPr/>
          </p:nvGraphicFramePr>
          <p:xfrm>
            <a:off x="576" y="672"/>
            <a:ext cx="467" cy="347"/>
          </p:xfrm>
          <a:graphic>
            <a:graphicData uri="http://schemas.openxmlformats.org/presentationml/2006/ole">
              <mc:AlternateContent xmlns:mc="http://schemas.openxmlformats.org/markup-compatibility/2006">
                <mc:Choice xmlns:v="urn:schemas-microsoft-com:vml" Requires="v">
                  <p:oleObj name="Equation" r:id="rId9" imgW="545626" imgH="406048" progId="Equation.DSMT4">
                    <p:embed/>
                  </p:oleObj>
                </mc:Choice>
                <mc:Fallback>
                  <p:oleObj name="Equation" r:id="rId9" imgW="545626" imgH="406048" progId="Equation.DSMT4">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6" y="672"/>
                          <a:ext cx="467" cy="3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7892" name="Group 33"/>
          <p:cNvGrpSpPr>
            <a:grpSpLocks/>
          </p:cNvGrpSpPr>
          <p:nvPr/>
        </p:nvGrpSpPr>
        <p:grpSpPr bwMode="auto">
          <a:xfrm>
            <a:off x="381000" y="1143000"/>
            <a:ext cx="8382000" cy="304800"/>
            <a:chOff x="240" y="624"/>
            <a:chExt cx="5280" cy="192"/>
          </a:xfrm>
        </p:grpSpPr>
        <p:graphicFrame>
          <p:nvGraphicFramePr>
            <p:cNvPr id="37893" name="2 Objeto"/>
            <p:cNvGraphicFramePr>
              <a:graphicFrameLocks noChangeAspect="1"/>
            </p:cNvGraphicFramePr>
            <p:nvPr/>
          </p:nvGraphicFramePr>
          <p:xfrm>
            <a:off x="1141" y="646"/>
            <a:ext cx="329" cy="158"/>
          </p:xfrm>
          <a:graphic>
            <a:graphicData uri="http://schemas.openxmlformats.org/presentationml/2006/ole">
              <mc:AlternateContent xmlns:mc="http://schemas.openxmlformats.org/markup-compatibility/2006">
                <mc:Choice xmlns:v="urn:schemas-microsoft-com:vml" Requires="v">
                  <p:oleObj name="Equation" r:id="rId11" imgW="342603" imgH="164957" progId="Equation.DSMT4">
                    <p:embed/>
                  </p:oleObj>
                </mc:Choice>
                <mc:Fallback>
                  <p:oleObj name="Equation" r:id="rId11" imgW="342603" imgH="164957" progId="Equation.DSMT4">
                    <p:embed/>
                    <p:pic>
                      <p:nvPicPr>
                        <p:cNvPr id="0" name="2 Objeto"/>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41" y="646"/>
                          <a:ext cx="329"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894" name="Rectangle 31"/>
            <p:cNvSpPr>
              <a:spLocks noChangeArrowheads="1"/>
            </p:cNvSpPr>
            <p:nvPr/>
          </p:nvSpPr>
          <p:spPr bwMode="auto">
            <a:xfrm>
              <a:off x="240" y="624"/>
              <a:ext cx="52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spcBef>
                  <a:spcPct val="50000"/>
                </a:spcBef>
              </a:pPr>
              <a:r>
                <a:rPr lang="es-ES_tradnl" altLang="es-ES" sz="1400" dirty="0"/>
                <a:t>Indicar              </a:t>
              </a:r>
              <a:r>
                <a:rPr lang="es-ES" altLang="es-ES" sz="1400" dirty="0"/>
                <a:t> define muy bien la distribución, especialmente si es </a:t>
              </a:r>
              <a:r>
                <a:rPr lang="es-ES" altLang="es-ES" sz="1400" b="1" dirty="0"/>
                <a:t>simétrica</a:t>
              </a:r>
              <a:r>
                <a:rPr lang="es-ES" altLang="es-ES" sz="1400" dirty="0"/>
                <a:t> (</a:t>
              </a:r>
              <a:r>
                <a:rPr lang="es-ES" altLang="es-ES" sz="1400" i="1" dirty="0"/>
                <a:t>normal</a:t>
              </a:r>
              <a:r>
                <a:rPr lang="es-ES" altLang="es-ES" sz="1400" i="1" baseline="30000" dirty="0"/>
                <a:t>*</a:t>
              </a:r>
              <a:r>
                <a:rPr lang="es-ES" altLang="es-ES" sz="1400" dirty="0"/>
                <a:t>)</a:t>
              </a:r>
              <a:endParaRPr lang="es-ES_tradnl" altLang="es-ES" sz="1400" dirty="0"/>
            </a:p>
          </p:txBody>
        </p:sp>
      </p:grpSp>
      <p:sp>
        <p:nvSpPr>
          <p:cNvPr id="20" name="Text Box 327"/>
          <p:cNvSpPr txBox="1">
            <a:spLocks noChangeArrowheads="1"/>
          </p:cNvSpPr>
          <p:nvPr/>
        </p:nvSpPr>
        <p:spPr bwMode="auto">
          <a:xfrm>
            <a:off x="263525" y="6502400"/>
            <a:ext cx="8464550"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100" dirty="0"/>
              <a:t>* Más adelante se verá qué quiere decir exactamente que una distribución sea </a:t>
            </a:r>
            <a:r>
              <a:rPr lang="es-ES_tradnl" altLang="es-ES" sz="1100" i="1" dirty="0"/>
              <a:t>normal</a:t>
            </a:r>
            <a:endParaRPr lang="en-GB" altLang="es-ES" sz="1100" i="1"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324"/>
          <p:cNvSpPr txBox="1">
            <a:spLocks noChangeArrowheads="1"/>
          </p:cNvSpPr>
          <p:nvPr/>
        </p:nvSpPr>
        <p:spPr bwMode="auto">
          <a:xfrm>
            <a:off x="219075" y="304800"/>
            <a:ext cx="61350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Síntesis de datos: medidas descriptivas de dispersión</a:t>
            </a:r>
            <a:endParaRPr lang="es-ES" altLang="es-ES" sz="1800" b="1" dirty="0"/>
          </a:p>
        </p:txBody>
      </p:sp>
      <p:sp>
        <p:nvSpPr>
          <p:cNvPr id="38916" name="Text Box 325"/>
          <p:cNvSpPr txBox="1">
            <a:spLocks noChangeArrowheads="1"/>
          </p:cNvSpPr>
          <p:nvPr/>
        </p:nvSpPr>
        <p:spPr bwMode="auto">
          <a:xfrm>
            <a:off x="304800" y="949841"/>
            <a:ext cx="83820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_tradnl" altLang="es-ES" sz="1600" b="1" dirty="0">
                <a:solidFill>
                  <a:schemeClr val="accent1">
                    <a:lumMod val="25000"/>
                  </a:schemeClr>
                </a:solidFill>
              </a:rPr>
              <a:t>Otras medidas de dispersión</a:t>
            </a:r>
          </a:p>
          <a:p>
            <a:pPr algn="just" eaLnBrk="1" hangingPunct="1"/>
            <a:endParaRPr lang="es-ES_tradnl" altLang="es-ES" sz="1600" dirty="0">
              <a:solidFill>
                <a:srgbClr val="008080"/>
              </a:solidFill>
            </a:endParaRPr>
          </a:p>
          <a:p>
            <a:pPr algn="just" eaLnBrk="1" hangingPunct="1"/>
            <a:r>
              <a:rPr lang="es-ES_tradnl" altLang="es-ES" sz="1600" b="1" dirty="0"/>
              <a:t>Coeficiente de variación</a:t>
            </a:r>
            <a:endParaRPr lang="en-GB" altLang="es-ES" sz="1600" b="1" dirty="0"/>
          </a:p>
        </p:txBody>
      </p:sp>
      <p:graphicFrame>
        <p:nvGraphicFramePr>
          <p:cNvPr id="38917" name="Object 326"/>
          <p:cNvGraphicFramePr>
            <a:graphicFrameLocks noChangeAspect="1"/>
          </p:cNvGraphicFramePr>
          <p:nvPr/>
        </p:nvGraphicFramePr>
        <p:xfrm>
          <a:off x="3505200" y="1676400"/>
          <a:ext cx="1676400" cy="604838"/>
        </p:xfrm>
        <a:graphic>
          <a:graphicData uri="http://schemas.openxmlformats.org/presentationml/2006/ole">
            <mc:AlternateContent xmlns:mc="http://schemas.openxmlformats.org/markup-compatibility/2006">
              <mc:Choice xmlns:v="urn:schemas-microsoft-com:vml" Requires="v">
                <p:oleObj name="Equation" r:id="rId3" imgW="1091726" imgH="393529" progId="Equation.DSMT4">
                  <p:embed/>
                </p:oleObj>
              </mc:Choice>
              <mc:Fallback>
                <p:oleObj name="Equation" r:id="rId3" imgW="1091726" imgH="393529" progId="Equation.DSMT4">
                  <p:embed/>
                  <p:pic>
                    <p:nvPicPr>
                      <p:cNvPr id="0" name="Object 3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1676400"/>
                        <a:ext cx="1676400"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18" name="Text Box 327"/>
          <p:cNvSpPr txBox="1">
            <a:spLocks noChangeArrowheads="1"/>
          </p:cNvSpPr>
          <p:nvPr/>
        </p:nvSpPr>
        <p:spPr bwMode="auto">
          <a:xfrm>
            <a:off x="304800" y="2286000"/>
            <a:ext cx="8305800"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93663" indent="-93663"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buFontTx/>
              <a:buChar char="•"/>
            </a:pPr>
            <a:r>
              <a:rPr lang="es-ES_tradnl" altLang="es-ES" sz="1400" dirty="0"/>
              <a:t>Es una medida de dispersión adimensional (se multiplica por 100 y </a:t>
            </a:r>
            <a:r>
              <a:rPr lang="es-ES" altLang="es-ES" sz="1400" dirty="0"/>
              <a:t>es un %)</a:t>
            </a:r>
            <a:endParaRPr lang="es-ES_tradnl" altLang="es-ES" sz="1400" dirty="0"/>
          </a:p>
          <a:p>
            <a:pPr eaLnBrk="1" hangingPunct="1">
              <a:buFontTx/>
              <a:buChar char="•"/>
            </a:pPr>
            <a:r>
              <a:rPr lang="es-ES_tradnl" altLang="es-ES" sz="1400" dirty="0"/>
              <a:t>Expresa la dispersión dada por la </a:t>
            </a:r>
            <a:r>
              <a:rPr lang="es-ES" altLang="es-ES" sz="1400" dirty="0"/>
              <a:t>desviación típica en términos de la media (estandarización)</a:t>
            </a:r>
          </a:p>
          <a:p>
            <a:pPr eaLnBrk="1" hangingPunct="1">
              <a:buFontTx/>
              <a:buChar char="•"/>
            </a:pPr>
            <a:r>
              <a:rPr lang="es-ES_tradnl" altLang="es-ES" sz="1400" dirty="0"/>
              <a:t>No debe calcularse si la media es inferior a 1 </a:t>
            </a:r>
          </a:p>
          <a:p>
            <a:pPr eaLnBrk="1" hangingPunct="1">
              <a:buFontTx/>
              <a:buChar char="•"/>
            </a:pPr>
            <a:r>
              <a:rPr lang="es-ES_tradnl" altLang="es-ES" sz="1400" dirty="0"/>
              <a:t>Permite comparar la </a:t>
            </a:r>
            <a:r>
              <a:rPr lang="es-ES_tradnl" altLang="es-ES" sz="1400" dirty="0" err="1"/>
              <a:t>variab</a:t>
            </a:r>
            <a:r>
              <a:rPr lang="es-ES" altLang="es-ES" sz="1400" dirty="0" err="1"/>
              <a:t>ilidad</a:t>
            </a:r>
            <a:r>
              <a:rPr lang="es-ES" altLang="es-ES" sz="1400" dirty="0"/>
              <a:t> de muestras con diferente media e incluso con diferentes unidades</a:t>
            </a:r>
          </a:p>
          <a:p>
            <a:pPr eaLnBrk="1" hangingPunct="1">
              <a:buFontTx/>
              <a:buChar char="•"/>
            </a:pPr>
            <a:r>
              <a:rPr lang="es-ES" altLang="es-ES" sz="1400" dirty="0"/>
              <a:t>Muy utilizada para expresar la precisión de los aparatos de medida</a:t>
            </a:r>
          </a:p>
        </p:txBody>
      </p:sp>
      <p:sp>
        <p:nvSpPr>
          <p:cNvPr id="38919" name="Text Box 325"/>
          <p:cNvSpPr txBox="1">
            <a:spLocks noChangeArrowheads="1"/>
          </p:cNvSpPr>
          <p:nvPr/>
        </p:nvSpPr>
        <p:spPr bwMode="auto">
          <a:xfrm>
            <a:off x="304800" y="3581400"/>
            <a:ext cx="8382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 altLang="es-ES" sz="1600" b="1"/>
              <a:t>Rango intercuartílico (RIQ)</a:t>
            </a:r>
            <a:endParaRPr lang="en-GB" altLang="es-ES" sz="1600" b="1"/>
          </a:p>
        </p:txBody>
      </p:sp>
      <p:graphicFrame>
        <p:nvGraphicFramePr>
          <p:cNvPr id="38920" name="Object 326"/>
          <p:cNvGraphicFramePr>
            <a:graphicFrameLocks noChangeAspect="1"/>
          </p:cNvGraphicFramePr>
          <p:nvPr/>
        </p:nvGraphicFramePr>
        <p:xfrm>
          <a:off x="3657600" y="3962400"/>
          <a:ext cx="1344613" cy="352425"/>
        </p:xfrm>
        <a:graphic>
          <a:graphicData uri="http://schemas.openxmlformats.org/presentationml/2006/ole">
            <mc:AlternateContent xmlns:mc="http://schemas.openxmlformats.org/markup-compatibility/2006">
              <mc:Choice xmlns:v="urn:schemas-microsoft-com:vml" Requires="v">
                <p:oleObj name="Equation" r:id="rId5" imgW="876300" imgH="228600" progId="Equation.DSMT4">
                  <p:embed/>
                </p:oleObj>
              </mc:Choice>
              <mc:Fallback>
                <p:oleObj name="Equation" r:id="rId5" imgW="876300" imgH="228600" progId="Equation.DSMT4">
                  <p:embed/>
                  <p:pic>
                    <p:nvPicPr>
                      <p:cNvPr id="0" name="Object 3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7600" y="3962400"/>
                        <a:ext cx="1344613"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21" name="Text Box 327"/>
          <p:cNvSpPr txBox="1">
            <a:spLocks noChangeArrowheads="1"/>
          </p:cNvSpPr>
          <p:nvPr/>
        </p:nvSpPr>
        <p:spPr bwMode="auto">
          <a:xfrm>
            <a:off x="304800" y="4419600"/>
            <a:ext cx="830580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93663" indent="-93663"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400" dirty="0"/>
              <a:t>Es una medida de dispersión basada en percentiles</a:t>
            </a:r>
            <a:r>
              <a:rPr lang="es-ES" altLang="es-ES" sz="1400" dirty="0"/>
              <a:t>, por tanto</a:t>
            </a:r>
            <a:endParaRPr lang="es-ES_tradnl" altLang="es-ES" sz="1400" dirty="0"/>
          </a:p>
          <a:p>
            <a:pPr eaLnBrk="1" hangingPunct="1">
              <a:buFontTx/>
              <a:buChar char="•"/>
            </a:pPr>
            <a:r>
              <a:rPr lang="es-ES_tradnl" altLang="es-ES" sz="1400" dirty="0"/>
              <a:t>Se usa cuando la medida de posición considerada es la m</a:t>
            </a:r>
            <a:r>
              <a:rPr lang="es-ES" altLang="es-ES" sz="1400" dirty="0" err="1"/>
              <a:t>ediana</a:t>
            </a:r>
            <a:endParaRPr lang="es-ES" altLang="es-ES" sz="1400" dirty="0"/>
          </a:p>
          <a:p>
            <a:pPr eaLnBrk="1" hangingPunct="1">
              <a:buFontTx/>
              <a:buChar char="•"/>
            </a:pPr>
            <a:r>
              <a:rPr lang="es-ES_tradnl" altLang="es-ES" sz="1400" dirty="0"/>
              <a:t>No tiene sentido con muestras de pequeño tamaño</a:t>
            </a:r>
          </a:p>
          <a:p>
            <a:pPr eaLnBrk="1" hangingPunct="1">
              <a:buFontTx/>
              <a:buChar char="•"/>
            </a:pPr>
            <a:r>
              <a:rPr lang="es-ES" altLang="es-ES" sz="1400" dirty="0"/>
              <a:t>Debe interpretarse como que en un margen de RIQ unidades (entre Q1 y Q3) está el 50% (central) de las observaciones</a:t>
            </a:r>
          </a:p>
          <a:p>
            <a:pPr eaLnBrk="1" hangingPunct="1">
              <a:buFontTx/>
              <a:buChar char="•"/>
            </a:pPr>
            <a:endParaRPr lang="es-ES" altLang="es-ES" sz="1400" dirty="0"/>
          </a:p>
          <a:p>
            <a:pPr eaLnBrk="1" hangingPunct="1">
              <a:buFontTx/>
              <a:buChar char="•"/>
            </a:pPr>
            <a:r>
              <a:rPr lang="es-ES" altLang="es-ES" sz="1400" dirty="0"/>
              <a:t>Una variación de esta medida es el </a:t>
            </a:r>
            <a:r>
              <a:rPr lang="es-ES" altLang="es-ES" sz="1400" b="1" dirty="0"/>
              <a:t>rango semi intercuartílico (RSI) </a:t>
            </a:r>
            <a:r>
              <a:rPr lang="es-ES" altLang="es-ES" sz="1400" dirty="0"/>
              <a:t>o </a:t>
            </a:r>
            <a:r>
              <a:rPr lang="es-ES" altLang="es-ES" sz="1400" b="1" dirty="0"/>
              <a:t>desviación cuartil</a:t>
            </a:r>
            <a:endParaRPr lang="es-ES_tradnl" altLang="es-ES" sz="1400" b="1" dirty="0"/>
          </a:p>
          <a:p>
            <a:pPr eaLnBrk="1" hangingPunct="1">
              <a:buFontTx/>
              <a:buChar char="•"/>
            </a:pPr>
            <a:endParaRPr lang="es-ES_tradnl" altLang="es-ES" sz="1400" dirty="0"/>
          </a:p>
        </p:txBody>
      </p:sp>
      <p:graphicFrame>
        <p:nvGraphicFramePr>
          <p:cNvPr id="9" name="Object 326">
            <a:extLst>
              <a:ext uri="{FF2B5EF4-FFF2-40B4-BE49-F238E27FC236}">
                <a16:creationId xmlns:a16="http://schemas.microsoft.com/office/drawing/2014/main" id="{0D89717B-AE2E-427A-BD79-AEA11BA6CEDB}"/>
              </a:ext>
            </a:extLst>
          </p:cNvPr>
          <p:cNvGraphicFramePr>
            <a:graphicFrameLocks noChangeAspect="1"/>
          </p:cNvGraphicFramePr>
          <p:nvPr>
            <p:extLst>
              <p:ext uri="{D42A27DB-BD31-4B8C-83A1-F6EECF244321}">
                <p14:modId xmlns:p14="http://schemas.microsoft.com/office/powerpoint/2010/main" val="1583482491"/>
              </p:ext>
            </p:extLst>
          </p:nvPr>
        </p:nvGraphicFramePr>
        <p:xfrm>
          <a:off x="3657600" y="6036250"/>
          <a:ext cx="1382713" cy="608013"/>
        </p:xfrm>
        <a:graphic>
          <a:graphicData uri="http://schemas.openxmlformats.org/presentationml/2006/ole">
            <mc:AlternateContent xmlns:mc="http://schemas.openxmlformats.org/markup-compatibility/2006">
              <mc:Choice xmlns:v="urn:schemas-microsoft-com:vml" Requires="v">
                <p:oleObj name="Equation" r:id="rId7" imgW="901440" imgH="393480" progId="Equation.DSMT4">
                  <p:embed/>
                </p:oleObj>
              </mc:Choice>
              <mc:Fallback>
                <p:oleObj name="Equation" r:id="rId7" imgW="901440" imgH="393480" progId="Equation.DSMT4">
                  <p:embed/>
                  <p:pic>
                    <p:nvPicPr>
                      <p:cNvPr id="9" name="Object 326">
                        <a:extLst>
                          <a:ext uri="{FF2B5EF4-FFF2-40B4-BE49-F238E27FC236}">
                            <a16:creationId xmlns:a16="http://schemas.microsoft.com/office/drawing/2014/main" id="{08C7BA73-9367-4D68-9752-52753745B448}"/>
                          </a:ext>
                        </a:extLst>
                      </p:cNvPr>
                      <p:cNvPicPr>
                        <a:picLocks noChangeAspect="1" noChangeArrowheads="1"/>
                      </p:cNvPicPr>
                      <p:nvPr/>
                    </p:nvPicPr>
                    <p:blipFill>
                      <a:blip r:embed="rId8"/>
                      <a:srcRect/>
                      <a:stretch>
                        <a:fillRect/>
                      </a:stretch>
                    </p:blipFill>
                    <p:spPr bwMode="auto">
                      <a:xfrm>
                        <a:off x="3657600" y="6036250"/>
                        <a:ext cx="1382713"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938" name="Object 19"/>
          <p:cNvGraphicFramePr>
            <a:graphicFrameLocks noChangeAspect="1"/>
          </p:cNvGraphicFramePr>
          <p:nvPr/>
        </p:nvGraphicFramePr>
        <p:xfrm>
          <a:off x="3676650" y="854075"/>
          <a:ext cx="1687513" cy="738188"/>
        </p:xfrm>
        <a:graphic>
          <a:graphicData uri="http://schemas.openxmlformats.org/presentationml/2006/ole">
            <mc:AlternateContent xmlns:mc="http://schemas.openxmlformats.org/markup-compatibility/2006">
              <mc:Choice xmlns:v="urn:schemas-microsoft-com:vml" Requires="v">
                <p:oleObj name="Equation" r:id="rId3" imgW="901309" imgH="393529" progId="Equation.DSMT4">
                  <p:embed/>
                </p:oleObj>
              </mc:Choice>
              <mc:Fallback>
                <p:oleObj name="Equation" r:id="rId3" imgW="901309" imgH="393529" progId="Equation.DSMT4">
                  <p:embed/>
                  <p:pic>
                    <p:nvPicPr>
                      <p:cNvPr id="39938"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76650" y="854075"/>
                        <a:ext cx="1687513"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39" name="Text Box 20"/>
          <p:cNvSpPr txBox="1">
            <a:spLocks noChangeArrowheads="1"/>
          </p:cNvSpPr>
          <p:nvPr/>
        </p:nvSpPr>
        <p:spPr bwMode="auto">
          <a:xfrm>
            <a:off x="755650" y="1773238"/>
            <a:ext cx="7632700" cy="3786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Times New Roman" pitchFamily="18" charset="0"/>
              </a:defRPr>
            </a:lvl1pPr>
            <a:lvl2pPr>
              <a:defRPr sz="2800">
                <a:solidFill>
                  <a:schemeClr val="tx1"/>
                </a:solidFill>
                <a:latin typeface="Times New Roman" pitchFamily="18" charset="0"/>
              </a:defRPr>
            </a:lvl2pPr>
            <a:lvl3pPr>
              <a:defRPr sz="2400">
                <a:solidFill>
                  <a:schemeClr val="tx1"/>
                </a:solidFill>
                <a:latin typeface="Times New Roman" pitchFamily="18" charset="0"/>
              </a:defRPr>
            </a:lvl3pPr>
            <a:lvl4pPr>
              <a:defRPr sz="2000">
                <a:solidFill>
                  <a:schemeClr val="tx1"/>
                </a:solidFill>
                <a:latin typeface="Times New Roman" pitchFamily="18" charset="0"/>
              </a:defRPr>
            </a:lvl4pPr>
            <a:lvl5pPr>
              <a:defRPr sz="2000">
                <a:solidFill>
                  <a:schemeClr val="tx1"/>
                </a:solidFill>
                <a:latin typeface="Times New Roman" pitchFamily="18" charset="0"/>
              </a:defRPr>
            </a:lvl5pPr>
            <a:lvl6pPr eaLnBrk="0" hangingPunct="0">
              <a:defRPr sz="2000">
                <a:solidFill>
                  <a:schemeClr val="tx1"/>
                </a:solidFill>
                <a:latin typeface="Times New Roman" pitchFamily="18" charset="0"/>
              </a:defRPr>
            </a:lvl6pPr>
            <a:lvl7pPr eaLnBrk="0" hangingPunct="0">
              <a:defRPr sz="2000">
                <a:solidFill>
                  <a:schemeClr val="tx1"/>
                </a:solidFill>
                <a:latin typeface="Times New Roman" pitchFamily="18" charset="0"/>
              </a:defRPr>
            </a:lvl7pPr>
            <a:lvl8pPr eaLnBrk="0" hangingPunct="0">
              <a:defRPr sz="2000">
                <a:solidFill>
                  <a:schemeClr val="tx1"/>
                </a:solidFill>
                <a:latin typeface="Times New Roman" pitchFamily="18" charset="0"/>
              </a:defRPr>
            </a:lvl8pPr>
            <a:lvl9pPr eaLnBrk="0" hangingPunct="0">
              <a:defRPr sz="2000">
                <a:solidFill>
                  <a:schemeClr val="tx1"/>
                </a:solidFill>
                <a:latin typeface="Times New Roman" pitchFamily="18" charset="0"/>
              </a:defRPr>
            </a:lvl9pPr>
          </a:lstStyle>
          <a:p>
            <a:pPr algn="l">
              <a:lnSpc>
                <a:spcPct val="150000"/>
              </a:lnSpc>
              <a:buFontTx/>
              <a:buChar char="•"/>
            </a:pPr>
            <a:r>
              <a:rPr lang="es-ES_tradnl" altLang="es-ES" sz="2000" dirty="0"/>
              <a:t> Se utiliza para comparar métodos de medida. </a:t>
            </a:r>
          </a:p>
          <a:p>
            <a:pPr algn="l">
              <a:lnSpc>
                <a:spcPct val="150000"/>
              </a:lnSpc>
              <a:buFontTx/>
              <a:buChar char="•"/>
            </a:pPr>
            <a:r>
              <a:rPr lang="es-ES_tradnl" altLang="es-ES" sz="2000" dirty="0"/>
              <a:t> Es una medida que tiene en cuenta a todas las observaciones.</a:t>
            </a:r>
          </a:p>
          <a:p>
            <a:pPr algn="l">
              <a:lnSpc>
                <a:spcPct val="150000"/>
              </a:lnSpc>
              <a:buFontTx/>
              <a:buChar char="•"/>
            </a:pPr>
            <a:r>
              <a:rPr lang="es-ES_tradnl" altLang="es-ES" sz="2000" dirty="0"/>
              <a:t> Es adimensional y no depende de las unidades de medida.</a:t>
            </a:r>
          </a:p>
          <a:p>
            <a:pPr algn="l">
              <a:lnSpc>
                <a:spcPct val="150000"/>
              </a:lnSpc>
              <a:buFontTx/>
              <a:buChar char="•"/>
            </a:pPr>
            <a:r>
              <a:rPr lang="es-ES_tradnl" altLang="es-ES" sz="2000" dirty="0"/>
              <a:t> Se utilizan solamente cuando los datos son positivos.</a:t>
            </a:r>
          </a:p>
          <a:p>
            <a:pPr algn="l">
              <a:lnSpc>
                <a:spcPct val="150000"/>
              </a:lnSpc>
              <a:buFontTx/>
              <a:buChar char="•"/>
            </a:pPr>
            <a:r>
              <a:rPr lang="es-ES_tradnl" altLang="es-ES" sz="2000" dirty="0"/>
              <a:t> Se expresa en %.</a:t>
            </a:r>
          </a:p>
          <a:p>
            <a:pPr algn="l">
              <a:lnSpc>
                <a:spcPct val="150000"/>
              </a:lnSpc>
              <a:buFontTx/>
              <a:buChar char="•"/>
            </a:pPr>
            <a:r>
              <a:rPr lang="es-ES_tradnl" altLang="es-ES" sz="2000" dirty="0"/>
              <a:t> Cuanto menor es el CV, mayor es la precisión del método.</a:t>
            </a:r>
          </a:p>
          <a:p>
            <a:pPr algn="just">
              <a:lnSpc>
                <a:spcPct val="150000"/>
              </a:lnSpc>
              <a:buFontTx/>
              <a:buChar char="•"/>
            </a:pPr>
            <a:r>
              <a:rPr lang="es-ES_tradnl" altLang="es-ES" sz="2000" dirty="0"/>
              <a:t> </a:t>
            </a:r>
            <a:r>
              <a:rPr lang="es-ES_tradnl" altLang="es-ES" sz="2000" b="1" dirty="0">
                <a:solidFill>
                  <a:srgbClr val="FF0000"/>
                </a:solidFill>
              </a:rPr>
              <a:t>Ejemplo</a:t>
            </a:r>
            <a:r>
              <a:rPr lang="es-ES_tradnl" altLang="es-ES" sz="2000" dirty="0"/>
              <a:t>: CV=10% indica que por cada 100 unidades de medida, el método comete un error, medido en desviaciones típicas, de 10.</a:t>
            </a:r>
            <a:endParaRPr lang="en-GB" altLang="es-ES" sz="2000" dirty="0"/>
          </a:p>
        </p:txBody>
      </p:sp>
      <p:sp>
        <p:nvSpPr>
          <p:cNvPr id="39940" name="Text Box 15"/>
          <p:cNvSpPr txBox="1">
            <a:spLocks noChangeArrowheads="1"/>
          </p:cNvSpPr>
          <p:nvPr/>
        </p:nvSpPr>
        <p:spPr bwMode="auto">
          <a:xfrm>
            <a:off x="622300" y="333375"/>
            <a:ext cx="63976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itchFamily="18" charset="0"/>
              </a:defRPr>
            </a:lvl1pPr>
            <a:lvl2pPr>
              <a:defRPr sz="2800">
                <a:solidFill>
                  <a:schemeClr val="tx1"/>
                </a:solidFill>
                <a:latin typeface="Times New Roman" pitchFamily="18" charset="0"/>
              </a:defRPr>
            </a:lvl2pPr>
            <a:lvl3pPr>
              <a:defRPr sz="2400">
                <a:solidFill>
                  <a:schemeClr val="tx1"/>
                </a:solidFill>
                <a:latin typeface="Times New Roman" pitchFamily="18" charset="0"/>
              </a:defRPr>
            </a:lvl3pPr>
            <a:lvl4pPr>
              <a:defRPr sz="2000">
                <a:solidFill>
                  <a:schemeClr val="tx1"/>
                </a:solidFill>
                <a:latin typeface="Times New Roman" pitchFamily="18" charset="0"/>
              </a:defRPr>
            </a:lvl4pPr>
            <a:lvl5pPr>
              <a:defRPr sz="2000">
                <a:solidFill>
                  <a:schemeClr val="tx1"/>
                </a:solidFill>
                <a:latin typeface="Times New Roman" pitchFamily="18" charset="0"/>
              </a:defRPr>
            </a:lvl5pPr>
            <a:lvl6pPr eaLnBrk="0" hangingPunct="0">
              <a:defRPr sz="2000">
                <a:solidFill>
                  <a:schemeClr val="tx1"/>
                </a:solidFill>
                <a:latin typeface="Times New Roman" pitchFamily="18" charset="0"/>
              </a:defRPr>
            </a:lvl6pPr>
            <a:lvl7pPr eaLnBrk="0" hangingPunct="0">
              <a:defRPr sz="2000">
                <a:solidFill>
                  <a:schemeClr val="tx1"/>
                </a:solidFill>
                <a:latin typeface="Times New Roman" pitchFamily="18" charset="0"/>
              </a:defRPr>
            </a:lvl7pPr>
            <a:lvl8pPr eaLnBrk="0" hangingPunct="0">
              <a:defRPr sz="2000">
                <a:solidFill>
                  <a:schemeClr val="tx1"/>
                </a:solidFill>
                <a:latin typeface="Times New Roman" pitchFamily="18" charset="0"/>
              </a:defRPr>
            </a:lvl8pPr>
            <a:lvl9pPr eaLnBrk="0" hangingPunct="0">
              <a:defRPr sz="2000">
                <a:solidFill>
                  <a:schemeClr val="tx1"/>
                </a:solidFill>
                <a:latin typeface="Times New Roman" pitchFamily="18" charset="0"/>
              </a:defRPr>
            </a:lvl9pPr>
          </a:lstStyle>
          <a:p>
            <a:pPr algn="l"/>
            <a:r>
              <a:rPr lang="es-ES_tradnl" altLang="es-ES" sz="2000" b="1"/>
              <a:t>4. Medida de dispersión relativa: coeficiente de variación</a:t>
            </a:r>
            <a:endParaRPr lang="es-ES_tradnl" altLang="es-ES" sz="2000"/>
          </a:p>
        </p:txBody>
      </p:sp>
      <p:sp>
        <p:nvSpPr>
          <p:cNvPr id="39941" name="2 Marcador de número de diapositiva"/>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GB"/>
            </a:defPPr>
            <a:lvl1pPr algn="r" rtl="0" fontAlgn="base">
              <a:spcBef>
                <a:spcPct val="0"/>
              </a:spcBef>
              <a:spcAft>
                <a:spcPct val="0"/>
              </a:spcAft>
              <a:defRPr sz="1400" kern="1200">
                <a:solidFill>
                  <a:schemeClr val="tx1"/>
                </a:solidFill>
                <a:latin typeface="Times New Roman" pitchFamily="18" charset="0"/>
                <a:ea typeface="+mn-ea"/>
                <a:cs typeface="+mn-cs"/>
              </a:defRPr>
            </a:lvl1pPr>
            <a:lvl2pPr marL="457200" algn="r" rtl="0" fontAlgn="base">
              <a:spcBef>
                <a:spcPct val="0"/>
              </a:spcBef>
              <a:spcAft>
                <a:spcPct val="0"/>
              </a:spcAft>
              <a:defRPr sz="1300" kern="1200">
                <a:solidFill>
                  <a:schemeClr val="tx1"/>
                </a:solidFill>
                <a:latin typeface="Times New Roman" pitchFamily="18" charset="0"/>
                <a:ea typeface="+mn-ea"/>
                <a:cs typeface="+mn-cs"/>
              </a:defRPr>
            </a:lvl2pPr>
            <a:lvl3pPr marL="914400" algn="r" rtl="0" fontAlgn="base">
              <a:spcBef>
                <a:spcPct val="0"/>
              </a:spcBef>
              <a:spcAft>
                <a:spcPct val="0"/>
              </a:spcAft>
              <a:defRPr sz="1300" kern="1200">
                <a:solidFill>
                  <a:schemeClr val="tx1"/>
                </a:solidFill>
                <a:latin typeface="Times New Roman" pitchFamily="18" charset="0"/>
                <a:ea typeface="+mn-ea"/>
                <a:cs typeface="+mn-cs"/>
              </a:defRPr>
            </a:lvl3pPr>
            <a:lvl4pPr marL="1371600" algn="r" rtl="0" fontAlgn="base">
              <a:spcBef>
                <a:spcPct val="0"/>
              </a:spcBef>
              <a:spcAft>
                <a:spcPct val="0"/>
              </a:spcAft>
              <a:defRPr sz="1300" kern="1200">
                <a:solidFill>
                  <a:schemeClr val="tx1"/>
                </a:solidFill>
                <a:latin typeface="Times New Roman" pitchFamily="18" charset="0"/>
                <a:ea typeface="+mn-ea"/>
                <a:cs typeface="+mn-cs"/>
              </a:defRPr>
            </a:lvl4pPr>
            <a:lvl5pPr marL="1828800" algn="r" rtl="0" fontAlgn="base">
              <a:spcBef>
                <a:spcPct val="0"/>
              </a:spcBef>
              <a:spcAft>
                <a:spcPct val="0"/>
              </a:spcAft>
              <a:defRPr sz="1300" kern="1200">
                <a:solidFill>
                  <a:schemeClr val="tx1"/>
                </a:solidFill>
                <a:latin typeface="Times New Roman" pitchFamily="18" charset="0"/>
                <a:ea typeface="+mn-ea"/>
                <a:cs typeface="+mn-cs"/>
              </a:defRPr>
            </a:lvl5pPr>
            <a:lvl6pPr marL="2286000" algn="l" defTabSz="914400" rtl="0" eaLnBrk="1" latinLnBrk="0" hangingPunct="1">
              <a:defRPr sz="1300" kern="1200">
                <a:solidFill>
                  <a:schemeClr val="tx1"/>
                </a:solidFill>
                <a:latin typeface="Times New Roman" pitchFamily="18" charset="0"/>
                <a:ea typeface="+mn-ea"/>
                <a:cs typeface="+mn-cs"/>
              </a:defRPr>
            </a:lvl6pPr>
            <a:lvl7pPr marL="2743200" algn="l" defTabSz="914400" rtl="0" eaLnBrk="1" latinLnBrk="0" hangingPunct="1">
              <a:defRPr sz="1300" kern="1200">
                <a:solidFill>
                  <a:schemeClr val="tx1"/>
                </a:solidFill>
                <a:latin typeface="Times New Roman" pitchFamily="18" charset="0"/>
                <a:ea typeface="+mn-ea"/>
                <a:cs typeface="+mn-cs"/>
              </a:defRPr>
            </a:lvl7pPr>
            <a:lvl8pPr marL="3200400" algn="l" defTabSz="914400" rtl="0" eaLnBrk="1" latinLnBrk="0" hangingPunct="1">
              <a:defRPr sz="1300" kern="1200">
                <a:solidFill>
                  <a:schemeClr val="tx1"/>
                </a:solidFill>
                <a:latin typeface="Times New Roman" pitchFamily="18" charset="0"/>
                <a:ea typeface="+mn-ea"/>
                <a:cs typeface="+mn-cs"/>
              </a:defRPr>
            </a:lvl8pPr>
            <a:lvl9pPr marL="3657600" algn="l" defTabSz="914400" rtl="0" eaLnBrk="1" latinLnBrk="0" hangingPunct="1">
              <a:defRPr sz="1300" kern="1200">
                <a:solidFill>
                  <a:schemeClr val="tx1"/>
                </a:solidFill>
                <a:latin typeface="Times New Roman" pitchFamily="18" charset="0"/>
                <a:ea typeface="+mn-ea"/>
                <a:cs typeface="+mn-cs"/>
              </a:defRPr>
            </a:lvl9pPr>
          </a:lstStyle>
          <a:p>
            <a:pPr eaLnBrk="1" hangingPunct="1">
              <a:defRPr/>
            </a:pPr>
            <a:fld id="{8562262A-46A8-432A-9086-F4449D07FE6F}" type="slidenum">
              <a:rPr lang="en-GB" altLang="es-ES" smtClean="0"/>
              <a:pPr eaLnBrk="1" hangingPunct="1">
                <a:defRPr/>
              </a:pPr>
              <a:t>46</a:t>
            </a:fld>
            <a:endParaRPr lang="en-GB" altLang="es-ES" sz="14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Text Box 324"/>
          <p:cNvSpPr txBox="1">
            <a:spLocks noChangeArrowheads="1"/>
          </p:cNvSpPr>
          <p:nvPr/>
        </p:nvSpPr>
        <p:spPr bwMode="auto">
          <a:xfrm>
            <a:off x="219075" y="304800"/>
            <a:ext cx="315983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800" b="1" dirty="0"/>
              <a:t>Síntesis de datos: ejercicio</a:t>
            </a:r>
            <a:endParaRPr lang="es-ES" altLang="es-ES" sz="1800" b="1" dirty="0"/>
          </a:p>
        </p:txBody>
      </p:sp>
      <p:sp>
        <p:nvSpPr>
          <p:cNvPr id="39940" name="Text Box 325"/>
          <p:cNvSpPr txBox="1">
            <a:spLocks noChangeArrowheads="1"/>
          </p:cNvSpPr>
          <p:nvPr/>
        </p:nvSpPr>
        <p:spPr bwMode="auto">
          <a:xfrm>
            <a:off x="296863" y="990600"/>
            <a:ext cx="83820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r>
              <a:rPr lang="es-ES_tradnl" altLang="es-ES" sz="1600" dirty="0">
                <a:solidFill>
                  <a:schemeClr val="accent1">
                    <a:lumMod val="25000"/>
                  </a:schemeClr>
                </a:solidFill>
              </a:rPr>
              <a:t>Ejercicio</a:t>
            </a:r>
          </a:p>
          <a:p>
            <a:pPr algn="just" eaLnBrk="1" hangingPunct="1"/>
            <a:endParaRPr lang="es-ES_tradnl" altLang="es-ES" sz="1600" dirty="0">
              <a:solidFill>
                <a:srgbClr val="008080"/>
              </a:solidFill>
            </a:endParaRPr>
          </a:p>
          <a:p>
            <a:pPr algn="just" eaLnBrk="1" hangingPunct="1"/>
            <a:endParaRPr lang="es-ES_tradnl" altLang="es-ES" sz="1400" dirty="0"/>
          </a:p>
          <a:p>
            <a:pPr algn="just" eaLnBrk="1" hangingPunct="1"/>
            <a:r>
              <a:rPr lang="es-ES_tradnl" altLang="es-ES" sz="1400" dirty="0"/>
              <a:t>Calcule la media, la desviación típica y la mediana de las 7 muestras que aparecen a continuación</a:t>
            </a:r>
          </a:p>
          <a:p>
            <a:pPr algn="just" eaLnBrk="1" hangingPunct="1"/>
            <a:r>
              <a:rPr lang="es-ES" altLang="es-ES" sz="1400" dirty="0"/>
              <a:t>¿Puede decirse que las muestras 3 y 6 tienen la misma dispersión?</a:t>
            </a:r>
            <a:endParaRPr lang="en-GB" altLang="es-ES" sz="1400" dirty="0"/>
          </a:p>
        </p:txBody>
      </p:sp>
      <p:graphicFrame>
        <p:nvGraphicFramePr>
          <p:cNvPr id="40618" name="Group 682"/>
          <p:cNvGraphicFramePr>
            <a:graphicFrameLocks noGrp="1"/>
          </p:cNvGraphicFramePr>
          <p:nvPr/>
        </p:nvGraphicFramePr>
        <p:xfrm>
          <a:off x="314325" y="2819400"/>
          <a:ext cx="8515350" cy="2194560"/>
        </p:xfrm>
        <a:graphic>
          <a:graphicData uri="http://schemas.openxmlformats.org/drawingml/2006/table">
            <a:tbl>
              <a:tblPr/>
              <a:tblGrid>
                <a:gridCol w="508000">
                  <a:extLst>
                    <a:ext uri="{9D8B030D-6E8A-4147-A177-3AD203B41FA5}">
                      <a16:colId xmlns:a16="http://schemas.microsoft.com/office/drawing/2014/main" val="20000"/>
                    </a:ext>
                  </a:extLst>
                </a:gridCol>
                <a:gridCol w="568325">
                  <a:extLst>
                    <a:ext uri="{9D8B030D-6E8A-4147-A177-3AD203B41FA5}">
                      <a16:colId xmlns:a16="http://schemas.microsoft.com/office/drawing/2014/main" val="20001"/>
                    </a:ext>
                  </a:extLst>
                </a:gridCol>
                <a:gridCol w="568325">
                  <a:extLst>
                    <a:ext uri="{9D8B030D-6E8A-4147-A177-3AD203B41FA5}">
                      <a16:colId xmlns:a16="http://schemas.microsoft.com/office/drawing/2014/main" val="20002"/>
                    </a:ext>
                  </a:extLst>
                </a:gridCol>
                <a:gridCol w="568325">
                  <a:extLst>
                    <a:ext uri="{9D8B030D-6E8A-4147-A177-3AD203B41FA5}">
                      <a16:colId xmlns:a16="http://schemas.microsoft.com/office/drawing/2014/main" val="20003"/>
                    </a:ext>
                  </a:extLst>
                </a:gridCol>
                <a:gridCol w="568325">
                  <a:extLst>
                    <a:ext uri="{9D8B030D-6E8A-4147-A177-3AD203B41FA5}">
                      <a16:colId xmlns:a16="http://schemas.microsoft.com/office/drawing/2014/main" val="20004"/>
                    </a:ext>
                  </a:extLst>
                </a:gridCol>
                <a:gridCol w="568325">
                  <a:extLst>
                    <a:ext uri="{9D8B030D-6E8A-4147-A177-3AD203B41FA5}">
                      <a16:colId xmlns:a16="http://schemas.microsoft.com/office/drawing/2014/main" val="20005"/>
                    </a:ext>
                  </a:extLst>
                </a:gridCol>
                <a:gridCol w="568325">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gridCol w="485775">
                  <a:extLst>
                    <a:ext uri="{9D8B030D-6E8A-4147-A177-3AD203B41FA5}">
                      <a16:colId xmlns:a16="http://schemas.microsoft.com/office/drawing/2014/main" val="20008"/>
                    </a:ext>
                  </a:extLst>
                </a:gridCol>
                <a:gridCol w="495300">
                  <a:extLst>
                    <a:ext uri="{9D8B030D-6E8A-4147-A177-3AD203B41FA5}">
                      <a16:colId xmlns:a16="http://schemas.microsoft.com/office/drawing/2014/main" val="20009"/>
                    </a:ext>
                  </a:extLst>
                </a:gridCol>
                <a:gridCol w="495300">
                  <a:extLst>
                    <a:ext uri="{9D8B030D-6E8A-4147-A177-3AD203B41FA5}">
                      <a16:colId xmlns:a16="http://schemas.microsoft.com/office/drawing/2014/main" val="20010"/>
                    </a:ext>
                  </a:extLst>
                </a:gridCol>
                <a:gridCol w="304800">
                  <a:extLst>
                    <a:ext uri="{9D8B030D-6E8A-4147-A177-3AD203B41FA5}">
                      <a16:colId xmlns:a16="http://schemas.microsoft.com/office/drawing/2014/main" val="20011"/>
                    </a:ext>
                  </a:extLst>
                </a:gridCol>
                <a:gridCol w="323850">
                  <a:extLst>
                    <a:ext uri="{9D8B030D-6E8A-4147-A177-3AD203B41FA5}">
                      <a16:colId xmlns:a16="http://schemas.microsoft.com/office/drawing/2014/main" val="20012"/>
                    </a:ext>
                  </a:extLst>
                </a:gridCol>
                <a:gridCol w="638175">
                  <a:extLst>
                    <a:ext uri="{9D8B030D-6E8A-4147-A177-3AD203B41FA5}">
                      <a16:colId xmlns:a16="http://schemas.microsoft.com/office/drawing/2014/main" val="20013"/>
                    </a:ext>
                  </a:extLst>
                </a:gridCol>
                <a:gridCol w="638175">
                  <a:extLst>
                    <a:ext uri="{9D8B030D-6E8A-4147-A177-3AD203B41FA5}">
                      <a16:colId xmlns:a16="http://schemas.microsoft.com/office/drawing/2014/main" val="20014"/>
                    </a:ext>
                  </a:extLst>
                </a:gridCol>
                <a:gridCol w="638175">
                  <a:extLst>
                    <a:ext uri="{9D8B030D-6E8A-4147-A177-3AD203B41FA5}">
                      <a16:colId xmlns:a16="http://schemas.microsoft.com/office/drawing/2014/main" val="20015"/>
                    </a:ext>
                  </a:extLst>
                </a:gridCol>
              </a:tblGrid>
              <a:tr h="195263">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a:noFill/>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a:noFill/>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a:noFill/>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a:noFill/>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a:noFill/>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a:noFill/>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a:noFill/>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a:noFill/>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a:noFill/>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a:noFill/>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a:noFill/>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a:noFill/>
                    </a:lnL>
                    <a:lnR>
                      <a:noFill/>
                    </a:lnR>
                    <a:lnT>
                      <a:noFill/>
                    </a:lnT>
                    <a:lnB>
                      <a:noFill/>
                    </a:lnB>
                    <a:lnTlToBr>
                      <a:noFill/>
                    </a:lnTlToBr>
                    <a:lnBlToTr>
                      <a:noFill/>
                    </a:lnBlToTr>
                    <a:noFill/>
                  </a:tcPr>
                </a:tc>
                <a:tc gridSpan="4">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8080"/>
                          </a:solidFill>
                          <a:effectLst/>
                          <a:latin typeface="Arial" charset="0"/>
                          <a:cs typeface="Arial" charset="0"/>
                        </a:rPr>
                        <a:t>Solución</a:t>
                      </a:r>
                      <a:endParaRPr kumimoji="0" lang="es-ES" altLang="es-ES" sz="1000" b="1" i="0" u="none" strike="noStrike" cap="none" normalizeH="0" baseline="0">
                        <a:ln>
                          <a:noFill/>
                        </a:ln>
                        <a:solidFill>
                          <a:srgbClr val="008080"/>
                        </a:solidFill>
                        <a:effectLst/>
                        <a:latin typeface="Arial" charset="0"/>
                      </a:endParaRPr>
                    </a:p>
                  </a:txBody>
                  <a:tcPr anchor="b" horzOverflow="overflow">
                    <a:lnL>
                      <a:noFill/>
                    </a:lnL>
                    <a:lnR>
                      <a:noFill/>
                    </a:lnR>
                    <a:lnT>
                      <a:noFill/>
                    </a:lnT>
                    <a:lnB>
                      <a:noFill/>
                    </a:lnB>
                    <a:lnTlToBr>
                      <a:noFill/>
                    </a:lnTlToBr>
                    <a:lnBlToTr>
                      <a:noFill/>
                    </a:lnBlToTr>
                    <a:noFill/>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0"/>
                  </a:ext>
                </a:extLst>
              </a:tr>
              <a:tr h="193675">
                <a:tc gridSpan="2">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s-ES" altLang="es-ES" sz="1000" b="1" i="1" u="none" strike="noStrike" cap="none" normalizeH="0" baseline="0">
                          <a:ln>
                            <a:noFill/>
                          </a:ln>
                          <a:solidFill>
                            <a:schemeClr val="tx1"/>
                          </a:solidFill>
                          <a:effectLst/>
                          <a:latin typeface="Arial" charset="0"/>
                          <a:cs typeface="Arial" charset="0"/>
                        </a:rPr>
                        <a:t>Muestra</a:t>
                      </a:r>
                      <a:endParaRPr kumimoji="0" lang="es-ES" altLang="es-ES" sz="1000" b="1" i="1" u="none" strike="noStrike" cap="none" normalizeH="0" baseline="0">
                        <a:ln>
                          <a:noFill/>
                        </a:ln>
                        <a:solidFill>
                          <a:schemeClr val="tx1"/>
                        </a:solidFill>
                        <a:effectLst/>
                        <a:latin typeface="Arial" charset="0"/>
                      </a:endParaRPr>
                    </a:p>
                  </a:txBody>
                  <a:tcPr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ES"/>
                    </a:p>
                  </a:txBody>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a:noFill/>
                    </a:lnL>
                    <a:lnR>
                      <a:noFill/>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8080"/>
                          </a:solidFill>
                          <a:effectLst/>
                          <a:latin typeface="Arial" charset="0"/>
                          <a:cs typeface="Arial" charset="0"/>
                        </a:rPr>
                        <a:t>n</a:t>
                      </a:r>
                      <a:endParaRPr kumimoji="0" lang="es-ES" altLang="es-ES" sz="1000" b="1" i="0" u="none" strike="noStrike" cap="none" normalizeH="0" baseline="0">
                        <a:ln>
                          <a:noFill/>
                        </a:ln>
                        <a:solidFill>
                          <a:srgbClr val="008080"/>
                        </a:solidFill>
                        <a:effectLst/>
                        <a:latin typeface="Arial" charset="0"/>
                      </a:endParaRPr>
                    </a:p>
                  </a:txBody>
                  <a:tcPr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8080"/>
                          </a:solidFill>
                          <a:effectLst/>
                          <a:latin typeface="Arial" charset="0"/>
                          <a:cs typeface="Arial" charset="0"/>
                        </a:rPr>
                        <a:t>Media</a:t>
                      </a:r>
                      <a:endParaRPr kumimoji="0" lang="es-ES" altLang="es-ES" sz="1000" b="1" i="0" u="none" strike="noStrike" cap="none" normalizeH="0" baseline="0">
                        <a:ln>
                          <a:noFill/>
                        </a:ln>
                        <a:solidFill>
                          <a:srgbClr val="008080"/>
                        </a:solidFill>
                        <a:effectLst/>
                        <a:latin typeface="Arial" charset="0"/>
                      </a:endParaRPr>
                    </a:p>
                  </a:txBody>
                  <a:tcPr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8080"/>
                          </a:solidFill>
                          <a:effectLst/>
                          <a:latin typeface="Arial" charset="0"/>
                          <a:cs typeface="Arial" charset="0"/>
                        </a:rPr>
                        <a:t>s</a:t>
                      </a:r>
                      <a:endParaRPr kumimoji="0" lang="es-ES" altLang="es-ES" sz="1000" b="1" i="0" u="none" strike="noStrike" cap="none" normalizeH="0" baseline="0">
                        <a:ln>
                          <a:noFill/>
                        </a:ln>
                        <a:solidFill>
                          <a:srgbClr val="008080"/>
                        </a:solidFill>
                        <a:effectLst/>
                        <a:latin typeface="Arial" charset="0"/>
                      </a:endParaRPr>
                    </a:p>
                  </a:txBody>
                  <a:tcPr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8080"/>
                          </a:solidFill>
                          <a:effectLst/>
                          <a:latin typeface="Arial" charset="0"/>
                          <a:cs typeface="Arial" charset="0"/>
                        </a:rPr>
                        <a:t>Me</a:t>
                      </a:r>
                      <a:endParaRPr kumimoji="0" lang="es-ES" altLang="es-ES" sz="1000" b="1" i="0" u="none" strike="noStrike" cap="none" normalizeH="0" baseline="0">
                        <a:ln>
                          <a:noFill/>
                        </a:ln>
                        <a:solidFill>
                          <a:srgbClr val="008080"/>
                        </a:solidFill>
                        <a:effectLst/>
                        <a:latin typeface="Arial" charset="0"/>
                      </a:endParaRPr>
                    </a:p>
                  </a:txBody>
                  <a:tcPr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95263">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10.2</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11.4</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11.0</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10.2</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11.9</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11.1</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10.8</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10.1</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10.8</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11.1</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8080"/>
                          </a:solidFill>
                          <a:effectLst/>
                          <a:latin typeface="Arial" charset="0"/>
                          <a:cs typeface="Arial" charset="0"/>
                        </a:rPr>
                        <a:t>10</a:t>
                      </a:r>
                      <a:endParaRPr kumimoji="0" lang="es-ES" altLang="es-ES" sz="1000" b="1" i="0" u="none" strike="noStrike" cap="none" normalizeH="0" baseline="0">
                        <a:ln>
                          <a:noFill/>
                        </a:ln>
                        <a:solidFill>
                          <a:srgbClr val="00808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dirty="0">
                          <a:ln>
                            <a:noFill/>
                          </a:ln>
                          <a:solidFill>
                            <a:srgbClr val="008080"/>
                          </a:solidFill>
                          <a:effectLst/>
                          <a:latin typeface="Arial" charset="0"/>
                          <a:cs typeface="Arial" charset="0"/>
                        </a:rPr>
                        <a:t>10.86</a:t>
                      </a:r>
                      <a:endParaRPr kumimoji="0" lang="es-ES" altLang="es-ES" sz="1000" b="1" i="0" u="none" strike="noStrike" cap="none" normalizeH="0" baseline="0" dirty="0">
                        <a:ln>
                          <a:noFill/>
                        </a:ln>
                        <a:solidFill>
                          <a:srgbClr val="00808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8080"/>
                          </a:solidFill>
                          <a:effectLst/>
                          <a:latin typeface="Arial" charset="0"/>
                          <a:cs typeface="Arial" charset="0"/>
                        </a:rPr>
                        <a:t>0.574</a:t>
                      </a:r>
                      <a:endParaRPr kumimoji="0" lang="es-ES" altLang="es-ES" sz="1000" b="1" i="0" u="none" strike="noStrike" cap="none" normalizeH="0" baseline="0">
                        <a:ln>
                          <a:noFill/>
                        </a:ln>
                        <a:solidFill>
                          <a:srgbClr val="00808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8080"/>
                          </a:solidFill>
                          <a:effectLst/>
                          <a:latin typeface="Arial" charset="0"/>
                          <a:cs typeface="Arial" charset="0"/>
                        </a:rPr>
                        <a:t>10.9</a:t>
                      </a:r>
                      <a:endParaRPr kumimoji="0" lang="es-ES" altLang="es-ES" sz="1000" b="1" i="0" u="none" strike="noStrike" cap="none" normalizeH="0" baseline="0">
                        <a:ln>
                          <a:noFill/>
                        </a:ln>
                        <a:solidFill>
                          <a:srgbClr val="00808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95263">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2)</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102</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109</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107</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106</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103</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103</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105</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102</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104</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106</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8080"/>
                          </a:solidFill>
                          <a:effectLst/>
                          <a:latin typeface="Arial" charset="0"/>
                          <a:cs typeface="Arial" charset="0"/>
                        </a:rPr>
                        <a:t>10</a:t>
                      </a:r>
                      <a:endParaRPr kumimoji="0" lang="es-ES" altLang="es-ES" sz="1000" b="1" i="0" u="none" strike="noStrike" cap="none" normalizeH="0" baseline="0">
                        <a:ln>
                          <a:noFill/>
                        </a:ln>
                        <a:solidFill>
                          <a:srgbClr val="00808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8080"/>
                          </a:solidFill>
                          <a:effectLst/>
                          <a:latin typeface="Arial" charset="0"/>
                          <a:cs typeface="Arial" charset="0"/>
                        </a:rPr>
                        <a:t>104.7</a:t>
                      </a:r>
                      <a:endParaRPr kumimoji="0" lang="es-ES" altLang="es-ES" sz="1000" b="1" i="0" u="none" strike="noStrike" cap="none" normalizeH="0" baseline="0">
                        <a:ln>
                          <a:noFill/>
                        </a:ln>
                        <a:solidFill>
                          <a:srgbClr val="00808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8080"/>
                          </a:solidFill>
                          <a:effectLst/>
                          <a:latin typeface="Arial" charset="0"/>
                          <a:cs typeface="Arial" charset="0"/>
                        </a:rPr>
                        <a:t>2.31</a:t>
                      </a:r>
                      <a:endParaRPr kumimoji="0" lang="es-ES" altLang="es-ES" sz="1000" b="1" i="0" u="none" strike="noStrike" cap="none" normalizeH="0" baseline="0">
                        <a:ln>
                          <a:noFill/>
                        </a:ln>
                        <a:solidFill>
                          <a:srgbClr val="00808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6600"/>
                          </a:solidFill>
                          <a:effectLst/>
                          <a:latin typeface="Arial" charset="0"/>
                          <a:cs typeface="Arial" charset="0"/>
                        </a:rPr>
                        <a:t>104.5</a:t>
                      </a:r>
                      <a:endParaRPr kumimoji="0" lang="es-ES" altLang="es-ES" sz="1000" b="1" i="0" u="none" strike="noStrike" cap="none" normalizeH="0" baseline="0">
                        <a:ln>
                          <a:noFill/>
                        </a:ln>
                        <a:solidFill>
                          <a:srgbClr val="0066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93675">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3)</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2.9</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3.0</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3.1</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3.5</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2.7</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2.9</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3.1</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3.4</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2.6</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gridSpan="2">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s-ES"/>
                    </a:p>
                  </a:txBody>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8080"/>
                          </a:solidFill>
                          <a:effectLst/>
                          <a:latin typeface="Arial" charset="0"/>
                          <a:cs typeface="Arial" charset="0"/>
                        </a:rPr>
                        <a:t>9</a:t>
                      </a:r>
                      <a:endParaRPr kumimoji="0" lang="es-ES" altLang="es-ES" sz="1000" b="1" i="0" u="none" strike="noStrike" cap="none" normalizeH="0" baseline="0">
                        <a:ln>
                          <a:noFill/>
                        </a:ln>
                        <a:solidFill>
                          <a:srgbClr val="00808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8080"/>
                          </a:solidFill>
                          <a:effectLst/>
                          <a:latin typeface="Arial" charset="0"/>
                          <a:cs typeface="Arial" charset="0"/>
                        </a:rPr>
                        <a:t>3.02</a:t>
                      </a:r>
                      <a:endParaRPr kumimoji="0" lang="es-ES" altLang="es-ES" sz="1000" b="1" i="0" u="none" strike="noStrike" cap="none" normalizeH="0" baseline="0">
                        <a:ln>
                          <a:noFill/>
                        </a:ln>
                        <a:solidFill>
                          <a:srgbClr val="00808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8080"/>
                          </a:solidFill>
                          <a:effectLst/>
                          <a:latin typeface="Arial" charset="0"/>
                          <a:cs typeface="Arial" charset="0"/>
                        </a:rPr>
                        <a:t>0.295</a:t>
                      </a:r>
                      <a:endParaRPr kumimoji="0" lang="es-ES" altLang="es-ES" sz="1000" b="1" i="0" u="none" strike="noStrike" cap="none" normalizeH="0" baseline="0">
                        <a:ln>
                          <a:noFill/>
                        </a:ln>
                        <a:solidFill>
                          <a:srgbClr val="00808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8080"/>
                          </a:solidFill>
                          <a:effectLst/>
                          <a:latin typeface="Arial" charset="0"/>
                          <a:cs typeface="Arial" charset="0"/>
                        </a:rPr>
                        <a:t>3.0</a:t>
                      </a:r>
                      <a:endParaRPr kumimoji="0" lang="es-ES" altLang="es-ES" sz="1000" b="1" i="0" u="none" strike="noStrike" cap="none" normalizeH="0" baseline="0">
                        <a:ln>
                          <a:noFill/>
                        </a:ln>
                        <a:solidFill>
                          <a:srgbClr val="00808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95263">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4)</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1.0</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1.1</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2.6</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4.0</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0.0</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1.3</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3.5</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-1.0</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1.0</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1.5</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8080"/>
                          </a:solidFill>
                          <a:effectLst/>
                          <a:latin typeface="Arial" charset="0"/>
                          <a:cs typeface="Arial" charset="0"/>
                        </a:rPr>
                        <a:t>10</a:t>
                      </a:r>
                      <a:endParaRPr kumimoji="0" lang="es-ES" altLang="es-ES" sz="1000" b="1" i="0" u="none" strike="noStrike" cap="none" normalizeH="0" baseline="0">
                        <a:ln>
                          <a:noFill/>
                        </a:ln>
                        <a:solidFill>
                          <a:srgbClr val="00808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8080"/>
                          </a:solidFill>
                          <a:effectLst/>
                          <a:latin typeface="Arial" charset="0"/>
                          <a:cs typeface="Arial" charset="0"/>
                        </a:rPr>
                        <a:t>1.50</a:t>
                      </a:r>
                      <a:endParaRPr kumimoji="0" lang="es-ES" altLang="es-ES" sz="1000" b="1" i="0" u="none" strike="noStrike" cap="none" normalizeH="0" baseline="0">
                        <a:ln>
                          <a:noFill/>
                        </a:ln>
                        <a:solidFill>
                          <a:srgbClr val="00808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8080"/>
                          </a:solidFill>
                          <a:effectLst/>
                          <a:latin typeface="Arial" charset="0"/>
                          <a:cs typeface="Arial" charset="0"/>
                        </a:rPr>
                        <a:t>1.515</a:t>
                      </a:r>
                      <a:endParaRPr kumimoji="0" lang="es-ES" altLang="es-ES" sz="1000" b="1" i="0" u="none" strike="noStrike" cap="none" normalizeH="0" baseline="0">
                        <a:ln>
                          <a:noFill/>
                        </a:ln>
                        <a:solidFill>
                          <a:srgbClr val="00808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8080"/>
                          </a:solidFill>
                          <a:effectLst/>
                          <a:latin typeface="Arial" charset="0"/>
                          <a:cs typeface="Arial" charset="0"/>
                        </a:rPr>
                        <a:t>1.2</a:t>
                      </a:r>
                      <a:endParaRPr kumimoji="0" lang="es-ES" altLang="es-ES" sz="1000" b="1" i="0" u="none" strike="noStrike" cap="none" normalizeH="0" baseline="0">
                        <a:ln>
                          <a:noFill/>
                        </a:ln>
                        <a:solidFill>
                          <a:srgbClr val="00808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95263">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5)</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-0.6</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-1.6</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-1.6</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-2.7</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0.9</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-0.3</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-0.6</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-2.9</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-0.9</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-2.2</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8080"/>
                          </a:solidFill>
                          <a:effectLst/>
                          <a:latin typeface="Arial" charset="0"/>
                          <a:cs typeface="Arial" charset="0"/>
                        </a:rPr>
                        <a:t>10</a:t>
                      </a:r>
                      <a:endParaRPr kumimoji="0" lang="es-ES" altLang="es-ES" sz="1000" b="1" i="0" u="none" strike="noStrike" cap="none" normalizeH="0" baseline="0">
                        <a:ln>
                          <a:noFill/>
                        </a:ln>
                        <a:solidFill>
                          <a:srgbClr val="00808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8080"/>
                          </a:solidFill>
                          <a:effectLst/>
                          <a:latin typeface="Arial" charset="0"/>
                          <a:cs typeface="Arial" charset="0"/>
                        </a:rPr>
                        <a:t>-1.25</a:t>
                      </a:r>
                      <a:endParaRPr kumimoji="0" lang="es-ES" altLang="es-ES" sz="1000" b="1" i="0" u="none" strike="noStrike" cap="none" normalizeH="0" baseline="0">
                        <a:ln>
                          <a:noFill/>
                        </a:ln>
                        <a:solidFill>
                          <a:srgbClr val="00808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8080"/>
                          </a:solidFill>
                          <a:effectLst/>
                          <a:latin typeface="Arial" charset="0"/>
                          <a:cs typeface="Arial" charset="0"/>
                        </a:rPr>
                        <a:t>1.177</a:t>
                      </a:r>
                      <a:endParaRPr kumimoji="0" lang="es-ES" altLang="es-ES" sz="1000" b="1" i="0" u="none" strike="noStrike" cap="none" normalizeH="0" baseline="0">
                        <a:ln>
                          <a:noFill/>
                        </a:ln>
                        <a:solidFill>
                          <a:srgbClr val="00808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8080"/>
                          </a:solidFill>
                          <a:effectLst/>
                          <a:latin typeface="Arial" charset="0"/>
                          <a:cs typeface="Arial" charset="0"/>
                        </a:rPr>
                        <a:t>-1.25</a:t>
                      </a:r>
                      <a:endParaRPr kumimoji="0" lang="es-ES" altLang="es-ES" sz="1000" b="1" i="0" u="none" strike="noStrike" cap="none" normalizeH="0" baseline="0">
                        <a:ln>
                          <a:noFill/>
                        </a:ln>
                        <a:solidFill>
                          <a:srgbClr val="00808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95263">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_tradnl" altLang="es-ES" sz="1000" b="1" i="0" u="none" strike="noStrike" cap="none" normalizeH="0" baseline="0">
                          <a:ln>
                            <a:noFill/>
                          </a:ln>
                          <a:solidFill>
                            <a:schemeClr val="tx1"/>
                          </a:solidFill>
                          <a:effectLst/>
                          <a:latin typeface="Arial" charset="0"/>
                        </a:rPr>
                        <a:t>6)</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_tradnl" altLang="es-ES" sz="1000" b="1" i="0" u="none" strike="noStrike" cap="none" normalizeH="0" baseline="0">
                          <a:ln>
                            <a:noFill/>
                          </a:ln>
                          <a:solidFill>
                            <a:schemeClr val="tx1"/>
                          </a:solidFill>
                          <a:effectLst/>
                          <a:latin typeface="Arial" charset="0"/>
                        </a:rPr>
                        <a:t>5.9</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_tradnl" altLang="es-ES" sz="1000" b="1" i="0" u="none" strike="noStrike" cap="none" normalizeH="0" baseline="0">
                          <a:ln>
                            <a:noFill/>
                          </a:ln>
                          <a:solidFill>
                            <a:schemeClr val="tx1"/>
                          </a:solidFill>
                          <a:effectLst/>
                          <a:latin typeface="Arial" charset="0"/>
                        </a:rPr>
                        <a:t>6.0</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_tradnl" altLang="es-ES" sz="1000" b="1" i="0" u="none" strike="noStrike" cap="none" normalizeH="0" baseline="0">
                          <a:ln>
                            <a:noFill/>
                          </a:ln>
                          <a:solidFill>
                            <a:schemeClr val="tx1"/>
                          </a:solidFill>
                          <a:effectLst/>
                          <a:latin typeface="Arial" charset="0"/>
                        </a:rPr>
                        <a:t>6.1</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_tradnl" altLang="es-ES" sz="1000" b="1" i="0" u="none" strike="noStrike" cap="none" normalizeH="0" baseline="0">
                          <a:ln>
                            <a:noFill/>
                          </a:ln>
                          <a:solidFill>
                            <a:schemeClr val="tx1"/>
                          </a:solidFill>
                          <a:effectLst/>
                          <a:latin typeface="Arial" charset="0"/>
                        </a:rPr>
                        <a:t>6.5</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rPr>
                        <a:t>5.7</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_tradnl" altLang="es-ES" sz="1000" b="1" i="0" u="none" strike="noStrike" cap="none" normalizeH="0" baseline="0">
                          <a:ln>
                            <a:noFill/>
                          </a:ln>
                          <a:solidFill>
                            <a:schemeClr val="tx1"/>
                          </a:solidFill>
                          <a:effectLst/>
                          <a:latin typeface="Arial" charset="0"/>
                        </a:rPr>
                        <a:t>5.9</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_tradnl" altLang="es-ES" sz="1000" b="1" i="0" u="none" strike="noStrike" cap="none" normalizeH="0" baseline="0">
                          <a:ln>
                            <a:noFill/>
                          </a:ln>
                          <a:solidFill>
                            <a:schemeClr val="tx1"/>
                          </a:solidFill>
                          <a:effectLst/>
                          <a:latin typeface="Arial" charset="0"/>
                        </a:rPr>
                        <a:t>6.1</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_tradnl" altLang="es-ES" sz="1000" b="1" i="0" u="none" strike="noStrike" cap="none" normalizeH="0" baseline="0">
                          <a:ln>
                            <a:noFill/>
                          </a:ln>
                          <a:solidFill>
                            <a:schemeClr val="tx1"/>
                          </a:solidFill>
                          <a:effectLst/>
                          <a:latin typeface="Arial" charset="0"/>
                        </a:rPr>
                        <a:t>6.4</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_tradnl" altLang="es-ES" sz="1000" b="1" i="0" u="none" strike="noStrike" cap="none" normalizeH="0" baseline="0">
                          <a:ln>
                            <a:noFill/>
                          </a:ln>
                          <a:solidFill>
                            <a:schemeClr val="tx1"/>
                          </a:solidFill>
                          <a:effectLst/>
                          <a:latin typeface="Arial" charset="0"/>
                        </a:rPr>
                        <a:t>5.6</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s-ES" altLang="es-ES" sz="1000" b="0" i="0" u="none" strike="noStrike" cap="none" normalizeH="0" baseline="0">
                        <a:ln>
                          <a:noFill/>
                        </a:ln>
                        <a:solidFill>
                          <a:schemeClr val="tx1"/>
                        </a:solidFill>
                        <a:effectLst/>
                        <a:latin typeface="Arial" charset="0"/>
                      </a:endParaRPr>
                    </a:p>
                  </a:txBody>
                  <a:tcPr anchor="b"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_tradnl" altLang="es-ES" sz="1000" b="1" i="0" u="none" strike="noStrike" cap="none" normalizeH="0" baseline="0">
                          <a:ln>
                            <a:noFill/>
                          </a:ln>
                          <a:solidFill>
                            <a:srgbClr val="008080"/>
                          </a:solidFill>
                          <a:effectLst/>
                          <a:latin typeface="Arial" charset="0"/>
                        </a:rPr>
                        <a:t>9</a:t>
                      </a:r>
                      <a:endParaRPr kumimoji="0" lang="es-ES" altLang="es-ES" sz="1000" b="1" i="0" u="none" strike="noStrike" cap="none" normalizeH="0" baseline="0">
                        <a:ln>
                          <a:noFill/>
                        </a:ln>
                        <a:solidFill>
                          <a:srgbClr val="00808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_tradnl" altLang="es-ES" sz="1000" b="1" i="0" u="none" strike="noStrike" cap="none" normalizeH="0" baseline="0">
                          <a:ln>
                            <a:noFill/>
                          </a:ln>
                          <a:solidFill>
                            <a:srgbClr val="008080"/>
                          </a:solidFill>
                          <a:effectLst/>
                          <a:latin typeface="Arial" charset="0"/>
                        </a:rPr>
                        <a:t>6.02</a:t>
                      </a:r>
                      <a:endParaRPr kumimoji="0" lang="es-ES" altLang="es-ES" sz="1000" b="1" i="0" u="none" strike="noStrike" cap="none" normalizeH="0" baseline="0">
                        <a:ln>
                          <a:noFill/>
                        </a:ln>
                        <a:solidFill>
                          <a:srgbClr val="00808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_tradnl" altLang="es-ES" sz="1000" b="1" i="0" u="none" strike="noStrike" cap="none" normalizeH="0" baseline="0">
                          <a:ln>
                            <a:noFill/>
                          </a:ln>
                          <a:solidFill>
                            <a:srgbClr val="008080"/>
                          </a:solidFill>
                          <a:effectLst/>
                          <a:latin typeface="Arial" charset="0"/>
                        </a:rPr>
                        <a:t>0.295</a:t>
                      </a:r>
                      <a:endParaRPr kumimoji="0" lang="es-ES" altLang="es-ES" sz="1000" b="1" i="0" u="none" strike="noStrike" cap="none" normalizeH="0" baseline="0">
                        <a:ln>
                          <a:noFill/>
                        </a:ln>
                        <a:solidFill>
                          <a:srgbClr val="00808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_tradnl" altLang="es-ES" sz="1000" b="1" i="0" u="none" strike="noStrike" cap="none" normalizeH="0" baseline="0">
                          <a:ln>
                            <a:noFill/>
                          </a:ln>
                          <a:solidFill>
                            <a:srgbClr val="008080"/>
                          </a:solidFill>
                          <a:effectLst/>
                          <a:latin typeface="Arial" charset="0"/>
                        </a:rPr>
                        <a:t>6.0</a:t>
                      </a:r>
                      <a:endParaRPr kumimoji="0" lang="es-ES" altLang="es-ES" sz="1000" b="1" i="0" u="none" strike="noStrike" cap="none" normalizeH="0" baseline="0">
                        <a:ln>
                          <a:noFill/>
                        </a:ln>
                        <a:solidFill>
                          <a:srgbClr val="00808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42888">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7)</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0.5030</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0.4961</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0.5001</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0.4961</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0.5003</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0.5023</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chemeClr val="tx1"/>
                          </a:solidFill>
                          <a:effectLst/>
                          <a:latin typeface="Arial" charset="0"/>
                          <a:cs typeface="Arial" charset="0"/>
                        </a:rPr>
                        <a:t>0.4972</a:t>
                      </a: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gridSpan="4">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s-ES" altLang="es-ES" sz="10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hMerge="1">
                  <a:txBody>
                    <a:bodyPr/>
                    <a:lstStyle/>
                    <a:p>
                      <a:endParaRPr lang="es-ES"/>
                    </a:p>
                  </a:txBody>
                  <a:tcPr/>
                </a:tc>
                <a:tc hMerge="1">
                  <a:txBody>
                    <a:bodyPr/>
                    <a:lstStyle/>
                    <a:p>
                      <a:endParaRPr lang="es-ES"/>
                    </a:p>
                  </a:txBody>
                  <a:tcPr/>
                </a:tc>
                <a:tc hMerge="1">
                  <a:txBody>
                    <a:bodyPr/>
                    <a:lstStyle/>
                    <a:p>
                      <a:endParaRPr lang="es-ES"/>
                    </a:p>
                  </a:txBody>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8080"/>
                          </a:solidFill>
                          <a:effectLst/>
                          <a:latin typeface="Arial" charset="0"/>
                          <a:cs typeface="Arial" charset="0"/>
                        </a:rPr>
                        <a:t>7</a:t>
                      </a:r>
                      <a:endParaRPr kumimoji="0" lang="es-ES" altLang="es-ES" sz="1000" b="1" i="0" u="none" strike="noStrike" cap="none" normalizeH="0" baseline="0">
                        <a:ln>
                          <a:noFill/>
                        </a:ln>
                        <a:solidFill>
                          <a:srgbClr val="00808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8080"/>
                          </a:solidFill>
                          <a:effectLst/>
                          <a:latin typeface="Arial" charset="0"/>
                          <a:cs typeface="Arial" charset="0"/>
                        </a:rPr>
                        <a:t>0.49930</a:t>
                      </a:r>
                      <a:endParaRPr kumimoji="0" lang="es-ES" altLang="es-ES" sz="1000" b="1" i="0" u="none" strike="noStrike" cap="none" normalizeH="0" baseline="0">
                        <a:ln>
                          <a:noFill/>
                        </a:ln>
                        <a:solidFill>
                          <a:srgbClr val="00808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a:ln>
                            <a:noFill/>
                          </a:ln>
                          <a:solidFill>
                            <a:srgbClr val="008080"/>
                          </a:solidFill>
                          <a:effectLst/>
                          <a:latin typeface="Arial" charset="0"/>
                          <a:cs typeface="Arial" charset="0"/>
                        </a:rPr>
                        <a:t>0.00286</a:t>
                      </a:r>
                      <a:endParaRPr kumimoji="0" lang="es-ES" altLang="es-ES" sz="1000" b="1" i="0" u="none" strike="noStrike" cap="none" normalizeH="0" baseline="0">
                        <a:ln>
                          <a:noFill/>
                        </a:ln>
                        <a:solidFill>
                          <a:srgbClr val="00808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s-ES" altLang="es-ES" sz="1000" b="1" i="0" u="none" strike="noStrike" cap="none" normalizeH="0" baseline="0" dirty="0">
                          <a:ln>
                            <a:noFill/>
                          </a:ln>
                          <a:solidFill>
                            <a:srgbClr val="008080"/>
                          </a:solidFill>
                          <a:effectLst/>
                          <a:latin typeface="Arial" charset="0"/>
                          <a:cs typeface="Arial" charset="0"/>
                        </a:rPr>
                        <a:t>0.5001</a:t>
                      </a:r>
                      <a:endParaRPr kumimoji="0" lang="es-ES" altLang="es-ES" sz="1000" b="1" i="0" u="none" strike="noStrike" cap="none" normalizeH="0" baseline="0" dirty="0">
                        <a:ln>
                          <a:noFill/>
                        </a:ln>
                        <a:solidFill>
                          <a:srgbClr val="CC33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40109" name="Text Box 173"/>
          <p:cNvSpPr txBox="1">
            <a:spLocks noChangeArrowheads="1"/>
          </p:cNvSpPr>
          <p:nvPr/>
        </p:nvSpPr>
        <p:spPr bwMode="auto">
          <a:xfrm>
            <a:off x="296863" y="2286000"/>
            <a:ext cx="855027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ES" sz="1000"/>
              <a:t>La media suele presentarse con un decimal más que los valores de la variable y la desviación típica con un decimal más que la media</a:t>
            </a:r>
            <a:endParaRPr lang="es-ES" altLang="es-ES" sz="1000"/>
          </a:p>
        </p:txBody>
      </p:sp>
      <p:sp>
        <p:nvSpPr>
          <p:cNvPr id="40619" name="Text Box 683"/>
          <p:cNvSpPr txBox="1">
            <a:spLocks noChangeArrowheads="1"/>
          </p:cNvSpPr>
          <p:nvPr/>
        </p:nvSpPr>
        <p:spPr bwMode="auto">
          <a:xfrm>
            <a:off x="296863" y="5486400"/>
            <a:ext cx="8694737" cy="86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s-ES_tradnl" altLang="es-ES" sz="1000" b="1" dirty="0">
                <a:solidFill>
                  <a:schemeClr val="accent1">
                    <a:lumMod val="25000"/>
                  </a:schemeClr>
                </a:solidFill>
              </a:rPr>
              <a:t>La respuesta a la pregunta es que no. La media (</a:t>
            </a:r>
            <a:r>
              <a:rPr lang="es-ES_tradnl" altLang="es-ES" sz="1000" b="1" dirty="0" err="1">
                <a:solidFill>
                  <a:schemeClr val="accent1">
                    <a:lumMod val="25000"/>
                  </a:schemeClr>
                </a:solidFill>
                <a:cs typeface="Arial" charset="0"/>
              </a:rPr>
              <a:t>dt</a:t>
            </a:r>
            <a:r>
              <a:rPr lang="es-ES_tradnl" altLang="es-ES" sz="1000" b="1" dirty="0">
                <a:solidFill>
                  <a:schemeClr val="accent1">
                    <a:lumMod val="25000"/>
                  </a:schemeClr>
                </a:solidFill>
                <a:cs typeface="Arial" charset="0"/>
              </a:rPr>
              <a:t>) en l</a:t>
            </a:r>
            <a:r>
              <a:rPr lang="es-ES_tradnl" altLang="es-ES" sz="1000" b="1" dirty="0">
                <a:solidFill>
                  <a:schemeClr val="accent1">
                    <a:lumMod val="25000"/>
                  </a:schemeClr>
                </a:solidFill>
              </a:rPr>
              <a:t>a muestra 3 es 3.02 (</a:t>
            </a:r>
            <a:r>
              <a:rPr lang="es-ES_tradnl" altLang="es-ES" sz="1000" b="1" dirty="0">
                <a:solidFill>
                  <a:schemeClr val="accent1">
                    <a:lumMod val="25000"/>
                  </a:schemeClr>
                </a:solidFill>
                <a:cs typeface="Arial" charset="0"/>
              </a:rPr>
              <a:t>0.295) mientras que en la 6 resulta ser 6.02 (0.295). Las desviaciones típicas, aunque numéricamente presentan el mismo valor, no son comparables, ya que ambas muestras tienen diferente media (la de 6 es el doble que la de 3). Si obtenemos los coeficientes de variación resulta que CV</a:t>
            </a:r>
            <a:r>
              <a:rPr lang="es-ES_tradnl" altLang="es-ES" sz="1000" b="1" baseline="-25000" dirty="0">
                <a:solidFill>
                  <a:schemeClr val="accent1">
                    <a:lumMod val="25000"/>
                  </a:schemeClr>
                </a:solidFill>
                <a:cs typeface="Arial" charset="0"/>
              </a:rPr>
              <a:t>(3)</a:t>
            </a:r>
            <a:r>
              <a:rPr lang="es-ES_tradnl" altLang="es-ES" sz="1000" b="1" dirty="0">
                <a:solidFill>
                  <a:schemeClr val="accent1">
                    <a:lumMod val="25000"/>
                  </a:schemeClr>
                </a:solidFill>
                <a:cs typeface="Arial" charset="0"/>
              </a:rPr>
              <a:t>= 9.8% y CV</a:t>
            </a:r>
            <a:r>
              <a:rPr lang="es-ES_tradnl" altLang="es-ES" sz="1000" b="1" baseline="-25000" dirty="0">
                <a:solidFill>
                  <a:schemeClr val="accent1">
                    <a:lumMod val="25000"/>
                  </a:schemeClr>
                </a:solidFill>
                <a:cs typeface="Arial" charset="0"/>
              </a:rPr>
              <a:t>(6)</a:t>
            </a:r>
            <a:r>
              <a:rPr lang="es-ES_tradnl" altLang="es-ES" sz="1000" b="1" dirty="0">
                <a:solidFill>
                  <a:schemeClr val="accent1">
                    <a:lumMod val="25000"/>
                  </a:schemeClr>
                </a:solidFill>
                <a:cs typeface="Arial" charset="0"/>
              </a:rPr>
              <a:t>=4.9% lo que pone de manifiesto que la dispersión relativa a la media de la muestra 3 es el doble que la de la muestra 6.</a:t>
            </a:r>
          </a:p>
          <a:p>
            <a:pPr>
              <a:lnSpc>
                <a:spcPct val="110000"/>
              </a:lnSpc>
            </a:pPr>
            <a:endParaRPr lang="es-ES" altLang="es-ES" sz="1000" b="1" dirty="0">
              <a:solidFill>
                <a:schemeClr val="accent1">
                  <a:lumMod val="25000"/>
                </a:schemeClr>
              </a:solidFill>
            </a:endParaRPr>
          </a:p>
        </p:txBody>
      </p:sp>
    </p:spTree>
  </p:cSld>
  <p:clrMapOvr>
    <a:masterClrMapping/>
  </p:clrMapOvr>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rgbClr val="EEB5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FD681CB-83AB-804A-B461-12462C6CAB40}">
  <we:reference id="4b785c87-866c-4bad-85d8-5d1ae467ac9a" version="3.12.0.0" store="EXCatalog" storeType="EXCatalog"/>
  <we:alternateReferences>
    <we:reference id="WA104381909" version="3.12.0.0" store="es-E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7012</TotalTime>
  <Words>5305</Words>
  <Application>Microsoft Macintosh PowerPoint</Application>
  <PresentationFormat>On-screen Show (4:3)</PresentationFormat>
  <Paragraphs>988</Paragraphs>
  <Slides>47</Slides>
  <Notes>12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47</vt:i4>
      </vt:variant>
    </vt:vector>
  </HeadingPairs>
  <TitlesOfParts>
    <vt:vector size="55" baseType="lpstr">
      <vt:lpstr>Arial Unicode MS</vt:lpstr>
      <vt:lpstr>Arial</vt:lpstr>
      <vt:lpstr>Cambria Math</vt:lpstr>
      <vt:lpstr>Symbol</vt:lpstr>
      <vt:lpstr>Times New Roman</vt:lpstr>
      <vt:lpstr>Diseño predeterminado</vt:lpstr>
      <vt:lpstr>Equation</vt:lpstr>
      <vt:lpstr>CorelDRAW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Porto Alegre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Pedro Femia</dc:creator>
  <cp:lastModifiedBy>MIGUEL ÁNGEL LUQUE FERNÁNDEZ</cp:lastModifiedBy>
  <cp:revision>312</cp:revision>
  <cp:lastPrinted>2018-10-15T17:32:58Z</cp:lastPrinted>
  <dcterms:created xsi:type="dcterms:W3CDTF">2012-06-20T17:39:24Z</dcterms:created>
  <dcterms:modified xsi:type="dcterms:W3CDTF">2024-09-19T09:06:27Z</dcterms:modified>
</cp:coreProperties>
</file>