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57" r:id="rId2"/>
    <p:sldId id="292" r:id="rId3"/>
    <p:sldId id="308" r:id="rId4"/>
    <p:sldId id="259" r:id="rId5"/>
    <p:sldId id="298" r:id="rId6"/>
    <p:sldId id="293" r:id="rId7"/>
    <p:sldId id="260" r:id="rId8"/>
    <p:sldId id="299" r:id="rId9"/>
    <p:sldId id="261" r:id="rId10"/>
    <p:sldId id="262" r:id="rId11"/>
    <p:sldId id="289" r:id="rId12"/>
    <p:sldId id="290" r:id="rId13"/>
    <p:sldId id="291" r:id="rId14"/>
    <p:sldId id="307" r:id="rId15"/>
    <p:sldId id="263" r:id="rId16"/>
    <p:sldId id="300" r:id="rId17"/>
    <p:sldId id="264" r:id="rId18"/>
    <p:sldId id="268" r:id="rId19"/>
    <p:sldId id="301" r:id="rId20"/>
    <p:sldId id="294" r:id="rId21"/>
    <p:sldId id="302" r:id="rId22"/>
    <p:sldId id="285" r:id="rId23"/>
    <p:sldId id="267" r:id="rId24"/>
    <p:sldId id="269" r:id="rId25"/>
    <p:sldId id="270" r:id="rId26"/>
    <p:sldId id="303" r:id="rId27"/>
    <p:sldId id="305" r:id="rId28"/>
    <p:sldId id="274" r:id="rId29"/>
    <p:sldId id="275" r:id="rId30"/>
    <p:sldId id="276" r:id="rId31"/>
    <p:sldId id="277" r:id="rId32"/>
    <p:sldId id="278" r:id="rId33"/>
    <p:sldId id="306" r:id="rId34"/>
    <p:sldId id="309" r:id="rId35"/>
    <p:sldId id="286" r:id="rId36"/>
    <p:sldId id="272" r:id="rId37"/>
    <p:sldId id="271" r:id="rId38"/>
    <p:sldId id="288" r:id="rId39"/>
    <p:sldId id="280" r:id="rId40"/>
    <p:sldId id="281" r:id="rId41"/>
    <p:sldId id="282" r:id="rId42"/>
    <p:sldId id="283" r:id="rId43"/>
    <p:sldId id="287" r:id="rId44"/>
    <p:sldId id="310" r:id="rId45"/>
    <p:sldId id="284" r:id="rId46"/>
  </p:sldIdLst>
  <p:sldSz cx="9144000" cy="6858000" type="screen4x3"/>
  <p:notesSz cx="7099300" cy="10234613"/>
  <p:defaultTextStyle>
    <a:defPPr>
      <a:defRPr lang="es-E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2" pos="96"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0000"/>
    <a:srgbClr val="4183A1"/>
    <a:srgbClr val="2A5B60"/>
    <a:srgbClr val="35747B"/>
    <a:srgbClr val="8BD9C1"/>
    <a:srgbClr val="FFD44B"/>
    <a:srgbClr val="FFFF99"/>
    <a:srgbClr val="0066CC"/>
    <a:srgbClr val="FF9900"/>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72" autoAdjust="0"/>
    <p:restoredTop sz="93998" autoAdjust="0"/>
  </p:normalViewPr>
  <p:slideViewPr>
    <p:cSldViewPr showGuides="1">
      <p:cViewPr varScale="1">
        <p:scale>
          <a:sx n="128" d="100"/>
          <a:sy n="128" d="100"/>
        </p:scale>
        <p:origin x="1728" y="176"/>
      </p:cViewPr>
      <p:guideLst>
        <p:guide orient="horz" pos="240"/>
        <p:guide pos="96"/>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3144" y="12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54940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mtClean="0"/>
            </a:lvl1pPr>
          </a:lstStyle>
          <a:p>
            <a:pPr>
              <a:defRPr/>
            </a:pPr>
            <a:r>
              <a:rPr lang="es-ES_tradnl" altLang="es-ES" sz="1100" dirty="0"/>
              <a:t>Pedro Fe</a:t>
            </a:r>
            <a:r>
              <a:rPr lang="es-ES" altLang="es-ES" sz="1100" dirty="0" err="1"/>
              <a:t>mia</a:t>
            </a:r>
            <a:r>
              <a:rPr lang="es-ES" altLang="es-ES" sz="1100" dirty="0"/>
              <a:t> (</a:t>
            </a:r>
            <a:r>
              <a:rPr lang="es-ES" altLang="es-ES" sz="1100" i="1" dirty="0"/>
              <a:t>pfemia@ugr.es</a:t>
            </a:r>
            <a:r>
              <a:rPr lang="es-ES" altLang="es-ES" sz="1100" dirty="0"/>
              <a:t>)  </a:t>
            </a:r>
          </a:p>
          <a:p>
            <a:pPr>
              <a:defRPr/>
            </a:pPr>
            <a:r>
              <a:rPr lang="es-ES_tradnl" altLang="es-ES" sz="1100" dirty="0"/>
              <a:t>Bioestadística. Universidad de Granada</a:t>
            </a:r>
            <a:endParaRPr lang="es-ES" altLang="es-ES" sz="1100" dirty="0"/>
          </a:p>
        </p:txBody>
      </p:sp>
      <p:sp>
        <p:nvSpPr>
          <p:cNvPr id="12293" name="Rectangle 5"/>
          <p:cNvSpPr>
            <a:spLocks noGrp="1" noChangeArrowheads="1"/>
          </p:cNvSpPr>
          <p:nvPr>
            <p:ph type="sldNum" sz="quarter" idx="3"/>
          </p:nvPr>
        </p:nvSpPr>
        <p:spPr bwMode="auto">
          <a:xfrm>
            <a:off x="0" y="9776391"/>
            <a:ext cx="7099300" cy="39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lgn="ctr">
              <a:defRPr/>
            </a:pPr>
            <a:fld id="{9C4F1793-6012-4E53-BF38-A80459238650}" type="slidenum">
              <a:rPr lang="es-ES" altLang="es-ES"/>
              <a:pPr algn="ctr">
                <a:defRPr/>
              </a:pPr>
              <a:t>‹#›</a:t>
            </a:fld>
            <a:endParaRPr lang="es-ES" altLang="es-ES"/>
          </a:p>
        </p:txBody>
      </p:sp>
      <p:pic>
        <p:nvPicPr>
          <p:cNvPr id="6" name="Picture 2" descr="http://es.creativecommons.org/blog/wp-content/uploads/2013/04/by-nc-nd.eu_pet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88106"/>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txBox="1">
            <a:spLocks noChangeArrowheads="1"/>
          </p:cNvSpPr>
          <p:nvPr/>
        </p:nvSpPr>
        <p:spPr bwMode="auto">
          <a:xfrm>
            <a:off x="385445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defPPr>
              <a:defRPr lang="es-ES"/>
            </a:defPPr>
            <a:lvl1pPr algn="l" rtl="0" fontAlgn="base">
              <a:spcBef>
                <a:spcPct val="0"/>
              </a:spcBef>
              <a:spcAft>
                <a:spcPct val="0"/>
              </a:spcAft>
              <a:defRPr sz="1200" kern="1200" smtClean="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algn="r">
              <a:defRPr/>
            </a:pPr>
            <a:r>
              <a:rPr lang="es-ES" altLang="es-ES" dirty="0"/>
              <a:t>Grado en Enfermería</a:t>
            </a:r>
          </a:p>
          <a:p>
            <a:pPr algn="r">
              <a:defRPr/>
            </a:pPr>
            <a:r>
              <a:rPr lang="es-ES" altLang="es-ES" dirty="0"/>
              <a:t>© 2018</a:t>
            </a:r>
          </a:p>
        </p:txBody>
      </p:sp>
    </p:spTree>
    <p:extLst>
      <p:ext uri="{BB962C8B-B14F-4D97-AF65-F5344CB8AC3E}">
        <p14:creationId xmlns:p14="http://schemas.microsoft.com/office/powerpoint/2010/main" val="41851753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a:lvl1pPr>
          </a:lstStyle>
          <a:p>
            <a:pPr>
              <a:defRPr/>
            </a:pPr>
            <a:endParaRPr lang="es-ES" altLang="es-ES"/>
          </a:p>
        </p:txBody>
      </p:sp>
      <p:sp>
        <p:nvSpPr>
          <p:cNvPr id="4403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a:lvl1pPr>
          </a:lstStyle>
          <a:p>
            <a:pPr>
              <a:defRPr/>
            </a:pPr>
            <a:endParaRPr lang="es-ES" altLang="es-ES"/>
          </a:p>
        </p:txBody>
      </p:sp>
      <p:sp>
        <p:nvSpPr>
          <p:cNvPr id="40964"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a:lvl1pPr>
          </a:lstStyle>
          <a:p>
            <a:pPr>
              <a:defRPr/>
            </a:pPr>
            <a:endParaRPr lang="es-ES" altLang="es-ES"/>
          </a:p>
        </p:txBody>
      </p:sp>
      <p:sp>
        <p:nvSpPr>
          <p:cNvPr id="4403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defRPr/>
            </a:pPr>
            <a:fld id="{58445C5D-153B-4697-9968-7F13084BEFAB}" type="slidenum">
              <a:rPr lang="es-ES" altLang="es-ES"/>
              <a:pPr>
                <a:defRPr/>
              </a:pPr>
              <a:t>‹#›</a:t>
            </a:fld>
            <a:endParaRPr lang="es-ES" altLang="es-ES"/>
          </a:p>
        </p:txBody>
      </p:sp>
    </p:spTree>
    <p:extLst>
      <p:ext uri="{BB962C8B-B14F-4D97-AF65-F5344CB8AC3E}">
        <p14:creationId xmlns:p14="http://schemas.microsoft.com/office/powerpoint/2010/main" val="98882395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8EF66FC8-8BFB-4D57-B402-B58B6D444F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AE0BC5-002E-4983-9989-87DE1DD6D81E}" type="slidenum">
              <a:rPr lang="es-ES" altLang="es-ES"/>
              <a:pPr>
                <a:spcBef>
                  <a:spcPct val="0"/>
                </a:spcBef>
              </a:pPr>
              <a:t>11</a:t>
            </a:fld>
            <a:endParaRPr lang="es-ES" altLang="es-ES"/>
          </a:p>
        </p:txBody>
      </p:sp>
      <p:sp>
        <p:nvSpPr>
          <p:cNvPr id="35843" name="Rectangle 2">
            <a:extLst>
              <a:ext uri="{FF2B5EF4-FFF2-40B4-BE49-F238E27FC236}">
                <a16:creationId xmlns:a16="http://schemas.microsoft.com/office/drawing/2014/main" id="{83AFC0FE-6A4A-4F3A-899E-2C05433F5312}"/>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1E3C3C75-60A3-4C43-B14B-0D499A95F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_tradnl" altLang="es-ES">
              <a:latin typeface="Arial" panose="020B0604020202020204" pitchFamily="34" charset="0"/>
            </a:endParaRPr>
          </a:p>
        </p:txBody>
      </p:sp>
    </p:spTree>
    <p:extLst>
      <p:ext uri="{BB962C8B-B14F-4D97-AF65-F5344CB8AC3E}">
        <p14:creationId xmlns:p14="http://schemas.microsoft.com/office/powerpoint/2010/main" val="3121657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A2EC3FAF-56F9-4621-A0B2-2D7AC4B32B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2D1479C-3287-46C0-92E3-3820020C54DA}" type="slidenum">
              <a:rPr lang="es-ES" altLang="es-ES"/>
              <a:pPr>
                <a:spcBef>
                  <a:spcPct val="0"/>
                </a:spcBef>
              </a:pPr>
              <a:t>12</a:t>
            </a:fld>
            <a:endParaRPr lang="es-ES" altLang="es-ES"/>
          </a:p>
        </p:txBody>
      </p:sp>
      <p:sp>
        <p:nvSpPr>
          <p:cNvPr id="37891" name="Rectangle 2">
            <a:extLst>
              <a:ext uri="{FF2B5EF4-FFF2-40B4-BE49-F238E27FC236}">
                <a16:creationId xmlns:a16="http://schemas.microsoft.com/office/drawing/2014/main" id="{A74DBC7E-C46D-4828-86C8-964B29445AED}"/>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1D2C721C-6863-44E4-A543-D997A850CD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_tradnl" altLang="es-ES" dirty="0">
              <a:latin typeface="Arial" panose="020B0604020202020204" pitchFamily="34" charset="0"/>
            </a:endParaRPr>
          </a:p>
        </p:txBody>
      </p:sp>
    </p:spTree>
    <p:extLst>
      <p:ext uri="{BB962C8B-B14F-4D97-AF65-F5344CB8AC3E}">
        <p14:creationId xmlns:p14="http://schemas.microsoft.com/office/powerpoint/2010/main" val="3918136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EDF3925B-DF06-4625-8FF0-5D6CB4B001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148B926-5EA3-480B-8B9B-68CFF0134ABB}" type="slidenum">
              <a:rPr lang="es-ES" altLang="es-ES"/>
              <a:pPr>
                <a:spcBef>
                  <a:spcPct val="0"/>
                </a:spcBef>
              </a:pPr>
              <a:t>13</a:t>
            </a:fld>
            <a:endParaRPr lang="es-ES" altLang="es-ES"/>
          </a:p>
        </p:txBody>
      </p:sp>
      <p:sp>
        <p:nvSpPr>
          <p:cNvPr id="39939" name="Rectangle 2">
            <a:extLst>
              <a:ext uri="{FF2B5EF4-FFF2-40B4-BE49-F238E27FC236}">
                <a16:creationId xmlns:a16="http://schemas.microsoft.com/office/drawing/2014/main" id="{1AF89FD4-A729-4E4D-82B6-66A02D3BB9FE}"/>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0B641128-9414-4D45-9BA5-75FE79268A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_tradnl" altLang="es-ES" dirty="0">
              <a:latin typeface="Arial" panose="020B0604020202020204" pitchFamily="34" charset="0"/>
            </a:endParaRPr>
          </a:p>
        </p:txBody>
      </p:sp>
    </p:spTree>
    <p:extLst>
      <p:ext uri="{BB962C8B-B14F-4D97-AF65-F5344CB8AC3E}">
        <p14:creationId xmlns:p14="http://schemas.microsoft.com/office/powerpoint/2010/main" val="1200704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257151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45499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76838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83216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92105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Tree>
    <p:extLst>
      <p:ext uri="{BB962C8B-B14F-4D97-AF65-F5344CB8AC3E}">
        <p14:creationId xmlns:p14="http://schemas.microsoft.com/office/powerpoint/2010/main" val="2165570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63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804485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7003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09933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8250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Text Box 9"/>
          <p:cNvSpPr txBox="1">
            <a:spLocks noChangeArrowheads="1"/>
          </p:cNvSpPr>
          <p:nvPr userDrawn="1"/>
        </p:nvSpPr>
        <p:spPr bwMode="auto">
          <a:xfrm>
            <a:off x="8001000" y="152400"/>
            <a:ext cx="9667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r" eaLnBrk="1" hangingPunct="1">
              <a:defRPr/>
            </a:pPr>
            <a:fld id="{7FAF1F29-B240-471F-9E53-AB9CCE719600}" type="slidenum">
              <a:rPr lang="es-ES" altLang="es-ES" b="1" smtClean="0">
                <a:solidFill>
                  <a:schemeClr val="tx1">
                    <a:lumMod val="85000"/>
                    <a:lumOff val="15000"/>
                  </a:schemeClr>
                </a:solidFill>
              </a:rPr>
              <a:pPr algn="r" eaLnBrk="1" hangingPunct="1">
                <a:defRPr/>
              </a:pPr>
              <a:t>‹#›</a:t>
            </a:fld>
            <a:endParaRPr lang="es-ES" altLang="es-ES" b="1" dirty="0">
              <a:solidFill>
                <a:schemeClr val="tx1">
                  <a:lumMod val="85000"/>
                  <a:lumOff val="15000"/>
                </a:schemeClr>
              </a:solidFill>
            </a:endParaRPr>
          </a:p>
        </p:txBody>
      </p:sp>
      <p:cxnSp>
        <p:nvCxnSpPr>
          <p:cNvPr id="5" name="Conector recto 4"/>
          <p:cNvCxnSpPr/>
          <p:nvPr userDrawn="1"/>
        </p:nvCxnSpPr>
        <p:spPr>
          <a:xfrm>
            <a:off x="0" y="762000"/>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7.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9.wmf"/><Relationship Id="rId5" Type="http://schemas.openxmlformats.org/officeDocument/2006/relationships/image" Target="../media/image6.wmf"/><Relationship Id="rId15" Type="http://schemas.openxmlformats.org/officeDocument/2006/relationships/image" Target="../media/image11.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8.wmf"/><Relationship Id="rId1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3.bin"/><Relationship Id="rId1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oleObject" Target="../embeddings/oleObject9.bin"/><Relationship Id="rId12" Type="http://schemas.openxmlformats.org/officeDocument/2006/relationships/oleObject" Target="../embeddings/oleObject12.bin"/><Relationship Id="rId17" Type="http://schemas.openxmlformats.org/officeDocument/2006/relationships/image" Target="../media/image20.png"/><Relationship Id="rId2" Type="http://schemas.openxmlformats.org/officeDocument/2006/relationships/image" Target="../media/image14.png"/><Relationship Id="rId16" Type="http://schemas.openxmlformats.org/officeDocument/2006/relationships/oleObject" Target="../embeddings/oleObject16.bin"/><Relationship Id="rId1" Type="http://schemas.openxmlformats.org/officeDocument/2006/relationships/slideLayout" Target="../slideLayouts/slideLayout7.xml"/><Relationship Id="rId6" Type="http://schemas.openxmlformats.org/officeDocument/2006/relationships/image" Target="../media/image17.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5.bin"/><Relationship Id="rId10" Type="http://schemas.openxmlformats.org/officeDocument/2006/relationships/image" Target="../media/image19.wmf"/><Relationship Id="rId4" Type="http://schemas.openxmlformats.org/officeDocument/2006/relationships/image" Target="../media/image16.png"/><Relationship Id="rId9" Type="http://schemas.openxmlformats.org/officeDocument/2006/relationships/oleObject" Target="../embeddings/oleObject10.bin"/><Relationship Id="rId1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2.bin"/><Relationship Id="rId18" Type="http://schemas.openxmlformats.org/officeDocument/2006/relationships/image" Target="../media/image26.wmf"/><Relationship Id="rId3" Type="http://schemas.openxmlformats.org/officeDocument/2006/relationships/oleObject" Target="../embeddings/oleObject17.bin"/><Relationship Id="rId21" Type="http://schemas.openxmlformats.org/officeDocument/2006/relationships/oleObject" Target="../embeddings/oleObject26.bin"/><Relationship Id="rId7" Type="http://schemas.openxmlformats.org/officeDocument/2006/relationships/oleObject" Target="../embeddings/oleObject19.bin"/><Relationship Id="rId12" Type="http://schemas.openxmlformats.org/officeDocument/2006/relationships/image" Target="../media/image23.wmf"/><Relationship Id="rId17" Type="http://schemas.openxmlformats.org/officeDocument/2006/relationships/oleObject" Target="../embeddings/oleObject24.bin"/><Relationship Id="rId2" Type="http://schemas.openxmlformats.org/officeDocument/2006/relationships/image" Target="../media/image16.png"/><Relationship Id="rId16" Type="http://schemas.openxmlformats.org/officeDocument/2006/relationships/image" Target="../media/image25.wmf"/><Relationship Id="rId20" Type="http://schemas.openxmlformats.org/officeDocument/2006/relationships/image" Target="../media/image27.wmf"/><Relationship Id="rId1" Type="http://schemas.openxmlformats.org/officeDocument/2006/relationships/slideLayout" Target="../slideLayouts/slideLayout7.xml"/><Relationship Id="rId6" Type="http://schemas.openxmlformats.org/officeDocument/2006/relationships/image" Target="../media/image18.wmf"/><Relationship Id="rId11" Type="http://schemas.openxmlformats.org/officeDocument/2006/relationships/oleObject" Target="../embeddings/oleObject21.bin"/><Relationship Id="rId24" Type="http://schemas.openxmlformats.org/officeDocument/2006/relationships/image" Target="../media/image29.wmf"/><Relationship Id="rId5" Type="http://schemas.openxmlformats.org/officeDocument/2006/relationships/oleObject" Target="../embeddings/oleObject18.bin"/><Relationship Id="rId15" Type="http://schemas.openxmlformats.org/officeDocument/2006/relationships/oleObject" Target="../embeddings/oleObject23.bin"/><Relationship Id="rId23" Type="http://schemas.openxmlformats.org/officeDocument/2006/relationships/oleObject" Target="../embeddings/oleObject27.bin"/><Relationship Id="rId10" Type="http://schemas.openxmlformats.org/officeDocument/2006/relationships/image" Target="../media/image22.wmf"/><Relationship Id="rId19" Type="http://schemas.openxmlformats.org/officeDocument/2006/relationships/oleObject" Target="../embeddings/oleObject25.bin"/><Relationship Id="rId4" Type="http://schemas.openxmlformats.org/officeDocument/2006/relationships/image" Target="../media/image17.wmf"/><Relationship Id="rId9" Type="http://schemas.openxmlformats.org/officeDocument/2006/relationships/oleObject" Target="../embeddings/oleObject20.bin"/><Relationship Id="rId14" Type="http://schemas.openxmlformats.org/officeDocument/2006/relationships/image" Target="../media/image24.wmf"/><Relationship Id="rId22" Type="http://schemas.openxmlformats.org/officeDocument/2006/relationships/image" Target="../media/image28.wmf"/></Relationships>
</file>

<file path=ppt/slides/_rels/slide11.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33.bin"/><Relationship Id="rId18" Type="http://schemas.openxmlformats.org/officeDocument/2006/relationships/image" Target="../media/image37.wmf"/><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34.wmf"/><Relationship Id="rId17" Type="http://schemas.openxmlformats.org/officeDocument/2006/relationships/oleObject" Target="../embeddings/oleObject35.bin"/><Relationship Id="rId2" Type="http://schemas.openxmlformats.org/officeDocument/2006/relationships/notesSlide" Target="../notesSlides/notesSlide1.xml"/><Relationship Id="rId16" Type="http://schemas.openxmlformats.org/officeDocument/2006/relationships/image" Target="../media/image36.wmf"/><Relationship Id="rId1" Type="http://schemas.openxmlformats.org/officeDocument/2006/relationships/slideLayout" Target="../slideLayouts/slideLayout7.xml"/><Relationship Id="rId6" Type="http://schemas.openxmlformats.org/officeDocument/2006/relationships/image" Target="../media/image31.w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oleObject" Target="../embeddings/oleObject34.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31.bin"/><Relationship Id="rId14" Type="http://schemas.openxmlformats.org/officeDocument/2006/relationships/image" Target="../media/image35.wmf"/></Relationships>
</file>

<file path=ppt/slides/_rels/slide12.xml.rels><?xml version="1.0" encoding="UTF-8" standalone="yes"?>
<Relationships xmlns="http://schemas.openxmlformats.org/package/2006/relationships"><Relationship Id="rId8" Type="http://schemas.openxmlformats.org/officeDocument/2006/relationships/image" Target="../media/image40.wmf"/><Relationship Id="rId13" Type="http://schemas.openxmlformats.org/officeDocument/2006/relationships/oleObject" Target="../embeddings/oleObject41.bin"/><Relationship Id="rId18" Type="http://schemas.openxmlformats.org/officeDocument/2006/relationships/image" Target="../media/image45.wmf"/><Relationship Id="rId26" Type="http://schemas.openxmlformats.org/officeDocument/2006/relationships/oleObject" Target="../embeddings/oleObject48.bin"/><Relationship Id="rId3" Type="http://schemas.openxmlformats.org/officeDocument/2006/relationships/oleObject" Target="../embeddings/oleObject36.bin"/><Relationship Id="rId21" Type="http://schemas.openxmlformats.org/officeDocument/2006/relationships/oleObject" Target="../embeddings/oleObject45.bin"/><Relationship Id="rId7" Type="http://schemas.openxmlformats.org/officeDocument/2006/relationships/oleObject" Target="../embeddings/oleObject38.bin"/><Relationship Id="rId12" Type="http://schemas.openxmlformats.org/officeDocument/2006/relationships/image" Target="../media/image42.wmf"/><Relationship Id="rId17" Type="http://schemas.openxmlformats.org/officeDocument/2006/relationships/oleObject" Target="../embeddings/oleObject43.bin"/><Relationship Id="rId25" Type="http://schemas.openxmlformats.org/officeDocument/2006/relationships/oleObject" Target="../embeddings/oleObject47.bin"/><Relationship Id="rId2" Type="http://schemas.openxmlformats.org/officeDocument/2006/relationships/notesSlide" Target="../notesSlides/notesSlide2.xml"/><Relationship Id="rId16" Type="http://schemas.openxmlformats.org/officeDocument/2006/relationships/image" Target="../media/image44.wmf"/><Relationship Id="rId20" Type="http://schemas.openxmlformats.org/officeDocument/2006/relationships/image" Target="../media/image46.wmf"/><Relationship Id="rId1" Type="http://schemas.openxmlformats.org/officeDocument/2006/relationships/slideLayout" Target="../slideLayouts/slideLayout7.xml"/><Relationship Id="rId6" Type="http://schemas.openxmlformats.org/officeDocument/2006/relationships/image" Target="../media/image39.wmf"/><Relationship Id="rId11" Type="http://schemas.openxmlformats.org/officeDocument/2006/relationships/oleObject" Target="../embeddings/oleObject40.bin"/><Relationship Id="rId24" Type="http://schemas.openxmlformats.org/officeDocument/2006/relationships/image" Target="../media/image48.wmf"/><Relationship Id="rId5" Type="http://schemas.openxmlformats.org/officeDocument/2006/relationships/oleObject" Target="../embeddings/oleObject37.bin"/><Relationship Id="rId15" Type="http://schemas.openxmlformats.org/officeDocument/2006/relationships/oleObject" Target="../embeddings/oleObject42.bin"/><Relationship Id="rId23" Type="http://schemas.openxmlformats.org/officeDocument/2006/relationships/oleObject" Target="../embeddings/oleObject46.bin"/><Relationship Id="rId10" Type="http://schemas.openxmlformats.org/officeDocument/2006/relationships/image" Target="../media/image41.wmf"/><Relationship Id="rId19" Type="http://schemas.openxmlformats.org/officeDocument/2006/relationships/oleObject" Target="../embeddings/oleObject44.bin"/><Relationship Id="rId4" Type="http://schemas.openxmlformats.org/officeDocument/2006/relationships/image" Target="../media/image38.wmf"/><Relationship Id="rId9" Type="http://schemas.openxmlformats.org/officeDocument/2006/relationships/oleObject" Target="../embeddings/oleObject39.bin"/><Relationship Id="rId14" Type="http://schemas.openxmlformats.org/officeDocument/2006/relationships/image" Target="../media/image43.wmf"/><Relationship Id="rId22" Type="http://schemas.openxmlformats.org/officeDocument/2006/relationships/image" Target="../media/image47.wmf"/><Relationship Id="rId27" Type="http://schemas.openxmlformats.org/officeDocument/2006/relationships/oleObject" Target="../embeddings/oleObject49.bin"/></Relationships>
</file>

<file path=ppt/slides/_rels/slide13.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55.bin"/><Relationship Id="rId18" Type="http://schemas.openxmlformats.org/officeDocument/2006/relationships/image" Target="NULL"/><Relationship Id="rId3" Type="http://schemas.openxmlformats.org/officeDocument/2006/relationships/oleObject" Target="../embeddings/oleObject50.bin"/><Relationship Id="rId21" Type="http://schemas.openxmlformats.org/officeDocument/2006/relationships/oleObject" Target="../embeddings/oleObject41.bin"/><Relationship Id="rId7" Type="http://schemas.openxmlformats.org/officeDocument/2006/relationships/oleObject" Target="../embeddings/oleObject52.bin"/><Relationship Id="rId12" Type="http://schemas.openxmlformats.org/officeDocument/2006/relationships/image" Target="../media/image53.wmf"/><Relationship Id="rId17" Type="http://schemas.openxmlformats.org/officeDocument/2006/relationships/image" Target="NULL"/><Relationship Id="rId2" Type="http://schemas.openxmlformats.org/officeDocument/2006/relationships/notesSlide" Target="../notesSlides/notesSlide3.xml"/><Relationship Id="rId16" Type="http://schemas.openxmlformats.org/officeDocument/2006/relationships/image" Target="NULL"/><Relationship Id="rId20" Type="http://schemas.openxmlformats.org/officeDocument/2006/relationships/image" Target="../media/image42.wmf"/><Relationship Id="rId1" Type="http://schemas.openxmlformats.org/officeDocument/2006/relationships/slideLayout" Target="../slideLayouts/slideLayout7.xml"/><Relationship Id="rId6" Type="http://schemas.openxmlformats.org/officeDocument/2006/relationships/image" Target="../media/image50.wmf"/><Relationship Id="rId11" Type="http://schemas.openxmlformats.org/officeDocument/2006/relationships/oleObject" Target="../embeddings/oleObject54.bin"/><Relationship Id="rId24" Type="http://schemas.openxmlformats.org/officeDocument/2006/relationships/image" Target="../media/image44.wmf"/><Relationship Id="rId5" Type="http://schemas.openxmlformats.org/officeDocument/2006/relationships/oleObject" Target="../embeddings/oleObject51.bin"/><Relationship Id="rId23" Type="http://schemas.openxmlformats.org/officeDocument/2006/relationships/oleObject" Target="../embeddings/oleObject42.bin"/><Relationship Id="rId10" Type="http://schemas.openxmlformats.org/officeDocument/2006/relationships/image" Target="../media/image52.wmf"/><Relationship Id="rId19" Type="http://schemas.openxmlformats.org/officeDocument/2006/relationships/oleObject" Target="../embeddings/oleObject40.bin"/><Relationship Id="rId4" Type="http://schemas.openxmlformats.org/officeDocument/2006/relationships/image" Target="../media/image49.wmf"/><Relationship Id="rId9" Type="http://schemas.openxmlformats.org/officeDocument/2006/relationships/oleObject" Target="../embeddings/oleObject53.bin"/><Relationship Id="rId14" Type="http://schemas.openxmlformats.org/officeDocument/2006/relationships/image" Target="../media/image54.wmf"/><Relationship Id="rId22" Type="http://schemas.openxmlformats.org/officeDocument/2006/relationships/image" Target="../media/image43.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56.bin"/><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2.wmf"/></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slide" Target="slide11.xml"/><Relationship Id="rId9" Type="http://schemas.openxmlformats.org/officeDocument/2006/relationships/image" Target="../media/image70.wmf"/></Relationships>
</file>

<file path=ppt/slides/_rels/slide22.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80.wmf"/><Relationship Id="rId2" Type="http://schemas.openxmlformats.org/officeDocument/2006/relationships/image" Target="../media/image71.png"/><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oleObject" Target="../embeddings/oleObject59.bin"/><Relationship Id="rId5" Type="http://schemas.openxmlformats.org/officeDocument/2006/relationships/image" Target="../media/image74.png"/><Relationship Id="rId10" Type="http://schemas.openxmlformats.org/officeDocument/2006/relationships/image" Target="../media/image79.png"/><Relationship Id="rId4" Type="http://schemas.openxmlformats.org/officeDocument/2006/relationships/image" Target="../media/image73.png"/><Relationship Id="rId9" Type="http://schemas.openxmlformats.org/officeDocument/2006/relationships/image" Target="../media/image78.png"/></Relationships>
</file>

<file path=ppt/slides/_rels/slide23.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oleObject" Target="../embeddings/oleObject60.bin"/><Relationship Id="rId7" Type="http://schemas.openxmlformats.org/officeDocument/2006/relationships/image" Target="../media/image82.wmf"/><Relationship Id="rId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oleObject" Target="../embeddings/oleObject61.bin"/><Relationship Id="rId5" Type="http://schemas.openxmlformats.org/officeDocument/2006/relationships/image" Target="../media/image79.png"/><Relationship Id="rId4" Type="http://schemas.openxmlformats.org/officeDocument/2006/relationships/image" Target="../media/image81.wmf"/><Relationship Id="rId9" Type="http://schemas.openxmlformats.org/officeDocument/2006/relationships/image" Target="../media/image69.png"/></Relationships>
</file>

<file path=ppt/slides/_rels/slide24.xml.rels><?xml version="1.0" encoding="UTF-8" standalone="yes"?>
<Relationships xmlns="http://schemas.openxmlformats.org/package/2006/relationships"><Relationship Id="rId13" Type="http://schemas.openxmlformats.org/officeDocument/2006/relationships/oleObject" Target="../embeddings/oleObject67.bin"/><Relationship Id="rId18" Type="http://schemas.openxmlformats.org/officeDocument/2006/relationships/oleObject" Target="../embeddings/oleObject68.bin"/><Relationship Id="rId26" Type="http://schemas.openxmlformats.org/officeDocument/2006/relationships/oleObject" Target="../embeddings/oleObject72.bin"/><Relationship Id="rId39" Type="http://schemas.openxmlformats.org/officeDocument/2006/relationships/image" Target="../media/image103.wmf"/><Relationship Id="rId21" Type="http://schemas.openxmlformats.org/officeDocument/2006/relationships/image" Target="../media/image94.wmf"/><Relationship Id="rId34" Type="http://schemas.openxmlformats.org/officeDocument/2006/relationships/oleObject" Target="../embeddings/oleObject76.bin"/><Relationship Id="rId42" Type="http://schemas.openxmlformats.org/officeDocument/2006/relationships/oleObject" Target="../embeddings/oleObject81.bin"/><Relationship Id="rId7" Type="http://schemas.openxmlformats.org/officeDocument/2006/relationships/oleObject" Target="../embeddings/oleObject64.bin"/><Relationship Id="rId2" Type="http://schemas.openxmlformats.org/officeDocument/2006/relationships/oleObject" Target="../embeddings/oleObject62.bin"/><Relationship Id="rId16" Type="http://schemas.openxmlformats.org/officeDocument/2006/relationships/image" Target="../media/image91.png"/><Relationship Id="rId20" Type="http://schemas.openxmlformats.org/officeDocument/2006/relationships/oleObject" Target="../embeddings/oleObject69.bin"/><Relationship Id="rId29" Type="http://schemas.openxmlformats.org/officeDocument/2006/relationships/image" Target="../media/image98.wmf"/><Relationship Id="rId41" Type="http://schemas.openxmlformats.org/officeDocument/2006/relationships/oleObject" Target="../embeddings/oleObject80.bin"/><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oleObject" Target="../embeddings/oleObject66.bin"/><Relationship Id="rId24" Type="http://schemas.openxmlformats.org/officeDocument/2006/relationships/oleObject" Target="../embeddings/oleObject71.bin"/><Relationship Id="rId32" Type="http://schemas.openxmlformats.org/officeDocument/2006/relationships/oleObject" Target="../embeddings/oleObject75.bin"/><Relationship Id="rId37" Type="http://schemas.openxmlformats.org/officeDocument/2006/relationships/image" Target="../media/image102.wmf"/><Relationship Id="rId40" Type="http://schemas.openxmlformats.org/officeDocument/2006/relationships/oleObject" Target="../embeddings/oleObject79.bin"/><Relationship Id="rId5" Type="http://schemas.openxmlformats.org/officeDocument/2006/relationships/image" Target="../media/image85.wmf"/><Relationship Id="rId15" Type="http://schemas.openxmlformats.org/officeDocument/2006/relationships/image" Target="../media/image90.png"/><Relationship Id="rId23" Type="http://schemas.openxmlformats.org/officeDocument/2006/relationships/image" Target="../media/image95.wmf"/><Relationship Id="rId28" Type="http://schemas.openxmlformats.org/officeDocument/2006/relationships/oleObject" Target="../embeddings/oleObject73.bin"/><Relationship Id="rId36" Type="http://schemas.openxmlformats.org/officeDocument/2006/relationships/oleObject" Target="../embeddings/oleObject77.bin"/><Relationship Id="rId10" Type="http://schemas.openxmlformats.org/officeDocument/2006/relationships/image" Target="../media/image87.wmf"/><Relationship Id="rId19" Type="http://schemas.openxmlformats.org/officeDocument/2006/relationships/image" Target="../media/image93.wmf"/><Relationship Id="rId31" Type="http://schemas.openxmlformats.org/officeDocument/2006/relationships/image" Target="../media/image99.wmf"/><Relationship Id="rId4" Type="http://schemas.openxmlformats.org/officeDocument/2006/relationships/oleObject" Target="../embeddings/oleObject63.bin"/><Relationship Id="rId9" Type="http://schemas.openxmlformats.org/officeDocument/2006/relationships/oleObject" Target="../embeddings/oleObject65.bin"/><Relationship Id="rId14" Type="http://schemas.openxmlformats.org/officeDocument/2006/relationships/image" Target="../media/image89.wmf"/><Relationship Id="rId22" Type="http://schemas.openxmlformats.org/officeDocument/2006/relationships/oleObject" Target="../embeddings/oleObject70.bin"/><Relationship Id="rId27" Type="http://schemas.openxmlformats.org/officeDocument/2006/relationships/image" Target="../media/image97.wmf"/><Relationship Id="rId30" Type="http://schemas.openxmlformats.org/officeDocument/2006/relationships/oleObject" Target="../embeddings/oleObject74.bin"/><Relationship Id="rId35" Type="http://schemas.openxmlformats.org/officeDocument/2006/relationships/image" Target="../media/image101.wmf"/><Relationship Id="rId8" Type="http://schemas.openxmlformats.org/officeDocument/2006/relationships/image" Target="../media/image86.wmf"/><Relationship Id="rId3" Type="http://schemas.openxmlformats.org/officeDocument/2006/relationships/image" Target="../media/image84.wmf"/><Relationship Id="rId12" Type="http://schemas.openxmlformats.org/officeDocument/2006/relationships/image" Target="../media/image88.wmf"/><Relationship Id="rId17" Type="http://schemas.openxmlformats.org/officeDocument/2006/relationships/image" Target="../media/image92.png"/><Relationship Id="rId25" Type="http://schemas.openxmlformats.org/officeDocument/2006/relationships/image" Target="../media/image96.wmf"/><Relationship Id="rId33" Type="http://schemas.openxmlformats.org/officeDocument/2006/relationships/image" Target="../media/image100.wmf"/><Relationship Id="rId38" Type="http://schemas.openxmlformats.org/officeDocument/2006/relationships/oleObject" Target="../embeddings/oleObject78.bin"/></Relationships>
</file>

<file path=ppt/slides/_rels/slide25.xml.rels><?xml version="1.0" encoding="UTF-8" standalone="yes"?>
<Relationships xmlns="http://schemas.openxmlformats.org/package/2006/relationships"><Relationship Id="rId13" Type="http://schemas.openxmlformats.org/officeDocument/2006/relationships/image" Target="../media/image109.wmf"/><Relationship Id="rId18" Type="http://schemas.openxmlformats.org/officeDocument/2006/relationships/oleObject" Target="../embeddings/oleObject90.bin"/><Relationship Id="rId26" Type="http://schemas.openxmlformats.org/officeDocument/2006/relationships/image" Target="../media/image115.wmf"/><Relationship Id="rId39" Type="http://schemas.openxmlformats.org/officeDocument/2006/relationships/image" Target="../media/image120.wmf"/><Relationship Id="rId21" Type="http://schemas.openxmlformats.org/officeDocument/2006/relationships/image" Target="../media/image113.wmf"/><Relationship Id="rId34" Type="http://schemas.openxmlformats.org/officeDocument/2006/relationships/oleObject" Target="../embeddings/oleObject100.bin"/><Relationship Id="rId42" Type="http://schemas.openxmlformats.org/officeDocument/2006/relationships/image" Target="../media/image122.wmf"/><Relationship Id="rId47" Type="http://schemas.openxmlformats.org/officeDocument/2006/relationships/oleObject" Target="../embeddings/oleObject106.bin"/><Relationship Id="rId50" Type="http://schemas.openxmlformats.org/officeDocument/2006/relationships/image" Target="../media/image126.wmf"/><Relationship Id="rId7" Type="http://schemas.openxmlformats.org/officeDocument/2006/relationships/image" Target="../media/image106.wmf"/><Relationship Id="rId2" Type="http://schemas.openxmlformats.org/officeDocument/2006/relationships/oleObject" Target="../embeddings/oleObject82.bin"/><Relationship Id="rId16" Type="http://schemas.openxmlformats.org/officeDocument/2006/relationships/oleObject" Target="../embeddings/oleObject89.bin"/><Relationship Id="rId29" Type="http://schemas.openxmlformats.org/officeDocument/2006/relationships/oleObject" Target="../embeddings/oleObject96.bin"/><Relationship Id="rId11" Type="http://schemas.openxmlformats.org/officeDocument/2006/relationships/image" Target="../media/image108.wmf"/><Relationship Id="rId24" Type="http://schemas.openxmlformats.org/officeDocument/2006/relationships/oleObject" Target="../embeddings/oleObject93.bin"/><Relationship Id="rId32" Type="http://schemas.openxmlformats.org/officeDocument/2006/relationships/oleObject" Target="../embeddings/oleObject98.bin"/><Relationship Id="rId37" Type="http://schemas.openxmlformats.org/officeDocument/2006/relationships/image" Target="../media/image119.wmf"/><Relationship Id="rId40" Type="http://schemas.openxmlformats.org/officeDocument/2006/relationships/image" Target="../media/image121.png"/><Relationship Id="rId45" Type="http://schemas.openxmlformats.org/officeDocument/2006/relationships/oleObject" Target="../embeddings/oleObject105.bin"/><Relationship Id="rId5" Type="http://schemas.openxmlformats.org/officeDocument/2006/relationships/image" Target="../media/image105.wmf"/><Relationship Id="rId15" Type="http://schemas.openxmlformats.org/officeDocument/2006/relationships/image" Target="../media/image110.wmf"/><Relationship Id="rId23" Type="http://schemas.openxmlformats.org/officeDocument/2006/relationships/image" Target="../media/image114.wmf"/><Relationship Id="rId28" Type="http://schemas.openxmlformats.org/officeDocument/2006/relationships/image" Target="../media/image116.wmf"/><Relationship Id="rId36" Type="http://schemas.openxmlformats.org/officeDocument/2006/relationships/oleObject" Target="../embeddings/oleObject101.bin"/><Relationship Id="rId49" Type="http://schemas.openxmlformats.org/officeDocument/2006/relationships/oleObject" Target="../embeddings/oleObject107.bin"/><Relationship Id="rId10" Type="http://schemas.openxmlformats.org/officeDocument/2006/relationships/oleObject" Target="../embeddings/oleObject86.bin"/><Relationship Id="rId19" Type="http://schemas.openxmlformats.org/officeDocument/2006/relationships/image" Target="../media/image112.wmf"/><Relationship Id="rId31" Type="http://schemas.openxmlformats.org/officeDocument/2006/relationships/oleObject" Target="../embeddings/oleObject97.bin"/><Relationship Id="rId44" Type="http://schemas.openxmlformats.org/officeDocument/2006/relationships/image" Target="../media/image123.wmf"/><Relationship Id="rId52" Type="http://schemas.openxmlformats.org/officeDocument/2006/relationships/image" Target="../media/image127.wmf"/><Relationship Id="rId4" Type="http://schemas.openxmlformats.org/officeDocument/2006/relationships/oleObject" Target="../embeddings/oleObject83.bin"/><Relationship Id="rId9" Type="http://schemas.openxmlformats.org/officeDocument/2006/relationships/image" Target="../media/image107.wmf"/><Relationship Id="rId14" Type="http://schemas.openxmlformats.org/officeDocument/2006/relationships/oleObject" Target="../embeddings/oleObject88.bin"/><Relationship Id="rId22" Type="http://schemas.openxmlformats.org/officeDocument/2006/relationships/oleObject" Target="../embeddings/oleObject92.bin"/><Relationship Id="rId27" Type="http://schemas.openxmlformats.org/officeDocument/2006/relationships/oleObject" Target="../embeddings/oleObject95.bin"/><Relationship Id="rId30" Type="http://schemas.openxmlformats.org/officeDocument/2006/relationships/image" Target="../media/image117.wmf"/><Relationship Id="rId35" Type="http://schemas.openxmlformats.org/officeDocument/2006/relationships/image" Target="../media/image118.wmf"/><Relationship Id="rId43" Type="http://schemas.openxmlformats.org/officeDocument/2006/relationships/oleObject" Target="../embeddings/oleObject104.bin"/><Relationship Id="rId48" Type="http://schemas.openxmlformats.org/officeDocument/2006/relationships/image" Target="../media/image125.wmf"/><Relationship Id="rId8" Type="http://schemas.openxmlformats.org/officeDocument/2006/relationships/oleObject" Target="../embeddings/oleObject85.bin"/><Relationship Id="rId51" Type="http://schemas.openxmlformats.org/officeDocument/2006/relationships/oleObject" Target="../embeddings/oleObject108.bin"/><Relationship Id="rId3" Type="http://schemas.openxmlformats.org/officeDocument/2006/relationships/image" Target="../media/image104.wmf"/><Relationship Id="rId12" Type="http://schemas.openxmlformats.org/officeDocument/2006/relationships/oleObject" Target="../embeddings/oleObject87.bin"/><Relationship Id="rId17" Type="http://schemas.openxmlformats.org/officeDocument/2006/relationships/image" Target="../media/image111.wmf"/><Relationship Id="rId25" Type="http://schemas.openxmlformats.org/officeDocument/2006/relationships/oleObject" Target="../embeddings/oleObject94.bin"/><Relationship Id="rId33" Type="http://schemas.openxmlformats.org/officeDocument/2006/relationships/oleObject" Target="../embeddings/oleObject99.bin"/><Relationship Id="rId38" Type="http://schemas.openxmlformats.org/officeDocument/2006/relationships/oleObject" Target="../embeddings/oleObject102.bin"/><Relationship Id="rId46" Type="http://schemas.openxmlformats.org/officeDocument/2006/relationships/image" Target="../media/image124.wmf"/><Relationship Id="rId20" Type="http://schemas.openxmlformats.org/officeDocument/2006/relationships/oleObject" Target="../embeddings/oleObject91.bin"/><Relationship Id="rId41" Type="http://schemas.openxmlformats.org/officeDocument/2006/relationships/oleObject" Target="../embeddings/oleObject103.bin"/><Relationship Id="rId1" Type="http://schemas.openxmlformats.org/officeDocument/2006/relationships/slideLayout" Target="../slideLayouts/slideLayout1.xml"/><Relationship Id="rId6" Type="http://schemas.openxmlformats.org/officeDocument/2006/relationships/oleObject" Target="../embeddings/oleObject84.bin"/></Relationships>
</file>

<file path=ppt/slides/_rels/slide26.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image" Target="../media/image128.png"/><Relationship Id="rId1" Type="http://schemas.openxmlformats.org/officeDocument/2006/relationships/slideLayout" Target="../slideLayouts/slideLayout7.xml"/><Relationship Id="rId6" Type="http://schemas.openxmlformats.org/officeDocument/2006/relationships/image" Target="../media/image129.wmf"/><Relationship Id="rId5" Type="http://schemas.openxmlformats.org/officeDocument/2006/relationships/oleObject" Target="../embeddings/oleObject110.bin"/><Relationship Id="rId4" Type="http://schemas.openxmlformats.org/officeDocument/2006/relationships/image" Target="../media/image128.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16.bin"/><Relationship Id="rId18" Type="http://schemas.openxmlformats.org/officeDocument/2006/relationships/image" Target="../media/image138.wmf"/><Relationship Id="rId3" Type="http://schemas.openxmlformats.org/officeDocument/2006/relationships/oleObject" Target="../embeddings/oleObject111.bin"/><Relationship Id="rId21" Type="http://schemas.openxmlformats.org/officeDocument/2006/relationships/image" Target="../media/image140.png"/><Relationship Id="rId7" Type="http://schemas.openxmlformats.org/officeDocument/2006/relationships/oleObject" Target="../embeddings/oleObject113.bin"/><Relationship Id="rId12" Type="http://schemas.openxmlformats.org/officeDocument/2006/relationships/image" Target="../media/image135.wmf"/><Relationship Id="rId17" Type="http://schemas.openxmlformats.org/officeDocument/2006/relationships/oleObject" Target="../embeddings/oleObject118.bin"/><Relationship Id="rId2" Type="http://schemas.openxmlformats.org/officeDocument/2006/relationships/image" Target="../media/image130.png"/><Relationship Id="rId16" Type="http://schemas.openxmlformats.org/officeDocument/2006/relationships/image" Target="../media/image137.wmf"/><Relationship Id="rId20" Type="http://schemas.openxmlformats.org/officeDocument/2006/relationships/image" Target="../media/image139.wmf"/><Relationship Id="rId1" Type="http://schemas.openxmlformats.org/officeDocument/2006/relationships/slideLayout" Target="../slideLayouts/slideLayout7.xml"/><Relationship Id="rId6" Type="http://schemas.openxmlformats.org/officeDocument/2006/relationships/image" Target="../media/image132.wmf"/><Relationship Id="rId11" Type="http://schemas.openxmlformats.org/officeDocument/2006/relationships/oleObject" Target="../embeddings/oleObject115.bin"/><Relationship Id="rId5" Type="http://schemas.openxmlformats.org/officeDocument/2006/relationships/oleObject" Target="../embeddings/oleObject112.bin"/><Relationship Id="rId15" Type="http://schemas.openxmlformats.org/officeDocument/2006/relationships/oleObject" Target="../embeddings/oleObject117.bin"/><Relationship Id="rId10" Type="http://schemas.openxmlformats.org/officeDocument/2006/relationships/image" Target="../media/image134.wmf"/><Relationship Id="rId19" Type="http://schemas.openxmlformats.org/officeDocument/2006/relationships/oleObject" Target="../embeddings/oleObject119.bin"/><Relationship Id="rId4" Type="http://schemas.openxmlformats.org/officeDocument/2006/relationships/image" Target="../media/image131.wmf"/><Relationship Id="rId9" Type="http://schemas.openxmlformats.org/officeDocument/2006/relationships/oleObject" Target="../embeddings/oleObject114.bin"/><Relationship Id="rId14" Type="http://schemas.openxmlformats.org/officeDocument/2006/relationships/image" Target="../media/image136.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59.emf"/><Relationship Id="rId18" Type="http://schemas.openxmlformats.org/officeDocument/2006/relationships/oleObject" Target="../embeddings/oleObject127.bin"/><Relationship Id="rId3" Type="http://schemas.openxmlformats.org/officeDocument/2006/relationships/image" Target="../media/image141.wmf"/><Relationship Id="rId7" Type="http://schemas.openxmlformats.org/officeDocument/2006/relationships/image" Target="../media/image143.wmf"/><Relationship Id="rId12" Type="http://schemas.openxmlformats.org/officeDocument/2006/relationships/oleObject" Target="../embeddings/oleObject56.bin"/><Relationship Id="rId17" Type="http://schemas.openxmlformats.org/officeDocument/2006/relationships/image" Target="../media/image147.wmf"/><Relationship Id="rId2" Type="http://schemas.openxmlformats.org/officeDocument/2006/relationships/oleObject" Target="../embeddings/oleObject120.bin"/><Relationship Id="rId16" Type="http://schemas.openxmlformats.org/officeDocument/2006/relationships/oleObject" Target="../embeddings/oleObject126.bin"/><Relationship Id="rId1" Type="http://schemas.openxmlformats.org/officeDocument/2006/relationships/slideLayout" Target="../slideLayouts/slideLayout7.xml"/><Relationship Id="rId6" Type="http://schemas.openxmlformats.org/officeDocument/2006/relationships/oleObject" Target="../embeddings/oleObject122.bin"/><Relationship Id="rId11" Type="http://schemas.openxmlformats.org/officeDocument/2006/relationships/image" Target="../media/image145.wmf"/><Relationship Id="rId5" Type="http://schemas.openxmlformats.org/officeDocument/2006/relationships/image" Target="../media/image142.wmf"/><Relationship Id="rId15" Type="http://schemas.openxmlformats.org/officeDocument/2006/relationships/image" Target="../media/image146.wmf"/><Relationship Id="rId10" Type="http://schemas.openxmlformats.org/officeDocument/2006/relationships/oleObject" Target="../embeddings/oleObject124.bin"/><Relationship Id="rId19" Type="http://schemas.openxmlformats.org/officeDocument/2006/relationships/image" Target="../media/image148.wmf"/><Relationship Id="rId4" Type="http://schemas.openxmlformats.org/officeDocument/2006/relationships/oleObject" Target="../embeddings/oleObject121.bin"/><Relationship Id="rId9" Type="http://schemas.openxmlformats.org/officeDocument/2006/relationships/image" Target="../media/image144.wmf"/><Relationship Id="rId14" Type="http://schemas.openxmlformats.org/officeDocument/2006/relationships/oleObject" Target="../embeddings/oleObject125.bin"/></Relationships>
</file>

<file path=ppt/slides/_rels/slide31.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oleObject" Target="../embeddings/oleObject131.bin"/><Relationship Id="rId3" Type="http://schemas.openxmlformats.org/officeDocument/2006/relationships/image" Target="../media/image137.wmf"/><Relationship Id="rId7" Type="http://schemas.openxmlformats.org/officeDocument/2006/relationships/image" Target="../media/image151.png"/><Relationship Id="rId12" Type="http://schemas.openxmlformats.org/officeDocument/2006/relationships/image" Target="../media/image155.wmf"/><Relationship Id="rId2" Type="http://schemas.openxmlformats.org/officeDocument/2006/relationships/oleObject" Target="../embeddings/oleObject128.bin"/><Relationship Id="rId1" Type="http://schemas.openxmlformats.org/officeDocument/2006/relationships/slideLayout" Target="../slideLayouts/slideLayout7.xml"/><Relationship Id="rId6" Type="http://schemas.openxmlformats.org/officeDocument/2006/relationships/image" Target="../media/image150.png"/><Relationship Id="rId11" Type="http://schemas.openxmlformats.org/officeDocument/2006/relationships/oleObject" Target="../embeddings/oleObject130.bin"/><Relationship Id="rId5" Type="http://schemas.openxmlformats.org/officeDocument/2006/relationships/image" Target="../media/image149.wmf"/><Relationship Id="rId10" Type="http://schemas.openxmlformats.org/officeDocument/2006/relationships/image" Target="../media/image154.png"/><Relationship Id="rId4" Type="http://schemas.openxmlformats.org/officeDocument/2006/relationships/oleObject" Target="../embeddings/oleObject129.bin"/><Relationship Id="rId9" Type="http://schemas.openxmlformats.org/officeDocument/2006/relationships/image" Target="../media/image153.png"/></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59.wmf"/><Relationship Id="rId18" Type="http://schemas.openxmlformats.org/officeDocument/2006/relationships/oleObject" Target="../embeddings/oleObject140.bin"/><Relationship Id="rId3" Type="http://schemas.openxmlformats.org/officeDocument/2006/relationships/image" Target="../media/image156.emf"/><Relationship Id="rId7" Type="http://schemas.openxmlformats.org/officeDocument/2006/relationships/image" Target="../media/image147.wmf"/><Relationship Id="rId12" Type="http://schemas.openxmlformats.org/officeDocument/2006/relationships/oleObject" Target="../embeddings/oleObject137.bin"/><Relationship Id="rId17" Type="http://schemas.openxmlformats.org/officeDocument/2006/relationships/image" Target="../media/image161.wmf"/><Relationship Id="rId2" Type="http://schemas.openxmlformats.org/officeDocument/2006/relationships/oleObject" Target="../embeddings/oleObject132.bin"/><Relationship Id="rId16" Type="http://schemas.openxmlformats.org/officeDocument/2006/relationships/oleObject" Target="../embeddings/oleObject139.bin"/><Relationship Id="rId1" Type="http://schemas.openxmlformats.org/officeDocument/2006/relationships/slideLayout" Target="../slideLayouts/slideLayout7.xml"/><Relationship Id="rId6" Type="http://schemas.openxmlformats.org/officeDocument/2006/relationships/oleObject" Target="../embeddings/oleObject134.bin"/><Relationship Id="rId11" Type="http://schemas.openxmlformats.org/officeDocument/2006/relationships/image" Target="../media/image158.wmf"/><Relationship Id="rId5" Type="http://schemas.openxmlformats.org/officeDocument/2006/relationships/image" Target="../media/image157.wmf"/><Relationship Id="rId15" Type="http://schemas.openxmlformats.org/officeDocument/2006/relationships/image" Target="../media/image160.wmf"/><Relationship Id="rId10" Type="http://schemas.openxmlformats.org/officeDocument/2006/relationships/oleObject" Target="../embeddings/oleObject136.bin"/><Relationship Id="rId19" Type="http://schemas.openxmlformats.org/officeDocument/2006/relationships/image" Target="../media/image162.wmf"/><Relationship Id="rId4" Type="http://schemas.openxmlformats.org/officeDocument/2006/relationships/oleObject" Target="../embeddings/oleObject133.bin"/><Relationship Id="rId9" Type="http://schemas.openxmlformats.org/officeDocument/2006/relationships/image" Target="../media/image148.wmf"/><Relationship Id="rId14" Type="http://schemas.openxmlformats.org/officeDocument/2006/relationships/oleObject" Target="../embeddings/oleObject138.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166.wmf"/><Relationship Id="rId13" Type="http://schemas.openxmlformats.org/officeDocument/2006/relationships/image" Target="../media/image167.wmf"/><Relationship Id="rId18" Type="http://schemas.openxmlformats.org/officeDocument/2006/relationships/oleObject" Target="../embeddings/oleObject150.bin"/><Relationship Id="rId26" Type="http://schemas.openxmlformats.org/officeDocument/2006/relationships/image" Target="../media/image177.png"/><Relationship Id="rId3" Type="http://schemas.openxmlformats.org/officeDocument/2006/relationships/image" Target="../media/image163.wmf"/><Relationship Id="rId21" Type="http://schemas.openxmlformats.org/officeDocument/2006/relationships/image" Target="../media/image172.png"/><Relationship Id="rId7" Type="http://schemas.openxmlformats.org/officeDocument/2006/relationships/oleObject" Target="../embeddings/oleObject143.bin"/><Relationship Id="rId12" Type="http://schemas.openxmlformats.org/officeDocument/2006/relationships/oleObject" Target="../embeddings/oleObject147.bin"/><Relationship Id="rId17" Type="http://schemas.openxmlformats.org/officeDocument/2006/relationships/image" Target="../media/image169.wmf"/><Relationship Id="rId25" Type="http://schemas.openxmlformats.org/officeDocument/2006/relationships/image" Target="../media/image176.png"/><Relationship Id="rId2" Type="http://schemas.openxmlformats.org/officeDocument/2006/relationships/oleObject" Target="../embeddings/oleObject141.bin"/><Relationship Id="rId16" Type="http://schemas.openxmlformats.org/officeDocument/2006/relationships/oleObject" Target="../embeddings/oleObject149.bin"/><Relationship Id="rId20"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65.wmf"/><Relationship Id="rId11" Type="http://schemas.openxmlformats.org/officeDocument/2006/relationships/oleObject" Target="../embeddings/oleObject146.bin"/><Relationship Id="rId24" Type="http://schemas.openxmlformats.org/officeDocument/2006/relationships/image" Target="../media/image175.png"/><Relationship Id="rId5" Type="http://schemas.openxmlformats.org/officeDocument/2006/relationships/oleObject" Target="../embeddings/oleObject142.bin"/><Relationship Id="rId15" Type="http://schemas.openxmlformats.org/officeDocument/2006/relationships/image" Target="../media/image168.wmf"/><Relationship Id="rId23" Type="http://schemas.openxmlformats.org/officeDocument/2006/relationships/image" Target="../media/image174.png"/><Relationship Id="rId10" Type="http://schemas.openxmlformats.org/officeDocument/2006/relationships/oleObject" Target="../embeddings/oleObject145.bin"/><Relationship Id="rId19" Type="http://schemas.openxmlformats.org/officeDocument/2006/relationships/image" Target="../media/image170.wmf"/><Relationship Id="rId4" Type="http://schemas.openxmlformats.org/officeDocument/2006/relationships/image" Target="../media/image164.png"/><Relationship Id="rId9" Type="http://schemas.openxmlformats.org/officeDocument/2006/relationships/oleObject" Target="../embeddings/oleObject144.bin"/><Relationship Id="rId14" Type="http://schemas.openxmlformats.org/officeDocument/2006/relationships/oleObject" Target="../embeddings/oleObject148.bin"/><Relationship Id="rId22" Type="http://schemas.openxmlformats.org/officeDocument/2006/relationships/image" Target="../media/image173.png"/></Relationships>
</file>

<file path=ppt/slides/_rels/slide37.xml.rels><?xml version="1.0" encoding="UTF-8" standalone="yes"?>
<Relationships xmlns="http://schemas.openxmlformats.org/package/2006/relationships"><Relationship Id="rId13" Type="http://schemas.openxmlformats.org/officeDocument/2006/relationships/image" Target="../media/image183.wmf"/><Relationship Id="rId18" Type="http://schemas.openxmlformats.org/officeDocument/2006/relationships/image" Target="../media/image186.wmf"/><Relationship Id="rId26" Type="http://schemas.openxmlformats.org/officeDocument/2006/relationships/oleObject" Target="../embeddings/oleObject161.bin"/><Relationship Id="rId21" Type="http://schemas.openxmlformats.org/officeDocument/2006/relationships/oleObject" Target="../embeddings/oleObject158.bin"/><Relationship Id="rId34" Type="http://schemas.openxmlformats.org/officeDocument/2006/relationships/image" Target="../media/image193.wmf"/><Relationship Id="rId7" Type="http://schemas.openxmlformats.org/officeDocument/2006/relationships/image" Target="../media/image180.wmf"/><Relationship Id="rId12" Type="http://schemas.openxmlformats.org/officeDocument/2006/relationships/oleObject" Target="../embeddings/oleObject154.bin"/><Relationship Id="rId17" Type="http://schemas.openxmlformats.org/officeDocument/2006/relationships/oleObject" Target="../embeddings/oleObject156.bin"/><Relationship Id="rId25" Type="http://schemas.openxmlformats.org/officeDocument/2006/relationships/oleObject" Target="../embeddings/oleObject160.bin"/><Relationship Id="rId33" Type="http://schemas.openxmlformats.org/officeDocument/2006/relationships/oleObject" Target="../embeddings/oleObject165.bin"/><Relationship Id="rId2" Type="http://schemas.openxmlformats.org/officeDocument/2006/relationships/oleObject" Target="../embeddings/oleObject151.bin"/><Relationship Id="rId16" Type="http://schemas.openxmlformats.org/officeDocument/2006/relationships/image" Target="../media/image185.png"/><Relationship Id="rId20" Type="http://schemas.openxmlformats.org/officeDocument/2006/relationships/image" Target="../media/image187.wmf"/><Relationship Id="rId29"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oleObject" Target="../embeddings/oleObject153.bin"/><Relationship Id="rId11" Type="http://schemas.openxmlformats.org/officeDocument/2006/relationships/image" Target="../media/image79.png"/><Relationship Id="rId24" Type="http://schemas.openxmlformats.org/officeDocument/2006/relationships/image" Target="../media/image189.wmf"/><Relationship Id="rId32" Type="http://schemas.openxmlformats.org/officeDocument/2006/relationships/image" Target="../media/image192.wmf"/><Relationship Id="rId37" Type="http://schemas.openxmlformats.org/officeDocument/2006/relationships/image" Target="../media/image194.png"/><Relationship Id="rId5" Type="http://schemas.openxmlformats.org/officeDocument/2006/relationships/image" Target="../media/image179.wmf"/><Relationship Id="rId15" Type="http://schemas.openxmlformats.org/officeDocument/2006/relationships/image" Target="../media/image184.wmf"/><Relationship Id="rId23" Type="http://schemas.openxmlformats.org/officeDocument/2006/relationships/oleObject" Target="../embeddings/oleObject159.bin"/><Relationship Id="rId28" Type="http://schemas.openxmlformats.org/officeDocument/2006/relationships/image" Target="../media/image190.wmf"/><Relationship Id="rId36" Type="http://schemas.openxmlformats.org/officeDocument/2006/relationships/oleObject" Target="../embeddings/oleObject167.bin"/><Relationship Id="rId10" Type="http://schemas.openxmlformats.org/officeDocument/2006/relationships/image" Target="../media/image182.png"/><Relationship Id="rId19" Type="http://schemas.openxmlformats.org/officeDocument/2006/relationships/oleObject" Target="../embeddings/oleObject157.bin"/><Relationship Id="rId31" Type="http://schemas.openxmlformats.org/officeDocument/2006/relationships/oleObject" Target="../embeddings/oleObject164.bin"/><Relationship Id="rId4" Type="http://schemas.openxmlformats.org/officeDocument/2006/relationships/oleObject" Target="../embeddings/oleObject152.bin"/><Relationship Id="rId9" Type="http://schemas.openxmlformats.org/officeDocument/2006/relationships/image" Target="../media/image181.png"/><Relationship Id="rId14" Type="http://schemas.openxmlformats.org/officeDocument/2006/relationships/oleObject" Target="../embeddings/oleObject155.bin"/><Relationship Id="rId22" Type="http://schemas.openxmlformats.org/officeDocument/2006/relationships/image" Target="../media/image188.wmf"/><Relationship Id="rId27" Type="http://schemas.openxmlformats.org/officeDocument/2006/relationships/oleObject" Target="../embeddings/oleObject162.bin"/><Relationship Id="rId30" Type="http://schemas.openxmlformats.org/officeDocument/2006/relationships/image" Target="../media/image191.wmf"/><Relationship Id="rId35" Type="http://schemas.openxmlformats.org/officeDocument/2006/relationships/oleObject" Target="../embeddings/oleObject166.bin"/><Relationship Id="rId8" Type="http://schemas.openxmlformats.org/officeDocument/2006/relationships/image" Target="../media/image130.png"/><Relationship Id="rId3" Type="http://schemas.openxmlformats.org/officeDocument/2006/relationships/image" Target="../media/image178.wmf"/></Relationships>
</file>

<file path=ppt/slides/_rels/slide38.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1.png"/><Relationship Id="rId3" Type="http://schemas.openxmlformats.org/officeDocument/2006/relationships/image" Target="../media/image195.wmf"/><Relationship Id="rId7" Type="http://schemas.openxmlformats.org/officeDocument/2006/relationships/image" Target="../media/image197.wmf"/><Relationship Id="rId12" Type="http://schemas.openxmlformats.org/officeDocument/2006/relationships/image" Target="../media/image200.wmf"/><Relationship Id="rId2" Type="http://schemas.openxmlformats.org/officeDocument/2006/relationships/oleObject" Target="../embeddings/oleObject168.bin"/><Relationship Id="rId1" Type="http://schemas.openxmlformats.org/officeDocument/2006/relationships/slideLayout" Target="../slideLayouts/slideLayout7.xml"/><Relationship Id="rId6" Type="http://schemas.openxmlformats.org/officeDocument/2006/relationships/oleObject" Target="../embeddings/oleObject170.bin"/><Relationship Id="rId11" Type="http://schemas.openxmlformats.org/officeDocument/2006/relationships/oleObject" Target="../embeddings/oleObject172.bin"/><Relationship Id="rId5" Type="http://schemas.openxmlformats.org/officeDocument/2006/relationships/image" Target="../media/image196.wmf"/><Relationship Id="rId15" Type="http://schemas.openxmlformats.org/officeDocument/2006/relationships/oleObject" Target="../embeddings/oleObject174.bin"/><Relationship Id="rId10" Type="http://schemas.openxmlformats.org/officeDocument/2006/relationships/image" Target="../media/image199.wmf"/><Relationship Id="rId4" Type="http://schemas.openxmlformats.org/officeDocument/2006/relationships/oleObject" Target="../embeddings/oleObject169.bin"/><Relationship Id="rId9" Type="http://schemas.openxmlformats.org/officeDocument/2006/relationships/oleObject" Target="../embeddings/oleObject171.bin"/><Relationship Id="rId14" Type="http://schemas.openxmlformats.org/officeDocument/2006/relationships/oleObject" Target="../embeddings/oleObject173.bin"/></Relationships>
</file>

<file path=ppt/slides/_rels/slide39.xml.rels><?xml version="1.0" encoding="UTF-8" standalone="yes"?>
<Relationships xmlns="http://schemas.openxmlformats.org/package/2006/relationships"><Relationship Id="rId3" Type="http://schemas.openxmlformats.org/officeDocument/2006/relationships/image" Target="../media/image203.png"/><Relationship Id="rId2" Type="http://schemas.openxmlformats.org/officeDocument/2006/relationships/image" Target="../media/image202.png"/><Relationship Id="rId1" Type="http://schemas.openxmlformats.org/officeDocument/2006/relationships/slideLayout" Target="../slideLayouts/slideLayout7.xml"/><Relationship Id="rId6" Type="http://schemas.openxmlformats.org/officeDocument/2006/relationships/image" Target="../media/image131.wmf"/><Relationship Id="rId5" Type="http://schemas.openxmlformats.org/officeDocument/2006/relationships/oleObject" Target="../embeddings/oleObject175.bin"/><Relationship Id="rId4" Type="http://schemas.openxmlformats.org/officeDocument/2006/relationships/image" Target="../media/image204.png"/></Relationships>
</file>

<file path=ppt/slides/_rels/slide40.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image" Target="../media/image205.png"/><Relationship Id="rId1" Type="http://schemas.openxmlformats.org/officeDocument/2006/relationships/slideLayout" Target="../slideLayouts/slideLayout7.xml"/><Relationship Id="rId4" Type="http://schemas.openxmlformats.org/officeDocument/2006/relationships/image" Target="../media/image20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 name="AutoShape 120"/>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endParaRPr lang="es-ES" altLang="es-ES"/>
          </a:p>
        </p:txBody>
      </p:sp>
      <p:sp>
        <p:nvSpPr>
          <p:cNvPr id="2052" name="Text Box 115"/>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t>Grado en Fisioterapia</a:t>
            </a:r>
            <a:endParaRPr lang="es-ES" altLang="es-ES" sz="1600" b="1" dirty="0"/>
          </a:p>
        </p:txBody>
      </p:sp>
      <p:sp>
        <p:nvSpPr>
          <p:cNvPr id="2053" name="Text Box 117"/>
          <p:cNvSpPr txBox="1">
            <a:spLocks noChangeArrowheads="1"/>
          </p:cNvSpPr>
          <p:nvPr/>
        </p:nvSpPr>
        <p:spPr bwMode="auto">
          <a:xfrm>
            <a:off x="4137796" y="2766596"/>
            <a:ext cx="87793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t>Tema II</a:t>
            </a:r>
            <a:endParaRPr lang="es-ES" altLang="es-ES" sz="1600" b="1" dirty="0"/>
          </a:p>
        </p:txBody>
      </p:sp>
      <p:sp>
        <p:nvSpPr>
          <p:cNvPr id="2054" name="Rectangle 118"/>
          <p:cNvSpPr>
            <a:spLocks noChangeArrowheads="1"/>
          </p:cNvSpPr>
          <p:nvPr/>
        </p:nvSpPr>
        <p:spPr bwMode="auto">
          <a:xfrm>
            <a:off x="1685925" y="3190042"/>
            <a:ext cx="57912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 altLang="es-ES" sz="1900" b="1" dirty="0"/>
              <a:t>Nociones sobre probabilidad, </a:t>
            </a:r>
          </a:p>
          <a:p>
            <a:pPr algn="ctr" eaLnBrk="1" hangingPunct="1"/>
            <a:r>
              <a:rPr lang="es-ES" altLang="es-ES" sz="1900" b="1" dirty="0"/>
              <a:t>variable aleatoria </a:t>
            </a:r>
            <a:r>
              <a:rPr lang="es-ES" altLang="es-ES" sz="1900" b="1"/>
              <a:t>y muestreo</a:t>
            </a:r>
            <a:endParaRPr lang="es-ES" altLang="es-ES" sz="1900" b="1" dirty="0"/>
          </a:p>
        </p:txBody>
      </p:sp>
      <p:sp>
        <p:nvSpPr>
          <p:cNvPr id="2055" name="Text Box 119"/>
          <p:cNvSpPr txBox="1">
            <a:spLocks noChangeArrowheads="1"/>
          </p:cNvSpPr>
          <p:nvPr/>
        </p:nvSpPr>
        <p:spPr bwMode="auto">
          <a:xfrm>
            <a:off x="3727450" y="1339850"/>
            <a:ext cx="170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800" b="1" dirty="0"/>
              <a:t>ESTADÍSTICA</a:t>
            </a:r>
            <a:endParaRPr lang="es-ES" altLang="es-ES" sz="1800" b="1" dirty="0"/>
          </a:p>
        </p:txBody>
      </p:sp>
      <p:sp>
        <p:nvSpPr>
          <p:cNvPr id="2056" name="Text Box 127"/>
          <p:cNvSpPr txBox="1">
            <a:spLocks noChangeArrowheads="1"/>
          </p:cNvSpPr>
          <p:nvPr/>
        </p:nvSpPr>
        <p:spPr bwMode="auto">
          <a:xfrm>
            <a:off x="3727450" y="6369050"/>
            <a:ext cx="252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dirty="0">
                <a:solidFill>
                  <a:srgbClr val="002060"/>
                </a:solidFill>
              </a:rPr>
              <a:t>Universidad de Granada</a:t>
            </a:r>
            <a:endParaRPr lang="es-ES" altLang="es-ES" sz="1600" b="1" dirty="0">
              <a:solidFill>
                <a:srgbClr val="002060"/>
              </a:solidFill>
            </a:endParaRPr>
          </a:p>
        </p:txBody>
      </p:sp>
      <p:sp>
        <p:nvSpPr>
          <p:cNvPr id="2057" name="Text Box 129"/>
          <p:cNvSpPr txBox="1">
            <a:spLocks noChangeArrowheads="1"/>
          </p:cNvSpPr>
          <p:nvPr/>
        </p:nvSpPr>
        <p:spPr bwMode="auto">
          <a:xfrm>
            <a:off x="2550953" y="5227637"/>
            <a:ext cx="49295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solidFill>
                  <a:srgbClr val="002060"/>
                </a:solidFill>
              </a:rPr>
              <a:t>Pedro </a:t>
            </a:r>
            <a:r>
              <a:rPr lang="es-ES_tradnl" altLang="es-ES" sz="1600" b="1" dirty="0" err="1">
                <a:solidFill>
                  <a:srgbClr val="002060"/>
                </a:solidFill>
              </a:rPr>
              <a:t>Femia</a:t>
            </a:r>
            <a:r>
              <a:rPr lang="es-ES_tradnl" altLang="es-ES" sz="1600" b="1" dirty="0">
                <a:solidFill>
                  <a:srgbClr val="002060"/>
                </a:solidFill>
              </a:rPr>
              <a:t> Marzo, autor</a:t>
            </a:r>
          </a:p>
          <a:p>
            <a:pPr algn="ctr" eaLnBrk="1" hangingPunct="1"/>
            <a:r>
              <a:rPr lang="es-ES_tradnl" altLang="es-ES" sz="1600" b="1" dirty="0">
                <a:solidFill>
                  <a:srgbClr val="002060"/>
                </a:solidFill>
              </a:rPr>
              <a:t>Miguel Angel Luque Fernandez, actualización</a:t>
            </a:r>
          </a:p>
          <a:p>
            <a:pPr algn="ctr" eaLnBrk="1" hangingPunct="1"/>
            <a:r>
              <a:rPr lang="es-ES_tradnl" altLang="es-ES" sz="1600" b="1" dirty="0">
                <a:solidFill>
                  <a:srgbClr val="002060"/>
                </a:solidFill>
              </a:rPr>
              <a:t>Unidad de Bioestadística – Facultad de Medicina</a:t>
            </a:r>
          </a:p>
        </p:txBody>
      </p:sp>
      <p:pic>
        <p:nvPicPr>
          <p:cNvPr id="39938" name="Picture 2" descr="http://es.creativecommons.org/blog/wp-content/uploads/2013/04/by-nc-nd.eu_pet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0" y="6442075"/>
            <a:ext cx="1123950" cy="390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338" y="1557338"/>
            <a:ext cx="8532812" cy="336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2</a:t>
            </a:fld>
            <a:endParaRPr lang="en-GB" altLang="es-ES"/>
          </a:p>
        </p:txBody>
      </p:sp>
    </p:spTree>
    <p:extLst>
      <p:ext uri="{BB962C8B-B14F-4D97-AF65-F5344CB8AC3E}">
        <p14:creationId xmlns:p14="http://schemas.microsoft.com/office/powerpoint/2010/main" val="3990697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4 Rectángulo"/>
          <p:cNvSpPr>
            <a:spLocks noChangeArrowheads="1"/>
          </p:cNvSpPr>
          <p:nvPr/>
        </p:nvSpPr>
        <p:spPr bwMode="auto">
          <a:xfrm>
            <a:off x="1828800" y="2514600"/>
            <a:ext cx="5715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2000" b="1" dirty="0"/>
              <a:t>Concepto de </a:t>
            </a:r>
            <a:r>
              <a:rPr lang="es-ES" altLang="es-ES" sz="2800" b="1" dirty="0">
                <a:solidFill>
                  <a:srgbClr val="FF0000"/>
                </a:solidFill>
              </a:rPr>
              <a:t> PROBABILIDAD</a:t>
            </a:r>
            <a:endParaRPr lang="es-ES" altLang="es-ES" sz="2000" b="1" dirty="0"/>
          </a:p>
        </p:txBody>
      </p:sp>
    </p:spTree>
    <p:extLst>
      <p:ext uri="{BB962C8B-B14F-4D97-AF65-F5344CB8AC3E}">
        <p14:creationId xmlns:p14="http://schemas.microsoft.com/office/powerpoint/2010/main" val="1998877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4 Rectángulo"/>
          <p:cNvSpPr>
            <a:spLocks noChangeArrowheads="1"/>
          </p:cNvSpPr>
          <p:nvPr/>
        </p:nvSpPr>
        <p:spPr bwMode="auto">
          <a:xfrm>
            <a:off x="484188" y="1127125"/>
            <a:ext cx="8355012"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b="1" dirty="0"/>
              <a:t>Fenómeno determinista: </a:t>
            </a:r>
            <a:r>
              <a:rPr lang="es-ES" altLang="es-ES" sz="1300" dirty="0"/>
              <a:t>es aquel que se puede reproducir siempre que se desee estableciendo unas mismas condiciones de partida: </a:t>
            </a:r>
            <a:r>
              <a:rPr lang="es-ES" altLang="es-ES" sz="1300" dirty="0">
                <a:solidFill>
                  <a:srgbClr val="C00000"/>
                </a:solidFill>
              </a:rPr>
              <a:t>iguales condiciones → iguales resultados </a:t>
            </a:r>
            <a:r>
              <a:rPr lang="es-ES" altLang="es-ES" sz="1300" dirty="0"/>
              <a:t>(determinismo ←→ certidumbre); </a:t>
            </a:r>
          </a:p>
          <a:p>
            <a:pPr algn="just" eaLnBrk="1" hangingPunct="1"/>
            <a:r>
              <a:rPr lang="es-ES" altLang="es-ES" sz="1300" dirty="0"/>
              <a:t>Ej.: Leyes de la FISICA (Newton)</a:t>
            </a:r>
          </a:p>
        </p:txBody>
      </p:sp>
      <p:sp>
        <p:nvSpPr>
          <p:cNvPr id="3075" name="5 Rectángulo"/>
          <p:cNvSpPr>
            <a:spLocks noChangeArrowheads="1"/>
          </p:cNvSpPr>
          <p:nvPr/>
        </p:nvSpPr>
        <p:spPr bwMode="auto">
          <a:xfrm>
            <a:off x="473075" y="1791841"/>
            <a:ext cx="8377237"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b="1" dirty="0"/>
              <a:t>Fenómeno aleatorio: </a:t>
            </a:r>
            <a:r>
              <a:rPr lang="es-ES" altLang="es-ES" sz="1300" dirty="0"/>
              <a:t>es aquel cuya aparición viene condicionada por el azar. No se puede reproducir siempre que se desee estableciendo unas mismas condiciones de partida: </a:t>
            </a:r>
            <a:r>
              <a:rPr lang="es-ES" altLang="es-ES" sz="1300" dirty="0">
                <a:solidFill>
                  <a:srgbClr val="C00000"/>
                </a:solidFill>
              </a:rPr>
              <a:t>iguales condiciones → resultado incierto </a:t>
            </a:r>
            <a:r>
              <a:rPr lang="es-ES" altLang="es-ES" sz="1300" dirty="0"/>
              <a:t>(aleatoriedad ←→ incertidumbre). </a:t>
            </a:r>
            <a:r>
              <a:rPr lang="es-ES" altLang="es-ES" sz="1300" dirty="0" err="1"/>
              <a:t>Ej</a:t>
            </a:r>
            <a:r>
              <a:rPr lang="es-ES" altLang="es-ES" sz="1300" dirty="0"/>
              <a:t>: Probabilidad </a:t>
            </a:r>
          </a:p>
          <a:p>
            <a:pPr algn="just" eaLnBrk="1" hangingPunct="1"/>
            <a:endParaRPr lang="es-ES" altLang="es-ES" sz="1300" dirty="0">
              <a:solidFill>
                <a:srgbClr val="C00000"/>
              </a:solidFill>
            </a:endParaRPr>
          </a:p>
        </p:txBody>
      </p:sp>
      <p:sp>
        <p:nvSpPr>
          <p:cNvPr id="3076" name="6 Rectángulo"/>
          <p:cNvSpPr>
            <a:spLocks noChangeArrowheads="1"/>
          </p:cNvSpPr>
          <p:nvPr/>
        </p:nvSpPr>
        <p:spPr bwMode="auto">
          <a:xfrm>
            <a:off x="228600" y="2514600"/>
            <a:ext cx="817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Fenómenos en la naturaleza</a:t>
            </a:r>
            <a:endParaRPr lang="es-ES" altLang="es-ES" sz="1400" dirty="0">
              <a:solidFill>
                <a:srgbClr val="C00000"/>
              </a:solidFill>
            </a:endParaRPr>
          </a:p>
        </p:txBody>
      </p:sp>
      <p:sp>
        <p:nvSpPr>
          <p:cNvPr id="3077" name="7 Rectángulo"/>
          <p:cNvSpPr>
            <a:spLocks noChangeArrowheads="1"/>
          </p:cNvSpPr>
          <p:nvPr/>
        </p:nvSpPr>
        <p:spPr bwMode="auto">
          <a:xfrm>
            <a:off x="461963" y="2819400"/>
            <a:ext cx="83772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b="1" dirty="0"/>
              <a:t>Fenómenos totalmente deterministas: </a:t>
            </a:r>
            <a:r>
              <a:rPr lang="es-ES" altLang="es-ES" sz="1300" dirty="0"/>
              <a:t>el determinismo está relacionado con las Teorías (por ejemplo, el </a:t>
            </a:r>
            <a:r>
              <a:rPr lang="es-ES" altLang="es-ES" sz="1300" i="1" dirty="0"/>
              <a:t>Determinismo Biológico</a:t>
            </a:r>
            <a:r>
              <a:rPr lang="es-ES" altLang="es-ES" sz="1300" dirty="0"/>
              <a:t>), pero en la naturaleza el determinismo absoluto es más que cuestionable</a:t>
            </a:r>
            <a:endParaRPr lang="es-ES" altLang="es-ES" sz="1300" dirty="0">
              <a:solidFill>
                <a:srgbClr val="C00000"/>
              </a:solidFill>
            </a:endParaRPr>
          </a:p>
        </p:txBody>
      </p:sp>
      <p:sp>
        <p:nvSpPr>
          <p:cNvPr id="3078" name="8 Rectángulo"/>
          <p:cNvSpPr>
            <a:spLocks noChangeArrowheads="1"/>
          </p:cNvSpPr>
          <p:nvPr/>
        </p:nvSpPr>
        <p:spPr bwMode="auto">
          <a:xfrm>
            <a:off x="461963" y="3673475"/>
            <a:ext cx="83772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b="1" dirty="0"/>
              <a:t>Fenómenos naturales: </a:t>
            </a:r>
            <a:r>
              <a:rPr lang="es-ES" altLang="es-ES" sz="1300" dirty="0"/>
              <a:t>al observar el mundo físico siempre hay un mayor o menor grado de </a:t>
            </a:r>
            <a:r>
              <a:rPr lang="es-ES" altLang="es-ES" sz="1300" b="1" dirty="0">
                <a:solidFill>
                  <a:srgbClr val="FF0000"/>
                </a:solidFill>
              </a:rPr>
              <a:t>aleatoriedad</a:t>
            </a:r>
            <a:r>
              <a:rPr lang="es-ES" altLang="es-ES" sz="1300" dirty="0"/>
              <a:t> implícito en las observaciones (el </a:t>
            </a:r>
            <a:r>
              <a:rPr lang="es-ES" altLang="es-ES" sz="1300" i="1" dirty="0"/>
              <a:t>error de medida </a:t>
            </a:r>
            <a:r>
              <a:rPr lang="es-ES" altLang="es-ES" sz="1300" dirty="0"/>
              <a:t>es un primer responsable de esto)</a:t>
            </a:r>
            <a:endParaRPr lang="es-ES" altLang="es-ES" sz="1300" dirty="0">
              <a:solidFill>
                <a:srgbClr val="C00000"/>
              </a:solidFill>
            </a:endParaRPr>
          </a:p>
        </p:txBody>
      </p:sp>
      <p:sp>
        <p:nvSpPr>
          <p:cNvPr id="3079" name="9 Rectángulo"/>
          <p:cNvSpPr>
            <a:spLocks noChangeArrowheads="1"/>
          </p:cNvSpPr>
          <p:nvPr/>
        </p:nvSpPr>
        <p:spPr bwMode="auto">
          <a:xfrm>
            <a:off x="228600" y="838200"/>
            <a:ext cx="817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Tipos de fenómenos (sucesos)</a:t>
            </a:r>
            <a:endParaRPr lang="es-ES" altLang="es-ES" sz="1400" dirty="0">
              <a:solidFill>
                <a:srgbClr val="C00000"/>
              </a:solidFill>
            </a:endParaRPr>
          </a:p>
        </p:txBody>
      </p:sp>
      <p:sp>
        <p:nvSpPr>
          <p:cNvPr id="3080" name="10 Rectángulo"/>
          <p:cNvSpPr>
            <a:spLocks noChangeArrowheads="1"/>
          </p:cNvSpPr>
          <p:nvPr/>
        </p:nvSpPr>
        <p:spPr bwMode="auto">
          <a:xfrm>
            <a:off x="511175" y="4267200"/>
            <a:ext cx="817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400" b="1" dirty="0"/>
              <a:t>Fenómeno observado = componente determinista + componente aleatorio</a:t>
            </a:r>
            <a:endParaRPr lang="es-ES" altLang="es-ES" sz="1400" dirty="0">
              <a:solidFill>
                <a:srgbClr val="C00000"/>
              </a:solidFill>
            </a:endParaRPr>
          </a:p>
        </p:txBody>
      </p:sp>
      <p:sp>
        <p:nvSpPr>
          <p:cNvPr id="3081" name="11 Rectángulo"/>
          <p:cNvSpPr>
            <a:spLocks noChangeArrowheads="1"/>
          </p:cNvSpPr>
          <p:nvPr/>
        </p:nvSpPr>
        <p:spPr bwMode="auto">
          <a:xfrm>
            <a:off x="484188" y="4897438"/>
            <a:ext cx="817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200" b="1" dirty="0"/>
              <a:t>Peso  = </a:t>
            </a:r>
            <a:r>
              <a:rPr lang="es-ES" altLang="es-ES" sz="1400" b="1" i="1" dirty="0">
                <a:latin typeface="Times New Roman" panose="02020603050405020304" pitchFamily="18" charset="0"/>
                <a:cs typeface="Times New Roman" panose="02020603050405020304" pitchFamily="18" charset="0"/>
              </a:rPr>
              <a:t>f </a:t>
            </a:r>
            <a:r>
              <a:rPr lang="es-ES" altLang="es-ES" sz="1200" b="1" dirty="0"/>
              <a:t>(talla, sexo,…) </a:t>
            </a:r>
            <a:r>
              <a:rPr lang="es-ES" altLang="es-ES" sz="1200" dirty="0"/>
              <a:t> (</a:t>
            </a:r>
            <a:r>
              <a:rPr lang="es-ES" altLang="es-ES" sz="1200" i="1" dirty="0"/>
              <a:t>componente determinista</a:t>
            </a:r>
            <a:r>
              <a:rPr lang="es-ES" altLang="es-ES" sz="1200" dirty="0"/>
              <a:t>)</a:t>
            </a:r>
            <a:r>
              <a:rPr lang="es-ES" altLang="es-ES" sz="1200" b="1" dirty="0"/>
              <a:t> + variabilidad </a:t>
            </a:r>
            <a:r>
              <a:rPr lang="es-ES" altLang="es-ES" sz="1200" dirty="0"/>
              <a:t>(</a:t>
            </a:r>
            <a:r>
              <a:rPr lang="es-ES" altLang="es-ES" sz="1200" i="1" dirty="0"/>
              <a:t>componente aleatorio</a:t>
            </a:r>
            <a:r>
              <a:rPr lang="es-ES" altLang="es-ES" sz="1200" dirty="0"/>
              <a:t>)</a:t>
            </a:r>
            <a:endParaRPr lang="es-ES" altLang="es-ES" sz="1200" dirty="0">
              <a:solidFill>
                <a:srgbClr val="C00000"/>
              </a:solidFill>
            </a:endParaRPr>
          </a:p>
        </p:txBody>
      </p:sp>
      <p:sp>
        <p:nvSpPr>
          <p:cNvPr id="3082" name="12 Rectángulo"/>
          <p:cNvSpPr>
            <a:spLocks noChangeArrowheads="1"/>
          </p:cNvSpPr>
          <p:nvPr/>
        </p:nvSpPr>
        <p:spPr bwMode="auto">
          <a:xfrm>
            <a:off x="2155825" y="5354638"/>
            <a:ext cx="274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200"/>
              <a:t>El Peso de un individuo depende de su talla, sexo, etc…</a:t>
            </a:r>
            <a:endParaRPr lang="es-ES" altLang="es-ES" sz="1200">
              <a:solidFill>
                <a:srgbClr val="C00000"/>
              </a:solidFill>
            </a:endParaRPr>
          </a:p>
        </p:txBody>
      </p:sp>
      <p:sp>
        <p:nvSpPr>
          <p:cNvPr id="3083" name="13 Rectángulo"/>
          <p:cNvSpPr>
            <a:spLocks noChangeArrowheads="1"/>
          </p:cNvSpPr>
          <p:nvPr/>
        </p:nvSpPr>
        <p:spPr bwMode="auto">
          <a:xfrm>
            <a:off x="4975225" y="5354638"/>
            <a:ext cx="274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200"/>
              <a:t>No todos los hombres que miden 1.80m pesan lo mismo</a:t>
            </a:r>
            <a:endParaRPr lang="es-ES" altLang="es-ES" sz="1200">
              <a:solidFill>
                <a:srgbClr val="C00000"/>
              </a:solidFill>
            </a:endParaRPr>
          </a:p>
        </p:txBody>
      </p:sp>
      <p:sp>
        <p:nvSpPr>
          <p:cNvPr id="2" name="1 Abrir llave"/>
          <p:cNvSpPr>
            <a:spLocks/>
          </p:cNvSpPr>
          <p:nvPr/>
        </p:nvSpPr>
        <p:spPr bwMode="auto">
          <a:xfrm rot="-5400000">
            <a:off x="3446462" y="3717926"/>
            <a:ext cx="149225" cy="3124200"/>
          </a:xfrm>
          <a:prstGeom prst="leftBrace">
            <a:avLst>
              <a:gd name="adj1" fmla="val 8336"/>
              <a:gd name="adj2" fmla="val 50000"/>
            </a:avLst>
          </a:prstGeom>
          <a:noFill/>
          <a:ln w="9525" algn="ctr">
            <a:solidFill>
              <a:srgbClr val="A6A6A6"/>
            </a:solidFill>
            <a:round/>
            <a:headEnd/>
            <a:tailEnd/>
          </a:ln>
          <a:extLst>
            <a:ext uri="{909E8E84-426E-40DD-AFC4-6F175D3DCCD1}">
              <a14:hiddenFill xmlns:a14="http://schemas.microsoft.com/office/drawing/2010/main">
                <a:solidFill>
                  <a:srgbClr val="FFFFFF"/>
                </a:solidFill>
              </a14:hiddenFill>
            </a:ext>
          </a:extLst>
        </p:spPr>
        <p:txBody>
          <a:bodyPr vert="eaVert" anchor="ctr"/>
          <a:lstStyle/>
          <a:p>
            <a:pPr algn="ctr">
              <a:defRPr/>
            </a:pPr>
            <a:endParaRPr lang="es-ES">
              <a:latin typeface="+mn-lt"/>
            </a:endParaRPr>
          </a:p>
        </p:txBody>
      </p:sp>
      <p:sp>
        <p:nvSpPr>
          <p:cNvPr id="16" name="15 Abrir llave"/>
          <p:cNvSpPr>
            <a:spLocks/>
          </p:cNvSpPr>
          <p:nvPr/>
        </p:nvSpPr>
        <p:spPr bwMode="auto">
          <a:xfrm rot="-5400000">
            <a:off x="6288087" y="4022726"/>
            <a:ext cx="149225" cy="2514600"/>
          </a:xfrm>
          <a:prstGeom prst="leftBrace">
            <a:avLst>
              <a:gd name="adj1" fmla="val 8348"/>
              <a:gd name="adj2" fmla="val 50000"/>
            </a:avLst>
          </a:prstGeom>
          <a:noFill/>
          <a:ln w="9525" algn="ctr">
            <a:solidFill>
              <a:srgbClr val="A6A6A6"/>
            </a:solidFill>
            <a:round/>
            <a:headEnd/>
            <a:tailEnd/>
          </a:ln>
          <a:extLst>
            <a:ext uri="{909E8E84-426E-40DD-AFC4-6F175D3DCCD1}">
              <a14:hiddenFill xmlns:a14="http://schemas.microsoft.com/office/drawing/2010/main">
                <a:solidFill>
                  <a:srgbClr val="FFFFFF"/>
                </a:solidFill>
              </a14:hiddenFill>
            </a:ext>
          </a:extLst>
        </p:spPr>
        <p:txBody>
          <a:bodyPr vert="eaVert" anchor="ctr"/>
          <a:lstStyle/>
          <a:p>
            <a:pPr algn="ctr">
              <a:defRPr/>
            </a:pPr>
            <a:endParaRPr lang="es-ES">
              <a:latin typeface="+mn-lt"/>
            </a:endParaRPr>
          </a:p>
        </p:txBody>
      </p:sp>
      <p:sp>
        <p:nvSpPr>
          <p:cNvPr id="3086" name="16 Rectángulo"/>
          <p:cNvSpPr>
            <a:spLocks noChangeArrowheads="1"/>
          </p:cNvSpPr>
          <p:nvPr/>
        </p:nvSpPr>
        <p:spPr bwMode="auto">
          <a:xfrm>
            <a:off x="461963" y="3352800"/>
            <a:ext cx="837723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b="1" dirty="0"/>
              <a:t>Fenómenos totalmente aleatorios: </a:t>
            </a:r>
            <a:r>
              <a:rPr lang="es-ES" altLang="es-ES" sz="1300" dirty="0"/>
              <a:t>los resultados de los juegos de azar (lanzar una moneda, un dado, …) </a:t>
            </a:r>
            <a:endParaRPr lang="es-ES" altLang="es-ES" sz="1300" dirty="0">
              <a:solidFill>
                <a:srgbClr val="C00000"/>
              </a:solidFill>
            </a:endParaRPr>
          </a:p>
        </p:txBody>
      </p:sp>
      <p:sp>
        <p:nvSpPr>
          <p:cNvPr id="3087" name="17 Rectángulo"/>
          <p:cNvSpPr>
            <a:spLocks noChangeArrowheads="1"/>
          </p:cNvSpPr>
          <p:nvPr/>
        </p:nvSpPr>
        <p:spPr bwMode="auto">
          <a:xfrm>
            <a:off x="446088" y="6248400"/>
            <a:ext cx="817562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Un papel fundamental de la </a:t>
            </a:r>
            <a:r>
              <a:rPr lang="es-ES" altLang="es-ES" sz="1300" b="1" dirty="0"/>
              <a:t>Inferencia Estadística </a:t>
            </a:r>
            <a:r>
              <a:rPr lang="es-ES" altLang="es-ES" sz="1300" dirty="0"/>
              <a:t>consiste en “separar” la partes determinista y aleatoria</a:t>
            </a:r>
            <a:endParaRPr lang="es-ES" altLang="es-ES" sz="1300" dirty="0">
              <a:solidFill>
                <a:srgbClr val="C00000"/>
              </a:solidFill>
            </a:endParaRPr>
          </a:p>
        </p:txBody>
      </p:sp>
      <p:sp>
        <p:nvSpPr>
          <p:cNvPr id="3088" name="AutoShape 44"/>
          <p:cNvSpPr>
            <a:spLocks noChangeArrowheads="1"/>
          </p:cNvSpPr>
          <p:nvPr/>
        </p:nvSpPr>
        <p:spPr bwMode="auto">
          <a:xfrm>
            <a:off x="1268413" y="4733925"/>
            <a:ext cx="6732587" cy="1230313"/>
          </a:xfrm>
          <a:prstGeom prst="roundRect">
            <a:avLst>
              <a:gd name="adj" fmla="val 9028"/>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3089" name="19 Rectángulo"/>
          <p:cNvSpPr>
            <a:spLocks noChangeArrowheads="1"/>
          </p:cNvSpPr>
          <p:nvPr/>
        </p:nvSpPr>
        <p:spPr bwMode="auto">
          <a:xfrm>
            <a:off x="6324600" y="5834063"/>
            <a:ext cx="1524000" cy="261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100" b="1" i="1"/>
              <a:t>Modelo</a:t>
            </a:r>
            <a:r>
              <a:rPr lang="es-ES" altLang="es-ES" sz="1100" b="1"/>
              <a:t> estadístico</a:t>
            </a:r>
          </a:p>
        </p:txBody>
      </p:sp>
      <p:sp>
        <p:nvSpPr>
          <p:cNvPr id="3090" name="9 Rectángulo"/>
          <p:cNvSpPr>
            <a:spLocks noChangeArrowheads="1"/>
          </p:cNvSpPr>
          <p:nvPr/>
        </p:nvSpPr>
        <p:spPr bwMode="auto">
          <a:xfrm>
            <a:off x="152400" y="48342"/>
            <a:ext cx="2743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600" b="1" dirty="0"/>
              <a:t>Introducción</a:t>
            </a:r>
            <a:endParaRPr lang="es-ES" altLang="es-ES" sz="1600" dirty="0">
              <a:solidFill>
                <a:srgbClr val="C00000"/>
              </a:solidFill>
            </a:endParaRPr>
          </a:p>
        </p:txBody>
      </p:sp>
      <p:sp>
        <p:nvSpPr>
          <p:cNvPr id="19" name="9 Rectángulo"/>
          <p:cNvSpPr>
            <a:spLocks noChangeArrowheads="1"/>
          </p:cNvSpPr>
          <p:nvPr/>
        </p:nvSpPr>
        <p:spPr bwMode="auto">
          <a:xfrm>
            <a:off x="152400" y="401638"/>
            <a:ext cx="3200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Determinismo y aleatoriedad</a:t>
            </a:r>
            <a:endParaRPr lang="es-ES" altLang="es-ES" sz="1400" dirty="0">
              <a:solidFill>
                <a:srgbClr val="C00000"/>
              </a:solidFill>
            </a:endParaRPr>
          </a:p>
        </p:txBody>
      </p:sp>
    </p:spTree>
    <p:extLst>
      <p:ext uri="{BB962C8B-B14F-4D97-AF65-F5344CB8AC3E}">
        <p14:creationId xmlns:p14="http://schemas.microsoft.com/office/powerpoint/2010/main" val="4075338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381000" y="332656"/>
            <a:ext cx="7071320" cy="461665"/>
          </a:xfrm>
          <a:prstGeom prst="rect">
            <a:avLst/>
          </a:prstGeom>
          <a:noFill/>
        </p:spPr>
        <p:txBody>
          <a:bodyPr wrap="square" rtlCol="0">
            <a:spAutoFit/>
          </a:bodyPr>
          <a:lstStyle/>
          <a:p>
            <a:r>
              <a:rPr lang="es-ES" sz="2400" b="1" dirty="0">
                <a:solidFill>
                  <a:schemeClr val="tx1"/>
                </a:solidFill>
              </a:rPr>
              <a:t>Experimentos determinísticos y aleatorios</a:t>
            </a:r>
          </a:p>
        </p:txBody>
      </p:sp>
      <p:sp>
        <p:nvSpPr>
          <p:cNvPr id="3" name="2 CuadroTexto"/>
          <p:cNvSpPr txBox="1"/>
          <p:nvPr/>
        </p:nvSpPr>
        <p:spPr>
          <a:xfrm>
            <a:off x="683568" y="1474646"/>
            <a:ext cx="7776864" cy="4401205"/>
          </a:xfrm>
          <a:prstGeom prst="rect">
            <a:avLst/>
          </a:prstGeom>
          <a:noFill/>
        </p:spPr>
        <p:txBody>
          <a:bodyPr wrap="square" rtlCol="0">
            <a:spAutoFit/>
          </a:bodyPr>
          <a:lstStyle/>
          <a:p>
            <a:pPr algn="just"/>
            <a:r>
              <a:rPr lang="es-ES" sz="2000" b="1" dirty="0">
                <a:solidFill>
                  <a:schemeClr val="tx1"/>
                </a:solidFill>
              </a:rPr>
              <a:t>Experimento determinístico:</a:t>
            </a:r>
            <a:r>
              <a:rPr lang="es-ES" sz="2000" dirty="0">
                <a:solidFill>
                  <a:schemeClr val="tx1"/>
                </a:solidFill>
              </a:rPr>
              <a:t> es aquel en el que conocidas las condiciones de realización del experimento su resultado está determinado y por tanto es predecible. Al repetir el experimento en las mismas condiciones se conoce el resultado que se va a obtener. Ejemplos: la velocidad con la que un objeto llega al suelo tras lanzarlo de una altura de 1m, presión a la que está sometido un gas que tiene un determinado volumen,  etc.</a:t>
            </a:r>
          </a:p>
          <a:p>
            <a:pPr algn="just"/>
            <a:endParaRPr lang="es-ES" sz="2000" dirty="0">
              <a:solidFill>
                <a:schemeClr val="tx1"/>
              </a:solidFill>
            </a:endParaRPr>
          </a:p>
          <a:p>
            <a:pPr algn="just"/>
            <a:r>
              <a:rPr lang="es-ES" sz="2000" b="1" dirty="0">
                <a:solidFill>
                  <a:schemeClr val="tx1"/>
                </a:solidFill>
              </a:rPr>
              <a:t>Experimento aleatorio:</a:t>
            </a:r>
            <a:r>
              <a:rPr lang="es-ES" sz="2000" dirty="0">
                <a:solidFill>
                  <a:schemeClr val="tx1"/>
                </a:solidFill>
              </a:rPr>
              <a:t> es el experimento en el que al repetirlo en las mismas condiciones no se sabe el resultado que se va a obtener, y por tanto su resultado es impredecible. Ejemplos: estado de un paciente tras un tratamiento, nivel de glucosa en sangre después de un ejercicio, el peso de una persona al levantarse, lanzamiento de un dado, etc.</a:t>
            </a:r>
          </a:p>
        </p:txBody>
      </p:sp>
      <p:sp>
        <p:nvSpPr>
          <p:cNvPr id="4" name="3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5</a:t>
            </a:fld>
            <a:endParaRPr lang="en-GB" altLang="es-E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196752"/>
            <a:ext cx="8424862" cy="3414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CuadroTexto"/>
          <p:cNvSpPr txBox="1"/>
          <p:nvPr/>
        </p:nvSpPr>
        <p:spPr>
          <a:xfrm>
            <a:off x="1547664" y="332656"/>
            <a:ext cx="5904656" cy="461665"/>
          </a:xfrm>
          <a:prstGeom prst="rect">
            <a:avLst/>
          </a:prstGeom>
          <a:noFill/>
        </p:spPr>
        <p:txBody>
          <a:bodyPr wrap="square" rtlCol="0">
            <a:spAutoFit/>
          </a:bodyPr>
          <a:lstStyle/>
          <a:p>
            <a:r>
              <a:rPr lang="es-ES" sz="2400" b="1" dirty="0">
                <a:solidFill>
                  <a:schemeClr val="tx1"/>
                </a:solidFill>
              </a:rPr>
              <a:t>Definición de Probabilidad</a:t>
            </a:r>
          </a:p>
        </p:txBody>
      </p:sp>
      <p:sp>
        <p:nvSpPr>
          <p:cNvPr id="2" name="1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6</a:t>
            </a:fld>
            <a:endParaRPr lang="en-GB" altLang="es-ES"/>
          </a:p>
        </p:txBody>
      </p:sp>
    </p:spTree>
    <p:extLst>
      <p:ext uri="{BB962C8B-B14F-4D97-AF65-F5344CB8AC3E}">
        <p14:creationId xmlns:p14="http://schemas.microsoft.com/office/powerpoint/2010/main" val="2424830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Rectángulo"/>
          <p:cNvSpPr>
            <a:spLocks noChangeArrowheads="1"/>
          </p:cNvSpPr>
          <p:nvPr/>
        </p:nvSpPr>
        <p:spPr bwMode="auto">
          <a:xfrm>
            <a:off x="500062" y="1083589"/>
            <a:ext cx="8175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t>El estudio de los fenómenos aleatorios requiere cubrir la necesidad de poder </a:t>
            </a:r>
            <a:r>
              <a:rPr lang="es-ES" altLang="es-ES" sz="1400" b="1" dirty="0"/>
              <a:t>medir con qué frecuencia se presentan → </a:t>
            </a:r>
            <a:r>
              <a:rPr lang="es-ES" altLang="es-ES" sz="1400" dirty="0"/>
              <a:t>Concepto de </a:t>
            </a:r>
            <a:r>
              <a:rPr lang="es-ES" altLang="es-ES" sz="1400" b="1" dirty="0"/>
              <a:t>Probabilidad</a:t>
            </a:r>
          </a:p>
        </p:txBody>
      </p:sp>
      <p:sp>
        <p:nvSpPr>
          <p:cNvPr id="4099" name="3 Rectángulo"/>
          <p:cNvSpPr>
            <a:spLocks noChangeArrowheads="1"/>
          </p:cNvSpPr>
          <p:nvPr/>
        </p:nvSpPr>
        <p:spPr bwMode="auto">
          <a:xfrm>
            <a:off x="500062" y="2790825"/>
            <a:ext cx="817562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lgn="just" eaLnBrk="1" hangingPunct="1"/>
            <a:r>
              <a:rPr lang="es-ES" altLang="es-ES" sz="1400" dirty="0"/>
              <a:t>Basada en la </a:t>
            </a:r>
            <a:r>
              <a:rPr lang="es-ES" altLang="es-ES" sz="1400" b="1" dirty="0"/>
              <a:t>regla de Laplace: </a:t>
            </a:r>
          </a:p>
          <a:p>
            <a:pPr marL="0" indent="0" algn="just" eaLnBrk="1" hangingPunct="1"/>
            <a:r>
              <a:rPr lang="es-ES" altLang="es-ES" sz="1400" dirty="0"/>
              <a:t>Definición </a:t>
            </a:r>
            <a:r>
              <a:rPr lang="es-ES" altLang="es-ES" sz="1400" b="1" dirty="0"/>
              <a:t>frecuentista</a:t>
            </a:r>
            <a:r>
              <a:rPr lang="es-ES" altLang="es-ES" sz="1400" dirty="0"/>
              <a:t>: sucesos </a:t>
            </a:r>
            <a:r>
              <a:rPr lang="es-ES" altLang="es-ES" sz="1400" b="1" dirty="0"/>
              <a:t>EQUIPROBABLES</a:t>
            </a:r>
          </a:p>
          <a:p>
            <a:pPr marL="0" indent="0" algn="just" eaLnBrk="1" hangingPunct="1"/>
            <a:r>
              <a:rPr lang="es-ES" altLang="es-ES" sz="1400" b="1" dirty="0"/>
              <a:t>Definición axiomática </a:t>
            </a:r>
            <a:r>
              <a:rPr lang="es-ES" altLang="es-ES" sz="1400" dirty="0"/>
              <a:t>(de </a:t>
            </a:r>
            <a:r>
              <a:rPr lang="es-ES" altLang="es-ES" sz="1400" dirty="0" err="1"/>
              <a:t>Kolmogorov</a:t>
            </a:r>
            <a:r>
              <a:rPr lang="es-ES" altLang="es-ES" sz="1400" dirty="0"/>
              <a:t>, es la más formal)</a:t>
            </a:r>
          </a:p>
          <a:p>
            <a:pPr marL="0" indent="0" algn="just" eaLnBrk="1" hangingPunct="1"/>
            <a:r>
              <a:rPr lang="es-ES" altLang="es-ES" sz="1400" dirty="0"/>
              <a:t>Definición </a:t>
            </a:r>
            <a:r>
              <a:rPr lang="es-ES" altLang="es-ES" sz="1400" b="1" dirty="0"/>
              <a:t>subjetiva</a:t>
            </a:r>
            <a:r>
              <a:rPr lang="es-ES" altLang="es-ES" sz="1400" dirty="0"/>
              <a:t> de probabilidad: </a:t>
            </a:r>
            <a:r>
              <a:rPr lang="es-ES" altLang="es-ES" sz="1400" b="1" dirty="0"/>
              <a:t>Teorema de Bayes</a:t>
            </a:r>
          </a:p>
        </p:txBody>
      </p:sp>
      <p:sp>
        <p:nvSpPr>
          <p:cNvPr id="4100" name="4 Rectángulo"/>
          <p:cNvSpPr>
            <a:spLocks noChangeArrowheads="1"/>
          </p:cNvSpPr>
          <p:nvPr/>
        </p:nvSpPr>
        <p:spPr bwMode="auto">
          <a:xfrm>
            <a:off x="500062" y="2313727"/>
            <a:ext cx="8175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t>La </a:t>
            </a:r>
            <a:r>
              <a:rPr lang="es-ES" altLang="es-ES" sz="1400" b="1" dirty="0"/>
              <a:t>noción de probabilidad </a:t>
            </a:r>
            <a:r>
              <a:rPr lang="es-ES" altLang="es-ES" sz="1400" dirty="0"/>
              <a:t>se presta a </a:t>
            </a:r>
            <a:r>
              <a:rPr lang="es-ES" altLang="es-ES" sz="1400" i="1" dirty="0"/>
              <a:t>diferentes</a:t>
            </a:r>
            <a:r>
              <a:rPr lang="es-ES" altLang="es-ES" sz="1400" dirty="0"/>
              <a:t> </a:t>
            </a:r>
            <a:r>
              <a:rPr lang="es-ES" altLang="es-ES" sz="1400" i="1" dirty="0"/>
              <a:t>aproximaciones</a:t>
            </a:r>
            <a:r>
              <a:rPr lang="es-ES" altLang="es-ES" sz="1400" dirty="0"/>
              <a:t> y es objeto de particular atención en al ámbito de la </a:t>
            </a:r>
            <a:r>
              <a:rPr lang="es-ES" altLang="es-ES" sz="1400" i="1" dirty="0"/>
              <a:t>Epistemología</a:t>
            </a:r>
            <a:r>
              <a:rPr lang="es-ES" altLang="es-ES" sz="1400" dirty="0"/>
              <a:t>. Esto genera diferentes enfoques:</a:t>
            </a:r>
          </a:p>
        </p:txBody>
      </p:sp>
      <p:sp>
        <p:nvSpPr>
          <p:cNvPr id="4102" name="6 Rectángulo"/>
          <p:cNvSpPr>
            <a:spLocks noChangeArrowheads="1"/>
          </p:cNvSpPr>
          <p:nvPr/>
        </p:nvSpPr>
        <p:spPr bwMode="auto">
          <a:xfrm>
            <a:off x="500063" y="3909077"/>
            <a:ext cx="82629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t>Independientemente del enfoque, la </a:t>
            </a:r>
            <a:r>
              <a:rPr lang="es-ES" altLang="es-ES" sz="1400" b="1" dirty="0"/>
              <a:t>probabilidad de un suceso es un número positivo comprendido entre 0 y 1 </a:t>
            </a:r>
            <a:r>
              <a:rPr lang="es-ES" altLang="es-ES" sz="1400" dirty="0"/>
              <a:t>(que se puede multiplicar por cien y darlo como porcentaje)</a:t>
            </a:r>
          </a:p>
        </p:txBody>
      </p:sp>
      <p:grpSp>
        <p:nvGrpSpPr>
          <p:cNvPr id="2" name="Grupo 1">
            <a:extLst>
              <a:ext uri="{FF2B5EF4-FFF2-40B4-BE49-F238E27FC236}">
                <a16:creationId xmlns:a16="http://schemas.microsoft.com/office/drawing/2014/main" id="{BACF5D90-BE3D-4601-B625-92C73C8857AF}"/>
              </a:ext>
            </a:extLst>
          </p:cNvPr>
          <p:cNvGrpSpPr/>
          <p:nvPr/>
        </p:nvGrpSpPr>
        <p:grpSpPr>
          <a:xfrm>
            <a:off x="5616575" y="2743200"/>
            <a:ext cx="3146425" cy="1074738"/>
            <a:chOff x="5616575" y="2667000"/>
            <a:chExt cx="3146425" cy="1074738"/>
          </a:xfrm>
        </p:grpSpPr>
        <p:graphicFrame>
          <p:nvGraphicFramePr>
            <p:cNvPr id="4101" name="5 Objeto"/>
            <p:cNvGraphicFramePr>
              <a:graphicFrameLocks noChangeAspect="1"/>
            </p:cNvGraphicFramePr>
            <p:nvPr>
              <p:extLst>
                <p:ext uri="{D42A27DB-BD31-4B8C-83A1-F6EECF244321}">
                  <p14:modId xmlns:p14="http://schemas.microsoft.com/office/powerpoint/2010/main" val="3751736573"/>
                </p:ext>
              </p:extLst>
            </p:nvPr>
          </p:nvGraphicFramePr>
          <p:xfrm>
            <a:off x="5616575" y="2962275"/>
            <a:ext cx="3025775" cy="604838"/>
          </p:xfrm>
          <a:graphic>
            <a:graphicData uri="http://schemas.openxmlformats.org/presentationml/2006/ole">
              <mc:AlternateContent xmlns:mc="http://schemas.openxmlformats.org/markup-compatibility/2006">
                <mc:Choice xmlns:v="urn:schemas-microsoft-com:vml" Requires="v">
                  <p:oleObj name="Equation" r:id="rId2" imgW="2108200" imgH="419100" progId="Equation.DSMT4">
                    <p:embed/>
                  </p:oleObj>
                </mc:Choice>
                <mc:Fallback>
                  <p:oleObj name="Equation" r:id="rId2" imgW="2108200" imgH="419100" progId="Equation.DSMT4">
                    <p:embed/>
                    <p:pic>
                      <p:nvPicPr>
                        <p:cNvPr id="4101" name="5 Obje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6575" y="2962275"/>
                          <a:ext cx="30257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3" name="AutoShape 44"/>
            <p:cNvSpPr>
              <a:spLocks noChangeArrowheads="1"/>
            </p:cNvSpPr>
            <p:nvPr/>
          </p:nvSpPr>
          <p:spPr bwMode="auto">
            <a:xfrm>
              <a:off x="5616575" y="2797175"/>
              <a:ext cx="3146425" cy="944563"/>
            </a:xfrm>
            <a:prstGeom prst="roundRect">
              <a:avLst>
                <a:gd name="adj" fmla="val 9028"/>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4104" name="8 Rectángulo"/>
            <p:cNvSpPr>
              <a:spLocks noChangeArrowheads="1"/>
            </p:cNvSpPr>
            <p:nvPr/>
          </p:nvSpPr>
          <p:spPr bwMode="auto">
            <a:xfrm>
              <a:off x="6429375" y="2667000"/>
              <a:ext cx="1401763" cy="260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100" b="1"/>
                <a:t>Regla de Laplace  </a:t>
              </a:r>
            </a:p>
          </p:txBody>
        </p:sp>
      </p:grpSp>
      <p:sp>
        <p:nvSpPr>
          <p:cNvPr id="4105" name="15 Rectángulo"/>
          <p:cNvSpPr>
            <a:spLocks noChangeArrowheads="1"/>
          </p:cNvSpPr>
          <p:nvPr/>
        </p:nvSpPr>
        <p:spPr bwMode="auto">
          <a:xfrm>
            <a:off x="500062" y="4399322"/>
            <a:ext cx="1590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t>Que ocurra A es:</a:t>
            </a:r>
          </a:p>
        </p:txBody>
      </p:sp>
      <p:grpSp>
        <p:nvGrpSpPr>
          <p:cNvPr id="4106" name="Group 37"/>
          <p:cNvGrpSpPr>
            <a:grpSpLocks/>
          </p:cNvGrpSpPr>
          <p:nvPr/>
        </p:nvGrpSpPr>
        <p:grpSpPr bwMode="auto">
          <a:xfrm>
            <a:off x="555625" y="4473575"/>
            <a:ext cx="7237413" cy="1546225"/>
            <a:chOff x="350" y="2784"/>
            <a:chExt cx="4559" cy="974"/>
          </a:xfrm>
        </p:grpSpPr>
        <p:grpSp>
          <p:nvGrpSpPr>
            <p:cNvPr id="4111" name="34 Grupo"/>
            <p:cNvGrpSpPr>
              <a:grpSpLocks/>
            </p:cNvGrpSpPr>
            <p:nvPr/>
          </p:nvGrpSpPr>
          <p:grpSpPr bwMode="auto">
            <a:xfrm>
              <a:off x="456" y="2784"/>
              <a:ext cx="4453" cy="974"/>
              <a:chOff x="533400" y="4744169"/>
              <a:chExt cx="7069368" cy="1545892"/>
            </a:xfrm>
          </p:grpSpPr>
          <p:sp>
            <p:nvSpPr>
              <p:cNvPr id="28" name="27 Abrir llave"/>
              <p:cNvSpPr/>
              <p:nvPr/>
            </p:nvSpPr>
            <p:spPr>
              <a:xfrm>
                <a:off x="2357497" y="4748931"/>
                <a:ext cx="214319" cy="86817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grpSp>
            <p:nvGrpSpPr>
              <p:cNvPr id="4114" name="33 Grupo"/>
              <p:cNvGrpSpPr>
                <a:grpSpLocks/>
              </p:cNvGrpSpPr>
              <p:nvPr/>
            </p:nvGrpSpPr>
            <p:grpSpPr bwMode="auto">
              <a:xfrm>
                <a:off x="533400" y="4744169"/>
                <a:ext cx="7069368" cy="1545892"/>
                <a:chOff x="609600" y="4744169"/>
                <a:chExt cx="7069368" cy="1545892"/>
              </a:xfrm>
            </p:grpSpPr>
            <p:sp>
              <p:nvSpPr>
                <p:cNvPr id="4115" name="10 Rectángulo"/>
                <p:cNvSpPr>
                  <a:spLocks noChangeArrowheads="1"/>
                </p:cNvSpPr>
                <p:nvPr/>
              </p:nvSpPr>
              <p:spPr bwMode="auto">
                <a:xfrm>
                  <a:off x="609600" y="5967868"/>
                  <a:ext cx="1312905" cy="304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a:t>Imposible, si</a:t>
                  </a:r>
                </a:p>
              </p:txBody>
            </p:sp>
            <p:graphicFrame>
              <p:nvGraphicFramePr>
                <p:cNvPr id="4116" name="12 Objeto"/>
                <p:cNvGraphicFramePr>
                  <a:graphicFrameLocks noChangeAspect="1"/>
                </p:cNvGraphicFramePr>
                <p:nvPr/>
              </p:nvGraphicFramePr>
              <p:xfrm>
                <a:off x="1763489" y="5997961"/>
                <a:ext cx="819150" cy="292100"/>
              </p:xfrm>
              <a:graphic>
                <a:graphicData uri="http://schemas.openxmlformats.org/presentationml/2006/ole">
                  <mc:AlternateContent xmlns:mc="http://schemas.openxmlformats.org/markup-compatibility/2006">
                    <mc:Choice xmlns:v="urn:schemas-microsoft-com:vml" Requires="v">
                      <p:oleObj name="Equation" r:id="rId4" imgW="571252" imgH="203112" progId="Equation.DSMT4">
                        <p:embed/>
                      </p:oleObj>
                    </mc:Choice>
                    <mc:Fallback>
                      <p:oleObj name="Equation" r:id="rId4" imgW="571252" imgH="203112" progId="Equation.DSMT4">
                        <p:embed/>
                        <p:pic>
                          <p:nvPicPr>
                            <p:cNvPr id="4116" name="12 Obje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489" y="5997961"/>
                              <a:ext cx="8191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117" name="31 Grupo"/>
                <p:cNvGrpSpPr>
                  <a:grpSpLocks/>
                </p:cNvGrpSpPr>
                <p:nvPr/>
              </p:nvGrpSpPr>
              <p:grpSpPr bwMode="auto">
                <a:xfrm>
                  <a:off x="2558146" y="4744169"/>
                  <a:ext cx="5120822" cy="1198670"/>
                  <a:chOff x="2497591" y="4495800"/>
                  <a:chExt cx="5120822" cy="1198670"/>
                </a:xfrm>
              </p:grpSpPr>
              <p:sp>
                <p:nvSpPr>
                  <p:cNvPr id="4120" name="21 Rectángulo"/>
                  <p:cNvSpPr>
                    <a:spLocks noChangeArrowheads="1"/>
                  </p:cNvSpPr>
                  <p:nvPr/>
                </p:nvSpPr>
                <p:spPr bwMode="auto">
                  <a:xfrm>
                    <a:off x="5021493" y="5375354"/>
                    <a:ext cx="312710" cy="304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a:t>si</a:t>
                    </a:r>
                  </a:p>
                </p:txBody>
              </p:sp>
              <p:grpSp>
                <p:nvGrpSpPr>
                  <p:cNvPr id="4121" name="30 Grupo"/>
                  <p:cNvGrpSpPr>
                    <a:grpSpLocks/>
                  </p:cNvGrpSpPr>
                  <p:nvPr/>
                </p:nvGrpSpPr>
                <p:grpSpPr bwMode="auto">
                  <a:xfrm>
                    <a:off x="2497591" y="4495800"/>
                    <a:ext cx="5120822" cy="1198670"/>
                    <a:chOff x="2726191" y="4800600"/>
                    <a:chExt cx="5120822" cy="1198670"/>
                  </a:xfrm>
                </p:grpSpPr>
                <p:sp>
                  <p:nvSpPr>
                    <p:cNvPr id="4122" name="9 Rectángulo"/>
                    <p:cNvSpPr>
                      <a:spLocks noChangeArrowheads="1"/>
                    </p:cNvSpPr>
                    <p:nvPr/>
                  </p:nvSpPr>
                  <p:spPr bwMode="auto">
                    <a:xfrm>
                      <a:off x="2726191" y="5391203"/>
                      <a:ext cx="1142899" cy="304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a:t>Probable, si</a:t>
                      </a:r>
                    </a:p>
                  </p:txBody>
                </p:sp>
                <p:sp>
                  <p:nvSpPr>
                    <p:cNvPr id="4123" name="11 Rectángulo"/>
                    <p:cNvSpPr>
                      <a:spLocks noChangeArrowheads="1"/>
                    </p:cNvSpPr>
                    <p:nvPr/>
                  </p:nvSpPr>
                  <p:spPr bwMode="auto">
                    <a:xfrm>
                      <a:off x="2726191" y="4800600"/>
                      <a:ext cx="1063531" cy="304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a:t>Seguro, si</a:t>
                      </a:r>
                    </a:p>
                  </p:txBody>
                </p:sp>
                <p:graphicFrame>
                  <p:nvGraphicFramePr>
                    <p:cNvPr id="4124" name="13 Objeto"/>
                    <p:cNvGraphicFramePr>
                      <a:graphicFrameLocks noChangeAspect="1"/>
                    </p:cNvGraphicFramePr>
                    <p:nvPr/>
                  </p:nvGraphicFramePr>
                  <p:xfrm>
                    <a:off x="3880080" y="4816277"/>
                    <a:ext cx="782637" cy="292100"/>
                  </p:xfrm>
                  <a:graphic>
                    <a:graphicData uri="http://schemas.openxmlformats.org/presentationml/2006/ole">
                      <mc:AlternateContent xmlns:mc="http://schemas.openxmlformats.org/markup-compatibility/2006">
                        <mc:Choice xmlns:v="urn:schemas-microsoft-com:vml" Requires="v">
                          <p:oleObj name="Equation" r:id="rId6" imgW="545626" imgH="203024" progId="Equation.DSMT4">
                            <p:embed/>
                          </p:oleObj>
                        </mc:Choice>
                        <mc:Fallback>
                          <p:oleObj name="Equation" r:id="rId6" imgW="545626" imgH="203024" progId="Equation.DSMT4">
                            <p:embed/>
                            <p:pic>
                              <p:nvPicPr>
                                <p:cNvPr id="4124" name="13 Objet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0080" y="4816277"/>
                                  <a:ext cx="78263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25" name="14 Objeto"/>
                    <p:cNvGraphicFramePr>
                      <a:graphicFrameLocks noChangeAspect="1"/>
                    </p:cNvGraphicFramePr>
                    <p:nvPr/>
                  </p:nvGraphicFramePr>
                  <p:xfrm>
                    <a:off x="3880080" y="5395616"/>
                    <a:ext cx="1092200" cy="292100"/>
                  </p:xfrm>
                  <a:graphic>
                    <a:graphicData uri="http://schemas.openxmlformats.org/presentationml/2006/ole">
                      <mc:AlternateContent xmlns:mc="http://schemas.openxmlformats.org/markup-compatibility/2006">
                        <mc:Choice xmlns:v="urn:schemas-microsoft-com:vml" Requires="v">
                          <p:oleObj name="Equation" r:id="rId8" imgW="761669" imgH="203112" progId="Equation.DSMT4">
                            <p:embed/>
                          </p:oleObj>
                        </mc:Choice>
                        <mc:Fallback>
                          <p:oleObj name="Equation" r:id="rId8" imgW="761669" imgH="203112" progId="Equation.DSMT4">
                            <p:embed/>
                            <p:pic>
                              <p:nvPicPr>
                                <p:cNvPr id="4125" name="14 Objet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0080" y="5395616"/>
                                  <a:ext cx="10922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26" name="16 Objeto"/>
                    <p:cNvGraphicFramePr>
                      <a:graphicFrameLocks noChangeAspect="1"/>
                    </p:cNvGraphicFramePr>
                    <p:nvPr/>
                  </p:nvGraphicFramePr>
                  <p:xfrm>
                    <a:off x="5540148" y="5091319"/>
                    <a:ext cx="874713" cy="328613"/>
                  </p:xfrm>
                  <a:graphic>
                    <a:graphicData uri="http://schemas.openxmlformats.org/presentationml/2006/ole">
                      <mc:AlternateContent xmlns:mc="http://schemas.openxmlformats.org/markup-compatibility/2006">
                        <mc:Choice xmlns:v="urn:schemas-microsoft-com:vml" Requires="v">
                          <p:oleObj name="Equation" r:id="rId10" imgW="609600" imgH="228600" progId="Equation.DSMT4">
                            <p:embed/>
                          </p:oleObj>
                        </mc:Choice>
                        <mc:Fallback>
                          <p:oleObj name="Equation" r:id="rId10" imgW="609600" imgH="228600" progId="Equation.DSMT4">
                            <p:embed/>
                            <p:pic>
                              <p:nvPicPr>
                                <p:cNvPr id="4126" name="16 Objeto"/>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40148" y="5091319"/>
                                  <a:ext cx="87471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27" name="17 Objeto"/>
                    <p:cNvGraphicFramePr>
                      <a:graphicFrameLocks noChangeAspect="1"/>
                    </p:cNvGraphicFramePr>
                    <p:nvPr/>
                  </p:nvGraphicFramePr>
                  <p:xfrm>
                    <a:off x="5540148" y="5670658"/>
                    <a:ext cx="909637" cy="328612"/>
                  </p:xfrm>
                  <a:graphic>
                    <a:graphicData uri="http://schemas.openxmlformats.org/presentationml/2006/ole">
                      <mc:AlternateContent xmlns:mc="http://schemas.openxmlformats.org/markup-compatibility/2006">
                        <mc:Choice xmlns:v="urn:schemas-microsoft-com:vml" Requires="v">
                          <p:oleObj name="Equation" r:id="rId12" imgW="634725" imgH="228501" progId="Equation.DSMT4">
                            <p:embed/>
                          </p:oleObj>
                        </mc:Choice>
                        <mc:Fallback>
                          <p:oleObj name="Equation" r:id="rId12" imgW="634725" imgH="228501" progId="Equation.DSMT4">
                            <p:embed/>
                            <p:pic>
                              <p:nvPicPr>
                                <p:cNvPr id="4127" name="17 Objet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40148" y="5670658"/>
                                  <a:ext cx="909637"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8" name="20 Rectángulo"/>
                    <p:cNvSpPr>
                      <a:spLocks noChangeArrowheads="1"/>
                    </p:cNvSpPr>
                    <p:nvPr/>
                  </p:nvSpPr>
                  <p:spPr bwMode="auto">
                    <a:xfrm>
                      <a:off x="5258030" y="5108603"/>
                      <a:ext cx="312709" cy="304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a:t>si</a:t>
                      </a:r>
                    </a:p>
                  </p:txBody>
                </p:sp>
                <p:sp>
                  <p:nvSpPr>
                    <p:cNvPr id="4129" name="22 Rectángulo"/>
                    <p:cNvSpPr>
                      <a:spLocks noChangeArrowheads="1"/>
                    </p:cNvSpPr>
                    <p:nvPr/>
                  </p:nvSpPr>
                  <p:spPr bwMode="auto">
                    <a:xfrm>
                      <a:off x="6519980" y="5692241"/>
                      <a:ext cx="903208" cy="30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a:t>A es raro</a:t>
                      </a:r>
                    </a:p>
                  </p:txBody>
                </p:sp>
                <p:sp>
                  <p:nvSpPr>
                    <p:cNvPr id="4130" name="23 Rectángulo"/>
                    <p:cNvSpPr>
                      <a:spLocks noChangeArrowheads="1"/>
                    </p:cNvSpPr>
                    <p:nvPr/>
                  </p:nvSpPr>
                  <p:spPr bwMode="auto">
                    <a:xfrm>
                      <a:off x="6519980" y="5114737"/>
                      <a:ext cx="1327033" cy="304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a:t>A es frecuente</a:t>
                      </a:r>
                    </a:p>
                  </p:txBody>
                </p:sp>
                <p:sp>
                  <p:nvSpPr>
                    <p:cNvPr id="26" name="25 Abrir llave"/>
                    <p:cNvSpPr/>
                    <p:nvPr/>
                  </p:nvSpPr>
                  <p:spPr>
                    <a:xfrm>
                      <a:off x="5056097" y="5110096"/>
                      <a:ext cx="214319" cy="86976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grpSp>
            </p:grpSp>
            <p:sp>
              <p:nvSpPr>
                <p:cNvPr id="4118" name="28 Rectángulo"/>
                <p:cNvSpPr>
                  <a:spLocks noChangeArrowheads="1"/>
                </p:cNvSpPr>
                <p:nvPr/>
              </p:nvSpPr>
              <p:spPr bwMode="auto">
                <a:xfrm>
                  <a:off x="609600" y="5029857"/>
                  <a:ext cx="1066835" cy="304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a:t>Posible, si</a:t>
                  </a:r>
                </a:p>
              </p:txBody>
            </p:sp>
            <p:graphicFrame>
              <p:nvGraphicFramePr>
                <p:cNvPr id="4119" name="29 Objeto"/>
                <p:cNvGraphicFramePr>
                  <a:graphicFrameLocks noChangeAspect="1"/>
                </p:cNvGraphicFramePr>
                <p:nvPr/>
              </p:nvGraphicFramePr>
              <p:xfrm>
                <a:off x="1543050" y="5047924"/>
                <a:ext cx="819150" cy="292100"/>
              </p:xfrm>
              <a:graphic>
                <a:graphicData uri="http://schemas.openxmlformats.org/presentationml/2006/ole">
                  <mc:AlternateContent xmlns:mc="http://schemas.openxmlformats.org/markup-compatibility/2006">
                    <mc:Choice xmlns:v="urn:schemas-microsoft-com:vml" Requires="v">
                      <p:oleObj name="Equation" r:id="rId14" imgW="571252" imgH="203112" progId="Equation.DSMT4">
                        <p:embed/>
                      </p:oleObj>
                    </mc:Choice>
                    <mc:Fallback>
                      <p:oleObj name="Equation" r:id="rId14" imgW="571252" imgH="203112" progId="Equation.DSMT4">
                        <p:embed/>
                        <p:pic>
                          <p:nvPicPr>
                            <p:cNvPr id="4119" name="29 Objeto"/>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3050" y="5047924"/>
                              <a:ext cx="8191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33" name="32 Abrir llave"/>
            <p:cNvSpPr/>
            <p:nvPr/>
          </p:nvSpPr>
          <p:spPr>
            <a:xfrm>
              <a:off x="350" y="2958"/>
              <a:ext cx="135" cy="78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ES"/>
            </a:p>
          </p:txBody>
        </p:sp>
      </p:grpSp>
      <p:sp>
        <p:nvSpPr>
          <p:cNvPr id="4108" name="9 Rectángulo"/>
          <p:cNvSpPr>
            <a:spLocks noChangeArrowheads="1"/>
          </p:cNvSpPr>
          <p:nvPr/>
        </p:nvSpPr>
        <p:spPr bwMode="auto">
          <a:xfrm>
            <a:off x="161924" y="194262"/>
            <a:ext cx="4105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800" b="1" dirty="0"/>
              <a:t>Concepto de probabilidad</a:t>
            </a:r>
            <a:endParaRPr lang="es-ES" altLang="es-ES" sz="1800" dirty="0">
              <a:solidFill>
                <a:srgbClr val="C00000"/>
              </a:solidFill>
            </a:endParaRPr>
          </a:p>
        </p:txBody>
      </p:sp>
      <p:sp>
        <p:nvSpPr>
          <p:cNvPr id="4109" name="6 Rectángulo"/>
          <p:cNvSpPr>
            <a:spLocks noChangeArrowheads="1"/>
          </p:cNvSpPr>
          <p:nvPr/>
        </p:nvSpPr>
        <p:spPr bwMode="auto">
          <a:xfrm>
            <a:off x="501650" y="6172200"/>
            <a:ext cx="81756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Es importante tener presente que la </a:t>
            </a:r>
            <a:r>
              <a:rPr lang="es-ES" altLang="es-ES" sz="1300" b="1" dirty="0"/>
              <a:t>probabilidad</a:t>
            </a:r>
            <a:r>
              <a:rPr lang="es-ES" altLang="es-ES" sz="1300" dirty="0"/>
              <a:t> </a:t>
            </a:r>
            <a:r>
              <a:rPr lang="es-ES" altLang="es-ES" sz="1300" b="1" dirty="0"/>
              <a:t>es una medida </a:t>
            </a:r>
            <a:r>
              <a:rPr lang="es-ES" altLang="es-ES" sz="1300" dirty="0"/>
              <a:t>(como si habláramos de la longitud o del peso) de lo </a:t>
            </a:r>
            <a:r>
              <a:rPr lang="es-ES" altLang="es-ES" sz="1300" b="1" i="1" dirty="0"/>
              <a:t>frecuente</a:t>
            </a:r>
            <a:r>
              <a:rPr lang="es-ES" altLang="es-ES" sz="1300" dirty="0"/>
              <a:t> o </a:t>
            </a:r>
            <a:r>
              <a:rPr lang="es-ES" altLang="es-ES" sz="1300" b="1" i="1" dirty="0"/>
              <a:t>infrecuente</a:t>
            </a:r>
            <a:r>
              <a:rPr lang="es-ES" altLang="es-ES" sz="1300" dirty="0"/>
              <a:t> (=raro) que resultar observar un determinado </a:t>
            </a:r>
            <a:r>
              <a:rPr lang="es-ES" altLang="es-ES" sz="1300" b="1" dirty="0"/>
              <a:t>suceso aleatorio</a:t>
            </a:r>
          </a:p>
        </p:txBody>
      </p:sp>
      <p:sp>
        <p:nvSpPr>
          <p:cNvPr id="4110" name="AutoShape 44"/>
          <p:cNvSpPr>
            <a:spLocks noChangeArrowheads="1"/>
          </p:cNvSpPr>
          <p:nvPr/>
        </p:nvSpPr>
        <p:spPr bwMode="auto">
          <a:xfrm>
            <a:off x="533400" y="6124575"/>
            <a:ext cx="8229600" cy="563563"/>
          </a:xfrm>
          <a:prstGeom prst="roundRect">
            <a:avLst>
              <a:gd name="adj" fmla="val 9028"/>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37" name="9 Rectángulo"/>
          <p:cNvSpPr>
            <a:spLocks noChangeArrowheads="1"/>
          </p:cNvSpPr>
          <p:nvPr/>
        </p:nvSpPr>
        <p:spPr bwMode="auto">
          <a:xfrm>
            <a:off x="228600" y="831079"/>
            <a:ext cx="317899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La probabilidad es una medida</a:t>
            </a:r>
            <a:endParaRPr lang="es-ES" altLang="es-ES" sz="1400" dirty="0">
              <a:solidFill>
                <a:srgbClr val="C00000"/>
              </a:solidFill>
            </a:endParaRPr>
          </a:p>
        </p:txBody>
      </p:sp>
      <p:sp>
        <p:nvSpPr>
          <p:cNvPr id="38" name="9 Rectángulo"/>
          <p:cNvSpPr>
            <a:spLocks noChangeArrowheads="1"/>
          </p:cNvSpPr>
          <p:nvPr/>
        </p:nvSpPr>
        <p:spPr bwMode="auto">
          <a:xfrm>
            <a:off x="228599" y="2057400"/>
            <a:ext cx="52882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No hay una definición única del concepto de Probabilidad</a:t>
            </a:r>
            <a:endParaRPr lang="es-ES" altLang="es-ES" sz="1400" dirty="0">
              <a:solidFill>
                <a:srgbClr val="C00000"/>
              </a:solidFill>
            </a:endParaRPr>
          </a:p>
        </p:txBody>
      </p:sp>
      <p:sp>
        <p:nvSpPr>
          <p:cNvPr id="39" name="1 Rectángulo">
            <a:extLst>
              <a:ext uri="{FF2B5EF4-FFF2-40B4-BE49-F238E27FC236}">
                <a16:creationId xmlns:a16="http://schemas.microsoft.com/office/drawing/2014/main" id="{F31D342F-46CD-48B8-B04B-30DC2FBA9B01}"/>
              </a:ext>
            </a:extLst>
          </p:cNvPr>
          <p:cNvSpPr>
            <a:spLocks noChangeArrowheads="1"/>
          </p:cNvSpPr>
          <p:nvPr/>
        </p:nvSpPr>
        <p:spPr bwMode="auto">
          <a:xfrm>
            <a:off x="502410" y="1550634"/>
            <a:ext cx="826059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i="1" dirty="0"/>
              <a:t>Probabilidad de un suceso </a:t>
            </a:r>
            <a:r>
              <a:rPr lang="es-ES" altLang="es-ES" sz="1600" dirty="0">
                <a:latin typeface="Times New Roman" panose="02020603050405020304" pitchFamily="18" charset="0"/>
                <a:cs typeface="Times New Roman" panose="02020603050405020304" pitchFamily="18" charset="0"/>
              </a:rPr>
              <a:t>A,</a:t>
            </a:r>
            <a:r>
              <a:rPr lang="es-ES" altLang="es-ES" sz="1600" i="1" dirty="0"/>
              <a:t> </a:t>
            </a:r>
            <a:r>
              <a:rPr lang="es-ES" altLang="es-ES" sz="1600" dirty="0">
                <a:latin typeface="Times New Roman" panose="02020603050405020304" pitchFamily="18" charset="0"/>
                <a:cs typeface="Times New Roman" panose="02020603050405020304" pitchFamily="18" charset="0"/>
              </a:rPr>
              <a:t>P(A)</a:t>
            </a:r>
            <a:r>
              <a:rPr lang="es-ES" altLang="es-ES" sz="1600" dirty="0"/>
              <a:t> </a:t>
            </a:r>
            <a:r>
              <a:rPr lang="es-ES" altLang="es-ES" sz="1400" dirty="0"/>
              <a:t>= medida de lo frecuente o lo extraño que resulta observar ese suceso </a:t>
            </a:r>
            <a:r>
              <a:rPr lang="es-ES" altLang="es-ES" sz="1400" dirty="0">
                <a:latin typeface="Times New Roman" panose="02020603050405020304" pitchFamily="18" charset="0"/>
                <a:cs typeface="Times New Roman" panose="02020603050405020304" pitchFamily="18" charset="0"/>
              </a:rPr>
              <a:t>A</a:t>
            </a:r>
            <a:endParaRPr lang="es-ES" altLang="es-ES" sz="1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9240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6"/>
          <p:cNvSpPr>
            <a:spLocks noChangeArrowheads="1"/>
          </p:cNvSpPr>
          <p:nvPr/>
        </p:nvSpPr>
        <p:spPr bwMode="auto">
          <a:xfrm>
            <a:off x="467544" y="317525"/>
            <a:ext cx="8208912" cy="227754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_tradnl" altLang="es-ES" sz="2200" b="1" dirty="0">
                <a:solidFill>
                  <a:schemeClr val="tx1"/>
                </a:solidFill>
                <a:cs typeface="Times New Roman" pitchFamily="18" charset="0"/>
              </a:rPr>
              <a:t>Definición Frecuentista de la Probabilidad</a:t>
            </a:r>
            <a:endParaRPr lang="es-ES_tradnl" altLang="es-ES" b="1" dirty="0">
              <a:solidFill>
                <a:schemeClr val="tx1"/>
              </a:solidFill>
              <a:cs typeface="Times New Roman" pitchFamily="18" charset="0"/>
            </a:endParaRPr>
          </a:p>
          <a:p>
            <a:pPr algn="just"/>
            <a:endParaRPr lang="es-ES_tradnl" altLang="es-ES" sz="2000" dirty="0">
              <a:solidFill>
                <a:schemeClr val="tx1"/>
              </a:solidFill>
              <a:cs typeface="Times New Roman" pitchFamily="18" charset="0"/>
            </a:endParaRPr>
          </a:p>
          <a:p>
            <a:pPr algn="just"/>
            <a:r>
              <a:rPr lang="es-ES_tradnl" altLang="es-ES" sz="2000" dirty="0">
                <a:solidFill>
                  <a:schemeClr val="tx1"/>
                </a:solidFill>
                <a:cs typeface="Times New Roman" pitchFamily="18" charset="0"/>
              </a:rPr>
              <a:t>Si en un experimento aleatorio se define un suceso </a:t>
            </a:r>
            <a:r>
              <a:rPr lang="es-ES_tradnl" altLang="es-ES" sz="2000" i="1" dirty="0">
                <a:solidFill>
                  <a:schemeClr val="tx1"/>
                </a:solidFill>
                <a:cs typeface="Times New Roman" pitchFamily="18" charset="0"/>
              </a:rPr>
              <a:t>A</a:t>
            </a:r>
            <a:r>
              <a:rPr lang="es-ES_tradnl" altLang="es-ES" sz="2000" dirty="0">
                <a:solidFill>
                  <a:schemeClr val="tx1"/>
                </a:solidFill>
                <a:cs typeface="Times New Roman" pitchFamily="18" charset="0"/>
              </a:rPr>
              <a:t> como cualquier resultado del experimento, entonces la probabilidad de que ocurra el suceso </a:t>
            </a:r>
            <a:r>
              <a:rPr lang="es-ES_tradnl" altLang="es-ES" sz="2000" i="1" dirty="0">
                <a:solidFill>
                  <a:schemeClr val="tx1"/>
                </a:solidFill>
                <a:cs typeface="Times New Roman" pitchFamily="18" charset="0"/>
              </a:rPr>
              <a:t>A </a:t>
            </a:r>
            <a:r>
              <a:rPr lang="es-ES_tradnl" altLang="es-ES" sz="2000" dirty="0">
                <a:solidFill>
                  <a:schemeClr val="tx1"/>
                </a:solidFill>
                <a:cs typeface="Times New Roman" pitchFamily="18" charset="0"/>
              </a:rPr>
              <a:t>es el límite de la frecuencia relativa con la que aparece dicho suceso cuando el número de repeticiones del experimento aleatorio tiende a </a:t>
            </a:r>
            <a:r>
              <a:rPr lang="es-ES_tradnl" altLang="es-ES" sz="2000" b="1" dirty="0">
                <a:solidFill>
                  <a:srgbClr val="FF0000"/>
                </a:solidFill>
                <a:cs typeface="Times New Roman" pitchFamily="18" charset="0"/>
              </a:rPr>
              <a:t>infinito</a:t>
            </a:r>
            <a:r>
              <a:rPr lang="es-ES_tradnl" altLang="es-ES" sz="2000" dirty="0">
                <a:solidFill>
                  <a:schemeClr val="tx1"/>
                </a:solidFill>
                <a:cs typeface="Times New Roman" pitchFamily="18" charset="0"/>
              </a:rPr>
              <a:t>. Es decir,</a:t>
            </a:r>
            <a:endParaRPr lang="es-ES_tradnl" altLang="es-ES" sz="2000" dirty="0">
              <a:solidFill>
                <a:schemeClr val="tx1"/>
              </a:solidFill>
            </a:endParaRPr>
          </a:p>
        </p:txBody>
      </p:sp>
      <mc:AlternateContent xmlns:mc="http://schemas.openxmlformats.org/markup-compatibility/2006" xmlns:a14="http://schemas.microsoft.com/office/drawing/2010/main">
        <mc:Choice Requires="a14">
          <p:sp>
            <p:nvSpPr>
              <p:cNvPr id="7" name="Rectangle 5"/>
              <p:cNvSpPr>
                <a:spLocks noChangeArrowheads="1"/>
              </p:cNvSpPr>
              <p:nvPr/>
            </p:nvSpPr>
            <p:spPr bwMode="auto">
              <a:xfrm>
                <a:off x="395536" y="2924944"/>
                <a:ext cx="8208912" cy="3816429"/>
              </a:xfrm>
              <a:prstGeom prst="rect">
                <a:avLst/>
              </a:prstGeom>
              <a:noFill/>
              <a:ln>
                <a:noFill/>
              </a:ln>
              <a:effectLst/>
              <a:extLst>
                <a:ext uri="{909E8E84-426E-40DD-AFC4-6F175D3DCCD1}">
                  <a14:hiddenFill>
                    <a:solidFill>
                      <a:srgbClr val="C0C0C0">
                        <a:alpha val="50195"/>
                      </a:srgbClr>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es-ES_tradnl" altLang="es-ES" sz="2200" b="1" dirty="0">
                    <a:solidFill>
                      <a:schemeClr val="tx1"/>
                    </a:solidFill>
                    <a:cs typeface="Times New Roman" pitchFamily="18" charset="0"/>
                  </a:rPr>
                  <a:t>Definición axiomática de la Probabilidad</a:t>
                </a:r>
              </a:p>
              <a:p>
                <a:pPr algn="just"/>
                <a:r>
                  <a:rPr lang="es-ES_tradnl" altLang="es-ES" sz="2000" dirty="0">
                    <a:solidFill>
                      <a:schemeClr val="tx1"/>
                    </a:solidFill>
                    <a:cs typeface="Times New Roman" pitchFamily="18" charset="0"/>
                  </a:rPr>
                  <a:t>La probabilidad de que ocurra un suceso </a:t>
                </a:r>
                <a:r>
                  <a:rPr lang="es-ES_tradnl" altLang="es-ES" sz="2000" i="1" dirty="0">
                    <a:solidFill>
                      <a:schemeClr val="tx1"/>
                    </a:solidFill>
                    <a:cs typeface="Times New Roman" pitchFamily="18" charset="0"/>
                  </a:rPr>
                  <a:t>A</a:t>
                </a:r>
                <a:r>
                  <a:rPr lang="es-ES_tradnl" altLang="es-ES" sz="2000" dirty="0">
                    <a:solidFill>
                      <a:schemeClr val="tx1"/>
                    </a:solidFill>
                    <a:cs typeface="Times New Roman" pitchFamily="18" charset="0"/>
                  </a:rPr>
                  <a:t> en un experimento aleatorio es un valor que verifica una serie de axiomas (propiedades), entre ellos:</a:t>
                </a:r>
              </a:p>
              <a:p>
                <a:pPr algn="just"/>
                <a:endParaRPr lang="es-ES_tradnl" altLang="es-ES" sz="2000" dirty="0">
                  <a:solidFill>
                    <a:schemeClr val="tx1"/>
                  </a:solidFill>
                  <a:cs typeface="Times New Roman" pitchFamily="18" charset="0"/>
                </a:endParaRPr>
              </a:p>
              <a:p>
                <a:pPr lvl="1" algn="just"/>
                <a:r>
                  <a:rPr lang="es-ES_tradnl" altLang="es-ES" sz="2000" dirty="0">
                    <a:solidFill>
                      <a:schemeClr val="tx1"/>
                    </a:solidFill>
                    <a:cs typeface="Times New Roman" pitchFamily="18" charset="0"/>
                  </a:rPr>
                  <a:t>a). </a:t>
                </a:r>
                <a14:m>
                  <m:oMath xmlns:m="http://schemas.openxmlformats.org/officeDocument/2006/math">
                    <m:r>
                      <a:rPr lang="es-ES" altLang="es-ES" sz="2000" b="0" i="1" smtClean="0">
                        <a:solidFill>
                          <a:schemeClr val="tx1"/>
                        </a:solidFill>
                        <a:latin typeface="Cambria Math"/>
                        <a:cs typeface="Times New Roman" pitchFamily="18" charset="0"/>
                      </a:rPr>
                      <m:t>0</m:t>
                    </m:r>
                    <m:r>
                      <a:rPr lang="es-ES" altLang="es-ES" sz="2000" b="0" i="1" smtClean="0">
                        <a:solidFill>
                          <a:schemeClr val="tx1"/>
                        </a:solidFill>
                        <a:latin typeface="Cambria Math"/>
                        <a:ea typeface="Cambria Math"/>
                        <a:cs typeface="Times New Roman" pitchFamily="18" charset="0"/>
                      </a:rPr>
                      <m:t>≤</m:t>
                    </m:r>
                    <m:r>
                      <a:rPr lang="es-ES" altLang="es-ES" sz="2000" b="0" i="1" smtClean="0">
                        <a:solidFill>
                          <a:schemeClr val="tx1"/>
                        </a:solidFill>
                        <a:latin typeface="Cambria Math"/>
                        <a:ea typeface="Cambria Math"/>
                        <a:cs typeface="Times New Roman" pitchFamily="18" charset="0"/>
                      </a:rPr>
                      <m:t>𝑃</m:t>
                    </m:r>
                    <m:r>
                      <a:rPr lang="es-ES" altLang="es-ES" sz="2000" b="0" i="1" smtClean="0">
                        <a:solidFill>
                          <a:schemeClr val="tx1"/>
                        </a:solidFill>
                        <a:latin typeface="Cambria Math"/>
                        <a:ea typeface="Cambria Math"/>
                        <a:cs typeface="Times New Roman" pitchFamily="18" charset="0"/>
                      </a:rPr>
                      <m:t>(</m:t>
                    </m:r>
                    <m:r>
                      <a:rPr lang="es-ES" altLang="es-ES" sz="2000" b="0" i="1" smtClean="0">
                        <a:solidFill>
                          <a:schemeClr val="tx1"/>
                        </a:solidFill>
                        <a:latin typeface="Cambria Math"/>
                        <a:ea typeface="Cambria Math"/>
                        <a:cs typeface="Times New Roman" pitchFamily="18" charset="0"/>
                      </a:rPr>
                      <m:t>𝐴</m:t>
                    </m:r>
                    <m:r>
                      <a:rPr lang="es-ES" altLang="es-ES" sz="2000" b="0" i="1" smtClean="0">
                        <a:solidFill>
                          <a:schemeClr val="tx1"/>
                        </a:solidFill>
                        <a:latin typeface="Cambria Math"/>
                        <a:ea typeface="Cambria Math"/>
                        <a:cs typeface="Times New Roman" pitchFamily="18" charset="0"/>
                      </a:rPr>
                      <m:t>)≤1</m:t>
                    </m:r>
                  </m:oMath>
                </a14:m>
                <a:r>
                  <a:rPr lang="es-ES_tradnl" altLang="es-ES" sz="2000" dirty="0">
                    <a:solidFill>
                      <a:schemeClr val="tx1"/>
                    </a:solidFill>
                    <a:latin typeface="+mn-lt"/>
                    <a:cs typeface="Times New Roman" pitchFamily="18" charset="0"/>
                  </a:rPr>
                  <a:t>.</a:t>
                </a:r>
                <a:r>
                  <a:rPr lang="es-ES_tradnl" altLang="es-ES" sz="2000" dirty="0">
                    <a:solidFill>
                      <a:schemeClr val="tx1"/>
                    </a:solidFill>
                    <a:cs typeface="Times New Roman" pitchFamily="18" charset="0"/>
                  </a:rPr>
                  <a:t> </a:t>
                </a:r>
              </a:p>
              <a:p>
                <a:pPr lvl="1" algn="just"/>
                <a:endParaRPr lang="es-ES_tradnl" altLang="es-ES" sz="2000" dirty="0">
                  <a:solidFill>
                    <a:schemeClr val="tx1"/>
                  </a:solidFill>
                  <a:cs typeface="Times New Roman" pitchFamily="18" charset="0"/>
                </a:endParaRPr>
              </a:p>
              <a:p>
                <a:pPr lvl="1" algn="just"/>
                <a:r>
                  <a:rPr lang="es-ES_tradnl" altLang="es-ES" sz="2000" dirty="0">
                    <a:solidFill>
                      <a:schemeClr val="tx1"/>
                    </a:solidFill>
                    <a:cs typeface="Times New Roman" pitchFamily="18" charset="0"/>
                  </a:rPr>
                  <a:t>b). Si </a:t>
                </a:r>
                <a14:m>
                  <m:oMath xmlns:m="http://schemas.openxmlformats.org/officeDocument/2006/math">
                    <m:r>
                      <a:rPr lang="es-ES" altLang="es-ES" sz="2000" b="0" i="1" smtClean="0">
                        <a:solidFill>
                          <a:schemeClr val="tx1"/>
                        </a:solidFill>
                        <a:latin typeface="Cambria Math"/>
                        <a:cs typeface="Times New Roman" pitchFamily="18" charset="0"/>
                      </a:rPr>
                      <m:t>𝑃</m:t>
                    </m:r>
                    <m:d>
                      <m:dPr>
                        <m:ctrlPr>
                          <a:rPr lang="es-ES" altLang="es-ES" sz="2000" b="0" i="1" smtClean="0">
                            <a:solidFill>
                              <a:schemeClr val="tx1"/>
                            </a:solidFill>
                            <a:latin typeface="Cambria Math" panose="02040503050406030204" pitchFamily="18" charset="0"/>
                            <a:cs typeface="Times New Roman" pitchFamily="18" charset="0"/>
                          </a:rPr>
                        </m:ctrlPr>
                      </m:dPr>
                      <m:e>
                        <m:r>
                          <a:rPr lang="es-ES" altLang="es-ES" sz="2000" b="0" i="1" smtClean="0">
                            <a:solidFill>
                              <a:schemeClr val="tx1"/>
                            </a:solidFill>
                            <a:latin typeface="Cambria Math"/>
                            <a:cs typeface="Times New Roman" pitchFamily="18" charset="0"/>
                          </a:rPr>
                          <m:t>𝐴</m:t>
                        </m:r>
                      </m:e>
                    </m:d>
                    <m:r>
                      <a:rPr lang="es-ES" altLang="es-ES" sz="2000" b="0" i="1" smtClean="0">
                        <a:solidFill>
                          <a:schemeClr val="tx1"/>
                        </a:solidFill>
                        <a:latin typeface="Cambria Math"/>
                        <a:cs typeface="Times New Roman" pitchFamily="18" charset="0"/>
                      </a:rPr>
                      <m:t>=0</m:t>
                    </m:r>
                  </m:oMath>
                </a14:m>
                <a:r>
                  <a:rPr lang="es-ES_tradnl" altLang="es-ES" sz="2000" dirty="0">
                    <a:solidFill>
                      <a:schemeClr val="tx1"/>
                    </a:solidFill>
                    <a:latin typeface="+mn-lt"/>
                    <a:cs typeface="Times New Roman" pitchFamily="18" charset="0"/>
                  </a:rPr>
                  <a:t>, entonces </a:t>
                </a:r>
                <a:r>
                  <a:rPr lang="es-ES_tradnl" altLang="es-ES" sz="2000" dirty="0">
                    <a:solidFill>
                      <a:schemeClr val="tx1"/>
                    </a:solidFill>
                    <a:cs typeface="Times New Roman" pitchFamily="18" charset="0"/>
                  </a:rPr>
                  <a:t>el suceso </a:t>
                </a:r>
                <a:r>
                  <a:rPr lang="es-ES_tradnl" altLang="es-ES" sz="2000" i="1" dirty="0">
                    <a:solidFill>
                      <a:schemeClr val="tx1"/>
                    </a:solidFill>
                    <a:cs typeface="Times New Roman" pitchFamily="18" charset="0"/>
                  </a:rPr>
                  <a:t>A</a:t>
                </a:r>
                <a:r>
                  <a:rPr lang="es-ES_tradnl" altLang="es-ES" sz="2000" dirty="0">
                    <a:solidFill>
                      <a:schemeClr val="tx1"/>
                    </a:solidFill>
                    <a:cs typeface="Times New Roman" pitchFamily="18" charset="0"/>
                  </a:rPr>
                  <a:t> no ocurre nunca y se denomina suceso imposible.</a:t>
                </a:r>
              </a:p>
              <a:p>
                <a:pPr lvl="1" algn="just"/>
                <a:endParaRPr lang="es-ES_tradnl" altLang="es-ES" sz="2000" dirty="0">
                  <a:solidFill>
                    <a:schemeClr val="tx1"/>
                  </a:solidFill>
                  <a:cs typeface="Times New Roman" pitchFamily="18" charset="0"/>
                </a:endParaRPr>
              </a:p>
              <a:p>
                <a:pPr lvl="1" algn="just"/>
                <a:r>
                  <a:rPr lang="es-ES_tradnl" altLang="es-ES" sz="2000" dirty="0">
                    <a:solidFill>
                      <a:schemeClr val="tx1"/>
                    </a:solidFill>
                    <a:cs typeface="Times New Roman" pitchFamily="18" charset="0"/>
                  </a:rPr>
                  <a:t>c). Si </a:t>
                </a:r>
                <a14:m>
                  <m:oMath xmlns:m="http://schemas.openxmlformats.org/officeDocument/2006/math">
                    <m:r>
                      <a:rPr lang="es-ES" altLang="es-ES" sz="2000" b="0" i="1" smtClean="0">
                        <a:solidFill>
                          <a:schemeClr val="tx1"/>
                        </a:solidFill>
                        <a:latin typeface="Cambria Math"/>
                        <a:cs typeface="Times New Roman" pitchFamily="18" charset="0"/>
                      </a:rPr>
                      <m:t>𝑃</m:t>
                    </m:r>
                    <m:d>
                      <m:dPr>
                        <m:ctrlPr>
                          <a:rPr lang="es-ES" altLang="es-ES" sz="2000" b="0" i="1" smtClean="0">
                            <a:solidFill>
                              <a:schemeClr val="tx1"/>
                            </a:solidFill>
                            <a:latin typeface="Cambria Math" panose="02040503050406030204" pitchFamily="18" charset="0"/>
                            <a:cs typeface="Times New Roman" pitchFamily="18" charset="0"/>
                          </a:rPr>
                        </m:ctrlPr>
                      </m:dPr>
                      <m:e>
                        <m:r>
                          <a:rPr lang="es-ES" altLang="es-ES" sz="2000" b="0" i="1" smtClean="0">
                            <a:solidFill>
                              <a:schemeClr val="tx1"/>
                            </a:solidFill>
                            <a:latin typeface="Cambria Math"/>
                            <a:cs typeface="Times New Roman" pitchFamily="18" charset="0"/>
                          </a:rPr>
                          <m:t>𝐴</m:t>
                        </m:r>
                      </m:e>
                    </m:d>
                    <m:r>
                      <a:rPr lang="es-ES" altLang="es-ES" sz="2000" b="0" i="1" smtClean="0">
                        <a:solidFill>
                          <a:schemeClr val="tx1"/>
                        </a:solidFill>
                        <a:latin typeface="Cambria Math"/>
                        <a:cs typeface="Times New Roman" pitchFamily="18" charset="0"/>
                      </a:rPr>
                      <m:t>=1</m:t>
                    </m:r>
                  </m:oMath>
                </a14:m>
                <a:r>
                  <a:rPr lang="es-ES_tradnl" altLang="es-ES" sz="2000" dirty="0">
                    <a:solidFill>
                      <a:schemeClr val="tx1"/>
                    </a:solidFill>
                    <a:cs typeface="Times New Roman" pitchFamily="18" charset="0"/>
                  </a:rPr>
                  <a:t>, entonces el suceso </a:t>
                </a:r>
                <a:r>
                  <a:rPr lang="es-ES_tradnl" altLang="es-ES" sz="2000" i="1" dirty="0">
                    <a:solidFill>
                      <a:schemeClr val="tx1"/>
                    </a:solidFill>
                    <a:cs typeface="Times New Roman" pitchFamily="18" charset="0"/>
                  </a:rPr>
                  <a:t>A</a:t>
                </a:r>
                <a:r>
                  <a:rPr lang="es-ES_tradnl" altLang="es-ES" sz="2000" dirty="0">
                    <a:solidFill>
                      <a:schemeClr val="tx1"/>
                    </a:solidFill>
                    <a:cs typeface="Times New Roman" pitchFamily="18" charset="0"/>
                  </a:rPr>
                  <a:t> ocurre siempre y se denomina suceso seguro.</a:t>
                </a:r>
                <a:endParaRPr lang="en-GB" altLang="es-ES" sz="2000" dirty="0">
                  <a:solidFill>
                    <a:schemeClr val="tx1"/>
                  </a:solidFill>
                  <a:cs typeface="Times New Roman" pitchFamily="18" charset="0"/>
                </a:endParaRPr>
              </a:p>
            </p:txBody>
          </p:sp>
        </mc:Choice>
        <mc:Fallback xmlns="">
          <p:sp>
            <p:nvSpPr>
              <p:cNvPr id="7" name="Rectangle 5"/>
              <p:cNvSpPr>
                <a:spLocks noRot="1" noChangeAspect="1" noMove="1" noResize="1" noEditPoints="1" noAdjustHandles="1" noChangeArrowheads="1" noChangeShapeType="1" noTextEdit="1"/>
              </p:cNvSpPr>
              <p:nvPr/>
            </p:nvSpPr>
            <p:spPr bwMode="auto">
              <a:xfrm>
                <a:off x="395536" y="2924944"/>
                <a:ext cx="8208912" cy="3816429"/>
              </a:xfrm>
              <a:prstGeom prst="rect">
                <a:avLst/>
              </a:prstGeom>
              <a:blipFill>
                <a:blip r:embed="rId2"/>
                <a:stretch>
                  <a:fillRect l="-1082" t="-997" r="-773" b="-2326"/>
                </a:stretch>
              </a:blip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1 CuadroTexto"/>
              <p:cNvSpPr txBox="1"/>
              <p:nvPr/>
            </p:nvSpPr>
            <p:spPr>
              <a:xfrm>
                <a:off x="3352800" y="2396516"/>
                <a:ext cx="2645932" cy="4529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ES" sz="1800" b="0" i="1" smtClean="0">
                          <a:solidFill>
                            <a:schemeClr val="tx1"/>
                          </a:solidFill>
                          <a:latin typeface="Cambria Math"/>
                        </a:rPr>
                        <m:t>𝑃</m:t>
                      </m:r>
                      <m:d>
                        <m:dPr>
                          <m:ctrlPr>
                            <a:rPr lang="es-ES" sz="1800" b="0" i="1" smtClean="0">
                              <a:solidFill>
                                <a:schemeClr val="tx1"/>
                              </a:solidFill>
                              <a:latin typeface="Cambria Math" panose="02040503050406030204" pitchFamily="18" charset="0"/>
                            </a:rPr>
                          </m:ctrlPr>
                        </m:dPr>
                        <m:e>
                          <m:r>
                            <a:rPr lang="es-ES" sz="1800" b="0" i="1" smtClean="0">
                              <a:solidFill>
                                <a:schemeClr val="tx1"/>
                              </a:solidFill>
                              <a:latin typeface="Cambria Math"/>
                            </a:rPr>
                            <m:t>𝐴</m:t>
                          </m:r>
                        </m:e>
                      </m:d>
                      <m:r>
                        <a:rPr lang="es-ES" sz="1800" b="0" i="1" smtClean="0">
                          <a:solidFill>
                            <a:schemeClr val="tx1"/>
                          </a:solidFill>
                          <a:latin typeface="Cambria Math"/>
                        </a:rPr>
                        <m:t>=</m:t>
                      </m:r>
                      <m:func>
                        <m:funcPr>
                          <m:ctrlPr>
                            <a:rPr lang="es-ES" sz="1800" i="1" smtClean="0">
                              <a:solidFill>
                                <a:schemeClr val="tx1"/>
                              </a:solidFill>
                              <a:latin typeface="Cambria Math" panose="02040503050406030204" pitchFamily="18" charset="0"/>
                            </a:rPr>
                          </m:ctrlPr>
                        </m:funcPr>
                        <m:fName>
                          <m:limLow>
                            <m:limLowPr>
                              <m:ctrlPr>
                                <a:rPr lang="es-ES" sz="1800" i="1" smtClean="0">
                                  <a:solidFill>
                                    <a:schemeClr val="tx1"/>
                                  </a:solidFill>
                                  <a:latin typeface="Cambria Math" panose="02040503050406030204" pitchFamily="18" charset="0"/>
                                </a:rPr>
                              </m:ctrlPr>
                            </m:limLowPr>
                            <m:e>
                              <m:r>
                                <m:rPr>
                                  <m:sty m:val="p"/>
                                </m:rPr>
                                <a:rPr lang="es-ES" sz="1800" i="0" smtClean="0">
                                  <a:solidFill>
                                    <a:schemeClr val="tx1"/>
                                  </a:solidFill>
                                  <a:latin typeface="Cambria Math"/>
                                </a:rPr>
                                <m:t>lim</m:t>
                              </m:r>
                            </m:e>
                            <m:lim>
                              <m:r>
                                <a:rPr lang="es-ES" sz="1800" b="0" i="1" smtClean="0">
                                  <a:solidFill>
                                    <a:schemeClr val="tx1"/>
                                  </a:solidFill>
                                  <a:latin typeface="Cambria Math"/>
                                </a:rPr>
                                <m:t>𝑛</m:t>
                              </m:r>
                              <m:r>
                                <a:rPr lang="es-ES" sz="1800" b="0" i="1" smtClean="0">
                                  <a:solidFill>
                                    <a:schemeClr val="tx1"/>
                                  </a:solidFill>
                                  <a:latin typeface="Cambria Math"/>
                                  <a:ea typeface="Cambria Math"/>
                                </a:rPr>
                                <m:t>→∞</m:t>
                              </m:r>
                            </m:lim>
                          </m:limLow>
                        </m:fName>
                        <m:e>
                          <m:sSub>
                            <m:sSubPr>
                              <m:ctrlPr>
                                <a:rPr lang="es-ES" sz="1800" b="0" i="1" smtClean="0">
                                  <a:solidFill>
                                    <a:schemeClr val="tx1"/>
                                  </a:solidFill>
                                  <a:latin typeface="Cambria Math" panose="02040503050406030204" pitchFamily="18" charset="0"/>
                                </a:rPr>
                              </m:ctrlPr>
                            </m:sSubPr>
                            <m:e>
                              <m:r>
                                <a:rPr lang="es-ES" sz="1800" b="0" i="1" smtClean="0">
                                  <a:solidFill>
                                    <a:schemeClr val="tx1"/>
                                  </a:solidFill>
                                  <a:latin typeface="Cambria Math"/>
                                </a:rPr>
                                <m:t>h</m:t>
                              </m:r>
                            </m:e>
                            <m:sub>
                              <m:r>
                                <a:rPr lang="es-ES" sz="1800" b="0" i="1" smtClean="0">
                                  <a:solidFill>
                                    <a:schemeClr val="tx1"/>
                                  </a:solidFill>
                                  <a:latin typeface="Cambria Math"/>
                                </a:rPr>
                                <m:t>𝑛</m:t>
                              </m:r>
                            </m:sub>
                          </m:sSub>
                          <m:r>
                            <a:rPr lang="es-ES" sz="1800" b="0" i="1" smtClean="0">
                              <a:solidFill>
                                <a:schemeClr val="tx1"/>
                              </a:solidFill>
                              <a:latin typeface="Cambria Math"/>
                            </a:rPr>
                            <m:t>(</m:t>
                          </m:r>
                          <m:r>
                            <a:rPr lang="es-ES" sz="1800" b="0" i="1" smtClean="0">
                              <a:solidFill>
                                <a:schemeClr val="tx1"/>
                              </a:solidFill>
                              <a:latin typeface="Cambria Math"/>
                            </a:rPr>
                            <m:t>𝐴</m:t>
                          </m:r>
                          <m:r>
                            <a:rPr lang="es-ES" sz="1800" b="0" i="1" smtClean="0">
                              <a:solidFill>
                                <a:schemeClr val="tx1"/>
                              </a:solidFill>
                              <a:latin typeface="Cambria Math"/>
                            </a:rPr>
                            <m:t>)</m:t>
                          </m:r>
                        </m:e>
                      </m:func>
                    </m:oMath>
                  </m:oMathPara>
                </a14:m>
                <a:endParaRPr lang="es-ES" sz="1800" dirty="0">
                  <a:solidFill>
                    <a:schemeClr val="tx1"/>
                  </a:solidFill>
                  <a:latin typeface="+mn-lt"/>
                </a:endParaRPr>
              </a:p>
            </p:txBody>
          </p:sp>
        </mc:Choice>
        <mc:Fallback xmlns="">
          <p:sp>
            <p:nvSpPr>
              <p:cNvPr id="2" name="1 CuadroTexto"/>
              <p:cNvSpPr txBox="1">
                <a:spLocks noRot="1" noChangeAspect="1" noMove="1" noResize="1" noEditPoints="1" noAdjustHandles="1" noChangeArrowheads="1" noChangeShapeType="1" noTextEdit="1"/>
              </p:cNvSpPr>
              <p:nvPr/>
            </p:nvSpPr>
            <p:spPr>
              <a:xfrm>
                <a:off x="3352800" y="2396516"/>
                <a:ext cx="2645932" cy="452945"/>
              </a:xfrm>
              <a:prstGeom prst="rect">
                <a:avLst/>
              </a:prstGeom>
              <a:blipFill>
                <a:blip r:embed="rId3"/>
                <a:stretch>
                  <a:fillRect/>
                </a:stretch>
              </a:blipFill>
            </p:spPr>
            <p:txBody>
              <a:bodyPr/>
              <a:lstStyle/>
              <a:p>
                <a:r>
                  <a:rPr lang="en-US">
                    <a:noFill/>
                  </a:rPr>
                  <a:t> </a:t>
                </a:r>
              </a:p>
            </p:txBody>
          </p:sp>
        </mc:Fallback>
      </mc:AlternateContent>
      <p:sp>
        <p:nvSpPr>
          <p:cNvPr id="3" name="2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8</a:t>
            </a:fld>
            <a:endParaRPr lang="en-GB" altLang="es-E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30 Grupo"/>
          <p:cNvGrpSpPr>
            <a:grpSpLocks/>
          </p:cNvGrpSpPr>
          <p:nvPr/>
        </p:nvGrpSpPr>
        <p:grpSpPr bwMode="auto">
          <a:xfrm>
            <a:off x="5335835" y="890785"/>
            <a:ext cx="3421062" cy="5891015"/>
            <a:chOff x="5427409" y="825500"/>
            <a:chExt cx="3421365" cy="5891042"/>
          </a:xfrm>
        </p:grpSpPr>
        <p:grpSp>
          <p:nvGrpSpPr>
            <p:cNvPr id="5140" name="2 Grupo"/>
            <p:cNvGrpSpPr>
              <a:grpSpLocks/>
            </p:cNvGrpSpPr>
            <p:nvPr/>
          </p:nvGrpSpPr>
          <p:grpSpPr bwMode="auto">
            <a:xfrm>
              <a:off x="5705426" y="838200"/>
              <a:ext cx="3133774" cy="5570763"/>
              <a:chOff x="5400627" y="1058637"/>
              <a:chExt cx="3133774" cy="5570763"/>
            </a:xfrm>
          </p:grpSpPr>
          <p:pic>
            <p:nvPicPr>
              <p:cNvPr id="51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0627" y="1058637"/>
                <a:ext cx="3133774" cy="1769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627" y="2950028"/>
                <a:ext cx="3133774" cy="1775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6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0627" y="4832333"/>
                <a:ext cx="3133774" cy="1797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cxnSp>
          <p:nvCxnSpPr>
            <p:cNvPr id="5" name="4 Conector recto"/>
            <p:cNvCxnSpPr/>
            <p:nvPr/>
          </p:nvCxnSpPr>
          <p:spPr>
            <a:xfrm flipV="1">
              <a:off x="5705246" y="5510234"/>
              <a:ext cx="3134003" cy="0"/>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flipV="1">
              <a:off x="5714771" y="3641738"/>
              <a:ext cx="3134003" cy="0"/>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flipV="1">
              <a:off x="5714771" y="1660529"/>
              <a:ext cx="3134003" cy="0"/>
            </a:xfrm>
            <a:prstGeom prst="line">
              <a:avLst/>
            </a:prstGeom>
            <a:ln w="12700">
              <a:solidFill>
                <a:srgbClr val="FFC000"/>
              </a:solidFill>
              <a:prstDash val="sysDash"/>
            </a:ln>
          </p:spPr>
          <p:style>
            <a:lnRef idx="1">
              <a:schemeClr val="accent1"/>
            </a:lnRef>
            <a:fillRef idx="0">
              <a:schemeClr val="accent1"/>
            </a:fillRef>
            <a:effectRef idx="0">
              <a:schemeClr val="accent1"/>
            </a:effectRef>
            <a:fontRef idx="minor">
              <a:schemeClr val="tx1"/>
            </a:fontRef>
          </p:style>
        </p:cxnSp>
        <p:grpSp>
          <p:nvGrpSpPr>
            <p:cNvPr id="5144" name="17 Grupo"/>
            <p:cNvGrpSpPr>
              <a:grpSpLocks/>
            </p:cNvGrpSpPr>
            <p:nvPr/>
          </p:nvGrpSpPr>
          <p:grpSpPr bwMode="auto">
            <a:xfrm>
              <a:off x="5428055" y="4611896"/>
              <a:ext cx="275579" cy="1840610"/>
              <a:chOff x="5428055" y="4611896"/>
              <a:chExt cx="275579" cy="1840610"/>
            </a:xfrm>
          </p:grpSpPr>
          <p:graphicFrame>
            <p:nvGraphicFramePr>
              <p:cNvPr id="5157" name="22 Objeto"/>
              <p:cNvGraphicFramePr>
                <a:graphicFrameLocks noChangeAspect="1"/>
              </p:cNvGraphicFramePr>
              <p:nvPr/>
            </p:nvGraphicFramePr>
            <p:xfrm>
              <a:off x="5428055" y="6247718"/>
              <a:ext cx="275579" cy="204788"/>
            </p:xfrm>
            <a:graphic>
              <a:graphicData uri="http://schemas.openxmlformats.org/presentationml/2006/ole">
                <mc:AlternateContent xmlns:mc="http://schemas.openxmlformats.org/markup-compatibility/2006">
                  <mc:Choice xmlns:v="urn:schemas-microsoft-com:vml" Requires="v">
                    <p:oleObj name="Equation" r:id="rId5" imgW="241091" imgH="177646" progId="Equation.DSMT4">
                      <p:embed/>
                    </p:oleObj>
                  </mc:Choice>
                  <mc:Fallback>
                    <p:oleObj name="Equation" r:id="rId5" imgW="241091" imgH="177646" progId="Equation.DSMT4">
                      <p:embed/>
                      <p:pic>
                        <p:nvPicPr>
                          <p:cNvPr id="5157" name="22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8055" y="6247718"/>
                            <a:ext cx="275579"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58" name="11 Objeto"/>
              <p:cNvGraphicFramePr>
                <a:graphicFrameLocks noChangeAspect="1"/>
              </p:cNvGraphicFramePr>
              <p:nvPr/>
            </p:nvGraphicFramePr>
            <p:xfrm>
              <a:off x="5441696" y="5408035"/>
              <a:ext cx="261938" cy="204788"/>
            </p:xfrm>
            <a:graphic>
              <a:graphicData uri="http://schemas.openxmlformats.org/presentationml/2006/ole">
                <mc:AlternateContent xmlns:mc="http://schemas.openxmlformats.org/markup-compatibility/2006">
                  <mc:Choice xmlns:v="urn:schemas-microsoft-com:vml" Requires="v">
                    <p:oleObj name="Equation" r:id="rId7" imgW="228402" imgH="177646" progId="Equation.DSMT4">
                      <p:embed/>
                    </p:oleObj>
                  </mc:Choice>
                  <mc:Fallback>
                    <p:oleObj name="Equation" r:id="rId7" imgW="228402" imgH="177646" progId="Equation.DSMT4">
                      <p:embed/>
                      <p:pic>
                        <p:nvPicPr>
                          <p:cNvPr id="5158" name="11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1696" y="5408035"/>
                            <a:ext cx="261938"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59" name="12 Objeto"/>
              <p:cNvGraphicFramePr>
                <a:graphicFrameLocks noChangeAspect="1"/>
              </p:cNvGraphicFramePr>
              <p:nvPr/>
            </p:nvGraphicFramePr>
            <p:xfrm>
              <a:off x="5455984" y="4611896"/>
              <a:ext cx="247650" cy="204788"/>
            </p:xfrm>
            <a:graphic>
              <a:graphicData uri="http://schemas.openxmlformats.org/presentationml/2006/ole">
                <mc:AlternateContent xmlns:mc="http://schemas.openxmlformats.org/markup-compatibility/2006">
                  <mc:Choice xmlns:v="urn:schemas-microsoft-com:vml" Requires="v">
                    <p:oleObj name="Equation" r:id="rId9" imgW="215619" imgH="177569" progId="Equation.DSMT4">
                      <p:embed/>
                    </p:oleObj>
                  </mc:Choice>
                  <mc:Fallback>
                    <p:oleObj name="Equation" r:id="rId9" imgW="215619" imgH="177569" progId="Equation.DSMT4">
                      <p:embed/>
                      <p:pic>
                        <p:nvPicPr>
                          <p:cNvPr id="5159" name="12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5984" y="4611896"/>
                            <a:ext cx="24765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145" name="27 Grupo"/>
            <p:cNvGrpSpPr>
              <a:grpSpLocks/>
            </p:cNvGrpSpPr>
            <p:nvPr/>
          </p:nvGrpSpPr>
          <p:grpSpPr bwMode="auto">
            <a:xfrm>
              <a:off x="5431972" y="2719614"/>
              <a:ext cx="276225" cy="1841500"/>
              <a:chOff x="5410200" y="2667000"/>
              <a:chExt cx="276225" cy="1841500"/>
            </a:xfrm>
          </p:grpSpPr>
          <p:graphicFrame>
            <p:nvGraphicFramePr>
              <p:cNvPr id="5154" name="18 Objeto"/>
              <p:cNvGraphicFramePr>
                <a:graphicFrameLocks noChangeAspect="1"/>
              </p:cNvGraphicFramePr>
              <p:nvPr/>
            </p:nvGraphicFramePr>
            <p:xfrm>
              <a:off x="5410200" y="4303712"/>
              <a:ext cx="276225" cy="204788"/>
            </p:xfrm>
            <a:graphic>
              <a:graphicData uri="http://schemas.openxmlformats.org/presentationml/2006/ole">
                <mc:AlternateContent xmlns:mc="http://schemas.openxmlformats.org/markup-compatibility/2006">
                  <mc:Choice xmlns:v="urn:schemas-microsoft-com:vml" Requires="v">
                    <p:oleObj name="Equation" r:id="rId11" imgW="241091" imgH="177646" progId="Equation.DSMT4">
                      <p:embed/>
                    </p:oleObj>
                  </mc:Choice>
                  <mc:Fallback>
                    <p:oleObj name="Equation" r:id="rId11" imgW="241091" imgH="177646" progId="Equation.DSMT4">
                      <p:embed/>
                      <p:pic>
                        <p:nvPicPr>
                          <p:cNvPr id="5154" name="18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4303712"/>
                            <a:ext cx="2762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55" name="19 Objeto"/>
              <p:cNvGraphicFramePr>
                <a:graphicFrameLocks noChangeAspect="1"/>
              </p:cNvGraphicFramePr>
              <p:nvPr/>
            </p:nvGraphicFramePr>
            <p:xfrm>
              <a:off x="5424487" y="3463925"/>
              <a:ext cx="261938" cy="204787"/>
            </p:xfrm>
            <a:graphic>
              <a:graphicData uri="http://schemas.openxmlformats.org/presentationml/2006/ole">
                <mc:AlternateContent xmlns:mc="http://schemas.openxmlformats.org/markup-compatibility/2006">
                  <mc:Choice xmlns:v="urn:schemas-microsoft-com:vml" Requires="v">
                    <p:oleObj name="Equation" r:id="rId12" imgW="228402" imgH="177646" progId="Equation.DSMT4">
                      <p:embed/>
                    </p:oleObj>
                  </mc:Choice>
                  <mc:Fallback>
                    <p:oleObj name="Equation" r:id="rId12" imgW="228402" imgH="177646" progId="Equation.DSMT4">
                      <p:embed/>
                      <p:pic>
                        <p:nvPicPr>
                          <p:cNvPr id="5155" name="19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4487" y="3463925"/>
                            <a:ext cx="261938"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56" name="20 Objeto"/>
              <p:cNvGraphicFramePr>
                <a:graphicFrameLocks noChangeAspect="1"/>
              </p:cNvGraphicFramePr>
              <p:nvPr/>
            </p:nvGraphicFramePr>
            <p:xfrm>
              <a:off x="5438775" y="2667000"/>
              <a:ext cx="247650" cy="204787"/>
            </p:xfrm>
            <a:graphic>
              <a:graphicData uri="http://schemas.openxmlformats.org/presentationml/2006/ole">
                <mc:AlternateContent xmlns:mc="http://schemas.openxmlformats.org/markup-compatibility/2006">
                  <mc:Choice xmlns:v="urn:schemas-microsoft-com:vml" Requires="v">
                    <p:oleObj name="Equation" r:id="rId13" imgW="215619" imgH="177569" progId="Equation.DSMT4">
                      <p:embed/>
                    </p:oleObj>
                  </mc:Choice>
                  <mc:Fallback>
                    <p:oleObj name="Equation" r:id="rId13" imgW="215619" imgH="177569" progId="Equation.DSMT4">
                      <p:embed/>
                      <p:pic>
                        <p:nvPicPr>
                          <p:cNvPr id="5156" name="20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8775" y="2667000"/>
                            <a:ext cx="247650"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146" name="26 Grupo"/>
            <p:cNvGrpSpPr>
              <a:grpSpLocks/>
            </p:cNvGrpSpPr>
            <p:nvPr/>
          </p:nvGrpSpPr>
          <p:grpSpPr bwMode="auto">
            <a:xfrm>
              <a:off x="5427409" y="825500"/>
              <a:ext cx="276225" cy="1841500"/>
              <a:chOff x="5362575" y="825500"/>
              <a:chExt cx="276225" cy="1841500"/>
            </a:xfrm>
          </p:grpSpPr>
          <p:graphicFrame>
            <p:nvGraphicFramePr>
              <p:cNvPr id="5151" name="21 Objeto"/>
              <p:cNvGraphicFramePr>
                <a:graphicFrameLocks noChangeAspect="1"/>
              </p:cNvGraphicFramePr>
              <p:nvPr/>
            </p:nvGraphicFramePr>
            <p:xfrm>
              <a:off x="5362575" y="2462212"/>
              <a:ext cx="276225" cy="204788"/>
            </p:xfrm>
            <a:graphic>
              <a:graphicData uri="http://schemas.openxmlformats.org/presentationml/2006/ole">
                <mc:AlternateContent xmlns:mc="http://schemas.openxmlformats.org/markup-compatibility/2006">
                  <mc:Choice xmlns:v="urn:schemas-microsoft-com:vml" Requires="v">
                    <p:oleObj name="Equation" r:id="rId14" imgW="241091" imgH="177646" progId="Equation.DSMT4">
                      <p:embed/>
                    </p:oleObj>
                  </mc:Choice>
                  <mc:Fallback>
                    <p:oleObj name="Equation" r:id="rId14" imgW="241091" imgH="177646" progId="Equation.DSMT4">
                      <p:embed/>
                      <p:pic>
                        <p:nvPicPr>
                          <p:cNvPr id="5151" name="2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2575" y="2462212"/>
                            <a:ext cx="2762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52" name="24 Objeto"/>
              <p:cNvGraphicFramePr>
                <a:graphicFrameLocks noChangeAspect="1"/>
              </p:cNvGraphicFramePr>
              <p:nvPr/>
            </p:nvGraphicFramePr>
            <p:xfrm>
              <a:off x="5376862" y="1622425"/>
              <a:ext cx="261938" cy="204787"/>
            </p:xfrm>
            <a:graphic>
              <a:graphicData uri="http://schemas.openxmlformats.org/presentationml/2006/ole">
                <mc:AlternateContent xmlns:mc="http://schemas.openxmlformats.org/markup-compatibility/2006">
                  <mc:Choice xmlns:v="urn:schemas-microsoft-com:vml" Requires="v">
                    <p:oleObj name="Equation" r:id="rId15" imgW="228402" imgH="177646" progId="Equation.DSMT4">
                      <p:embed/>
                    </p:oleObj>
                  </mc:Choice>
                  <mc:Fallback>
                    <p:oleObj name="Equation" r:id="rId15" imgW="228402" imgH="177646" progId="Equation.DSMT4">
                      <p:embed/>
                      <p:pic>
                        <p:nvPicPr>
                          <p:cNvPr id="5152" name="24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6862" y="1622425"/>
                            <a:ext cx="261938"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53" name="25 Objeto"/>
              <p:cNvGraphicFramePr>
                <a:graphicFrameLocks noChangeAspect="1"/>
              </p:cNvGraphicFramePr>
              <p:nvPr/>
            </p:nvGraphicFramePr>
            <p:xfrm>
              <a:off x="5391150" y="825500"/>
              <a:ext cx="247650" cy="204787"/>
            </p:xfrm>
            <a:graphic>
              <a:graphicData uri="http://schemas.openxmlformats.org/presentationml/2006/ole">
                <mc:AlternateContent xmlns:mc="http://schemas.openxmlformats.org/markup-compatibility/2006">
                  <mc:Choice xmlns:v="urn:schemas-microsoft-com:vml" Requires="v">
                    <p:oleObj name="Equation" r:id="rId16" imgW="215619" imgH="177569" progId="Equation.DSMT4">
                      <p:embed/>
                    </p:oleObj>
                  </mc:Choice>
                  <mc:Fallback>
                    <p:oleObj name="Equation" r:id="rId16" imgW="215619" imgH="177569" progId="Equation.DSMT4">
                      <p:embed/>
                      <p:pic>
                        <p:nvPicPr>
                          <p:cNvPr id="5153" name="25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1150" y="825500"/>
                            <a:ext cx="247650"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147" name="28 CuadroTexto"/>
            <p:cNvSpPr txBox="1">
              <a:spLocks noChangeArrowheads="1"/>
            </p:cNvSpPr>
            <p:nvPr/>
          </p:nvSpPr>
          <p:spPr bwMode="auto">
            <a:xfrm>
              <a:off x="7026163" y="6408764"/>
              <a:ext cx="489279"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200" dirty="0" err="1">
                  <a:cs typeface="Times New Roman" panose="02020603050405020304" pitchFamily="18" charset="0"/>
                </a:rPr>
                <a:t>Ln</a:t>
              </a:r>
              <a:r>
                <a:rPr lang="es-ES" altLang="es-ES" sz="1400" dirty="0">
                  <a:latin typeface="Times New Roman" panose="02020603050405020304" pitchFamily="18" charset="0"/>
                  <a:cs typeface="Times New Roman" panose="02020603050405020304" pitchFamily="18" charset="0"/>
                </a:rPr>
                <a:t> </a:t>
              </a:r>
              <a:r>
                <a:rPr lang="es-ES" altLang="es-ES" sz="1400" i="1" dirty="0">
                  <a:latin typeface="Times New Roman" panose="02020603050405020304" pitchFamily="18" charset="0"/>
                  <a:cs typeface="Times New Roman" panose="02020603050405020304" pitchFamily="18" charset="0"/>
                </a:rPr>
                <a:t>n</a:t>
              </a:r>
            </a:p>
          </p:txBody>
        </p:sp>
        <p:sp>
          <p:nvSpPr>
            <p:cNvPr id="5148" name="41 CuadroTexto"/>
            <p:cNvSpPr txBox="1">
              <a:spLocks noChangeArrowheads="1"/>
            </p:cNvSpPr>
            <p:nvPr/>
          </p:nvSpPr>
          <p:spPr bwMode="auto">
            <a:xfrm>
              <a:off x="6828542" y="4724400"/>
              <a:ext cx="9140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i="1">
                  <a:latin typeface="Times New Roman" panose="02020603050405020304" pitchFamily="18" charset="0"/>
                  <a:cs typeface="Times New Roman" panose="02020603050405020304" pitchFamily="18" charset="0"/>
                </a:rPr>
                <a:t>n </a:t>
              </a:r>
              <a:r>
                <a:rPr lang="es-ES" altLang="es-ES" sz="1400">
                  <a:latin typeface="Times New Roman" panose="02020603050405020304" pitchFamily="18" charset="0"/>
                  <a:cs typeface="Times New Roman" panose="02020603050405020304" pitchFamily="18" charset="0"/>
                </a:rPr>
                <a:t>=10.000</a:t>
              </a:r>
            </a:p>
          </p:txBody>
        </p:sp>
        <p:sp>
          <p:nvSpPr>
            <p:cNvPr id="5149" name="42 CuadroTexto"/>
            <p:cNvSpPr txBox="1">
              <a:spLocks noChangeArrowheads="1"/>
            </p:cNvSpPr>
            <p:nvPr/>
          </p:nvSpPr>
          <p:spPr bwMode="auto">
            <a:xfrm>
              <a:off x="6828542" y="2743454"/>
              <a:ext cx="7793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i="1">
                  <a:latin typeface="Times New Roman" panose="02020603050405020304" pitchFamily="18" charset="0"/>
                  <a:cs typeface="Times New Roman" panose="02020603050405020304" pitchFamily="18" charset="0"/>
                </a:rPr>
                <a:t>n </a:t>
              </a:r>
              <a:r>
                <a:rPr lang="es-ES" altLang="es-ES" sz="1400">
                  <a:latin typeface="Times New Roman" panose="02020603050405020304" pitchFamily="18" charset="0"/>
                  <a:cs typeface="Times New Roman" panose="02020603050405020304" pitchFamily="18" charset="0"/>
                </a:rPr>
                <a:t>=1000</a:t>
              </a:r>
            </a:p>
          </p:txBody>
        </p:sp>
        <p:sp>
          <p:nvSpPr>
            <p:cNvPr id="5150" name="43 CuadroTexto"/>
            <p:cNvSpPr txBox="1">
              <a:spLocks noChangeArrowheads="1"/>
            </p:cNvSpPr>
            <p:nvPr/>
          </p:nvSpPr>
          <p:spPr bwMode="auto">
            <a:xfrm>
              <a:off x="6854993" y="852317"/>
              <a:ext cx="6896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i="1">
                  <a:latin typeface="Times New Roman" panose="02020603050405020304" pitchFamily="18" charset="0"/>
                  <a:cs typeface="Times New Roman" panose="02020603050405020304" pitchFamily="18" charset="0"/>
                </a:rPr>
                <a:t>n </a:t>
              </a:r>
              <a:r>
                <a:rPr lang="es-ES" altLang="es-ES" sz="1400">
                  <a:latin typeface="Times New Roman" panose="02020603050405020304" pitchFamily="18" charset="0"/>
                  <a:cs typeface="Times New Roman" panose="02020603050405020304" pitchFamily="18" charset="0"/>
                </a:rPr>
                <a:t>=100</a:t>
              </a:r>
            </a:p>
          </p:txBody>
        </p:sp>
      </p:grpSp>
      <p:sp>
        <p:nvSpPr>
          <p:cNvPr id="5123" name="57343 CuadroTexto"/>
          <p:cNvSpPr txBox="1">
            <a:spLocks noChangeArrowheads="1"/>
          </p:cNvSpPr>
          <p:nvPr/>
        </p:nvSpPr>
        <p:spPr bwMode="auto">
          <a:xfrm>
            <a:off x="152400" y="429762"/>
            <a:ext cx="3571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Perspectiva frecuencista: la Ley de Azar</a:t>
            </a:r>
          </a:p>
        </p:txBody>
      </p:sp>
      <p:sp>
        <p:nvSpPr>
          <p:cNvPr id="5125" name="50 CuadroTexto"/>
          <p:cNvSpPr txBox="1">
            <a:spLocks noChangeArrowheads="1"/>
          </p:cNvSpPr>
          <p:nvPr/>
        </p:nvSpPr>
        <p:spPr bwMode="auto">
          <a:xfrm>
            <a:off x="4953740" y="1577557"/>
            <a:ext cx="3788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400" i="1" dirty="0" err="1">
                <a:latin typeface="Times New Roman" panose="02020603050405020304" pitchFamily="18" charset="0"/>
                <a:cs typeface="Times New Roman" panose="02020603050405020304" pitchFamily="18" charset="0"/>
              </a:rPr>
              <a:t>h</a:t>
            </a:r>
            <a:r>
              <a:rPr lang="es-ES" altLang="es-ES" sz="1400" baseline="-25000" dirty="0" err="1">
                <a:latin typeface="Times New Roman" panose="02020603050405020304" pitchFamily="18" charset="0"/>
                <a:cs typeface="Times New Roman" panose="02020603050405020304" pitchFamily="18" charset="0"/>
              </a:rPr>
              <a:t>A</a:t>
            </a:r>
            <a:endParaRPr lang="es-ES" altLang="es-ES" sz="1400" baseline="-25000" dirty="0">
              <a:latin typeface="Times New Roman" panose="02020603050405020304" pitchFamily="18" charset="0"/>
              <a:cs typeface="Times New Roman" panose="02020603050405020304" pitchFamily="18" charset="0"/>
            </a:endParaRPr>
          </a:p>
        </p:txBody>
      </p:sp>
      <p:sp>
        <p:nvSpPr>
          <p:cNvPr id="5127" name="59 Rectángulo"/>
          <p:cNvSpPr>
            <a:spLocks noChangeArrowheads="1"/>
          </p:cNvSpPr>
          <p:nvPr/>
        </p:nvSpPr>
        <p:spPr bwMode="auto">
          <a:xfrm>
            <a:off x="496094" y="5606849"/>
            <a:ext cx="47990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Al repetir un experimento un número </a:t>
            </a:r>
            <a:r>
              <a:rPr lang="es-ES" altLang="es-ES" sz="1400" i="1" dirty="0">
                <a:latin typeface="Times New Roman" panose="02020603050405020304" pitchFamily="18" charset="0"/>
                <a:cs typeface="Times New Roman" panose="02020603050405020304" pitchFamily="18" charset="0"/>
              </a:rPr>
              <a:t>n</a:t>
            </a:r>
            <a:r>
              <a:rPr lang="es-ES" altLang="es-ES" sz="1300" dirty="0"/>
              <a:t> suficientemente grande de veces (se dice que </a:t>
            </a:r>
            <a:r>
              <a:rPr lang="es-ES" altLang="es-ES" sz="1400" i="1" dirty="0">
                <a:latin typeface="Times New Roman" panose="02020603050405020304" pitchFamily="18" charset="0"/>
              </a:rPr>
              <a:t>n</a:t>
            </a:r>
            <a:r>
              <a:rPr lang="es-ES" altLang="es-ES" sz="1300" dirty="0"/>
              <a:t>→</a:t>
            </a:r>
            <a:r>
              <a:rPr lang="es-ES" altLang="es-ES" sz="1300" dirty="0">
                <a:sym typeface="Symbol" panose="05050102010706020507" pitchFamily="18" charset="2"/>
              </a:rPr>
              <a:t>) la frecuencia relativa con la que aparece cada posible modalidad del resultado tiende a </a:t>
            </a:r>
            <a:r>
              <a:rPr lang="es-ES" altLang="es-ES" sz="1300" b="1" dirty="0">
                <a:sym typeface="Symbol" panose="05050102010706020507" pitchFamily="18" charset="2"/>
              </a:rPr>
              <a:t>estabilizarse</a:t>
            </a:r>
            <a:r>
              <a:rPr lang="es-ES" altLang="es-ES" sz="1300" dirty="0">
                <a:sym typeface="Symbol" panose="05050102010706020507" pitchFamily="18" charset="2"/>
              </a:rPr>
              <a:t> en un valor (</a:t>
            </a:r>
            <a:r>
              <a:rPr lang="es-ES" altLang="es-ES" sz="1300" b="1" i="1" dirty="0">
                <a:solidFill>
                  <a:srgbClr val="FF0000"/>
                </a:solidFill>
                <a:sym typeface="Symbol" panose="05050102010706020507" pitchFamily="18" charset="2"/>
              </a:rPr>
              <a:t>Ley de los grandes números</a:t>
            </a:r>
            <a:r>
              <a:rPr lang="es-ES" altLang="es-ES" sz="1300" dirty="0">
                <a:sym typeface="Symbol" panose="05050102010706020507" pitchFamily="18" charset="2"/>
              </a:rPr>
              <a:t>)</a:t>
            </a:r>
            <a:endParaRPr lang="es-ES" altLang="es-ES" sz="1300" dirty="0"/>
          </a:p>
        </p:txBody>
      </p:sp>
      <p:sp>
        <p:nvSpPr>
          <p:cNvPr id="43" name="9 Rectángulo"/>
          <p:cNvSpPr>
            <a:spLocks noChangeArrowheads="1"/>
          </p:cNvSpPr>
          <p:nvPr/>
        </p:nvSpPr>
        <p:spPr bwMode="auto">
          <a:xfrm>
            <a:off x="152400" y="24949"/>
            <a:ext cx="2743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Concepto de probabilidad</a:t>
            </a:r>
            <a:endParaRPr lang="es-ES" altLang="es-ES" sz="1400" dirty="0">
              <a:solidFill>
                <a:srgbClr val="C00000"/>
              </a:solidFill>
            </a:endParaRPr>
          </a:p>
        </p:txBody>
      </p:sp>
      <p:grpSp>
        <p:nvGrpSpPr>
          <p:cNvPr id="19" name="Grupo 18">
            <a:extLst>
              <a:ext uri="{FF2B5EF4-FFF2-40B4-BE49-F238E27FC236}">
                <a16:creationId xmlns:a16="http://schemas.microsoft.com/office/drawing/2014/main" id="{7472C173-1B82-46D4-A4C2-CDFA28415E47}"/>
              </a:ext>
            </a:extLst>
          </p:cNvPr>
          <p:cNvGrpSpPr/>
          <p:nvPr/>
        </p:nvGrpSpPr>
        <p:grpSpPr>
          <a:xfrm>
            <a:off x="523187" y="1295400"/>
            <a:ext cx="4267200" cy="4191000"/>
            <a:chOff x="587234" y="922973"/>
            <a:chExt cx="4380706" cy="4582105"/>
          </a:xfrm>
        </p:grpSpPr>
        <p:pic>
          <p:nvPicPr>
            <p:cNvPr id="13" name="Snagit_PPT1021">
              <a:extLst>
                <a:ext uri="{FF2B5EF4-FFF2-40B4-BE49-F238E27FC236}">
                  <a16:creationId xmlns:a16="http://schemas.microsoft.com/office/drawing/2014/main" id="{BA5C81AC-F287-4A75-9EE8-B0632750AEC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47100" y="1246469"/>
              <a:ext cx="3933631" cy="2182531"/>
            </a:xfrm>
            <a:prstGeom prst="rect">
              <a:avLst/>
            </a:prstGeom>
          </p:spPr>
        </p:pic>
        <p:grpSp>
          <p:nvGrpSpPr>
            <p:cNvPr id="14" name="Grupo 13">
              <a:extLst>
                <a:ext uri="{FF2B5EF4-FFF2-40B4-BE49-F238E27FC236}">
                  <a16:creationId xmlns:a16="http://schemas.microsoft.com/office/drawing/2014/main" id="{7ACED446-DA1F-43FB-8386-EE2285FCAA24}"/>
                </a:ext>
              </a:extLst>
            </p:cNvPr>
            <p:cNvGrpSpPr/>
            <p:nvPr/>
          </p:nvGrpSpPr>
          <p:grpSpPr>
            <a:xfrm>
              <a:off x="587234" y="922973"/>
              <a:ext cx="4380706" cy="2718040"/>
              <a:chOff x="587234" y="922973"/>
              <a:chExt cx="4380706" cy="2718040"/>
            </a:xfrm>
          </p:grpSpPr>
          <p:sp>
            <p:nvSpPr>
              <p:cNvPr id="5126" name="57356 Rectángulo"/>
              <p:cNvSpPr>
                <a:spLocks noChangeArrowheads="1"/>
              </p:cNvSpPr>
              <p:nvPr/>
            </p:nvSpPr>
            <p:spPr bwMode="auto">
              <a:xfrm>
                <a:off x="587234" y="922973"/>
                <a:ext cx="4380706" cy="33649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400" b="1" i="1" dirty="0">
                    <a:latin typeface="Times New Roman" panose="02020603050405020304" pitchFamily="18" charset="0"/>
                    <a:cs typeface="Times New Roman" panose="02020603050405020304" pitchFamily="18" charset="0"/>
                  </a:rPr>
                  <a:t>n</a:t>
                </a:r>
                <a:r>
                  <a:rPr lang="es-ES" altLang="es-ES" b="1" i="1" dirty="0">
                    <a:latin typeface="Times New Roman" panose="02020603050405020304" pitchFamily="18" charset="0"/>
                    <a:cs typeface="Times New Roman" panose="02020603050405020304" pitchFamily="18" charset="0"/>
                  </a:rPr>
                  <a:t>=</a:t>
                </a:r>
                <a:r>
                  <a:rPr lang="es-ES" altLang="es-ES" b="1" dirty="0">
                    <a:latin typeface="Times New Roman" panose="02020603050405020304" pitchFamily="18" charset="0"/>
                    <a:cs typeface="Times New Roman" panose="02020603050405020304" pitchFamily="18" charset="0"/>
                  </a:rPr>
                  <a:t>10</a:t>
                </a:r>
                <a:r>
                  <a:rPr lang="es-ES" altLang="es-ES" b="1" dirty="0"/>
                  <a:t> </a:t>
                </a:r>
                <a:r>
                  <a:rPr lang="es-ES" altLang="es-ES" sz="1100" b="1" dirty="0"/>
                  <a:t>pruebas</a:t>
                </a:r>
              </a:p>
            </p:txBody>
          </p:sp>
          <p:sp>
            <p:nvSpPr>
              <p:cNvPr id="46" name="57356 Rectángulo">
                <a:extLst>
                  <a:ext uri="{FF2B5EF4-FFF2-40B4-BE49-F238E27FC236}">
                    <a16:creationId xmlns:a16="http://schemas.microsoft.com/office/drawing/2014/main" id="{D9F93714-F7A2-4681-916C-A8D8B2DC364C}"/>
                  </a:ext>
                </a:extLst>
              </p:cNvPr>
              <p:cNvSpPr>
                <a:spLocks noChangeArrowheads="1"/>
              </p:cNvSpPr>
              <p:nvPr/>
            </p:nvSpPr>
            <p:spPr bwMode="auto">
              <a:xfrm>
                <a:off x="587234" y="3338164"/>
                <a:ext cx="4380706" cy="302849"/>
              </a:xfrm>
              <a:prstGeom prst="rect">
                <a:avLst/>
              </a:prstGeom>
              <a:solidFill>
                <a:schemeClr val="bg1"/>
              </a:solidFill>
              <a:ln>
                <a:no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100" b="1" dirty="0"/>
                  <a:t>Proporción (frecuencia relativa) de aciertos: </a:t>
                </a:r>
                <a:r>
                  <a:rPr lang="es-ES" altLang="es-ES" b="1" i="1" dirty="0" err="1">
                    <a:latin typeface="Times New Roman" panose="02020603050405020304" pitchFamily="18" charset="0"/>
                    <a:cs typeface="Times New Roman" panose="02020603050405020304" pitchFamily="18" charset="0"/>
                  </a:rPr>
                  <a:t>h</a:t>
                </a:r>
                <a:r>
                  <a:rPr lang="es-ES" altLang="es-ES" b="1" baseline="-25000" dirty="0" err="1">
                    <a:latin typeface="Times New Roman" panose="02020603050405020304" pitchFamily="18" charset="0"/>
                    <a:cs typeface="Times New Roman" panose="02020603050405020304" pitchFamily="18" charset="0"/>
                  </a:rPr>
                  <a:t>A</a:t>
                </a:r>
                <a:endParaRPr lang="es-ES" altLang="es-ES" sz="1100" b="1" baseline="-25000" dirty="0">
                  <a:latin typeface="Times New Roman" panose="02020603050405020304" pitchFamily="18" charset="0"/>
                  <a:cs typeface="Times New Roman" panose="02020603050405020304" pitchFamily="18" charset="0"/>
                </a:endParaRPr>
              </a:p>
            </p:txBody>
          </p:sp>
        </p:grpSp>
        <p:pic>
          <p:nvPicPr>
            <p:cNvPr id="9" name="Snagit_PPTBC47">
              <a:extLst>
                <a:ext uri="{FF2B5EF4-FFF2-40B4-BE49-F238E27FC236}">
                  <a16:creationId xmlns:a16="http://schemas.microsoft.com/office/drawing/2014/main" id="{A055183B-CCBF-4427-BBB7-166C1C4AD4FF}"/>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30533" y="3612803"/>
              <a:ext cx="3809232" cy="1892275"/>
            </a:xfrm>
            <a:prstGeom prst="rect">
              <a:avLst/>
            </a:prstGeom>
          </p:spPr>
        </p:pic>
      </p:grpSp>
      <p:sp>
        <p:nvSpPr>
          <p:cNvPr id="20" name="CuadroTexto 19">
            <a:extLst>
              <a:ext uri="{FF2B5EF4-FFF2-40B4-BE49-F238E27FC236}">
                <a16:creationId xmlns:a16="http://schemas.microsoft.com/office/drawing/2014/main" id="{E01FB302-D34F-4D22-8012-16BBE386485D}"/>
              </a:ext>
            </a:extLst>
          </p:cNvPr>
          <p:cNvSpPr txBox="1"/>
          <p:nvPr/>
        </p:nvSpPr>
        <p:spPr>
          <a:xfrm>
            <a:off x="192900" y="838200"/>
            <a:ext cx="4568013" cy="461665"/>
          </a:xfrm>
          <a:prstGeom prst="rect">
            <a:avLst/>
          </a:prstGeom>
          <a:noFill/>
        </p:spPr>
        <p:txBody>
          <a:bodyPr wrap="square" rtlCol="0">
            <a:spAutoFit/>
          </a:bodyPr>
          <a:lstStyle/>
          <a:p>
            <a:r>
              <a:rPr lang="es-ES" dirty="0"/>
              <a:t>Cada prueba es la observación de un suceso binario (resultado = Acierto/fallo)</a:t>
            </a:r>
          </a:p>
        </p:txBody>
      </p:sp>
      <p:sp>
        <p:nvSpPr>
          <p:cNvPr id="60" name="50 CuadroTexto">
            <a:extLst>
              <a:ext uri="{FF2B5EF4-FFF2-40B4-BE49-F238E27FC236}">
                <a16:creationId xmlns:a16="http://schemas.microsoft.com/office/drawing/2014/main" id="{B611EEDC-6FD4-44CB-BBF7-A04562A5DFE8}"/>
              </a:ext>
            </a:extLst>
          </p:cNvPr>
          <p:cNvSpPr txBox="1">
            <a:spLocks noChangeArrowheads="1"/>
          </p:cNvSpPr>
          <p:nvPr/>
        </p:nvSpPr>
        <p:spPr bwMode="auto">
          <a:xfrm>
            <a:off x="343760" y="4351349"/>
            <a:ext cx="3788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400" i="1" dirty="0" err="1">
                <a:latin typeface="Times New Roman" panose="02020603050405020304" pitchFamily="18" charset="0"/>
                <a:cs typeface="Times New Roman" panose="02020603050405020304" pitchFamily="18" charset="0"/>
              </a:rPr>
              <a:t>h</a:t>
            </a:r>
            <a:r>
              <a:rPr lang="es-ES" altLang="es-ES" sz="1400" baseline="-25000" dirty="0" err="1">
                <a:latin typeface="Times New Roman" panose="02020603050405020304" pitchFamily="18" charset="0"/>
                <a:cs typeface="Times New Roman" panose="02020603050405020304" pitchFamily="18" charset="0"/>
              </a:rPr>
              <a:t>A</a:t>
            </a:r>
            <a:endParaRPr lang="es-ES" altLang="es-ES" sz="14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4793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27 Grupo"/>
          <p:cNvGrpSpPr>
            <a:grpSpLocks/>
          </p:cNvGrpSpPr>
          <p:nvPr/>
        </p:nvGrpSpPr>
        <p:grpSpPr bwMode="auto">
          <a:xfrm>
            <a:off x="2720975" y="1854200"/>
            <a:ext cx="3816350" cy="2108200"/>
            <a:chOff x="544286" y="1600200"/>
            <a:chExt cx="3816581" cy="2108293"/>
          </a:xfrm>
        </p:grpSpPr>
        <p:pic>
          <p:nvPicPr>
            <p:cNvPr id="616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657" y="1600200"/>
              <a:ext cx="3133774" cy="1797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3 Conector recto"/>
            <p:cNvCxnSpPr/>
            <p:nvPr/>
          </p:nvCxnSpPr>
          <p:spPr>
            <a:xfrm flipV="1">
              <a:off x="822116" y="2498765"/>
              <a:ext cx="3445084" cy="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nvGrpSpPr>
            <p:cNvPr id="6167" name="6 Grupo"/>
            <p:cNvGrpSpPr>
              <a:grpSpLocks/>
            </p:cNvGrpSpPr>
            <p:nvPr/>
          </p:nvGrpSpPr>
          <p:grpSpPr bwMode="auto">
            <a:xfrm>
              <a:off x="544286" y="1600200"/>
              <a:ext cx="275579" cy="1840610"/>
              <a:chOff x="5428055" y="4611896"/>
              <a:chExt cx="275579" cy="1840610"/>
            </a:xfrm>
          </p:grpSpPr>
          <p:graphicFrame>
            <p:nvGraphicFramePr>
              <p:cNvPr id="6170" name="19 Objeto"/>
              <p:cNvGraphicFramePr>
                <a:graphicFrameLocks noChangeAspect="1"/>
              </p:cNvGraphicFramePr>
              <p:nvPr/>
            </p:nvGraphicFramePr>
            <p:xfrm>
              <a:off x="5428055" y="6247718"/>
              <a:ext cx="275579" cy="204788"/>
            </p:xfrm>
            <a:graphic>
              <a:graphicData uri="http://schemas.openxmlformats.org/presentationml/2006/ole">
                <mc:AlternateContent xmlns:mc="http://schemas.openxmlformats.org/markup-compatibility/2006">
                  <mc:Choice xmlns:v="urn:schemas-microsoft-com:vml" Requires="v">
                    <p:oleObj name="Equation" r:id="rId3" imgW="241091" imgH="177646" progId="Equation.DSMT4">
                      <p:embed/>
                    </p:oleObj>
                  </mc:Choice>
                  <mc:Fallback>
                    <p:oleObj name="Equation" r:id="rId3" imgW="241091" imgH="177646" progId="Equation.DSMT4">
                      <p:embed/>
                      <p:pic>
                        <p:nvPicPr>
                          <p:cNvPr id="6170" name="19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8055" y="6247718"/>
                            <a:ext cx="275579"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71" name="20 Objeto"/>
              <p:cNvGraphicFramePr>
                <a:graphicFrameLocks noChangeAspect="1"/>
              </p:cNvGraphicFramePr>
              <p:nvPr/>
            </p:nvGraphicFramePr>
            <p:xfrm>
              <a:off x="5441696" y="5408035"/>
              <a:ext cx="261938" cy="204788"/>
            </p:xfrm>
            <a:graphic>
              <a:graphicData uri="http://schemas.openxmlformats.org/presentationml/2006/ole">
                <mc:AlternateContent xmlns:mc="http://schemas.openxmlformats.org/markup-compatibility/2006">
                  <mc:Choice xmlns:v="urn:schemas-microsoft-com:vml" Requires="v">
                    <p:oleObj name="Equation" r:id="rId5" imgW="228402" imgH="177646" progId="Equation.DSMT4">
                      <p:embed/>
                    </p:oleObj>
                  </mc:Choice>
                  <mc:Fallback>
                    <p:oleObj name="Equation" r:id="rId5" imgW="228402" imgH="177646" progId="Equation.DSMT4">
                      <p:embed/>
                      <p:pic>
                        <p:nvPicPr>
                          <p:cNvPr id="6171" name="20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1696" y="5408035"/>
                            <a:ext cx="261938"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72" name="21 Objeto"/>
              <p:cNvGraphicFramePr>
                <a:graphicFrameLocks noChangeAspect="1"/>
              </p:cNvGraphicFramePr>
              <p:nvPr/>
            </p:nvGraphicFramePr>
            <p:xfrm>
              <a:off x="5455984" y="4611896"/>
              <a:ext cx="247650" cy="204788"/>
            </p:xfrm>
            <a:graphic>
              <a:graphicData uri="http://schemas.openxmlformats.org/presentationml/2006/ole">
                <mc:AlternateContent xmlns:mc="http://schemas.openxmlformats.org/markup-compatibility/2006">
                  <mc:Choice xmlns:v="urn:schemas-microsoft-com:vml" Requires="v">
                    <p:oleObj name="Equation" r:id="rId7" imgW="215619" imgH="177569" progId="Equation.DSMT4">
                      <p:embed/>
                    </p:oleObj>
                  </mc:Choice>
                  <mc:Fallback>
                    <p:oleObj name="Equation" r:id="rId7" imgW="215619" imgH="177569" progId="Equation.DSMT4">
                      <p:embed/>
                      <p:pic>
                        <p:nvPicPr>
                          <p:cNvPr id="6172" name="21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55984" y="4611896"/>
                            <a:ext cx="247650"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168" name="9 CuadroTexto"/>
            <p:cNvSpPr txBox="1">
              <a:spLocks noChangeArrowheads="1"/>
            </p:cNvSpPr>
            <p:nvPr/>
          </p:nvSpPr>
          <p:spPr bwMode="auto">
            <a:xfrm>
              <a:off x="2142996" y="3397329"/>
              <a:ext cx="489266" cy="307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200" dirty="0" err="1">
                  <a:cs typeface="Times New Roman" panose="02020603050405020304" pitchFamily="18" charset="0"/>
                </a:rPr>
                <a:t>Ln</a:t>
              </a:r>
              <a:r>
                <a:rPr lang="es-ES" altLang="es-ES" sz="1400" dirty="0">
                  <a:latin typeface="Times New Roman" panose="02020603050405020304" pitchFamily="18" charset="0"/>
                  <a:cs typeface="Times New Roman" panose="02020603050405020304" pitchFamily="18" charset="0"/>
                </a:rPr>
                <a:t> </a:t>
              </a:r>
              <a:r>
                <a:rPr lang="es-ES" altLang="es-ES" sz="1400" i="1" dirty="0">
                  <a:latin typeface="Times New Roman" panose="02020603050405020304" pitchFamily="18" charset="0"/>
                  <a:cs typeface="Times New Roman" panose="02020603050405020304" pitchFamily="18" charset="0"/>
                </a:rPr>
                <a:t>n</a:t>
              </a:r>
            </a:p>
          </p:txBody>
        </p:sp>
        <p:sp>
          <p:nvSpPr>
            <p:cNvPr id="6169" name="10 CuadroTexto"/>
            <p:cNvSpPr txBox="1">
              <a:spLocks noChangeArrowheads="1"/>
            </p:cNvSpPr>
            <p:nvPr/>
          </p:nvSpPr>
          <p:spPr bwMode="auto">
            <a:xfrm>
              <a:off x="3694077" y="3403679"/>
              <a:ext cx="666790" cy="304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i="1">
                  <a:latin typeface="Times New Roman" panose="02020603050405020304" pitchFamily="18" charset="0"/>
                  <a:cs typeface="Times New Roman" panose="02020603050405020304" pitchFamily="18" charset="0"/>
                </a:rPr>
                <a:t>n </a:t>
              </a:r>
              <a:r>
                <a:rPr lang="es-ES" altLang="es-ES" sz="1400">
                  <a:latin typeface="Times New Roman" panose="02020603050405020304" pitchFamily="18" charset="0"/>
                  <a:cs typeface="Times New Roman" panose="02020603050405020304" pitchFamily="18" charset="0"/>
                </a:rPr>
                <a:t>→ </a:t>
              </a:r>
              <a:r>
                <a:rPr lang="es-ES" altLang="es-ES" sz="1400">
                  <a:latin typeface="Times New Roman" panose="02020603050405020304" pitchFamily="18" charset="0"/>
                  <a:cs typeface="Times New Roman" panose="02020603050405020304" pitchFamily="18" charset="0"/>
                  <a:sym typeface="Symbol" panose="05050102010706020507" pitchFamily="18" charset="2"/>
                </a:rPr>
                <a:t></a:t>
              </a:r>
              <a:endParaRPr lang="es-ES" altLang="es-ES" sz="1400">
                <a:latin typeface="Times New Roman" panose="02020603050405020304" pitchFamily="18" charset="0"/>
                <a:cs typeface="Times New Roman" panose="02020603050405020304" pitchFamily="18" charset="0"/>
              </a:endParaRPr>
            </a:p>
          </p:txBody>
        </p:sp>
      </p:grpSp>
      <p:graphicFrame>
        <p:nvGraphicFramePr>
          <p:cNvPr id="6147" name="25 Objeto"/>
          <p:cNvGraphicFramePr>
            <a:graphicFrameLocks noChangeAspect="1"/>
          </p:cNvGraphicFramePr>
          <p:nvPr/>
        </p:nvGraphicFramePr>
        <p:xfrm>
          <a:off x="1066800" y="3987800"/>
          <a:ext cx="6875463" cy="579438"/>
        </p:xfrm>
        <a:graphic>
          <a:graphicData uri="http://schemas.openxmlformats.org/presentationml/2006/ole">
            <mc:AlternateContent xmlns:mc="http://schemas.openxmlformats.org/markup-compatibility/2006">
              <mc:Choice xmlns:v="urn:schemas-microsoft-com:vml" Requires="v">
                <p:oleObj name="Equation" r:id="rId9" imgW="5003800" imgH="419100" progId="Equation.DSMT4">
                  <p:embed/>
                </p:oleObj>
              </mc:Choice>
              <mc:Fallback>
                <p:oleObj name="Equation" r:id="rId9" imgW="5003800" imgH="419100" progId="Equation.DSMT4">
                  <p:embed/>
                  <p:pic>
                    <p:nvPicPr>
                      <p:cNvPr id="6147" name="25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3987800"/>
                        <a:ext cx="68754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8" name="26 Objeto"/>
          <p:cNvGraphicFramePr>
            <a:graphicFrameLocks noChangeAspect="1"/>
          </p:cNvGraphicFramePr>
          <p:nvPr>
            <p:extLst>
              <p:ext uri="{D42A27DB-BD31-4B8C-83A1-F6EECF244321}">
                <p14:modId xmlns:p14="http://schemas.microsoft.com/office/powerpoint/2010/main" val="4175712613"/>
              </p:ext>
            </p:extLst>
          </p:nvPr>
        </p:nvGraphicFramePr>
        <p:xfrm>
          <a:off x="2453640" y="4735513"/>
          <a:ext cx="1239838" cy="403225"/>
        </p:xfrm>
        <a:graphic>
          <a:graphicData uri="http://schemas.openxmlformats.org/presentationml/2006/ole">
            <mc:AlternateContent xmlns:mc="http://schemas.openxmlformats.org/markup-compatibility/2006">
              <mc:Choice xmlns:v="urn:schemas-microsoft-com:vml" Requires="v">
                <p:oleObj name="Equation" r:id="rId11" imgW="863225" imgH="279279" progId="Equation.DSMT4">
                  <p:embed/>
                </p:oleObj>
              </mc:Choice>
              <mc:Fallback>
                <p:oleObj name="Equation" r:id="rId11" imgW="863225" imgH="279279" progId="Equation.DSMT4">
                  <p:embed/>
                  <p:pic>
                    <p:nvPicPr>
                      <p:cNvPr id="6148" name="26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53640" y="4735513"/>
                        <a:ext cx="12398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9" name="28 Rectángulo"/>
          <p:cNvSpPr>
            <a:spLocks noChangeArrowheads="1"/>
          </p:cNvSpPr>
          <p:nvPr/>
        </p:nvSpPr>
        <p:spPr bwMode="auto">
          <a:xfrm>
            <a:off x="227219" y="4724400"/>
            <a:ext cx="2319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400" dirty="0"/>
              <a:t>Formalmente se indica</a:t>
            </a:r>
          </a:p>
        </p:txBody>
      </p:sp>
      <p:sp>
        <p:nvSpPr>
          <p:cNvPr id="6151" name="30 Rectángulo"/>
          <p:cNvSpPr>
            <a:spLocks noChangeArrowheads="1"/>
          </p:cNvSpPr>
          <p:nvPr/>
        </p:nvSpPr>
        <p:spPr bwMode="auto">
          <a:xfrm>
            <a:off x="423863" y="990600"/>
            <a:ext cx="818673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solidFill>
                  <a:srgbClr val="FF0000"/>
                </a:solidFill>
              </a:rPr>
              <a:t>Definición frecuencista de probabilidad:</a:t>
            </a:r>
            <a:r>
              <a:rPr lang="es-ES" altLang="es-ES" sz="1400" dirty="0">
                <a:solidFill>
                  <a:srgbClr val="FF0000"/>
                </a:solidFill>
              </a:rPr>
              <a:t> </a:t>
            </a:r>
            <a:r>
              <a:rPr lang="es-ES" altLang="es-ES" sz="1400" dirty="0"/>
              <a:t>La </a:t>
            </a:r>
            <a:r>
              <a:rPr lang="es-ES" altLang="es-ES" sz="1400" b="1" dirty="0"/>
              <a:t>probabilidad</a:t>
            </a:r>
            <a:r>
              <a:rPr lang="es-ES" altLang="es-ES" sz="1400" dirty="0"/>
              <a:t> con la que se presenta un fenómeno es el valor al que se aproxima la </a:t>
            </a:r>
            <a:r>
              <a:rPr lang="es-ES" altLang="es-ES" sz="1400" b="1" dirty="0"/>
              <a:t>frecuencia relativa</a:t>
            </a:r>
            <a:r>
              <a:rPr lang="es-ES" altLang="es-ES" sz="1400" dirty="0"/>
              <a:t> </a:t>
            </a:r>
            <a:r>
              <a:rPr lang="es-ES" altLang="es-ES" sz="1400" b="1" dirty="0"/>
              <a:t>(h</a:t>
            </a:r>
            <a:r>
              <a:rPr lang="es-ES" altLang="es-ES" sz="1400" b="1" baseline="-25000" dirty="0"/>
              <a:t>a</a:t>
            </a:r>
            <a:r>
              <a:rPr lang="es-ES" altLang="es-ES" sz="1400" b="1" dirty="0"/>
              <a:t>)  </a:t>
            </a:r>
            <a:r>
              <a:rPr lang="es-ES" altLang="es-ES" sz="1400" dirty="0"/>
              <a:t>con la que aparece dicho fenómeno cuando el </a:t>
            </a:r>
            <a:r>
              <a:rPr lang="es-ES" altLang="es-ES" sz="1400" b="1" dirty="0"/>
              <a:t>número de realizaciones </a:t>
            </a:r>
            <a:r>
              <a:rPr lang="es-ES" altLang="es-ES" sz="1400" dirty="0"/>
              <a:t>de la experiencia que permite observarlo es “</a:t>
            </a:r>
            <a:r>
              <a:rPr lang="es-ES" altLang="es-ES" sz="1400" b="1" dirty="0"/>
              <a:t>suficientemente</a:t>
            </a:r>
            <a:r>
              <a:rPr lang="es-ES" altLang="es-ES" sz="1400" dirty="0"/>
              <a:t>” </a:t>
            </a:r>
            <a:r>
              <a:rPr lang="es-ES" altLang="es-ES" sz="1400" b="1" dirty="0"/>
              <a:t>grande</a:t>
            </a:r>
          </a:p>
        </p:txBody>
      </p:sp>
      <p:sp>
        <p:nvSpPr>
          <p:cNvPr id="6152" name="31 Rectángulo"/>
          <p:cNvSpPr>
            <a:spLocks noChangeArrowheads="1"/>
          </p:cNvSpPr>
          <p:nvPr/>
        </p:nvSpPr>
        <p:spPr bwMode="auto">
          <a:xfrm>
            <a:off x="227219" y="5230812"/>
            <a:ext cx="4333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400" dirty="0"/>
              <a:t>Obsérvese que bajo esta definición</a:t>
            </a:r>
          </a:p>
        </p:txBody>
      </p:sp>
      <p:graphicFrame>
        <p:nvGraphicFramePr>
          <p:cNvPr id="6153" name="32 Objeto"/>
          <p:cNvGraphicFramePr>
            <a:graphicFrameLocks noChangeAspect="1"/>
          </p:cNvGraphicFramePr>
          <p:nvPr/>
        </p:nvGraphicFramePr>
        <p:xfrm>
          <a:off x="2590800" y="6261100"/>
          <a:ext cx="3629025" cy="368300"/>
        </p:xfrm>
        <a:graphic>
          <a:graphicData uri="http://schemas.openxmlformats.org/presentationml/2006/ole">
            <mc:AlternateContent xmlns:mc="http://schemas.openxmlformats.org/markup-compatibility/2006">
              <mc:Choice xmlns:v="urn:schemas-microsoft-com:vml" Requires="v">
                <p:oleObj name="Equation" r:id="rId13" imgW="2527300" imgH="254000" progId="Equation.DSMT4">
                  <p:embed/>
                </p:oleObj>
              </mc:Choice>
              <mc:Fallback>
                <p:oleObj name="Equation" r:id="rId13" imgW="2527300" imgH="254000" progId="Equation.DSMT4">
                  <p:embed/>
                  <p:pic>
                    <p:nvPicPr>
                      <p:cNvPr id="6153" name="32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90800" y="6261100"/>
                        <a:ext cx="36290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4" name="34 Objeto"/>
          <p:cNvGraphicFramePr>
            <a:graphicFrameLocks noChangeAspect="1"/>
          </p:cNvGraphicFramePr>
          <p:nvPr>
            <p:extLst>
              <p:ext uri="{D42A27DB-BD31-4B8C-83A1-F6EECF244321}">
                <p14:modId xmlns:p14="http://schemas.microsoft.com/office/powerpoint/2010/main" val="2196955585"/>
              </p:ext>
            </p:extLst>
          </p:nvPr>
        </p:nvGraphicFramePr>
        <p:xfrm>
          <a:off x="3470593" y="5236369"/>
          <a:ext cx="1093787" cy="293687"/>
        </p:xfrm>
        <a:graphic>
          <a:graphicData uri="http://schemas.openxmlformats.org/presentationml/2006/ole">
            <mc:AlternateContent xmlns:mc="http://schemas.openxmlformats.org/markup-compatibility/2006">
              <mc:Choice xmlns:v="urn:schemas-microsoft-com:vml" Requires="v">
                <p:oleObj name="Equation" r:id="rId15" imgW="761669" imgH="203112" progId="Equation.DSMT4">
                  <p:embed/>
                </p:oleObj>
              </mc:Choice>
              <mc:Fallback>
                <p:oleObj name="Equation" r:id="rId15" imgW="761669" imgH="203112" progId="Equation.DSMT4">
                  <p:embed/>
                  <p:pic>
                    <p:nvPicPr>
                      <p:cNvPr id="6154" name="34 Objeto"/>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70593" y="5236369"/>
                        <a:ext cx="109378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155" name="38 Grupo"/>
          <p:cNvGrpSpPr>
            <a:grpSpLocks/>
          </p:cNvGrpSpPr>
          <p:nvPr/>
        </p:nvGrpSpPr>
        <p:grpSpPr bwMode="auto">
          <a:xfrm>
            <a:off x="4797425" y="5013325"/>
            <a:ext cx="3889375" cy="739775"/>
            <a:chOff x="4789488" y="5458022"/>
            <a:chExt cx="3889776" cy="739578"/>
          </a:xfrm>
        </p:grpSpPr>
        <p:graphicFrame>
          <p:nvGraphicFramePr>
            <p:cNvPr id="6161" name="33 Objeto"/>
            <p:cNvGraphicFramePr>
              <a:graphicFrameLocks noChangeAspect="1"/>
            </p:cNvGraphicFramePr>
            <p:nvPr/>
          </p:nvGraphicFramePr>
          <p:xfrm>
            <a:off x="4808557" y="5458022"/>
            <a:ext cx="1349375" cy="330200"/>
          </p:xfrm>
          <a:graphic>
            <a:graphicData uri="http://schemas.openxmlformats.org/presentationml/2006/ole">
              <mc:AlternateContent xmlns:mc="http://schemas.openxmlformats.org/markup-compatibility/2006">
                <mc:Choice xmlns:v="urn:schemas-microsoft-com:vml" Requires="v">
                  <p:oleObj name="Equation" r:id="rId17" imgW="939800" imgH="228600" progId="Equation.DSMT4">
                    <p:embed/>
                  </p:oleObj>
                </mc:Choice>
                <mc:Fallback>
                  <p:oleObj name="Equation" r:id="rId17" imgW="939800" imgH="228600" progId="Equation.DSMT4">
                    <p:embed/>
                    <p:pic>
                      <p:nvPicPr>
                        <p:cNvPr id="6161" name="33 Objet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08557" y="5458022"/>
                          <a:ext cx="13493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62" name="35 Objeto"/>
            <p:cNvGraphicFramePr>
              <a:graphicFrameLocks noChangeAspect="1"/>
            </p:cNvGraphicFramePr>
            <p:nvPr/>
          </p:nvGraphicFramePr>
          <p:xfrm>
            <a:off x="4789488" y="5867400"/>
            <a:ext cx="1312862" cy="330200"/>
          </p:xfrm>
          <a:graphic>
            <a:graphicData uri="http://schemas.openxmlformats.org/presentationml/2006/ole">
              <mc:AlternateContent xmlns:mc="http://schemas.openxmlformats.org/markup-compatibility/2006">
                <mc:Choice xmlns:v="urn:schemas-microsoft-com:vml" Requires="v">
                  <p:oleObj name="Equation" r:id="rId19" imgW="914400" imgH="228600" progId="Equation.DSMT4">
                    <p:embed/>
                  </p:oleObj>
                </mc:Choice>
                <mc:Fallback>
                  <p:oleObj name="Equation" r:id="rId19" imgW="914400" imgH="228600" progId="Equation.DSMT4">
                    <p:embed/>
                    <p:pic>
                      <p:nvPicPr>
                        <p:cNvPr id="6162" name="35 Objeto"/>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89488" y="5867400"/>
                          <a:ext cx="13128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63" name="36 Rectángulo"/>
            <p:cNvSpPr>
              <a:spLocks noChangeArrowheads="1"/>
            </p:cNvSpPr>
            <p:nvPr/>
          </p:nvSpPr>
          <p:spPr bwMode="auto">
            <a:xfrm>
              <a:off x="6164664" y="5867400"/>
              <a:ext cx="2514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a:t>Si siempre se observa A</a:t>
              </a:r>
            </a:p>
          </p:txBody>
        </p:sp>
        <p:sp>
          <p:nvSpPr>
            <p:cNvPr id="6164" name="37 Rectángulo"/>
            <p:cNvSpPr>
              <a:spLocks noChangeArrowheads="1"/>
            </p:cNvSpPr>
            <p:nvPr/>
          </p:nvSpPr>
          <p:spPr bwMode="auto">
            <a:xfrm>
              <a:off x="6164664" y="5463140"/>
              <a:ext cx="2514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a:t>Si nunca se observa A</a:t>
              </a:r>
            </a:p>
          </p:txBody>
        </p:sp>
      </p:grpSp>
      <p:sp>
        <p:nvSpPr>
          <p:cNvPr id="6156" name="40 Rectángulo"/>
          <p:cNvSpPr>
            <a:spLocks noChangeArrowheads="1"/>
          </p:cNvSpPr>
          <p:nvPr/>
        </p:nvSpPr>
        <p:spPr bwMode="auto">
          <a:xfrm>
            <a:off x="227219" y="5798624"/>
            <a:ext cx="81105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400" dirty="0"/>
              <a:t>Por otra parte, si un fenómeno puede aparecer en forma de solo una de </a:t>
            </a:r>
            <a:r>
              <a:rPr lang="es-ES" altLang="es-ES" sz="1600" i="1" dirty="0">
                <a:latin typeface="Times New Roman" panose="02020603050405020304" pitchFamily="18" charset="0"/>
                <a:cs typeface="Times New Roman" panose="02020603050405020304" pitchFamily="18" charset="0"/>
              </a:rPr>
              <a:t>k</a:t>
            </a:r>
            <a:r>
              <a:rPr lang="es-ES" altLang="es-ES" sz="1400" dirty="0"/>
              <a:t> modalidades posibles: A</a:t>
            </a:r>
            <a:r>
              <a:rPr lang="es-ES" altLang="es-ES" sz="1400" baseline="-25000" dirty="0"/>
              <a:t>1</a:t>
            </a:r>
            <a:r>
              <a:rPr lang="es-ES" altLang="es-ES" sz="1400" dirty="0"/>
              <a:t>, A</a:t>
            </a:r>
            <a:r>
              <a:rPr lang="es-ES" altLang="es-ES" sz="1400" baseline="-25000" dirty="0"/>
              <a:t>2</a:t>
            </a:r>
            <a:r>
              <a:rPr lang="es-ES" altLang="es-ES" sz="1400" dirty="0"/>
              <a:t>,…, </a:t>
            </a:r>
            <a:r>
              <a:rPr lang="es-ES" altLang="es-ES" sz="1400" dirty="0" err="1"/>
              <a:t>A</a:t>
            </a:r>
            <a:r>
              <a:rPr lang="es-ES" altLang="es-ES" sz="1400" i="1" baseline="-25000" dirty="0" err="1">
                <a:latin typeface="Times New Roman" panose="02020603050405020304" pitchFamily="18" charset="0"/>
                <a:cs typeface="Times New Roman" panose="02020603050405020304" pitchFamily="18" charset="0"/>
              </a:rPr>
              <a:t>k</a:t>
            </a:r>
            <a:r>
              <a:rPr lang="es-ES" altLang="es-ES" sz="1400" dirty="0"/>
              <a:t>  entonces</a:t>
            </a:r>
          </a:p>
        </p:txBody>
      </p:sp>
      <p:sp>
        <p:nvSpPr>
          <p:cNvPr id="2" name="1 Abrir llave"/>
          <p:cNvSpPr>
            <a:spLocks/>
          </p:cNvSpPr>
          <p:nvPr/>
        </p:nvSpPr>
        <p:spPr bwMode="auto">
          <a:xfrm>
            <a:off x="4584700" y="5072062"/>
            <a:ext cx="155575" cy="622300"/>
          </a:xfrm>
          <a:prstGeom prst="leftBrace">
            <a:avLst>
              <a:gd name="adj1" fmla="val 8333"/>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p>
            <a:pPr algn="ctr">
              <a:defRPr/>
            </a:pPr>
            <a:endParaRPr lang="es-ES">
              <a:solidFill>
                <a:srgbClr val="FF0000"/>
              </a:solidFill>
              <a:latin typeface="+mn-lt"/>
            </a:endParaRPr>
          </a:p>
        </p:txBody>
      </p:sp>
      <p:graphicFrame>
        <p:nvGraphicFramePr>
          <p:cNvPr id="6158" name="34 Objeto"/>
          <p:cNvGraphicFramePr>
            <a:graphicFrameLocks noChangeAspect="1"/>
          </p:cNvGraphicFramePr>
          <p:nvPr/>
        </p:nvGraphicFramePr>
        <p:xfrm>
          <a:off x="6456363" y="2595563"/>
          <a:ext cx="2078037" cy="330200"/>
        </p:xfrm>
        <a:graphic>
          <a:graphicData uri="http://schemas.openxmlformats.org/presentationml/2006/ole">
            <mc:AlternateContent xmlns:mc="http://schemas.openxmlformats.org/markup-compatibility/2006">
              <mc:Choice xmlns:v="urn:schemas-microsoft-com:vml" Requires="v">
                <p:oleObj name="Equation" r:id="rId21" imgW="1447800" imgH="228600" progId="Equation.DSMT4">
                  <p:embed/>
                </p:oleObj>
              </mc:Choice>
              <mc:Fallback>
                <p:oleObj name="Equation" r:id="rId21" imgW="1447800" imgH="228600" progId="Equation.DSMT4">
                  <p:embed/>
                  <p:pic>
                    <p:nvPicPr>
                      <p:cNvPr id="6158" name="34 Objeto"/>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56363" y="2595563"/>
                        <a:ext cx="207803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9" name="34 Objeto"/>
          <p:cNvGraphicFramePr>
            <a:graphicFrameLocks noChangeAspect="1"/>
          </p:cNvGraphicFramePr>
          <p:nvPr/>
        </p:nvGraphicFramePr>
        <p:xfrm>
          <a:off x="2393950" y="2584450"/>
          <a:ext cx="273050" cy="330200"/>
        </p:xfrm>
        <a:graphic>
          <a:graphicData uri="http://schemas.openxmlformats.org/presentationml/2006/ole">
            <mc:AlternateContent xmlns:mc="http://schemas.openxmlformats.org/markup-compatibility/2006">
              <mc:Choice xmlns:v="urn:schemas-microsoft-com:vml" Requires="v">
                <p:oleObj name="Equation" r:id="rId23" imgW="190500" imgH="228600" progId="Equation.DSMT4">
                  <p:embed/>
                </p:oleObj>
              </mc:Choice>
              <mc:Fallback>
                <p:oleObj name="Equation" r:id="rId23" imgW="190500" imgH="228600" progId="Equation.DSMT4">
                  <p:embed/>
                  <p:pic>
                    <p:nvPicPr>
                      <p:cNvPr id="6159" name="34 Objeto"/>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393950" y="2584450"/>
                        <a:ext cx="2730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57343 CuadroTexto"/>
          <p:cNvSpPr txBox="1">
            <a:spLocks noChangeArrowheads="1"/>
          </p:cNvSpPr>
          <p:nvPr/>
        </p:nvSpPr>
        <p:spPr bwMode="auto">
          <a:xfrm>
            <a:off x="152400" y="429762"/>
            <a:ext cx="50739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2000" b="1" dirty="0"/>
              <a:t>Perspectiva </a:t>
            </a:r>
            <a:r>
              <a:rPr lang="es-ES" altLang="es-ES" sz="2000" b="1" dirty="0">
                <a:solidFill>
                  <a:srgbClr val="FF0000"/>
                </a:solidFill>
              </a:rPr>
              <a:t>frecuencista</a:t>
            </a:r>
            <a:r>
              <a:rPr lang="es-ES" altLang="es-ES" sz="2000" b="1" dirty="0"/>
              <a:t>: la Ley de Azar</a:t>
            </a:r>
          </a:p>
        </p:txBody>
      </p:sp>
      <p:sp>
        <p:nvSpPr>
          <p:cNvPr id="31" name="9 Rectángulo"/>
          <p:cNvSpPr>
            <a:spLocks noChangeArrowheads="1"/>
          </p:cNvSpPr>
          <p:nvPr/>
        </p:nvSpPr>
        <p:spPr bwMode="auto">
          <a:xfrm>
            <a:off x="152400" y="24949"/>
            <a:ext cx="2743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Concepto de probabilidad</a:t>
            </a:r>
            <a:endParaRPr lang="es-ES" altLang="es-ES" sz="1400" dirty="0">
              <a:solidFill>
                <a:srgbClr val="C00000"/>
              </a:solidFill>
            </a:endParaRPr>
          </a:p>
        </p:txBody>
      </p:sp>
      <p:sp>
        <p:nvSpPr>
          <p:cNvPr id="3" name="CuadroTexto 2">
            <a:extLst>
              <a:ext uri="{FF2B5EF4-FFF2-40B4-BE49-F238E27FC236}">
                <a16:creationId xmlns:a16="http://schemas.microsoft.com/office/drawing/2014/main" id="{1E7963A0-212E-425A-A5F9-EBD9080C9713}"/>
              </a:ext>
            </a:extLst>
          </p:cNvPr>
          <p:cNvSpPr txBox="1"/>
          <p:nvPr/>
        </p:nvSpPr>
        <p:spPr>
          <a:xfrm>
            <a:off x="6868222" y="6294998"/>
            <a:ext cx="1470274" cy="276999"/>
          </a:xfrm>
          <a:prstGeom prst="rect">
            <a:avLst/>
          </a:prstGeom>
          <a:noFill/>
        </p:spPr>
        <p:txBody>
          <a:bodyPr wrap="none" rtlCol="0">
            <a:spAutoFit/>
          </a:bodyPr>
          <a:lstStyle/>
          <a:p>
            <a:r>
              <a:rPr lang="es-ES" dirty="0"/>
              <a:t>(Probabilidad total)</a:t>
            </a:r>
          </a:p>
        </p:txBody>
      </p:sp>
    </p:spTree>
    <p:extLst>
      <p:ext uri="{BB962C8B-B14F-4D97-AF65-F5344CB8AC3E}">
        <p14:creationId xmlns:p14="http://schemas.microsoft.com/office/powerpoint/2010/main" val="1964417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Text Box 3">
            <a:extLst>
              <a:ext uri="{FF2B5EF4-FFF2-40B4-BE49-F238E27FC236}">
                <a16:creationId xmlns:a16="http://schemas.microsoft.com/office/drawing/2014/main" id="{75B15EA9-E52F-4CE5-AEB6-0EEC2D7BDBA8}"/>
              </a:ext>
            </a:extLst>
          </p:cNvPr>
          <p:cNvSpPr txBox="1">
            <a:spLocks noChangeArrowheads="1"/>
          </p:cNvSpPr>
          <p:nvPr/>
        </p:nvSpPr>
        <p:spPr bwMode="auto">
          <a:xfrm>
            <a:off x="6515101" y="3213100"/>
            <a:ext cx="2521396" cy="979488"/>
          </a:xfrm>
          <a:prstGeom prst="rect">
            <a:avLst/>
          </a:prstGeom>
          <a:noFill/>
          <a:ln w="9525">
            <a:noFill/>
            <a:miter lim="800000"/>
            <a:headEnd/>
            <a:tailEnd/>
          </a:ln>
        </p:spPr>
        <p:txBody>
          <a:bodyPr/>
          <a:lstStyle/>
          <a:p>
            <a:pPr eaLnBrk="1" hangingPunct="1">
              <a:lnSpc>
                <a:spcPct val="120000"/>
              </a:lnSpc>
              <a:buClr>
                <a:srgbClr val="660066"/>
              </a:buClr>
              <a:buSzPct val="60000"/>
              <a:buFont typeface="Wingdings" pitchFamily="2" charset="2"/>
              <a:buNone/>
              <a:defRPr/>
            </a:pPr>
            <a:r>
              <a:rPr lang="es-ES_tradnl" sz="1400" dirty="0">
                <a:solidFill>
                  <a:schemeClr val="accent2">
                    <a:lumMod val="75000"/>
                  </a:schemeClr>
                </a:solidFill>
                <a:latin typeface="Arial" charset="0"/>
              </a:rPr>
              <a:t> </a:t>
            </a:r>
            <a:r>
              <a:rPr lang="es-ES_tradnl" sz="1400" b="1" dirty="0">
                <a:solidFill>
                  <a:schemeClr val="accent2">
                    <a:lumMod val="75000"/>
                  </a:schemeClr>
                </a:solidFill>
                <a:latin typeface="Arial" charset="0"/>
              </a:rPr>
              <a:t>El espacio muestral </a:t>
            </a:r>
            <a:r>
              <a:rPr lang="es-ES_tradnl" sz="1400" b="1" dirty="0">
                <a:solidFill>
                  <a:srgbClr val="FF0000"/>
                </a:solidFill>
                <a:latin typeface="Arial" charset="0"/>
              </a:rPr>
              <a:t>NO</a:t>
            </a:r>
            <a:r>
              <a:rPr lang="es-ES_tradnl" sz="1400" b="1" dirty="0">
                <a:solidFill>
                  <a:schemeClr val="accent2">
                    <a:lumMod val="75000"/>
                  </a:schemeClr>
                </a:solidFill>
                <a:latin typeface="Arial" charset="0"/>
              </a:rPr>
              <a:t> es </a:t>
            </a:r>
            <a:r>
              <a:rPr lang="es-ES_tradnl" sz="2400" b="1" dirty="0">
                <a:solidFill>
                  <a:srgbClr val="FF0000"/>
                </a:solidFill>
              </a:rPr>
              <a:t>equiprobable</a:t>
            </a:r>
            <a:endParaRPr lang="es-ES" sz="2400" b="1" dirty="0">
              <a:solidFill>
                <a:srgbClr val="FF0000"/>
              </a:solidFill>
              <a:latin typeface="Arial" charset="0"/>
            </a:endParaRPr>
          </a:p>
        </p:txBody>
      </p:sp>
      <p:sp>
        <p:nvSpPr>
          <p:cNvPr id="77832" name="Text Box 8">
            <a:extLst>
              <a:ext uri="{FF2B5EF4-FFF2-40B4-BE49-F238E27FC236}">
                <a16:creationId xmlns:a16="http://schemas.microsoft.com/office/drawing/2014/main" id="{2FC5FC53-812C-485F-8E87-F7F5C92FA5B0}"/>
              </a:ext>
            </a:extLst>
          </p:cNvPr>
          <p:cNvSpPr txBox="1">
            <a:spLocks noChangeArrowheads="1"/>
          </p:cNvSpPr>
          <p:nvPr/>
        </p:nvSpPr>
        <p:spPr bwMode="auto">
          <a:xfrm>
            <a:off x="611188" y="3213100"/>
            <a:ext cx="2087562"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400">
                <a:solidFill>
                  <a:schemeClr val="tx1"/>
                </a:solidFill>
              </a:rPr>
              <a:t>A: Gana el caballo A</a:t>
            </a:r>
          </a:p>
          <a:p>
            <a:pPr eaLnBrk="1" hangingPunct="1">
              <a:spcBef>
                <a:spcPct val="50000"/>
              </a:spcBef>
              <a:buClrTx/>
              <a:buSzTx/>
              <a:buFontTx/>
              <a:buNone/>
            </a:pPr>
            <a:r>
              <a:rPr lang="es-ES" altLang="es-ES" sz="1400">
                <a:solidFill>
                  <a:schemeClr val="tx1"/>
                </a:solidFill>
              </a:rPr>
              <a:t>B: Gana el caballo B</a:t>
            </a:r>
          </a:p>
          <a:p>
            <a:pPr eaLnBrk="1" hangingPunct="1">
              <a:spcBef>
                <a:spcPct val="50000"/>
              </a:spcBef>
              <a:buClrTx/>
              <a:buSzTx/>
              <a:buFontTx/>
              <a:buNone/>
            </a:pPr>
            <a:r>
              <a:rPr lang="es-ES" altLang="es-ES" sz="1400">
                <a:solidFill>
                  <a:schemeClr val="tx1"/>
                </a:solidFill>
              </a:rPr>
              <a:t>C: Gana el caballo C</a:t>
            </a:r>
          </a:p>
        </p:txBody>
      </p:sp>
      <p:sp>
        <p:nvSpPr>
          <p:cNvPr id="77833" name="Text Box 9">
            <a:extLst>
              <a:ext uri="{FF2B5EF4-FFF2-40B4-BE49-F238E27FC236}">
                <a16:creationId xmlns:a16="http://schemas.microsoft.com/office/drawing/2014/main" id="{97F58575-0F62-43FE-8172-61C24E04B8BB}"/>
              </a:ext>
            </a:extLst>
          </p:cNvPr>
          <p:cNvSpPr txBox="1">
            <a:spLocks noChangeArrowheads="1"/>
          </p:cNvSpPr>
          <p:nvPr/>
        </p:nvSpPr>
        <p:spPr bwMode="auto">
          <a:xfrm>
            <a:off x="2987675" y="3213100"/>
            <a:ext cx="2160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400" b="1">
                <a:solidFill>
                  <a:schemeClr val="tx1"/>
                </a:solidFill>
              </a:rPr>
              <a:t>Espacio muestral: </a:t>
            </a:r>
          </a:p>
        </p:txBody>
      </p:sp>
      <p:sp>
        <p:nvSpPr>
          <p:cNvPr id="77834" name="Text Box 10">
            <a:extLst>
              <a:ext uri="{FF2B5EF4-FFF2-40B4-BE49-F238E27FC236}">
                <a16:creationId xmlns:a16="http://schemas.microsoft.com/office/drawing/2014/main" id="{F9137B9F-6B8D-490D-9F9D-2ABA202099A0}"/>
              </a:ext>
            </a:extLst>
          </p:cNvPr>
          <p:cNvSpPr txBox="1">
            <a:spLocks noChangeArrowheads="1"/>
          </p:cNvSpPr>
          <p:nvPr/>
        </p:nvSpPr>
        <p:spPr bwMode="auto">
          <a:xfrm>
            <a:off x="5002212" y="3035301"/>
            <a:ext cx="1368425" cy="1195388"/>
          </a:xfrm>
          <a:prstGeom prst="rect">
            <a:avLst/>
          </a:prstGeom>
          <a:noFill/>
          <a:ln w="31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800">
                <a:solidFill>
                  <a:schemeClr val="tx1"/>
                </a:solidFill>
              </a:rPr>
              <a:t>P(C)= k</a:t>
            </a:r>
          </a:p>
          <a:p>
            <a:pPr eaLnBrk="1" hangingPunct="1">
              <a:spcBef>
                <a:spcPct val="50000"/>
              </a:spcBef>
              <a:buClrTx/>
              <a:buSzTx/>
              <a:buFontTx/>
              <a:buNone/>
            </a:pPr>
            <a:r>
              <a:rPr lang="es-ES" altLang="es-ES" sz="1800">
                <a:solidFill>
                  <a:schemeClr val="tx1"/>
                </a:solidFill>
              </a:rPr>
              <a:t>P(B) = 2k</a:t>
            </a:r>
          </a:p>
          <a:p>
            <a:pPr eaLnBrk="1" hangingPunct="1">
              <a:spcBef>
                <a:spcPct val="50000"/>
              </a:spcBef>
              <a:buClrTx/>
              <a:buSzTx/>
              <a:buFontTx/>
              <a:buNone/>
            </a:pPr>
            <a:r>
              <a:rPr lang="es-ES" altLang="es-ES" sz="1800">
                <a:solidFill>
                  <a:schemeClr val="tx1"/>
                </a:solidFill>
              </a:rPr>
              <a:t>P(A) = 4k</a:t>
            </a:r>
          </a:p>
        </p:txBody>
      </p:sp>
      <p:sp>
        <p:nvSpPr>
          <p:cNvPr id="77835" name="Text Box 11">
            <a:extLst>
              <a:ext uri="{FF2B5EF4-FFF2-40B4-BE49-F238E27FC236}">
                <a16:creationId xmlns:a16="http://schemas.microsoft.com/office/drawing/2014/main" id="{2EED6A31-C9BD-498C-9C07-21C6E9E97323}"/>
              </a:ext>
            </a:extLst>
          </p:cNvPr>
          <p:cNvSpPr txBox="1">
            <a:spLocks noChangeArrowheads="1"/>
          </p:cNvSpPr>
          <p:nvPr/>
        </p:nvSpPr>
        <p:spPr bwMode="auto">
          <a:xfrm>
            <a:off x="5508625" y="4675188"/>
            <a:ext cx="1368425" cy="12017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800">
                <a:solidFill>
                  <a:schemeClr val="tx1"/>
                </a:solidFill>
              </a:rPr>
              <a:t>P(C)= 1/7</a:t>
            </a:r>
          </a:p>
          <a:p>
            <a:pPr eaLnBrk="1" hangingPunct="1">
              <a:spcBef>
                <a:spcPct val="50000"/>
              </a:spcBef>
              <a:buClrTx/>
              <a:buSzTx/>
              <a:buFontTx/>
              <a:buNone/>
            </a:pPr>
            <a:r>
              <a:rPr lang="es-ES" altLang="es-ES" sz="1800">
                <a:solidFill>
                  <a:schemeClr val="tx1"/>
                </a:solidFill>
              </a:rPr>
              <a:t>P(B) = 2/7</a:t>
            </a:r>
          </a:p>
          <a:p>
            <a:pPr eaLnBrk="1" hangingPunct="1">
              <a:spcBef>
                <a:spcPct val="50000"/>
              </a:spcBef>
              <a:buClrTx/>
              <a:buSzTx/>
              <a:buFontTx/>
              <a:buNone/>
            </a:pPr>
            <a:r>
              <a:rPr lang="es-ES" altLang="es-ES" sz="1800">
                <a:solidFill>
                  <a:schemeClr val="tx1"/>
                </a:solidFill>
              </a:rPr>
              <a:t>P(A) = 4/7</a:t>
            </a:r>
          </a:p>
        </p:txBody>
      </p:sp>
      <p:sp>
        <p:nvSpPr>
          <p:cNvPr id="6159" name="Text Box 2">
            <a:extLst>
              <a:ext uri="{FF2B5EF4-FFF2-40B4-BE49-F238E27FC236}">
                <a16:creationId xmlns:a16="http://schemas.microsoft.com/office/drawing/2014/main" id="{D26E906A-C234-4A44-9E44-466297FD7BFE}"/>
              </a:ext>
            </a:extLst>
          </p:cNvPr>
          <p:cNvSpPr txBox="1">
            <a:spLocks noChangeArrowheads="1"/>
          </p:cNvSpPr>
          <p:nvPr/>
        </p:nvSpPr>
        <p:spPr bwMode="auto">
          <a:xfrm>
            <a:off x="250825" y="1844675"/>
            <a:ext cx="8704263" cy="739775"/>
          </a:xfrm>
          <a:prstGeom prst="rect">
            <a:avLst/>
          </a:prstGeom>
          <a:solidFill>
            <a:srgbClr val="E2F2F1">
              <a:alpha val="50195"/>
            </a:srgbClr>
          </a:solidFill>
          <a:ln w="9525">
            <a:solidFill>
              <a:schemeClr val="tx1"/>
            </a:solidFill>
            <a:miter lim="800000"/>
            <a:headEnd/>
            <a:tailEnd/>
          </a:ln>
        </p:spPr>
        <p:txBody>
          <a:bodyPr>
            <a:spAutoFit/>
          </a:bodyPr>
          <a:lstStyle/>
          <a:p>
            <a:pPr eaLnBrk="1" hangingPunct="1">
              <a:buFont typeface="Wingdings" pitchFamily="2" charset="2"/>
              <a:buNone/>
              <a:defRPr/>
            </a:pPr>
            <a:r>
              <a:rPr lang="es-ES_tradnl" sz="1400" b="1" dirty="0">
                <a:solidFill>
                  <a:schemeClr val="tx1">
                    <a:lumMod val="75000"/>
                    <a:lumOff val="25000"/>
                  </a:schemeClr>
                </a:solidFill>
                <a:latin typeface="Arial" charset="0"/>
              </a:rPr>
              <a:t>Ejemplo 1. En las carreras de caballos que se celebran en el hipódromo de Sevilla, se sabe que el caballo favorito, A, tiene el doble de probabilidad de ganar que B y B tiene el doble que C. Calcular las probabilidades de que gane cada uno.</a:t>
            </a:r>
            <a:endParaRPr lang="es-ES" sz="1400" b="1" dirty="0">
              <a:solidFill>
                <a:schemeClr val="tx1">
                  <a:lumMod val="75000"/>
                  <a:lumOff val="25000"/>
                </a:schemeClr>
              </a:solidFill>
              <a:latin typeface="Arial" charset="0"/>
            </a:endParaRPr>
          </a:p>
        </p:txBody>
      </p:sp>
      <p:sp>
        <p:nvSpPr>
          <p:cNvPr id="34824" name="Text Box 12">
            <a:extLst>
              <a:ext uri="{FF2B5EF4-FFF2-40B4-BE49-F238E27FC236}">
                <a16:creationId xmlns:a16="http://schemas.microsoft.com/office/drawing/2014/main" id="{118AE55D-87D3-471C-83EB-97620D7CBB9F}"/>
              </a:ext>
            </a:extLst>
          </p:cNvPr>
          <p:cNvSpPr txBox="1">
            <a:spLocks noChangeArrowheads="1"/>
          </p:cNvSpPr>
          <p:nvPr/>
        </p:nvSpPr>
        <p:spPr bwMode="auto">
          <a:xfrm>
            <a:off x="34131" y="279400"/>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2400" b="1" dirty="0">
                <a:solidFill>
                  <a:schemeClr val="tx1"/>
                </a:solidFill>
              </a:rPr>
              <a:t>Cálculo de Probabilidades: Probabilidad</a:t>
            </a:r>
          </a:p>
        </p:txBody>
      </p:sp>
      <p:sp>
        <p:nvSpPr>
          <p:cNvPr id="34825" name="Text Box 13">
            <a:extLst>
              <a:ext uri="{FF2B5EF4-FFF2-40B4-BE49-F238E27FC236}">
                <a16:creationId xmlns:a16="http://schemas.microsoft.com/office/drawing/2014/main" id="{2A0573FF-5F26-4247-85B3-37CB64EDF8C4}"/>
              </a:ext>
            </a:extLst>
          </p:cNvPr>
          <p:cNvSpPr txBox="1">
            <a:spLocks noChangeArrowheads="1"/>
          </p:cNvSpPr>
          <p:nvPr/>
        </p:nvSpPr>
        <p:spPr bwMode="auto">
          <a:xfrm>
            <a:off x="611188" y="973990"/>
            <a:ext cx="78851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2400" b="1" dirty="0">
                <a:solidFill>
                  <a:srgbClr val="CC0066"/>
                </a:solidFill>
              </a:rPr>
              <a:t>Definición axiomática de Probabilidad (</a:t>
            </a:r>
            <a:r>
              <a:rPr lang="es-ES" altLang="es-ES" sz="2400" b="1" dirty="0" err="1">
                <a:solidFill>
                  <a:srgbClr val="CC0066"/>
                </a:solidFill>
              </a:rPr>
              <a:t>Kolmogorov</a:t>
            </a:r>
            <a:r>
              <a:rPr lang="es-ES" altLang="es-ES" sz="2400" b="1" dirty="0">
                <a:solidFill>
                  <a:srgbClr val="CC0066"/>
                </a:solidFill>
              </a:rPr>
              <a:t>)</a:t>
            </a:r>
          </a:p>
        </p:txBody>
      </p:sp>
      <p:sp>
        <p:nvSpPr>
          <p:cNvPr id="77838" name="Text Box 14">
            <a:extLst>
              <a:ext uri="{FF2B5EF4-FFF2-40B4-BE49-F238E27FC236}">
                <a16:creationId xmlns:a16="http://schemas.microsoft.com/office/drawing/2014/main" id="{802AB025-4575-48CC-B5C4-2F68EBBEA3AC}"/>
              </a:ext>
            </a:extLst>
          </p:cNvPr>
          <p:cNvSpPr txBox="1">
            <a:spLocks noChangeArrowheads="1"/>
          </p:cNvSpPr>
          <p:nvPr/>
        </p:nvSpPr>
        <p:spPr bwMode="auto">
          <a:xfrm>
            <a:off x="250825" y="2781300"/>
            <a:ext cx="2447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_tradnl" altLang="es-ES" sz="1800" b="1">
                <a:solidFill>
                  <a:schemeClr val="hlink"/>
                </a:solidFill>
              </a:rPr>
              <a:t>Sucesos:</a:t>
            </a:r>
          </a:p>
        </p:txBody>
      </p:sp>
      <p:graphicFrame>
        <p:nvGraphicFramePr>
          <p:cNvPr id="77839" name="Object 15">
            <a:extLst>
              <a:ext uri="{FF2B5EF4-FFF2-40B4-BE49-F238E27FC236}">
                <a16:creationId xmlns:a16="http://schemas.microsoft.com/office/drawing/2014/main" id="{5FEEC577-9458-440C-950D-8D32EE9A96ED}"/>
              </a:ext>
            </a:extLst>
          </p:cNvPr>
          <p:cNvGraphicFramePr>
            <a:graphicFrameLocks noChangeAspect="1"/>
          </p:cNvGraphicFramePr>
          <p:nvPr/>
        </p:nvGraphicFramePr>
        <p:xfrm>
          <a:off x="3276600" y="3632200"/>
          <a:ext cx="1223963" cy="333375"/>
        </p:xfrm>
        <a:graphic>
          <a:graphicData uri="http://schemas.openxmlformats.org/presentationml/2006/ole">
            <mc:AlternateContent xmlns:mc="http://schemas.openxmlformats.org/markup-compatibility/2006">
              <mc:Choice xmlns:v="urn:schemas-microsoft-com:vml" Requires="v">
                <p:oleObj name="Ecuación" r:id="rId3" imgW="698500" imgH="190500" progId="Equation.3">
                  <p:embed/>
                </p:oleObj>
              </mc:Choice>
              <mc:Fallback>
                <p:oleObj name="Ecuación" r:id="rId3" imgW="698500" imgH="190500" progId="Equation.3">
                  <p:embed/>
                  <p:pic>
                    <p:nvPicPr>
                      <p:cNvPr id="77839" name="Object 15">
                        <a:extLst>
                          <a:ext uri="{FF2B5EF4-FFF2-40B4-BE49-F238E27FC236}">
                            <a16:creationId xmlns:a16="http://schemas.microsoft.com/office/drawing/2014/main" id="{5FEEC577-9458-440C-950D-8D32EE9A9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632200"/>
                        <a:ext cx="1223963" cy="333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0" name="Object 16">
            <a:extLst>
              <a:ext uri="{FF2B5EF4-FFF2-40B4-BE49-F238E27FC236}">
                <a16:creationId xmlns:a16="http://schemas.microsoft.com/office/drawing/2014/main" id="{D37E88AD-F807-4C8D-87EC-F6C9DE0721AD}"/>
              </a:ext>
            </a:extLst>
          </p:cNvPr>
          <p:cNvGraphicFramePr>
            <a:graphicFrameLocks noChangeAspect="1"/>
          </p:cNvGraphicFramePr>
          <p:nvPr/>
        </p:nvGraphicFramePr>
        <p:xfrm>
          <a:off x="1547813" y="4437063"/>
          <a:ext cx="1368425" cy="280987"/>
        </p:xfrm>
        <a:graphic>
          <a:graphicData uri="http://schemas.openxmlformats.org/presentationml/2006/ole">
            <mc:AlternateContent xmlns:mc="http://schemas.openxmlformats.org/markup-compatibility/2006">
              <mc:Choice xmlns:v="urn:schemas-microsoft-com:vml" Requires="v">
                <p:oleObj name="Ecuación" r:id="rId5" imgW="863225" imgH="177723" progId="Equation.3">
                  <p:embed/>
                </p:oleObj>
              </mc:Choice>
              <mc:Fallback>
                <p:oleObj name="Ecuación" r:id="rId5" imgW="863225" imgH="177723" progId="Equation.3">
                  <p:embed/>
                  <p:pic>
                    <p:nvPicPr>
                      <p:cNvPr id="77840" name="Object 16">
                        <a:extLst>
                          <a:ext uri="{FF2B5EF4-FFF2-40B4-BE49-F238E27FC236}">
                            <a16:creationId xmlns:a16="http://schemas.microsoft.com/office/drawing/2014/main" id="{D37E88AD-F807-4C8D-87EC-F6C9DE0721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4437063"/>
                        <a:ext cx="1368425"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1" name="Object 17">
            <a:extLst>
              <a:ext uri="{FF2B5EF4-FFF2-40B4-BE49-F238E27FC236}">
                <a16:creationId xmlns:a16="http://schemas.microsoft.com/office/drawing/2014/main" id="{2E55A405-9B6D-4B9F-942B-B4830229E191}"/>
              </a:ext>
            </a:extLst>
          </p:cNvPr>
          <p:cNvGraphicFramePr>
            <a:graphicFrameLocks noChangeAspect="1"/>
          </p:cNvGraphicFramePr>
          <p:nvPr/>
        </p:nvGraphicFramePr>
        <p:xfrm>
          <a:off x="2916238" y="4437063"/>
          <a:ext cx="623887" cy="280987"/>
        </p:xfrm>
        <a:graphic>
          <a:graphicData uri="http://schemas.openxmlformats.org/presentationml/2006/ole">
            <mc:AlternateContent xmlns:mc="http://schemas.openxmlformats.org/markup-compatibility/2006">
              <mc:Choice xmlns:v="urn:schemas-microsoft-com:vml" Requires="v">
                <p:oleObj name="Ecuación" r:id="rId7" imgW="393359" imgH="177646" progId="Equation.3">
                  <p:embed/>
                </p:oleObj>
              </mc:Choice>
              <mc:Fallback>
                <p:oleObj name="Ecuación" r:id="rId7" imgW="393359" imgH="177646" progId="Equation.3">
                  <p:embed/>
                  <p:pic>
                    <p:nvPicPr>
                      <p:cNvPr id="77841" name="Object 17">
                        <a:extLst>
                          <a:ext uri="{FF2B5EF4-FFF2-40B4-BE49-F238E27FC236}">
                            <a16:creationId xmlns:a16="http://schemas.microsoft.com/office/drawing/2014/main" id="{2E55A405-9B6D-4B9F-942B-B4830229E19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4437063"/>
                        <a:ext cx="623887"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2" name="Object 18">
            <a:extLst>
              <a:ext uri="{FF2B5EF4-FFF2-40B4-BE49-F238E27FC236}">
                <a16:creationId xmlns:a16="http://schemas.microsoft.com/office/drawing/2014/main" id="{4BCA7356-3FB7-4B8E-9370-646A9A682D4D}"/>
              </a:ext>
            </a:extLst>
          </p:cNvPr>
          <p:cNvGraphicFramePr>
            <a:graphicFrameLocks noChangeAspect="1"/>
          </p:cNvGraphicFramePr>
          <p:nvPr/>
        </p:nvGraphicFramePr>
        <p:xfrm>
          <a:off x="3563938" y="4437063"/>
          <a:ext cx="141287" cy="239712"/>
        </p:xfrm>
        <a:graphic>
          <a:graphicData uri="http://schemas.openxmlformats.org/presentationml/2006/ole">
            <mc:AlternateContent xmlns:mc="http://schemas.openxmlformats.org/markup-compatibility/2006">
              <mc:Choice xmlns:v="urn:schemas-microsoft-com:vml" Requires="v">
                <p:oleObj name="Ecuación" r:id="rId9" imgW="88746" imgH="152136" progId="Equation.3">
                  <p:embed/>
                </p:oleObj>
              </mc:Choice>
              <mc:Fallback>
                <p:oleObj name="Ecuación" r:id="rId9" imgW="88746" imgH="152136" progId="Equation.3">
                  <p:embed/>
                  <p:pic>
                    <p:nvPicPr>
                      <p:cNvPr id="77842" name="Object 18">
                        <a:extLst>
                          <a:ext uri="{FF2B5EF4-FFF2-40B4-BE49-F238E27FC236}">
                            <a16:creationId xmlns:a16="http://schemas.microsoft.com/office/drawing/2014/main" id="{4BCA7356-3FB7-4B8E-9370-646A9A682D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63938" y="4437063"/>
                        <a:ext cx="141287" cy="239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3" name="Object 19">
            <a:extLst>
              <a:ext uri="{FF2B5EF4-FFF2-40B4-BE49-F238E27FC236}">
                <a16:creationId xmlns:a16="http://schemas.microsoft.com/office/drawing/2014/main" id="{5D8DD933-027A-40E1-AB24-B2BA2FDEDACA}"/>
              </a:ext>
            </a:extLst>
          </p:cNvPr>
          <p:cNvGraphicFramePr>
            <a:graphicFrameLocks noChangeAspect="1"/>
          </p:cNvGraphicFramePr>
          <p:nvPr/>
        </p:nvGraphicFramePr>
        <p:xfrm>
          <a:off x="1835150" y="5445125"/>
          <a:ext cx="1584325" cy="287338"/>
        </p:xfrm>
        <a:graphic>
          <a:graphicData uri="http://schemas.openxmlformats.org/presentationml/2006/ole">
            <mc:AlternateContent xmlns:mc="http://schemas.openxmlformats.org/markup-compatibility/2006">
              <mc:Choice xmlns:v="urn:schemas-microsoft-com:vml" Requires="v">
                <p:oleObj name="Ecuación" r:id="rId11" imgW="837836" imgH="152334" progId="Equation.3">
                  <p:embed/>
                </p:oleObj>
              </mc:Choice>
              <mc:Fallback>
                <p:oleObj name="Ecuación" r:id="rId11" imgW="837836" imgH="152334" progId="Equation.3">
                  <p:embed/>
                  <p:pic>
                    <p:nvPicPr>
                      <p:cNvPr id="77843" name="Object 19">
                        <a:extLst>
                          <a:ext uri="{FF2B5EF4-FFF2-40B4-BE49-F238E27FC236}">
                            <a16:creationId xmlns:a16="http://schemas.microsoft.com/office/drawing/2014/main" id="{5D8DD933-027A-40E1-AB24-B2BA2FDEDA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5150" y="5445125"/>
                        <a:ext cx="1584325" cy="28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4" name="Object 20">
            <a:extLst>
              <a:ext uri="{FF2B5EF4-FFF2-40B4-BE49-F238E27FC236}">
                <a16:creationId xmlns:a16="http://schemas.microsoft.com/office/drawing/2014/main" id="{6143B1AB-9C68-4C62-9B2B-844F6459E15C}"/>
              </a:ext>
            </a:extLst>
          </p:cNvPr>
          <p:cNvGraphicFramePr>
            <a:graphicFrameLocks noChangeAspect="1"/>
          </p:cNvGraphicFramePr>
          <p:nvPr/>
        </p:nvGraphicFramePr>
        <p:xfrm>
          <a:off x="2339975" y="5876925"/>
          <a:ext cx="647700" cy="258763"/>
        </p:xfrm>
        <a:graphic>
          <a:graphicData uri="http://schemas.openxmlformats.org/presentationml/2006/ole">
            <mc:AlternateContent xmlns:mc="http://schemas.openxmlformats.org/markup-compatibility/2006">
              <mc:Choice xmlns:v="urn:schemas-microsoft-com:vml" Requires="v">
                <p:oleObj name="Ecuación" r:id="rId13" imgW="380835" imgH="152334" progId="Equation.3">
                  <p:embed/>
                </p:oleObj>
              </mc:Choice>
              <mc:Fallback>
                <p:oleObj name="Ecuación" r:id="rId13" imgW="380835" imgH="152334" progId="Equation.3">
                  <p:embed/>
                  <p:pic>
                    <p:nvPicPr>
                      <p:cNvPr id="77844" name="Object 20">
                        <a:extLst>
                          <a:ext uri="{FF2B5EF4-FFF2-40B4-BE49-F238E27FC236}">
                            <a16:creationId xmlns:a16="http://schemas.microsoft.com/office/drawing/2014/main" id="{6143B1AB-9C68-4C62-9B2B-844F6459E15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9975" y="5876925"/>
                        <a:ext cx="647700" cy="258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5" name="Object 21">
            <a:extLst>
              <a:ext uri="{FF2B5EF4-FFF2-40B4-BE49-F238E27FC236}">
                <a16:creationId xmlns:a16="http://schemas.microsoft.com/office/drawing/2014/main" id="{AC0C13F9-85F5-4D51-BCF8-E90B48605B2F}"/>
              </a:ext>
            </a:extLst>
          </p:cNvPr>
          <p:cNvGraphicFramePr>
            <a:graphicFrameLocks noChangeAspect="1"/>
          </p:cNvGraphicFramePr>
          <p:nvPr/>
        </p:nvGraphicFramePr>
        <p:xfrm>
          <a:off x="2411413" y="6165850"/>
          <a:ext cx="790575" cy="503238"/>
        </p:xfrm>
        <a:graphic>
          <a:graphicData uri="http://schemas.openxmlformats.org/presentationml/2006/ole">
            <mc:AlternateContent xmlns:mc="http://schemas.openxmlformats.org/markup-compatibility/2006">
              <mc:Choice xmlns:v="urn:schemas-microsoft-com:vml" Requires="v">
                <p:oleObj name="Ecuación" r:id="rId15" imgW="418918" imgH="266584" progId="Equation.3">
                  <p:embed/>
                </p:oleObj>
              </mc:Choice>
              <mc:Fallback>
                <p:oleObj name="Ecuación" r:id="rId15" imgW="418918" imgH="266584" progId="Equation.3">
                  <p:embed/>
                  <p:pic>
                    <p:nvPicPr>
                      <p:cNvPr id="77845" name="Object 21">
                        <a:extLst>
                          <a:ext uri="{FF2B5EF4-FFF2-40B4-BE49-F238E27FC236}">
                            <a16:creationId xmlns:a16="http://schemas.microsoft.com/office/drawing/2014/main" id="{AC0C13F9-85F5-4D51-BCF8-E90B48605B2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11413" y="6165850"/>
                        <a:ext cx="79057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6" name="Object 22">
            <a:extLst>
              <a:ext uri="{FF2B5EF4-FFF2-40B4-BE49-F238E27FC236}">
                <a16:creationId xmlns:a16="http://schemas.microsoft.com/office/drawing/2014/main" id="{884D39CF-17ED-48F0-89CD-C8445B9A8941}"/>
              </a:ext>
            </a:extLst>
          </p:cNvPr>
          <p:cNvGraphicFramePr>
            <a:graphicFrameLocks noChangeAspect="1"/>
          </p:cNvGraphicFramePr>
          <p:nvPr/>
        </p:nvGraphicFramePr>
        <p:xfrm>
          <a:off x="1619250" y="4941888"/>
          <a:ext cx="2160588" cy="327025"/>
        </p:xfrm>
        <a:graphic>
          <a:graphicData uri="http://schemas.openxmlformats.org/presentationml/2006/ole">
            <mc:AlternateContent xmlns:mc="http://schemas.openxmlformats.org/markup-compatibility/2006">
              <mc:Choice xmlns:v="urn:schemas-microsoft-com:vml" Requires="v">
                <p:oleObj name="Ecuación" r:id="rId17" imgW="1422400" imgH="215900" progId="Equation.3">
                  <p:embed/>
                </p:oleObj>
              </mc:Choice>
              <mc:Fallback>
                <p:oleObj name="Ecuación" r:id="rId17" imgW="1422400" imgH="215900" progId="Equation.3">
                  <p:embed/>
                  <p:pic>
                    <p:nvPicPr>
                      <p:cNvPr id="77846" name="Object 22">
                        <a:extLst>
                          <a:ext uri="{FF2B5EF4-FFF2-40B4-BE49-F238E27FC236}">
                            <a16:creationId xmlns:a16="http://schemas.microsoft.com/office/drawing/2014/main" id="{884D39CF-17ED-48F0-89CD-C8445B9A894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19250" y="4941888"/>
                        <a:ext cx="2160588"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36372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77838"/>
                                        </p:tgtEl>
                                        <p:attrNameLst>
                                          <p:attrName>style.visibility</p:attrName>
                                        </p:attrNameLst>
                                      </p:cBhvr>
                                      <p:to>
                                        <p:strVal val="visible"/>
                                      </p:to>
                                    </p:set>
                                    <p:animEffect transition="in" filter="strips(downLeft)">
                                      <p:cBhvr>
                                        <p:cTn id="7" dur="500"/>
                                        <p:tgtEl>
                                          <p:spTgt spid="778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7832">
                                            <p:txEl>
                                              <p:pRg st="0" end="0"/>
                                            </p:txEl>
                                          </p:spTgt>
                                        </p:tgtEl>
                                        <p:attrNameLst>
                                          <p:attrName>style.visibility</p:attrName>
                                        </p:attrNameLst>
                                      </p:cBhvr>
                                      <p:to>
                                        <p:strVal val="visible"/>
                                      </p:to>
                                    </p:set>
                                    <p:animEffect transition="in" filter="checkerboard(across)">
                                      <p:cBhvr>
                                        <p:cTn id="12" dur="500"/>
                                        <p:tgtEl>
                                          <p:spTgt spid="7783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7832">
                                            <p:txEl>
                                              <p:pRg st="1" end="1"/>
                                            </p:txEl>
                                          </p:spTgt>
                                        </p:tgtEl>
                                        <p:attrNameLst>
                                          <p:attrName>style.visibility</p:attrName>
                                        </p:attrNameLst>
                                      </p:cBhvr>
                                      <p:to>
                                        <p:strVal val="visible"/>
                                      </p:to>
                                    </p:set>
                                    <p:animEffect transition="in" filter="checkerboard(across)">
                                      <p:cBhvr>
                                        <p:cTn id="17" dur="500"/>
                                        <p:tgtEl>
                                          <p:spTgt spid="7783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77832">
                                            <p:txEl>
                                              <p:pRg st="2" end="2"/>
                                            </p:txEl>
                                          </p:spTgt>
                                        </p:tgtEl>
                                        <p:attrNameLst>
                                          <p:attrName>style.visibility</p:attrName>
                                        </p:attrNameLst>
                                      </p:cBhvr>
                                      <p:to>
                                        <p:strVal val="visible"/>
                                      </p:to>
                                    </p:set>
                                    <p:animEffect transition="in" filter="checkerboard(across)">
                                      <p:cBhvr>
                                        <p:cTn id="22" dur="500"/>
                                        <p:tgtEl>
                                          <p:spTgt spid="7783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77833"/>
                                        </p:tgtEl>
                                        <p:attrNameLst>
                                          <p:attrName>style.visibility</p:attrName>
                                        </p:attrNameLst>
                                      </p:cBhvr>
                                      <p:to>
                                        <p:strVal val="visible"/>
                                      </p:to>
                                    </p:set>
                                    <p:animEffect transition="in" filter="barn(inHorizontal)">
                                      <p:cBhvr>
                                        <p:cTn id="27" dur="500"/>
                                        <p:tgtEl>
                                          <p:spTgt spid="77833"/>
                                        </p:tgtEl>
                                      </p:cBhvr>
                                    </p:animEffect>
                                  </p:childTnLst>
                                </p:cTn>
                              </p:par>
                              <p:par>
                                <p:cTn id="28" presetID="16" presetClass="entr" presetSubtype="26" fill="hold" nodeType="withEffect">
                                  <p:stCondLst>
                                    <p:cond delay="0"/>
                                  </p:stCondLst>
                                  <p:childTnLst>
                                    <p:set>
                                      <p:cBhvr>
                                        <p:cTn id="29" dur="1" fill="hold">
                                          <p:stCondLst>
                                            <p:cond delay="0"/>
                                          </p:stCondLst>
                                        </p:cTn>
                                        <p:tgtEl>
                                          <p:spTgt spid="77839"/>
                                        </p:tgtEl>
                                        <p:attrNameLst>
                                          <p:attrName>style.visibility</p:attrName>
                                        </p:attrNameLst>
                                      </p:cBhvr>
                                      <p:to>
                                        <p:strVal val="visible"/>
                                      </p:to>
                                    </p:set>
                                    <p:animEffect transition="in" filter="barn(inHorizontal)">
                                      <p:cBhvr>
                                        <p:cTn id="30" dur="500"/>
                                        <p:tgtEl>
                                          <p:spTgt spid="7783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10" fill="hold" grpId="0" nodeType="clickEffect">
                                  <p:stCondLst>
                                    <p:cond delay="0"/>
                                  </p:stCondLst>
                                  <p:childTnLst>
                                    <p:set>
                                      <p:cBhvr>
                                        <p:cTn id="34" dur="1" fill="hold">
                                          <p:stCondLst>
                                            <p:cond delay="0"/>
                                          </p:stCondLst>
                                        </p:cTn>
                                        <p:tgtEl>
                                          <p:spTgt spid="77834">
                                            <p:bg/>
                                          </p:spTgt>
                                        </p:tgtEl>
                                        <p:attrNameLst>
                                          <p:attrName>style.visibility</p:attrName>
                                        </p:attrNameLst>
                                      </p:cBhvr>
                                      <p:to>
                                        <p:strVal val="visible"/>
                                      </p:to>
                                    </p:set>
                                    <p:anim calcmode="lin" valueType="num">
                                      <p:cBhvr>
                                        <p:cTn id="35" dur="500" fill="hold"/>
                                        <p:tgtEl>
                                          <p:spTgt spid="77834">
                                            <p:bg/>
                                          </p:spTgt>
                                        </p:tgtEl>
                                        <p:attrNameLst>
                                          <p:attrName>ppt_w</p:attrName>
                                        </p:attrNameLst>
                                      </p:cBhvr>
                                      <p:tavLst>
                                        <p:tav tm="0">
                                          <p:val>
                                            <p:fltVal val="0"/>
                                          </p:val>
                                        </p:tav>
                                        <p:tav tm="100000">
                                          <p:val>
                                            <p:strVal val="#ppt_w"/>
                                          </p:val>
                                        </p:tav>
                                      </p:tavLst>
                                    </p:anim>
                                    <p:anim calcmode="lin" valueType="num">
                                      <p:cBhvr>
                                        <p:cTn id="36" dur="500" fill="hold"/>
                                        <p:tgtEl>
                                          <p:spTgt spid="77834">
                                            <p:bg/>
                                          </p:spTgt>
                                        </p:tgtEl>
                                        <p:attrNameLst>
                                          <p:attrName>ppt_h</p:attrName>
                                        </p:attrNameLst>
                                      </p:cBhvr>
                                      <p:tavLst>
                                        <p:tav tm="0">
                                          <p:val>
                                            <p:strVal val="#ppt_h"/>
                                          </p:val>
                                        </p:tav>
                                        <p:tav tm="100000">
                                          <p:val>
                                            <p:strVal val="#ppt_h"/>
                                          </p:val>
                                        </p:tav>
                                      </p:tavLst>
                                    </p:anim>
                                  </p:childTnLst>
                                </p:cTn>
                              </p:par>
                              <p:par>
                                <p:cTn id="37" presetID="17" presetClass="entr" presetSubtype="10" fill="hold" grpId="0" nodeType="withEffect">
                                  <p:stCondLst>
                                    <p:cond delay="0"/>
                                  </p:stCondLst>
                                  <p:childTnLst>
                                    <p:set>
                                      <p:cBhvr>
                                        <p:cTn id="38" dur="1" fill="hold">
                                          <p:stCondLst>
                                            <p:cond delay="0"/>
                                          </p:stCondLst>
                                        </p:cTn>
                                        <p:tgtEl>
                                          <p:spTgt spid="77834">
                                            <p:txEl>
                                              <p:pRg st="0" end="0"/>
                                            </p:txEl>
                                          </p:spTgt>
                                        </p:tgtEl>
                                        <p:attrNameLst>
                                          <p:attrName>style.visibility</p:attrName>
                                        </p:attrNameLst>
                                      </p:cBhvr>
                                      <p:to>
                                        <p:strVal val="visible"/>
                                      </p:to>
                                    </p:set>
                                    <p:anim calcmode="lin" valueType="num">
                                      <p:cBhvr>
                                        <p:cTn id="39" dur="500" fill="hold"/>
                                        <p:tgtEl>
                                          <p:spTgt spid="77834">
                                            <p:txEl>
                                              <p:pRg st="0" end="0"/>
                                            </p:txEl>
                                          </p:spTgt>
                                        </p:tgtEl>
                                        <p:attrNameLst>
                                          <p:attrName>ppt_w</p:attrName>
                                        </p:attrNameLst>
                                      </p:cBhvr>
                                      <p:tavLst>
                                        <p:tav tm="0">
                                          <p:val>
                                            <p:fltVal val="0"/>
                                          </p:val>
                                        </p:tav>
                                        <p:tav tm="100000">
                                          <p:val>
                                            <p:strVal val="#ppt_w"/>
                                          </p:val>
                                        </p:tav>
                                      </p:tavLst>
                                    </p:anim>
                                    <p:anim calcmode="lin" valueType="num">
                                      <p:cBhvr>
                                        <p:cTn id="40" dur="500" fill="hold"/>
                                        <p:tgtEl>
                                          <p:spTgt spid="77834">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77834">
                                            <p:txEl>
                                              <p:pRg st="1" end="1"/>
                                            </p:txEl>
                                          </p:spTgt>
                                        </p:tgtEl>
                                        <p:attrNameLst>
                                          <p:attrName>style.visibility</p:attrName>
                                        </p:attrNameLst>
                                      </p:cBhvr>
                                      <p:to>
                                        <p:strVal val="visible"/>
                                      </p:to>
                                    </p:set>
                                    <p:anim calcmode="lin" valueType="num">
                                      <p:cBhvr>
                                        <p:cTn id="45" dur="500" fill="hold"/>
                                        <p:tgtEl>
                                          <p:spTgt spid="77834">
                                            <p:txEl>
                                              <p:pRg st="1" end="1"/>
                                            </p:txEl>
                                          </p:spTgt>
                                        </p:tgtEl>
                                        <p:attrNameLst>
                                          <p:attrName>ppt_w</p:attrName>
                                        </p:attrNameLst>
                                      </p:cBhvr>
                                      <p:tavLst>
                                        <p:tav tm="0">
                                          <p:val>
                                            <p:fltVal val="0"/>
                                          </p:val>
                                        </p:tav>
                                        <p:tav tm="100000">
                                          <p:val>
                                            <p:strVal val="#ppt_w"/>
                                          </p:val>
                                        </p:tav>
                                      </p:tavLst>
                                    </p:anim>
                                    <p:anim calcmode="lin" valueType="num">
                                      <p:cBhvr>
                                        <p:cTn id="46" dur="500" fill="hold"/>
                                        <p:tgtEl>
                                          <p:spTgt spid="77834">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7" presetClass="entr" presetSubtype="10" fill="hold" grpId="0" nodeType="clickEffect">
                                  <p:stCondLst>
                                    <p:cond delay="0"/>
                                  </p:stCondLst>
                                  <p:childTnLst>
                                    <p:set>
                                      <p:cBhvr>
                                        <p:cTn id="50" dur="1" fill="hold">
                                          <p:stCondLst>
                                            <p:cond delay="0"/>
                                          </p:stCondLst>
                                        </p:cTn>
                                        <p:tgtEl>
                                          <p:spTgt spid="77834">
                                            <p:txEl>
                                              <p:pRg st="2" end="2"/>
                                            </p:txEl>
                                          </p:spTgt>
                                        </p:tgtEl>
                                        <p:attrNameLst>
                                          <p:attrName>style.visibility</p:attrName>
                                        </p:attrNameLst>
                                      </p:cBhvr>
                                      <p:to>
                                        <p:strVal val="visible"/>
                                      </p:to>
                                    </p:set>
                                    <p:anim calcmode="lin" valueType="num">
                                      <p:cBhvr>
                                        <p:cTn id="51" dur="500" fill="hold"/>
                                        <p:tgtEl>
                                          <p:spTgt spid="77834">
                                            <p:txEl>
                                              <p:pRg st="2" end="2"/>
                                            </p:txEl>
                                          </p:spTgt>
                                        </p:tgtEl>
                                        <p:attrNameLst>
                                          <p:attrName>ppt_w</p:attrName>
                                        </p:attrNameLst>
                                      </p:cBhvr>
                                      <p:tavLst>
                                        <p:tav tm="0">
                                          <p:val>
                                            <p:fltVal val="0"/>
                                          </p:val>
                                        </p:tav>
                                        <p:tav tm="100000">
                                          <p:val>
                                            <p:strVal val="#ppt_w"/>
                                          </p:val>
                                        </p:tav>
                                      </p:tavLst>
                                    </p:anim>
                                    <p:anim calcmode="lin" valueType="num">
                                      <p:cBhvr>
                                        <p:cTn id="52" dur="500" fill="hold"/>
                                        <p:tgtEl>
                                          <p:spTgt spid="77834">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10" fill="hold" grpId="0" nodeType="clickEffect">
                                  <p:stCondLst>
                                    <p:cond delay="0"/>
                                  </p:stCondLst>
                                  <p:childTnLst>
                                    <p:set>
                                      <p:cBhvr>
                                        <p:cTn id="56" dur="1" fill="hold">
                                          <p:stCondLst>
                                            <p:cond delay="0"/>
                                          </p:stCondLst>
                                        </p:cTn>
                                        <p:tgtEl>
                                          <p:spTgt spid="77827"/>
                                        </p:tgtEl>
                                        <p:attrNameLst>
                                          <p:attrName>style.visibility</p:attrName>
                                        </p:attrNameLst>
                                      </p:cBhvr>
                                      <p:to>
                                        <p:strVal val="visible"/>
                                      </p:to>
                                    </p:set>
                                    <p:anim calcmode="lin" valueType="num">
                                      <p:cBhvr>
                                        <p:cTn id="57" dur="500" fill="hold"/>
                                        <p:tgtEl>
                                          <p:spTgt spid="77827"/>
                                        </p:tgtEl>
                                        <p:attrNameLst>
                                          <p:attrName>ppt_w</p:attrName>
                                        </p:attrNameLst>
                                      </p:cBhvr>
                                      <p:tavLst>
                                        <p:tav tm="0">
                                          <p:val>
                                            <p:fltVal val="0"/>
                                          </p:val>
                                        </p:tav>
                                        <p:tav tm="100000">
                                          <p:val>
                                            <p:strVal val="#ppt_w"/>
                                          </p:val>
                                        </p:tav>
                                      </p:tavLst>
                                    </p:anim>
                                    <p:anim calcmode="lin" valueType="num">
                                      <p:cBhvr>
                                        <p:cTn id="58" dur="500" fill="hold"/>
                                        <p:tgtEl>
                                          <p:spTgt spid="77827"/>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4" presetClass="entr" presetSubtype="16" fill="hold" nodeType="clickEffect">
                                  <p:stCondLst>
                                    <p:cond delay="0"/>
                                  </p:stCondLst>
                                  <p:childTnLst>
                                    <p:set>
                                      <p:cBhvr>
                                        <p:cTn id="62" dur="1" fill="hold">
                                          <p:stCondLst>
                                            <p:cond delay="0"/>
                                          </p:stCondLst>
                                        </p:cTn>
                                        <p:tgtEl>
                                          <p:spTgt spid="77840"/>
                                        </p:tgtEl>
                                        <p:attrNameLst>
                                          <p:attrName>style.visibility</p:attrName>
                                        </p:attrNameLst>
                                      </p:cBhvr>
                                      <p:to>
                                        <p:strVal val="visible"/>
                                      </p:to>
                                    </p:set>
                                    <p:animEffect transition="in" filter="box(in)">
                                      <p:cBhvr>
                                        <p:cTn id="63" dur="500"/>
                                        <p:tgtEl>
                                          <p:spTgt spid="7784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4" presetClass="entr" presetSubtype="16" fill="hold" nodeType="clickEffect">
                                  <p:stCondLst>
                                    <p:cond delay="0"/>
                                  </p:stCondLst>
                                  <p:childTnLst>
                                    <p:set>
                                      <p:cBhvr>
                                        <p:cTn id="67" dur="1" fill="hold">
                                          <p:stCondLst>
                                            <p:cond delay="0"/>
                                          </p:stCondLst>
                                        </p:cTn>
                                        <p:tgtEl>
                                          <p:spTgt spid="77841"/>
                                        </p:tgtEl>
                                        <p:attrNameLst>
                                          <p:attrName>style.visibility</p:attrName>
                                        </p:attrNameLst>
                                      </p:cBhvr>
                                      <p:to>
                                        <p:strVal val="visible"/>
                                      </p:to>
                                    </p:set>
                                    <p:animEffect transition="in" filter="box(in)">
                                      <p:cBhvr>
                                        <p:cTn id="68" dur="500"/>
                                        <p:tgtEl>
                                          <p:spTgt spid="7784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4" presetClass="entr" presetSubtype="16" fill="hold" nodeType="clickEffect">
                                  <p:stCondLst>
                                    <p:cond delay="0"/>
                                  </p:stCondLst>
                                  <p:childTnLst>
                                    <p:set>
                                      <p:cBhvr>
                                        <p:cTn id="72" dur="1" fill="hold">
                                          <p:stCondLst>
                                            <p:cond delay="0"/>
                                          </p:stCondLst>
                                        </p:cTn>
                                        <p:tgtEl>
                                          <p:spTgt spid="77842"/>
                                        </p:tgtEl>
                                        <p:attrNameLst>
                                          <p:attrName>style.visibility</p:attrName>
                                        </p:attrNameLst>
                                      </p:cBhvr>
                                      <p:to>
                                        <p:strVal val="visible"/>
                                      </p:to>
                                    </p:set>
                                    <p:animEffect transition="in" filter="box(in)">
                                      <p:cBhvr>
                                        <p:cTn id="73" dur="500"/>
                                        <p:tgtEl>
                                          <p:spTgt spid="7784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4" presetClass="entr" presetSubtype="16" fill="hold" nodeType="clickEffect">
                                  <p:stCondLst>
                                    <p:cond delay="0"/>
                                  </p:stCondLst>
                                  <p:childTnLst>
                                    <p:set>
                                      <p:cBhvr>
                                        <p:cTn id="77" dur="1" fill="hold">
                                          <p:stCondLst>
                                            <p:cond delay="0"/>
                                          </p:stCondLst>
                                        </p:cTn>
                                        <p:tgtEl>
                                          <p:spTgt spid="77846"/>
                                        </p:tgtEl>
                                        <p:attrNameLst>
                                          <p:attrName>style.visibility</p:attrName>
                                        </p:attrNameLst>
                                      </p:cBhvr>
                                      <p:to>
                                        <p:strVal val="visible"/>
                                      </p:to>
                                    </p:set>
                                    <p:animEffect transition="in" filter="box(in)">
                                      <p:cBhvr>
                                        <p:cTn id="78" dur="500"/>
                                        <p:tgtEl>
                                          <p:spTgt spid="7784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16" fill="hold" nodeType="clickEffect">
                                  <p:stCondLst>
                                    <p:cond delay="0"/>
                                  </p:stCondLst>
                                  <p:childTnLst>
                                    <p:set>
                                      <p:cBhvr>
                                        <p:cTn id="82" dur="1" fill="hold">
                                          <p:stCondLst>
                                            <p:cond delay="0"/>
                                          </p:stCondLst>
                                        </p:cTn>
                                        <p:tgtEl>
                                          <p:spTgt spid="77843"/>
                                        </p:tgtEl>
                                        <p:attrNameLst>
                                          <p:attrName>style.visibility</p:attrName>
                                        </p:attrNameLst>
                                      </p:cBhvr>
                                      <p:to>
                                        <p:strVal val="visible"/>
                                      </p:to>
                                    </p:set>
                                    <p:animEffect transition="in" filter="box(in)">
                                      <p:cBhvr>
                                        <p:cTn id="83" dur="500"/>
                                        <p:tgtEl>
                                          <p:spTgt spid="77843"/>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4" presetClass="entr" presetSubtype="16" fill="hold" nodeType="clickEffect">
                                  <p:stCondLst>
                                    <p:cond delay="0"/>
                                  </p:stCondLst>
                                  <p:childTnLst>
                                    <p:set>
                                      <p:cBhvr>
                                        <p:cTn id="87" dur="1" fill="hold">
                                          <p:stCondLst>
                                            <p:cond delay="0"/>
                                          </p:stCondLst>
                                        </p:cTn>
                                        <p:tgtEl>
                                          <p:spTgt spid="77844"/>
                                        </p:tgtEl>
                                        <p:attrNameLst>
                                          <p:attrName>style.visibility</p:attrName>
                                        </p:attrNameLst>
                                      </p:cBhvr>
                                      <p:to>
                                        <p:strVal val="visible"/>
                                      </p:to>
                                    </p:set>
                                    <p:animEffect transition="in" filter="box(in)">
                                      <p:cBhvr>
                                        <p:cTn id="88" dur="500"/>
                                        <p:tgtEl>
                                          <p:spTgt spid="7784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4" presetClass="entr" presetSubtype="16" fill="hold" nodeType="clickEffect">
                                  <p:stCondLst>
                                    <p:cond delay="0"/>
                                  </p:stCondLst>
                                  <p:childTnLst>
                                    <p:set>
                                      <p:cBhvr>
                                        <p:cTn id="92" dur="1" fill="hold">
                                          <p:stCondLst>
                                            <p:cond delay="0"/>
                                          </p:stCondLst>
                                        </p:cTn>
                                        <p:tgtEl>
                                          <p:spTgt spid="77845"/>
                                        </p:tgtEl>
                                        <p:attrNameLst>
                                          <p:attrName>style.visibility</p:attrName>
                                        </p:attrNameLst>
                                      </p:cBhvr>
                                      <p:to>
                                        <p:strVal val="visible"/>
                                      </p:to>
                                    </p:set>
                                    <p:animEffect transition="in" filter="box(in)">
                                      <p:cBhvr>
                                        <p:cTn id="93" dur="500"/>
                                        <p:tgtEl>
                                          <p:spTgt spid="77845"/>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4" presetClass="entr" presetSubtype="0" accel="100000" fill="hold" grpId="0" nodeType="clickEffect">
                                  <p:stCondLst>
                                    <p:cond delay="0"/>
                                  </p:stCondLst>
                                  <p:childTnLst>
                                    <p:set>
                                      <p:cBhvr>
                                        <p:cTn id="97" dur="1" fill="hold">
                                          <p:stCondLst>
                                            <p:cond delay="0"/>
                                          </p:stCondLst>
                                        </p:cTn>
                                        <p:tgtEl>
                                          <p:spTgt spid="77835"/>
                                        </p:tgtEl>
                                        <p:attrNameLst>
                                          <p:attrName>style.visibility</p:attrName>
                                        </p:attrNameLst>
                                      </p:cBhvr>
                                      <p:to>
                                        <p:strVal val="visible"/>
                                      </p:to>
                                    </p:set>
                                    <p:anim calcmode="lin" valueType="num">
                                      <p:cBhvr>
                                        <p:cTn id="98" dur="500" fill="hold"/>
                                        <p:tgtEl>
                                          <p:spTgt spid="77835"/>
                                        </p:tgtEl>
                                        <p:attrNameLst>
                                          <p:attrName>ppt_w</p:attrName>
                                        </p:attrNameLst>
                                      </p:cBhvr>
                                      <p:tavLst>
                                        <p:tav tm="0">
                                          <p:val>
                                            <p:strVal val="#ppt_w*0.05"/>
                                          </p:val>
                                        </p:tav>
                                        <p:tav tm="100000">
                                          <p:val>
                                            <p:strVal val="#ppt_w"/>
                                          </p:val>
                                        </p:tav>
                                      </p:tavLst>
                                    </p:anim>
                                    <p:anim calcmode="lin" valueType="num">
                                      <p:cBhvr>
                                        <p:cTn id="99" dur="500" fill="hold"/>
                                        <p:tgtEl>
                                          <p:spTgt spid="77835"/>
                                        </p:tgtEl>
                                        <p:attrNameLst>
                                          <p:attrName>ppt_h</p:attrName>
                                        </p:attrNameLst>
                                      </p:cBhvr>
                                      <p:tavLst>
                                        <p:tav tm="0">
                                          <p:val>
                                            <p:strVal val="#ppt_h"/>
                                          </p:val>
                                        </p:tav>
                                        <p:tav tm="100000">
                                          <p:val>
                                            <p:strVal val="#ppt_h"/>
                                          </p:val>
                                        </p:tav>
                                      </p:tavLst>
                                    </p:anim>
                                    <p:anim calcmode="lin" valueType="num">
                                      <p:cBhvr>
                                        <p:cTn id="100" dur="500" fill="hold"/>
                                        <p:tgtEl>
                                          <p:spTgt spid="77835"/>
                                        </p:tgtEl>
                                        <p:attrNameLst>
                                          <p:attrName>ppt_x</p:attrName>
                                        </p:attrNameLst>
                                      </p:cBhvr>
                                      <p:tavLst>
                                        <p:tav tm="0">
                                          <p:val>
                                            <p:strVal val="#ppt_x-.2"/>
                                          </p:val>
                                        </p:tav>
                                        <p:tav tm="100000">
                                          <p:val>
                                            <p:strVal val="#ppt_x"/>
                                          </p:val>
                                        </p:tav>
                                      </p:tavLst>
                                    </p:anim>
                                    <p:anim calcmode="lin" valueType="num">
                                      <p:cBhvr>
                                        <p:cTn id="101" dur="500" fill="hold"/>
                                        <p:tgtEl>
                                          <p:spTgt spid="77835"/>
                                        </p:tgtEl>
                                        <p:attrNameLst>
                                          <p:attrName>ppt_y</p:attrName>
                                        </p:attrNameLst>
                                      </p:cBhvr>
                                      <p:tavLst>
                                        <p:tav tm="0">
                                          <p:val>
                                            <p:strVal val="#ppt_y"/>
                                          </p:val>
                                        </p:tav>
                                        <p:tav tm="100000">
                                          <p:val>
                                            <p:strVal val="#ppt_y"/>
                                          </p:val>
                                        </p:tav>
                                      </p:tavLst>
                                    </p:anim>
                                    <p:animEffect transition="in" filter="fade">
                                      <p:cBhvr>
                                        <p:cTn id="102" dur="500"/>
                                        <p:tgtEl>
                                          <p:spTgt spid="77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p:bldP spid="77832" grpId="0" build="p"/>
      <p:bldP spid="77833" grpId="0"/>
      <p:bldP spid="77834" grpId="0" build="p" animBg="1"/>
      <p:bldP spid="77835" grpId="0" animBg="1"/>
      <p:bldP spid="778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4">
            <a:extLst>
              <a:ext uri="{FF2B5EF4-FFF2-40B4-BE49-F238E27FC236}">
                <a16:creationId xmlns:a16="http://schemas.microsoft.com/office/drawing/2014/main" id="{85BAE2D2-E14E-40D3-8872-BB78A34D4003}"/>
              </a:ext>
            </a:extLst>
          </p:cNvPr>
          <p:cNvSpPr txBox="1">
            <a:spLocks noChangeArrowheads="1"/>
          </p:cNvSpPr>
          <p:nvPr/>
        </p:nvSpPr>
        <p:spPr bwMode="auto">
          <a:xfrm>
            <a:off x="1692275" y="333375"/>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2400" b="1">
                <a:solidFill>
                  <a:schemeClr val="tx1"/>
                </a:solidFill>
              </a:rPr>
              <a:t>Cálculo de Probabilidades: Probabilidad</a:t>
            </a:r>
          </a:p>
        </p:txBody>
      </p:sp>
      <p:sp>
        <p:nvSpPr>
          <p:cNvPr id="36867" name="Text Box 14">
            <a:extLst>
              <a:ext uri="{FF2B5EF4-FFF2-40B4-BE49-F238E27FC236}">
                <a16:creationId xmlns:a16="http://schemas.microsoft.com/office/drawing/2014/main" id="{BC585C83-DE48-416E-B523-7EFA9174B547}"/>
              </a:ext>
            </a:extLst>
          </p:cNvPr>
          <p:cNvSpPr txBox="1">
            <a:spLocks noChangeArrowheads="1"/>
          </p:cNvSpPr>
          <p:nvPr/>
        </p:nvSpPr>
        <p:spPr bwMode="auto">
          <a:xfrm>
            <a:off x="1908175" y="836613"/>
            <a:ext cx="45354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2200" b="1">
                <a:solidFill>
                  <a:schemeClr val="tx1"/>
                </a:solidFill>
              </a:rPr>
              <a:t>Propiedades de la Probabilidad</a:t>
            </a:r>
          </a:p>
        </p:txBody>
      </p:sp>
      <p:graphicFrame>
        <p:nvGraphicFramePr>
          <p:cNvPr id="31759" name="Object 15">
            <a:extLst>
              <a:ext uri="{FF2B5EF4-FFF2-40B4-BE49-F238E27FC236}">
                <a16:creationId xmlns:a16="http://schemas.microsoft.com/office/drawing/2014/main" id="{E15C9726-35CD-470D-887C-52316858D703}"/>
              </a:ext>
            </a:extLst>
          </p:cNvPr>
          <p:cNvGraphicFramePr>
            <a:graphicFrameLocks noChangeAspect="1"/>
          </p:cNvGraphicFramePr>
          <p:nvPr/>
        </p:nvGraphicFramePr>
        <p:xfrm>
          <a:off x="365125" y="1520825"/>
          <a:ext cx="3300413" cy="406400"/>
        </p:xfrm>
        <a:graphic>
          <a:graphicData uri="http://schemas.openxmlformats.org/presentationml/2006/ole">
            <mc:AlternateContent xmlns:mc="http://schemas.openxmlformats.org/markup-compatibility/2006">
              <mc:Choice xmlns:v="urn:schemas-microsoft-com:vml" Requires="v">
                <p:oleObj name="Ecuación" r:id="rId3" imgW="1955800" imgH="241300" progId="Equation.3">
                  <p:embed/>
                </p:oleObj>
              </mc:Choice>
              <mc:Fallback>
                <p:oleObj name="Ecuación" r:id="rId3" imgW="1955800" imgH="241300" progId="Equation.3">
                  <p:embed/>
                  <p:pic>
                    <p:nvPicPr>
                      <p:cNvPr id="31759" name="Object 15">
                        <a:extLst>
                          <a:ext uri="{FF2B5EF4-FFF2-40B4-BE49-F238E27FC236}">
                            <a16:creationId xmlns:a16="http://schemas.microsoft.com/office/drawing/2014/main" id="{E15C9726-35CD-470D-887C-52316858D7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25" y="1520825"/>
                        <a:ext cx="3300413" cy="4064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1" name="Object 17">
            <a:extLst>
              <a:ext uri="{FF2B5EF4-FFF2-40B4-BE49-F238E27FC236}">
                <a16:creationId xmlns:a16="http://schemas.microsoft.com/office/drawing/2014/main" id="{CC0F74D7-7926-46C2-AD73-3BFA11378406}"/>
              </a:ext>
            </a:extLst>
          </p:cNvPr>
          <p:cNvGraphicFramePr>
            <a:graphicFrameLocks noChangeAspect="1"/>
          </p:cNvGraphicFramePr>
          <p:nvPr/>
        </p:nvGraphicFramePr>
        <p:xfrm>
          <a:off x="322263" y="2144713"/>
          <a:ext cx="1308100" cy="347662"/>
        </p:xfrm>
        <a:graphic>
          <a:graphicData uri="http://schemas.openxmlformats.org/presentationml/2006/ole">
            <mc:AlternateContent xmlns:mc="http://schemas.openxmlformats.org/markup-compatibility/2006">
              <mc:Choice xmlns:v="urn:schemas-microsoft-com:vml" Requires="v">
                <p:oleObj name="Ecuación" r:id="rId5" imgW="812447" imgH="215806" progId="Equation.3">
                  <p:embed/>
                </p:oleObj>
              </mc:Choice>
              <mc:Fallback>
                <p:oleObj name="Ecuación" r:id="rId5" imgW="812447" imgH="215806" progId="Equation.3">
                  <p:embed/>
                  <p:pic>
                    <p:nvPicPr>
                      <p:cNvPr id="31761" name="Object 17">
                        <a:extLst>
                          <a:ext uri="{FF2B5EF4-FFF2-40B4-BE49-F238E27FC236}">
                            <a16:creationId xmlns:a16="http://schemas.microsoft.com/office/drawing/2014/main" id="{CC0F74D7-7926-46C2-AD73-3BFA113784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263" y="2144713"/>
                        <a:ext cx="1308100"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4" name="Object 20">
            <a:extLst>
              <a:ext uri="{FF2B5EF4-FFF2-40B4-BE49-F238E27FC236}">
                <a16:creationId xmlns:a16="http://schemas.microsoft.com/office/drawing/2014/main" id="{538266EC-8650-498C-A4AC-D97719944D1E}"/>
              </a:ext>
            </a:extLst>
          </p:cNvPr>
          <p:cNvGraphicFramePr>
            <a:graphicFrameLocks noChangeAspect="1"/>
          </p:cNvGraphicFramePr>
          <p:nvPr/>
        </p:nvGraphicFramePr>
        <p:xfrm>
          <a:off x="322263" y="2708275"/>
          <a:ext cx="3987800" cy="347663"/>
        </p:xfrm>
        <a:graphic>
          <a:graphicData uri="http://schemas.openxmlformats.org/presentationml/2006/ole">
            <mc:AlternateContent xmlns:mc="http://schemas.openxmlformats.org/markup-compatibility/2006">
              <mc:Choice xmlns:v="urn:schemas-microsoft-com:vml" Requires="v">
                <p:oleObj name="Ecuación" r:id="rId7" imgW="2476500" imgH="215900" progId="Equation.3">
                  <p:embed/>
                </p:oleObj>
              </mc:Choice>
              <mc:Fallback>
                <p:oleObj name="Ecuación" r:id="rId7" imgW="2476500" imgH="215900" progId="Equation.3">
                  <p:embed/>
                  <p:pic>
                    <p:nvPicPr>
                      <p:cNvPr id="31764" name="Object 20">
                        <a:extLst>
                          <a:ext uri="{FF2B5EF4-FFF2-40B4-BE49-F238E27FC236}">
                            <a16:creationId xmlns:a16="http://schemas.microsoft.com/office/drawing/2014/main" id="{538266EC-8650-498C-A4AC-D97719944D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263" y="2708275"/>
                        <a:ext cx="3987800"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6">
            <a:extLst>
              <a:ext uri="{FF2B5EF4-FFF2-40B4-BE49-F238E27FC236}">
                <a16:creationId xmlns:a16="http://schemas.microsoft.com/office/drawing/2014/main" id="{4E0CFB02-9A48-4E19-8470-40578EE969A5}"/>
              </a:ext>
            </a:extLst>
          </p:cNvPr>
          <p:cNvGraphicFramePr>
            <a:graphicFrameLocks noChangeAspect="1"/>
          </p:cNvGraphicFramePr>
          <p:nvPr/>
        </p:nvGraphicFramePr>
        <p:xfrm>
          <a:off x="322263" y="4017963"/>
          <a:ext cx="4437062" cy="347662"/>
        </p:xfrm>
        <a:graphic>
          <a:graphicData uri="http://schemas.openxmlformats.org/presentationml/2006/ole">
            <mc:AlternateContent xmlns:mc="http://schemas.openxmlformats.org/markup-compatibility/2006">
              <mc:Choice xmlns:v="urn:schemas-microsoft-com:vml" Requires="v">
                <p:oleObj name="Ecuación" r:id="rId9" imgW="2755900" imgH="215900" progId="Equation.3">
                  <p:embed/>
                </p:oleObj>
              </mc:Choice>
              <mc:Fallback>
                <p:oleObj name="Ecuación" r:id="rId9" imgW="2755900" imgH="215900" progId="Equation.3">
                  <p:embed/>
                  <p:pic>
                    <p:nvPicPr>
                      <p:cNvPr id="10" name="Object 6">
                        <a:extLst>
                          <a:ext uri="{FF2B5EF4-FFF2-40B4-BE49-F238E27FC236}">
                            <a16:creationId xmlns:a16="http://schemas.microsoft.com/office/drawing/2014/main" id="{4E0CFB02-9A48-4E19-8470-40578EE969A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2263" y="4017963"/>
                        <a:ext cx="4437062"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a:extLst>
              <a:ext uri="{FF2B5EF4-FFF2-40B4-BE49-F238E27FC236}">
                <a16:creationId xmlns:a16="http://schemas.microsoft.com/office/drawing/2014/main" id="{08328643-BF13-4A7E-A7E4-1023C47079C9}"/>
              </a:ext>
            </a:extLst>
          </p:cNvPr>
          <p:cNvGrpSpPr>
            <a:grpSpLocks/>
          </p:cNvGrpSpPr>
          <p:nvPr/>
        </p:nvGrpSpPr>
        <p:grpSpPr bwMode="auto">
          <a:xfrm>
            <a:off x="5076825" y="3500438"/>
            <a:ext cx="3743325" cy="936625"/>
            <a:chOff x="1746" y="3340"/>
            <a:chExt cx="3719" cy="816"/>
          </a:xfrm>
        </p:grpSpPr>
        <p:sp>
          <p:nvSpPr>
            <p:cNvPr id="36882" name="Oval 9">
              <a:extLst>
                <a:ext uri="{FF2B5EF4-FFF2-40B4-BE49-F238E27FC236}">
                  <a16:creationId xmlns:a16="http://schemas.microsoft.com/office/drawing/2014/main" id="{B1CB48FC-01CF-49ED-B699-DEC2B2FAA8E1}"/>
                </a:ext>
              </a:extLst>
            </p:cNvPr>
            <p:cNvSpPr>
              <a:spLocks noChangeArrowheads="1"/>
            </p:cNvSpPr>
            <p:nvPr/>
          </p:nvSpPr>
          <p:spPr bwMode="auto">
            <a:xfrm>
              <a:off x="1746" y="3476"/>
              <a:ext cx="2177" cy="680"/>
            </a:xfrm>
            <a:prstGeom prst="ellipse">
              <a:avLst/>
            </a:prstGeom>
            <a:solidFill>
              <a:srgbClr val="00CC00">
                <a:alpha val="72156"/>
              </a:srgbClr>
            </a:solidFill>
            <a:ln w="28575">
              <a:solidFill>
                <a:srgbClr val="FF0066"/>
              </a:solidFill>
              <a:round/>
              <a:headEnd/>
              <a:tailE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0"/>
                </a:spcBef>
                <a:buClrTx/>
                <a:buSzTx/>
                <a:buFontTx/>
                <a:buNone/>
              </a:pPr>
              <a:endParaRPr lang="es-ES" altLang="es-ES" sz="1800">
                <a:solidFill>
                  <a:schemeClr val="tx1"/>
                </a:solidFill>
              </a:endParaRPr>
            </a:p>
          </p:txBody>
        </p:sp>
        <p:sp>
          <p:nvSpPr>
            <p:cNvPr id="36883" name="Oval 10">
              <a:extLst>
                <a:ext uri="{FF2B5EF4-FFF2-40B4-BE49-F238E27FC236}">
                  <a16:creationId xmlns:a16="http://schemas.microsoft.com/office/drawing/2014/main" id="{7297161E-9242-4222-A135-C1B74F086479}"/>
                </a:ext>
              </a:extLst>
            </p:cNvPr>
            <p:cNvSpPr>
              <a:spLocks noChangeArrowheads="1"/>
            </p:cNvSpPr>
            <p:nvPr/>
          </p:nvSpPr>
          <p:spPr bwMode="auto">
            <a:xfrm>
              <a:off x="3243" y="3476"/>
              <a:ext cx="2222" cy="680"/>
            </a:xfrm>
            <a:prstGeom prst="ellipse">
              <a:avLst/>
            </a:prstGeom>
            <a:solidFill>
              <a:srgbClr val="FF9966">
                <a:alpha val="61960"/>
              </a:srgbClr>
            </a:solidFill>
            <a:ln w="28575">
              <a:solidFill>
                <a:schemeClr val="tx1"/>
              </a:solidFill>
              <a:round/>
              <a:headEnd/>
              <a:tailE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SzTx/>
                <a:buFontTx/>
                <a:buNone/>
              </a:pPr>
              <a:endParaRPr lang="es-ES_tradnl" altLang="es-ES" sz="1800">
                <a:solidFill>
                  <a:srgbClr val="009900"/>
                </a:solidFill>
              </a:endParaRPr>
            </a:p>
          </p:txBody>
        </p:sp>
        <p:graphicFrame>
          <p:nvGraphicFramePr>
            <p:cNvPr id="36884" name="Object 11">
              <a:extLst>
                <a:ext uri="{FF2B5EF4-FFF2-40B4-BE49-F238E27FC236}">
                  <a16:creationId xmlns:a16="http://schemas.microsoft.com/office/drawing/2014/main" id="{C93279EA-BA03-4BD8-8F33-15EE291D408A}"/>
                </a:ext>
              </a:extLst>
            </p:cNvPr>
            <p:cNvGraphicFramePr>
              <a:graphicFrameLocks noChangeAspect="1"/>
            </p:cNvGraphicFramePr>
            <p:nvPr/>
          </p:nvGraphicFramePr>
          <p:xfrm>
            <a:off x="1882" y="3431"/>
            <a:ext cx="245" cy="168"/>
          </p:xfrm>
          <a:graphic>
            <a:graphicData uri="http://schemas.openxmlformats.org/presentationml/2006/ole">
              <mc:AlternateContent xmlns:mc="http://schemas.openxmlformats.org/markup-compatibility/2006">
                <mc:Choice xmlns:v="urn:schemas-microsoft-com:vml" Requires="v">
                  <p:oleObj name="Ecuación" r:id="rId11" imgW="241091" imgH="164957" progId="Equation.3">
                    <p:embed/>
                  </p:oleObj>
                </mc:Choice>
                <mc:Fallback>
                  <p:oleObj name="Ecuación" r:id="rId11" imgW="241091" imgH="164957" progId="Equation.3">
                    <p:embed/>
                    <p:pic>
                      <p:nvPicPr>
                        <p:cNvPr id="36884" name="Object 11">
                          <a:extLst>
                            <a:ext uri="{FF2B5EF4-FFF2-40B4-BE49-F238E27FC236}">
                              <a16:creationId xmlns:a16="http://schemas.microsoft.com/office/drawing/2014/main" id="{C93279EA-BA03-4BD8-8F33-15EE291D408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82" y="3431"/>
                          <a:ext cx="245"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5" name="Object 12">
              <a:extLst>
                <a:ext uri="{FF2B5EF4-FFF2-40B4-BE49-F238E27FC236}">
                  <a16:creationId xmlns:a16="http://schemas.microsoft.com/office/drawing/2014/main" id="{C07321EF-37D0-4929-B0B6-4F584DF10A6F}"/>
                </a:ext>
              </a:extLst>
            </p:cNvPr>
            <p:cNvGraphicFramePr>
              <a:graphicFrameLocks noChangeAspect="1"/>
            </p:cNvGraphicFramePr>
            <p:nvPr/>
          </p:nvGraphicFramePr>
          <p:xfrm>
            <a:off x="4876" y="3340"/>
            <a:ext cx="232" cy="168"/>
          </p:xfrm>
          <a:graphic>
            <a:graphicData uri="http://schemas.openxmlformats.org/presentationml/2006/ole">
              <mc:AlternateContent xmlns:mc="http://schemas.openxmlformats.org/markup-compatibility/2006">
                <mc:Choice xmlns:v="urn:schemas-microsoft-com:vml" Requires="v">
                  <p:oleObj name="Ecuación" r:id="rId13" imgW="228501" imgH="165028" progId="Equation.3">
                    <p:embed/>
                  </p:oleObj>
                </mc:Choice>
                <mc:Fallback>
                  <p:oleObj name="Ecuación" r:id="rId13" imgW="228501" imgH="165028" progId="Equation.3">
                    <p:embed/>
                    <p:pic>
                      <p:nvPicPr>
                        <p:cNvPr id="36885" name="Object 12">
                          <a:extLst>
                            <a:ext uri="{FF2B5EF4-FFF2-40B4-BE49-F238E27FC236}">
                              <a16:creationId xmlns:a16="http://schemas.microsoft.com/office/drawing/2014/main" id="{C07321EF-37D0-4929-B0B6-4F584DF10A6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76" y="3340"/>
                          <a:ext cx="232"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6" name="Object 13">
              <a:extLst>
                <a:ext uri="{FF2B5EF4-FFF2-40B4-BE49-F238E27FC236}">
                  <a16:creationId xmlns:a16="http://schemas.microsoft.com/office/drawing/2014/main" id="{768D0E3D-1E80-4E60-9C96-2FB0B546D34B}"/>
                </a:ext>
              </a:extLst>
            </p:cNvPr>
            <p:cNvGraphicFramePr>
              <a:graphicFrameLocks noChangeAspect="1"/>
            </p:cNvGraphicFramePr>
            <p:nvPr/>
          </p:nvGraphicFramePr>
          <p:xfrm>
            <a:off x="3348" y="3703"/>
            <a:ext cx="439" cy="168"/>
          </p:xfrm>
          <a:graphic>
            <a:graphicData uri="http://schemas.openxmlformats.org/presentationml/2006/ole">
              <mc:AlternateContent xmlns:mc="http://schemas.openxmlformats.org/markup-compatibility/2006">
                <mc:Choice xmlns:v="urn:schemas-microsoft-com:vml" Requires="v">
                  <p:oleObj name="Ecuación" r:id="rId15" imgW="431613" imgH="165028" progId="Equation.3">
                    <p:embed/>
                  </p:oleObj>
                </mc:Choice>
                <mc:Fallback>
                  <p:oleObj name="Ecuación" r:id="rId15" imgW="431613" imgH="165028" progId="Equation.3">
                    <p:embed/>
                    <p:pic>
                      <p:nvPicPr>
                        <p:cNvPr id="36886" name="Object 13">
                          <a:extLst>
                            <a:ext uri="{FF2B5EF4-FFF2-40B4-BE49-F238E27FC236}">
                              <a16:creationId xmlns:a16="http://schemas.microsoft.com/office/drawing/2014/main" id="{768D0E3D-1E80-4E60-9C96-2FB0B546D34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48" y="3703"/>
                          <a:ext cx="439"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7" name="Object 14">
              <a:extLst>
                <a:ext uri="{FF2B5EF4-FFF2-40B4-BE49-F238E27FC236}">
                  <a16:creationId xmlns:a16="http://schemas.microsoft.com/office/drawing/2014/main" id="{4DB9049A-21A7-476D-B4E5-406A32D0A970}"/>
                </a:ext>
              </a:extLst>
            </p:cNvPr>
            <p:cNvGraphicFramePr>
              <a:graphicFrameLocks noChangeAspect="1"/>
            </p:cNvGraphicFramePr>
            <p:nvPr/>
          </p:nvGraphicFramePr>
          <p:xfrm>
            <a:off x="2426" y="3703"/>
            <a:ext cx="438" cy="168"/>
          </p:xfrm>
          <a:graphic>
            <a:graphicData uri="http://schemas.openxmlformats.org/presentationml/2006/ole">
              <mc:AlternateContent xmlns:mc="http://schemas.openxmlformats.org/markup-compatibility/2006">
                <mc:Choice xmlns:v="urn:schemas-microsoft-com:vml" Requires="v">
                  <p:oleObj name="Ecuación" r:id="rId17" imgW="431613" imgH="165028" progId="Equation.3">
                    <p:embed/>
                  </p:oleObj>
                </mc:Choice>
                <mc:Fallback>
                  <p:oleObj name="Ecuación" r:id="rId17" imgW="431613" imgH="165028" progId="Equation.3">
                    <p:embed/>
                    <p:pic>
                      <p:nvPicPr>
                        <p:cNvPr id="36887" name="Object 14">
                          <a:extLst>
                            <a:ext uri="{FF2B5EF4-FFF2-40B4-BE49-F238E27FC236}">
                              <a16:creationId xmlns:a16="http://schemas.microsoft.com/office/drawing/2014/main" id="{4DB9049A-21A7-476D-B4E5-406A32D0A97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26" y="3703"/>
                          <a:ext cx="438"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8" name="Object 10">
            <a:extLst>
              <a:ext uri="{FF2B5EF4-FFF2-40B4-BE49-F238E27FC236}">
                <a16:creationId xmlns:a16="http://schemas.microsoft.com/office/drawing/2014/main" id="{25F6B8F5-66F3-4C1B-ABC6-70976D8786CD}"/>
              </a:ext>
            </a:extLst>
          </p:cNvPr>
          <p:cNvGraphicFramePr>
            <a:graphicFrameLocks noChangeAspect="1"/>
          </p:cNvGraphicFramePr>
          <p:nvPr/>
        </p:nvGraphicFramePr>
        <p:xfrm>
          <a:off x="322263" y="3297238"/>
          <a:ext cx="2741612" cy="347662"/>
        </p:xfrm>
        <a:graphic>
          <a:graphicData uri="http://schemas.openxmlformats.org/presentationml/2006/ole">
            <mc:AlternateContent xmlns:mc="http://schemas.openxmlformats.org/markup-compatibility/2006">
              <mc:Choice xmlns:v="urn:schemas-microsoft-com:vml" Requires="v">
                <p:oleObj name="Ecuación" r:id="rId19" imgW="1701800" imgH="215900" progId="Equation.3">
                  <p:embed/>
                </p:oleObj>
              </mc:Choice>
              <mc:Fallback>
                <p:oleObj name="Ecuación" r:id="rId19" imgW="1701800" imgH="215900" progId="Equation.3">
                  <p:embed/>
                  <p:pic>
                    <p:nvPicPr>
                      <p:cNvPr id="18" name="Object 10">
                        <a:extLst>
                          <a:ext uri="{FF2B5EF4-FFF2-40B4-BE49-F238E27FC236}">
                            <a16:creationId xmlns:a16="http://schemas.microsoft.com/office/drawing/2014/main" id="{25F6B8F5-66F3-4C1B-ABC6-70976D8786C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2263" y="3297238"/>
                        <a:ext cx="2741612" cy="347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8">
            <a:extLst>
              <a:ext uri="{FF2B5EF4-FFF2-40B4-BE49-F238E27FC236}">
                <a16:creationId xmlns:a16="http://schemas.microsoft.com/office/drawing/2014/main" id="{52C7FA45-3C0E-4502-8B2E-B404495284A6}"/>
              </a:ext>
            </a:extLst>
          </p:cNvPr>
          <p:cNvGraphicFramePr>
            <a:graphicFrameLocks noChangeAspect="1"/>
          </p:cNvGraphicFramePr>
          <p:nvPr/>
        </p:nvGraphicFramePr>
        <p:xfrm>
          <a:off x="322263" y="4797425"/>
          <a:ext cx="5173662" cy="347663"/>
        </p:xfrm>
        <a:graphic>
          <a:graphicData uri="http://schemas.openxmlformats.org/presentationml/2006/ole">
            <mc:AlternateContent xmlns:mc="http://schemas.openxmlformats.org/markup-compatibility/2006">
              <mc:Choice xmlns:v="urn:schemas-microsoft-com:vml" Requires="v">
                <p:oleObj name="Ecuación" r:id="rId21" imgW="3213100" imgH="215900" progId="Equation.3">
                  <p:embed/>
                </p:oleObj>
              </mc:Choice>
              <mc:Fallback>
                <p:oleObj name="Ecuación" r:id="rId21" imgW="3213100" imgH="215900" progId="Equation.3">
                  <p:embed/>
                  <p:pic>
                    <p:nvPicPr>
                      <p:cNvPr id="19" name="Object 8">
                        <a:extLst>
                          <a:ext uri="{FF2B5EF4-FFF2-40B4-BE49-F238E27FC236}">
                            <a16:creationId xmlns:a16="http://schemas.microsoft.com/office/drawing/2014/main" id="{52C7FA45-3C0E-4502-8B2E-B404495284A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2263" y="4797425"/>
                        <a:ext cx="5173662" cy="34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9">
            <a:extLst>
              <a:ext uri="{FF2B5EF4-FFF2-40B4-BE49-F238E27FC236}">
                <a16:creationId xmlns:a16="http://schemas.microsoft.com/office/drawing/2014/main" id="{BED1CD02-F8F4-4902-9814-A84FF4E0419E}"/>
              </a:ext>
            </a:extLst>
          </p:cNvPr>
          <p:cNvGraphicFramePr>
            <a:graphicFrameLocks noChangeAspect="1"/>
          </p:cNvGraphicFramePr>
          <p:nvPr/>
        </p:nvGraphicFramePr>
        <p:xfrm>
          <a:off x="322263" y="5729288"/>
          <a:ext cx="8208962" cy="723900"/>
        </p:xfrm>
        <a:graphic>
          <a:graphicData uri="http://schemas.openxmlformats.org/presentationml/2006/ole">
            <mc:AlternateContent xmlns:mc="http://schemas.openxmlformats.org/markup-compatibility/2006">
              <mc:Choice xmlns:v="urn:schemas-microsoft-com:vml" Requires="v">
                <p:oleObj name="Ecuación" r:id="rId23" imgW="5080000" imgH="431800" progId="Equation.3">
                  <p:embed/>
                </p:oleObj>
              </mc:Choice>
              <mc:Fallback>
                <p:oleObj name="Ecuación" r:id="rId23" imgW="5080000" imgH="431800" progId="Equation.3">
                  <p:embed/>
                  <p:pic>
                    <p:nvPicPr>
                      <p:cNvPr id="20" name="Object 9">
                        <a:extLst>
                          <a:ext uri="{FF2B5EF4-FFF2-40B4-BE49-F238E27FC236}">
                            <a16:creationId xmlns:a16="http://schemas.microsoft.com/office/drawing/2014/main" id="{BED1CD02-F8F4-4902-9814-A84FF4E0419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2263" y="5729288"/>
                        <a:ext cx="8208962"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5">
            <a:extLst>
              <a:ext uri="{FF2B5EF4-FFF2-40B4-BE49-F238E27FC236}">
                <a16:creationId xmlns:a16="http://schemas.microsoft.com/office/drawing/2014/main" id="{702AADB2-0522-47F2-97F1-18945880B547}"/>
              </a:ext>
            </a:extLst>
          </p:cNvPr>
          <p:cNvGrpSpPr>
            <a:grpSpLocks/>
          </p:cNvGrpSpPr>
          <p:nvPr/>
        </p:nvGrpSpPr>
        <p:grpSpPr bwMode="auto">
          <a:xfrm>
            <a:off x="5688013" y="4870450"/>
            <a:ext cx="2771775" cy="790575"/>
            <a:chOff x="3243" y="1434"/>
            <a:chExt cx="2319" cy="725"/>
          </a:xfrm>
        </p:grpSpPr>
        <p:sp>
          <p:nvSpPr>
            <p:cNvPr id="36877" name="Oval 38">
              <a:extLst>
                <a:ext uri="{FF2B5EF4-FFF2-40B4-BE49-F238E27FC236}">
                  <a16:creationId xmlns:a16="http://schemas.microsoft.com/office/drawing/2014/main" id="{CB718BAF-84F8-4A4C-9C9B-11DD8DF8962A}"/>
                </a:ext>
              </a:extLst>
            </p:cNvPr>
            <p:cNvSpPr>
              <a:spLocks noChangeArrowheads="1"/>
            </p:cNvSpPr>
            <p:nvPr/>
          </p:nvSpPr>
          <p:spPr bwMode="auto">
            <a:xfrm>
              <a:off x="3243" y="1479"/>
              <a:ext cx="1542" cy="680"/>
            </a:xfrm>
            <a:prstGeom prst="ellipse">
              <a:avLst/>
            </a:prstGeom>
            <a:solidFill>
              <a:srgbClr val="FFCCFF">
                <a:alpha val="72156"/>
              </a:srgbClr>
            </a:solidFill>
            <a:ln w="28575">
              <a:solidFill>
                <a:srgbClr val="FF0066"/>
              </a:solidFill>
              <a:round/>
              <a:headEnd/>
              <a:tailE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0"/>
                </a:spcBef>
                <a:buClrTx/>
                <a:buSzTx/>
                <a:buFontTx/>
                <a:buNone/>
              </a:pPr>
              <a:endParaRPr lang="es-ES" altLang="es-ES" sz="1800">
                <a:solidFill>
                  <a:schemeClr val="tx1"/>
                </a:solidFill>
              </a:endParaRPr>
            </a:p>
          </p:txBody>
        </p:sp>
        <p:sp>
          <p:nvSpPr>
            <p:cNvPr id="36878" name="Oval 39">
              <a:extLst>
                <a:ext uri="{FF2B5EF4-FFF2-40B4-BE49-F238E27FC236}">
                  <a16:creationId xmlns:a16="http://schemas.microsoft.com/office/drawing/2014/main" id="{0A257FFC-CAA4-4884-BCA6-2A026CB282D3}"/>
                </a:ext>
              </a:extLst>
            </p:cNvPr>
            <p:cNvSpPr>
              <a:spLocks noChangeArrowheads="1"/>
            </p:cNvSpPr>
            <p:nvPr/>
          </p:nvSpPr>
          <p:spPr bwMode="auto">
            <a:xfrm>
              <a:off x="4105" y="1479"/>
              <a:ext cx="1316" cy="680"/>
            </a:xfrm>
            <a:prstGeom prst="ellipse">
              <a:avLst/>
            </a:prstGeom>
            <a:solidFill>
              <a:srgbClr val="CCE7E6">
                <a:alpha val="29019"/>
              </a:srgbClr>
            </a:solidFill>
            <a:ln w="28575">
              <a:solidFill>
                <a:schemeClr val="tx1"/>
              </a:solidFill>
              <a:round/>
              <a:headEnd/>
              <a:tailE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SzTx/>
                <a:buFontTx/>
                <a:buNone/>
              </a:pPr>
              <a:endParaRPr lang="es-ES_tradnl" altLang="es-ES" sz="1800">
                <a:solidFill>
                  <a:srgbClr val="009900"/>
                </a:solidFill>
              </a:endParaRPr>
            </a:p>
          </p:txBody>
        </p:sp>
        <p:graphicFrame>
          <p:nvGraphicFramePr>
            <p:cNvPr id="36879" name="Object 40">
              <a:extLst>
                <a:ext uri="{FF2B5EF4-FFF2-40B4-BE49-F238E27FC236}">
                  <a16:creationId xmlns:a16="http://schemas.microsoft.com/office/drawing/2014/main" id="{E40CD534-BE5E-4DAD-B64B-6B74AABD102A}"/>
                </a:ext>
              </a:extLst>
            </p:cNvPr>
            <p:cNvGraphicFramePr>
              <a:graphicFrameLocks noChangeAspect="1"/>
            </p:cNvGraphicFramePr>
            <p:nvPr/>
          </p:nvGraphicFramePr>
          <p:xfrm>
            <a:off x="3334" y="1434"/>
            <a:ext cx="245" cy="168"/>
          </p:xfrm>
          <a:graphic>
            <a:graphicData uri="http://schemas.openxmlformats.org/presentationml/2006/ole">
              <mc:AlternateContent xmlns:mc="http://schemas.openxmlformats.org/markup-compatibility/2006">
                <mc:Choice xmlns:v="urn:schemas-microsoft-com:vml" Requires="v">
                  <p:oleObj name="Ecuación" r:id="rId25" imgW="241091" imgH="164957" progId="Equation.3">
                    <p:embed/>
                  </p:oleObj>
                </mc:Choice>
                <mc:Fallback>
                  <p:oleObj name="Ecuación" r:id="rId25" imgW="241091" imgH="164957" progId="Equation.3">
                    <p:embed/>
                    <p:pic>
                      <p:nvPicPr>
                        <p:cNvPr id="36879" name="Object 40">
                          <a:extLst>
                            <a:ext uri="{FF2B5EF4-FFF2-40B4-BE49-F238E27FC236}">
                              <a16:creationId xmlns:a16="http://schemas.microsoft.com/office/drawing/2014/main" id="{E40CD534-BE5E-4DAD-B64B-6B74AABD102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34" y="1434"/>
                          <a:ext cx="245"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0" name="Object 41">
              <a:extLst>
                <a:ext uri="{FF2B5EF4-FFF2-40B4-BE49-F238E27FC236}">
                  <a16:creationId xmlns:a16="http://schemas.microsoft.com/office/drawing/2014/main" id="{4194BDB6-3CFE-436F-814F-AB7E90033EE6}"/>
                </a:ext>
              </a:extLst>
            </p:cNvPr>
            <p:cNvGraphicFramePr>
              <a:graphicFrameLocks noChangeAspect="1"/>
            </p:cNvGraphicFramePr>
            <p:nvPr/>
          </p:nvGraphicFramePr>
          <p:xfrm>
            <a:off x="5330" y="1434"/>
            <a:ext cx="232" cy="168"/>
          </p:xfrm>
          <a:graphic>
            <a:graphicData uri="http://schemas.openxmlformats.org/presentationml/2006/ole">
              <mc:AlternateContent xmlns:mc="http://schemas.openxmlformats.org/markup-compatibility/2006">
                <mc:Choice xmlns:v="urn:schemas-microsoft-com:vml" Requires="v">
                  <p:oleObj name="Ecuación" r:id="rId26" imgW="228501" imgH="165028" progId="Equation.3">
                    <p:embed/>
                  </p:oleObj>
                </mc:Choice>
                <mc:Fallback>
                  <p:oleObj name="Ecuación" r:id="rId26" imgW="228501" imgH="165028" progId="Equation.3">
                    <p:embed/>
                    <p:pic>
                      <p:nvPicPr>
                        <p:cNvPr id="36880" name="Object 41">
                          <a:extLst>
                            <a:ext uri="{FF2B5EF4-FFF2-40B4-BE49-F238E27FC236}">
                              <a16:creationId xmlns:a16="http://schemas.microsoft.com/office/drawing/2014/main" id="{4194BDB6-3CFE-436F-814F-AB7E90033EE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0" y="1434"/>
                          <a:ext cx="232"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81" name="Object 42">
              <a:extLst>
                <a:ext uri="{FF2B5EF4-FFF2-40B4-BE49-F238E27FC236}">
                  <a16:creationId xmlns:a16="http://schemas.microsoft.com/office/drawing/2014/main" id="{257EA043-A9C1-44B6-A9A1-9B2A1BB0ED73}"/>
                </a:ext>
              </a:extLst>
            </p:cNvPr>
            <p:cNvGraphicFramePr>
              <a:graphicFrameLocks noChangeAspect="1"/>
            </p:cNvGraphicFramePr>
            <p:nvPr/>
          </p:nvGraphicFramePr>
          <p:xfrm>
            <a:off x="4210" y="1728"/>
            <a:ext cx="439" cy="168"/>
          </p:xfrm>
          <a:graphic>
            <a:graphicData uri="http://schemas.openxmlformats.org/presentationml/2006/ole">
              <mc:AlternateContent xmlns:mc="http://schemas.openxmlformats.org/markup-compatibility/2006">
                <mc:Choice xmlns:v="urn:schemas-microsoft-com:vml" Requires="v">
                  <p:oleObj name="Ecuación" r:id="rId27" imgW="431613" imgH="165028" progId="Equation.3">
                    <p:embed/>
                  </p:oleObj>
                </mc:Choice>
                <mc:Fallback>
                  <p:oleObj name="Ecuación" r:id="rId27" imgW="431613" imgH="165028" progId="Equation.3">
                    <p:embed/>
                    <p:pic>
                      <p:nvPicPr>
                        <p:cNvPr id="36881" name="Object 42">
                          <a:extLst>
                            <a:ext uri="{FF2B5EF4-FFF2-40B4-BE49-F238E27FC236}">
                              <a16:creationId xmlns:a16="http://schemas.microsoft.com/office/drawing/2014/main" id="{257EA043-A9C1-44B6-A9A1-9B2A1BB0ED7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10" y="1728"/>
                          <a:ext cx="439"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 name="TextBox 3">
            <a:extLst>
              <a:ext uri="{FF2B5EF4-FFF2-40B4-BE49-F238E27FC236}">
                <a16:creationId xmlns:a16="http://schemas.microsoft.com/office/drawing/2014/main" id="{B3CD8FD7-1A43-5833-D0A6-E14434C39D10}"/>
              </a:ext>
            </a:extLst>
          </p:cNvPr>
          <p:cNvSpPr txBox="1"/>
          <p:nvPr/>
        </p:nvSpPr>
        <p:spPr>
          <a:xfrm>
            <a:off x="3460376" y="3299012"/>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828299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31759"/>
                                        </p:tgtEl>
                                        <p:attrNameLst>
                                          <p:attrName>style.visibility</p:attrName>
                                        </p:attrNameLst>
                                      </p:cBhvr>
                                      <p:to>
                                        <p:strVal val="visible"/>
                                      </p:to>
                                    </p:set>
                                    <p:anim calcmode="lin" valueType="num">
                                      <p:cBhvr>
                                        <p:cTn id="7" dur="500" fill="hold"/>
                                        <p:tgtEl>
                                          <p:spTgt spid="31759"/>
                                        </p:tgtEl>
                                        <p:attrNameLst>
                                          <p:attrName>ppt_w</p:attrName>
                                        </p:attrNameLst>
                                      </p:cBhvr>
                                      <p:tavLst>
                                        <p:tav tm="0">
                                          <p:val>
                                            <p:fltVal val="0"/>
                                          </p:val>
                                        </p:tav>
                                        <p:tav tm="100000">
                                          <p:val>
                                            <p:strVal val="#ppt_w"/>
                                          </p:val>
                                        </p:tav>
                                      </p:tavLst>
                                    </p:anim>
                                    <p:anim calcmode="lin" valueType="num">
                                      <p:cBhvr>
                                        <p:cTn id="8" dur="500" fill="hold"/>
                                        <p:tgtEl>
                                          <p:spTgt spid="31759"/>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31761"/>
                                        </p:tgtEl>
                                        <p:attrNameLst>
                                          <p:attrName>style.visibility</p:attrName>
                                        </p:attrNameLst>
                                      </p:cBhvr>
                                      <p:to>
                                        <p:strVal val="visible"/>
                                      </p:to>
                                    </p:set>
                                    <p:anim calcmode="lin" valueType="num">
                                      <p:cBhvr>
                                        <p:cTn id="13" dur="500" fill="hold"/>
                                        <p:tgtEl>
                                          <p:spTgt spid="31761"/>
                                        </p:tgtEl>
                                        <p:attrNameLst>
                                          <p:attrName>ppt_w</p:attrName>
                                        </p:attrNameLst>
                                      </p:cBhvr>
                                      <p:tavLst>
                                        <p:tav tm="0">
                                          <p:val>
                                            <p:fltVal val="0"/>
                                          </p:val>
                                        </p:tav>
                                        <p:tav tm="100000">
                                          <p:val>
                                            <p:strVal val="#ppt_w"/>
                                          </p:val>
                                        </p:tav>
                                      </p:tavLst>
                                    </p:anim>
                                    <p:anim calcmode="lin" valueType="num">
                                      <p:cBhvr>
                                        <p:cTn id="14" dur="500" fill="hold"/>
                                        <p:tgtEl>
                                          <p:spTgt spid="31761"/>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31764"/>
                                        </p:tgtEl>
                                        <p:attrNameLst>
                                          <p:attrName>style.visibility</p:attrName>
                                        </p:attrNameLst>
                                      </p:cBhvr>
                                      <p:to>
                                        <p:strVal val="visible"/>
                                      </p:to>
                                    </p:set>
                                    <p:anim calcmode="lin" valueType="num">
                                      <p:cBhvr>
                                        <p:cTn id="19" dur="500" fill="hold"/>
                                        <p:tgtEl>
                                          <p:spTgt spid="31764"/>
                                        </p:tgtEl>
                                        <p:attrNameLst>
                                          <p:attrName>ppt_w</p:attrName>
                                        </p:attrNameLst>
                                      </p:cBhvr>
                                      <p:tavLst>
                                        <p:tav tm="0">
                                          <p:val>
                                            <p:fltVal val="0"/>
                                          </p:val>
                                        </p:tav>
                                        <p:tav tm="100000">
                                          <p:val>
                                            <p:strVal val="#ppt_w"/>
                                          </p:val>
                                        </p:tav>
                                      </p:tavLst>
                                    </p:anim>
                                    <p:anim calcmode="lin" valueType="num">
                                      <p:cBhvr>
                                        <p:cTn id="20" dur="500" fill="hold"/>
                                        <p:tgtEl>
                                          <p:spTgt spid="31764"/>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p:cTn id="25" dur="500" fill="hold"/>
                                        <p:tgtEl>
                                          <p:spTgt spid="18"/>
                                        </p:tgtEl>
                                        <p:attrNameLst>
                                          <p:attrName>ppt_w</p:attrName>
                                        </p:attrNameLst>
                                      </p:cBhvr>
                                      <p:tavLst>
                                        <p:tav tm="0">
                                          <p:val>
                                            <p:fltVal val="0"/>
                                          </p:val>
                                        </p:tav>
                                        <p:tav tm="100000">
                                          <p:val>
                                            <p:strVal val="#ppt_w"/>
                                          </p:val>
                                        </p:tav>
                                      </p:tavLst>
                                    </p:anim>
                                    <p:anim calcmode="lin" valueType="num">
                                      <p:cBhvr>
                                        <p:cTn id="26"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1"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heel(4)">
                                      <p:cBhvr>
                                        <p:cTn id="37" dur="10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p:cTn id="42" dur="500" fill="hold"/>
                                        <p:tgtEl>
                                          <p:spTgt spid="19"/>
                                        </p:tgtEl>
                                        <p:attrNameLst>
                                          <p:attrName>ppt_w</p:attrName>
                                        </p:attrNameLst>
                                      </p:cBhvr>
                                      <p:tavLst>
                                        <p:tav tm="0">
                                          <p:val>
                                            <p:fltVal val="0"/>
                                          </p:val>
                                        </p:tav>
                                        <p:tav tm="100000">
                                          <p:val>
                                            <p:strVal val="#ppt_w"/>
                                          </p:val>
                                        </p:tav>
                                      </p:tavLst>
                                    </p:anim>
                                    <p:anim calcmode="lin" valueType="num">
                                      <p:cBhvr>
                                        <p:cTn id="43" dur="5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1" presetClass="entr" presetSubtype="4"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heel(4)">
                                      <p:cBhvr>
                                        <p:cTn id="48" dur="10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0" fill="hold"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p:cTn id="53" dur="500" fill="hold"/>
                                        <p:tgtEl>
                                          <p:spTgt spid="20"/>
                                        </p:tgtEl>
                                        <p:attrNameLst>
                                          <p:attrName>ppt_w</p:attrName>
                                        </p:attrNameLst>
                                      </p:cBhvr>
                                      <p:tavLst>
                                        <p:tav tm="0">
                                          <p:val>
                                            <p:fltVal val="0"/>
                                          </p:val>
                                        </p:tav>
                                        <p:tav tm="100000">
                                          <p:val>
                                            <p:strVal val="#ppt_w"/>
                                          </p:val>
                                        </p:tav>
                                      </p:tavLst>
                                    </p:anim>
                                    <p:anim calcmode="lin" valueType="num">
                                      <p:cBhvr>
                                        <p:cTn id="54" dur="500" fill="hold"/>
                                        <p:tgtEl>
                                          <p:spTgt spid="2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EEB6F712-F88C-4600-9745-C8079DA27696}"/>
              </a:ext>
            </a:extLst>
          </p:cNvPr>
          <p:cNvSpPr txBox="1">
            <a:spLocks noChangeArrowheads="1"/>
          </p:cNvSpPr>
          <p:nvPr/>
        </p:nvSpPr>
        <p:spPr bwMode="auto">
          <a:xfrm>
            <a:off x="1042988" y="2708275"/>
            <a:ext cx="23050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lnSpc>
                <a:spcPct val="110000"/>
              </a:lnSpc>
              <a:spcBef>
                <a:spcPct val="0"/>
              </a:spcBef>
              <a:buClrTx/>
              <a:buSzTx/>
              <a:buFont typeface="Wingdings" panose="05000000000000000000" pitchFamily="2" charset="2"/>
              <a:buNone/>
            </a:pPr>
            <a:r>
              <a:rPr lang="es-ES_tradnl" altLang="es-ES" sz="1400" b="1">
                <a:solidFill>
                  <a:schemeClr val="tx1"/>
                </a:solidFill>
              </a:rPr>
              <a:t>A:  “Ser daltónico”</a:t>
            </a:r>
          </a:p>
          <a:p>
            <a:pPr eaLnBrk="1" hangingPunct="1">
              <a:lnSpc>
                <a:spcPct val="110000"/>
              </a:lnSpc>
              <a:spcBef>
                <a:spcPct val="0"/>
              </a:spcBef>
              <a:buClrTx/>
              <a:buSzTx/>
              <a:buFont typeface="Wingdings" panose="05000000000000000000" pitchFamily="2" charset="2"/>
              <a:buNone/>
            </a:pPr>
            <a:r>
              <a:rPr lang="es-ES_tradnl" altLang="es-ES" sz="1400" b="1">
                <a:solidFill>
                  <a:schemeClr val="tx1"/>
                </a:solidFill>
              </a:rPr>
              <a:t>B:  “ Ser hipertenso”</a:t>
            </a:r>
            <a:endParaRPr lang="es-ES" altLang="es-ES" sz="1400" b="1">
              <a:solidFill>
                <a:schemeClr val="tx1"/>
              </a:solidFill>
            </a:endParaRPr>
          </a:p>
        </p:txBody>
      </p:sp>
      <p:sp>
        <p:nvSpPr>
          <p:cNvPr id="8202" name="Text Box 3">
            <a:extLst>
              <a:ext uri="{FF2B5EF4-FFF2-40B4-BE49-F238E27FC236}">
                <a16:creationId xmlns:a16="http://schemas.microsoft.com/office/drawing/2014/main" id="{1B053FED-2441-4E7F-9D7A-AFB7777A570E}"/>
              </a:ext>
            </a:extLst>
          </p:cNvPr>
          <p:cNvSpPr txBox="1">
            <a:spLocks noChangeArrowheads="1"/>
          </p:cNvSpPr>
          <p:nvPr/>
        </p:nvSpPr>
        <p:spPr bwMode="auto">
          <a:xfrm>
            <a:off x="101600" y="1655763"/>
            <a:ext cx="8647113" cy="568325"/>
          </a:xfrm>
          <a:prstGeom prst="rect">
            <a:avLst/>
          </a:prstGeom>
          <a:noFill/>
          <a:ln w="9525">
            <a:solidFill>
              <a:schemeClr val="tx1"/>
            </a:solidFill>
            <a:miter lim="800000"/>
            <a:headEnd/>
            <a:tailEnd/>
          </a:ln>
        </p:spPr>
        <p:txBody>
          <a:bodyPr>
            <a:spAutoFit/>
          </a:bodyPr>
          <a:lstStyle/>
          <a:p>
            <a:pPr eaLnBrk="1" hangingPunct="1">
              <a:lnSpc>
                <a:spcPct val="110000"/>
              </a:lnSpc>
              <a:buFont typeface="Wingdings" pitchFamily="2" charset="2"/>
              <a:buNone/>
              <a:defRPr/>
            </a:pPr>
            <a:r>
              <a:rPr lang="es-ES_tradnl" sz="1400" b="1" dirty="0">
                <a:solidFill>
                  <a:schemeClr val="tx1">
                    <a:lumMod val="85000"/>
                    <a:lumOff val="15000"/>
                  </a:schemeClr>
                </a:solidFill>
                <a:latin typeface="Arial" charset="0"/>
              </a:rPr>
              <a:t>Ejemplo 2. En una población el 4% de las personas son daltónicas,  el 18% hipertensas y el 0.5% </a:t>
            </a:r>
            <a:r>
              <a:rPr lang="es-ES_tradnl" sz="1400" b="1" dirty="0">
                <a:solidFill>
                  <a:srgbClr val="FF0000"/>
                </a:solidFill>
                <a:latin typeface="Arial" charset="0"/>
              </a:rPr>
              <a:t>daltónicas e hipertensas</a:t>
            </a:r>
            <a:r>
              <a:rPr lang="es-ES_tradnl" sz="1400" b="1" dirty="0">
                <a:solidFill>
                  <a:schemeClr val="tx1">
                    <a:lumMod val="85000"/>
                    <a:lumOff val="15000"/>
                  </a:schemeClr>
                </a:solidFill>
                <a:latin typeface="Arial" charset="0"/>
              </a:rPr>
              <a:t>. ¿Cuál es la  probabilidad de que una persona sea </a:t>
            </a:r>
            <a:r>
              <a:rPr lang="es-ES_tradnl" sz="1400" b="1" dirty="0">
                <a:solidFill>
                  <a:srgbClr val="FF0000"/>
                </a:solidFill>
                <a:latin typeface="Arial" charset="0"/>
              </a:rPr>
              <a:t>daltónica </a:t>
            </a:r>
            <a:r>
              <a:rPr lang="es-ES_tradnl" sz="1400" b="1" dirty="0" err="1">
                <a:solidFill>
                  <a:srgbClr val="FF0000"/>
                </a:solidFill>
                <a:latin typeface="Arial" charset="0"/>
              </a:rPr>
              <a:t>ó</a:t>
            </a:r>
            <a:r>
              <a:rPr lang="es-ES_tradnl" sz="1400" b="1" dirty="0">
                <a:solidFill>
                  <a:srgbClr val="FF0000"/>
                </a:solidFill>
                <a:latin typeface="Arial" charset="0"/>
              </a:rPr>
              <a:t> hipertensa</a:t>
            </a:r>
            <a:r>
              <a:rPr lang="es-ES_tradnl" sz="1400" b="1" dirty="0">
                <a:solidFill>
                  <a:schemeClr val="tx1">
                    <a:lumMod val="85000"/>
                    <a:lumOff val="15000"/>
                  </a:schemeClr>
                </a:solidFill>
                <a:latin typeface="Arial" charset="0"/>
              </a:rPr>
              <a:t>?</a:t>
            </a:r>
            <a:endParaRPr lang="es-ES" sz="1400" b="1" dirty="0">
              <a:solidFill>
                <a:schemeClr val="tx1">
                  <a:lumMod val="85000"/>
                  <a:lumOff val="15000"/>
                </a:schemeClr>
              </a:solidFill>
              <a:latin typeface="Arial" charset="0"/>
            </a:endParaRPr>
          </a:p>
        </p:txBody>
      </p:sp>
      <p:sp>
        <p:nvSpPr>
          <p:cNvPr id="78853" name="Text Box 5">
            <a:extLst>
              <a:ext uri="{FF2B5EF4-FFF2-40B4-BE49-F238E27FC236}">
                <a16:creationId xmlns:a16="http://schemas.microsoft.com/office/drawing/2014/main" id="{3F126D8F-056E-481D-B043-F54315F03659}"/>
              </a:ext>
            </a:extLst>
          </p:cNvPr>
          <p:cNvSpPr txBox="1">
            <a:spLocks noChangeArrowheads="1"/>
          </p:cNvSpPr>
          <p:nvPr/>
        </p:nvSpPr>
        <p:spPr bwMode="auto">
          <a:xfrm>
            <a:off x="3995738" y="2492375"/>
            <a:ext cx="17272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400"/>
              <a:t>P(A) = 0.04</a:t>
            </a:r>
          </a:p>
          <a:p>
            <a:pPr eaLnBrk="1" hangingPunct="1">
              <a:spcBef>
                <a:spcPct val="50000"/>
              </a:spcBef>
              <a:buClrTx/>
              <a:buSzTx/>
              <a:buFontTx/>
              <a:buNone/>
            </a:pPr>
            <a:r>
              <a:rPr lang="es-ES" altLang="es-ES" sz="1400"/>
              <a:t>P(B) = 0.18</a:t>
            </a:r>
            <a:endParaRPr lang="es-ES" altLang="es-ES" sz="1400">
              <a:cs typeface="Arial" panose="020B0604020202020204" pitchFamily="34" charset="0"/>
            </a:endParaRPr>
          </a:p>
        </p:txBody>
      </p:sp>
      <p:sp>
        <p:nvSpPr>
          <p:cNvPr id="78854" name="Text Box 6">
            <a:extLst>
              <a:ext uri="{FF2B5EF4-FFF2-40B4-BE49-F238E27FC236}">
                <a16:creationId xmlns:a16="http://schemas.microsoft.com/office/drawing/2014/main" id="{71134DF3-10B4-4C97-B435-A6DED3B397B7}"/>
              </a:ext>
            </a:extLst>
          </p:cNvPr>
          <p:cNvSpPr txBox="1">
            <a:spLocks noChangeArrowheads="1"/>
          </p:cNvSpPr>
          <p:nvPr/>
        </p:nvSpPr>
        <p:spPr bwMode="auto">
          <a:xfrm>
            <a:off x="179388" y="4129088"/>
            <a:ext cx="8567737" cy="739775"/>
          </a:xfrm>
          <a:prstGeom prst="rect">
            <a:avLst/>
          </a:prstGeom>
          <a:noFill/>
          <a:ln w="9525">
            <a:solidFill>
              <a:schemeClr val="tx1"/>
            </a:solidFill>
            <a:miter lim="800000"/>
            <a:headEnd/>
            <a:tailEnd/>
          </a:ln>
        </p:spPr>
        <p:txBody>
          <a:bodyPr>
            <a:spAutoFit/>
          </a:bodyPr>
          <a:lstStyle/>
          <a:p>
            <a:pPr eaLnBrk="1" hangingPunct="1">
              <a:buFont typeface="Wingdings" pitchFamily="2" charset="2"/>
              <a:buNone/>
              <a:defRPr/>
            </a:pPr>
            <a:r>
              <a:rPr lang="es-ES_tradnl" sz="1400" b="1">
                <a:solidFill>
                  <a:schemeClr val="tx1">
                    <a:lumMod val="85000"/>
                    <a:lumOff val="15000"/>
                  </a:schemeClr>
                </a:solidFill>
                <a:latin typeface="Arial" charset="0"/>
              </a:rPr>
              <a:t>Ejemplo 3. En el lanzamiento un dado, sea A el suceso  obtener un número impar y B obtener un número mayor que 3. Determinar la Probabilidad de obtener un número impar que no sea mayor que 3</a:t>
            </a:r>
            <a:endParaRPr lang="es-ES" sz="1400">
              <a:solidFill>
                <a:schemeClr val="tx1">
                  <a:lumMod val="85000"/>
                  <a:lumOff val="15000"/>
                </a:schemeClr>
              </a:solidFill>
              <a:latin typeface="Arial" charset="0"/>
            </a:endParaRPr>
          </a:p>
        </p:txBody>
      </p:sp>
      <p:sp>
        <p:nvSpPr>
          <p:cNvPr id="78856" name="Text Box 8">
            <a:extLst>
              <a:ext uri="{FF2B5EF4-FFF2-40B4-BE49-F238E27FC236}">
                <a16:creationId xmlns:a16="http://schemas.microsoft.com/office/drawing/2014/main" id="{ABEAA7FE-B988-402C-9A47-318B8A676AEC}"/>
              </a:ext>
            </a:extLst>
          </p:cNvPr>
          <p:cNvSpPr txBox="1">
            <a:spLocks noChangeArrowheads="1"/>
          </p:cNvSpPr>
          <p:nvPr/>
        </p:nvSpPr>
        <p:spPr bwMode="auto">
          <a:xfrm>
            <a:off x="185738" y="5162550"/>
            <a:ext cx="301942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400" b="1" dirty="0">
                <a:solidFill>
                  <a:schemeClr val="tx1"/>
                </a:solidFill>
              </a:rPr>
              <a:t>A: “Sacar impar (1, 3 </a:t>
            </a:r>
            <a:r>
              <a:rPr lang="es-ES" altLang="es-ES" sz="1400" b="1" dirty="0" err="1">
                <a:solidFill>
                  <a:schemeClr val="tx1"/>
                </a:solidFill>
              </a:rPr>
              <a:t>ó</a:t>
            </a:r>
            <a:r>
              <a:rPr lang="es-ES" altLang="es-ES" sz="1400" b="1" dirty="0">
                <a:solidFill>
                  <a:schemeClr val="tx1"/>
                </a:solidFill>
              </a:rPr>
              <a:t> 5)”</a:t>
            </a:r>
          </a:p>
          <a:p>
            <a:pPr eaLnBrk="1" hangingPunct="1">
              <a:spcBef>
                <a:spcPct val="50000"/>
              </a:spcBef>
              <a:buClrTx/>
              <a:buSzTx/>
              <a:buFontTx/>
              <a:buNone/>
            </a:pPr>
            <a:r>
              <a:rPr lang="es-ES" altLang="es-ES" sz="1400" b="1" dirty="0">
                <a:solidFill>
                  <a:schemeClr val="tx1"/>
                </a:solidFill>
              </a:rPr>
              <a:t>B: “Sacar mayor que 3 (4, 5 </a:t>
            </a:r>
            <a:r>
              <a:rPr lang="es-ES" altLang="es-ES" sz="1400" b="1" dirty="0" err="1">
                <a:solidFill>
                  <a:schemeClr val="tx1"/>
                </a:solidFill>
              </a:rPr>
              <a:t>ó</a:t>
            </a:r>
            <a:r>
              <a:rPr lang="es-ES" altLang="es-ES" sz="1400" b="1" dirty="0">
                <a:solidFill>
                  <a:schemeClr val="tx1"/>
                </a:solidFill>
              </a:rPr>
              <a:t> 6)”</a:t>
            </a:r>
          </a:p>
        </p:txBody>
      </p:sp>
      <p:sp>
        <p:nvSpPr>
          <p:cNvPr id="38920" name="Text Box 11">
            <a:extLst>
              <a:ext uri="{FF2B5EF4-FFF2-40B4-BE49-F238E27FC236}">
                <a16:creationId xmlns:a16="http://schemas.microsoft.com/office/drawing/2014/main" id="{7E8CB599-2B21-47BA-BD84-8D2D0ED35C20}"/>
              </a:ext>
            </a:extLst>
          </p:cNvPr>
          <p:cNvSpPr txBox="1">
            <a:spLocks noChangeArrowheads="1"/>
          </p:cNvSpPr>
          <p:nvPr/>
        </p:nvSpPr>
        <p:spPr bwMode="auto">
          <a:xfrm>
            <a:off x="1692275" y="333375"/>
            <a:ext cx="720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2400" b="1">
                <a:solidFill>
                  <a:schemeClr val="tx1"/>
                </a:solidFill>
              </a:rPr>
              <a:t>Cálculo de Probabilidades: Probabilidad</a:t>
            </a:r>
          </a:p>
        </p:txBody>
      </p:sp>
      <p:sp>
        <p:nvSpPr>
          <p:cNvPr id="38921" name="Text Box 12">
            <a:extLst>
              <a:ext uri="{FF2B5EF4-FFF2-40B4-BE49-F238E27FC236}">
                <a16:creationId xmlns:a16="http://schemas.microsoft.com/office/drawing/2014/main" id="{6159FB7A-9988-45ED-A700-383C60272CBC}"/>
              </a:ext>
            </a:extLst>
          </p:cNvPr>
          <p:cNvSpPr txBox="1">
            <a:spLocks noChangeArrowheads="1"/>
          </p:cNvSpPr>
          <p:nvPr/>
        </p:nvSpPr>
        <p:spPr bwMode="auto">
          <a:xfrm>
            <a:off x="1908175" y="836613"/>
            <a:ext cx="45354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2200" b="1" dirty="0">
                <a:solidFill>
                  <a:schemeClr val="tx1"/>
                </a:solidFill>
              </a:rPr>
              <a:t>Propiedades de la Probabilidad</a:t>
            </a:r>
          </a:p>
        </p:txBody>
      </p:sp>
      <p:sp>
        <p:nvSpPr>
          <p:cNvPr id="78861" name="Text Box 13">
            <a:extLst>
              <a:ext uri="{FF2B5EF4-FFF2-40B4-BE49-F238E27FC236}">
                <a16:creationId xmlns:a16="http://schemas.microsoft.com/office/drawing/2014/main" id="{216839EC-CBA5-4111-9DFD-1E9379414DB4}"/>
              </a:ext>
            </a:extLst>
          </p:cNvPr>
          <p:cNvSpPr txBox="1">
            <a:spLocks noChangeArrowheads="1"/>
          </p:cNvSpPr>
          <p:nvPr/>
        </p:nvSpPr>
        <p:spPr bwMode="auto">
          <a:xfrm>
            <a:off x="179388" y="2349500"/>
            <a:ext cx="2447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_tradnl" altLang="es-ES" sz="1600" b="1">
                <a:solidFill>
                  <a:schemeClr val="hlink"/>
                </a:solidFill>
              </a:rPr>
              <a:t>Sucesos:</a:t>
            </a:r>
          </a:p>
        </p:txBody>
      </p:sp>
      <p:sp>
        <p:nvSpPr>
          <p:cNvPr id="78862" name="Text Box 14">
            <a:extLst>
              <a:ext uri="{FF2B5EF4-FFF2-40B4-BE49-F238E27FC236}">
                <a16:creationId xmlns:a16="http://schemas.microsoft.com/office/drawing/2014/main" id="{448B4452-3E4D-4671-9DBA-6BD1199E1673}"/>
              </a:ext>
            </a:extLst>
          </p:cNvPr>
          <p:cNvSpPr txBox="1">
            <a:spLocks noChangeArrowheads="1"/>
          </p:cNvSpPr>
          <p:nvPr/>
        </p:nvSpPr>
        <p:spPr bwMode="auto">
          <a:xfrm>
            <a:off x="34925" y="4868863"/>
            <a:ext cx="2447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_tradnl" altLang="es-ES" sz="1600" b="1">
                <a:solidFill>
                  <a:schemeClr val="hlink"/>
                </a:solidFill>
              </a:rPr>
              <a:t>Sucesos:</a:t>
            </a:r>
          </a:p>
        </p:txBody>
      </p:sp>
      <p:graphicFrame>
        <p:nvGraphicFramePr>
          <p:cNvPr id="78864" name="Object 16">
            <a:extLst>
              <a:ext uri="{FF2B5EF4-FFF2-40B4-BE49-F238E27FC236}">
                <a16:creationId xmlns:a16="http://schemas.microsoft.com/office/drawing/2014/main" id="{8B7BEA7F-5391-4813-A828-065AB807F074}"/>
              </a:ext>
            </a:extLst>
          </p:cNvPr>
          <p:cNvGraphicFramePr>
            <a:graphicFrameLocks noChangeAspect="1"/>
          </p:cNvGraphicFramePr>
          <p:nvPr/>
        </p:nvGraphicFramePr>
        <p:xfrm>
          <a:off x="4214813" y="6003925"/>
          <a:ext cx="1098550" cy="366713"/>
        </p:xfrm>
        <a:graphic>
          <a:graphicData uri="http://schemas.openxmlformats.org/presentationml/2006/ole">
            <mc:AlternateContent xmlns:mc="http://schemas.openxmlformats.org/markup-compatibility/2006">
              <mc:Choice xmlns:v="urn:schemas-microsoft-com:vml" Requires="v">
                <p:oleObj name="Ecuación" r:id="rId3" imgW="723586" imgH="241195" progId="Equation.3">
                  <p:embed/>
                </p:oleObj>
              </mc:Choice>
              <mc:Fallback>
                <p:oleObj name="Ecuación" r:id="rId3" imgW="723586" imgH="241195" progId="Equation.3">
                  <p:embed/>
                  <p:pic>
                    <p:nvPicPr>
                      <p:cNvPr id="78864" name="Object 16">
                        <a:extLst>
                          <a:ext uri="{FF2B5EF4-FFF2-40B4-BE49-F238E27FC236}">
                            <a16:creationId xmlns:a16="http://schemas.microsoft.com/office/drawing/2014/main" id="{8B7BEA7F-5391-4813-A828-065AB807F0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4813" y="6003925"/>
                        <a:ext cx="10985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65" name="Object 17">
            <a:extLst>
              <a:ext uri="{FF2B5EF4-FFF2-40B4-BE49-F238E27FC236}">
                <a16:creationId xmlns:a16="http://schemas.microsoft.com/office/drawing/2014/main" id="{E51037C2-6042-4F0C-8B06-1F3B7BC9181B}"/>
              </a:ext>
            </a:extLst>
          </p:cNvPr>
          <p:cNvGraphicFramePr>
            <a:graphicFrameLocks noChangeAspect="1"/>
          </p:cNvGraphicFramePr>
          <p:nvPr/>
        </p:nvGraphicFramePr>
        <p:xfrm>
          <a:off x="7956550" y="5891213"/>
          <a:ext cx="1079500" cy="550862"/>
        </p:xfrm>
        <a:graphic>
          <a:graphicData uri="http://schemas.openxmlformats.org/presentationml/2006/ole">
            <mc:AlternateContent xmlns:mc="http://schemas.openxmlformats.org/markup-compatibility/2006">
              <mc:Choice xmlns:v="urn:schemas-microsoft-com:vml" Requires="v">
                <p:oleObj name="Ecuación" r:id="rId5" imgW="698197" imgH="355446" progId="Equation.3">
                  <p:embed/>
                </p:oleObj>
              </mc:Choice>
              <mc:Fallback>
                <p:oleObj name="Ecuación" r:id="rId5" imgW="698197" imgH="355446" progId="Equation.3">
                  <p:embed/>
                  <p:pic>
                    <p:nvPicPr>
                      <p:cNvPr id="78865" name="Object 17">
                        <a:extLst>
                          <a:ext uri="{FF2B5EF4-FFF2-40B4-BE49-F238E27FC236}">
                            <a16:creationId xmlns:a16="http://schemas.microsoft.com/office/drawing/2014/main" id="{E51037C2-6042-4F0C-8B06-1F3B7BC918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6550" y="5891213"/>
                        <a:ext cx="1079500" cy="550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66" name="Object 18">
            <a:extLst>
              <a:ext uri="{FF2B5EF4-FFF2-40B4-BE49-F238E27FC236}">
                <a16:creationId xmlns:a16="http://schemas.microsoft.com/office/drawing/2014/main" id="{7FF2C233-5596-4E67-8CA0-78AFD997C320}"/>
              </a:ext>
            </a:extLst>
          </p:cNvPr>
          <p:cNvGraphicFramePr>
            <a:graphicFrameLocks noChangeAspect="1"/>
          </p:cNvGraphicFramePr>
          <p:nvPr/>
        </p:nvGraphicFramePr>
        <p:xfrm>
          <a:off x="4083050" y="3213100"/>
          <a:ext cx="1281113" cy="236538"/>
        </p:xfrm>
        <a:graphic>
          <a:graphicData uri="http://schemas.openxmlformats.org/presentationml/2006/ole">
            <mc:AlternateContent xmlns:mc="http://schemas.openxmlformats.org/markup-compatibility/2006">
              <mc:Choice xmlns:v="urn:schemas-microsoft-com:vml" Requires="v">
                <p:oleObj name="Ecuación" r:id="rId7" imgW="964781" imgH="177723" progId="Equation.3">
                  <p:embed/>
                </p:oleObj>
              </mc:Choice>
              <mc:Fallback>
                <p:oleObj name="Ecuación" r:id="rId7" imgW="964781" imgH="177723" progId="Equation.3">
                  <p:embed/>
                  <p:pic>
                    <p:nvPicPr>
                      <p:cNvPr id="78866" name="Object 18">
                        <a:extLst>
                          <a:ext uri="{FF2B5EF4-FFF2-40B4-BE49-F238E27FC236}">
                            <a16:creationId xmlns:a16="http://schemas.microsoft.com/office/drawing/2014/main" id="{7FF2C233-5596-4E67-8CA0-78AFD997C3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83050" y="3213100"/>
                        <a:ext cx="1281113" cy="23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68" name="Object 20">
            <a:extLst>
              <a:ext uri="{FF2B5EF4-FFF2-40B4-BE49-F238E27FC236}">
                <a16:creationId xmlns:a16="http://schemas.microsoft.com/office/drawing/2014/main" id="{44F3A4F7-2020-4C1E-98F1-DBEFD40B401C}"/>
              </a:ext>
            </a:extLst>
          </p:cNvPr>
          <p:cNvGraphicFramePr>
            <a:graphicFrameLocks noChangeAspect="1"/>
          </p:cNvGraphicFramePr>
          <p:nvPr/>
        </p:nvGraphicFramePr>
        <p:xfrm>
          <a:off x="4224338" y="5346700"/>
          <a:ext cx="1714500" cy="307975"/>
        </p:xfrm>
        <a:graphic>
          <a:graphicData uri="http://schemas.openxmlformats.org/presentationml/2006/ole">
            <mc:AlternateContent xmlns:mc="http://schemas.openxmlformats.org/markup-compatibility/2006">
              <mc:Choice xmlns:v="urn:schemas-microsoft-com:vml" Requires="v">
                <p:oleObj name="Ecuación" r:id="rId9" imgW="1205977" imgH="215806" progId="Equation.3">
                  <p:embed/>
                </p:oleObj>
              </mc:Choice>
              <mc:Fallback>
                <p:oleObj name="Ecuación" r:id="rId9" imgW="1205977" imgH="215806" progId="Equation.3">
                  <p:embed/>
                  <p:pic>
                    <p:nvPicPr>
                      <p:cNvPr id="78868" name="Object 20">
                        <a:extLst>
                          <a:ext uri="{FF2B5EF4-FFF2-40B4-BE49-F238E27FC236}">
                            <a16:creationId xmlns:a16="http://schemas.microsoft.com/office/drawing/2014/main" id="{44F3A4F7-2020-4C1E-98F1-DBEFD40B40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338" y="5346700"/>
                        <a:ext cx="1714500"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Object 7">
            <a:extLst>
              <a:ext uri="{FF2B5EF4-FFF2-40B4-BE49-F238E27FC236}">
                <a16:creationId xmlns:a16="http://schemas.microsoft.com/office/drawing/2014/main" id="{03BDE5C6-5CE4-4466-A281-8F30F85589B2}"/>
              </a:ext>
            </a:extLst>
          </p:cNvPr>
          <p:cNvGraphicFramePr>
            <a:graphicFrameLocks noChangeAspect="1"/>
          </p:cNvGraphicFramePr>
          <p:nvPr/>
        </p:nvGraphicFramePr>
        <p:xfrm>
          <a:off x="5376863" y="6013450"/>
          <a:ext cx="1079500" cy="328613"/>
        </p:xfrm>
        <a:graphic>
          <a:graphicData uri="http://schemas.openxmlformats.org/presentationml/2006/ole">
            <mc:AlternateContent xmlns:mc="http://schemas.openxmlformats.org/markup-compatibility/2006">
              <mc:Choice xmlns:v="urn:schemas-microsoft-com:vml" Requires="v">
                <p:oleObj name="Ecuación" r:id="rId11" imgW="710891" imgH="215806" progId="Equation.3">
                  <p:embed/>
                </p:oleObj>
              </mc:Choice>
              <mc:Fallback>
                <p:oleObj name="Ecuación" r:id="rId11" imgW="710891" imgH="215806" progId="Equation.3">
                  <p:embed/>
                  <p:pic>
                    <p:nvPicPr>
                      <p:cNvPr id="2" name="Object 7">
                        <a:extLst>
                          <a:ext uri="{FF2B5EF4-FFF2-40B4-BE49-F238E27FC236}">
                            <a16:creationId xmlns:a16="http://schemas.microsoft.com/office/drawing/2014/main" id="{03BDE5C6-5CE4-4466-A281-8F30F85589B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76863" y="6013450"/>
                        <a:ext cx="1079500" cy="328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8">
            <a:extLst>
              <a:ext uri="{FF2B5EF4-FFF2-40B4-BE49-F238E27FC236}">
                <a16:creationId xmlns:a16="http://schemas.microsoft.com/office/drawing/2014/main" id="{630ACD21-E5AB-404D-9600-20627EB5B0F6}"/>
              </a:ext>
            </a:extLst>
          </p:cNvPr>
          <p:cNvGraphicFramePr>
            <a:graphicFrameLocks noChangeAspect="1"/>
          </p:cNvGraphicFramePr>
          <p:nvPr/>
        </p:nvGraphicFramePr>
        <p:xfrm>
          <a:off x="6456363" y="6008688"/>
          <a:ext cx="1500187" cy="311150"/>
        </p:xfrm>
        <a:graphic>
          <a:graphicData uri="http://schemas.openxmlformats.org/presentationml/2006/ole">
            <mc:AlternateContent xmlns:mc="http://schemas.openxmlformats.org/markup-compatibility/2006">
              <mc:Choice xmlns:v="urn:schemas-microsoft-com:vml" Requires="v">
                <p:oleObj name="Ecuación" r:id="rId13" imgW="1040948" imgH="215806" progId="Equation.3">
                  <p:embed/>
                </p:oleObj>
              </mc:Choice>
              <mc:Fallback>
                <p:oleObj name="Ecuación" r:id="rId13" imgW="1040948" imgH="215806" progId="Equation.3">
                  <p:embed/>
                  <p:pic>
                    <p:nvPicPr>
                      <p:cNvPr id="3" name="Object 8">
                        <a:extLst>
                          <a:ext uri="{FF2B5EF4-FFF2-40B4-BE49-F238E27FC236}">
                            <a16:creationId xmlns:a16="http://schemas.microsoft.com/office/drawing/2014/main" id="{630ACD21-E5AB-404D-9600-20627EB5B0F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56363" y="6008688"/>
                        <a:ext cx="1500187"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10">
            <a:extLst>
              <a:ext uri="{FF2B5EF4-FFF2-40B4-BE49-F238E27FC236}">
                <a16:creationId xmlns:a16="http://schemas.microsoft.com/office/drawing/2014/main" id="{4E5B1E9B-6D19-4F74-BB6B-C7729FCB6730}"/>
              </a:ext>
            </a:extLst>
          </p:cNvPr>
          <p:cNvSpPr txBox="1">
            <a:spLocks noChangeArrowheads="1"/>
          </p:cNvSpPr>
          <p:nvPr/>
        </p:nvSpPr>
        <p:spPr bwMode="auto">
          <a:xfrm>
            <a:off x="4065588" y="4918075"/>
            <a:ext cx="47117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50000"/>
              </a:spcBef>
              <a:buClrTx/>
              <a:buSzTx/>
              <a:buFontTx/>
              <a:buNone/>
            </a:pPr>
            <a:r>
              <a:rPr lang="es-ES" altLang="es-ES" sz="1500" b="1">
                <a:solidFill>
                  <a:srgbClr val="C00000"/>
                </a:solidFill>
              </a:rPr>
              <a:t>C= “Sacar número impar no mayor que 3  (1 ó 3)” </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EB189AA6-9C91-4D05-9CB3-6F380D23AE37}"/>
                  </a:ext>
                </a:extLst>
              </p:cNvPr>
              <p:cNvSpPr txBox="1"/>
              <p:nvPr/>
            </p:nvSpPr>
            <p:spPr>
              <a:xfrm>
                <a:off x="467791" y="3667127"/>
                <a:ext cx="9403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𝐴</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𝐵</m:t>
                          </m:r>
                        </m:e>
                      </m:d>
                    </m:oMath>
                  </m:oMathPara>
                </a14:m>
                <a:endParaRPr lang="es-ES" dirty="0"/>
              </a:p>
            </p:txBody>
          </p:sp>
        </mc:Choice>
        <mc:Fallback xmlns="">
          <p:sp>
            <p:nvSpPr>
              <p:cNvPr id="4" name="CuadroTexto 3">
                <a:extLst>
                  <a:ext uri="{FF2B5EF4-FFF2-40B4-BE49-F238E27FC236}">
                    <a16:creationId xmlns:a16="http://schemas.microsoft.com/office/drawing/2014/main" id="{EB189AA6-9C91-4D05-9CB3-6F380D23AE37}"/>
                  </a:ext>
                </a:extLst>
              </p:cNvPr>
              <p:cNvSpPr txBox="1">
                <a:spLocks noRot="1" noChangeAspect="1" noMove="1" noResize="1" noEditPoints="1" noAdjustHandles="1" noChangeArrowheads="1" noChangeShapeType="1" noTextEdit="1"/>
              </p:cNvSpPr>
              <p:nvPr/>
            </p:nvSpPr>
            <p:spPr>
              <a:xfrm>
                <a:off x="467791" y="3667127"/>
                <a:ext cx="940322" cy="276999"/>
              </a:xfrm>
              <a:prstGeom prst="rect">
                <a:avLst/>
              </a:prstGeom>
              <a:blipFill>
                <a:blip r:embed="rId16"/>
                <a:stretch>
                  <a:fillRect l="-5195" b="-888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E725C935-F917-44BC-8EC3-E4027E9ADC5E}"/>
                  </a:ext>
                </a:extLst>
              </p:cNvPr>
              <p:cNvSpPr txBox="1"/>
              <p:nvPr/>
            </p:nvSpPr>
            <p:spPr>
              <a:xfrm>
                <a:off x="1423119" y="3654038"/>
                <a:ext cx="2456635" cy="276999"/>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𝐴</m:t>
                        </m:r>
                      </m:e>
                    </m:d>
                    <m:r>
                      <a:rPr lang="es-ES" b="0" i="1" smtClean="0">
                        <a:latin typeface="Cambria Math" panose="02040503050406030204" pitchFamily="18" charset="0"/>
                      </a:rPr>
                      <m:t>+</m:t>
                    </m:r>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𝐵</m:t>
                        </m:r>
                      </m:e>
                    </m:d>
                  </m:oMath>
                </a14:m>
                <a:r>
                  <a:rPr lang="es-ES" dirty="0"/>
                  <a:t>-</a:t>
                </a:r>
                <a:r>
                  <a:rPr lang="es-ES" b="0" dirty="0"/>
                  <a:t>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𝐴</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𝐵</m:t>
                        </m:r>
                      </m:e>
                    </m:d>
                  </m:oMath>
                </a14:m>
                <a:endParaRPr lang="es-ES" dirty="0"/>
              </a:p>
            </p:txBody>
          </p:sp>
        </mc:Choice>
        <mc:Fallback xmlns="">
          <p:sp>
            <p:nvSpPr>
              <p:cNvPr id="24" name="CuadroTexto 23">
                <a:extLst>
                  <a:ext uri="{FF2B5EF4-FFF2-40B4-BE49-F238E27FC236}">
                    <a16:creationId xmlns:a16="http://schemas.microsoft.com/office/drawing/2014/main" id="{E725C935-F917-44BC-8EC3-E4027E9ADC5E}"/>
                  </a:ext>
                </a:extLst>
              </p:cNvPr>
              <p:cNvSpPr txBox="1">
                <a:spLocks noRot="1" noChangeAspect="1" noMove="1" noResize="1" noEditPoints="1" noAdjustHandles="1" noChangeArrowheads="1" noChangeShapeType="1" noTextEdit="1"/>
              </p:cNvSpPr>
              <p:nvPr/>
            </p:nvSpPr>
            <p:spPr>
              <a:xfrm>
                <a:off x="1423119" y="3654038"/>
                <a:ext cx="2456635" cy="276999"/>
              </a:xfrm>
              <a:prstGeom prst="rect">
                <a:avLst/>
              </a:prstGeom>
              <a:blipFill>
                <a:blip r:embed="rId17"/>
                <a:stretch>
                  <a:fillRect l="-1985" t="-28261" b="-5000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79E0218-12F8-4182-9DA3-10A5F626F6A4}"/>
                  </a:ext>
                </a:extLst>
              </p:cNvPr>
              <p:cNvSpPr txBox="1"/>
              <p:nvPr/>
            </p:nvSpPr>
            <p:spPr>
              <a:xfrm>
                <a:off x="3862564" y="3661975"/>
                <a:ext cx="31418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=0.04+0.18−0.005=0.215</m:t>
                      </m:r>
                    </m:oMath>
                  </m:oMathPara>
                </a14:m>
                <a:endParaRPr lang="es-ES" dirty="0"/>
              </a:p>
            </p:txBody>
          </p:sp>
        </mc:Choice>
        <mc:Fallback xmlns="">
          <p:sp>
            <p:nvSpPr>
              <p:cNvPr id="25" name="CuadroTexto 24">
                <a:extLst>
                  <a:ext uri="{FF2B5EF4-FFF2-40B4-BE49-F238E27FC236}">
                    <a16:creationId xmlns:a16="http://schemas.microsoft.com/office/drawing/2014/main" id="{379E0218-12F8-4182-9DA3-10A5F626F6A4}"/>
                  </a:ext>
                </a:extLst>
              </p:cNvPr>
              <p:cNvSpPr txBox="1">
                <a:spLocks noRot="1" noChangeAspect="1" noMove="1" noResize="1" noEditPoints="1" noAdjustHandles="1" noChangeArrowheads="1" noChangeShapeType="1" noTextEdit="1"/>
              </p:cNvSpPr>
              <p:nvPr/>
            </p:nvSpPr>
            <p:spPr>
              <a:xfrm>
                <a:off x="3862564" y="3661975"/>
                <a:ext cx="3141886" cy="276999"/>
              </a:xfrm>
              <a:prstGeom prst="rect">
                <a:avLst/>
              </a:prstGeom>
              <a:blipFill>
                <a:blip r:embed="rId18"/>
                <a:stretch>
                  <a:fillRect l="-194" r="-1553" b="-11111"/>
                </a:stretch>
              </a:blipFill>
            </p:spPr>
            <p:txBody>
              <a:bodyPr/>
              <a:lstStyle/>
              <a:p>
                <a:r>
                  <a:rPr lang="es-ES">
                    <a:noFill/>
                  </a:rPr>
                  <a:t> </a:t>
                </a:r>
              </a:p>
            </p:txBody>
          </p:sp>
        </mc:Fallback>
      </mc:AlternateContent>
      <p:grpSp>
        <p:nvGrpSpPr>
          <p:cNvPr id="5" name="Group 17">
            <a:extLst>
              <a:ext uri="{FF2B5EF4-FFF2-40B4-BE49-F238E27FC236}">
                <a16:creationId xmlns:a16="http://schemas.microsoft.com/office/drawing/2014/main" id="{67F4B40D-160F-482A-B889-CF32BCFB6479}"/>
              </a:ext>
            </a:extLst>
          </p:cNvPr>
          <p:cNvGrpSpPr>
            <a:grpSpLocks/>
          </p:cNvGrpSpPr>
          <p:nvPr/>
        </p:nvGrpSpPr>
        <p:grpSpPr bwMode="auto">
          <a:xfrm>
            <a:off x="259962" y="5754020"/>
            <a:ext cx="2191138" cy="936625"/>
            <a:chOff x="1746" y="3340"/>
            <a:chExt cx="3719" cy="816"/>
          </a:xfrm>
        </p:grpSpPr>
        <p:sp>
          <p:nvSpPr>
            <p:cNvPr id="6" name="Oval 9">
              <a:extLst>
                <a:ext uri="{FF2B5EF4-FFF2-40B4-BE49-F238E27FC236}">
                  <a16:creationId xmlns:a16="http://schemas.microsoft.com/office/drawing/2014/main" id="{BE1AC38C-F403-DA08-6D29-4E3B2EE1F98B}"/>
                </a:ext>
              </a:extLst>
            </p:cNvPr>
            <p:cNvSpPr>
              <a:spLocks noChangeArrowheads="1"/>
            </p:cNvSpPr>
            <p:nvPr/>
          </p:nvSpPr>
          <p:spPr bwMode="auto">
            <a:xfrm>
              <a:off x="1746" y="3476"/>
              <a:ext cx="2177" cy="680"/>
            </a:xfrm>
            <a:prstGeom prst="ellipse">
              <a:avLst/>
            </a:prstGeom>
            <a:solidFill>
              <a:srgbClr val="00CC00">
                <a:alpha val="72156"/>
              </a:srgbClr>
            </a:solidFill>
            <a:ln w="28575">
              <a:solidFill>
                <a:srgbClr val="FF0066"/>
              </a:solidFill>
              <a:round/>
              <a:headEnd/>
              <a:tailE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eaLnBrk="1" hangingPunct="1">
                <a:spcBef>
                  <a:spcPct val="0"/>
                </a:spcBef>
                <a:buClrTx/>
                <a:buSzTx/>
                <a:buFontTx/>
                <a:buNone/>
              </a:pPr>
              <a:r>
                <a:rPr lang="es-ES" altLang="es-ES" sz="1800" dirty="0">
                  <a:solidFill>
                    <a:schemeClr val="tx1"/>
                  </a:solidFill>
                </a:rPr>
                <a:t>1, 3</a:t>
              </a:r>
            </a:p>
          </p:txBody>
        </p:sp>
        <p:sp>
          <p:nvSpPr>
            <p:cNvPr id="7" name="Oval 10">
              <a:extLst>
                <a:ext uri="{FF2B5EF4-FFF2-40B4-BE49-F238E27FC236}">
                  <a16:creationId xmlns:a16="http://schemas.microsoft.com/office/drawing/2014/main" id="{A25A114B-2B7C-E739-BDCF-814663920898}"/>
                </a:ext>
              </a:extLst>
            </p:cNvPr>
            <p:cNvSpPr>
              <a:spLocks noChangeArrowheads="1"/>
            </p:cNvSpPr>
            <p:nvPr/>
          </p:nvSpPr>
          <p:spPr bwMode="auto">
            <a:xfrm>
              <a:off x="3243" y="3476"/>
              <a:ext cx="2222" cy="680"/>
            </a:xfrm>
            <a:prstGeom prst="ellipse">
              <a:avLst/>
            </a:prstGeom>
            <a:solidFill>
              <a:srgbClr val="FF9966">
                <a:alpha val="61960"/>
              </a:srgbClr>
            </a:solidFill>
            <a:ln w="28575">
              <a:solidFill>
                <a:schemeClr val="tx1"/>
              </a:solidFill>
              <a:round/>
              <a:headEnd/>
              <a:tailE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defRPr>
              </a:lvl2pPr>
              <a:lvl3pPr marL="1143000" indent="-228600">
                <a:spcBef>
                  <a:spcPct val="20000"/>
                </a:spcBef>
                <a:buClr>
                  <a:schemeClr val="accent2"/>
                </a:buClr>
                <a:buChar char="•"/>
                <a:defRPr sz="2400">
                  <a:solidFill>
                    <a:schemeClr val="tx2"/>
                  </a:solidFill>
                  <a:latin typeface="Arial" panose="020B0604020202020204" pitchFamily="34" charset="0"/>
                </a:defRPr>
              </a:lvl3pPr>
              <a:lvl4pPr marL="1600200" indent="-228600">
                <a:spcBef>
                  <a:spcPct val="20000"/>
                </a:spcBef>
                <a:buClr>
                  <a:schemeClr val="tx1"/>
                </a:buClr>
                <a:buChar char="•"/>
                <a:defRPr sz="2000">
                  <a:solidFill>
                    <a:schemeClr val="tx2"/>
                  </a:solidFill>
                  <a:latin typeface="Arial" panose="020B0604020202020204" pitchFamily="34" charset="0"/>
                </a:defRPr>
              </a:lvl4pPr>
              <a:lvl5pPr marL="2057400" indent="-228600">
                <a:spcBef>
                  <a:spcPct val="20000"/>
                </a:spcBef>
                <a:buChar char="•"/>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2"/>
                  </a:solidFill>
                  <a:latin typeface="Arial" panose="020B0604020202020204" pitchFamily="34" charset="0"/>
                </a:defRPr>
              </a:lvl9pPr>
            </a:lstStyle>
            <a:p>
              <a:pPr algn="ctr" eaLnBrk="1" hangingPunct="1">
                <a:spcBef>
                  <a:spcPct val="0"/>
                </a:spcBef>
                <a:buClrTx/>
                <a:buSzTx/>
                <a:buFontTx/>
                <a:buNone/>
              </a:pPr>
              <a:r>
                <a:rPr lang="es-ES_tradnl" altLang="es-ES" sz="1800" dirty="0">
                  <a:solidFill>
                    <a:schemeClr val="tx1"/>
                  </a:solidFill>
                </a:rPr>
                <a:t>4, 6</a:t>
              </a:r>
            </a:p>
          </p:txBody>
        </p:sp>
        <p:graphicFrame>
          <p:nvGraphicFramePr>
            <p:cNvPr id="8" name="Object 11">
              <a:extLst>
                <a:ext uri="{FF2B5EF4-FFF2-40B4-BE49-F238E27FC236}">
                  <a16:creationId xmlns:a16="http://schemas.microsoft.com/office/drawing/2014/main" id="{84D8EBCE-C66D-1CF5-D8D1-6A881BBB3056}"/>
                </a:ext>
              </a:extLst>
            </p:cNvPr>
            <p:cNvGraphicFramePr>
              <a:graphicFrameLocks noChangeAspect="1"/>
            </p:cNvGraphicFramePr>
            <p:nvPr/>
          </p:nvGraphicFramePr>
          <p:xfrm>
            <a:off x="1882" y="3431"/>
            <a:ext cx="245" cy="168"/>
          </p:xfrm>
          <a:graphic>
            <a:graphicData uri="http://schemas.openxmlformats.org/presentationml/2006/ole">
              <mc:AlternateContent xmlns:mc="http://schemas.openxmlformats.org/markup-compatibility/2006">
                <mc:Choice xmlns:v="urn:schemas-microsoft-com:vml" Requires="v">
                  <p:oleObj name="Ecuación" r:id="rId19" imgW="241091" imgH="164957" progId="Equation.3">
                    <p:embed/>
                  </p:oleObj>
                </mc:Choice>
                <mc:Fallback>
                  <p:oleObj name="Ecuación" r:id="rId19" imgW="241091" imgH="164957" progId="Equation.3">
                    <p:embed/>
                    <p:pic>
                      <p:nvPicPr>
                        <p:cNvPr id="8" name="Object 11">
                          <a:extLst>
                            <a:ext uri="{FF2B5EF4-FFF2-40B4-BE49-F238E27FC236}">
                              <a16:creationId xmlns:a16="http://schemas.microsoft.com/office/drawing/2014/main" id="{84D8EBCE-C66D-1CF5-D8D1-6A881BBB305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82" y="3431"/>
                          <a:ext cx="245"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2">
              <a:extLst>
                <a:ext uri="{FF2B5EF4-FFF2-40B4-BE49-F238E27FC236}">
                  <a16:creationId xmlns:a16="http://schemas.microsoft.com/office/drawing/2014/main" id="{2E5D3A0D-C4AA-0E10-4518-A4B61690F60E}"/>
                </a:ext>
              </a:extLst>
            </p:cNvPr>
            <p:cNvGraphicFramePr>
              <a:graphicFrameLocks noChangeAspect="1"/>
            </p:cNvGraphicFramePr>
            <p:nvPr/>
          </p:nvGraphicFramePr>
          <p:xfrm>
            <a:off x="4876" y="3340"/>
            <a:ext cx="232" cy="168"/>
          </p:xfrm>
          <a:graphic>
            <a:graphicData uri="http://schemas.openxmlformats.org/presentationml/2006/ole">
              <mc:AlternateContent xmlns:mc="http://schemas.openxmlformats.org/markup-compatibility/2006">
                <mc:Choice xmlns:v="urn:schemas-microsoft-com:vml" Requires="v">
                  <p:oleObj name="Ecuación" r:id="rId21" imgW="228501" imgH="165028" progId="Equation.3">
                    <p:embed/>
                  </p:oleObj>
                </mc:Choice>
                <mc:Fallback>
                  <p:oleObj name="Ecuación" r:id="rId21" imgW="228501" imgH="165028" progId="Equation.3">
                    <p:embed/>
                    <p:pic>
                      <p:nvPicPr>
                        <p:cNvPr id="9" name="Object 12">
                          <a:extLst>
                            <a:ext uri="{FF2B5EF4-FFF2-40B4-BE49-F238E27FC236}">
                              <a16:creationId xmlns:a16="http://schemas.microsoft.com/office/drawing/2014/main" id="{2E5D3A0D-C4AA-0E10-4518-A4B61690F60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76" y="3340"/>
                          <a:ext cx="232"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3">
              <a:extLst>
                <a:ext uri="{FF2B5EF4-FFF2-40B4-BE49-F238E27FC236}">
                  <a16:creationId xmlns:a16="http://schemas.microsoft.com/office/drawing/2014/main" id="{432350A9-5F2F-81E4-8E66-9E54BF304186}"/>
                </a:ext>
              </a:extLst>
            </p:cNvPr>
            <p:cNvGraphicFramePr>
              <a:graphicFrameLocks noChangeAspect="1"/>
            </p:cNvGraphicFramePr>
            <p:nvPr/>
          </p:nvGraphicFramePr>
          <p:xfrm>
            <a:off x="3416" y="3633"/>
            <a:ext cx="374" cy="173"/>
          </p:xfrm>
          <a:graphic>
            <a:graphicData uri="http://schemas.openxmlformats.org/presentationml/2006/ole">
              <mc:AlternateContent xmlns:mc="http://schemas.openxmlformats.org/markup-compatibility/2006">
                <mc:Choice xmlns:v="urn:schemas-microsoft-com:vml" Requires="v">
                  <p:oleObj name="Ecuación" r:id="rId23" imgW="431613" imgH="165028" progId="Equation.3">
                    <p:embed/>
                  </p:oleObj>
                </mc:Choice>
                <mc:Fallback>
                  <p:oleObj name="Ecuación" r:id="rId23" imgW="431613" imgH="165028" progId="Equation.3">
                    <p:embed/>
                    <p:pic>
                      <p:nvPicPr>
                        <p:cNvPr id="10" name="Object 13">
                          <a:extLst>
                            <a:ext uri="{FF2B5EF4-FFF2-40B4-BE49-F238E27FC236}">
                              <a16:creationId xmlns:a16="http://schemas.microsoft.com/office/drawing/2014/main" id="{432350A9-5F2F-81E4-8E66-9E54BF30418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16" y="3633"/>
                          <a:ext cx="374" cy="173"/>
                        </a:xfrm>
                        <a:prstGeom prst="rect">
                          <a:avLst/>
                        </a:prstGeom>
                        <a:noFill/>
                        <a:ln>
                          <a:noFill/>
                        </a:ln>
                        <a:effectLst/>
                      </p:spPr>
                    </p:pic>
                  </p:oleObj>
                </mc:Fallback>
              </mc:AlternateContent>
            </a:graphicData>
          </a:graphic>
        </p:graphicFrame>
      </p:grpSp>
      <p:sp>
        <p:nvSpPr>
          <p:cNvPr id="12" name="TextBox 11">
            <a:extLst>
              <a:ext uri="{FF2B5EF4-FFF2-40B4-BE49-F238E27FC236}">
                <a16:creationId xmlns:a16="http://schemas.microsoft.com/office/drawing/2014/main" id="{48370CED-6B4F-47A9-1E88-EC278B53DF44}"/>
              </a:ext>
            </a:extLst>
          </p:cNvPr>
          <p:cNvSpPr txBox="1"/>
          <p:nvPr/>
        </p:nvSpPr>
        <p:spPr>
          <a:xfrm>
            <a:off x="1197605" y="6199117"/>
            <a:ext cx="312906" cy="369332"/>
          </a:xfrm>
          <a:prstGeom prst="rect">
            <a:avLst/>
          </a:prstGeom>
          <a:noFill/>
        </p:spPr>
        <p:txBody>
          <a:bodyPr wrap="none" rtlCol="0">
            <a:spAutoFit/>
          </a:bodyPr>
          <a:lstStyle/>
          <a:p>
            <a:r>
              <a:rPr lang="en-US" dirty="0"/>
              <a:t>5</a:t>
            </a:r>
          </a:p>
        </p:txBody>
      </p:sp>
    </p:spTree>
    <p:extLst>
      <p:ext uri="{BB962C8B-B14F-4D97-AF65-F5344CB8AC3E}">
        <p14:creationId xmlns:p14="http://schemas.microsoft.com/office/powerpoint/2010/main" val="14572960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78861"/>
                                        </p:tgtEl>
                                        <p:attrNameLst>
                                          <p:attrName>style.visibility</p:attrName>
                                        </p:attrNameLst>
                                      </p:cBhvr>
                                      <p:to>
                                        <p:strVal val="visible"/>
                                      </p:to>
                                    </p:set>
                                    <p:animEffect transition="in" filter="strips(downLeft)">
                                      <p:cBhvr>
                                        <p:cTn id="7" dur="500"/>
                                        <p:tgtEl>
                                          <p:spTgt spid="788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78850"/>
                                        </p:tgtEl>
                                        <p:attrNameLst>
                                          <p:attrName>style.visibility</p:attrName>
                                        </p:attrNameLst>
                                      </p:cBhvr>
                                      <p:to>
                                        <p:strVal val="visible"/>
                                      </p:to>
                                    </p:set>
                                    <p:anim calcmode="lin" valueType="num">
                                      <p:cBhvr>
                                        <p:cTn id="12" dur="500" fill="hold"/>
                                        <p:tgtEl>
                                          <p:spTgt spid="78850"/>
                                        </p:tgtEl>
                                        <p:attrNameLst>
                                          <p:attrName>ppt_w</p:attrName>
                                        </p:attrNameLst>
                                      </p:cBhvr>
                                      <p:tavLst>
                                        <p:tav tm="0">
                                          <p:val>
                                            <p:fltVal val="0"/>
                                          </p:val>
                                        </p:tav>
                                        <p:tav tm="100000">
                                          <p:val>
                                            <p:strVal val="#ppt_w"/>
                                          </p:val>
                                        </p:tav>
                                      </p:tavLst>
                                    </p:anim>
                                    <p:anim calcmode="lin" valueType="num">
                                      <p:cBhvr>
                                        <p:cTn id="13" dur="500" fill="hold"/>
                                        <p:tgtEl>
                                          <p:spTgt spid="78850"/>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78853"/>
                                        </p:tgtEl>
                                        <p:attrNameLst>
                                          <p:attrName>style.visibility</p:attrName>
                                        </p:attrNameLst>
                                      </p:cBhvr>
                                      <p:to>
                                        <p:strVal val="visible"/>
                                      </p:to>
                                    </p:set>
                                    <p:animEffect transition="in" filter="box(in)">
                                      <p:cBhvr>
                                        <p:cTn id="18" dur="500"/>
                                        <p:tgtEl>
                                          <p:spTgt spid="7885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78866"/>
                                        </p:tgtEl>
                                        <p:attrNameLst>
                                          <p:attrName>style.visibility</p:attrName>
                                        </p:attrNameLst>
                                      </p:cBhvr>
                                      <p:to>
                                        <p:strVal val="visible"/>
                                      </p:to>
                                    </p:set>
                                    <p:animEffect transition="in" filter="box(in)">
                                      <p:cBhvr>
                                        <p:cTn id="23" dur="500"/>
                                        <p:tgtEl>
                                          <p:spTgt spid="7886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78854"/>
                                        </p:tgtEl>
                                        <p:attrNameLst>
                                          <p:attrName>style.visibility</p:attrName>
                                        </p:attrNameLst>
                                      </p:cBhvr>
                                      <p:to>
                                        <p:strVal val="visible"/>
                                      </p:to>
                                    </p:set>
                                    <p:anim calcmode="lin" valueType="num">
                                      <p:cBhvr>
                                        <p:cTn id="43" dur="500" fill="hold"/>
                                        <p:tgtEl>
                                          <p:spTgt spid="78854"/>
                                        </p:tgtEl>
                                        <p:attrNameLst>
                                          <p:attrName>ppt_w</p:attrName>
                                        </p:attrNameLst>
                                      </p:cBhvr>
                                      <p:tavLst>
                                        <p:tav tm="0">
                                          <p:val>
                                            <p:fltVal val="0"/>
                                          </p:val>
                                        </p:tav>
                                        <p:tav tm="100000">
                                          <p:val>
                                            <p:strVal val="#ppt_w"/>
                                          </p:val>
                                        </p:tav>
                                      </p:tavLst>
                                    </p:anim>
                                    <p:anim calcmode="lin" valueType="num">
                                      <p:cBhvr>
                                        <p:cTn id="44" dur="500" fill="hold"/>
                                        <p:tgtEl>
                                          <p:spTgt spid="78854"/>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12" fill="hold" grpId="0" nodeType="clickEffect">
                                  <p:stCondLst>
                                    <p:cond delay="0"/>
                                  </p:stCondLst>
                                  <p:childTnLst>
                                    <p:set>
                                      <p:cBhvr>
                                        <p:cTn id="48" dur="1" fill="hold">
                                          <p:stCondLst>
                                            <p:cond delay="0"/>
                                          </p:stCondLst>
                                        </p:cTn>
                                        <p:tgtEl>
                                          <p:spTgt spid="78862"/>
                                        </p:tgtEl>
                                        <p:attrNameLst>
                                          <p:attrName>style.visibility</p:attrName>
                                        </p:attrNameLst>
                                      </p:cBhvr>
                                      <p:to>
                                        <p:strVal val="visible"/>
                                      </p:to>
                                    </p:set>
                                    <p:animEffect transition="in" filter="strips(downLeft)">
                                      <p:cBhvr>
                                        <p:cTn id="49" dur="500"/>
                                        <p:tgtEl>
                                          <p:spTgt spid="7886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 presetClass="entr" presetSubtype="10" fill="hold" grpId="0" nodeType="clickEffect">
                                  <p:stCondLst>
                                    <p:cond delay="0"/>
                                  </p:stCondLst>
                                  <p:childTnLst>
                                    <p:set>
                                      <p:cBhvr>
                                        <p:cTn id="53" dur="1" fill="hold">
                                          <p:stCondLst>
                                            <p:cond delay="0"/>
                                          </p:stCondLst>
                                        </p:cTn>
                                        <p:tgtEl>
                                          <p:spTgt spid="78856"/>
                                        </p:tgtEl>
                                        <p:attrNameLst>
                                          <p:attrName>style.visibility</p:attrName>
                                        </p:attrNameLst>
                                      </p:cBhvr>
                                      <p:to>
                                        <p:strVal val="visible"/>
                                      </p:to>
                                    </p:set>
                                    <p:animEffect transition="in" filter="checkerboard(across)">
                                      <p:cBhvr>
                                        <p:cTn id="54" dur="500"/>
                                        <p:tgtEl>
                                          <p:spTgt spid="7885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6" presetClass="entr" presetSubtype="26"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barn(inHorizontal)">
                                      <p:cBhvr>
                                        <p:cTn id="59" dur="500"/>
                                        <p:tgtEl>
                                          <p:spTgt spid="2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6" presetClass="entr" presetSubtype="26" fill="hold" nodeType="clickEffect">
                                  <p:stCondLst>
                                    <p:cond delay="0"/>
                                  </p:stCondLst>
                                  <p:childTnLst>
                                    <p:set>
                                      <p:cBhvr>
                                        <p:cTn id="63" dur="1" fill="hold">
                                          <p:stCondLst>
                                            <p:cond delay="0"/>
                                          </p:stCondLst>
                                        </p:cTn>
                                        <p:tgtEl>
                                          <p:spTgt spid="78868"/>
                                        </p:tgtEl>
                                        <p:attrNameLst>
                                          <p:attrName>style.visibility</p:attrName>
                                        </p:attrNameLst>
                                      </p:cBhvr>
                                      <p:to>
                                        <p:strVal val="visible"/>
                                      </p:to>
                                    </p:set>
                                    <p:animEffect transition="in" filter="barn(inHorizontal)">
                                      <p:cBhvr>
                                        <p:cTn id="64" dur="500"/>
                                        <p:tgtEl>
                                          <p:spTgt spid="7886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26" fill="hold" nodeType="clickEffect">
                                  <p:stCondLst>
                                    <p:cond delay="0"/>
                                  </p:stCondLst>
                                  <p:childTnLst>
                                    <p:set>
                                      <p:cBhvr>
                                        <p:cTn id="68" dur="1" fill="hold">
                                          <p:stCondLst>
                                            <p:cond delay="0"/>
                                          </p:stCondLst>
                                        </p:cTn>
                                        <p:tgtEl>
                                          <p:spTgt spid="78864"/>
                                        </p:tgtEl>
                                        <p:attrNameLst>
                                          <p:attrName>style.visibility</p:attrName>
                                        </p:attrNameLst>
                                      </p:cBhvr>
                                      <p:to>
                                        <p:strVal val="visible"/>
                                      </p:to>
                                    </p:set>
                                    <p:animEffect transition="in" filter="barn(inHorizontal)">
                                      <p:cBhvr>
                                        <p:cTn id="69" dur="500"/>
                                        <p:tgtEl>
                                          <p:spTgt spid="7886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6" presetClass="entr" presetSubtype="26"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animEffect transition="in" filter="barn(inHorizontal)">
                                      <p:cBhvr>
                                        <p:cTn id="74" dur="500"/>
                                        <p:tgtEl>
                                          <p:spTgt spid="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6" presetClass="entr" presetSubtype="26" fill="hold" nodeType="clickEffect">
                                  <p:stCondLst>
                                    <p:cond delay="0"/>
                                  </p:stCondLst>
                                  <p:childTnLst>
                                    <p:set>
                                      <p:cBhvr>
                                        <p:cTn id="78" dur="1" fill="hold">
                                          <p:stCondLst>
                                            <p:cond delay="0"/>
                                          </p:stCondLst>
                                        </p:cTn>
                                        <p:tgtEl>
                                          <p:spTgt spid="3"/>
                                        </p:tgtEl>
                                        <p:attrNameLst>
                                          <p:attrName>style.visibility</p:attrName>
                                        </p:attrNameLst>
                                      </p:cBhvr>
                                      <p:to>
                                        <p:strVal val="visible"/>
                                      </p:to>
                                    </p:set>
                                    <p:animEffect transition="in" filter="barn(inHorizontal)">
                                      <p:cBhvr>
                                        <p:cTn id="79" dur="500"/>
                                        <p:tgtEl>
                                          <p:spTgt spid="3"/>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6" presetClass="entr" presetSubtype="26" fill="hold" nodeType="clickEffect">
                                  <p:stCondLst>
                                    <p:cond delay="0"/>
                                  </p:stCondLst>
                                  <p:childTnLst>
                                    <p:set>
                                      <p:cBhvr>
                                        <p:cTn id="83" dur="1" fill="hold">
                                          <p:stCondLst>
                                            <p:cond delay="0"/>
                                          </p:stCondLst>
                                        </p:cTn>
                                        <p:tgtEl>
                                          <p:spTgt spid="78865"/>
                                        </p:tgtEl>
                                        <p:attrNameLst>
                                          <p:attrName>style.visibility</p:attrName>
                                        </p:attrNameLst>
                                      </p:cBhvr>
                                      <p:to>
                                        <p:strVal val="visible"/>
                                      </p:to>
                                    </p:set>
                                    <p:animEffect transition="in" filter="barn(inHorizontal)">
                                      <p:cBhvr>
                                        <p:cTn id="84" dur="500"/>
                                        <p:tgtEl>
                                          <p:spTgt spid="78865"/>
                                        </p:tgtEl>
                                      </p:cBhvr>
                                    </p:animEffect>
                                  </p:childTnLst>
                                </p:cTn>
                              </p:par>
                            </p:childTnLst>
                          </p:cTn>
                        </p:par>
                      </p:childTnLst>
                    </p:cTn>
                  </p:par>
                  <p:par>
                    <p:cTn id="85" fill="hold">
                      <p:stCondLst>
                        <p:cond delay="indefinite"/>
                      </p:stCondLst>
                      <p:childTnLst>
                        <p:par>
                          <p:cTn id="86" fill="hold">
                            <p:stCondLst>
                              <p:cond delay="0"/>
                            </p:stCondLst>
                            <p:childTnLst>
                              <p:par>
                                <p:cTn id="87" presetID="21" presetClass="entr" presetSubtype="4" fill="hold" nodeType="click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wheel(4)">
                                      <p:cBhvr>
                                        <p:cTn id="8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p:bldP spid="78853" grpId="0"/>
      <p:bldP spid="78854" grpId="0" animBg="1"/>
      <p:bldP spid="78856" grpId="0"/>
      <p:bldP spid="78861" grpId="0"/>
      <p:bldP spid="78862" grpId="0"/>
      <p:bldP spid="21" grpId="0"/>
      <p:bldP spid="4" grpId="0"/>
      <p:bldP spid="24"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4 Rectángulo"/>
          <p:cNvSpPr>
            <a:spLocks noChangeArrowheads="1"/>
          </p:cNvSpPr>
          <p:nvPr/>
        </p:nvSpPr>
        <p:spPr bwMode="auto">
          <a:xfrm>
            <a:off x="1828800" y="2514600"/>
            <a:ext cx="5715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2000" b="1" dirty="0"/>
              <a:t>Concepto de </a:t>
            </a:r>
            <a:r>
              <a:rPr lang="es-ES" altLang="es-ES" sz="2800" b="1" dirty="0">
                <a:solidFill>
                  <a:srgbClr val="FF0000"/>
                </a:solidFill>
              </a:rPr>
              <a:t>variable aleatoria </a:t>
            </a:r>
            <a:r>
              <a:rPr lang="es-ES" altLang="es-ES" sz="2000" b="1" dirty="0"/>
              <a:t>(VA)</a:t>
            </a:r>
          </a:p>
        </p:txBody>
      </p:sp>
    </p:spTree>
    <p:extLst>
      <p:ext uri="{BB962C8B-B14F-4D97-AF65-F5344CB8AC3E}">
        <p14:creationId xmlns:p14="http://schemas.microsoft.com/office/powerpoint/2010/main" val="794365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4 Rectángulo"/>
          <p:cNvSpPr>
            <a:spLocks noChangeArrowheads="1"/>
          </p:cNvSpPr>
          <p:nvPr/>
        </p:nvSpPr>
        <p:spPr bwMode="auto">
          <a:xfrm>
            <a:off x="152400" y="221903"/>
            <a:ext cx="5715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2000" b="1" dirty="0"/>
              <a:t>Concepto de </a:t>
            </a:r>
            <a:r>
              <a:rPr lang="es-ES" altLang="es-ES" sz="2800" b="1" dirty="0">
                <a:solidFill>
                  <a:srgbClr val="FF0000"/>
                </a:solidFill>
              </a:rPr>
              <a:t>variable aleatoria </a:t>
            </a:r>
            <a:r>
              <a:rPr lang="es-ES" altLang="es-ES" sz="2000" b="1" dirty="0"/>
              <a:t>(VA)</a:t>
            </a:r>
          </a:p>
        </p:txBody>
      </p:sp>
      <p:sp>
        <p:nvSpPr>
          <p:cNvPr id="7171" name="5 Rectángulo"/>
          <p:cNvSpPr>
            <a:spLocks noChangeArrowheads="1"/>
          </p:cNvSpPr>
          <p:nvPr/>
        </p:nvSpPr>
        <p:spPr bwMode="auto">
          <a:xfrm>
            <a:off x="226218" y="838200"/>
            <a:ext cx="854059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300" dirty="0"/>
              <a:t>Por </a:t>
            </a:r>
            <a:r>
              <a:rPr lang="es-ES" altLang="es-ES" sz="1300" b="1" i="1" dirty="0"/>
              <a:t>variable</a:t>
            </a:r>
            <a:r>
              <a:rPr lang="es-ES" altLang="es-ES" sz="1300" dirty="0"/>
              <a:t> entendemos aquí la acepción matemática, es decir, se trata de un </a:t>
            </a:r>
            <a:r>
              <a:rPr lang="es-ES" altLang="es-ES" sz="1300" b="1" dirty="0"/>
              <a:t>valor numérico </a:t>
            </a:r>
            <a:r>
              <a:rPr lang="es-ES" altLang="es-ES" sz="1300" dirty="0"/>
              <a:t>que puede ser cambiante de una observación a otra</a:t>
            </a:r>
          </a:p>
        </p:txBody>
      </p:sp>
      <p:sp>
        <p:nvSpPr>
          <p:cNvPr id="7172" name="6 Rectángulo"/>
          <p:cNvSpPr>
            <a:spLocks noChangeArrowheads="1"/>
          </p:cNvSpPr>
          <p:nvPr/>
        </p:nvSpPr>
        <p:spPr bwMode="auto">
          <a:xfrm>
            <a:off x="525780" y="1272540"/>
            <a:ext cx="824341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Como los valores numéricos pueden ser discretos (=recuentos) o continuos (=medidas) hablaremos de </a:t>
            </a:r>
            <a:r>
              <a:rPr lang="es-ES" altLang="es-ES" sz="1300" b="1" dirty="0"/>
              <a:t>variables discretas </a:t>
            </a:r>
            <a:r>
              <a:rPr lang="es-ES" altLang="es-ES" sz="1300" dirty="0"/>
              <a:t>y de </a:t>
            </a:r>
            <a:r>
              <a:rPr lang="es-ES" altLang="es-ES" sz="1300" b="1" dirty="0"/>
              <a:t>variables continuas</a:t>
            </a:r>
          </a:p>
        </p:txBody>
      </p:sp>
      <p:sp>
        <p:nvSpPr>
          <p:cNvPr id="7173" name="7 Rectángulo"/>
          <p:cNvSpPr>
            <a:spLocks noChangeArrowheads="1"/>
          </p:cNvSpPr>
          <p:nvPr/>
        </p:nvSpPr>
        <p:spPr bwMode="auto">
          <a:xfrm>
            <a:off x="226218" y="2022157"/>
            <a:ext cx="84148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300" dirty="0"/>
              <a:t>Entonces definir una </a:t>
            </a:r>
            <a:r>
              <a:rPr lang="es-ES" altLang="es-ES" sz="1300" b="1" dirty="0"/>
              <a:t>variable aleatoria </a:t>
            </a:r>
            <a:r>
              <a:rPr lang="es-ES" altLang="es-ES" sz="1300" dirty="0"/>
              <a:t>consiste en asignar un </a:t>
            </a:r>
            <a:r>
              <a:rPr lang="es-ES" altLang="es-ES" sz="1300" b="1" dirty="0"/>
              <a:t>valor numérico </a:t>
            </a:r>
            <a:r>
              <a:rPr lang="es-ES" altLang="es-ES" sz="1300" dirty="0"/>
              <a:t>al resultado de un </a:t>
            </a:r>
            <a:r>
              <a:rPr lang="es-ES" altLang="es-ES" sz="1300" b="1" dirty="0"/>
              <a:t>experimento aleatorio</a:t>
            </a:r>
          </a:p>
        </p:txBody>
      </p:sp>
      <p:sp>
        <p:nvSpPr>
          <p:cNvPr id="7174" name="8 Rectángulo"/>
          <p:cNvSpPr>
            <a:spLocks noChangeArrowheads="1"/>
          </p:cNvSpPr>
          <p:nvPr/>
        </p:nvSpPr>
        <p:spPr bwMode="auto">
          <a:xfrm>
            <a:off x="533400" y="2520264"/>
            <a:ext cx="8235790" cy="832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10000"/>
              </a:lnSpc>
            </a:pPr>
            <a:r>
              <a:rPr lang="es-ES" altLang="es-ES" sz="1300" dirty="0"/>
              <a:t>Hablaremos de </a:t>
            </a:r>
          </a:p>
          <a:p>
            <a:pPr algn="just" eaLnBrk="1" hangingPunct="1">
              <a:lnSpc>
                <a:spcPct val="140000"/>
              </a:lnSpc>
              <a:buFont typeface="Arial" panose="020B0604020202020204" pitchFamily="34" charset="0"/>
              <a:buChar char="•"/>
            </a:pPr>
            <a:r>
              <a:rPr lang="es-ES" altLang="es-ES" sz="1300" dirty="0"/>
              <a:t> Variable aleatoria </a:t>
            </a:r>
            <a:r>
              <a:rPr lang="es-ES" altLang="es-ES" sz="1300" b="1" i="1" dirty="0"/>
              <a:t>discreta</a:t>
            </a:r>
            <a:r>
              <a:rPr lang="es-ES" altLang="es-ES" sz="1300" dirty="0"/>
              <a:t>  (VAD) ← recuentos cuyo valor está afectado por el azar (</a:t>
            </a:r>
            <a:r>
              <a:rPr lang="es-ES" altLang="es-ES" sz="1300" dirty="0" err="1"/>
              <a:t>ej</a:t>
            </a:r>
            <a:r>
              <a:rPr lang="es-ES" altLang="es-ES" sz="1300" dirty="0"/>
              <a:t>: nº de hijos,…)</a:t>
            </a:r>
          </a:p>
          <a:p>
            <a:pPr algn="just" eaLnBrk="1" hangingPunct="1">
              <a:lnSpc>
                <a:spcPct val="120000"/>
              </a:lnSpc>
              <a:buFont typeface="Arial" panose="020B0604020202020204" pitchFamily="34" charset="0"/>
              <a:buChar char="•"/>
            </a:pPr>
            <a:r>
              <a:rPr lang="es-ES" altLang="es-ES" sz="1300" dirty="0"/>
              <a:t> Variable aleatoria </a:t>
            </a:r>
            <a:r>
              <a:rPr lang="es-ES" altLang="es-ES" sz="1300" b="1" i="1" dirty="0"/>
              <a:t>continua</a:t>
            </a:r>
            <a:r>
              <a:rPr lang="es-ES" altLang="es-ES" sz="1300" dirty="0"/>
              <a:t> (VAC) ← medidas cuyo valor está afectado por el azar (</a:t>
            </a:r>
            <a:r>
              <a:rPr lang="es-ES" altLang="es-ES" sz="1300" dirty="0" err="1"/>
              <a:t>ej</a:t>
            </a:r>
            <a:r>
              <a:rPr lang="es-ES" altLang="es-ES" sz="1300" dirty="0"/>
              <a:t>: peso,…)</a:t>
            </a:r>
          </a:p>
        </p:txBody>
      </p:sp>
      <p:sp>
        <p:nvSpPr>
          <p:cNvPr id="7175" name="9 Rectángulo"/>
          <p:cNvSpPr>
            <a:spLocks noChangeArrowheads="1"/>
          </p:cNvSpPr>
          <p:nvPr/>
        </p:nvSpPr>
        <p:spPr bwMode="auto">
          <a:xfrm>
            <a:off x="226218" y="3429000"/>
            <a:ext cx="8542972"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300" b="1" dirty="0"/>
              <a:t>Concepto de categorización de una VA</a:t>
            </a:r>
            <a:r>
              <a:rPr lang="es-ES" altLang="es-ES" sz="1300" dirty="0"/>
              <a:t>: Los </a:t>
            </a:r>
            <a:r>
              <a:rPr lang="es-ES" altLang="es-ES" sz="1300" b="1" dirty="0"/>
              <a:t>modelos estadísticos </a:t>
            </a:r>
            <a:r>
              <a:rPr lang="es-ES" altLang="es-ES" sz="1300" dirty="0"/>
              <a:t>(o matemáticos en general)</a:t>
            </a:r>
            <a:r>
              <a:rPr lang="es-ES" altLang="es-ES" sz="1300" b="1" dirty="0"/>
              <a:t> </a:t>
            </a:r>
            <a:r>
              <a:rPr lang="es-ES" altLang="es-ES" sz="1300" dirty="0"/>
              <a:t>solo pueden desarrollarse con valores numéricos (no con categorías nominales), por lo tanto, la forma de estudiar los </a:t>
            </a:r>
            <a:r>
              <a:rPr lang="es-ES" altLang="es-ES" sz="1300" b="1" dirty="0"/>
              <a:t>datos de tipo nominal </a:t>
            </a:r>
            <a:r>
              <a:rPr lang="es-ES" altLang="es-ES" sz="1300" dirty="0"/>
              <a:t>es transformarlos en variables discretas, y esto se hace </a:t>
            </a:r>
            <a:r>
              <a:rPr lang="es-ES" altLang="es-ES" sz="1300" b="1" dirty="0"/>
              <a:t>contando</a:t>
            </a:r>
            <a:r>
              <a:rPr lang="es-ES" altLang="es-ES" sz="1300" dirty="0"/>
              <a:t> cuantas veces aparece cada categoría (es decir, su frecuencia)</a:t>
            </a:r>
          </a:p>
        </p:txBody>
      </p:sp>
      <p:sp>
        <p:nvSpPr>
          <p:cNvPr id="7176" name="10 Rectángulo"/>
          <p:cNvSpPr>
            <a:spLocks noChangeArrowheads="1"/>
          </p:cNvSpPr>
          <p:nvPr/>
        </p:nvSpPr>
        <p:spPr bwMode="auto">
          <a:xfrm>
            <a:off x="514350" y="4272885"/>
            <a:ext cx="8205310"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solidFill>
                  <a:srgbClr val="35747B"/>
                </a:solidFill>
              </a:rPr>
              <a:t>Por ejemplo: Para estudiar la distribución por sexos (sexo=dato de </a:t>
            </a:r>
            <a:r>
              <a:rPr lang="es-ES" altLang="es-ES" sz="1300" b="1" dirty="0">
                <a:solidFill>
                  <a:srgbClr val="35747B"/>
                </a:solidFill>
              </a:rPr>
              <a:t>tipo nominal</a:t>
            </a:r>
            <a:r>
              <a:rPr lang="es-ES" altLang="es-ES" sz="1300" dirty="0">
                <a:solidFill>
                  <a:srgbClr val="35747B"/>
                </a:solidFill>
              </a:rPr>
              <a:t>) de los afectados por una lesión medular se estudia el </a:t>
            </a:r>
            <a:r>
              <a:rPr lang="es-ES" altLang="es-ES" sz="1300" b="1" dirty="0">
                <a:solidFill>
                  <a:srgbClr val="35747B"/>
                </a:solidFill>
              </a:rPr>
              <a:t>número de hombres</a:t>
            </a:r>
            <a:r>
              <a:rPr lang="es-ES" altLang="es-ES" sz="1300" dirty="0">
                <a:solidFill>
                  <a:srgbClr val="35747B"/>
                </a:solidFill>
              </a:rPr>
              <a:t> (o equivalentemente el número de mujeres) que están afectados por dicha lesión, obteniendo así una</a:t>
            </a:r>
            <a:r>
              <a:rPr lang="es-ES" altLang="es-ES" sz="1300" b="1" dirty="0">
                <a:solidFill>
                  <a:srgbClr val="35747B"/>
                </a:solidFill>
              </a:rPr>
              <a:t> </a:t>
            </a:r>
            <a:r>
              <a:rPr lang="es-ES" altLang="es-ES" sz="1300" b="1" i="1" dirty="0">
                <a:solidFill>
                  <a:srgbClr val="35747B"/>
                </a:solidFill>
              </a:rPr>
              <a:t>variable aleatoria discreta</a:t>
            </a:r>
            <a:r>
              <a:rPr lang="es-ES" altLang="es-ES" sz="1300" dirty="0">
                <a:solidFill>
                  <a:srgbClr val="35747B"/>
                </a:solidFill>
              </a:rPr>
              <a:t>.</a:t>
            </a:r>
          </a:p>
        </p:txBody>
      </p:sp>
      <p:sp>
        <p:nvSpPr>
          <p:cNvPr id="7177" name="11 Rectángulo"/>
          <p:cNvSpPr>
            <a:spLocks noChangeArrowheads="1"/>
          </p:cNvSpPr>
          <p:nvPr/>
        </p:nvSpPr>
        <p:spPr bwMode="auto">
          <a:xfrm>
            <a:off x="514350" y="5772150"/>
            <a:ext cx="80962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300" dirty="0"/>
              <a:t>Vamos a profundizar en el concepto de modelo de </a:t>
            </a:r>
            <a:r>
              <a:rPr lang="es-ES" altLang="es-ES" sz="1300" b="1" dirty="0"/>
              <a:t>distribución de probabilidad </a:t>
            </a:r>
            <a:r>
              <a:rPr lang="es-ES" altLang="es-ES" sz="1300" dirty="0"/>
              <a:t>de variables aleatorias estudiando algunos patrones concretos (=</a:t>
            </a:r>
            <a:r>
              <a:rPr lang="es-ES" altLang="es-ES" sz="1300" i="1" dirty="0"/>
              <a:t>modelos</a:t>
            </a:r>
            <a:r>
              <a:rPr lang="es-ES" altLang="es-ES" sz="1300" dirty="0"/>
              <a:t>): </a:t>
            </a:r>
            <a:r>
              <a:rPr lang="es-ES" altLang="es-ES" sz="1300" b="1" dirty="0"/>
              <a:t>Normal</a:t>
            </a:r>
            <a:r>
              <a:rPr lang="es-ES" altLang="es-ES" sz="1300" dirty="0"/>
              <a:t> (para VAC), </a:t>
            </a:r>
            <a:r>
              <a:rPr lang="es-ES" altLang="es-ES" sz="1300" b="1" dirty="0"/>
              <a:t>Binomial</a:t>
            </a:r>
            <a:r>
              <a:rPr lang="es-ES" altLang="es-ES" sz="1300" dirty="0"/>
              <a:t> y </a:t>
            </a:r>
            <a:r>
              <a:rPr lang="es-ES" altLang="es-ES" sz="1300" b="1" dirty="0" err="1"/>
              <a:t>Poisson</a:t>
            </a:r>
            <a:r>
              <a:rPr lang="es-ES" altLang="es-ES" sz="1300" dirty="0"/>
              <a:t> (para VAD)</a:t>
            </a:r>
          </a:p>
        </p:txBody>
      </p:sp>
      <p:sp>
        <p:nvSpPr>
          <p:cNvPr id="7178" name="AutoShape 44"/>
          <p:cNvSpPr>
            <a:spLocks noChangeArrowheads="1"/>
          </p:cNvSpPr>
          <p:nvPr/>
        </p:nvSpPr>
        <p:spPr bwMode="auto">
          <a:xfrm>
            <a:off x="533400" y="5715000"/>
            <a:ext cx="8077200" cy="625475"/>
          </a:xfrm>
          <a:prstGeom prst="roundRect">
            <a:avLst>
              <a:gd name="adj" fmla="val 9028"/>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7179" name="11 Rectángulo"/>
          <p:cNvSpPr>
            <a:spLocks noChangeArrowheads="1"/>
          </p:cNvSpPr>
          <p:nvPr/>
        </p:nvSpPr>
        <p:spPr bwMode="auto">
          <a:xfrm>
            <a:off x="226218" y="5065395"/>
            <a:ext cx="83820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300" dirty="0"/>
              <a:t>Indicar qué valores puede tomar la VA y la probabilidad con que toma cada uno de ellos supone indicar la </a:t>
            </a:r>
            <a:r>
              <a:rPr lang="es-ES" altLang="es-ES" sz="1300" b="1" dirty="0"/>
              <a:t>distribución de probabilidad</a:t>
            </a:r>
            <a:r>
              <a:rPr lang="es-ES" altLang="es-ES" sz="1300" dirty="0"/>
              <a:t> de dicha variable</a:t>
            </a:r>
          </a:p>
        </p:txBody>
      </p:sp>
      <p:sp>
        <p:nvSpPr>
          <p:cNvPr id="13" name="7 Rectángulo"/>
          <p:cNvSpPr>
            <a:spLocks noChangeArrowheads="1"/>
          </p:cNvSpPr>
          <p:nvPr/>
        </p:nvSpPr>
        <p:spPr bwMode="auto">
          <a:xfrm>
            <a:off x="226218" y="1765012"/>
            <a:ext cx="853439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85750" indent="-285750" algn="just" eaLnBrk="1" hangingPunct="1">
              <a:buFont typeface="Arial" panose="020B0604020202020204" pitchFamily="34" charset="0"/>
              <a:buChar char="•"/>
            </a:pPr>
            <a:r>
              <a:rPr lang="es-ES" altLang="es-ES" sz="1300" dirty="0"/>
              <a:t>Por </a:t>
            </a:r>
            <a:r>
              <a:rPr lang="es-ES" altLang="es-ES" sz="1300" b="1" i="1" dirty="0"/>
              <a:t>aleatoria</a:t>
            </a:r>
            <a:r>
              <a:rPr lang="es-ES" altLang="es-ES" sz="1300" dirty="0"/>
              <a:t> entendemos que dicho valor numérico </a:t>
            </a:r>
            <a:r>
              <a:rPr lang="es-ES" altLang="es-ES" sz="1300" b="1" dirty="0"/>
              <a:t>depende en todo o en parte del azar</a:t>
            </a:r>
          </a:p>
        </p:txBody>
      </p:sp>
    </p:spTree>
    <p:extLst>
      <p:ext uri="{BB962C8B-B14F-4D97-AF65-F5344CB8AC3E}">
        <p14:creationId xmlns:p14="http://schemas.microsoft.com/office/powerpoint/2010/main" val="108581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7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2" grpId="0"/>
      <p:bldP spid="7174" grpId="0"/>
      <p:bldP spid="7175" grpId="0"/>
      <p:bldP spid="7177" grpId="0"/>
      <p:bldP spid="7178" grpId="0" animBg="1"/>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21" name="Rectangle 5"/>
              <p:cNvSpPr>
                <a:spLocks noChangeArrowheads="1"/>
              </p:cNvSpPr>
              <p:nvPr/>
            </p:nvSpPr>
            <p:spPr bwMode="auto">
              <a:xfrm>
                <a:off x="533400" y="974725"/>
                <a:ext cx="8153400" cy="5816977"/>
              </a:xfrm>
              <a:prstGeom prst="rect">
                <a:avLst/>
              </a:prstGeom>
              <a:noFill/>
              <a:ln>
                <a:noFill/>
              </a:ln>
              <a:effectLst/>
              <a:extLst>
                <a:ext uri="{909E8E84-426E-40DD-AFC4-6F175D3DCCD1}">
                  <a14:hiddenFill>
                    <a:solidFill>
                      <a:srgbClr val="C0C0C0">
                        <a:alpha val="50195"/>
                      </a:srgbClr>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lgn="just"/>
                <a:r>
                  <a:rPr lang="es-ES_tradnl" altLang="es-ES" sz="2000" dirty="0">
                    <a:solidFill>
                      <a:schemeClr val="tx1"/>
                    </a:solidFill>
                    <a:cs typeface="Times New Roman" pitchFamily="18" charset="0"/>
                  </a:rPr>
                  <a:t>Cuando los resultados de un experimento aleatorio son numéricos (o se pueden convertir en números), se dice que el resultado es una variable aleatoria (</a:t>
                </a:r>
                <a:r>
                  <a:rPr lang="es-ES_tradnl" altLang="es-ES" sz="2000" dirty="0" err="1">
                    <a:solidFill>
                      <a:schemeClr val="tx1"/>
                    </a:solidFill>
                    <a:cs typeface="Times New Roman" pitchFamily="18" charset="0"/>
                  </a:rPr>
                  <a:t>v.a.</a:t>
                </a:r>
                <a:r>
                  <a:rPr lang="es-ES_tradnl" altLang="es-ES" sz="2000" dirty="0">
                    <a:solidFill>
                      <a:schemeClr val="tx1"/>
                    </a:solidFill>
                    <a:cs typeface="Times New Roman" pitchFamily="18" charset="0"/>
                  </a:rPr>
                  <a:t>), porque sus valores numéricos </a:t>
                </a:r>
                <a:r>
                  <a:rPr lang="es-ES_tradnl" altLang="es-ES" sz="2000" b="1" dirty="0">
                    <a:solidFill>
                      <a:schemeClr val="tx1"/>
                    </a:solidFill>
                    <a:cs typeface="Times New Roman" pitchFamily="18" charset="0"/>
                  </a:rPr>
                  <a:t>varían al azar</a:t>
                </a:r>
                <a:r>
                  <a:rPr lang="es-ES_tradnl" altLang="es-ES" sz="2000" dirty="0">
                    <a:solidFill>
                      <a:schemeClr val="tx1"/>
                    </a:solidFill>
                    <a:cs typeface="Times New Roman" pitchFamily="18" charset="0"/>
                  </a:rPr>
                  <a:t>. Por ejemplo, la altura y el peso de una persona, el número de cesiones de fisioterapia tras una lesión, etc. Tipos de variables aleatorias:</a:t>
                </a:r>
              </a:p>
              <a:p>
                <a:pPr algn="just" defTabSz="0" eaLnBrk="0" hangingPunct="0">
                  <a:spcBef>
                    <a:spcPct val="50000"/>
                  </a:spcBef>
                </a:pPr>
                <a:r>
                  <a:rPr lang="es-ES_tradnl" altLang="es-ES" sz="2000" b="1" dirty="0">
                    <a:solidFill>
                      <a:schemeClr val="tx1"/>
                    </a:solidFill>
                    <a:cs typeface="Times New Roman" pitchFamily="18" charset="0"/>
                  </a:rPr>
                  <a:t>a). Discretas: </a:t>
                </a:r>
                <a:r>
                  <a:rPr lang="es-ES_tradnl" altLang="es-ES" sz="2000" dirty="0">
                    <a:solidFill>
                      <a:schemeClr val="tx1"/>
                    </a:solidFill>
                    <a:cs typeface="Times New Roman" pitchFamily="18" charset="0"/>
                  </a:rPr>
                  <a:t>son aquellas </a:t>
                </a:r>
                <a:r>
                  <a:rPr lang="es-ES_tradnl" altLang="es-ES" sz="2000" dirty="0" err="1">
                    <a:solidFill>
                      <a:schemeClr val="tx1"/>
                    </a:solidFill>
                    <a:cs typeface="Times New Roman" pitchFamily="18" charset="0"/>
                  </a:rPr>
                  <a:t>v.a.</a:t>
                </a:r>
                <a:r>
                  <a:rPr lang="es-ES_tradnl" altLang="es-ES" sz="2000" dirty="0">
                    <a:solidFill>
                      <a:schemeClr val="tx1"/>
                    </a:solidFill>
                    <a:cs typeface="Times New Roman" pitchFamily="18" charset="0"/>
                  </a:rPr>
                  <a:t> que toman valores aislados, por ejemplo 0, 1, 2,… Suelen hacer referencia a experimentos en los que se cuenta el número de veces que ocurre algo, por ejemplo el número de cesiones de fisioterapia tras una lesión. También se puede definir una </a:t>
                </a:r>
                <a:r>
                  <a:rPr lang="es-ES_tradnl" altLang="es-ES" sz="2000" dirty="0" err="1">
                    <a:solidFill>
                      <a:schemeClr val="tx1"/>
                    </a:solidFill>
                    <a:cs typeface="Times New Roman" pitchFamily="18" charset="0"/>
                  </a:rPr>
                  <a:t>v.a.</a:t>
                </a:r>
                <a:r>
                  <a:rPr lang="es-ES_tradnl" altLang="es-ES" sz="2000" dirty="0">
                    <a:solidFill>
                      <a:schemeClr val="tx1"/>
                    </a:solidFill>
                    <a:cs typeface="Times New Roman" pitchFamily="18" charset="0"/>
                  </a:rPr>
                  <a:t> discreta cuando el resultado de un experimento es categórico, por ejemplo si se estudia el estado de un paciente después de un </a:t>
                </a:r>
                <a:r>
                  <a:rPr lang="es-ES_tradnl" altLang="es-ES" sz="2000" dirty="0">
                    <a:solidFill>
                      <a:schemeClr val="tx1"/>
                    </a:solidFill>
                    <a:latin typeface="+mn-lt"/>
                    <a:cs typeface="Times New Roman" pitchFamily="18" charset="0"/>
                  </a:rPr>
                  <a:t>tratamiento, entonces se puede definir la </a:t>
                </a:r>
                <a:r>
                  <a:rPr lang="es-ES_tradnl" altLang="es-ES" sz="2000" dirty="0" err="1">
                    <a:solidFill>
                      <a:schemeClr val="tx1"/>
                    </a:solidFill>
                    <a:latin typeface="+mn-lt"/>
                    <a:cs typeface="Times New Roman" pitchFamily="18" charset="0"/>
                  </a:rPr>
                  <a:t>v.a.</a:t>
                </a:r>
                <a:r>
                  <a:rPr lang="es-ES_tradnl" altLang="es-ES" sz="2000" dirty="0">
                    <a:solidFill>
                      <a:schemeClr val="tx1"/>
                    </a:solidFill>
                    <a:latin typeface="+mn-lt"/>
                    <a:cs typeface="Times New Roman" pitchFamily="18" charset="0"/>
                  </a:rPr>
                  <a:t> discreta como </a:t>
                </a:r>
                <a:r>
                  <a:rPr lang="es-ES" sz="2000" dirty="0">
                    <a:solidFill>
                      <a:schemeClr val="tx1"/>
                    </a:solidFill>
                    <a:latin typeface="+mn-lt"/>
                  </a:rPr>
                  <a:t>“</a:t>
                </a:r>
                <a:r>
                  <a:rPr lang="es-ES_tradnl" altLang="es-ES" sz="2000" dirty="0">
                    <a:solidFill>
                      <a:schemeClr val="tx1"/>
                    </a:solidFill>
                    <a:latin typeface="+mn-lt"/>
                    <a:cs typeface="Times New Roman" pitchFamily="18" charset="0"/>
                  </a:rPr>
                  <a:t>peor</a:t>
                </a:r>
                <a:r>
                  <a:rPr lang="es-ES" sz="2000" dirty="0">
                    <a:solidFill>
                      <a:schemeClr val="tx1"/>
                    </a:solidFill>
                    <a:latin typeface="+mn-lt"/>
                  </a:rPr>
                  <a:t>”</a:t>
                </a:r>
                <a:r>
                  <a:rPr lang="es-ES_tradnl" altLang="es-ES" sz="2000" dirty="0">
                    <a:solidFill>
                      <a:schemeClr val="tx1"/>
                    </a:solidFill>
                    <a:latin typeface="+mn-lt"/>
                    <a:cs typeface="Times New Roman" pitchFamily="18" charset="0"/>
                  </a:rPr>
                  <a:t> </a:t>
                </a:r>
                <a14:m>
                  <m:oMath xmlns:m="http://schemas.openxmlformats.org/officeDocument/2006/math">
                    <m:d>
                      <m:dPr>
                        <m:ctrlPr>
                          <a:rPr lang="es-ES" altLang="es-ES" sz="2000" b="0" i="1" smtClean="0">
                            <a:solidFill>
                              <a:schemeClr val="tx1"/>
                            </a:solidFill>
                            <a:latin typeface="Cambria Math" panose="02040503050406030204" pitchFamily="18" charset="0"/>
                            <a:cs typeface="Times New Roman" pitchFamily="18" charset="0"/>
                          </a:rPr>
                        </m:ctrlPr>
                      </m:dPr>
                      <m:e>
                        <m:r>
                          <a:rPr lang="es-ES" altLang="es-ES" sz="2000" b="0" i="1" smtClean="0">
                            <a:solidFill>
                              <a:schemeClr val="tx1"/>
                            </a:solidFill>
                            <a:latin typeface="Cambria Math"/>
                            <a:cs typeface="Times New Roman" pitchFamily="18" charset="0"/>
                          </a:rPr>
                          <m:t>=0</m:t>
                        </m:r>
                      </m:e>
                    </m:d>
                  </m:oMath>
                </a14:m>
                <a:r>
                  <a:rPr lang="es-ES_tradnl" altLang="es-ES" sz="2000" dirty="0">
                    <a:solidFill>
                      <a:schemeClr val="tx1"/>
                    </a:solidFill>
                    <a:latin typeface="+mn-lt"/>
                    <a:cs typeface="Times New Roman" pitchFamily="18" charset="0"/>
                  </a:rPr>
                  <a:t>, </a:t>
                </a:r>
                <a:r>
                  <a:rPr lang="es-ES" sz="2000" dirty="0">
                    <a:solidFill>
                      <a:schemeClr val="tx1"/>
                    </a:solidFill>
                    <a:latin typeface="+mn-lt"/>
                  </a:rPr>
                  <a:t>“igual”</a:t>
                </a:r>
                <a:r>
                  <a:rPr lang="es-ES_tradnl" altLang="es-ES" sz="2000" dirty="0">
                    <a:solidFill>
                      <a:schemeClr val="tx1"/>
                    </a:solidFill>
                    <a:latin typeface="+mn-lt"/>
                    <a:cs typeface="Times New Roman" pitchFamily="18" charset="0"/>
                  </a:rPr>
                  <a:t> </a:t>
                </a:r>
                <a14:m>
                  <m:oMath xmlns:m="http://schemas.openxmlformats.org/officeDocument/2006/math">
                    <m:r>
                      <a:rPr lang="es-ES" altLang="es-ES" sz="2000" b="0" i="1" smtClean="0">
                        <a:solidFill>
                          <a:schemeClr val="tx1"/>
                        </a:solidFill>
                        <a:latin typeface="Cambria Math"/>
                        <a:cs typeface="Times New Roman" pitchFamily="18" charset="0"/>
                      </a:rPr>
                      <m:t>(=1)</m:t>
                    </m:r>
                  </m:oMath>
                </a14:m>
                <a:r>
                  <a:rPr lang="es-ES_tradnl" altLang="es-ES" sz="2000" dirty="0">
                    <a:solidFill>
                      <a:schemeClr val="tx1"/>
                    </a:solidFill>
                    <a:latin typeface="+mn-lt"/>
                    <a:cs typeface="Times New Roman" pitchFamily="18" charset="0"/>
                  </a:rPr>
                  <a:t> y </a:t>
                </a:r>
                <a:r>
                  <a:rPr lang="es-ES" sz="2000" dirty="0">
                    <a:solidFill>
                      <a:schemeClr val="tx1"/>
                    </a:solidFill>
                    <a:latin typeface="+mn-lt"/>
                  </a:rPr>
                  <a:t>“mejor”</a:t>
                </a:r>
                <a:r>
                  <a:rPr lang="es-ES_tradnl" altLang="es-ES" sz="2000" dirty="0">
                    <a:solidFill>
                      <a:schemeClr val="tx1"/>
                    </a:solidFill>
                    <a:latin typeface="+mn-lt"/>
                    <a:cs typeface="Times New Roman" pitchFamily="18" charset="0"/>
                  </a:rPr>
                  <a:t> </a:t>
                </a:r>
                <a14:m>
                  <m:oMath xmlns:m="http://schemas.openxmlformats.org/officeDocument/2006/math">
                    <m:r>
                      <a:rPr lang="es-ES" altLang="es-ES" sz="2000" b="0" i="1" smtClean="0">
                        <a:solidFill>
                          <a:schemeClr val="tx1"/>
                        </a:solidFill>
                        <a:latin typeface="Cambria Math"/>
                        <a:cs typeface="Times New Roman" pitchFamily="18" charset="0"/>
                      </a:rPr>
                      <m:t>(=2)</m:t>
                    </m:r>
                  </m:oMath>
                </a14:m>
                <a:r>
                  <a:rPr lang="es-ES_tradnl" altLang="es-ES" sz="2000" dirty="0">
                    <a:solidFill>
                      <a:schemeClr val="tx1"/>
                    </a:solidFill>
                    <a:latin typeface="+mn-lt"/>
                    <a:cs typeface="Times New Roman" pitchFamily="18" charset="0"/>
                  </a:rPr>
                  <a:t>.  </a:t>
                </a:r>
              </a:p>
              <a:p>
                <a:pPr algn="just" eaLnBrk="0" hangingPunct="0">
                  <a:spcBef>
                    <a:spcPct val="50000"/>
                  </a:spcBef>
                </a:pPr>
                <a:r>
                  <a:rPr lang="es-ES_tradnl" altLang="es-ES" sz="2000" dirty="0">
                    <a:solidFill>
                      <a:schemeClr val="tx1"/>
                    </a:solidFill>
                    <a:cs typeface="Times New Roman" pitchFamily="18" charset="0"/>
                  </a:rPr>
                  <a:t>b). </a:t>
                </a:r>
                <a:r>
                  <a:rPr lang="es-ES_tradnl" altLang="es-ES" sz="2000" b="1" dirty="0">
                    <a:solidFill>
                      <a:schemeClr val="tx1"/>
                    </a:solidFill>
                    <a:cs typeface="Times New Roman" pitchFamily="18" charset="0"/>
                  </a:rPr>
                  <a:t>Continuas:</a:t>
                </a:r>
                <a:r>
                  <a:rPr lang="es-ES_tradnl" altLang="es-ES" sz="2000" dirty="0">
                    <a:solidFill>
                      <a:schemeClr val="tx1"/>
                    </a:solidFill>
                    <a:cs typeface="Times New Roman" pitchFamily="18" charset="0"/>
                  </a:rPr>
                  <a:t> son aquellas </a:t>
                </a:r>
                <a:r>
                  <a:rPr lang="es-ES_tradnl" altLang="es-ES" sz="2000" dirty="0" err="1">
                    <a:solidFill>
                      <a:schemeClr val="tx1"/>
                    </a:solidFill>
                    <a:cs typeface="Times New Roman" pitchFamily="18" charset="0"/>
                  </a:rPr>
                  <a:t>v.a.</a:t>
                </a:r>
                <a:r>
                  <a:rPr lang="es-ES_tradnl" altLang="es-ES" sz="2000" dirty="0">
                    <a:solidFill>
                      <a:schemeClr val="tx1"/>
                    </a:solidFill>
                    <a:cs typeface="Times New Roman" pitchFamily="18" charset="0"/>
                  </a:rPr>
                  <a:t> que toman valores en un intervalo de posibles valores. Por ejemplo, el peso de una persona adulta sana será un valor entre (por ejemplo)  50 y 100 kg. </a:t>
                </a:r>
              </a:p>
              <a:p>
                <a:pPr algn="just"/>
                <a:endParaRPr lang="es-ES_tradnl" altLang="es-ES" dirty="0">
                  <a:solidFill>
                    <a:schemeClr val="tx1"/>
                  </a:solidFill>
                </a:endParaRPr>
              </a:p>
            </p:txBody>
          </p:sp>
        </mc:Choice>
        <mc:Fallback xmlns="">
          <p:sp>
            <p:nvSpPr>
              <p:cNvPr id="9221" name="Rectangle 5"/>
              <p:cNvSpPr>
                <a:spLocks noRot="1" noChangeAspect="1" noMove="1" noResize="1" noEditPoints="1" noAdjustHandles="1" noChangeArrowheads="1" noChangeShapeType="1" noTextEdit="1"/>
              </p:cNvSpPr>
              <p:nvPr/>
            </p:nvSpPr>
            <p:spPr bwMode="auto">
              <a:xfrm>
                <a:off x="533400" y="974725"/>
                <a:ext cx="8153400" cy="5816977"/>
              </a:xfrm>
              <a:prstGeom prst="rect">
                <a:avLst/>
              </a:prstGeom>
              <a:blipFill>
                <a:blip r:embed="rId2"/>
                <a:stretch>
                  <a:fillRect l="-935" t="-654" r="-779"/>
                </a:stretch>
              </a:blip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8" name="7 CuadroTexto"/>
          <p:cNvSpPr txBox="1"/>
          <p:nvPr/>
        </p:nvSpPr>
        <p:spPr>
          <a:xfrm>
            <a:off x="541867" y="160867"/>
            <a:ext cx="5904656" cy="461665"/>
          </a:xfrm>
          <a:prstGeom prst="rect">
            <a:avLst/>
          </a:prstGeom>
          <a:noFill/>
        </p:spPr>
        <p:txBody>
          <a:bodyPr wrap="square" rtlCol="0">
            <a:spAutoFit/>
          </a:bodyPr>
          <a:lstStyle/>
          <a:p>
            <a:r>
              <a:rPr lang="es-ES" sz="2400" b="1" dirty="0">
                <a:solidFill>
                  <a:schemeClr val="tx1"/>
                </a:solidFill>
              </a:rPr>
              <a:t>Definición de Variable Aleatoria</a:t>
            </a:r>
          </a:p>
        </p:txBody>
      </p:sp>
      <p:sp>
        <p:nvSpPr>
          <p:cNvPr id="2" name="1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16</a:t>
            </a:fld>
            <a:endParaRPr lang="en-GB" altLang="es-E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633413"/>
            <a:ext cx="5791200" cy="25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5" name="Text Box 8"/>
          <p:cNvSpPr txBox="1">
            <a:spLocks noChangeArrowheads="1"/>
          </p:cNvSpPr>
          <p:nvPr/>
        </p:nvSpPr>
        <p:spPr bwMode="auto">
          <a:xfrm>
            <a:off x="609600" y="1295400"/>
            <a:ext cx="2730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lnSpc>
                <a:spcPct val="120000"/>
              </a:lnSpc>
            </a:pPr>
            <a:r>
              <a:rPr lang="es-ES_tradnl" altLang="es-ES" sz="1000" dirty="0">
                <a:solidFill>
                  <a:srgbClr val="35747B"/>
                </a:solidFill>
              </a:rPr>
              <a:t>Tomado de </a:t>
            </a:r>
            <a:r>
              <a:rPr lang="es-ES_tradnl" altLang="es-ES" sz="1000" dirty="0" err="1">
                <a:solidFill>
                  <a:srgbClr val="35747B"/>
                </a:solidFill>
              </a:rPr>
              <a:t>Blakeslee</a:t>
            </a:r>
            <a:r>
              <a:rPr lang="es-ES_tradnl" altLang="es-ES" sz="1000" dirty="0">
                <a:solidFill>
                  <a:srgbClr val="35747B"/>
                </a:solidFill>
              </a:rPr>
              <a:t> &amp; </a:t>
            </a:r>
            <a:r>
              <a:rPr lang="es-ES_tradnl" altLang="es-ES" sz="1000" dirty="0" err="1">
                <a:solidFill>
                  <a:srgbClr val="35747B"/>
                </a:solidFill>
              </a:rPr>
              <a:t>Hered</a:t>
            </a:r>
            <a:r>
              <a:rPr lang="es-ES_tradnl" altLang="es-ES" sz="1000" dirty="0">
                <a:solidFill>
                  <a:srgbClr val="35747B"/>
                </a:solidFill>
              </a:rPr>
              <a:t> (1914)</a:t>
            </a:r>
          </a:p>
          <a:p>
            <a:pPr algn="r" eaLnBrk="1" hangingPunct="1">
              <a:lnSpc>
                <a:spcPct val="120000"/>
              </a:lnSpc>
            </a:pPr>
            <a:r>
              <a:rPr lang="es-ES" altLang="es-ES" sz="1000" dirty="0">
                <a:solidFill>
                  <a:srgbClr val="35747B"/>
                </a:solidFill>
              </a:rPr>
              <a:t>por  Ayala &amp; </a:t>
            </a:r>
            <a:r>
              <a:rPr lang="es-ES" altLang="es-ES" sz="1000" dirty="0" err="1">
                <a:solidFill>
                  <a:srgbClr val="35747B"/>
                </a:solidFill>
              </a:rPr>
              <a:t>Kiger</a:t>
            </a:r>
            <a:r>
              <a:rPr lang="es-ES" altLang="es-ES" sz="1000" dirty="0">
                <a:solidFill>
                  <a:srgbClr val="35747B"/>
                </a:solidFill>
              </a:rPr>
              <a:t> (1984) </a:t>
            </a:r>
            <a:r>
              <a:rPr lang="es-ES" altLang="es-ES" sz="1000" i="1" dirty="0">
                <a:solidFill>
                  <a:srgbClr val="35747B"/>
                </a:solidFill>
              </a:rPr>
              <a:t>Modern </a:t>
            </a:r>
            <a:r>
              <a:rPr lang="es-ES" altLang="es-ES" sz="1000" i="1" dirty="0" err="1">
                <a:solidFill>
                  <a:srgbClr val="35747B"/>
                </a:solidFill>
              </a:rPr>
              <a:t>Genetics</a:t>
            </a:r>
            <a:endParaRPr lang="es-ES" altLang="es-ES" sz="1000" i="1" dirty="0">
              <a:solidFill>
                <a:srgbClr val="35747B"/>
              </a:solidFill>
            </a:endParaRPr>
          </a:p>
        </p:txBody>
      </p:sp>
      <p:sp>
        <p:nvSpPr>
          <p:cNvPr id="8196" name="Text Box 13"/>
          <p:cNvSpPr txBox="1">
            <a:spLocks noChangeArrowheads="1"/>
          </p:cNvSpPr>
          <p:nvPr/>
        </p:nvSpPr>
        <p:spPr bwMode="auto">
          <a:xfrm>
            <a:off x="0" y="8382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lnSpc>
                <a:spcPct val="120000"/>
              </a:lnSpc>
            </a:pPr>
            <a:r>
              <a:rPr lang="es-ES_tradnl" altLang="es-ES" sz="1000" dirty="0">
                <a:solidFill>
                  <a:srgbClr val="35747B"/>
                </a:solidFill>
              </a:rPr>
              <a:t>Distribución de la estatura de 175 hombres reclutados </a:t>
            </a:r>
          </a:p>
          <a:p>
            <a:pPr algn="r" eaLnBrk="1" hangingPunct="1">
              <a:lnSpc>
                <a:spcPct val="120000"/>
              </a:lnSpc>
            </a:pPr>
            <a:r>
              <a:rPr lang="es-ES_tradnl" altLang="es-ES" sz="1000" dirty="0">
                <a:solidFill>
                  <a:srgbClr val="35747B"/>
                </a:solidFill>
              </a:rPr>
              <a:t>por el ejército inglés a finales del siglo XIX </a:t>
            </a:r>
          </a:p>
        </p:txBody>
      </p:sp>
      <p:pic>
        <p:nvPicPr>
          <p:cNvPr id="8197"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43338"/>
            <a:ext cx="4343400" cy="301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8" name="Text Box 12"/>
          <p:cNvSpPr txBox="1">
            <a:spLocks noChangeArrowheads="1"/>
          </p:cNvSpPr>
          <p:nvPr/>
        </p:nvSpPr>
        <p:spPr bwMode="auto">
          <a:xfrm>
            <a:off x="4724400" y="3605714"/>
            <a:ext cx="4114800"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400" dirty="0"/>
              <a:t>¿Tienen algo en común estas dos</a:t>
            </a:r>
            <a:r>
              <a:rPr lang="es-ES" altLang="es-ES" sz="1400" b="1" dirty="0"/>
              <a:t> </a:t>
            </a:r>
            <a:r>
              <a:rPr lang="es-ES" altLang="es-ES" sz="1400" b="1" i="1" dirty="0"/>
              <a:t>distribuciones</a:t>
            </a:r>
            <a:r>
              <a:rPr lang="es-ES" altLang="es-ES" sz="1400" b="1" dirty="0"/>
              <a:t> de frecuencias</a:t>
            </a:r>
            <a:r>
              <a:rPr lang="es-ES" altLang="es-ES" sz="1400" dirty="0"/>
              <a:t> de la estatura?</a:t>
            </a:r>
          </a:p>
          <a:p>
            <a:pPr algn="ctr" eaLnBrk="1" hangingPunct="1"/>
            <a:endParaRPr lang="es-ES_tradnl" altLang="es-ES" sz="1400" dirty="0"/>
          </a:p>
          <a:p>
            <a:pPr algn="ctr" eaLnBrk="1" hangingPunct="1"/>
            <a:r>
              <a:rPr lang="es-ES_tradnl" altLang="es-ES" sz="1400" dirty="0">
                <a:solidFill>
                  <a:srgbClr val="35747B"/>
                </a:solidFill>
              </a:rPr>
              <a:t>¿Qué aspecto puede esperarse de la distribución si se hiciera</a:t>
            </a:r>
            <a:r>
              <a:rPr lang="es-ES" altLang="es-ES" sz="1400" dirty="0">
                <a:solidFill>
                  <a:srgbClr val="35747B"/>
                </a:solidFill>
              </a:rPr>
              <a:t> con los compañeros de clase?</a:t>
            </a:r>
          </a:p>
          <a:p>
            <a:pPr algn="ctr" eaLnBrk="1" hangingPunct="1"/>
            <a:endParaRPr lang="es-ES" altLang="es-ES" sz="1400" dirty="0">
              <a:solidFill>
                <a:srgbClr val="006666"/>
              </a:solidFill>
            </a:endParaRPr>
          </a:p>
          <a:p>
            <a:pPr eaLnBrk="1" hangingPunct="1"/>
            <a:r>
              <a:rPr lang="es-ES_tradnl" altLang="es-ES" sz="1400" dirty="0">
                <a:solidFill>
                  <a:srgbClr val="006666"/>
                </a:solidFill>
              </a:rPr>
              <a:t>      </a:t>
            </a:r>
            <a:r>
              <a:rPr lang="es-ES_tradnl" altLang="es-ES" sz="1400" dirty="0" err="1">
                <a:solidFill>
                  <a:srgbClr val="35747B"/>
                </a:solidFill>
              </a:rPr>
              <a:t>Soluci</a:t>
            </a:r>
            <a:r>
              <a:rPr lang="es-ES" altLang="es-ES" sz="1400" dirty="0" err="1">
                <a:solidFill>
                  <a:srgbClr val="35747B"/>
                </a:solidFill>
              </a:rPr>
              <a:t>ón</a:t>
            </a:r>
            <a:r>
              <a:rPr lang="es-ES" altLang="es-ES" sz="1400" dirty="0">
                <a:solidFill>
                  <a:srgbClr val="35747B"/>
                </a:solidFill>
              </a:rPr>
              <a:t>:</a:t>
            </a:r>
          </a:p>
        </p:txBody>
      </p:sp>
      <p:sp>
        <p:nvSpPr>
          <p:cNvPr id="8199" name="Text Box 12"/>
          <p:cNvSpPr txBox="1">
            <a:spLocks noChangeArrowheads="1"/>
          </p:cNvSpPr>
          <p:nvPr/>
        </p:nvSpPr>
        <p:spPr bwMode="auto">
          <a:xfrm>
            <a:off x="228600" y="2133600"/>
            <a:ext cx="29718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dirty="0"/>
              <a:t>Ambas imágenes representan la </a:t>
            </a:r>
            <a:r>
              <a:rPr lang="es-ES_tradnl" altLang="es-ES" sz="1400" b="1" i="1" dirty="0"/>
              <a:t>distribución</a:t>
            </a:r>
            <a:r>
              <a:rPr lang="es-ES_tradnl" altLang="es-ES" sz="1400" b="1" dirty="0"/>
              <a:t> de la estatura</a:t>
            </a:r>
            <a:r>
              <a:rPr lang="es-ES_tradnl" altLang="es-ES" sz="1400" dirty="0"/>
              <a:t> de un </a:t>
            </a:r>
            <a:r>
              <a:rPr lang="es-ES_tradnl" altLang="es-ES" sz="1400" dirty="0" err="1"/>
              <a:t>colect</a:t>
            </a:r>
            <a:r>
              <a:rPr lang="es-ES" altLang="es-ES" sz="1400" dirty="0" err="1"/>
              <a:t>ivo</a:t>
            </a:r>
            <a:r>
              <a:rPr lang="es-ES" altLang="es-ES" sz="1400" dirty="0"/>
              <a:t> diferente en épocas diferentes. (A la izda. están los más bajos y a la </a:t>
            </a:r>
            <a:r>
              <a:rPr lang="es-ES" altLang="es-ES" sz="1400" dirty="0" err="1"/>
              <a:t>dcha</a:t>
            </a:r>
            <a:r>
              <a:rPr lang="es-ES" altLang="es-ES" sz="1400" dirty="0"/>
              <a:t> los individuos más altos)</a:t>
            </a:r>
            <a:endParaRPr lang="es-ES" altLang="es-ES" sz="1400" b="1" dirty="0"/>
          </a:p>
        </p:txBody>
      </p:sp>
      <p:sp>
        <p:nvSpPr>
          <p:cNvPr id="8200" name="4 Rectángulo"/>
          <p:cNvSpPr>
            <a:spLocks noChangeArrowheads="1"/>
          </p:cNvSpPr>
          <p:nvPr/>
        </p:nvSpPr>
        <p:spPr bwMode="auto">
          <a:xfrm>
            <a:off x="203447" y="29731"/>
            <a:ext cx="563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a:t>Modelos de distribución de probabilidad (motivación)</a:t>
            </a:r>
          </a:p>
        </p:txBody>
      </p:sp>
      <p:sp>
        <p:nvSpPr>
          <p:cNvPr id="8201" name="Text Box 8"/>
          <p:cNvSpPr txBox="1">
            <a:spLocks noChangeArrowheads="1"/>
          </p:cNvSpPr>
          <p:nvPr/>
        </p:nvSpPr>
        <p:spPr bwMode="auto">
          <a:xfrm>
            <a:off x="4343400" y="6400800"/>
            <a:ext cx="2600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pPr>
            <a:r>
              <a:rPr lang="es-ES_tradnl" altLang="es-ES" sz="1000">
                <a:solidFill>
                  <a:srgbClr val="35747B"/>
                </a:solidFill>
              </a:rPr>
              <a:t>Brian Joiner “Living Histograms”</a:t>
            </a:r>
          </a:p>
          <a:p>
            <a:pPr eaLnBrk="1" hangingPunct="1">
              <a:lnSpc>
                <a:spcPct val="120000"/>
              </a:lnSpc>
            </a:pPr>
            <a:r>
              <a:rPr lang="es-ES" altLang="es-ES" sz="1000">
                <a:solidFill>
                  <a:srgbClr val="35747B"/>
                </a:solidFill>
              </a:rPr>
              <a:t>International Statistical Review, 43 (1975)</a:t>
            </a:r>
          </a:p>
        </p:txBody>
      </p:sp>
      <p:sp>
        <p:nvSpPr>
          <p:cNvPr id="8203" name="AutoShape 44"/>
          <p:cNvSpPr>
            <a:spLocks noChangeArrowheads="1"/>
          </p:cNvSpPr>
          <p:nvPr/>
        </p:nvSpPr>
        <p:spPr bwMode="auto">
          <a:xfrm>
            <a:off x="4724400" y="4191000"/>
            <a:ext cx="4114800" cy="2133600"/>
          </a:xfrm>
          <a:prstGeom prst="roundRect">
            <a:avLst>
              <a:gd name="adj" fmla="val 5727"/>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sp>
        <p:nvSpPr>
          <p:cNvPr id="12" name="4 Rectángulo"/>
          <p:cNvSpPr>
            <a:spLocks noChangeArrowheads="1"/>
          </p:cNvSpPr>
          <p:nvPr/>
        </p:nvSpPr>
        <p:spPr bwMode="auto">
          <a:xfrm>
            <a:off x="228600" y="419100"/>
            <a:ext cx="563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i="1" dirty="0"/>
              <a:t>Histogramas</a:t>
            </a:r>
            <a:r>
              <a:rPr lang="es-ES" altLang="es-ES" sz="1400" b="1" dirty="0"/>
              <a:t> </a:t>
            </a:r>
            <a:r>
              <a:rPr lang="es-ES" altLang="es-ES" sz="1400" b="1" i="1" dirty="0"/>
              <a:t>vivientes</a:t>
            </a:r>
          </a:p>
        </p:txBody>
      </p:sp>
      <p:pic>
        <p:nvPicPr>
          <p:cNvPr id="3" name="Snagit_PPT85D4">
            <a:extLst>
              <a:ext uri="{FF2B5EF4-FFF2-40B4-BE49-F238E27FC236}">
                <a16:creationId xmlns:a16="http://schemas.microsoft.com/office/drawing/2014/main" id="{2726383D-A43B-4953-8996-F8386CD06B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43599" y="4928355"/>
            <a:ext cx="2774595" cy="1289811"/>
          </a:xfrm>
          <a:prstGeom prst="rect">
            <a:avLst/>
          </a:prstGeom>
        </p:spPr>
      </p:pic>
    </p:spTree>
    <p:extLst>
      <p:ext uri="{BB962C8B-B14F-4D97-AF65-F5344CB8AC3E}">
        <p14:creationId xmlns:p14="http://schemas.microsoft.com/office/powerpoint/2010/main" val="1803474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0"/>
          <p:cNvSpPr txBox="1">
            <a:spLocks noChangeArrowheads="1"/>
          </p:cNvSpPr>
          <p:nvPr/>
        </p:nvSpPr>
        <p:spPr bwMode="auto">
          <a:xfrm>
            <a:off x="195263" y="799307"/>
            <a:ext cx="495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Utilidad de los modelos de distribución de probabilidad</a:t>
            </a:r>
          </a:p>
        </p:txBody>
      </p:sp>
      <p:sp>
        <p:nvSpPr>
          <p:cNvPr id="12292" name="Text Box 20"/>
          <p:cNvSpPr txBox="1">
            <a:spLocks noChangeArrowheads="1"/>
          </p:cNvSpPr>
          <p:nvPr/>
        </p:nvSpPr>
        <p:spPr bwMode="auto">
          <a:xfrm>
            <a:off x="195263" y="2362200"/>
            <a:ext cx="6705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a:t>Caracterización de los modelos de distribución de probabilidad</a:t>
            </a:r>
          </a:p>
        </p:txBody>
      </p:sp>
      <p:sp>
        <p:nvSpPr>
          <p:cNvPr id="12293" name="Text Box 20"/>
          <p:cNvSpPr txBox="1">
            <a:spLocks noChangeArrowheads="1"/>
          </p:cNvSpPr>
          <p:nvPr/>
        </p:nvSpPr>
        <p:spPr bwMode="auto">
          <a:xfrm>
            <a:off x="195263" y="3962400"/>
            <a:ext cx="541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Tipos de modelos de distribución de probabilidad</a:t>
            </a:r>
          </a:p>
        </p:txBody>
      </p:sp>
      <p:sp>
        <p:nvSpPr>
          <p:cNvPr id="33850" name="Text Box 20"/>
          <p:cNvSpPr txBox="1">
            <a:spLocks noChangeArrowheads="1"/>
          </p:cNvSpPr>
          <p:nvPr/>
        </p:nvSpPr>
        <p:spPr bwMode="auto">
          <a:xfrm>
            <a:off x="195263" y="1066800"/>
            <a:ext cx="8610600" cy="1275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eaLnBrk="0" hangingPunct="0">
              <a:tabLst>
                <a:tab pos="119063" algn="l"/>
              </a:tabLst>
              <a:defRPr>
                <a:solidFill>
                  <a:schemeClr val="tx1"/>
                </a:solidFill>
                <a:latin typeface="Arial" pitchFamily="34" charset="0"/>
              </a:defRPr>
            </a:lvl1pPr>
            <a:lvl2pPr marL="742950" indent="-285750" eaLnBrk="0" hangingPunct="0">
              <a:tabLst>
                <a:tab pos="119063" algn="l"/>
              </a:tabLst>
              <a:defRPr>
                <a:solidFill>
                  <a:schemeClr val="tx1"/>
                </a:solidFill>
                <a:latin typeface="Arial" pitchFamily="34" charset="0"/>
              </a:defRPr>
            </a:lvl2pPr>
            <a:lvl3pPr marL="1143000" indent="-228600" eaLnBrk="0" hangingPunct="0">
              <a:tabLst>
                <a:tab pos="119063" algn="l"/>
              </a:tabLst>
              <a:defRPr>
                <a:solidFill>
                  <a:schemeClr val="tx1"/>
                </a:solidFill>
                <a:latin typeface="Arial" pitchFamily="34" charset="0"/>
              </a:defRPr>
            </a:lvl3pPr>
            <a:lvl4pPr marL="1600200" indent="-228600" eaLnBrk="0" hangingPunct="0">
              <a:tabLst>
                <a:tab pos="119063" algn="l"/>
              </a:tabLst>
              <a:defRPr>
                <a:solidFill>
                  <a:schemeClr val="tx1"/>
                </a:solidFill>
                <a:latin typeface="Arial" pitchFamily="34" charset="0"/>
              </a:defRPr>
            </a:lvl4pPr>
            <a:lvl5pPr marL="2057400" indent="-228600" eaLnBrk="0" hangingPunct="0">
              <a:tabLst>
                <a:tab pos="119063" algn="l"/>
              </a:tabLst>
              <a:defRPr>
                <a:solidFill>
                  <a:schemeClr val="tx1"/>
                </a:solidFill>
                <a:latin typeface="Arial" pitchFamily="34" charset="0"/>
              </a:defRPr>
            </a:lvl5pPr>
            <a:lvl6pPr marL="2514600" indent="-228600" eaLnBrk="0" fontAlgn="base" hangingPunct="0">
              <a:spcBef>
                <a:spcPct val="0"/>
              </a:spcBef>
              <a:spcAft>
                <a:spcPct val="0"/>
              </a:spcAft>
              <a:tabLst>
                <a:tab pos="119063" algn="l"/>
              </a:tabLst>
              <a:defRPr>
                <a:solidFill>
                  <a:schemeClr val="tx1"/>
                </a:solidFill>
                <a:latin typeface="Arial" pitchFamily="34" charset="0"/>
              </a:defRPr>
            </a:lvl6pPr>
            <a:lvl7pPr marL="2971800" indent="-228600" eaLnBrk="0" fontAlgn="base" hangingPunct="0">
              <a:spcBef>
                <a:spcPct val="0"/>
              </a:spcBef>
              <a:spcAft>
                <a:spcPct val="0"/>
              </a:spcAft>
              <a:tabLst>
                <a:tab pos="119063" algn="l"/>
              </a:tabLst>
              <a:defRPr>
                <a:solidFill>
                  <a:schemeClr val="tx1"/>
                </a:solidFill>
                <a:latin typeface="Arial" pitchFamily="34" charset="0"/>
              </a:defRPr>
            </a:lvl7pPr>
            <a:lvl8pPr marL="3429000" indent="-228600" eaLnBrk="0" fontAlgn="base" hangingPunct="0">
              <a:spcBef>
                <a:spcPct val="0"/>
              </a:spcBef>
              <a:spcAft>
                <a:spcPct val="0"/>
              </a:spcAft>
              <a:tabLst>
                <a:tab pos="119063" algn="l"/>
              </a:tabLst>
              <a:defRPr>
                <a:solidFill>
                  <a:schemeClr val="tx1"/>
                </a:solidFill>
                <a:latin typeface="Arial" pitchFamily="34" charset="0"/>
              </a:defRPr>
            </a:lvl8pPr>
            <a:lvl9pPr marL="3886200" indent="-228600" eaLnBrk="0" fontAlgn="base" hangingPunct="0">
              <a:spcBef>
                <a:spcPct val="0"/>
              </a:spcBef>
              <a:spcAft>
                <a:spcPct val="0"/>
              </a:spcAft>
              <a:tabLst>
                <a:tab pos="119063" algn="l"/>
              </a:tabLst>
              <a:defRPr>
                <a:solidFill>
                  <a:schemeClr val="tx1"/>
                </a:solidFill>
                <a:latin typeface="Arial" pitchFamily="34" charset="0"/>
              </a:defRPr>
            </a:lvl9pPr>
          </a:lstStyle>
          <a:p>
            <a:pPr algn="just" eaLnBrk="1" hangingPunct="1">
              <a:lnSpc>
                <a:spcPct val="130000"/>
              </a:lnSpc>
              <a:buFontTx/>
              <a:buChar char="•"/>
              <a:defRPr/>
            </a:pPr>
            <a:r>
              <a:rPr lang="es-ES_tradnl" altLang="es-ES" sz="1300" dirty="0"/>
              <a:t>Los modelos caracterizan –cuando son c</a:t>
            </a:r>
            <a:r>
              <a:rPr lang="es-ES" altLang="es-ES" sz="1300" dirty="0" err="1"/>
              <a:t>orrectos</a:t>
            </a:r>
            <a:r>
              <a:rPr lang="es-ES_tradnl" altLang="es-ES" sz="1300" dirty="0"/>
              <a:t>– </a:t>
            </a:r>
            <a:r>
              <a:rPr lang="es-ES" altLang="es-ES" sz="1300" dirty="0"/>
              <a:t>el comportamiento de la VA estudiada en la población</a:t>
            </a:r>
          </a:p>
          <a:p>
            <a:pPr algn="just" eaLnBrk="1" hangingPunct="1">
              <a:buFontTx/>
              <a:buChar char="•"/>
              <a:defRPr/>
            </a:pPr>
            <a:r>
              <a:rPr lang="es-ES" altLang="es-ES" sz="1300" dirty="0"/>
              <a:t>Un modelo de distribución de probabilidad permite determinar la probabilidad de que la VA estudiada tome determinados valores. </a:t>
            </a:r>
          </a:p>
          <a:p>
            <a:pPr marL="0" indent="0" algn="just" eaLnBrk="1" hangingPunct="1">
              <a:lnSpc>
                <a:spcPct val="150000"/>
              </a:lnSpc>
              <a:tabLst>
                <a:tab pos="119063" algn="l"/>
                <a:tab pos="1077913" algn="l"/>
              </a:tabLst>
              <a:defRPr/>
            </a:pPr>
            <a:r>
              <a:rPr lang="es-ES" altLang="es-ES" sz="1300" dirty="0"/>
              <a:t>	</a:t>
            </a:r>
            <a:r>
              <a:rPr lang="es-ES" altLang="es-ES" sz="1300" dirty="0">
                <a:solidFill>
                  <a:srgbClr val="35747B"/>
                </a:solidFill>
              </a:rPr>
              <a:t>Por ejemplo:	P(</a:t>
            </a:r>
            <a:r>
              <a:rPr lang="es-ES" altLang="es-ES" sz="1400" i="1" dirty="0">
                <a:solidFill>
                  <a:srgbClr val="35747B"/>
                </a:solidFill>
                <a:latin typeface="Times New Roman" pitchFamily="18" charset="0"/>
              </a:rPr>
              <a:t>talla</a:t>
            </a:r>
            <a:r>
              <a:rPr lang="es-ES" altLang="es-ES" sz="1300" i="1" dirty="0">
                <a:solidFill>
                  <a:srgbClr val="35747B"/>
                </a:solidFill>
              </a:rPr>
              <a:t> </a:t>
            </a:r>
            <a:r>
              <a:rPr lang="es-ES" altLang="es-ES" sz="1300" dirty="0">
                <a:solidFill>
                  <a:srgbClr val="35747B"/>
                </a:solidFill>
              </a:rPr>
              <a:t>&lt; 170 cm); P(180 ≤ </a:t>
            </a:r>
            <a:r>
              <a:rPr lang="es-ES" altLang="es-ES" sz="1400" i="1" dirty="0">
                <a:solidFill>
                  <a:srgbClr val="35747B"/>
                </a:solidFill>
                <a:latin typeface="Times New Roman" pitchFamily="18" charset="0"/>
              </a:rPr>
              <a:t>nivel de colesterol</a:t>
            </a:r>
            <a:r>
              <a:rPr lang="es-ES" altLang="es-ES" sz="1300" dirty="0">
                <a:solidFill>
                  <a:srgbClr val="35747B"/>
                </a:solidFill>
              </a:rPr>
              <a:t> </a:t>
            </a:r>
            <a:r>
              <a:rPr lang="es-ES" altLang="es-ES" sz="1300" dirty="0">
                <a:solidFill>
                  <a:srgbClr val="35747B"/>
                </a:solidFill>
                <a:cs typeface="Arial" pitchFamily="34" charset="0"/>
              </a:rPr>
              <a:t>≤ </a:t>
            </a:r>
            <a:r>
              <a:rPr lang="es-ES" altLang="es-ES" sz="1300" dirty="0">
                <a:solidFill>
                  <a:srgbClr val="35747B"/>
                </a:solidFill>
              </a:rPr>
              <a:t>210), </a:t>
            </a:r>
          </a:p>
          <a:p>
            <a:pPr marL="0" indent="0" algn="just" eaLnBrk="1" hangingPunct="1">
              <a:tabLst>
                <a:tab pos="119063" algn="l"/>
                <a:tab pos="1077913" algn="l"/>
              </a:tabLst>
              <a:defRPr/>
            </a:pPr>
            <a:r>
              <a:rPr lang="es-ES" altLang="es-ES" sz="1300" dirty="0">
                <a:solidFill>
                  <a:srgbClr val="35747B"/>
                </a:solidFill>
              </a:rPr>
              <a:t>		P(</a:t>
            </a:r>
            <a:r>
              <a:rPr lang="es-ES" altLang="es-ES" sz="1300" i="1" dirty="0">
                <a:solidFill>
                  <a:srgbClr val="35747B"/>
                </a:solidFill>
              </a:rPr>
              <a:t>nº de seropositivos al observar a 300 individuos sea</a:t>
            </a:r>
            <a:r>
              <a:rPr lang="es-ES" altLang="es-ES" sz="1300" dirty="0">
                <a:solidFill>
                  <a:srgbClr val="35747B"/>
                </a:solidFill>
              </a:rPr>
              <a:t> &gt; 2), etc.</a:t>
            </a:r>
          </a:p>
        </p:txBody>
      </p:sp>
      <p:sp>
        <p:nvSpPr>
          <p:cNvPr id="12295" name="Text Box 20"/>
          <p:cNvSpPr txBox="1">
            <a:spLocks noChangeArrowheads="1"/>
          </p:cNvSpPr>
          <p:nvPr/>
        </p:nvSpPr>
        <p:spPr bwMode="auto">
          <a:xfrm>
            <a:off x="195263" y="2667000"/>
            <a:ext cx="8643937" cy="1095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eaLnBrk="0" hangingPunct="0">
              <a:tabLst>
                <a:tab pos="119063" algn="l"/>
              </a:tabLst>
              <a:defRPr>
                <a:solidFill>
                  <a:schemeClr val="tx1"/>
                </a:solidFill>
                <a:latin typeface="Arial" panose="020B0604020202020204" pitchFamily="34" charset="0"/>
              </a:defRPr>
            </a:lvl1pPr>
            <a:lvl2pPr marL="742950" indent="-285750" eaLnBrk="0" hangingPunct="0">
              <a:tabLst>
                <a:tab pos="119063" algn="l"/>
              </a:tabLst>
              <a:defRPr>
                <a:solidFill>
                  <a:schemeClr val="tx1"/>
                </a:solidFill>
                <a:latin typeface="Arial" panose="020B0604020202020204" pitchFamily="34" charset="0"/>
              </a:defRPr>
            </a:lvl2pPr>
            <a:lvl3pPr marL="1143000" indent="-228600" eaLnBrk="0" hangingPunct="0">
              <a:tabLst>
                <a:tab pos="119063" algn="l"/>
              </a:tabLst>
              <a:defRPr>
                <a:solidFill>
                  <a:schemeClr val="tx1"/>
                </a:solidFill>
                <a:latin typeface="Arial" panose="020B0604020202020204" pitchFamily="34" charset="0"/>
              </a:defRPr>
            </a:lvl3pPr>
            <a:lvl4pPr marL="1600200" indent="-228600" eaLnBrk="0" hangingPunct="0">
              <a:tabLst>
                <a:tab pos="119063" algn="l"/>
              </a:tabLst>
              <a:defRPr>
                <a:solidFill>
                  <a:schemeClr val="tx1"/>
                </a:solidFill>
                <a:latin typeface="Arial" panose="020B0604020202020204" pitchFamily="34" charset="0"/>
              </a:defRPr>
            </a:lvl4pPr>
            <a:lvl5pPr marL="2057400" indent="-228600" eaLnBrk="0" hangingPunct="0">
              <a:tabLst>
                <a:tab pos="119063"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19063"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19063"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19063"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19063" algn="l"/>
              </a:tabLst>
              <a:defRPr>
                <a:solidFill>
                  <a:schemeClr val="tx1"/>
                </a:solidFill>
                <a:latin typeface="Arial" panose="020B0604020202020204" pitchFamily="34" charset="0"/>
              </a:defRPr>
            </a:lvl9pPr>
          </a:lstStyle>
          <a:p>
            <a:pPr algn="just" eaLnBrk="1" hangingPunct="1">
              <a:lnSpc>
                <a:spcPct val="130000"/>
              </a:lnSpc>
              <a:buFontTx/>
              <a:buChar char="•"/>
            </a:pPr>
            <a:r>
              <a:rPr lang="es-ES_tradnl" altLang="es-ES" sz="1300" dirty="0"/>
              <a:t>Un modelo de </a:t>
            </a:r>
            <a:r>
              <a:rPr lang="es-ES" altLang="es-ES" sz="1300" dirty="0"/>
              <a:t>distribución de probabilidad será una expresión matemática en la que intervendrá la VA </a:t>
            </a:r>
            <a:r>
              <a:rPr lang="es-ES" altLang="es-ES" sz="1600" b="1" i="1" dirty="0">
                <a:latin typeface="Times New Roman" panose="02020603050405020304" pitchFamily="18" charset="0"/>
              </a:rPr>
              <a:t>X</a:t>
            </a:r>
            <a:r>
              <a:rPr lang="es-ES" altLang="es-ES" sz="1300" dirty="0"/>
              <a:t> que está siendo caracterizada y unos valores constantes que son </a:t>
            </a:r>
            <a:r>
              <a:rPr lang="es-ES" altLang="es-ES" sz="1300" b="1" dirty="0"/>
              <a:t>los parámetros del modelo.</a:t>
            </a:r>
            <a:r>
              <a:rPr lang="es-ES" altLang="es-ES" sz="1300" dirty="0"/>
              <a:t> </a:t>
            </a:r>
          </a:p>
          <a:p>
            <a:pPr algn="just" eaLnBrk="1" hangingPunct="1">
              <a:lnSpc>
                <a:spcPct val="110000"/>
              </a:lnSpc>
              <a:buFontTx/>
              <a:buChar char="•"/>
            </a:pPr>
            <a:r>
              <a:rPr lang="es-ES" altLang="es-ES" sz="1300" dirty="0"/>
              <a:t>Cuando un modelo es adecuado para representar la distribución de una población, sus parámetros suelen tener un </a:t>
            </a:r>
            <a:r>
              <a:rPr lang="es-ES" altLang="es-ES" sz="1300" b="1" dirty="0"/>
              <a:t>significado </a:t>
            </a:r>
            <a:r>
              <a:rPr lang="es-ES" altLang="es-ES" sz="1300" b="1" i="1" dirty="0"/>
              <a:t>físico</a:t>
            </a:r>
            <a:r>
              <a:rPr lang="es-ES" altLang="es-ES" sz="1300" dirty="0"/>
              <a:t> en relación a dicha población.</a:t>
            </a:r>
          </a:p>
        </p:txBody>
      </p:sp>
      <p:sp>
        <p:nvSpPr>
          <p:cNvPr id="33853" name="Text Box 20"/>
          <p:cNvSpPr txBox="1">
            <a:spLocks noChangeArrowheads="1"/>
          </p:cNvSpPr>
          <p:nvPr/>
        </p:nvSpPr>
        <p:spPr bwMode="auto">
          <a:xfrm>
            <a:off x="195263" y="4308475"/>
            <a:ext cx="8576247" cy="839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9063" indent="-119063" eaLnBrk="0" hangingPunct="0">
              <a:tabLst>
                <a:tab pos="119063" algn="l"/>
              </a:tabLst>
              <a:defRPr>
                <a:solidFill>
                  <a:schemeClr val="tx1"/>
                </a:solidFill>
                <a:latin typeface="Arial" pitchFamily="34" charset="0"/>
              </a:defRPr>
            </a:lvl1pPr>
            <a:lvl2pPr marL="742950" indent="-285750" eaLnBrk="0" hangingPunct="0">
              <a:tabLst>
                <a:tab pos="119063" algn="l"/>
              </a:tabLst>
              <a:defRPr>
                <a:solidFill>
                  <a:schemeClr val="tx1"/>
                </a:solidFill>
                <a:latin typeface="Arial" pitchFamily="34" charset="0"/>
              </a:defRPr>
            </a:lvl2pPr>
            <a:lvl3pPr marL="1143000" indent="-228600" eaLnBrk="0" hangingPunct="0">
              <a:tabLst>
                <a:tab pos="119063" algn="l"/>
              </a:tabLst>
              <a:defRPr>
                <a:solidFill>
                  <a:schemeClr val="tx1"/>
                </a:solidFill>
                <a:latin typeface="Arial" pitchFamily="34" charset="0"/>
              </a:defRPr>
            </a:lvl3pPr>
            <a:lvl4pPr marL="1600200" indent="-228600" eaLnBrk="0" hangingPunct="0">
              <a:tabLst>
                <a:tab pos="119063" algn="l"/>
              </a:tabLst>
              <a:defRPr>
                <a:solidFill>
                  <a:schemeClr val="tx1"/>
                </a:solidFill>
                <a:latin typeface="Arial" pitchFamily="34" charset="0"/>
              </a:defRPr>
            </a:lvl4pPr>
            <a:lvl5pPr marL="2057400" indent="-228600" eaLnBrk="0" hangingPunct="0">
              <a:tabLst>
                <a:tab pos="119063" algn="l"/>
              </a:tabLst>
              <a:defRPr>
                <a:solidFill>
                  <a:schemeClr val="tx1"/>
                </a:solidFill>
                <a:latin typeface="Arial" pitchFamily="34" charset="0"/>
              </a:defRPr>
            </a:lvl5pPr>
            <a:lvl6pPr marL="2514600" indent="-228600" eaLnBrk="0" fontAlgn="base" hangingPunct="0">
              <a:spcBef>
                <a:spcPct val="0"/>
              </a:spcBef>
              <a:spcAft>
                <a:spcPct val="0"/>
              </a:spcAft>
              <a:tabLst>
                <a:tab pos="119063" algn="l"/>
              </a:tabLst>
              <a:defRPr>
                <a:solidFill>
                  <a:schemeClr val="tx1"/>
                </a:solidFill>
                <a:latin typeface="Arial" pitchFamily="34" charset="0"/>
              </a:defRPr>
            </a:lvl6pPr>
            <a:lvl7pPr marL="2971800" indent="-228600" eaLnBrk="0" fontAlgn="base" hangingPunct="0">
              <a:spcBef>
                <a:spcPct val="0"/>
              </a:spcBef>
              <a:spcAft>
                <a:spcPct val="0"/>
              </a:spcAft>
              <a:tabLst>
                <a:tab pos="119063" algn="l"/>
              </a:tabLst>
              <a:defRPr>
                <a:solidFill>
                  <a:schemeClr val="tx1"/>
                </a:solidFill>
                <a:latin typeface="Arial" pitchFamily="34" charset="0"/>
              </a:defRPr>
            </a:lvl7pPr>
            <a:lvl8pPr marL="3429000" indent="-228600" eaLnBrk="0" fontAlgn="base" hangingPunct="0">
              <a:spcBef>
                <a:spcPct val="0"/>
              </a:spcBef>
              <a:spcAft>
                <a:spcPct val="0"/>
              </a:spcAft>
              <a:tabLst>
                <a:tab pos="119063" algn="l"/>
              </a:tabLst>
              <a:defRPr>
                <a:solidFill>
                  <a:schemeClr val="tx1"/>
                </a:solidFill>
                <a:latin typeface="Arial" pitchFamily="34" charset="0"/>
              </a:defRPr>
            </a:lvl8pPr>
            <a:lvl9pPr marL="3886200" indent="-228600" eaLnBrk="0" fontAlgn="base" hangingPunct="0">
              <a:spcBef>
                <a:spcPct val="0"/>
              </a:spcBef>
              <a:spcAft>
                <a:spcPct val="0"/>
              </a:spcAft>
              <a:tabLst>
                <a:tab pos="119063" algn="l"/>
              </a:tabLst>
              <a:defRPr>
                <a:solidFill>
                  <a:schemeClr val="tx1"/>
                </a:solidFill>
                <a:latin typeface="Arial" pitchFamily="34" charset="0"/>
              </a:defRPr>
            </a:lvl9pPr>
          </a:lstStyle>
          <a:p>
            <a:pPr algn="just" eaLnBrk="1" hangingPunct="1">
              <a:lnSpc>
                <a:spcPct val="130000"/>
              </a:lnSpc>
              <a:buFontTx/>
              <a:buChar char="•"/>
              <a:defRPr/>
            </a:pPr>
            <a:r>
              <a:rPr lang="es-ES_tradnl" altLang="es-ES" sz="1300" dirty="0"/>
              <a:t>Modelos de </a:t>
            </a:r>
            <a:r>
              <a:rPr lang="es-ES" altLang="es-ES" sz="1300" dirty="0"/>
              <a:t>distribución </a:t>
            </a:r>
            <a:r>
              <a:rPr lang="es-ES_tradnl" altLang="es-ES" sz="1300" dirty="0"/>
              <a:t>para VA</a:t>
            </a:r>
            <a:r>
              <a:rPr lang="es-ES" altLang="es-ES" sz="1300" dirty="0"/>
              <a:t>C: el modelo fundamental es el  </a:t>
            </a:r>
            <a:r>
              <a:rPr lang="es-ES" altLang="es-ES" sz="1300" b="1" dirty="0"/>
              <a:t>modelo de distribución </a:t>
            </a:r>
            <a:r>
              <a:rPr lang="es-ES" altLang="es-ES" sz="1800" b="1" dirty="0"/>
              <a:t>normal</a:t>
            </a:r>
          </a:p>
          <a:p>
            <a:pPr algn="just" eaLnBrk="1" hangingPunct="1">
              <a:lnSpc>
                <a:spcPct val="130000"/>
              </a:lnSpc>
              <a:spcBef>
                <a:spcPts val="1200"/>
              </a:spcBef>
              <a:buFontTx/>
              <a:buChar char="•"/>
              <a:defRPr/>
            </a:pPr>
            <a:r>
              <a:rPr lang="es-ES" altLang="es-ES" sz="1300" dirty="0"/>
              <a:t>Modelos de distribución para VAD: son de interés los modelos </a:t>
            </a:r>
            <a:r>
              <a:rPr lang="es-ES" altLang="es-ES" sz="1300" b="1" dirty="0"/>
              <a:t>Binomial</a:t>
            </a:r>
            <a:r>
              <a:rPr lang="es-ES" altLang="es-ES" sz="1300" dirty="0"/>
              <a:t> y de </a:t>
            </a:r>
            <a:r>
              <a:rPr lang="es-ES" altLang="es-ES" sz="1300" b="1" dirty="0" err="1"/>
              <a:t>Poisson</a:t>
            </a:r>
            <a:endParaRPr lang="es-ES" altLang="es-ES" sz="1300" b="1" dirty="0"/>
          </a:p>
        </p:txBody>
      </p:sp>
      <p:sp>
        <p:nvSpPr>
          <p:cNvPr id="9" name="4 Rectángulo"/>
          <p:cNvSpPr>
            <a:spLocks noChangeArrowheads="1"/>
          </p:cNvSpPr>
          <p:nvPr/>
        </p:nvSpPr>
        <p:spPr bwMode="auto">
          <a:xfrm>
            <a:off x="152400" y="76200"/>
            <a:ext cx="563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solidFill>
                  <a:srgbClr val="FF0000"/>
                </a:solidFill>
              </a:rPr>
              <a:t>Modelos de distribución de probabilidad </a:t>
            </a:r>
            <a:r>
              <a:rPr lang="es-ES" altLang="es-ES" sz="1400" b="1" dirty="0"/>
              <a:t>(motivación)</a:t>
            </a:r>
          </a:p>
        </p:txBody>
      </p:sp>
      <p:sp>
        <p:nvSpPr>
          <p:cNvPr id="11" name="Text Box 20"/>
          <p:cNvSpPr txBox="1">
            <a:spLocks noChangeArrowheads="1"/>
          </p:cNvSpPr>
          <p:nvPr/>
        </p:nvSpPr>
        <p:spPr bwMode="auto">
          <a:xfrm>
            <a:off x="152400" y="427037"/>
            <a:ext cx="8610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Qué es un modelo de distribución de probabilidad</a:t>
            </a:r>
          </a:p>
        </p:txBody>
      </p:sp>
      <p:graphicFrame>
        <p:nvGraphicFramePr>
          <p:cNvPr id="10" name="Object 43"/>
          <p:cNvGraphicFramePr>
            <a:graphicFrameLocks noChangeAspect="1"/>
          </p:cNvGraphicFramePr>
          <p:nvPr>
            <p:extLst>
              <p:ext uri="{D42A27DB-BD31-4B8C-83A1-F6EECF244321}">
                <p14:modId xmlns:p14="http://schemas.microsoft.com/office/powerpoint/2010/main" val="2116529519"/>
              </p:ext>
            </p:extLst>
          </p:nvPr>
        </p:nvGraphicFramePr>
        <p:xfrm>
          <a:off x="7637176" y="4716996"/>
          <a:ext cx="1291613" cy="897320"/>
        </p:xfrm>
        <a:graphic>
          <a:graphicData uri="http://schemas.openxmlformats.org/presentationml/2006/ole">
            <mc:AlternateContent xmlns:mc="http://schemas.openxmlformats.org/markup-compatibility/2006">
              <mc:Choice xmlns:v="urn:schemas-microsoft-com:vml" Requires="v">
                <p:oleObj name="Gráfico" r:id="rId2" imgW="4867332" imgH="3381310" progId="Excel.Chart.8">
                  <p:embed/>
                </p:oleObj>
              </mc:Choice>
              <mc:Fallback>
                <p:oleObj name="Gráfico" r:id="rId2" imgW="4867332" imgH="3381310" progId="Excel.Chart.8">
                  <p:embed/>
                  <p:pic>
                    <p:nvPicPr>
                      <p:cNvPr id="30763" name="Object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176" y="4716996"/>
                        <a:ext cx="1291613" cy="897320"/>
                      </a:xfrm>
                      <a:prstGeom prst="rect">
                        <a:avLst/>
                      </a:prstGeom>
                      <a:noFill/>
                      <a:ln>
                        <a:noFill/>
                      </a:ln>
                      <a:effectLst/>
                    </p:spPr>
                  </p:pic>
                </p:oleObj>
              </mc:Fallback>
            </mc:AlternateContent>
          </a:graphicData>
        </a:graphic>
      </p:graphicFrame>
      <p:pic>
        <p:nvPicPr>
          <p:cNvPr id="13" name="Imagen 12"/>
          <p:cNvPicPr>
            <a:picLocks noChangeAspect="1"/>
          </p:cNvPicPr>
          <p:nvPr/>
        </p:nvPicPr>
        <p:blipFill>
          <a:blip r:embed="rId4"/>
          <a:stretch>
            <a:fillRect/>
          </a:stretch>
        </p:blipFill>
        <p:spPr>
          <a:xfrm>
            <a:off x="7620920" y="3668349"/>
            <a:ext cx="1185484" cy="598851"/>
          </a:xfrm>
          <a:prstGeom prst="rect">
            <a:avLst/>
          </a:prstGeom>
        </p:spPr>
      </p:pic>
      <p:sp>
        <p:nvSpPr>
          <p:cNvPr id="15" name="Text Box 20"/>
          <p:cNvSpPr txBox="1">
            <a:spLocks noChangeArrowheads="1"/>
          </p:cNvSpPr>
          <p:nvPr/>
        </p:nvSpPr>
        <p:spPr bwMode="auto">
          <a:xfrm>
            <a:off x="195263" y="5928905"/>
            <a:ext cx="8576247" cy="84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9063" indent="-119063" eaLnBrk="0" hangingPunct="0">
              <a:tabLst>
                <a:tab pos="119063" algn="l"/>
              </a:tabLst>
              <a:defRPr>
                <a:solidFill>
                  <a:schemeClr val="tx1"/>
                </a:solidFill>
                <a:latin typeface="Arial" pitchFamily="34" charset="0"/>
              </a:defRPr>
            </a:lvl1pPr>
            <a:lvl2pPr marL="742950" indent="-285750" eaLnBrk="0" hangingPunct="0">
              <a:tabLst>
                <a:tab pos="119063" algn="l"/>
              </a:tabLst>
              <a:defRPr>
                <a:solidFill>
                  <a:schemeClr val="tx1"/>
                </a:solidFill>
                <a:latin typeface="Arial" pitchFamily="34" charset="0"/>
              </a:defRPr>
            </a:lvl2pPr>
            <a:lvl3pPr marL="1143000" indent="-228600" eaLnBrk="0" hangingPunct="0">
              <a:tabLst>
                <a:tab pos="119063" algn="l"/>
              </a:tabLst>
              <a:defRPr>
                <a:solidFill>
                  <a:schemeClr val="tx1"/>
                </a:solidFill>
                <a:latin typeface="Arial" pitchFamily="34" charset="0"/>
              </a:defRPr>
            </a:lvl3pPr>
            <a:lvl4pPr marL="1600200" indent="-228600" eaLnBrk="0" hangingPunct="0">
              <a:tabLst>
                <a:tab pos="119063" algn="l"/>
              </a:tabLst>
              <a:defRPr>
                <a:solidFill>
                  <a:schemeClr val="tx1"/>
                </a:solidFill>
                <a:latin typeface="Arial" pitchFamily="34" charset="0"/>
              </a:defRPr>
            </a:lvl4pPr>
            <a:lvl5pPr marL="2057400" indent="-228600" eaLnBrk="0" hangingPunct="0">
              <a:tabLst>
                <a:tab pos="119063" algn="l"/>
              </a:tabLst>
              <a:defRPr>
                <a:solidFill>
                  <a:schemeClr val="tx1"/>
                </a:solidFill>
                <a:latin typeface="Arial" pitchFamily="34" charset="0"/>
              </a:defRPr>
            </a:lvl5pPr>
            <a:lvl6pPr marL="2514600" indent="-228600" eaLnBrk="0" fontAlgn="base" hangingPunct="0">
              <a:spcBef>
                <a:spcPct val="0"/>
              </a:spcBef>
              <a:spcAft>
                <a:spcPct val="0"/>
              </a:spcAft>
              <a:tabLst>
                <a:tab pos="119063" algn="l"/>
              </a:tabLst>
              <a:defRPr>
                <a:solidFill>
                  <a:schemeClr val="tx1"/>
                </a:solidFill>
                <a:latin typeface="Arial" pitchFamily="34" charset="0"/>
              </a:defRPr>
            </a:lvl6pPr>
            <a:lvl7pPr marL="2971800" indent="-228600" eaLnBrk="0" fontAlgn="base" hangingPunct="0">
              <a:spcBef>
                <a:spcPct val="0"/>
              </a:spcBef>
              <a:spcAft>
                <a:spcPct val="0"/>
              </a:spcAft>
              <a:tabLst>
                <a:tab pos="119063" algn="l"/>
              </a:tabLst>
              <a:defRPr>
                <a:solidFill>
                  <a:schemeClr val="tx1"/>
                </a:solidFill>
                <a:latin typeface="Arial" pitchFamily="34" charset="0"/>
              </a:defRPr>
            </a:lvl7pPr>
            <a:lvl8pPr marL="3429000" indent="-228600" eaLnBrk="0" fontAlgn="base" hangingPunct="0">
              <a:spcBef>
                <a:spcPct val="0"/>
              </a:spcBef>
              <a:spcAft>
                <a:spcPct val="0"/>
              </a:spcAft>
              <a:tabLst>
                <a:tab pos="119063" algn="l"/>
              </a:tabLst>
              <a:defRPr>
                <a:solidFill>
                  <a:schemeClr val="tx1"/>
                </a:solidFill>
                <a:latin typeface="Arial" pitchFamily="34" charset="0"/>
              </a:defRPr>
            </a:lvl8pPr>
            <a:lvl9pPr marL="3886200" indent="-228600" eaLnBrk="0" fontAlgn="base" hangingPunct="0">
              <a:spcBef>
                <a:spcPct val="0"/>
              </a:spcBef>
              <a:spcAft>
                <a:spcPct val="0"/>
              </a:spcAft>
              <a:tabLst>
                <a:tab pos="119063" algn="l"/>
              </a:tabLst>
              <a:defRPr>
                <a:solidFill>
                  <a:schemeClr val="tx1"/>
                </a:solidFill>
                <a:latin typeface="Arial" pitchFamily="34" charset="0"/>
              </a:defRPr>
            </a:lvl9pPr>
          </a:lstStyle>
          <a:p>
            <a:pPr marL="0" indent="0" algn="just" eaLnBrk="1" hangingPunct="1">
              <a:lnSpc>
                <a:spcPct val="130000"/>
              </a:lnSpc>
              <a:defRPr/>
            </a:pPr>
            <a:r>
              <a:rPr lang="es-ES" altLang="es-ES" sz="1300" dirty="0"/>
              <a:t>Veremos algunos modelos que se dan en llamar </a:t>
            </a:r>
            <a:r>
              <a:rPr lang="es-ES" altLang="es-ES" sz="1300" b="1" dirty="0"/>
              <a:t>distribuciones en el muestreo </a:t>
            </a:r>
            <a:r>
              <a:rPr lang="es-ES" altLang="es-ES" sz="1300" dirty="0"/>
              <a:t>y que son herramientas (más abstractas) para la </a:t>
            </a:r>
            <a:r>
              <a:rPr lang="es-ES" altLang="es-ES" sz="1300" i="1" dirty="0"/>
              <a:t>inferencia</a:t>
            </a:r>
            <a:r>
              <a:rPr lang="es-ES" altLang="es-ES" sz="1300" dirty="0"/>
              <a:t>, como son las distribuciones </a:t>
            </a:r>
            <a:r>
              <a:rPr lang="es-ES" altLang="es-ES" sz="1300" b="1" i="1" dirty="0"/>
              <a:t>t</a:t>
            </a:r>
            <a:r>
              <a:rPr lang="es-ES" altLang="es-ES" sz="1300" b="1" dirty="0"/>
              <a:t>-</a:t>
            </a:r>
            <a:r>
              <a:rPr lang="es-ES" altLang="es-ES" sz="1300" b="1" dirty="0" err="1"/>
              <a:t>student</a:t>
            </a:r>
            <a:r>
              <a:rPr lang="es-ES" altLang="es-ES" sz="1300" b="1" dirty="0"/>
              <a:t>, </a:t>
            </a:r>
            <a:r>
              <a:rPr lang="es-ES" altLang="es-ES" sz="1300" b="1" dirty="0">
                <a:latin typeface="Symbol" panose="05050102010706020507" pitchFamily="18" charset="2"/>
              </a:rPr>
              <a:t>c</a:t>
            </a:r>
            <a:r>
              <a:rPr lang="es-ES" altLang="es-ES" sz="1300" b="1" baseline="30000" dirty="0"/>
              <a:t>2</a:t>
            </a:r>
            <a:r>
              <a:rPr lang="es-ES" altLang="es-ES" sz="1300" dirty="0"/>
              <a:t>, </a:t>
            </a:r>
            <a:r>
              <a:rPr lang="es-ES" altLang="es-ES" sz="1300" b="1" dirty="0"/>
              <a:t>F de </a:t>
            </a:r>
            <a:r>
              <a:rPr lang="es-ES" altLang="es-ES" sz="1300" b="1" dirty="0" err="1"/>
              <a:t>Snédecor</a:t>
            </a:r>
            <a:r>
              <a:rPr lang="es-ES" altLang="es-ES" sz="1300" dirty="0"/>
              <a:t>, </a:t>
            </a:r>
            <a:r>
              <a:rPr lang="es-ES" altLang="es-ES" sz="1300" dirty="0" err="1"/>
              <a:t>etc</a:t>
            </a:r>
            <a:r>
              <a:rPr lang="es-ES" altLang="es-ES" sz="1300" dirty="0"/>
              <a:t>… que usaremos más adelante en este curso.</a:t>
            </a:r>
            <a:endParaRPr lang="es-ES" altLang="es-ES" sz="1300" baseline="30000" dirty="0"/>
          </a:p>
        </p:txBody>
      </p:sp>
      <p:sp>
        <p:nvSpPr>
          <p:cNvPr id="16" name="Text Box 20"/>
          <p:cNvSpPr txBox="1">
            <a:spLocks noChangeArrowheads="1"/>
          </p:cNvSpPr>
          <p:nvPr/>
        </p:nvSpPr>
        <p:spPr bwMode="auto">
          <a:xfrm>
            <a:off x="195262" y="4953000"/>
            <a:ext cx="7043737" cy="845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19063" indent="-119063" eaLnBrk="0" hangingPunct="0">
              <a:tabLst>
                <a:tab pos="119063" algn="l"/>
              </a:tabLst>
              <a:defRPr>
                <a:solidFill>
                  <a:schemeClr val="tx1"/>
                </a:solidFill>
                <a:latin typeface="Arial" pitchFamily="34" charset="0"/>
              </a:defRPr>
            </a:lvl1pPr>
            <a:lvl2pPr marL="742950" indent="-285750" eaLnBrk="0" hangingPunct="0">
              <a:tabLst>
                <a:tab pos="119063" algn="l"/>
              </a:tabLst>
              <a:defRPr>
                <a:solidFill>
                  <a:schemeClr val="tx1"/>
                </a:solidFill>
                <a:latin typeface="Arial" pitchFamily="34" charset="0"/>
              </a:defRPr>
            </a:lvl2pPr>
            <a:lvl3pPr marL="1143000" indent="-228600" eaLnBrk="0" hangingPunct="0">
              <a:tabLst>
                <a:tab pos="119063" algn="l"/>
              </a:tabLst>
              <a:defRPr>
                <a:solidFill>
                  <a:schemeClr val="tx1"/>
                </a:solidFill>
                <a:latin typeface="Arial" pitchFamily="34" charset="0"/>
              </a:defRPr>
            </a:lvl3pPr>
            <a:lvl4pPr marL="1600200" indent="-228600" eaLnBrk="0" hangingPunct="0">
              <a:tabLst>
                <a:tab pos="119063" algn="l"/>
              </a:tabLst>
              <a:defRPr>
                <a:solidFill>
                  <a:schemeClr val="tx1"/>
                </a:solidFill>
                <a:latin typeface="Arial" pitchFamily="34" charset="0"/>
              </a:defRPr>
            </a:lvl4pPr>
            <a:lvl5pPr marL="2057400" indent="-228600" eaLnBrk="0" hangingPunct="0">
              <a:tabLst>
                <a:tab pos="119063" algn="l"/>
              </a:tabLst>
              <a:defRPr>
                <a:solidFill>
                  <a:schemeClr val="tx1"/>
                </a:solidFill>
                <a:latin typeface="Arial" pitchFamily="34" charset="0"/>
              </a:defRPr>
            </a:lvl5pPr>
            <a:lvl6pPr marL="2514600" indent="-228600" eaLnBrk="0" fontAlgn="base" hangingPunct="0">
              <a:spcBef>
                <a:spcPct val="0"/>
              </a:spcBef>
              <a:spcAft>
                <a:spcPct val="0"/>
              </a:spcAft>
              <a:tabLst>
                <a:tab pos="119063" algn="l"/>
              </a:tabLst>
              <a:defRPr>
                <a:solidFill>
                  <a:schemeClr val="tx1"/>
                </a:solidFill>
                <a:latin typeface="Arial" pitchFamily="34" charset="0"/>
              </a:defRPr>
            </a:lvl6pPr>
            <a:lvl7pPr marL="2971800" indent="-228600" eaLnBrk="0" fontAlgn="base" hangingPunct="0">
              <a:spcBef>
                <a:spcPct val="0"/>
              </a:spcBef>
              <a:spcAft>
                <a:spcPct val="0"/>
              </a:spcAft>
              <a:tabLst>
                <a:tab pos="119063" algn="l"/>
              </a:tabLst>
              <a:defRPr>
                <a:solidFill>
                  <a:schemeClr val="tx1"/>
                </a:solidFill>
                <a:latin typeface="Arial" pitchFamily="34" charset="0"/>
              </a:defRPr>
            </a:lvl7pPr>
            <a:lvl8pPr marL="3429000" indent="-228600" eaLnBrk="0" fontAlgn="base" hangingPunct="0">
              <a:spcBef>
                <a:spcPct val="0"/>
              </a:spcBef>
              <a:spcAft>
                <a:spcPct val="0"/>
              </a:spcAft>
              <a:tabLst>
                <a:tab pos="119063" algn="l"/>
              </a:tabLst>
              <a:defRPr>
                <a:solidFill>
                  <a:schemeClr val="tx1"/>
                </a:solidFill>
                <a:latin typeface="Arial" pitchFamily="34" charset="0"/>
              </a:defRPr>
            </a:lvl8pPr>
            <a:lvl9pPr marL="3886200" indent="-228600" eaLnBrk="0" fontAlgn="base" hangingPunct="0">
              <a:spcBef>
                <a:spcPct val="0"/>
              </a:spcBef>
              <a:spcAft>
                <a:spcPct val="0"/>
              </a:spcAft>
              <a:tabLst>
                <a:tab pos="119063" algn="l"/>
              </a:tabLst>
              <a:defRPr>
                <a:solidFill>
                  <a:schemeClr val="tx1"/>
                </a:solidFill>
                <a:latin typeface="Arial" pitchFamily="34" charset="0"/>
              </a:defRPr>
            </a:lvl9pPr>
          </a:lstStyle>
          <a:p>
            <a:pPr algn="just" eaLnBrk="1" hangingPunct="1">
              <a:lnSpc>
                <a:spcPct val="130000"/>
              </a:lnSpc>
              <a:buFontTx/>
              <a:buChar char="•"/>
              <a:defRPr/>
            </a:pPr>
            <a:endParaRPr lang="es-ES" altLang="es-ES" sz="1300" b="1" dirty="0"/>
          </a:p>
          <a:p>
            <a:pPr marL="0" indent="0" algn="just" eaLnBrk="1" hangingPunct="1">
              <a:lnSpc>
                <a:spcPct val="130000"/>
              </a:lnSpc>
              <a:defRPr/>
            </a:pPr>
            <a:r>
              <a:rPr lang="es-ES" altLang="es-ES" sz="1300" dirty="0"/>
              <a:t>Además de los indicados hay muchos más modelos que sirven para caracterizar fenómenos concretos (distribución uniforme, exponencial,…)</a:t>
            </a:r>
          </a:p>
        </p:txBody>
      </p:sp>
      <p:cxnSp>
        <p:nvCxnSpPr>
          <p:cNvPr id="3" name="Conector recto de flecha 2"/>
          <p:cNvCxnSpPr/>
          <p:nvPr/>
        </p:nvCxnSpPr>
        <p:spPr>
          <a:xfrm>
            <a:off x="6900863" y="4953000"/>
            <a:ext cx="566737" cy="121839"/>
          </a:xfrm>
          <a:prstGeom prst="straightConnector1">
            <a:avLst/>
          </a:prstGeom>
          <a:ln>
            <a:solidFill>
              <a:srgbClr val="4183A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p:cNvCxnSpPr>
            <a:cxnSpLocks/>
          </p:cNvCxnSpPr>
          <p:nvPr/>
        </p:nvCxnSpPr>
        <p:spPr>
          <a:xfrm flipV="1">
            <a:off x="7870126" y="4318326"/>
            <a:ext cx="343536" cy="241375"/>
          </a:xfrm>
          <a:prstGeom prst="straightConnector1">
            <a:avLst/>
          </a:prstGeom>
          <a:ln>
            <a:solidFill>
              <a:srgbClr val="4183A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0677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1030"/>
          <p:cNvSpPr>
            <a:spLocks noChangeArrowheads="1"/>
          </p:cNvSpPr>
          <p:nvPr/>
        </p:nvSpPr>
        <p:spPr bwMode="auto">
          <a:xfrm>
            <a:off x="495300" y="1052736"/>
            <a:ext cx="8001000" cy="147732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s-ES_tradnl" altLang="es-ES" sz="1800" dirty="0">
                <a:solidFill>
                  <a:schemeClr val="tx1"/>
                </a:solidFill>
                <a:latin typeface="+mn-lt"/>
                <a:cs typeface="Times New Roman" pitchFamily="18" charset="0"/>
              </a:rPr>
              <a:t>La </a:t>
            </a:r>
            <a:r>
              <a:rPr lang="es-ES_tradnl" altLang="es-ES" sz="1800" b="1" dirty="0">
                <a:solidFill>
                  <a:schemeClr val="tx1"/>
                </a:solidFill>
                <a:latin typeface="+mn-lt"/>
                <a:cs typeface="Times New Roman" pitchFamily="18" charset="0"/>
              </a:rPr>
              <a:t>función de densidad de probabilidad </a:t>
            </a:r>
            <a:r>
              <a:rPr lang="es-ES_tradnl" altLang="es-ES" sz="1800" dirty="0">
                <a:solidFill>
                  <a:schemeClr val="tx1"/>
                </a:solidFill>
                <a:latin typeface="+mn-lt"/>
                <a:cs typeface="Times New Roman" pitchFamily="18" charset="0"/>
              </a:rPr>
              <a:t>de una </a:t>
            </a:r>
            <a:r>
              <a:rPr lang="es-ES_tradnl" altLang="es-ES" sz="1800" dirty="0" err="1">
                <a:solidFill>
                  <a:schemeClr val="tx1"/>
                </a:solidFill>
                <a:latin typeface="+mn-lt"/>
                <a:cs typeface="Times New Roman" pitchFamily="18" charset="0"/>
              </a:rPr>
              <a:t>v.a.</a:t>
            </a:r>
            <a:r>
              <a:rPr lang="es-ES_tradnl" altLang="es-ES" sz="1800" dirty="0">
                <a:solidFill>
                  <a:schemeClr val="tx1"/>
                </a:solidFill>
                <a:latin typeface="+mn-lt"/>
                <a:cs typeface="Times New Roman" pitchFamily="18" charset="0"/>
              </a:rPr>
              <a:t> discreta es una función que asigna a cada valor de la variable la probabilidad con la que toma ese valor. </a:t>
            </a:r>
            <a:r>
              <a:rPr lang="es-ES_tradnl" altLang="es-ES" sz="1800" dirty="0">
                <a:solidFill>
                  <a:schemeClr val="tx1"/>
                </a:solidFill>
                <a:latin typeface="+mn-lt"/>
                <a:cs typeface="Times New Roman" pitchFamily="18" charset="0"/>
                <a:sym typeface="Euclid" pitchFamily="18" charset="0"/>
              </a:rPr>
              <a:t>Para que una </a:t>
            </a:r>
            <a:r>
              <a:rPr lang="es-ES_tradnl" altLang="es-ES" sz="1800" dirty="0" err="1">
                <a:solidFill>
                  <a:schemeClr val="tx1"/>
                </a:solidFill>
                <a:latin typeface="+mn-lt"/>
                <a:cs typeface="Times New Roman" pitchFamily="18" charset="0"/>
                <a:sym typeface="Euclid" pitchFamily="18" charset="0"/>
              </a:rPr>
              <a:t>v.a.</a:t>
            </a:r>
            <a:r>
              <a:rPr lang="es-ES_tradnl" altLang="es-ES" sz="1800" dirty="0">
                <a:solidFill>
                  <a:schemeClr val="tx1"/>
                </a:solidFill>
                <a:latin typeface="+mn-lt"/>
                <a:cs typeface="Times New Roman" pitchFamily="18" charset="0"/>
                <a:sym typeface="Euclid" pitchFamily="18" charset="0"/>
              </a:rPr>
              <a:t> discreta esté perfectamente determinada es necesario conocer los valores que puede tomar y sus probabilidades. Ejemplos:</a:t>
            </a:r>
            <a:endParaRPr lang="es-ES_tradnl" altLang="es-ES" sz="1800" b="1" dirty="0">
              <a:solidFill>
                <a:schemeClr val="tx1"/>
              </a:solidFill>
              <a:latin typeface="+mn-lt"/>
              <a:cs typeface="Times New Roman" pitchFamily="18" charset="0"/>
              <a:sym typeface="Euclid" pitchFamily="18" charset="0"/>
            </a:endParaRPr>
          </a:p>
        </p:txBody>
      </p:sp>
      <p:sp>
        <p:nvSpPr>
          <p:cNvPr id="11" name="10 CuadroTexto"/>
          <p:cNvSpPr txBox="1"/>
          <p:nvPr/>
        </p:nvSpPr>
        <p:spPr>
          <a:xfrm>
            <a:off x="152400" y="332656"/>
            <a:ext cx="8305799" cy="769441"/>
          </a:xfrm>
          <a:prstGeom prst="rect">
            <a:avLst/>
          </a:prstGeom>
          <a:noFill/>
        </p:spPr>
        <p:txBody>
          <a:bodyPr wrap="square" rtlCol="0">
            <a:spAutoFit/>
          </a:bodyPr>
          <a:lstStyle/>
          <a:p>
            <a:r>
              <a:rPr lang="es-ES" sz="2200" b="1" dirty="0">
                <a:solidFill>
                  <a:schemeClr val="tx1"/>
                </a:solidFill>
              </a:rPr>
              <a:t>Variable aleatoria discreta: </a:t>
            </a:r>
            <a:endParaRPr lang="es-ES" sz="2200" b="1" dirty="0"/>
          </a:p>
          <a:p>
            <a:r>
              <a:rPr lang="es-ES" sz="2200" b="1" dirty="0"/>
              <a:t>F</a:t>
            </a:r>
            <a:r>
              <a:rPr lang="es-ES" sz="2200" b="1" dirty="0">
                <a:solidFill>
                  <a:schemeClr val="tx1"/>
                </a:solidFill>
              </a:rPr>
              <a:t>unción de densidad de probabilidad</a:t>
            </a:r>
          </a:p>
        </p:txBody>
      </p:sp>
      <p:pic>
        <p:nvPicPr>
          <p:cNvPr id="12"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2564904"/>
            <a:ext cx="5745584" cy="3073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1 Objeto"/>
          <p:cNvGraphicFramePr>
            <a:graphicFrameLocks noChangeAspect="1"/>
          </p:cNvGraphicFramePr>
          <p:nvPr/>
        </p:nvGraphicFramePr>
        <p:xfrm>
          <a:off x="2195736" y="5867699"/>
          <a:ext cx="4543078" cy="760114"/>
        </p:xfrm>
        <a:graphic>
          <a:graphicData uri="http://schemas.openxmlformats.org/presentationml/2006/ole">
            <mc:AlternateContent xmlns:mc="http://schemas.openxmlformats.org/markup-compatibility/2006">
              <mc:Choice xmlns:v="urn:schemas-microsoft-com:vml" Requires="v">
                <p:oleObj name="Equation" r:id="rId3" imgW="2743200" imgH="457200" progId="Equation.DSMT4">
                  <p:embed/>
                </p:oleObj>
              </mc:Choice>
              <mc:Fallback>
                <p:oleObj name="Equation" r:id="rId3" imgW="2743200" imgH="457200" progId="Equation.DSMT4">
                  <p:embed/>
                  <p:pic>
                    <p:nvPicPr>
                      <p:cNvPr id="2" name="1 Objeto"/>
                      <p:cNvPicPr>
                        <a:picLocks noChangeAspect="1" noChangeArrowheads="1"/>
                      </p:cNvPicPr>
                      <p:nvPr/>
                    </p:nvPicPr>
                    <p:blipFill>
                      <a:blip r:embed="rId4"/>
                      <a:srcRect/>
                      <a:stretch>
                        <a:fillRect/>
                      </a:stretch>
                    </p:blipFill>
                    <p:spPr bwMode="auto">
                      <a:xfrm>
                        <a:off x="2195736" y="5867699"/>
                        <a:ext cx="4543078" cy="760114"/>
                      </a:xfrm>
                      <a:prstGeom prst="rect">
                        <a:avLst/>
                      </a:prstGeom>
                      <a:noFill/>
                      <a:ln>
                        <a:noFill/>
                      </a:ln>
                    </p:spPr>
                  </p:pic>
                </p:oleObj>
              </mc:Fallback>
            </mc:AlternateContent>
          </a:graphicData>
        </a:graphic>
      </p:graphicFrame>
      <p:sp>
        <p:nvSpPr>
          <p:cNvPr id="3" name="2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19</a:t>
            </a:fld>
            <a:endParaRPr lang="en-GB" altLang="es-E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47"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60648"/>
            <a:ext cx="6047239" cy="3082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573016"/>
            <a:ext cx="6047238" cy="2784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20</a:t>
            </a:fld>
            <a:endParaRPr lang="en-GB" altLang="es-ES"/>
          </a:p>
        </p:txBody>
      </p:sp>
    </p:spTree>
    <p:extLst>
      <p:ext uri="{BB962C8B-B14F-4D97-AF65-F5344CB8AC3E}">
        <p14:creationId xmlns:p14="http://schemas.microsoft.com/office/powerpoint/2010/main" val="876390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271" name="Rectangle 5"/>
              <p:cNvSpPr>
                <a:spLocks noChangeArrowheads="1"/>
              </p:cNvSpPr>
              <p:nvPr/>
            </p:nvSpPr>
            <p:spPr bwMode="auto">
              <a:xfrm>
                <a:off x="323528" y="1124744"/>
                <a:ext cx="8324850" cy="646331"/>
              </a:xfrm>
              <a:prstGeom prst="rect">
                <a:avLst/>
              </a:prstGeom>
              <a:noFill/>
              <a:ln>
                <a:noFill/>
              </a:ln>
              <a:effectLst/>
              <a:extLst>
                <a:ext uri="{909E8E84-426E-40DD-AFC4-6F175D3DCCD1}">
                  <a14:hiddenFill>
                    <a:solidFill>
                      <a:srgbClr val="C0C0C0">
                        <a:alpha val="50195"/>
                      </a:srgbClr>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algn="just"/>
                <a:r>
                  <a:rPr lang="es-ES_tradnl" altLang="es-ES" dirty="0">
                    <a:solidFill>
                      <a:schemeClr val="tx1"/>
                    </a:solidFill>
                    <a:cs typeface="Times New Roman" pitchFamily="18" charset="0"/>
                  </a:rPr>
                  <a:t>La </a:t>
                </a:r>
                <a:r>
                  <a:rPr lang="es-ES_tradnl" altLang="es-ES" b="1" dirty="0">
                    <a:solidFill>
                      <a:srgbClr val="FF0000"/>
                    </a:solidFill>
                    <a:cs typeface="Times New Roman" pitchFamily="18" charset="0"/>
                  </a:rPr>
                  <a:t>función de densidad</a:t>
                </a:r>
                <a:r>
                  <a:rPr lang="es-ES_tradnl" altLang="es-ES" dirty="0">
                    <a:solidFill>
                      <a:schemeClr val="tx1"/>
                    </a:solidFill>
                    <a:cs typeface="Times New Roman" pitchFamily="18" charset="0"/>
                  </a:rPr>
                  <a:t>, representada como </a:t>
                </a:r>
                <a14:m>
                  <m:oMath xmlns:m="http://schemas.openxmlformats.org/officeDocument/2006/math">
                    <m:r>
                      <a:rPr lang="es-ES" altLang="es-ES" b="0" i="1" smtClean="0">
                        <a:solidFill>
                          <a:schemeClr val="tx1"/>
                        </a:solidFill>
                        <a:latin typeface="Cambria Math"/>
                        <a:cs typeface="Times New Roman" pitchFamily="18" charset="0"/>
                      </a:rPr>
                      <m:t>𝑓</m:t>
                    </m:r>
                    <m:d>
                      <m:dPr>
                        <m:ctrlPr>
                          <a:rPr lang="es-ES" altLang="es-ES" b="0" i="1" smtClean="0">
                            <a:solidFill>
                              <a:schemeClr val="tx1"/>
                            </a:solidFill>
                            <a:latin typeface="Cambria Math" panose="02040503050406030204" pitchFamily="18" charset="0"/>
                            <a:cs typeface="Times New Roman" pitchFamily="18" charset="0"/>
                          </a:rPr>
                        </m:ctrlPr>
                      </m:dPr>
                      <m:e>
                        <m:r>
                          <a:rPr lang="es-ES" altLang="es-ES" b="0" i="1" smtClean="0">
                            <a:solidFill>
                              <a:schemeClr val="tx1"/>
                            </a:solidFill>
                            <a:latin typeface="Cambria Math"/>
                            <a:cs typeface="Times New Roman" pitchFamily="18" charset="0"/>
                          </a:rPr>
                          <m:t>𝑥</m:t>
                        </m:r>
                      </m:e>
                    </m:d>
                  </m:oMath>
                </a14:m>
                <a:r>
                  <a:rPr lang="es-ES_tradnl" altLang="es-ES" dirty="0">
                    <a:solidFill>
                      <a:schemeClr val="tx1"/>
                    </a:solidFill>
                    <a:cs typeface="Times New Roman" pitchFamily="18" charset="0"/>
                  </a:rPr>
                  <a:t>, caracteriza a una </a:t>
                </a:r>
                <a:r>
                  <a:rPr lang="es-ES_tradnl" altLang="es-ES" dirty="0" err="1">
                    <a:solidFill>
                      <a:schemeClr val="tx1"/>
                    </a:solidFill>
                    <a:cs typeface="Times New Roman" pitchFamily="18" charset="0"/>
                  </a:rPr>
                  <a:t>v.a.</a:t>
                </a:r>
                <a:r>
                  <a:rPr lang="es-ES_tradnl" altLang="es-ES" dirty="0">
                    <a:solidFill>
                      <a:schemeClr val="tx1"/>
                    </a:solidFill>
                    <a:cs typeface="Times New Roman" pitchFamily="18" charset="0"/>
                  </a:rPr>
                  <a:t> continua y es una función matemática que describe el comportamiento de la variable a medio o largo plazo. La función de densidad permite calcular probabilidades. Gráficamente:</a:t>
                </a:r>
              </a:p>
            </p:txBody>
          </p:sp>
        </mc:Choice>
        <mc:Fallback xmlns="">
          <p:sp>
            <p:nvSpPr>
              <p:cNvPr id="11271" name="Rectangle 5"/>
              <p:cNvSpPr>
                <a:spLocks noRot="1" noChangeAspect="1" noMove="1" noResize="1" noEditPoints="1" noAdjustHandles="1" noChangeArrowheads="1" noChangeShapeType="1" noTextEdit="1"/>
              </p:cNvSpPr>
              <p:nvPr/>
            </p:nvSpPr>
            <p:spPr bwMode="auto">
              <a:xfrm>
                <a:off x="323528" y="1124744"/>
                <a:ext cx="8324850" cy="646331"/>
              </a:xfrm>
              <a:prstGeom prst="rect">
                <a:avLst/>
              </a:prstGeom>
              <a:blipFill>
                <a:blip r:embed="rId2"/>
                <a:stretch>
                  <a:fillRect b="-5769"/>
                </a:stretch>
              </a:blip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11273" name="Group 34"/>
          <p:cNvGrpSpPr>
            <a:grpSpLocks/>
          </p:cNvGrpSpPr>
          <p:nvPr/>
        </p:nvGrpSpPr>
        <p:grpSpPr bwMode="auto">
          <a:xfrm>
            <a:off x="611882" y="2420888"/>
            <a:ext cx="7776542" cy="1296864"/>
            <a:chOff x="198" y="2016"/>
            <a:chExt cx="5404" cy="953"/>
          </a:xfrm>
        </p:grpSpPr>
        <p:pic>
          <p:nvPicPr>
            <p:cNvPr id="1128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 y="2269"/>
              <a:ext cx="1243" cy="69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84" name="Picture 14">
              <a:hlinkClick r:id="rId4" action="ppaction://hlinksldjump"/>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8" y="2269"/>
              <a:ext cx="1204" cy="695"/>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8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6" y="2016"/>
              <a:ext cx="1570" cy="948"/>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86" name="Picture 3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68" y="2269"/>
              <a:ext cx="1134" cy="7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1275" name="Group 24"/>
          <p:cNvGrpSpPr>
            <a:grpSpLocks/>
          </p:cNvGrpSpPr>
          <p:nvPr/>
        </p:nvGrpSpPr>
        <p:grpSpPr bwMode="auto">
          <a:xfrm>
            <a:off x="2339753" y="5661248"/>
            <a:ext cx="1728164" cy="914400"/>
            <a:chOff x="1968" y="3312"/>
            <a:chExt cx="1728" cy="864"/>
          </a:xfrm>
        </p:grpSpPr>
        <p:sp>
          <p:nvSpPr>
            <p:cNvPr id="11281" name="Freeform 22"/>
            <p:cNvSpPr>
              <a:spLocks/>
            </p:cNvSpPr>
            <p:nvPr/>
          </p:nvSpPr>
          <p:spPr bwMode="auto">
            <a:xfrm>
              <a:off x="2424" y="3312"/>
              <a:ext cx="816" cy="864"/>
            </a:xfrm>
            <a:custGeom>
              <a:avLst/>
              <a:gdLst>
                <a:gd name="T0" fmla="*/ 0 w 9513"/>
                <a:gd name="T1" fmla="*/ 4 h 5006"/>
                <a:gd name="T2" fmla="*/ 0 w 9513"/>
                <a:gd name="T3" fmla="*/ 4 h 5006"/>
                <a:gd name="T4" fmla="*/ 0 w 9513"/>
                <a:gd name="T5" fmla="*/ 4 h 5006"/>
                <a:gd name="T6" fmla="*/ 0 w 9513"/>
                <a:gd name="T7" fmla="*/ 4 h 5006"/>
                <a:gd name="T8" fmla="*/ 0 w 9513"/>
                <a:gd name="T9" fmla="*/ 4 h 5006"/>
                <a:gd name="T10" fmla="*/ 0 w 9513"/>
                <a:gd name="T11" fmla="*/ 4 h 5006"/>
                <a:gd name="T12" fmla="*/ 0 w 9513"/>
                <a:gd name="T13" fmla="*/ 4 h 5006"/>
                <a:gd name="T14" fmla="*/ 0 w 9513"/>
                <a:gd name="T15" fmla="*/ 4 h 5006"/>
                <a:gd name="T16" fmla="*/ 0 w 9513"/>
                <a:gd name="T17" fmla="*/ 4 h 5006"/>
                <a:gd name="T18" fmla="*/ 0 w 9513"/>
                <a:gd name="T19" fmla="*/ 3 h 5006"/>
                <a:gd name="T20" fmla="*/ 0 w 9513"/>
                <a:gd name="T21" fmla="*/ 3 h 5006"/>
                <a:gd name="T22" fmla="*/ 0 w 9513"/>
                <a:gd name="T23" fmla="*/ 3 h 5006"/>
                <a:gd name="T24" fmla="*/ 0 w 9513"/>
                <a:gd name="T25" fmla="*/ 3 h 5006"/>
                <a:gd name="T26" fmla="*/ 0 w 9513"/>
                <a:gd name="T27" fmla="*/ 3 h 5006"/>
                <a:gd name="T28" fmla="*/ 0 w 9513"/>
                <a:gd name="T29" fmla="*/ 2 h 5006"/>
                <a:gd name="T30" fmla="*/ 0 w 9513"/>
                <a:gd name="T31" fmla="*/ 2 h 5006"/>
                <a:gd name="T32" fmla="*/ 0 w 9513"/>
                <a:gd name="T33" fmla="*/ 2 h 5006"/>
                <a:gd name="T34" fmla="*/ 0 w 9513"/>
                <a:gd name="T35" fmla="*/ 2 h 5006"/>
                <a:gd name="T36" fmla="*/ 0 w 9513"/>
                <a:gd name="T37" fmla="*/ 1 h 5006"/>
                <a:gd name="T38" fmla="*/ 0 w 9513"/>
                <a:gd name="T39" fmla="*/ 1 h 5006"/>
                <a:gd name="T40" fmla="*/ 0 w 9513"/>
                <a:gd name="T41" fmla="*/ 1 h 5006"/>
                <a:gd name="T42" fmla="*/ 0 w 9513"/>
                <a:gd name="T43" fmla="*/ 1 h 5006"/>
                <a:gd name="T44" fmla="*/ 0 w 9513"/>
                <a:gd name="T45" fmla="*/ 0 h 5006"/>
                <a:gd name="T46" fmla="*/ 0 w 9513"/>
                <a:gd name="T47" fmla="*/ 0 h 5006"/>
                <a:gd name="T48" fmla="*/ 0 w 9513"/>
                <a:gd name="T49" fmla="*/ 0 h 5006"/>
                <a:gd name="T50" fmla="*/ 0 w 9513"/>
                <a:gd name="T51" fmla="*/ 0 h 5006"/>
                <a:gd name="T52" fmla="*/ 0 w 9513"/>
                <a:gd name="T53" fmla="*/ 0 h 5006"/>
                <a:gd name="T54" fmla="*/ 0 w 9513"/>
                <a:gd name="T55" fmla="*/ 0 h 5006"/>
                <a:gd name="T56" fmla="*/ 0 w 9513"/>
                <a:gd name="T57" fmla="*/ 0 h 5006"/>
                <a:gd name="T58" fmla="*/ 0 w 9513"/>
                <a:gd name="T59" fmla="*/ 0 h 5006"/>
                <a:gd name="T60" fmla="*/ 0 w 9513"/>
                <a:gd name="T61" fmla="*/ 0 h 5006"/>
                <a:gd name="T62" fmla="*/ 0 w 9513"/>
                <a:gd name="T63" fmla="*/ 1 h 5006"/>
                <a:gd name="T64" fmla="*/ 0 w 9513"/>
                <a:gd name="T65" fmla="*/ 1 h 5006"/>
                <a:gd name="T66" fmla="*/ 0 w 9513"/>
                <a:gd name="T67" fmla="*/ 1 h 5006"/>
                <a:gd name="T68" fmla="*/ 0 w 9513"/>
                <a:gd name="T69" fmla="*/ 1 h 5006"/>
                <a:gd name="T70" fmla="*/ 0 w 9513"/>
                <a:gd name="T71" fmla="*/ 2 h 5006"/>
                <a:gd name="T72" fmla="*/ 0 w 9513"/>
                <a:gd name="T73" fmla="*/ 2 h 5006"/>
                <a:gd name="T74" fmla="*/ 0 w 9513"/>
                <a:gd name="T75" fmla="*/ 2 h 5006"/>
                <a:gd name="T76" fmla="*/ 0 w 9513"/>
                <a:gd name="T77" fmla="*/ 2 h 5006"/>
                <a:gd name="T78" fmla="*/ 0 w 9513"/>
                <a:gd name="T79" fmla="*/ 3 h 5006"/>
                <a:gd name="T80" fmla="*/ 0 w 9513"/>
                <a:gd name="T81" fmla="*/ 3 h 5006"/>
                <a:gd name="T82" fmla="*/ 0 w 9513"/>
                <a:gd name="T83" fmla="*/ 3 h 5006"/>
                <a:gd name="T84" fmla="*/ 0 w 9513"/>
                <a:gd name="T85" fmla="*/ 3 h 5006"/>
                <a:gd name="T86" fmla="*/ 0 w 9513"/>
                <a:gd name="T87" fmla="*/ 3 h 5006"/>
                <a:gd name="T88" fmla="*/ 0 w 9513"/>
                <a:gd name="T89" fmla="*/ 4 h 5006"/>
                <a:gd name="T90" fmla="*/ 0 w 9513"/>
                <a:gd name="T91" fmla="*/ 4 h 5006"/>
                <a:gd name="T92" fmla="*/ 0 w 9513"/>
                <a:gd name="T93" fmla="*/ 4 h 5006"/>
                <a:gd name="T94" fmla="*/ 0 w 9513"/>
                <a:gd name="T95" fmla="*/ 4 h 5006"/>
                <a:gd name="T96" fmla="*/ 0 w 9513"/>
                <a:gd name="T97" fmla="*/ 4 h 5006"/>
                <a:gd name="T98" fmla="*/ 0 w 9513"/>
                <a:gd name="T99" fmla="*/ 4 h 5006"/>
                <a:gd name="T100" fmla="*/ 0 w 9513"/>
                <a:gd name="T101" fmla="*/ 4 h 5006"/>
                <a:gd name="T102" fmla="*/ 0 w 9513"/>
                <a:gd name="T103" fmla="*/ 4 h 5006"/>
                <a:gd name="T104" fmla="*/ 1 w 9513"/>
                <a:gd name="T105" fmla="*/ 4 h 5006"/>
                <a:gd name="T106" fmla="*/ 1 w 9513"/>
                <a:gd name="T107" fmla="*/ 4 h 5006"/>
                <a:gd name="T108" fmla="*/ 1 w 9513"/>
                <a:gd name="T109" fmla="*/ 4 h 5006"/>
                <a:gd name="T110" fmla="*/ 1 w 9513"/>
                <a:gd name="T111" fmla="*/ 4 h 5006"/>
                <a:gd name="T112" fmla="*/ 1 w 9513"/>
                <a:gd name="T113" fmla="*/ 4 h 50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513" h="5006">
                  <a:moveTo>
                    <a:pt x="0" y="5006"/>
                  </a:moveTo>
                  <a:lnTo>
                    <a:pt x="794" y="4852"/>
                  </a:lnTo>
                  <a:lnTo>
                    <a:pt x="950" y="4794"/>
                  </a:lnTo>
                  <a:lnTo>
                    <a:pt x="1123" y="4696"/>
                  </a:lnTo>
                  <a:lnTo>
                    <a:pt x="1260" y="4620"/>
                  </a:lnTo>
                  <a:lnTo>
                    <a:pt x="1434" y="4503"/>
                  </a:lnTo>
                  <a:lnTo>
                    <a:pt x="1588" y="4388"/>
                  </a:lnTo>
                  <a:lnTo>
                    <a:pt x="1744" y="4234"/>
                  </a:lnTo>
                  <a:lnTo>
                    <a:pt x="1898" y="4059"/>
                  </a:lnTo>
                  <a:lnTo>
                    <a:pt x="2054" y="3865"/>
                  </a:lnTo>
                  <a:lnTo>
                    <a:pt x="2227" y="3653"/>
                  </a:lnTo>
                  <a:lnTo>
                    <a:pt x="2383" y="3421"/>
                  </a:lnTo>
                  <a:lnTo>
                    <a:pt x="2538" y="3170"/>
                  </a:lnTo>
                  <a:lnTo>
                    <a:pt x="2693" y="2899"/>
                  </a:lnTo>
                  <a:lnTo>
                    <a:pt x="2867" y="2609"/>
                  </a:lnTo>
                  <a:lnTo>
                    <a:pt x="3003" y="2300"/>
                  </a:lnTo>
                  <a:lnTo>
                    <a:pt x="3177" y="1990"/>
                  </a:lnTo>
                  <a:lnTo>
                    <a:pt x="3333" y="1701"/>
                  </a:lnTo>
                  <a:lnTo>
                    <a:pt x="3487" y="1391"/>
                  </a:lnTo>
                  <a:lnTo>
                    <a:pt x="3643" y="1102"/>
                  </a:lnTo>
                  <a:lnTo>
                    <a:pt x="3797" y="831"/>
                  </a:lnTo>
                  <a:lnTo>
                    <a:pt x="3971" y="599"/>
                  </a:lnTo>
                  <a:lnTo>
                    <a:pt x="4127" y="386"/>
                  </a:lnTo>
                  <a:lnTo>
                    <a:pt x="4281" y="232"/>
                  </a:lnTo>
                  <a:lnTo>
                    <a:pt x="4437" y="96"/>
                  </a:lnTo>
                  <a:lnTo>
                    <a:pt x="4611" y="39"/>
                  </a:lnTo>
                  <a:lnTo>
                    <a:pt x="4766" y="0"/>
                  </a:lnTo>
                  <a:lnTo>
                    <a:pt x="4921" y="39"/>
                  </a:lnTo>
                  <a:lnTo>
                    <a:pt x="5076" y="96"/>
                  </a:lnTo>
                  <a:lnTo>
                    <a:pt x="5231" y="232"/>
                  </a:lnTo>
                  <a:lnTo>
                    <a:pt x="5386" y="386"/>
                  </a:lnTo>
                  <a:lnTo>
                    <a:pt x="5560" y="599"/>
                  </a:lnTo>
                  <a:lnTo>
                    <a:pt x="5716" y="831"/>
                  </a:lnTo>
                  <a:lnTo>
                    <a:pt x="5870" y="1102"/>
                  </a:lnTo>
                  <a:lnTo>
                    <a:pt x="6026" y="1391"/>
                  </a:lnTo>
                  <a:lnTo>
                    <a:pt x="6180" y="1701"/>
                  </a:lnTo>
                  <a:lnTo>
                    <a:pt x="6355" y="1990"/>
                  </a:lnTo>
                  <a:lnTo>
                    <a:pt x="6510" y="2300"/>
                  </a:lnTo>
                  <a:lnTo>
                    <a:pt x="6664" y="2609"/>
                  </a:lnTo>
                  <a:lnTo>
                    <a:pt x="6820" y="2899"/>
                  </a:lnTo>
                  <a:lnTo>
                    <a:pt x="6974" y="3170"/>
                  </a:lnTo>
                  <a:lnTo>
                    <a:pt x="7130" y="3421"/>
                  </a:lnTo>
                  <a:lnTo>
                    <a:pt x="7304" y="3653"/>
                  </a:lnTo>
                  <a:lnTo>
                    <a:pt x="7459" y="3865"/>
                  </a:lnTo>
                  <a:lnTo>
                    <a:pt x="7614" y="4059"/>
                  </a:lnTo>
                  <a:lnTo>
                    <a:pt x="7769" y="4234"/>
                  </a:lnTo>
                  <a:lnTo>
                    <a:pt x="7924" y="4388"/>
                  </a:lnTo>
                  <a:lnTo>
                    <a:pt x="8099" y="4503"/>
                  </a:lnTo>
                  <a:lnTo>
                    <a:pt x="8253" y="4620"/>
                  </a:lnTo>
                  <a:lnTo>
                    <a:pt x="8409" y="4696"/>
                  </a:lnTo>
                  <a:lnTo>
                    <a:pt x="8563" y="4794"/>
                  </a:lnTo>
                  <a:lnTo>
                    <a:pt x="8719" y="4852"/>
                  </a:lnTo>
                  <a:lnTo>
                    <a:pt x="8873" y="4891"/>
                  </a:lnTo>
                  <a:lnTo>
                    <a:pt x="9049" y="4929"/>
                  </a:lnTo>
                  <a:lnTo>
                    <a:pt x="9203" y="4967"/>
                  </a:lnTo>
                  <a:lnTo>
                    <a:pt x="9357" y="4987"/>
                  </a:lnTo>
                  <a:lnTo>
                    <a:pt x="9513" y="5006"/>
                  </a:lnTo>
                </a:path>
              </a:pathLst>
            </a:custGeom>
            <a:solidFill>
              <a:srgbClr val="EAEAEA"/>
            </a:solidFill>
            <a:ln w="27051">
              <a:solidFill>
                <a:srgbClr val="000000"/>
              </a:solidFill>
              <a:prstDash val="solid"/>
              <a:round/>
              <a:headEnd/>
              <a:tailEnd/>
            </a:ln>
          </p:spPr>
          <p:txBody>
            <a:bodyPr/>
            <a:lstStyle/>
            <a:p>
              <a:endParaRPr lang="es-ES"/>
            </a:p>
          </p:txBody>
        </p:sp>
        <p:sp>
          <p:nvSpPr>
            <p:cNvPr id="11282" name="Line 23"/>
            <p:cNvSpPr>
              <a:spLocks noChangeShapeType="1"/>
            </p:cNvSpPr>
            <p:nvPr/>
          </p:nvSpPr>
          <p:spPr bwMode="auto">
            <a:xfrm>
              <a:off x="1968" y="4176"/>
              <a:ext cx="17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ES"/>
            </a:p>
          </p:txBody>
        </p:sp>
      </p:grpSp>
      <p:sp>
        <p:nvSpPr>
          <p:cNvPr id="23" name="22 CuadroTexto"/>
          <p:cNvSpPr txBox="1"/>
          <p:nvPr/>
        </p:nvSpPr>
        <p:spPr>
          <a:xfrm>
            <a:off x="323529" y="332656"/>
            <a:ext cx="7488832" cy="430887"/>
          </a:xfrm>
          <a:prstGeom prst="rect">
            <a:avLst/>
          </a:prstGeom>
          <a:noFill/>
        </p:spPr>
        <p:txBody>
          <a:bodyPr wrap="square" rtlCol="0">
            <a:spAutoFit/>
          </a:bodyPr>
          <a:lstStyle/>
          <a:p>
            <a:r>
              <a:rPr lang="es-ES" sz="2200" b="1" dirty="0">
                <a:solidFill>
                  <a:schemeClr val="tx1"/>
                </a:solidFill>
              </a:rPr>
              <a:t>Variable aleatoria continua: </a:t>
            </a:r>
            <a:r>
              <a:rPr lang="es-ES" sz="2200" b="1" dirty="0">
                <a:solidFill>
                  <a:srgbClr val="FF0000"/>
                </a:solidFill>
              </a:rPr>
              <a:t>función de densidad</a:t>
            </a:r>
          </a:p>
        </p:txBody>
      </p:sp>
      <p:sp>
        <p:nvSpPr>
          <p:cNvPr id="2" name="1 CuadroTexto"/>
          <p:cNvSpPr txBox="1"/>
          <p:nvPr/>
        </p:nvSpPr>
        <p:spPr>
          <a:xfrm>
            <a:off x="467543" y="4221088"/>
            <a:ext cx="8252595" cy="1323439"/>
          </a:xfrm>
          <a:prstGeom prst="rect">
            <a:avLst/>
          </a:prstGeom>
          <a:noFill/>
        </p:spPr>
        <p:txBody>
          <a:bodyPr wrap="square" rtlCol="0">
            <a:spAutoFit/>
          </a:bodyPr>
          <a:lstStyle/>
          <a:p>
            <a:pPr algn="just"/>
            <a:r>
              <a:rPr lang="es-ES_tradnl" altLang="es-ES" dirty="0">
                <a:solidFill>
                  <a:schemeClr val="tx1"/>
                </a:solidFill>
                <a:latin typeface="+mn-lt"/>
                <a:cs typeface="Times New Roman" pitchFamily="18" charset="0"/>
              </a:rPr>
              <a:t>Cuando el tamaño </a:t>
            </a:r>
            <a:r>
              <a:rPr lang="es-ES_tradnl" altLang="es-ES" dirty="0" err="1">
                <a:solidFill>
                  <a:schemeClr val="tx1"/>
                </a:solidFill>
                <a:latin typeface="+mn-lt"/>
                <a:cs typeface="Times New Roman" pitchFamily="18" charset="0"/>
              </a:rPr>
              <a:t>muestral</a:t>
            </a:r>
            <a:r>
              <a:rPr lang="es-ES_tradnl" altLang="es-ES" dirty="0">
                <a:solidFill>
                  <a:schemeClr val="tx1"/>
                </a:solidFill>
                <a:latin typeface="+mn-lt"/>
                <a:cs typeface="Times New Roman" pitchFamily="18" charset="0"/>
              </a:rPr>
              <a:t> </a:t>
            </a:r>
            <a:r>
              <a:rPr lang="es-ES_tradnl" altLang="es-ES" i="1" dirty="0">
                <a:solidFill>
                  <a:schemeClr val="tx1"/>
                </a:solidFill>
                <a:latin typeface="+mn-lt"/>
                <a:cs typeface="Times New Roman" pitchFamily="18" charset="0"/>
              </a:rPr>
              <a:t>n</a:t>
            </a:r>
            <a:r>
              <a:rPr lang="es-ES_tradnl" altLang="es-ES" dirty="0">
                <a:solidFill>
                  <a:schemeClr val="tx1"/>
                </a:solidFill>
                <a:latin typeface="+mn-lt"/>
                <a:cs typeface="Times New Roman" pitchFamily="18" charset="0"/>
              </a:rPr>
              <a:t> es suficientemente grande, el histograma perfila una curva: la función de densidad </a:t>
            </a:r>
            <a:r>
              <a:rPr lang="es-ES_tradnl" altLang="es-ES" i="1" dirty="0">
                <a:solidFill>
                  <a:schemeClr val="tx1"/>
                </a:solidFill>
                <a:latin typeface="+mn-lt"/>
                <a:cs typeface="Times New Roman" pitchFamily="18" charset="0"/>
              </a:rPr>
              <a:t>f(x)</a:t>
            </a:r>
            <a:r>
              <a:rPr lang="es-ES_tradnl" altLang="es-ES" dirty="0">
                <a:solidFill>
                  <a:schemeClr val="tx1"/>
                </a:solidFill>
                <a:latin typeface="+mn-lt"/>
                <a:cs typeface="Times New Roman" pitchFamily="18" charset="0"/>
              </a:rPr>
              <a:t>. La función de densidad tiene una expresión matemática, dando lugar a un modelo teórico de distribución de probabilidad de una variable aleatoria continua. Ejemplo:</a:t>
            </a:r>
            <a:endParaRPr lang="es-ES" dirty="0">
              <a:latin typeface="+mn-lt"/>
            </a:endParaRPr>
          </a:p>
        </p:txBody>
      </p:sp>
      <p:graphicFrame>
        <p:nvGraphicFramePr>
          <p:cNvPr id="3" name="2 Objeto"/>
          <p:cNvGraphicFramePr>
            <a:graphicFrameLocks noChangeAspect="1"/>
          </p:cNvGraphicFramePr>
          <p:nvPr/>
        </p:nvGraphicFramePr>
        <p:xfrm>
          <a:off x="4067944" y="5879178"/>
          <a:ext cx="2285554" cy="561803"/>
        </p:xfrm>
        <a:graphic>
          <a:graphicData uri="http://schemas.openxmlformats.org/presentationml/2006/ole">
            <mc:AlternateContent xmlns:mc="http://schemas.openxmlformats.org/markup-compatibility/2006">
              <mc:Choice xmlns:v="urn:schemas-microsoft-com:vml" Requires="v">
                <p:oleObj name="Equation" r:id="rId8" imgW="2082600" imgH="507960" progId="Equation.DSMT4">
                  <p:embed/>
                </p:oleObj>
              </mc:Choice>
              <mc:Fallback>
                <p:oleObj name="Equation" r:id="rId8" imgW="2082600" imgH="507960" progId="Equation.DSMT4">
                  <p:embed/>
                  <p:pic>
                    <p:nvPicPr>
                      <p:cNvPr id="3" name="2 Objeto"/>
                      <p:cNvPicPr>
                        <a:picLocks noChangeAspect="1" noChangeArrowheads="1"/>
                      </p:cNvPicPr>
                      <p:nvPr/>
                    </p:nvPicPr>
                    <p:blipFill>
                      <a:blip r:embed="rId9"/>
                      <a:srcRect/>
                      <a:stretch>
                        <a:fillRect/>
                      </a:stretch>
                    </p:blipFill>
                    <p:spPr bwMode="auto">
                      <a:xfrm>
                        <a:off x="4067944" y="5879178"/>
                        <a:ext cx="2285554" cy="561803"/>
                      </a:xfrm>
                      <a:prstGeom prst="rect">
                        <a:avLst/>
                      </a:prstGeom>
                      <a:noFill/>
                      <a:ln>
                        <a:noFill/>
                      </a:ln>
                    </p:spPr>
                  </p:pic>
                </p:oleObj>
              </mc:Fallback>
            </mc:AlternateContent>
          </a:graphicData>
        </a:graphic>
      </p:graphicFrame>
      <p:sp>
        <p:nvSpPr>
          <p:cNvPr id="4" name="3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21</a:t>
            </a:fld>
            <a:endParaRPr lang="en-GB" altLang="es-E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p:cNvGrpSpPr/>
          <p:nvPr/>
        </p:nvGrpSpPr>
        <p:grpSpPr>
          <a:xfrm>
            <a:off x="3962400" y="1135191"/>
            <a:ext cx="3657600" cy="2583256"/>
            <a:chOff x="381000" y="1703467"/>
            <a:chExt cx="3657600" cy="2583256"/>
          </a:xfrm>
        </p:grpSpPr>
        <p:grpSp>
          <p:nvGrpSpPr>
            <p:cNvPr id="9218" name="Group 2"/>
            <p:cNvGrpSpPr>
              <a:grpSpLocks/>
            </p:cNvGrpSpPr>
            <p:nvPr/>
          </p:nvGrpSpPr>
          <p:grpSpPr bwMode="auto">
            <a:xfrm>
              <a:off x="381000" y="1703467"/>
              <a:ext cx="3657600" cy="2583256"/>
              <a:chOff x="816" y="420"/>
              <a:chExt cx="4128" cy="3481"/>
            </a:xfrm>
          </p:grpSpPr>
          <p:pic>
            <p:nvPicPr>
              <p:cNvPr id="922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0" y="2160"/>
                <a:ext cx="2064" cy="1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 y="42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8"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 y="216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9"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80" y="42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9219" name="Group 7"/>
            <p:cNvGrpSpPr>
              <a:grpSpLocks/>
            </p:cNvGrpSpPr>
            <p:nvPr/>
          </p:nvGrpSpPr>
          <p:grpSpPr bwMode="auto">
            <a:xfrm>
              <a:off x="533400" y="1757363"/>
              <a:ext cx="2184400" cy="1700213"/>
              <a:chOff x="336" y="1011"/>
              <a:chExt cx="1376" cy="1071"/>
            </a:xfrm>
          </p:grpSpPr>
          <p:sp>
            <p:nvSpPr>
              <p:cNvPr id="9222" name="Text Box 8"/>
              <p:cNvSpPr txBox="1">
                <a:spLocks noChangeArrowheads="1"/>
              </p:cNvSpPr>
              <p:nvPr/>
            </p:nvSpPr>
            <p:spPr bwMode="auto">
              <a:xfrm>
                <a:off x="336" y="1011"/>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A</a:t>
                </a:r>
                <a:endParaRPr lang="es-ES" altLang="es-ES" dirty="0"/>
              </a:p>
            </p:txBody>
          </p:sp>
          <p:sp>
            <p:nvSpPr>
              <p:cNvPr id="9223" name="Text Box 9"/>
              <p:cNvSpPr txBox="1">
                <a:spLocks noChangeArrowheads="1"/>
              </p:cNvSpPr>
              <p:nvPr/>
            </p:nvSpPr>
            <p:spPr bwMode="auto">
              <a:xfrm>
                <a:off x="1492" y="1011"/>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B</a:t>
                </a:r>
                <a:endParaRPr lang="es-ES" altLang="es-ES" dirty="0"/>
              </a:p>
            </p:txBody>
          </p:sp>
          <p:sp>
            <p:nvSpPr>
              <p:cNvPr id="9224" name="Text Box 10"/>
              <p:cNvSpPr txBox="1">
                <a:spLocks noChangeArrowheads="1"/>
              </p:cNvSpPr>
              <p:nvPr/>
            </p:nvSpPr>
            <p:spPr bwMode="auto">
              <a:xfrm>
                <a:off x="336" y="1851"/>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C</a:t>
                </a:r>
                <a:endParaRPr lang="es-ES" altLang="es-ES" dirty="0"/>
              </a:p>
            </p:txBody>
          </p:sp>
          <p:sp>
            <p:nvSpPr>
              <p:cNvPr id="9225" name="Text Box 11"/>
              <p:cNvSpPr txBox="1">
                <a:spLocks noChangeArrowheads="1"/>
              </p:cNvSpPr>
              <p:nvPr/>
            </p:nvSpPr>
            <p:spPr bwMode="auto">
              <a:xfrm>
                <a:off x="1492" y="1851"/>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D</a:t>
                </a:r>
                <a:endParaRPr lang="es-ES" altLang="es-ES" dirty="0"/>
              </a:p>
            </p:txBody>
          </p:sp>
        </p:grpSp>
      </p:grpSp>
      <p:sp>
        <p:nvSpPr>
          <p:cNvPr id="9220" name="Text Box 12"/>
          <p:cNvSpPr txBox="1">
            <a:spLocks noChangeArrowheads="1"/>
          </p:cNvSpPr>
          <p:nvPr/>
        </p:nvSpPr>
        <p:spPr bwMode="auto">
          <a:xfrm>
            <a:off x="124441" y="814766"/>
            <a:ext cx="7038359"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300" dirty="0"/>
              <a:t>Consideremos cuatro muestras de una VAC (como la </a:t>
            </a:r>
            <a:r>
              <a:rPr lang="es-ES" altLang="es-ES" sz="1300" i="1" dirty="0"/>
              <a:t>estatura</a:t>
            </a:r>
            <a:r>
              <a:rPr lang="es-ES" altLang="es-ES" sz="1300" dirty="0"/>
              <a:t> o el </a:t>
            </a:r>
            <a:r>
              <a:rPr lang="es-ES" altLang="es-ES" sz="1300" i="1" dirty="0"/>
              <a:t>nivel</a:t>
            </a:r>
            <a:r>
              <a:rPr lang="es-ES" altLang="es-ES" sz="1300" dirty="0"/>
              <a:t> </a:t>
            </a:r>
            <a:r>
              <a:rPr lang="es-ES" altLang="es-ES" sz="1300" i="1" dirty="0"/>
              <a:t>de</a:t>
            </a:r>
            <a:r>
              <a:rPr lang="es-ES" altLang="es-ES" sz="1300" dirty="0"/>
              <a:t> </a:t>
            </a:r>
            <a:r>
              <a:rPr lang="es-ES" altLang="es-ES" sz="1300" i="1" dirty="0"/>
              <a:t>colesterol</a:t>
            </a:r>
            <a:r>
              <a:rPr lang="es-ES" altLang="es-ES" sz="1300" dirty="0"/>
              <a:t>)</a:t>
            </a:r>
            <a:r>
              <a:rPr lang="es-ES" altLang="es-ES" sz="1300" b="1" dirty="0"/>
              <a:t> </a:t>
            </a:r>
          </a:p>
        </p:txBody>
      </p:sp>
      <p:sp>
        <p:nvSpPr>
          <p:cNvPr id="9221" name="4 Rectángulo"/>
          <p:cNvSpPr>
            <a:spLocks noChangeArrowheads="1"/>
          </p:cNvSpPr>
          <p:nvPr/>
        </p:nvSpPr>
        <p:spPr bwMode="auto">
          <a:xfrm>
            <a:off x="152400" y="63716"/>
            <a:ext cx="563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(motivación)</a:t>
            </a:r>
          </a:p>
        </p:txBody>
      </p:sp>
      <p:grpSp>
        <p:nvGrpSpPr>
          <p:cNvPr id="2" name="Grupo 1"/>
          <p:cNvGrpSpPr/>
          <p:nvPr/>
        </p:nvGrpSpPr>
        <p:grpSpPr>
          <a:xfrm>
            <a:off x="3968750" y="3986832"/>
            <a:ext cx="3644900" cy="2718768"/>
            <a:chOff x="5226050" y="1635711"/>
            <a:chExt cx="3644900" cy="2718768"/>
          </a:xfrm>
        </p:grpSpPr>
        <p:grpSp>
          <p:nvGrpSpPr>
            <p:cNvPr id="14" name="Group 9"/>
            <p:cNvGrpSpPr>
              <a:grpSpLocks/>
            </p:cNvGrpSpPr>
            <p:nvPr/>
          </p:nvGrpSpPr>
          <p:grpSpPr bwMode="auto">
            <a:xfrm>
              <a:off x="5226050" y="1635711"/>
              <a:ext cx="3644900" cy="2718768"/>
              <a:chOff x="816" y="420"/>
              <a:chExt cx="4128" cy="3480"/>
            </a:xfrm>
          </p:grpSpPr>
          <p:pic>
            <p:nvPicPr>
              <p:cNvPr id="15"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80" y="216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6" y="42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16" y="216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0" y="420"/>
                <a:ext cx="2064" cy="1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9" name="Group 7"/>
            <p:cNvGrpSpPr>
              <a:grpSpLocks/>
            </p:cNvGrpSpPr>
            <p:nvPr/>
          </p:nvGrpSpPr>
          <p:grpSpPr bwMode="auto">
            <a:xfrm>
              <a:off x="5427555" y="1757363"/>
              <a:ext cx="2184400" cy="1700213"/>
              <a:chOff x="336" y="1011"/>
              <a:chExt cx="1376" cy="1071"/>
            </a:xfrm>
          </p:grpSpPr>
          <p:sp>
            <p:nvSpPr>
              <p:cNvPr id="20" name="Text Box 8"/>
              <p:cNvSpPr txBox="1">
                <a:spLocks noChangeArrowheads="1"/>
              </p:cNvSpPr>
              <p:nvPr/>
            </p:nvSpPr>
            <p:spPr bwMode="auto">
              <a:xfrm>
                <a:off x="336" y="1011"/>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A</a:t>
                </a:r>
                <a:endParaRPr lang="es-ES" altLang="es-ES" dirty="0"/>
              </a:p>
            </p:txBody>
          </p:sp>
          <p:sp>
            <p:nvSpPr>
              <p:cNvPr id="21" name="Text Box 9"/>
              <p:cNvSpPr txBox="1">
                <a:spLocks noChangeArrowheads="1"/>
              </p:cNvSpPr>
              <p:nvPr/>
            </p:nvSpPr>
            <p:spPr bwMode="auto">
              <a:xfrm>
                <a:off x="1492" y="1011"/>
                <a:ext cx="2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B</a:t>
                </a:r>
                <a:endParaRPr lang="es-ES" altLang="es-ES" dirty="0"/>
              </a:p>
            </p:txBody>
          </p:sp>
          <p:sp>
            <p:nvSpPr>
              <p:cNvPr id="22" name="Text Box 10"/>
              <p:cNvSpPr txBox="1">
                <a:spLocks noChangeArrowheads="1"/>
              </p:cNvSpPr>
              <p:nvPr/>
            </p:nvSpPr>
            <p:spPr bwMode="auto">
              <a:xfrm>
                <a:off x="336" y="1851"/>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C</a:t>
                </a:r>
                <a:endParaRPr lang="es-ES" altLang="es-ES" dirty="0"/>
              </a:p>
            </p:txBody>
          </p:sp>
          <p:sp>
            <p:nvSpPr>
              <p:cNvPr id="23" name="Text Box 11"/>
              <p:cNvSpPr txBox="1">
                <a:spLocks noChangeArrowheads="1"/>
              </p:cNvSpPr>
              <p:nvPr/>
            </p:nvSpPr>
            <p:spPr bwMode="auto">
              <a:xfrm>
                <a:off x="1492" y="1851"/>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dirty="0"/>
                  <a:t>D</a:t>
                </a:r>
                <a:endParaRPr lang="es-ES" altLang="es-ES" dirty="0"/>
              </a:p>
            </p:txBody>
          </p:sp>
        </p:grpSp>
      </p:grpSp>
      <p:sp>
        <p:nvSpPr>
          <p:cNvPr id="27" name="Text Box 12"/>
          <p:cNvSpPr txBox="1">
            <a:spLocks noChangeArrowheads="1"/>
          </p:cNvSpPr>
          <p:nvPr/>
        </p:nvSpPr>
        <p:spPr bwMode="auto">
          <a:xfrm>
            <a:off x="615002" y="1778604"/>
            <a:ext cx="266034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120000"/>
              </a:lnSpc>
            </a:pPr>
            <a:r>
              <a:rPr lang="es-ES" altLang="es-ES" sz="1300" dirty="0"/>
              <a:t>¿Tienen algo en común estas distribuciones de frecuencias correspondientes a cuatro </a:t>
            </a:r>
            <a:r>
              <a:rPr lang="es-ES" altLang="es-ES" sz="1300" b="1" dirty="0"/>
              <a:t>muestras aleatorias </a:t>
            </a:r>
            <a:r>
              <a:rPr lang="es-ES" altLang="es-ES" sz="1300" dirty="0"/>
              <a:t>tomadas de la misma población?</a:t>
            </a:r>
          </a:p>
        </p:txBody>
      </p:sp>
      <p:sp>
        <p:nvSpPr>
          <p:cNvPr id="4" name="Abrir llave 3"/>
          <p:cNvSpPr/>
          <p:nvPr/>
        </p:nvSpPr>
        <p:spPr>
          <a:xfrm>
            <a:off x="3505200" y="1162510"/>
            <a:ext cx="233963" cy="2528618"/>
          </a:xfrm>
          <a:prstGeom prst="leftBrac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9" name="Abrir llave 28"/>
          <p:cNvSpPr/>
          <p:nvPr/>
        </p:nvSpPr>
        <p:spPr>
          <a:xfrm>
            <a:off x="3520582" y="4081907"/>
            <a:ext cx="233963" cy="2528618"/>
          </a:xfrm>
          <a:prstGeom prst="leftBrac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30" name="Text Box 12"/>
          <p:cNvSpPr txBox="1">
            <a:spLocks noChangeArrowheads="1"/>
          </p:cNvSpPr>
          <p:nvPr/>
        </p:nvSpPr>
        <p:spPr bwMode="auto">
          <a:xfrm>
            <a:off x="280834" y="3544954"/>
            <a:ext cx="3138996"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120000"/>
              </a:lnSpc>
            </a:pPr>
            <a:r>
              <a:rPr lang="es-ES" altLang="es-ES" sz="1300" dirty="0"/>
              <a:t>¿Cómo es el </a:t>
            </a:r>
            <a:r>
              <a:rPr lang="es-ES" altLang="es-ES" sz="1300" b="1" dirty="0"/>
              <a:t>patrón poblacional </a:t>
            </a:r>
            <a:r>
              <a:rPr lang="es-ES" altLang="es-ES" sz="1300" dirty="0"/>
              <a:t>que genera estos datos?</a:t>
            </a:r>
          </a:p>
        </p:txBody>
      </p:sp>
      <p:grpSp>
        <p:nvGrpSpPr>
          <p:cNvPr id="5" name="Grupo 4"/>
          <p:cNvGrpSpPr/>
          <p:nvPr/>
        </p:nvGrpSpPr>
        <p:grpSpPr>
          <a:xfrm>
            <a:off x="279949" y="4711820"/>
            <a:ext cx="3138996" cy="1292662"/>
            <a:chOff x="262193" y="4861886"/>
            <a:chExt cx="3138996" cy="1292662"/>
          </a:xfrm>
        </p:grpSpPr>
        <p:sp>
          <p:nvSpPr>
            <p:cNvPr id="26" name="Text Box 20"/>
            <p:cNvSpPr txBox="1">
              <a:spLocks noChangeArrowheads="1"/>
            </p:cNvSpPr>
            <p:nvPr/>
          </p:nvSpPr>
          <p:spPr bwMode="auto">
            <a:xfrm>
              <a:off x="262193" y="4861886"/>
              <a:ext cx="3138996"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300" dirty="0"/>
                <a:t>¿Corresponden a un mismo </a:t>
              </a:r>
              <a:r>
                <a:rPr lang="es-ES" altLang="es-ES" sz="1300" b="1" dirty="0">
                  <a:solidFill>
                    <a:srgbClr val="C00000"/>
                  </a:solidFill>
                </a:rPr>
                <a:t>modelo</a:t>
              </a:r>
            </a:p>
            <a:p>
              <a:pPr algn="ctr" eaLnBrk="1" hangingPunct="1"/>
              <a:endParaRPr lang="es-ES" altLang="es-ES" sz="1300" b="1" dirty="0">
                <a:solidFill>
                  <a:srgbClr val="C00000"/>
                </a:solidFill>
              </a:endParaRPr>
            </a:p>
            <a:p>
              <a:pPr algn="ctr" eaLnBrk="1" hangingPunct="1"/>
              <a:endParaRPr lang="es-ES" altLang="es-ES" sz="1300" b="1" dirty="0">
                <a:solidFill>
                  <a:srgbClr val="C00000"/>
                </a:solidFill>
              </a:endParaRPr>
            </a:p>
            <a:p>
              <a:pPr algn="ctr" eaLnBrk="1" hangingPunct="1"/>
              <a:endParaRPr lang="es-ES" altLang="es-ES" sz="1300" b="1" dirty="0">
                <a:solidFill>
                  <a:srgbClr val="C00000"/>
                </a:solidFill>
              </a:endParaRPr>
            </a:p>
            <a:p>
              <a:pPr algn="ctr" eaLnBrk="1" hangingPunct="1"/>
              <a:endParaRPr lang="es-ES" altLang="es-ES" sz="1300" b="1" dirty="0">
                <a:solidFill>
                  <a:srgbClr val="C00000"/>
                </a:solidFill>
              </a:endParaRPr>
            </a:p>
            <a:p>
              <a:pPr algn="ctr" eaLnBrk="1" hangingPunct="1"/>
              <a:r>
                <a:rPr lang="es-ES" altLang="es-ES" sz="1300" dirty="0"/>
                <a:t> de distribución de la variable?</a:t>
              </a:r>
            </a:p>
          </p:txBody>
        </p:sp>
        <p:grpSp>
          <p:nvGrpSpPr>
            <p:cNvPr id="31" name="Group 53"/>
            <p:cNvGrpSpPr>
              <a:grpSpLocks/>
            </p:cNvGrpSpPr>
            <p:nvPr/>
          </p:nvGrpSpPr>
          <p:grpSpPr bwMode="auto">
            <a:xfrm>
              <a:off x="1032895" y="5114339"/>
              <a:ext cx="1597591" cy="694358"/>
              <a:chOff x="3696" y="2928"/>
              <a:chExt cx="1488" cy="748"/>
            </a:xfrm>
          </p:grpSpPr>
          <p:pic>
            <p:nvPicPr>
              <p:cNvPr id="32" name="Picture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96" y="2928"/>
                <a:ext cx="148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3" name="Object 85"/>
              <p:cNvGraphicFramePr>
                <a:graphicFrameLocks noChangeAspect="1"/>
              </p:cNvGraphicFramePr>
              <p:nvPr/>
            </p:nvGraphicFramePr>
            <p:xfrm>
              <a:off x="4223" y="3168"/>
              <a:ext cx="161" cy="186"/>
            </p:xfrm>
            <a:graphic>
              <a:graphicData uri="http://schemas.openxmlformats.org/presentationml/2006/ole">
                <mc:AlternateContent xmlns:mc="http://schemas.openxmlformats.org/markup-compatibility/2006">
                  <mc:Choice xmlns:v="urn:schemas-microsoft-com:vml" Requires="v">
                    <p:oleObj name="Equation" r:id="rId11" imgW="177480" imgH="203040" progId="Equation.DSMT4">
                      <p:embed/>
                    </p:oleObj>
                  </mc:Choice>
                  <mc:Fallback>
                    <p:oleObj name="Equation" r:id="rId11" imgW="177480" imgH="203040" progId="Equation.DSMT4">
                      <p:embed/>
                      <p:pic>
                        <p:nvPicPr>
                          <p:cNvPr id="33" name="Object 85"/>
                          <p:cNvPicPr>
                            <a:picLocks noChangeAspect="1" noChangeArrowheads="1"/>
                          </p:cNvPicPr>
                          <p:nvPr/>
                        </p:nvPicPr>
                        <p:blipFill>
                          <a:blip r:embed="rId12"/>
                          <a:srcRect/>
                          <a:stretch>
                            <a:fillRect/>
                          </a:stretch>
                        </p:blipFill>
                        <p:spPr bwMode="auto">
                          <a:xfrm>
                            <a:off x="4223" y="3168"/>
                            <a:ext cx="161"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35" name="Text Box 20"/>
          <p:cNvSpPr txBox="1">
            <a:spLocks noChangeArrowheads="1"/>
          </p:cNvSpPr>
          <p:nvPr/>
        </p:nvSpPr>
        <p:spPr bwMode="auto">
          <a:xfrm>
            <a:off x="152400" y="427037"/>
            <a:ext cx="8610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Qué es un modelo de distribución de probabilidad</a:t>
            </a:r>
          </a:p>
        </p:txBody>
      </p:sp>
    </p:spTree>
    <p:extLst>
      <p:ext uri="{BB962C8B-B14F-4D97-AF65-F5344CB8AC3E}">
        <p14:creationId xmlns:p14="http://schemas.microsoft.com/office/powerpoint/2010/main" val="2703686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p:cNvGrpSpPr/>
          <p:nvPr/>
        </p:nvGrpSpPr>
        <p:grpSpPr>
          <a:xfrm>
            <a:off x="5638800" y="3021366"/>
            <a:ext cx="2086977" cy="1056114"/>
            <a:chOff x="5649566" y="3677017"/>
            <a:chExt cx="2392109" cy="1188671"/>
          </a:xfrm>
        </p:grpSpPr>
        <p:pic>
          <p:nvPicPr>
            <p:cNvPr id="3" name="Imagen 2"/>
            <p:cNvPicPr>
              <a:picLocks noChangeAspect="1"/>
            </p:cNvPicPr>
            <p:nvPr/>
          </p:nvPicPr>
          <p:blipFill>
            <a:blip r:embed="rId2"/>
            <a:stretch>
              <a:fillRect/>
            </a:stretch>
          </p:blipFill>
          <p:spPr>
            <a:xfrm>
              <a:off x="5649566" y="3677017"/>
              <a:ext cx="2392109" cy="1188671"/>
            </a:xfrm>
            <a:prstGeom prst="rect">
              <a:avLst/>
            </a:prstGeom>
          </p:spPr>
        </p:pic>
        <p:graphicFrame>
          <p:nvGraphicFramePr>
            <p:cNvPr id="11266" name="Object 71"/>
            <p:cNvGraphicFramePr>
              <a:graphicFrameLocks noChangeAspect="1"/>
            </p:cNvGraphicFramePr>
            <p:nvPr>
              <p:extLst>
                <p:ext uri="{D42A27DB-BD31-4B8C-83A1-F6EECF244321}">
                  <p14:modId xmlns:p14="http://schemas.microsoft.com/office/powerpoint/2010/main" val="4259750184"/>
                </p:ext>
              </p:extLst>
            </p:nvPr>
          </p:nvGraphicFramePr>
          <p:xfrm>
            <a:off x="5649566" y="4666563"/>
            <a:ext cx="474628" cy="149945"/>
          </p:xfrm>
          <a:graphic>
            <a:graphicData uri="http://schemas.openxmlformats.org/presentationml/2006/ole">
              <mc:AlternateContent xmlns:mc="http://schemas.openxmlformats.org/markup-compatibility/2006">
                <mc:Choice xmlns:v="urn:schemas-microsoft-com:vml" Requires="v">
                  <p:oleObj name="Equation" r:id="rId3" imgW="444307" imgH="139639" progId="Equation.DSMT4">
                    <p:embed/>
                  </p:oleObj>
                </mc:Choice>
                <mc:Fallback>
                  <p:oleObj name="Equation" r:id="rId3" imgW="444307" imgH="139639" progId="Equation.DSMT4">
                    <p:embed/>
                    <p:pic>
                      <p:nvPicPr>
                        <p:cNvPr id="11266"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9566" y="4666563"/>
                          <a:ext cx="474628" cy="149945"/>
                        </a:xfrm>
                        <a:prstGeom prst="rect">
                          <a:avLst/>
                        </a:prstGeom>
                        <a:noFill/>
                        <a:ln>
                          <a:noFill/>
                        </a:ln>
                      </p:spPr>
                    </p:pic>
                  </p:oleObj>
                </mc:Fallback>
              </mc:AlternateContent>
            </a:graphicData>
          </a:graphic>
        </p:graphicFrame>
      </p:grpSp>
      <p:grpSp>
        <p:nvGrpSpPr>
          <p:cNvPr id="11267" name="Group 53"/>
          <p:cNvGrpSpPr>
            <a:grpSpLocks/>
          </p:cNvGrpSpPr>
          <p:nvPr/>
        </p:nvGrpSpPr>
        <p:grpSpPr bwMode="auto">
          <a:xfrm>
            <a:off x="5739620" y="4944989"/>
            <a:ext cx="1968487" cy="925578"/>
            <a:chOff x="3696" y="2928"/>
            <a:chExt cx="1488" cy="748"/>
          </a:xfrm>
        </p:grpSpPr>
        <p:pic>
          <p:nvPicPr>
            <p:cNvPr id="11316" name="Picture 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2928"/>
              <a:ext cx="1488"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318" name="Object 85"/>
            <p:cNvGraphicFramePr>
              <a:graphicFrameLocks noChangeAspect="1"/>
            </p:cNvGraphicFramePr>
            <p:nvPr/>
          </p:nvGraphicFramePr>
          <p:xfrm>
            <a:off x="4080" y="3168"/>
            <a:ext cx="448" cy="185"/>
          </p:xfrm>
          <a:graphic>
            <a:graphicData uri="http://schemas.openxmlformats.org/presentationml/2006/ole">
              <mc:AlternateContent xmlns:mc="http://schemas.openxmlformats.org/markup-compatibility/2006">
                <mc:Choice xmlns:v="urn:schemas-microsoft-com:vml" Requires="v">
                  <p:oleObj name="Equation" r:id="rId6" imgW="494870" imgH="203024" progId="Equation.DSMT4">
                    <p:embed/>
                  </p:oleObj>
                </mc:Choice>
                <mc:Fallback>
                  <p:oleObj name="Equation" r:id="rId6" imgW="494870" imgH="203024" progId="Equation.DSMT4">
                    <p:embed/>
                    <p:pic>
                      <p:nvPicPr>
                        <p:cNvPr id="11318" name="Object 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80" y="3168"/>
                          <a:ext cx="448" cy="1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271" name="Text Box 92"/>
          <p:cNvSpPr txBox="1">
            <a:spLocks noChangeArrowheads="1"/>
          </p:cNvSpPr>
          <p:nvPr/>
        </p:nvSpPr>
        <p:spPr bwMode="auto">
          <a:xfrm>
            <a:off x="4483962" y="4191000"/>
            <a:ext cx="4453898"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8600" indent="-228600" algn="just" eaLnBrk="1" hangingPunct="1">
              <a:lnSpc>
                <a:spcPct val="110000"/>
              </a:lnSpc>
              <a:buFont typeface="+mj-lt"/>
              <a:buAutoNum type="arabicPeriod" startAt="4"/>
            </a:pPr>
            <a:r>
              <a:rPr lang="es-ES" altLang="es-ES" dirty="0"/>
              <a:t>¿Es posible establecer un </a:t>
            </a:r>
            <a:r>
              <a:rPr lang="es-ES" altLang="es-ES" b="1" dirty="0">
                <a:solidFill>
                  <a:schemeClr val="tx1">
                    <a:lumMod val="95000"/>
                    <a:lumOff val="5000"/>
                  </a:schemeClr>
                </a:solidFill>
              </a:rPr>
              <a:t>modelo matemático </a:t>
            </a:r>
            <a:r>
              <a:rPr lang="es-ES" altLang="es-ES" i="1" dirty="0">
                <a:latin typeface="Times New Roman" panose="02020603050405020304" pitchFamily="18" charset="0"/>
              </a:rPr>
              <a:t>f</a:t>
            </a:r>
            <a:r>
              <a:rPr lang="es-ES" altLang="es-ES" dirty="0">
                <a:latin typeface="Times New Roman" panose="02020603050405020304" pitchFamily="18" charset="0"/>
              </a:rPr>
              <a:t>(</a:t>
            </a:r>
            <a:r>
              <a:rPr lang="es-ES" altLang="es-ES" i="1" dirty="0">
                <a:latin typeface="Times New Roman" panose="02020603050405020304" pitchFamily="18" charset="0"/>
              </a:rPr>
              <a:t>x</a:t>
            </a:r>
            <a:r>
              <a:rPr lang="es-ES" altLang="es-ES" dirty="0">
                <a:latin typeface="Times New Roman" panose="02020603050405020304" pitchFamily="18" charset="0"/>
              </a:rPr>
              <a:t>)</a:t>
            </a:r>
            <a:r>
              <a:rPr lang="es-ES" altLang="es-ES" dirty="0"/>
              <a:t> (una expresión matemática manejable) que represente bien la forma como se </a:t>
            </a:r>
            <a:r>
              <a:rPr lang="es-ES" altLang="es-ES" b="1" dirty="0"/>
              <a:t>distribuye</a:t>
            </a:r>
            <a:r>
              <a:rPr lang="es-ES" altLang="es-ES" dirty="0"/>
              <a:t> la VA en la </a:t>
            </a:r>
            <a:r>
              <a:rPr lang="es-ES" altLang="es-ES" b="1" dirty="0"/>
              <a:t>población</a:t>
            </a:r>
            <a:r>
              <a:rPr lang="es-ES" altLang="es-ES" dirty="0"/>
              <a:t>?</a:t>
            </a:r>
          </a:p>
        </p:txBody>
      </p:sp>
      <p:sp>
        <p:nvSpPr>
          <p:cNvPr id="11272" name="Text Box 91"/>
          <p:cNvSpPr txBox="1">
            <a:spLocks noChangeArrowheads="1"/>
          </p:cNvSpPr>
          <p:nvPr/>
        </p:nvSpPr>
        <p:spPr bwMode="auto">
          <a:xfrm>
            <a:off x="4483962" y="869486"/>
            <a:ext cx="44342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8600" indent="-228600" algn="just" eaLnBrk="1" hangingPunct="1">
              <a:buFont typeface="+mj-lt"/>
              <a:buAutoNum type="arabicPeriod" startAt="2"/>
            </a:pPr>
            <a:r>
              <a:rPr lang="es-ES" altLang="es-ES" dirty="0"/>
              <a:t>Conforme aumentamos el número de observaciones es posible considerar cada vez </a:t>
            </a:r>
            <a:r>
              <a:rPr lang="es-ES" altLang="es-ES" b="1" dirty="0"/>
              <a:t>más intervalos más estrechos</a:t>
            </a:r>
            <a:r>
              <a:rPr lang="es-ES" altLang="es-ES" dirty="0"/>
              <a:t>.</a:t>
            </a:r>
            <a:endParaRPr lang="es-ES" altLang="es-ES" i="1" dirty="0"/>
          </a:p>
        </p:txBody>
      </p:sp>
      <p:sp>
        <p:nvSpPr>
          <p:cNvPr id="11273" name="4 Rectángulo"/>
          <p:cNvSpPr>
            <a:spLocks noChangeArrowheads="1"/>
          </p:cNvSpPr>
          <p:nvPr/>
        </p:nvSpPr>
        <p:spPr bwMode="auto">
          <a:xfrm>
            <a:off x="152400" y="28575"/>
            <a:ext cx="563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(motivación)</a:t>
            </a:r>
          </a:p>
        </p:txBody>
      </p:sp>
      <p:sp>
        <p:nvSpPr>
          <p:cNvPr id="11274" name="Text Box 91"/>
          <p:cNvSpPr txBox="1">
            <a:spLocks noChangeArrowheads="1"/>
          </p:cNvSpPr>
          <p:nvPr/>
        </p:nvSpPr>
        <p:spPr bwMode="auto">
          <a:xfrm>
            <a:off x="154220" y="849051"/>
            <a:ext cx="419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8600" indent="-228600" algn="just" eaLnBrk="1" hangingPunct="1">
              <a:buFont typeface="+mj-lt"/>
              <a:buAutoNum type="arabicPeriod"/>
            </a:pPr>
            <a:r>
              <a:rPr lang="es-ES" altLang="es-ES" sz="1200" dirty="0"/>
              <a:t>¿Qué ocurre con la forma de la distribución si cada vez observamos m</a:t>
            </a:r>
            <a:r>
              <a:rPr lang="es-ES" altLang="es-ES" dirty="0"/>
              <a:t>ás datos?</a:t>
            </a:r>
            <a:endParaRPr lang="es-ES" altLang="es-ES" sz="1200" i="1" dirty="0"/>
          </a:p>
        </p:txBody>
      </p:sp>
      <p:sp>
        <p:nvSpPr>
          <p:cNvPr id="11275" name="Text Box 91"/>
          <p:cNvSpPr txBox="1">
            <a:spLocks noChangeArrowheads="1"/>
          </p:cNvSpPr>
          <p:nvPr/>
        </p:nvSpPr>
        <p:spPr bwMode="auto">
          <a:xfrm>
            <a:off x="4483962" y="2514600"/>
            <a:ext cx="44342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28600" indent="-228600" algn="just" eaLnBrk="1" hangingPunct="1">
              <a:buFont typeface="+mj-lt"/>
              <a:buAutoNum type="arabicPeriod" startAt="3"/>
            </a:pPr>
            <a:r>
              <a:rPr lang="es-ES" altLang="es-ES" dirty="0"/>
              <a:t>La cuestión es si en el </a:t>
            </a:r>
            <a:r>
              <a:rPr lang="es-ES" altLang="es-ES" b="1" dirty="0">
                <a:solidFill>
                  <a:schemeClr val="tx1">
                    <a:lumMod val="95000"/>
                    <a:lumOff val="5000"/>
                  </a:schemeClr>
                </a:solidFill>
              </a:rPr>
              <a:t>límite</a:t>
            </a:r>
            <a:r>
              <a:rPr lang="es-ES" altLang="es-ES" dirty="0"/>
              <a:t> (muchos intervalos, muy estrechos) se perfila siempre </a:t>
            </a:r>
            <a:r>
              <a:rPr lang="es-ES" altLang="es-ES" b="1" dirty="0"/>
              <a:t>un mismo patrón</a:t>
            </a:r>
            <a:r>
              <a:rPr lang="es-ES" altLang="es-ES" dirty="0"/>
              <a:t> (suave) de la distribución</a:t>
            </a:r>
            <a:endParaRPr lang="es-ES" altLang="es-ES" i="1" dirty="0"/>
          </a:p>
        </p:txBody>
      </p:sp>
      <p:sp>
        <p:nvSpPr>
          <p:cNvPr id="11276" name="Text Box 91"/>
          <p:cNvSpPr txBox="1">
            <a:spLocks noChangeArrowheads="1"/>
          </p:cNvSpPr>
          <p:nvPr/>
        </p:nvSpPr>
        <p:spPr bwMode="auto">
          <a:xfrm>
            <a:off x="4724400" y="5943600"/>
            <a:ext cx="419384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dirty="0"/>
              <a:t>Si existe </a:t>
            </a:r>
            <a:r>
              <a:rPr lang="es-ES" altLang="es-ES" i="1" dirty="0">
                <a:latin typeface="Times New Roman" panose="02020603050405020304" pitchFamily="18" charset="0"/>
              </a:rPr>
              <a:t>f</a:t>
            </a:r>
            <a:r>
              <a:rPr lang="es-ES" altLang="es-ES" dirty="0">
                <a:latin typeface="Times New Roman" panose="02020603050405020304" pitchFamily="18" charset="0"/>
              </a:rPr>
              <a:t>(</a:t>
            </a:r>
            <a:r>
              <a:rPr lang="es-ES" altLang="es-ES" i="1" dirty="0">
                <a:latin typeface="Times New Roman" panose="02020603050405020304" pitchFamily="18" charset="0"/>
              </a:rPr>
              <a:t>x</a:t>
            </a:r>
            <a:r>
              <a:rPr lang="es-ES" altLang="es-ES" dirty="0">
                <a:latin typeface="Times New Roman" panose="02020603050405020304" pitchFamily="18" charset="0"/>
              </a:rPr>
              <a:t>)</a:t>
            </a:r>
            <a:r>
              <a:rPr lang="es-ES" altLang="es-ES" i="1" dirty="0"/>
              <a:t>,</a:t>
            </a:r>
            <a:r>
              <a:rPr lang="es-ES" altLang="es-ES" dirty="0"/>
              <a:t> entonces dicho</a:t>
            </a:r>
            <a:r>
              <a:rPr lang="es-ES" altLang="es-ES" b="1" dirty="0"/>
              <a:t> modelo caracterizará </a:t>
            </a:r>
            <a:r>
              <a:rPr lang="es-ES" altLang="es-ES" dirty="0"/>
              <a:t>a la </a:t>
            </a:r>
            <a:r>
              <a:rPr lang="es-ES" altLang="es-ES" b="1" dirty="0"/>
              <a:t>distribución de toda la población </a:t>
            </a:r>
            <a:r>
              <a:rPr lang="es-ES" altLang="es-ES" dirty="0"/>
              <a:t>y resulta una </a:t>
            </a:r>
            <a:r>
              <a:rPr lang="es-ES" altLang="es-ES" b="1" dirty="0"/>
              <a:t>herramienta valiosísima</a:t>
            </a:r>
            <a:r>
              <a:rPr lang="es-ES" altLang="es-ES" dirty="0"/>
              <a:t> para hacer </a:t>
            </a:r>
            <a:r>
              <a:rPr lang="es-ES" altLang="es-ES" b="1" dirty="0"/>
              <a:t>inferencia</a:t>
            </a:r>
            <a:endParaRPr lang="es-ES" altLang="es-ES" b="1" i="1" dirty="0"/>
          </a:p>
        </p:txBody>
      </p:sp>
      <p:sp>
        <p:nvSpPr>
          <p:cNvPr id="11278" name="Text Box 91"/>
          <p:cNvSpPr txBox="1">
            <a:spLocks noChangeArrowheads="1"/>
          </p:cNvSpPr>
          <p:nvPr/>
        </p:nvSpPr>
        <p:spPr bwMode="auto">
          <a:xfrm>
            <a:off x="188896" y="6559022"/>
            <a:ext cx="48403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050" i="1" dirty="0">
                <a:latin typeface="Times New Roman" panose="02020603050405020304" pitchFamily="18" charset="0"/>
              </a:rPr>
              <a:t>n→</a:t>
            </a:r>
            <a:r>
              <a:rPr lang="es-ES" altLang="es-ES" sz="1400" dirty="0">
                <a:cs typeface="Arial" panose="020B0604020202020204" pitchFamily="34" charset="0"/>
              </a:rPr>
              <a:t>∞</a:t>
            </a:r>
            <a:r>
              <a:rPr lang="es-ES" altLang="es-ES" sz="1050" dirty="0">
                <a:cs typeface="Arial" panose="020B0604020202020204" pitchFamily="34" charset="0"/>
              </a:rPr>
              <a:t> </a:t>
            </a:r>
            <a:r>
              <a:rPr lang="es-ES" altLang="es-ES" sz="1000" dirty="0"/>
              <a:t>indica que estaríamos aproximándonos al tamaño de  toda la población.</a:t>
            </a:r>
          </a:p>
        </p:txBody>
      </p:sp>
      <p:sp>
        <p:nvSpPr>
          <p:cNvPr id="11277" name="AutoShape 44"/>
          <p:cNvSpPr>
            <a:spLocks noChangeArrowheads="1"/>
          </p:cNvSpPr>
          <p:nvPr/>
        </p:nvSpPr>
        <p:spPr bwMode="auto">
          <a:xfrm>
            <a:off x="352153" y="1515817"/>
            <a:ext cx="3838847" cy="4641766"/>
          </a:xfrm>
          <a:prstGeom prst="roundRect">
            <a:avLst>
              <a:gd name="adj" fmla="val 3727"/>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s-ES" altLang="es-ES"/>
          </a:p>
        </p:txBody>
      </p:sp>
      <p:pic>
        <p:nvPicPr>
          <p:cNvPr id="2" name="Imagen 1"/>
          <p:cNvPicPr>
            <a:picLocks noChangeAspect="1"/>
          </p:cNvPicPr>
          <p:nvPr/>
        </p:nvPicPr>
        <p:blipFill>
          <a:blip r:embed="rId8"/>
          <a:stretch>
            <a:fillRect/>
          </a:stretch>
        </p:blipFill>
        <p:spPr>
          <a:xfrm>
            <a:off x="609600" y="1829350"/>
            <a:ext cx="3213030" cy="3913259"/>
          </a:xfrm>
          <a:prstGeom prst="rect">
            <a:avLst/>
          </a:prstGeom>
        </p:spPr>
      </p:pic>
      <p:pic>
        <p:nvPicPr>
          <p:cNvPr id="11280" name="Picture 2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867400" y="1382301"/>
            <a:ext cx="1809635" cy="103189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 Box 20"/>
          <p:cNvSpPr txBox="1">
            <a:spLocks noChangeArrowheads="1"/>
          </p:cNvSpPr>
          <p:nvPr/>
        </p:nvSpPr>
        <p:spPr bwMode="auto">
          <a:xfrm>
            <a:off x="152400" y="314353"/>
            <a:ext cx="8610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Qué es un </a:t>
            </a:r>
            <a:r>
              <a:rPr lang="es-ES" altLang="es-ES" sz="2400" b="1" dirty="0"/>
              <a:t>modelo </a:t>
            </a:r>
            <a:r>
              <a:rPr lang="es-ES" altLang="es-ES" sz="1400" b="1" dirty="0"/>
              <a:t>de distribución de probabilidad</a:t>
            </a:r>
          </a:p>
        </p:txBody>
      </p:sp>
    </p:spTree>
    <p:extLst>
      <p:ext uri="{BB962C8B-B14F-4D97-AF65-F5344CB8AC3E}">
        <p14:creationId xmlns:p14="http://schemas.microsoft.com/office/powerpoint/2010/main" val="4161627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35"/>
          <p:cNvGraphicFramePr>
            <a:graphicFrameLocks noChangeAspect="1"/>
          </p:cNvGraphicFramePr>
          <p:nvPr>
            <p:extLst>
              <p:ext uri="{D42A27DB-BD31-4B8C-83A1-F6EECF244321}">
                <p14:modId xmlns:p14="http://schemas.microsoft.com/office/powerpoint/2010/main" val="3357673205"/>
              </p:ext>
            </p:extLst>
          </p:nvPr>
        </p:nvGraphicFramePr>
        <p:xfrm>
          <a:off x="1339885" y="5864287"/>
          <a:ext cx="1235075" cy="334962"/>
        </p:xfrm>
        <a:graphic>
          <a:graphicData uri="http://schemas.openxmlformats.org/presentationml/2006/ole">
            <mc:AlternateContent xmlns:mc="http://schemas.openxmlformats.org/markup-compatibility/2006">
              <mc:Choice xmlns:v="urn:schemas-microsoft-com:vml" Requires="v">
                <p:oleObj name="Equation" r:id="rId2" imgW="939600" imgH="253800" progId="Equation.DSMT4">
                  <p:embed/>
                </p:oleObj>
              </mc:Choice>
              <mc:Fallback>
                <p:oleObj name="Equation" r:id="rId2" imgW="939600" imgH="253800" progId="Equation.DSMT4">
                  <p:embed/>
                  <p:pic>
                    <p:nvPicPr>
                      <p:cNvPr id="13314" name="Object 35"/>
                      <p:cNvPicPr>
                        <a:picLocks noChangeAspect="1" noChangeArrowheads="1"/>
                      </p:cNvPicPr>
                      <p:nvPr/>
                    </p:nvPicPr>
                    <p:blipFill>
                      <a:blip r:embed="rId3"/>
                      <a:srcRect/>
                      <a:stretch>
                        <a:fillRect/>
                      </a:stretch>
                    </p:blipFill>
                    <p:spPr bwMode="auto">
                      <a:xfrm>
                        <a:off x="1339885" y="5864287"/>
                        <a:ext cx="1235075" cy="33496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6" name="Text Box 75"/>
          <p:cNvSpPr txBox="1">
            <a:spLocks noChangeArrowheads="1"/>
          </p:cNvSpPr>
          <p:nvPr/>
        </p:nvSpPr>
        <p:spPr bwMode="auto">
          <a:xfrm>
            <a:off x="4495800" y="1503363"/>
            <a:ext cx="404336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i="1" dirty="0">
                <a:latin typeface="Times New Roman" panose="02020603050405020304" pitchFamily="18" charset="0"/>
              </a:rPr>
              <a:t>f</a:t>
            </a:r>
            <a:r>
              <a:rPr lang="es-ES" altLang="es-ES" sz="1300" dirty="0">
                <a:latin typeface="Times New Roman" panose="02020603050405020304" pitchFamily="18" charset="0"/>
              </a:rPr>
              <a:t>(</a:t>
            </a:r>
            <a:r>
              <a:rPr lang="es-ES" altLang="es-ES" sz="1300" i="1" dirty="0">
                <a:latin typeface="Times New Roman" panose="02020603050405020304" pitchFamily="18" charset="0"/>
              </a:rPr>
              <a:t>x</a:t>
            </a:r>
            <a:r>
              <a:rPr lang="es-ES" altLang="es-ES" sz="1300" dirty="0">
                <a:latin typeface="Times New Roman" panose="02020603050405020304" pitchFamily="18" charset="0"/>
              </a:rPr>
              <a:t>)</a:t>
            </a:r>
            <a:r>
              <a:rPr lang="es-ES" altLang="es-ES" sz="1300" dirty="0"/>
              <a:t> es la </a:t>
            </a:r>
            <a:r>
              <a:rPr lang="es-ES" altLang="es-ES" sz="1300" b="1" i="1" dirty="0"/>
              <a:t>función de densidad </a:t>
            </a:r>
            <a:r>
              <a:rPr lang="es-ES" altLang="es-ES" sz="1300" dirty="0"/>
              <a:t>de la </a:t>
            </a:r>
            <a:r>
              <a:rPr lang="es-ES" altLang="es-ES" sz="1300" i="1" dirty="0"/>
              <a:t>distribución normal </a:t>
            </a:r>
            <a:r>
              <a:rPr lang="es-ES" altLang="es-ES" sz="1300" dirty="0"/>
              <a:t>o</a:t>
            </a:r>
            <a:r>
              <a:rPr lang="es-ES" altLang="es-ES" sz="1300" i="1" dirty="0"/>
              <a:t> gaussiana </a:t>
            </a:r>
            <a:r>
              <a:rPr lang="es-ES" altLang="es-ES" sz="1300" dirty="0"/>
              <a:t>(= C</a:t>
            </a:r>
            <a:r>
              <a:rPr lang="es-ES" altLang="es-ES" sz="1300" i="1" dirty="0"/>
              <a:t>ampana de Gauss</a:t>
            </a:r>
            <a:r>
              <a:rPr lang="es-ES" altLang="es-ES" sz="1300" dirty="0"/>
              <a:t>)</a:t>
            </a:r>
          </a:p>
        </p:txBody>
      </p:sp>
      <p:sp>
        <p:nvSpPr>
          <p:cNvPr id="13317" name="Text Box 76"/>
          <p:cNvSpPr txBox="1">
            <a:spLocks noChangeArrowheads="1"/>
          </p:cNvSpPr>
          <p:nvPr/>
        </p:nvSpPr>
        <p:spPr bwMode="auto">
          <a:xfrm>
            <a:off x="4495800" y="2095500"/>
            <a:ext cx="3490058"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300" dirty="0"/>
              <a:t>El </a:t>
            </a:r>
            <a:r>
              <a:rPr lang="es-ES" altLang="es-ES" sz="1300" b="1" i="1" dirty="0"/>
              <a:t>modelo</a:t>
            </a:r>
            <a:r>
              <a:rPr lang="es-ES" altLang="es-ES" sz="1300" dirty="0"/>
              <a:t> </a:t>
            </a:r>
            <a:r>
              <a:rPr lang="es-ES" altLang="es-ES" sz="1300" b="1" i="1" dirty="0"/>
              <a:t>Normal</a:t>
            </a:r>
            <a:r>
              <a:rPr lang="es-ES" altLang="es-ES" sz="1300" dirty="0"/>
              <a:t> contempla 2 parámetros:</a:t>
            </a:r>
            <a:endParaRPr lang="es-ES" altLang="es-ES" sz="1300" i="1" dirty="0"/>
          </a:p>
        </p:txBody>
      </p:sp>
      <p:graphicFrame>
        <p:nvGraphicFramePr>
          <p:cNvPr id="13318" name="Object 85"/>
          <p:cNvGraphicFramePr>
            <a:graphicFrameLocks noChangeAspect="1"/>
          </p:cNvGraphicFramePr>
          <p:nvPr/>
        </p:nvGraphicFramePr>
        <p:xfrm>
          <a:off x="5308600" y="735013"/>
          <a:ext cx="2527300" cy="636587"/>
        </p:xfrm>
        <a:graphic>
          <a:graphicData uri="http://schemas.openxmlformats.org/presentationml/2006/ole">
            <mc:AlternateContent xmlns:mc="http://schemas.openxmlformats.org/markup-compatibility/2006">
              <mc:Choice xmlns:v="urn:schemas-microsoft-com:vml" Requires="v">
                <p:oleObj name="Equation" r:id="rId4" imgW="2032000" imgH="508000" progId="Equation.DSMT4">
                  <p:embed/>
                </p:oleObj>
              </mc:Choice>
              <mc:Fallback>
                <p:oleObj name="Equation" r:id="rId4" imgW="2032000" imgH="508000" progId="Equation.DSMT4">
                  <p:embed/>
                  <p:pic>
                    <p:nvPicPr>
                      <p:cNvPr id="13318" name="Object 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8600" y="735013"/>
                        <a:ext cx="25273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9" name="Text Box 86"/>
          <p:cNvSpPr txBox="1">
            <a:spLocks noChangeArrowheads="1"/>
          </p:cNvSpPr>
          <p:nvPr/>
        </p:nvSpPr>
        <p:spPr bwMode="auto">
          <a:xfrm>
            <a:off x="304800" y="3352800"/>
            <a:ext cx="4061534"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Cuando el </a:t>
            </a:r>
            <a:r>
              <a:rPr lang="es-ES" altLang="es-ES" sz="1300" b="1" i="1" dirty="0"/>
              <a:t>modelo de distribución</a:t>
            </a:r>
            <a:r>
              <a:rPr lang="es-ES" altLang="es-ES" sz="1300" b="1" dirty="0"/>
              <a:t> </a:t>
            </a:r>
            <a:r>
              <a:rPr lang="es-ES" altLang="es-ES" sz="1300" b="1" i="1" dirty="0"/>
              <a:t>Normal</a:t>
            </a:r>
            <a:r>
              <a:rPr lang="es-ES" altLang="es-ES" sz="1300" dirty="0"/>
              <a:t> se utiliza para representar la </a:t>
            </a:r>
            <a:r>
              <a:rPr lang="es-ES" altLang="es-ES" sz="1300" b="1" dirty="0"/>
              <a:t>distribución de probabilidad</a:t>
            </a:r>
            <a:r>
              <a:rPr lang="es-ES" altLang="es-ES" sz="1300" dirty="0"/>
              <a:t> de una población (en términos de la variable aleatoria </a:t>
            </a:r>
            <a:r>
              <a:rPr lang="es-ES" altLang="es-ES" sz="1300" i="1" dirty="0">
                <a:latin typeface="Times New Roman" panose="02020603050405020304" pitchFamily="18" charset="0"/>
              </a:rPr>
              <a:t>X</a:t>
            </a:r>
            <a:r>
              <a:rPr lang="es-ES" altLang="es-ES" sz="1300" dirty="0"/>
              <a:t>), los </a:t>
            </a:r>
            <a:r>
              <a:rPr lang="es-ES" altLang="es-ES" sz="1300" b="1" dirty="0"/>
              <a:t>parámetros</a:t>
            </a:r>
            <a:r>
              <a:rPr lang="es-ES" altLang="es-ES" sz="1300" dirty="0"/>
              <a:t> del modelo tienen una relación directa con parámetros descriptivos de tal población:</a:t>
            </a:r>
            <a:endParaRPr lang="es-ES" altLang="es-ES" sz="1300" i="1" dirty="0"/>
          </a:p>
        </p:txBody>
      </p:sp>
      <p:sp>
        <p:nvSpPr>
          <p:cNvPr id="13320" name="Rectangle 88"/>
          <p:cNvSpPr>
            <a:spLocks noChangeArrowheads="1"/>
          </p:cNvSpPr>
          <p:nvPr/>
        </p:nvSpPr>
        <p:spPr bwMode="auto">
          <a:xfrm>
            <a:off x="304800" y="6428601"/>
            <a:ext cx="475803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200" dirty="0">
                <a:latin typeface="Times New Roman" panose="02020603050405020304" pitchFamily="18" charset="0"/>
              </a:rPr>
              <a:t>* Es frecuente hablar también en términos de </a:t>
            </a:r>
            <a:r>
              <a:rPr lang="es-ES" altLang="es-ES" sz="1200" b="1" i="1" dirty="0">
                <a:latin typeface="Times New Roman" panose="02020603050405020304" pitchFamily="18" charset="0"/>
              </a:rPr>
              <a:t>Esperanza</a:t>
            </a:r>
            <a:r>
              <a:rPr lang="es-ES" altLang="es-ES" sz="1200" i="1" dirty="0">
                <a:latin typeface="Times New Roman" panose="02020603050405020304" pitchFamily="18" charset="0"/>
              </a:rPr>
              <a:t> </a:t>
            </a:r>
            <a:r>
              <a:rPr lang="es-ES" altLang="es-ES" sz="1200" b="1" i="1" dirty="0">
                <a:latin typeface="Times New Roman" panose="02020603050405020304" pitchFamily="18" charset="0"/>
              </a:rPr>
              <a:t>Matemática</a:t>
            </a:r>
            <a:r>
              <a:rPr lang="es-ES" altLang="es-ES" sz="1200" i="1" dirty="0">
                <a:latin typeface="Times New Roman" panose="02020603050405020304" pitchFamily="18" charset="0"/>
              </a:rPr>
              <a:t> de X</a:t>
            </a:r>
          </a:p>
        </p:txBody>
      </p:sp>
      <p:sp>
        <p:nvSpPr>
          <p:cNvPr id="13321" name="Text Box 89"/>
          <p:cNvSpPr txBox="1">
            <a:spLocks noChangeArrowheads="1"/>
          </p:cNvSpPr>
          <p:nvPr/>
        </p:nvSpPr>
        <p:spPr bwMode="auto">
          <a:xfrm>
            <a:off x="401619" y="5862897"/>
            <a:ext cx="108908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t>Se indica:</a:t>
            </a:r>
            <a:endParaRPr lang="es-ES" altLang="es-ES" sz="1400" i="1" dirty="0"/>
          </a:p>
        </p:txBody>
      </p:sp>
      <p:grpSp>
        <p:nvGrpSpPr>
          <p:cNvPr id="4" name="Grupo 3"/>
          <p:cNvGrpSpPr/>
          <p:nvPr/>
        </p:nvGrpSpPr>
        <p:grpSpPr>
          <a:xfrm>
            <a:off x="595860" y="990600"/>
            <a:ext cx="3061740" cy="2144713"/>
            <a:chOff x="514342" y="1249362"/>
            <a:chExt cx="3061740" cy="2144713"/>
          </a:xfrm>
        </p:grpSpPr>
        <p:pic>
          <p:nvPicPr>
            <p:cNvPr id="66" name="Imagen 65"/>
            <p:cNvPicPr>
              <a:picLocks noChangeAspect="1"/>
            </p:cNvPicPr>
            <p:nvPr/>
          </p:nvPicPr>
          <p:blipFill>
            <a:blip r:embed="rId6"/>
            <a:stretch>
              <a:fillRect/>
            </a:stretch>
          </p:blipFill>
          <p:spPr>
            <a:xfrm>
              <a:off x="514342" y="1371600"/>
              <a:ext cx="2947059" cy="1491358"/>
            </a:xfrm>
            <a:prstGeom prst="rect">
              <a:avLst/>
            </a:prstGeom>
          </p:spPr>
        </p:pic>
        <p:graphicFrame>
          <p:nvGraphicFramePr>
            <p:cNvPr id="13368" name="Object 70"/>
            <p:cNvGraphicFramePr>
              <a:graphicFrameLocks noChangeAspect="1"/>
            </p:cNvGraphicFramePr>
            <p:nvPr>
              <p:extLst>
                <p:ext uri="{D42A27DB-BD31-4B8C-83A1-F6EECF244321}">
                  <p14:modId xmlns:p14="http://schemas.microsoft.com/office/powerpoint/2010/main" val="2222577216"/>
                </p:ext>
              </p:extLst>
            </p:nvPr>
          </p:nvGraphicFramePr>
          <p:xfrm>
            <a:off x="714613" y="2102991"/>
            <a:ext cx="493713" cy="293688"/>
          </p:xfrm>
          <a:graphic>
            <a:graphicData uri="http://schemas.openxmlformats.org/presentationml/2006/ole">
              <mc:AlternateContent xmlns:mc="http://schemas.openxmlformats.org/markup-compatibility/2006">
                <mc:Choice xmlns:v="urn:schemas-microsoft-com:vml" Requires="v">
                  <p:oleObj name="Equation" r:id="rId7" imgW="342751" imgH="203112" progId="Equation.DSMT4">
                    <p:embed/>
                  </p:oleObj>
                </mc:Choice>
                <mc:Fallback>
                  <p:oleObj name="Equation" r:id="rId7" imgW="342751" imgH="203112" progId="Equation.DSMT4">
                    <p:embed/>
                    <p:pic>
                      <p:nvPicPr>
                        <p:cNvPr id="13368" name="Object 7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613" y="2102991"/>
                          <a:ext cx="493713"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72" name="Line 41"/>
            <p:cNvSpPr>
              <a:spLocks noChangeShapeType="1"/>
            </p:cNvSpPr>
            <p:nvPr/>
          </p:nvSpPr>
          <p:spPr bwMode="auto">
            <a:xfrm flipV="1">
              <a:off x="2182498" y="2305746"/>
              <a:ext cx="560702" cy="8828"/>
            </a:xfrm>
            <a:prstGeom prst="line">
              <a:avLst/>
            </a:prstGeom>
            <a:noFill/>
            <a:ln w="9525">
              <a:solidFill>
                <a:schemeClr val="tx1"/>
              </a:solidFill>
              <a:prstDash val="lgDash"/>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ES"/>
            </a:p>
          </p:txBody>
        </p:sp>
        <p:graphicFrame>
          <p:nvGraphicFramePr>
            <p:cNvPr id="13373" name="Object 42"/>
            <p:cNvGraphicFramePr>
              <a:graphicFrameLocks noChangeAspect="1"/>
            </p:cNvGraphicFramePr>
            <p:nvPr>
              <p:extLst>
                <p:ext uri="{D42A27DB-BD31-4B8C-83A1-F6EECF244321}">
                  <p14:modId xmlns:p14="http://schemas.microsoft.com/office/powerpoint/2010/main" val="2312221760"/>
                </p:ext>
              </p:extLst>
            </p:nvPr>
          </p:nvGraphicFramePr>
          <p:xfrm>
            <a:off x="2399986" y="2381249"/>
            <a:ext cx="144463" cy="180975"/>
          </p:xfrm>
          <a:graphic>
            <a:graphicData uri="http://schemas.openxmlformats.org/presentationml/2006/ole">
              <mc:AlternateContent xmlns:mc="http://schemas.openxmlformats.org/markup-compatibility/2006">
                <mc:Choice xmlns:v="urn:schemas-microsoft-com:vml" Requires="v">
                  <p:oleObj name="Equation" r:id="rId9" imgW="139700" imgH="139700" progId="Equation.DSMT4">
                    <p:embed/>
                  </p:oleObj>
                </mc:Choice>
                <mc:Fallback>
                  <p:oleObj name="Equation" r:id="rId9" imgW="139700" imgH="139700" progId="Equation.DSMT4">
                    <p:embed/>
                    <p:pic>
                      <p:nvPicPr>
                        <p:cNvPr id="13373"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99986" y="2381249"/>
                          <a:ext cx="144463" cy="180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upo 2"/>
            <p:cNvGrpSpPr/>
            <p:nvPr/>
          </p:nvGrpSpPr>
          <p:grpSpPr>
            <a:xfrm>
              <a:off x="2117411" y="1249362"/>
              <a:ext cx="131763" cy="2144713"/>
              <a:chOff x="2126936" y="1373187"/>
              <a:chExt cx="131763" cy="2144713"/>
            </a:xfrm>
          </p:grpSpPr>
          <p:graphicFrame>
            <p:nvGraphicFramePr>
              <p:cNvPr id="13371" name="Object 40"/>
              <p:cNvGraphicFramePr>
                <a:graphicFrameLocks noChangeAspect="1"/>
              </p:cNvGraphicFramePr>
              <p:nvPr>
                <p:extLst>
                  <p:ext uri="{D42A27DB-BD31-4B8C-83A1-F6EECF244321}">
                    <p14:modId xmlns:p14="http://schemas.microsoft.com/office/powerpoint/2010/main" val="3676649077"/>
                  </p:ext>
                </p:extLst>
              </p:nvPr>
            </p:nvGraphicFramePr>
            <p:xfrm>
              <a:off x="2126936" y="3109912"/>
              <a:ext cx="131763" cy="407988"/>
            </p:xfrm>
            <a:graphic>
              <a:graphicData uri="http://schemas.openxmlformats.org/presentationml/2006/ole">
                <mc:AlternateContent xmlns:mc="http://schemas.openxmlformats.org/markup-compatibility/2006">
                  <mc:Choice xmlns:v="urn:schemas-microsoft-com:vml" Requires="v">
                    <p:oleObj name="Equation" r:id="rId11" imgW="126835" imgH="317087" progId="Equation.DSMT4">
                      <p:embed/>
                    </p:oleObj>
                  </mc:Choice>
                  <mc:Fallback>
                    <p:oleObj name="Equation" r:id="rId11" imgW="126835" imgH="317087" progId="Equation.DSMT4">
                      <p:embed/>
                      <p:pic>
                        <p:nvPicPr>
                          <p:cNvPr id="13371"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26936" y="3109912"/>
                            <a:ext cx="131763"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74" name="Line 43"/>
              <p:cNvSpPr>
                <a:spLocks noChangeShapeType="1"/>
              </p:cNvSpPr>
              <p:nvPr/>
            </p:nvSpPr>
            <p:spPr bwMode="auto">
              <a:xfrm>
                <a:off x="2192817" y="1373187"/>
                <a:ext cx="0" cy="1736725"/>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ES"/>
              </a:p>
            </p:txBody>
          </p:sp>
        </p:grpSp>
        <p:graphicFrame>
          <p:nvGraphicFramePr>
            <p:cNvPr id="13375" name="Object 71"/>
            <p:cNvGraphicFramePr>
              <a:graphicFrameLocks noChangeAspect="1"/>
            </p:cNvGraphicFramePr>
            <p:nvPr>
              <p:extLst>
                <p:ext uri="{D42A27DB-BD31-4B8C-83A1-F6EECF244321}">
                  <p14:modId xmlns:p14="http://schemas.microsoft.com/office/powerpoint/2010/main" val="303497027"/>
                </p:ext>
              </p:extLst>
            </p:nvPr>
          </p:nvGraphicFramePr>
          <p:xfrm>
            <a:off x="3079129" y="2889945"/>
            <a:ext cx="184150" cy="201613"/>
          </p:xfrm>
          <a:graphic>
            <a:graphicData uri="http://schemas.openxmlformats.org/presentationml/2006/ole">
              <mc:AlternateContent xmlns:mc="http://schemas.openxmlformats.org/markup-compatibility/2006">
                <mc:Choice xmlns:v="urn:schemas-microsoft-com:vml" Requires="v">
                  <p:oleObj name="Equation" r:id="rId13" imgW="126835" imgH="139518" progId="Equation.DSMT4">
                    <p:embed/>
                  </p:oleObj>
                </mc:Choice>
                <mc:Fallback>
                  <p:oleObj name="Equation" r:id="rId13" imgW="126835" imgH="139518" progId="Equation.DSMT4">
                    <p:embed/>
                    <p:pic>
                      <p:nvPicPr>
                        <p:cNvPr id="13375" name="Object 7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79129" y="2889945"/>
                          <a:ext cx="184150" cy="20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22" name="Line 90"/>
            <p:cNvSpPr>
              <a:spLocks noChangeShapeType="1"/>
            </p:cNvSpPr>
            <p:nvPr/>
          </p:nvSpPr>
          <p:spPr bwMode="auto">
            <a:xfrm rot="5400000">
              <a:off x="2533757" y="1586393"/>
              <a:ext cx="183150" cy="45069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23" name="Text Box 91"/>
            <p:cNvSpPr txBox="1">
              <a:spLocks noChangeArrowheads="1"/>
            </p:cNvSpPr>
            <p:nvPr/>
          </p:nvSpPr>
          <p:spPr bwMode="auto">
            <a:xfrm>
              <a:off x="2815670" y="1446115"/>
              <a:ext cx="7604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dirty="0"/>
                <a:t>Área=1</a:t>
              </a:r>
              <a:endParaRPr lang="es-ES" altLang="es-ES" sz="1400" dirty="0"/>
            </a:p>
          </p:txBody>
        </p:sp>
      </p:grpSp>
      <p:grpSp>
        <p:nvGrpSpPr>
          <p:cNvPr id="13324" name="18 Grupo"/>
          <p:cNvGrpSpPr>
            <a:grpSpLocks/>
          </p:cNvGrpSpPr>
          <p:nvPr/>
        </p:nvGrpSpPr>
        <p:grpSpPr bwMode="auto">
          <a:xfrm>
            <a:off x="4738688" y="2438400"/>
            <a:ext cx="2576512" cy="1916113"/>
            <a:chOff x="4738184" y="2438400"/>
            <a:chExt cx="2577016" cy="1916791"/>
          </a:xfrm>
        </p:grpSpPr>
        <p:grpSp>
          <p:nvGrpSpPr>
            <p:cNvPr id="13362" name="2 Grupo"/>
            <p:cNvGrpSpPr>
              <a:grpSpLocks/>
            </p:cNvGrpSpPr>
            <p:nvPr/>
          </p:nvGrpSpPr>
          <p:grpSpPr bwMode="auto">
            <a:xfrm>
              <a:off x="4738184" y="2438400"/>
              <a:ext cx="2577016" cy="1696202"/>
              <a:chOff x="4572000" y="3465513"/>
              <a:chExt cx="4267200" cy="2922587"/>
            </a:xfrm>
          </p:grpSpPr>
          <p:pic>
            <p:nvPicPr>
              <p:cNvPr id="13365" name="Picture 80"/>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572000" y="3465513"/>
                <a:ext cx="4267200" cy="286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66" name="Line 81"/>
              <p:cNvSpPr>
                <a:spLocks noChangeShapeType="1"/>
              </p:cNvSpPr>
              <p:nvPr/>
            </p:nvSpPr>
            <p:spPr bwMode="auto">
              <a:xfrm flipH="1">
                <a:off x="6577014" y="5172335"/>
                <a:ext cx="0" cy="1211003"/>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67" name="Line 82"/>
              <p:cNvSpPr>
                <a:spLocks noChangeShapeType="1"/>
              </p:cNvSpPr>
              <p:nvPr/>
            </p:nvSpPr>
            <p:spPr bwMode="auto">
              <a:xfrm flipH="1">
                <a:off x="6934199" y="5434923"/>
                <a:ext cx="0" cy="953177"/>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3363" name="Text Box 83"/>
            <p:cNvSpPr txBox="1">
              <a:spLocks noChangeArrowheads="1"/>
            </p:cNvSpPr>
            <p:nvPr/>
          </p:nvSpPr>
          <p:spPr bwMode="auto">
            <a:xfrm>
              <a:off x="5715000" y="4039506"/>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latin typeface="Symbol" panose="05050102010706020507" pitchFamily="18" charset="2"/>
                </a:rPr>
                <a:t>m</a:t>
              </a:r>
              <a:r>
                <a:rPr lang="es-ES_tradnl" altLang="es-ES" sz="1400" baseline="-25000"/>
                <a:t>1</a:t>
              </a:r>
              <a:endParaRPr lang="es-ES" altLang="es-ES" sz="1400" baseline="-25000"/>
            </a:p>
          </p:txBody>
        </p:sp>
        <p:sp>
          <p:nvSpPr>
            <p:cNvPr id="13364" name="Text Box 84"/>
            <p:cNvSpPr txBox="1">
              <a:spLocks noChangeArrowheads="1"/>
            </p:cNvSpPr>
            <p:nvPr/>
          </p:nvSpPr>
          <p:spPr bwMode="auto">
            <a:xfrm>
              <a:off x="5957888" y="4050391"/>
              <a:ext cx="5191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latin typeface="Symbol" panose="05050102010706020507" pitchFamily="18" charset="2"/>
                </a:rPr>
                <a:t>m</a:t>
              </a:r>
              <a:r>
                <a:rPr lang="es-ES_tradnl" altLang="es-ES" sz="1400" baseline="-25000"/>
                <a:t>2</a:t>
              </a:r>
              <a:endParaRPr lang="es-ES" altLang="es-ES" sz="1400" baseline="-25000"/>
            </a:p>
          </p:txBody>
        </p:sp>
      </p:grpSp>
      <p:sp>
        <p:nvSpPr>
          <p:cNvPr id="13325" name="Text Box 91"/>
          <p:cNvSpPr txBox="1">
            <a:spLocks noChangeArrowheads="1"/>
          </p:cNvSpPr>
          <p:nvPr/>
        </p:nvSpPr>
        <p:spPr bwMode="auto">
          <a:xfrm>
            <a:off x="167073" y="410469"/>
            <a:ext cx="31902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El modelo de distribución </a:t>
            </a:r>
            <a:r>
              <a:rPr lang="es-ES" altLang="es-ES" sz="1800" b="1" dirty="0">
                <a:solidFill>
                  <a:srgbClr val="FF0000"/>
                </a:solidFill>
              </a:rPr>
              <a:t>normal</a:t>
            </a:r>
          </a:p>
        </p:txBody>
      </p:sp>
      <p:sp>
        <p:nvSpPr>
          <p:cNvPr id="13326" name="Text Box 76"/>
          <p:cNvSpPr txBox="1">
            <a:spLocks noChangeArrowheads="1"/>
          </p:cNvSpPr>
          <p:nvPr/>
        </p:nvSpPr>
        <p:spPr bwMode="auto">
          <a:xfrm>
            <a:off x="4495800" y="4352925"/>
            <a:ext cx="43815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La probabilidad asociada a dicho modelo es </a:t>
            </a:r>
            <a:r>
              <a:rPr lang="es-ES" altLang="es-ES" sz="1300" b="1" dirty="0"/>
              <a:t>un área bajo la curva</a:t>
            </a:r>
            <a:r>
              <a:rPr lang="es-ES" altLang="es-ES" sz="1300" dirty="0"/>
              <a:t> definida por el mismo</a:t>
            </a:r>
            <a:endParaRPr lang="es-ES" altLang="es-ES" sz="1300" i="1" dirty="0"/>
          </a:p>
        </p:txBody>
      </p:sp>
      <p:pic>
        <p:nvPicPr>
          <p:cNvPr id="13327" name="Picture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49775" y="5091113"/>
            <a:ext cx="2095500" cy="1146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328" name="14 Grupo"/>
          <p:cNvGrpSpPr>
            <a:grpSpLocks/>
          </p:cNvGrpSpPr>
          <p:nvPr/>
        </p:nvGrpSpPr>
        <p:grpSpPr bwMode="auto">
          <a:xfrm>
            <a:off x="6400800" y="5018088"/>
            <a:ext cx="2568575" cy="1520825"/>
            <a:chOff x="6499576" y="3657600"/>
            <a:chExt cx="2568224" cy="1520825"/>
          </a:xfrm>
        </p:grpSpPr>
        <p:pic>
          <p:nvPicPr>
            <p:cNvPr id="13351" name="Picture 5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10647" y="3731946"/>
              <a:ext cx="2257153" cy="11448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3352" name="Object 85"/>
            <p:cNvGraphicFramePr>
              <a:graphicFrameLocks noChangeAspect="1"/>
            </p:cNvGraphicFramePr>
            <p:nvPr/>
          </p:nvGraphicFramePr>
          <p:xfrm>
            <a:off x="7562850" y="4892675"/>
            <a:ext cx="206375" cy="285750"/>
          </p:xfrm>
          <a:graphic>
            <a:graphicData uri="http://schemas.openxmlformats.org/presentationml/2006/ole">
              <mc:AlternateContent xmlns:mc="http://schemas.openxmlformats.org/markup-compatibility/2006">
                <mc:Choice xmlns:v="urn:schemas-microsoft-com:vml" Requires="v">
                  <p:oleObj name="Equation" r:id="rId18" imgW="165028" imgH="228501" progId="Equation.DSMT4">
                    <p:embed/>
                  </p:oleObj>
                </mc:Choice>
                <mc:Fallback>
                  <p:oleObj name="Equation" r:id="rId18" imgW="165028" imgH="228501" progId="Equation.DSMT4">
                    <p:embed/>
                    <p:pic>
                      <p:nvPicPr>
                        <p:cNvPr id="13352" name="Object 8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562850" y="4892675"/>
                          <a:ext cx="206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7" name="46 Conector recto"/>
            <p:cNvCxnSpPr/>
            <p:nvPr/>
          </p:nvCxnSpPr>
          <p:spPr>
            <a:xfrm>
              <a:off x="7642420" y="4103687"/>
              <a:ext cx="0" cy="8382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3354" name="Object 85"/>
            <p:cNvGraphicFramePr>
              <a:graphicFrameLocks noChangeAspect="1"/>
            </p:cNvGraphicFramePr>
            <p:nvPr/>
          </p:nvGraphicFramePr>
          <p:xfrm>
            <a:off x="8083550" y="4892675"/>
            <a:ext cx="206375" cy="285750"/>
          </p:xfrm>
          <a:graphic>
            <a:graphicData uri="http://schemas.openxmlformats.org/presentationml/2006/ole">
              <mc:AlternateContent xmlns:mc="http://schemas.openxmlformats.org/markup-compatibility/2006">
                <mc:Choice xmlns:v="urn:schemas-microsoft-com:vml" Requires="v">
                  <p:oleObj name="Equation" r:id="rId20" imgW="165028" imgH="228501" progId="Equation.DSMT4">
                    <p:embed/>
                  </p:oleObj>
                </mc:Choice>
                <mc:Fallback>
                  <p:oleObj name="Equation" r:id="rId20" imgW="165028" imgH="228501" progId="Equation.DSMT4">
                    <p:embed/>
                    <p:pic>
                      <p:nvPicPr>
                        <p:cNvPr id="13354" name="Object 8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83550" y="4892675"/>
                          <a:ext cx="20637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9" name="48 Conector recto"/>
            <p:cNvCxnSpPr/>
            <p:nvPr/>
          </p:nvCxnSpPr>
          <p:spPr>
            <a:xfrm>
              <a:off x="8166223" y="4114800"/>
              <a:ext cx="0" cy="8382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3356" name="Object 85"/>
            <p:cNvGraphicFramePr>
              <a:graphicFrameLocks noChangeAspect="1"/>
            </p:cNvGraphicFramePr>
            <p:nvPr/>
          </p:nvGraphicFramePr>
          <p:xfrm>
            <a:off x="6553200" y="3657600"/>
            <a:ext cx="963613" cy="250289"/>
          </p:xfrm>
          <a:graphic>
            <a:graphicData uri="http://schemas.openxmlformats.org/presentationml/2006/ole">
              <mc:AlternateContent xmlns:mc="http://schemas.openxmlformats.org/markup-compatibility/2006">
                <mc:Choice xmlns:v="urn:schemas-microsoft-com:vml" Requires="v">
                  <p:oleObj name="Equation" r:id="rId22" imgW="977476" imgH="253890" progId="Equation.DSMT4">
                    <p:embed/>
                  </p:oleObj>
                </mc:Choice>
                <mc:Fallback>
                  <p:oleObj name="Equation" r:id="rId22" imgW="977476" imgH="253890" progId="Equation.DSMT4">
                    <p:embed/>
                    <p:pic>
                      <p:nvPicPr>
                        <p:cNvPr id="13356" name="Object 8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553200" y="3657600"/>
                          <a:ext cx="963613" cy="250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1" name="50 Conector recto"/>
            <p:cNvCxnSpPr/>
            <p:nvPr/>
          </p:nvCxnSpPr>
          <p:spPr>
            <a:xfrm flipH="1" flipV="1">
              <a:off x="7372582" y="3968750"/>
              <a:ext cx="539676" cy="533400"/>
            </a:xfrm>
            <a:prstGeom prst="line">
              <a:avLst/>
            </a:prstGeom>
            <a:ln>
              <a:headEnd type="oval"/>
            </a:ln>
          </p:spPr>
          <p:style>
            <a:lnRef idx="1">
              <a:schemeClr val="accent1"/>
            </a:lnRef>
            <a:fillRef idx="0">
              <a:schemeClr val="accent1"/>
            </a:fillRef>
            <a:effectRef idx="0">
              <a:schemeClr val="accent1"/>
            </a:effectRef>
            <a:fontRef idx="minor">
              <a:schemeClr val="tx1"/>
            </a:fontRef>
          </p:style>
        </p:cxnSp>
        <p:graphicFrame>
          <p:nvGraphicFramePr>
            <p:cNvPr id="13358" name="Object 85"/>
            <p:cNvGraphicFramePr>
              <a:graphicFrameLocks noChangeAspect="1"/>
            </p:cNvGraphicFramePr>
            <p:nvPr/>
          </p:nvGraphicFramePr>
          <p:xfrm>
            <a:off x="6499576" y="4027336"/>
            <a:ext cx="739424" cy="273861"/>
          </p:xfrm>
          <a:graphic>
            <a:graphicData uri="http://schemas.openxmlformats.org/presentationml/2006/ole">
              <mc:AlternateContent xmlns:mc="http://schemas.openxmlformats.org/markup-compatibility/2006">
                <mc:Choice xmlns:v="urn:schemas-microsoft-com:vml" Requires="v">
                  <p:oleObj name="Equation" r:id="rId24" imgW="685800" imgH="254000" progId="Equation.DSMT4">
                    <p:embed/>
                  </p:oleObj>
                </mc:Choice>
                <mc:Fallback>
                  <p:oleObj name="Equation" r:id="rId24" imgW="685800" imgH="254000" progId="Equation.DSMT4">
                    <p:embed/>
                    <p:pic>
                      <p:nvPicPr>
                        <p:cNvPr id="13358" name="Object 8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499576" y="4027336"/>
                          <a:ext cx="739424" cy="27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4" name="53 Conector recto"/>
            <p:cNvCxnSpPr/>
            <p:nvPr/>
          </p:nvCxnSpPr>
          <p:spPr>
            <a:xfrm flipH="1" flipV="1">
              <a:off x="7010681" y="4303712"/>
              <a:ext cx="468249" cy="420688"/>
            </a:xfrm>
            <a:prstGeom prst="line">
              <a:avLst/>
            </a:prstGeom>
            <a:ln>
              <a:headEnd type="oval"/>
            </a:ln>
          </p:spPr>
          <p:style>
            <a:lnRef idx="1">
              <a:schemeClr val="accent1"/>
            </a:lnRef>
            <a:fillRef idx="0">
              <a:schemeClr val="accent1"/>
            </a:fillRef>
            <a:effectRef idx="0">
              <a:schemeClr val="accent1"/>
            </a:effectRef>
            <a:fontRef idx="minor">
              <a:schemeClr val="tx1"/>
            </a:fontRef>
          </p:style>
        </p:cxnSp>
        <p:graphicFrame>
          <p:nvGraphicFramePr>
            <p:cNvPr id="13360" name="Object 85"/>
            <p:cNvGraphicFramePr>
              <a:graphicFrameLocks noChangeAspect="1"/>
            </p:cNvGraphicFramePr>
            <p:nvPr/>
          </p:nvGraphicFramePr>
          <p:xfrm>
            <a:off x="8305800" y="3808242"/>
            <a:ext cx="739424" cy="273861"/>
          </p:xfrm>
          <a:graphic>
            <a:graphicData uri="http://schemas.openxmlformats.org/presentationml/2006/ole">
              <mc:AlternateContent xmlns:mc="http://schemas.openxmlformats.org/markup-compatibility/2006">
                <mc:Choice xmlns:v="urn:schemas-microsoft-com:vml" Requires="v">
                  <p:oleObj name="Equation" r:id="rId26" imgW="685800" imgH="254000" progId="Equation.DSMT4">
                    <p:embed/>
                  </p:oleObj>
                </mc:Choice>
                <mc:Fallback>
                  <p:oleObj name="Equation" r:id="rId26" imgW="685800" imgH="254000" progId="Equation.DSMT4">
                    <p:embed/>
                    <p:pic>
                      <p:nvPicPr>
                        <p:cNvPr id="13360" name="Object 85"/>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8305800" y="3808242"/>
                          <a:ext cx="739424" cy="273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8" name="57 Conector recto"/>
            <p:cNvCxnSpPr/>
            <p:nvPr/>
          </p:nvCxnSpPr>
          <p:spPr>
            <a:xfrm flipV="1">
              <a:off x="8332888" y="4095750"/>
              <a:ext cx="353964" cy="592137"/>
            </a:xfrm>
            <a:prstGeom prst="line">
              <a:avLst/>
            </a:prstGeom>
            <a:ln>
              <a:headEnd type="oval"/>
            </a:ln>
          </p:spPr>
          <p:style>
            <a:lnRef idx="1">
              <a:schemeClr val="accent1"/>
            </a:lnRef>
            <a:fillRef idx="0">
              <a:schemeClr val="accent1"/>
            </a:fillRef>
            <a:effectRef idx="0">
              <a:schemeClr val="accent1"/>
            </a:effectRef>
            <a:fontRef idx="minor">
              <a:schemeClr val="tx1"/>
            </a:fontRef>
          </p:style>
        </p:cxnSp>
      </p:grpSp>
      <p:sp>
        <p:nvSpPr>
          <p:cNvPr id="13329" name="Line 82"/>
          <p:cNvSpPr>
            <a:spLocks noChangeShapeType="1"/>
          </p:cNvSpPr>
          <p:nvPr/>
        </p:nvSpPr>
        <p:spPr bwMode="auto">
          <a:xfrm flipH="1">
            <a:off x="5951538" y="3505200"/>
            <a:ext cx="296862" cy="0"/>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0" name="Line 82"/>
          <p:cNvSpPr>
            <a:spLocks noChangeShapeType="1"/>
          </p:cNvSpPr>
          <p:nvPr/>
        </p:nvSpPr>
        <p:spPr bwMode="auto">
          <a:xfrm rot="5400000">
            <a:off x="6366669" y="3452019"/>
            <a:ext cx="0" cy="411162"/>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1" name="Line 82"/>
          <p:cNvSpPr>
            <a:spLocks noChangeShapeType="1"/>
          </p:cNvSpPr>
          <p:nvPr/>
        </p:nvSpPr>
        <p:spPr bwMode="auto">
          <a:xfrm flipH="1">
            <a:off x="6161088" y="2917825"/>
            <a:ext cx="0" cy="225425"/>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3332" name="Line 81"/>
          <p:cNvSpPr>
            <a:spLocks noChangeShapeType="1"/>
          </p:cNvSpPr>
          <p:nvPr/>
        </p:nvSpPr>
        <p:spPr bwMode="auto">
          <a:xfrm flipH="1">
            <a:off x="5948363" y="2438400"/>
            <a:ext cx="0" cy="304800"/>
          </a:xfrm>
          <a:prstGeom prst="line">
            <a:avLst/>
          </a:prstGeom>
          <a:noFill/>
          <a:ln w="9525">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3333" name="Object 85"/>
          <p:cNvGraphicFramePr>
            <a:graphicFrameLocks noChangeAspect="1"/>
          </p:cNvGraphicFramePr>
          <p:nvPr/>
        </p:nvGraphicFramePr>
        <p:xfrm>
          <a:off x="5997575" y="3308350"/>
          <a:ext cx="185738" cy="239713"/>
        </p:xfrm>
        <a:graphic>
          <a:graphicData uri="http://schemas.openxmlformats.org/presentationml/2006/ole">
            <mc:AlternateContent xmlns:mc="http://schemas.openxmlformats.org/markup-compatibility/2006">
              <mc:Choice xmlns:v="urn:schemas-microsoft-com:vml" Requires="v">
                <p:oleObj name="Equation" r:id="rId28" imgW="177646" imgH="228402" progId="Equation.DSMT4">
                  <p:embed/>
                </p:oleObj>
              </mc:Choice>
              <mc:Fallback>
                <p:oleObj name="Equation" r:id="rId28" imgW="177646" imgH="228402" progId="Equation.DSMT4">
                  <p:embed/>
                  <p:pic>
                    <p:nvPicPr>
                      <p:cNvPr id="13333" name="Object 8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997575" y="3308350"/>
                        <a:ext cx="185738"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34" name="Object 85"/>
          <p:cNvGraphicFramePr>
            <a:graphicFrameLocks noChangeAspect="1"/>
          </p:cNvGraphicFramePr>
          <p:nvPr/>
        </p:nvGraphicFramePr>
        <p:xfrm>
          <a:off x="6294438" y="3444875"/>
          <a:ext cx="198437" cy="239713"/>
        </p:xfrm>
        <a:graphic>
          <a:graphicData uri="http://schemas.openxmlformats.org/presentationml/2006/ole">
            <mc:AlternateContent xmlns:mc="http://schemas.openxmlformats.org/markup-compatibility/2006">
              <mc:Choice xmlns:v="urn:schemas-microsoft-com:vml" Requires="v">
                <p:oleObj name="Equation" r:id="rId30" imgW="190500" imgH="228600" progId="Equation.DSMT4">
                  <p:embed/>
                </p:oleObj>
              </mc:Choice>
              <mc:Fallback>
                <p:oleObj name="Equation" r:id="rId30" imgW="190500" imgH="228600" progId="Equation.DSMT4">
                  <p:embed/>
                  <p:pic>
                    <p:nvPicPr>
                      <p:cNvPr id="13334" name="Object 85"/>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294438" y="3444875"/>
                        <a:ext cx="198437" cy="2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335" name="Group 64"/>
          <p:cNvGrpSpPr>
            <a:grpSpLocks/>
          </p:cNvGrpSpPr>
          <p:nvPr/>
        </p:nvGrpSpPr>
        <p:grpSpPr bwMode="auto">
          <a:xfrm>
            <a:off x="595313" y="4840421"/>
            <a:ext cx="3140075" cy="815975"/>
            <a:chOff x="566" y="3072"/>
            <a:chExt cx="1978" cy="514"/>
          </a:xfrm>
        </p:grpSpPr>
        <p:sp>
          <p:nvSpPr>
            <p:cNvPr id="13347" name="Text Box 87"/>
            <p:cNvSpPr txBox="1">
              <a:spLocks noChangeArrowheads="1"/>
            </p:cNvSpPr>
            <p:nvPr/>
          </p:nvSpPr>
          <p:spPr bwMode="auto">
            <a:xfrm>
              <a:off x="700" y="3072"/>
              <a:ext cx="1844" cy="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Symbol" panose="05050102010706020507" pitchFamily="18" charset="2"/>
                <a:buNone/>
              </a:pPr>
              <a:r>
                <a:rPr lang="es-ES" altLang="es-ES" sz="1400" dirty="0"/>
                <a:t>→ Media</a:t>
              </a:r>
              <a:r>
                <a:rPr lang="es-ES" altLang="es-ES" sz="1400" baseline="30000" dirty="0"/>
                <a:t>*</a:t>
              </a:r>
              <a:r>
                <a:rPr lang="es-ES" altLang="es-ES" sz="1400" dirty="0"/>
                <a:t> de la variable aleatoria </a:t>
              </a:r>
              <a:r>
                <a:rPr lang="es-ES" altLang="es-ES" sz="1400" i="1" dirty="0">
                  <a:latin typeface="Times New Roman" panose="02020603050405020304" pitchFamily="18" charset="0"/>
                </a:rPr>
                <a:t>X</a:t>
              </a:r>
            </a:p>
            <a:p>
              <a:pPr eaLnBrk="1" hangingPunct="1">
                <a:lnSpc>
                  <a:spcPct val="120000"/>
                </a:lnSpc>
                <a:buFont typeface="Symbol" panose="05050102010706020507" pitchFamily="18" charset="2"/>
                <a:buNone/>
              </a:pPr>
              <a:r>
                <a:rPr lang="es-ES" altLang="es-ES" sz="1400" dirty="0"/>
                <a:t>→ Desviación típica de </a:t>
              </a:r>
              <a:r>
                <a:rPr lang="es-ES" altLang="es-ES" sz="1400" i="1" dirty="0">
                  <a:latin typeface="Times New Roman" panose="02020603050405020304" pitchFamily="18" charset="0"/>
                </a:rPr>
                <a:t>X </a:t>
              </a:r>
            </a:p>
            <a:p>
              <a:pPr eaLnBrk="1" hangingPunct="1">
                <a:lnSpc>
                  <a:spcPct val="120000"/>
                </a:lnSpc>
                <a:buFont typeface="Symbol" panose="05050102010706020507" pitchFamily="18" charset="2"/>
                <a:buNone/>
              </a:pPr>
              <a:r>
                <a:rPr lang="es-ES_tradnl" altLang="es-ES" sz="1400" dirty="0"/>
                <a:t>→ Varianza de </a:t>
              </a:r>
              <a:r>
                <a:rPr lang="es-ES_tradnl" altLang="es-ES" sz="1400" i="1" dirty="0">
                  <a:latin typeface="Times New Roman" panose="02020603050405020304" pitchFamily="18" charset="0"/>
                </a:rPr>
                <a:t>X </a:t>
              </a:r>
              <a:endParaRPr lang="es-ES" altLang="es-ES" sz="1400" i="1" dirty="0">
                <a:latin typeface="Times New Roman" panose="02020603050405020304" pitchFamily="18" charset="0"/>
              </a:endParaRPr>
            </a:p>
          </p:txBody>
        </p:sp>
        <p:graphicFrame>
          <p:nvGraphicFramePr>
            <p:cNvPr id="13348" name="Object 85"/>
            <p:cNvGraphicFramePr>
              <a:graphicFrameLocks noChangeAspect="1"/>
            </p:cNvGraphicFramePr>
            <p:nvPr/>
          </p:nvGraphicFramePr>
          <p:xfrm>
            <a:off x="600" y="3120"/>
            <a:ext cx="100" cy="130"/>
          </p:xfrm>
          <a:graphic>
            <a:graphicData uri="http://schemas.openxmlformats.org/presentationml/2006/ole">
              <mc:AlternateContent xmlns:mc="http://schemas.openxmlformats.org/markup-compatibility/2006">
                <mc:Choice xmlns:v="urn:schemas-microsoft-com:vml" Requires="v">
                  <p:oleObj name="Equation" r:id="rId32" imgW="126780" imgH="164814" progId="Equation.DSMT4">
                    <p:embed/>
                  </p:oleObj>
                </mc:Choice>
                <mc:Fallback>
                  <p:oleObj name="Equation" r:id="rId32" imgW="126780" imgH="164814" progId="Equation.DSMT4">
                    <p:embed/>
                    <p:pic>
                      <p:nvPicPr>
                        <p:cNvPr id="13348" name="Object 8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00" y="3120"/>
                          <a:ext cx="10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49" name="Object 85"/>
            <p:cNvGraphicFramePr>
              <a:graphicFrameLocks noChangeAspect="1"/>
            </p:cNvGraphicFramePr>
            <p:nvPr>
              <p:extLst>
                <p:ext uri="{D42A27DB-BD31-4B8C-83A1-F6EECF244321}">
                  <p14:modId xmlns:p14="http://schemas.microsoft.com/office/powerpoint/2010/main" val="2724702336"/>
                </p:ext>
              </p:extLst>
            </p:nvPr>
          </p:nvGraphicFramePr>
          <p:xfrm>
            <a:off x="566" y="3382"/>
            <a:ext cx="169" cy="180"/>
          </p:xfrm>
          <a:graphic>
            <a:graphicData uri="http://schemas.openxmlformats.org/presentationml/2006/ole">
              <mc:AlternateContent xmlns:mc="http://schemas.openxmlformats.org/markup-compatibility/2006">
                <mc:Choice xmlns:v="urn:schemas-microsoft-com:vml" Requires="v">
                  <p:oleObj name="Equation" r:id="rId34" imgW="215640" imgH="228600" progId="Equation.DSMT4">
                    <p:embed/>
                  </p:oleObj>
                </mc:Choice>
                <mc:Fallback>
                  <p:oleObj name="Equation" r:id="rId34" imgW="215640" imgH="228600" progId="Equation.DSMT4">
                    <p:embed/>
                    <p:pic>
                      <p:nvPicPr>
                        <p:cNvPr id="13349" name="Object 85"/>
                        <p:cNvPicPr>
                          <a:picLocks noChangeAspect="1" noChangeArrowheads="1"/>
                        </p:cNvPicPr>
                        <p:nvPr/>
                      </p:nvPicPr>
                      <p:blipFill>
                        <a:blip r:embed="rId35"/>
                        <a:srcRect/>
                        <a:stretch>
                          <a:fillRect/>
                        </a:stretch>
                      </p:blipFill>
                      <p:spPr bwMode="auto">
                        <a:xfrm>
                          <a:off x="566" y="3382"/>
                          <a:ext cx="169"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50" name="Object 85"/>
            <p:cNvGraphicFramePr>
              <a:graphicFrameLocks noChangeAspect="1"/>
            </p:cNvGraphicFramePr>
            <p:nvPr/>
          </p:nvGraphicFramePr>
          <p:xfrm>
            <a:off x="595" y="3264"/>
            <a:ext cx="110" cy="110"/>
          </p:xfrm>
          <a:graphic>
            <a:graphicData uri="http://schemas.openxmlformats.org/presentationml/2006/ole">
              <mc:AlternateContent xmlns:mc="http://schemas.openxmlformats.org/markup-compatibility/2006">
                <mc:Choice xmlns:v="urn:schemas-microsoft-com:vml" Requires="v">
                  <p:oleObj name="Equation" r:id="rId36" imgW="139700" imgH="139700" progId="Equation.DSMT4">
                    <p:embed/>
                  </p:oleObj>
                </mc:Choice>
                <mc:Fallback>
                  <p:oleObj name="Equation" r:id="rId36" imgW="139700" imgH="139700" progId="Equation.DSMT4">
                    <p:embed/>
                    <p:pic>
                      <p:nvPicPr>
                        <p:cNvPr id="13350" name="Object 8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95" y="3264"/>
                          <a:ext cx="110"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336" name="Group 77"/>
          <p:cNvGrpSpPr>
            <a:grpSpLocks/>
          </p:cNvGrpSpPr>
          <p:nvPr/>
        </p:nvGrpSpPr>
        <p:grpSpPr bwMode="auto">
          <a:xfrm>
            <a:off x="4495800" y="5181600"/>
            <a:ext cx="1008063" cy="1357313"/>
            <a:chOff x="2832" y="3264"/>
            <a:chExt cx="635" cy="855"/>
          </a:xfrm>
        </p:grpSpPr>
        <p:graphicFrame>
          <p:nvGraphicFramePr>
            <p:cNvPr id="13343" name="Object 85"/>
            <p:cNvGraphicFramePr>
              <a:graphicFrameLocks noChangeAspect="1"/>
            </p:cNvGraphicFramePr>
            <p:nvPr/>
          </p:nvGraphicFramePr>
          <p:xfrm>
            <a:off x="3337" y="3939"/>
            <a:ext cx="130" cy="180"/>
          </p:xfrm>
          <a:graphic>
            <a:graphicData uri="http://schemas.openxmlformats.org/presentationml/2006/ole">
              <mc:AlternateContent xmlns:mc="http://schemas.openxmlformats.org/markup-compatibility/2006">
                <mc:Choice xmlns:v="urn:schemas-microsoft-com:vml" Requires="v">
                  <p:oleObj name="Equation" r:id="rId38" imgW="165028" imgH="228501" progId="Equation.DSMT4">
                    <p:embed/>
                  </p:oleObj>
                </mc:Choice>
                <mc:Fallback>
                  <p:oleObj name="Equation" r:id="rId38" imgW="165028" imgH="228501" progId="Equation.DSMT4">
                    <p:embed/>
                    <p:pic>
                      <p:nvPicPr>
                        <p:cNvPr id="13343" name="Object 85"/>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3337" y="3939"/>
                          <a:ext cx="13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 name="4 Conector recto"/>
            <p:cNvCxnSpPr/>
            <p:nvPr/>
          </p:nvCxnSpPr>
          <p:spPr>
            <a:xfrm>
              <a:off x="3386" y="3436"/>
              <a:ext cx="0" cy="52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38 Conector recto"/>
            <p:cNvCxnSpPr/>
            <p:nvPr/>
          </p:nvCxnSpPr>
          <p:spPr>
            <a:xfrm flipH="1" flipV="1">
              <a:off x="3088" y="3428"/>
              <a:ext cx="200" cy="357"/>
            </a:xfrm>
            <a:prstGeom prst="line">
              <a:avLst/>
            </a:prstGeom>
            <a:ln>
              <a:headEnd type="oval"/>
            </a:ln>
          </p:spPr>
          <p:style>
            <a:lnRef idx="1">
              <a:schemeClr val="accent1"/>
            </a:lnRef>
            <a:fillRef idx="0">
              <a:schemeClr val="accent1"/>
            </a:fillRef>
            <a:effectRef idx="0">
              <a:schemeClr val="accent1"/>
            </a:effectRef>
            <a:fontRef idx="minor">
              <a:schemeClr val="tx1"/>
            </a:fontRef>
          </p:style>
        </p:cxnSp>
        <p:graphicFrame>
          <p:nvGraphicFramePr>
            <p:cNvPr id="13346" name="Object 85"/>
            <p:cNvGraphicFramePr>
              <a:graphicFrameLocks noChangeAspect="1"/>
            </p:cNvGraphicFramePr>
            <p:nvPr/>
          </p:nvGraphicFramePr>
          <p:xfrm>
            <a:off x="2832" y="3264"/>
            <a:ext cx="466" cy="172"/>
          </p:xfrm>
          <a:graphic>
            <a:graphicData uri="http://schemas.openxmlformats.org/presentationml/2006/ole">
              <mc:AlternateContent xmlns:mc="http://schemas.openxmlformats.org/markup-compatibility/2006">
                <mc:Choice xmlns:v="urn:schemas-microsoft-com:vml" Requires="v">
                  <p:oleObj name="Equation" r:id="rId40" imgW="685800" imgH="254000" progId="Equation.DSMT4">
                    <p:embed/>
                  </p:oleObj>
                </mc:Choice>
                <mc:Fallback>
                  <p:oleObj name="Equation" r:id="rId40" imgW="685800" imgH="254000" progId="Equation.DSMT4">
                    <p:embed/>
                    <p:pic>
                      <p:nvPicPr>
                        <p:cNvPr id="13346" name="Object 8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32" y="3264"/>
                          <a:ext cx="46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3337" name="Group 83"/>
          <p:cNvGrpSpPr>
            <a:grpSpLocks/>
          </p:cNvGrpSpPr>
          <p:nvPr/>
        </p:nvGrpSpPr>
        <p:grpSpPr bwMode="auto">
          <a:xfrm>
            <a:off x="6553200" y="2590800"/>
            <a:ext cx="2514600" cy="787400"/>
            <a:chOff x="4128" y="1632"/>
            <a:chExt cx="1392" cy="496"/>
          </a:xfrm>
        </p:grpSpPr>
        <p:sp>
          <p:nvSpPr>
            <p:cNvPr id="13339" name="Text Box 78"/>
            <p:cNvSpPr txBox="1">
              <a:spLocks noChangeArrowheads="1"/>
            </p:cNvSpPr>
            <p:nvPr/>
          </p:nvSpPr>
          <p:spPr bwMode="auto">
            <a:xfrm>
              <a:off x="4201" y="1632"/>
              <a:ext cx="1319"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 typeface="Symbol" panose="05050102010706020507" pitchFamily="18" charset="2"/>
                <a:buNone/>
              </a:pPr>
              <a:r>
                <a:rPr lang="es-ES" altLang="es-ES" sz="1400" dirty="0"/>
                <a:t>→  </a:t>
              </a:r>
              <a:r>
                <a:rPr lang="es-ES" altLang="es-ES" sz="1200" dirty="0"/>
                <a:t>parámetro de posición</a:t>
              </a:r>
            </a:p>
            <a:p>
              <a:pPr eaLnBrk="1" hangingPunct="1">
                <a:lnSpc>
                  <a:spcPct val="120000"/>
                </a:lnSpc>
                <a:buFont typeface="Symbol" panose="05050102010706020507" pitchFamily="18" charset="2"/>
                <a:buNone/>
              </a:pPr>
              <a:r>
                <a:rPr lang="es-ES" altLang="es-ES" sz="1400" dirty="0"/>
                <a:t>→  </a:t>
              </a:r>
              <a:r>
                <a:rPr lang="es-ES" altLang="es-ES" sz="1200" dirty="0"/>
                <a:t>parámetro de dispersión</a:t>
              </a:r>
            </a:p>
          </p:txBody>
        </p:sp>
        <p:sp>
          <p:nvSpPr>
            <p:cNvPr id="13340" name="16 Rectángulo"/>
            <p:cNvSpPr>
              <a:spLocks noChangeArrowheads="1"/>
            </p:cNvSpPr>
            <p:nvPr/>
          </p:nvSpPr>
          <p:spPr bwMode="auto">
            <a:xfrm>
              <a:off x="4347" y="1920"/>
              <a:ext cx="96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buFont typeface="Symbol" panose="05050102010706020507" pitchFamily="18" charset="2"/>
                <a:buNone/>
              </a:pPr>
              <a:r>
                <a:rPr lang="es-ES" altLang="es-ES" sz="1200" dirty="0"/>
                <a:t>(=amplitud de la curva)</a:t>
              </a:r>
            </a:p>
          </p:txBody>
        </p:sp>
        <p:graphicFrame>
          <p:nvGraphicFramePr>
            <p:cNvPr id="13341" name="Object 85"/>
            <p:cNvGraphicFramePr>
              <a:graphicFrameLocks noChangeAspect="1"/>
            </p:cNvGraphicFramePr>
            <p:nvPr/>
          </p:nvGraphicFramePr>
          <p:xfrm>
            <a:off x="4128" y="1680"/>
            <a:ext cx="100" cy="130"/>
          </p:xfrm>
          <a:graphic>
            <a:graphicData uri="http://schemas.openxmlformats.org/presentationml/2006/ole">
              <mc:AlternateContent xmlns:mc="http://schemas.openxmlformats.org/markup-compatibility/2006">
                <mc:Choice xmlns:v="urn:schemas-microsoft-com:vml" Requires="v">
                  <p:oleObj name="Equation" r:id="rId41" imgW="126780" imgH="164814" progId="Equation.DSMT4">
                    <p:embed/>
                  </p:oleObj>
                </mc:Choice>
                <mc:Fallback>
                  <p:oleObj name="Equation" r:id="rId41" imgW="126780" imgH="164814" progId="Equation.DSMT4">
                    <p:embed/>
                    <p:pic>
                      <p:nvPicPr>
                        <p:cNvPr id="13341" name="Object 85"/>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128" y="1680"/>
                          <a:ext cx="10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42" name="Object 85"/>
            <p:cNvGraphicFramePr>
              <a:graphicFrameLocks noChangeAspect="1"/>
            </p:cNvGraphicFramePr>
            <p:nvPr/>
          </p:nvGraphicFramePr>
          <p:xfrm>
            <a:off x="4128" y="1842"/>
            <a:ext cx="110" cy="110"/>
          </p:xfrm>
          <a:graphic>
            <a:graphicData uri="http://schemas.openxmlformats.org/presentationml/2006/ole">
              <mc:AlternateContent xmlns:mc="http://schemas.openxmlformats.org/markup-compatibility/2006">
                <mc:Choice xmlns:v="urn:schemas-microsoft-com:vml" Requires="v">
                  <p:oleObj name="Equation" r:id="rId42" imgW="139700" imgH="139700" progId="Equation.DSMT4">
                    <p:embed/>
                  </p:oleObj>
                </mc:Choice>
                <mc:Fallback>
                  <p:oleObj name="Equation" r:id="rId42" imgW="139700" imgH="139700" progId="Equation.DSMT4">
                    <p:embed/>
                    <p:pic>
                      <p:nvPicPr>
                        <p:cNvPr id="13342" name="Object 8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128" y="1842"/>
                          <a:ext cx="110"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3338" name="4 Rectángulo"/>
          <p:cNvSpPr>
            <a:spLocks noChangeArrowheads="1"/>
          </p:cNvSpPr>
          <p:nvPr/>
        </p:nvSpPr>
        <p:spPr bwMode="auto">
          <a:xfrm>
            <a:off x="167072" y="38100"/>
            <a:ext cx="5141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600" b="1" dirty="0"/>
              <a:t>Modelos de distribución de probabilidad de VAC</a:t>
            </a:r>
          </a:p>
        </p:txBody>
      </p:sp>
    </p:spTree>
    <p:extLst>
      <p:ext uri="{BB962C8B-B14F-4D97-AF65-F5344CB8AC3E}">
        <p14:creationId xmlns:p14="http://schemas.microsoft.com/office/powerpoint/2010/main" val="2023362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58" name="Group 60"/>
          <p:cNvGrpSpPr>
            <a:grpSpLocks/>
          </p:cNvGrpSpPr>
          <p:nvPr/>
        </p:nvGrpSpPr>
        <p:grpSpPr bwMode="auto">
          <a:xfrm>
            <a:off x="2603500" y="3914775"/>
            <a:ext cx="2282825" cy="2362200"/>
            <a:chOff x="816" y="2112"/>
            <a:chExt cx="1534" cy="1656"/>
          </a:xfrm>
        </p:grpSpPr>
        <p:grpSp>
          <p:nvGrpSpPr>
            <p:cNvPr id="14359" name="Group 61"/>
            <p:cNvGrpSpPr>
              <a:grpSpLocks/>
            </p:cNvGrpSpPr>
            <p:nvPr/>
          </p:nvGrpSpPr>
          <p:grpSpPr bwMode="auto">
            <a:xfrm>
              <a:off x="1440" y="2433"/>
              <a:ext cx="286" cy="1023"/>
              <a:chOff x="1440" y="2433"/>
              <a:chExt cx="286" cy="1043"/>
            </a:xfrm>
          </p:grpSpPr>
          <p:sp>
            <p:nvSpPr>
              <p:cNvPr id="14381" name="Line 36"/>
              <p:cNvSpPr>
                <a:spLocks noChangeShapeType="1"/>
              </p:cNvSpPr>
              <p:nvPr/>
            </p:nvSpPr>
            <p:spPr bwMode="auto">
              <a:xfrm>
                <a:off x="1440" y="2433"/>
                <a:ext cx="0" cy="10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82" name="Line 37"/>
              <p:cNvSpPr>
                <a:spLocks noChangeShapeType="1"/>
              </p:cNvSpPr>
              <p:nvPr/>
            </p:nvSpPr>
            <p:spPr bwMode="auto">
              <a:xfrm>
                <a:off x="1726" y="2433"/>
                <a:ext cx="0" cy="10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4360" name="Group 64"/>
            <p:cNvGrpSpPr>
              <a:grpSpLocks/>
            </p:cNvGrpSpPr>
            <p:nvPr/>
          </p:nvGrpSpPr>
          <p:grpSpPr bwMode="auto">
            <a:xfrm>
              <a:off x="1106" y="2232"/>
              <a:ext cx="954" cy="1416"/>
              <a:chOff x="1106" y="2232"/>
              <a:chExt cx="954" cy="1605"/>
            </a:xfrm>
          </p:grpSpPr>
          <p:sp>
            <p:nvSpPr>
              <p:cNvPr id="14379" name="Line 39"/>
              <p:cNvSpPr>
                <a:spLocks noChangeShapeType="1"/>
              </p:cNvSpPr>
              <p:nvPr/>
            </p:nvSpPr>
            <p:spPr bwMode="auto">
              <a:xfrm>
                <a:off x="1106" y="2232"/>
                <a:ext cx="0" cy="16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80" name="Line 40"/>
              <p:cNvSpPr>
                <a:spLocks noChangeShapeType="1"/>
              </p:cNvSpPr>
              <p:nvPr/>
            </p:nvSpPr>
            <p:spPr bwMode="auto">
              <a:xfrm>
                <a:off x="2060" y="2232"/>
                <a:ext cx="0" cy="16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4361" name="Group 67"/>
            <p:cNvGrpSpPr>
              <a:grpSpLocks/>
            </p:cNvGrpSpPr>
            <p:nvPr/>
          </p:nvGrpSpPr>
          <p:grpSpPr bwMode="auto">
            <a:xfrm>
              <a:off x="1280" y="2272"/>
              <a:ext cx="606" cy="1280"/>
              <a:chOff x="1280" y="2272"/>
              <a:chExt cx="606" cy="1325"/>
            </a:xfrm>
          </p:grpSpPr>
          <p:sp>
            <p:nvSpPr>
              <p:cNvPr id="14377" name="Line 42"/>
              <p:cNvSpPr>
                <a:spLocks noChangeShapeType="1"/>
              </p:cNvSpPr>
              <p:nvPr/>
            </p:nvSpPr>
            <p:spPr bwMode="auto">
              <a:xfrm>
                <a:off x="1280" y="2272"/>
                <a:ext cx="0" cy="1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78" name="Line 43"/>
              <p:cNvSpPr>
                <a:spLocks noChangeShapeType="1"/>
              </p:cNvSpPr>
              <p:nvPr/>
            </p:nvSpPr>
            <p:spPr bwMode="auto">
              <a:xfrm>
                <a:off x="1886" y="2272"/>
                <a:ext cx="0" cy="1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aphicFrame>
          <p:nvGraphicFramePr>
            <p:cNvPr id="14362" name="Object 44"/>
            <p:cNvGraphicFramePr>
              <a:graphicFrameLocks noChangeAspect="1"/>
            </p:cNvGraphicFramePr>
            <p:nvPr/>
          </p:nvGraphicFramePr>
          <p:xfrm>
            <a:off x="959" y="2513"/>
            <a:ext cx="1248" cy="828"/>
          </p:xfrm>
          <a:graphic>
            <a:graphicData uri="http://schemas.openxmlformats.org/presentationml/2006/ole">
              <mc:AlternateContent xmlns:mc="http://schemas.openxmlformats.org/markup-compatibility/2006">
                <mc:Choice xmlns:v="urn:schemas-microsoft-com:vml" Requires="v">
                  <p:oleObj name="CorelDRAW" r:id="rId2" imgW="3124200" imgH="1847850" progId="CorelDraw.Graphic.8">
                    <p:embed/>
                  </p:oleObj>
                </mc:Choice>
                <mc:Fallback>
                  <p:oleObj name="CorelDRAW" r:id="rId2" imgW="3124200" imgH="1847850" progId="CorelDraw.Graphic.8">
                    <p:embed/>
                    <p:pic>
                      <p:nvPicPr>
                        <p:cNvPr id="14362" name="Object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 y="2513"/>
                          <a:ext cx="1248" cy="8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63" name="Line 45"/>
            <p:cNvSpPr>
              <a:spLocks noChangeShapeType="1"/>
            </p:cNvSpPr>
            <p:nvPr/>
          </p:nvSpPr>
          <p:spPr bwMode="auto">
            <a:xfrm>
              <a:off x="816" y="3332"/>
              <a:ext cx="15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4364" name="Object 52"/>
            <p:cNvGraphicFramePr>
              <a:graphicFrameLocks noChangeAspect="1"/>
            </p:cNvGraphicFramePr>
            <p:nvPr/>
          </p:nvGraphicFramePr>
          <p:xfrm>
            <a:off x="1448" y="2353"/>
            <a:ext cx="270" cy="120"/>
          </p:xfrm>
          <a:graphic>
            <a:graphicData uri="http://schemas.openxmlformats.org/presentationml/2006/ole">
              <mc:AlternateContent xmlns:mc="http://schemas.openxmlformats.org/markup-compatibility/2006">
                <mc:Choice xmlns:v="urn:schemas-microsoft-com:vml" Requires="v">
                  <p:oleObj name="Equation" r:id="rId4" imgW="444114" imgH="177646" progId="Equation.DSMT4">
                    <p:embed/>
                  </p:oleObj>
                </mc:Choice>
                <mc:Fallback>
                  <p:oleObj name="Equation" r:id="rId4" imgW="444114" imgH="177646" progId="Equation.DSMT4">
                    <p:embed/>
                    <p:pic>
                      <p:nvPicPr>
                        <p:cNvPr id="14364" name="Object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8" y="2353"/>
                          <a:ext cx="270"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65" name="Object 53"/>
            <p:cNvGraphicFramePr>
              <a:graphicFrameLocks noChangeAspect="1"/>
            </p:cNvGraphicFramePr>
            <p:nvPr/>
          </p:nvGraphicFramePr>
          <p:xfrm>
            <a:off x="1448" y="2232"/>
            <a:ext cx="270" cy="121"/>
          </p:xfrm>
          <a:graphic>
            <a:graphicData uri="http://schemas.openxmlformats.org/presentationml/2006/ole">
              <mc:AlternateContent xmlns:mc="http://schemas.openxmlformats.org/markup-compatibility/2006">
                <mc:Choice xmlns:v="urn:schemas-microsoft-com:vml" Requires="v">
                  <p:oleObj name="Equation" r:id="rId6" imgW="444114" imgH="177646" progId="Equation.DSMT4">
                    <p:embed/>
                  </p:oleObj>
                </mc:Choice>
                <mc:Fallback>
                  <p:oleObj name="Equation" r:id="rId6" imgW="444114" imgH="177646" progId="Equation.DSMT4">
                    <p:embed/>
                    <p:pic>
                      <p:nvPicPr>
                        <p:cNvPr id="14365"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8" y="2232"/>
                          <a:ext cx="270" cy="1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66" name="Object 54"/>
            <p:cNvGraphicFramePr>
              <a:graphicFrameLocks noChangeAspect="1"/>
            </p:cNvGraphicFramePr>
            <p:nvPr/>
          </p:nvGraphicFramePr>
          <p:xfrm>
            <a:off x="1428" y="2112"/>
            <a:ext cx="309" cy="120"/>
          </p:xfrm>
          <a:graphic>
            <a:graphicData uri="http://schemas.openxmlformats.org/presentationml/2006/ole">
              <mc:AlternateContent xmlns:mc="http://schemas.openxmlformats.org/markup-compatibility/2006">
                <mc:Choice xmlns:v="urn:schemas-microsoft-com:vml" Requires="v">
                  <p:oleObj name="Equation" r:id="rId8" imgW="507780" imgH="177723" progId="Equation.DSMT4">
                    <p:embed/>
                  </p:oleObj>
                </mc:Choice>
                <mc:Fallback>
                  <p:oleObj name="Equation" r:id="rId8" imgW="507780" imgH="177723" progId="Equation.DSMT4">
                    <p:embed/>
                    <p:pic>
                      <p:nvPicPr>
                        <p:cNvPr id="14366" name="Object 5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 y="2112"/>
                          <a:ext cx="309"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67" name="Line 55"/>
            <p:cNvSpPr>
              <a:spLocks noChangeShapeType="1"/>
            </p:cNvSpPr>
            <p:nvPr/>
          </p:nvSpPr>
          <p:spPr bwMode="auto">
            <a:xfrm>
              <a:off x="1440" y="2473"/>
              <a:ext cx="28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68" name="Line 56"/>
            <p:cNvSpPr>
              <a:spLocks noChangeShapeType="1"/>
            </p:cNvSpPr>
            <p:nvPr/>
          </p:nvSpPr>
          <p:spPr bwMode="auto">
            <a:xfrm>
              <a:off x="1280" y="2353"/>
              <a:ext cx="60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69" name="Line 57"/>
            <p:cNvSpPr>
              <a:spLocks noChangeShapeType="1"/>
            </p:cNvSpPr>
            <p:nvPr/>
          </p:nvSpPr>
          <p:spPr bwMode="auto">
            <a:xfrm>
              <a:off x="1119" y="2232"/>
              <a:ext cx="92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4370" name="Object 52"/>
            <p:cNvGraphicFramePr>
              <a:graphicFrameLocks noChangeAspect="1"/>
            </p:cNvGraphicFramePr>
            <p:nvPr/>
          </p:nvGraphicFramePr>
          <p:xfrm>
            <a:off x="1382" y="3456"/>
            <a:ext cx="116" cy="111"/>
          </p:xfrm>
          <a:graphic>
            <a:graphicData uri="http://schemas.openxmlformats.org/presentationml/2006/ole">
              <mc:AlternateContent xmlns:mc="http://schemas.openxmlformats.org/markup-compatibility/2006">
                <mc:Choice xmlns:v="urn:schemas-microsoft-com:vml" Requires="v">
                  <p:oleObj name="Equation" r:id="rId10" imgW="190335" imgH="164957" progId="Equation.DSMT4">
                    <p:embed/>
                  </p:oleObj>
                </mc:Choice>
                <mc:Fallback>
                  <p:oleObj name="Equation" r:id="rId10" imgW="190335" imgH="164957" progId="Equation.DSMT4">
                    <p:embed/>
                    <p:pic>
                      <p:nvPicPr>
                        <p:cNvPr id="14370" name="Object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82" y="3456"/>
                          <a:ext cx="116"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1" name="Object 52"/>
            <p:cNvGraphicFramePr>
              <a:graphicFrameLocks noChangeAspect="1"/>
            </p:cNvGraphicFramePr>
            <p:nvPr/>
          </p:nvGraphicFramePr>
          <p:xfrm>
            <a:off x="1660" y="3456"/>
            <a:ext cx="115" cy="111"/>
          </p:xfrm>
          <a:graphic>
            <a:graphicData uri="http://schemas.openxmlformats.org/presentationml/2006/ole">
              <mc:AlternateContent xmlns:mc="http://schemas.openxmlformats.org/markup-compatibility/2006">
                <mc:Choice xmlns:v="urn:schemas-microsoft-com:vml" Requires="v">
                  <p:oleObj name="Equation" r:id="rId12" imgW="190335" imgH="164957" progId="Equation.DSMT4">
                    <p:embed/>
                  </p:oleObj>
                </mc:Choice>
                <mc:Fallback>
                  <p:oleObj name="Equation" r:id="rId12" imgW="190335" imgH="164957" progId="Equation.DSMT4">
                    <p:embed/>
                    <p:pic>
                      <p:nvPicPr>
                        <p:cNvPr id="14371" name="Object 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60" y="3456"/>
                          <a:ext cx="115"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2" name="Object 52"/>
            <p:cNvGraphicFramePr>
              <a:graphicFrameLocks noChangeAspect="1"/>
            </p:cNvGraphicFramePr>
            <p:nvPr/>
          </p:nvGraphicFramePr>
          <p:xfrm>
            <a:off x="1216" y="3552"/>
            <a:ext cx="124" cy="111"/>
          </p:xfrm>
          <a:graphic>
            <a:graphicData uri="http://schemas.openxmlformats.org/presentationml/2006/ole">
              <mc:AlternateContent xmlns:mc="http://schemas.openxmlformats.org/markup-compatibility/2006">
                <mc:Choice xmlns:v="urn:schemas-microsoft-com:vml" Requires="v">
                  <p:oleObj name="Equation" r:id="rId14" imgW="203024" imgH="164957" progId="Equation.DSMT4">
                    <p:embed/>
                  </p:oleObj>
                </mc:Choice>
                <mc:Fallback>
                  <p:oleObj name="Equation" r:id="rId14" imgW="203024" imgH="164957" progId="Equation.DSMT4">
                    <p:embed/>
                    <p:pic>
                      <p:nvPicPr>
                        <p:cNvPr id="14372" name="Object 5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6" y="3552"/>
                          <a:ext cx="124"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3" name="Object 52"/>
            <p:cNvGraphicFramePr>
              <a:graphicFrameLocks noChangeAspect="1"/>
            </p:cNvGraphicFramePr>
            <p:nvPr/>
          </p:nvGraphicFramePr>
          <p:xfrm>
            <a:off x="1821" y="3552"/>
            <a:ext cx="123" cy="111"/>
          </p:xfrm>
          <a:graphic>
            <a:graphicData uri="http://schemas.openxmlformats.org/presentationml/2006/ole">
              <mc:AlternateContent xmlns:mc="http://schemas.openxmlformats.org/markup-compatibility/2006">
                <mc:Choice xmlns:v="urn:schemas-microsoft-com:vml" Requires="v">
                  <p:oleObj name="Equation" r:id="rId16" imgW="203024" imgH="164957" progId="Equation.DSMT4">
                    <p:embed/>
                  </p:oleObj>
                </mc:Choice>
                <mc:Fallback>
                  <p:oleObj name="Equation" r:id="rId16" imgW="203024" imgH="164957" progId="Equation.DSMT4">
                    <p:embed/>
                    <p:pic>
                      <p:nvPicPr>
                        <p:cNvPr id="14373" name="Object 5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1" y="3552"/>
                          <a:ext cx="123" cy="1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4" name="Object 52"/>
            <p:cNvGraphicFramePr>
              <a:graphicFrameLocks noChangeAspect="1"/>
            </p:cNvGraphicFramePr>
            <p:nvPr/>
          </p:nvGraphicFramePr>
          <p:xfrm>
            <a:off x="1995" y="3648"/>
            <a:ext cx="123" cy="120"/>
          </p:xfrm>
          <a:graphic>
            <a:graphicData uri="http://schemas.openxmlformats.org/presentationml/2006/ole">
              <mc:AlternateContent xmlns:mc="http://schemas.openxmlformats.org/markup-compatibility/2006">
                <mc:Choice xmlns:v="urn:schemas-microsoft-com:vml" Requires="v">
                  <p:oleObj name="Equation" r:id="rId18" imgW="202936" imgH="177569" progId="Equation.DSMT4">
                    <p:embed/>
                  </p:oleObj>
                </mc:Choice>
                <mc:Fallback>
                  <p:oleObj name="Equation" r:id="rId18" imgW="202936" imgH="177569" progId="Equation.DSMT4">
                    <p:embed/>
                    <p:pic>
                      <p:nvPicPr>
                        <p:cNvPr id="14374" name="Object 5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95" y="3648"/>
                          <a:ext cx="123"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5" name="Object 52"/>
            <p:cNvGraphicFramePr>
              <a:graphicFrameLocks noChangeAspect="1"/>
            </p:cNvGraphicFramePr>
            <p:nvPr/>
          </p:nvGraphicFramePr>
          <p:xfrm>
            <a:off x="1038" y="3648"/>
            <a:ext cx="123" cy="120"/>
          </p:xfrm>
          <a:graphic>
            <a:graphicData uri="http://schemas.openxmlformats.org/presentationml/2006/ole">
              <mc:AlternateContent xmlns:mc="http://schemas.openxmlformats.org/markup-compatibility/2006">
                <mc:Choice xmlns:v="urn:schemas-microsoft-com:vml" Requires="v">
                  <p:oleObj name="Equation" r:id="rId20" imgW="202936" imgH="177569" progId="Equation.DSMT4">
                    <p:embed/>
                  </p:oleObj>
                </mc:Choice>
                <mc:Fallback>
                  <p:oleObj name="Equation" r:id="rId20" imgW="202936" imgH="177569" progId="Equation.DSMT4">
                    <p:embed/>
                    <p:pic>
                      <p:nvPicPr>
                        <p:cNvPr id="14375" name="Object 5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38" y="3648"/>
                          <a:ext cx="123"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76" name="Object 52"/>
            <p:cNvGraphicFramePr>
              <a:graphicFrameLocks noChangeAspect="1"/>
            </p:cNvGraphicFramePr>
            <p:nvPr/>
          </p:nvGraphicFramePr>
          <p:xfrm>
            <a:off x="1546" y="3345"/>
            <a:ext cx="77" cy="120"/>
          </p:xfrm>
          <a:graphic>
            <a:graphicData uri="http://schemas.openxmlformats.org/presentationml/2006/ole">
              <mc:AlternateContent xmlns:mc="http://schemas.openxmlformats.org/markup-compatibility/2006">
                <mc:Choice xmlns:v="urn:schemas-microsoft-com:vml" Requires="v">
                  <p:oleObj name="Equation" r:id="rId22" imgW="126725" imgH="177415" progId="Equation.DSMT4">
                    <p:embed/>
                  </p:oleObj>
                </mc:Choice>
                <mc:Fallback>
                  <p:oleObj name="Equation" r:id="rId22" imgW="126725" imgH="177415" progId="Equation.DSMT4">
                    <p:embed/>
                    <p:pic>
                      <p:nvPicPr>
                        <p:cNvPr id="14376" name="Object 5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546" y="3345"/>
                          <a:ext cx="77" cy="1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4339" name="Text Box 91"/>
          <p:cNvSpPr txBox="1">
            <a:spLocks noChangeArrowheads="1"/>
          </p:cNvSpPr>
          <p:nvPr/>
        </p:nvSpPr>
        <p:spPr bwMode="auto">
          <a:xfrm>
            <a:off x="241260" y="813537"/>
            <a:ext cx="44958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El </a:t>
            </a:r>
            <a:r>
              <a:rPr lang="es-ES" altLang="es-ES" sz="1300" b="1" dirty="0"/>
              <a:t>cálculo de probabilidades </a:t>
            </a:r>
            <a:r>
              <a:rPr lang="es-ES" altLang="es-ES" sz="1300" dirty="0"/>
              <a:t>= </a:t>
            </a:r>
            <a:r>
              <a:rPr lang="es-ES" altLang="es-ES" sz="1300" b="1" dirty="0"/>
              <a:t>cálculo de áreas </a:t>
            </a:r>
            <a:r>
              <a:rPr lang="es-ES" altLang="es-ES" sz="1300" dirty="0"/>
              <a:t>bajo la curva </a:t>
            </a:r>
            <a:r>
              <a:rPr lang="es-ES" altLang="es-ES" sz="1400" i="1" dirty="0">
                <a:latin typeface="Times New Roman" panose="02020603050405020304" pitchFamily="18" charset="0"/>
                <a:cs typeface="Times New Roman" panose="02020603050405020304" pitchFamily="18" charset="0"/>
              </a:rPr>
              <a:t>f</a:t>
            </a:r>
            <a:r>
              <a:rPr lang="es-ES" altLang="es-ES" sz="1400" dirty="0">
                <a:latin typeface="Times New Roman" panose="02020603050405020304" pitchFamily="18" charset="0"/>
                <a:cs typeface="Times New Roman" panose="02020603050405020304" pitchFamily="18" charset="0"/>
              </a:rPr>
              <a:t>(</a:t>
            </a:r>
            <a:r>
              <a:rPr lang="es-ES" altLang="es-ES" sz="1400" i="1" dirty="0">
                <a:latin typeface="Times New Roman" panose="02020603050405020304" pitchFamily="18" charset="0"/>
                <a:cs typeface="Times New Roman" panose="02020603050405020304" pitchFamily="18" charset="0"/>
              </a:rPr>
              <a:t>x</a:t>
            </a:r>
            <a:r>
              <a:rPr lang="es-ES" altLang="es-ES" sz="1400" dirty="0">
                <a:latin typeface="Times New Roman" panose="02020603050405020304" pitchFamily="18" charset="0"/>
                <a:cs typeface="Times New Roman" panose="02020603050405020304" pitchFamily="18" charset="0"/>
              </a:rPr>
              <a:t>)</a:t>
            </a:r>
            <a:r>
              <a:rPr lang="es-ES" altLang="es-ES" sz="1300" dirty="0"/>
              <a:t> se hace mediante </a:t>
            </a:r>
            <a:r>
              <a:rPr lang="es-ES" altLang="es-ES" sz="1300" b="1" dirty="0"/>
              <a:t>cálculo integral</a:t>
            </a:r>
            <a:r>
              <a:rPr lang="es-ES" altLang="es-ES" sz="1300" dirty="0"/>
              <a:t>, por tanto, la probabilidad de que la variable se encuentre entre dos valores concretos </a:t>
            </a:r>
            <a:r>
              <a:rPr lang="es-ES" altLang="es-ES" sz="1400" i="1" dirty="0" err="1">
                <a:latin typeface="Times New Roman" panose="02020603050405020304" pitchFamily="18" charset="0"/>
                <a:cs typeface="Times New Roman" panose="02020603050405020304" pitchFamily="18" charset="0"/>
              </a:rPr>
              <a:t>x</a:t>
            </a:r>
            <a:r>
              <a:rPr lang="es-ES" altLang="es-ES" sz="1400" i="1" baseline="-25000" dirty="0" err="1">
                <a:latin typeface="Times New Roman" panose="02020603050405020304" pitchFamily="18" charset="0"/>
                <a:cs typeface="Times New Roman" panose="02020603050405020304" pitchFamily="18" charset="0"/>
              </a:rPr>
              <a:t>a</a:t>
            </a:r>
            <a:r>
              <a:rPr lang="es-ES" altLang="es-ES" sz="1300" i="1" dirty="0"/>
              <a:t> </a:t>
            </a:r>
            <a:r>
              <a:rPr lang="es-ES" altLang="es-ES" sz="1300" dirty="0"/>
              <a:t>y </a:t>
            </a:r>
            <a:r>
              <a:rPr lang="es-ES" altLang="es-ES" sz="1400" i="1" dirty="0" err="1">
                <a:latin typeface="Times New Roman" panose="02020603050405020304" pitchFamily="18" charset="0"/>
                <a:cs typeface="Times New Roman" panose="02020603050405020304" pitchFamily="18" charset="0"/>
              </a:rPr>
              <a:t>x</a:t>
            </a:r>
            <a:r>
              <a:rPr lang="es-ES" altLang="es-ES" sz="1400" i="1" baseline="-25000" dirty="0" err="1">
                <a:latin typeface="Times New Roman" panose="02020603050405020304" pitchFamily="18" charset="0"/>
                <a:cs typeface="Times New Roman" panose="02020603050405020304" pitchFamily="18" charset="0"/>
              </a:rPr>
              <a:t>b</a:t>
            </a:r>
            <a:r>
              <a:rPr lang="es-ES" altLang="es-ES" sz="1400" baseline="-25000" dirty="0"/>
              <a:t> </a:t>
            </a:r>
            <a:r>
              <a:rPr lang="es-ES" altLang="es-ES" sz="1300" dirty="0"/>
              <a:t>viene dada por: </a:t>
            </a:r>
          </a:p>
          <a:p>
            <a:pPr algn="just" eaLnBrk="1" hangingPunct="1"/>
            <a:endParaRPr lang="es-ES" altLang="es-ES" sz="1300" dirty="0"/>
          </a:p>
          <a:p>
            <a:pPr algn="just" eaLnBrk="1" hangingPunct="1"/>
            <a:endParaRPr lang="es-ES" altLang="es-ES" sz="1300" dirty="0"/>
          </a:p>
          <a:p>
            <a:pPr algn="just" eaLnBrk="1" hangingPunct="1"/>
            <a:endParaRPr lang="es-ES" altLang="es-ES" sz="1300" dirty="0"/>
          </a:p>
          <a:p>
            <a:pPr algn="ctr" eaLnBrk="1" hangingPunct="1"/>
            <a:r>
              <a:rPr lang="es-ES" altLang="es-ES" sz="1300" dirty="0"/>
              <a:t>¡¡ </a:t>
            </a:r>
            <a:r>
              <a:rPr lang="es-ES" altLang="es-ES" sz="1300" dirty="0">
                <a:solidFill>
                  <a:srgbClr val="C00000"/>
                </a:solidFill>
              </a:rPr>
              <a:t>Difícil </a:t>
            </a:r>
            <a:r>
              <a:rPr lang="es-ES" altLang="es-ES" sz="1300" dirty="0"/>
              <a:t>!!</a:t>
            </a:r>
          </a:p>
          <a:p>
            <a:pPr algn="just" eaLnBrk="1" hangingPunct="1"/>
            <a:r>
              <a:rPr lang="es-ES" altLang="es-ES" sz="1300" dirty="0"/>
              <a:t>Para facilitar esto (sin resolver integrales) se utilizan las </a:t>
            </a:r>
            <a:r>
              <a:rPr lang="es-ES" altLang="es-ES" sz="1300" b="1" dirty="0"/>
              <a:t>tablas de la distribución normal </a:t>
            </a:r>
            <a:r>
              <a:rPr lang="es-ES" altLang="es-ES" sz="1300" b="1" dirty="0">
                <a:solidFill>
                  <a:srgbClr val="FF0000"/>
                </a:solidFill>
              </a:rPr>
              <a:t>tipificada</a:t>
            </a:r>
          </a:p>
        </p:txBody>
      </p:sp>
      <p:grpSp>
        <p:nvGrpSpPr>
          <p:cNvPr id="14343" name="Group 34"/>
          <p:cNvGrpSpPr>
            <a:grpSpLocks/>
          </p:cNvGrpSpPr>
          <p:nvPr/>
        </p:nvGrpSpPr>
        <p:grpSpPr bwMode="auto">
          <a:xfrm>
            <a:off x="228600" y="3867150"/>
            <a:ext cx="2282825" cy="2667000"/>
            <a:chOff x="2880" y="1824"/>
            <a:chExt cx="2064" cy="2182"/>
          </a:xfrm>
        </p:grpSpPr>
        <p:grpSp>
          <p:nvGrpSpPr>
            <p:cNvPr id="14383" name="Group 35"/>
            <p:cNvGrpSpPr>
              <a:grpSpLocks/>
            </p:cNvGrpSpPr>
            <p:nvPr/>
          </p:nvGrpSpPr>
          <p:grpSpPr bwMode="auto">
            <a:xfrm>
              <a:off x="3720" y="2208"/>
              <a:ext cx="384" cy="1248"/>
              <a:chOff x="1668" y="864"/>
              <a:chExt cx="672" cy="1104"/>
            </a:xfrm>
          </p:grpSpPr>
          <p:sp>
            <p:nvSpPr>
              <p:cNvPr id="14404" name="Line 36"/>
              <p:cNvSpPr>
                <a:spLocks noChangeShapeType="1"/>
              </p:cNvSpPr>
              <p:nvPr/>
            </p:nvSpPr>
            <p:spPr bwMode="auto">
              <a:xfrm>
                <a:off x="1668" y="864"/>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405" name="Line 37"/>
              <p:cNvSpPr>
                <a:spLocks noChangeShapeType="1"/>
              </p:cNvSpPr>
              <p:nvPr/>
            </p:nvSpPr>
            <p:spPr bwMode="auto">
              <a:xfrm>
                <a:off x="2340" y="864"/>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4384" name="Group 38"/>
            <p:cNvGrpSpPr>
              <a:grpSpLocks/>
            </p:cNvGrpSpPr>
            <p:nvPr/>
          </p:nvGrpSpPr>
          <p:grpSpPr bwMode="auto">
            <a:xfrm>
              <a:off x="3270" y="1968"/>
              <a:ext cx="1284" cy="1920"/>
              <a:chOff x="1668" y="864"/>
              <a:chExt cx="672" cy="1104"/>
            </a:xfrm>
          </p:grpSpPr>
          <p:sp>
            <p:nvSpPr>
              <p:cNvPr id="14402" name="Line 39"/>
              <p:cNvSpPr>
                <a:spLocks noChangeShapeType="1"/>
              </p:cNvSpPr>
              <p:nvPr/>
            </p:nvSpPr>
            <p:spPr bwMode="auto">
              <a:xfrm>
                <a:off x="1668" y="864"/>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403" name="Line 40"/>
              <p:cNvSpPr>
                <a:spLocks noChangeShapeType="1"/>
              </p:cNvSpPr>
              <p:nvPr/>
            </p:nvSpPr>
            <p:spPr bwMode="auto">
              <a:xfrm>
                <a:off x="2340" y="864"/>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4385" name="Group 41"/>
            <p:cNvGrpSpPr>
              <a:grpSpLocks/>
            </p:cNvGrpSpPr>
            <p:nvPr/>
          </p:nvGrpSpPr>
          <p:grpSpPr bwMode="auto">
            <a:xfrm>
              <a:off x="3504" y="2016"/>
              <a:ext cx="816" cy="1584"/>
              <a:chOff x="1668" y="864"/>
              <a:chExt cx="672" cy="1104"/>
            </a:xfrm>
          </p:grpSpPr>
          <p:sp>
            <p:nvSpPr>
              <p:cNvPr id="14400" name="Line 42"/>
              <p:cNvSpPr>
                <a:spLocks noChangeShapeType="1"/>
              </p:cNvSpPr>
              <p:nvPr/>
            </p:nvSpPr>
            <p:spPr bwMode="auto">
              <a:xfrm>
                <a:off x="1668" y="864"/>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401" name="Line 43"/>
              <p:cNvSpPr>
                <a:spLocks noChangeShapeType="1"/>
              </p:cNvSpPr>
              <p:nvPr/>
            </p:nvSpPr>
            <p:spPr bwMode="auto">
              <a:xfrm>
                <a:off x="2340" y="864"/>
                <a:ext cx="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aphicFrame>
          <p:nvGraphicFramePr>
            <p:cNvPr id="14386" name="Object 44"/>
            <p:cNvGraphicFramePr>
              <a:graphicFrameLocks noChangeAspect="1"/>
            </p:cNvGraphicFramePr>
            <p:nvPr/>
          </p:nvGraphicFramePr>
          <p:xfrm>
            <a:off x="3072" y="2304"/>
            <a:ext cx="1680" cy="990"/>
          </p:xfrm>
          <a:graphic>
            <a:graphicData uri="http://schemas.openxmlformats.org/presentationml/2006/ole">
              <mc:AlternateContent xmlns:mc="http://schemas.openxmlformats.org/markup-compatibility/2006">
                <mc:Choice xmlns:v="urn:schemas-microsoft-com:vml" Requires="v">
                  <p:oleObj name="CorelDRAW" r:id="rId24" imgW="3124200" imgH="1847850" progId="CorelDraw.Graphic.8">
                    <p:embed/>
                  </p:oleObj>
                </mc:Choice>
                <mc:Fallback>
                  <p:oleObj name="CorelDRAW" r:id="rId24" imgW="3124200" imgH="1847850" progId="CorelDraw.Graphic.8">
                    <p:embed/>
                    <p:pic>
                      <p:nvPicPr>
                        <p:cNvPr id="14386" name="Object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2" y="2304"/>
                          <a:ext cx="1680" cy="9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87" name="Line 45"/>
            <p:cNvSpPr>
              <a:spLocks noChangeShapeType="1"/>
            </p:cNvSpPr>
            <p:nvPr/>
          </p:nvSpPr>
          <p:spPr bwMode="auto">
            <a:xfrm>
              <a:off x="2880" y="3284"/>
              <a:ext cx="20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88" name="Line 46"/>
            <p:cNvSpPr>
              <a:spLocks noChangeShapeType="1"/>
            </p:cNvSpPr>
            <p:nvPr/>
          </p:nvSpPr>
          <p:spPr bwMode="auto">
            <a:xfrm>
              <a:off x="3720" y="3408"/>
              <a:ext cx="38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89" name="Line 47"/>
            <p:cNvSpPr>
              <a:spLocks noChangeShapeType="1"/>
            </p:cNvSpPr>
            <p:nvPr/>
          </p:nvSpPr>
          <p:spPr bwMode="auto">
            <a:xfrm>
              <a:off x="3288" y="3840"/>
              <a:ext cx="124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90" name="Line 48"/>
            <p:cNvSpPr>
              <a:spLocks noChangeShapeType="1"/>
            </p:cNvSpPr>
            <p:nvPr/>
          </p:nvSpPr>
          <p:spPr bwMode="auto">
            <a:xfrm>
              <a:off x="3504" y="3600"/>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4391" name="Object 49"/>
            <p:cNvGraphicFramePr>
              <a:graphicFrameLocks noChangeAspect="1"/>
            </p:cNvGraphicFramePr>
            <p:nvPr/>
          </p:nvGraphicFramePr>
          <p:xfrm>
            <a:off x="3767" y="3432"/>
            <a:ext cx="290" cy="155"/>
          </p:xfrm>
          <a:graphic>
            <a:graphicData uri="http://schemas.openxmlformats.org/presentationml/2006/ole">
              <mc:AlternateContent xmlns:mc="http://schemas.openxmlformats.org/markup-compatibility/2006">
                <mc:Choice xmlns:v="urn:schemas-microsoft-com:vml" Requires="v">
                  <p:oleObj name="Equation" r:id="rId25" imgW="355446" imgH="190417" progId="Equation.DSMT4">
                    <p:embed/>
                  </p:oleObj>
                </mc:Choice>
                <mc:Fallback>
                  <p:oleObj name="Equation" r:id="rId25" imgW="355446" imgH="190417" progId="Equation.DSMT4">
                    <p:embed/>
                    <p:pic>
                      <p:nvPicPr>
                        <p:cNvPr id="14391" name="Object 4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67" y="3432"/>
                          <a:ext cx="290"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2" name="Object 50"/>
            <p:cNvGraphicFramePr>
              <a:graphicFrameLocks noChangeAspect="1"/>
            </p:cNvGraphicFramePr>
            <p:nvPr/>
          </p:nvGraphicFramePr>
          <p:xfrm>
            <a:off x="3736" y="3648"/>
            <a:ext cx="351" cy="166"/>
          </p:xfrm>
          <a:graphic>
            <a:graphicData uri="http://schemas.openxmlformats.org/presentationml/2006/ole">
              <mc:AlternateContent xmlns:mc="http://schemas.openxmlformats.org/markup-compatibility/2006">
                <mc:Choice xmlns:v="urn:schemas-microsoft-com:vml" Requires="v">
                  <p:oleObj name="Equation" r:id="rId27" imgW="431613" imgH="203112" progId="Equation.DSMT4">
                    <p:embed/>
                  </p:oleObj>
                </mc:Choice>
                <mc:Fallback>
                  <p:oleObj name="Equation" r:id="rId27" imgW="431613" imgH="203112" progId="Equation.DSMT4">
                    <p:embed/>
                    <p:pic>
                      <p:nvPicPr>
                        <p:cNvPr id="14392" name="Object 5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736" y="3648"/>
                          <a:ext cx="351"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3" name="Object 51"/>
            <p:cNvGraphicFramePr>
              <a:graphicFrameLocks noChangeAspect="1"/>
            </p:cNvGraphicFramePr>
            <p:nvPr/>
          </p:nvGraphicFramePr>
          <p:xfrm>
            <a:off x="3736" y="3840"/>
            <a:ext cx="352" cy="166"/>
          </p:xfrm>
          <a:graphic>
            <a:graphicData uri="http://schemas.openxmlformats.org/presentationml/2006/ole">
              <mc:AlternateContent xmlns:mc="http://schemas.openxmlformats.org/markup-compatibility/2006">
                <mc:Choice xmlns:v="urn:schemas-microsoft-com:vml" Requires="v">
                  <p:oleObj name="Equation" r:id="rId29" imgW="431613" imgH="203112" progId="Equation.DSMT4">
                    <p:embed/>
                  </p:oleObj>
                </mc:Choice>
                <mc:Fallback>
                  <p:oleObj name="Equation" r:id="rId29" imgW="431613" imgH="203112" progId="Equation.DSMT4">
                    <p:embed/>
                    <p:pic>
                      <p:nvPicPr>
                        <p:cNvPr id="14393" name="Object 5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736" y="3840"/>
                          <a:ext cx="352"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4" name="Object 52"/>
            <p:cNvGraphicFramePr>
              <a:graphicFrameLocks noChangeAspect="1"/>
            </p:cNvGraphicFramePr>
            <p:nvPr/>
          </p:nvGraphicFramePr>
          <p:xfrm>
            <a:off x="3730" y="2112"/>
            <a:ext cx="363" cy="144"/>
          </p:xfrm>
          <a:graphic>
            <a:graphicData uri="http://schemas.openxmlformats.org/presentationml/2006/ole">
              <mc:AlternateContent xmlns:mc="http://schemas.openxmlformats.org/markup-compatibility/2006">
                <mc:Choice xmlns:v="urn:schemas-microsoft-com:vml" Requires="v">
                  <p:oleObj name="Equation" r:id="rId31" imgW="444114" imgH="177646" progId="Equation.DSMT4">
                    <p:embed/>
                  </p:oleObj>
                </mc:Choice>
                <mc:Fallback>
                  <p:oleObj name="Equation" r:id="rId31" imgW="444114" imgH="177646" progId="Equation.DSMT4">
                    <p:embed/>
                    <p:pic>
                      <p:nvPicPr>
                        <p:cNvPr id="14394" name="Object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0" y="2112"/>
                          <a:ext cx="363"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5" name="Object 53"/>
            <p:cNvGraphicFramePr>
              <a:graphicFrameLocks noChangeAspect="1"/>
            </p:cNvGraphicFramePr>
            <p:nvPr/>
          </p:nvGraphicFramePr>
          <p:xfrm>
            <a:off x="3730" y="1968"/>
            <a:ext cx="363" cy="144"/>
          </p:xfrm>
          <a:graphic>
            <a:graphicData uri="http://schemas.openxmlformats.org/presentationml/2006/ole">
              <mc:AlternateContent xmlns:mc="http://schemas.openxmlformats.org/markup-compatibility/2006">
                <mc:Choice xmlns:v="urn:schemas-microsoft-com:vml" Requires="v">
                  <p:oleObj name="Equation" r:id="rId32" imgW="444114" imgH="177646" progId="Equation.DSMT4">
                    <p:embed/>
                  </p:oleObj>
                </mc:Choice>
                <mc:Fallback>
                  <p:oleObj name="Equation" r:id="rId32" imgW="444114" imgH="177646" progId="Equation.DSMT4">
                    <p:embed/>
                    <p:pic>
                      <p:nvPicPr>
                        <p:cNvPr id="14395"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0" y="1968"/>
                          <a:ext cx="363"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96" name="Object 54"/>
            <p:cNvGraphicFramePr>
              <a:graphicFrameLocks noChangeAspect="1"/>
            </p:cNvGraphicFramePr>
            <p:nvPr/>
          </p:nvGraphicFramePr>
          <p:xfrm>
            <a:off x="3704" y="1824"/>
            <a:ext cx="415" cy="144"/>
          </p:xfrm>
          <a:graphic>
            <a:graphicData uri="http://schemas.openxmlformats.org/presentationml/2006/ole">
              <mc:AlternateContent xmlns:mc="http://schemas.openxmlformats.org/markup-compatibility/2006">
                <mc:Choice xmlns:v="urn:schemas-microsoft-com:vml" Requires="v">
                  <p:oleObj name="Equation" r:id="rId33" imgW="507780" imgH="177723" progId="Equation.DSMT4">
                    <p:embed/>
                  </p:oleObj>
                </mc:Choice>
                <mc:Fallback>
                  <p:oleObj name="Equation" r:id="rId33" imgW="507780" imgH="177723" progId="Equation.DSMT4">
                    <p:embed/>
                    <p:pic>
                      <p:nvPicPr>
                        <p:cNvPr id="14396" name="Object 5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4" y="1824"/>
                          <a:ext cx="415"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97" name="Line 55"/>
            <p:cNvSpPr>
              <a:spLocks noChangeShapeType="1"/>
            </p:cNvSpPr>
            <p:nvPr/>
          </p:nvSpPr>
          <p:spPr bwMode="auto">
            <a:xfrm>
              <a:off x="3720" y="2256"/>
              <a:ext cx="384"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98" name="Line 56"/>
            <p:cNvSpPr>
              <a:spLocks noChangeShapeType="1"/>
            </p:cNvSpPr>
            <p:nvPr/>
          </p:nvSpPr>
          <p:spPr bwMode="auto">
            <a:xfrm>
              <a:off x="3504" y="2112"/>
              <a:ext cx="816"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399" name="Line 57"/>
            <p:cNvSpPr>
              <a:spLocks noChangeShapeType="1"/>
            </p:cNvSpPr>
            <p:nvPr/>
          </p:nvSpPr>
          <p:spPr bwMode="auto">
            <a:xfrm>
              <a:off x="3288" y="1968"/>
              <a:ext cx="1248"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4349" name="Text Box 91"/>
          <p:cNvSpPr txBox="1">
            <a:spLocks noChangeArrowheads="1"/>
          </p:cNvSpPr>
          <p:nvPr/>
        </p:nvSpPr>
        <p:spPr bwMode="auto">
          <a:xfrm>
            <a:off x="228600" y="3015142"/>
            <a:ext cx="436086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300" dirty="0"/>
              <a:t>Algunas áreas de especial interés son (de forma aproximada):</a:t>
            </a:r>
          </a:p>
        </p:txBody>
      </p:sp>
      <p:graphicFrame>
        <p:nvGraphicFramePr>
          <p:cNvPr id="14351" name="1 Objeto"/>
          <p:cNvGraphicFramePr>
            <a:graphicFrameLocks noChangeAspect="1"/>
          </p:cNvGraphicFramePr>
          <p:nvPr>
            <p:extLst>
              <p:ext uri="{D42A27DB-BD31-4B8C-83A1-F6EECF244321}">
                <p14:modId xmlns:p14="http://schemas.microsoft.com/office/powerpoint/2010/main" val="1025364756"/>
              </p:ext>
            </p:extLst>
          </p:nvPr>
        </p:nvGraphicFramePr>
        <p:xfrm>
          <a:off x="1149350" y="1690688"/>
          <a:ext cx="2508250" cy="519112"/>
        </p:xfrm>
        <a:graphic>
          <a:graphicData uri="http://schemas.openxmlformats.org/presentationml/2006/ole">
            <mc:AlternateContent xmlns:mc="http://schemas.openxmlformats.org/markup-compatibility/2006">
              <mc:Choice xmlns:v="urn:schemas-microsoft-com:vml" Requires="v">
                <p:oleObj name="Equation" r:id="rId34" imgW="1675673" imgH="355446" progId="Equation.DSMT4">
                  <p:embed/>
                </p:oleObj>
              </mc:Choice>
              <mc:Fallback>
                <p:oleObj name="Equation" r:id="rId34" imgW="1675673" imgH="355446" progId="Equation.DSMT4">
                  <p:embed/>
                  <p:pic>
                    <p:nvPicPr>
                      <p:cNvPr id="14351" name="1 Objeto"/>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149350" y="1690688"/>
                        <a:ext cx="2508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5" name="Object 25"/>
          <p:cNvGraphicFramePr>
            <a:graphicFrameLocks noChangeAspect="1"/>
          </p:cNvGraphicFramePr>
          <p:nvPr>
            <p:extLst>
              <p:ext uri="{D42A27DB-BD31-4B8C-83A1-F6EECF244321}">
                <p14:modId xmlns:p14="http://schemas.microsoft.com/office/powerpoint/2010/main" val="1635245177"/>
              </p:ext>
            </p:extLst>
          </p:nvPr>
        </p:nvGraphicFramePr>
        <p:xfrm>
          <a:off x="1009650" y="3581400"/>
          <a:ext cx="747713" cy="312738"/>
        </p:xfrm>
        <a:graphic>
          <a:graphicData uri="http://schemas.openxmlformats.org/presentationml/2006/ole">
            <mc:AlternateContent xmlns:mc="http://schemas.openxmlformats.org/markup-compatibility/2006">
              <mc:Choice xmlns:v="urn:schemas-microsoft-com:vml" Requires="v">
                <p:oleObj name="Equation" r:id="rId36" imgW="609480" imgH="253800" progId="Equation.DSMT4">
                  <p:embed/>
                </p:oleObj>
              </mc:Choice>
              <mc:Fallback>
                <p:oleObj name="Equation" r:id="rId36" imgW="609480" imgH="253800" progId="Equation.DSMT4">
                  <p:embed/>
                  <p:pic>
                    <p:nvPicPr>
                      <p:cNvPr id="14355" name="Object 25"/>
                      <p:cNvPicPr>
                        <a:picLocks noChangeAspect="1" noChangeArrowheads="1"/>
                      </p:cNvPicPr>
                      <p:nvPr/>
                    </p:nvPicPr>
                    <p:blipFill>
                      <a:blip r:embed="rId37"/>
                      <a:srcRect/>
                      <a:stretch>
                        <a:fillRect/>
                      </a:stretch>
                    </p:blipFill>
                    <p:spPr bwMode="auto">
                      <a:xfrm>
                        <a:off x="1009650" y="3581400"/>
                        <a:ext cx="747713"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56" name="Object 25"/>
          <p:cNvGraphicFramePr>
            <a:graphicFrameLocks noChangeAspect="1"/>
          </p:cNvGraphicFramePr>
          <p:nvPr>
            <p:extLst>
              <p:ext uri="{D42A27DB-BD31-4B8C-83A1-F6EECF244321}">
                <p14:modId xmlns:p14="http://schemas.microsoft.com/office/powerpoint/2010/main" val="2668642331"/>
              </p:ext>
            </p:extLst>
          </p:nvPr>
        </p:nvGraphicFramePr>
        <p:xfrm>
          <a:off x="3440113" y="3581400"/>
          <a:ext cx="684212" cy="312738"/>
        </p:xfrm>
        <a:graphic>
          <a:graphicData uri="http://schemas.openxmlformats.org/presentationml/2006/ole">
            <mc:AlternateContent xmlns:mc="http://schemas.openxmlformats.org/markup-compatibility/2006">
              <mc:Choice xmlns:v="urn:schemas-microsoft-com:vml" Requires="v">
                <p:oleObj name="Equation" r:id="rId38" imgW="558720" imgH="253800" progId="Equation.DSMT4">
                  <p:embed/>
                </p:oleObj>
              </mc:Choice>
              <mc:Fallback>
                <p:oleObj name="Equation" r:id="rId38" imgW="558720" imgH="253800" progId="Equation.DSMT4">
                  <p:embed/>
                  <p:pic>
                    <p:nvPicPr>
                      <p:cNvPr id="14356" name="Object 25"/>
                      <p:cNvPicPr>
                        <a:picLocks noChangeAspect="1" noChangeArrowheads="1"/>
                      </p:cNvPicPr>
                      <p:nvPr/>
                    </p:nvPicPr>
                    <p:blipFill>
                      <a:blip r:embed="rId39"/>
                      <a:srcRect/>
                      <a:stretch>
                        <a:fillRect/>
                      </a:stretch>
                    </p:blipFill>
                    <p:spPr bwMode="auto">
                      <a:xfrm>
                        <a:off x="3440113" y="3581400"/>
                        <a:ext cx="684212"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7" name="Rectangle 88"/>
          <p:cNvSpPr>
            <a:spLocks noChangeArrowheads="1"/>
          </p:cNvSpPr>
          <p:nvPr/>
        </p:nvSpPr>
        <p:spPr bwMode="auto">
          <a:xfrm>
            <a:off x="4802161" y="718245"/>
            <a:ext cx="161549" cy="5204253"/>
          </a:xfrm>
          <a:prstGeom prst="rect">
            <a:avLst/>
          </a:prstGeom>
          <a:solidFill>
            <a:schemeClr val="bg1">
              <a:alpha val="76862"/>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nvGrpSpPr>
          <p:cNvPr id="14340" name="Group 57"/>
          <p:cNvGrpSpPr>
            <a:grpSpLocks/>
          </p:cNvGrpSpPr>
          <p:nvPr/>
        </p:nvGrpSpPr>
        <p:grpSpPr bwMode="auto">
          <a:xfrm>
            <a:off x="5505450" y="4499256"/>
            <a:ext cx="2770188" cy="1692275"/>
            <a:chOff x="3398" y="1968"/>
            <a:chExt cx="1745" cy="1211"/>
          </a:xfrm>
        </p:grpSpPr>
        <p:grpSp>
          <p:nvGrpSpPr>
            <p:cNvPr id="14406" name="Group 11"/>
            <p:cNvGrpSpPr>
              <a:grpSpLocks/>
            </p:cNvGrpSpPr>
            <p:nvPr/>
          </p:nvGrpSpPr>
          <p:grpSpPr bwMode="auto">
            <a:xfrm>
              <a:off x="3398" y="1968"/>
              <a:ext cx="1745" cy="983"/>
              <a:chOff x="495" y="473"/>
              <a:chExt cx="2112" cy="1735"/>
            </a:xfrm>
          </p:grpSpPr>
          <p:pic>
            <p:nvPicPr>
              <p:cNvPr id="14415" name="Picture 12"/>
              <p:cNvPicPr>
                <a:picLocks noChangeAspect="1" noChangeArrowheads="1"/>
              </p:cNvPicPr>
              <p:nvPr/>
            </p:nvPicPr>
            <p:blipFill>
              <a:blip r:embed="rId40" cstate="print">
                <a:extLst>
                  <a:ext uri="{28A0092B-C50C-407E-A947-70E740481C1C}">
                    <a14:useLocalDpi xmlns:a14="http://schemas.microsoft.com/office/drawing/2010/main" val="0"/>
                  </a:ext>
                </a:extLst>
              </a:blip>
              <a:srcRect/>
              <a:stretch>
                <a:fillRect/>
              </a:stretch>
            </p:blipFill>
            <p:spPr bwMode="auto">
              <a:xfrm>
                <a:off x="495" y="473"/>
                <a:ext cx="2112" cy="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416" name="Group 13"/>
              <p:cNvGrpSpPr>
                <a:grpSpLocks/>
              </p:cNvGrpSpPr>
              <p:nvPr/>
            </p:nvGrpSpPr>
            <p:grpSpPr bwMode="auto">
              <a:xfrm>
                <a:off x="1104" y="1776"/>
                <a:ext cx="912" cy="432"/>
                <a:chOff x="4152" y="249"/>
                <a:chExt cx="216" cy="2064"/>
              </a:xfrm>
            </p:grpSpPr>
            <p:sp>
              <p:nvSpPr>
                <p:cNvPr id="14417" name="Line 14"/>
                <p:cNvSpPr>
                  <a:spLocks noChangeShapeType="1"/>
                </p:cNvSpPr>
                <p:nvPr/>
              </p:nvSpPr>
              <p:spPr bwMode="auto">
                <a:xfrm>
                  <a:off x="4152" y="249"/>
                  <a:ext cx="0" cy="20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418" name="Line 15"/>
                <p:cNvSpPr>
                  <a:spLocks noChangeShapeType="1"/>
                </p:cNvSpPr>
                <p:nvPr/>
              </p:nvSpPr>
              <p:spPr bwMode="auto">
                <a:xfrm>
                  <a:off x="4368" y="249"/>
                  <a:ext cx="0" cy="20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14407" name="Text Box 16"/>
            <p:cNvSpPr txBox="1">
              <a:spLocks noChangeArrowheads="1"/>
            </p:cNvSpPr>
            <p:nvPr/>
          </p:nvSpPr>
          <p:spPr bwMode="auto">
            <a:xfrm>
              <a:off x="4774" y="2658"/>
              <a:ext cx="27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a:latin typeface="Symbol" panose="05050102010706020507" pitchFamily="18" charset="2"/>
                </a:rPr>
                <a:t>a/2</a:t>
              </a:r>
              <a:endParaRPr lang="es-ES" altLang="es-ES" sz="1400" baseline="-25000"/>
            </a:p>
          </p:txBody>
        </p:sp>
        <p:sp>
          <p:nvSpPr>
            <p:cNvPr id="14408" name="Text Box 17"/>
            <p:cNvSpPr txBox="1">
              <a:spLocks noChangeArrowheads="1"/>
            </p:cNvSpPr>
            <p:nvPr/>
          </p:nvSpPr>
          <p:spPr bwMode="auto">
            <a:xfrm>
              <a:off x="3544" y="2621"/>
              <a:ext cx="27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a:latin typeface="Symbol" panose="05050102010706020507" pitchFamily="18" charset="2"/>
                </a:rPr>
                <a:t>a/2</a:t>
              </a:r>
              <a:endParaRPr lang="es-ES" altLang="es-ES" sz="1400" baseline="-25000"/>
            </a:p>
          </p:txBody>
        </p:sp>
        <p:sp>
          <p:nvSpPr>
            <p:cNvPr id="14409" name="Text Box 18"/>
            <p:cNvSpPr txBox="1">
              <a:spLocks noChangeArrowheads="1"/>
            </p:cNvSpPr>
            <p:nvPr/>
          </p:nvSpPr>
          <p:spPr bwMode="auto">
            <a:xfrm>
              <a:off x="4072" y="2288"/>
              <a:ext cx="42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latin typeface="Symbol" panose="05050102010706020507" pitchFamily="18" charset="2"/>
                </a:rPr>
                <a:t>1-a</a:t>
              </a:r>
              <a:endParaRPr lang="es-ES" altLang="es-ES" sz="1400" baseline="-25000"/>
            </a:p>
          </p:txBody>
        </p:sp>
        <p:sp>
          <p:nvSpPr>
            <p:cNvPr id="14410" name="Text Box 19"/>
            <p:cNvSpPr txBox="1">
              <a:spLocks noChangeArrowheads="1"/>
            </p:cNvSpPr>
            <p:nvPr/>
          </p:nvSpPr>
          <p:spPr bwMode="auto">
            <a:xfrm>
              <a:off x="3712" y="2901"/>
              <a:ext cx="41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600" i="1">
                  <a:latin typeface="Times New Roman" panose="02020603050405020304" pitchFamily="18" charset="0"/>
                </a:rPr>
                <a:t>-z</a:t>
              </a:r>
              <a:r>
                <a:rPr lang="es-ES_tradnl" altLang="es-ES" sz="1400" baseline="-25000">
                  <a:latin typeface="Symbol" panose="05050102010706020507" pitchFamily="18" charset="2"/>
                </a:rPr>
                <a:t>a/2</a:t>
              </a:r>
              <a:endParaRPr lang="es-ES" altLang="es-ES" sz="1400" baseline="-25000"/>
            </a:p>
          </p:txBody>
        </p:sp>
        <p:sp>
          <p:nvSpPr>
            <p:cNvPr id="14411" name="Text Box 20"/>
            <p:cNvSpPr txBox="1">
              <a:spLocks noChangeArrowheads="1"/>
            </p:cNvSpPr>
            <p:nvPr/>
          </p:nvSpPr>
          <p:spPr bwMode="auto">
            <a:xfrm>
              <a:off x="4548" y="2910"/>
              <a:ext cx="34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600" i="1">
                  <a:latin typeface="Times New Roman" panose="02020603050405020304" pitchFamily="18" charset="0"/>
                </a:rPr>
                <a:t>z</a:t>
              </a:r>
              <a:r>
                <a:rPr lang="es-ES_tradnl" altLang="es-ES" sz="1400" baseline="-25000">
                  <a:latin typeface="Symbol" panose="05050102010706020507" pitchFamily="18" charset="2"/>
                </a:rPr>
                <a:t>a/2</a:t>
              </a:r>
              <a:endParaRPr lang="es-ES" altLang="es-ES" sz="1400" baseline="-25000"/>
            </a:p>
          </p:txBody>
        </p:sp>
        <p:grpSp>
          <p:nvGrpSpPr>
            <p:cNvPr id="14412" name="Group 21"/>
            <p:cNvGrpSpPr>
              <a:grpSpLocks/>
            </p:cNvGrpSpPr>
            <p:nvPr/>
          </p:nvGrpSpPr>
          <p:grpSpPr bwMode="auto">
            <a:xfrm>
              <a:off x="4223" y="2841"/>
              <a:ext cx="172" cy="338"/>
              <a:chOff x="1483" y="2112"/>
              <a:chExt cx="209" cy="388"/>
            </a:xfrm>
          </p:grpSpPr>
          <p:sp>
            <p:nvSpPr>
              <p:cNvPr id="14413" name="Line 22"/>
              <p:cNvSpPr>
                <a:spLocks noChangeShapeType="1"/>
              </p:cNvSpPr>
              <p:nvPr/>
            </p:nvSpPr>
            <p:spPr bwMode="auto">
              <a:xfrm>
                <a:off x="1559" y="2112"/>
                <a:ext cx="0" cy="192"/>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4414" name="Text Box 23"/>
              <p:cNvSpPr txBox="1">
                <a:spLocks noChangeArrowheads="1"/>
              </p:cNvSpPr>
              <p:nvPr/>
            </p:nvSpPr>
            <p:spPr bwMode="auto">
              <a:xfrm>
                <a:off x="1483" y="2279"/>
                <a:ext cx="209"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latin typeface="Times New Roman" panose="02020603050405020304" pitchFamily="18" charset="0"/>
                  </a:rPr>
                  <a:t>0</a:t>
                </a:r>
                <a:endParaRPr lang="es-ES" altLang="es-ES" sz="1400">
                  <a:latin typeface="Times New Roman" panose="02020603050405020304" pitchFamily="18" charset="0"/>
                </a:endParaRPr>
              </a:p>
            </p:txBody>
          </p:sp>
        </p:grpSp>
      </p:grpSp>
      <p:grpSp>
        <p:nvGrpSpPr>
          <p:cNvPr id="4" name="Grupo 3"/>
          <p:cNvGrpSpPr/>
          <p:nvPr/>
        </p:nvGrpSpPr>
        <p:grpSpPr>
          <a:xfrm>
            <a:off x="4953000" y="1466850"/>
            <a:ext cx="4048125" cy="1111250"/>
            <a:chOff x="4953000" y="1584606"/>
            <a:chExt cx="4048125" cy="1111250"/>
          </a:xfrm>
        </p:grpSpPr>
        <p:sp>
          <p:nvSpPr>
            <p:cNvPr id="14338" name="Text Box 63"/>
            <p:cNvSpPr txBox="1">
              <a:spLocks noChangeArrowheads="1"/>
            </p:cNvSpPr>
            <p:nvPr/>
          </p:nvSpPr>
          <p:spPr bwMode="auto">
            <a:xfrm>
              <a:off x="4953000" y="1649693"/>
              <a:ext cx="4048125"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dirty="0"/>
                <a:t>Si                        entonces                   se dice que es</a:t>
              </a:r>
            </a:p>
            <a:p>
              <a:pPr eaLnBrk="1" hangingPunct="1">
                <a:lnSpc>
                  <a:spcPct val="160000"/>
                </a:lnSpc>
              </a:pPr>
              <a:r>
                <a:rPr lang="es-ES" altLang="es-ES" sz="1300" b="1" dirty="0"/>
                <a:t>la tipificación de </a:t>
              </a:r>
              <a:r>
                <a:rPr lang="es-ES" altLang="es-ES" sz="1300" b="1" i="1" dirty="0">
                  <a:latin typeface="Times New Roman" panose="02020603050405020304" pitchFamily="18" charset="0"/>
                </a:rPr>
                <a:t>X</a:t>
              </a:r>
              <a:r>
                <a:rPr lang="es-ES" altLang="es-ES" sz="1300" b="1" dirty="0">
                  <a:latin typeface="Times New Roman" panose="02020603050405020304" pitchFamily="18" charset="0"/>
                </a:rPr>
                <a:t>  </a:t>
              </a:r>
              <a:r>
                <a:rPr lang="es-ES" altLang="es-ES" sz="1300" dirty="0"/>
                <a:t>y verifica</a:t>
              </a:r>
              <a:r>
                <a:rPr lang="es-ES" altLang="es-ES" sz="1300" dirty="0">
                  <a:latin typeface="Times New Roman" panose="02020603050405020304" pitchFamily="18" charset="0"/>
                </a:rPr>
                <a:t> </a:t>
              </a:r>
            </a:p>
          </p:txBody>
        </p:sp>
        <p:graphicFrame>
          <p:nvGraphicFramePr>
            <p:cNvPr id="14341" name="Object 8"/>
            <p:cNvGraphicFramePr>
              <a:graphicFrameLocks noChangeAspect="1"/>
            </p:cNvGraphicFramePr>
            <p:nvPr>
              <p:extLst>
                <p:ext uri="{D42A27DB-BD31-4B8C-83A1-F6EECF244321}">
                  <p14:modId xmlns:p14="http://schemas.microsoft.com/office/powerpoint/2010/main" val="2171688820"/>
                </p:ext>
              </p:extLst>
            </p:nvPr>
          </p:nvGraphicFramePr>
          <p:xfrm>
            <a:off x="7019925" y="1584606"/>
            <a:ext cx="742950" cy="434975"/>
          </p:xfrm>
          <a:graphic>
            <a:graphicData uri="http://schemas.openxmlformats.org/presentationml/2006/ole">
              <mc:AlternateContent xmlns:mc="http://schemas.openxmlformats.org/markup-compatibility/2006">
                <mc:Choice xmlns:v="urn:schemas-microsoft-com:vml" Requires="v">
                  <p:oleObj name="Equation" r:id="rId41" imgW="672808" imgH="393529" progId="Equation.DSMT4">
                    <p:embed/>
                  </p:oleObj>
                </mc:Choice>
                <mc:Fallback>
                  <p:oleObj name="Equation" r:id="rId41" imgW="672808" imgH="393529" progId="Equation.DSMT4">
                    <p:embed/>
                    <p:pic>
                      <p:nvPicPr>
                        <p:cNvPr id="14341" name="Object 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019925" y="1584606"/>
                          <a:ext cx="7429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2" name="Object 25"/>
            <p:cNvGraphicFramePr>
              <a:graphicFrameLocks noChangeAspect="1"/>
            </p:cNvGraphicFramePr>
            <p:nvPr>
              <p:extLst>
                <p:ext uri="{D42A27DB-BD31-4B8C-83A1-F6EECF244321}">
                  <p14:modId xmlns:p14="http://schemas.microsoft.com/office/powerpoint/2010/main" val="3904351032"/>
                </p:ext>
              </p:extLst>
            </p:nvPr>
          </p:nvGraphicFramePr>
          <p:xfrm>
            <a:off x="5238750" y="1671919"/>
            <a:ext cx="1038225" cy="277812"/>
          </p:xfrm>
          <a:graphic>
            <a:graphicData uri="http://schemas.openxmlformats.org/presentationml/2006/ole">
              <mc:AlternateContent xmlns:mc="http://schemas.openxmlformats.org/markup-compatibility/2006">
                <mc:Choice xmlns:v="urn:schemas-microsoft-com:vml" Requires="v">
                  <p:oleObj name="Equation" r:id="rId43" imgW="952087" imgH="253890" progId="Equation.DSMT4">
                    <p:embed/>
                  </p:oleObj>
                </mc:Choice>
                <mc:Fallback>
                  <p:oleObj name="Equation" r:id="rId43" imgW="952087" imgH="253890" progId="Equation.DSMT4">
                    <p:embed/>
                    <p:pic>
                      <p:nvPicPr>
                        <p:cNvPr id="14342" name="Object 25"/>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5238750" y="1671919"/>
                          <a:ext cx="10382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upo 1"/>
            <p:cNvGrpSpPr/>
            <p:nvPr/>
          </p:nvGrpSpPr>
          <p:grpSpPr>
            <a:xfrm>
              <a:off x="5762625" y="2224369"/>
              <a:ext cx="2028825" cy="471487"/>
              <a:chOff x="5762625" y="1919288"/>
              <a:chExt cx="2028825" cy="471487"/>
            </a:xfrm>
          </p:grpSpPr>
          <p:graphicFrame>
            <p:nvGraphicFramePr>
              <p:cNvPr id="14344" name="Object 61"/>
              <p:cNvGraphicFramePr>
                <a:graphicFrameLocks noChangeAspect="1"/>
              </p:cNvGraphicFramePr>
              <p:nvPr>
                <p:extLst>
                  <p:ext uri="{D42A27DB-BD31-4B8C-83A1-F6EECF244321}">
                    <p14:modId xmlns:p14="http://schemas.microsoft.com/office/powerpoint/2010/main" val="4257519305"/>
                  </p:ext>
                </p:extLst>
              </p:nvPr>
            </p:nvGraphicFramePr>
            <p:xfrm>
              <a:off x="7334250" y="1919288"/>
              <a:ext cx="457200" cy="471487"/>
            </p:xfrm>
            <a:graphic>
              <a:graphicData uri="http://schemas.openxmlformats.org/presentationml/2006/ole">
                <mc:AlternateContent xmlns:mc="http://schemas.openxmlformats.org/markup-compatibility/2006">
                  <mc:Choice xmlns:v="urn:schemas-microsoft-com:vml" Requires="v">
                    <p:oleObj name="Equation" r:id="rId45" imgW="444307" imgH="457002" progId="Equation.DSMT4">
                      <p:embed/>
                    </p:oleObj>
                  </mc:Choice>
                  <mc:Fallback>
                    <p:oleObj name="Equation" r:id="rId45" imgW="444307" imgH="457002" progId="Equation.DSMT4">
                      <p:embed/>
                      <p:pic>
                        <p:nvPicPr>
                          <p:cNvPr id="14344" name="Object 61"/>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7334250" y="1919288"/>
                            <a:ext cx="457200"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45" name="Object 62"/>
              <p:cNvGraphicFramePr>
                <a:graphicFrameLocks noChangeAspect="1"/>
              </p:cNvGraphicFramePr>
              <p:nvPr>
                <p:extLst>
                  <p:ext uri="{D42A27DB-BD31-4B8C-83A1-F6EECF244321}">
                    <p14:modId xmlns:p14="http://schemas.microsoft.com/office/powerpoint/2010/main" val="690885574"/>
                  </p:ext>
                </p:extLst>
              </p:nvPr>
            </p:nvGraphicFramePr>
            <p:xfrm>
              <a:off x="5762625" y="2009775"/>
              <a:ext cx="973138" cy="282575"/>
            </p:xfrm>
            <a:graphic>
              <a:graphicData uri="http://schemas.openxmlformats.org/presentationml/2006/ole">
                <mc:AlternateContent xmlns:mc="http://schemas.openxmlformats.org/markup-compatibility/2006">
                  <mc:Choice xmlns:v="urn:schemas-microsoft-com:vml" Requires="v">
                    <p:oleObj name="Equation" r:id="rId47" imgW="875920" imgH="253890" progId="Equation.DSMT4">
                      <p:embed/>
                    </p:oleObj>
                  </mc:Choice>
                  <mc:Fallback>
                    <p:oleObj name="Equation" r:id="rId47" imgW="875920" imgH="253890" progId="Equation.DSMT4">
                      <p:embed/>
                      <p:pic>
                        <p:nvPicPr>
                          <p:cNvPr id="14345" name="Object 62"/>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5762625" y="2009775"/>
                            <a:ext cx="97313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6" name="AutoShape 65"/>
              <p:cNvSpPr>
                <a:spLocks/>
              </p:cNvSpPr>
              <p:nvPr/>
            </p:nvSpPr>
            <p:spPr bwMode="auto">
              <a:xfrm>
                <a:off x="7181850" y="1936750"/>
                <a:ext cx="96838" cy="438150"/>
              </a:xfrm>
              <a:prstGeom prst="leftBrace">
                <a:avLst>
                  <a:gd name="adj1" fmla="val 3770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sp>
        <p:nvSpPr>
          <p:cNvPr id="14347" name="AutoShape 67"/>
          <p:cNvSpPr>
            <a:spLocks noChangeArrowheads="1"/>
          </p:cNvSpPr>
          <p:nvPr/>
        </p:nvSpPr>
        <p:spPr bwMode="auto">
          <a:xfrm>
            <a:off x="4800600" y="718246"/>
            <a:ext cx="4191000" cy="5987353"/>
          </a:xfrm>
          <a:prstGeom prst="roundRect">
            <a:avLst>
              <a:gd name="adj" fmla="val 3866"/>
            </a:avLst>
          </a:prstGeom>
          <a:noFill/>
          <a:ln w="9525">
            <a:solidFill>
              <a:srgbClr val="FF66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4348" name="Text Box 60"/>
          <p:cNvSpPr txBox="1">
            <a:spLocks noChangeArrowheads="1"/>
          </p:cNvSpPr>
          <p:nvPr/>
        </p:nvSpPr>
        <p:spPr bwMode="auto">
          <a:xfrm>
            <a:off x="4829843" y="502787"/>
            <a:ext cx="1501004"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800" b="1" dirty="0">
                <a:solidFill>
                  <a:srgbClr val="FF0000"/>
                </a:solidFill>
              </a:rPr>
              <a:t>Tipificación</a:t>
            </a:r>
            <a:endParaRPr lang="es-ES" altLang="es-ES" sz="1800" b="1" dirty="0">
              <a:solidFill>
                <a:srgbClr val="FF0000"/>
              </a:solidFill>
            </a:endParaRPr>
          </a:p>
        </p:txBody>
      </p:sp>
      <p:sp>
        <p:nvSpPr>
          <p:cNvPr id="14352" name="Text Box 66"/>
          <p:cNvSpPr txBox="1">
            <a:spLocks noChangeArrowheads="1"/>
          </p:cNvSpPr>
          <p:nvPr/>
        </p:nvSpPr>
        <p:spPr bwMode="auto">
          <a:xfrm>
            <a:off x="4943475" y="2599170"/>
            <a:ext cx="396240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eaLnBrk="0" hangingPunct="0">
              <a:tabLst>
                <a:tab pos="119063" algn="l"/>
              </a:tabLst>
              <a:defRPr>
                <a:solidFill>
                  <a:schemeClr val="tx1"/>
                </a:solidFill>
                <a:latin typeface="Arial" panose="020B0604020202020204" pitchFamily="34" charset="0"/>
              </a:defRPr>
            </a:lvl1pPr>
            <a:lvl2pPr marL="742950" indent="-285750" eaLnBrk="0" hangingPunct="0">
              <a:tabLst>
                <a:tab pos="119063" algn="l"/>
              </a:tabLst>
              <a:defRPr>
                <a:solidFill>
                  <a:schemeClr val="tx1"/>
                </a:solidFill>
                <a:latin typeface="Arial" panose="020B0604020202020204" pitchFamily="34" charset="0"/>
              </a:defRPr>
            </a:lvl2pPr>
            <a:lvl3pPr marL="1143000" indent="-228600" eaLnBrk="0" hangingPunct="0">
              <a:tabLst>
                <a:tab pos="119063" algn="l"/>
              </a:tabLst>
              <a:defRPr>
                <a:solidFill>
                  <a:schemeClr val="tx1"/>
                </a:solidFill>
                <a:latin typeface="Arial" panose="020B0604020202020204" pitchFamily="34" charset="0"/>
              </a:defRPr>
            </a:lvl3pPr>
            <a:lvl4pPr marL="1600200" indent="-228600" eaLnBrk="0" hangingPunct="0">
              <a:tabLst>
                <a:tab pos="119063" algn="l"/>
              </a:tabLst>
              <a:defRPr>
                <a:solidFill>
                  <a:schemeClr val="tx1"/>
                </a:solidFill>
                <a:latin typeface="Arial" panose="020B0604020202020204" pitchFamily="34" charset="0"/>
              </a:defRPr>
            </a:lvl4pPr>
            <a:lvl5pPr marL="2057400" indent="-228600" eaLnBrk="0" hangingPunct="0">
              <a:tabLst>
                <a:tab pos="119063"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19063"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19063"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19063"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19063" algn="l"/>
              </a:tabLst>
              <a:defRPr>
                <a:solidFill>
                  <a:schemeClr val="tx1"/>
                </a:solidFill>
                <a:latin typeface="Arial" panose="020B0604020202020204" pitchFamily="34" charset="0"/>
              </a:defRPr>
            </a:lvl9pPr>
          </a:lstStyle>
          <a:p>
            <a:pPr eaLnBrk="1" hangingPunct="1">
              <a:lnSpc>
                <a:spcPct val="120000"/>
              </a:lnSpc>
            </a:pPr>
            <a:r>
              <a:rPr lang="es-ES_tradnl" altLang="es-ES" u="sng" dirty="0"/>
              <a:t>Interés de la tipificación</a:t>
            </a:r>
            <a:r>
              <a:rPr lang="es-ES_tradnl" altLang="es-ES" dirty="0"/>
              <a:t>: </a:t>
            </a:r>
          </a:p>
          <a:p>
            <a:pPr algn="just" eaLnBrk="1" hangingPunct="1">
              <a:buFont typeface="Arial" panose="020B0604020202020204" pitchFamily="34" charset="0"/>
              <a:buChar char="•"/>
            </a:pPr>
            <a:r>
              <a:rPr lang="es-ES_tradnl" altLang="es-ES" dirty="0"/>
              <a:t>Permite requerir solamente una tabla de la distribución normal, la de la distribución </a:t>
            </a:r>
            <a:r>
              <a:rPr lang="es-ES_tradnl" altLang="es-ES" b="1" i="1" dirty="0" err="1"/>
              <a:t>norm</a:t>
            </a:r>
            <a:r>
              <a:rPr lang="es-ES" altLang="es-ES" b="1" i="1" dirty="0"/>
              <a:t>al</a:t>
            </a:r>
            <a:r>
              <a:rPr lang="es-ES" altLang="es-ES" dirty="0"/>
              <a:t> </a:t>
            </a:r>
            <a:r>
              <a:rPr lang="es-ES_tradnl" altLang="es-ES" b="1" i="1" dirty="0"/>
              <a:t>estándar</a:t>
            </a:r>
            <a:r>
              <a:rPr lang="es-ES_tradnl" altLang="es-ES" dirty="0"/>
              <a:t> o </a:t>
            </a:r>
            <a:r>
              <a:rPr lang="es-ES_tradnl" altLang="es-ES" b="1" i="1" dirty="0"/>
              <a:t>N</a:t>
            </a:r>
            <a:r>
              <a:rPr lang="es-ES_tradnl" altLang="es-ES" b="1" dirty="0"/>
              <a:t>(0,1)</a:t>
            </a:r>
          </a:p>
        </p:txBody>
      </p:sp>
      <p:sp>
        <p:nvSpPr>
          <p:cNvPr id="14353" name="Text Box 66"/>
          <p:cNvSpPr txBox="1">
            <a:spLocks noChangeArrowheads="1"/>
          </p:cNvSpPr>
          <p:nvPr/>
        </p:nvSpPr>
        <p:spPr bwMode="auto">
          <a:xfrm>
            <a:off x="4943475" y="3505200"/>
            <a:ext cx="3962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eaLnBrk="0" hangingPunct="0">
              <a:tabLst>
                <a:tab pos="119063" algn="l"/>
              </a:tabLst>
              <a:defRPr>
                <a:solidFill>
                  <a:schemeClr val="tx1"/>
                </a:solidFill>
                <a:latin typeface="Arial" panose="020B0604020202020204" pitchFamily="34" charset="0"/>
              </a:defRPr>
            </a:lvl1pPr>
            <a:lvl2pPr marL="742950" indent="-285750" eaLnBrk="0" hangingPunct="0">
              <a:tabLst>
                <a:tab pos="119063" algn="l"/>
              </a:tabLst>
              <a:defRPr>
                <a:solidFill>
                  <a:schemeClr val="tx1"/>
                </a:solidFill>
                <a:latin typeface="Arial" panose="020B0604020202020204" pitchFamily="34" charset="0"/>
              </a:defRPr>
            </a:lvl2pPr>
            <a:lvl3pPr marL="1143000" indent="-228600" eaLnBrk="0" hangingPunct="0">
              <a:tabLst>
                <a:tab pos="119063" algn="l"/>
              </a:tabLst>
              <a:defRPr>
                <a:solidFill>
                  <a:schemeClr val="tx1"/>
                </a:solidFill>
                <a:latin typeface="Arial" panose="020B0604020202020204" pitchFamily="34" charset="0"/>
              </a:defRPr>
            </a:lvl3pPr>
            <a:lvl4pPr marL="1600200" indent="-228600" eaLnBrk="0" hangingPunct="0">
              <a:tabLst>
                <a:tab pos="119063" algn="l"/>
              </a:tabLst>
              <a:defRPr>
                <a:solidFill>
                  <a:schemeClr val="tx1"/>
                </a:solidFill>
                <a:latin typeface="Arial" panose="020B0604020202020204" pitchFamily="34" charset="0"/>
              </a:defRPr>
            </a:lvl4pPr>
            <a:lvl5pPr marL="2057400" indent="-228600" eaLnBrk="0" hangingPunct="0">
              <a:tabLst>
                <a:tab pos="119063"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19063"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19063"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19063"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19063" algn="l"/>
              </a:tabLst>
              <a:defRPr>
                <a:solidFill>
                  <a:schemeClr val="tx1"/>
                </a:solidFill>
                <a:latin typeface="Arial" panose="020B0604020202020204" pitchFamily="34" charset="0"/>
              </a:defRPr>
            </a:lvl9pPr>
          </a:lstStyle>
          <a:p>
            <a:pPr algn="just" eaLnBrk="1" hangingPunct="1">
              <a:buFont typeface="Arial" panose="020B0604020202020204" pitchFamily="34" charset="0"/>
              <a:buChar char="•"/>
            </a:pPr>
            <a:r>
              <a:rPr lang="es-ES_tradnl" altLang="es-ES" b="1" dirty="0"/>
              <a:t>Estandarizar</a:t>
            </a:r>
            <a:r>
              <a:rPr lang="es-ES_tradnl" altLang="es-ES" dirty="0"/>
              <a:t> las observaciones eliminando sus dimensiones y de acuerdo a un grupo de referencia</a:t>
            </a:r>
            <a:r>
              <a:rPr lang="es-ES" altLang="es-ES" dirty="0"/>
              <a:t>, permitiendo localizar a la observación en el grupo </a:t>
            </a:r>
            <a:r>
              <a:rPr lang="es-ES_tradnl" altLang="es-ES" dirty="0"/>
              <a:t>(análogo a lo que hacen los </a:t>
            </a:r>
            <a:r>
              <a:rPr lang="es-ES_tradnl" altLang="es-ES" b="1" dirty="0"/>
              <a:t>percentiles</a:t>
            </a:r>
            <a:r>
              <a:rPr lang="es-ES_tradnl" altLang="es-ES" dirty="0"/>
              <a:t>)</a:t>
            </a:r>
            <a:r>
              <a:rPr lang="es-ES" altLang="es-ES" dirty="0"/>
              <a:t> y comparar con valores tipificados de otras variables</a:t>
            </a:r>
          </a:p>
        </p:txBody>
      </p:sp>
      <p:sp>
        <p:nvSpPr>
          <p:cNvPr id="14354" name="Text Box 66"/>
          <p:cNvSpPr txBox="1">
            <a:spLocks noChangeArrowheads="1"/>
          </p:cNvSpPr>
          <p:nvPr/>
        </p:nvSpPr>
        <p:spPr bwMode="auto">
          <a:xfrm>
            <a:off x="4953000" y="962306"/>
            <a:ext cx="39624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9063" indent="-119063" eaLnBrk="0" hangingPunct="0">
              <a:tabLst>
                <a:tab pos="119063" algn="l"/>
              </a:tabLst>
              <a:defRPr>
                <a:solidFill>
                  <a:schemeClr val="tx1"/>
                </a:solidFill>
                <a:latin typeface="Arial" panose="020B0604020202020204" pitchFamily="34" charset="0"/>
              </a:defRPr>
            </a:lvl1pPr>
            <a:lvl2pPr marL="742950" indent="-285750" eaLnBrk="0" hangingPunct="0">
              <a:tabLst>
                <a:tab pos="119063" algn="l"/>
              </a:tabLst>
              <a:defRPr>
                <a:solidFill>
                  <a:schemeClr val="tx1"/>
                </a:solidFill>
                <a:latin typeface="Arial" panose="020B0604020202020204" pitchFamily="34" charset="0"/>
              </a:defRPr>
            </a:lvl2pPr>
            <a:lvl3pPr marL="1143000" indent="-228600" eaLnBrk="0" hangingPunct="0">
              <a:tabLst>
                <a:tab pos="119063" algn="l"/>
              </a:tabLst>
              <a:defRPr>
                <a:solidFill>
                  <a:schemeClr val="tx1"/>
                </a:solidFill>
                <a:latin typeface="Arial" panose="020B0604020202020204" pitchFamily="34" charset="0"/>
              </a:defRPr>
            </a:lvl3pPr>
            <a:lvl4pPr marL="1600200" indent="-228600" eaLnBrk="0" hangingPunct="0">
              <a:tabLst>
                <a:tab pos="119063" algn="l"/>
              </a:tabLst>
              <a:defRPr>
                <a:solidFill>
                  <a:schemeClr val="tx1"/>
                </a:solidFill>
                <a:latin typeface="Arial" panose="020B0604020202020204" pitchFamily="34" charset="0"/>
              </a:defRPr>
            </a:lvl4pPr>
            <a:lvl5pPr marL="2057400" indent="-228600" eaLnBrk="0" hangingPunct="0">
              <a:tabLst>
                <a:tab pos="119063"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19063"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19063"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19063"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19063" algn="l"/>
              </a:tabLst>
              <a:defRPr>
                <a:solidFill>
                  <a:schemeClr val="tx1"/>
                </a:solidFill>
                <a:latin typeface="Arial" panose="020B0604020202020204" pitchFamily="34" charset="0"/>
              </a:defRPr>
            </a:lvl9pPr>
          </a:lstStyle>
          <a:p>
            <a:pPr marL="0" indent="0" algn="just" eaLnBrk="1" hangingPunct="1">
              <a:lnSpc>
                <a:spcPct val="120000"/>
              </a:lnSpc>
              <a:tabLst/>
            </a:pPr>
            <a:r>
              <a:rPr lang="es-ES_tradnl" altLang="es-ES" b="1" dirty="0"/>
              <a:t>Tipificar</a:t>
            </a:r>
            <a:r>
              <a:rPr lang="es-ES_tradnl" altLang="es-ES" dirty="0"/>
              <a:t> una observación es una forma de </a:t>
            </a:r>
            <a:r>
              <a:rPr lang="es-ES_tradnl" altLang="es-ES" b="1" dirty="0"/>
              <a:t>estandarizarla </a:t>
            </a:r>
            <a:r>
              <a:rPr lang="es-ES_tradnl" altLang="es-ES" dirty="0"/>
              <a:t>en relación a un </a:t>
            </a:r>
            <a:r>
              <a:rPr lang="es-ES_tradnl" altLang="es-ES" b="1" dirty="0"/>
              <a:t>grupo de referencia</a:t>
            </a:r>
          </a:p>
        </p:txBody>
      </p:sp>
      <p:graphicFrame>
        <p:nvGraphicFramePr>
          <p:cNvPr id="14421" name="Object 62"/>
          <p:cNvGraphicFramePr>
            <a:graphicFrameLocks noChangeAspect="1"/>
          </p:cNvGraphicFramePr>
          <p:nvPr>
            <p:extLst>
              <p:ext uri="{D42A27DB-BD31-4B8C-83A1-F6EECF244321}">
                <p14:modId xmlns:p14="http://schemas.microsoft.com/office/powerpoint/2010/main" val="2167509646"/>
              </p:ext>
            </p:extLst>
          </p:nvPr>
        </p:nvGraphicFramePr>
        <p:xfrm>
          <a:off x="6934200" y="6342343"/>
          <a:ext cx="1219200" cy="230188"/>
        </p:xfrm>
        <a:graphic>
          <a:graphicData uri="http://schemas.openxmlformats.org/presentationml/2006/ole">
            <mc:AlternateContent xmlns:mc="http://schemas.openxmlformats.org/markup-compatibility/2006">
              <mc:Choice xmlns:v="urn:schemas-microsoft-com:vml" Requires="v">
                <p:oleObj name="Equation" r:id="rId49" imgW="1346040" imgH="253800" progId="Equation.DSMT4">
                  <p:embed/>
                </p:oleObj>
              </mc:Choice>
              <mc:Fallback>
                <p:oleObj name="Equation" r:id="rId49" imgW="1346040" imgH="253800" progId="Equation.DSMT4">
                  <p:embed/>
                  <p:pic>
                    <p:nvPicPr>
                      <p:cNvPr id="14421" name="Object 62"/>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6934200" y="6342343"/>
                        <a:ext cx="121920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22" name="Line 86"/>
          <p:cNvSpPr>
            <a:spLocks noChangeShapeType="1"/>
          </p:cNvSpPr>
          <p:nvPr/>
        </p:nvSpPr>
        <p:spPr bwMode="auto">
          <a:xfrm>
            <a:off x="7505700" y="6115331"/>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4423" name="Object 62"/>
          <p:cNvGraphicFramePr>
            <a:graphicFrameLocks noChangeAspect="1"/>
          </p:cNvGraphicFramePr>
          <p:nvPr>
            <p:extLst>
              <p:ext uri="{D42A27DB-BD31-4B8C-83A1-F6EECF244321}">
                <p14:modId xmlns:p14="http://schemas.microsoft.com/office/powerpoint/2010/main" val="836939948"/>
              </p:ext>
            </p:extLst>
          </p:nvPr>
        </p:nvGraphicFramePr>
        <p:xfrm>
          <a:off x="5491163" y="6342343"/>
          <a:ext cx="1057275" cy="230187"/>
        </p:xfrm>
        <a:graphic>
          <a:graphicData uri="http://schemas.openxmlformats.org/presentationml/2006/ole">
            <mc:AlternateContent xmlns:mc="http://schemas.openxmlformats.org/markup-compatibility/2006">
              <mc:Choice xmlns:v="urn:schemas-microsoft-com:vml" Requires="v">
                <p:oleObj name="Equation" r:id="rId51" imgW="1168200" imgH="253800" progId="Equation.DSMT4">
                  <p:embed/>
                </p:oleObj>
              </mc:Choice>
              <mc:Fallback>
                <p:oleObj name="Equation" r:id="rId51" imgW="1168200" imgH="253800" progId="Equation.DSMT4">
                  <p:embed/>
                  <p:pic>
                    <p:nvPicPr>
                      <p:cNvPr id="14423" name="Object 62"/>
                      <p:cNvPicPr>
                        <a:picLocks noChangeAspect="1" noChangeArrowheads="1"/>
                      </p:cNvPicPr>
                      <p:nvPr/>
                    </p:nvPicPr>
                    <p:blipFill>
                      <a:blip r:embed="rId52">
                        <a:extLst>
                          <a:ext uri="{28A0092B-C50C-407E-A947-70E740481C1C}">
                            <a14:useLocalDpi xmlns:a14="http://schemas.microsoft.com/office/drawing/2010/main" val="0"/>
                          </a:ext>
                        </a:extLst>
                      </a:blip>
                      <a:srcRect/>
                      <a:stretch>
                        <a:fillRect/>
                      </a:stretch>
                    </p:blipFill>
                    <p:spPr bwMode="auto">
                      <a:xfrm>
                        <a:off x="5491163" y="6342343"/>
                        <a:ext cx="105727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24" name="Line 88"/>
          <p:cNvSpPr>
            <a:spLocks noChangeShapeType="1"/>
          </p:cNvSpPr>
          <p:nvPr/>
        </p:nvSpPr>
        <p:spPr bwMode="auto">
          <a:xfrm>
            <a:off x="6257925" y="6115331"/>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7" name="Text Box 91"/>
          <p:cNvSpPr txBox="1">
            <a:spLocks noChangeArrowheads="1"/>
          </p:cNvSpPr>
          <p:nvPr/>
        </p:nvSpPr>
        <p:spPr bwMode="auto">
          <a:xfrm>
            <a:off x="169740" y="417756"/>
            <a:ext cx="31242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400" b="1" dirty="0"/>
              <a:t>Modelo de distribución </a:t>
            </a:r>
            <a:r>
              <a:rPr lang="es-ES" altLang="es-ES" sz="1800" b="1" dirty="0">
                <a:solidFill>
                  <a:srgbClr val="FF0000"/>
                </a:solidFill>
              </a:rPr>
              <a:t>Normal</a:t>
            </a:r>
          </a:p>
        </p:txBody>
      </p:sp>
      <p:sp>
        <p:nvSpPr>
          <p:cNvPr id="88" name="4 Rectángulo"/>
          <p:cNvSpPr>
            <a:spLocks noChangeArrowheads="1"/>
          </p:cNvSpPr>
          <p:nvPr/>
        </p:nvSpPr>
        <p:spPr bwMode="auto">
          <a:xfrm>
            <a:off x="169740" y="74829"/>
            <a:ext cx="670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de VAC</a:t>
            </a:r>
          </a:p>
        </p:txBody>
      </p:sp>
    </p:spTree>
    <p:extLst>
      <p:ext uri="{BB962C8B-B14F-4D97-AF65-F5344CB8AC3E}">
        <p14:creationId xmlns:p14="http://schemas.microsoft.com/office/powerpoint/2010/main" val="3603092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367"/>
          <p:cNvSpPr>
            <a:spLocks noChangeArrowheads="1"/>
          </p:cNvSpPr>
          <p:nvPr/>
        </p:nvSpPr>
        <p:spPr bwMode="auto">
          <a:xfrm>
            <a:off x="539552" y="226091"/>
            <a:ext cx="6324600" cy="40011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ES" sz="2000" b="1" dirty="0">
                <a:solidFill>
                  <a:schemeClr val="tx1"/>
                </a:solidFill>
                <a:latin typeface="+mn-lt"/>
                <a:cs typeface="Times New Roman" pitchFamily="18" charset="0"/>
              </a:rPr>
              <a:t>Distribución Normal típica o estándar</a:t>
            </a:r>
          </a:p>
        </p:txBody>
      </p:sp>
      <mc:AlternateContent xmlns:mc="http://schemas.openxmlformats.org/markup-compatibility/2006" xmlns:a14="http://schemas.microsoft.com/office/drawing/2010/main">
        <mc:Choice Requires="a14">
          <p:sp>
            <p:nvSpPr>
              <p:cNvPr id="2" name="1 CuadroTexto"/>
              <p:cNvSpPr txBox="1"/>
              <p:nvPr/>
            </p:nvSpPr>
            <p:spPr>
              <a:xfrm>
                <a:off x="539552" y="1388018"/>
                <a:ext cx="7920880" cy="3336747"/>
              </a:xfrm>
              <a:prstGeom prst="rect">
                <a:avLst/>
              </a:prstGeom>
              <a:noFill/>
            </p:spPr>
            <p:txBody>
              <a:bodyPr wrap="square" rtlCol="0">
                <a:spAutoFit/>
              </a:bodyPr>
              <a:lstStyle/>
              <a:p>
                <a:pPr algn="just"/>
                <a:r>
                  <a:rPr lang="es-ES" sz="1800" dirty="0">
                    <a:solidFill>
                      <a:schemeClr val="tx1"/>
                    </a:solidFill>
                  </a:rPr>
                  <a:t>La </a:t>
                </a:r>
                <a:r>
                  <a:rPr lang="es-ES" sz="1800" dirty="0" err="1">
                    <a:solidFill>
                      <a:schemeClr val="tx1"/>
                    </a:solidFill>
                  </a:rPr>
                  <a:t>v.a.</a:t>
                </a:r>
                <a:r>
                  <a:rPr lang="es-ES" sz="1800" dirty="0">
                    <a:solidFill>
                      <a:schemeClr val="tx1"/>
                    </a:solidFill>
                  </a:rPr>
                  <a:t> normal típica o estándar tiene una media igual a 0 y una desviación típica (y varianza) igual a 1. Se representa como </a:t>
                </a:r>
                <a:r>
                  <a:rPr lang="es-ES" sz="1800" i="1" dirty="0">
                    <a:solidFill>
                      <a:schemeClr val="tx1"/>
                    </a:solidFill>
                  </a:rPr>
                  <a:t>z</a:t>
                </a:r>
                <a:r>
                  <a:rPr lang="es-ES" sz="1800" dirty="0">
                    <a:solidFill>
                      <a:schemeClr val="tx1"/>
                    </a:solidFill>
                  </a:rPr>
                  <a:t>, esto es</a:t>
                </a:r>
              </a:p>
              <a:p>
                <a:pPr algn="just"/>
                <a:endParaRPr lang="es-ES" sz="1800" dirty="0">
                  <a:solidFill>
                    <a:schemeClr val="tx1"/>
                  </a:solidFill>
                </a:endParaRPr>
              </a:p>
              <a:p>
                <a:pPr/>
                <a14:m>
                  <m:oMathPara xmlns:m="http://schemas.openxmlformats.org/officeDocument/2006/math">
                    <m:oMathParaPr>
                      <m:jc m:val="centerGroup"/>
                    </m:oMathParaPr>
                    <m:oMath xmlns:m="http://schemas.openxmlformats.org/officeDocument/2006/math">
                      <m:r>
                        <a:rPr lang="es-ES" sz="1800" b="0" i="1" smtClean="0">
                          <a:solidFill>
                            <a:schemeClr val="tx1"/>
                          </a:solidFill>
                          <a:latin typeface="Cambria Math"/>
                        </a:rPr>
                        <m:t>𝑧</m:t>
                      </m:r>
                      <m:r>
                        <a:rPr lang="es-ES" sz="1800" b="0" i="1" smtClean="0">
                          <a:solidFill>
                            <a:schemeClr val="tx1"/>
                          </a:solidFill>
                          <a:latin typeface="Cambria Math"/>
                          <a:ea typeface="Cambria Math"/>
                        </a:rPr>
                        <m:t>→</m:t>
                      </m:r>
                      <m:r>
                        <a:rPr lang="es-ES" sz="1800" b="0" i="1" smtClean="0">
                          <a:solidFill>
                            <a:schemeClr val="tx1"/>
                          </a:solidFill>
                          <a:latin typeface="Cambria Math"/>
                          <a:ea typeface="Cambria Math"/>
                        </a:rPr>
                        <m:t>𝑁</m:t>
                      </m:r>
                      <m:d>
                        <m:dPr>
                          <m:ctrlPr>
                            <a:rPr lang="es-ES" sz="1800" b="0" i="1" smtClean="0">
                              <a:solidFill>
                                <a:schemeClr val="tx1"/>
                              </a:solidFill>
                              <a:latin typeface="Cambria Math" panose="02040503050406030204" pitchFamily="18" charset="0"/>
                              <a:ea typeface="Cambria Math"/>
                            </a:rPr>
                          </m:ctrlPr>
                        </m:dPr>
                        <m:e>
                          <m:r>
                            <a:rPr lang="es-ES" sz="1800" b="0" i="1" smtClean="0">
                              <a:solidFill>
                                <a:schemeClr val="tx1"/>
                              </a:solidFill>
                              <a:latin typeface="Cambria Math"/>
                              <a:ea typeface="Cambria Math"/>
                            </a:rPr>
                            <m:t>0 , 1</m:t>
                          </m:r>
                        </m:e>
                      </m:d>
                    </m:oMath>
                  </m:oMathPara>
                </a14:m>
                <a:endParaRPr lang="es-ES" sz="1800" b="0" dirty="0">
                  <a:solidFill>
                    <a:schemeClr val="tx1"/>
                  </a:solidFill>
                  <a:ea typeface="Cambria Math"/>
                </a:endParaRPr>
              </a:p>
              <a:p>
                <a:endParaRPr lang="es-ES" sz="1800" dirty="0">
                  <a:solidFill>
                    <a:schemeClr val="tx1"/>
                  </a:solidFill>
                </a:endParaRPr>
              </a:p>
              <a:p>
                <a:pPr algn="just"/>
                <a:r>
                  <a:rPr lang="es-ES" sz="1800" dirty="0">
                    <a:solidFill>
                      <a:schemeClr val="tx1"/>
                    </a:solidFill>
                  </a:rPr>
                  <a:t>Una </a:t>
                </a:r>
                <a:r>
                  <a:rPr lang="es-ES" sz="1800" dirty="0" err="1">
                    <a:solidFill>
                      <a:schemeClr val="tx1"/>
                    </a:solidFill>
                  </a:rPr>
                  <a:t>v.a.</a:t>
                </a:r>
                <a:r>
                  <a:rPr lang="es-ES" sz="1800" dirty="0">
                    <a:solidFill>
                      <a:schemeClr val="tx1"/>
                    </a:solidFill>
                  </a:rPr>
                  <a:t> Normal de media </a:t>
                </a:r>
                <a:r>
                  <a:rPr lang="el-GR" sz="1800" i="1" dirty="0">
                    <a:solidFill>
                      <a:schemeClr val="tx1"/>
                    </a:solidFill>
                  </a:rPr>
                  <a:t>μ</a:t>
                </a:r>
                <a:r>
                  <a:rPr lang="es-ES" sz="1800" dirty="0">
                    <a:solidFill>
                      <a:schemeClr val="tx1"/>
                    </a:solidFill>
                  </a:rPr>
                  <a:t> y desviación típica </a:t>
                </a:r>
                <a:r>
                  <a:rPr lang="el-GR" sz="1800" i="1" dirty="0">
                    <a:solidFill>
                      <a:schemeClr val="tx1"/>
                    </a:solidFill>
                  </a:rPr>
                  <a:t>σ</a:t>
                </a:r>
                <a:r>
                  <a:rPr lang="es-ES" sz="1800" dirty="0">
                    <a:solidFill>
                      <a:schemeClr val="tx1"/>
                    </a:solidFill>
                  </a:rPr>
                  <a:t> se puede transformar en una </a:t>
                </a:r>
                <a:r>
                  <a:rPr lang="es-ES" sz="1800" dirty="0" err="1">
                    <a:solidFill>
                      <a:schemeClr val="tx1"/>
                    </a:solidFill>
                  </a:rPr>
                  <a:t>v.a.</a:t>
                </a:r>
                <a:r>
                  <a:rPr lang="es-ES" sz="1800" dirty="0">
                    <a:solidFill>
                      <a:schemeClr val="tx1"/>
                    </a:solidFill>
                  </a:rPr>
                  <a:t> Normal típica </a:t>
                </a:r>
                <a14:m>
                  <m:oMath xmlns:m="http://schemas.openxmlformats.org/officeDocument/2006/math">
                    <m:d>
                      <m:dPr>
                        <m:ctrlPr>
                          <a:rPr lang="es-ES" sz="1800" i="1" smtClean="0">
                            <a:solidFill>
                              <a:schemeClr val="tx1"/>
                            </a:solidFill>
                            <a:latin typeface="Cambria Math" panose="02040503050406030204" pitchFamily="18" charset="0"/>
                          </a:rPr>
                        </m:ctrlPr>
                      </m:dPr>
                      <m:e>
                        <m:r>
                          <a:rPr lang="es-ES" sz="1800" i="1" smtClean="0">
                            <a:solidFill>
                              <a:schemeClr val="tx1"/>
                            </a:solidFill>
                            <a:latin typeface="Cambria Math"/>
                            <a:ea typeface="Cambria Math"/>
                          </a:rPr>
                          <m:t>𝜇</m:t>
                        </m:r>
                        <m:r>
                          <a:rPr lang="es-ES" sz="1800" b="0" i="1" smtClean="0">
                            <a:solidFill>
                              <a:schemeClr val="tx1"/>
                            </a:solidFill>
                            <a:latin typeface="Cambria Math"/>
                            <a:ea typeface="Cambria Math"/>
                          </a:rPr>
                          <m:t>=0 , </m:t>
                        </m:r>
                        <m:r>
                          <a:rPr lang="es-ES" sz="1800" b="0" i="1" smtClean="0">
                            <a:solidFill>
                              <a:schemeClr val="tx1"/>
                            </a:solidFill>
                            <a:latin typeface="Cambria Math"/>
                            <a:ea typeface="Cambria Math"/>
                          </a:rPr>
                          <m:t>𝜎</m:t>
                        </m:r>
                        <m:r>
                          <a:rPr lang="es-ES" sz="1800" b="0" i="1" smtClean="0">
                            <a:solidFill>
                              <a:schemeClr val="tx1"/>
                            </a:solidFill>
                            <a:latin typeface="Cambria Math"/>
                            <a:ea typeface="Cambria Math"/>
                          </a:rPr>
                          <m:t>=1</m:t>
                        </m:r>
                      </m:e>
                    </m:d>
                  </m:oMath>
                </a14:m>
                <a:r>
                  <a:rPr lang="es-ES" sz="1800" dirty="0">
                    <a:solidFill>
                      <a:schemeClr val="tx1"/>
                    </a:solidFill>
                  </a:rPr>
                  <a:t> mediante una transformación denominada tipificación. La tipificación de una </a:t>
                </a:r>
                <a:r>
                  <a:rPr lang="es-ES" sz="1800" dirty="0" err="1">
                    <a:solidFill>
                      <a:schemeClr val="tx1"/>
                    </a:solidFill>
                  </a:rPr>
                  <a:t>v.a.</a:t>
                </a:r>
                <a:r>
                  <a:rPr lang="es-ES" sz="1800" dirty="0">
                    <a:solidFill>
                      <a:schemeClr val="tx1"/>
                    </a:solidFill>
                  </a:rPr>
                  <a:t> consiste en</a:t>
                </a:r>
              </a:p>
              <a:p>
                <a:pPr algn="just"/>
                <a:endParaRPr lang="es-ES" sz="1800" dirty="0">
                  <a:solidFill>
                    <a:schemeClr val="tx1"/>
                  </a:solidFill>
                </a:endParaRPr>
              </a:p>
              <a:p>
                <a:pPr algn="just"/>
                <a14:m>
                  <m:oMathPara xmlns:m="http://schemas.openxmlformats.org/officeDocument/2006/math">
                    <m:oMathParaPr>
                      <m:jc m:val="centerGroup"/>
                    </m:oMathParaPr>
                    <m:oMath xmlns:m="http://schemas.openxmlformats.org/officeDocument/2006/math">
                      <m:r>
                        <a:rPr lang="es-ES" sz="1800" b="0" i="1" smtClean="0">
                          <a:solidFill>
                            <a:schemeClr val="tx1"/>
                          </a:solidFill>
                          <a:latin typeface="Cambria Math"/>
                        </a:rPr>
                        <m:t>𝑧</m:t>
                      </m:r>
                      <m:r>
                        <a:rPr lang="es-ES" sz="1800" b="0" i="1" smtClean="0">
                          <a:solidFill>
                            <a:schemeClr val="tx1"/>
                          </a:solidFill>
                          <a:latin typeface="Cambria Math"/>
                        </a:rPr>
                        <m:t>=</m:t>
                      </m:r>
                      <m:f>
                        <m:fPr>
                          <m:ctrlPr>
                            <a:rPr lang="es-ES" sz="1800" i="1" smtClean="0">
                              <a:solidFill>
                                <a:schemeClr val="tx1"/>
                              </a:solidFill>
                              <a:latin typeface="Cambria Math" panose="02040503050406030204" pitchFamily="18" charset="0"/>
                            </a:rPr>
                          </m:ctrlPr>
                        </m:fPr>
                        <m:num>
                          <m:r>
                            <a:rPr lang="es-ES" sz="1800" b="0" i="1" smtClean="0">
                              <a:solidFill>
                                <a:schemeClr val="tx1"/>
                              </a:solidFill>
                              <a:latin typeface="Cambria Math"/>
                            </a:rPr>
                            <m:t>𝑥</m:t>
                          </m:r>
                          <m:r>
                            <a:rPr lang="es-ES" sz="1800" b="0" i="1" smtClean="0">
                              <a:solidFill>
                                <a:schemeClr val="tx1"/>
                              </a:solidFill>
                              <a:latin typeface="Cambria Math"/>
                            </a:rPr>
                            <m:t>−</m:t>
                          </m:r>
                          <m:r>
                            <a:rPr lang="es-ES" sz="1800" b="0" i="1" smtClean="0">
                              <a:solidFill>
                                <a:schemeClr val="tx1"/>
                              </a:solidFill>
                              <a:latin typeface="Cambria Math"/>
                              <a:ea typeface="Cambria Math"/>
                            </a:rPr>
                            <m:t>𝜇</m:t>
                          </m:r>
                        </m:num>
                        <m:den>
                          <m:r>
                            <a:rPr lang="es-ES" sz="1800" i="1" smtClean="0">
                              <a:solidFill>
                                <a:schemeClr val="tx1"/>
                              </a:solidFill>
                              <a:latin typeface="Cambria Math"/>
                              <a:ea typeface="Cambria Math"/>
                            </a:rPr>
                            <m:t>𝜎</m:t>
                          </m:r>
                        </m:den>
                      </m:f>
                    </m:oMath>
                  </m:oMathPara>
                </a14:m>
                <a:endParaRPr lang="es-ES" sz="1800" i="1" dirty="0">
                  <a:solidFill>
                    <a:schemeClr val="tx1"/>
                  </a:solidFill>
                </a:endParaRPr>
              </a:p>
              <a:p>
                <a:pPr algn="just"/>
                <a:r>
                  <a:rPr lang="es-ES" sz="1800" dirty="0">
                    <a:solidFill>
                      <a:schemeClr val="tx1"/>
                    </a:solidFill>
                  </a:rPr>
                  <a:t>La </a:t>
                </a:r>
                <a:r>
                  <a:rPr lang="es-ES" sz="1800" dirty="0" err="1">
                    <a:solidFill>
                      <a:schemeClr val="tx1"/>
                    </a:solidFill>
                  </a:rPr>
                  <a:t>v.a.</a:t>
                </a:r>
                <a:r>
                  <a:rPr lang="es-ES" sz="1800" dirty="0">
                    <a:solidFill>
                      <a:schemeClr val="tx1"/>
                    </a:solidFill>
                  </a:rPr>
                  <a:t> Normal tipificada está tabulada:</a:t>
                </a:r>
              </a:p>
            </p:txBody>
          </p:sp>
        </mc:Choice>
        <mc:Fallback xmlns="">
          <p:sp>
            <p:nvSpPr>
              <p:cNvPr id="2" name="1 CuadroTexto"/>
              <p:cNvSpPr txBox="1">
                <a:spLocks noRot="1" noChangeAspect="1" noMove="1" noResize="1" noEditPoints="1" noAdjustHandles="1" noChangeArrowheads="1" noChangeShapeType="1" noTextEdit="1"/>
              </p:cNvSpPr>
              <p:nvPr/>
            </p:nvSpPr>
            <p:spPr>
              <a:xfrm>
                <a:off x="539552" y="1388018"/>
                <a:ext cx="7920880" cy="3336747"/>
              </a:xfrm>
              <a:prstGeom prst="rect">
                <a:avLst/>
              </a:prstGeom>
              <a:blipFill>
                <a:blip r:embed="rId2"/>
                <a:stretch>
                  <a:fillRect l="-640" t="-760" r="-640" b="-2281"/>
                </a:stretch>
              </a:blipFill>
            </p:spPr>
            <p:txBody>
              <a:bodyPr/>
              <a:lstStyle/>
              <a:p>
                <a:r>
                  <a:rPr lang="en-US">
                    <a:noFill/>
                  </a:rPr>
                  <a:t> </a:t>
                </a:r>
              </a:p>
            </p:txBody>
          </p:sp>
        </mc:Fallback>
      </mc:AlternateContent>
      <p:sp>
        <p:nvSpPr>
          <p:cNvPr id="3" name="2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26</a:t>
            </a:fld>
            <a:endParaRPr lang="en-GB" altLang="es-E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1 CuadroTexto"/>
              <p:cNvSpPr txBox="1"/>
              <p:nvPr/>
            </p:nvSpPr>
            <p:spPr>
              <a:xfrm>
                <a:off x="467544" y="332656"/>
                <a:ext cx="7992888" cy="5653727"/>
              </a:xfrm>
              <a:prstGeom prst="rect">
                <a:avLst/>
              </a:prstGeom>
              <a:noFill/>
            </p:spPr>
            <p:txBody>
              <a:bodyPr wrap="square" rtlCol="0">
                <a:spAutoFit/>
              </a:bodyPr>
              <a:lstStyle/>
              <a:p>
                <a:pPr algn="just"/>
                <a:r>
                  <a:rPr lang="es-ES" sz="1800" dirty="0">
                    <a:solidFill>
                      <a:schemeClr val="tx1"/>
                    </a:solidFill>
                  </a:rPr>
                  <a:t>La tipificación se puede realizar para cualquier variable aleatoria (continua o discreta) que tenga una media </a:t>
                </a:r>
                <a:r>
                  <a:rPr lang="el-GR" sz="1800" i="1" dirty="0">
                    <a:solidFill>
                      <a:schemeClr val="tx1"/>
                    </a:solidFill>
                  </a:rPr>
                  <a:t>μ</a:t>
                </a:r>
                <a:r>
                  <a:rPr lang="es-ES" sz="1800" dirty="0">
                    <a:solidFill>
                      <a:schemeClr val="tx1"/>
                    </a:solidFill>
                  </a:rPr>
                  <a:t> y desviación típica </a:t>
                </a:r>
                <a:r>
                  <a:rPr lang="el-GR" sz="1800" i="1" dirty="0">
                    <a:solidFill>
                      <a:schemeClr val="tx1"/>
                    </a:solidFill>
                  </a:rPr>
                  <a:t>σ</a:t>
                </a:r>
                <a:r>
                  <a:rPr lang="es-ES" sz="1800" i="1" dirty="0">
                    <a:solidFill>
                      <a:schemeClr val="tx1"/>
                    </a:solidFill>
                  </a:rPr>
                  <a:t>.</a:t>
                </a:r>
                <a:r>
                  <a:rPr lang="es-ES" sz="1800" dirty="0">
                    <a:solidFill>
                      <a:schemeClr val="tx1"/>
                    </a:solidFill>
                  </a:rPr>
                  <a:t> También se puede realizar con valores </a:t>
                </a:r>
                <a:r>
                  <a:rPr lang="es-ES" sz="1800" dirty="0" err="1">
                    <a:solidFill>
                      <a:schemeClr val="tx1"/>
                    </a:solidFill>
                  </a:rPr>
                  <a:t>muestrales</a:t>
                </a:r>
                <a:r>
                  <a:rPr lang="es-ES" sz="1800" dirty="0">
                    <a:solidFill>
                      <a:schemeClr val="tx1"/>
                    </a:solidFill>
                  </a:rPr>
                  <a:t>, tomando </a:t>
                </a:r>
                <a14:m>
                  <m:oMath xmlns:m="http://schemas.openxmlformats.org/officeDocument/2006/math">
                    <m:acc>
                      <m:accPr>
                        <m:chr m:val="̅"/>
                        <m:ctrlPr>
                          <a:rPr lang="es-ES" sz="1800" i="1" smtClean="0">
                            <a:solidFill>
                              <a:schemeClr val="tx1"/>
                            </a:solidFill>
                            <a:latin typeface="Cambria Math" panose="02040503050406030204" pitchFamily="18" charset="0"/>
                          </a:rPr>
                        </m:ctrlPr>
                      </m:accPr>
                      <m:e>
                        <m:r>
                          <a:rPr lang="es-ES" sz="1800" b="0" i="1" smtClean="0">
                            <a:solidFill>
                              <a:schemeClr val="tx1"/>
                            </a:solidFill>
                            <a:latin typeface="Cambria Math"/>
                          </a:rPr>
                          <m:t>𝑥</m:t>
                        </m:r>
                      </m:e>
                    </m:acc>
                  </m:oMath>
                </a14:m>
                <a:r>
                  <a:rPr lang="es-ES" sz="1800" dirty="0">
                    <a:solidFill>
                      <a:schemeClr val="tx1"/>
                    </a:solidFill>
                  </a:rPr>
                  <a:t> y </a:t>
                </a:r>
                <a:r>
                  <a:rPr lang="es-ES" sz="1800" i="1" dirty="0">
                    <a:solidFill>
                      <a:schemeClr val="tx1"/>
                    </a:solidFill>
                  </a:rPr>
                  <a:t>s</a:t>
                </a:r>
                <a:r>
                  <a:rPr lang="es-ES" sz="1800" dirty="0">
                    <a:solidFill>
                      <a:schemeClr val="tx1"/>
                    </a:solidFill>
                  </a:rPr>
                  <a:t> en lugar de </a:t>
                </a:r>
                <a:r>
                  <a:rPr lang="el-GR" sz="1800" i="1" dirty="0">
                    <a:solidFill>
                      <a:schemeClr val="tx1"/>
                    </a:solidFill>
                  </a:rPr>
                  <a:t>μ</a:t>
                </a:r>
                <a:r>
                  <a:rPr lang="es-ES" sz="1800" dirty="0">
                    <a:solidFill>
                      <a:schemeClr val="tx1"/>
                    </a:solidFill>
                  </a:rPr>
                  <a:t> y </a:t>
                </a:r>
                <a:r>
                  <a:rPr lang="el-GR" sz="1800" i="1" dirty="0">
                    <a:solidFill>
                      <a:schemeClr val="tx1"/>
                    </a:solidFill>
                  </a:rPr>
                  <a:t>σ</a:t>
                </a:r>
                <a:r>
                  <a:rPr lang="es-ES" sz="1800" dirty="0">
                    <a:solidFill>
                      <a:schemeClr val="tx1"/>
                    </a:solidFill>
                  </a:rPr>
                  <a:t>.</a:t>
                </a:r>
              </a:p>
              <a:p>
                <a:pPr lvl="0"/>
                <a:endParaRPr lang="es-ES" sz="1800" dirty="0">
                  <a:solidFill>
                    <a:schemeClr val="tx1"/>
                  </a:solidFill>
                </a:endParaRPr>
              </a:p>
              <a:p>
                <a:pPr lvl="0" algn="just"/>
                <a:r>
                  <a:rPr lang="es-ES" sz="1800" dirty="0">
                    <a:solidFill>
                      <a:schemeClr val="tx1"/>
                    </a:solidFill>
                  </a:rPr>
                  <a:t>Ejemplo. </a:t>
                </a:r>
                <a:r>
                  <a:rPr lang="es-ES_tradnl" sz="1800" dirty="0">
                    <a:solidFill>
                      <a:schemeClr val="tx1"/>
                    </a:solidFill>
                  </a:rPr>
                  <a:t>Si la estatura de los españoles (</a:t>
                </a:r>
                <a:r>
                  <a:rPr lang="es-ES_tradnl" sz="1800" i="1" dirty="0">
                    <a:solidFill>
                      <a:schemeClr val="tx1"/>
                    </a:solidFill>
                  </a:rPr>
                  <a:t>x</a:t>
                </a:r>
                <a:r>
                  <a:rPr lang="es-ES_tradnl" sz="1800" dirty="0">
                    <a:solidFill>
                      <a:schemeClr val="tx1"/>
                    </a:solidFill>
                  </a:rPr>
                  <a:t>) sigue una distribución Normal, </a:t>
                </a:r>
                <a14:m>
                  <m:oMath xmlns:m="http://schemas.openxmlformats.org/officeDocument/2006/math">
                    <m:r>
                      <a:rPr lang="es-ES" sz="1800" b="0" i="1" smtClean="0">
                        <a:solidFill>
                          <a:schemeClr val="tx1"/>
                        </a:solidFill>
                        <a:latin typeface="Cambria Math"/>
                      </a:rPr>
                      <m:t>𝑥</m:t>
                    </m:r>
                    <m:r>
                      <a:rPr lang="es-ES" sz="1800" b="0" i="1" smtClean="0">
                        <a:solidFill>
                          <a:schemeClr val="tx1"/>
                        </a:solidFill>
                        <a:latin typeface="Cambria Math"/>
                        <a:ea typeface="Cambria Math"/>
                      </a:rPr>
                      <m:t>→</m:t>
                    </m:r>
                    <m:r>
                      <a:rPr lang="es-ES" sz="1800" b="0" i="1" smtClean="0">
                        <a:solidFill>
                          <a:schemeClr val="tx1"/>
                        </a:solidFill>
                        <a:latin typeface="Cambria Math"/>
                        <a:ea typeface="Cambria Math"/>
                      </a:rPr>
                      <m:t>𝑁</m:t>
                    </m:r>
                    <m:d>
                      <m:dPr>
                        <m:ctrlPr>
                          <a:rPr lang="es-ES" sz="1800" b="0" i="1" smtClean="0">
                            <a:solidFill>
                              <a:schemeClr val="tx1"/>
                            </a:solidFill>
                            <a:latin typeface="Cambria Math" panose="02040503050406030204" pitchFamily="18" charset="0"/>
                            <a:ea typeface="Cambria Math"/>
                          </a:rPr>
                        </m:ctrlPr>
                      </m:dPr>
                      <m:e>
                        <m:r>
                          <a:rPr lang="es-ES" sz="1800" b="0" i="1" smtClean="0">
                            <a:solidFill>
                              <a:schemeClr val="tx1"/>
                            </a:solidFill>
                            <a:latin typeface="Cambria Math"/>
                            <a:ea typeface="Cambria Math"/>
                          </a:rPr>
                          <m:t>170 , 10</m:t>
                        </m:r>
                      </m:e>
                    </m:d>
                    <m:r>
                      <a:rPr lang="es-ES" sz="1800" b="0" i="0" smtClean="0">
                        <a:solidFill>
                          <a:schemeClr val="tx1"/>
                        </a:solidFill>
                        <a:latin typeface="Cambria Math"/>
                        <a:ea typeface="Cambria Math"/>
                      </a:rPr>
                      <m:t>,</m:t>
                    </m:r>
                  </m:oMath>
                </a14:m>
                <a:r>
                  <a:rPr lang="es-ES" sz="1800" dirty="0">
                    <a:solidFill>
                      <a:schemeClr val="tx1"/>
                    </a:solidFill>
                  </a:rPr>
                  <a:t> </a:t>
                </a:r>
                <a:r>
                  <a:rPr lang="es-ES_tradnl" sz="1800" dirty="0">
                    <a:solidFill>
                      <a:schemeClr val="tx1"/>
                    </a:solidFill>
                  </a:rPr>
                  <a:t>¿entre qué estaturas está el 95% de los españoles?</a:t>
                </a:r>
                <a:endParaRPr lang="es-ES" sz="1800" dirty="0">
                  <a:solidFill>
                    <a:schemeClr val="tx1"/>
                  </a:solidFill>
                </a:endParaRPr>
              </a:p>
              <a:p>
                <a:endParaRPr lang="es-ES" sz="1800" dirty="0">
                  <a:solidFill>
                    <a:schemeClr val="tx1"/>
                  </a:solidFill>
                </a:endParaRPr>
              </a:p>
              <a:p>
                <a:endParaRPr lang="es-ES" sz="1800" dirty="0">
                  <a:solidFill>
                    <a:schemeClr val="tx1"/>
                  </a:solidFill>
                </a:endParaRPr>
              </a:p>
              <a:p>
                <a:endParaRPr lang="es-ES" sz="1800" dirty="0">
                  <a:solidFill>
                    <a:schemeClr val="tx1"/>
                  </a:solidFill>
                </a:endParaRPr>
              </a:p>
              <a:p>
                <a:pPr algn="just"/>
                <a:endParaRPr lang="es-ES_tradnl" sz="1800" dirty="0">
                  <a:solidFill>
                    <a:schemeClr val="tx1"/>
                  </a:solidFill>
                </a:endParaRPr>
              </a:p>
              <a:p>
                <a:pPr algn="just"/>
                <a:r>
                  <a:rPr lang="es-ES_tradnl" sz="1800" dirty="0">
                    <a:solidFill>
                      <a:schemeClr val="tx1"/>
                    </a:solidFill>
                  </a:rPr>
                  <a:t>La tipificación se utiliza para dar valores normales variables (por ejemplo, estaturas, glucosa, colesterol, presión, …). También se utiliza para comparar variables que no son comparables, pues una variable tipificada no tiene dimensiones, por ejemplo: Supongamos que el peso (variable </a:t>
                </a:r>
                <a:r>
                  <a:rPr lang="es-ES_tradnl" sz="1800" i="1" dirty="0">
                    <a:solidFill>
                      <a:schemeClr val="tx1"/>
                    </a:solidFill>
                  </a:rPr>
                  <a:t>p</a:t>
                </a:r>
                <a:r>
                  <a:rPr lang="es-ES_tradnl" sz="1800" dirty="0">
                    <a:solidFill>
                      <a:schemeClr val="tx1"/>
                    </a:solidFill>
                  </a:rPr>
                  <a:t>) sigue una distribución Normal </a:t>
                </a:r>
                <a14:m>
                  <m:oMath xmlns:m="http://schemas.openxmlformats.org/officeDocument/2006/math">
                    <m:r>
                      <a:rPr lang="es-ES" sz="1800" b="0" i="1" smtClean="0">
                        <a:solidFill>
                          <a:schemeClr val="tx1"/>
                        </a:solidFill>
                        <a:latin typeface="Cambria Math"/>
                      </a:rPr>
                      <m:t>𝑝</m:t>
                    </m:r>
                    <m:r>
                      <a:rPr lang="es-ES" sz="1800" b="0" i="1" smtClean="0">
                        <a:solidFill>
                          <a:schemeClr val="tx1"/>
                        </a:solidFill>
                        <a:latin typeface="Cambria Math"/>
                        <a:ea typeface="Cambria Math"/>
                      </a:rPr>
                      <m:t>→</m:t>
                    </m:r>
                    <m:r>
                      <a:rPr lang="es-ES" sz="1800" b="0" i="1" smtClean="0">
                        <a:solidFill>
                          <a:schemeClr val="tx1"/>
                        </a:solidFill>
                        <a:latin typeface="Cambria Math"/>
                        <a:ea typeface="Cambria Math"/>
                      </a:rPr>
                      <m:t>𝑁</m:t>
                    </m:r>
                    <m:d>
                      <m:dPr>
                        <m:ctrlPr>
                          <a:rPr lang="es-ES" sz="1800" b="0" i="1" smtClean="0">
                            <a:solidFill>
                              <a:schemeClr val="tx1"/>
                            </a:solidFill>
                            <a:latin typeface="Cambria Math" panose="02040503050406030204" pitchFamily="18" charset="0"/>
                            <a:ea typeface="Cambria Math"/>
                          </a:rPr>
                        </m:ctrlPr>
                      </m:dPr>
                      <m:e>
                        <m:r>
                          <a:rPr lang="es-ES" sz="1800" b="0" i="1" smtClean="0">
                            <a:solidFill>
                              <a:schemeClr val="tx1"/>
                            </a:solidFill>
                            <a:latin typeface="Cambria Math"/>
                            <a:ea typeface="Cambria Math"/>
                          </a:rPr>
                          <m:t>69 , 4</m:t>
                        </m:r>
                      </m:e>
                    </m:d>
                  </m:oMath>
                </a14:m>
                <a:r>
                  <a:rPr lang="es-ES" sz="1800" dirty="0">
                    <a:solidFill>
                      <a:schemeClr val="tx1"/>
                    </a:solidFill>
                  </a:rPr>
                  <a:t> y la estatura (</a:t>
                </a:r>
                <a:r>
                  <a:rPr lang="es-ES" sz="1800" i="1" dirty="0">
                    <a:solidFill>
                      <a:schemeClr val="tx1"/>
                    </a:solidFill>
                  </a:rPr>
                  <a:t>e</a:t>
                </a:r>
                <a:r>
                  <a:rPr lang="es-ES" sz="1800" dirty="0">
                    <a:solidFill>
                      <a:schemeClr val="tx1"/>
                    </a:solidFill>
                  </a:rPr>
                  <a:t>) sigue una distribución Normal </a:t>
                </a:r>
                <a14:m>
                  <m:oMath xmlns:m="http://schemas.openxmlformats.org/officeDocument/2006/math">
                    <m:r>
                      <a:rPr lang="es-ES" sz="1800" b="0" i="1" smtClean="0">
                        <a:solidFill>
                          <a:schemeClr val="tx1"/>
                        </a:solidFill>
                        <a:latin typeface="Cambria Math"/>
                      </a:rPr>
                      <m:t>𝑒</m:t>
                    </m:r>
                    <m:r>
                      <a:rPr lang="es-ES" sz="1800" i="1">
                        <a:solidFill>
                          <a:schemeClr val="tx1"/>
                        </a:solidFill>
                        <a:latin typeface="Cambria Math"/>
                        <a:ea typeface="Cambria Math"/>
                      </a:rPr>
                      <m:t>→</m:t>
                    </m:r>
                    <m:r>
                      <a:rPr lang="es-ES" sz="1800" i="1">
                        <a:solidFill>
                          <a:schemeClr val="tx1"/>
                        </a:solidFill>
                        <a:latin typeface="Cambria Math"/>
                        <a:ea typeface="Cambria Math"/>
                      </a:rPr>
                      <m:t>𝑁</m:t>
                    </m:r>
                    <m:d>
                      <m:dPr>
                        <m:ctrlPr>
                          <a:rPr lang="es-ES" sz="1800" i="1">
                            <a:solidFill>
                              <a:schemeClr val="tx1"/>
                            </a:solidFill>
                            <a:latin typeface="Cambria Math" panose="02040503050406030204" pitchFamily="18" charset="0"/>
                            <a:ea typeface="Cambria Math"/>
                          </a:rPr>
                        </m:ctrlPr>
                      </m:dPr>
                      <m:e>
                        <m:r>
                          <a:rPr lang="es-ES" sz="1800" b="0" i="1" smtClean="0">
                            <a:solidFill>
                              <a:schemeClr val="tx1"/>
                            </a:solidFill>
                            <a:latin typeface="Cambria Math"/>
                            <a:ea typeface="Cambria Math"/>
                          </a:rPr>
                          <m:t>170</m:t>
                        </m:r>
                        <m:r>
                          <a:rPr lang="es-ES" sz="1800" i="1">
                            <a:solidFill>
                              <a:schemeClr val="tx1"/>
                            </a:solidFill>
                            <a:latin typeface="Cambria Math"/>
                            <a:ea typeface="Cambria Math"/>
                          </a:rPr>
                          <m:t> , </m:t>
                        </m:r>
                        <m:r>
                          <a:rPr lang="es-ES" sz="1800" b="0" i="1" smtClean="0">
                            <a:solidFill>
                              <a:schemeClr val="tx1"/>
                            </a:solidFill>
                            <a:latin typeface="Cambria Math"/>
                            <a:ea typeface="Cambria Math"/>
                          </a:rPr>
                          <m:t>6</m:t>
                        </m:r>
                      </m:e>
                    </m:d>
                  </m:oMath>
                </a14:m>
                <a:r>
                  <a:rPr lang="es-ES" sz="1800" dirty="0">
                    <a:solidFill>
                      <a:schemeClr val="tx1"/>
                    </a:solidFill>
                  </a:rPr>
                  <a:t>; si un individuo pesa 72 kg y mide 173 cm, ¿es más pesado que alto?</a:t>
                </a:r>
              </a:p>
              <a:p>
                <a:pPr algn="just"/>
                <a:endParaRPr lang="es-ES" sz="1800" dirty="0">
                  <a:solidFill>
                    <a:schemeClr val="tx1"/>
                  </a:solidFill>
                </a:endParaRPr>
              </a:p>
              <a:p>
                <a:pPr algn="just"/>
                <a:endParaRPr lang="es-ES" sz="1800" dirty="0">
                  <a:solidFill>
                    <a:schemeClr val="tx1"/>
                  </a:solidFill>
                </a:endParaRPr>
              </a:p>
              <a:p>
                <a:pPr algn="just"/>
                <a:r>
                  <a:rPr lang="es-ES" sz="1800" dirty="0">
                    <a:solidFill>
                      <a:schemeClr val="tx1"/>
                    </a:solidFill>
                  </a:rPr>
                  <a:t>Como </a:t>
                </a:r>
                <a14:m>
                  <m:oMath xmlns:m="http://schemas.openxmlformats.org/officeDocument/2006/math">
                    <m:sSub>
                      <m:sSubPr>
                        <m:ctrlPr>
                          <a:rPr lang="es-ES" sz="1800" i="1" smtClean="0">
                            <a:solidFill>
                              <a:schemeClr val="tx1"/>
                            </a:solidFill>
                            <a:latin typeface="Cambria Math" panose="02040503050406030204" pitchFamily="18" charset="0"/>
                          </a:rPr>
                        </m:ctrlPr>
                      </m:sSubPr>
                      <m:e>
                        <m:r>
                          <a:rPr lang="es-ES" sz="1800" b="0" i="1" smtClean="0">
                            <a:solidFill>
                              <a:schemeClr val="tx1"/>
                            </a:solidFill>
                            <a:latin typeface="Cambria Math"/>
                          </a:rPr>
                          <m:t>𝑧</m:t>
                        </m:r>
                      </m:e>
                      <m:sub>
                        <m:r>
                          <a:rPr lang="es-ES" sz="1800" b="0" i="1" smtClean="0">
                            <a:solidFill>
                              <a:schemeClr val="tx1"/>
                            </a:solidFill>
                            <a:latin typeface="Cambria Math"/>
                          </a:rPr>
                          <m:t>𝑝</m:t>
                        </m:r>
                      </m:sub>
                    </m:sSub>
                    <m:r>
                      <a:rPr lang="es-ES" sz="1800" b="0" i="1" smtClean="0">
                        <a:solidFill>
                          <a:schemeClr val="tx1"/>
                        </a:solidFill>
                        <a:latin typeface="Cambria Math"/>
                      </a:rPr>
                      <m:t>=0,75&gt;</m:t>
                    </m:r>
                    <m:sSub>
                      <m:sSubPr>
                        <m:ctrlPr>
                          <a:rPr lang="es-ES" sz="1800" b="0" i="1" smtClean="0">
                            <a:solidFill>
                              <a:schemeClr val="tx1"/>
                            </a:solidFill>
                            <a:latin typeface="Cambria Math" panose="02040503050406030204" pitchFamily="18" charset="0"/>
                          </a:rPr>
                        </m:ctrlPr>
                      </m:sSubPr>
                      <m:e>
                        <m:r>
                          <a:rPr lang="es-ES" sz="1800" b="0" i="1" smtClean="0">
                            <a:solidFill>
                              <a:schemeClr val="tx1"/>
                            </a:solidFill>
                            <a:latin typeface="Cambria Math"/>
                          </a:rPr>
                          <m:t>𝑧</m:t>
                        </m:r>
                      </m:e>
                      <m:sub>
                        <m:r>
                          <a:rPr lang="es-ES" sz="1800" b="0" i="1" smtClean="0">
                            <a:solidFill>
                              <a:schemeClr val="tx1"/>
                            </a:solidFill>
                            <a:latin typeface="Cambria Math"/>
                          </a:rPr>
                          <m:t>𝑒</m:t>
                        </m:r>
                      </m:sub>
                    </m:sSub>
                    <m:r>
                      <a:rPr lang="es-ES" sz="1800" b="0" i="1" smtClean="0">
                        <a:solidFill>
                          <a:schemeClr val="tx1"/>
                        </a:solidFill>
                        <a:latin typeface="Cambria Math"/>
                      </a:rPr>
                      <m:t>=0,50</m:t>
                    </m:r>
                  </m:oMath>
                </a14:m>
                <a:r>
                  <a:rPr lang="es-ES" sz="1800" dirty="0">
                    <a:solidFill>
                      <a:schemeClr val="tx1"/>
                    </a:solidFill>
                  </a:rPr>
                  <a:t>, el individuo es más pesado que alto.</a:t>
                </a:r>
              </a:p>
            </p:txBody>
          </p:sp>
        </mc:Choice>
        <mc:Fallback xmlns="">
          <p:sp>
            <p:nvSpPr>
              <p:cNvPr id="2" name="1 CuadroTexto"/>
              <p:cNvSpPr txBox="1">
                <a:spLocks noRot="1" noChangeAspect="1" noMove="1" noResize="1" noEditPoints="1" noAdjustHandles="1" noChangeArrowheads="1" noChangeShapeType="1" noTextEdit="1"/>
              </p:cNvSpPr>
              <p:nvPr/>
            </p:nvSpPr>
            <p:spPr>
              <a:xfrm>
                <a:off x="467544" y="332656"/>
                <a:ext cx="7992888" cy="5653727"/>
              </a:xfrm>
              <a:prstGeom prst="rect">
                <a:avLst/>
              </a:prstGeom>
              <a:blipFill>
                <a:blip r:embed="rId2"/>
                <a:stretch>
                  <a:fillRect l="-634" t="-448" r="-634" b="-224"/>
                </a:stretch>
              </a:blipFill>
            </p:spPr>
            <p:txBody>
              <a:bodyPr/>
              <a:lstStyle/>
              <a:p>
                <a:r>
                  <a:rPr lang="en-US">
                    <a:noFill/>
                  </a:rPr>
                  <a:t> </a:t>
                </a:r>
              </a:p>
            </p:txBody>
          </p:sp>
        </mc:Fallback>
      </mc:AlternateContent>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5 Objeto"/>
          <p:cNvGraphicFramePr>
            <a:graphicFrameLocks noChangeAspect="1"/>
          </p:cNvGraphicFramePr>
          <p:nvPr/>
        </p:nvGraphicFramePr>
        <p:xfrm>
          <a:off x="1763688" y="2204864"/>
          <a:ext cx="5456009" cy="726058"/>
        </p:xfrm>
        <a:graphic>
          <a:graphicData uri="http://schemas.openxmlformats.org/presentationml/2006/ole">
            <mc:AlternateContent xmlns:mc="http://schemas.openxmlformats.org/markup-compatibility/2006">
              <mc:Choice xmlns:v="urn:schemas-microsoft-com:vml" Requires="v">
                <p:oleObj name="Equation" r:id="rId3" imgW="4914720" imgH="647640" progId="Equation.DSMT4">
                  <p:embed/>
                </p:oleObj>
              </mc:Choice>
              <mc:Fallback>
                <p:oleObj name="Equation" r:id="rId3" imgW="4914720" imgH="647640" progId="Equation.DSMT4">
                  <p:embed/>
                  <p:pic>
                    <p:nvPicPr>
                      <p:cNvPr id="6" name="5 Objeto"/>
                      <p:cNvPicPr>
                        <a:picLocks noChangeAspect="1" noChangeArrowheads="1"/>
                      </p:cNvPicPr>
                      <p:nvPr/>
                    </p:nvPicPr>
                    <p:blipFill>
                      <a:blip r:embed="rId4"/>
                      <a:srcRect/>
                      <a:stretch>
                        <a:fillRect/>
                      </a:stretch>
                    </p:blipFill>
                    <p:spPr bwMode="auto">
                      <a:xfrm>
                        <a:off x="1763688" y="2204864"/>
                        <a:ext cx="5456009" cy="726058"/>
                      </a:xfrm>
                      <a:prstGeom prst="rect">
                        <a:avLst/>
                      </a:prstGeom>
                      <a:noFill/>
                    </p:spPr>
                  </p:pic>
                </p:oleObj>
              </mc:Fallback>
            </mc:AlternateContent>
          </a:graphicData>
        </a:graphic>
      </p:graphicFrame>
      <p:graphicFrame>
        <p:nvGraphicFramePr>
          <p:cNvPr id="7" name="6 Objeto"/>
          <p:cNvGraphicFramePr>
            <a:graphicFrameLocks noChangeAspect="1"/>
          </p:cNvGraphicFramePr>
          <p:nvPr>
            <p:extLst>
              <p:ext uri="{D42A27DB-BD31-4B8C-83A1-F6EECF244321}">
                <p14:modId xmlns:p14="http://schemas.microsoft.com/office/powerpoint/2010/main" val="1383581310"/>
              </p:ext>
            </p:extLst>
          </p:nvPr>
        </p:nvGraphicFramePr>
        <p:xfrm>
          <a:off x="2283618" y="4953000"/>
          <a:ext cx="4576763" cy="638175"/>
        </p:xfrm>
        <a:graphic>
          <a:graphicData uri="http://schemas.openxmlformats.org/presentationml/2006/ole">
            <mc:AlternateContent xmlns:mc="http://schemas.openxmlformats.org/markup-compatibility/2006">
              <mc:Choice xmlns:v="urn:schemas-microsoft-com:vml" Requires="v">
                <p:oleObj name="Equation" r:id="rId5" imgW="4101840" imgH="571320" progId="Equation.DSMT4">
                  <p:embed/>
                </p:oleObj>
              </mc:Choice>
              <mc:Fallback>
                <p:oleObj name="Equation" r:id="rId5" imgW="4101840" imgH="571320" progId="Equation.DSMT4">
                  <p:embed/>
                  <p:pic>
                    <p:nvPicPr>
                      <p:cNvPr id="7" name="6 Objeto"/>
                      <p:cNvPicPr>
                        <a:picLocks noChangeAspect="1" noChangeArrowheads="1"/>
                      </p:cNvPicPr>
                      <p:nvPr/>
                    </p:nvPicPr>
                    <p:blipFill>
                      <a:blip r:embed="rId6"/>
                      <a:srcRect/>
                      <a:stretch>
                        <a:fillRect/>
                      </a:stretch>
                    </p:blipFill>
                    <p:spPr bwMode="auto">
                      <a:xfrm>
                        <a:off x="2283618" y="4953000"/>
                        <a:ext cx="45767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7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27</a:t>
            </a:fld>
            <a:endParaRPr lang="en-GB" altLang="es-ES"/>
          </a:p>
        </p:txBody>
      </p:sp>
    </p:spTree>
    <p:extLst>
      <p:ext uri="{BB962C8B-B14F-4D97-AF65-F5344CB8AC3E}">
        <p14:creationId xmlns:p14="http://schemas.microsoft.com/office/powerpoint/2010/main" val="826873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5"/>
          <p:cNvSpPr>
            <a:spLocks noChangeArrowheads="1"/>
          </p:cNvSpPr>
          <p:nvPr/>
        </p:nvSpPr>
        <p:spPr bwMode="auto">
          <a:xfrm>
            <a:off x="219075" y="1295400"/>
            <a:ext cx="2743200" cy="36933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b="1" dirty="0">
                <a:cs typeface="Times New Roman" panose="02020603050405020304" pitchFamily="18" charset="0"/>
              </a:rPr>
              <a:t>Distribución </a:t>
            </a:r>
            <a:r>
              <a:rPr lang="es-ES_tradnl" altLang="es-ES" sz="1800" b="1" dirty="0">
                <a:solidFill>
                  <a:srgbClr val="FF0000"/>
                </a:solidFill>
                <a:cs typeface="Times New Roman" panose="02020603050405020304" pitchFamily="18" charset="0"/>
              </a:rPr>
              <a:t>Binomial</a:t>
            </a:r>
          </a:p>
        </p:txBody>
      </p:sp>
      <p:sp>
        <p:nvSpPr>
          <p:cNvPr id="18435" name="4 Rectángulo"/>
          <p:cNvSpPr>
            <a:spLocks noChangeArrowheads="1"/>
          </p:cNvSpPr>
          <p:nvPr/>
        </p:nvSpPr>
        <p:spPr bwMode="auto">
          <a:xfrm>
            <a:off x="152400" y="230991"/>
            <a:ext cx="746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de VAD</a:t>
            </a:r>
          </a:p>
        </p:txBody>
      </p:sp>
      <p:sp>
        <p:nvSpPr>
          <p:cNvPr id="18436" name="Rectangle 35"/>
          <p:cNvSpPr>
            <a:spLocks noChangeArrowheads="1"/>
          </p:cNvSpPr>
          <p:nvPr/>
        </p:nvSpPr>
        <p:spPr bwMode="auto">
          <a:xfrm>
            <a:off x="231775" y="3499961"/>
            <a:ext cx="2743200" cy="36933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b="1" dirty="0">
                <a:cs typeface="Times New Roman" panose="02020603050405020304" pitchFamily="18" charset="0"/>
              </a:rPr>
              <a:t>Distribución de </a:t>
            </a:r>
            <a:r>
              <a:rPr lang="es-ES_tradnl" altLang="es-ES" sz="1800" b="1" dirty="0">
                <a:solidFill>
                  <a:srgbClr val="FF0000"/>
                </a:solidFill>
                <a:cs typeface="Times New Roman" panose="02020603050405020304" pitchFamily="18" charset="0"/>
              </a:rPr>
              <a:t>Poisson</a:t>
            </a:r>
          </a:p>
        </p:txBody>
      </p:sp>
      <p:sp>
        <p:nvSpPr>
          <p:cNvPr id="18437" name="4 Rectángulo"/>
          <p:cNvSpPr>
            <a:spLocks noChangeArrowheads="1"/>
          </p:cNvSpPr>
          <p:nvPr/>
        </p:nvSpPr>
        <p:spPr bwMode="auto">
          <a:xfrm>
            <a:off x="304800" y="1722438"/>
            <a:ext cx="83058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 typeface="Arial" panose="020B0604020202020204" pitchFamily="34" charset="0"/>
              <a:buChar char="•"/>
            </a:pPr>
            <a:r>
              <a:rPr lang="es-ES" altLang="es-ES" sz="1400" dirty="0"/>
              <a:t>Distribución asociada a las </a:t>
            </a:r>
            <a:r>
              <a:rPr lang="es-ES" altLang="es-ES" sz="1400" b="1" dirty="0"/>
              <a:t>proporciones</a:t>
            </a:r>
          </a:p>
          <a:p>
            <a:pPr marL="0" indent="0" algn="just" eaLnBrk="1" hangingPunct="1">
              <a:spcBef>
                <a:spcPts val="600"/>
              </a:spcBef>
              <a:tabLst>
                <a:tab pos="266700" algn="l"/>
              </a:tabLst>
            </a:pPr>
            <a:r>
              <a:rPr lang="es-ES" altLang="es-ES" sz="1400" dirty="0">
                <a:solidFill>
                  <a:srgbClr val="35747B"/>
                </a:solidFill>
              </a:rPr>
              <a:t>	Ejemplo de uso: </a:t>
            </a:r>
          </a:p>
        </p:txBody>
      </p:sp>
      <p:sp>
        <p:nvSpPr>
          <p:cNvPr id="18438" name="4 Rectángulo"/>
          <p:cNvSpPr>
            <a:spLocks noChangeArrowheads="1"/>
          </p:cNvSpPr>
          <p:nvPr/>
        </p:nvSpPr>
        <p:spPr bwMode="auto">
          <a:xfrm>
            <a:off x="304800" y="3957161"/>
            <a:ext cx="73152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 typeface="Arial" panose="020B0604020202020204" pitchFamily="34" charset="0"/>
              <a:buChar char="•"/>
            </a:pPr>
            <a:r>
              <a:rPr lang="es-ES" altLang="es-ES" sz="1400" dirty="0"/>
              <a:t>Distribución asociada a los </a:t>
            </a:r>
            <a:r>
              <a:rPr lang="es-ES" altLang="es-ES" sz="1400" b="1" dirty="0"/>
              <a:t>recuentos </a:t>
            </a:r>
            <a:r>
              <a:rPr lang="es-ES" altLang="es-ES" sz="1400" dirty="0"/>
              <a:t>por unidad de tiempo, volumen, área,…</a:t>
            </a:r>
            <a:endParaRPr lang="es-ES" altLang="es-ES" sz="1400" b="1" dirty="0"/>
          </a:p>
          <a:p>
            <a:pPr marL="0" indent="0" algn="just" eaLnBrk="1" hangingPunct="1">
              <a:spcBef>
                <a:spcPts val="600"/>
              </a:spcBef>
              <a:tabLst>
                <a:tab pos="266700" algn="l"/>
              </a:tabLst>
            </a:pPr>
            <a:r>
              <a:rPr lang="es-ES" altLang="es-ES" sz="1400" dirty="0">
                <a:solidFill>
                  <a:srgbClr val="35747B"/>
                </a:solidFill>
              </a:rPr>
              <a:t>	Ejemplo de uso</a:t>
            </a:r>
          </a:p>
        </p:txBody>
      </p:sp>
      <p:sp>
        <p:nvSpPr>
          <p:cNvPr id="18439" name="4 Rectángulo"/>
          <p:cNvSpPr>
            <a:spLocks noChangeArrowheads="1"/>
          </p:cNvSpPr>
          <p:nvPr/>
        </p:nvSpPr>
        <p:spPr bwMode="auto">
          <a:xfrm>
            <a:off x="306388" y="4519136"/>
            <a:ext cx="83058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98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solidFill>
                  <a:srgbClr val="35747B"/>
                </a:solidFill>
              </a:rPr>
              <a:t>Se viene observando que por término medio hay 3 lesiones de rodilla por semana durante la temporada de esquí en Sierra Nevada. ¿Cuál es la probabilidad de que el número de lesiones de rodilla en una semana de la temporada sea superior a la media observada?</a:t>
            </a:r>
          </a:p>
        </p:txBody>
      </p:sp>
      <p:sp>
        <p:nvSpPr>
          <p:cNvPr id="18440" name="4 Rectángulo"/>
          <p:cNvSpPr>
            <a:spLocks noChangeArrowheads="1"/>
          </p:cNvSpPr>
          <p:nvPr/>
        </p:nvSpPr>
        <p:spPr bwMode="auto">
          <a:xfrm>
            <a:off x="306388" y="2286000"/>
            <a:ext cx="8305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98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dirty="0">
                <a:solidFill>
                  <a:srgbClr val="35747B"/>
                </a:solidFill>
              </a:rPr>
              <a:t>Si la prevalencia del síndrome metabólico (SM) en diabéticos es del 52.4% ¿qué número de afectados del por el SM se espera encontrar al observar una muestra de 200 individuos diabéticos? ¿Cuál es la probabilidad de encontrar en dicha muestra más afectados por el SM que los esperados?</a:t>
            </a:r>
          </a:p>
        </p:txBody>
      </p:sp>
      <p:sp>
        <p:nvSpPr>
          <p:cNvPr id="18442" name="4 Rectángulo"/>
          <p:cNvSpPr>
            <a:spLocks noChangeArrowheads="1"/>
          </p:cNvSpPr>
          <p:nvPr/>
        </p:nvSpPr>
        <p:spPr bwMode="auto">
          <a:xfrm>
            <a:off x="219075" y="899319"/>
            <a:ext cx="8305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 typeface="Arial" panose="020B0604020202020204" pitchFamily="34" charset="0"/>
              <a:buNone/>
            </a:pPr>
            <a:r>
              <a:rPr lang="es-ES" altLang="es-ES" sz="1400" dirty="0"/>
              <a:t>Dos distribuciones discretas de especial relevancia: </a:t>
            </a:r>
          </a:p>
        </p:txBody>
      </p:sp>
    </p:spTree>
    <p:extLst>
      <p:ext uri="{BB962C8B-B14F-4D97-AF65-F5344CB8AC3E}">
        <p14:creationId xmlns:p14="http://schemas.microsoft.com/office/powerpoint/2010/main" val="2227030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5"/>
          <p:cNvSpPr>
            <a:spLocks noChangeArrowheads="1"/>
          </p:cNvSpPr>
          <p:nvPr/>
        </p:nvSpPr>
        <p:spPr bwMode="auto">
          <a:xfrm>
            <a:off x="152400" y="402879"/>
            <a:ext cx="6324600" cy="36933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b="1" dirty="0">
                <a:cs typeface="Times New Roman" panose="02020603050405020304" pitchFamily="18" charset="0"/>
              </a:rPr>
              <a:t>Distribución </a:t>
            </a:r>
            <a:r>
              <a:rPr lang="es-ES_tradnl" altLang="es-ES" sz="1800" b="1" dirty="0">
                <a:solidFill>
                  <a:srgbClr val="FF0000"/>
                </a:solidFill>
                <a:cs typeface="Times New Roman" panose="02020603050405020304" pitchFamily="18" charset="0"/>
              </a:rPr>
              <a:t>Binomial</a:t>
            </a:r>
          </a:p>
        </p:txBody>
      </p:sp>
      <p:sp>
        <p:nvSpPr>
          <p:cNvPr id="19461" name="4 Rectángulo"/>
          <p:cNvSpPr>
            <a:spLocks noChangeArrowheads="1"/>
          </p:cNvSpPr>
          <p:nvPr/>
        </p:nvSpPr>
        <p:spPr bwMode="auto">
          <a:xfrm>
            <a:off x="152400" y="80963"/>
            <a:ext cx="746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de VAD</a:t>
            </a:r>
          </a:p>
        </p:txBody>
      </p:sp>
      <p:sp>
        <p:nvSpPr>
          <p:cNvPr id="19463" name="AutoShape 44"/>
          <p:cNvSpPr>
            <a:spLocks noChangeArrowheads="1"/>
          </p:cNvSpPr>
          <p:nvPr/>
        </p:nvSpPr>
        <p:spPr bwMode="auto">
          <a:xfrm>
            <a:off x="5791200" y="838200"/>
            <a:ext cx="3200400" cy="5334000"/>
          </a:xfrm>
          <a:prstGeom prst="roundRect">
            <a:avLst>
              <a:gd name="adj" fmla="val 401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pic>
        <p:nvPicPr>
          <p:cNvPr id="19492" name="Picture 44" descr="SNAGHTMLb4ee0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263" y="990600"/>
            <a:ext cx="1966912" cy="1244600"/>
          </a:xfrm>
          <a:prstGeom prst="rect">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pic>
      <p:sp>
        <p:nvSpPr>
          <p:cNvPr id="43" name="Rectangle 35"/>
          <p:cNvSpPr>
            <a:spLocks noChangeArrowheads="1"/>
          </p:cNvSpPr>
          <p:nvPr/>
        </p:nvSpPr>
        <p:spPr bwMode="auto">
          <a:xfrm>
            <a:off x="6831013" y="1066800"/>
            <a:ext cx="1143000" cy="29051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1300" b="1">
                <a:cs typeface="Times New Roman" panose="02020603050405020304" pitchFamily="18" charset="0"/>
              </a:rPr>
              <a:t>Población</a:t>
            </a:r>
            <a:endParaRPr lang="es-ES_tradnl" altLang="es-ES" sz="1300" b="1" i="1">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19520" name="1 Objeto"/>
          <p:cNvGraphicFramePr>
            <a:graphicFrameLocks noChangeAspect="1"/>
          </p:cNvGraphicFramePr>
          <p:nvPr>
            <p:extLst>
              <p:ext uri="{D42A27DB-BD31-4B8C-83A1-F6EECF244321}">
                <p14:modId xmlns:p14="http://schemas.microsoft.com/office/powerpoint/2010/main" val="2154783765"/>
              </p:ext>
            </p:extLst>
          </p:nvPr>
        </p:nvGraphicFramePr>
        <p:xfrm>
          <a:off x="7086600" y="1295400"/>
          <a:ext cx="631825" cy="228600"/>
        </p:xfrm>
        <a:graphic>
          <a:graphicData uri="http://schemas.openxmlformats.org/presentationml/2006/ole">
            <mc:AlternateContent xmlns:mc="http://schemas.openxmlformats.org/markup-compatibility/2006">
              <mc:Choice xmlns:v="urn:schemas-microsoft-com:vml" Requires="v">
                <p:oleObj name="Equation" r:id="rId3" imgW="495000" imgH="177480" progId="Equation.DSMT4">
                  <p:embed/>
                </p:oleObj>
              </mc:Choice>
              <mc:Fallback>
                <p:oleObj name="Equation" r:id="rId3" imgW="495000" imgH="177480" progId="Equation.DSMT4">
                  <p:embed/>
                  <p:pic>
                    <p:nvPicPr>
                      <p:cNvPr id="19520" name="1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1295400"/>
                        <a:ext cx="631825" cy="228600"/>
                      </a:xfrm>
                      <a:prstGeom prst="rect">
                        <a:avLst/>
                      </a:prstGeom>
                      <a:noFill/>
                      <a:ln>
                        <a:noFill/>
                      </a:ln>
                      <a:effectLst/>
                      <a:extLst>
                        <a:ext uri="{909E8E84-426E-40DD-AFC4-6F175D3DCCD1}">
                          <a14:hiddenFill xmlns:a14="http://schemas.microsoft.com/office/drawing/2010/main">
                            <a:solidFill>
                              <a:srgbClr val="BFDAEB">
                                <a:alpha val="5300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06" name="Line 32"/>
          <p:cNvSpPr>
            <a:spLocks noChangeShapeType="1"/>
          </p:cNvSpPr>
          <p:nvPr/>
        </p:nvSpPr>
        <p:spPr bwMode="auto">
          <a:xfrm flipH="1">
            <a:off x="7439025" y="2271713"/>
            <a:ext cx="66675" cy="38100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aphicFrame>
        <p:nvGraphicFramePr>
          <p:cNvPr id="19529" name="1 Objeto"/>
          <p:cNvGraphicFramePr>
            <a:graphicFrameLocks noChangeAspect="1"/>
          </p:cNvGraphicFramePr>
          <p:nvPr/>
        </p:nvGraphicFramePr>
        <p:xfrm>
          <a:off x="6921500" y="3606800"/>
          <a:ext cx="973138" cy="295275"/>
        </p:xfrm>
        <a:graphic>
          <a:graphicData uri="http://schemas.openxmlformats.org/presentationml/2006/ole">
            <mc:AlternateContent xmlns:mc="http://schemas.openxmlformats.org/markup-compatibility/2006">
              <mc:Choice xmlns:v="urn:schemas-microsoft-com:vml" Requires="v">
                <p:oleObj name="Equation" r:id="rId5" imgW="761760" imgH="228600" progId="Equation.DSMT4">
                  <p:embed/>
                </p:oleObj>
              </mc:Choice>
              <mc:Fallback>
                <p:oleObj name="Equation" r:id="rId5" imgW="761760" imgH="228600" progId="Equation.DSMT4">
                  <p:embed/>
                  <p:pic>
                    <p:nvPicPr>
                      <p:cNvPr id="19529"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1500" y="3606800"/>
                        <a:ext cx="973138" cy="295275"/>
                      </a:xfrm>
                      <a:prstGeom prst="rect">
                        <a:avLst/>
                      </a:prstGeom>
                      <a:noFill/>
                      <a:ln>
                        <a:noFill/>
                      </a:ln>
                      <a:effectLst/>
                      <a:extLst>
                        <a:ext uri="{909E8E84-426E-40DD-AFC4-6F175D3DCCD1}">
                          <a14:hiddenFill xmlns:a14="http://schemas.microsoft.com/office/drawing/2010/main">
                            <a:solidFill>
                              <a:srgbClr val="BFDAEB">
                                <a:alpha val="5300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2" name="1 Objeto"/>
          <p:cNvGraphicFramePr>
            <a:graphicFrameLocks noChangeAspect="1"/>
          </p:cNvGraphicFramePr>
          <p:nvPr/>
        </p:nvGraphicFramePr>
        <p:xfrm>
          <a:off x="5943600" y="5418138"/>
          <a:ext cx="2916238" cy="585787"/>
        </p:xfrm>
        <a:graphic>
          <a:graphicData uri="http://schemas.openxmlformats.org/presentationml/2006/ole">
            <mc:AlternateContent xmlns:mc="http://schemas.openxmlformats.org/markup-compatibility/2006">
              <mc:Choice xmlns:v="urn:schemas-microsoft-com:vml" Requires="v">
                <p:oleObj name="Equation" r:id="rId7" imgW="2286000" imgH="457200" progId="Equation.DSMT4">
                  <p:embed/>
                </p:oleObj>
              </mc:Choice>
              <mc:Fallback>
                <p:oleObj name="Equation" r:id="rId7" imgW="2286000" imgH="457200" progId="Equation.DSMT4">
                  <p:embed/>
                  <p:pic>
                    <p:nvPicPr>
                      <p:cNvPr id="19462" name="1 Objeto"/>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5418138"/>
                        <a:ext cx="291623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519" name="1 Objeto"/>
          <p:cNvGraphicFramePr>
            <a:graphicFrameLocks noChangeAspect="1"/>
          </p:cNvGraphicFramePr>
          <p:nvPr>
            <p:extLst>
              <p:ext uri="{D42A27DB-BD31-4B8C-83A1-F6EECF244321}">
                <p14:modId xmlns:p14="http://schemas.microsoft.com/office/powerpoint/2010/main" val="507578452"/>
              </p:ext>
            </p:extLst>
          </p:nvPr>
        </p:nvGraphicFramePr>
        <p:xfrm>
          <a:off x="7696200" y="2228850"/>
          <a:ext cx="714375" cy="260350"/>
        </p:xfrm>
        <a:graphic>
          <a:graphicData uri="http://schemas.openxmlformats.org/presentationml/2006/ole">
            <mc:AlternateContent xmlns:mc="http://schemas.openxmlformats.org/markup-compatibility/2006">
              <mc:Choice xmlns:v="urn:schemas-microsoft-com:vml" Requires="v">
                <p:oleObj name="Equation" r:id="rId9" imgW="558720" imgH="203040" progId="Equation.DSMT4">
                  <p:embed/>
                </p:oleObj>
              </mc:Choice>
              <mc:Fallback>
                <p:oleObj name="Equation" r:id="rId9" imgW="558720" imgH="203040" progId="Equation.DSMT4">
                  <p:embed/>
                  <p:pic>
                    <p:nvPicPr>
                      <p:cNvPr id="19519" name="1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96200" y="2228850"/>
                        <a:ext cx="714375" cy="260350"/>
                      </a:xfrm>
                      <a:prstGeom prst="rect">
                        <a:avLst/>
                      </a:prstGeom>
                      <a:noFill/>
                      <a:ln>
                        <a:noFill/>
                      </a:ln>
                      <a:effectLst/>
                      <a:extLst>
                        <a:ext uri="{909E8E84-426E-40DD-AFC4-6F175D3DCCD1}">
                          <a14:hiddenFill xmlns:a14="http://schemas.microsoft.com/office/drawing/2010/main">
                            <a:solidFill>
                              <a:srgbClr val="FFCC99">
                                <a:alpha val="5300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511" name="Group 55"/>
          <p:cNvGrpSpPr>
            <a:grpSpLocks/>
          </p:cNvGrpSpPr>
          <p:nvPr/>
        </p:nvGrpSpPr>
        <p:grpSpPr bwMode="auto">
          <a:xfrm>
            <a:off x="6437313" y="1600200"/>
            <a:ext cx="1928812" cy="585787"/>
            <a:chOff x="4152" y="960"/>
            <a:chExt cx="1215" cy="369"/>
          </a:xfrm>
        </p:grpSpPr>
        <p:graphicFrame>
          <p:nvGraphicFramePr>
            <p:cNvPr id="19508" name="1 Objeto"/>
            <p:cNvGraphicFramePr>
              <a:graphicFrameLocks noChangeAspect="1"/>
            </p:cNvGraphicFramePr>
            <p:nvPr/>
          </p:nvGraphicFramePr>
          <p:xfrm>
            <a:off x="4152" y="960"/>
            <a:ext cx="592" cy="369"/>
          </p:xfrm>
          <a:graphic>
            <a:graphicData uri="http://schemas.openxmlformats.org/presentationml/2006/ole">
              <mc:AlternateContent xmlns:mc="http://schemas.openxmlformats.org/markup-compatibility/2006">
                <mc:Choice xmlns:v="urn:schemas-microsoft-com:vml" Requires="v">
                  <p:oleObj name="Equation" r:id="rId11" imgW="736560" imgH="457200" progId="Equation.DSMT4">
                    <p:embed/>
                  </p:oleObj>
                </mc:Choice>
                <mc:Fallback>
                  <p:oleObj name="Equation" r:id="rId11" imgW="736560" imgH="457200" progId="Equation.DSMT4">
                    <p:embed/>
                    <p:pic>
                      <p:nvPicPr>
                        <p:cNvPr id="19508" name="1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2" y="960"/>
                          <a:ext cx="592" cy="369"/>
                        </a:xfrm>
                        <a:prstGeom prst="rect">
                          <a:avLst/>
                        </a:prstGeom>
                        <a:solidFill>
                          <a:srgbClr val="FFCC99">
                            <a:alpha val="53000"/>
                          </a:srgbClr>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09" name="1 Objeto"/>
            <p:cNvGraphicFramePr>
              <a:graphicFrameLocks noChangeAspect="1"/>
            </p:cNvGraphicFramePr>
            <p:nvPr/>
          </p:nvGraphicFramePr>
          <p:xfrm>
            <a:off x="4795" y="960"/>
            <a:ext cx="572" cy="369"/>
          </p:xfrm>
          <a:graphic>
            <a:graphicData uri="http://schemas.openxmlformats.org/presentationml/2006/ole">
              <mc:AlternateContent xmlns:mc="http://schemas.openxmlformats.org/markup-compatibility/2006">
                <mc:Choice xmlns:v="urn:schemas-microsoft-com:vml" Requires="v">
                  <p:oleObj name="Equation" r:id="rId13" imgW="711000" imgH="457200" progId="Equation.DSMT4">
                    <p:embed/>
                  </p:oleObj>
                </mc:Choice>
                <mc:Fallback>
                  <p:oleObj name="Equation" r:id="rId13" imgW="711000" imgH="457200" progId="Equation.DSMT4">
                    <p:embed/>
                    <p:pic>
                      <p:nvPicPr>
                        <p:cNvPr id="19509" name="1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95" y="960"/>
                          <a:ext cx="572" cy="369"/>
                        </a:xfrm>
                        <a:prstGeom prst="rect">
                          <a:avLst/>
                        </a:prstGeom>
                        <a:solidFill>
                          <a:srgbClr val="BFDAEB">
                            <a:alpha val="53000"/>
                          </a:srgbClr>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9521" name="Group 65"/>
          <p:cNvGrpSpPr>
            <a:grpSpLocks/>
          </p:cNvGrpSpPr>
          <p:nvPr/>
        </p:nvGrpSpPr>
        <p:grpSpPr bwMode="auto">
          <a:xfrm>
            <a:off x="6831013" y="2738438"/>
            <a:ext cx="1143000" cy="938212"/>
            <a:chOff x="4272" y="1680"/>
            <a:chExt cx="720" cy="591"/>
          </a:xfrm>
        </p:grpSpPr>
        <p:grpSp>
          <p:nvGrpSpPr>
            <p:cNvPr id="19498" name="Group 14"/>
            <p:cNvGrpSpPr>
              <a:grpSpLocks/>
            </p:cNvGrpSpPr>
            <p:nvPr/>
          </p:nvGrpSpPr>
          <p:grpSpPr bwMode="auto">
            <a:xfrm>
              <a:off x="4512" y="1680"/>
              <a:ext cx="236" cy="245"/>
              <a:chOff x="2094" y="1243"/>
              <a:chExt cx="236" cy="245"/>
            </a:xfrm>
          </p:grpSpPr>
          <p:sp>
            <p:nvSpPr>
              <p:cNvPr id="19499" name="Rectangle 15"/>
              <p:cNvSpPr>
                <a:spLocks noChangeArrowheads="1"/>
              </p:cNvSpPr>
              <p:nvPr/>
            </p:nvSpPr>
            <p:spPr bwMode="auto">
              <a:xfrm>
                <a:off x="2094" y="1243"/>
                <a:ext cx="236" cy="245"/>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9500" name="Line 16"/>
              <p:cNvSpPr>
                <a:spLocks noChangeShapeType="1"/>
              </p:cNvSpPr>
              <p:nvPr/>
            </p:nvSpPr>
            <p:spPr bwMode="auto">
              <a:xfrm>
                <a:off x="2152" y="127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9501" name="Line 17"/>
              <p:cNvSpPr>
                <a:spLocks noChangeShapeType="1"/>
              </p:cNvSpPr>
              <p:nvPr/>
            </p:nvSpPr>
            <p:spPr bwMode="auto">
              <a:xfrm>
                <a:off x="2152" y="1313"/>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9502" name="Line 18"/>
              <p:cNvSpPr>
                <a:spLocks noChangeShapeType="1"/>
              </p:cNvSpPr>
              <p:nvPr/>
            </p:nvSpPr>
            <p:spPr bwMode="auto">
              <a:xfrm>
                <a:off x="2152" y="134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9503" name="Line 19"/>
              <p:cNvSpPr>
                <a:spLocks noChangeShapeType="1"/>
              </p:cNvSpPr>
              <p:nvPr/>
            </p:nvSpPr>
            <p:spPr bwMode="auto">
              <a:xfrm>
                <a:off x="2152" y="1383"/>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9504" name="Line 20"/>
              <p:cNvSpPr>
                <a:spLocks noChangeShapeType="1"/>
              </p:cNvSpPr>
              <p:nvPr/>
            </p:nvSpPr>
            <p:spPr bwMode="auto">
              <a:xfrm>
                <a:off x="2152" y="141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9505" name="Line 21"/>
              <p:cNvSpPr>
                <a:spLocks noChangeShapeType="1"/>
              </p:cNvSpPr>
              <p:nvPr/>
            </p:nvSpPr>
            <p:spPr bwMode="auto">
              <a:xfrm>
                <a:off x="2152" y="1453"/>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2" name="Rectangle 35"/>
            <p:cNvSpPr>
              <a:spLocks noChangeArrowheads="1"/>
            </p:cNvSpPr>
            <p:nvPr/>
          </p:nvSpPr>
          <p:spPr bwMode="auto">
            <a:xfrm>
              <a:off x="4272" y="1944"/>
              <a:ext cx="720" cy="32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1300" dirty="0">
                  <a:cs typeface="Times New Roman" panose="02020603050405020304" pitchFamily="18" charset="0"/>
                </a:rPr>
                <a:t>Muestra</a:t>
              </a:r>
            </a:p>
            <a:p>
              <a:pPr algn="ctr"/>
              <a:r>
                <a:rPr lang="es-ES" altLang="es-ES" sz="1300" dirty="0">
                  <a:cs typeface="Times New Roman" panose="02020603050405020304" pitchFamily="18" charset="0"/>
                </a:rPr>
                <a:t>de tamaño </a:t>
              </a:r>
              <a:r>
                <a:rPr lang="es-ES" altLang="es-ES" sz="1500" i="1" dirty="0">
                  <a:latin typeface="Times New Roman" panose="02020603050405020304" pitchFamily="18" charset="0"/>
                  <a:cs typeface="Times New Roman" panose="02020603050405020304" pitchFamily="18" charset="0"/>
                </a:rPr>
                <a:t>n</a:t>
              </a:r>
              <a:endParaRPr lang="es-ES_tradnl" altLang="es-ES" sz="1500" i="1" dirty="0">
                <a:latin typeface="Times New Roman" panose="02020603050405020304" pitchFamily="18" charset="0"/>
                <a:cs typeface="Times New Roman" panose="02020603050405020304" pitchFamily="18" charset="0"/>
                <a:sym typeface="Euclid" panose="02020503060505020303" pitchFamily="18" charset="0"/>
              </a:endParaRPr>
            </a:p>
          </p:txBody>
        </p:sp>
      </p:grpSp>
      <p:sp>
        <p:nvSpPr>
          <p:cNvPr id="19533" name="40 Rectángulo"/>
          <p:cNvSpPr>
            <a:spLocks noChangeArrowheads="1"/>
          </p:cNvSpPr>
          <p:nvPr/>
        </p:nvSpPr>
        <p:spPr bwMode="auto">
          <a:xfrm>
            <a:off x="6219825" y="3910013"/>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500" i="1" dirty="0">
                <a:solidFill>
                  <a:srgbClr val="FF0000"/>
                </a:solidFill>
                <a:latin typeface="Times New Roman" panose="02020603050405020304" pitchFamily="18" charset="0"/>
                <a:cs typeface="Times New Roman" panose="02020603050405020304" pitchFamily="18" charset="0"/>
              </a:rPr>
              <a:t>X</a:t>
            </a:r>
            <a:r>
              <a:rPr lang="es-ES_tradnl" altLang="es-ES" sz="1300" dirty="0">
                <a:solidFill>
                  <a:srgbClr val="FF0000"/>
                </a:solidFill>
                <a:cs typeface="Times New Roman" panose="02020603050405020304" pitchFamily="18" charset="0"/>
              </a:rPr>
              <a:t> = </a:t>
            </a:r>
            <a:r>
              <a:rPr lang="es-ES_tradnl" altLang="es-ES" sz="1300" dirty="0" err="1">
                <a:solidFill>
                  <a:srgbClr val="FF0000"/>
                </a:solidFill>
                <a:cs typeface="Times New Roman" panose="02020603050405020304" pitchFamily="18" charset="0"/>
              </a:rPr>
              <a:t>nº</a:t>
            </a:r>
            <a:r>
              <a:rPr lang="es-ES_tradnl" altLang="es-ES" sz="1300" dirty="0">
                <a:solidFill>
                  <a:srgbClr val="FF0000"/>
                </a:solidFill>
                <a:cs typeface="Times New Roman" panose="02020603050405020304" pitchFamily="18" charset="0"/>
              </a:rPr>
              <a:t> de observaciones en la muestra con A presente</a:t>
            </a:r>
            <a:endParaRPr lang="es-ES_tradnl" altLang="es-ES" sz="1300" i="1" dirty="0">
              <a:solidFill>
                <a:srgbClr val="FF0000"/>
              </a:solidFill>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19534" name="2 Objeto"/>
          <p:cNvGraphicFramePr>
            <a:graphicFrameLocks noChangeAspect="1"/>
          </p:cNvGraphicFramePr>
          <p:nvPr/>
        </p:nvGraphicFramePr>
        <p:xfrm>
          <a:off x="7312025" y="4443413"/>
          <a:ext cx="179388" cy="249237"/>
        </p:xfrm>
        <a:graphic>
          <a:graphicData uri="http://schemas.openxmlformats.org/presentationml/2006/ole">
            <mc:AlternateContent xmlns:mc="http://schemas.openxmlformats.org/markup-compatibility/2006">
              <mc:Choice xmlns:v="urn:schemas-microsoft-com:vml" Requires="v">
                <p:oleObj name="Equation" r:id="rId15" imgW="139680" imgH="203040" progId="Equation.DSMT4">
                  <p:embed/>
                </p:oleObj>
              </mc:Choice>
              <mc:Fallback>
                <p:oleObj name="Equation" r:id="rId15" imgW="139680" imgH="203040" progId="Equation.DSMT4">
                  <p:embed/>
                  <p:pic>
                    <p:nvPicPr>
                      <p:cNvPr id="19534" name="2 Objeto"/>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12025" y="4443413"/>
                        <a:ext cx="179388"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535" name="2 Objeto"/>
          <p:cNvGraphicFramePr>
            <a:graphicFrameLocks noChangeAspect="1"/>
          </p:cNvGraphicFramePr>
          <p:nvPr/>
        </p:nvGraphicFramePr>
        <p:xfrm>
          <a:off x="6864350" y="4672013"/>
          <a:ext cx="1073150" cy="249237"/>
        </p:xfrm>
        <a:graphic>
          <a:graphicData uri="http://schemas.openxmlformats.org/presentationml/2006/ole">
            <mc:AlternateContent xmlns:mc="http://schemas.openxmlformats.org/markup-compatibility/2006">
              <mc:Choice xmlns:v="urn:schemas-microsoft-com:vml" Requires="v">
                <p:oleObj name="Equation" r:id="rId17" imgW="838080" imgH="203040" progId="Equation.DSMT4">
                  <p:embed/>
                </p:oleObj>
              </mc:Choice>
              <mc:Fallback>
                <p:oleObj name="Equation" r:id="rId17" imgW="838080" imgH="203040" progId="Equation.DSMT4">
                  <p:embed/>
                  <p:pic>
                    <p:nvPicPr>
                      <p:cNvPr id="19535" name="2 Objet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864350" y="4672013"/>
                        <a:ext cx="1073150"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539" name="40 Rectángulo"/>
          <p:cNvSpPr>
            <a:spLocks noChangeArrowheads="1"/>
          </p:cNvSpPr>
          <p:nvPr/>
        </p:nvSpPr>
        <p:spPr bwMode="auto">
          <a:xfrm>
            <a:off x="5791200" y="650624"/>
            <a:ext cx="1600200" cy="2923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300" b="1" dirty="0">
                <a:cs typeface="Times New Roman" panose="02020603050405020304" pitchFamily="18" charset="0"/>
              </a:rPr>
              <a:t>Modelo Binomial</a:t>
            </a:r>
            <a:endParaRPr lang="es-ES_tradnl" altLang="es-ES" sz="1300" b="1"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19541" name="Rectangle 36"/>
          <p:cNvSpPr>
            <a:spLocks noChangeArrowheads="1"/>
          </p:cNvSpPr>
          <p:nvPr/>
        </p:nvSpPr>
        <p:spPr bwMode="auto">
          <a:xfrm>
            <a:off x="228600" y="1157407"/>
            <a:ext cx="5410200" cy="1692771"/>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1pPr>
            <a:lvl2pPr marL="742950" indent="-28575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2pPr>
            <a:lvl3pPr marL="11430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3pPr>
            <a:lvl4pPr marL="16002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4pPr>
            <a:lvl5pPr marL="20574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9pPr>
          </a:lstStyle>
          <a:p>
            <a:pPr algn="just" eaLnBrk="1" hangingPunct="1"/>
            <a:r>
              <a:rPr lang="es-ES_tradnl" altLang="es-ES" sz="1200" dirty="0">
                <a:cs typeface="Times New Roman" panose="02020603050405020304" pitchFamily="18" charset="0"/>
              </a:rPr>
              <a:t>Consideramos la </a:t>
            </a:r>
            <a:r>
              <a:rPr lang="es-ES" altLang="es-ES" sz="1200" dirty="0">
                <a:cs typeface="Times New Roman" panose="02020603050405020304" pitchFamily="18" charset="0"/>
              </a:rPr>
              <a:t>presencia de </a:t>
            </a:r>
            <a:r>
              <a:rPr lang="es-ES_tradnl" altLang="es-ES" sz="1200" dirty="0">
                <a:cs typeface="Times New Roman" panose="02020603050405020304" pitchFamily="18" charset="0"/>
              </a:rPr>
              <a:t>una característica A en una población de tamaño </a:t>
            </a:r>
            <a:r>
              <a:rPr lang="es-ES_tradnl" altLang="es-ES" sz="1200" i="1" dirty="0">
                <a:cs typeface="Times New Roman" panose="02020603050405020304" pitchFamily="18" charset="0"/>
              </a:rPr>
              <a:t>N</a:t>
            </a:r>
            <a:r>
              <a:rPr lang="es-ES_tradnl" altLang="es-ES" sz="1200" dirty="0">
                <a:cs typeface="Times New Roman" panose="02020603050405020304" pitchFamily="18" charset="0"/>
              </a:rPr>
              <a:t> individuos (se trata entonces de una variable binaria o dicotómica con mod</a:t>
            </a:r>
            <a:r>
              <a:rPr lang="es-ES" altLang="es-ES" dirty="0" err="1">
                <a:cs typeface="Times New Roman" panose="02020603050405020304" pitchFamily="18" charset="0"/>
              </a:rPr>
              <a:t>alidades</a:t>
            </a:r>
            <a:r>
              <a:rPr lang="es-ES" altLang="es-ES" sz="1200" dirty="0">
                <a:cs typeface="Times New Roman" panose="02020603050405020304" pitchFamily="18" charset="0"/>
              </a:rPr>
              <a:t> presente/ausente respecto a A)</a:t>
            </a:r>
            <a:r>
              <a:rPr lang="es-ES_tradnl" altLang="es-ES" sz="1200" dirty="0">
                <a:cs typeface="Times New Roman" panose="02020603050405020304" pitchFamily="18" charset="0"/>
              </a:rPr>
              <a:t>. En ella un</a:t>
            </a:r>
            <a:r>
              <a:rPr lang="es-ES" altLang="es-ES" sz="1200" dirty="0">
                <a:cs typeface="Times New Roman" panose="02020603050405020304" pitchFamily="18" charset="0"/>
              </a:rPr>
              <a:t>a proporción del </a:t>
            </a:r>
            <a:r>
              <a:rPr lang="es-ES_tradnl" altLang="es-ES" sz="1400" i="1" dirty="0">
                <a:latin typeface="Times New Roman" panose="02020603050405020304" pitchFamily="18" charset="0"/>
                <a:cs typeface="Times New Roman" panose="02020603050405020304" pitchFamily="18" charset="0"/>
              </a:rPr>
              <a:t>p×</a:t>
            </a:r>
            <a:r>
              <a:rPr lang="es-ES_tradnl" altLang="es-ES" sz="1200" dirty="0">
                <a:cs typeface="Times New Roman" panose="02020603050405020304" pitchFamily="18" charset="0"/>
              </a:rPr>
              <a:t>100</a:t>
            </a:r>
            <a:r>
              <a:rPr lang="es-ES" altLang="es-ES" sz="1200" dirty="0">
                <a:cs typeface="Times New Roman" panose="02020603050405020304" pitchFamily="18" charset="0"/>
              </a:rPr>
              <a:t>%</a:t>
            </a:r>
            <a:r>
              <a:rPr lang="es-ES" altLang="es-ES" sz="1400" dirty="0">
                <a:latin typeface="Times New Roman" panose="02020603050405020304" pitchFamily="18" charset="0"/>
                <a:cs typeface="Times New Roman" panose="02020603050405020304" pitchFamily="18" charset="0"/>
              </a:rPr>
              <a:t> </a:t>
            </a:r>
            <a:r>
              <a:rPr lang="es-ES" altLang="es-ES" sz="1200" dirty="0">
                <a:cs typeface="Times New Roman" panose="02020603050405020304" pitchFamily="18" charset="0"/>
              </a:rPr>
              <a:t>presentan la característica A y el resto, el 1</a:t>
            </a:r>
            <a:r>
              <a:rPr lang="es-ES" altLang="es-ES" sz="1400" i="1" dirty="0">
                <a:latin typeface="Times New Roman" panose="02020603050405020304" pitchFamily="18" charset="0"/>
                <a:cs typeface="Times New Roman" panose="02020603050405020304" pitchFamily="18" charset="0"/>
              </a:rPr>
              <a:t>-p</a:t>
            </a:r>
            <a:r>
              <a:rPr lang="es-ES" altLang="es-ES" sz="1200" dirty="0">
                <a:cs typeface="Times New Roman" panose="02020603050405020304" pitchFamily="18" charset="0"/>
              </a:rPr>
              <a:t> = </a:t>
            </a:r>
            <a:r>
              <a:rPr lang="es-ES" altLang="es-ES" sz="1400" i="1" dirty="0">
                <a:latin typeface="Times New Roman" panose="02020603050405020304" pitchFamily="18" charset="0"/>
                <a:cs typeface="Times New Roman" panose="02020603050405020304" pitchFamily="18" charset="0"/>
              </a:rPr>
              <a:t>q</a:t>
            </a:r>
            <a:r>
              <a:rPr lang="es-ES_tradnl" altLang="es-ES" sz="1200" dirty="0">
                <a:cs typeface="Times New Roman" panose="02020603050405020304" pitchFamily="18" charset="0"/>
              </a:rPr>
              <a:t> </a:t>
            </a:r>
            <a:r>
              <a:rPr lang="es-ES_tradnl" altLang="es-ES" sz="1200" i="1" dirty="0"/>
              <a:t>×</a:t>
            </a:r>
            <a:r>
              <a:rPr lang="es-ES_tradnl" altLang="es-ES" sz="1200" dirty="0"/>
              <a:t>100</a:t>
            </a:r>
            <a:r>
              <a:rPr lang="es-ES" altLang="es-ES" sz="1200" dirty="0"/>
              <a:t>% no la presentan</a:t>
            </a:r>
            <a:r>
              <a:rPr lang="es-ES_tradnl" altLang="es-ES" sz="1200" dirty="0">
                <a:cs typeface="Times New Roman" panose="02020603050405020304" pitchFamily="18" charset="0"/>
              </a:rPr>
              <a:t>. Si de ella tomamos una muestra de tamaño </a:t>
            </a:r>
            <a:r>
              <a:rPr lang="es-ES_tradnl" altLang="es-ES" sz="1400" i="1" dirty="0">
                <a:latin typeface="Times New Roman" panose="02020603050405020304" pitchFamily="18" charset="0"/>
                <a:cs typeface="Times New Roman" panose="02020603050405020304" pitchFamily="18" charset="0"/>
              </a:rPr>
              <a:t>n</a:t>
            </a:r>
            <a:r>
              <a:rPr lang="es-ES_tradnl" altLang="es-ES" sz="1200" dirty="0">
                <a:cs typeface="Times New Roman" panose="02020603050405020304" pitchFamily="18" charset="0"/>
              </a:rPr>
              <a:t>, y anotamos el número de individuos de la muestra que presentan la característica A, entonces la VA discreta </a:t>
            </a:r>
            <a:r>
              <a:rPr lang="es-ES_tradnl" altLang="es-ES" sz="1400" i="1" dirty="0">
                <a:latin typeface="Times New Roman" panose="02020603050405020304" pitchFamily="18" charset="0"/>
                <a:cs typeface="Times New Roman" panose="02020603050405020304" pitchFamily="18" charset="0"/>
              </a:rPr>
              <a:t>X</a:t>
            </a:r>
            <a:r>
              <a:rPr lang="es-ES_tradnl" altLang="es-ES" sz="1200" dirty="0">
                <a:cs typeface="Times New Roman" panose="02020603050405020304" pitchFamily="18" charset="0"/>
              </a:rPr>
              <a:t> es </a:t>
            </a:r>
            <a:r>
              <a:rPr lang="es-ES_tradnl" altLang="es-ES" sz="1200" b="1" i="1" dirty="0">
                <a:cs typeface="Times New Roman" panose="02020603050405020304" pitchFamily="18" charset="0"/>
              </a:rPr>
              <a:t>Binomial</a:t>
            </a:r>
            <a:r>
              <a:rPr lang="es-ES_tradnl" altLang="es-ES" sz="1200" dirty="0">
                <a:cs typeface="Times New Roman" panose="02020603050405020304" pitchFamily="18" charset="0"/>
              </a:rPr>
              <a:t> siempre que se cumpla una de estas dos condiciones:</a:t>
            </a:r>
          </a:p>
        </p:txBody>
      </p:sp>
      <p:sp>
        <p:nvSpPr>
          <p:cNvPr id="18436" name="Rectangle 39"/>
          <p:cNvSpPr>
            <a:spLocks noChangeArrowheads="1"/>
          </p:cNvSpPr>
          <p:nvPr/>
        </p:nvSpPr>
        <p:spPr bwMode="auto">
          <a:xfrm>
            <a:off x="228600" y="2805112"/>
            <a:ext cx="5410200"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eaLnBrk="0" hangingPunct="0">
              <a:tabLst>
                <a:tab pos="171450" algn="l"/>
              </a:tabLst>
              <a:defRPr>
                <a:solidFill>
                  <a:schemeClr val="tx1"/>
                </a:solidFill>
                <a:latin typeface="Arial" panose="020B0604020202020204" pitchFamily="34" charset="0"/>
              </a:defRPr>
            </a:lvl1pPr>
            <a:lvl2pPr marL="800100" indent="-342900" eaLnBrk="0" hangingPunct="0">
              <a:tabLst>
                <a:tab pos="171450" algn="l"/>
              </a:tabLst>
              <a:defRPr>
                <a:solidFill>
                  <a:schemeClr val="tx1"/>
                </a:solidFill>
                <a:latin typeface="Arial" panose="020B0604020202020204" pitchFamily="34" charset="0"/>
              </a:defRPr>
            </a:lvl2pPr>
            <a:lvl3pPr marL="1257300" indent="-342900" eaLnBrk="0" hangingPunct="0">
              <a:tabLst>
                <a:tab pos="171450" algn="l"/>
              </a:tabLst>
              <a:defRPr>
                <a:solidFill>
                  <a:schemeClr val="tx1"/>
                </a:solidFill>
                <a:latin typeface="Arial" panose="020B0604020202020204" pitchFamily="34" charset="0"/>
              </a:defRPr>
            </a:lvl3pPr>
            <a:lvl4pPr marL="1714500" indent="-342900" eaLnBrk="0" hangingPunct="0">
              <a:tabLst>
                <a:tab pos="171450" algn="l"/>
              </a:tabLst>
              <a:defRPr>
                <a:solidFill>
                  <a:schemeClr val="tx1"/>
                </a:solidFill>
                <a:latin typeface="Arial" panose="020B0604020202020204" pitchFamily="34" charset="0"/>
              </a:defRPr>
            </a:lvl4pPr>
            <a:lvl5pPr marL="2171700" indent="-342900" eaLnBrk="0" hangingPunct="0">
              <a:tabLst>
                <a:tab pos="171450" algn="l"/>
              </a:tabLst>
              <a:defRPr>
                <a:solidFill>
                  <a:schemeClr val="tx1"/>
                </a:solidFill>
                <a:latin typeface="Arial" panose="020B0604020202020204" pitchFamily="34" charset="0"/>
              </a:defRPr>
            </a:lvl5pPr>
            <a:lvl6pPr marL="2628900" indent="-342900" eaLnBrk="0" fontAlgn="base" hangingPunct="0">
              <a:spcBef>
                <a:spcPct val="0"/>
              </a:spcBef>
              <a:spcAft>
                <a:spcPct val="0"/>
              </a:spcAft>
              <a:tabLst>
                <a:tab pos="171450" algn="l"/>
              </a:tabLst>
              <a:defRPr>
                <a:solidFill>
                  <a:schemeClr val="tx1"/>
                </a:solidFill>
                <a:latin typeface="Arial" panose="020B0604020202020204" pitchFamily="34" charset="0"/>
              </a:defRPr>
            </a:lvl6pPr>
            <a:lvl7pPr marL="3086100" indent="-342900" eaLnBrk="0" fontAlgn="base" hangingPunct="0">
              <a:spcBef>
                <a:spcPct val="0"/>
              </a:spcBef>
              <a:spcAft>
                <a:spcPct val="0"/>
              </a:spcAft>
              <a:tabLst>
                <a:tab pos="171450" algn="l"/>
              </a:tabLst>
              <a:defRPr>
                <a:solidFill>
                  <a:schemeClr val="tx1"/>
                </a:solidFill>
                <a:latin typeface="Arial" panose="020B0604020202020204" pitchFamily="34" charset="0"/>
              </a:defRPr>
            </a:lvl7pPr>
            <a:lvl8pPr marL="3543300" indent="-342900" eaLnBrk="0" fontAlgn="base" hangingPunct="0">
              <a:spcBef>
                <a:spcPct val="0"/>
              </a:spcBef>
              <a:spcAft>
                <a:spcPct val="0"/>
              </a:spcAft>
              <a:tabLst>
                <a:tab pos="171450" algn="l"/>
              </a:tabLst>
              <a:defRPr>
                <a:solidFill>
                  <a:schemeClr val="tx1"/>
                </a:solidFill>
                <a:latin typeface="Arial" panose="020B0604020202020204" pitchFamily="34" charset="0"/>
              </a:defRPr>
            </a:lvl8pPr>
            <a:lvl9pPr marL="4000500" indent="-342900"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algn="just" eaLnBrk="1" hangingPunct="1">
              <a:buFontTx/>
              <a:buChar char="•"/>
            </a:pPr>
            <a:r>
              <a:rPr lang="es-ES_tradnl" altLang="es-ES" sz="1400" b="1" i="1" dirty="0">
                <a:latin typeface="Times New Roman" panose="02020603050405020304" pitchFamily="18" charset="0"/>
                <a:cs typeface="Times New Roman" panose="02020603050405020304" pitchFamily="18" charset="0"/>
              </a:rPr>
              <a:t>N</a:t>
            </a:r>
            <a:r>
              <a:rPr lang="es-ES_tradnl" altLang="es-ES" sz="1400" b="1" dirty="0">
                <a:latin typeface="Times New Roman" panose="02020603050405020304" pitchFamily="18" charset="0"/>
                <a:cs typeface="Times New Roman" panose="02020603050405020304" pitchFamily="18" charset="0"/>
              </a:rPr>
              <a:t> </a:t>
            </a:r>
            <a:r>
              <a:rPr lang="es-ES_tradnl" altLang="es-ES" sz="1400" b="1" dirty="0"/>
              <a:t>→ </a:t>
            </a:r>
            <a:r>
              <a:rPr lang="es-ES_tradnl" altLang="es-ES" sz="1400" b="1" dirty="0">
                <a:sym typeface="Symbol" panose="05050102010706020507" pitchFamily="18" charset="2"/>
              </a:rPr>
              <a:t></a:t>
            </a:r>
            <a:r>
              <a:rPr lang="es-ES_tradnl" altLang="es-ES" sz="1400" b="1" dirty="0"/>
              <a:t>  </a:t>
            </a:r>
            <a:r>
              <a:rPr lang="es-ES_tradnl" altLang="es-ES" sz="1200" dirty="0"/>
              <a:t>Es decir, la población es suficientemente grande</a:t>
            </a:r>
          </a:p>
          <a:p>
            <a:pPr algn="just" eaLnBrk="1" hangingPunct="1">
              <a:buFontTx/>
              <a:buChar char="•"/>
            </a:pPr>
            <a:r>
              <a:rPr lang="es-ES_tradnl" altLang="es-ES" sz="1400" b="1" i="1" dirty="0">
                <a:latin typeface="Times New Roman" panose="02020603050405020304" pitchFamily="18" charset="0"/>
                <a:cs typeface="Times New Roman" panose="02020603050405020304" pitchFamily="18" charset="0"/>
                <a:sym typeface="Symbol" panose="05050102010706020507" pitchFamily="18" charset="2"/>
              </a:rPr>
              <a:t>N</a:t>
            </a:r>
            <a:r>
              <a:rPr lang="es-ES_tradnl" altLang="es-ES" sz="1200" b="1" i="1" dirty="0">
                <a:sym typeface="Symbol" panose="05050102010706020507" pitchFamily="18" charset="2"/>
              </a:rPr>
              <a:t> </a:t>
            </a:r>
            <a:r>
              <a:rPr lang="es-ES_tradnl" altLang="es-ES" sz="1200" b="1" dirty="0">
                <a:sym typeface="Symbol" panose="05050102010706020507" pitchFamily="18" charset="2"/>
              </a:rPr>
              <a:t>&gt; 40  </a:t>
            </a:r>
            <a:r>
              <a:rPr lang="es-ES_tradnl" altLang="es-ES" sz="1200" dirty="0">
                <a:sym typeface="Symbol" panose="05050102010706020507" pitchFamily="18" charset="2"/>
              </a:rPr>
              <a:t>y  </a:t>
            </a:r>
            <a:r>
              <a:rPr lang="es-ES_tradnl" altLang="es-ES" sz="1400" b="1" i="1" dirty="0">
                <a:latin typeface="Times New Roman" panose="02020603050405020304" pitchFamily="18" charset="0"/>
                <a:cs typeface="Times New Roman" panose="02020603050405020304" pitchFamily="18" charset="0"/>
                <a:sym typeface="Symbol" panose="05050102010706020507" pitchFamily="18" charset="2"/>
              </a:rPr>
              <a:t>n/N</a:t>
            </a:r>
            <a:r>
              <a:rPr lang="es-ES_tradnl" altLang="es-ES" sz="1200" dirty="0">
                <a:sym typeface="Symbol" panose="05050102010706020507" pitchFamily="18" charset="2"/>
              </a:rPr>
              <a:t> (</a:t>
            </a:r>
            <a:r>
              <a:rPr lang="es-ES_tradnl" altLang="es-ES" sz="1200" i="1" dirty="0">
                <a:sym typeface="Symbol" panose="05050102010706020507" pitchFamily="18" charset="2"/>
              </a:rPr>
              <a:t>fracción de muestreo)</a:t>
            </a:r>
            <a:r>
              <a:rPr lang="es-ES_tradnl" altLang="es-ES" sz="1200" dirty="0">
                <a:sym typeface="Symbol" panose="05050102010706020507" pitchFamily="18" charset="2"/>
              </a:rPr>
              <a:t> </a:t>
            </a:r>
            <a:r>
              <a:rPr lang="es-ES_tradnl" altLang="es-ES" sz="1200" b="1" dirty="0">
                <a:sym typeface="Symbol" panose="05050102010706020507" pitchFamily="18" charset="2"/>
              </a:rPr>
              <a:t></a:t>
            </a:r>
            <a:r>
              <a:rPr lang="es-ES_tradnl" altLang="es-ES" sz="1200" b="1" dirty="0"/>
              <a:t> 0,10.  </a:t>
            </a:r>
            <a:r>
              <a:rPr lang="es-ES_tradnl" altLang="es-ES" sz="1200" dirty="0"/>
              <a:t>Es decir, la población no es tan grande pero la muestra es de tamaño despreciable respecto a ella</a:t>
            </a:r>
            <a:endParaRPr lang="es-ES_tradnl" altLang="es-ES" sz="1200" dirty="0">
              <a:cs typeface="Times New Roman" panose="02020603050405020304" pitchFamily="18" charset="0"/>
              <a:sym typeface="Symbol" panose="05050102010706020507" pitchFamily="18" charset="2"/>
            </a:endParaRPr>
          </a:p>
        </p:txBody>
      </p:sp>
      <p:grpSp>
        <p:nvGrpSpPr>
          <p:cNvPr id="19553" name="Group 97"/>
          <p:cNvGrpSpPr>
            <a:grpSpLocks/>
          </p:cNvGrpSpPr>
          <p:nvPr/>
        </p:nvGrpSpPr>
        <p:grpSpPr bwMode="auto">
          <a:xfrm>
            <a:off x="228600" y="3571875"/>
            <a:ext cx="1981200" cy="314325"/>
            <a:chOff x="144" y="2208"/>
            <a:chExt cx="1248" cy="198"/>
          </a:xfrm>
        </p:grpSpPr>
        <p:graphicFrame>
          <p:nvGraphicFramePr>
            <p:cNvPr id="19543" name="Object 87"/>
            <p:cNvGraphicFramePr>
              <a:graphicFrameLocks noChangeAspect="1"/>
            </p:cNvGraphicFramePr>
            <p:nvPr/>
          </p:nvGraphicFramePr>
          <p:xfrm>
            <a:off x="672" y="2232"/>
            <a:ext cx="720" cy="174"/>
          </p:xfrm>
          <a:graphic>
            <a:graphicData uri="http://schemas.openxmlformats.org/presentationml/2006/ole">
              <mc:AlternateContent xmlns:mc="http://schemas.openxmlformats.org/markup-compatibility/2006">
                <mc:Choice xmlns:v="urn:schemas-microsoft-com:vml" Requires="v">
                  <p:oleObj name="Equation" r:id="rId19" imgW="838080" imgH="203040" progId="Equation.DSMT4">
                    <p:embed/>
                  </p:oleObj>
                </mc:Choice>
                <mc:Fallback>
                  <p:oleObj name="Equation" r:id="rId19" imgW="838080" imgH="203040" progId="Equation.DSMT4">
                    <p:embed/>
                    <p:pic>
                      <p:nvPicPr>
                        <p:cNvPr id="19543" name="Object 8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2" y="2232"/>
                          <a:ext cx="72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544" name="40 Rectángulo"/>
            <p:cNvSpPr>
              <a:spLocks noChangeArrowheads="1"/>
            </p:cNvSpPr>
            <p:nvPr/>
          </p:nvSpPr>
          <p:spPr bwMode="auto">
            <a:xfrm>
              <a:off x="144" y="2208"/>
              <a:ext cx="5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a:cs typeface="Times New Roman" panose="02020603050405020304" pitchFamily="18" charset="0"/>
                </a:rPr>
                <a:t>Se indica </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pSp>
      <p:sp>
        <p:nvSpPr>
          <p:cNvPr id="19545" name="40 Rectángulo"/>
          <p:cNvSpPr>
            <a:spLocks noChangeArrowheads="1"/>
          </p:cNvSpPr>
          <p:nvPr/>
        </p:nvSpPr>
        <p:spPr bwMode="auto">
          <a:xfrm>
            <a:off x="228600" y="4054475"/>
            <a:ext cx="383310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dirty="0">
                <a:cs typeface="Times New Roman" panose="02020603050405020304" pitchFamily="18" charset="0"/>
              </a:rPr>
              <a:t>Parámetros</a:t>
            </a:r>
            <a:r>
              <a:rPr lang="es-ES_tradnl" altLang="es-ES" sz="1300" dirty="0">
                <a:cs typeface="Times New Roman" panose="02020603050405020304" pitchFamily="18" charset="0"/>
              </a:rPr>
              <a:t>: la </a:t>
            </a:r>
            <a:r>
              <a:rPr lang="es-ES_tradnl" altLang="es-ES" sz="1300" dirty="0" err="1">
                <a:cs typeface="Times New Roman" panose="02020603050405020304" pitchFamily="18" charset="0"/>
              </a:rPr>
              <a:t>distri</a:t>
            </a:r>
            <a:r>
              <a:rPr lang="es-ES" altLang="es-ES" sz="1300" dirty="0" err="1">
                <a:cs typeface="Times New Roman" panose="02020603050405020304" pitchFamily="18" charset="0"/>
              </a:rPr>
              <a:t>bución</a:t>
            </a:r>
            <a:r>
              <a:rPr lang="es-ES" altLang="es-ES" sz="1300" dirty="0">
                <a:cs typeface="Times New Roman" panose="02020603050405020304" pitchFamily="18" charset="0"/>
              </a:rPr>
              <a:t> tiene dos parámetros</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38" name="Rectangle 37"/>
          <p:cNvSpPr>
            <a:spLocks noChangeArrowheads="1"/>
          </p:cNvSpPr>
          <p:nvPr/>
        </p:nvSpPr>
        <p:spPr bwMode="auto">
          <a:xfrm>
            <a:off x="304800" y="4359275"/>
            <a:ext cx="4419600" cy="51752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400" b="1" i="1">
                <a:latin typeface="Times New Roman" panose="02020603050405020304" pitchFamily="18" charset="0"/>
                <a:cs typeface="Times New Roman" panose="02020603050405020304" pitchFamily="18" charset="0"/>
              </a:rPr>
              <a:t> n</a:t>
            </a:r>
            <a:r>
              <a:rPr lang="es-ES_tradnl" altLang="es-ES" sz="1200">
                <a:latin typeface="Times New Roman" panose="02020603050405020304" pitchFamily="18" charset="0"/>
                <a:cs typeface="Times New Roman" panose="02020603050405020304" pitchFamily="18" charset="0"/>
              </a:rPr>
              <a:t>:</a:t>
            </a:r>
            <a:r>
              <a:rPr lang="es-ES_tradnl" altLang="es-ES" sz="1200" i="1">
                <a:latin typeface="Times New Roman" panose="02020603050405020304" pitchFamily="18" charset="0"/>
                <a:cs typeface="Times New Roman" panose="02020603050405020304" pitchFamily="18" charset="0"/>
              </a:rPr>
              <a:t> </a:t>
            </a:r>
            <a:r>
              <a:rPr lang="es-ES_tradnl" altLang="es-ES" sz="1200">
                <a:cs typeface="Times New Roman" panose="02020603050405020304" pitchFamily="18" charset="0"/>
              </a:rPr>
              <a:t>el número de casos observados o de pruebas realizadas</a:t>
            </a:r>
          </a:p>
          <a:p>
            <a:r>
              <a:rPr lang="es-ES_tradnl" altLang="es-ES" sz="1400" b="1" i="1">
                <a:latin typeface="Times New Roman" panose="02020603050405020304" pitchFamily="18" charset="0"/>
                <a:cs typeface="Times New Roman" panose="02020603050405020304" pitchFamily="18" charset="0"/>
              </a:rPr>
              <a:t> p</a:t>
            </a:r>
            <a:r>
              <a:rPr lang="es-ES_tradnl" altLang="es-ES" sz="1200">
                <a:cs typeface="Times New Roman" panose="02020603050405020304" pitchFamily="18" charset="0"/>
              </a:rPr>
              <a:t>: la proporción de éxitos en la población</a:t>
            </a:r>
          </a:p>
        </p:txBody>
      </p:sp>
      <p:sp>
        <p:nvSpPr>
          <p:cNvPr id="19548" name="40 Rectángulo"/>
          <p:cNvSpPr>
            <a:spLocks noChangeArrowheads="1"/>
          </p:cNvSpPr>
          <p:nvPr/>
        </p:nvSpPr>
        <p:spPr bwMode="auto">
          <a:xfrm>
            <a:off x="228600" y="5089525"/>
            <a:ext cx="320036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dirty="0">
                <a:cs typeface="Times New Roman" panose="02020603050405020304" pitchFamily="18" charset="0"/>
              </a:rPr>
              <a:t>Valor esperado </a:t>
            </a:r>
            <a:r>
              <a:rPr lang="es-ES_tradnl" altLang="es-ES" sz="1300" dirty="0">
                <a:cs typeface="Times New Roman" panose="02020603050405020304" pitchFamily="18" charset="0"/>
              </a:rPr>
              <a:t>(media) y varianza de </a:t>
            </a:r>
            <a:r>
              <a:rPr lang="es-ES_tradnl" altLang="es-ES" sz="1500" i="1" dirty="0">
                <a:latin typeface="Times New Roman" panose="02020603050405020304" pitchFamily="18" charset="0"/>
                <a:cs typeface="Times New Roman" panose="02020603050405020304" pitchFamily="18" charset="0"/>
              </a:rPr>
              <a:t>X</a:t>
            </a:r>
            <a:endParaRPr lang="es-ES_tradnl" altLang="es-ES" sz="1500"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3" name="Rectangle 37"/>
          <p:cNvSpPr>
            <a:spLocks noChangeArrowheads="1"/>
          </p:cNvSpPr>
          <p:nvPr/>
        </p:nvSpPr>
        <p:spPr bwMode="auto">
          <a:xfrm>
            <a:off x="304800" y="5440363"/>
            <a:ext cx="44196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200">
                <a:cs typeface="Times New Roman" panose="02020603050405020304" pitchFamily="18" charset="0"/>
              </a:rPr>
              <a:t>Valor esperado</a:t>
            </a:r>
            <a:r>
              <a:rPr lang="es-ES_tradnl" altLang="es-ES" sz="1200" baseline="30000">
                <a:cs typeface="Times New Roman" panose="02020603050405020304" pitchFamily="18" charset="0"/>
              </a:rPr>
              <a:t>*</a:t>
            </a:r>
            <a:r>
              <a:rPr lang="es-ES_tradnl" altLang="es-ES" sz="1200">
                <a:cs typeface="Times New Roman" panose="02020603050405020304" pitchFamily="18" charset="0"/>
              </a:rPr>
              <a:t>: </a:t>
            </a:r>
            <a:r>
              <a:rPr lang="es-ES_tradnl" altLang="es-ES" sz="1400" i="1">
                <a:latin typeface="Times New Roman" panose="02020603050405020304" pitchFamily="18" charset="0"/>
                <a:cs typeface="Times New Roman" panose="02020603050405020304" pitchFamily="18" charset="0"/>
              </a:rPr>
              <a:t>np</a:t>
            </a:r>
            <a:endParaRPr lang="es-ES_tradnl" altLang="es-ES" sz="1400" i="1" baseline="30000">
              <a:latin typeface="Times New Roman" panose="02020603050405020304" pitchFamily="18" charset="0"/>
              <a:cs typeface="Times New Roman" panose="02020603050405020304" pitchFamily="18" charset="0"/>
            </a:endParaRPr>
          </a:p>
        </p:txBody>
      </p:sp>
      <p:sp>
        <p:nvSpPr>
          <p:cNvPr id="4" name="Rectangle 37"/>
          <p:cNvSpPr>
            <a:spLocks noChangeArrowheads="1"/>
          </p:cNvSpPr>
          <p:nvPr/>
        </p:nvSpPr>
        <p:spPr bwMode="auto">
          <a:xfrm>
            <a:off x="304800" y="5715000"/>
            <a:ext cx="44196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200">
                <a:cs typeface="Times New Roman" panose="02020603050405020304" pitchFamily="18" charset="0"/>
              </a:rPr>
              <a:t>Varianza: </a:t>
            </a:r>
            <a:r>
              <a:rPr lang="es-ES_tradnl" altLang="es-ES" sz="1400" i="1">
                <a:latin typeface="Times New Roman" panose="02020603050405020304" pitchFamily="18" charset="0"/>
                <a:cs typeface="Times New Roman" panose="02020603050405020304" pitchFamily="18" charset="0"/>
              </a:rPr>
              <a:t>npq</a:t>
            </a:r>
            <a:endParaRPr lang="es-ES_tradnl" altLang="es-ES" sz="1400" i="1" baseline="30000">
              <a:latin typeface="Times New Roman" panose="02020603050405020304" pitchFamily="18" charset="0"/>
              <a:cs typeface="Times New Roman" panose="02020603050405020304" pitchFamily="18" charset="0"/>
            </a:endParaRPr>
          </a:p>
        </p:txBody>
      </p:sp>
      <p:sp>
        <p:nvSpPr>
          <p:cNvPr id="5" name="Rectangle 37"/>
          <p:cNvSpPr>
            <a:spLocks noChangeArrowheads="1"/>
          </p:cNvSpPr>
          <p:nvPr/>
        </p:nvSpPr>
        <p:spPr bwMode="auto">
          <a:xfrm>
            <a:off x="152400" y="6553200"/>
            <a:ext cx="4419600" cy="27463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200" b="1" dirty="0">
                <a:cs typeface="Times New Roman" panose="02020603050405020304" pitchFamily="18" charset="0"/>
              </a:rPr>
              <a:t>*</a:t>
            </a:r>
            <a:r>
              <a:rPr lang="es-ES_tradnl" altLang="es-ES" sz="1200" dirty="0">
                <a:cs typeface="Times New Roman" panose="02020603050405020304" pitchFamily="18" charset="0"/>
              </a:rPr>
              <a:t> Se </a:t>
            </a:r>
            <a:r>
              <a:rPr lang="es-ES_tradnl" altLang="es-ES" sz="1200" dirty="0" err="1">
                <a:cs typeface="Times New Roman" panose="02020603050405020304" pitchFamily="18" charset="0"/>
              </a:rPr>
              <a:t>hab</a:t>
            </a:r>
            <a:r>
              <a:rPr lang="es-ES" altLang="es-ES" sz="1200" dirty="0">
                <a:cs typeface="Times New Roman" panose="02020603050405020304" pitchFamily="18" charset="0"/>
              </a:rPr>
              <a:t>la de </a:t>
            </a:r>
            <a:r>
              <a:rPr lang="es-ES" altLang="es-ES" sz="1200" b="1" i="1" dirty="0">
                <a:cs typeface="Times New Roman" panose="02020603050405020304" pitchFamily="18" charset="0"/>
              </a:rPr>
              <a:t>e</a:t>
            </a:r>
            <a:r>
              <a:rPr lang="es-ES_tradnl" altLang="es-ES" sz="1200" b="1" i="1" dirty="0" err="1">
                <a:cs typeface="Times New Roman" panose="02020603050405020304" pitchFamily="18" charset="0"/>
              </a:rPr>
              <a:t>speran</a:t>
            </a:r>
            <a:r>
              <a:rPr lang="es-ES" altLang="es-ES" sz="1200" b="1" i="1" dirty="0" err="1">
                <a:cs typeface="Times New Roman" panose="02020603050405020304" pitchFamily="18" charset="0"/>
              </a:rPr>
              <a:t>za</a:t>
            </a:r>
            <a:r>
              <a:rPr lang="es-ES" altLang="es-ES" sz="1200" b="1" i="1" dirty="0">
                <a:cs typeface="Times New Roman" panose="02020603050405020304" pitchFamily="18" charset="0"/>
              </a:rPr>
              <a:t> </a:t>
            </a:r>
            <a:r>
              <a:rPr lang="es-ES" altLang="es-ES" sz="1200" i="1" dirty="0">
                <a:cs typeface="Times New Roman" panose="02020603050405020304" pitchFamily="18" charset="0"/>
              </a:rPr>
              <a:t>matemática</a:t>
            </a:r>
            <a:endParaRPr lang="es-ES_tradnl" altLang="es-ES" sz="1400" i="1" baseline="30000" dirty="0">
              <a:latin typeface="Times New Roman" panose="02020603050405020304" pitchFamily="18" charset="0"/>
              <a:cs typeface="Times New Roman" panose="02020603050405020304" pitchFamily="18" charset="0"/>
            </a:endParaRPr>
          </a:p>
        </p:txBody>
      </p:sp>
      <p:sp>
        <p:nvSpPr>
          <p:cNvPr id="19554" name="40 Rectángulo"/>
          <p:cNvSpPr>
            <a:spLocks noChangeArrowheads="1"/>
          </p:cNvSpPr>
          <p:nvPr/>
        </p:nvSpPr>
        <p:spPr bwMode="auto">
          <a:xfrm>
            <a:off x="5867400" y="5029200"/>
            <a:ext cx="30480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300">
                <a:cs typeface="Times New Roman" panose="02020603050405020304" pitchFamily="18" charset="0"/>
              </a:rPr>
              <a:t>Fun</a:t>
            </a:r>
            <a:r>
              <a:rPr lang="es-ES" altLang="es-ES" sz="1300">
                <a:cs typeface="Times New Roman" panose="02020603050405020304" pitchFamily="18" charset="0"/>
              </a:rPr>
              <a:t>ción de probabilidad</a:t>
            </a:r>
            <a:r>
              <a:rPr lang="es-ES_tradnl" altLang="es-ES" sz="1300">
                <a:cs typeface="Times New Roman" panose="02020603050405020304" pitchFamily="18" charset="0"/>
              </a:rPr>
              <a:t> de </a:t>
            </a:r>
            <a:r>
              <a:rPr lang="es-ES_tradnl" altLang="es-ES" sz="1500" i="1">
                <a:latin typeface="Times New Roman" panose="02020603050405020304" pitchFamily="18" charset="0"/>
                <a:cs typeface="Times New Roman" panose="02020603050405020304" pitchFamily="18" charset="0"/>
              </a:rPr>
              <a:t>X</a:t>
            </a:r>
            <a:endParaRPr lang="es-ES_tradnl" altLang="es-ES" sz="1500" i="1">
              <a:latin typeface="Times New Roman" panose="02020603050405020304" pitchFamily="18" charset="0"/>
              <a:cs typeface="Times New Roman" panose="02020603050405020304" pitchFamily="18" charset="0"/>
              <a:sym typeface="Euclid" panose="02020503060505020303" pitchFamily="18" charset="0"/>
            </a:endParaRPr>
          </a:p>
        </p:txBody>
      </p:sp>
      <p:pic>
        <p:nvPicPr>
          <p:cNvPr id="6" name="Imagen 5"/>
          <p:cNvPicPr>
            <a:picLocks noChangeAspect="1"/>
          </p:cNvPicPr>
          <p:nvPr/>
        </p:nvPicPr>
        <p:blipFill>
          <a:blip r:embed="rId21"/>
          <a:stretch>
            <a:fillRect/>
          </a:stretch>
        </p:blipFill>
        <p:spPr>
          <a:xfrm>
            <a:off x="6990576" y="2667000"/>
            <a:ext cx="773074" cy="529259"/>
          </a:xfrm>
          <a:prstGeom prst="rect">
            <a:avLst/>
          </a:prstGeom>
        </p:spPr>
      </p:pic>
      <p:sp>
        <p:nvSpPr>
          <p:cNvPr id="7" name="CuadroTexto 6"/>
          <p:cNvSpPr txBox="1"/>
          <p:nvPr/>
        </p:nvSpPr>
        <p:spPr>
          <a:xfrm>
            <a:off x="228600" y="866775"/>
            <a:ext cx="930063" cy="276999"/>
          </a:xfrm>
          <a:prstGeom prst="rect">
            <a:avLst/>
          </a:prstGeom>
          <a:noFill/>
        </p:spPr>
        <p:txBody>
          <a:bodyPr wrap="none" rtlCol="0">
            <a:spAutoFit/>
          </a:bodyPr>
          <a:lstStyle/>
          <a:p>
            <a:r>
              <a:rPr lang="es-ES" b="1" dirty="0"/>
              <a:t>Definición</a:t>
            </a:r>
          </a:p>
        </p:txBody>
      </p:sp>
    </p:spTree>
    <p:extLst>
      <p:ext uri="{BB962C8B-B14F-4D97-AF65-F5344CB8AC3E}">
        <p14:creationId xmlns:p14="http://schemas.microsoft.com/office/powerpoint/2010/main" val="3618838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4" name="40 Rectángulo"/>
          <p:cNvSpPr>
            <a:spLocks noChangeArrowheads="1"/>
          </p:cNvSpPr>
          <p:nvPr/>
        </p:nvSpPr>
        <p:spPr bwMode="auto">
          <a:xfrm>
            <a:off x="304800" y="2362200"/>
            <a:ext cx="73675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a:cs typeface="Times New Roman" panose="02020603050405020304" pitchFamily="18" charset="0"/>
              </a:rPr>
              <a:t>Número esperado</a:t>
            </a:r>
            <a:r>
              <a:rPr lang="es-ES_tradnl" altLang="es-ES" sz="1300">
                <a:cs typeface="Times New Roman" panose="02020603050405020304" pitchFamily="18" charset="0"/>
              </a:rPr>
              <a:t> de fumadores en </a:t>
            </a:r>
            <a:r>
              <a:rPr lang="es-ES" altLang="es-ES" sz="1300">
                <a:cs typeface="Times New Roman" panose="02020603050405020304" pitchFamily="18" charset="0"/>
              </a:rPr>
              <a:t>la muestra: </a:t>
            </a:r>
            <a:r>
              <a:rPr lang="es-ES" altLang="es-ES" sz="1500" i="1">
                <a:latin typeface="Times New Roman" panose="02020603050405020304" pitchFamily="18" charset="0"/>
                <a:cs typeface="Times New Roman" panose="02020603050405020304" pitchFamily="18" charset="0"/>
              </a:rPr>
              <a:t>np = </a:t>
            </a:r>
            <a:r>
              <a:rPr lang="es-ES" altLang="es-ES" sz="1500">
                <a:latin typeface="Times New Roman" panose="02020603050405020304" pitchFamily="18" charset="0"/>
                <a:cs typeface="Times New Roman" panose="02020603050405020304" pitchFamily="18" charset="0"/>
              </a:rPr>
              <a:t>15×0.217 = 3.25 </a:t>
            </a:r>
            <a:r>
              <a:rPr lang="es-ES" altLang="es-ES" sz="1300">
                <a:cs typeface="Times New Roman" panose="02020603050405020304" pitchFamily="18" charset="0"/>
              </a:rPr>
              <a:t>(aproximadamente tres) </a:t>
            </a:r>
            <a:r>
              <a:rPr lang="es-ES_tradnl" altLang="es-ES" sz="1300">
                <a:cs typeface="Times New Roman" panose="02020603050405020304" pitchFamily="18" charset="0"/>
              </a:rPr>
              <a:t> </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sp>
        <p:nvSpPr>
          <p:cNvPr id="30754" name="Rectangle 36"/>
          <p:cNvSpPr>
            <a:spLocks noChangeArrowheads="1"/>
          </p:cNvSpPr>
          <p:nvPr/>
        </p:nvSpPr>
        <p:spPr bwMode="auto">
          <a:xfrm>
            <a:off x="217488" y="1009650"/>
            <a:ext cx="8545512" cy="7620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1pPr>
            <a:lvl2pPr marL="742950" indent="-28575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2pPr>
            <a:lvl3pPr marL="11430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3pPr>
            <a:lvl4pPr marL="16002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4pPr>
            <a:lvl5pPr marL="20574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9pPr>
          </a:lstStyle>
          <a:p>
            <a:pPr algn="just" eaLnBrk="1" hangingPunct="1"/>
            <a:r>
              <a:rPr lang="es-ES_tradnl" altLang="es-ES" sz="1400">
                <a:cs typeface="Times New Roman" panose="02020603050405020304" pitchFamily="18" charset="0"/>
              </a:rPr>
              <a:t>Seg</a:t>
            </a:r>
            <a:r>
              <a:rPr lang="es-ES" altLang="es-ES" sz="1400">
                <a:cs typeface="Times New Roman" panose="02020603050405020304" pitchFamily="18" charset="0"/>
              </a:rPr>
              <a:t>ún los datos de la Encuesta Nacional de Salud de 2012, el 21.7% de la población española de 15 a 24 años fuma diariamente (independientemente del sexo). </a:t>
            </a:r>
            <a:r>
              <a:rPr lang="es-ES_tradnl" altLang="es-ES" sz="1400">
                <a:cs typeface="Times New Roman" panose="02020603050405020304" pitchFamily="18" charset="0"/>
              </a:rPr>
              <a:t>S</a:t>
            </a:r>
            <a:r>
              <a:rPr lang="es-ES" altLang="es-ES" sz="1400">
                <a:cs typeface="Times New Roman" panose="02020603050405020304" pitchFamily="18" charset="0"/>
              </a:rPr>
              <a:t>e dispone de una muestra de </a:t>
            </a:r>
            <a:r>
              <a:rPr lang="es-ES" altLang="es-ES" sz="1600" i="1">
                <a:latin typeface="Times New Roman" panose="02020603050405020304" pitchFamily="18" charset="0"/>
                <a:cs typeface="Times New Roman" panose="02020603050405020304" pitchFamily="18" charset="0"/>
              </a:rPr>
              <a:t>n</a:t>
            </a:r>
            <a:r>
              <a:rPr lang="es-ES" altLang="es-ES" sz="1400">
                <a:cs typeface="Times New Roman" panose="02020603050405020304" pitchFamily="18" charset="0"/>
              </a:rPr>
              <a:t>=15 personas de tal edad. Observe que:</a:t>
            </a:r>
            <a:endParaRPr lang="es-ES_tradnl" altLang="es-ES" sz="1400">
              <a:cs typeface="Times New Roman" panose="02020603050405020304" pitchFamily="18" charset="0"/>
            </a:endParaRPr>
          </a:p>
        </p:txBody>
      </p:sp>
      <p:grpSp>
        <p:nvGrpSpPr>
          <p:cNvPr id="30766" name="Group 46"/>
          <p:cNvGrpSpPr>
            <a:grpSpLocks/>
          </p:cNvGrpSpPr>
          <p:nvPr/>
        </p:nvGrpSpPr>
        <p:grpSpPr bwMode="auto">
          <a:xfrm>
            <a:off x="304800" y="2909888"/>
            <a:ext cx="7096125" cy="561975"/>
            <a:chOff x="192" y="1764"/>
            <a:chExt cx="4470" cy="354"/>
          </a:xfrm>
        </p:grpSpPr>
        <p:sp>
          <p:nvSpPr>
            <p:cNvPr id="30757" name="40 Rectángulo"/>
            <p:cNvSpPr>
              <a:spLocks noChangeArrowheads="1"/>
            </p:cNvSpPr>
            <p:nvPr/>
          </p:nvSpPr>
          <p:spPr bwMode="auto">
            <a:xfrm>
              <a:off x="192" y="1824"/>
              <a:ext cx="192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a:cs typeface="Times New Roman" panose="02020603050405020304" pitchFamily="18" charset="0"/>
                </a:rPr>
                <a:t>Probabilidad de no encontrar </a:t>
              </a:r>
              <a:r>
                <a:rPr lang="es-ES_tradnl" altLang="es-ES" sz="1300" b="1">
                  <a:cs typeface="Times New Roman" panose="02020603050405020304" pitchFamily="18" charset="0"/>
                </a:rPr>
                <a:t>ninguno</a:t>
              </a:r>
              <a:r>
                <a:rPr lang="es-ES_tradnl" altLang="es-ES" sz="1300">
                  <a:cs typeface="Times New Roman" panose="02020603050405020304" pitchFamily="18" charset="0"/>
                </a:rPr>
                <a:t>:</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30758" name="2 Objeto"/>
            <p:cNvGraphicFramePr>
              <a:graphicFrameLocks noChangeAspect="1"/>
            </p:cNvGraphicFramePr>
            <p:nvPr/>
          </p:nvGraphicFramePr>
          <p:xfrm>
            <a:off x="2058" y="1764"/>
            <a:ext cx="2604" cy="354"/>
          </p:xfrm>
          <a:graphic>
            <a:graphicData uri="http://schemas.openxmlformats.org/presentationml/2006/ole">
              <mc:AlternateContent xmlns:mc="http://schemas.openxmlformats.org/markup-compatibility/2006">
                <mc:Choice xmlns:v="urn:schemas-microsoft-com:vml" Requires="v">
                  <p:oleObj name="Equation" r:id="rId2" imgW="3225600" imgH="457200" progId="Equation.DSMT4">
                    <p:embed/>
                  </p:oleObj>
                </mc:Choice>
                <mc:Fallback>
                  <p:oleObj name="Equation" r:id="rId2" imgW="3225600" imgH="457200" progId="Equation.DSMT4">
                    <p:embed/>
                    <p:pic>
                      <p:nvPicPr>
                        <p:cNvPr id="30758" name="2 Obje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8" y="1764"/>
                          <a:ext cx="2604"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0772" name="Group 52"/>
          <p:cNvGrpSpPr>
            <a:grpSpLocks/>
          </p:cNvGrpSpPr>
          <p:nvPr/>
        </p:nvGrpSpPr>
        <p:grpSpPr bwMode="auto">
          <a:xfrm>
            <a:off x="304800" y="3625850"/>
            <a:ext cx="4222750" cy="565150"/>
            <a:chOff x="192" y="2112"/>
            <a:chExt cx="2660" cy="356"/>
          </a:xfrm>
        </p:grpSpPr>
        <p:sp>
          <p:nvSpPr>
            <p:cNvPr id="30759" name="40 Rectángulo"/>
            <p:cNvSpPr>
              <a:spLocks noChangeArrowheads="1"/>
            </p:cNvSpPr>
            <p:nvPr/>
          </p:nvSpPr>
          <p:spPr bwMode="auto">
            <a:xfrm>
              <a:off x="192" y="2112"/>
              <a:ext cx="171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a:cs typeface="Times New Roman" panose="02020603050405020304" pitchFamily="18" charset="0"/>
                </a:rPr>
                <a:t>Probabilidad de encontrar </a:t>
              </a:r>
              <a:r>
                <a:rPr lang="es-ES_tradnl" altLang="es-ES" sz="1300" b="1">
                  <a:cs typeface="Times New Roman" panose="02020603050405020304" pitchFamily="18" charset="0"/>
                </a:rPr>
                <a:t>alguno</a:t>
              </a:r>
              <a:r>
                <a:rPr lang="es-ES_tradnl" altLang="es-ES" sz="1300">
                  <a:cs typeface="Times New Roman" panose="02020603050405020304" pitchFamily="18" charset="0"/>
                </a:rPr>
                <a:t>:</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30760" name="2 Objeto"/>
            <p:cNvGraphicFramePr>
              <a:graphicFrameLocks noChangeAspect="1"/>
            </p:cNvGraphicFramePr>
            <p:nvPr/>
          </p:nvGraphicFramePr>
          <p:xfrm>
            <a:off x="228" y="2310"/>
            <a:ext cx="2624" cy="158"/>
          </p:xfrm>
          <a:graphic>
            <a:graphicData uri="http://schemas.openxmlformats.org/presentationml/2006/ole">
              <mc:AlternateContent xmlns:mc="http://schemas.openxmlformats.org/markup-compatibility/2006">
                <mc:Choice xmlns:v="urn:schemas-microsoft-com:vml" Requires="v">
                  <p:oleObj name="Equation" r:id="rId4" imgW="3251160" imgH="203040" progId="Equation.DSMT4">
                    <p:embed/>
                  </p:oleObj>
                </mc:Choice>
                <mc:Fallback>
                  <p:oleObj name="Equation" r:id="rId4" imgW="3251160" imgH="203040" progId="Equation.DSMT4">
                    <p:embed/>
                    <p:pic>
                      <p:nvPicPr>
                        <p:cNvPr id="30760" name="2 Objet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 y="2310"/>
                          <a:ext cx="2624"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0764" name="Group 44"/>
          <p:cNvGrpSpPr>
            <a:grpSpLocks/>
          </p:cNvGrpSpPr>
          <p:nvPr/>
        </p:nvGrpSpPr>
        <p:grpSpPr bwMode="auto">
          <a:xfrm>
            <a:off x="304800" y="4476750"/>
            <a:ext cx="4351338" cy="1162050"/>
            <a:chOff x="2544" y="2448"/>
            <a:chExt cx="2741" cy="732"/>
          </a:xfrm>
        </p:grpSpPr>
        <p:graphicFrame>
          <p:nvGraphicFramePr>
            <p:cNvPr id="30762" name="2 Objeto"/>
            <p:cNvGraphicFramePr>
              <a:graphicFrameLocks noChangeAspect="1"/>
            </p:cNvGraphicFramePr>
            <p:nvPr/>
          </p:nvGraphicFramePr>
          <p:xfrm>
            <a:off x="2568" y="2472"/>
            <a:ext cx="2717" cy="708"/>
          </p:xfrm>
          <a:graphic>
            <a:graphicData uri="http://schemas.openxmlformats.org/presentationml/2006/ole">
              <mc:AlternateContent xmlns:mc="http://schemas.openxmlformats.org/markup-compatibility/2006">
                <mc:Choice xmlns:v="urn:schemas-microsoft-com:vml" Requires="v">
                  <p:oleObj name="Equation" r:id="rId6" imgW="3365280" imgH="914400" progId="Equation.DSMT4">
                    <p:embed/>
                  </p:oleObj>
                </mc:Choice>
                <mc:Fallback>
                  <p:oleObj name="Equation" r:id="rId6" imgW="3365280" imgH="914400" progId="Equation.DSMT4">
                    <p:embed/>
                    <p:pic>
                      <p:nvPicPr>
                        <p:cNvPr id="30762" name="2 Objet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8" y="2472"/>
                          <a:ext cx="2717"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61" name="40 Rectángulo"/>
            <p:cNvSpPr>
              <a:spLocks noChangeArrowheads="1"/>
            </p:cNvSpPr>
            <p:nvPr/>
          </p:nvSpPr>
          <p:spPr bwMode="auto">
            <a:xfrm>
              <a:off x="2544" y="2448"/>
              <a:ext cx="160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a:cs typeface="Times New Roman" panose="02020603050405020304" pitchFamily="18" charset="0"/>
                </a:rPr>
                <a:t>Probabilidad de encontrar </a:t>
              </a:r>
              <a:r>
                <a:rPr lang="es-ES_tradnl" altLang="es-ES" sz="1300" b="1">
                  <a:cs typeface="Times New Roman" panose="02020603050405020304" pitchFamily="18" charset="0"/>
                </a:rPr>
                <a:t>2 o 3</a:t>
              </a:r>
              <a:r>
                <a:rPr lang="es-ES_tradnl" altLang="es-ES" sz="1300">
                  <a:cs typeface="Times New Roman" panose="02020603050405020304" pitchFamily="18" charset="0"/>
                </a:rPr>
                <a:t>:</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pSp>
      <p:grpSp>
        <p:nvGrpSpPr>
          <p:cNvPr id="30765" name="Group 45"/>
          <p:cNvGrpSpPr>
            <a:grpSpLocks/>
          </p:cNvGrpSpPr>
          <p:nvPr/>
        </p:nvGrpSpPr>
        <p:grpSpPr bwMode="auto">
          <a:xfrm>
            <a:off x="304800" y="1752600"/>
            <a:ext cx="8153400" cy="561975"/>
            <a:chOff x="192" y="1080"/>
            <a:chExt cx="5136" cy="354"/>
          </a:xfrm>
        </p:grpSpPr>
        <p:grpSp>
          <p:nvGrpSpPr>
            <p:cNvPr id="30756" name="Group 36"/>
            <p:cNvGrpSpPr>
              <a:grpSpLocks/>
            </p:cNvGrpSpPr>
            <p:nvPr/>
          </p:nvGrpSpPr>
          <p:grpSpPr bwMode="auto">
            <a:xfrm>
              <a:off x="192" y="1142"/>
              <a:ext cx="5136" cy="202"/>
              <a:chOff x="192" y="1200"/>
              <a:chExt cx="5136" cy="202"/>
            </a:xfrm>
          </p:grpSpPr>
          <p:graphicFrame>
            <p:nvGraphicFramePr>
              <p:cNvPr id="30731" name="3 Objeto"/>
              <p:cNvGraphicFramePr>
                <a:graphicFrameLocks noChangeAspect="1"/>
              </p:cNvGraphicFramePr>
              <p:nvPr/>
            </p:nvGraphicFramePr>
            <p:xfrm>
              <a:off x="1566" y="1233"/>
              <a:ext cx="882" cy="165"/>
            </p:xfrm>
            <a:graphic>
              <a:graphicData uri="http://schemas.openxmlformats.org/presentationml/2006/ole">
                <mc:AlternateContent xmlns:mc="http://schemas.openxmlformats.org/markup-compatibility/2006">
                  <mc:Choice xmlns:v="urn:schemas-microsoft-com:vml" Requires="v">
                    <p:oleObj name="Equation" r:id="rId8" imgW="1155600" imgH="203040" progId="Equation.DSMT4">
                      <p:embed/>
                    </p:oleObj>
                  </mc:Choice>
                  <mc:Fallback>
                    <p:oleObj name="Equation" r:id="rId8" imgW="1155600" imgH="203040" progId="Equation.DSMT4">
                      <p:embed/>
                      <p:pic>
                        <p:nvPicPr>
                          <p:cNvPr id="30731" name="3 Objet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66" y="1233"/>
                            <a:ext cx="88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Rectangle 35"/>
              <p:cNvSpPr>
                <a:spLocks noChangeArrowheads="1"/>
              </p:cNvSpPr>
              <p:nvPr/>
            </p:nvSpPr>
            <p:spPr bwMode="auto">
              <a:xfrm>
                <a:off x="192" y="1200"/>
                <a:ext cx="5136" cy="20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1500" i="1">
                    <a:latin typeface="Times New Roman" panose="02020603050405020304" pitchFamily="18" charset="0"/>
                    <a:cs typeface="Times New Roman" panose="02020603050405020304" pitchFamily="18" charset="0"/>
                  </a:rPr>
                  <a:t>X</a:t>
                </a:r>
                <a:r>
                  <a:rPr lang="es-ES_tradnl" altLang="es-ES" sz="1300">
                    <a:cs typeface="Times New Roman" panose="02020603050405020304" pitchFamily="18" charset="0"/>
                  </a:rPr>
                  <a:t> = número de fumadores;  </a:t>
                </a:r>
              </a:p>
            </p:txBody>
          </p:sp>
        </p:grpSp>
        <p:graphicFrame>
          <p:nvGraphicFramePr>
            <p:cNvPr id="30729" name="2 Objeto"/>
            <p:cNvGraphicFramePr>
              <a:graphicFrameLocks noChangeAspect="1"/>
            </p:cNvGraphicFramePr>
            <p:nvPr/>
          </p:nvGraphicFramePr>
          <p:xfrm>
            <a:off x="2478" y="1080"/>
            <a:ext cx="2850" cy="354"/>
          </p:xfrm>
          <a:graphic>
            <a:graphicData uri="http://schemas.openxmlformats.org/presentationml/2006/ole">
              <mc:AlternateContent xmlns:mc="http://schemas.openxmlformats.org/markup-compatibility/2006">
                <mc:Choice xmlns:v="urn:schemas-microsoft-com:vml" Requires="v">
                  <p:oleObj name="Equation" r:id="rId10" imgW="3530520" imgH="457200" progId="Equation.DSMT4">
                    <p:embed/>
                  </p:oleObj>
                </mc:Choice>
                <mc:Fallback>
                  <p:oleObj name="Equation" r:id="rId10" imgW="3530520" imgH="457200" progId="Equation.DSMT4">
                    <p:embed/>
                    <p:pic>
                      <p:nvPicPr>
                        <p:cNvPr id="30729" name="2 Objeto"/>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78" y="1080"/>
                          <a:ext cx="2850" cy="354"/>
                        </a:xfrm>
                        <a:prstGeom prst="rect">
                          <a:avLst/>
                        </a:prstGeom>
                        <a:solidFill>
                          <a:schemeClr val="bg1">
                            <a:alpha val="7700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0774" name="Group 54"/>
          <p:cNvGrpSpPr>
            <a:grpSpLocks/>
          </p:cNvGrpSpPr>
          <p:nvPr/>
        </p:nvGrpSpPr>
        <p:grpSpPr bwMode="auto">
          <a:xfrm>
            <a:off x="4876800" y="3505200"/>
            <a:ext cx="3962400" cy="3048000"/>
            <a:chOff x="3072" y="2208"/>
            <a:chExt cx="2496" cy="1920"/>
          </a:xfrm>
        </p:grpSpPr>
        <p:sp>
          <p:nvSpPr>
            <p:cNvPr id="30727" name="AutoShape 44"/>
            <p:cNvSpPr>
              <a:spLocks noChangeArrowheads="1"/>
            </p:cNvSpPr>
            <p:nvPr/>
          </p:nvSpPr>
          <p:spPr bwMode="auto">
            <a:xfrm>
              <a:off x="3072" y="2304"/>
              <a:ext cx="2496" cy="1824"/>
            </a:xfrm>
            <a:prstGeom prst="roundRect">
              <a:avLst>
                <a:gd name="adj" fmla="val 369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sp>
          <p:nvSpPr>
            <p:cNvPr id="43" name="Rectangle 35"/>
            <p:cNvSpPr>
              <a:spLocks noChangeArrowheads="1"/>
            </p:cNvSpPr>
            <p:nvPr/>
          </p:nvSpPr>
          <p:spPr bwMode="auto">
            <a:xfrm>
              <a:off x="3168" y="2208"/>
              <a:ext cx="2134" cy="18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1200" b="1" dirty="0">
                  <a:cs typeface="Times New Roman" panose="02020603050405020304" pitchFamily="18" charset="0"/>
                </a:rPr>
                <a:t>Diagrama de probabilidad </a:t>
              </a:r>
              <a:r>
                <a:rPr lang="es-ES" altLang="es-ES" sz="1200" dirty="0">
                  <a:cs typeface="Times New Roman" panose="02020603050405020304" pitchFamily="18" charset="0"/>
                </a:rPr>
                <a:t>de la </a:t>
              </a:r>
              <a:r>
                <a:rPr lang="es-ES" altLang="es-ES" sz="1300" dirty="0">
                  <a:latin typeface="Times New Roman" panose="02020603050405020304" pitchFamily="18" charset="0"/>
                  <a:cs typeface="Times New Roman" panose="02020603050405020304" pitchFamily="18" charset="0"/>
                </a:rPr>
                <a:t>B(15,0.217)</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grpSp>
          <p:nvGrpSpPr>
            <p:cNvPr id="30769" name="Group 49"/>
            <p:cNvGrpSpPr>
              <a:grpSpLocks/>
            </p:cNvGrpSpPr>
            <p:nvPr/>
          </p:nvGrpSpPr>
          <p:grpSpPr bwMode="auto">
            <a:xfrm>
              <a:off x="3144" y="2417"/>
              <a:ext cx="2352" cy="1687"/>
              <a:chOff x="192" y="2448"/>
              <a:chExt cx="2352" cy="1687"/>
            </a:xfrm>
          </p:grpSpPr>
          <p:graphicFrame>
            <p:nvGraphicFramePr>
              <p:cNvPr id="30763" name="Object 43"/>
              <p:cNvGraphicFramePr>
                <a:graphicFrameLocks noChangeAspect="1"/>
              </p:cNvGraphicFramePr>
              <p:nvPr/>
            </p:nvGraphicFramePr>
            <p:xfrm>
              <a:off x="192" y="2496"/>
              <a:ext cx="2352" cy="1634"/>
            </p:xfrm>
            <a:graphic>
              <a:graphicData uri="http://schemas.openxmlformats.org/presentationml/2006/ole">
                <mc:AlternateContent xmlns:mc="http://schemas.openxmlformats.org/markup-compatibility/2006">
                  <mc:Choice xmlns:v="urn:schemas-microsoft-com:vml" Requires="v">
                    <p:oleObj name="Gráfico" r:id="rId12" imgW="4867332" imgH="3381310" progId="Excel.Chart.8">
                      <p:embed/>
                    </p:oleObj>
                  </mc:Choice>
                  <mc:Fallback>
                    <p:oleObj name="Gráfico" r:id="rId12" imgW="4867332" imgH="3381310" progId="Excel.Chart.8">
                      <p:embed/>
                      <p:pic>
                        <p:nvPicPr>
                          <p:cNvPr id="30763" name="Object 4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2" y="2496"/>
                            <a:ext cx="2352" cy="1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6" name="1 Objeto"/>
              <p:cNvGraphicFramePr>
                <a:graphicFrameLocks noChangeAspect="1"/>
              </p:cNvGraphicFramePr>
              <p:nvPr/>
            </p:nvGraphicFramePr>
            <p:xfrm>
              <a:off x="1536" y="2688"/>
              <a:ext cx="814" cy="409"/>
            </p:xfrm>
            <a:graphic>
              <a:graphicData uri="http://schemas.openxmlformats.org/presentationml/2006/ole">
                <mc:AlternateContent xmlns:mc="http://schemas.openxmlformats.org/markup-compatibility/2006">
                  <mc:Choice xmlns:v="urn:schemas-microsoft-com:vml" Requires="v">
                    <p:oleObj name="Equation" r:id="rId14" imgW="1371600" imgH="685800" progId="Equation.DSMT4">
                      <p:embed/>
                    </p:oleObj>
                  </mc:Choice>
                  <mc:Fallback>
                    <p:oleObj name="Equation" r:id="rId14" imgW="1371600" imgH="685800" progId="Equation.DSMT4">
                      <p:embed/>
                      <p:pic>
                        <p:nvPicPr>
                          <p:cNvPr id="30726" name="1 Objeto"/>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36" y="2688"/>
                            <a:ext cx="814" cy="4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67" name="1 Objeto"/>
              <p:cNvGraphicFramePr>
                <a:graphicFrameLocks noChangeAspect="1"/>
              </p:cNvGraphicFramePr>
              <p:nvPr/>
            </p:nvGraphicFramePr>
            <p:xfrm>
              <a:off x="240" y="2448"/>
              <a:ext cx="347" cy="122"/>
            </p:xfrm>
            <a:graphic>
              <a:graphicData uri="http://schemas.openxmlformats.org/presentationml/2006/ole">
                <mc:AlternateContent xmlns:mc="http://schemas.openxmlformats.org/markup-compatibility/2006">
                  <mc:Choice xmlns:v="urn:schemas-microsoft-com:vml" Requires="v">
                    <p:oleObj name="Equation" r:id="rId16" imgW="583920" imgH="203040" progId="Equation.DSMT4">
                      <p:embed/>
                    </p:oleObj>
                  </mc:Choice>
                  <mc:Fallback>
                    <p:oleObj name="Equation" r:id="rId16" imgW="583920" imgH="203040" progId="Equation.DSMT4">
                      <p:embed/>
                      <p:pic>
                        <p:nvPicPr>
                          <p:cNvPr id="30767" name="1 Objeto"/>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0" y="2448"/>
                            <a:ext cx="347" cy="1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68" name="1 Objeto"/>
              <p:cNvGraphicFramePr>
                <a:graphicFrameLocks noChangeAspect="1"/>
              </p:cNvGraphicFramePr>
              <p:nvPr/>
            </p:nvGraphicFramePr>
            <p:xfrm>
              <a:off x="1383" y="4051"/>
              <a:ext cx="76" cy="84"/>
            </p:xfrm>
            <a:graphic>
              <a:graphicData uri="http://schemas.openxmlformats.org/presentationml/2006/ole">
                <mc:AlternateContent xmlns:mc="http://schemas.openxmlformats.org/markup-compatibility/2006">
                  <mc:Choice xmlns:v="urn:schemas-microsoft-com:vml" Requires="v">
                    <p:oleObj name="Equation" r:id="rId18" imgW="126720" imgH="139680" progId="Equation.DSMT4">
                      <p:embed/>
                    </p:oleObj>
                  </mc:Choice>
                  <mc:Fallback>
                    <p:oleObj name="Equation" r:id="rId18" imgW="126720" imgH="139680" progId="Equation.DSMT4">
                      <p:embed/>
                      <p:pic>
                        <p:nvPicPr>
                          <p:cNvPr id="30768" name="1 Objeto"/>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83" y="4051"/>
                            <a:ext cx="76" cy="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
        <p:nvSpPr>
          <p:cNvPr id="30771" name="40 Rectángulo"/>
          <p:cNvSpPr>
            <a:spLocks noChangeArrowheads="1"/>
          </p:cNvSpPr>
          <p:nvPr/>
        </p:nvSpPr>
        <p:spPr bwMode="auto">
          <a:xfrm>
            <a:off x="304800" y="5881688"/>
            <a:ext cx="4356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300" dirty="0">
                <a:cs typeface="Times New Roman" panose="02020603050405020304" pitchFamily="18" charset="0"/>
              </a:rPr>
              <a:t>Probabilidad de encontrar entre cero y 1</a:t>
            </a:r>
            <a:r>
              <a:rPr lang="es-ES" altLang="es-ES" sz="1300" dirty="0">
                <a:cs typeface="Times New Roman" panose="02020603050405020304" pitchFamily="18" charset="0"/>
              </a:rPr>
              <a:t>5 fumadores </a:t>
            </a:r>
            <a:r>
              <a:rPr lang="es-ES" altLang="es-ES" sz="1500" dirty="0">
                <a:latin typeface="Times New Roman" panose="02020603050405020304" pitchFamily="18" charset="0"/>
                <a:cs typeface="Times New Roman" panose="02020603050405020304" pitchFamily="18" charset="0"/>
              </a:rPr>
              <a:t>=1 </a:t>
            </a:r>
          </a:p>
          <a:p>
            <a:pPr algn="ctr" eaLnBrk="1" hangingPunct="1"/>
            <a:r>
              <a:rPr lang="es-ES" altLang="es-ES" sz="1300" dirty="0">
                <a:cs typeface="Times New Roman" panose="02020603050405020304" pitchFamily="18" charset="0"/>
              </a:rPr>
              <a:t>(=100%) ¿por qué?</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30773" name="Rectangle 35"/>
          <p:cNvSpPr>
            <a:spLocks noChangeArrowheads="1"/>
          </p:cNvSpPr>
          <p:nvPr/>
        </p:nvSpPr>
        <p:spPr bwMode="auto">
          <a:xfrm>
            <a:off x="5206335" y="466725"/>
            <a:ext cx="3048000" cy="466725"/>
          </a:xfrm>
          <a:prstGeom prst="rect">
            <a:avLst/>
          </a:prstGeom>
          <a:solidFill>
            <a:schemeClr val="bg1"/>
          </a:solidFill>
          <a:ln w="9525">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200" dirty="0">
                <a:solidFill>
                  <a:srgbClr val="B00000"/>
                </a:solidFill>
                <a:cs typeface="Times New Roman" panose="02020603050405020304" pitchFamily="18" charset="0"/>
              </a:rPr>
              <a:t>¡¡</a:t>
            </a:r>
            <a:r>
              <a:rPr lang="es-ES_tradnl" altLang="es-ES" sz="1200" dirty="0">
                <a:solidFill>
                  <a:srgbClr val="B00000"/>
                </a:solidFill>
                <a:cs typeface="Times New Roman" panose="02020603050405020304" pitchFamily="18" charset="0"/>
              </a:rPr>
              <a:t>No se exigen estos cálculos. Se trata de ver solo el razonamiento!! </a:t>
            </a:r>
          </a:p>
        </p:txBody>
      </p:sp>
      <p:sp>
        <p:nvSpPr>
          <p:cNvPr id="31" name="Rectangle 35"/>
          <p:cNvSpPr>
            <a:spLocks noChangeArrowheads="1"/>
          </p:cNvSpPr>
          <p:nvPr/>
        </p:nvSpPr>
        <p:spPr bwMode="auto">
          <a:xfrm>
            <a:off x="152400" y="421481"/>
            <a:ext cx="6324600" cy="3079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b="1" dirty="0">
                <a:cs typeface="Times New Roman" panose="02020603050405020304" pitchFamily="18" charset="0"/>
              </a:rPr>
              <a:t>Distribución Binomial. Ejemplo </a:t>
            </a:r>
          </a:p>
        </p:txBody>
      </p:sp>
      <p:sp>
        <p:nvSpPr>
          <p:cNvPr id="32" name="4 Rectángulo"/>
          <p:cNvSpPr>
            <a:spLocks noChangeArrowheads="1"/>
          </p:cNvSpPr>
          <p:nvPr/>
        </p:nvSpPr>
        <p:spPr bwMode="auto">
          <a:xfrm>
            <a:off x="152400" y="65087"/>
            <a:ext cx="746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de VAD</a:t>
            </a:r>
          </a:p>
        </p:txBody>
      </p:sp>
      <p:sp>
        <p:nvSpPr>
          <p:cNvPr id="33" name="CuadroTexto 32"/>
          <p:cNvSpPr txBox="1"/>
          <p:nvPr/>
        </p:nvSpPr>
        <p:spPr>
          <a:xfrm rot="1231655">
            <a:off x="7797260" y="339267"/>
            <a:ext cx="1104790" cy="276999"/>
          </a:xfrm>
          <a:prstGeom prst="rect">
            <a:avLst/>
          </a:prstGeom>
          <a:solidFill>
            <a:schemeClr val="bg1"/>
          </a:solidFill>
          <a:ln>
            <a:solidFill>
              <a:srgbClr val="FF0000"/>
            </a:solidFill>
          </a:ln>
        </p:spPr>
        <p:txBody>
          <a:bodyPr wrap="none" rtlCol="0">
            <a:spAutoFit/>
          </a:bodyPr>
          <a:lstStyle/>
          <a:p>
            <a:r>
              <a:rPr lang="es-ES" dirty="0">
                <a:solidFill>
                  <a:srgbClr val="FA0000"/>
                </a:solidFill>
              </a:rPr>
              <a:t>complemento</a:t>
            </a:r>
          </a:p>
        </p:txBody>
      </p:sp>
    </p:spTree>
    <p:extLst>
      <p:ext uri="{BB962C8B-B14F-4D97-AF65-F5344CB8AC3E}">
        <p14:creationId xmlns:p14="http://schemas.microsoft.com/office/powerpoint/2010/main" val="213818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74" name="Rectangle 36"/>
          <p:cNvSpPr>
            <a:spLocks noChangeArrowheads="1"/>
          </p:cNvSpPr>
          <p:nvPr/>
        </p:nvSpPr>
        <p:spPr bwMode="auto">
          <a:xfrm>
            <a:off x="228600" y="1447800"/>
            <a:ext cx="5410200" cy="181588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7475" indent="-117475"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1pPr>
            <a:lvl2pPr marL="742950" indent="-28575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2pPr>
            <a:lvl3pPr marL="11430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3pPr>
            <a:lvl4pPr marL="16002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4pPr>
            <a:lvl5pPr marL="20574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9pPr>
          </a:lstStyle>
          <a:p>
            <a:pPr algn="just" eaLnBrk="1" hangingPunct="1">
              <a:buFontTx/>
              <a:buChar char="•"/>
            </a:pPr>
            <a:r>
              <a:rPr lang="es-ES_tradnl" altLang="es-ES" sz="1200" dirty="0">
                <a:cs typeface="Times New Roman" panose="02020603050405020304" pitchFamily="18" charset="0"/>
              </a:rPr>
              <a:t>El número de sucesos que ocurren </a:t>
            </a:r>
            <a:r>
              <a:rPr lang="es-ES" altLang="es-ES" sz="1200" dirty="0">
                <a:cs typeface="Times New Roman" panose="02020603050405020304" pitchFamily="18" charset="0"/>
              </a:rPr>
              <a:t>independientemente y de forma no simultánea en el tiempo</a:t>
            </a:r>
          </a:p>
          <a:p>
            <a:pPr algn="just" eaLnBrk="1" hangingPunct="1">
              <a:buFontTx/>
              <a:buChar char="•"/>
            </a:pPr>
            <a:endParaRPr lang="es-ES_tradnl" altLang="es-ES" sz="1200" dirty="0">
              <a:cs typeface="Times New Roman" panose="02020603050405020304" pitchFamily="18" charset="0"/>
            </a:endParaRPr>
          </a:p>
          <a:p>
            <a:pPr algn="just" eaLnBrk="1" hangingPunct="1">
              <a:buFontTx/>
              <a:buChar char="•"/>
            </a:pPr>
            <a:r>
              <a:rPr lang="es-ES_tradnl" altLang="es-ES" sz="1200" dirty="0">
                <a:cs typeface="Times New Roman" panose="02020603050405020304" pitchFamily="18" charset="0"/>
              </a:rPr>
              <a:t>El número de partí</a:t>
            </a:r>
            <a:r>
              <a:rPr lang="es-ES" altLang="es-ES" sz="1200" dirty="0">
                <a:cs typeface="Times New Roman" panose="02020603050405020304" pitchFamily="18" charset="0"/>
              </a:rPr>
              <a:t>culas distribuidas al azar en una gran cantidad de medio</a:t>
            </a:r>
          </a:p>
          <a:p>
            <a:pPr algn="just" eaLnBrk="1" hangingPunct="1">
              <a:buFontTx/>
              <a:buChar char="•"/>
            </a:pPr>
            <a:endParaRPr lang="es-ES_tradnl" altLang="es-ES" sz="1200" dirty="0">
              <a:cs typeface="Times New Roman" panose="02020603050405020304" pitchFamily="18" charset="0"/>
            </a:endParaRPr>
          </a:p>
          <a:p>
            <a:pPr algn="just" eaLnBrk="1" hangingPunct="1">
              <a:buFontTx/>
              <a:buChar char="•"/>
            </a:pPr>
            <a:r>
              <a:rPr lang="es-ES_tradnl" altLang="es-ES" sz="1200" dirty="0">
                <a:cs typeface="Times New Roman" panose="02020603050405020304" pitchFamily="18" charset="0"/>
              </a:rPr>
              <a:t>El número de </a:t>
            </a:r>
            <a:r>
              <a:rPr lang="es-ES_tradnl" altLang="es-ES" sz="1200" dirty="0" err="1">
                <a:cs typeface="Times New Roman" panose="02020603050405020304" pitchFamily="18" charset="0"/>
              </a:rPr>
              <a:t>ca</a:t>
            </a:r>
            <a:r>
              <a:rPr lang="es-ES" altLang="es-ES" sz="1200" dirty="0" err="1">
                <a:cs typeface="Times New Roman" panose="02020603050405020304" pitchFamily="18" charset="0"/>
              </a:rPr>
              <a:t>sos</a:t>
            </a:r>
            <a:r>
              <a:rPr lang="es-ES" altLang="es-ES" sz="1200" dirty="0">
                <a:cs typeface="Times New Roman" panose="02020603050405020304" pitchFamily="18" charset="0"/>
              </a:rPr>
              <a:t> con una </a:t>
            </a:r>
            <a:r>
              <a:rPr lang="es-ES" altLang="es-ES" sz="1200" b="1" dirty="0">
                <a:cs typeface="Times New Roman" panose="02020603050405020304" pitchFamily="18" charset="0"/>
              </a:rPr>
              <a:t>rara característica </a:t>
            </a:r>
            <a:r>
              <a:rPr lang="es-ES" altLang="es-ES" sz="1200" dirty="0">
                <a:cs typeface="Times New Roman" panose="02020603050405020304" pitchFamily="18" charset="0"/>
              </a:rPr>
              <a:t>A cuando se observa un número grande de sujetos (= </a:t>
            </a:r>
            <a:r>
              <a:rPr lang="es-ES" altLang="es-ES" sz="1200" b="1" dirty="0">
                <a:cs typeface="Times New Roman" panose="02020603050405020304" pitchFamily="18" charset="0"/>
              </a:rPr>
              <a:t>ley de los sucesos raros</a:t>
            </a:r>
            <a:r>
              <a:rPr lang="es-ES" altLang="es-ES" sz="1200" dirty="0">
                <a:cs typeface="Times New Roman" panose="02020603050405020304" pitchFamily="18" charset="0"/>
              </a:rPr>
              <a:t>, una binomial con </a:t>
            </a:r>
            <a:r>
              <a:rPr lang="es-ES" altLang="es-ES" sz="1400" i="1" dirty="0">
                <a:latin typeface="Times New Roman" panose="02020603050405020304" pitchFamily="18" charset="0"/>
                <a:cs typeface="Times New Roman" panose="02020603050405020304" pitchFamily="18" charset="0"/>
              </a:rPr>
              <a:t>p</a:t>
            </a:r>
            <a:r>
              <a:rPr lang="es-ES" altLang="es-ES" sz="1200" dirty="0">
                <a:cs typeface="Times New Roman" panose="02020603050405020304" pitchFamily="18" charset="0"/>
              </a:rPr>
              <a:t> pequeño, menor a 0.05, y </a:t>
            </a:r>
            <a:r>
              <a:rPr lang="es-ES" altLang="es-ES" sz="1400" i="1" dirty="0">
                <a:latin typeface="Times New Roman" panose="02020603050405020304" pitchFamily="18" charset="0"/>
                <a:cs typeface="Times New Roman" panose="02020603050405020304" pitchFamily="18" charset="0"/>
              </a:rPr>
              <a:t>n</a:t>
            </a:r>
            <a:r>
              <a:rPr lang="es-ES" altLang="es-ES" sz="1200" dirty="0">
                <a:cs typeface="Times New Roman" panose="02020603050405020304" pitchFamily="18" charset="0"/>
              </a:rPr>
              <a:t> grande, mayor a 20)</a:t>
            </a:r>
            <a:endParaRPr lang="es-ES_tradnl" altLang="es-ES" sz="1200" dirty="0">
              <a:cs typeface="Times New Roman" panose="02020603050405020304" pitchFamily="18" charset="0"/>
            </a:endParaRPr>
          </a:p>
          <a:p>
            <a:pPr algn="just" eaLnBrk="1" hangingPunct="1">
              <a:buFontTx/>
              <a:buChar char="•"/>
            </a:pPr>
            <a:endParaRPr lang="es-ES_tradnl" altLang="es-ES" sz="1200" dirty="0">
              <a:cs typeface="Times New Roman" panose="02020603050405020304" pitchFamily="18" charset="0"/>
            </a:endParaRPr>
          </a:p>
        </p:txBody>
      </p:sp>
      <p:sp>
        <p:nvSpPr>
          <p:cNvPr id="31746" name="Rectangle 35"/>
          <p:cNvSpPr>
            <a:spLocks noChangeArrowheads="1"/>
          </p:cNvSpPr>
          <p:nvPr/>
        </p:nvSpPr>
        <p:spPr bwMode="auto">
          <a:xfrm>
            <a:off x="152400" y="423902"/>
            <a:ext cx="6324600" cy="36933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b="1" dirty="0">
                <a:cs typeface="Times New Roman" panose="02020603050405020304" pitchFamily="18" charset="0"/>
              </a:rPr>
              <a:t>Distribución de </a:t>
            </a:r>
            <a:r>
              <a:rPr lang="es-ES_tradnl" altLang="es-ES" sz="1800" b="1" dirty="0">
                <a:solidFill>
                  <a:srgbClr val="FF0000"/>
                </a:solidFill>
                <a:cs typeface="Times New Roman" panose="02020603050405020304" pitchFamily="18" charset="0"/>
              </a:rPr>
              <a:t>Poisson</a:t>
            </a:r>
          </a:p>
        </p:txBody>
      </p:sp>
      <p:sp>
        <p:nvSpPr>
          <p:cNvPr id="31747" name="4 Rectángulo"/>
          <p:cNvSpPr>
            <a:spLocks noChangeArrowheads="1"/>
          </p:cNvSpPr>
          <p:nvPr/>
        </p:nvSpPr>
        <p:spPr bwMode="auto">
          <a:xfrm>
            <a:off x="163775" y="66122"/>
            <a:ext cx="746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de VAD</a:t>
            </a:r>
          </a:p>
        </p:txBody>
      </p:sp>
      <p:sp>
        <p:nvSpPr>
          <p:cNvPr id="31749" name="AutoShape 44"/>
          <p:cNvSpPr>
            <a:spLocks noChangeArrowheads="1"/>
          </p:cNvSpPr>
          <p:nvPr/>
        </p:nvSpPr>
        <p:spPr bwMode="auto">
          <a:xfrm>
            <a:off x="5791200" y="838200"/>
            <a:ext cx="3200400" cy="5486400"/>
          </a:xfrm>
          <a:prstGeom prst="roundRect">
            <a:avLst>
              <a:gd name="adj" fmla="val 401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sp>
        <p:nvSpPr>
          <p:cNvPr id="31770" name="40 Rectángulo"/>
          <p:cNvSpPr>
            <a:spLocks noChangeArrowheads="1"/>
          </p:cNvSpPr>
          <p:nvPr/>
        </p:nvSpPr>
        <p:spPr bwMode="auto">
          <a:xfrm>
            <a:off x="5867400" y="3230563"/>
            <a:ext cx="30480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300" i="1" dirty="0">
                <a:solidFill>
                  <a:srgbClr val="FF0000"/>
                </a:solidFill>
                <a:latin typeface="Times New Roman" panose="02020603050405020304" pitchFamily="18" charset="0"/>
                <a:cs typeface="Times New Roman" panose="02020603050405020304" pitchFamily="18" charset="0"/>
              </a:rPr>
              <a:t>X</a:t>
            </a:r>
            <a:r>
              <a:rPr lang="es-ES_tradnl" altLang="es-ES" sz="1300" dirty="0">
                <a:solidFill>
                  <a:srgbClr val="FF0000"/>
                </a:solidFill>
                <a:cs typeface="Times New Roman" panose="02020603050405020304" pitchFamily="18" charset="0"/>
              </a:rPr>
              <a:t> </a:t>
            </a:r>
            <a:r>
              <a:rPr lang="es-ES_tradnl" altLang="es-ES" sz="1300" dirty="0">
                <a:solidFill>
                  <a:srgbClr val="FF0000"/>
                </a:solidFill>
                <a:latin typeface="Times New Roman" panose="02020603050405020304" pitchFamily="18" charset="0"/>
                <a:cs typeface="Times New Roman" panose="02020603050405020304" pitchFamily="18" charset="0"/>
              </a:rPr>
              <a:t>=</a:t>
            </a:r>
            <a:r>
              <a:rPr lang="es-ES_tradnl" altLang="es-ES" sz="1300" dirty="0">
                <a:solidFill>
                  <a:srgbClr val="FF0000"/>
                </a:solidFill>
                <a:cs typeface="Times New Roman" panose="02020603050405020304" pitchFamily="18" charset="0"/>
              </a:rPr>
              <a:t> </a:t>
            </a:r>
            <a:r>
              <a:rPr lang="es-ES_tradnl" altLang="es-ES" sz="1200" dirty="0" err="1">
                <a:solidFill>
                  <a:srgbClr val="FF0000"/>
                </a:solidFill>
                <a:cs typeface="Times New Roman" panose="02020603050405020304" pitchFamily="18" charset="0"/>
              </a:rPr>
              <a:t>nº</a:t>
            </a:r>
            <a:r>
              <a:rPr lang="es-ES_tradnl" altLang="es-ES" sz="1200" dirty="0">
                <a:solidFill>
                  <a:srgbClr val="FF0000"/>
                </a:solidFill>
                <a:cs typeface="Times New Roman" panose="02020603050405020304" pitchFamily="18" charset="0"/>
              </a:rPr>
              <a:t> de sucesos </a:t>
            </a:r>
            <a:r>
              <a:rPr lang="es-ES" altLang="es-ES" sz="1200" dirty="0">
                <a:solidFill>
                  <a:srgbClr val="FF0000"/>
                </a:solidFill>
                <a:cs typeface="Times New Roman" panose="02020603050405020304" pitchFamily="18" charset="0"/>
              </a:rPr>
              <a:t>independientes </a:t>
            </a:r>
            <a:r>
              <a:rPr lang="es-ES_tradnl" altLang="es-ES" sz="1200" dirty="0">
                <a:solidFill>
                  <a:srgbClr val="FF0000"/>
                </a:solidFill>
                <a:cs typeface="Times New Roman" panose="02020603050405020304" pitchFamily="18" charset="0"/>
              </a:rPr>
              <a:t>que ocurren por unidad de tiempo, </a:t>
            </a:r>
            <a:r>
              <a:rPr lang="es-ES" altLang="es-ES" sz="1200" dirty="0">
                <a:solidFill>
                  <a:srgbClr val="FF0000"/>
                </a:solidFill>
                <a:cs typeface="Times New Roman" panose="02020603050405020304" pitchFamily="18" charset="0"/>
              </a:rPr>
              <a:t>área, volumen</a:t>
            </a:r>
            <a:r>
              <a:rPr lang="es-ES" altLang="es-ES" sz="1200" dirty="0">
                <a:cs typeface="Times New Roman" panose="02020603050405020304" pitchFamily="18" charset="0"/>
              </a:rPr>
              <a:t>,….</a:t>
            </a:r>
            <a:endParaRPr lang="es-ES_tradnl" altLang="es-ES" sz="1200" i="1" dirty="0">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31771" name="2 Objeto"/>
          <p:cNvGraphicFramePr>
            <a:graphicFrameLocks noChangeAspect="1"/>
          </p:cNvGraphicFramePr>
          <p:nvPr/>
        </p:nvGraphicFramePr>
        <p:xfrm>
          <a:off x="7300913" y="3886200"/>
          <a:ext cx="179387" cy="249238"/>
        </p:xfrm>
        <a:graphic>
          <a:graphicData uri="http://schemas.openxmlformats.org/presentationml/2006/ole">
            <mc:AlternateContent xmlns:mc="http://schemas.openxmlformats.org/markup-compatibility/2006">
              <mc:Choice xmlns:v="urn:schemas-microsoft-com:vml" Requires="v">
                <p:oleObj name="Equation" r:id="rId2" imgW="139680" imgH="203040" progId="Equation.DSMT4">
                  <p:embed/>
                </p:oleObj>
              </mc:Choice>
              <mc:Fallback>
                <p:oleObj name="Equation" r:id="rId2" imgW="139680" imgH="203040" progId="Equation.DSMT4">
                  <p:embed/>
                  <p:pic>
                    <p:nvPicPr>
                      <p:cNvPr id="31771" name="2 Obje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0913" y="3886200"/>
                        <a:ext cx="179387" cy="24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73" name="40 Rectángulo"/>
          <p:cNvSpPr>
            <a:spLocks noChangeArrowheads="1"/>
          </p:cNvSpPr>
          <p:nvPr/>
        </p:nvSpPr>
        <p:spPr bwMode="auto">
          <a:xfrm>
            <a:off x="6019800" y="685800"/>
            <a:ext cx="1752600" cy="2905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300" dirty="0">
                <a:cs typeface="Times New Roman" panose="02020603050405020304" pitchFamily="18" charset="0"/>
              </a:rPr>
              <a:t>Modelo de Poisson</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grpSp>
        <p:nvGrpSpPr>
          <p:cNvPr id="31776" name="Group 32"/>
          <p:cNvGrpSpPr>
            <a:grpSpLocks/>
          </p:cNvGrpSpPr>
          <p:nvPr/>
        </p:nvGrpSpPr>
        <p:grpSpPr bwMode="auto">
          <a:xfrm>
            <a:off x="200025" y="3648075"/>
            <a:ext cx="1876425" cy="314325"/>
            <a:chOff x="144" y="2208"/>
            <a:chExt cx="1182" cy="198"/>
          </a:xfrm>
        </p:grpSpPr>
        <p:graphicFrame>
          <p:nvGraphicFramePr>
            <p:cNvPr id="31777" name="Object 33"/>
            <p:cNvGraphicFramePr>
              <a:graphicFrameLocks noChangeAspect="1"/>
            </p:cNvGraphicFramePr>
            <p:nvPr/>
          </p:nvGraphicFramePr>
          <p:xfrm>
            <a:off x="737" y="2232"/>
            <a:ext cx="589" cy="174"/>
          </p:xfrm>
          <a:graphic>
            <a:graphicData uri="http://schemas.openxmlformats.org/presentationml/2006/ole">
              <mc:AlternateContent xmlns:mc="http://schemas.openxmlformats.org/markup-compatibility/2006">
                <mc:Choice xmlns:v="urn:schemas-microsoft-com:vml" Requires="v">
                  <p:oleObj name="Equation" r:id="rId4" imgW="685800" imgH="203040" progId="Equation.DSMT4">
                    <p:embed/>
                  </p:oleObj>
                </mc:Choice>
                <mc:Fallback>
                  <p:oleObj name="Equation" r:id="rId4" imgW="685800" imgH="203040" progId="Equation.DSMT4">
                    <p:embed/>
                    <p:pic>
                      <p:nvPicPr>
                        <p:cNvPr id="31777"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7" y="2232"/>
                          <a:ext cx="58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78" name="40 Rectángulo"/>
            <p:cNvSpPr>
              <a:spLocks noChangeArrowheads="1"/>
            </p:cNvSpPr>
            <p:nvPr/>
          </p:nvSpPr>
          <p:spPr bwMode="auto">
            <a:xfrm>
              <a:off x="144" y="2208"/>
              <a:ext cx="573"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dirty="0">
                  <a:cs typeface="Times New Roman" panose="02020603050405020304" pitchFamily="18" charset="0"/>
                </a:rPr>
                <a:t>Se indica </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grpSp>
      <p:sp>
        <p:nvSpPr>
          <p:cNvPr id="31779" name="40 Rectángulo"/>
          <p:cNvSpPr>
            <a:spLocks noChangeArrowheads="1"/>
          </p:cNvSpPr>
          <p:nvPr/>
        </p:nvSpPr>
        <p:spPr bwMode="auto">
          <a:xfrm>
            <a:off x="204787" y="4114800"/>
            <a:ext cx="401904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dirty="0">
                <a:cs typeface="Times New Roman" panose="02020603050405020304" pitchFamily="18" charset="0"/>
              </a:rPr>
              <a:t>Parámetros</a:t>
            </a:r>
            <a:r>
              <a:rPr lang="es-ES_tradnl" altLang="es-ES" sz="1300" dirty="0">
                <a:cs typeface="Times New Roman" panose="02020603050405020304" pitchFamily="18" charset="0"/>
              </a:rPr>
              <a:t>: la </a:t>
            </a:r>
            <a:r>
              <a:rPr lang="es-ES_tradnl" altLang="es-ES" sz="1300" dirty="0" err="1">
                <a:cs typeface="Times New Roman" panose="02020603050405020304" pitchFamily="18" charset="0"/>
              </a:rPr>
              <a:t>distri</a:t>
            </a:r>
            <a:r>
              <a:rPr lang="es-ES" altLang="es-ES" sz="1300" dirty="0" err="1">
                <a:cs typeface="Times New Roman" panose="02020603050405020304" pitchFamily="18" charset="0"/>
              </a:rPr>
              <a:t>bución</a:t>
            </a:r>
            <a:r>
              <a:rPr lang="es-ES" altLang="es-ES" sz="1300" dirty="0">
                <a:cs typeface="Times New Roman" panose="02020603050405020304" pitchFamily="18" charset="0"/>
              </a:rPr>
              <a:t> tiene un solo parámetro</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38" name="Rectangle 37"/>
          <p:cNvSpPr>
            <a:spLocks noChangeArrowheads="1"/>
          </p:cNvSpPr>
          <p:nvPr/>
        </p:nvSpPr>
        <p:spPr bwMode="auto">
          <a:xfrm>
            <a:off x="304800" y="4419600"/>
            <a:ext cx="51816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400" b="1" i="1">
                <a:latin typeface="Times New Roman" panose="02020603050405020304" pitchFamily="18" charset="0"/>
                <a:cs typeface="Times New Roman" panose="02020603050405020304" pitchFamily="18" charset="0"/>
              </a:rPr>
              <a:t> </a:t>
            </a:r>
            <a:r>
              <a:rPr lang="es-ES_tradnl" altLang="es-ES" sz="1400">
                <a:latin typeface="Symbol" panose="05050102010706020507" pitchFamily="18" charset="2"/>
                <a:cs typeface="Times New Roman" panose="02020603050405020304" pitchFamily="18" charset="0"/>
              </a:rPr>
              <a:t>l</a:t>
            </a:r>
            <a:r>
              <a:rPr lang="es-ES_tradnl" altLang="es-ES" sz="1200">
                <a:latin typeface="Times New Roman" panose="02020603050405020304" pitchFamily="18" charset="0"/>
                <a:cs typeface="Times New Roman" panose="02020603050405020304" pitchFamily="18" charset="0"/>
              </a:rPr>
              <a:t>:</a:t>
            </a:r>
            <a:r>
              <a:rPr lang="es-ES_tradnl" altLang="es-ES" sz="1200" i="1">
                <a:latin typeface="Times New Roman" panose="02020603050405020304" pitchFamily="18" charset="0"/>
                <a:cs typeface="Times New Roman" panose="02020603050405020304" pitchFamily="18" charset="0"/>
              </a:rPr>
              <a:t> </a:t>
            </a:r>
            <a:r>
              <a:rPr lang="es-ES_tradnl" altLang="es-ES" sz="1200">
                <a:cs typeface="Times New Roman" panose="02020603050405020304" pitchFamily="18" charset="0"/>
              </a:rPr>
              <a:t>el número medio de ocurre</a:t>
            </a:r>
            <a:r>
              <a:rPr lang="es-ES" altLang="es-ES" sz="1200">
                <a:cs typeface="Times New Roman" panose="02020603050405020304" pitchFamily="18" charset="0"/>
              </a:rPr>
              <a:t>ncias por unidad de tiempo, volumen, etc.</a:t>
            </a:r>
            <a:endParaRPr lang="es-ES_tradnl" altLang="es-ES" sz="1200">
              <a:cs typeface="Times New Roman" panose="02020603050405020304" pitchFamily="18" charset="0"/>
            </a:endParaRPr>
          </a:p>
        </p:txBody>
      </p:sp>
      <p:sp>
        <p:nvSpPr>
          <p:cNvPr id="31781" name="40 Rectángulo"/>
          <p:cNvSpPr>
            <a:spLocks noChangeArrowheads="1"/>
          </p:cNvSpPr>
          <p:nvPr/>
        </p:nvSpPr>
        <p:spPr bwMode="auto">
          <a:xfrm>
            <a:off x="228600" y="5020017"/>
            <a:ext cx="31699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dirty="0">
                <a:cs typeface="Times New Roman" panose="02020603050405020304" pitchFamily="18" charset="0"/>
              </a:rPr>
              <a:t>Valor</a:t>
            </a:r>
            <a:r>
              <a:rPr lang="es-ES_tradnl" altLang="es-ES" sz="1300" dirty="0">
                <a:cs typeface="Times New Roman" panose="02020603050405020304" pitchFamily="18" charset="0"/>
              </a:rPr>
              <a:t> </a:t>
            </a:r>
            <a:r>
              <a:rPr lang="es-ES_tradnl" altLang="es-ES" sz="1300" b="1" dirty="0">
                <a:cs typeface="Times New Roman" panose="02020603050405020304" pitchFamily="18" charset="0"/>
              </a:rPr>
              <a:t>esperado</a:t>
            </a:r>
            <a:r>
              <a:rPr lang="es-ES_tradnl" altLang="es-ES" sz="1300" dirty="0">
                <a:cs typeface="Times New Roman" panose="02020603050405020304" pitchFamily="18" charset="0"/>
              </a:rPr>
              <a:t> (media) y varianza de </a:t>
            </a:r>
            <a:r>
              <a:rPr lang="es-ES_tradnl" altLang="es-ES" sz="1500" i="1" dirty="0">
                <a:latin typeface="Times New Roman" panose="02020603050405020304" pitchFamily="18" charset="0"/>
                <a:cs typeface="Times New Roman" panose="02020603050405020304" pitchFamily="18" charset="0"/>
              </a:rPr>
              <a:t>X</a:t>
            </a:r>
            <a:endParaRPr lang="es-ES_tradnl" altLang="es-ES" sz="1500"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2" name="Rectangle 37"/>
          <p:cNvSpPr>
            <a:spLocks noChangeArrowheads="1"/>
          </p:cNvSpPr>
          <p:nvPr/>
        </p:nvSpPr>
        <p:spPr bwMode="auto">
          <a:xfrm>
            <a:off x="304800" y="5440363"/>
            <a:ext cx="44196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200">
                <a:cs typeface="Times New Roman" panose="02020603050405020304" pitchFamily="18" charset="0"/>
              </a:rPr>
              <a:t>Valor esperado</a:t>
            </a:r>
            <a:r>
              <a:rPr lang="es-ES_tradnl" altLang="es-ES" sz="1200" baseline="30000">
                <a:cs typeface="Times New Roman" panose="02020603050405020304" pitchFamily="18" charset="0"/>
              </a:rPr>
              <a:t>*</a:t>
            </a:r>
            <a:r>
              <a:rPr lang="es-ES_tradnl" altLang="es-ES" sz="1200">
                <a:cs typeface="Times New Roman" panose="02020603050405020304" pitchFamily="18" charset="0"/>
              </a:rPr>
              <a:t>: </a:t>
            </a:r>
            <a:r>
              <a:rPr lang="es-ES_tradnl" altLang="es-ES" sz="1400">
                <a:latin typeface="Symbol" panose="05050102010706020507" pitchFamily="18" charset="2"/>
                <a:cs typeface="Times New Roman" panose="02020603050405020304" pitchFamily="18" charset="0"/>
              </a:rPr>
              <a:t>l</a:t>
            </a:r>
            <a:endParaRPr lang="es-ES_tradnl" altLang="es-ES" sz="1400" baseline="30000">
              <a:latin typeface="Symbol" panose="05050102010706020507" pitchFamily="18" charset="2"/>
              <a:cs typeface="Times New Roman" panose="02020603050405020304" pitchFamily="18" charset="0"/>
            </a:endParaRPr>
          </a:p>
        </p:txBody>
      </p:sp>
      <p:sp>
        <p:nvSpPr>
          <p:cNvPr id="3" name="Rectangle 37"/>
          <p:cNvSpPr>
            <a:spLocks noChangeArrowheads="1"/>
          </p:cNvSpPr>
          <p:nvPr/>
        </p:nvSpPr>
        <p:spPr bwMode="auto">
          <a:xfrm>
            <a:off x="304800" y="5715000"/>
            <a:ext cx="44196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200">
                <a:cs typeface="Times New Roman" panose="02020603050405020304" pitchFamily="18" charset="0"/>
              </a:rPr>
              <a:t>Varianza: </a:t>
            </a:r>
            <a:r>
              <a:rPr lang="es-ES_tradnl" altLang="es-ES" sz="1400">
                <a:latin typeface="Symbol" panose="05050102010706020507" pitchFamily="18" charset="2"/>
                <a:cs typeface="Times New Roman" panose="02020603050405020304" pitchFamily="18" charset="0"/>
              </a:rPr>
              <a:t>l</a:t>
            </a:r>
            <a:endParaRPr lang="es-ES_tradnl" altLang="es-ES" sz="1400" baseline="30000">
              <a:latin typeface="Symbol" panose="05050102010706020507" pitchFamily="18" charset="2"/>
              <a:cs typeface="Times New Roman" panose="02020603050405020304" pitchFamily="18" charset="0"/>
            </a:endParaRPr>
          </a:p>
        </p:txBody>
      </p:sp>
      <p:sp>
        <p:nvSpPr>
          <p:cNvPr id="4" name="Rectangle 37"/>
          <p:cNvSpPr>
            <a:spLocks noChangeArrowheads="1"/>
          </p:cNvSpPr>
          <p:nvPr/>
        </p:nvSpPr>
        <p:spPr bwMode="auto">
          <a:xfrm>
            <a:off x="152400" y="6553200"/>
            <a:ext cx="4419600" cy="27463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975" eaLnBrk="0" hangingPunct="0">
              <a:tabLst>
                <a:tab pos="2698750" algn="ctr"/>
                <a:tab pos="5397500" algn="r"/>
              </a:tabLst>
              <a:defRPr>
                <a:solidFill>
                  <a:schemeClr val="tx1"/>
                </a:solidFill>
                <a:latin typeface="Arial" panose="020B0604020202020204" pitchFamily="34" charset="0"/>
              </a:defRPr>
            </a:lvl1pPr>
            <a:lvl2pPr marL="742950" indent="-285750" eaLnBrk="0" hangingPunct="0">
              <a:tabLst>
                <a:tab pos="2698750" algn="ctr"/>
                <a:tab pos="5397500" algn="r"/>
              </a:tabLst>
              <a:defRPr>
                <a:solidFill>
                  <a:schemeClr val="tx1"/>
                </a:solidFill>
                <a:latin typeface="Arial" panose="020B0604020202020204" pitchFamily="34" charset="0"/>
              </a:defRPr>
            </a:lvl2pPr>
            <a:lvl3pPr marL="1143000" indent="-228600" eaLnBrk="0" hangingPunct="0">
              <a:tabLst>
                <a:tab pos="2698750" algn="ctr"/>
                <a:tab pos="5397500" algn="r"/>
              </a:tabLst>
              <a:defRPr>
                <a:solidFill>
                  <a:schemeClr val="tx1"/>
                </a:solidFill>
                <a:latin typeface="Arial" panose="020B0604020202020204" pitchFamily="34" charset="0"/>
              </a:defRPr>
            </a:lvl3pPr>
            <a:lvl4pPr marL="1600200" indent="-228600" eaLnBrk="0" hangingPunct="0">
              <a:tabLst>
                <a:tab pos="2698750" algn="ctr"/>
                <a:tab pos="5397500" algn="r"/>
              </a:tabLst>
              <a:defRPr>
                <a:solidFill>
                  <a:schemeClr val="tx1"/>
                </a:solidFill>
                <a:latin typeface="Arial" panose="020B0604020202020204" pitchFamily="34" charset="0"/>
              </a:defRPr>
            </a:lvl4pPr>
            <a:lvl5pPr marL="2057400" indent="-228600" eaLnBrk="0" hangingPunct="0">
              <a:tabLst>
                <a:tab pos="2698750" algn="ctr"/>
                <a:tab pos="5397500" algn="r"/>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2698750" algn="ctr"/>
                <a:tab pos="5397500" algn="r"/>
              </a:tabLst>
              <a:defRPr>
                <a:solidFill>
                  <a:schemeClr val="tx1"/>
                </a:solidFill>
                <a:latin typeface="Arial" panose="020B0604020202020204" pitchFamily="34" charset="0"/>
              </a:defRPr>
            </a:lvl9pPr>
          </a:lstStyle>
          <a:p>
            <a:r>
              <a:rPr lang="es-ES_tradnl" altLang="es-ES" sz="1200" b="1">
                <a:cs typeface="Times New Roman" panose="02020603050405020304" pitchFamily="18" charset="0"/>
              </a:rPr>
              <a:t>*</a:t>
            </a:r>
            <a:r>
              <a:rPr lang="es-ES_tradnl" altLang="es-ES" sz="1200">
                <a:cs typeface="Times New Roman" panose="02020603050405020304" pitchFamily="18" charset="0"/>
              </a:rPr>
              <a:t> Se hab</a:t>
            </a:r>
            <a:r>
              <a:rPr lang="es-ES" altLang="es-ES" sz="1200">
                <a:cs typeface="Times New Roman" panose="02020603050405020304" pitchFamily="18" charset="0"/>
              </a:rPr>
              <a:t>la de </a:t>
            </a:r>
            <a:r>
              <a:rPr lang="es-ES" altLang="es-ES" sz="1200" i="1">
                <a:cs typeface="Times New Roman" panose="02020603050405020304" pitchFamily="18" charset="0"/>
              </a:rPr>
              <a:t>e</a:t>
            </a:r>
            <a:r>
              <a:rPr lang="es-ES_tradnl" altLang="es-ES" sz="1200" i="1">
                <a:cs typeface="Times New Roman" panose="02020603050405020304" pitchFamily="18" charset="0"/>
              </a:rPr>
              <a:t>speran</a:t>
            </a:r>
            <a:r>
              <a:rPr lang="es-ES" altLang="es-ES" sz="1200" i="1">
                <a:cs typeface="Times New Roman" panose="02020603050405020304" pitchFamily="18" charset="0"/>
              </a:rPr>
              <a:t>za matemática</a:t>
            </a:r>
            <a:endParaRPr lang="es-ES_tradnl" altLang="es-ES" sz="1400" i="1" baseline="30000">
              <a:latin typeface="Times New Roman" panose="02020603050405020304" pitchFamily="18" charset="0"/>
              <a:cs typeface="Times New Roman" panose="02020603050405020304" pitchFamily="18" charset="0"/>
            </a:endParaRPr>
          </a:p>
        </p:txBody>
      </p:sp>
      <p:sp>
        <p:nvSpPr>
          <p:cNvPr id="31786" name="Rectangle 36"/>
          <p:cNvSpPr>
            <a:spLocks noChangeArrowheads="1"/>
          </p:cNvSpPr>
          <p:nvPr/>
        </p:nvSpPr>
        <p:spPr bwMode="auto">
          <a:xfrm>
            <a:off x="228600" y="1185862"/>
            <a:ext cx="5410200" cy="29051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1pPr>
            <a:lvl2pPr marL="742950" indent="-28575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2pPr>
            <a:lvl3pPr marL="11430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3pPr>
            <a:lvl4pPr marL="16002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4pPr>
            <a:lvl5pPr marL="20574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9pPr>
          </a:lstStyle>
          <a:p>
            <a:pPr algn="just" eaLnBrk="1" hangingPunct="1"/>
            <a:r>
              <a:rPr lang="es-ES_tradnl" altLang="es-ES" sz="1300" dirty="0">
                <a:cs typeface="Times New Roman" panose="02020603050405020304" pitchFamily="18" charset="0"/>
              </a:rPr>
              <a:t>Si </a:t>
            </a:r>
            <a:r>
              <a:rPr lang="es-ES_tradnl" altLang="es-ES" sz="1300" i="1" dirty="0">
                <a:latin typeface="Times New Roman" panose="02020603050405020304" pitchFamily="18" charset="0"/>
                <a:cs typeface="Times New Roman" panose="02020603050405020304" pitchFamily="18" charset="0"/>
              </a:rPr>
              <a:t>X</a:t>
            </a:r>
            <a:r>
              <a:rPr lang="es-ES_tradnl" altLang="es-ES" sz="1300" dirty="0">
                <a:cs typeface="Times New Roman" panose="02020603050405020304" pitchFamily="18" charset="0"/>
              </a:rPr>
              <a:t> es una </a:t>
            </a:r>
            <a:r>
              <a:rPr lang="es-ES" altLang="es-ES" sz="1300" dirty="0">
                <a:cs typeface="Times New Roman" panose="02020603050405020304" pitchFamily="18" charset="0"/>
              </a:rPr>
              <a:t>VAD que representa alguno de los siguientes recuentos</a:t>
            </a:r>
            <a:endParaRPr lang="es-ES_tradnl" altLang="es-ES" sz="1300" dirty="0">
              <a:cs typeface="Times New Roman" panose="02020603050405020304" pitchFamily="18" charset="0"/>
            </a:endParaRPr>
          </a:p>
        </p:txBody>
      </p:sp>
      <p:grpSp>
        <p:nvGrpSpPr>
          <p:cNvPr id="31806" name="Group 62"/>
          <p:cNvGrpSpPr>
            <a:grpSpLocks/>
          </p:cNvGrpSpPr>
          <p:nvPr/>
        </p:nvGrpSpPr>
        <p:grpSpPr bwMode="auto">
          <a:xfrm>
            <a:off x="7696200" y="1143000"/>
            <a:ext cx="1219200" cy="1676400"/>
            <a:chOff x="4848" y="720"/>
            <a:chExt cx="768" cy="1056"/>
          </a:xfrm>
        </p:grpSpPr>
        <p:grpSp>
          <p:nvGrpSpPr>
            <p:cNvPr id="31787" name="Group 43"/>
            <p:cNvGrpSpPr>
              <a:grpSpLocks/>
            </p:cNvGrpSpPr>
            <p:nvPr/>
          </p:nvGrpSpPr>
          <p:grpSpPr bwMode="auto">
            <a:xfrm>
              <a:off x="5064" y="720"/>
              <a:ext cx="336" cy="816"/>
              <a:chOff x="4473" y="576"/>
              <a:chExt cx="480" cy="1248"/>
            </a:xfrm>
          </p:grpSpPr>
          <p:pic>
            <p:nvPicPr>
              <p:cNvPr id="31788" name="Picture 4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08" y="576"/>
                <a:ext cx="321" cy="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1789" name="Group 45"/>
              <p:cNvGrpSpPr>
                <a:grpSpLocks/>
              </p:cNvGrpSpPr>
              <p:nvPr/>
            </p:nvGrpSpPr>
            <p:grpSpPr bwMode="auto">
              <a:xfrm>
                <a:off x="4473" y="1200"/>
                <a:ext cx="480" cy="624"/>
                <a:chOff x="4464" y="1200"/>
                <a:chExt cx="480" cy="624"/>
              </a:xfrm>
            </p:grpSpPr>
            <p:sp>
              <p:nvSpPr>
                <p:cNvPr id="31790" name="Rectangle 46"/>
                <p:cNvSpPr>
                  <a:spLocks noChangeArrowheads="1"/>
                </p:cNvSpPr>
                <p:nvPr/>
              </p:nvSpPr>
              <p:spPr bwMode="auto">
                <a:xfrm>
                  <a:off x="4608" y="1200"/>
                  <a:ext cx="96" cy="48"/>
                </a:xfrm>
                <a:prstGeom prst="rect">
                  <a:avLst/>
                </a:prstGeom>
                <a:solidFill>
                  <a:srgbClr val="FF0000">
                    <a:alpha val="34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31791" name="Line 47"/>
                <p:cNvSpPr>
                  <a:spLocks noChangeShapeType="1"/>
                </p:cNvSpPr>
                <p:nvPr/>
              </p:nvSpPr>
              <p:spPr bwMode="auto">
                <a:xfrm flipH="1">
                  <a:off x="4464" y="1200"/>
                  <a:ext cx="144" cy="328"/>
                </a:xfrm>
                <a:prstGeom prst="line">
                  <a:avLst/>
                </a:prstGeom>
                <a:noFill/>
                <a:ln w="63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792" name="Line 48"/>
                <p:cNvSpPr>
                  <a:spLocks noChangeShapeType="1"/>
                </p:cNvSpPr>
                <p:nvPr/>
              </p:nvSpPr>
              <p:spPr bwMode="auto">
                <a:xfrm>
                  <a:off x="4704" y="1200"/>
                  <a:ext cx="240" cy="328"/>
                </a:xfrm>
                <a:prstGeom prst="line">
                  <a:avLst/>
                </a:prstGeom>
                <a:noFill/>
                <a:ln w="63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793" name="Line 49"/>
                <p:cNvSpPr>
                  <a:spLocks noChangeShapeType="1"/>
                </p:cNvSpPr>
                <p:nvPr/>
              </p:nvSpPr>
              <p:spPr bwMode="auto">
                <a:xfrm flipH="1">
                  <a:off x="4464" y="1248"/>
                  <a:ext cx="144" cy="576"/>
                </a:xfrm>
                <a:prstGeom prst="line">
                  <a:avLst/>
                </a:prstGeom>
                <a:noFill/>
                <a:ln w="63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31794" name="Line 50"/>
                <p:cNvSpPr>
                  <a:spLocks noChangeShapeType="1"/>
                </p:cNvSpPr>
                <p:nvPr/>
              </p:nvSpPr>
              <p:spPr bwMode="auto">
                <a:xfrm>
                  <a:off x="4704" y="1248"/>
                  <a:ext cx="240" cy="576"/>
                </a:xfrm>
                <a:prstGeom prst="line">
                  <a:avLst/>
                </a:prstGeom>
                <a:noFill/>
                <a:ln w="63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pic>
              <p:nvPicPr>
                <p:cNvPr id="31795" name="Picture 5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64" y="1528"/>
                  <a:ext cx="480"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1801" name="40 Rectángulo"/>
            <p:cNvSpPr>
              <a:spLocks noChangeArrowheads="1"/>
            </p:cNvSpPr>
            <p:nvPr/>
          </p:nvSpPr>
          <p:spPr bwMode="auto">
            <a:xfrm>
              <a:off x="4848" y="152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000">
                  <a:cs typeface="Times New Roman" panose="02020603050405020304" pitchFamily="18" charset="0"/>
                </a:rPr>
                <a:t>Nº de hematíes por </a:t>
              </a:r>
              <a:r>
                <a:rPr lang="es-ES" altLang="es-ES" sz="1000">
                  <a:cs typeface="Times New Roman" panose="02020603050405020304" pitchFamily="18" charset="0"/>
                </a:rPr>
                <a:t>ml de sangre</a:t>
              </a:r>
              <a:endParaRPr lang="es-ES_tradnl" altLang="es-ES" sz="1000">
                <a:cs typeface="Times New Roman" panose="02020603050405020304" pitchFamily="18" charset="0"/>
                <a:sym typeface="Euclid" panose="02020503060505020303" pitchFamily="18" charset="0"/>
              </a:endParaRPr>
            </a:p>
          </p:txBody>
        </p:sp>
      </p:grpSp>
      <p:grpSp>
        <p:nvGrpSpPr>
          <p:cNvPr id="31805" name="Group 61"/>
          <p:cNvGrpSpPr>
            <a:grpSpLocks/>
          </p:cNvGrpSpPr>
          <p:nvPr/>
        </p:nvGrpSpPr>
        <p:grpSpPr bwMode="auto">
          <a:xfrm>
            <a:off x="6934200" y="1143000"/>
            <a:ext cx="1143000" cy="882650"/>
            <a:chOff x="4272" y="672"/>
            <a:chExt cx="720" cy="556"/>
          </a:xfrm>
        </p:grpSpPr>
        <p:grpSp>
          <p:nvGrpSpPr>
            <p:cNvPr id="31796" name="Group 52"/>
            <p:cNvGrpSpPr>
              <a:grpSpLocks/>
            </p:cNvGrpSpPr>
            <p:nvPr/>
          </p:nvGrpSpPr>
          <p:grpSpPr bwMode="auto">
            <a:xfrm>
              <a:off x="4272" y="672"/>
              <a:ext cx="720" cy="336"/>
              <a:chOff x="3360" y="3042"/>
              <a:chExt cx="1344" cy="639"/>
            </a:xfrm>
          </p:grpSpPr>
          <p:pic>
            <p:nvPicPr>
              <p:cNvPr id="31797" name="Picture 53" descr="SNAGHTML2d7eaa"/>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0" y="3231"/>
                <a:ext cx="1344" cy="450"/>
              </a:xfrm>
              <a:prstGeom prst="rect">
                <a:avLst/>
              </a:prstGeom>
              <a:noFill/>
              <a:extLst>
                <a:ext uri="{909E8E84-426E-40DD-AFC4-6F175D3DCCD1}">
                  <a14:hiddenFill xmlns:a14="http://schemas.microsoft.com/office/drawing/2010/main">
                    <a:solidFill>
                      <a:srgbClr val="FFFFFF"/>
                    </a:solidFill>
                  </a14:hiddenFill>
                </a:ext>
              </a:extLst>
            </p:spPr>
          </p:pic>
          <p:pic>
            <p:nvPicPr>
              <p:cNvPr id="31798" name="Picture 54" descr="SNAGHTML28050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flipH="1">
                <a:off x="3978" y="3042"/>
                <a:ext cx="576" cy="531"/>
              </a:xfrm>
              <a:prstGeom prst="rect">
                <a:avLst/>
              </a:prstGeom>
              <a:noFill/>
              <a:extLst>
                <a:ext uri="{909E8E84-426E-40DD-AFC4-6F175D3DCCD1}">
                  <a14:hiddenFill xmlns:a14="http://schemas.microsoft.com/office/drawing/2010/main">
                    <a:solidFill>
                      <a:srgbClr val="FFFFFF"/>
                    </a:solidFill>
                  </a14:hiddenFill>
                </a:ext>
              </a:extLst>
            </p:spPr>
          </p:pic>
        </p:grpSp>
        <p:sp>
          <p:nvSpPr>
            <p:cNvPr id="31802" name="40 Rectángulo"/>
            <p:cNvSpPr>
              <a:spLocks noChangeArrowheads="1"/>
            </p:cNvSpPr>
            <p:nvPr/>
          </p:nvSpPr>
          <p:spPr bwMode="auto">
            <a:xfrm>
              <a:off x="4278" y="978"/>
              <a:ext cx="6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000">
                  <a:cs typeface="Times New Roman" panose="02020603050405020304" pitchFamily="18" charset="0"/>
                </a:rPr>
                <a:t>Nº de salidas</a:t>
              </a:r>
            </a:p>
            <a:p>
              <a:pPr algn="ctr" eaLnBrk="1" hangingPunct="1"/>
              <a:r>
                <a:rPr lang="es-ES_tradnl" altLang="es-ES" sz="1000">
                  <a:cs typeface="Times New Roman" panose="02020603050405020304" pitchFamily="18" charset="0"/>
                </a:rPr>
                <a:t> </a:t>
              </a:r>
              <a:r>
                <a:rPr lang="es-ES" altLang="es-ES" sz="1000">
                  <a:cs typeface="Times New Roman" panose="02020603050405020304" pitchFamily="18" charset="0"/>
                </a:rPr>
                <a:t>del 061 al día</a:t>
              </a:r>
              <a:endParaRPr lang="es-ES_tradnl" altLang="es-ES" sz="1000">
                <a:cs typeface="Times New Roman" panose="02020603050405020304" pitchFamily="18" charset="0"/>
                <a:sym typeface="Euclid" panose="02020503060505020303" pitchFamily="18" charset="0"/>
              </a:endParaRPr>
            </a:p>
          </p:txBody>
        </p:sp>
      </p:grpSp>
      <p:grpSp>
        <p:nvGrpSpPr>
          <p:cNvPr id="31804" name="Group 60"/>
          <p:cNvGrpSpPr>
            <a:grpSpLocks/>
          </p:cNvGrpSpPr>
          <p:nvPr/>
        </p:nvGrpSpPr>
        <p:grpSpPr bwMode="auto">
          <a:xfrm>
            <a:off x="5943600" y="1600200"/>
            <a:ext cx="1219200" cy="1143000"/>
            <a:chOff x="3648" y="816"/>
            <a:chExt cx="768" cy="720"/>
          </a:xfrm>
        </p:grpSpPr>
        <p:pic>
          <p:nvPicPr>
            <p:cNvPr id="31799" name="Picture 5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855" y="816"/>
              <a:ext cx="353" cy="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803" name="40 Rectángulo"/>
            <p:cNvSpPr>
              <a:spLocks noChangeArrowheads="1"/>
            </p:cNvSpPr>
            <p:nvPr/>
          </p:nvSpPr>
          <p:spPr bwMode="auto">
            <a:xfrm>
              <a:off x="3648" y="128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000">
                  <a:cs typeface="Times New Roman" panose="02020603050405020304" pitchFamily="18" charset="0"/>
                </a:rPr>
                <a:t>Nº de lesiones </a:t>
              </a:r>
              <a:r>
                <a:rPr lang="es-ES" altLang="es-ES" sz="1000">
                  <a:cs typeface="Times New Roman" panose="02020603050405020304" pitchFamily="18" charset="0"/>
                </a:rPr>
                <a:t>medulares al año</a:t>
              </a:r>
              <a:endParaRPr lang="es-ES_tradnl" altLang="es-ES" sz="1000">
                <a:cs typeface="Times New Roman" panose="02020603050405020304" pitchFamily="18" charset="0"/>
                <a:sym typeface="Euclid" panose="02020503060505020303" pitchFamily="18" charset="0"/>
              </a:endParaRPr>
            </a:p>
          </p:txBody>
        </p:sp>
      </p:grpSp>
      <p:sp>
        <p:nvSpPr>
          <p:cNvPr id="31807" name="Rectangle 36"/>
          <p:cNvSpPr>
            <a:spLocks noChangeArrowheads="1"/>
          </p:cNvSpPr>
          <p:nvPr/>
        </p:nvSpPr>
        <p:spPr bwMode="auto">
          <a:xfrm>
            <a:off x="228600" y="3124200"/>
            <a:ext cx="5410200" cy="290513"/>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1pPr>
            <a:lvl2pPr marL="742950" indent="-28575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2pPr>
            <a:lvl3pPr marL="11430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3pPr>
            <a:lvl4pPr marL="16002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4pPr>
            <a:lvl5pPr marL="20574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9pPr>
          </a:lstStyle>
          <a:p>
            <a:pPr algn="just" eaLnBrk="1" hangingPunct="1"/>
            <a:r>
              <a:rPr lang="es-ES_tradnl" altLang="es-ES" sz="1300" dirty="0">
                <a:cs typeface="Times New Roman" panose="02020603050405020304" pitchFamily="18" charset="0"/>
              </a:rPr>
              <a:t>entonces </a:t>
            </a:r>
            <a:r>
              <a:rPr lang="es-ES_tradnl" altLang="es-ES" sz="1300" i="1" dirty="0">
                <a:latin typeface="Times New Roman" panose="02020603050405020304" pitchFamily="18" charset="0"/>
                <a:cs typeface="Times New Roman" panose="02020603050405020304" pitchFamily="18" charset="0"/>
              </a:rPr>
              <a:t>X  </a:t>
            </a:r>
            <a:r>
              <a:rPr lang="es-ES_tradnl" altLang="es-ES" sz="1300" dirty="0">
                <a:cs typeface="Times New Roman" panose="02020603050405020304" pitchFamily="18" charset="0"/>
              </a:rPr>
              <a:t>tiene una distribución de Poisson</a:t>
            </a:r>
          </a:p>
        </p:txBody>
      </p:sp>
      <p:sp>
        <p:nvSpPr>
          <p:cNvPr id="31809" name="40 Rectángulo"/>
          <p:cNvSpPr>
            <a:spLocks noChangeArrowheads="1"/>
          </p:cNvSpPr>
          <p:nvPr/>
        </p:nvSpPr>
        <p:spPr bwMode="auto">
          <a:xfrm>
            <a:off x="5867400" y="4648200"/>
            <a:ext cx="304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200">
                <a:cs typeface="Times New Roman" panose="02020603050405020304" pitchFamily="18" charset="0"/>
              </a:rPr>
              <a:t>Fun</a:t>
            </a:r>
            <a:r>
              <a:rPr lang="es-ES" altLang="es-ES" sz="1200">
                <a:cs typeface="Times New Roman" panose="02020603050405020304" pitchFamily="18" charset="0"/>
              </a:rPr>
              <a:t>ción de probabilidad</a:t>
            </a:r>
            <a:r>
              <a:rPr lang="es-ES_tradnl" altLang="es-ES" sz="1200">
                <a:cs typeface="Times New Roman" panose="02020603050405020304" pitchFamily="18" charset="0"/>
              </a:rPr>
              <a:t> de</a:t>
            </a:r>
            <a:r>
              <a:rPr lang="es-ES_tradnl" altLang="es-ES" sz="1100">
                <a:cs typeface="Times New Roman" panose="02020603050405020304" pitchFamily="18" charset="0"/>
              </a:rPr>
              <a:t> </a:t>
            </a:r>
            <a:r>
              <a:rPr lang="es-ES_tradnl" altLang="es-ES" sz="1400" i="1">
                <a:latin typeface="Times New Roman" panose="02020603050405020304" pitchFamily="18" charset="0"/>
                <a:cs typeface="Times New Roman" panose="02020603050405020304" pitchFamily="18" charset="0"/>
              </a:rPr>
              <a:t>X</a:t>
            </a:r>
            <a:endParaRPr lang="es-ES_tradnl" altLang="es-ES" sz="1400" i="1">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31810" name="Object 15"/>
          <p:cNvGraphicFramePr>
            <a:graphicFrameLocks noChangeAspect="1"/>
          </p:cNvGraphicFramePr>
          <p:nvPr/>
        </p:nvGraphicFramePr>
        <p:xfrm>
          <a:off x="6218238" y="5237163"/>
          <a:ext cx="2347912" cy="498475"/>
        </p:xfrm>
        <a:graphic>
          <a:graphicData uri="http://schemas.openxmlformats.org/presentationml/2006/ole">
            <mc:AlternateContent xmlns:mc="http://schemas.openxmlformats.org/markup-compatibility/2006">
              <mc:Choice xmlns:v="urn:schemas-microsoft-com:vml" Requires="v">
                <p:oleObj name="Equation" r:id="rId11" imgW="1981200" imgH="419100" progId="Equation.DSMT4">
                  <p:embed/>
                </p:oleObj>
              </mc:Choice>
              <mc:Fallback>
                <p:oleObj name="Equation" r:id="rId11" imgW="1981200" imgH="419100" progId="Equation.DSMT4">
                  <p:embed/>
                  <p:pic>
                    <p:nvPicPr>
                      <p:cNvPr id="3181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18238" y="5237163"/>
                        <a:ext cx="234791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812" name="Object 68"/>
          <p:cNvGraphicFramePr>
            <a:graphicFrameLocks noChangeAspect="1"/>
          </p:cNvGraphicFramePr>
          <p:nvPr/>
        </p:nvGraphicFramePr>
        <p:xfrm>
          <a:off x="7010400" y="4267200"/>
          <a:ext cx="762000" cy="225425"/>
        </p:xfrm>
        <a:graphic>
          <a:graphicData uri="http://schemas.openxmlformats.org/presentationml/2006/ole">
            <mc:AlternateContent xmlns:mc="http://schemas.openxmlformats.org/markup-compatibility/2006">
              <mc:Choice xmlns:v="urn:schemas-microsoft-com:vml" Requires="v">
                <p:oleObj name="Equation" r:id="rId13" imgW="685800" imgH="203040" progId="Equation.DSMT4">
                  <p:embed/>
                </p:oleObj>
              </mc:Choice>
              <mc:Fallback>
                <p:oleObj name="Equation" r:id="rId13" imgW="685800" imgH="203040" progId="Equation.DSMT4">
                  <p:embed/>
                  <p:pic>
                    <p:nvPicPr>
                      <p:cNvPr id="31812" name="Object 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0400" y="4267200"/>
                        <a:ext cx="762000"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816" name="Group 72"/>
          <p:cNvGrpSpPr>
            <a:grpSpLocks/>
          </p:cNvGrpSpPr>
          <p:nvPr/>
        </p:nvGrpSpPr>
        <p:grpSpPr bwMode="auto">
          <a:xfrm>
            <a:off x="2209800" y="5409694"/>
            <a:ext cx="3276600" cy="874713"/>
            <a:chOff x="1392" y="3408"/>
            <a:chExt cx="1872" cy="551"/>
          </a:xfrm>
        </p:grpSpPr>
        <p:sp>
          <p:nvSpPr>
            <p:cNvPr id="31785" name="40 Rectángulo"/>
            <p:cNvSpPr>
              <a:spLocks noChangeArrowheads="1"/>
            </p:cNvSpPr>
            <p:nvPr/>
          </p:nvSpPr>
          <p:spPr bwMode="auto">
            <a:xfrm>
              <a:off x="1536" y="3436"/>
              <a:ext cx="172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dirty="0">
                  <a:cs typeface="Times New Roman" panose="02020603050405020304" pitchFamily="18" charset="0"/>
                </a:rPr>
                <a:t>En la distribución de Poisson se da la </a:t>
              </a:r>
              <a:r>
                <a:rPr lang="es-ES" altLang="es-ES" dirty="0">
                  <a:cs typeface="Times New Roman" panose="02020603050405020304" pitchFamily="18" charset="0"/>
                </a:rPr>
                <a:t>circunstancia particular de que ¡la media y la varianza de la VA coinciden!</a:t>
              </a:r>
              <a:endParaRPr lang="es-ES_tradnl" altLang="es-ES"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31814" name="AutoShape 70"/>
            <p:cNvSpPr>
              <a:spLocks/>
            </p:cNvSpPr>
            <p:nvPr/>
          </p:nvSpPr>
          <p:spPr bwMode="auto">
            <a:xfrm>
              <a:off x="1392" y="3408"/>
              <a:ext cx="48" cy="432"/>
            </a:xfrm>
            <a:prstGeom prst="rightBrace">
              <a:avLst>
                <a:gd name="adj1" fmla="val 750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31817" name="AutoShape 73"/>
          <p:cNvSpPr>
            <a:spLocks/>
          </p:cNvSpPr>
          <p:nvPr/>
        </p:nvSpPr>
        <p:spPr bwMode="auto">
          <a:xfrm rot="-5400000">
            <a:off x="7315200" y="1676400"/>
            <a:ext cx="152400" cy="2895600"/>
          </a:xfrm>
          <a:prstGeom prst="leftBrace">
            <a:avLst>
              <a:gd name="adj1" fmla="val 158333"/>
              <a:gd name="adj2" fmla="val 50000"/>
            </a:avLst>
          </a:prstGeom>
          <a:noFill/>
          <a:ln w="9525">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46" name="40 Rectángulo"/>
          <p:cNvSpPr>
            <a:spLocks noChangeArrowheads="1"/>
          </p:cNvSpPr>
          <p:nvPr/>
        </p:nvSpPr>
        <p:spPr bwMode="auto">
          <a:xfrm>
            <a:off x="228600" y="847764"/>
            <a:ext cx="99418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300" b="1" dirty="0">
                <a:cs typeface="Times New Roman" panose="02020603050405020304" pitchFamily="18" charset="0"/>
              </a:rPr>
              <a:t>Definición</a:t>
            </a:r>
            <a:endParaRPr lang="es-ES_tradnl" altLang="es-ES" sz="1300" b="1" i="1" dirty="0">
              <a:latin typeface="Times New Roman" panose="02020603050405020304" pitchFamily="18" charset="0"/>
              <a:cs typeface="Times New Roman" panose="02020603050405020304" pitchFamily="18" charset="0"/>
              <a:sym typeface="Euclid" panose="02020503060505020303" pitchFamily="18" charset="0"/>
            </a:endParaRPr>
          </a:p>
        </p:txBody>
      </p:sp>
    </p:spTree>
    <p:extLst>
      <p:ext uri="{BB962C8B-B14F-4D97-AF65-F5344CB8AC3E}">
        <p14:creationId xmlns:p14="http://schemas.microsoft.com/office/powerpoint/2010/main" val="19536634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37" name="Group 33"/>
          <p:cNvGrpSpPr>
            <a:grpSpLocks/>
          </p:cNvGrpSpPr>
          <p:nvPr/>
        </p:nvGrpSpPr>
        <p:grpSpPr bwMode="auto">
          <a:xfrm>
            <a:off x="4876800" y="3505200"/>
            <a:ext cx="3962400" cy="3048000"/>
            <a:chOff x="3072" y="2208"/>
            <a:chExt cx="2496" cy="1920"/>
          </a:xfrm>
        </p:grpSpPr>
        <p:graphicFrame>
          <p:nvGraphicFramePr>
            <p:cNvPr id="21536" name="Object 32"/>
            <p:cNvGraphicFramePr>
              <a:graphicFrameLocks noChangeAspect="1"/>
            </p:cNvGraphicFramePr>
            <p:nvPr/>
          </p:nvGraphicFramePr>
          <p:xfrm>
            <a:off x="3156" y="2460"/>
            <a:ext cx="2256" cy="1639"/>
          </p:xfrm>
          <a:graphic>
            <a:graphicData uri="http://schemas.openxmlformats.org/presentationml/2006/ole">
              <mc:AlternateContent xmlns:mc="http://schemas.openxmlformats.org/markup-compatibility/2006">
                <mc:Choice xmlns:v="urn:schemas-microsoft-com:vml" Requires="v">
                  <p:oleObj name="Gráfico" r:id="rId2" imgW="4867332" imgH="3381310" progId="Excel.Chart.8">
                    <p:embed/>
                  </p:oleObj>
                </mc:Choice>
                <mc:Fallback>
                  <p:oleObj name="Gráfico" r:id="rId2" imgW="4867332" imgH="3381310" progId="Excel.Chart.8">
                    <p:embed/>
                    <p:pic>
                      <p:nvPicPr>
                        <p:cNvPr id="21536" name="Object 32"/>
                        <p:cNvPicPr>
                          <a:picLocks noRot="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6" y="2460"/>
                          <a:ext cx="2256" cy="1639"/>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7" name="Object 15"/>
            <p:cNvGraphicFramePr>
              <a:graphicFrameLocks noChangeAspect="1"/>
            </p:cNvGraphicFramePr>
            <p:nvPr/>
          </p:nvGraphicFramePr>
          <p:xfrm>
            <a:off x="4334" y="2646"/>
            <a:ext cx="839" cy="424"/>
          </p:xfrm>
          <a:graphic>
            <a:graphicData uri="http://schemas.openxmlformats.org/presentationml/2006/ole">
              <mc:AlternateContent xmlns:mc="http://schemas.openxmlformats.org/markup-compatibility/2006">
                <mc:Choice xmlns:v="urn:schemas-microsoft-com:vml" Requires="v">
                  <p:oleObj name="Equation" r:id="rId4" imgW="1257120" imgH="634680" progId="Equation.DSMT4">
                    <p:embed/>
                  </p:oleObj>
                </mc:Choice>
                <mc:Fallback>
                  <p:oleObj name="Equation" r:id="rId4" imgW="1257120" imgH="634680" progId="Equation.DSMT4">
                    <p:embed/>
                    <p:pic>
                      <p:nvPicPr>
                        <p:cNvPr id="21507"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4" y="2646"/>
                          <a:ext cx="839" cy="4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29" name="AutoShape 44"/>
            <p:cNvSpPr>
              <a:spLocks noChangeArrowheads="1"/>
            </p:cNvSpPr>
            <p:nvPr/>
          </p:nvSpPr>
          <p:spPr bwMode="auto">
            <a:xfrm>
              <a:off x="3072" y="2304"/>
              <a:ext cx="2496" cy="1824"/>
            </a:xfrm>
            <a:prstGeom prst="roundRect">
              <a:avLst>
                <a:gd name="adj" fmla="val 369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sp>
          <p:nvSpPr>
            <p:cNvPr id="43" name="Rectangle 35"/>
            <p:cNvSpPr>
              <a:spLocks noChangeArrowheads="1"/>
            </p:cNvSpPr>
            <p:nvPr/>
          </p:nvSpPr>
          <p:spPr bwMode="auto">
            <a:xfrm>
              <a:off x="3168" y="2208"/>
              <a:ext cx="2016"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1200" b="1" dirty="0">
                  <a:cs typeface="Times New Roman" panose="02020603050405020304" pitchFamily="18" charset="0"/>
                </a:rPr>
                <a:t>Diagrama de probabilidad</a:t>
              </a:r>
              <a:r>
                <a:rPr lang="es-ES_tradnl" altLang="es-ES" sz="1200" dirty="0">
                  <a:cs typeface="Times New Roman" panose="02020603050405020304" pitchFamily="18" charset="0"/>
                </a:rPr>
                <a:t> </a:t>
              </a:r>
              <a:r>
                <a:rPr lang="es-ES" altLang="es-ES" sz="1200" dirty="0">
                  <a:cs typeface="Times New Roman" panose="02020603050405020304" pitchFamily="18" charset="0"/>
                </a:rPr>
                <a:t>de la </a:t>
              </a:r>
              <a:r>
                <a:rPr lang="es-ES" altLang="es-ES" sz="1300" dirty="0">
                  <a:latin typeface="Times New Roman" panose="02020603050405020304" pitchFamily="18" charset="0"/>
                  <a:cs typeface="Times New Roman" panose="02020603050405020304" pitchFamily="18" charset="0"/>
                </a:rPr>
                <a:t>P(1.5)</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21534" name="1 Objeto"/>
            <p:cNvGraphicFramePr>
              <a:graphicFrameLocks noChangeAspect="1"/>
            </p:cNvGraphicFramePr>
            <p:nvPr/>
          </p:nvGraphicFramePr>
          <p:xfrm>
            <a:off x="3192" y="2417"/>
            <a:ext cx="347" cy="122"/>
          </p:xfrm>
          <a:graphic>
            <a:graphicData uri="http://schemas.openxmlformats.org/presentationml/2006/ole">
              <mc:AlternateContent xmlns:mc="http://schemas.openxmlformats.org/markup-compatibility/2006">
                <mc:Choice xmlns:v="urn:schemas-microsoft-com:vml" Requires="v">
                  <p:oleObj name="Equation" r:id="rId6" imgW="583920" imgH="203040" progId="Equation.DSMT4">
                    <p:embed/>
                  </p:oleObj>
                </mc:Choice>
                <mc:Fallback>
                  <p:oleObj name="Equation" r:id="rId6" imgW="583920" imgH="203040" progId="Equation.DSMT4">
                    <p:embed/>
                    <p:pic>
                      <p:nvPicPr>
                        <p:cNvPr id="21534" name="1 Objet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2" y="2417"/>
                          <a:ext cx="347" cy="1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35" name="1 Objeto"/>
            <p:cNvGraphicFramePr>
              <a:graphicFrameLocks noChangeAspect="1"/>
            </p:cNvGraphicFramePr>
            <p:nvPr/>
          </p:nvGraphicFramePr>
          <p:xfrm>
            <a:off x="4335" y="4020"/>
            <a:ext cx="76" cy="84"/>
          </p:xfrm>
          <a:graphic>
            <a:graphicData uri="http://schemas.openxmlformats.org/presentationml/2006/ole">
              <mc:AlternateContent xmlns:mc="http://schemas.openxmlformats.org/markup-compatibility/2006">
                <mc:Choice xmlns:v="urn:schemas-microsoft-com:vml" Requires="v">
                  <p:oleObj name="Equation" r:id="rId8" imgW="126720" imgH="139680" progId="Equation.DSMT4">
                    <p:embed/>
                  </p:oleObj>
                </mc:Choice>
                <mc:Fallback>
                  <p:oleObj name="Equation" r:id="rId8" imgW="126720" imgH="139680" progId="Equation.DSMT4">
                    <p:embed/>
                    <p:pic>
                      <p:nvPicPr>
                        <p:cNvPr id="21535" name="1 Objeto"/>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5" y="4020"/>
                          <a:ext cx="76" cy="8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1539" name="Rectangle 35"/>
          <p:cNvSpPr>
            <a:spLocks noChangeArrowheads="1"/>
          </p:cNvSpPr>
          <p:nvPr/>
        </p:nvSpPr>
        <p:spPr bwMode="auto">
          <a:xfrm>
            <a:off x="152696" y="434975"/>
            <a:ext cx="63246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b="1" dirty="0">
                <a:cs typeface="Times New Roman" panose="02020603050405020304" pitchFamily="18" charset="0"/>
              </a:rPr>
              <a:t>Distribución de Poisson. Ejemplo</a:t>
            </a:r>
          </a:p>
        </p:txBody>
      </p:sp>
      <p:sp>
        <p:nvSpPr>
          <p:cNvPr id="21540" name="Rectangle 36"/>
          <p:cNvSpPr>
            <a:spLocks noChangeArrowheads="1"/>
          </p:cNvSpPr>
          <p:nvPr/>
        </p:nvSpPr>
        <p:spPr bwMode="auto">
          <a:xfrm>
            <a:off x="217488" y="1009650"/>
            <a:ext cx="8545512" cy="7620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1pPr>
            <a:lvl2pPr marL="742950" indent="-28575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2pPr>
            <a:lvl3pPr marL="11430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3pPr>
            <a:lvl4pPr marL="16002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4pPr>
            <a:lvl5pPr marL="2057400" indent="-228600" eaLnBrk="0" hangingPunct="0">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9388" algn="l"/>
                <a:tab pos="320675" algn="l"/>
                <a:tab pos="809625" algn="l"/>
                <a:tab pos="936625" algn="l"/>
                <a:tab pos="1119188" algn="l"/>
                <a:tab pos="1439863" algn="l"/>
                <a:tab pos="1758950" algn="l"/>
                <a:tab pos="2079625" algn="l"/>
                <a:tab pos="2400300" algn="l"/>
                <a:tab pos="2719388" algn="l"/>
                <a:tab pos="3040063" algn="l"/>
                <a:tab pos="3359150" algn="l"/>
                <a:tab pos="3679825" algn="l"/>
                <a:tab pos="4000500" algn="l"/>
                <a:tab pos="4319588" algn="l"/>
              </a:tabLst>
              <a:defRPr>
                <a:solidFill>
                  <a:schemeClr val="tx1"/>
                </a:solidFill>
                <a:latin typeface="Arial" panose="020B0604020202020204" pitchFamily="34" charset="0"/>
              </a:defRPr>
            </a:lvl9pPr>
          </a:lstStyle>
          <a:p>
            <a:pPr algn="just" eaLnBrk="1" hangingPunct="1"/>
            <a:r>
              <a:rPr lang="es-ES_tradnl" altLang="es-ES" sz="1400">
                <a:cs typeface="Times New Roman" panose="02020603050405020304" pitchFamily="18" charset="0"/>
              </a:rPr>
              <a:t>Por </a:t>
            </a:r>
            <a:r>
              <a:rPr lang="es-ES" altLang="es-ES" sz="1400">
                <a:cs typeface="Times New Roman" panose="02020603050405020304" pitchFamily="18" charset="0"/>
              </a:rPr>
              <a:t>término medio se registran en España 1.5 lesiones medulares al día. </a:t>
            </a:r>
          </a:p>
          <a:p>
            <a:pPr algn="just" eaLnBrk="1" hangingPunct="1"/>
            <a:r>
              <a:rPr lang="es-ES" altLang="es-ES" sz="1400">
                <a:cs typeface="Times New Roman" panose="02020603050405020304" pitchFamily="18" charset="0"/>
              </a:rPr>
              <a:t>Si asumimos que el número de lesiones medulares al día tiene es una VAD que se ajusta a una distribución de Poisson con parámetro </a:t>
            </a:r>
            <a:r>
              <a:rPr lang="es-ES" altLang="es-ES" sz="1600">
                <a:latin typeface="Symbol" panose="05050102010706020507" pitchFamily="18" charset="2"/>
                <a:cs typeface="Times New Roman" panose="02020603050405020304" pitchFamily="18" charset="0"/>
              </a:rPr>
              <a:t>l</a:t>
            </a:r>
            <a:r>
              <a:rPr lang="es-ES" altLang="es-ES" sz="1400">
                <a:cs typeface="Times New Roman" panose="02020603050405020304" pitchFamily="18" charset="0"/>
              </a:rPr>
              <a:t>=1.5, observe que:</a:t>
            </a:r>
            <a:endParaRPr lang="es-ES_tradnl" altLang="es-ES" sz="1400">
              <a:cs typeface="Times New Roman" panose="02020603050405020304" pitchFamily="18" charset="0"/>
            </a:endParaRPr>
          </a:p>
        </p:txBody>
      </p:sp>
      <p:sp>
        <p:nvSpPr>
          <p:cNvPr id="21541" name="40 Rectángulo"/>
          <p:cNvSpPr>
            <a:spLocks noChangeArrowheads="1"/>
          </p:cNvSpPr>
          <p:nvPr/>
        </p:nvSpPr>
        <p:spPr bwMode="auto">
          <a:xfrm>
            <a:off x="217488" y="2452688"/>
            <a:ext cx="60706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a:cs typeface="Times New Roman" panose="02020603050405020304" pitchFamily="18" charset="0"/>
              </a:rPr>
              <a:t>Número esperado</a:t>
            </a:r>
            <a:r>
              <a:rPr lang="es-ES_tradnl" altLang="es-ES" sz="1300">
                <a:cs typeface="Times New Roman" panose="02020603050405020304" pitchFamily="18" charset="0"/>
              </a:rPr>
              <a:t> de lesiones </a:t>
            </a:r>
            <a:r>
              <a:rPr lang="es-ES" altLang="es-ES" sz="1300">
                <a:cs typeface="Times New Roman" panose="02020603050405020304" pitchFamily="18" charset="0"/>
              </a:rPr>
              <a:t>en un día cualquiera: </a:t>
            </a:r>
            <a:r>
              <a:rPr lang="es-ES" altLang="es-ES" sz="1500">
                <a:latin typeface="Symbol" panose="05050102010706020507" pitchFamily="18" charset="2"/>
                <a:cs typeface="Times New Roman" panose="02020603050405020304" pitchFamily="18" charset="0"/>
              </a:rPr>
              <a:t>l</a:t>
            </a:r>
            <a:r>
              <a:rPr lang="es-ES" altLang="es-ES" sz="1500" i="1">
                <a:latin typeface="Times New Roman" panose="02020603050405020304" pitchFamily="18" charset="0"/>
                <a:cs typeface="Times New Roman" panose="02020603050405020304" pitchFamily="18" charset="0"/>
              </a:rPr>
              <a:t> = </a:t>
            </a:r>
            <a:r>
              <a:rPr lang="es-ES" altLang="es-ES" sz="1500">
                <a:latin typeface="Times New Roman" panose="02020603050405020304" pitchFamily="18" charset="0"/>
                <a:cs typeface="Times New Roman" panose="02020603050405020304" pitchFamily="18" charset="0"/>
              </a:rPr>
              <a:t>1.5 </a:t>
            </a:r>
            <a:r>
              <a:rPr lang="es-ES" altLang="es-ES" sz="1300">
                <a:cs typeface="Times New Roman" panose="02020603050405020304" pitchFamily="18" charset="0"/>
              </a:rPr>
              <a:t>(entre una y dos) </a:t>
            </a:r>
            <a:r>
              <a:rPr lang="es-ES_tradnl" altLang="es-ES" sz="1300">
                <a:cs typeface="Times New Roman" panose="02020603050405020304" pitchFamily="18" charset="0"/>
              </a:rPr>
              <a:t> </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sp>
        <p:nvSpPr>
          <p:cNvPr id="21542" name="40 Rectángulo"/>
          <p:cNvSpPr>
            <a:spLocks noChangeArrowheads="1"/>
          </p:cNvSpPr>
          <p:nvPr/>
        </p:nvSpPr>
        <p:spPr bwMode="auto">
          <a:xfrm>
            <a:off x="217488" y="2940050"/>
            <a:ext cx="446405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a:cs typeface="Times New Roman" panose="02020603050405020304" pitchFamily="18" charset="0"/>
              </a:rPr>
              <a:t>P</a:t>
            </a:r>
            <a:r>
              <a:rPr lang="es-ES" altLang="es-ES" sz="1300">
                <a:cs typeface="Times New Roman" panose="02020603050405020304" pitchFamily="18" charset="0"/>
              </a:rPr>
              <a:t>robabilidad de que un día no se observe </a:t>
            </a:r>
            <a:r>
              <a:rPr lang="es-ES" altLang="es-ES" sz="1300" b="1">
                <a:cs typeface="Times New Roman" panose="02020603050405020304" pitchFamily="18" charset="0"/>
              </a:rPr>
              <a:t>ninguna </a:t>
            </a:r>
            <a:r>
              <a:rPr lang="es-ES" altLang="es-ES" sz="1300">
                <a:cs typeface="Times New Roman" panose="02020603050405020304" pitchFamily="18" charset="0"/>
              </a:rPr>
              <a:t>lesión:</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pSp>
        <p:nvGrpSpPr>
          <p:cNvPr id="21548" name="Group 44"/>
          <p:cNvGrpSpPr>
            <a:grpSpLocks/>
          </p:cNvGrpSpPr>
          <p:nvPr/>
        </p:nvGrpSpPr>
        <p:grpSpPr bwMode="auto">
          <a:xfrm>
            <a:off x="457200" y="1770063"/>
            <a:ext cx="8153400" cy="515937"/>
            <a:chOff x="192" y="1104"/>
            <a:chExt cx="5136" cy="325"/>
          </a:xfrm>
        </p:grpSpPr>
        <p:graphicFrame>
          <p:nvGraphicFramePr>
            <p:cNvPr id="21545" name="3 Objeto"/>
            <p:cNvGraphicFramePr>
              <a:graphicFrameLocks noChangeAspect="1"/>
            </p:cNvGraphicFramePr>
            <p:nvPr/>
          </p:nvGraphicFramePr>
          <p:xfrm>
            <a:off x="1632" y="1199"/>
            <a:ext cx="591" cy="165"/>
          </p:xfrm>
          <a:graphic>
            <a:graphicData uri="http://schemas.openxmlformats.org/presentationml/2006/ole">
              <mc:AlternateContent xmlns:mc="http://schemas.openxmlformats.org/markup-compatibility/2006">
                <mc:Choice xmlns:v="urn:schemas-microsoft-com:vml" Requires="v">
                  <p:oleObj name="Equation" r:id="rId10" imgW="774360" imgH="203040" progId="Equation.DSMT4">
                    <p:embed/>
                  </p:oleObj>
                </mc:Choice>
                <mc:Fallback>
                  <p:oleObj name="Equation" r:id="rId10" imgW="774360" imgH="203040" progId="Equation.DSMT4">
                    <p:embed/>
                    <p:pic>
                      <p:nvPicPr>
                        <p:cNvPr id="21545" name="3 Objeto"/>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2" y="1199"/>
                          <a:ext cx="59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Rectangle 35"/>
            <p:cNvSpPr>
              <a:spLocks noChangeArrowheads="1"/>
            </p:cNvSpPr>
            <p:nvPr/>
          </p:nvSpPr>
          <p:spPr bwMode="auto">
            <a:xfrm>
              <a:off x="192" y="1166"/>
              <a:ext cx="5136" cy="20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s-ES_tradnl" altLang="es-ES" sz="1500" i="1">
                  <a:latin typeface="Times New Roman" panose="02020603050405020304" pitchFamily="18" charset="0"/>
                  <a:cs typeface="Times New Roman" panose="02020603050405020304" pitchFamily="18" charset="0"/>
                </a:rPr>
                <a:t>X</a:t>
              </a:r>
              <a:r>
                <a:rPr lang="es-ES_tradnl" altLang="es-ES" sz="1300">
                  <a:cs typeface="Times New Roman" panose="02020603050405020304" pitchFamily="18" charset="0"/>
                </a:rPr>
                <a:t> = número de lesiones/día  </a:t>
              </a:r>
            </a:p>
          </p:txBody>
        </p:sp>
        <p:graphicFrame>
          <p:nvGraphicFramePr>
            <p:cNvPr id="21547" name="2 Objeto"/>
            <p:cNvGraphicFramePr>
              <a:graphicFrameLocks noChangeAspect="1"/>
            </p:cNvGraphicFramePr>
            <p:nvPr/>
          </p:nvGraphicFramePr>
          <p:xfrm>
            <a:off x="2256" y="1104"/>
            <a:ext cx="1866" cy="325"/>
          </p:xfrm>
          <a:graphic>
            <a:graphicData uri="http://schemas.openxmlformats.org/presentationml/2006/ole">
              <mc:AlternateContent xmlns:mc="http://schemas.openxmlformats.org/markup-compatibility/2006">
                <mc:Choice xmlns:v="urn:schemas-microsoft-com:vml" Requires="v">
                  <p:oleObj name="Equation" r:id="rId12" imgW="2311200" imgH="419040" progId="Equation.DSMT4">
                    <p:embed/>
                  </p:oleObj>
                </mc:Choice>
                <mc:Fallback>
                  <p:oleObj name="Equation" r:id="rId12" imgW="2311200" imgH="419040" progId="Equation.DSMT4">
                    <p:embed/>
                    <p:pic>
                      <p:nvPicPr>
                        <p:cNvPr id="21547" name="2 Objet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56" y="1104"/>
                          <a:ext cx="1866" cy="325"/>
                        </a:xfrm>
                        <a:prstGeom prst="rect">
                          <a:avLst/>
                        </a:prstGeom>
                        <a:solidFill>
                          <a:schemeClr val="bg1">
                            <a:alpha val="7700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1549" name="Object 45"/>
          <p:cNvGraphicFramePr>
            <a:graphicFrameLocks noChangeAspect="1"/>
          </p:cNvGraphicFramePr>
          <p:nvPr/>
        </p:nvGraphicFramePr>
        <p:xfrm>
          <a:off x="4648200" y="2840038"/>
          <a:ext cx="2892425" cy="512762"/>
        </p:xfrm>
        <a:graphic>
          <a:graphicData uri="http://schemas.openxmlformats.org/presentationml/2006/ole">
            <mc:AlternateContent xmlns:mc="http://schemas.openxmlformats.org/markup-compatibility/2006">
              <mc:Choice xmlns:v="urn:schemas-microsoft-com:vml" Requires="v">
                <p:oleObj name="Equation" r:id="rId14" imgW="2361960" imgH="419040" progId="Equation.DSMT4">
                  <p:embed/>
                </p:oleObj>
              </mc:Choice>
              <mc:Fallback>
                <p:oleObj name="Equation" r:id="rId14" imgW="2361960" imgH="419040" progId="Equation.DSMT4">
                  <p:embed/>
                  <p:pic>
                    <p:nvPicPr>
                      <p:cNvPr id="21549" name="Object 4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8200" y="2840038"/>
                        <a:ext cx="28924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51" name="Object 47"/>
          <p:cNvGraphicFramePr>
            <a:graphicFrameLocks noChangeAspect="1"/>
          </p:cNvGraphicFramePr>
          <p:nvPr/>
        </p:nvGraphicFramePr>
        <p:xfrm>
          <a:off x="438150" y="3941763"/>
          <a:ext cx="3981450" cy="249237"/>
        </p:xfrm>
        <a:graphic>
          <a:graphicData uri="http://schemas.openxmlformats.org/presentationml/2006/ole">
            <mc:AlternateContent xmlns:mc="http://schemas.openxmlformats.org/markup-compatibility/2006">
              <mc:Choice xmlns:v="urn:schemas-microsoft-com:vml" Requires="v">
                <p:oleObj name="Equation" r:id="rId16" imgW="3251160" imgH="203040" progId="Equation.DSMT4">
                  <p:embed/>
                </p:oleObj>
              </mc:Choice>
              <mc:Fallback>
                <p:oleObj name="Equation" r:id="rId16" imgW="3251160" imgH="203040" progId="Equation.DSMT4">
                  <p:embed/>
                  <p:pic>
                    <p:nvPicPr>
                      <p:cNvPr id="21551" name="Object 4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8150" y="3941763"/>
                        <a:ext cx="398145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1556" name="Group 52"/>
          <p:cNvGrpSpPr>
            <a:grpSpLocks/>
          </p:cNvGrpSpPr>
          <p:nvPr/>
        </p:nvGrpSpPr>
        <p:grpSpPr bwMode="auto">
          <a:xfrm>
            <a:off x="228600" y="3505200"/>
            <a:ext cx="4419600" cy="1771650"/>
            <a:chOff x="144" y="2208"/>
            <a:chExt cx="2784" cy="1116"/>
          </a:xfrm>
        </p:grpSpPr>
        <p:sp>
          <p:nvSpPr>
            <p:cNvPr id="21550" name="40 Rectángulo"/>
            <p:cNvSpPr>
              <a:spLocks noChangeArrowheads="1"/>
            </p:cNvSpPr>
            <p:nvPr/>
          </p:nvSpPr>
          <p:spPr bwMode="auto">
            <a:xfrm>
              <a:off x="144" y="2208"/>
              <a:ext cx="2597"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300">
                  <a:cs typeface="Times New Roman" panose="02020603050405020304" pitchFamily="18" charset="0"/>
                </a:rPr>
                <a:t>Probabilidad de que un día se observe </a:t>
              </a:r>
              <a:r>
                <a:rPr lang="es-ES" altLang="es-ES" sz="1300" b="1">
                  <a:cs typeface="Times New Roman" panose="02020603050405020304" pitchFamily="18" charset="0"/>
                </a:rPr>
                <a:t>alguna </a:t>
              </a:r>
              <a:r>
                <a:rPr lang="es-ES" altLang="es-ES" sz="1300">
                  <a:cs typeface="Times New Roman" panose="02020603050405020304" pitchFamily="18" charset="0"/>
                </a:rPr>
                <a:t>lesión:</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aphicFrame>
          <p:nvGraphicFramePr>
            <p:cNvPr id="21553" name="2 Objeto"/>
            <p:cNvGraphicFramePr>
              <a:graphicFrameLocks noChangeAspect="1"/>
            </p:cNvGraphicFramePr>
            <p:nvPr/>
          </p:nvGraphicFramePr>
          <p:xfrm>
            <a:off x="272" y="2833"/>
            <a:ext cx="2656" cy="491"/>
          </p:xfrm>
          <a:graphic>
            <a:graphicData uri="http://schemas.openxmlformats.org/presentationml/2006/ole">
              <mc:AlternateContent xmlns:mc="http://schemas.openxmlformats.org/markup-compatibility/2006">
                <mc:Choice xmlns:v="urn:schemas-microsoft-com:vml" Requires="v">
                  <p:oleObj name="Equation" r:id="rId18" imgW="3288960" imgH="634680" progId="Equation.DSMT4">
                    <p:embed/>
                  </p:oleObj>
                </mc:Choice>
                <mc:Fallback>
                  <p:oleObj name="Equation" r:id="rId18" imgW="3288960" imgH="634680" progId="Equation.DSMT4">
                    <p:embed/>
                    <p:pic>
                      <p:nvPicPr>
                        <p:cNvPr id="21553" name="2 Objeto"/>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2" y="2833"/>
                          <a:ext cx="2656"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54" name="40 Rectángulo"/>
            <p:cNvSpPr>
              <a:spLocks noChangeArrowheads="1"/>
            </p:cNvSpPr>
            <p:nvPr/>
          </p:nvSpPr>
          <p:spPr bwMode="auto">
            <a:xfrm>
              <a:off x="144" y="2802"/>
              <a:ext cx="157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a:cs typeface="Times New Roman" panose="02020603050405020304" pitchFamily="18" charset="0"/>
                </a:rPr>
                <a:t>Probabilidad de observar </a:t>
              </a:r>
              <a:r>
                <a:rPr lang="es-ES_tradnl" altLang="es-ES" sz="1300" b="1">
                  <a:cs typeface="Times New Roman" panose="02020603050405020304" pitchFamily="18" charset="0"/>
                </a:rPr>
                <a:t>2 o 3</a:t>
              </a:r>
              <a:r>
                <a:rPr lang="es-ES_tradnl" altLang="es-ES" sz="1300">
                  <a:cs typeface="Times New Roman" panose="02020603050405020304" pitchFamily="18" charset="0"/>
                </a:rPr>
                <a:t>:</a:t>
              </a:r>
              <a:endParaRPr lang="es-ES_tradnl" altLang="es-ES" sz="1300" i="1">
                <a:latin typeface="Times New Roman" panose="02020603050405020304" pitchFamily="18" charset="0"/>
                <a:cs typeface="Times New Roman" panose="02020603050405020304" pitchFamily="18" charset="0"/>
                <a:sym typeface="Euclid" panose="02020503060505020303" pitchFamily="18" charset="0"/>
              </a:endParaRPr>
            </a:p>
          </p:txBody>
        </p:sp>
      </p:grpSp>
      <p:sp>
        <p:nvSpPr>
          <p:cNvPr id="21557" name="40 Rectángulo"/>
          <p:cNvSpPr>
            <a:spLocks noChangeArrowheads="1"/>
          </p:cNvSpPr>
          <p:nvPr/>
        </p:nvSpPr>
        <p:spPr bwMode="auto">
          <a:xfrm>
            <a:off x="536198" y="5898219"/>
            <a:ext cx="38827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300" dirty="0">
                <a:cs typeface="Times New Roman" panose="02020603050405020304" pitchFamily="18" charset="0"/>
              </a:rPr>
              <a:t>Probabilidad de encontrar cero o más lesiones</a:t>
            </a:r>
            <a:r>
              <a:rPr lang="es-ES" altLang="es-ES" sz="1300" dirty="0">
                <a:cs typeface="Times New Roman" panose="02020603050405020304" pitchFamily="18" charset="0"/>
              </a:rPr>
              <a:t> </a:t>
            </a:r>
            <a:r>
              <a:rPr lang="es-ES" altLang="es-ES" sz="1500" dirty="0">
                <a:latin typeface="Times New Roman" panose="02020603050405020304" pitchFamily="18" charset="0"/>
                <a:cs typeface="Times New Roman" panose="02020603050405020304" pitchFamily="18" charset="0"/>
              </a:rPr>
              <a:t>=1</a:t>
            </a:r>
          </a:p>
          <a:p>
            <a:pPr algn="ctr" eaLnBrk="1" hangingPunct="1"/>
            <a:r>
              <a:rPr lang="es-ES" altLang="es-ES" sz="1500" dirty="0">
                <a:latin typeface="Times New Roman" panose="02020603050405020304" pitchFamily="18" charset="0"/>
                <a:cs typeface="Times New Roman" panose="02020603050405020304" pitchFamily="18" charset="0"/>
              </a:rPr>
              <a:t>(=100%) </a:t>
            </a:r>
            <a:r>
              <a:rPr lang="es-ES" altLang="es-ES" sz="1300" dirty="0">
                <a:cs typeface="Times New Roman" panose="02020603050405020304" pitchFamily="18" charset="0"/>
              </a:rPr>
              <a:t>¿por qué?</a:t>
            </a:r>
            <a:endParaRPr lang="es-ES_tradnl" altLang="es-ES" sz="1300" i="1" dirty="0">
              <a:latin typeface="Times New Roman" panose="02020603050405020304" pitchFamily="18" charset="0"/>
              <a:cs typeface="Times New Roman" panose="02020603050405020304" pitchFamily="18" charset="0"/>
              <a:sym typeface="Euclid" panose="02020503060505020303" pitchFamily="18" charset="0"/>
            </a:endParaRPr>
          </a:p>
        </p:txBody>
      </p:sp>
      <p:sp>
        <p:nvSpPr>
          <p:cNvPr id="21558" name="4 Rectángulo"/>
          <p:cNvSpPr>
            <a:spLocks noChangeArrowheads="1"/>
          </p:cNvSpPr>
          <p:nvPr/>
        </p:nvSpPr>
        <p:spPr bwMode="auto">
          <a:xfrm>
            <a:off x="152400" y="117599"/>
            <a:ext cx="7467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Modelos de distribución de probabilidad de VAD</a:t>
            </a:r>
          </a:p>
        </p:txBody>
      </p:sp>
      <p:sp>
        <p:nvSpPr>
          <p:cNvPr id="27" name="Rectangle 35"/>
          <p:cNvSpPr>
            <a:spLocks noChangeArrowheads="1"/>
          </p:cNvSpPr>
          <p:nvPr/>
        </p:nvSpPr>
        <p:spPr bwMode="auto">
          <a:xfrm>
            <a:off x="5206335" y="466725"/>
            <a:ext cx="3048000" cy="466725"/>
          </a:xfrm>
          <a:prstGeom prst="rect">
            <a:avLst/>
          </a:prstGeom>
          <a:solidFill>
            <a:schemeClr val="bg1"/>
          </a:solidFill>
          <a:ln w="9525">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200" dirty="0">
                <a:solidFill>
                  <a:srgbClr val="B00000"/>
                </a:solidFill>
                <a:cs typeface="Times New Roman" panose="02020603050405020304" pitchFamily="18" charset="0"/>
              </a:rPr>
              <a:t>¡¡</a:t>
            </a:r>
            <a:r>
              <a:rPr lang="es-ES_tradnl" altLang="es-ES" sz="1200" dirty="0">
                <a:solidFill>
                  <a:srgbClr val="B00000"/>
                </a:solidFill>
                <a:cs typeface="Times New Roman" panose="02020603050405020304" pitchFamily="18" charset="0"/>
              </a:rPr>
              <a:t>No se exigen estos cálculos. Se trata de ver solo el razonamiento!! </a:t>
            </a:r>
          </a:p>
        </p:txBody>
      </p:sp>
      <p:sp>
        <p:nvSpPr>
          <p:cNvPr id="29" name="CuadroTexto 28">
            <a:extLst>
              <a:ext uri="{FF2B5EF4-FFF2-40B4-BE49-F238E27FC236}">
                <a16:creationId xmlns:a16="http://schemas.microsoft.com/office/drawing/2014/main" id="{73AD8965-1A26-4152-B449-C1455B5C3603}"/>
              </a:ext>
            </a:extLst>
          </p:cNvPr>
          <p:cNvSpPr txBox="1"/>
          <p:nvPr/>
        </p:nvSpPr>
        <p:spPr>
          <a:xfrm rot="1231655">
            <a:off x="7797260" y="339267"/>
            <a:ext cx="1104790" cy="276999"/>
          </a:xfrm>
          <a:prstGeom prst="rect">
            <a:avLst/>
          </a:prstGeom>
          <a:solidFill>
            <a:schemeClr val="bg1"/>
          </a:solidFill>
          <a:ln>
            <a:solidFill>
              <a:srgbClr val="FF0000"/>
            </a:solidFill>
          </a:ln>
        </p:spPr>
        <p:txBody>
          <a:bodyPr wrap="none" rtlCol="0">
            <a:spAutoFit/>
          </a:bodyPr>
          <a:lstStyle/>
          <a:p>
            <a:r>
              <a:rPr lang="es-ES" dirty="0">
                <a:solidFill>
                  <a:srgbClr val="FA0000"/>
                </a:solidFill>
              </a:rPr>
              <a:t>complemento</a:t>
            </a:r>
          </a:p>
        </p:txBody>
      </p:sp>
    </p:spTree>
    <p:extLst>
      <p:ext uri="{BB962C8B-B14F-4D97-AF65-F5344CB8AC3E}">
        <p14:creationId xmlns:p14="http://schemas.microsoft.com/office/powerpoint/2010/main" val="4829063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67271" y="908720"/>
            <a:ext cx="8064896" cy="4985980"/>
          </a:xfrm>
          <a:prstGeom prst="rect">
            <a:avLst/>
          </a:prstGeom>
          <a:noFill/>
        </p:spPr>
        <p:txBody>
          <a:bodyPr wrap="square" rtlCol="0">
            <a:spAutoFit/>
          </a:bodyPr>
          <a:lstStyle/>
          <a:p>
            <a:pPr algn="just"/>
            <a:r>
              <a:rPr lang="es-ES_tradnl" altLang="es-ES" sz="1800" dirty="0">
                <a:solidFill>
                  <a:schemeClr val="tx1"/>
                </a:solidFill>
                <a:cs typeface="Times New Roman" pitchFamily="18" charset="0"/>
              </a:rPr>
              <a:t>En todos los problemas de Estadística que se van a estudiar en los siguientes temas, se pretenderá conocer el valor de los parámetros de una </a:t>
            </a:r>
            <a:r>
              <a:rPr lang="es-ES_tradnl" altLang="es-ES" sz="1800" dirty="0" err="1">
                <a:solidFill>
                  <a:schemeClr val="tx1"/>
                </a:solidFill>
                <a:cs typeface="Times New Roman" pitchFamily="18" charset="0"/>
              </a:rPr>
              <a:t>v.a.</a:t>
            </a:r>
            <a:r>
              <a:rPr lang="es-ES_tradnl" altLang="es-ES" sz="1800" dirty="0">
                <a:solidFill>
                  <a:schemeClr val="tx1"/>
                </a:solidFill>
                <a:cs typeface="Times New Roman" pitchFamily="18" charset="0"/>
              </a:rPr>
              <a:t> o de varias </a:t>
            </a:r>
            <a:r>
              <a:rPr lang="es-ES_tradnl" altLang="es-ES" sz="1800" dirty="0" err="1">
                <a:solidFill>
                  <a:schemeClr val="tx1"/>
                </a:solidFill>
                <a:cs typeface="Times New Roman" pitchFamily="18" charset="0"/>
              </a:rPr>
              <a:t>v.a.</a:t>
            </a:r>
            <a:r>
              <a:rPr lang="es-ES_tradnl" altLang="es-ES" sz="1800" dirty="0">
                <a:solidFill>
                  <a:schemeClr val="tx1"/>
                </a:solidFill>
                <a:cs typeface="Times New Roman" pitchFamily="18" charset="0"/>
              </a:rPr>
              <a:t> Por tanto, todos los problemas serán expresados en función de una </a:t>
            </a:r>
            <a:r>
              <a:rPr lang="es-ES_tradnl" altLang="es-ES" sz="1800" dirty="0" err="1">
                <a:solidFill>
                  <a:schemeClr val="tx1"/>
                </a:solidFill>
                <a:cs typeface="Times New Roman" pitchFamily="18" charset="0"/>
              </a:rPr>
              <a:t>v.a.</a:t>
            </a:r>
            <a:r>
              <a:rPr lang="es-ES_tradnl" altLang="es-ES" sz="1800" dirty="0">
                <a:solidFill>
                  <a:schemeClr val="tx1"/>
                </a:solidFill>
                <a:cs typeface="Times New Roman" pitchFamily="18" charset="0"/>
              </a:rPr>
              <a:t> (o de varias </a:t>
            </a:r>
            <a:r>
              <a:rPr lang="es-ES_tradnl" altLang="es-ES" sz="1800" dirty="0" err="1">
                <a:solidFill>
                  <a:schemeClr val="tx1"/>
                </a:solidFill>
                <a:cs typeface="Times New Roman" pitchFamily="18" charset="0"/>
              </a:rPr>
              <a:t>v.a.</a:t>
            </a:r>
            <a:r>
              <a:rPr lang="es-ES_tradnl" altLang="es-ES" sz="1800" dirty="0">
                <a:solidFill>
                  <a:schemeClr val="tx1"/>
                </a:solidFill>
                <a:cs typeface="Times New Roman" pitchFamily="18" charset="0"/>
              </a:rPr>
              <a:t>) y de los parámetros que las caracterizan. Así:</a:t>
            </a:r>
          </a:p>
          <a:p>
            <a:pPr algn="just"/>
            <a:endParaRPr lang="es-ES_tradnl" altLang="es-ES" sz="1800" dirty="0">
              <a:solidFill>
                <a:schemeClr val="tx1"/>
              </a:solidFill>
              <a:cs typeface="Times New Roman" pitchFamily="18" charset="0"/>
            </a:endParaRPr>
          </a:p>
          <a:p>
            <a:pPr marL="342900" indent="-342900" algn="just">
              <a:buFont typeface="Wingdings" pitchFamily="2" charset="2"/>
              <a:buChar char="§"/>
            </a:pPr>
            <a:r>
              <a:rPr lang="es-ES_tradnl" sz="1800" dirty="0">
                <a:solidFill>
                  <a:schemeClr val="tx1"/>
                </a:solidFill>
                <a:cs typeface="Times New Roman" pitchFamily="18" charset="0"/>
              </a:rPr>
              <a:t>Si tenemos una </a:t>
            </a:r>
            <a:r>
              <a:rPr lang="es-ES_tradnl" sz="1800" dirty="0" err="1">
                <a:solidFill>
                  <a:schemeClr val="tx1"/>
                </a:solidFill>
                <a:cs typeface="Times New Roman" pitchFamily="18" charset="0"/>
              </a:rPr>
              <a:t>v.a.</a:t>
            </a:r>
            <a:r>
              <a:rPr lang="es-ES_tradnl" sz="1800" dirty="0">
                <a:solidFill>
                  <a:schemeClr val="tx1"/>
                </a:solidFill>
                <a:cs typeface="Times New Roman" pitchFamily="18" charset="0"/>
              </a:rPr>
              <a:t> </a:t>
            </a:r>
            <a:r>
              <a:rPr lang="es-ES_tradnl" sz="1800" i="1" dirty="0">
                <a:solidFill>
                  <a:schemeClr val="tx1"/>
                </a:solidFill>
                <a:cs typeface="Times New Roman" pitchFamily="18" charset="0"/>
              </a:rPr>
              <a:t>X</a:t>
            </a:r>
            <a:r>
              <a:rPr lang="es-ES_tradnl" sz="1800" dirty="0">
                <a:solidFill>
                  <a:schemeClr val="tx1"/>
                </a:solidFill>
                <a:cs typeface="Times New Roman" pitchFamily="18" charset="0"/>
              </a:rPr>
              <a:t> que sigue una distribución Normal, está se caracterizará por </a:t>
            </a:r>
            <a:r>
              <a:rPr lang="el-GR" sz="1800" i="1" dirty="0">
                <a:solidFill>
                  <a:schemeClr val="tx1"/>
                </a:solidFill>
                <a:cs typeface="Times New Roman" pitchFamily="18" charset="0"/>
              </a:rPr>
              <a:t>μ</a:t>
            </a:r>
            <a:r>
              <a:rPr lang="es-ES" sz="1800" dirty="0">
                <a:solidFill>
                  <a:schemeClr val="tx1"/>
                </a:solidFill>
                <a:cs typeface="Times New Roman" pitchFamily="18" charset="0"/>
              </a:rPr>
              <a:t> y </a:t>
            </a:r>
            <a:r>
              <a:rPr lang="el-GR" sz="1800" i="1" dirty="0">
                <a:solidFill>
                  <a:schemeClr val="tx1"/>
                </a:solidFill>
                <a:cs typeface="Times New Roman" pitchFamily="18" charset="0"/>
              </a:rPr>
              <a:t>σ</a:t>
            </a:r>
            <a:r>
              <a:rPr lang="es-ES" sz="1800" dirty="0">
                <a:solidFill>
                  <a:schemeClr val="tx1"/>
                </a:solidFill>
                <a:cs typeface="Times New Roman" pitchFamily="18" charset="0"/>
              </a:rPr>
              <a:t>, que son parámetros cuyos valores son desconocidos (pues hacen referencia a toda la población objeto de estudio). El objetivo será intentar conocer (estimar) los valores de </a:t>
            </a:r>
            <a:r>
              <a:rPr lang="el-GR" sz="1800" i="1" dirty="0">
                <a:solidFill>
                  <a:schemeClr val="tx1"/>
                </a:solidFill>
                <a:cs typeface="Times New Roman" pitchFamily="18" charset="0"/>
              </a:rPr>
              <a:t>μ</a:t>
            </a:r>
            <a:r>
              <a:rPr lang="es-ES" sz="1800" dirty="0">
                <a:solidFill>
                  <a:schemeClr val="tx1"/>
                </a:solidFill>
                <a:cs typeface="Times New Roman" pitchFamily="18" charset="0"/>
              </a:rPr>
              <a:t> y </a:t>
            </a:r>
            <a:r>
              <a:rPr lang="el-GR" sz="1800" i="1" dirty="0">
                <a:solidFill>
                  <a:schemeClr val="tx1"/>
                </a:solidFill>
                <a:cs typeface="Times New Roman" pitchFamily="18" charset="0"/>
              </a:rPr>
              <a:t>σ</a:t>
            </a:r>
            <a:r>
              <a:rPr lang="es-ES" sz="1800" i="1" dirty="0">
                <a:solidFill>
                  <a:schemeClr val="tx1"/>
                </a:solidFill>
                <a:cs typeface="Times New Roman" pitchFamily="18" charset="0"/>
              </a:rPr>
              <a:t> </a:t>
            </a:r>
            <a:r>
              <a:rPr lang="es-ES" sz="1800" dirty="0">
                <a:solidFill>
                  <a:schemeClr val="tx1"/>
                </a:solidFill>
                <a:cs typeface="Times New Roman" pitchFamily="18" charset="0"/>
              </a:rPr>
              <a:t>a partir de los datos observados en una muestra.</a:t>
            </a:r>
          </a:p>
          <a:p>
            <a:pPr marL="342900" indent="-342900" algn="just">
              <a:buFont typeface="Wingdings" pitchFamily="2" charset="2"/>
              <a:buChar char="§"/>
            </a:pPr>
            <a:endParaRPr lang="es-ES" sz="1800" dirty="0">
              <a:solidFill>
                <a:schemeClr val="tx1"/>
              </a:solidFill>
              <a:cs typeface="Times New Roman" pitchFamily="18" charset="0"/>
            </a:endParaRPr>
          </a:p>
          <a:p>
            <a:pPr marL="342900" indent="-342900" algn="just">
              <a:buFont typeface="Wingdings" pitchFamily="2" charset="2"/>
              <a:buChar char="§"/>
            </a:pPr>
            <a:r>
              <a:rPr lang="es-ES_tradnl" sz="1800" dirty="0">
                <a:solidFill>
                  <a:schemeClr val="tx1"/>
                </a:solidFill>
                <a:cs typeface="Times New Roman" pitchFamily="18" charset="0"/>
              </a:rPr>
              <a:t>Si tenemos una </a:t>
            </a:r>
            <a:r>
              <a:rPr lang="es-ES_tradnl" sz="1800" dirty="0" err="1">
                <a:solidFill>
                  <a:schemeClr val="tx1"/>
                </a:solidFill>
                <a:cs typeface="Times New Roman" pitchFamily="18" charset="0"/>
              </a:rPr>
              <a:t>v.a.</a:t>
            </a:r>
            <a:r>
              <a:rPr lang="es-ES_tradnl" sz="1800" dirty="0">
                <a:solidFill>
                  <a:schemeClr val="tx1"/>
                </a:solidFill>
                <a:cs typeface="Times New Roman" pitchFamily="18" charset="0"/>
              </a:rPr>
              <a:t> </a:t>
            </a:r>
            <a:r>
              <a:rPr lang="es-ES_tradnl" sz="1800" i="1" dirty="0">
                <a:solidFill>
                  <a:schemeClr val="tx1"/>
                </a:solidFill>
                <a:cs typeface="Times New Roman" pitchFamily="18" charset="0"/>
              </a:rPr>
              <a:t>X</a:t>
            </a:r>
            <a:r>
              <a:rPr lang="es-ES_tradnl" sz="1800" dirty="0">
                <a:solidFill>
                  <a:schemeClr val="tx1"/>
                </a:solidFill>
                <a:cs typeface="Times New Roman" pitchFamily="18" charset="0"/>
              </a:rPr>
              <a:t> Binomial, está se caracterizará por </a:t>
            </a:r>
            <a:r>
              <a:rPr lang="es-ES" sz="1800" i="1" dirty="0">
                <a:solidFill>
                  <a:schemeClr val="tx1"/>
                </a:solidFill>
                <a:cs typeface="Times New Roman" pitchFamily="18" charset="0"/>
              </a:rPr>
              <a:t>n</a:t>
            </a:r>
            <a:r>
              <a:rPr lang="es-ES" sz="1800" dirty="0">
                <a:solidFill>
                  <a:schemeClr val="tx1"/>
                </a:solidFill>
                <a:cs typeface="Times New Roman" pitchFamily="18" charset="0"/>
              </a:rPr>
              <a:t> y </a:t>
            </a:r>
            <a:r>
              <a:rPr lang="es-ES" sz="1800" i="1" dirty="0">
                <a:solidFill>
                  <a:schemeClr val="tx1"/>
                </a:solidFill>
                <a:cs typeface="Times New Roman" pitchFamily="18" charset="0"/>
              </a:rPr>
              <a:t>p</a:t>
            </a:r>
            <a:r>
              <a:rPr lang="es-ES" sz="1800" dirty="0">
                <a:solidFill>
                  <a:schemeClr val="tx1"/>
                </a:solidFill>
                <a:cs typeface="Times New Roman" pitchFamily="18" charset="0"/>
              </a:rPr>
              <a:t>, donde </a:t>
            </a:r>
            <a:r>
              <a:rPr lang="es-ES" sz="1800" i="1" dirty="0">
                <a:solidFill>
                  <a:schemeClr val="tx1"/>
                </a:solidFill>
                <a:cs typeface="Times New Roman" pitchFamily="18" charset="0"/>
              </a:rPr>
              <a:t>n</a:t>
            </a:r>
            <a:r>
              <a:rPr lang="es-ES" sz="1800" dirty="0">
                <a:solidFill>
                  <a:schemeClr val="tx1"/>
                </a:solidFill>
                <a:cs typeface="Times New Roman" pitchFamily="18" charset="0"/>
              </a:rPr>
              <a:t> es conocido (tamaño de la muestra) y </a:t>
            </a:r>
            <a:r>
              <a:rPr lang="es-ES" sz="1800" i="1" dirty="0">
                <a:solidFill>
                  <a:schemeClr val="tx1"/>
                </a:solidFill>
                <a:cs typeface="Times New Roman" pitchFamily="18" charset="0"/>
              </a:rPr>
              <a:t>p</a:t>
            </a:r>
            <a:r>
              <a:rPr lang="es-ES" sz="1800" dirty="0">
                <a:solidFill>
                  <a:schemeClr val="tx1"/>
                </a:solidFill>
                <a:cs typeface="Times New Roman" pitchFamily="18" charset="0"/>
              </a:rPr>
              <a:t> es un parámetro cuyo valor es desconocido (pues hace referencia a toda la población objeto de estudio). El objetivo será intentar conocer (estimar) el valor de </a:t>
            </a:r>
            <a:r>
              <a:rPr lang="es-ES" sz="1800" i="1" dirty="0">
                <a:solidFill>
                  <a:schemeClr val="tx1"/>
                </a:solidFill>
                <a:cs typeface="Times New Roman" pitchFamily="18" charset="0"/>
              </a:rPr>
              <a:t>p</a:t>
            </a:r>
            <a:r>
              <a:rPr lang="es-ES" sz="1800" dirty="0">
                <a:solidFill>
                  <a:schemeClr val="tx1"/>
                </a:solidFill>
                <a:cs typeface="Times New Roman" pitchFamily="18" charset="0"/>
              </a:rPr>
              <a:t> a partir de los datos observados en la muestra de tamaño </a:t>
            </a:r>
            <a:r>
              <a:rPr lang="es-ES" sz="1800" i="1" dirty="0">
                <a:solidFill>
                  <a:schemeClr val="tx1"/>
                </a:solidFill>
                <a:cs typeface="Times New Roman" pitchFamily="18" charset="0"/>
              </a:rPr>
              <a:t>n</a:t>
            </a:r>
            <a:r>
              <a:rPr lang="es-ES" sz="1800" dirty="0">
                <a:solidFill>
                  <a:schemeClr val="tx1"/>
                </a:solidFill>
                <a:cs typeface="Times New Roman" pitchFamily="18" charset="0"/>
              </a:rPr>
              <a:t>.</a:t>
            </a:r>
            <a:endParaRPr lang="es-ES" sz="1800" dirty="0"/>
          </a:p>
          <a:p>
            <a:pPr marL="342900" indent="-342900" algn="just">
              <a:buFont typeface="Wingdings" pitchFamily="2" charset="2"/>
              <a:buChar char="§"/>
            </a:pPr>
            <a:endParaRPr lang="es-ES" dirty="0"/>
          </a:p>
        </p:txBody>
      </p:sp>
      <p:sp>
        <p:nvSpPr>
          <p:cNvPr id="3" name="2 CuadroTexto"/>
          <p:cNvSpPr txBox="1"/>
          <p:nvPr/>
        </p:nvSpPr>
        <p:spPr>
          <a:xfrm>
            <a:off x="416083" y="339576"/>
            <a:ext cx="4248472" cy="430887"/>
          </a:xfrm>
          <a:prstGeom prst="rect">
            <a:avLst/>
          </a:prstGeom>
          <a:noFill/>
        </p:spPr>
        <p:txBody>
          <a:bodyPr wrap="square" rtlCol="0">
            <a:spAutoFit/>
          </a:bodyPr>
          <a:lstStyle/>
          <a:p>
            <a:r>
              <a:rPr lang="es-ES" sz="2200" b="1" dirty="0"/>
              <a:t>Resume VA</a:t>
            </a:r>
            <a:endParaRPr lang="es-ES" sz="2200" b="1" dirty="0">
              <a:solidFill>
                <a:schemeClr val="tx1"/>
              </a:solidFill>
            </a:endParaRPr>
          </a:p>
        </p:txBody>
      </p:sp>
      <p:sp>
        <p:nvSpPr>
          <p:cNvPr id="4" name="3 Marcador de número de diapositiva"/>
          <p:cNvSpPr>
            <a:spLocks noGrp="1"/>
          </p:cNvSpPr>
          <p:nvPr>
            <p:ph type="sldNum" sz="quarter" idx="12"/>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GB"/>
            </a:defPPr>
            <a:lvl1pPr algn="r" rtl="0" fontAlgn="base">
              <a:spcBef>
                <a:spcPct val="0"/>
              </a:spcBef>
              <a:spcAft>
                <a:spcPct val="0"/>
              </a:spcAft>
              <a:defRPr sz="1400" kern="1200">
                <a:solidFill>
                  <a:schemeClr val="tx1"/>
                </a:solidFill>
                <a:latin typeface="Times New Roman" pitchFamily="18" charset="0"/>
                <a:ea typeface="+mn-ea"/>
                <a:cs typeface="+mn-cs"/>
              </a:defRPr>
            </a:lvl1pPr>
            <a:lvl2pPr marL="457200" algn="ctr" rtl="0" fontAlgn="base">
              <a:spcBef>
                <a:spcPct val="0"/>
              </a:spcBef>
              <a:spcAft>
                <a:spcPct val="0"/>
              </a:spcAft>
              <a:defRPr sz="2000" kern="1200">
                <a:solidFill>
                  <a:srgbClr val="CE0808"/>
                </a:solidFill>
                <a:latin typeface="Times New Roman" pitchFamily="18" charset="0"/>
                <a:ea typeface="+mn-ea"/>
                <a:cs typeface="+mn-cs"/>
              </a:defRPr>
            </a:lvl2pPr>
            <a:lvl3pPr marL="914400" algn="ctr" rtl="0" fontAlgn="base">
              <a:spcBef>
                <a:spcPct val="0"/>
              </a:spcBef>
              <a:spcAft>
                <a:spcPct val="0"/>
              </a:spcAft>
              <a:defRPr sz="2000" kern="1200">
                <a:solidFill>
                  <a:srgbClr val="CE0808"/>
                </a:solidFill>
                <a:latin typeface="Times New Roman" pitchFamily="18" charset="0"/>
                <a:ea typeface="+mn-ea"/>
                <a:cs typeface="+mn-cs"/>
              </a:defRPr>
            </a:lvl3pPr>
            <a:lvl4pPr marL="1371600" algn="ctr" rtl="0" fontAlgn="base">
              <a:spcBef>
                <a:spcPct val="0"/>
              </a:spcBef>
              <a:spcAft>
                <a:spcPct val="0"/>
              </a:spcAft>
              <a:defRPr sz="2000" kern="1200">
                <a:solidFill>
                  <a:srgbClr val="CE0808"/>
                </a:solidFill>
                <a:latin typeface="Times New Roman" pitchFamily="18" charset="0"/>
                <a:ea typeface="+mn-ea"/>
                <a:cs typeface="+mn-cs"/>
              </a:defRPr>
            </a:lvl4pPr>
            <a:lvl5pPr marL="1828800" algn="ctr" rtl="0" fontAlgn="base">
              <a:spcBef>
                <a:spcPct val="0"/>
              </a:spcBef>
              <a:spcAft>
                <a:spcPct val="0"/>
              </a:spcAft>
              <a:defRPr sz="2000" kern="1200">
                <a:solidFill>
                  <a:srgbClr val="CE0808"/>
                </a:solidFill>
                <a:latin typeface="Times New Roman" pitchFamily="18" charset="0"/>
                <a:ea typeface="+mn-ea"/>
                <a:cs typeface="+mn-cs"/>
              </a:defRPr>
            </a:lvl5pPr>
            <a:lvl6pPr marL="2286000" algn="l" defTabSz="914400" rtl="0" eaLnBrk="1" latinLnBrk="0" hangingPunct="1">
              <a:defRPr sz="2000" kern="1200">
                <a:solidFill>
                  <a:srgbClr val="CE0808"/>
                </a:solidFill>
                <a:latin typeface="Times New Roman" pitchFamily="18" charset="0"/>
                <a:ea typeface="+mn-ea"/>
                <a:cs typeface="+mn-cs"/>
              </a:defRPr>
            </a:lvl6pPr>
            <a:lvl7pPr marL="2743200" algn="l" defTabSz="914400" rtl="0" eaLnBrk="1" latinLnBrk="0" hangingPunct="1">
              <a:defRPr sz="2000" kern="1200">
                <a:solidFill>
                  <a:srgbClr val="CE0808"/>
                </a:solidFill>
                <a:latin typeface="Times New Roman" pitchFamily="18" charset="0"/>
                <a:ea typeface="+mn-ea"/>
                <a:cs typeface="+mn-cs"/>
              </a:defRPr>
            </a:lvl7pPr>
            <a:lvl8pPr marL="3200400" algn="l" defTabSz="914400" rtl="0" eaLnBrk="1" latinLnBrk="0" hangingPunct="1">
              <a:defRPr sz="2000" kern="1200">
                <a:solidFill>
                  <a:srgbClr val="CE0808"/>
                </a:solidFill>
                <a:latin typeface="Times New Roman" pitchFamily="18" charset="0"/>
                <a:ea typeface="+mn-ea"/>
                <a:cs typeface="+mn-cs"/>
              </a:defRPr>
            </a:lvl8pPr>
            <a:lvl9pPr marL="3657600" algn="l" defTabSz="914400" rtl="0" eaLnBrk="1" latinLnBrk="0" hangingPunct="1">
              <a:defRPr sz="2000" kern="1200">
                <a:solidFill>
                  <a:srgbClr val="CE0808"/>
                </a:solidFill>
                <a:latin typeface="Times New Roman" pitchFamily="18" charset="0"/>
                <a:ea typeface="+mn-ea"/>
                <a:cs typeface="+mn-cs"/>
              </a:defRPr>
            </a:lvl9pPr>
          </a:lstStyle>
          <a:p>
            <a:pPr>
              <a:defRPr/>
            </a:pPr>
            <a:fld id="{2C37A8D3-27DB-4FA3-A549-ECD6157B8BCA}" type="slidenum">
              <a:rPr lang="en-GB" altLang="es-ES" smtClean="0"/>
              <a:pPr>
                <a:defRPr/>
              </a:pPr>
              <a:t>33</a:t>
            </a:fld>
            <a:endParaRPr lang="en-GB" altLang="es-E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4 Rectángulo"/>
          <p:cNvSpPr>
            <a:spLocks noChangeArrowheads="1"/>
          </p:cNvSpPr>
          <p:nvPr/>
        </p:nvSpPr>
        <p:spPr bwMode="auto">
          <a:xfrm>
            <a:off x="1828800" y="2514600"/>
            <a:ext cx="5715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2000" b="1" dirty="0"/>
              <a:t>Concepto de </a:t>
            </a:r>
            <a:r>
              <a:rPr lang="es-ES" altLang="es-ES" sz="2800" b="1" dirty="0">
                <a:solidFill>
                  <a:srgbClr val="FF0000"/>
                </a:solidFill>
              </a:rPr>
              <a:t>MUESTRA </a:t>
            </a:r>
            <a:endParaRPr lang="es-ES" altLang="es-ES" sz="2000" b="1" dirty="0"/>
          </a:p>
        </p:txBody>
      </p:sp>
    </p:spTree>
    <p:extLst>
      <p:ext uri="{BB962C8B-B14F-4D97-AF65-F5344CB8AC3E}">
        <p14:creationId xmlns:p14="http://schemas.microsoft.com/office/powerpoint/2010/main" val="3665278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228599" y="5187315"/>
            <a:ext cx="8621947" cy="984885"/>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s-ES" b="1" dirty="0"/>
              <a:t>Sesgo de selección</a:t>
            </a:r>
            <a:r>
              <a:rPr lang="es-ES" dirty="0"/>
              <a:t>. Debido a la exclusión sistemática de una parte de la población</a:t>
            </a:r>
          </a:p>
          <a:p>
            <a:pPr marL="171450" indent="-171450">
              <a:spcBef>
                <a:spcPts val="600"/>
              </a:spcBef>
              <a:buFont typeface="Arial" panose="020B0604020202020204" pitchFamily="34" charset="0"/>
              <a:buChar char="•"/>
            </a:pPr>
            <a:r>
              <a:rPr lang="es-ES" b="1" dirty="0"/>
              <a:t>Sesgo de medida o de respuesta</a:t>
            </a:r>
            <a:r>
              <a:rPr lang="es-ES" dirty="0"/>
              <a:t>. Uso de métodos de medida inadecuados (ej. Cuestionario no válido)</a:t>
            </a:r>
          </a:p>
          <a:p>
            <a:pPr marL="180975" indent="-180975" algn="just">
              <a:spcBef>
                <a:spcPts val="600"/>
              </a:spcBef>
              <a:buFont typeface="Arial" panose="020B0604020202020204" pitchFamily="34" charset="0"/>
              <a:buChar char="•"/>
              <a:tabLst>
                <a:tab pos="180975" algn="l"/>
                <a:tab pos="266700" algn="l"/>
              </a:tabLst>
            </a:pPr>
            <a:r>
              <a:rPr lang="es-ES" b="1" dirty="0"/>
              <a:t>Sesgo por falta de respuesta.</a:t>
            </a:r>
            <a:r>
              <a:rPr lang="es-ES" dirty="0"/>
              <a:t> Debido a la falta de información de individuos que fueron seleccionados para pertenecer a la muestra  </a:t>
            </a:r>
          </a:p>
        </p:txBody>
      </p:sp>
      <p:sp>
        <p:nvSpPr>
          <p:cNvPr id="5" name="CuadroTexto 4"/>
          <p:cNvSpPr txBox="1"/>
          <p:nvPr/>
        </p:nvSpPr>
        <p:spPr>
          <a:xfrm>
            <a:off x="228599" y="4344782"/>
            <a:ext cx="6705600" cy="276999"/>
          </a:xfrm>
          <a:prstGeom prst="rect">
            <a:avLst/>
          </a:prstGeom>
          <a:noFill/>
        </p:spPr>
        <p:txBody>
          <a:bodyPr wrap="square" rtlCol="0">
            <a:spAutoFit/>
          </a:bodyPr>
          <a:lstStyle/>
          <a:p>
            <a:r>
              <a:rPr lang="es-ES" b="1" dirty="0"/>
              <a:t>Sesgo</a:t>
            </a:r>
            <a:r>
              <a:rPr lang="es-ES" dirty="0"/>
              <a:t> = Tendencia de la muestra a diferir de la población de la que se extrae</a:t>
            </a:r>
          </a:p>
        </p:txBody>
      </p:sp>
      <p:sp>
        <p:nvSpPr>
          <p:cNvPr id="7" name="CuadroTexto 6"/>
          <p:cNvSpPr txBox="1"/>
          <p:nvPr/>
        </p:nvSpPr>
        <p:spPr>
          <a:xfrm>
            <a:off x="228599" y="4731396"/>
            <a:ext cx="6705600" cy="276999"/>
          </a:xfrm>
          <a:prstGeom prst="rect">
            <a:avLst/>
          </a:prstGeom>
          <a:noFill/>
        </p:spPr>
        <p:txBody>
          <a:bodyPr wrap="square" rtlCol="0">
            <a:spAutoFit/>
          </a:bodyPr>
          <a:lstStyle/>
          <a:p>
            <a:r>
              <a:rPr lang="es-ES" dirty="0"/>
              <a:t>Algunos sesgos peligrosos</a:t>
            </a:r>
          </a:p>
        </p:txBody>
      </p:sp>
      <p:sp>
        <p:nvSpPr>
          <p:cNvPr id="8" name="CuadroTexto 7"/>
          <p:cNvSpPr txBox="1"/>
          <p:nvPr/>
        </p:nvSpPr>
        <p:spPr>
          <a:xfrm>
            <a:off x="157576" y="458620"/>
            <a:ext cx="3978974" cy="307777"/>
          </a:xfrm>
          <a:prstGeom prst="rect">
            <a:avLst/>
          </a:prstGeom>
          <a:noFill/>
        </p:spPr>
        <p:txBody>
          <a:bodyPr wrap="none" rtlCol="0">
            <a:spAutoFit/>
          </a:bodyPr>
          <a:lstStyle/>
          <a:p>
            <a:r>
              <a:rPr lang="es-ES" sz="1400" b="1" dirty="0"/>
              <a:t>Formas de obtener los datos de la población</a:t>
            </a:r>
          </a:p>
        </p:txBody>
      </p:sp>
      <p:sp>
        <p:nvSpPr>
          <p:cNvPr id="9" name="CuadroTexto 8"/>
          <p:cNvSpPr txBox="1"/>
          <p:nvPr/>
        </p:nvSpPr>
        <p:spPr>
          <a:xfrm>
            <a:off x="238125" y="1305699"/>
            <a:ext cx="8612422" cy="1354217"/>
          </a:xfrm>
          <a:prstGeom prst="rect">
            <a:avLst/>
          </a:prstGeom>
          <a:noFill/>
        </p:spPr>
        <p:txBody>
          <a:bodyPr wrap="square" rtlCol="0">
            <a:spAutoFit/>
          </a:bodyPr>
          <a:lstStyle/>
          <a:p>
            <a:pPr marL="171450" indent="-171450" algn="just">
              <a:buFont typeface="Arial" panose="020B0604020202020204" pitchFamily="34" charset="0"/>
              <a:buChar char="•"/>
            </a:pPr>
            <a:r>
              <a:rPr lang="es-ES" b="1" dirty="0"/>
              <a:t>Muestreo</a:t>
            </a:r>
            <a:r>
              <a:rPr lang="es-ES" dirty="0"/>
              <a:t>: Se </a:t>
            </a:r>
            <a:r>
              <a:rPr lang="es-ES" b="1" i="1" dirty="0"/>
              <a:t>observan</a:t>
            </a:r>
            <a:r>
              <a:rPr lang="es-ES" dirty="0"/>
              <a:t> individuos de la población sin que el investigador establezca de antemano valores de ninguna variable. </a:t>
            </a:r>
          </a:p>
          <a:p>
            <a:pPr marL="447675" lvl="1" indent="-266700">
              <a:spcBef>
                <a:spcPts val="600"/>
              </a:spcBef>
              <a:buFont typeface="Arial" panose="020B0604020202020204" pitchFamily="34" charset="0"/>
              <a:buChar char="•"/>
            </a:pPr>
            <a:r>
              <a:rPr lang="es-ES" dirty="0"/>
              <a:t>Un estudio cuyos datos se obtienen por muestreo es un </a:t>
            </a:r>
            <a:r>
              <a:rPr lang="es-ES" b="1" dirty="0"/>
              <a:t>estudio observacional</a:t>
            </a:r>
          </a:p>
          <a:p>
            <a:pPr marL="447675" lvl="1" indent="-266700" algn="just">
              <a:spcBef>
                <a:spcPts val="600"/>
              </a:spcBef>
              <a:buFont typeface="Arial" panose="020B0604020202020204" pitchFamily="34" charset="0"/>
              <a:buChar char="•"/>
            </a:pPr>
            <a:r>
              <a:rPr lang="es-ES" dirty="0"/>
              <a:t>Los estudios observacionales solo permiten hablar de </a:t>
            </a:r>
            <a:r>
              <a:rPr lang="es-ES" b="1" dirty="0"/>
              <a:t>asociación</a:t>
            </a:r>
            <a:r>
              <a:rPr lang="es-ES" dirty="0"/>
              <a:t> entre variables, nunca de relaciones </a:t>
            </a:r>
            <a:r>
              <a:rPr lang="es-ES" b="1" dirty="0"/>
              <a:t>causales</a:t>
            </a:r>
            <a:br>
              <a:rPr lang="es-ES" b="1" dirty="0"/>
            </a:br>
            <a:r>
              <a:rPr lang="es-ES" b="1" dirty="0">
                <a:solidFill>
                  <a:srgbClr val="35747B"/>
                </a:solidFill>
              </a:rPr>
              <a:t>Ejemplo</a:t>
            </a:r>
            <a:r>
              <a:rPr lang="es-ES" dirty="0">
                <a:solidFill>
                  <a:srgbClr val="35747B"/>
                </a:solidFill>
              </a:rPr>
              <a:t>: Se podría decir que la prevalencia del cáncer de pulmón está asociada con el consumo de tabaco, pero no que fumar provoca cáncer</a:t>
            </a:r>
          </a:p>
        </p:txBody>
      </p:sp>
      <p:sp>
        <p:nvSpPr>
          <p:cNvPr id="10" name="CuadroTexto 9"/>
          <p:cNvSpPr txBox="1"/>
          <p:nvPr/>
        </p:nvSpPr>
        <p:spPr>
          <a:xfrm>
            <a:off x="238125" y="2734701"/>
            <a:ext cx="8658225" cy="1431161"/>
          </a:xfrm>
          <a:prstGeom prst="rect">
            <a:avLst/>
          </a:prstGeom>
          <a:noFill/>
        </p:spPr>
        <p:txBody>
          <a:bodyPr wrap="square" rtlCol="0">
            <a:spAutoFit/>
          </a:bodyPr>
          <a:lstStyle/>
          <a:p>
            <a:pPr marL="171450" indent="-171450" algn="just">
              <a:buFont typeface="Arial" panose="020B0604020202020204" pitchFamily="34" charset="0"/>
              <a:buChar char="•"/>
            </a:pPr>
            <a:r>
              <a:rPr lang="es-ES" b="1" dirty="0"/>
              <a:t>Experimentación</a:t>
            </a:r>
            <a:r>
              <a:rPr lang="es-ES" dirty="0"/>
              <a:t>: el investigador fija de antemano valores de una o varias variables (=variables </a:t>
            </a:r>
            <a:r>
              <a:rPr lang="es-ES" b="1" i="1" dirty="0"/>
              <a:t>explicativas</a:t>
            </a:r>
            <a:r>
              <a:rPr lang="es-ES" dirty="0"/>
              <a:t> o </a:t>
            </a:r>
            <a:r>
              <a:rPr lang="es-ES" b="1" i="1" dirty="0"/>
              <a:t>tratamientos</a:t>
            </a:r>
            <a:r>
              <a:rPr lang="es-ES" b="1" dirty="0"/>
              <a:t> </a:t>
            </a:r>
            <a:r>
              <a:rPr lang="es-ES" dirty="0"/>
              <a:t>o</a:t>
            </a:r>
            <a:r>
              <a:rPr lang="es-ES" b="1" dirty="0"/>
              <a:t> </a:t>
            </a:r>
            <a:r>
              <a:rPr lang="es-ES" b="1" i="1" dirty="0"/>
              <a:t>factores</a:t>
            </a:r>
            <a:r>
              <a:rPr lang="es-ES" dirty="0"/>
              <a:t>) y observa el nivel de otras (=variables </a:t>
            </a:r>
            <a:r>
              <a:rPr lang="es-ES" b="1" i="1" dirty="0"/>
              <a:t>respuesta</a:t>
            </a:r>
            <a:r>
              <a:rPr lang="es-ES" dirty="0"/>
              <a:t>). </a:t>
            </a:r>
          </a:p>
          <a:p>
            <a:pPr marL="447675" lvl="1" indent="-266700" algn="just">
              <a:spcBef>
                <a:spcPts val="600"/>
              </a:spcBef>
              <a:buFont typeface="Arial" panose="020B0604020202020204" pitchFamily="34" charset="0"/>
              <a:buChar char="•"/>
            </a:pPr>
            <a:r>
              <a:rPr lang="es-ES" dirty="0"/>
              <a:t>La asignación de individuos a cada nivel del factor se debe hacer de forma </a:t>
            </a:r>
            <a:r>
              <a:rPr lang="es-ES" b="1" i="1" dirty="0"/>
              <a:t>aleatorizada</a:t>
            </a:r>
          </a:p>
          <a:p>
            <a:pPr marL="447675" lvl="1" indent="-266700" algn="just">
              <a:spcBef>
                <a:spcPts val="600"/>
              </a:spcBef>
              <a:buFont typeface="Arial" panose="020B0604020202020204" pitchFamily="34" charset="0"/>
              <a:buChar char="•"/>
            </a:pPr>
            <a:r>
              <a:rPr lang="es-ES" dirty="0"/>
              <a:t>Los</a:t>
            </a:r>
            <a:r>
              <a:rPr lang="es-ES" b="1" dirty="0"/>
              <a:t> </a:t>
            </a:r>
            <a:r>
              <a:rPr lang="es-ES" b="1" i="1" dirty="0"/>
              <a:t>ensayos</a:t>
            </a:r>
            <a:r>
              <a:rPr lang="es-ES" b="1" dirty="0"/>
              <a:t> </a:t>
            </a:r>
            <a:r>
              <a:rPr lang="es-ES" b="1" i="1" dirty="0"/>
              <a:t>clínicos</a:t>
            </a:r>
            <a:r>
              <a:rPr lang="es-ES" b="1" dirty="0"/>
              <a:t> </a:t>
            </a:r>
            <a:r>
              <a:rPr lang="es-ES" dirty="0"/>
              <a:t>son estudios de este tipo: un grupo de individuos recibe un tratamiento y otro grupo actúa como </a:t>
            </a:r>
            <a:r>
              <a:rPr lang="es-ES" b="1" dirty="0"/>
              <a:t>grupo</a:t>
            </a:r>
            <a:r>
              <a:rPr lang="es-ES" dirty="0"/>
              <a:t> </a:t>
            </a:r>
            <a:r>
              <a:rPr lang="es-ES" b="1" dirty="0"/>
              <a:t>control</a:t>
            </a:r>
          </a:p>
          <a:p>
            <a:pPr marL="447675" lvl="1" indent="-266700" algn="just">
              <a:spcBef>
                <a:spcPts val="600"/>
              </a:spcBef>
              <a:buFont typeface="Arial" panose="020B0604020202020204" pitchFamily="34" charset="0"/>
              <a:buChar char="•"/>
            </a:pPr>
            <a:r>
              <a:rPr lang="es-ES" dirty="0"/>
              <a:t>La forma de planificar la experiencia es el </a:t>
            </a:r>
            <a:r>
              <a:rPr lang="es-ES" b="1" i="1" dirty="0"/>
              <a:t>Diseño</a:t>
            </a:r>
            <a:r>
              <a:rPr lang="es-ES" b="1" dirty="0"/>
              <a:t> </a:t>
            </a:r>
            <a:r>
              <a:rPr lang="es-ES" b="1" i="1" dirty="0"/>
              <a:t>experimental</a:t>
            </a:r>
            <a:r>
              <a:rPr lang="es-ES" dirty="0"/>
              <a:t>. (toda una disciplina estadística)</a:t>
            </a:r>
            <a:endParaRPr lang="es-ES" b="1" i="1" dirty="0"/>
          </a:p>
        </p:txBody>
      </p:sp>
      <p:sp>
        <p:nvSpPr>
          <p:cNvPr id="11" name="Rectangle 2"/>
          <p:cNvSpPr>
            <a:spLocks noChangeArrowheads="1"/>
          </p:cNvSpPr>
          <p:nvPr/>
        </p:nvSpPr>
        <p:spPr bwMode="auto">
          <a:xfrm>
            <a:off x="157576" y="76200"/>
            <a:ext cx="3870268"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Inferencia Estadística</a:t>
            </a:r>
            <a:r>
              <a:rPr lang="es-ES_tradnl" altLang="es-ES" sz="1400" b="1" dirty="0">
                <a:solidFill>
                  <a:srgbClr val="FF0000"/>
                </a:solidFill>
                <a:cs typeface="Times New Roman" panose="02020603050405020304" pitchFamily="18" charset="0"/>
              </a:rPr>
              <a:t>. Población y </a:t>
            </a:r>
            <a:r>
              <a:rPr lang="es-ES" altLang="es-ES" sz="1400" b="1" dirty="0">
                <a:solidFill>
                  <a:srgbClr val="FF0000"/>
                </a:solidFill>
                <a:cs typeface="Times New Roman" panose="02020603050405020304" pitchFamily="18" charset="0"/>
              </a:rPr>
              <a:t>muestra</a:t>
            </a:r>
          </a:p>
        </p:txBody>
      </p:sp>
      <p:sp>
        <p:nvSpPr>
          <p:cNvPr id="12" name="CuadroTexto 11"/>
          <p:cNvSpPr txBox="1"/>
          <p:nvPr/>
        </p:nvSpPr>
        <p:spPr>
          <a:xfrm>
            <a:off x="228600" y="940117"/>
            <a:ext cx="6705600" cy="276999"/>
          </a:xfrm>
          <a:prstGeom prst="rect">
            <a:avLst/>
          </a:prstGeom>
          <a:noFill/>
        </p:spPr>
        <p:txBody>
          <a:bodyPr wrap="square" rtlCol="0">
            <a:spAutoFit/>
          </a:bodyPr>
          <a:lstStyle/>
          <a:p>
            <a:r>
              <a:rPr lang="es-ES" dirty="0"/>
              <a:t>Dos formas de obtener la información</a:t>
            </a:r>
          </a:p>
        </p:txBody>
      </p:sp>
    </p:spTree>
    <p:extLst>
      <p:ext uri="{BB962C8B-B14F-4D97-AF65-F5344CB8AC3E}">
        <p14:creationId xmlns:p14="http://schemas.microsoft.com/office/powerpoint/2010/main" val="1426394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 name="4 Rectángulo"/>
          <p:cNvSpPr>
            <a:spLocks noChangeArrowheads="1"/>
          </p:cNvSpPr>
          <p:nvPr/>
        </p:nvSpPr>
        <p:spPr bwMode="auto">
          <a:xfrm>
            <a:off x="201161" y="86927"/>
            <a:ext cx="5596456"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La media muestral como VAC y su distribución</a:t>
            </a:r>
          </a:p>
        </p:txBody>
      </p:sp>
      <p:sp>
        <p:nvSpPr>
          <p:cNvPr id="824" name="4 Rectángulo"/>
          <p:cNvSpPr>
            <a:spLocks noChangeArrowheads="1"/>
          </p:cNvSpPr>
          <p:nvPr/>
        </p:nvSpPr>
        <p:spPr bwMode="auto">
          <a:xfrm>
            <a:off x="176588" y="360931"/>
            <a:ext cx="5596456"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800" b="1" dirty="0">
                <a:solidFill>
                  <a:srgbClr val="FF0000"/>
                </a:solidFill>
              </a:rPr>
              <a:t>Teorema del Límite Central (TLC)</a:t>
            </a:r>
          </a:p>
        </p:txBody>
      </p:sp>
      <p:sp>
        <p:nvSpPr>
          <p:cNvPr id="2" name="CuadroTexto 1"/>
          <p:cNvSpPr txBox="1"/>
          <p:nvPr/>
        </p:nvSpPr>
        <p:spPr>
          <a:xfrm>
            <a:off x="202641" y="914400"/>
            <a:ext cx="8353426" cy="800219"/>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s-ES" dirty="0"/>
              <a:t>Resultado de importancia fundamental en Inferencia Estadística</a:t>
            </a:r>
          </a:p>
          <a:p>
            <a:pPr marL="171450" indent="-171450">
              <a:spcBef>
                <a:spcPts val="600"/>
              </a:spcBef>
              <a:buFont typeface="Arial" panose="020B0604020202020204" pitchFamily="34" charset="0"/>
              <a:buChar char="•"/>
            </a:pPr>
            <a:r>
              <a:rPr lang="es-ES" dirty="0"/>
              <a:t>Justifica por qué la campana de Gauss se suele llamar distribución “</a:t>
            </a:r>
            <a:r>
              <a:rPr lang="es-ES" b="1" dirty="0"/>
              <a:t>normal</a:t>
            </a:r>
            <a:r>
              <a:rPr lang="es-ES" dirty="0"/>
              <a:t>” (en relación a su abundancia)</a:t>
            </a:r>
          </a:p>
          <a:p>
            <a:pPr marL="171450" indent="-171450">
              <a:spcBef>
                <a:spcPts val="600"/>
              </a:spcBef>
              <a:buFont typeface="Arial" panose="020B0604020202020204" pitchFamily="34" charset="0"/>
              <a:buChar char="•"/>
            </a:pPr>
            <a:r>
              <a:rPr lang="es-ES" dirty="0"/>
              <a:t>En esencia se trata de lo siguiente: </a:t>
            </a:r>
          </a:p>
        </p:txBody>
      </p:sp>
      <p:sp>
        <p:nvSpPr>
          <p:cNvPr id="827" name="CuadroTexto 826"/>
          <p:cNvSpPr txBox="1"/>
          <p:nvPr/>
        </p:nvSpPr>
        <p:spPr>
          <a:xfrm>
            <a:off x="238125" y="1866950"/>
            <a:ext cx="4191000" cy="830997"/>
          </a:xfrm>
          <a:prstGeom prst="rect">
            <a:avLst/>
          </a:prstGeom>
          <a:noFill/>
        </p:spPr>
        <p:txBody>
          <a:bodyPr wrap="square" rtlCol="0">
            <a:spAutoFit/>
          </a:bodyPr>
          <a:lstStyle/>
          <a:p>
            <a:pPr marL="228600" indent="-228600" algn="just">
              <a:spcBef>
                <a:spcPts val="600"/>
              </a:spcBef>
              <a:buFont typeface="+mj-lt"/>
              <a:buAutoNum type="arabicPeriod"/>
            </a:pPr>
            <a:r>
              <a:rPr lang="es-ES" dirty="0"/>
              <a:t>Si una variable aleatoria surge como la </a:t>
            </a:r>
            <a:r>
              <a:rPr lang="es-ES" b="1" dirty="0"/>
              <a:t>suma</a:t>
            </a:r>
            <a:r>
              <a:rPr lang="es-ES" dirty="0"/>
              <a:t> de variables aleatorias </a:t>
            </a:r>
            <a:r>
              <a:rPr lang="es-ES" b="1" dirty="0"/>
              <a:t>independientes</a:t>
            </a:r>
            <a:r>
              <a:rPr lang="es-ES" dirty="0"/>
              <a:t> de magnitud similar </a:t>
            </a:r>
            <a:r>
              <a:rPr lang="es-ES" b="1" dirty="0"/>
              <a:t>con distribución normal </a:t>
            </a:r>
            <a:r>
              <a:rPr lang="es-ES" dirty="0"/>
              <a:t>entonces el resultado también tiene </a:t>
            </a:r>
            <a:r>
              <a:rPr lang="es-ES" b="1" dirty="0"/>
              <a:t>distribución normal</a:t>
            </a:r>
          </a:p>
        </p:txBody>
      </p:sp>
      <p:sp>
        <p:nvSpPr>
          <p:cNvPr id="828" name="CuadroTexto 827"/>
          <p:cNvSpPr txBox="1"/>
          <p:nvPr/>
        </p:nvSpPr>
        <p:spPr>
          <a:xfrm>
            <a:off x="238125" y="2819400"/>
            <a:ext cx="4343400" cy="1200329"/>
          </a:xfrm>
          <a:prstGeom prst="rect">
            <a:avLst/>
          </a:prstGeom>
          <a:noFill/>
        </p:spPr>
        <p:txBody>
          <a:bodyPr wrap="square" rtlCol="0">
            <a:spAutoFit/>
          </a:bodyPr>
          <a:lstStyle/>
          <a:p>
            <a:pPr marL="228600" indent="-228600" algn="just">
              <a:spcBef>
                <a:spcPts val="600"/>
              </a:spcBef>
              <a:buFont typeface="+mj-lt"/>
              <a:buAutoNum type="arabicPeriod" startAt="2"/>
            </a:pPr>
            <a:r>
              <a:rPr lang="es-ES" dirty="0">
                <a:solidFill>
                  <a:srgbClr val="FF0000"/>
                </a:solidFill>
              </a:rPr>
              <a:t>Si una variable aleatoria surge como la </a:t>
            </a:r>
            <a:r>
              <a:rPr lang="es-ES" b="1" dirty="0">
                <a:solidFill>
                  <a:srgbClr val="FF0000"/>
                </a:solidFill>
              </a:rPr>
              <a:t>suma</a:t>
            </a:r>
            <a:r>
              <a:rPr lang="es-ES" dirty="0">
                <a:solidFill>
                  <a:srgbClr val="FF0000"/>
                </a:solidFill>
              </a:rPr>
              <a:t> de variables aleatorias </a:t>
            </a:r>
            <a:r>
              <a:rPr lang="es-ES" b="1" dirty="0">
                <a:solidFill>
                  <a:srgbClr val="FF0000"/>
                </a:solidFill>
              </a:rPr>
              <a:t>independientes</a:t>
            </a:r>
            <a:r>
              <a:rPr lang="es-ES" dirty="0">
                <a:solidFill>
                  <a:srgbClr val="FF0000"/>
                </a:solidFill>
              </a:rPr>
              <a:t> de magnitud similar con </a:t>
            </a:r>
            <a:r>
              <a:rPr lang="es-ES" b="1" dirty="0">
                <a:solidFill>
                  <a:srgbClr val="FF0000"/>
                </a:solidFill>
              </a:rPr>
              <a:t>distribución desconocida </a:t>
            </a:r>
            <a:r>
              <a:rPr lang="es-ES" dirty="0">
                <a:solidFill>
                  <a:srgbClr val="FF0000"/>
                </a:solidFill>
              </a:rPr>
              <a:t>entonces el resultado tiene distribución </a:t>
            </a:r>
            <a:r>
              <a:rPr lang="es-ES" b="1" dirty="0">
                <a:solidFill>
                  <a:srgbClr val="FF0000"/>
                </a:solidFill>
              </a:rPr>
              <a:t>aproximadamente normal</a:t>
            </a:r>
            <a:r>
              <a:rPr lang="es-ES" dirty="0">
                <a:solidFill>
                  <a:srgbClr val="FF0000"/>
                </a:solidFill>
              </a:rPr>
              <a:t> siempre que haya un número de sumandos suficientemente grande (se considera “suficiente” a partir de 60)</a:t>
            </a:r>
          </a:p>
        </p:txBody>
      </p:sp>
      <p:grpSp>
        <p:nvGrpSpPr>
          <p:cNvPr id="10" name="Grupo 9"/>
          <p:cNvGrpSpPr/>
          <p:nvPr/>
        </p:nvGrpSpPr>
        <p:grpSpPr>
          <a:xfrm>
            <a:off x="7020512" y="2802700"/>
            <a:ext cx="1358900" cy="961925"/>
            <a:chOff x="5513282" y="2646360"/>
            <a:chExt cx="1358900" cy="961925"/>
          </a:xfrm>
        </p:grpSpPr>
        <p:graphicFrame>
          <p:nvGraphicFramePr>
            <p:cNvPr id="3" name="Objeto 2"/>
            <p:cNvGraphicFramePr>
              <a:graphicFrameLocks noChangeAspect="1"/>
            </p:cNvGraphicFramePr>
            <p:nvPr>
              <p:extLst>
                <p:ext uri="{D42A27DB-BD31-4B8C-83A1-F6EECF244321}">
                  <p14:modId xmlns:p14="http://schemas.microsoft.com/office/powerpoint/2010/main" val="3874426334"/>
                </p:ext>
              </p:extLst>
            </p:nvPr>
          </p:nvGraphicFramePr>
          <p:xfrm>
            <a:off x="5513282" y="3379685"/>
            <a:ext cx="1358900" cy="228600"/>
          </p:xfrm>
          <a:graphic>
            <a:graphicData uri="http://schemas.openxmlformats.org/presentationml/2006/ole">
              <mc:AlternateContent xmlns:mc="http://schemas.openxmlformats.org/markup-compatibility/2006">
                <mc:Choice xmlns:v="urn:schemas-microsoft-com:vml" Requires="v">
                  <p:oleObj name="Equation" r:id="rId2" imgW="1358640" imgH="228600" progId="Equation.DSMT4">
                    <p:embed/>
                  </p:oleObj>
                </mc:Choice>
                <mc:Fallback>
                  <p:oleObj name="Equation" r:id="rId2" imgW="1358640" imgH="228600" progId="Equation.DSMT4">
                    <p:embed/>
                    <p:pic>
                      <p:nvPicPr>
                        <p:cNvPr id="0" name=""/>
                        <p:cNvPicPr/>
                        <p:nvPr/>
                      </p:nvPicPr>
                      <p:blipFill>
                        <a:blip r:embed="rId3"/>
                        <a:stretch>
                          <a:fillRect/>
                        </a:stretch>
                      </p:blipFill>
                      <p:spPr>
                        <a:xfrm>
                          <a:off x="5513282" y="3379685"/>
                          <a:ext cx="1358900" cy="228600"/>
                        </a:xfrm>
                        <a:prstGeom prst="rect">
                          <a:avLst/>
                        </a:prstGeom>
                      </p:spPr>
                    </p:pic>
                  </p:oleObj>
                </mc:Fallback>
              </mc:AlternateContent>
            </a:graphicData>
          </a:graphic>
        </p:graphicFrame>
        <p:pic>
          <p:nvPicPr>
            <p:cNvPr id="8322" name="Picture 130" descr="C:\Users\Pedro\AppData\Local\Temp\SNAGHTML5ead5ab.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38800" y="2646360"/>
              <a:ext cx="1233382" cy="704790"/>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840" name="Objeto 839"/>
          <p:cNvGraphicFramePr>
            <a:graphicFrameLocks noChangeAspect="1"/>
          </p:cNvGraphicFramePr>
          <p:nvPr>
            <p:extLst>
              <p:ext uri="{D42A27DB-BD31-4B8C-83A1-F6EECF244321}">
                <p14:modId xmlns:p14="http://schemas.microsoft.com/office/powerpoint/2010/main" val="1566699957"/>
              </p:ext>
            </p:extLst>
          </p:nvPr>
        </p:nvGraphicFramePr>
        <p:xfrm>
          <a:off x="6968710" y="2602575"/>
          <a:ext cx="1282700" cy="228600"/>
        </p:xfrm>
        <a:graphic>
          <a:graphicData uri="http://schemas.openxmlformats.org/presentationml/2006/ole">
            <mc:AlternateContent xmlns:mc="http://schemas.openxmlformats.org/markup-compatibility/2006">
              <mc:Choice xmlns:v="urn:schemas-microsoft-com:vml" Requires="v">
                <p:oleObj name="Equation" r:id="rId5" imgW="1282680" imgH="228600" progId="Equation.DSMT4">
                  <p:embed/>
                </p:oleObj>
              </mc:Choice>
              <mc:Fallback>
                <p:oleObj name="Equation" r:id="rId5" imgW="1282680" imgH="228600" progId="Equation.DSMT4">
                  <p:embed/>
                  <p:pic>
                    <p:nvPicPr>
                      <p:cNvPr id="3" name="Objeto 2"/>
                      <p:cNvPicPr/>
                      <p:nvPr/>
                    </p:nvPicPr>
                    <p:blipFill>
                      <a:blip r:embed="rId6"/>
                      <a:stretch>
                        <a:fillRect/>
                      </a:stretch>
                    </p:blipFill>
                    <p:spPr>
                      <a:xfrm>
                        <a:off x="6968710" y="2602575"/>
                        <a:ext cx="1282700" cy="228600"/>
                      </a:xfrm>
                      <a:prstGeom prst="rect">
                        <a:avLst/>
                      </a:prstGeom>
                    </p:spPr>
                  </p:pic>
                </p:oleObj>
              </mc:Fallback>
            </mc:AlternateContent>
          </a:graphicData>
        </a:graphic>
      </p:graphicFrame>
      <p:grpSp>
        <p:nvGrpSpPr>
          <p:cNvPr id="14" name="Grupo 13"/>
          <p:cNvGrpSpPr/>
          <p:nvPr/>
        </p:nvGrpSpPr>
        <p:grpSpPr>
          <a:xfrm>
            <a:off x="5426076" y="2040308"/>
            <a:ext cx="1003300" cy="1733842"/>
            <a:chOff x="5105400" y="1999958"/>
            <a:chExt cx="1003300" cy="1733842"/>
          </a:xfrm>
        </p:grpSpPr>
        <p:graphicFrame>
          <p:nvGraphicFramePr>
            <p:cNvPr id="11" name="Objeto 10"/>
            <p:cNvGraphicFramePr>
              <a:graphicFrameLocks noChangeAspect="1"/>
            </p:cNvGraphicFramePr>
            <p:nvPr>
              <p:extLst>
                <p:ext uri="{D42A27DB-BD31-4B8C-83A1-F6EECF244321}">
                  <p14:modId xmlns:p14="http://schemas.microsoft.com/office/powerpoint/2010/main" val="672527536"/>
                </p:ext>
              </p:extLst>
            </p:nvPr>
          </p:nvGraphicFramePr>
          <p:xfrm>
            <a:off x="5105400" y="2336800"/>
            <a:ext cx="1003300" cy="254000"/>
          </p:xfrm>
          <a:graphic>
            <a:graphicData uri="http://schemas.openxmlformats.org/presentationml/2006/ole">
              <mc:AlternateContent xmlns:mc="http://schemas.openxmlformats.org/markup-compatibility/2006">
                <mc:Choice xmlns:v="urn:schemas-microsoft-com:vml" Requires="v">
                  <p:oleObj name="Equation" r:id="rId7" imgW="1002960" imgH="253800" progId="Equation.DSMT4">
                    <p:embed/>
                  </p:oleObj>
                </mc:Choice>
                <mc:Fallback>
                  <p:oleObj name="Equation" r:id="rId7" imgW="1002960" imgH="253800" progId="Equation.DSMT4">
                    <p:embed/>
                    <p:pic>
                      <p:nvPicPr>
                        <p:cNvPr id="0" name=""/>
                        <p:cNvPicPr/>
                        <p:nvPr/>
                      </p:nvPicPr>
                      <p:blipFill>
                        <a:blip r:embed="rId8"/>
                        <a:stretch>
                          <a:fillRect/>
                        </a:stretch>
                      </p:blipFill>
                      <p:spPr>
                        <a:xfrm>
                          <a:off x="5105400" y="2336800"/>
                          <a:ext cx="1003300" cy="254000"/>
                        </a:xfrm>
                        <a:prstGeom prst="rect">
                          <a:avLst/>
                        </a:prstGeom>
                      </p:spPr>
                    </p:pic>
                  </p:oleObj>
                </mc:Fallback>
              </mc:AlternateContent>
            </a:graphicData>
          </a:graphic>
        </p:graphicFrame>
        <p:graphicFrame>
          <p:nvGraphicFramePr>
            <p:cNvPr id="844" name="Objeto 843"/>
            <p:cNvGraphicFramePr>
              <a:graphicFrameLocks noChangeAspect="1"/>
            </p:cNvGraphicFramePr>
            <p:nvPr>
              <p:extLst>
                <p:ext uri="{D42A27DB-BD31-4B8C-83A1-F6EECF244321}">
                  <p14:modId xmlns:p14="http://schemas.microsoft.com/office/powerpoint/2010/main" val="1994626794"/>
                </p:ext>
              </p:extLst>
            </p:nvPr>
          </p:nvGraphicFramePr>
          <p:xfrm>
            <a:off x="5105400" y="3479800"/>
            <a:ext cx="1003300" cy="254000"/>
          </p:xfrm>
          <a:graphic>
            <a:graphicData uri="http://schemas.openxmlformats.org/presentationml/2006/ole">
              <mc:AlternateContent xmlns:mc="http://schemas.openxmlformats.org/markup-compatibility/2006">
                <mc:Choice xmlns:v="urn:schemas-microsoft-com:vml" Requires="v">
                  <p:oleObj name="Equation" r:id="rId9" imgW="1002960" imgH="253800" progId="Equation.DSMT4">
                    <p:embed/>
                  </p:oleObj>
                </mc:Choice>
                <mc:Fallback>
                  <p:oleObj name="Equation" r:id="rId9" imgW="1002960" imgH="253800" progId="Equation.DSMT4">
                    <p:embed/>
                    <p:pic>
                      <p:nvPicPr>
                        <p:cNvPr id="11" name="Objeto 10"/>
                        <p:cNvPicPr/>
                        <p:nvPr/>
                      </p:nvPicPr>
                      <p:blipFill>
                        <a:blip r:embed="rId8"/>
                        <a:stretch>
                          <a:fillRect/>
                        </a:stretch>
                      </p:blipFill>
                      <p:spPr>
                        <a:xfrm>
                          <a:off x="5105400" y="3479800"/>
                          <a:ext cx="1003300" cy="254000"/>
                        </a:xfrm>
                        <a:prstGeom prst="rect">
                          <a:avLst/>
                        </a:prstGeom>
                      </p:spPr>
                    </p:pic>
                  </p:oleObj>
                </mc:Fallback>
              </mc:AlternateContent>
            </a:graphicData>
          </a:graphic>
        </p:graphicFrame>
        <p:sp>
          <p:nvSpPr>
            <p:cNvPr id="12" name="CuadroTexto 11"/>
            <p:cNvSpPr txBox="1"/>
            <p:nvPr/>
          </p:nvSpPr>
          <p:spPr>
            <a:xfrm>
              <a:off x="5446589" y="1999958"/>
              <a:ext cx="320922" cy="276999"/>
            </a:xfrm>
            <a:prstGeom prst="rect">
              <a:avLst/>
            </a:prstGeom>
            <a:noFill/>
          </p:spPr>
          <p:txBody>
            <a:bodyPr wrap="none" rtlCol="0">
              <a:spAutoFit/>
            </a:bodyPr>
            <a:lstStyle/>
            <a:p>
              <a:r>
                <a:rPr lang="es-ES" dirty="0"/>
                <a:t>Si</a:t>
              </a:r>
            </a:p>
          </p:txBody>
        </p:sp>
        <p:sp>
          <p:nvSpPr>
            <p:cNvPr id="847" name="CuadroTexto 846"/>
            <p:cNvSpPr txBox="1"/>
            <p:nvPr/>
          </p:nvSpPr>
          <p:spPr>
            <a:xfrm>
              <a:off x="5203735" y="2821970"/>
              <a:ext cx="806631" cy="276999"/>
            </a:xfrm>
            <a:prstGeom prst="rect">
              <a:avLst/>
            </a:prstGeom>
            <a:noFill/>
          </p:spPr>
          <p:txBody>
            <a:bodyPr wrap="none" rtlCol="0">
              <a:spAutoFit/>
            </a:bodyPr>
            <a:lstStyle/>
            <a:p>
              <a:r>
                <a:rPr lang="es-ES" dirty="0"/>
                <a:t>entonces</a:t>
              </a:r>
            </a:p>
          </p:txBody>
        </p:sp>
      </p:grpSp>
      <p:sp>
        <p:nvSpPr>
          <p:cNvPr id="849" name="AutoShape 44"/>
          <p:cNvSpPr>
            <a:spLocks noChangeArrowheads="1"/>
          </p:cNvSpPr>
          <p:nvPr/>
        </p:nvSpPr>
        <p:spPr bwMode="auto">
          <a:xfrm>
            <a:off x="4960976" y="1661960"/>
            <a:ext cx="3899941" cy="2215774"/>
          </a:xfrm>
          <a:prstGeom prst="roundRect">
            <a:avLst>
              <a:gd name="adj" fmla="val 369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graphicFrame>
        <p:nvGraphicFramePr>
          <p:cNvPr id="862" name="Objeto 861"/>
          <p:cNvGraphicFramePr>
            <a:graphicFrameLocks noChangeAspect="1"/>
          </p:cNvGraphicFramePr>
          <p:nvPr>
            <p:extLst>
              <p:ext uri="{D42A27DB-BD31-4B8C-83A1-F6EECF244321}">
                <p14:modId xmlns:p14="http://schemas.microsoft.com/office/powerpoint/2010/main" val="3874426334"/>
              </p:ext>
            </p:extLst>
          </p:nvPr>
        </p:nvGraphicFramePr>
        <p:xfrm>
          <a:off x="6991937" y="5935991"/>
          <a:ext cx="1358900" cy="228600"/>
        </p:xfrm>
        <a:graphic>
          <a:graphicData uri="http://schemas.openxmlformats.org/presentationml/2006/ole">
            <mc:AlternateContent xmlns:mc="http://schemas.openxmlformats.org/markup-compatibility/2006">
              <mc:Choice xmlns:v="urn:schemas-microsoft-com:vml" Requires="v">
                <p:oleObj name="Equation" r:id="rId10" imgW="1358640" imgH="228600" progId="Equation.DSMT4">
                  <p:embed/>
                </p:oleObj>
              </mc:Choice>
              <mc:Fallback>
                <p:oleObj name="Equation" r:id="rId10" imgW="1358640" imgH="228600" progId="Equation.DSMT4">
                  <p:embed/>
                  <p:pic>
                    <p:nvPicPr>
                      <p:cNvPr id="3" name="Objeto 2"/>
                      <p:cNvPicPr/>
                      <p:nvPr/>
                    </p:nvPicPr>
                    <p:blipFill>
                      <a:blip r:embed="rId3"/>
                      <a:stretch>
                        <a:fillRect/>
                      </a:stretch>
                    </p:blipFill>
                    <p:spPr>
                      <a:xfrm>
                        <a:off x="6991937" y="5935991"/>
                        <a:ext cx="1358900" cy="228600"/>
                      </a:xfrm>
                      <a:prstGeom prst="rect">
                        <a:avLst/>
                      </a:prstGeom>
                    </p:spPr>
                  </p:pic>
                </p:oleObj>
              </mc:Fallback>
            </mc:AlternateContent>
          </a:graphicData>
        </a:graphic>
      </p:graphicFrame>
      <p:pic>
        <p:nvPicPr>
          <p:cNvPr id="863" name="Picture 130" descr="C:\Users\Pedro\AppData\Local\Temp\SNAGHTML5ead5ab.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7455" y="5202666"/>
            <a:ext cx="1233382" cy="70479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61" name="Objeto 860"/>
          <p:cNvGraphicFramePr>
            <a:graphicFrameLocks noChangeAspect="1"/>
          </p:cNvGraphicFramePr>
          <p:nvPr>
            <p:extLst>
              <p:ext uri="{D42A27DB-BD31-4B8C-83A1-F6EECF244321}">
                <p14:modId xmlns:p14="http://schemas.microsoft.com/office/powerpoint/2010/main" val="1566699957"/>
              </p:ext>
            </p:extLst>
          </p:nvPr>
        </p:nvGraphicFramePr>
        <p:xfrm>
          <a:off x="6940135" y="5002541"/>
          <a:ext cx="1282700" cy="228600"/>
        </p:xfrm>
        <a:graphic>
          <a:graphicData uri="http://schemas.openxmlformats.org/presentationml/2006/ole">
            <mc:AlternateContent xmlns:mc="http://schemas.openxmlformats.org/markup-compatibility/2006">
              <mc:Choice xmlns:v="urn:schemas-microsoft-com:vml" Requires="v">
                <p:oleObj name="Equation" r:id="rId11" imgW="1282680" imgH="228600" progId="Equation.DSMT4">
                  <p:embed/>
                </p:oleObj>
              </mc:Choice>
              <mc:Fallback>
                <p:oleObj name="Equation" r:id="rId11" imgW="1282680" imgH="228600" progId="Equation.DSMT4">
                  <p:embed/>
                  <p:pic>
                    <p:nvPicPr>
                      <p:cNvPr id="840" name="Objeto 839"/>
                      <p:cNvPicPr/>
                      <p:nvPr/>
                    </p:nvPicPr>
                    <p:blipFill>
                      <a:blip r:embed="rId6"/>
                      <a:stretch>
                        <a:fillRect/>
                      </a:stretch>
                    </p:blipFill>
                    <p:spPr>
                      <a:xfrm>
                        <a:off x="6940135" y="5002541"/>
                        <a:ext cx="1282700" cy="228600"/>
                      </a:xfrm>
                      <a:prstGeom prst="rect">
                        <a:avLst/>
                      </a:prstGeom>
                    </p:spPr>
                  </p:pic>
                </p:oleObj>
              </mc:Fallback>
            </mc:AlternateContent>
          </a:graphicData>
        </a:graphic>
      </p:graphicFrame>
      <p:sp>
        <p:nvSpPr>
          <p:cNvPr id="855" name="AutoShape 44"/>
          <p:cNvSpPr>
            <a:spLocks noChangeArrowheads="1"/>
          </p:cNvSpPr>
          <p:nvPr/>
        </p:nvSpPr>
        <p:spPr bwMode="auto">
          <a:xfrm>
            <a:off x="4953000" y="3930393"/>
            <a:ext cx="3899941" cy="2396915"/>
          </a:xfrm>
          <a:prstGeom prst="roundRect">
            <a:avLst>
              <a:gd name="adj" fmla="val 369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grpSp>
        <p:nvGrpSpPr>
          <p:cNvPr id="17" name="Grupo 16"/>
          <p:cNvGrpSpPr/>
          <p:nvPr/>
        </p:nvGrpSpPr>
        <p:grpSpPr>
          <a:xfrm>
            <a:off x="5246688" y="4418049"/>
            <a:ext cx="1422400" cy="1754151"/>
            <a:chOff x="5246688" y="4440274"/>
            <a:chExt cx="1422400" cy="1754151"/>
          </a:xfrm>
        </p:grpSpPr>
        <p:graphicFrame>
          <p:nvGraphicFramePr>
            <p:cNvPr id="856" name="Objeto 855"/>
            <p:cNvGraphicFramePr>
              <a:graphicFrameLocks noChangeAspect="1"/>
            </p:cNvGraphicFramePr>
            <p:nvPr>
              <p:extLst>
                <p:ext uri="{D42A27DB-BD31-4B8C-83A1-F6EECF244321}">
                  <p14:modId xmlns:p14="http://schemas.microsoft.com/office/powerpoint/2010/main" val="3651788315"/>
                </p:ext>
              </p:extLst>
            </p:nvPr>
          </p:nvGraphicFramePr>
          <p:xfrm>
            <a:off x="5685028" y="4769824"/>
            <a:ext cx="546100" cy="228600"/>
          </p:xfrm>
          <a:graphic>
            <a:graphicData uri="http://schemas.openxmlformats.org/presentationml/2006/ole">
              <mc:AlternateContent xmlns:mc="http://schemas.openxmlformats.org/markup-compatibility/2006">
                <mc:Choice xmlns:v="urn:schemas-microsoft-com:vml" Requires="v">
                  <p:oleObj name="Equation" r:id="rId12" imgW="545760" imgH="228600" progId="Equation.DSMT4">
                    <p:embed/>
                  </p:oleObj>
                </mc:Choice>
                <mc:Fallback>
                  <p:oleObj name="Equation" r:id="rId12" imgW="545760" imgH="228600" progId="Equation.DSMT4">
                    <p:embed/>
                    <p:pic>
                      <p:nvPicPr>
                        <p:cNvPr id="11" name="Objeto 10"/>
                        <p:cNvPicPr/>
                        <p:nvPr/>
                      </p:nvPicPr>
                      <p:blipFill>
                        <a:blip r:embed="rId13"/>
                        <a:stretch>
                          <a:fillRect/>
                        </a:stretch>
                      </p:blipFill>
                      <p:spPr>
                        <a:xfrm>
                          <a:off x="5685028" y="4769824"/>
                          <a:ext cx="546100" cy="228600"/>
                        </a:xfrm>
                        <a:prstGeom prst="rect">
                          <a:avLst/>
                        </a:prstGeom>
                      </p:spPr>
                    </p:pic>
                  </p:oleObj>
                </mc:Fallback>
              </mc:AlternateContent>
            </a:graphicData>
          </a:graphic>
        </p:graphicFrame>
        <p:graphicFrame>
          <p:nvGraphicFramePr>
            <p:cNvPr id="857" name="Objeto 856"/>
            <p:cNvGraphicFramePr>
              <a:graphicFrameLocks noChangeAspect="1"/>
            </p:cNvGraphicFramePr>
            <p:nvPr>
              <p:extLst>
                <p:ext uri="{D42A27DB-BD31-4B8C-83A1-F6EECF244321}">
                  <p14:modId xmlns:p14="http://schemas.microsoft.com/office/powerpoint/2010/main" val="607932636"/>
                </p:ext>
              </p:extLst>
            </p:nvPr>
          </p:nvGraphicFramePr>
          <p:xfrm>
            <a:off x="5246688" y="5341938"/>
            <a:ext cx="1422400" cy="330200"/>
          </p:xfrm>
          <a:graphic>
            <a:graphicData uri="http://schemas.openxmlformats.org/presentationml/2006/ole">
              <mc:AlternateContent xmlns:mc="http://schemas.openxmlformats.org/markup-compatibility/2006">
                <mc:Choice xmlns:v="urn:schemas-microsoft-com:vml" Requires="v">
                  <p:oleObj name="Equation" r:id="rId14" imgW="1422360" imgH="330120" progId="Equation.DSMT4">
                    <p:embed/>
                  </p:oleObj>
                </mc:Choice>
                <mc:Fallback>
                  <p:oleObj name="Equation" r:id="rId14" imgW="1422360" imgH="330120" progId="Equation.DSMT4">
                    <p:embed/>
                    <p:pic>
                      <p:nvPicPr>
                        <p:cNvPr id="844" name="Objeto 843"/>
                        <p:cNvPicPr/>
                        <p:nvPr/>
                      </p:nvPicPr>
                      <p:blipFill>
                        <a:blip r:embed="rId15"/>
                        <a:stretch>
                          <a:fillRect/>
                        </a:stretch>
                      </p:blipFill>
                      <p:spPr>
                        <a:xfrm>
                          <a:off x="5246688" y="5341938"/>
                          <a:ext cx="1422400" cy="330200"/>
                        </a:xfrm>
                        <a:prstGeom prst="rect">
                          <a:avLst/>
                        </a:prstGeom>
                      </p:spPr>
                    </p:pic>
                  </p:oleObj>
                </mc:Fallback>
              </mc:AlternateContent>
            </a:graphicData>
          </a:graphic>
        </p:graphicFrame>
        <p:sp>
          <p:nvSpPr>
            <p:cNvPr id="858" name="CuadroTexto 857"/>
            <p:cNvSpPr txBox="1"/>
            <p:nvPr/>
          </p:nvSpPr>
          <p:spPr>
            <a:xfrm>
              <a:off x="5797617" y="4440274"/>
              <a:ext cx="320922" cy="276999"/>
            </a:xfrm>
            <a:prstGeom prst="rect">
              <a:avLst/>
            </a:prstGeom>
            <a:noFill/>
          </p:spPr>
          <p:txBody>
            <a:bodyPr wrap="none" rtlCol="0">
              <a:spAutoFit/>
            </a:bodyPr>
            <a:lstStyle/>
            <a:p>
              <a:r>
                <a:rPr lang="es-ES" dirty="0"/>
                <a:t>Si</a:t>
              </a:r>
            </a:p>
          </p:txBody>
        </p:sp>
        <p:sp>
          <p:nvSpPr>
            <p:cNvPr id="859" name="CuadroTexto 858"/>
            <p:cNvSpPr txBox="1"/>
            <p:nvPr/>
          </p:nvSpPr>
          <p:spPr>
            <a:xfrm>
              <a:off x="5554763" y="5050975"/>
              <a:ext cx="806631" cy="276999"/>
            </a:xfrm>
            <a:prstGeom prst="rect">
              <a:avLst/>
            </a:prstGeom>
            <a:noFill/>
          </p:spPr>
          <p:txBody>
            <a:bodyPr wrap="none" rtlCol="0">
              <a:spAutoFit/>
            </a:bodyPr>
            <a:lstStyle/>
            <a:p>
              <a:r>
                <a:rPr lang="es-ES" dirty="0"/>
                <a:t>entonces</a:t>
              </a:r>
            </a:p>
          </p:txBody>
        </p:sp>
        <p:sp>
          <p:nvSpPr>
            <p:cNvPr id="870" name="CuadroTexto 869"/>
            <p:cNvSpPr txBox="1"/>
            <p:nvPr/>
          </p:nvSpPr>
          <p:spPr>
            <a:xfrm>
              <a:off x="5264619" y="5687076"/>
              <a:ext cx="1386918" cy="276999"/>
            </a:xfrm>
            <a:prstGeom prst="rect">
              <a:avLst/>
            </a:prstGeom>
            <a:noFill/>
          </p:spPr>
          <p:txBody>
            <a:bodyPr wrap="none" rtlCol="0">
              <a:spAutoFit/>
            </a:bodyPr>
            <a:lstStyle/>
            <a:p>
              <a:r>
                <a:rPr lang="es-ES" dirty="0"/>
                <a:t>Siempre que sea </a:t>
              </a:r>
            </a:p>
          </p:txBody>
        </p:sp>
        <p:graphicFrame>
          <p:nvGraphicFramePr>
            <p:cNvPr id="869" name="Objeto 868"/>
            <p:cNvGraphicFramePr>
              <a:graphicFrameLocks noChangeAspect="1"/>
            </p:cNvGraphicFramePr>
            <p:nvPr>
              <p:extLst>
                <p:ext uri="{D42A27DB-BD31-4B8C-83A1-F6EECF244321}">
                  <p14:modId xmlns:p14="http://schemas.microsoft.com/office/powerpoint/2010/main" val="930227499"/>
                </p:ext>
              </p:extLst>
            </p:nvPr>
          </p:nvGraphicFramePr>
          <p:xfrm>
            <a:off x="5742178" y="6016625"/>
            <a:ext cx="431800" cy="177800"/>
          </p:xfrm>
          <a:graphic>
            <a:graphicData uri="http://schemas.openxmlformats.org/presentationml/2006/ole">
              <mc:AlternateContent xmlns:mc="http://schemas.openxmlformats.org/markup-compatibility/2006">
                <mc:Choice xmlns:v="urn:schemas-microsoft-com:vml" Requires="v">
                  <p:oleObj name="Equation" r:id="rId16" imgW="431640" imgH="177480" progId="Equation.DSMT4">
                    <p:embed/>
                  </p:oleObj>
                </mc:Choice>
                <mc:Fallback>
                  <p:oleObj name="Equation" r:id="rId16" imgW="431640" imgH="177480" progId="Equation.DSMT4">
                    <p:embed/>
                    <p:pic>
                      <p:nvPicPr>
                        <p:cNvPr id="857" name="Objeto 856"/>
                        <p:cNvPicPr/>
                        <p:nvPr/>
                      </p:nvPicPr>
                      <p:blipFill>
                        <a:blip r:embed="rId17"/>
                        <a:stretch>
                          <a:fillRect/>
                        </a:stretch>
                      </p:blipFill>
                      <p:spPr>
                        <a:xfrm>
                          <a:off x="5742178" y="6016625"/>
                          <a:ext cx="431800" cy="177800"/>
                        </a:xfrm>
                        <a:prstGeom prst="rect">
                          <a:avLst/>
                        </a:prstGeom>
                      </p:spPr>
                    </p:pic>
                  </p:oleObj>
                </mc:Fallback>
              </mc:AlternateContent>
            </a:graphicData>
          </a:graphic>
        </p:graphicFrame>
      </p:grpSp>
      <p:sp>
        <p:nvSpPr>
          <p:cNvPr id="18" name="CuadroTexto 17"/>
          <p:cNvSpPr txBox="1"/>
          <p:nvPr/>
        </p:nvSpPr>
        <p:spPr>
          <a:xfrm>
            <a:off x="5052302" y="1714619"/>
            <a:ext cx="226347" cy="278377"/>
          </a:xfrm>
          <a:prstGeom prst="rect">
            <a:avLst/>
          </a:prstGeom>
          <a:noFill/>
        </p:spPr>
        <p:txBody>
          <a:bodyPr wrap="square" rtlCol="0">
            <a:spAutoFit/>
          </a:bodyPr>
          <a:lstStyle/>
          <a:p>
            <a:pPr algn="ctr"/>
            <a:r>
              <a:rPr lang="es-ES" dirty="0"/>
              <a:t>1</a:t>
            </a:r>
          </a:p>
        </p:txBody>
      </p:sp>
      <p:sp>
        <p:nvSpPr>
          <p:cNvPr id="873" name="CuadroTexto 872"/>
          <p:cNvSpPr txBox="1"/>
          <p:nvPr/>
        </p:nvSpPr>
        <p:spPr>
          <a:xfrm>
            <a:off x="5030662" y="4203776"/>
            <a:ext cx="269626" cy="276999"/>
          </a:xfrm>
          <a:prstGeom prst="rect">
            <a:avLst/>
          </a:prstGeom>
          <a:noFill/>
        </p:spPr>
        <p:txBody>
          <a:bodyPr wrap="none" rtlCol="0">
            <a:spAutoFit/>
          </a:bodyPr>
          <a:lstStyle/>
          <a:p>
            <a:pPr algn="ctr"/>
            <a:r>
              <a:rPr lang="es-ES" dirty="0"/>
              <a:t>2</a:t>
            </a:r>
          </a:p>
        </p:txBody>
      </p:sp>
      <p:sp>
        <p:nvSpPr>
          <p:cNvPr id="874" name="CuadroTexto 873"/>
          <p:cNvSpPr txBox="1"/>
          <p:nvPr/>
        </p:nvSpPr>
        <p:spPr>
          <a:xfrm>
            <a:off x="238125" y="4402376"/>
            <a:ext cx="4343400" cy="1723549"/>
          </a:xfrm>
          <a:prstGeom prst="rect">
            <a:avLst/>
          </a:prstGeom>
          <a:noFill/>
        </p:spPr>
        <p:txBody>
          <a:bodyPr wrap="square" rtlCol="0">
            <a:spAutoFit/>
          </a:bodyPr>
          <a:lstStyle/>
          <a:p>
            <a:pPr algn="just">
              <a:spcBef>
                <a:spcPts val="600"/>
              </a:spcBef>
            </a:pPr>
            <a:r>
              <a:rPr lang="es-ES" dirty="0">
                <a:solidFill>
                  <a:srgbClr val="2A5B60"/>
                </a:solidFill>
              </a:rPr>
              <a:t>En la naturaleza muchas variables toman valores que son la suma de muchos factores</a:t>
            </a:r>
          </a:p>
          <a:p>
            <a:pPr marL="171450" indent="-171450" algn="just">
              <a:spcBef>
                <a:spcPts val="600"/>
              </a:spcBef>
              <a:buFontTx/>
              <a:buChar char="-"/>
            </a:pPr>
            <a:r>
              <a:rPr lang="es-ES" dirty="0">
                <a:solidFill>
                  <a:srgbClr val="2A5B60"/>
                </a:solidFill>
              </a:rPr>
              <a:t>Los errores de medida son suma de muchos factores, se consideran normales</a:t>
            </a:r>
          </a:p>
          <a:p>
            <a:pPr marL="171450" indent="-171450" algn="just">
              <a:spcBef>
                <a:spcPts val="600"/>
              </a:spcBef>
              <a:buFontTx/>
              <a:buChar char="-"/>
            </a:pPr>
            <a:r>
              <a:rPr lang="es-ES" dirty="0">
                <a:solidFill>
                  <a:srgbClr val="2A5B60"/>
                </a:solidFill>
              </a:rPr>
              <a:t>Las variables fisiológicas (en individuos sanos) toman valores que son fruto de la suma de muchos factores (herencia, dieta, modo de vida,…), se suele considerar que estas variables tienen distribución normal</a:t>
            </a:r>
          </a:p>
        </p:txBody>
      </p:sp>
      <p:graphicFrame>
        <p:nvGraphicFramePr>
          <p:cNvPr id="875" name="Objeto 874"/>
          <p:cNvGraphicFramePr>
            <a:graphicFrameLocks noChangeAspect="1"/>
          </p:cNvGraphicFramePr>
          <p:nvPr>
            <p:extLst>
              <p:ext uri="{D42A27DB-BD31-4B8C-83A1-F6EECF244321}">
                <p14:modId xmlns:p14="http://schemas.microsoft.com/office/powerpoint/2010/main" val="3331581671"/>
              </p:ext>
            </p:extLst>
          </p:nvPr>
        </p:nvGraphicFramePr>
        <p:xfrm>
          <a:off x="7530946" y="5744157"/>
          <a:ext cx="406400" cy="165100"/>
        </p:xfrm>
        <a:graphic>
          <a:graphicData uri="http://schemas.openxmlformats.org/presentationml/2006/ole">
            <mc:AlternateContent xmlns:mc="http://schemas.openxmlformats.org/markup-compatibility/2006">
              <mc:Choice xmlns:v="urn:schemas-microsoft-com:vml" Requires="v">
                <p:oleObj name="Equation" r:id="rId18" imgW="406080" imgH="164880" progId="Equation.DSMT4">
                  <p:embed/>
                </p:oleObj>
              </mc:Choice>
              <mc:Fallback>
                <p:oleObj name="Equation" r:id="rId18" imgW="406080" imgH="164880" progId="Equation.DSMT4">
                  <p:embed/>
                  <p:pic>
                    <p:nvPicPr>
                      <p:cNvPr id="869" name="Objeto 868"/>
                      <p:cNvPicPr/>
                      <p:nvPr/>
                    </p:nvPicPr>
                    <p:blipFill>
                      <a:blip r:embed="rId19"/>
                      <a:stretch>
                        <a:fillRect/>
                      </a:stretch>
                    </p:blipFill>
                    <p:spPr>
                      <a:xfrm>
                        <a:off x="7530946" y="5744157"/>
                        <a:ext cx="406400" cy="165100"/>
                      </a:xfrm>
                      <a:prstGeom prst="rect">
                        <a:avLst/>
                      </a:prstGeom>
                    </p:spPr>
                  </p:pic>
                </p:oleObj>
              </mc:Fallback>
            </mc:AlternateContent>
          </a:graphicData>
        </a:graphic>
      </p:graphicFrame>
      <p:sp>
        <p:nvSpPr>
          <p:cNvPr id="6" name="Flecha: hacia abajo 5"/>
          <p:cNvSpPr/>
          <p:nvPr/>
        </p:nvSpPr>
        <p:spPr>
          <a:xfrm>
            <a:off x="7055415" y="2977940"/>
            <a:ext cx="92895" cy="190401"/>
          </a:xfrm>
          <a:prstGeom prst="downArrow">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5" name="Flecha: hacia abajo 54"/>
          <p:cNvSpPr/>
          <p:nvPr/>
        </p:nvSpPr>
        <p:spPr>
          <a:xfrm>
            <a:off x="7008967" y="5417743"/>
            <a:ext cx="92895" cy="190401"/>
          </a:xfrm>
          <a:prstGeom prst="downArrow">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66" name="Grupo 65"/>
          <p:cNvGrpSpPr/>
          <p:nvPr/>
        </p:nvGrpSpPr>
        <p:grpSpPr>
          <a:xfrm>
            <a:off x="6762387" y="3986130"/>
            <a:ext cx="1943518" cy="983068"/>
            <a:chOff x="1828800" y="1219200"/>
            <a:chExt cx="2514600" cy="1371601"/>
          </a:xfrm>
        </p:grpSpPr>
        <p:pic>
          <p:nvPicPr>
            <p:cNvPr id="67" name="Picture 6" descr="C:\Users\Pc\AppData\Local\Temp\SNAGHTML96fdde.PNG"/>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2057401" y="1219200"/>
              <a:ext cx="1941388" cy="1347538"/>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8" descr="C:\Users\Pc\AppData\Local\Temp\SNAGHTMLb0e1fb.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2057400" y="1589020"/>
              <a:ext cx="1528154" cy="1001781"/>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0" descr="C:\Users\Pc\AppData\Local\Temp\SNAGHTMLb7d3a1.PNG"/>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057400" y="1219200"/>
              <a:ext cx="1528154" cy="1371601"/>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4" descr="C:\Users\Pc\AppData\Local\Temp\SNAGHTMLb937b5.PNG"/>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2033337" y="1828800"/>
              <a:ext cx="1941388" cy="762001"/>
            </a:xfrm>
            <a:prstGeom prst="rect">
              <a:avLst/>
            </a:prstGeom>
            <a:noFill/>
            <a:extLst>
              <a:ext uri="{909E8E84-426E-40DD-AFC4-6F175D3DCCD1}">
                <a14:hiddenFill xmlns:a14="http://schemas.microsoft.com/office/drawing/2010/main">
                  <a:solidFill>
                    <a:srgbClr val="FFFFFF"/>
                  </a:solidFill>
                </a14:hiddenFill>
              </a:ext>
            </a:extLst>
          </p:spPr>
        </p:pic>
        <p:cxnSp>
          <p:nvCxnSpPr>
            <p:cNvPr id="71" name="Conector recto 70"/>
            <p:cNvCxnSpPr/>
            <p:nvPr/>
          </p:nvCxnSpPr>
          <p:spPr>
            <a:xfrm>
              <a:off x="1828800" y="2590801"/>
              <a:ext cx="2514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upo 42"/>
          <p:cNvGrpSpPr/>
          <p:nvPr/>
        </p:nvGrpSpPr>
        <p:grpSpPr>
          <a:xfrm>
            <a:off x="6431087" y="1823745"/>
            <a:ext cx="2121723" cy="681110"/>
            <a:chOff x="2266950" y="2133600"/>
            <a:chExt cx="3143250" cy="1220166"/>
          </a:xfrm>
        </p:grpSpPr>
        <p:grpSp>
          <p:nvGrpSpPr>
            <p:cNvPr id="44" name="Grupo 43"/>
            <p:cNvGrpSpPr/>
            <p:nvPr/>
          </p:nvGrpSpPr>
          <p:grpSpPr>
            <a:xfrm>
              <a:off x="2266950" y="2133600"/>
              <a:ext cx="3067050" cy="1220166"/>
              <a:chOff x="2266950" y="2133600"/>
              <a:chExt cx="3067050" cy="1220166"/>
            </a:xfrm>
          </p:grpSpPr>
          <p:pic>
            <p:nvPicPr>
              <p:cNvPr id="46" name="Picture 2" descr="C:\Users\Pc\AppData\Local\Temp\SNAGHTMLd88c18.PNG"/>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3505200" y="2133600"/>
                <a:ext cx="1828800" cy="122016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C:\Users\Pc\AppData\Local\Temp\SNAGHTMLd88c18.PNG"/>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flipH="1">
                <a:off x="2514600" y="2347912"/>
                <a:ext cx="2743200" cy="100488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 descr="C:\Users\Pc\AppData\Local\Temp\SNAGHTMLd9cc87.PNG"/>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2266950" y="2308846"/>
                <a:ext cx="2152650" cy="104395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5" name="Conector recto 44"/>
            <p:cNvCxnSpPr/>
            <p:nvPr/>
          </p:nvCxnSpPr>
          <p:spPr>
            <a:xfrm>
              <a:off x="2438400" y="3352800"/>
              <a:ext cx="2971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CuadroTexto 48">
            <a:extLst>
              <a:ext uri="{FF2B5EF4-FFF2-40B4-BE49-F238E27FC236}">
                <a16:creationId xmlns:a16="http://schemas.microsoft.com/office/drawing/2014/main" id="{A726B21E-A053-4471-A468-C18F1FA0A02C}"/>
              </a:ext>
            </a:extLst>
          </p:cNvPr>
          <p:cNvSpPr txBox="1"/>
          <p:nvPr/>
        </p:nvSpPr>
        <p:spPr>
          <a:xfrm rot="590582">
            <a:off x="7609102" y="402625"/>
            <a:ext cx="1180388" cy="276999"/>
          </a:xfrm>
          <a:prstGeom prst="rect">
            <a:avLst/>
          </a:prstGeom>
          <a:solidFill>
            <a:schemeClr val="bg1"/>
          </a:solidFill>
          <a:ln>
            <a:solidFill>
              <a:srgbClr val="FF0000"/>
            </a:solidFill>
          </a:ln>
        </p:spPr>
        <p:txBody>
          <a:bodyPr wrap="none" rtlCol="0">
            <a:spAutoFit/>
          </a:bodyPr>
          <a:lstStyle/>
          <a:p>
            <a:r>
              <a:rPr lang="es-ES" dirty="0">
                <a:solidFill>
                  <a:srgbClr val="C00000"/>
                </a:solidFill>
              </a:rPr>
              <a:t>IMPORTANTE</a:t>
            </a:r>
          </a:p>
        </p:txBody>
      </p:sp>
    </p:spTree>
    <p:extLst>
      <p:ext uri="{BB962C8B-B14F-4D97-AF65-F5344CB8AC3E}">
        <p14:creationId xmlns:p14="http://schemas.microsoft.com/office/powerpoint/2010/main" val="2750300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2"/>
          <p:cNvSpPr txBox="1">
            <a:spLocks noChangeArrowheads="1"/>
          </p:cNvSpPr>
          <p:nvPr/>
        </p:nvSpPr>
        <p:spPr bwMode="auto">
          <a:xfrm>
            <a:off x="921801" y="2801818"/>
            <a:ext cx="1063112"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1400" dirty="0"/>
              <a:t>Muestra </a:t>
            </a:r>
            <a:r>
              <a:rPr lang="es-ES_tradnl" altLang="es-ES" sz="1400" dirty="0">
                <a:latin typeface="Times New Roman" panose="02020603050405020304" pitchFamily="18" charset="0"/>
              </a:rPr>
              <a:t>1</a:t>
            </a:r>
          </a:p>
          <a:p>
            <a:pPr algn="ctr"/>
            <a:r>
              <a:rPr lang="es-ES_tradnl" altLang="es-ES" sz="1400" dirty="0">
                <a:latin typeface="Times New Roman" panose="02020603050405020304" pitchFamily="18" charset="0"/>
              </a:rPr>
              <a:t>de tamaño </a:t>
            </a:r>
            <a:r>
              <a:rPr lang="es-ES_tradnl" altLang="es-ES" sz="1400" i="1" dirty="0">
                <a:latin typeface="Times New Roman" panose="02020603050405020304" pitchFamily="18" charset="0"/>
              </a:rPr>
              <a:t>n</a:t>
            </a:r>
            <a:endParaRPr lang="es-ES" altLang="es-ES" sz="1400" i="1" dirty="0">
              <a:latin typeface="Times New Roman" panose="02020603050405020304" pitchFamily="18" charset="0"/>
            </a:endParaRPr>
          </a:p>
        </p:txBody>
      </p:sp>
      <p:sp>
        <p:nvSpPr>
          <p:cNvPr id="15365" name="Text Box 34"/>
          <p:cNvSpPr txBox="1">
            <a:spLocks noChangeArrowheads="1"/>
          </p:cNvSpPr>
          <p:nvPr/>
        </p:nvSpPr>
        <p:spPr bwMode="auto">
          <a:xfrm>
            <a:off x="3354388" y="2116138"/>
            <a:ext cx="533400" cy="427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2200" b="1">
                <a:latin typeface="Times New Roman" panose="02020603050405020304" pitchFamily="18" charset="0"/>
              </a:rPr>
              <a:t>.....</a:t>
            </a:r>
            <a:endParaRPr lang="es-ES" altLang="es-ES" sz="2200" b="1">
              <a:latin typeface="Times New Roman" panose="02020603050405020304" pitchFamily="18" charset="0"/>
            </a:endParaRPr>
          </a:p>
        </p:txBody>
      </p:sp>
      <p:sp>
        <p:nvSpPr>
          <p:cNvPr id="15367" name="Line 43"/>
          <p:cNvSpPr>
            <a:spLocks noChangeShapeType="1"/>
          </p:cNvSpPr>
          <p:nvPr/>
        </p:nvSpPr>
        <p:spPr bwMode="auto">
          <a:xfrm>
            <a:off x="1454150" y="3352800"/>
            <a:ext cx="0" cy="30480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5368" name="Line 44"/>
          <p:cNvSpPr>
            <a:spLocks noChangeShapeType="1"/>
          </p:cNvSpPr>
          <p:nvPr/>
        </p:nvSpPr>
        <p:spPr bwMode="auto">
          <a:xfrm>
            <a:off x="2671763" y="3352800"/>
            <a:ext cx="0" cy="30480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5369" name="Line 45"/>
          <p:cNvSpPr>
            <a:spLocks noChangeShapeType="1"/>
          </p:cNvSpPr>
          <p:nvPr/>
        </p:nvSpPr>
        <p:spPr bwMode="auto">
          <a:xfrm>
            <a:off x="4652963" y="3352800"/>
            <a:ext cx="0" cy="30480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aphicFrame>
        <p:nvGraphicFramePr>
          <p:cNvPr id="15370" name="Object 46"/>
          <p:cNvGraphicFramePr>
            <a:graphicFrameLocks noChangeAspect="1"/>
          </p:cNvGraphicFramePr>
          <p:nvPr>
            <p:extLst>
              <p:ext uri="{D42A27DB-BD31-4B8C-83A1-F6EECF244321}">
                <p14:modId xmlns:p14="http://schemas.microsoft.com/office/powerpoint/2010/main" val="448157691"/>
              </p:ext>
            </p:extLst>
          </p:nvPr>
        </p:nvGraphicFramePr>
        <p:xfrm>
          <a:off x="1162050" y="3657600"/>
          <a:ext cx="584200" cy="381000"/>
        </p:xfrm>
        <a:graphic>
          <a:graphicData uri="http://schemas.openxmlformats.org/presentationml/2006/ole">
            <mc:AlternateContent xmlns:mc="http://schemas.openxmlformats.org/markup-compatibility/2006">
              <mc:Choice xmlns:v="urn:schemas-microsoft-com:vml" Requires="v">
                <p:oleObj name="Equation" r:id="rId2" imgW="583947" imgH="380835" progId="Equation.DSMT4">
                  <p:embed/>
                </p:oleObj>
              </mc:Choice>
              <mc:Fallback>
                <p:oleObj name="Equation" r:id="rId2" imgW="583947" imgH="380835" progId="Equation.DSMT4">
                  <p:embed/>
                  <p:pic>
                    <p:nvPicPr>
                      <p:cNvPr id="15370" name="Object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2050" y="3657600"/>
                        <a:ext cx="5842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1" name="Object 47"/>
          <p:cNvGraphicFramePr>
            <a:graphicFrameLocks noChangeAspect="1"/>
          </p:cNvGraphicFramePr>
          <p:nvPr>
            <p:extLst>
              <p:ext uri="{D42A27DB-BD31-4B8C-83A1-F6EECF244321}">
                <p14:modId xmlns:p14="http://schemas.microsoft.com/office/powerpoint/2010/main" val="2530745851"/>
              </p:ext>
            </p:extLst>
          </p:nvPr>
        </p:nvGraphicFramePr>
        <p:xfrm>
          <a:off x="2366963" y="3657600"/>
          <a:ext cx="609600" cy="381000"/>
        </p:xfrm>
        <a:graphic>
          <a:graphicData uri="http://schemas.openxmlformats.org/presentationml/2006/ole">
            <mc:AlternateContent xmlns:mc="http://schemas.openxmlformats.org/markup-compatibility/2006">
              <mc:Choice xmlns:v="urn:schemas-microsoft-com:vml" Requires="v">
                <p:oleObj name="Equation" r:id="rId4" imgW="609336" imgH="380835" progId="Equation.DSMT4">
                  <p:embed/>
                </p:oleObj>
              </mc:Choice>
              <mc:Fallback>
                <p:oleObj name="Equation" r:id="rId4" imgW="609336" imgH="380835" progId="Equation.DSMT4">
                  <p:embed/>
                  <p:pic>
                    <p:nvPicPr>
                      <p:cNvPr id="15371" name="Object 4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6963" y="3657600"/>
                        <a:ext cx="6096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2" name="Object 48"/>
          <p:cNvGraphicFramePr>
            <a:graphicFrameLocks noChangeAspect="1"/>
          </p:cNvGraphicFramePr>
          <p:nvPr>
            <p:extLst>
              <p:ext uri="{D42A27DB-BD31-4B8C-83A1-F6EECF244321}">
                <p14:modId xmlns:p14="http://schemas.microsoft.com/office/powerpoint/2010/main" val="3932259642"/>
              </p:ext>
            </p:extLst>
          </p:nvPr>
        </p:nvGraphicFramePr>
        <p:xfrm>
          <a:off x="4297363" y="3657600"/>
          <a:ext cx="711200" cy="381000"/>
        </p:xfrm>
        <a:graphic>
          <a:graphicData uri="http://schemas.openxmlformats.org/presentationml/2006/ole">
            <mc:AlternateContent xmlns:mc="http://schemas.openxmlformats.org/markup-compatibility/2006">
              <mc:Choice xmlns:v="urn:schemas-microsoft-com:vml" Requires="v">
                <p:oleObj name="Equation" r:id="rId6" imgW="710891" imgH="380835" progId="Equation.DSMT4">
                  <p:embed/>
                </p:oleObj>
              </mc:Choice>
              <mc:Fallback>
                <p:oleObj name="Equation" r:id="rId6" imgW="710891" imgH="380835" progId="Equation.DSMT4">
                  <p:embed/>
                  <p:pic>
                    <p:nvPicPr>
                      <p:cNvPr id="15372" name="Object 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7363" y="3657600"/>
                        <a:ext cx="71120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3" name="Text Box 49"/>
          <p:cNvSpPr txBox="1">
            <a:spLocks noChangeArrowheads="1"/>
          </p:cNvSpPr>
          <p:nvPr/>
        </p:nvSpPr>
        <p:spPr bwMode="auto">
          <a:xfrm>
            <a:off x="3352800" y="3611563"/>
            <a:ext cx="533400" cy="4270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2200" b="1">
                <a:latin typeface="Times New Roman" panose="02020603050405020304" pitchFamily="18" charset="0"/>
              </a:rPr>
              <a:t>.....</a:t>
            </a:r>
            <a:endParaRPr lang="es-ES" altLang="es-ES" sz="2200" b="1">
              <a:latin typeface="Times New Roman" panose="02020603050405020304" pitchFamily="18" charset="0"/>
            </a:endParaRPr>
          </a:p>
        </p:txBody>
      </p:sp>
      <p:sp>
        <p:nvSpPr>
          <p:cNvPr id="15374" name="Text Box 53"/>
          <p:cNvSpPr txBox="1">
            <a:spLocks noChangeArrowheads="1"/>
          </p:cNvSpPr>
          <p:nvPr/>
        </p:nvSpPr>
        <p:spPr bwMode="auto">
          <a:xfrm>
            <a:off x="2141000" y="2801818"/>
            <a:ext cx="1063112"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1400" dirty="0"/>
              <a:t>Muestra </a:t>
            </a:r>
            <a:r>
              <a:rPr lang="es-ES_tradnl" altLang="es-ES" sz="1400" dirty="0">
                <a:latin typeface="Times New Roman" panose="02020603050405020304" pitchFamily="18" charset="0"/>
              </a:rPr>
              <a:t>2</a:t>
            </a:r>
          </a:p>
          <a:p>
            <a:pPr algn="ctr"/>
            <a:r>
              <a:rPr lang="es-ES_tradnl" altLang="es-ES" sz="1400" dirty="0">
                <a:latin typeface="Times New Roman" panose="02020603050405020304" pitchFamily="18" charset="0"/>
              </a:rPr>
              <a:t>de tamaño </a:t>
            </a:r>
            <a:r>
              <a:rPr lang="es-ES_tradnl" altLang="es-ES" sz="1400" i="1" dirty="0">
                <a:latin typeface="Times New Roman" panose="02020603050405020304" pitchFamily="18" charset="0"/>
              </a:rPr>
              <a:t>n</a:t>
            </a:r>
            <a:endParaRPr lang="es-ES" altLang="es-ES" sz="1400" i="1" dirty="0">
              <a:latin typeface="Times New Roman" panose="02020603050405020304" pitchFamily="18" charset="0"/>
            </a:endParaRPr>
          </a:p>
        </p:txBody>
      </p:sp>
      <p:sp>
        <p:nvSpPr>
          <p:cNvPr id="15375" name="Text Box 54"/>
          <p:cNvSpPr txBox="1">
            <a:spLocks noChangeArrowheads="1"/>
          </p:cNvSpPr>
          <p:nvPr/>
        </p:nvSpPr>
        <p:spPr bwMode="auto">
          <a:xfrm>
            <a:off x="4121407" y="2801818"/>
            <a:ext cx="1063112"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s-ES_tradnl" altLang="es-ES" sz="1400" dirty="0"/>
              <a:t>Muestra </a:t>
            </a:r>
            <a:r>
              <a:rPr lang="es-ES_tradnl" altLang="es-ES" sz="1400" i="1" dirty="0">
                <a:latin typeface="Times New Roman" panose="02020603050405020304" pitchFamily="18" charset="0"/>
              </a:rPr>
              <a:t>K</a:t>
            </a:r>
          </a:p>
          <a:p>
            <a:pPr algn="ctr"/>
            <a:r>
              <a:rPr lang="es-ES_tradnl" altLang="es-ES" sz="1400" dirty="0">
                <a:latin typeface="Times New Roman" panose="02020603050405020304" pitchFamily="18" charset="0"/>
              </a:rPr>
              <a:t>de tamaño </a:t>
            </a:r>
            <a:r>
              <a:rPr lang="es-ES_tradnl" altLang="es-ES" sz="1400" i="1" dirty="0">
                <a:latin typeface="Times New Roman" panose="02020603050405020304" pitchFamily="18" charset="0"/>
              </a:rPr>
              <a:t>n</a:t>
            </a:r>
            <a:endParaRPr lang="es-ES" altLang="es-ES" sz="1400" i="1" dirty="0">
              <a:latin typeface="Times New Roman" panose="02020603050405020304" pitchFamily="18" charset="0"/>
            </a:endParaRPr>
          </a:p>
        </p:txBody>
      </p:sp>
      <p:sp>
        <p:nvSpPr>
          <p:cNvPr id="15376" name="AutoShape 55"/>
          <p:cNvSpPr>
            <a:spLocks/>
          </p:cNvSpPr>
          <p:nvPr/>
        </p:nvSpPr>
        <p:spPr bwMode="auto">
          <a:xfrm flipH="1">
            <a:off x="5334000" y="2009774"/>
            <a:ext cx="119004" cy="1343025"/>
          </a:xfrm>
          <a:prstGeom prst="leftBrace">
            <a:avLst>
              <a:gd name="adj1" fmla="val 6250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377" name="Text Box 56"/>
          <p:cNvSpPr txBox="1">
            <a:spLocks noChangeArrowheads="1"/>
          </p:cNvSpPr>
          <p:nvPr/>
        </p:nvSpPr>
        <p:spPr bwMode="auto">
          <a:xfrm>
            <a:off x="5665463" y="2370892"/>
            <a:ext cx="3249938"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algn="just" eaLnBrk="1" hangingPunct="1">
              <a:buAutoNum type="arabicParenBoth"/>
            </a:pPr>
            <a:r>
              <a:rPr lang="es-ES_tradnl" altLang="es-ES" sz="1400" dirty="0"/>
              <a:t>Las muestras se eligen </a:t>
            </a:r>
            <a:r>
              <a:rPr lang="es-ES_tradnl" altLang="es-ES" sz="1400" b="1" dirty="0"/>
              <a:t>al azar</a:t>
            </a:r>
          </a:p>
          <a:p>
            <a:pPr marL="361950" algn="just" eaLnBrk="1" hangingPunct="1"/>
            <a:r>
              <a:rPr lang="es-ES_tradnl" altLang="es-ES" dirty="0"/>
              <a:t>(las </a:t>
            </a:r>
            <a:r>
              <a:rPr lang="es-ES_tradnl" altLang="es-ES" i="1" dirty="0">
                <a:latin typeface="Times New Roman" panose="02020603050405020304" pitchFamily="18" charset="0"/>
                <a:cs typeface="Times New Roman" panose="02020603050405020304" pitchFamily="18" charset="0"/>
              </a:rPr>
              <a:t>K</a:t>
            </a:r>
            <a:r>
              <a:rPr lang="es-ES_tradnl" altLang="es-ES" dirty="0"/>
              <a:t> muestras tienen la misma probabilidad de aparecer)</a:t>
            </a:r>
            <a:endParaRPr lang="es-ES" altLang="es-ES" dirty="0"/>
          </a:p>
        </p:txBody>
      </p:sp>
      <p:sp>
        <p:nvSpPr>
          <p:cNvPr id="15378" name="AutoShape 57"/>
          <p:cNvSpPr>
            <a:spLocks/>
          </p:cNvSpPr>
          <p:nvPr/>
        </p:nvSpPr>
        <p:spPr bwMode="auto">
          <a:xfrm flipH="1">
            <a:off x="5334000" y="3505200"/>
            <a:ext cx="152400" cy="762000"/>
          </a:xfrm>
          <a:prstGeom prst="leftBrace">
            <a:avLst>
              <a:gd name="adj1" fmla="val 41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379" name="Text Box 58"/>
          <p:cNvSpPr txBox="1">
            <a:spLocks noChangeArrowheads="1"/>
          </p:cNvSpPr>
          <p:nvPr/>
        </p:nvSpPr>
        <p:spPr bwMode="auto">
          <a:xfrm>
            <a:off x="5751513" y="3505200"/>
            <a:ext cx="316388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dirty="0"/>
              <a:t>(2) Todas las </a:t>
            </a:r>
            <a:r>
              <a:rPr lang="es-ES_tradnl" altLang="es-ES" sz="1400" b="1" dirty="0"/>
              <a:t>medidas descriptivas </a:t>
            </a:r>
            <a:r>
              <a:rPr lang="es-ES_tradnl" altLang="es-ES" sz="1400" dirty="0"/>
              <a:t>son </a:t>
            </a:r>
            <a:r>
              <a:rPr lang="es-ES_tradnl" altLang="es-ES" sz="1400" b="1" dirty="0"/>
              <a:t>variables aleatorias </a:t>
            </a:r>
            <a:r>
              <a:rPr lang="es-ES_tradnl" altLang="es-ES" sz="1400" dirty="0"/>
              <a:t>(además continuas)</a:t>
            </a:r>
            <a:endParaRPr lang="es-ES" altLang="es-ES" sz="1400" dirty="0"/>
          </a:p>
        </p:txBody>
      </p:sp>
      <p:sp>
        <p:nvSpPr>
          <p:cNvPr id="15381" name="AutoShape 81"/>
          <p:cNvSpPr>
            <a:spLocks/>
          </p:cNvSpPr>
          <p:nvPr/>
        </p:nvSpPr>
        <p:spPr bwMode="auto">
          <a:xfrm rot="5400000" flipH="1">
            <a:off x="2971800" y="2390775"/>
            <a:ext cx="228600" cy="3733800"/>
          </a:xfrm>
          <a:prstGeom prst="leftBrace">
            <a:avLst>
              <a:gd name="adj1" fmla="val 13611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382" name="Text Box 82"/>
          <p:cNvSpPr txBox="1">
            <a:spLocks noChangeArrowheads="1"/>
          </p:cNvSpPr>
          <p:nvPr/>
        </p:nvSpPr>
        <p:spPr bwMode="auto">
          <a:xfrm>
            <a:off x="5751513" y="4595336"/>
            <a:ext cx="316388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400" dirty="0"/>
              <a:t>(3) ¿Se puede decir algo de la </a:t>
            </a:r>
            <a:r>
              <a:rPr lang="es-ES_tradnl" altLang="es-ES" sz="1400" b="1" dirty="0"/>
              <a:t>distribución</a:t>
            </a:r>
            <a:r>
              <a:rPr lang="es-ES_tradnl" altLang="es-ES" sz="1400" dirty="0"/>
              <a:t> que tienen las </a:t>
            </a:r>
            <a:r>
              <a:rPr lang="es-ES_tradnl" altLang="es-ES" sz="1400" b="1" dirty="0"/>
              <a:t>medias </a:t>
            </a:r>
            <a:r>
              <a:rPr lang="es-ES_tradnl" altLang="es-ES" sz="1400" b="1" dirty="0" err="1"/>
              <a:t>muestrales</a:t>
            </a:r>
            <a:r>
              <a:rPr lang="es-ES_tradnl" altLang="es-ES" sz="1400" dirty="0"/>
              <a:t>?</a:t>
            </a:r>
            <a:endParaRPr lang="es-ES" altLang="es-ES" sz="1400" dirty="0"/>
          </a:p>
        </p:txBody>
      </p:sp>
      <p:sp>
        <p:nvSpPr>
          <p:cNvPr id="15384" name="Line 103"/>
          <p:cNvSpPr>
            <a:spLocks noChangeShapeType="1"/>
          </p:cNvSpPr>
          <p:nvPr/>
        </p:nvSpPr>
        <p:spPr bwMode="auto">
          <a:xfrm>
            <a:off x="4371975" y="5286374"/>
            <a:ext cx="1266825" cy="393699"/>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391" name="Group 53"/>
          <p:cNvGrpSpPr>
            <a:grpSpLocks/>
          </p:cNvGrpSpPr>
          <p:nvPr/>
        </p:nvGrpSpPr>
        <p:grpSpPr bwMode="auto">
          <a:xfrm flipH="1" flipV="1">
            <a:off x="2809875" y="962025"/>
            <a:ext cx="1543050" cy="968375"/>
            <a:chOff x="288" y="576"/>
            <a:chExt cx="1008" cy="672"/>
          </a:xfrm>
        </p:grpSpPr>
        <p:pic>
          <p:nvPicPr>
            <p:cNvPr id="15404" name="Picture 44" descr="SNAGHTMLb4ee0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 y="576"/>
              <a:ext cx="960" cy="610"/>
            </a:xfrm>
            <a:prstGeom prst="rect">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pic>
        <p:pic>
          <p:nvPicPr>
            <p:cNvPr id="15405" name="Picture 48"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 y="960"/>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6" name="Picture 49"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4" y="666"/>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7" name="Picture 50"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 y="576"/>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8" name="Picture 51"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2" y="720"/>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9" name="Picture 52"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flipV="1">
              <a:off x="288" y="768"/>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392" name="Group 53"/>
          <p:cNvGrpSpPr>
            <a:grpSpLocks/>
          </p:cNvGrpSpPr>
          <p:nvPr/>
        </p:nvGrpSpPr>
        <p:grpSpPr bwMode="auto">
          <a:xfrm>
            <a:off x="2674938" y="1003300"/>
            <a:ext cx="1600200" cy="1066800"/>
            <a:chOff x="288" y="576"/>
            <a:chExt cx="1008" cy="672"/>
          </a:xfrm>
        </p:grpSpPr>
        <p:pic>
          <p:nvPicPr>
            <p:cNvPr id="15398" name="Picture 44" descr="SNAGHTMLb4ee0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 y="576"/>
              <a:ext cx="960" cy="610"/>
            </a:xfrm>
            <a:prstGeom prst="rect">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pic>
        <p:pic>
          <p:nvPicPr>
            <p:cNvPr id="15399" name="Picture 48"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 y="960"/>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0" name="Picture 49"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4" y="666"/>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1" name="Picture 50"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 y="576"/>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2" name="Picture 51"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2" y="720"/>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3" name="Picture 52" descr="SNAGHTMLb8708d"/>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flipV="1">
              <a:off x="288" y="768"/>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393" name="Line 31"/>
          <p:cNvSpPr>
            <a:spLocks noChangeShapeType="1"/>
          </p:cNvSpPr>
          <p:nvPr/>
        </p:nvSpPr>
        <p:spPr bwMode="auto">
          <a:xfrm flipH="1">
            <a:off x="1524000" y="1625600"/>
            <a:ext cx="1309688" cy="460375"/>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5394" name="Line 32"/>
          <p:cNvSpPr>
            <a:spLocks noChangeShapeType="1"/>
          </p:cNvSpPr>
          <p:nvPr/>
        </p:nvSpPr>
        <p:spPr bwMode="auto">
          <a:xfrm flipH="1">
            <a:off x="2751138" y="1728788"/>
            <a:ext cx="373062" cy="357187"/>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5395" name="Line 33"/>
          <p:cNvSpPr>
            <a:spLocks noChangeShapeType="1"/>
          </p:cNvSpPr>
          <p:nvPr/>
        </p:nvSpPr>
        <p:spPr bwMode="auto">
          <a:xfrm>
            <a:off x="4143375" y="1728788"/>
            <a:ext cx="279400" cy="357187"/>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5396" name="Text Box 115"/>
          <p:cNvSpPr txBox="1">
            <a:spLocks noChangeArrowheads="1"/>
          </p:cNvSpPr>
          <p:nvPr/>
        </p:nvSpPr>
        <p:spPr bwMode="auto">
          <a:xfrm>
            <a:off x="381000" y="1095375"/>
            <a:ext cx="1905000" cy="88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a:t>Estudiamos una Variable Aleatoria  </a:t>
            </a:r>
            <a:r>
              <a:rPr lang="es-ES_tradnl" altLang="es-ES" sz="1400" i="1">
                <a:latin typeface="Times New Roman" panose="02020603050405020304" pitchFamily="18" charset="0"/>
              </a:rPr>
              <a:t>X</a:t>
            </a:r>
          </a:p>
          <a:p>
            <a:pPr eaLnBrk="1" hangingPunct="1"/>
            <a:r>
              <a:rPr lang="es-ES" altLang="es-ES" sz="1200">
                <a:solidFill>
                  <a:srgbClr val="006666"/>
                </a:solidFill>
              </a:rPr>
              <a:t>Por ejemplo, el nivel de colesterol</a:t>
            </a:r>
          </a:p>
        </p:txBody>
      </p:sp>
      <p:sp>
        <p:nvSpPr>
          <p:cNvPr id="15397" name="Text Box 56"/>
          <p:cNvSpPr txBox="1">
            <a:spLocks noChangeArrowheads="1"/>
          </p:cNvSpPr>
          <p:nvPr/>
        </p:nvSpPr>
        <p:spPr bwMode="auto">
          <a:xfrm>
            <a:off x="2897188" y="1214438"/>
            <a:ext cx="1217612"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600"/>
              <a:t>Población</a:t>
            </a:r>
            <a:endParaRPr lang="es-ES" altLang="es-ES" sz="1600" b="1"/>
          </a:p>
        </p:txBody>
      </p:sp>
      <p:pic>
        <p:nvPicPr>
          <p:cNvPr id="3" name="Imagen 2"/>
          <p:cNvPicPr>
            <a:picLocks noChangeAspect="1"/>
          </p:cNvPicPr>
          <p:nvPr/>
        </p:nvPicPr>
        <p:blipFill>
          <a:blip r:embed="rId10"/>
          <a:stretch>
            <a:fillRect/>
          </a:stretch>
        </p:blipFill>
        <p:spPr>
          <a:xfrm>
            <a:off x="879533" y="2170567"/>
            <a:ext cx="1157336" cy="595522"/>
          </a:xfrm>
          <a:prstGeom prst="rect">
            <a:avLst/>
          </a:prstGeom>
        </p:spPr>
      </p:pic>
      <p:pic>
        <p:nvPicPr>
          <p:cNvPr id="112" name="Picture 6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00502" y="5377196"/>
            <a:ext cx="1597591" cy="694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13" name="Object 85"/>
          <p:cNvGraphicFramePr>
            <a:graphicFrameLocks noChangeAspect="1"/>
          </p:cNvGraphicFramePr>
          <p:nvPr>
            <p:extLst>
              <p:ext uri="{D42A27DB-BD31-4B8C-83A1-F6EECF244321}">
                <p14:modId xmlns:p14="http://schemas.microsoft.com/office/powerpoint/2010/main" val="2243027856"/>
              </p:ext>
            </p:extLst>
          </p:nvPr>
        </p:nvGraphicFramePr>
        <p:xfrm>
          <a:off x="7115333" y="5697133"/>
          <a:ext cx="234950" cy="249238"/>
        </p:xfrm>
        <a:graphic>
          <a:graphicData uri="http://schemas.openxmlformats.org/presentationml/2006/ole">
            <mc:AlternateContent xmlns:mc="http://schemas.openxmlformats.org/markup-compatibility/2006">
              <mc:Choice xmlns:v="urn:schemas-microsoft-com:vml" Requires="v">
                <p:oleObj name="Equation" r:id="rId12" imgW="241200" imgH="291960" progId="Equation.DSMT4">
                  <p:embed/>
                </p:oleObj>
              </mc:Choice>
              <mc:Fallback>
                <p:oleObj name="Equation" r:id="rId12" imgW="241200" imgH="291960" progId="Equation.DSMT4">
                  <p:embed/>
                  <p:pic>
                    <p:nvPicPr>
                      <p:cNvPr id="33" name="Object 85"/>
                      <p:cNvPicPr>
                        <a:picLocks noChangeAspect="1" noChangeArrowheads="1"/>
                      </p:cNvPicPr>
                      <p:nvPr/>
                    </p:nvPicPr>
                    <p:blipFill>
                      <a:blip r:embed="rId13"/>
                      <a:srcRect/>
                      <a:stretch>
                        <a:fillRect/>
                      </a:stretch>
                    </p:blipFill>
                    <p:spPr bwMode="auto">
                      <a:xfrm>
                        <a:off x="7115333" y="5697133"/>
                        <a:ext cx="234950" cy="249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 name="Line 103"/>
          <p:cNvSpPr>
            <a:spLocks noChangeShapeType="1"/>
          </p:cNvSpPr>
          <p:nvPr/>
        </p:nvSpPr>
        <p:spPr bwMode="auto">
          <a:xfrm>
            <a:off x="6843677" y="5946371"/>
            <a:ext cx="778262" cy="84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dirty="0"/>
          </a:p>
        </p:txBody>
      </p:sp>
      <p:grpSp>
        <p:nvGrpSpPr>
          <p:cNvPr id="7" name="Grupo 6"/>
          <p:cNvGrpSpPr/>
          <p:nvPr/>
        </p:nvGrpSpPr>
        <p:grpSpPr>
          <a:xfrm>
            <a:off x="5466613" y="5626403"/>
            <a:ext cx="2873603" cy="783093"/>
            <a:chOff x="5466613" y="5640312"/>
            <a:chExt cx="2873603" cy="769184"/>
          </a:xfrm>
        </p:grpSpPr>
        <p:grpSp>
          <p:nvGrpSpPr>
            <p:cNvPr id="15383" name="2 Grupo"/>
            <p:cNvGrpSpPr>
              <a:grpSpLocks/>
            </p:cNvGrpSpPr>
            <p:nvPr/>
          </p:nvGrpSpPr>
          <p:grpSpPr bwMode="auto">
            <a:xfrm>
              <a:off x="5466613" y="5640312"/>
              <a:ext cx="1616153" cy="769184"/>
              <a:chOff x="6324600" y="5257800"/>
              <a:chExt cx="1828800" cy="865166"/>
            </a:xfrm>
          </p:grpSpPr>
          <p:sp>
            <p:nvSpPr>
              <p:cNvPr id="15410" name="Line 85"/>
              <p:cNvSpPr>
                <a:spLocks noChangeShapeType="1"/>
              </p:cNvSpPr>
              <p:nvPr/>
            </p:nvSpPr>
            <p:spPr bwMode="auto">
              <a:xfrm>
                <a:off x="6324600" y="5695950"/>
                <a:ext cx="1828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5411" name="Object 98"/>
              <p:cNvGraphicFramePr>
                <a:graphicFrameLocks noChangeAspect="1"/>
              </p:cNvGraphicFramePr>
              <p:nvPr>
                <p:extLst>
                  <p:ext uri="{D42A27DB-BD31-4B8C-83A1-F6EECF244321}">
                    <p14:modId xmlns:p14="http://schemas.microsoft.com/office/powerpoint/2010/main" val="1375363047"/>
                  </p:ext>
                </p:extLst>
              </p:nvPr>
            </p:nvGraphicFramePr>
            <p:xfrm>
              <a:off x="7086600" y="5800704"/>
              <a:ext cx="271463" cy="322262"/>
            </p:xfrm>
            <a:graphic>
              <a:graphicData uri="http://schemas.openxmlformats.org/presentationml/2006/ole">
                <mc:AlternateContent xmlns:mc="http://schemas.openxmlformats.org/markup-compatibility/2006">
                  <mc:Choice xmlns:v="urn:schemas-microsoft-com:vml" Requires="v">
                    <p:oleObj name="Equation" r:id="rId14" imgW="139579" imgH="164957" progId="Equation.DSMT4">
                      <p:embed/>
                    </p:oleObj>
                  </mc:Choice>
                  <mc:Fallback>
                    <p:oleObj name="Equation" r:id="rId14" imgW="139579" imgH="164957" progId="Equation.DSMT4">
                      <p:embed/>
                      <p:pic>
                        <p:nvPicPr>
                          <p:cNvPr id="15411" name="Object 9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86600" y="5800704"/>
                            <a:ext cx="271463"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5412" name="Group 101"/>
              <p:cNvGrpSpPr>
                <a:grpSpLocks/>
              </p:cNvGrpSpPr>
              <p:nvPr/>
            </p:nvGrpSpPr>
            <p:grpSpPr bwMode="auto">
              <a:xfrm>
                <a:off x="6730206" y="5257800"/>
                <a:ext cx="1017588" cy="411101"/>
                <a:chOff x="4147" y="3934"/>
                <a:chExt cx="312" cy="100"/>
              </a:xfrm>
            </p:grpSpPr>
            <p:sp>
              <p:nvSpPr>
                <p:cNvPr id="15413" name="Oval 87"/>
                <p:cNvSpPr>
                  <a:spLocks noChangeArrowheads="1"/>
                </p:cNvSpPr>
                <p:nvPr/>
              </p:nvSpPr>
              <p:spPr bwMode="auto">
                <a:xfrm>
                  <a:off x="4340" y="3973"/>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14" name="Oval 88"/>
                <p:cNvSpPr>
                  <a:spLocks noChangeArrowheads="1"/>
                </p:cNvSpPr>
                <p:nvPr/>
              </p:nvSpPr>
              <p:spPr bwMode="auto">
                <a:xfrm>
                  <a:off x="4195"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15" name="Oval 89"/>
                <p:cNvSpPr>
                  <a:spLocks noChangeArrowheads="1"/>
                </p:cNvSpPr>
                <p:nvPr/>
              </p:nvSpPr>
              <p:spPr bwMode="auto">
                <a:xfrm>
                  <a:off x="4292"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16" name="Oval 90"/>
                <p:cNvSpPr>
                  <a:spLocks noChangeArrowheads="1"/>
                </p:cNvSpPr>
                <p:nvPr/>
              </p:nvSpPr>
              <p:spPr bwMode="auto">
                <a:xfrm>
                  <a:off x="4387"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17" name="Oval 91"/>
                <p:cNvSpPr>
                  <a:spLocks noChangeArrowheads="1"/>
                </p:cNvSpPr>
                <p:nvPr/>
              </p:nvSpPr>
              <p:spPr bwMode="auto">
                <a:xfrm>
                  <a:off x="4195" y="3973"/>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18" name="Oval 92"/>
                <p:cNvSpPr>
                  <a:spLocks noChangeArrowheads="1"/>
                </p:cNvSpPr>
                <p:nvPr/>
              </p:nvSpPr>
              <p:spPr bwMode="auto">
                <a:xfrm>
                  <a:off x="4436"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19" name="Oval 93"/>
                <p:cNvSpPr>
                  <a:spLocks noChangeArrowheads="1"/>
                </p:cNvSpPr>
                <p:nvPr/>
              </p:nvSpPr>
              <p:spPr bwMode="auto">
                <a:xfrm>
                  <a:off x="4387" y="3973"/>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20" name="Oval 94"/>
                <p:cNvSpPr>
                  <a:spLocks noChangeArrowheads="1"/>
                </p:cNvSpPr>
                <p:nvPr/>
              </p:nvSpPr>
              <p:spPr bwMode="auto">
                <a:xfrm>
                  <a:off x="4292" y="3973"/>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21" name="Oval 95"/>
                <p:cNvSpPr>
                  <a:spLocks noChangeArrowheads="1"/>
                </p:cNvSpPr>
                <p:nvPr/>
              </p:nvSpPr>
              <p:spPr bwMode="auto">
                <a:xfrm>
                  <a:off x="4292" y="3934"/>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22" name="Oval 96"/>
                <p:cNvSpPr>
                  <a:spLocks noChangeArrowheads="1"/>
                </p:cNvSpPr>
                <p:nvPr/>
              </p:nvSpPr>
              <p:spPr bwMode="auto">
                <a:xfrm>
                  <a:off x="4147"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23" name="Oval 99"/>
                <p:cNvSpPr>
                  <a:spLocks noChangeArrowheads="1"/>
                </p:cNvSpPr>
                <p:nvPr/>
              </p:nvSpPr>
              <p:spPr bwMode="auto">
                <a:xfrm>
                  <a:off x="4339"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sp>
              <p:nvSpPr>
                <p:cNvPr id="15424" name="Oval 100"/>
                <p:cNvSpPr>
                  <a:spLocks noChangeArrowheads="1"/>
                </p:cNvSpPr>
                <p:nvPr/>
              </p:nvSpPr>
              <p:spPr bwMode="auto">
                <a:xfrm>
                  <a:off x="4243" y="4011"/>
                  <a:ext cx="23" cy="2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pSp>
        </p:grpSp>
        <p:graphicFrame>
          <p:nvGraphicFramePr>
            <p:cNvPr id="115" name="Object 98"/>
            <p:cNvGraphicFramePr>
              <a:graphicFrameLocks noChangeAspect="1"/>
            </p:cNvGraphicFramePr>
            <p:nvPr>
              <p:extLst>
                <p:ext uri="{D42A27DB-BD31-4B8C-83A1-F6EECF244321}">
                  <p14:modId xmlns:p14="http://schemas.microsoft.com/office/powerpoint/2010/main" val="2236990265"/>
                </p:ext>
              </p:extLst>
            </p:nvPr>
          </p:nvGraphicFramePr>
          <p:xfrm>
            <a:off x="8100318" y="6122986"/>
            <a:ext cx="239898" cy="286510"/>
          </p:xfrm>
          <a:graphic>
            <a:graphicData uri="http://schemas.openxmlformats.org/presentationml/2006/ole">
              <mc:AlternateContent xmlns:mc="http://schemas.openxmlformats.org/markup-compatibility/2006">
                <mc:Choice xmlns:v="urn:schemas-microsoft-com:vml" Requires="v">
                  <p:oleObj name="Equation" r:id="rId14" imgW="139579" imgH="164957" progId="Equation.DSMT4">
                    <p:embed/>
                  </p:oleObj>
                </mc:Choice>
                <mc:Fallback>
                  <p:oleObj name="Equation" r:id="rId14" imgW="139579" imgH="164957" progId="Equation.DSMT4">
                    <p:embed/>
                    <p:pic>
                      <p:nvPicPr>
                        <p:cNvPr id="15411" name="Object 9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00318" y="6122986"/>
                          <a:ext cx="239898" cy="28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16" name="4 Rectángulo"/>
          <p:cNvSpPr>
            <a:spLocks noChangeArrowheads="1"/>
          </p:cNvSpPr>
          <p:nvPr/>
        </p:nvSpPr>
        <p:spPr bwMode="auto">
          <a:xfrm>
            <a:off x="152400" y="194846"/>
            <a:ext cx="5596456"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600" b="1" dirty="0"/>
              <a:t>La media muestral como </a:t>
            </a:r>
            <a:r>
              <a:rPr lang="es-ES" altLang="es-ES" sz="2000" b="1" dirty="0">
                <a:solidFill>
                  <a:srgbClr val="FF0000"/>
                </a:solidFill>
              </a:rPr>
              <a:t>VAC y su distribución</a:t>
            </a:r>
          </a:p>
        </p:txBody>
      </p:sp>
      <p:pic>
        <p:nvPicPr>
          <p:cNvPr id="2" name="Imagen 1"/>
          <p:cNvPicPr>
            <a:picLocks noChangeAspect="1"/>
          </p:cNvPicPr>
          <p:nvPr/>
        </p:nvPicPr>
        <p:blipFill>
          <a:blip r:embed="rId16"/>
          <a:stretch>
            <a:fillRect/>
          </a:stretch>
        </p:blipFill>
        <p:spPr>
          <a:xfrm>
            <a:off x="2120989" y="2162174"/>
            <a:ext cx="1199328" cy="603915"/>
          </a:xfrm>
          <a:prstGeom prst="rect">
            <a:avLst/>
          </a:prstGeom>
        </p:spPr>
      </p:pic>
      <p:grpSp>
        <p:nvGrpSpPr>
          <p:cNvPr id="4" name="Grupo 3"/>
          <p:cNvGrpSpPr/>
          <p:nvPr/>
        </p:nvGrpSpPr>
        <p:grpSpPr>
          <a:xfrm>
            <a:off x="1676400" y="4600575"/>
            <a:ext cx="2895601" cy="1828800"/>
            <a:chOff x="1676400" y="4600575"/>
            <a:chExt cx="2895601" cy="1828800"/>
          </a:xfrm>
        </p:grpSpPr>
        <p:sp>
          <p:nvSpPr>
            <p:cNvPr id="15430" name="Text Box 61"/>
            <p:cNvSpPr txBox="1">
              <a:spLocks noChangeArrowheads="1"/>
            </p:cNvSpPr>
            <p:nvPr/>
          </p:nvSpPr>
          <p:spPr bwMode="auto">
            <a:xfrm>
              <a:off x="1676401" y="4600575"/>
              <a:ext cx="884767" cy="304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t>Muestra</a:t>
              </a:r>
              <a:endParaRPr lang="es-ES" altLang="es-ES" sz="1400"/>
            </a:p>
          </p:txBody>
        </p:sp>
        <p:sp>
          <p:nvSpPr>
            <p:cNvPr id="15431" name="Text Box 62"/>
            <p:cNvSpPr txBox="1">
              <a:spLocks noChangeArrowheads="1"/>
            </p:cNvSpPr>
            <p:nvPr/>
          </p:nvSpPr>
          <p:spPr bwMode="auto">
            <a:xfrm>
              <a:off x="2722034" y="4600575"/>
              <a:ext cx="884767" cy="304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t>tamaño</a:t>
              </a:r>
              <a:endParaRPr lang="es-ES" altLang="es-ES" sz="1400"/>
            </a:p>
          </p:txBody>
        </p:sp>
        <p:sp>
          <p:nvSpPr>
            <p:cNvPr id="15432" name="Text Box 63"/>
            <p:cNvSpPr txBox="1">
              <a:spLocks noChangeArrowheads="1"/>
            </p:cNvSpPr>
            <p:nvPr/>
          </p:nvSpPr>
          <p:spPr bwMode="auto">
            <a:xfrm>
              <a:off x="3687234" y="4600575"/>
              <a:ext cx="884767" cy="304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400"/>
                <a:t>media</a:t>
              </a:r>
              <a:endParaRPr lang="es-ES" altLang="es-ES" sz="1400"/>
            </a:p>
          </p:txBody>
        </p:sp>
        <p:graphicFrame>
          <p:nvGraphicFramePr>
            <p:cNvPr id="15434" name="Object 65"/>
            <p:cNvGraphicFramePr>
              <a:graphicFrameLocks noChangeAspect="1"/>
            </p:cNvGraphicFramePr>
            <p:nvPr>
              <p:extLst>
                <p:ext uri="{D42A27DB-BD31-4B8C-83A1-F6EECF244321}">
                  <p14:modId xmlns:p14="http://schemas.microsoft.com/office/powerpoint/2010/main" val="1476355862"/>
                </p:ext>
              </p:extLst>
            </p:nvPr>
          </p:nvGraphicFramePr>
          <p:xfrm>
            <a:off x="3992211" y="4953529"/>
            <a:ext cx="204435" cy="316442"/>
          </p:xfrm>
          <a:graphic>
            <a:graphicData uri="http://schemas.openxmlformats.org/presentationml/2006/ole">
              <mc:AlternateContent xmlns:mc="http://schemas.openxmlformats.org/markup-compatibility/2006">
                <mc:Choice xmlns:v="urn:schemas-microsoft-com:vml" Requires="v">
                  <p:oleObj name="Equation" r:id="rId17" imgW="228501" imgH="342751" progId="Equation.DSMT4">
                    <p:embed/>
                  </p:oleObj>
                </mc:Choice>
                <mc:Fallback>
                  <p:oleObj name="Equation" r:id="rId17" imgW="228501" imgH="342751" progId="Equation.DSMT4">
                    <p:embed/>
                    <p:pic>
                      <p:nvPicPr>
                        <p:cNvPr id="15434" name="Object 6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92211" y="4953529"/>
                          <a:ext cx="204435" cy="316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35" name="Object 66"/>
            <p:cNvGraphicFramePr>
              <a:graphicFrameLocks noChangeAspect="1"/>
            </p:cNvGraphicFramePr>
            <p:nvPr>
              <p:extLst>
                <p:ext uri="{D42A27DB-BD31-4B8C-83A1-F6EECF244321}">
                  <p14:modId xmlns:p14="http://schemas.microsoft.com/office/powerpoint/2010/main" val="1733294264"/>
                </p:ext>
              </p:extLst>
            </p:nvPr>
          </p:nvGraphicFramePr>
          <p:xfrm>
            <a:off x="3023659" y="5023077"/>
            <a:ext cx="157515" cy="175608"/>
          </p:xfrm>
          <a:graphic>
            <a:graphicData uri="http://schemas.openxmlformats.org/presentationml/2006/ole">
              <mc:AlternateContent xmlns:mc="http://schemas.openxmlformats.org/markup-compatibility/2006">
                <mc:Choice xmlns:v="urn:schemas-microsoft-com:vml" Requires="v">
                  <p:oleObj name="Equation" r:id="rId19" imgW="177646" imgH="190335" progId="Equation.DSMT4">
                    <p:embed/>
                  </p:oleObj>
                </mc:Choice>
                <mc:Fallback>
                  <p:oleObj name="Equation" r:id="rId19" imgW="177646" imgH="190335" progId="Equation.DSMT4">
                    <p:embed/>
                    <p:pic>
                      <p:nvPicPr>
                        <p:cNvPr id="15435" name="Object 6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23659" y="5023077"/>
                          <a:ext cx="157515"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36" name="Object 67"/>
            <p:cNvGraphicFramePr>
              <a:graphicFrameLocks noChangeAspect="1"/>
            </p:cNvGraphicFramePr>
            <p:nvPr>
              <p:extLst>
                <p:ext uri="{D42A27DB-BD31-4B8C-83A1-F6EECF244321}">
                  <p14:modId xmlns:p14="http://schemas.microsoft.com/office/powerpoint/2010/main" val="4110019506"/>
                </p:ext>
              </p:extLst>
            </p:nvPr>
          </p:nvGraphicFramePr>
          <p:xfrm>
            <a:off x="3992211" y="5351689"/>
            <a:ext cx="237949" cy="316442"/>
          </p:xfrm>
          <a:graphic>
            <a:graphicData uri="http://schemas.openxmlformats.org/presentationml/2006/ole">
              <mc:AlternateContent xmlns:mc="http://schemas.openxmlformats.org/markup-compatibility/2006">
                <mc:Choice xmlns:v="urn:schemas-microsoft-com:vml" Requires="v">
                  <p:oleObj name="Equation" r:id="rId21" imgW="266469" imgH="342603" progId="Equation.DSMT4">
                    <p:embed/>
                  </p:oleObj>
                </mc:Choice>
                <mc:Fallback>
                  <p:oleObj name="Equation" r:id="rId21" imgW="266469" imgH="342603" progId="Equation.DSMT4">
                    <p:embed/>
                    <p:pic>
                      <p:nvPicPr>
                        <p:cNvPr id="15436" name="Object 6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92211" y="5351689"/>
                          <a:ext cx="237949" cy="316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37" name="Object 68"/>
            <p:cNvGraphicFramePr>
              <a:graphicFrameLocks noChangeAspect="1"/>
            </p:cNvGraphicFramePr>
            <p:nvPr>
              <p:extLst>
                <p:ext uri="{D42A27DB-BD31-4B8C-83A1-F6EECF244321}">
                  <p14:modId xmlns:p14="http://schemas.microsoft.com/office/powerpoint/2010/main" val="4039713031"/>
                </p:ext>
              </p:extLst>
            </p:nvPr>
          </p:nvGraphicFramePr>
          <p:xfrm>
            <a:off x="3992211" y="6019346"/>
            <a:ext cx="273138" cy="316442"/>
          </p:xfrm>
          <a:graphic>
            <a:graphicData uri="http://schemas.openxmlformats.org/presentationml/2006/ole">
              <mc:AlternateContent xmlns:mc="http://schemas.openxmlformats.org/markup-compatibility/2006">
                <mc:Choice xmlns:v="urn:schemas-microsoft-com:vml" Requires="v">
                  <p:oleObj name="Equation" r:id="rId23" imgW="304668" imgH="342751" progId="Equation.DSMT4">
                    <p:embed/>
                  </p:oleObj>
                </mc:Choice>
                <mc:Fallback>
                  <p:oleObj name="Equation" r:id="rId23" imgW="304668" imgH="342751" progId="Equation.DSMT4">
                    <p:embed/>
                    <p:pic>
                      <p:nvPicPr>
                        <p:cNvPr id="15437" name="Object 6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92211" y="6019346"/>
                          <a:ext cx="273138" cy="316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38" name="Object 69"/>
            <p:cNvGraphicFramePr>
              <a:graphicFrameLocks noChangeAspect="1"/>
            </p:cNvGraphicFramePr>
            <p:nvPr>
              <p:extLst>
                <p:ext uri="{D42A27DB-BD31-4B8C-83A1-F6EECF244321}">
                  <p14:modId xmlns:p14="http://schemas.microsoft.com/office/powerpoint/2010/main" val="3247304326"/>
                </p:ext>
              </p:extLst>
            </p:nvPr>
          </p:nvGraphicFramePr>
          <p:xfrm>
            <a:off x="3023659" y="5422975"/>
            <a:ext cx="157515" cy="175608"/>
          </p:xfrm>
          <a:graphic>
            <a:graphicData uri="http://schemas.openxmlformats.org/presentationml/2006/ole">
              <mc:AlternateContent xmlns:mc="http://schemas.openxmlformats.org/markup-compatibility/2006">
                <mc:Choice xmlns:v="urn:schemas-microsoft-com:vml" Requires="v">
                  <p:oleObj name="Equation" r:id="rId25" imgW="177646" imgH="190335" progId="Equation.DSMT4">
                    <p:embed/>
                  </p:oleObj>
                </mc:Choice>
                <mc:Fallback>
                  <p:oleObj name="Equation" r:id="rId25" imgW="177646" imgH="190335" progId="Equation.DSMT4">
                    <p:embed/>
                    <p:pic>
                      <p:nvPicPr>
                        <p:cNvPr id="15438" name="Object 6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23659" y="5422975"/>
                          <a:ext cx="157515"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39" name="Object 70"/>
            <p:cNvGraphicFramePr>
              <a:graphicFrameLocks noChangeAspect="1"/>
            </p:cNvGraphicFramePr>
            <p:nvPr>
              <p:extLst>
                <p:ext uri="{D42A27DB-BD31-4B8C-83A1-F6EECF244321}">
                  <p14:modId xmlns:p14="http://schemas.microsoft.com/office/powerpoint/2010/main" val="2108148617"/>
                </p:ext>
              </p:extLst>
            </p:nvPr>
          </p:nvGraphicFramePr>
          <p:xfrm>
            <a:off x="3023659" y="6090633"/>
            <a:ext cx="157515" cy="175608"/>
          </p:xfrm>
          <a:graphic>
            <a:graphicData uri="http://schemas.openxmlformats.org/presentationml/2006/ole">
              <mc:AlternateContent xmlns:mc="http://schemas.openxmlformats.org/markup-compatibility/2006">
                <mc:Choice xmlns:v="urn:schemas-microsoft-com:vml" Requires="v">
                  <p:oleObj name="Equation" r:id="rId26" imgW="177646" imgH="190335" progId="Equation.DSMT4">
                    <p:embed/>
                  </p:oleObj>
                </mc:Choice>
                <mc:Fallback>
                  <p:oleObj name="Equation" r:id="rId26" imgW="177646" imgH="190335" progId="Equation.DSMT4">
                    <p:embed/>
                    <p:pic>
                      <p:nvPicPr>
                        <p:cNvPr id="15439" name="Object 7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23659" y="6090633"/>
                          <a:ext cx="157515" cy="17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40" name="Object 71"/>
            <p:cNvGraphicFramePr>
              <a:graphicFrameLocks noChangeAspect="1"/>
            </p:cNvGraphicFramePr>
            <p:nvPr>
              <p:extLst>
                <p:ext uri="{D42A27DB-BD31-4B8C-83A1-F6EECF244321}">
                  <p14:modId xmlns:p14="http://schemas.microsoft.com/office/powerpoint/2010/main" val="4043163941"/>
                </p:ext>
              </p:extLst>
            </p:nvPr>
          </p:nvGraphicFramePr>
          <p:xfrm>
            <a:off x="2018242" y="4991780"/>
            <a:ext cx="112272" cy="236462"/>
          </p:xfrm>
          <a:graphic>
            <a:graphicData uri="http://schemas.openxmlformats.org/presentationml/2006/ole">
              <mc:AlternateContent xmlns:mc="http://schemas.openxmlformats.org/markup-compatibility/2006">
                <mc:Choice xmlns:v="urn:schemas-microsoft-com:vml" Requires="v">
                  <p:oleObj name="Equation" r:id="rId27" imgW="126720" imgH="253800" progId="Equation.DSMT4">
                    <p:embed/>
                  </p:oleObj>
                </mc:Choice>
                <mc:Fallback>
                  <p:oleObj name="Equation" r:id="rId27" imgW="126720" imgH="253800" progId="Equation.DSMT4">
                    <p:embed/>
                    <p:pic>
                      <p:nvPicPr>
                        <p:cNvPr id="15440" name="Object 71"/>
                        <p:cNvPicPr>
                          <a:picLocks noChangeAspect="1" noChangeArrowheads="1"/>
                        </p:cNvPicPr>
                        <p:nvPr/>
                      </p:nvPicPr>
                      <p:blipFill>
                        <a:blip r:embed="rId28"/>
                        <a:srcRect/>
                        <a:stretch>
                          <a:fillRect/>
                        </a:stretch>
                      </p:blipFill>
                      <p:spPr bwMode="auto">
                        <a:xfrm>
                          <a:off x="2018242" y="4991780"/>
                          <a:ext cx="112272" cy="23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41" name="Object 72"/>
            <p:cNvGraphicFramePr>
              <a:graphicFrameLocks noChangeAspect="1"/>
            </p:cNvGraphicFramePr>
            <p:nvPr>
              <p:extLst>
                <p:ext uri="{D42A27DB-BD31-4B8C-83A1-F6EECF244321}">
                  <p14:modId xmlns:p14="http://schemas.microsoft.com/office/powerpoint/2010/main" val="3024642000"/>
                </p:ext>
              </p:extLst>
            </p:nvPr>
          </p:nvGraphicFramePr>
          <p:xfrm>
            <a:off x="2013215" y="5393418"/>
            <a:ext cx="157515" cy="232985"/>
          </p:xfrm>
          <a:graphic>
            <a:graphicData uri="http://schemas.openxmlformats.org/presentationml/2006/ole">
              <mc:AlternateContent xmlns:mc="http://schemas.openxmlformats.org/markup-compatibility/2006">
                <mc:Choice xmlns:v="urn:schemas-microsoft-com:vml" Requires="v">
                  <p:oleObj name="Equation" r:id="rId29" imgW="177480" imgH="253800" progId="Equation.DSMT4">
                    <p:embed/>
                  </p:oleObj>
                </mc:Choice>
                <mc:Fallback>
                  <p:oleObj name="Equation" r:id="rId29" imgW="177480" imgH="253800" progId="Equation.DSMT4">
                    <p:embed/>
                    <p:pic>
                      <p:nvPicPr>
                        <p:cNvPr id="15441" name="Object 72"/>
                        <p:cNvPicPr>
                          <a:picLocks noChangeAspect="1" noChangeArrowheads="1"/>
                        </p:cNvPicPr>
                        <p:nvPr/>
                      </p:nvPicPr>
                      <p:blipFill>
                        <a:blip r:embed="rId30"/>
                        <a:srcRect/>
                        <a:stretch>
                          <a:fillRect/>
                        </a:stretch>
                      </p:blipFill>
                      <p:spPr bwMode="auto">
                        <a:xfrm>
                          <a:off x="2013215" y="5393418"/>
                          <a:ext cx="157515" cy="232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42" name="Object 73"/>
            <p:cNvGraphicFramePr>
              <a:graphicFrameLocks noChangeAspect="1"/>
            </p:cNvGraphicFramePr>
            <p:nvPr>
              <p:extLst>
                <p:ext uri="{D42A27DB-BD31-4B8C-83A1-F6EECF244321}">
                  <p14:modId xmlns:p14="http://schemas.microsoft.com/office/powerpoint/2010/main" val="885372916"/>
                </p:ext>
              </p:extLst>
            </p:nvPr>
          </p:nvGraphicFramePr>
          <p:xfrm>
            <a:off x="1994783" y="6066291"/>
            <a:ext cx="236273" cy="222552"/>
          </p:xfrm>
          <a:graphic>
            <a:graphicData uri="http://schemas.openxmlformats.org/presentationml/2006/ole">
              <mc:AlternateContent xmlns:mc="http://schemas.openxmlformats.org/markup-compatibility/2006">
                <mc:Choice xmlns:v="urn:schemas-microsoft-com:vml" Requires="v">
                  <p:oleObj name="Equation" r:id="rId31" imgW="266400" imgH="241200" progId="Equation.DSMT4">
                    <p:embed/>
                  </p:oleObj>
                </mc:Choice>
                <mc:Fallback>
                  <p:oleObj name="Equation" r:id="rId31" imgW="266400" imgH="241200" progId="Equation.DSMT4">
                    <p:embed/>
                    <p:pic>
                      <p:nvPicPr>
                        <p:cNvPr id="15442" name="Object 73"/>
                        <p:cNvPicPr>
                          <a:picLocks noChangeAspect="1" noChangeArrowheads="1"/>
                        </p:cNvPicPr>
                        <p:nvPr/>
                      </p:nvPicPr>
                      <p:blipFill>
                        <a:blip r:embed="rId32"/>
                        <a:srcRect/>
                        <a:stretch>
                          <a:fillRect/>
                        </a:stretch>
                      </p:blipFill>
                      <p:spPr bwMode="auto">
                        <a:xfrm>
                          <a:off x="1994783" y="6066291"/>
                          <a:ext cx="236273" cy="22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43" name="Object 74"/>
            <p:cNvGraphicFramePr>
              <a:graphicFrameLocks noChangeAspect="1"/>
            </p:cNvGraphicFramePr>
            <p:nvPr>
              <p:extLst>
                <p:ext uri="{D42A27DB-BD31-4B8C-83A1-F6EECF244321}">
                  <p14:modId xmlns:p14="http://schemas.microsoft.com/office/powerpoint/2010/main" val="1739649069"/>
                </p:ext>
              </p:extLst>
            </p:nvPr>
          </p:nvGraphicFramePr>
          <p:xfrm>
            <a:off x="1901777" y="5760110"/>
            <a:ext cx="410722" cy="190500"/>
          </p:xfrm>
          <a:graphic>
            <a:graphicData uri="http://schemas.openxmlformats.org/presentationml/2006/ole">
              <mc:AlternateContent xmlns:mc="http://schemas.openxmlformats.org/markup-compatibility/2006">
                <mc:Choice xmlns:v="urn:schemas-microsoft-com:vml" Requires="v">
                  <p:oleObj name="Equation" r:id="rId33" imgW="279400" imgH="139700" progId="Equation.DSMT4">
                    <p:embed/>
                  </p:oleObj>
                </mc:Choice>
                <mc:Fallback>
                  <p:oleObj name="Equation" r:id="rId33" imgW="279400" imgH="139700" progId="Equation.DSMT4">
                    <p:embed/>
                    <p:pic>
                      <p:nvPicPr>
                        <p:cNvPr id="15443" name="Object 7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901777" y="5760110"/>
                          <a:ext cx="410722" cy="190500"/>
                        </a:xfrm>
                        <a:prstGeom prst="rect">
                          <a:avLst/>
                        </a:prstGeom>
                        <a:noFill/>
                        <a:ln>
                          <a:noFill/>
                        </a:ln>
                        <a:effectLst/>
                      </p:spPr>
                    </p:pic>
                  </p:oleObj>
                </mc:Fallback>
              </mc:AlternateContent>
            </a:graphicData>
          </a:graphic>
        </p:graphicFrame>
        <p:grpSp>
          <p:nvGrpSpPr>
            <p:cNvPr id="15426" name="Group 77"/>
            <p:cNvGrpSpPr>
              <a:grpSpLocks/>
            </p:cNvGrpSpPr>
            <p:nvPr/>
          </p:nvGrpSpPr>
          <p:grpSpPr bwMode="auto">
            <a:xfrm>
              <a:off x="1676400" y="4600575"/>
              <a:ext cx="2895600" cy="1752600"/>
              <a:chOff x="576" y="912"/>
              <a:chExt cx="1824" cy="1008"/>
            </a:xfrm>
          </p:grpSpPr>
          <p:sp>
            <p:nvSpPr>
              <p:cNvPr id="15427" name="Line 78"/>
              <p:cNvSpPr>
                <a:spLocks noChangeShapeType="1"/>
              </p:cNvSpPr>
              <p:nvPr/>
            </p:nvSpPr>
            <p:spPr bwMode="auto">
              <a:xfrm>
                <a:off x="576" y="912"/>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28" name="Line 79"/>
              <p:cNvSpPr>
                <a:spLocks noChangeShapeType="1"/>
              </p:cNvSpPr>
              <p:nvPr/>
            </p:nvSpPr>
            <p:spPr bwMode="auto">
              <a:xfrm>
                <a:off x="576" y="1104"/>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29" name="Line 80"/>
              <p:cNvSpPr>
                <a:spLocks noChangeShapeType="1"/>
              </p:cNvSpPr>
              <p:nvPr/>
            </p:nvSpPr>
            <p:spPr bwMode="auto">
              <a:xfrm>
                <a:off x="576" y="1920"/>
                <a:ext cx="18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5389" name="Oval 93"/>
            <p:cNvSpPr>
              <a:spLocks noChangeArrowheads="1"/>
            </p:cNvSpPr>
            <p:nvPr/>
          </p:nvSpPr>
          <p:spPr bwMode="auto">
            <a:xfrm>
              <a:off x="3810000" y="4905375"/>
              <a:ext cx="609600" cy="1524000"/>
            </a:xfrm>
            <a:prstGeom prst="ellipse">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a:p>
          </p:txBody>
        </p:sp>
        <p:graphicFrame>
          <p:nvGraphicFramePr>
            <p:cNvPr id="117" name="Object 74"/>
            <p:cNvGraphicFramePr>
              <a:graphicFrameLocks noChangeAspect="1"/>
            </p:cNvGraphicFramePr>
            <p:nvPr>
              <p:extLst>
                <p:ext uri="{D42A27DB-BD31-4B8C-83A1-F6EECF244321}">
                  <p14:modId xmlns:p14="http://schemas.microsoft.com/office/powerpoint/2010/main" val="4120239904"/>
                </p:ext>
              </p:extLst>
            </p:nvPr>
          </p:nvGraphicFramePr>
          <p:xfrm>
            <a:off x="2890290" y="5760110"/>
            <a:ext cx="410722" cy="190500"/>
          </p:xfrm>
          <a:graphic>
            <a:graphicData uri="http://schemas.openxmlformats.org/presentationml/2006/ole">
              <mc:AlternateContent xmlns:mc="http://schemas.openxmlformats.org/markup-compatibility/2006">
                <mc:Choice xmlns:v="urn:schemas-microsoft-com:vml" Requires="v">
                  <p:oleObj name="Equation" r:id="rId35" imgW="279400" imgH="139700" progId="Equation.DSMT4">
                    <p:embed/>
                  </p:oleObj>
                </mc:Choice>
                <mc:Fallback>
                  <p:oleObj name="Equation" r:id="rId35" imgW="279400" imgH="139700" progId="Equation.DSMT4">
                    <p:embed/>
                    <p:pic>
                      <p:nvPicPr>
                        <p:cNvPr id="15443" name="Object 7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890290" y="5760110"/>
                          <a:ext cx="410722" cy="190500"/>
                        </a:xfrm>
                        <a:prstGeom prst="rect">
                          <a:avLst/>
                        </a:prstGeom>
                        <a:noFill/>
                        <a:ln>
                          <a:noFill/>
                        </a:ln>
                        <a:effectLst/>
                      </p:spPr>
                    </p:pic>
                  </p:oleObj>
                </mc:Fallback>
              </mc:AlternateContent>
            </a:graphicData>
          </a:graphic>
        </p:graphicFrame>
        <p:graphicFrame>
          <p:nvGraphicFramePr>
            <p:cNvPr id="118" name="Object 74"/>
            <p:cNvGraphicFramePr>
              <a:graphicFrameLocks noChangeAspect="1"/>
            </p:cNvGraphicFramePr>
            <p:nvPr>
              <p:extLst>
                <p:ext uri="{D42A27DB-BD31-4B8C-83A1-F6EECF244321}">
                  <p14:modId xmlns:p14="http://schemas.microsoft.com/office/powerpoint/2010/main" val="1075148801"/>
                </p:ext>
              </p:extLst>
            </p:nvPr>
          </p:nvGraphicFramePr>
          <p:xfrm>
            <a:off x="3911570" y="5760110"/>
            <a:ext cx="410722" cy="190500"/>
          </p:xfrm>
          <a:graphic>
            <a:graphicData uri="http://schemas.openxmlformats.org/presentationml/2006/ole">
              <mc:AlternateContent xmlns:mc="http://schemas.openxmlformats.org/markup-compatibility/2006">
                <mc:Choice xmlns:v="urn:schemas-microsoft-com:vml" Requires="v">
                  <p:oleObj name="Equation" r:id="rId36" imgW="279400" imgH="139700" progId="Equation.DSMT4">
                    <p:embed/>
                  </p:oleObj>
                </mc:Choice>
                <mc:Fallback>
                  <p:oleObj name="Equation" r:id="rId36" imgW="279400" imgH="139700" progId="Equation.DSMT4">
                    <p:embed/>
                    <p:pic>
                      <p:nvPicPr>
                        <p:cNvPr id="15443" name="Object 74"/>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911570" y="5760110"/>
                          <a:ext cx="410722" cy="190500"/>
                        </a:xfrm>
                        <a:prstGeom prst="rect">
                          <a:avLst/>
                        </a:prstGeom>
                        <a:noFill/>
                        <a:ln>
                          <a:noFill/>
                        </a:ln>
                        <a:effectLst/>
                      </p:spPr>
                    </p:pic>
                  </p:oleObj>
                </mc:Fallback>
              </mc:AlternateContent>
            </a:graphicData>
          </a:graphic>
        </p:graphicFrame>
      </p:grpSp>
      <p:pic>
        <p:nvPicPr>
          <p:cNvPr id="8" name="Imagen 7"/>
          <p:cNvPicPr>
            <a:picLocks noChangeAspect="1"/>
          </p:cNvPicPr>
          <p:nvPr/>
        </p:nvPicPr>
        <p:blipFill>
          <a:blip r:embed="rId37"/>
          <a:stretch>
            <a:fillRect/>
          </a:stretch>
        </p:blipFill>
        <p:spPr>
          <a:xfrm>
            <a:off x="4050552" y="2172909"/>
            <a:ext cx="1169572" cy="593180"/>
          </a:xfrm>
          <a:prstGeom prst="rect">
            <a:avLst/>
          </a:prstGeom>
        </p:spPr>
      </p:pic>
      <p:sp>
        <p:nvSpPr>
          <p:cNvPr id="85" name="CuadroTexto 84">
            <a:extLst>
              <a:ext uri="{FF2B5EF4-FFF2-40B4-BE49-F238E27FC236}">
                <a16:creationId xmlns:a16="http://schemas.microsoft.com/office/drawing/2014/main" id="{B8449DE0-82CC-4198-AECA-65B48AC6CB6E}"/>
              </a:ext>
            </a:extLst>
          </p:cNvPr>
          <p:cNvSpPr txBox="1"/>
          <p:nvPr/>
        </p:nvSpPr>
        <p:spPr>
          <a:xfrm rot="590582">
            <a:off x="7609102" y="402625"/>
            <a:ext cx="1180388" cy="276999"/>
          </a:xfrm>
          <a:prstGeom prst="rect">
            <a:avLst/>
          </a:prstGeom>
          <a:solidFill>
            <a:schemeClr val="bg1"/>
          </a:solidFill>
          <a:ln>
            <a:solidFill>
              <a:srgbClr val="FF0000"/>
            </a:solidFill>
          </a:ln>
        </p:spPr>
        <p:txBody>
          <a:bodyPr wrap="none" rtlCol="0">
            <a:spAutoFit/>
          </a:bodyPr>
          <a:lstStyle/>
          <a:p>
            <a:r>
              <a:rPr lang="es-ES" dirty="0">
                <a:solidFill>
                  <a:srgbClr val="C00000"/>
                </a:solidFill>
              </a:rPr>
              <a:t>IMPORTANTE</a:t>
            </a:r>
          </a:p>
        </p:txBody>
      </p:sp>
    </p:spTree>
    <p:extLst>
      <p:ext uri="{BB962C8B-B14F-4D97-AF65-F5344CB8AC3E}">
        <p14:creationId xmlns:p14="http://schemas.microsoft.com/office/powerpoint/2010/main" val="3352714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4"/>
          <p:cNvGraphicFramePr>
            <a:graphicFrameLocks noChangeAspect="1"/>
          </p:cNvGraphicFramePr>
          <p:nvPr>
            <p:extLst>
              <p:ext uri="{D42A27DB-BD31-4B8C-83A1-F6EECF244321}">
                <p14:modId xmlns:p14="http://schemas.microsoft.com/office/powerpoint/2010/main" val="2775860977"/>
              </p:ext>
            </p:extLst>
          </p:nvPr>
        </p:nvGraphicFramePr>
        <p:xfrm>
          <a:off x="2362200" y="2362200"/>
          <a:ext cx="2836862" cy="580862"/>
        </p:xfrm>
        <a:graphic>
          <a:graphicData uri="http://schemas.openxmlformats.org/presentationml/2006/ole">
            <mc:AlternateContent xmlns:mc="http://schemas.openxmlformats.org/markup-compatibility/2006">
              <mc:Choice xmlns:v="urn:schemas-microsoft-com:vml" Requires="v">
                <p:oleObj name="Equation" r:id="rId2" imgW="4254500" imgH="774700" progId="Equation.DSMT4">
                  <p:embed/>
                </p:oleObj>
              </mc:Choice>
              <mc:Fallback>
                <p:oleObj name="Equation" r:id="rId2" imgW="4254500" imgH="774700" progId="Equation.DSMT4">
                  <p:embed/>
                  <p:pic>
                    <p:nvPicPr>
                      <p:cNvPr id="1638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2362200"/>
                        <a:ext cx="2836862" cy="580862"/>
                      </a:xfrm>
                      <a:prstGeom prst="rect">
                        <a:avLst/>
                      </a:prstGeom>
                      <a:noFill/>
                      <a:ln>
                        <a:noFill/>
                      </a:ln>
                      <a:effectLst/>
                    </p:spPr>
                  </p:pic>
                </p:oleObj>
              </mc:Fallback>
            </mc:AlternateContent>
          </a:graphicData>
        </a:graphic>
      </p:graphicFrame>
      <p:graphicFrame>
        <p:nvGraphicFramePr>
          <p:cNvPr id="16388" name="Object 6"/>
          <p:cNvGraphicFramePr>
            <a:graphicFrameLocks noChangeAspect="1"/>
          </p:cNvGraphicFramePr>
          <p:nvPr>
            <p:extLst>
              <p:ext uri="{D42A27DB-BD31-4B8C-83A1-F6EECF244321}">
                <p14:modId xmlns:p14="http://schemas.microsoft.com/office/powerpoint/2010/main" val="3662146705"/>
              </p:ext>
            </p:extLst>
          </p:nvPr>
        </p:nvGraphicFramePr>
        <p:xfrm>
          <a:off x="4114800" y="1138555"/>
          <a:ext cx="762000" cy="592138"/>
        </p:xfrm>
        <a:graphic>
          <a:graphicData uri="http://schemas.openxmlformats.org/presentationml/2006/ole">
            <mc:AlternateContent xmlns:mc="http://schemas.openxmlformats.org/markup-compatibility/2006">
              <mc:Choice xmlns:v="urn:schemas-microsoft-com:vml" Requires="v">
                <p:oleObj name="Equation" r:id="rId4" imgW="1066800" imgH="736600" progId="Equation.DSMT4">
                  <p:embed/>
                </p:oleObj>
              </mc:Choice>
              <mc:Fallback>
                <p:oleObj name="Equation" r:id="rId4" imgW="1066800" imgH="736600" progId="Equation.DSMT4">
                  <p:embed/>
                  <p:pic>
                    <p:nvPicPr>
                      <p:cNvPr id="1638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138555"/>
                        <a:ext cx="762000" cy="592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Text Box 7"/>
          <p:cNvSpPr txBox="1">
            <a:spLocks noChangeArrowheads="1"/>
          </p:cNvSpPr>
          <p:nvPr/>
        </p:nvSpPr>
        <p:spPr bwMode="auto">
          <a:xfrm>
            <a:off x="228600" y="3687931"/>
            <a:ext cx="8382000" cy="52322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7013" indent="-22701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180975" indent="-180975" algn="just" eaLnBrk="1" hangingPunct="1">
              <a:buFont typeface="+mj-lt"/>
              <a:buAutoNum type="arabicPeriod" startAt="2"/>
            </a:pPr>
            <a:r>
              <a:rPr lang="es-ES" altLang="es-ES" sz="1300" dirty="0"/>
              <a:t>Si la variable no tiene distribución normal, la media muestral tiene distribución aproximadamente normal cuando el tamaño muestral (</a:t>
            </a:r>
            <a:r>
              <a:rPr lang="es-ES" altLang="es-ES" sz="1500" i="1" dirty="0">
                <a:latin typeface="Times New Roman" panose="02020603050405020304" pitchFamily="18" charset="0"/>
              </a:rPr>
              <a:t>n</a:t>
            </a:r>
            <a:r>
              <a:rPr lang="es-ES" altLang="es-ES" sz="1300" dirty="0"/>
              <a:t>)</a:t>
            </a:r>
            <a:r>
              <a:rPr lang="es-ES" altLang="es-ES" sz="1300" i="1" dirty="0"/>
              <a:t> es suficientemente grande </a:t>
            </a:r>
            <a:r>
              <a:rPr lang="es-ES" altLang="es-ES" sz="1300" dirty="0"/>
              <a:t>(mayor a 60).</a:t>
            </a:r>
          </a:p>
        </p:txBody>
      </p:sp>
      <p:graphicFrame>
        <p:nvGraphicFramePr>
          <p:cNvPr id="16390" name="Object 8"/>
          <p:cNvGraphicFramePr>
            <a:graphicFrameLocks noChangeAspect="1"/>
          </p:cNvGraphicFramePr>
          <p:nvPr>
            <p:extLst>
              <p:ext uri="{D42A27DB-BD31-4B8C-83A1-F6EECF244321}">
                <p14:modId xmlns:p14="http://schemas.microsoft.com/office/powerpoint/2010/main" val="1062474689"/>
              </p:ext>
            </p:extLst>
          </p:nvPr>
        </p:nvGraphicFramePr>
        <p:xfrm>
          <a:off x="2434431" y="4548582"/>
          <a:ext cx="2692400" cy="636588"/>
        </p:xfrm>
        <a:graphic>
          <a:graphicData uri="http://schemas.openxmlformats.org/presentationml/2006/ole">
            <mc:AlternateContent xmlns:mc="http://schemas.openxmlformats.org/markup-compatibility/2006">
              <mc:Choice xmlns:v="urn:schemas-microsoft-com:vml" Requires="v">
                <p:oleObj name="Equation" r:id="rId6" imgW="3682800" imgH="774360" progId="Equation.DSMT4">
                  <p:embed/>
                </p:oleObj>
              </mc:Choice>
              <mc:Fallback>
                <p:oleObj name="Equation" r:id="rId6" imgW="3682800" imgH="774360" progId="Equation.DSMT4">
                  <p:embed/>
                  <p:pic>
                    <p:nvPicPr>
                      <p:cNvPr id="16390" name="Object 8"/>
                      <p:cNvPicPr>
                        <a:picLocks noChangeAspect="1" noChangeArrowheads="1"/>
                      </p:cNvPicPr>
                      <p:nvPr/>
                    </p:nvPicPr>
                    <p:blipFill>
                      <a:blip r:embed="rId7"/>
                      <a:srcRect/>
                      <a:stretch>
                        <a:fillRect/>
                      </a:stretch>
                    </p:blipFill>
                    <p:spPr bwMode="auto">
                      <a:xfrm>
                        <a:off x="2434431" y="4548582"/>
                        <a:ext cx="2692400" cy="636588"/>
                      </a:xfrm>
                      <a:prstGeom prst="rect">
                        <a:avLst/>
                      </a:prstGeom>
                      <a:noFill/>
                      <a:ln>
                        <a:noFill/>
                      </a:ln>
                    </p:spPr>
                  </p:pic>
                </p:oleObj>
              </mc:Fallback>
            </mc:AlternateContent>
          </a:graphicData>
        </a:graphic>
      </p:graphicFrame>
      <p:sp>
        <p:nvSpPr>
          <p:cNvPr id="16391" name="Text Box 9"/>
          <p:cNvSpPr txBox="1">
            <a:spLocks noChangeArrowheads="1"/>
          </p:cNvSpPr>
          <p:nvPr/>
        </p:nvSpPr>
        <p:spPr bwMode="auto">
          <a:xfrm>
            <a:off x="228599" y="1639744"/>
            <a:ext cx="2971801" cy="29238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r>
              <a:rPr lang="es-ES" altLang="es-ES" sz="1300" dirty="0">
                <a:latin typeface="+mj-lt"/>
              </a:rPr>
              <a:t>Entonces:</a:t>
            </a:r>
          </a:p>
        </p:txBody>
      </p:sp>
      <p:sp>
        <p:nvSpPr>
          <p:cNvPr id="16392" name="Text Box 11"/>
          <p:cNvSpPr txBox="1">
            <a:spLocks noChangeArrowheads="1"/>
          </p:cNvSpPr>
          <p:nvPr/>
        </p:nvSpPr>
        <p:spPr bwMode="auto">
          <a:xfrm>
            <a:off x="152400" y="848234"/>
            <a:ext cx="8382000" cy="52322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7013" indent="-22701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s-ES" altLang="es-ES" sz="1300" dirty="0">
                <a:solidFill>
                  <a:srgbClr val="FF0000"/>
                </a:solidFill>
              </a:rPr>
              <a:t>La </a:t>
            </a:r>
            <a:r>
              <a:rPr lang="es-ES" altLang="es-ES" sz="1300" b="1" dirty="0">
                <a:solidFill>
                  <a:srgbClr val="FF0000"/>
                </a:solidFill>
              </a:rPr>
              <a:t>media muestral </a:t>
            </a:r>
            <a:r>
              <a:rPr lang="es-ES" altLang="es-ES" sz="1300" dirty="0">
                <a:solidFill>
                  <a:srgbClr val="FF0000"/>
                </a:solidFill>
              </a:rPr>
              <a:t>es una variable aleatoria continua que se obtiene como la suma de </a:t>
            </a:r>
            <a:r>
              <a:rPr lang="es-ES" altLang="es-ES" sz="1500" i="1" dirty="0">
                <a:solidFill>
                  <a:srgbClr val="FF0000"/>
                </a:solidFill>
                <a:latin typeface="Times New Roman" panose="02020603050405020304" pitchFamily="18" charset="0"/>
                <a:cs typeface="Times New Roman" panose="02020603050405020304" pitchFamily="18" charset="0"/>
              </a:rPr>
              <a:t>n</a:t>
            </a:r>
            <a:r>
              <a:rPr lang="es-ES" altLang="es-ES" sz="1300" i="1" dirty="0">
                <a:solidFill>
                  <a:srgbClr val="FF0000"/>
                </a:solidFill>
              </a:rPr>
              <a:t> </a:t>
            </a:r>
            <a:r>
              <a:rPr lang="es-ES" altLang="es-ES" sz="1300" dirty="0">
                <a:solidFill>
                  <a:srgbClr val="FF0000"/>
                </a:solidFill>
              </a:rPr>
              <a:t>valores de magnitud similar</a:t>
            </a:r>
            <a:endParaRPr lang="es-ES" altLang="es-ES" sz="1300" i="1" dirty="0">
              <a:solidFill>
                <a:srgbClr val="FF0000"/>
              </a:solidFill>
            </a:endParaRPr>
          </a:p>
        </p:txBody>
      </p:sp>
      <p:grpSp>
        <p:nvGrpSpPr>
          <p:cNvPr id="7" name="Grupo 6"/>
          <p:cNvGrpSpPr/>
          <p:nvPr/>
        </p:nvGrpSpPr>
        <p:grpSpPr>
          <a:xfrm>
            <a:off x="6125360" y="4102665"/>
            <a:ext cx="2485240" cy="1155135"/>
            <a:chOff x="6125360" y="4075885"/>
            <a:chExt cx="2485240" cy="1039909"/>
          </a:xfrm>
        </p:grpSpPr>
        <p:pic>
          <p:nvPicPr>
            <p:cNvPr id="16397" name="Picture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0042" y="4226397"/>
              <a:ext cx="2132314" cy="889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6398" name="Group 22"/>
            <p:cNvGrpSpPr>
              <a:grpSpLocks/>
            </p:cNvGrpSpPr>
            <p:nvPr/>
          </p:nvGrpSpPr>
          <p:grpSpPr bwMode="auto">
            <a:xfrm>
              <a:off x="6447150" y="4075885"/>
              <a:ext cx="691707" cy="1011380"/>
              <a:chOff x="2152" y="758"/>
              <a:chExt cx="2031" cy="1029"/>
            </a:xfrm>
          </p:grpSpPr>
          <p:sp>
            <p:nvSpPr>
              <p:cNvPr id="16402" name="Line 23"/>
              <p:cNvSpPr>
                <a:spLocks noChangeShapeType="1"/>
              </p:cNvSpPr>
              <p:nvPr/>
            </p:nvSpPr>
            <p:spPr bwMode="auto">
              <a:xfrm>
                <a:off x="2152"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03" name="Line 24"/>
              <p:cNvSpPr>
                <a:spLocks noChangeShapeType="1"/>
              </p:cNvSpPr>
              <p:nvPr/>
            </p:nvSpPr>
            <p:spPr bwMode="auto">
              <a:xfrm>
                <a:off x="2156"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04" name="Line 25"/>
              <p:cNvSpPr>
                <a:spLocks noChangeShapeType="1"/>
              </p:cNvSpPr>
              <p:nvPr/>
            </p:nvSpPr>
            <p:spPr bwMode="auto">
              <a:xfrm>
                <a:off x="2160"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05" name="Freeform 26"/>
              <p:cNvSpPr>
                <a:spLocks/>
              </p:cNvSpPr>
              <p:nvPr/>
            </p:nvSpPr>
            <p:spPr bwMode="auto">
              <a:xfrm>
                <a:off x="2160" y="178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06" name="Line 27"/>
              <p:cNvSpPr>
                <a:spLocks noChangeShapeType="1"/>
              </p:cNvSpPr>
              <p:nvPr/>
            </p:nvSpPr>
            <p:spPr bwMode="auto">
              <a:xfrm>
                <a:off x="2165"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07" name="Freeform 28"/>
              <p:cNvSpPr>
                <a:spLocks/>
              </p:cNvSpPr>
              <p:nvPr/>
            </p:nvSpPr>
            <p:spPr bwMode="auto">
              <a:xfrm>
                <a:off x="2165"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08" name="Line 29"/>
              <p:cNvSpPr>
                <a:spLocks noChangeShapeType="1"/>
              </p:cNvSpPr>
              <p:nvPr/>
            </p:nvSpPr>
            <p:spPr bwMode="auto">
              <a:xfrm>
                <a:off x="2169"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09" name="Line 30"/>
              <p:cNvSpPr>
                <a:spLocks noChangeShapeType="1"/>
              </p:cNvSpPr>
              <p:nvPr/>
            </p:nvSpPr>
            <p:spPr bwMode="auto">
              <a:xfrm>
                <a:off x="2169"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0" name="Line 31"/>
              <p:cNvSpPr>
                <a:spLocks noChangeShapeType="1"/>
              </p:cNvSpPr>
              <p:nvPr/>
            </p:nvSpPr>
            <p:spPr bwMode="auto">
              <a:xfrm>
                <a:off x="2173"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1" name="Line 32"/>
              <p:cNvSpPr>
                <a:spLocks noChangeShapeType="1"/>
              </p:cNvSpPr>
              <p:nvPr/>
            </p:nvSpPr>
            <p:spPr bwMode="auto">
              <a:xfrm>
                <a:off x="2178"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2" name="Freeform 33"/>
              <p:cNvSpPr>
                <a:spLocks/>
              </p:cNvSpPr>
              <p:nvPr/>
            </p:nvSpPr>
            <p:spPr bwMode="auto">
              <a:xfrm>
                <a:off x="2178"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13" name="Line 34"/>
              <p:cNvSpPr>
                <a:spLocks noChangeShapeType="1"/>
              </p:cNvSpPr>
              <p:nvPr/>
            </p:nvSpPr>
            <p:spPr bwMode="auto">
              <a:xfrm>
                <a:off x="2182"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4" name="Line 35"/>
              <p:cNvSpPr>
                <a:spLocks noChangeShapeType="1"/>
              </p:cNvSpPr>
              <p:nvPr/>
            </p:nvSpPr>
            <p:spPr bwMode="auto">
              <a:xfrm>
                <a:off x="2182"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5" name="Line 36"/>
              <p:cNvSpPr>
                <a:spLocks noChangeShapeType="1"/>
              </p:cNvSpPr>
              <p:nvPr/>
            </p:nvSpPr>
            <p:spPr bwMode="auto">
              <a:xfrm>
                <a:off x="2186"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6" name="Line 37"/>
              <p:cNvSpPr>
                <a:spLocks noChangeShapeType="1"/>
              </p:cNvSpPr>
              <p:nvPr/>
            </p:nvSpPr>
            <p:spPr bwMode="auto">
              <a:xfrm>
                <a:off x="2191"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7" name="Freeform 38"/>
              <p:cNvSpPr>
                <a:spLocks/>
              </p:cNvSpPr>
              <p:nvPr/>
            </p:nvSpPr>
            <p:spPr bwMode="auto">
              <a:xfrm>
                <a:off x="2191"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18" name="Line 39"/>
              <p:cNvSpPr>
                <a:spLocks noChangeShapeType="1"/>
              </p:cNvSpPr>
              <p:nvPr/>
            </p:nvSpPr>
            <p:spPr bwMode="auto">
              <a:xfrm>
                <a:off x="2195"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19" name="Freeform 40"/>
              <p:cNvSpPr>
                <a:spLocks/>
              </p:cNvSpPr>
              <p:nvPr/>
            </p:nvSpPr>
            <p:spPr bwMode="auto">
              <a:xfrm>
                <a:off x="2195"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20" name="Line 41"/>
              <p:cNvSpPr>
                <a:spLocks noChangeShapeType="1"/>
              </p:cNvSpPr>
              <p:nvPr/>
            </p:nvSpPr>
            <p:spPr bwMode="auto">
              <a:xfrm>
                <a:off x="2199"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1" name="Line 42"/>
              <p:cNvSpPr>
                <a:spLocks noChangeShapeType="1"/>
              </p:cNvSpPr>
              <p:nvPr/>
            </p:nvSpPr>
            <p:spPr bwMode="auto">
              <a:xfrm>
                <a:off x="2199"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2" name="Line 43"/>
              <p:cNvSpPr>
                <a:spLocks noChangeShapeType="1"/>
              </p:cNvSpPr>
              <p:nvPr/>
            </p:nvSpPr>
            <p:spPr bwMode="auto">
              <a:xfrm>
                <a:off x="2204"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3" name="Line 44"/>
              <p:cNvSpPr>
                <a:spLocks noChangeShapeType="1"/>
              </p:cNvSpPr>
              <p:nvPr/>
            </p:nvSpPr>
            <p:spPr bwMode="auto">
              <a:xfrm>
                <a:off x="2208"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4" name="Freeform 45"/>
              <p:cNvSpPr>
                <a:spLocks/>
              </p:cNvSpPr>
              <p:nvPr/>
            </p:nvSpPr>
            <p:spPr bwMode="auto">
              <a:xfrm>
                <a:off x="2208"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25" name="Line 46"/>
              <p:cNvSpPr>
                <a:spLocks noChangeShapeType="1"/>
              </p:cNvSpPr>
              <p:nvPr/>
            </p:nvSpPr>
            <p:spPr bwMode="auto">
              <a:xfrm>
                <a:off x="2212"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6" name="Line 47"/>
              <p:cNvSpPr>
                <a:spLocks noChangeShapeType="1"/>
              </p:cNvSpPr>
              <p:nvPr/>
            </p:nvSpPr>
            <p:spPr bwMode="auto">
              <a:xfrm>
                <a:off x="2212"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7" name="Line 48"/>
              <p:cNvSpPr>
                <a:spLocks noChangeShapeType="1"/>
              </p:cNvSpPr>
              <p:nvPr/>
            </p:nvSpPr>
            <p:spPr bwMode="auto">
              <a:xfrm>
                <a:off x="2217"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8" name="Line 49"/>
              <p:cNvSpPr>
                <a:spLocks noChangeShapeType="1"/>
              </p:cNvSpPr>
              <p:nvPr/>
            </p:nvSpPr>
            <p:spPr bwMode="auto">
              <a:xfrm>
                <a:off x="2221"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29" name="Freeform 50"/>
              <p:cNvSpPr>
                <a:spLocks/>
              </p:cNvSpPr>
              <p:nvPr/>
            </p:nvSpPr>
            <p:spPr bwMode="auto">
              <a:xfrm>
                <a:off x="2221"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30" name="Line 51"/>
              <p:cNvSpPr>
                <a:spLocks noChangeShapeType="1"/>
              </p:cNvSpPr>
              <p:nvPr/>
            </p:nvSpPr>
            <p:spPr bwMode="auto">
              <a:xfrm>
                <a:off x="2225"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1" name="Line 52"/>
              <p:cNvSpPr>
                <a:spLocks noChangeShapeType="1"/>
              </p:cNvSpPr>
              <p:nvPr/>
            </p:nvSpPr>
            <p:spPr bwMode="auto">
              <a:xfrm>
                <a:off x="2225"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2" name="Line 53"/>
              <p:cNvSpPr>
                <a:spLocks noChangeShapeType="1"/>
              </p:cNvSpPr>
              <p:nvPr/>
            </p:nvSpPr>
            <p:spPr bwMode="auto">
              <a:xfrm>
                <a:off x="2230"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3" name="Line 54"/>
              <p:cNvSpPr>
                <a:spLocks noChangeShapeType="1"/>
              </p:cNvSpPr>
              <p:nvPr/>
            </p:nvSpPr>
            <p:spPr bwMode="auto">
              <a:xfrm>
                <a:off x="2234"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4" name="Freeform 55"/>
              <p:cNvSpPr>
                <a:spLocks/>
              </p:cNvSpPr>
              <p:nvPr/>
            </p:nvSpPr>
            <p:spPr bwMode="auto">
              <a:xfrm>
                <a:off x="2234"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35" name="Line 56"/>
              <p:cNvSpPr>
                <a:spLocks noChangeShapeType="1"/>
              </p:cNvSpPr>
              <p:nvPr/>
            </p:nvSpPr>
            <p:spPr bwMode="auto">
              <a:xfrm>
                <a:off x="2238"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6" name="Freeform 57"/>
              <p:cNvSpPr>
                <a:spLocks/>
              </p:cNvSpPr>
              <p:nvPr/>
            </p:nvSpPr>
            <p:spPr bwMode="auto">
              <a:xfrm>
                <a:off x="2238" y="178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37" name="Line 58"/>
              <p:cNvSpPr>
                <a:spLocks noChangeShapeType="1"/>
              </p:cNvSpPr>
              <p:nvPr/>
            </p:nvSpPr>
            <p:spPr bwMode="auto">
              <a:xfrm>
                <a:off x="2243"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8" name="Line 59"/>
              <p:cNvSpPr>
                <a:spLocks noChangeShapeType="1"/>
              </p:cNvSpPr>
              <p:nvPr/>
            </p:nvSpPr>
            <p:spPr bwMode="auto">
              <a:xfrm>
                <a:off x="2243"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39" name="Line 60"/>
              <p:cNvSpPr>
                <a:spLocks noChangeShapeType="1"/>
              </p:cNvSpPr>
              <p:nvPr/>
            </p:nvSpPr>
            <p:spPr bwMode="auto">
              <a:xfrm>
                <a:off x="2247"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0" name="Line 61"/>
              <p:cNvSpPr>
                <a:spLocks noChangeShapeType="1"/>
              </p:cNvSpPr>
              <p:nvPr/>
            </p:nvSpPr>
            <p:spPr bwMode="auto">
              <a:xfrm>
                <a:off x="2251"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1" name="Freeform 62"/>
              <p:cNvSpPr>
                <a:spLocks/>
              </p:cNvSpPr>
              <p:nvPr/>
            </p:nvSpPr>
            <p:spPr bwMode="auto">
              <a:xfrm>
                <a:off x="2251" y="178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42" name="Line 63"/>
              <p:cNvSpPr>
                <a:spLocks noChangeShapeType="1"/>
              </p:cNvSpPr>
              <p:nvPr/>
            </p:nvSpPr>
            <p:spPr bwMode="auto">
              <a:xfrm>
                <a:off x="2256"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3" name="Line 64"/>
              <p:cNvSpPr>
                <a:spLocks noChangeShapeType="1"/>
              </p:cNvSpPr>
              <p:nvPr/>
            </p:nvSpPr>
            <p:spPr bwMode="auto">
              <a:xfrm>
                <a:off x="2256"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4" name="Line 65"/>
              <p:cNvSpPr>
                <a:spLocks noChangeShapeType="1"/>
              </p:cNvSpPr>
              <p:nvPr/>
            </p:nvSpPr>
            <p:spPr bwMode="auto">
              <a:xfrm>
                <a:off x="2260"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5" name="Line 66"/>
              <p:cNvSpPr>
                <a:spLocks noChangeShapeType="1"/>
              </p:cNvSpPr>
              <p:nvPr/>
            </p:nvSpPr>
            <p:spPr bwMode="auto">
              <a:xfrm>
                <a:off x="2265"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6" name="Freeform 67"/>
              <p:cNvSpPr>
                <a:spLocks/>
              </p:cNvSpPr>
              <p:nvPr/>
            </p:nvSpPr>
            <p:spPr bwMode="auto">
              <a:xfrm>
                <a:off x="2265"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47" name="Line 68"/>
              <p:cNvSpPr>
                <a:spLocks noChangeShapeType="1"/>
              </p:cNvSpPr>
              <p:nvPr/>
            </p:nvSpPr>
            <p:spPr bwMode="auto">
              <a:xfrm>
                <a:off x="2269"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48" name="Freeform 69"/>
              <p:cNvSpPr>
                <a:spLocks/>
              </p:cNvSpPr>
              <p:nvPr/>
            </p:nvSpPr>
            <p:spPr bwMode="auto">
              <a:xfrm>
                <a:off x="2269"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49" name="Line 70"/>
              <p:cNvSpPr>
                <a:spLocks noChangeShapeType="1"/>
              </p:cNvSpPr>
              <p:nvPr/>
            </p:nvSpPr>
            <p:spPr bwMode="auto">
              <a:xfrm>
                <a:off x="2273"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0" name="Freeform 71"/>
              <p:cNvSpPr>
                <a:spLocks/>
              </p:cNvSpPr>
              <p:nvPr/>
            </p:nvSpPr>
            <p:spPr bwMode="auto">
              <a:xfrm>
                <a:off x="2273" y="1783"/>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51" name="Line 72"/>
              <p:cNvSpPr>
                <a:spLocks noChangeShapeType="1"/>
              </p:cNvSpPr>
              <p:nvPr/>
            </p:nvSpPr>
            <p:spPr bwMode="auto">
              <a:xfrm>
                <a:off x="2278"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2" name="Line 73"/>
              <p:cNvSpPr>
                <a:spLocks noChangeShapeType="1"/>
              </p:cNvSpPr>
              <p:nvPr/>
            </p:nvSpPr>
            <p:spPr bwMode="auto">
              <a:xfrm>
                <a:off x="2282"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3" name="Freeform 74"/>
              <p:cNvSpPr>
                <a:spLocks/>
              </p:cNvSpPr>
              <p:nvPr/>
            </p:nvSpPr>
            <p:spPr bwMode="auto">
              <a:xfrm>
                <a:off x="2282"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54" name="Line 75"/>
              <p:cNvSpPr>
                <a:spLocks noChangeShapeType="1"/>
              </p:cNvSpPr>
              <p:nvPr/>
            </p:nvSpPr>
            <p:spPr bwMode="auto">
              <a:xfrm>
                <a:off x="2286"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5" name="Line 76"/>
              <p:cNvSpPr>
                <a:spLocks noChangeShapeType="1"/>
              </p:cNvSpPr>
              <p:nvPr/>
            </p:nvSpPr>
            <p:spPr bwMode="auto">
              <a:xfrm>
                <a:off x="2286"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6" name="Line 77"/>
              <p:cNvSpPr>
                <a:spLocks noChangeShapeType="1"/>
              </p:cNvSpPr>
              <p:nvPr/>
            </p:nvSpPr>
            <p:spPr bwMode="auto">
              <a:xfrm>
                <a:off x="2291"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7" name="Line 78"/>
              <p:cNvSpPr>
                <a:spLocks noChangeShapeType="1"/>
              </p:cNvSpPr>
              <p:nvPr/>
            </p:nvSpPr>
            <p:spPr bwMode="auto">
              <a:xfrm>
                <a:off x="2295"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58" name="Freeform 79"/>
              <p:cNvSpPr>
                <a:spLocks/>
              </p:cNvSpPr>
              <p:nvPr/>
            </p:nvSpPr>
            <p:spPr bwMode="auto">
              <a:xfrm>
                <a:off x="2295"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59" name="Line 80"/>
              <p:cNvSpPr>
                <a:spLocks noChangeShapeType="1"/>
              </p:cNvSpPr>
              <p:nvPr/>
            </p:nvSpPr>
            <p:spPr bwMode="auto">
              <a:xfrm>
                <a:off x="2299"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0" name="Freeform 81"/>
              <p:cNvSpPr>
                <a:spLocks/>
              </p:cNvSpPr>
              <p:nvPr/>
            </p:nvSpPr>
            <p:spPr bwMode="auto">
              <a:xfrm>
                <a:off x="2299"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61" name="Line 82"/>
              <p:cNvSpPr>
                <a:spLocks noChangeShapeType="1"/>
              </p:cNvSpPr>
              <p:nvPr/>
            </p:nvSpPr>
            <p:spPr bwMode="auto">
              <a:xfrm>
                <a:off x="2304"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2" name="Line 83"/>
              <p:cNvSpPr>
                <a:spLocks noChangeShapeType="1"/>
              </p:cNvSpPr>
              <p:nvPr/>
            </p:nvSpPr>
            <p:spPr bwMode="auto">
              <a:xfrm>
                <a:off x="2304"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3" name="Line 84"/>
              <p:cNvSpPr>
                <a:spLocks noChangeShapeType="1"/>
              </p:cNvSpPr>
              <p:nvPr/>
            </p:nvSpPr>
            <p:spPr bwMode="auto">
              <a:xfrm>
                <a:off x="2308"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4" name="Line 85"/>
              <p:cNvSpPr>
                <a:spLocks noChangeShapeType="1"/>
              </p:cNvSpPr>
              <p:nvPr/>
            </p:nvSpPr>
            <p:spPr bwMode="auto">
              <a:xfrm>
                <a:off x="2312"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5" name="Freeform 86"/>
              <p:cNvSpPr>
                <a:spLocks/>
              </p:cNvSpPr>
              <p:nvPr/>
            </p:nvSpPr>
            <p:spPr bwMode="auto">
              <a:xfrm>
                <a:off x="2312"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66" name="Line 87"/>
              <p:cNvSpPr>
                <a:spLocks noChangeShapeType="1"/>
              </p:cNvSpPr>
              <p:nvPr/>
            </p:nvSpPr>
            <p:spPr bwMode="auto">
              <a:xfrm>
                <a:off x="2317"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7" name="Line 88"/>
              <p:cNvSpPr>
                <a:spLocks noChangeShapeType="1"/>
              </p:cNvSpPr>
              <p:nvPr/>
            </p:nvSpPr>
            <p:spPr bwMode="auto">
              <a:xfrm>
                <a:off x="2317"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8" name="Line 89"/>
              <p:cNvSpPr>
                <a:spLocks noChangeShapeType="1"/>
              </p:cNvSpPr>
              <p:nvPr/>
            </p:nvSpPr>
            <p:spPr bwMode="auto">
              <a:xfrm>
                <a:off x="2321"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69" name="Line 90"/>
              <p:cNvSpPr>
                <a:spLocks noChangeShapeType="1"/>
              </p:cNvSpPr>
              <p:nvPr/>
            </p:nvSpPr>
            <p:spPr bwMode="auto">
              <a:xfrm>
                <a:off x="2325"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0" name="Freeform 91"/>
              <p:cNvSpPr>
                <a:spLocks/>
              </p:cNvSpPr>
              <p:nvPr/>
            </p:nvSpPr>
            <p:spPr bwMode="auto">
              <a:xfrm>
                <a:off x="2325"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71" name="Line 92"/>
              <p:cNvSpPr>
                <a:spLocks noChangeShapeType="1"/>
              </p:cNvSpPr>
              <p:nvPr/>
            </p:nvSpPr>
            <p:spPr bwMode="auto">
              <a:xfrm>
                <a:off x="2330"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2" name="Freeform 93"/>
              <p:cNvSpPr>
                <a:spLocks/>
              </p:cNvSpPr>
              <p:nvPr/>
            </p:nvSpPr>
            <p:spPr bwMode="auto">
              <a:xfrm>
                <a:off x="233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73" name="Line 94"/>
              <p:cNvSpPr>
                <a:spLocks noChangeShapeType="1"/>
              </p:cNvSpPr>
              <p:nvPr/>
            </p:nvSpPr>
            <p:spPr bwMode="auto">
              <a:xfrm>
                <a:off x="2334"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4" name="Line 95"/>
              <p:cNvSpPr>
                <a:spLocks noChangeShapeType="1"/>
              </p:cNvSpPr>
              <p:nvPr/>
            </p:nvSpPr>
            <p:spPr bwMode="auto">
              <a:xfrm>
                <a:off x="2334"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5" name="Line 96"/>
              <p:cNvSpPr>
                <a:spLocks noChangeShapeType="1"/>
              </p:cNvSpPr>
              <p:nvPr/>
            </p:nvSpPr>
            <p:spPr bwMode="auto">
              <a:xfrm>
                <a:off x="2338"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6" name="Line 97"/>
              <p:cNvSpPr>
                <a:spLocks noChangeShapeType="1"/>
              </p:cNvSpPr>
              <p:nvPr/>
            </p:nvSpPr>
            <p:spPr bwMode="auto">
              <a:xfrm>
                <a:off x="2343"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7" name="Freeform 98"/>
              <p:cNvSpPr>
                <a:spLocks/>
              </p:cNvSpPr>
              <p:nvPr/>
            </p:nvSpPr>
            <p:spPr bwMode="auto">
              <a:xfrm>
                <a:off x="2343"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78" name="Line 99"/>
              <p:cNvSpPr>
                <a:spLocks noChangeShapeType="1"/>
              </p:cNvSpPr>
              <p:nvPr/>
            </p:nvSpPr>
            <p:spPr bwMode="auto">
              <a:xfrm>
                <a:off x="2347"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79" name="Line 100"/>
              <p:cNvSpPr>
                <a:spLocks noChangeShapeType="1"/>
              </p:cNvSpPr>
              <p:nvPr/>
            </p:nvSpPr>
            <p:spPr bwMode="auto">
              <a:xfrm>
                <a:off x="2347"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0" name="Line 101"/>
              <p:cNvSpPr>
                <a:spLocks noChangeShapeType="1"/>
              </p:cNvSpPr>
              <p:nvPr/>
            </p:nvSpPr>
            <p:spPr bwMode="auto">
              <a:xfrm>
                <a:off x="2351"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1" name="Line 102"/>
              <p:cNvSpPr>
                <a:spLocks noChangeShapeType="1"/>
              </p:cNvSpPr>
              <p:nvPr/>
            </p:nvSpPr>
            <p:spPr bwMode="auto">
              <a:xfrm>
                <a:off x="2356"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2" name="Freeform 103"/>
              <p:cNvSpPr>
                <a:spLocks/>
              </p:cNvSpPr>
              <p:nvPr/>
            </p:nvSpPr>
            <p:spPr bwMode="auto">
              <a:xfrm>
                <a:off x="235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83" name="Freeform 104"/>
              <p:cNvSpPr>
                <a:spLocks/>
              </p:cNvSpPr>
              <p:nvPr/>
            </p:nvSpPr>
            <p:spPr bwMode="auto">
              <a:xfrm>
                <a:off x="2360" y="1778"/>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84" name="Freeform 105"/>
              <p:cNvSpPr>
                <a:spLocks/>
              </p:cNvSpPr>
              <p:nvPr/>
            </p:nvSpPr>
            <p:spPr bwMode="auto">
              <a:xfrm>
                <a:off x="2360" y="177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85" name="Line 106"/>
              <p:cNvSpPr>
                <a:spLocks noChangeShapeType="1"/>
              </p:cNvSpPr>
              <p:nvPr/>
            </p:nvSpPr>
            <p:spPr bwMode="auto">
              <a:xfrm>
                <a:off x="2364" y="177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6" name="Line 107"/>
              <p:cNvSpPr>
                <a:spLocks noChangeShapeType="1"/>
              </p:cNvSpPr>
              <p:nvPr/>
            </p:nvSpPr>
            <p:spPr bwMode="auto">
              <a:xfrm>
                <a:off x="2364" y="177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7" name="Line 108"/>
              <p:cNvSpPr>
                <a:spLocks noChangeShapeType="1"/>
              </p:cNvSpPr>
              <p:nvPr/>
            </p:nvSpPr>
            <p:spPr bwMode="auto">
              <a:xfrm>
                <a:off x="2369" y="1778"/>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8" name="Line 109"/>
              <p:cNvSpPr>
                <a:spLocks noChangeShapeType="1"/>
              </p:cNvSpPr>
              <p:nvPr/>
            </p:nvSpPr>
            <p:spPr bwMode="auto">
              <a:xfrm>
                <a:off x="2373" y="177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89" name="Freeform 110"/>
              <p:cNvSpPr>
                <a:spLocks/>
              </p:cNvSpPr>
              <p:nvPr/>
            </p:nvSpPr>
            <p:spPr bwMode="auto">
              <a:xfrm>
                <a:off x="2373" y="177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90" name="Line 111"/>
              <p:cNvSpPr>
                <a:spLocks noChangeShapeType="1"/>
              </p:cNvSpPr>
              <p:nvPr/>
            </p:nvSpPr>
            <p:spPr bwMode="auto">
              <a:xfrm>
                <a:off x="2377" y="177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1" name="Line 112"/>
              <p:cNvSpPr>
                <a:spLocks noChangeShapeType="1"/>
              </p:cNvSpPr>
              <p:nvPr/>
            </p:nvSpPr>
            <p:spPr bwMode="auto">
              <a:xfrm>
                <a:off x="2377" y="177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2" name="Line 113"/>
              <p:cNvSpPr>
                <a:spLocks noChangeShapeType="1"/>
              </p:cNvSpPr>
              <p:nvPr/>
            </p:nvSpPr>
            <p:spPr bwMode="auto">
              <a:xfrm>
                <a:off x="2382" y="1778"/>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3" name="Line 114"/>
              <p:cNvSpPr>
                <a:spLocks noChangeShapeType="1"/>
              </p:cNvSpPr>
              <p:nvPr/>
            </p:nvSpPr>
            <p:spPr bwMode="auto">
              <a:xfrm>
                <a:off x="2386" y="177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4" name="Freeform 115"/>
              <p:cNvSpPr>
                <a:spLocks/>
              </p:cNvSpPr>
              <p:nvPr/>
            </p:nvSpPr>
            <p:spPr bwMode="auto">
              <a:xfrm>
                <a:off x="2386" y="177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95" name="Line 116"/>
              <p:cNvSpPr>
                <a:spLocks noChangeShapeType="1"/>
              </p:cNvSpPr>
              <p:nvPr/>
            </p:nvSpPr>
            <p:spPr bwMode="auto">
              <a:xfrm>
                <a:off x="2390" y="177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6" name="Freeform 117"/>
              <p:cNvSpPr>
                <a:spLocks/>
              </p:cNvSpPr>
              <p:nvPr/>
            </p:nvSpPr>
            <p:spPr bwMode="auto">
              <a:xfrm>
                <a:off x="2390" y="1778"/>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497" name="Line 118"/>
              <p:cNvSpPr>
                <a:spLocks noChangeShapeType="1"/>
              </p:cNvSpPr>
              <p:nvPr/>
            </p:nvSpPr>
            <p:spPr bwMode="auto">
              <a:xfrm>
                <a:off x="2395" y="177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8" name="Line 119"/>
              <p:cNvSpPr>
                <a:spLocks noChangeShapeType="1"/>
              </p:cNvSpPr>
              <p:nvPr/>
            </p:nvSpPr>
            <p:spPr bwMode="auto">
              <a:xfrm>
                <a:off x="2395" y="1778"/>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499" name="Line 120"/>
              <p:cNvSpPr>
                <a:spLocks noChangeShapeType="1"/>
              </p:cNvSpPr>
              <p:nvPr/>
            </p:nvSpPr>
            <p:spPr bwMode="auto">
              <a:xfrm>
                <a:off x="2399" y="1778"/>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00" name="Freeform 121"/>
              <p:cNvSpPr>
                <a:spLocks/>
              </p:cNvSpPr>
              <p:nvPr/>
            </p:nvSpPr>
            <p:spPr bwMode="auto">
              <a:xfrm>
                <a:off x="2403" y="1774"/>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01" name="Freeform 122"/>
              <p:cNvSpPr>
                <a:spLocks/>
              </p:cNvSpPr>
              <p:nvPr/>
            </p:nvSpPr>
            <p:spPr bwMode="auto">
              <a:xfrm>
                <a:off x="2403"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02" name="Line 123"/>
              <p:cNvSpPr>
                <a:spLocks noChangeShapeType="1"/>
              </p:cNvSpPr>
              <p:nvPr/>
            </p:nvSpPr>
            <p:spPr bwMode="auto">
              <a:xfrm>
                <a:off x="2408"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03" name="Line 124"/>
              <p:cNvSpPr>
                <a:spLocks noChangeShapeType="1"/>
              </p:cNvSpPr>
              <p:nvPr/>
            </p:nvSpPr>
            <p:spPr bwMode="auto">
              <a:xfrm>
                <a:off x="2408"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04" name="Line 125"/>
              <p:cNvSpPr>
                <a:spLocks noChangeShapeType="1"/>
              </p:cNvSpPr>
              <p:nvPr/>
            </p:nvSpPr>
            <p:spPr bwMode="auto">
              <a:xfrm>
                <a:off x="2412"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05" name="Line 126"/>
              <p:cNvSpPr>
                <a:spLocks noChangeShapeType="1"/>
              </p:cNvSpPr>
              <p:nvPr/>
            </p:nvSpPr>
            <p:spPr bwMode="auto">
              <a:xfrm>
                <a:off x="2416"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06" name="Freeform 127"/>
              <p:cNvSpPr>
                <a:spLocks/>
              </p:cNvSpPr>
              <p:nvPr/>
            </p:nvSpPr>
            <p:spPr bwMode="auto">
              <a:xfrm>
                <a:off x="2416"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07" name="Line 128"/>
              <p:cNvSpPr>
                <a:spLocks noChangeShapeType="1"/>
              </p:cNvSpPr>
              <p:nvPr/>
            </p:nvSpPr>
            <p:spPr bwMode="auto">
              <a:xfrm>
                <a:off x="2421"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08" name="Freeform 129"/>
              <p:cNvSpPr>
                <a:spLocks/>
              </p:cNvSpPr>
              <p:nvPr/>
            </p:nvSpPr>
            <p:spPr bwMode="auto">
              <a:xfrm>
                <a:off x="2421"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09" name="Line 130"/>
              <p:cNvSpPr>
                <a:spLocks noChangeShapeType="1"/>
              </p:cNvSpPr>
              <p:nvPr/>
            </p:nvSpPr>
            <p:spPr bwMode="auto">
              <a:xfrm>
                <a:off x="2425"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0" name="Line 131"/>
              <p:cNvSpPr>
                <a:spLocks noChangeShapeType="1"/>
              </p:cNvSpPr>
              <p:nvPr/>
            </p:nvSpPr>
            <p:spPr bwMode="auto">
              <a:xfrm>
                <a:off x="2425"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1" name="Freeform 132"/>
              <p:cNvSpPr>
                <a:spLocks/>
              </p:cNvSpPr>
              <p:nvPr/>
            </p:nvSpPr>
            <p:spPr bwMode="auto">
              <a:xfrm>
                <a:off x="2429" y="1770"/>
                <a:ext cx="5" cy="4"/>
              </a:xfrm>
              <a:custGeom>
                <a:avLst/>
                <a:gdLst>
                  <a:gd name="T0" fmla="*/ 0 w 5"/>
                  <a:gd name="T1" fmla="*/ 4 h 4"/>
                  <a:gd name="T2" fmla="*/ 5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12" name="Line 133"/>
              <p:cNvSpPr>
                <a:spLocks noChangeShapeType="1"/>
              </p:cNvSpPr>
              <p:nvPr/>
            </p:nvSpPr>
            <p:spPr bwMode="auto">
              <a:xfrm>
                <a:off x="2434"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3" name="Freeform 134"/>
              <p:cNvSpPr>
                <a:spLocks/>
              </p:cNvSpPr>
              <p:nvPr/>
            </p:nvSpPr>
            <p:spPr bwMode="auto">
              <a:xfrm>
                <a:off x="2434"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14" name="Line 135"/>
              <p:cNvSpPr>
                <a:spLocks noChangeShapeType="1"/>
              </p:cNvSpPr>
              <p:nvPr/>
            </p:nvSpPr>
            <p:spPr bwMode="auto">
              <a:xfrm>
                <a:off x="2438"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5" name="Line 136"/>
              <p:cNvSpPr>
                <a:spLocks noChangeShapeType="1"/>
              </p:cNvSpPr>
              <p:nvPr/>
            </p:nvSpPr>
            <p:spPr bwMode="auto">
              <a:xfrm>
                <a:off x="2438" y="1770"/>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6" name="Line 137"/>
              <p:cNvSpPr>
                <a:spLocks noChangeShapeType="1"/>
              </p:cNvSpPr>
              <p:nvPr/>
            </p:nvSpPr>
            <p:spPr bwMode="auto">
              <a:xfrm>
                <a:off x="2443" y="1770"/>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7" name="Line 138"/>
              <p:cNvSpPr>
                <a:spLocks noChangeShapeType="1"/>
              </p:cNvSpPr>
              <p:nvPr/>
            </p:nvSpPr>
            <p:spPr bwMode="auto">
              <a:xfrm>
                <a:off x="2447"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18" name="Freeform 139"/>
              <p:cNvSpPr>
                <a:spLocks/>
              </p:cNvSpPr>
              <p:nvPr/>
            </p:nvSpPr>
            <p:spPr bwMode="auto">
              <a:xfrm>
                <a:off x="2447"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19" name="Line 140"/>
              <p:cNvSpPr>
                <a:spLocks noChangeShapeType="1"/>
              </p:cNvSpPr>
              <p:nvPr/>
            </p:nvSpPr>
            <p:spPr bwMode="auto">
              <a:xfrm>
                <a:off x="2451"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0" name="Freeform 141"/>
              <p:cNvSpPr>
                <a:spLocks/>
              </p:cNvSpPr>
              <p:nvPr/>
            </p:nvSpPr>
            <p:spPr bwMode="auto">
              <a:xfrm>
                <a:off x="2451" y="1765"/>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21" name="Line 142"/>
              <p:cNvSpPr>
                <a:spLocks noChangeShapeType="1"/>
              </p:cNvSpPr>
              <p:nvPr/>
            </p:nvSpPr>
            <p:spPr bwMode="auto">
              <a:xfrm>
                <a:off x="2456" y="176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2" name="Line 143"/>
              <p:cNvSpPr>
                <a:spLocks noChangeShapeType="1"/>
              </p:cNvSpPr>
              <p:nvPr/>
            </p:nvSpPr>
            <p:spPr bwMode="auto">
              <a:xfrm>
                <a:off x="2456" y="1765"/>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3" name="Line 144"/>
              <p:cNvSpPr>
                <a:spLocks noChangeShapeType="1"/>
              </p:cNvSpPr>
              <p:nvPr/>
            </p:nvSpPr>
            <p:spPr bwMode="auto">
              <a:xfrm>
                <a:off x="2460" y="1765"/>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4" name="Line 145"/>
              <p:cNvSpPr>
                <a:spLocks noChangeShapeType="1"/>
              </p:cNvSpPr>
              <p:nvPr/>
            </p:nvSpPr>
            <p:spPr bwMode="auto">
              <a:xfrm>
                <a:off x="2464" y="176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5" name="Freeform 146"/>
              <p:cNvSpPr>
                <a:spLocks/>
              </p:cNvSpPr>
              <p:nvPr/>
            </p:nvSpPr>
            <p:spPr bwMode="auto">
              <a:xfrm>
                <a:off x="2464" y="1765"/>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26" name="Line 147"/>
              <p:cNvSpPr>
                <a:spLocks noChangeShapeType="1"/>
              </p:cNvSpPr>
              <p:nvPr/>
            </p:nvSpPr>
            <p:spPr bwMode="auto">
              <a:xfrm>
                <a:off x="2469" y="176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7" name="Freeform 148"/>
              <p:cNvSpPr>
                <a:spLocks/>
              </p:cNvSpPr>
              <p:nvPr/>
            </p:nvSpPr>
            <p:spPr bwMode="auto">
              <a:xfrm>
                <a:off x="2469" y="1761"/>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28" name="Line 149"/>
              <p:cNvSpPr>
                <a:spLocks noChangeShapeType="1"/>
              </p:cNvSpPr>
              <p:nvPr/>
            </p:nvSpPr>
            <p:spPr bwMode="auto">
              <a:xfrm>
                <a:off x="2473" y="1761"/>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29" name="Line 150"/>
              <p:cNvSpPr>
                <a:spLocks noChangeShapeType="1"/>
              </p:cNvSpPr>
              <p:nvPr/>
            </p:nvSpPr>
            <p:spPr bwMode="auto">
              <a:xfrm>
                <a:off x="2477" y="176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30" name="Freeform 151"/>
              <p:cNvSpPr>
                <a:spLocks/>
              </p:cNvSpPr>
              <p:nvPr/>
            </p:nvSpPr>
            <p:spPr bwMode="auto">
              <a:xfrm>
                <a:off x="2477" y="17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31" name="Line 152"/>
              <p:cNvSpPr>
                <a:spLocks noChangeShapeType="1"/>
              </p:cNvSpPr>
              <p:nvPr/>
            </p:nvSpPr>
            <p:spPr bwMode="auto">
              <a:xfrm>
                <a:off x="2482" y="176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32" name="Freeform 153"/>
              <p:cNvSpPr>
                <a:spLocks/>
              </p:cNvSpPr>
              <p:nvPr/>
            </p:nvSpPr>
            <p:spPr bwMode="auto">
              <a:xfrm>
                <a:off x="2482" y="176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33" name="Freeform 154"/>
              <p:cNvSpPr>
                <a:spLocks/>
              </p:cNvSpPr>
              <p:nvPr/>
            </p:nvSpPr>
            <p:spPr bwMode="auto">
              <a:xfrm>
                <a:off x="2486" y="1757"/>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34" name="Line 155"/>
              <p:cNvSpPr>
                <a:spLocks noChangeShapeType="1"/>
              </p:cNvSpPr>
              <p:nvPr/>
            </p:nvSpPr>
            <p:spPr bwMode="auto">
              <a:xfrm>
                <a:off x="2486" y="175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35" name="Line 156"/>
              <p:cNvSpPr>
                <a:spLocks noChangeShapeType="1"/>
              </p:cNvSpPr>
              <p:nvPr/>
            </p:nvSpPr>
            <p:spPr bwMode="auto">
              <a:xfrm>
                <a:off x="2490" y="175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36" name="Line 157"/>
              <p:cNvSpPr>
                <a:spLocks noChangeShapeType="1"/>
              </p:cNvSpPr>
              <p:nvPr/>
            </p:nvSpPr>
            <p:spPr bwMode="auto">
              <a:xfrm>
                <a:off x="2495" y="175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37" name="Freeform 158"/>
              <p:cNvSpPr>
                <a:spLocks/>
              </p:cNvSpPr>
              <p:nvPr/>
            </p:nvSpPr>
            <p:spPr bwMode="auto">
              <a:xfrm>
                <a:off x="2495" y="175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38" name="Line 159"/>
              <p:cNvSpPr>
                <a:spLocks noChangeShapeType="1"/>
              </p:cNvSpPr>
              <p:nvPr/>
            </p:nvSpPr>
            <p:spPr bwMode="auto">
              <a:xfrm>
                <a:off x="2499" y="175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39" name="Freeform 160"/>
              <p:cNvSpPr>
                <a:spLocks/>
              </p:cNvSpPr>
              <p:nvPr/>
            </p:nvSpPr>
            <p:spPr bwMode="auto">
              <a:xfrm>
                <a:off x="2499" y="1752"/>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40" name="Line 161"/>
              <p:cNvSpPr>
                <a:spLocks noChangeShapeType="1"/>
              </p:cNvSpPr>
              <p:nvPr/>
            </p:nvSpPr>
            <p:spPr bwMode="auto">
              <a:xfrm>
                <a:off x="2503" y="1752"/>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41" name="Line 162"/>
              <p:cNvSpPr>
                <a:spLocks noChangeShapeType="1"/>
              </p:cNvSpPr>
              <p:nvPr/>
            </p:nvSpPr>
            <p:spPr bwMode="auto">
              <a:xfrm>
                <a:off x="2508" y="175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42" name="Freeform 163"/>
              <p:cNvSpPr>
                <a:spLocks/>
              </p:cNvSpPr>
              <p:nvPr/>
            </p:nvSpPr>
            <p:spPr bwMode="auto">
              <a:xfrm>
                <a:off x="2508" y="1752"/>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43" name="Line 164"/>
              <p:cNvSpPr>
                <a:spLocks noChangeShapeType="1"/>
              </p:cNvSpPr>
              <p:nvPr/>
            </p:nvSpPr>
            <p:spPr bwMode="auto">
              <a:xfrm>
                <a:off x="2512" y="175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44" name="Freeform 165"/>
              <p:cNvSpPr>
                <a:spLocks/>
              </p:cNvSpPr>
              <p:nvPr/>
            </p:nvSpPr>
            <p:spPr bwMode="auto">
              <a:xfrm>
                <a:off x="2512" y="174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45" name="Line 166"/>
              <p:cNvSpPr>
                <a:spLocks noChangeShapeType="1"/>
              </p:cNvSpPr>
              <p:nvPr/>
            </p:nvSpPr>
            <p:spPr bwMode="auto">
              <a:xfrm>
                <a:off x="2516" y="174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46" name="Line 167"/>
              <p:cNvSpPr>
                <a:spLocks noChangeShapeType="1"/>
              </p:cNvSpPr>
              <p:nvPr/>
            </p:nvSpPr>
            <p:spPr bwMode="auto">
              <a:xfrm>
                <a:off x="2516" y="174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47" name="Line 168"/>
              <p:cNvSpPr>
                <a:spLocks noChangeShapeType="1"/>
              </p:cNvSpPr>
              <p:nvPr/>
            </p:nvSpPr>
            <p:spPr bwMode="auto">
              <a:xfrm>
                <a:off x="2521" y="1748"/>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48" name="Freeform 169"/>
              <p:cNvSpPr>
                <a:spLocks/>
              </p:cNvSpPr>
              <p:nvPr/>
            </p:nvSpPr>
            <p:spPr bwMode="auto">
              <a:xfrm>
                <a:off x="2525" y="1744"/>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49" name="Freeform 170"/>
              <p:cNvSpPr>
                <a:spLocks/>
              </p:cNvSpPr>
              <p:nvPr/>
            </p:nvSpPr>
            <p:spPr bwMode="auto">
              <a:xfrm>
                <a:off x="2525" y="174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50" name="Line 171"/>
              <p:cNvSpPr>
                <a:spLocks noChangeShapeType="1"/>
              </p:cNvSpPr>
              <p:nvPr/>
            </p:nvSpPr>
            <p:spPr bwMode="auto">
              <a:xfrm>
                <a:off x="2529" y="174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51" name="Line 172"/>
              <p:cNvSpPr>
                <a:spLocks noChangeShapeType="1"/>
              </p:cNvSpPr>
              <p:nvPr/>
            </p:nvSpPr>
            <p:spPr bwMode="auto">
              <a:xfrm>
                <a:off x="2529" y="174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52" name="Freeform 173"/>
              <p:cNvSpPr>
                <a:spLocks/>
              </p:cNvSpPr>
              <p:nvPr/>
            </p:nvSpPr>
            <p:spPr bwMode="auto">
              <a:xfrm>
                <a:off x="2534" y="1739"/>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53" name="Line 174"/>
              <p:cNvSpPr>
                <a:spLocks noChangeShapeType="1"/>
              </p:cNvSpPr>
              <p:nvPr/>
            </p:nvSpPr>
            <p:spPr bwMode="auto">
              <a:xfrm>
                <a:off x="2538" y="173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54" name="Freeform 175"/>
              <p:cNvSpPr>
                <a:spLocks/>
              </p:cNvSpPr>
              <p:nvPr/>
            </p:nvSpPr>
            <p:spPr bwMode="auto">
              <a:xfrm>
                <a:off x="2538" y="173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55" name="Line 176"/>
              <p:cNvSpPr>
                <a:spLocks noChangeShapeType="1"/>
              </p:cNvSpPr>
              <p:nvPr/>
            </p:nvSpPr>
            <p:spPr bwMode="auto">
              <a:xfrm>
                <a:off x="2542" y="173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56" name="Freeform 177"/>
              <p:cNvSpPr>
                <a:spLocks/>
              </p:cNvSpPr>
              <p:nvPr/>
            </p:nvSpPr>
            <p:spPr bwMode="auto">
              <a:xfrm>
                <a:off x="2542" y="1735"/>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57" name="Line 178"/>
              <p:cNvSpPr>
                <a:spLocks noChangeShapeType="1"/>
              </p:cNvSpPr>
              <p:nvPr/>
            </p:nvSpPr>
            <p:spPr bwMode="auto">
              <a:xfrm>
                <a:off x="2547" y="1735"/>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58" name="Line 179"/>
              <p:cNvSpPr>
                <a:spLocks noChangeShapeType="1"/>
              </p:cNvSpPr>
              <p:nvPr/>
            </p:nvSpPr>
            <p:spPr bwMode="auto">
              <a:xfrm>
                <a:off x="2551" y="173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59" name="Freeform 180"/>
              <p:cNvSpPr>
                <a:spLocks/>
              </p:cNvSpPr>
              <p:nvPr/>
            </p:nvSpPr>
            <p:spPr bwMode="auto">
              <a:xfrm>
                <a:off x="2551" y="1731"/>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60" name="Line 181"/>
              <p:cNvSpPr>
                <a:spLocks noChangeShapeType="1"/>
              </p:cNvSpPr>
              <p:nvPr/>
            </p:nvSpPr>
            <p:spPr bwMode="auto">
              <a:xfrm>
                <a:off x="2555" y="173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61" name="Freeform 182"/>
              <p:cNvSpPr>
                <a:spLocks/>
              </p:cNvSpPr>
              <p:nvPr/>
            </p:nvSpPr>
            <p:spPr bwMode="auto">
              <a:xfrm>
                <a:off x="2555" y="173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62" name="Freeform 183"/>
              <p:cNvSpPr>
                <a:spLocks/>
              </p:cNvSpPr>
              <p:nvPr/>
            </p:nvSpPr>
            <p:spPr bwMode="auto">
              <a:xfrm>
                <a:off x="2560" y="1726"/>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63" name="Line 184"/>
              <p:cNvSpPr>
                <a:spLocks noChangeShapeType="1"/>
              </p:cNvSpPr>
              <p:nvPr/>
            </p:nvSpPr>
            <p:spPr bwMode="auto">
              <a:xfrm>
                <a:off x="2560" y="1726"/>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64" name="Line 185"/>
              <p:cNvSpPr>
                <a:spLocks noChangeShapeType="1"/>
              </p:cNvSpPr>
              <p:nvPr/>
            </p:nvSpPr>
            <p:spPr bwMode="auto">
              <a:xfrm>
                <a:off x="2564" y="1726"/>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65" name="Freeform 186"/>
              <p:cNvSpPr>
                <a:spLocks/>
              </p:cNvSpPr>
              <p:nvPr/>
            </p:nvSpPr>
            <p:spPr bwMode="auto">
              <a:xfrm>
                <a:off x="2568" y="1722"/>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66" name="Freeform 187"/>
              <p:cNvSpPr>
                <a:spLocks/>
              </p:cNvSpPr>
              <p:nvPr/>
            </p:nvSpPr>
            <p:spPr bwMode="auto">
              <a:xfrm>
                <a:off x="2568" y="1722"/>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67" name="Line 188"/>
              <p:cNvSpPr>
                <a:spLocks noChangeShapeType="1"/>
              </p:cNvSpPr>
              <p:nvPr/>
            </p:nvSpPr>
            <p:spPr bwMode="auto">
              <a:xfrm>
                <a:off x="2573" y="172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68" name="Freeform 189"/>
              <p:cNvSpPr>
                <a:spLocks/>
              </p:cNvSpPr>
              <p:nvPr/>
            </p:nvSpPr>
            <p:spPr bwMode="auto">
              <a:xfrm>
                <a:off x="2573" y="171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69" name="Line 190"/>
              <p:cNvSpPr>
                <a:spLocks noChangeShapeType="1"/>
              </p:cNvSpPr>
              <p:nvPr/>
            </p:nvSpPr>
            <p:spPr bwMode="auto">
              <a:xfrm>
                <a:off x="2577" y="1718"/>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70" name="Line 191"/>
              <p:cNvSpPr>
                <a:spLocks noChangeShapeType="1"/>
              </p:cNvSpPr>
              <p:nvPr/>
            </p:nvSpPr>
            <p:spPr bwMode="auto">
              <a:xfrm>
                <a:off x="2581" y="171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71" name="Freeform 192"/>
              <p:cNvSpPr>
                <a:spLocks/>
              </p:cNvSpPr>
              <p:nvPr/>
            </p:nvSpPr>
            <p:spPr bwMode="auto">
              <a:xfrm>
                <a:off x="2581" y="1713"/>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72" name="Line 193"/>
              <p:cNvSpPr>
                <a:spLocks noChangeShapeType="1"/>
              </p:cNvSpPr>
              <p:nvPr/>
            </p:nvSpPr>
            <p:spPr bwMode="auto">
              <a:xfrm>
                <a:off x="2586" y="171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73" name="Freeform 194"/>
              <p:cNvSpPr>
                <a:spLocks/>
              </p:cNvSpPr>
              <p:nvPr/>
            </p:nvSpPr>
            <p:spPr bwMode="auto">
              <a:xfrm>
                <a:off x="2586" y="1709"/>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74" name="Line 195"/>
              <p:cNvSpPr>
                <a:spLocks noChangeShapeType="1"/>
              </p:cNvSpPr>
              <p:nvPr/>
            </p:nvSpPr>
            <p:spPr bwMode="auto">
              <a:xfrm>
                <a:off x="2590" y="170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75" name="Line 196"/>
              <p:cNvSpPr>
                <a:spLocks noChangeShapeType="1"/>
              </p:cNvSpPr>
              <p:nvPr/>
            </p:nvSpPr>
            <p:spPr bwMode="auto">
              <a:xfrm>
                <a:off x="2590" y="170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76" name="Freeform 197"/>
              <p:cNvSpPr>
                <a:spLocks/>
              </p:cNvSpPr>
              <p:nvPr/>
            </p:nvSpPr>
            <p:spPr bwMode="auto">
              <a:xfrm>
                <a:off x="2594" y="1705"/>
                <a:ext cx="5" cy="4"/>
              </a:xfrm>
              <a:custGeom>
                <a:avLst/>
                <a:gdLst>
                  <a:gd name="T0" fmla="*/ 0 w 5"/>
                  <a:gd name="T1" fmla="*/ 4 h 4"/>
                  <a:gd name="T2" fmla="*/ 5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77" name="Line 198"/>
              <p:cNvSpPr>
                <a:spLocks noChangeShapeType="1"/>
              </p:cNvSpPr>
              <p:nvPr/>
            </p:nvSpPr>
            <p:spPr bwMode="auto">
              <a:xfrm>
                <a:off x="2599" y="170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78" name="Freeform 199"/>
              <p:cNvSpPr>
                <a:spLocks/>
              </p:cNvSpPr>
              <p:nvPr/>
            </p:nvSpPr>
            <p:spPr bwMode="auto">
              <a:xfrm>
                <a:off x="2599" y="1700"/>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79" name="Line 200"/>
              <p:cNvSpPr>
                <a:spLocks noChangeShapeType="1"/>
              </p:cNvSpPr>
              <p:nvPr/>
            </p:nvSpPr>
            <p:spPr bwMode="auto">
              <a:xfrm>
                <a:off x="2603" y="170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80" name="Freeform 201"/>
              <p:cNvSpPr>
                <a:spLocks/>
              </p:cNvSpPr>
              <p:nvPr/>
            </p:nvSpPr>
            <p:spPr bwMode="auto">
              <a:xfrm>
                <a:off x="2603" y="169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81" name="Line 202"/>
              <p:cNvSpPr>
                <a:spLocks noChangeShapeType="1"/>
              </p:cNvSpPr>
              <p:nvPr/>
            </p:nvSpPr>
            <p:spPr bwMode="auto">
              <a:xfrm>
                <a:off x="2607" y="1696"/>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82" name="Freeform 203"/>
              <p:cNvSpPr>
                <a:spLocks/>
              </p:cNvSpPr>
              <p:nvPr/>
            </p:nvSpPr>
            <p:spPr bwMode="auto">
              <a:xfrm>
                <a:off x="2612" y="1691"/>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83" name="Freeform 204"/>
              <p:cNvSpPr>
                <a:spLocks/>
              </p:cNvSpPr>
              <p:nvPr/>
            </p:nvSpPr>
            <p:spPr bwMode="auto">
              <a:xfrm>
                <a:off x="2612" y="169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84" name="Line 205"/>
              <p:cNvSpPr>
                <a:spLocks noChangeShapeType="1"/>
              </p:cNvSpPr>
              <p:nvPr/>
            </p:nvSpPr>
            <p:spPr bwMode="auto">
              <a:xfrm>
                <a:off x="2616" y="169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85" name="Freeform 206"/>
              <p:cNvSpPr>
                <a:spLocks/>
              </p:cNvSpPr>
              <p:nvPr/>
            </p:nvSpPr>
            <p:spPr bwMode="auto">
              <a:xfrm>
                <a:off x="2616" y="1687"/>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86" name="Line 207"/>
              <p:cNvSpPr>
                <a:spLocks noChangeShapeType="1"/>
              </p:cNvSpPr>
              <p:nvPr/>
            </p:nvSpPr>
            <p:spPr bwMode="auto">
              <a:xfrm>
                <a:off x="2621" y="16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87" name="Line 208"/>
              <p:cNvSpPr>
                <a:spLocks noChangeShapeType="1"/>
              </p:cNvSpPr>
              <p:nvPr/>
            </p:nvSpPr>
            <p:spPr bwMode="auto">
              <a:xfrm flipV="1">
                <a:off x="2621" y="168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88" name="Line 209"/>
              <p:cNvSpPr>
                <a:spLocks noChangeShapeType="1"/>
              </p:cNvSpPr>
              <p:nvPr/>
            </p:nvSpPr>
            <p:spPr bwMode="auto">
              <a:xfrm flipV="1">
                <a:off x="2625" y="1678"/>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16589" name="Group 210"/>
              <p:cNvGrpSpPr>
                <a:grpSpLocks/>
              </p:cNvGrpSpPr>
              <p:nvPr/>
            </p:nvGrpSpPr>
            <p:grpSpPr bwMode="auto">
              <a:xfrm>
                <a:off x="2629" y="767"/>
                <a:ext cx="504" cy="911"/>
                <a:chOff x="2629" y="763"/>
                <a:chExt cx="504" cy="911"/>
              </a:xfrm>
            </p:grpSpPr>
            <p:sp>
              <p:nvSpPr>
                <p:cNvPr id="17004" name="Line 211"/>
                <p:cNvSpPr>
                  <a:spLocks noChangeShapeType="1"/>
                </p:cNvSpPr>
                <p:nvPr/>
              </p:nvSpPr>
              <p:spPr bwMode="auto">
                <a:xfrm>
                  <a:off x="2629" y="16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05" name="Freeform 212"/>
                <p:cNvSpPr>
                  <a:spLocks/>
                </p:cNvSpPr>
                <p:nvPr/>
              </p:nvSpPr>
              <p:spPr bwMode="auto">
                <a:xfrm>
                  <a:off x="2629" y="167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06" name="Line 213"/>
                <p:cNvSpPr>
                  <a:spLocks noChangeShapeType="1"/>
                </p:cNvSpPr>
                <p:nvPr/>
              </p:nvSpPr>
              <p:spPr bwMode="auto">
                <a:xfrm>
                  <a:off x="2634" y="16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07" name="Freeform 214"/>
                <p:cNvSpPr>
                  <a:spLocks/>
                </p:cNvSpPr>
                <p:nvPr/>
              </p:nvSpPr>
              <p:spPr bwMode="auto">
                <a:xfrm>
                  <a:off x="2634" y="166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08" name="Line 215"/>
                <p:cNvSpPr>
                  <a:spLocks noChangeShapeType="1"/>
                </p:cNvSpPr>
                <p:nvPr/>
              </p:nvSpPr>
              <p:spPr bwMode="auto">
                <a:xfrm>
                  <a:off x="2638" y="1666"/>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09" name="Freeform 216"/>
                <p:cNvSpPr>
                  <a:spLocks/>
                </p:cNvSpPr>
                <p:nvPr/>
              </p:nvSpPr>
              <p:spPr bwMode="auto">
                <a:xfrm>
                  <a:off x="2642" y="1661"/>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10" name="Freeform 217"/>
                <p:cNvSpPr>
                  <a:spLocks/>
                </p:cNvSpPr>
                <p:nvPr/>
              </p:nvSpPr>
              <p:spPr bwMode="auto">
                <a:xfrm>
                  <a:off x="2642"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11" name="Line 218"/>
                <p:cNvSpPr>
                  <a:spLocks noChangeShapeType="1"/>
                </p:cNvSpPr>
                <p:nvPr/>
              </p:nvSpPr>
              <p:spPr bwMode="auto">
                <a:xfrm flipV="1">
                  <a:off x="2647" y="165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12" name="Freeform 219"/>
                <p:cNvSpPr>
                  <a:spLocks/>
                </p:cNvSpPr>
                <p:nvPr/>
              </p:nvSpPr>
              <p:spPr bwMode="auto">
                <a:xfrm>
                  <a:off x="2647" y="16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13" name="Line 220"/>
                <p:cNvSpPr>
                  <a:spLocks noChangeShapeType="1"/>
                </p:cNvSpPr>
                <p:nvPr/>
              </p:nvSpPr>
              <p:spPr bwMode="auto">
                <a:xfrm>
                  <a:off x="2651" y="165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14" name="Freeform 221"/>
                <p:cNvSpPr>
                  <a:spLocks/>
                </p:cNvSpPr>
                <p:nvPr/>
              </p:nvSpPr>
              <p:spPr bwMode="auto">
                <a:xfrm>
                  <a:off x="2651" y="1648"/>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15" name="Line 222"/>
                <p:cNvSpPr>
                  <a:spLocks noChangeShapeType="1"/>
                </p:cNvSpPr>
                <p:nvPr/>
              </p:nvSpPr>
              <p:spPr bwMode="auto">
                <a:xfrm>
                  <a:off x="2655" y="164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16" name="Line 223"/>
                <p:cNvSpPr>
                  <a:spLocks noChangeShapeType="1"/>
                </p:cNvSpPr>
                <p:nvPr/>
              </p:nvSpPr>
              <p:spPr bwMode="auto">
                <a:xfrm flipV="1">
                  <a:off x="2660" y="164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17" name="Freeform 224"/>
                <p:cNvSpPr>
                  <a:spLocks/>
                </p:cNvSpPr>
                <p:nvPr/>
              </p:nvSpPr>
              <p:spPr bwMode="auto">
                <a:xfrm>
                  <a:off x="2660" y="164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18" name="Line 225"/>
                <p:cNvSpPr>
                  <a:spLocks noChangeShapeType="1"/>
                </p:cNvSpPr>
                <p:nvPr/>
              </p:nvSpPr>
              <p:spPr bwMode="auto">
                <a:xfrm>
                  <a:off x="2664" y="164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19" name="Line 226"/>
                <p:cNvSpPr>
                  <a:spLocks noChangeShapeType="1"/>
                </p:cNvSpPr>
                <p:nvPr/>
              </p:nvSpPr>
              <p:spPr bwMode="auto">
                <a:xfrm flipV="1">
                  <a:off x="2664" y="1635"/>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0" name="Line 227"/>
                <p:cNvSpPr>
                  <a:spLocks noChangeShapeType="1"/>
                </p:cNvSpPr>
                <p:nvPr/>
              </p:nvSpPr>
              <p:spPr bwMode="auto">
                <a:xfrm flipV="1">
                  <a:off x="2668" y="1631"/>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1" name="Line 228"/>
                <p:cNvSpPr>
                  <a:spLocks noChangeShapeType="1"/>
                </p:cNvSpPr>
                <p:nvPr/>
              </p:nvSpPr>
              <p:spPr bwMode="auto">
                <a:xfrm>
                  <a:off x="2673" y="163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2" name="Freeform 229"/>
                <p:cNvSpPr>
                  <a:spLocks/>
                </p:cNvSpPr>
                <p:nvPr/>
              </p:nvSpPr>
              <p:spPr bwMode="auto">
                <a:xfrm>
                  <a:off x="2673" y="1627"/>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23" name="Line 230"/>
                <p:cNvSpPr>
                  <a:spLocks noChangeShapeType="1"/>
                </p:cNvSpPr>
                <p:nvPr/>
              </p:nvSpPr>
              <p:spPr bwMode="auto">
                <a:xfrm flipV="1">
                  <a:off x="2677" y="1622"/>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4" name="Freeform 231"/>
                <p:cNvSpPr>
                  <a:spLocks/>
                </p:cNvSpPr>
                <p:nvPr/>
              </p:nvSpPr>
              <p:spPr bwMode="auto">
                <a:xfrm>
                  <a:off x="2677" y="161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25" name="Line 232"/>
                <p:cNvSpPr>
                  <a:spLocks noChangeShapeType="1"/>
                </p:cNvSpPr>
                <p:nvPr/>
              </p:nvSpPr>
              <p:spPr bwMode="auto">
                <a:xfrm>
                  <a:off x="2681" y="161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6" name="Line 233"/>
                <p:cNvSpPr>
                  <a:spLocks noChangeShapeType="1"/>
                </p:cNvSpPr>
                <p:nvPr/>
              </p:nvSpPr>
              <p:spPr bwMode="auto">
                <a:xfrm flipV="1">
                  <a:off x="2681" y="1614"/>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7" name="Line 234"/>
                <p:cNvSpPr>
                  <a:spLocks noChangeShapeType="1"/>
                </p:cNvSpPr>
                <p:nvPr/>
              </p:nvSpPr>
              <p:spPr bwMode="auto">
                <a:xfrm flipV="1">
                  <a:off x="2686" y="1609"/>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8" name="Line 235"/>
                <p:cNvSpPr>
                  <a:spLocks noChangeShapeType="1"/>
                </p:cNvSpPr>
                <p:nvPr/>
              </p:nvSpPr>
              <p:spPr bwMode="auto">
                <a:xfrm>
                  <a:off x="2690" y="160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29" name="Freeform 236"/>
                <p:cNvSpPr>
                  <a:spLocks/>
                </p:cNvSpPr>
                <p:nvPr/>
              </p:nvSpPr>
              <p:spPr bwMode="auto">
                <a:xfrm>
                  <a:off x="2690" y="1605"/>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30" name="Line 237"/>
                <p:cNvSpPr>
                  <a:spLocks noChangeShapeType="1"/>
                </p:cNvSpPr>
                <p:nvPr/>
              </p:nvSpPr>
              <p:spPr bwMode="auto">
                <a:xfrm flipV="1">
                  <a:off x="2694" y="160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1" name="Line 238"/>
                <p:cNvSpPr>
                  <a:spLocks noChangeShapeType="1"/>
                </p:cNvSpPr>
                <p:nvPr/>
              </p:nvSpPr>
              <p:spPr bwMode="auto">
                <a:xfrm flipV="1">
                  <a:off x="2694" y="1596"/>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2" name="Line 239"/>
                <p:cNvSpPr>
                  <a:spLocks noChangeShapeType="1"/>
                </p:cNvSpPr>
                <p:nvPr/>
              </p:nvSpPr>
              <p:spPr bwMode="auto">
                <a:xfrm flipV="1">
                  <a:off x="2699" y="1592"/>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3" name="Line 240"/>
                <p:cNvSpPr>
                  <a:spLocks noChangeShapeType="1"/>
                </p:cNvSpPr>
                <p:nvPr/>
              </p:nvSpPr>
              <p:spPr bwMode="auto">
                <a:xfrm>
                  <a:off x="2703" y="159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4" name="Freeform 241"/>
                <p:cNvSpPr>
                  <a:spLocks/>
                </p:cNvSpPr>
                <p:nvPr/>
              </p:nvSpPr>
              <p:spPr bwMode="auto">
                <a:xfrm>
                  <a:off x="2703" y="1588"/>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35" name="Line 242"/>
                <p:cNvSpPr>
                  <a:spLocks noChangeShapeType="1"/>
                </p:cNvSpPr>
                <p:nvPr/>
              </p:nvSpPr>
              <p:spPr bwMode="auto">
                <a:xfrm flipV="1">
                  <a:off x="2707" y="1583"/>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6" name="Freeform 243"/>
                <p:cNvSpPr>
                  <a:spLocks/>
                </p:cNvSpPr>
                <p:nvPr/>
              </p:nvSpPr>
              <p:spPr bwMode="auto">
                <a:xfrm>
                  <a:off x="2707" y="1579"/>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37" name="Line 244"/>
                <p:cNvSpPr>
                  <a:spLocks noChangeShapeType="1"/>
                </p:cNvSpPr>
                <p:nvPr/>
              </p:nvSpPr>
              <p:spPr bwMode="auto">
                <a:xfrm flipV="1">
                  <a:off x="2712" y="157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8" name="Line 245"/>
                <p:cNvSpPr>
                  <a:spLocks noChangeShapeType="1"/>
                </p:cNvSpPr>
                <p:nvPr/>
              </p:nvSpPr>
              <p:spPr bwMode="auto">
                <a:xfrm flipV="1">
                  <a:off x="2712" y="1570"/>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39" name="Line 246"/>
                <p:cNvSpPr>
                  <a:spLocks noChangeShapeType="1"/>
                </p:cNvSpPr>
                <p:nvPr/>
              </p:nvSpPr>
              <p:spPr bwMode="auto">
                <a:xfrm>
                  <a:off x="2716" y="1570"/>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0" name="Line 247"/>
                <p:cNvSpPr>
                  <a:spLocks noChangeShapeType="1"/>
                </p:cNvSpPr>
                <p:nvPr/>
              </p:nvSpPr>
              <p:spPr bwMode="auto">
                <a:xfrm flipV="1">
                  <a:off x="2720" y="156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1" name="Freeform 248"/>
                <p:cNvSpPr>
                  <a:spLocks/>
                </p:cNvSpPr>
                <p:nvPr/>
              </p:nvSpPr>
              <p:spPr bwMode="auto">
                <a:xfrm>
                  <a:off x="2720" y="156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42" name="Line 249"/>
                <p:cNvSpPr>
                  <a:spLocks noChangeShapeType="1"/>
                </p:cNvSpPr>
                <p:nvPr/>
              </p:nvSpPr>
              <p:spPr bwMode="auto">
                <a:xfrm flipV="1">
                  <a:off x="2725" y="1557"/>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3" name="Line 250"/>
                <p:cNvSpPr>
                  <a:spLocks noChangeShapeType="1"/>
                </p:cNvSpPr>
                <p:nvPr/>
              </p:nvSpPr>
              <p:spPr bwMode="auto">
                <a:xfrm flipV="1">
                  <a:off x="2725" y="155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4" name="Line 251"/>
                <p:cNvSpPr>
                  <a:spLocks noChangeShapeType="1"/>
                </p:cNvSpPr>
                <p:nvPr/>
              </p:nvSpPr>
              <p:spPr bwMode="auto">
                <a:xfrm flipV="1">
                  <a:off x="2729" y="154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5" name="Line 252"/>
                <p:cNvSpPr>
                  <a:spLocks noChangeShapeType="1"/>
                </p:cNvSpPr>
                <p:nvPr/>
              </p:nvSpPr>
              <p:spPr bwMode="auto">
                <a:xfrm flipV="1">
                  <a:off x="2733" y="1544"/>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6" name="Freeform 253"/>
                <p:cNvSpPr>
                  <a:spLocks/>
                </p:cNvSpPr>
                <p:nvPr/>
              </p:nvSpPr>
              <p:spPr bwMode="auto">
                <a:xfrm>
                  <a:off x="2733" y="154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47" name="Line 254"/>
                <p:cNvSpPr>
                  <a:spLocks noChangeShapeType="1"/>
                </p:cNvSpPr>
                <p:nvPr/>
              </p:nvSpPr>
              <p:spPr bwMode="auto">
                <a:xfrm flipV="1">
                  <a:off x="2738" y="153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48" name="Freeform 255"/>
                <p:cNvSpPr>
                  <a:spLocks/>
                </p:cNvSpPr>
                <p:nvPr/>
              </p:nvSpPr>
              <p:spPr bwMode="auto">
                <a:xfrm>
                  <a:off x="2738" y="1531"/>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49" name="Line 256"/>
                <p:cNvSpPr>
                  <a:spLocks noChangeShapeType="1"/>
                </p:cNvSpPr>
                <p:nvPr/>
              </p:nvSpPr>
              <p:spPr bwMode="auto">
                <a:xfrm flipV="1">
                  <a:off x="2742" y="152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0" name="Line 257"/>
                <p:cNvSpPr>
                  <a:spLocks noChangeShapeType="1"/>
                </p:cNvSpPr>
                <p:nvPr/>
              </p:nvSpPr>
              <p:spPr bwMode="auto">
                <a:xfrm flipV="1">
                  <a:off x="2742" y="152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1" name="Line 258"/>
                <p:cNvSpPr>
                  <a:spLocks noChangeShapeType="1"/>
                </p:cNvSpPr>
                <p:nvPr/>
              </p:nvSpPr>
              <p:spPr bwMode="auto">
                <a:xfrm flipV="1">
                  <a:off x="2746" y="1518"/>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2" name="Line 259"/>
                <p:cNvSpPr>
                  <a:spLocks noChangeShapeType="1"/>
                </p:cNvSpPr>
                <p:nvPr/>
              </p:nvSpPr>
              <p:spPr bwMode="auto">
                <a:xfrm flipV="1">
                  <a:off x="2751" y="151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3" name="Freeform 260"/>
                <p:cNvSpPr>
                  <a:spLocks/>
                </p:cNvSpPr>
                <p:nvPr/>
              </p:nvSpPr>
              <p:spPr bwMode="auto">
                <a:xfrm>
                  <a:off x="2751" y="151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54" name="Line 261"/>
                <p:cNvSpPr>
                  <a:spLocks noChangeShapeType="1"/>
                </p:cNvSpPr>
                <p:nvPr/>
              </p:nvSpPr>
              <p:spPr bwMode="auto">
                <a:xfrm flipV="1">
                  <a:off x="2755" y="1505"/>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5" name="Line 262"/>
                <p:cNvSpPr>
                  <a:spLocks noChangeShapeType="1"/>
                </p:cNvSpPr>
                <p:nvPr/>
              </p:nvSpPr>
              <p:spPr bwMode="auto">
                <a:xfrm flipV="1">
                  <a:off x="2755" y="1501"/>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6" name="Line 263"/>
                <p:cNvSpPr>
                  <a:spLocks noChangeShapeType="1"/>
                </p:cNvSpPr>
                <p:nvPr/>
              </p:nvSpPr>
              <p:spPr bwMode="auto">
                <a:xfrm flipV="1">
                  <a:off x="2759" y="1497"/>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7" name="Line 264"/>
                <p:cNvSpPr>
                  <a:spLocks noChangeShapeType="1"/>
                </p:cNvSpPr>
                <p:nvPr/>
              </p:nvSpPr>
              <p:spPr bwMode="auto">
                <a:xfrm flipV="1">
                  <a:off x="2764" y="1492"/>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58" name="Freeform 265"/>
                <p:cNvSpPr>
                  <a:spLocks/>
                </p:cNvSpPr>
                <p:nvPr/>
              </p:nvSpPr>
              <p:spPr bwMode="auto">
                <a:xfrm>
                  <a:off x="2764" y="148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59" name="Line 266"/>
                <p:cNvSpPr>
                  <a:spLocks noChangeShapeType="1"/>
                </p:cNvSpPr>
                <p:nvPr/>
              </p:nvSpPr>
              <p:spPr bwMode="auto">
                <a:xfrm flipV="1">
                  <a:off x="2768" y="1483"/>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0" name="Freeform 267"/>
                <p:cNvSpPr>
                  <a:spLocks/>
                </p:cNvSpPr>
                <p:nvPr/>
              </p:nvSpPr>
              <p:spPr bwMode="auto">
                <a:xfrm>
                  <a:off x="2768" y="1479"/>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61" name="Line 268"/>
                <p:cNvSpPr>
                  <a:spLocks noChangeShapeType="1"/>
                </p:cNvSpPr>
                <p:nvPr/>
              </p:nvSpPr>
              <p:spPr bwMode="auto">
                <a:xfrm flipV="1">
                  <a:off x="2772" y="147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2" name="Line 269"/>
                <p:cNvSpPr>
                  <a:spLocks noChangeShapeType="1"/>
                </p:cNvSpPr>
                <p:nvPr/>
              </p:nvSpPr>
              <p:spPr bwMode="auto">
                <a:xfrm flipV="1">
                  <a:off x="2772" y="1470"/>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3" name="Line 270"/>
                <p:cNvSpPr>
                  <a:spLocks noChangeShapeType="1"/>
                </p:cNvSpPr>
                <p:nvPr/>
              </p:nvSpPr>
              <p:spPr bwMode="auto">
                <a:xfrm flipV="1">
                  <a:off x="2777" y="1462"/>
                  <a:ext cx="4"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4" name="Line 271"/>
                <p:cNvSpPr>
                  <a:spLocks noChangeShapeType="1"/>
                </p:cNvSpPr>
                <p:nvPr/>
              </p:nvSpPr>
              <p:spPr bwMode="auto">
                <a:xfrm flipV="1">
                  <a:off x="2781" y="1457"/>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5" name="Freeform 272"/>
                <p:cNvSpPr>
                  <a:spLocks/>
                </p:cNvSpPr>
                <p:nvPr/>
              </p:nvSpPr>
              <p:spPr bwMode="auto">
                <a:xfrm>
                  <a:off x="2781" y="14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66" name="Line 273"/>
                <p:cNvSpPr>
                  <a:spLocks noChangeShapeType="1"/>
                </p:cNvSpPr>
                <p:nvPr/>
              </p:nvSpPr>
              <p:spPr bwMode="auto">
                <a:xfrm flipV="1">
                  <a:off x="2785" y="1449"/>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7" name="Line 274"/>
                <p:cNvSpPr>
                  <a:spLocks noChangeShapeType="1"/>
                </p:cNvSpPr>
                <p:nvPr/>
              </p:nvSpPr>
              <p:spPr bwMode="auto">
                <a:xfrm flipV="1">
                  <a:off x="2785" y="1444"/>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8" name="Line 275"/>
                <p:cNvSpPr>
                  <a:spLocks noChangeShapeType="1"/>
                </p:cNvSpPr>
                <p:nvPr/>
              </p:nvSpPr>
              <p:spPr bwMode="auto">
                <a:xfrm flipV="1">
                  <a:off x="2790" y="1440"/>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69" name="Line 276"/>
                <p:cNvSpPr>
                  <a:spLocks noChangeShapeType="1"/>
                </p:cNvSpPr>
                <p:nvPr/>
              </p:nvSpPr>
              <p:spPr bwMode="auto">
                <a:xfrm flipV="1">
                  <a:off x="2794" y="143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0" name="Freeform 277"/>
                <p:cNvSpPr>
                  <a:spLocks/>
                </p:cNvSpPr>
                <p:nvPr/>
              </p:nvSpPr>
              <p:spPr bwMode="auto">
                <a:xfrm>
                  <a:off x="2794" y="1427"/>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71" name="Line 278"/>
                <p:cNvSpPr>
                  <a:spLocks noChangeShapeType="1"/>
                </p:cNvSpPr>
                <p:nvPr/>
              </p:nvSpPr>
              <p:spPr bwMode="auto">
                <a:xfrm flipV="1">
                  <a:off x="2798" y="1423"/>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2" name="Freeform 279"/>
                <p:cNvSpPr>
                  <a:spLocks/>
                </p:cNvSpPr>
                <p:nvPr/>
              </p:nvSpPr>
              <p:spPr bwMode="auto">
                <a:xfrm>
                  <a:off x="2798" y="1418"/>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73" name="Line 280"/>
                <p:cNvSpPr>
                  <a:spLocks noChangeShapeType="1"/>
                </p:cNvSpPr>
                <p:nvPr/>
              </p:nvSpPr>
              <p:spPr bwMode="auto">
                <a:xfrm flipV="1">
                  <a:off x="2803" y="141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4" name="Line 281"/>
                <p:cNvSpPr>
                  <a:spLocks noChangeShapeType="1"/>
                </p:cNvSpPr>
                <p:nvPr/>
              </p:nvSpPr>
              <p:spPr bwMode="auto">
                <a:xfrm flipV="1">
                  <a:off x="2803" y="1410"/>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5" name="Line 282"/>
                <p:cNvSpPr>
                  <a:spLocks noChangeShapeType="1"/>
                </p:cNvSpPr>
                <p:nvPr/>
              </p:nvSpPr>
              <p:spPr bwMode="auto">
                <a:xfrm flipV="1">
                  <a:off x="2807" y="1401"/>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6" name="Line 283"/>
                <p:cNvSpPr>
                  <a:spLocks noChangeShapeType="1"/>
                </p:cNvSpPr>
                <p:nvPr/>
              </p:nvSpPr>
              <p:spPr bwMode="auto">
                <a:xfrm flipV="1">
                  <a:off x="2812" y="139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7" name="Freeform 284"/>
                <p:cNvSpPr>
                  <a:spLocks/>
                </p:cNvSpPr>
                <p:nvPr/>
              </p:nvSpPr>
              <p:spPr bwMode="auto">
                <a:xfrm>
                  <a:off x="2812" y="1392"/>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78" name="Line 285"/>
                <p:cNvSpPr>
                  <a:spLocks noChangeShapeType="1"/>
                </p:cNvSpPr>
                <p:nvPr/>
              </p:nvSpPr>
              <p:spPr bwMode="auto">
                <a:xfrm flipV="1">
                  <a:off x="2816" y="138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79" name="Line 286"/>
                <p:cNvSpPr>
                  <a:spLocks noChangeShapeType="1"/>
                </p:cNvSpPr>
                <p:nvPr/>
              </p:nvSpPr>
              <p:spPr bwMode="auto">
                <a:xfrm flipV="1">
                  <a:off x="2816" y="1379"/>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0" name="Line 287"/>
                <p:cNvSpPr>
                  <a:spLocks noChangeShapeType="1"/>
                </p:cNvSpPr>
                <p:nvPr/>
              </p:nvSpPr>
              <p:spPr bwMode="auto">
                <a:xfrm flipV="1">
                  <a:off x="2820" y="1375"/>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1" name="Line 288"/>
                <p:cNvSpPr>
                  <a:spLocks noChangeShapeType="1"/>
                </p:cNvSpPr>
                <p:nvPr/>
              </p:nvSpPr>
              <p:spPr bwMode="auto">
                <a:xfrm flipV="1">
                  <a:off x="2825" y="137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2" name="Freeform 289"/>
                <p:cNvSpPr>
                  <a:spLocks/>
                </p:cNvSpPr>
                <p:nvPr/>
              </p:nvSpPr>
              <p:spPr bwMode="auto">
                <a:xfrm>
                  <a:off x="2825" y="13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83" name="Line 290"/>
                <p:cNvSpPr>
                  <a:spLocks noChangeShapeType="1"/>
                </p:cNvSpPr>
                <p:nvPr/>
              </p:nvSpPr>
              <p:spPr bwMode="auto">
                <a:xfrm flipV="1">
                  <a:off x="2829" y="135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4" name="Freeform 291"/>
                <p:cNvSpPr>
                  <a:spLocks/>
                </p:cNvSpPr>
                <p:nvPr/>
              </p:nvSpPr>
              <p:spPr bwMode="auto">
                <a:xfrm>
                  <a:off x="2829" y="1353"/>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85" name="Line 292"/>
                <p:cNvSpPr>
                  <a:spLocks noChangeShapeType="1"/>
                </p:cNvSpPr>
                <p:nvPr/>
              </p:nvSpPr>
              <p:spPr bwMode="auto">
                <a:xfrm flipV="1">
                  <a:off x="2833" y="1349"/>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6" name="Line 293"/>
                <p:cNvSpPr>
                  <a:spLocks noChangeShapeType="1"/>
                </p:cNvSpPr>
                <p:nvPr/>
              </p:nvSpPr>
              <p:spPr bwMode="auto">
                <a:xfrm flipV="1">
                  <a:off x="2833" y="1340"/>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7" name="Line 294"/>
                <p:cNvSpPr>
                  <a:spLocks noChangeShapeType="1"/>
                </p:cNvSpPr>
                <p:nvPr/>
              </p:nvSpPr>
              <p:spPr bwMode="auto">
                <a:xfrm flipV="1">
                  <a:off x="2838" y="1336"/>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8" name="Line 295"/>
                <p:cNvSpPr>
                  <a:spLocks noChangeShapeType="1"/>
                </p:cNvSpPr>
                <p:nvPr/>
              </p:nvSpPr>
              <p:spPr bwMode="auto">
                <a:xfrm flipV="1">
                  <a:off x="2842" y="1332"/>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89" name="Freeform 296"/>
                <p:cNvSpPr>
                  <a:spLocks/>
                </p:cNvSpPr>
                <p:nvPr/>
              </p:nvSpPr>
              <p:spPr bwMode="auto">
                <a:xfrm>
                  <a:off x="2842" y="1323"/>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90" name="Line 297"/>
                <p:cNvSpPr>
                  <a:spLocks noChangeShapeType="1"/>
                </p:cNvSpPr>
                <p:nvPr/>
              </p:nvSpPr>
              <p:spPr bwMode="auto">
                <a:xfrm flipV="1">
                  <a:off x="2846" y="1319"/>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1" name="Line 298"/>
                <p:cNvSpPr>
                  <a:spLocks noChangeShapeType="1"/>
                </p:cNvSpPr>
                <p:nvPr/>
              </p:nvSpPr>
              <p:spPr bwMode="auto">
                <a:xfrm flipV="1">
                  <a:off x="2846" y="1314"/>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2" name="Line 299"/>
                <p:cNvSpPr>
                  <a:spLocks noChangeShapeType="1"/>
                </p:cNvSpPr>
                <p:nvPr/>
              </p:nvSpPr>
              <p:spPr bwMode="auto">
                <a:xfrm flipV="1">
                  <a:off x="2851" y="1306"/>
                  <a:ext cx="4"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3" name="Line 300"/>
                <p:cNvSpPr>
                  <a:spLocks noChangeShapeType="1"/>
                </p:cNvSpPr>
                <p:nvPr/>
              </p:nvSpPr>
              <p:spPr bwMode="auto">
                <a:xfrm flipV="1">
                  <a:off x="2855" y="1301"/>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4" name="Freeform 301"/>
                <p:cNvSpPr>
                  <a:spLocks/>
                </p:cNvSpPr>
                <p:nvPr/>
              </p:nvSpPr>
              <p:spPr bwMode="auto">
                <a:xfrm>
                  <a:off x="2855" y="129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95" name="Line 302"/>
                <p:cNvSpPr>
                  <a:spLocks noChangeShapeType="1"/>
                </p:cNvSpPr>
                <p:nvPr/>
              </p:nvSpPr>
              <p:spPr bwMode="auto">
                <a:xfrm flipV="1">
                  <a:off x="2859" y="128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6" name="Line 303"/>
                <p:cNvSpPr>
                  <a:spLocks noChangeShapeType="1"/>
                </p:cNvSpPr>
                <p:nvPr/>
              </p:nvSpPr>
              <p:spPr bwMode="auto">
                <a:xfrm flipV="1">
                  <a:off x="2859" y="1284"/>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7" name="Line 304"/>
                <p:cNvSpPr>
                  <a:spLocks noChangeShapeType="1"/>
                </p:cNvSpPr>
                <p:nvPr/>
              </p:nvSpPr>
              <p:spPr bwMode="auto">
                <a:xfrm flipV="1">
                  <a:off x="2864" y="1275"/>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8" name="Line 305"/>
                <p:cNvSpPr>
                  <a:spLocks noChangeShapeType="1"/>
                </p:cNvSpPr>
                <p:nvPr/>
              </p:nvSpPr>
              <p:spPr bwMode="auto">
                <a:xfrm flipV="1">
                  <a:off x="2868" y="127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99" name="Freeform 306"/>
                <p:cNvSpPr>
                  <a:spLocks/>
                </p:cNvSpPr>
                <p:nvPr/>
              </p:nvSpPr>
              <p:spPr bwMode="auto">
                <a:xfrm>
                  <a:off x="2868" y="12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00" name="Line 307"/>
                <p:cNvSpPr>
                  <a:spLocks noChangeShapeType="1"/>
                </p:cNvSpPr>
                <p:nvPr/>
              </p:nvSpPr>
              <p:spPr bwMode="auto">
                <a:xfrm flipV="1">
                  <a:off x="2872" y="125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1" name="Freeform 308"/>
                <p:cNvSpPr>
                  <a:spLocks/>
                </p:cNvSpPr>
                <p:nvPr/>
              </p:nvSpPr>
              <p:spPr bwMode="auto">
                <a:xfrm>
                  <a:off x="2872" y="1253"/>
                  <a:ext cx="5" cy="5"/>
                </a:xfrm>
                <a:custGeom>
                  <a:avLst/>
                  <a:gdLst>
                    <a:gd name="T0" fmla="*/ 0 w 5"/>
                    <a:gd name="T1" fmla="*/ 5 h 5"/>
                    <a:gd name="T2" fmla="*/ 0 w 5"/>
                    <a:gd name="T3" fmla="*/ 5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5"/>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02" name="Line 309"/>
                <p:cNvSpPr>
                  <a:spLocks noChangeShapeType="1"/>
                </p:cNvSpPr>
                <p:nvPr/>
              </p:nvSpPr>
              <p:spPr bwMode="auto">
                <a:xfrm flipV="1">
                  <a:off x="2877" y="1245"/>
                  <a:ext cx="0"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3" name="Line 310"/>
                <p:cNvSpPr>
                  <a:spLocks noChangeShapeType="1"/>
                </p:cNvSpPr>
                <p:nvPr/>
              </p:nvSpPr>
              <p:spPr bwMode="auto">
                <a:xfrm flipV="1">
                  <a:off x="2877" y="1240"/>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4" name="Line 311"/>
                <p:cNvSpPr>
                  <a:spLocks noChangeShapeType="1"/>
                </p:cNvSpPr>
                <p:nvPr/>
              </p:nvSpPr>
              <p:spPr bwMode="auto">
                <a:xfrm flipV="1">
                  <a:off x="2881" y="1232"/>
                  <a:ext cx="4"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5" name="Line 312"/>
                <p:cNvSpPr>
                  <a:spLocks noChangeShapeType="1"/>
                </p:cNvSpPr>
                <p:nvPr/>
              </p:nvSpPr>
              <p:spPr bwMode="auto">
                <a:xfrm flipV="1">
                  <a:off x="2885" y="1227"/>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6" name="Freeform 313"/>
                <p:cNvSpPr>
                  <a:spLocks/>
                </p:cNvSpPr>
                <p:nvPr/>
              </p:nvSpPr>
              <p:spPr bwMode="auto">
                <a:xfrm>
                  <a:off x="2885" y="1223"/>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07" name="Line 314"/>
                <p:cNvSpPr>
                  <a:spLocks noChangeShapeType="1"/>
                </p:cNvSpPr>
                <p:nvPr/>
              </p:nvSpPr>
              <p:spPr bwMode="auto">
                <a:xfrm flipV="1">
                  <a:off x="2890" y="1214"/>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8" name="Line 315"/>
                <p:cNvSpPr>
                  <a:spLocks noChangeShapeType="1"/>
                </p:cNvSpPr>
                <p:nvPr/>
              </p:nvSpPr>
              <p:spPr bwMode="auto">
                <a:xfrm flipV="1">
                  <a:off x="2890" y="1210"/>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09" name="Line 316"/>
                <p:cNvSpPr>
                  <a:spLocks noChangeShapeType="1"/>
                </p:cNvSpPr>
                <p:nvPr/>
              </p:nvSpPr>
              <p:spPr bwMode="auto">
                <a:xfrm flipV="1">
                  <a:off x="2894" y="1201"/>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0" name="Line 317"/>
                <p:cNvSpPr>
                  <a:spLocks noChangeShapeType="1"/>
                </p:cNvSpPr>
                <p:nvPr/>
              </p:nvSpPr>
              <p:spPr bwMode="auto">
                <a:xfrm flipV="1">
                  <a:off x="2898" y="119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1" name="Freeform 318"/>
                <p:cNvSpPr>
                  <a:spLocks/>
                </p:cNvSpPr>
                <p:nvPr/>
              </p:nvSpPr>
              <p:spPr bwMode="auto">
                <a:xfrm>
                  <a:off x="2898" y="1188"/>
                  <a:ext cx="5" cy="9"/>
                </a:xfrm>
                <a:custGeom>
                  <a:avLst/>
                  <a:gdLst>
                    <a:gd name="T0" fmla="*/ 0 w 5"/>
                    <a:gd name="T1" fmla="*/ 9 h 9"/>
                    <a:gd name="T2" fmla="*/ 0 w 5"/>
                    <a:gd name="T3" fmla="*/ 5 h 9"/>
                    <a:gd name="T4" fmla="*/ 5 w 5"/>
                    <a:gd name="T5" fmla="*/ 0 h 9"/>
                    <a:gd name="T6" fmla="*/ 0 60000 65536"/>
                    <a:gd name="T7" fmla="*/ 0 60000 65536"/>
                    <a:gd name="T8" fmla="*/ 0 60000 65536"/>
                  </a:gdLst>
                  <a:ahLst/>
                  <a:cxnLst>
                    <a:cxn ang="T6">
                      <a:pos x="T0" y="T1"/>
                    </a:cxn>
                    <a:cxn ang="T7">
                      <a:pos x="T2" y="T3"/>
                    </a:cxn>
                    <a:cxn ang="T8">
                      <a:pos x="T4" y="T5"/>
                    </a:cxn>
                  </a:cxnLst>
                  <a:rect l="0" t="0" r="r" b="b"/>
                  <a:pathLst>
                    <a:path w="5" h="9">
                      <a:moveTo>
                        <a:pt x="0" y="9"/>
                      </a:moveTo>
                      <a:lnTo>
                        <a:pt x="0" y="5"/>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12" name="Line 319"/>
                <p:cNvSpPr>
                  <a:spLocks noChangeShapeType="1"/>
                </p:cNvSpPr>
                <p:nvPr/>
              </p:nvSpPr>
              <p:spPr bwMode="auto">
                <a:xfrm flipV="1">
                  <a:off x="2903" y="118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3" name="Freeform 320"/>
                <p:cNvSpPr>
                  <a:spLocks/>
                </p:cNvSpPr>
                <p:nvPr/>
              </p:nvSpPr>
              <p:spPr bwMode="auto">
                <a:xfrm>
                  <a:off x="2903" y="1180"/>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14" name="Line 321"/>
                <p:cNvSpPr>
                  <a:spLocks noChangeShapeType="1"/>
                </p:cNvSpPr>
                <p:nvPr/>
              </p:nvSpPr>
              <p:spPr bwMode="auto">
                <a:xfrm flipV="1">
                  <a:off x="2907" y="1171"/>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5" name="Line 322"/>
                <p:cNvSpPr>
                  <a:spLocks noChangeShapeType="1"/>
                </p:cNvSpPr>
                <p:nvPr/>
              </p:nvSpPr>
              <p:spPr bwMode="auto">
                <a:xfrm flipV="1">
                  <a:off x="2907" y="1167"/>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6" name="Line 323"/>
                <p:cNvSpPr>
                  <a:spLocks noChangeShapeType="1"/>
                </p:cNvSpPr>
                <p:nvPr/>
              </p:nvSpPr>
              <p:spPr bwMode="auto">
                <a:xfrm flipV="1">
                  <a:off x="2911" y="1158"/>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7" name="Line 324"/>
                <p:cNvSpPr>
                  <a:spLocks noChangeShapeType="1"/>
                </p:cNvSpPr>
                <p:nvPr/>
              </p:nvSpPr>
              <p:spPr bwMode="auto">
                <a:xfrm flipV="1">
                  <a:off x="2916" y="115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18" name="Freeform 325"/>
                <p:cNvSpPr>
                  <a:spLocks/>
                </p:cNvSpPr>
                <p:nvPr/>
              </p:nvSpPr>
              <p:spPr bwMode="auto">
                <a:xfrm>
                  <a:off x="2916" y="1145"/>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19" name="Line 326"/>
                <p:cNvSpPr>
                  <a:spLocks noChangeShapeType="1"/>
                </p:cNvSpPr>
                <p:nvPr/>
              </p:nvSpPr>
              <p:spPr bwMode="auto">
                <a:xfrm flipV="1">
                  <a:off x="2920" y="114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0" name="Line 327"/>
                <p:cNvSpPr>
                  <a:spLocks noChangeShapeType="1"/>
                </p:cNvSpPr>
                <p:nvPr/>
              </p:nvSpPr>
              <p:spPr bwMode="auto">
                <a:xfrm flipV="1">
                  <a:off x="2920" y="1136"/>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1" name="Line 328"/>
                <p:cNvSpPr>
                  <a:spLocks noChangeShapeType="1"/>
                </p:cNvSpPr>
                <p:nvPr/>
              </p:nvSpPr>
              <p:spPr bwMode="auto">
                <a:xfrm flipV="1">
                  <a:off x="2924" y="1128"/>
                  <a:ext cx="5"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2" name="Line 329"/>
                <p:cNvSpPr>
                  <a:spLocks noChangeShapeType="1"/>
                </p:cNvSpPr>
                <p:nvPr/>
              </p:nvSpPr>
              <p:spPr bwMode="auto">
                <a:xfrm flipV="1">
                  <a:off x="2929" y="1123"/>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3" name="Freeform 330"/>
                <p:cNvSpPr>
                  <a:spLocks/>
                </p:cNvSpPr>
                <p:nvPr/>
              </p:nvSpPr>
              <p:spPr bwMode="auto">
                <a:xfrm>
                  <a:off x="2929" y="1115"/>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24" name="Line 331"/>
                <p:cNvSpPr>
                  <a:spLocks noChangeShapeType="1"/>
                </p:cNvSpPr>
                <p:nvPr/>
              </p:nvSpPr>
              <p:spPr bwMode="auto">
                <a:xfrm flipV="1">
                  <a:off x="2933" y="1110"/>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5" name="Freeform 332"/>
                <p:cNvSpPr>
                  <a:spLocks/>
                </p:cNvSpPr>
                <p:nvPr/>
              </p:nvSpPr>
              <p:spPr bwMode="auto">
                <a:xfrm>
                  <a:off x="2933" y="110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26" name="Line 333"/>
                <p:cNvSpPr>
                  <a:spLocks noChangeShapeType="1"/>
                </p:cNvSpPr>
                <p:nvPr/>
              </p:nvSpPr>
              <p:spPr bwMode="auto">
                <a:xfrm flipV="1">
                  <a:off x="2937" y="109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7" name="Line 334"/>
                <p:cNvSpPr>
                  <a:spLocks noChangeShapeType="1"/>
                </p:cNvSpPr>
                <p:nvPr/>
              </p:nvSpPr>
              <p:spPr bwMode="auto">
                <a:xfrm flipV="1">
                  <a:off x="2937" y="1093"/>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8" name="Line 335"/>
                <p:cNvSpPr>
                  <a:spLocks noChangeShapeType="1"/>
                </p:cNvSpPr>
                <p:nvPr/>
              </p:nvSpPr>
              <p:spPr bwMode="auto">
                <a:xfrm flipV="1">
                  <a:off x="2942" y="1084"/>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29" name="Line 336"/>
                <p:cNvSpPr>
                  <a:spLocks noChangeShapeType="1"/>
                </p:cNvSpPr>
                <p:nvPr/>
              </p:nvSpPr>
              <p:spPr bwMode="auto">
                <a:xfrm flipV="1">
                  <a:off x="2946" y="108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0" name="Freeform 337"/>
                <p:cNvSpPr>
                  <a:spLocks/>
                </p:cNvSpPr>
                <p:nvPr/>
              </p:nvSpPr>
              <p:spPr bwMode="auto">
                <a:xfrm>
                  <a:off x="2946" y="1071"/>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31" name="Line 338"/>
                <p:cNvSpPr>
                  <a:spLocks noChangeShapeType="1"/>
                </p:cNvSpPr>
                <p:nvPr/>
              </p:nvSpPr>
              <p:spPr bwMode="auto">
                <a:xfrm flipV="1">
                  <a:off x="2950" y="106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2" name="Line 339"/>
                <p:cNvSpPr>
                  <a:spLocks noChangeShapeType="1"/>
                </p:cNvSpPr>
                <p:nvPr/>
              </p:nvSpPr>
              <p:spPr bwMode="auto">
                <a:xfrm flipV="1">
                  <a:off x="2950" y="1058"/>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3" name="Line 340"/>
                <p:cNvSpPr>
                  <a:spLocks noChangeShapeType="1"/>
                </p:cNvSpPr>
                <p:nvPr/>
              </p:nvSpPr>
              <p:spPr bwMode="auto">
                <a:xfrm flipV="1">
                  <a:off x="2955" y="1054"/>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4" name="Line 341"/>
                <p:cNvSpPr>
                  <a:spLocks noChangeShapeType="1"/>
                </p:cNvSpPr>
                <p:nvPr/>
              </p:nvSpPr>
              <p:spPr bwMode="auto">
                <a:xfrm flipV="1">
                  <a:off x="2959" y="1049"/>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5" name="Freeform 342"/>
                <p:cNvSpPr>
                  <a:spLocks/>
                </p:cNvSpPr>
                <p:nvPr/>
              </p:nvSpPr>
              <p:spPr bwMode="auto">
                <a:xfrm>
                  <a:off x="2959" y="1041"/>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36" name="Line 343"/>
                <p:cNvSpPr>
                  <a:spLocks noChangeShapeType="1"/>
                </p:cNvSpPr>
                <p:nvPr/>
              </p:nvSpPr>
              <p:spPr bwMode="auto">
                <a:xfrm flipV="1">
                  <a:off x="2963" y="1036"/>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7" name="Freeform 344"/>
                <p:cNvSpPr>
                  <a:spLocks/>
                </p:cNvSpPr>
                <p:nvPr/>
              </p:nvSpPr>
              <p:spPr bwMode="auto">
                <a:xfrm>
                  <a:off x="2963" y="103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38" name="Line 345"/>
                <p:cNvSpPr>
                  <a:spLocks noChangeShapeType="1"/>
                </p:cNvSpPr>
                <p:nvPr/>
              </p:nvSpPr>
              <p:spPr bwMode="auto">
                <a:xfrm flipV="1">
                  <a:off x="2968" y="1023"/>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39" name="Line 346"/>
                <p:cNvSpPr>
                  <a:spLocks noChangeShapeType="1"/>
                </p:cNvSpPr>
                <p:nvPr/>
              </p:nvSpPr>
              <p:spPr bwMode="auto">
                <a:xfrm flipV="1">
                  <a:off x="2968" y="101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0" name="Line 347"/>
                <p:cNvSpPr>
                  <a:spLocks noChangeShapeType="1"/>
                </p:cNvSpPr>
                <p:nvPr/>
              </p:nvSpPr>
              <p:spPr bwMode="auto">
                <a:xfrm flipV="1">
                  <a:off x="2972" y="1010"/>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1" name="Line 348"/>
                <p:cNvSpPr>
                  <a:spLocks noChangeShapeType="1"/>
                </p:cNvSpPr>
                <p:nvPr/>
              </p:nvSpPr>
              <p:spPr bwMode="auto">
                <a:xfrm flipV="1">
                  <a:off x="2976" y="100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2" name="Freeform 349"/>
                <p:cNvSpPr>
                  <a:spLocks/>
                </p:cNvSpPr>
                <p:nvPr/>
              </p:nvSpPr>
              <p:spPr bwMode="auto">
                <a:xfrm>
                  <a:off x="2976" y="100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43" name="Line 350"/>
                <p:cNvSpPr>
                  <a:spLocks noChangeShapeType="1"/>
                </p:cNvSpPr>
                <p:nvPr/>
              </p:nvSpPr>
              <p:spPr bwMode="auto">
                <a:xfrm flipV="1">
                  <a:off x="2981" y="993"/>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4" name="Line 351"/>
                <p:cNvSpPr>
                  <a:spLocks noChangeShapeType="1"/>
                </p:cNvSpPr>
                <p:nvPr/>
              </p:nvSpPr>
              <p:spPr bwMode="auto">
                <a:xfrm flipV="1">
                  <a:off x="2981" y="98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5" name="Line 352"/>
                <p:cNvSpPr>
                  <a:spLocks noChangeShapeType="1"/>
                </p:cNvSpPr>
                <p:nvPr/>
              </p:nvSpPr>
              <p:spPr bwMode="auto">
                <a:xfrm flipV="1">
                  <a:off x="2985" y="984"/>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6" name="Line 353"/>
                <p:cNvSpPr>
                  <a:spLocks noChangeShapeType="1"/>
                </p:cNvSpPr>
                <p:nvPr/>
              </p:nvSpPr>
              <p:spPr bwMode="auto">
                <a:xfrm flipV="1">
                  <a:off x="2990" y="98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7" name="Freeform 354"/>
                <p:cNvSpPr>
                  <a:spLocks/>
                </p:cNvSpPr>
                <p:nvPr/>
              </p:nvSpPr>
              <p:spPr bwMode="auto">
                <a:xfrm>
                  <a:off x="2990" y="97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48" name="Line 355"/>
                <p:cNvSpPr>
                  <a:spLocks noChangeShapeType="1"/>
                </p:cNvSpPr>
                <p:nvPr/>
              </p:nvSpPr>
              <p:spPr bwMode="auto">
                <a:xfrm flipV="1">
                  <a:off x="2994" y="96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49" name="Freeform 356"/>
                <p:cNvSpPr>
                  <a:spLocks/>
                </p:cNvSpPr>
                <p:nvPr/>
              </p:nvSpPr>
              <p:spPr bwMode="auto">
                <a:xfrm>
                  <a:off x="2994" y="963"/>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50" name="Line 357"/>
                <p:cNvSpPr>
                  <a:spLocks noChangeShapeType="1"/>
                </p:cNvSpPr>
                <p:nvPr/>
              </p:nvSpPr>
              <p:spPr bwMode="auto">
                <a:xfrm flipV="1">
                  <a:off x="2998" y="954"/>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1" name="Line 358"/>
                <p:cNvSpPr>
                  <a:spLocks noChangeShapeType="1"/>
                </p:cNvSpPr>
                <p:nvPr/>
              </p:nvSpPr>
              <p:spPr bwMode="auto">
                <a:xfrm flipV="1">
                  <a:off x="2998" y="950"/>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2" name="Line 359"/>
                <p:cNvSpPr>
                  <a:spLocks noChangeShapeType="1"/>
                </p:cNvSpPr>
                <p:nvPr/>
              </p:nvSpPr>
              <p:spPr bwMode="auto">
                <a:xfrm flipV="1">
                  <a:off x="3003" y="945"/>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3" name="Line 360"/>
                <p:cNvSpPr>
                  <a:spLocks noChangeShapeType="1"/>
                </p:cNvSpPr>
                <p:nvPr/>
              </p:nvSpPr>
              <p:spPr bwMode="auto">
                <a:xfrm flipV="1">
                  <a:off x="3007" y="94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4" name="Freeform 361"/>
                <p:cNvSpPr>
                  <a:spLocks/>
                </p:cNvSpPr>
                <p:nvPr/>
              </p:nvSpPr>
              <p:spPr bwMode="auto">
                <a:xfrm>
                  <a:off x="3007" y="93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55" name="Line 362"/>
                <p:cNvSpPr>
                  <a:spLocks noChangeShapeType="1"/>
                </p:cNvSpPr>
                <p:nvPr/>
              </p:nvSpPr>
              <p:spPr bwMode="auto">
                <a:xfrm flipV="1">
                  <a:off x="3011" y="92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6" name="Line 363"/>
                <p:cNvSpPr>
                  <a:spLocks noChangeShapeType="1"/>
                </p:cNvSpPr>
                <p:nvPr/>
              </p:nvSpPr>
              <p:spPr bwMode="auto">
                <a:xfrm flipV="1">
                  <a:off x="3011" y="924"/>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7" name="Line 364"/>
                <p:cNvSpPr>
                  <a:spLocks noChangeShapeType="1"/>
                </p:cNvSpPr>
                <p:nvPr/>
              </p:nvSpPr>
              <p:spPr bwMode="auto">
                <a:xfrm flipV="1">
                  <a:off x="3016" y="919"/>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8" name="Line 365"/>
                <p:cNvSpPr>
                  <a:spLocks noChangeShapeType="1"/>
                </p:cNvSpPr>
                <p:nvPr/>
              </p:nvSpPr>
              <p:spPr bwMode="auto">
                <a:xfrm flipV="1">
                  <a:off x="3020" y="91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59" name="Freeform 366"/>
                <p:cNvSpPr>
                  <a:spLocks/>
                </p:cNvSpPr>
                <p:nvPr/>
              </p:nvSpPr>
              <p:spPr bwMode="auto">
                <a:xfrm>
                  <a:off x="3020" y="910"/>
                  <a:ext cx="4" cy="5"/>
                </a:xfrm>
                <a:custGeom>
                  <a:avLst/>
                  <a:gdLst>
                    <a:gd name="T0" fmla="*/ 0 w 4"/>
                    <a:gd name="T1" fmla="*/ 5 h 5"/>
                    <a:gd name="T2" fmla="*/ 0 w 4"/>
                    <a:gd name="T3" fmla="*/ 5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5"/>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60" name="Line 367"/>
                <p:cNvSpPr>
                  <a:spLocks noChangeShapeType="1"/>
                </p:cNvSpPr>
                <p:nvPr/>
              </p:nvSpPr>
              <p:spPr bwMode="auto">
                <a:xfrm flipV="1">
                  <a:off x="3024" y="902"/>
                  <a:ext cx="0"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1" name="Freeform 368"/>
                <p:cNvSpPr>
                  <a:spLocks/>
                </p:cNvSpPr>
                <p:nvPr/>
              </p:nvSpPr>
              <p:spPr bwMode="auto">
                <a:xfrm>
                  <a:off x="3024" y="897"/>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62" name="Line 369"/>
                <p:cNvSpPr>
                  <a:spLocks noChangeShapeType="1"/>
                </p:cNvSpPr>
                <p:nvPr/>
              </p:nvSpPr>
              <p:spPr bwMode="auto">
                <a:xfrm flipV="1">
                  <a:off x="3029" y="893"/>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3" name="Line 370"/>
                <p:cNvSpPr>
                  <a:spLocks noChangeShapeType="1"/>
                </p:cNvSpPr>
                <p:nvPr/>
              </p:nvSpPr>
              <p:spPr bwMode="auto">
                <a:xfrm flipV="1">
                  <a:off x="3029" y="88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4" name="Line 371"/>
                <p:cNvSpPr>
                  <a:spLocks noChangeShapeType="1"/>
                </p:cNvSpPr>
                <p:nvPr/>
              </p:nvSpPr>
              <p:spPr bwMode="auto">
                <a:xfrm flipV="1">
                  <a:off x="3033" y="884"/>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5" name="Line 372"/>
                <p:cNvSpPr>
                  <a:spLocks noChangeShapeType="1"/>
                </p:cNvSpPr>
                <p:nvPr/>
              </p:nvSpPr>
              <p:spPr bwMode="auto">
                <a:xfrm flipV="1">
                  <a:off x="3037" y="88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6" name="Freeform 373"/>
                <p:cNvSpPr>
                  <a:spLocks/>
                </p:cNvSpPr>
                <p:nvPr/>
              </p:nvSpPr>
              <p:spPr bwMode="auto">
                <a:xfrm>
                  <a:off x="3037" y="876"/>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67" name="Line 374"/>
                <p:cNvSpPr>
                  <a:spLocks noChangeShapeType="1"/>
                </p:cNvSpPr>
                <p:nvPr/>
              </p:nvSpPr>
              <p:spPr bwMode="auto">
                <a:xfrm flipV="1">
                  <a:off x="3042" y="871"/>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8" name="Line 375"/>
                <p:cNvSpPr>
                  <a:spLocks noChangeShapeType="1"/>
                </p:cNvSpPr>
                <p:nvPr/>
              </p:nvSpPr>
              <p:spPr bwMode="auto">
                <a:xfrm flipV="1">
                  <a:off x="3042" y="867"/>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69" name="Line 376"/>
                <p:cNvSpPr>
                  <a:spLocks noChangeShapeType="1"/>
                </p:cNvSpPr>
                <p:nvPr/>
              </p:nvSpPr>
              <p:spPr bwMode="auto">
                <a:xfrm flipV="1">
                  <a:off x="3046" y="86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0" name="Line 377"/>
                <p:cNvSpPr>
                  <a:spLocks noChangeShapeType="1"/>
                </p:cNvSpPr>
                <p:nvPr/>
              </p:nvSpPr>
              <p:spPr bwMode="auto">
                <a:xfrm flipV="1">
                  <a:off x="3050" y="858"/>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1" name="Freeform 378"/>
                <p:cNvSpPr>
                  <a:spLocks/>
                </p:cNvSpPr>
                <p:nvPr/>
              </p:nvSpPr>
              <p:spPr bwMode="auto">
                <a:xfrm>
                  <a:off x="3050" y="854"/>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72" name="Line 379"/>
                <p:cNvSpPr>
                  <a:spLocks noChangeShapeType="1"/>
                </p:cNvSpPr>
                <p:nvPr/>
              </p:nvSpPr>
              <p:spPr bwMode="auto">
                <a:xfrm flipV="1">
                  <a:off x="3055" y="85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3" name="Freeform 380"/>
                <p:cNvSpPr>
                  <a:spLocks/>
                </p:cNvSpPr>
                <p:nvPr/>
              </p:nvSpPr>
              <p:spPr bwMode="auto">
                <a:xfrm>
                  <a:off x="3055" y="845"/>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74" name="Line 381"/>
                <p:cNvSpPr>
                  <a:spLocks noChangeShapeType="1"/>
                </p:cNvSpPr>
                <p:nvPr/>
              </p:nvSpPr>
              <p:spPr bwMode="auto">
                <a:xfrm flipV="1">
                  <a:off x="3059" y="84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5" name="Line 382"/>
                <p:cNvSpPr>
                  <a:spLocks noChangeShapeType="1"/>
                </p:cNvSpPr>
                <p:nvPr/>
              </p:nvSpPr>
              <p:spPr bwMode="auto">
                <a:xfrm flipV="1">
                  <a:off x="3059" y="837"/>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6" name="Line 383"/>
                <p:cNvSpPr>
                  <a:spLocks noChangeShapeType="1"/>
                </p:cNvSpPr>
                <p:nvPr/>
              </p:nvSpPr>
              <p:spPr bwMode="auto">
                <a:xfrm flipV="1">
                  <a:off x="3063" y="832"/>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7" name="Line 384"/>
                <p:cNvSpPr>
                  <a:spLocks noChangeShapeType="1"/>
                </p:cNvSpPr>
                <p:nvPr/>
              </p:nvSpPr>
              <p:spPr bwMode="auto">
                <a:xfrm flipV="1">
                  <a:off x="3068" y="82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78" name="Freeform 385"/>
                <p:cNvSpPr>
                  <a:spLocks/>
                </p:cNvSpPr>
                <p:nvPr/>
              </p:nvSpPr>
              <p:spPr bwMode="auto">
                <a:xfrm>
                  <a:off x="3068"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79" name="Line 386"/>
                <p:cNvSpPr>
                  <a:spLocks noChangeShapeType="1"/>
                </p:cNvSpPr>
                <p:nvPr/>
              </p:nvSpPr>
              <p:spPr bwMode="auto">
                <a:xfrm flipV="1">
                  <a:off x="3072" y="82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0" name="Line 387"/>
                <p:cNvSpPr>
                  <a:spLocks noChangeShapeType="1"/>
                </p:cNvSpPr>
                <p:nvPr/>
              </p:nvSpPr>
              <p:spPr bwMode="auto">
                <a:xfrm flipV="1">
                  <a:off x="3072" y="819"/>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1" name="Line 388"/>
                <p:cNvSpPr>
                  <a:spLocks noChangeShapeType="1"/>
                </p:cNvSpPr>
                <p:nvPr/>
              </p:nvSpPr>
              <p:spPr bwMode="auto">
                <a:xfrm flipV="1">
                  <a:off x="3076" y="815"/>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2" name="Line 389"/>
                <p:cNvSpPr>
                  <a:spLocks noChangeShapeType="1"/>
                </p:cNvSpPr>
                <p:nvPr/>
              </p:nvSpPr>
              <p:spPr bwMode="auto">
                <a:xfrm flipV="1">
                  <a:off x="3081" y="81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3" name="Freeform 390"/>
                <p:cNvSpPr>
                  <a:spLocks/>
                </p:cNvSpPr>
                <p:nvPr/>
              </p:nvSpPr>
              <p:spPr bwMode="auto">
                <a:xfrm>
                  <a:off x="3081"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84" name="Line 391"/>
                <p:cNvSpPr>
                  <a:spLocks noChangeShapeType="1"/>
                </p:cNvSpPr>
                <p:nvPr/>
              </p:nvSpPr>
              <p:spPr bwMode="auto">
                <a:xfrm flipV="1">
                  <a:off x="3085" y="806"/>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5" name="Freeform 392"/>
                <p:cNvSpPr>
                  <a:spLocks/>
                </p:cNvSpPr>
                <p:nvPr/>
              </p:nvSpPr>
              <p:spPr bwMode="auto">
                <a:xfrm>
                  <a:off x="3085" y="802"/>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86" name="Line 393"/>
                <p:cNvSpPr>
                  <a:spLocks noChangeShapeType="1"/>
                </p:cNvSpPr>
                <p:nvPr/>
              </p:nvSpPr>
              <p:spPr bwMode="auto">
                <a:xfrm flipV="1">
                  <a:off x="3089" y="79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7" name="Line 394"/>
                <p:cNvSpPr>
                  <a:spLocks noChangeShapeType="1"/>
                </p:cNvSpPr>
                <p:nvPr/>
              </p:nvSpPr>
              <p:spPr bwMode="auto">
                <a:xfrm>
                  <a:off x="3089" y="79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88" name="Freeform 395"/>
                <p:cNvSpPr>
                  <a:spLocks/>
                </p:cNvSpPr>
                <p:nvPr/>
              </p:nvSpPr>
              <p:spPr bwMode="auto">
                <a:xfrm>
                  <a:off x="3094" y="793"/>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89" name="Line 396"/>
                <p:cNvSpPr>
                  <a:spLocks noChangeShapeType="1"/>
                </p:cNvSpPr>
                <p:nvPr/>
              </p:nvSpPr>
              <p:spPr bwMode="auto">
                <a:xfrm>
                  <a:off x="3098" y="79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90" name="Freeform 397"/>
                <p:cNvSpPr>
                  <a:spLocks/>
                </p:cNvSpPr>
                <p:nvPr/>
              </p:nvSpPr>
              <p:spPr bwMode="auto">
                <a:xfrm>
                  <a:off x="3098" y="789"/>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91" name="Line 398"/>
                <p:cNvSpPr>
                  <a:spLocks noChangeShapeType="1"/>
                </p:cNvSpPr>
                <p:nvPr/>
              </p:nvSpPr>
              <p:spPr bwMode="auto">
                <a:xfrm flipV="1">
                  <a:off x="3102" y="78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92" name="Line 399"/>
                <p:cNvSpPr>
                  <a:spLocks noChangeShapeType="1"/>
                </p:cNvSpPr>
                <p:nvPr/>
              </p:nvSpPr>
              <p:spPr bwMode="auto">
                <a:xfrm>
                  <a:off x="3102" y="785"/>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93" name="Freeform 400"/>
                <p:cNvSpPr>
                  <a:spLocks/>
                </p:cNvSpPr>
                <p:nvPr/>
              </p:nvSpPr>
              <p:spPr bwMode="auto">
                <a:xfrm>
                  <a:off x="3107" y="780"/>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94" name="Line 401"/>
                <p:cNvSpPr>
                  <a:spLocks noChangeShapeType="1"/>
                </p:cNvSpPr>
                <p:nvPr/>
              </p:nvSpPr>
              <p:spPr bwMode="auto">
                <a:xfrm>
                  <a:off x="3111" y="78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95" name="Freeform 402"/>
                <p:cNvSpPr>
                  <a:spLocks/>
                </p:cNvSpPr>
                <p:nvPr/>
              </p:nvSpPr>
              <p:spPr bwMode="auto">
                <a:xfrm>
                  <a:off x="3111" y="77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96" name="Line 403"/>
                <p:cNvSpPr>
                  <a:spLocks noChangeShapeType="1"/>
                </p:cNvSpPr>
                <p:nvPr/>
              </p:nvSpPr>
              <p:spPr bwMode="auto">
                <a:xfrm>
                  <a:off x="3115" y="77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97" name="Freeform 404"/>
                <p:cNvSpPr>
                  <a:spLocks/>
                </p:cNvSpPr>
                <p:nvPr/>
              </p:nvSpPr>
              <p:spPr bwMode="auto">
                <a:xfrm>
                  <a:off x="3115" y="77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198" name="Line 405"/>
                <p:cNvSpPr>
                  <a:spLocks noChangeShapeType="1"/>
                </p:cNvSpPr>
                <p:nvPr/>
              </p:nvSpPr>
              <p:spPr bwMode="auto">
                <a:xfrm>
                  <a:off x="3120" y="77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199" name="Freeform 406"/>
                <p:cNvSpPr>
                  <a:spLocks/>
                </p:cNvSpPr>
                <p:nvPr/>
              </p:nvSpPr>
              <p:spPr bwMode="auto">
                <a:xfrm>
                  <a:off x="3120" y="767"/>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200" name="Line 407"/>
                <p:cNvSpPr>
                  <a:spLocks noChangeShapeType="1"/>
                </p:cNvSpPr>
                <p:nvPr/>
              </p:nvSpPr>
              <p:spPr bwMode="auto">
                <a:xfrm>
                  <a:off x="3124" y="76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201" name="Line 408"/>
                <p:cNvSpPr>
                  <a:spLocks noChangeShapeType="1"/>
                </p:cNvSpPr>
                <p:nvPr/>
              </p:nvSpPr>
              <p:spPr bwMode="auto">
                <a:xfrm>
                  <a:off x="3128" y="76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202" name="Freeform 409"/>
                <p:cNvSpPr>
                  <a:spLocks/>
                </p:cNvSpPr>
                <p:nvPr/>
              </p:nvSpPr>
              <p:spPr bwMode="auto">
                <a:xfrm>
                  <a:off x="3128" y="763"/>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203" name="Line 410"/>
                <p:cNvSpPr>
                  <a:spLocks noChangeShapeType="1"/>
                </p:cNvSpPr>
                <p:nvPr/>
              </p:nvSpPr>
              <p:spPr bwMode="auto">
                <a:xfrm>
                  <a:off x="3133" y="76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6590" name="Group 411"/>
              <p:cNvGrpSpPr>
                <a:grpSpLocks/>
              </p:cNvGrpSpPr>
              <p:nvPr/>
            </p:nvGrpSpPr>
            <p:grpSpPr bwMode="auto">
              <a:xfrm>
                <a:off x="3133" y="758"/>
                <a:ext cx="508" cy="851"/>
                <a:chOff x="3133" y="754"/>
                <a:chExt cx="508" cy="851"/>
              </a:xfrm>
            </p:grpSpPr>
            <p:sp>
              <p:nvSpPr>
                <p:cNvPr id="16804" name="Line 412"/>
                <p:cNvSpPr>
                  <a:spLocks noChangeShapeType="1"/>
                </p:cNvSpPr>
                <p:nvPr/>
              </p:nvSpPr>
              <p:spPr bwMode="auto">
                <a:xfrm>
                  <a:off x="3133" y="76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05" name="Freeform 413"/>
                <p:cNvSpPr>
                  <a:spLocks/>
                </p:cNvSpPr>
                <p:nvPr/>
              </p:nvSpPr>
              <p:spPr bwMode="auto">
                <a:xfrm>
                  <a:off x="3137" y="759"/>
                  <a:ext cx="4" cy="4"/>
                </a:xfrm>
                <a:custGeom>
                  <a:avLst/>
                  <a:gdLst>
                    <a:gd name="T0" fmla="*/ 0 w 4"/>
                    <a:gd name="T1" fmla="*/ 4 h 4"/>
                    <a:gd name="T2" fmla="*/ 4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06" name="Line 414"/>
                <p:cNvSpPr>
                  <a:spLocks noChangeShapeType="1"/>
                </p:cNvSpPr>
                <p:nvPr/>
              </p:nvSpPr>
              <p:spPr bwMode="auto">
                <a:xfrm>
                  <a:off x="3141" y="75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07" name="Freeform 415"/>
                <p:cNvSpPr>
                  <a:spLocks/>
                </p:cNvSpPr>
                <p:nvPr/>
              </p:nvSpPr>
              <p:spPr bwMode="auto">
                <a:xfrm>
                  <a:off x="3141"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08" name="Line 416"/>
                <p:cNvSpPr>
                  <a:spLocks noChangeShapeType="1"/>
                </p:cNvSpPr>
                <p:nvPr/>
              </p:nvSpPr>
              <p:spPr bwMode="auto">
                <a:xfrm>
                  <a:off x="3146" y="75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09" name="Freeform 417"/>
                <p:cNvSpPr>
                  <a:spLocks/>
                </p:cNvSpPr>
                <p:nvPr/>
              </p:nvSpPr>
              <p:spPr bwMode="auto">
                <a:xfrm>
                  <a:off x="3146"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10" name="Freeform 418"/>
                <p:cNvSpPr>
                  <a:spLocks/>
                </p:cNvSpPr>
                <p:nvPr/>
              </p:nvSpPr>
              <p:spPr bwMode="auto">
                <a:xfrm>
                  <a:off x="3150" y="754"/>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11" name="Line 419"/>
                <p:cNvSpPr>
                  <a:spLocks noChangeShapeType="1"/>
                </p:cNvSpPr>
                <p:nvPr/>
              </p:nvSpPr>
              <p:spPr bwMode="auto">
                <a:xfrm>
                  <a:off x="3150" y="75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2" name="Line 420"/>
                <p:cNvSpPr>
                  <a:spLocks noChangeShapeType="1"/>
                </p:cNvSpPr>
                <p:nvPr/>
              </p:nvSpPr>
              <p:spPr bwMode="auto">
                <a:xfrm>
                  <a:off x="3154" y="75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3" name="Line 421"/>
                <p:cNvSpPr>
                  <a:spLocks noChangeShapeType="1"/>
                </p:cNvSpPr>
                <p:nvPr/>
              </p:nvSpPr>
              <p:spPr bwMode="auto">
                <a:xfrm>
                  <a:off x="3159" y="75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4" name="Freeform 422"/>
                <p:cNvSpPr>
                  <a:spLocks/>
                </p:cNvSpPr>
                <p:nvPr/>
              </p:nvSpPr>
              <p:spPr bwMode="auto">
                <a:xfrm>
                  <a:off x="3159"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15" name="Line 423"/>
                <p:cNvSpPr>
                  <a:spLocks noChangeShapeType="1"/>
                </p:cNvSpPr>
                <p:nvPr/>
              </p:nvSpPr>
              <p:spPr bwMode="auto">
                <a:xfrm>
                  <a:off x="3163" y="75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6" name="Line 424"/>
                <p:cNvSpPr>
                  <a:spLocks noChangeShapeType="1"/>
                </p:cNvSpPr>
                <p:nvPr/>
              </p:nvSpPr>
              <p:spPr bwMode="auto">
                <a:xfrm>
                  <a:off x="3163" y="75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7" name="Line 425"/>
                <p:cNvSpPr>
                  <a:spLocks noChangeShapeType="1"/>
                </p:cNvSpPr>
                <p:nvPr/>
              </p:nvSpPr>
              <p:spPr bwMode="auto">
                <a:xfrm>
                  <a:off x="3168" y="75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8" name="Line 426"/>
                <p:cNvSpPr>
                  <a:spLocks noChangeShapeType="1"/>
                </p:cNvSpPr>
                <p:nvPr/>
              </p:nvSpPr>
              <p:spPr bwMode="auto">
                <a:xfrm>
                  <a:off x="3172" y="75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19" name="Freeform 427"/>
                <p:cNvSpPr>
                  <a:spLocks/>
                </p:cNvSpPr>
                <p:nvPr/>
              </p:nvSpPr>
              <p:spPr bwMode="auto">
                <a:xfrm>
                  <a:off x="3172"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20" name="Line 428"/>
                <p:cNvSpPr>
                  <a:spLocks noChangeShapeType="1"/>
                </p:cNvSpPr>
                <p:nvPr/>
              </p:nvSpPr>
              <p:spPr bwMode="auto">
                <a:xfrm>
                  <a:off x="3176" y="75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21" name="Line 429"/>
                <p:cNvSpPr>
                  <a:spLocks noChangeShapeType="1"/>
                </p:cNvSpPr>
                <p:nvPr/>
              </p:nvSpPr>
              <p:spPr bwMode="auto">
                <a:xfrm>
                  <a:off x="3176" y="75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22" name="Line 430"/>
                <p:cNvSpPr>
                  <a:spLocks noChangeShapeType="1"/>
                </p:cNvSpPr>
                <p:nvPr/>
              </p:nvSpPr>
              <p:spPr bwMode="auto">
                <a:xfrm>
                  <a:off x="3181" y="75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23" name="Freeform 431"/>
                <p:cNvSpPr>
                  <a:spLocks/>
                </p:cNvSpPr>
                <p:nvPr/>
              </p:nvSpPr>
              <p:spPr bwMode="auto">
                <a:xfrm>
                  <a:off x="3185" y="75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24" name="Freeform 432"/>
                <p:cNvSpPr>
                  <a:spLocks/>
                </p:cNvSpPr>
                <p:nvPr/>
              </p:nvSpPr>
              <p:spPr bwMode="auto">
                <a:xfrm>
                  <a:off x="3185"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25" name="Line 433"/>
                <p:cNvSpPr>
                  <a:spLocks noChangeShapeType="1"/>
                </p:cNvSpPr>
                <p:nvPr/>
              </p:nvSpPr>
              <p:spPr bwMode="auto">
                <a:xfrm>
                  <a:off x="3189" y="75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26" name="Freeform 434"/>
                <p:cNvSpPr>
                  <a:spLocks/>
                </p:cNvSpPr>
                <p:nvPr/>
              </p:nvSpPr>
              <p:spPr bwMode="auto">
                <a:xfrm>
                  <a:off x="3189"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27" name="Line 435"/>
                <p:cNvSpPr>
                  <a:spLocks noChangeShapeType="1"/>
                </p:cNvSpPr>
                <p:nvPr/>
              </p:nvSpPr>
              <p:spPr bwMode="auto">
                <a:xfrm>
                  <a:off x="3194" y="75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28" name="Freeform 436"/>
                <p:cNvSpPr>
                  <a:spLocks/>
                </p:cNvSpPr>
                <p:nvPr/>
              </p:nvSpPr>
              <p:spPr bwMode="auto">
                <a:xfrm>
                  <a:off x="3194" y="75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29" name="Line 437"/>
                <p:cNvSpPr>
                  <a:spLocks noChangeShapeType="1"/>
                </p:cNvSpPr>
                <p:nvPr/>
              </p:nvSpPr>
              <p:spPr bwMode="auto">
                <a:xfrm>
                  <a:off x="3198" y="76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30" name="Line 438"/>
                <p:cNvSpPr>
                  <a:spLocks noChangeShapeType="1"/>
                </p:cNvSpPr>
                <p:nvPr/>
              </p:nvSpPr>
              <p:spPr bwMode="auto">
                <a:xfrm>
                  <a:off x="3202" y="76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31" name="Freeform 439"/>
                <p:cNvSpPr>
                  <a:spLocks/>
                </p:cNvSpPr>
                <p:nvPr/>
              </p:nvSpPr>
              <p:spPr bwMode="auto">
                <a:xfrm>
                  <a:off x="3202" y="763"/>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32" name="Line 440"/>
                <p:cNvSpPr>
                  <a:spLocks noChangeShapeType="1"/>
                </p:cNvSpPr>
                <p:nvPr/>
              </p:nvSpPr>
              <p:spPr bwMode="auto">
                <a:xfrm>
                  <a:off x="3207" y="76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33" name="Line 441"/>
                <p:cNvSpPr>
                  <a:spLocks noChangeShapeType="1"/>
                </p:cNvSpPr>
                <p:nvPr/>
              </p:nvSpPr>
              <p:spPr bwMode="auto">
                <a:xfrm>
                  <a:off x="3207" y="76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34" name="Freeform 442"/>
                <p:cNvSpPr>
                  <a:spLocks/>
                </p:cNvSpPr>
                <p:nvPr/>
              </p:nvSpPr>
              <p:spPr bwMode="auto">
                <a:xfrm>
                  <a:off x="3211" y="767"/>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35" name="Line 443"/>
                <p:cNvSpPr>
                  <a:spLocks noChangeShapeType="1"/>
                </p:cNvSpPr>
                <p:nvPr/>
              </p:nvSpPr>
              <p:spPr bwMode="auto">
                <a:xfrm>
                  <a:off x="3215" y="77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36" name="Freeform 444"/>
                <p:cNvSpPr>
                  <a:spLocks/>
                </p:cNvSpPr>
                <p:nvPr/>
              </p:nvSpPr>
              <p:spPr bwMode="auto">
                <a:xfrm>
                  <a:off x="3215" y="77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37" name="Line 445"/>
                <p:cNvSpPr>
                  <a:spLocks noChangeShapeType="1"/>
                </p:cNvSpPr>
                <p:nvPr/>
              </p:nvSpPr>
              <p:spPr bwMode="auto">
                <a:xfrm>
                  <a:off x="3220" y="77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38" name="Freeform 446"/>
                <p:cNvSpPr>
                  <a:spLocks/>
                </p:cNvSpPr>
                <p:nvPr/>
              </p:nvSpPr>
              <p:spPr bwMode="auto">
                <a:xfrm>
                  <a:off x="3220" y="776"/>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39" name="Line 447"/>
                <p:cNvSpPr>
                  <a:spLocks noChangeShapeType="1"/>
                </p:cNvSpPr>
                <p:nvPr/>
              </p:nvSpPr>
              <p:spPr bwMode="auto">
                <a:xfrm>
                  <a:off x="3224" y="78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40" name="Freeform 448"/>
                <p:cNvSpPr>
                  <a:spLocks/>
                </p:cNvSpPr>
                <p:nvPr/>
              </p:nvSpPr>
              <p:spPr bwMode="auto">
                <a:xfrm>
                  <a:off x="3224" y="780"/>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41" name="Line 449"/>
                <p:cNvSpPr>
                  <a:spLocks noChangeShapeType="1"/>
                </p:cNvSpPr>
                <p:nvPr/>
              </p:nvSpPr>
              <p:spPr bwMode="auto">
                <a:xfrm>
                  <a:off x="3228" y="785"/>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42" name="Line 450"/>
                <p:cNvSpPr>
                  <a:spLocks noChangeShapeType="1"/>
                </p:cNvSpPr>
                <p:nvPr/>
              </p:nvSpPr>
              <p:spPr bwMode="auto">
                <a:xfrm>
                  <a:off x="3233" y="78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43" name="Freeform 451"/>
                <p:cNvSpPr>
                  <a:spLocks/>
                </p:cNvSpPr>
                <p:nvPr/>
              </p:nvSpPr>
              <p:spPr bwMode="auto">
                <a:xfrm>
                  <a:off x="3233" y="789"/>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44" name="Line 452"/>
                <p:cNvSpPr>
                  <a:spLocks noChangeShapeType="1"/>
                </p:cNvSpPr>
                <p:nvPr/>
              </p:nvSpPr>
              <p:spPr bwMode="auto">
                <a:xfrm>
                  <a:off x="3237" y="79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45" name="Freeform 453"/>
                <p:cNvSpPr>
                  <a:spLocks/>
                </p:cNvSpPr>
                <p:nvPr/>
              </p:nvSpPr>
              <p:spPr bwMode="auto">
                <a:xfrm>
                  <a:off x="3237" y="79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46" name="Line 454"/>
                <p:cNvSpPr>
                  <a:spLocks noChangeShapeType="1"/>
                </p:cNvSpPr>
                <p:nvPr/>
              </p:nvSpPr>
              <p:spPr bwMode="auto">
                <a:xfrm>
                  <a:off x="3241" y="79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47" name="Line 455"/>
                <p:cNvSpPr>
                  <a:spLocks noChangeShapeType="1"/>
                </p:cNvSpPr>
                <p:nvPr/>
              </p:nvSpPr>
              <p:spPr bwMode="auto">
                <a:xfrm>
                  <a:off x="3246" y="79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48" name="Freeform 456"/>
                <p:cNvSpPr>
                  <a:spLocks/>
                </p:cNvSpPr>
                <p:nvPr/>
              </p:nvSpPr>
              <p:spPr bwMode="auto">
                <a:xfrm>
                  <a:off x="3246" y="802"/>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49" name="Line 457"/>
                <p:cNvSpPr>
                  <a:spLocks noChangeShapeType="1"/>
                </p:cNvSpPr>
                <p:nvPr/>
              </p:nvSpPr>
              <p:spPr bwMode="auto">
                <a:xfrm>
                  <a:off x="3250" y="806"/>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0" name="Freeform 458"/>
                <p:cNvSpPr>
                  <a:spLocks/>
                </p:cNvSpPr>
                <p:nvPr/>
              </p:nvSpPr>
              <p:spPr bwMode="auto">
                <a:xfrm>
                  <a:off x="3250"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51" name="Line 459"/>
                <p:cNvSpPr>
                  <a:spLocks noChangeShapeType="1"/>
                </p:cNvSpPr>
                <p:nvPr/>
              </p:nvSpPr>
              <p:spPr bwMode="auto">
                <a:xfrm>
                  <a:off x="3254" y="81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2" name="Line 460"/>
                <p:cNvSpPr>
                  <a:spLocks noChangeShapeType="1"/>
                </p:cNvSpPr>
                <p:nvPr/>
              </p:nvSpPr>
              <p:spPr bwMode="auto">
                <a:xfrm>
                  <a:off x="3254" y="815"/>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3" name="Line 461"/>
                <p:cNvSpPr>
                  <a:spLocks noChangeShapeType="1"/>
                </p:cNvSpPr>
                <p:nvPr/>
              </p:nvSpPr>
              <p:spPr bwMode="auto">
                <a:xfrm>
                  <a:off x="3259" y="819"/>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4" name="Line 462"/>
                <p:cNvSpPr>
                  <a:spLocks noChangeShapeType="1"/>
                </p:cNvSpPr>
                <p:nvPr/>
              </p:nvSpPr>
              <p:spPr bwMode="auto">
                <a:xfrm>
                  <a:off x="3263" y="82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5" name="Freeform 463"/>
                <p:cNvSpPr>
                  <a:spLocks/>
                </p:cNvSpPr>
                <p:nvPr/>
              </p:nvSpPr>
              <p:spPr bwMode="auto">
                <a:xfrm>
                  <a:off x="3263"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56" name="Line 464"/>
                <p:cNvSpPr>
                  <a:spLocks noChangeShapeType="1"/>
                </p:cNvSpPr>
                <p:nvPr/>
              </p:nvSpPr>
              <p:spPr bwMode="auto">
                <a:xfrm>
                  <a:off x="3267" y="82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7" name="Line 465"/>
                <p:cNvSpPr>
                  <a:spLocks noChangeShapeType="1"/>
                </p:cNvSpPr>
                <p:nvPr/>
              </p:nvSpPr>
              <p:spPr bwMode="auto">
                <a:xfrm>
                  <a:off x="3267" y="832"/>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8" name="Line 466"/>
                <p:cNvSpPr>
                  <a:spLocks noChangeShapeType="1"/>
                </p:cNvSpPr>
                <p:nvPr/>
              </p:nvSpPr>
              <p:spPr bwMode="auto">
                <a:xfrm>
                  <a:off x="3272" y="837"/>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59" name="Line 467"/>
                <p:cNvSpPr>
                  <a:spLocks noChangeShapeType="1"/>
                </p:cNvSpPr>
                <p:nvPr/>
              </p:nvSpPr>
              <p:spPr bwMode="auto">
                <a:xfrm>
                  <a:off x="3276" y="84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0" name="Freeform 468"/>
                <p:cNvSpPr>
                  <a:spLocks/>
                </p:cNvSpPr>
                <p:nvPr/>
              </p:nvSpPr>
              <p:spPr bwMode="auto">
                <a:xfrm>
                  <a:off x="3276" y="84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61" name="Line 469"/>
                <p:cNvSpPr>
                  <a:spLocks noChangeShapeType="1"/>
                </p:cNvSpPr>
                <p:nvPr/>
              </p:nvSpPr>
              <p:spPr bwMode="auto">
                <a:xfrm>
                  <a:off x="3280" y="85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2" name="Freeform 470"/>
                <p:cNvSpPr>
                  <a:spLocks/>
                </p:cNvSpPr>
                <p:nvPr/>
              </p:nvSpPr>
              <p:spPr bwMode="auto">
                <a:xfrm>
                  <a:off x="3280" y="854"/>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63" name="Line 471"/>
                <p:cNvSpPr>
                  <a:spLocks noChangeShapeType="1"/>
                </p:cNvSpPr>
                <p:nvPr/>
              </p:nvSpPr>
              <p:spPr bwMode="auto">
                <a:xfrm>
                  <a:off x="3285" y="858"/>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4" name="Line 472"/>
                <p:cNvSpPr>
                  <a:spLocks noChangeShapeType="1"/>
                </p:cNvSpPr>
                <p:nvPr/>
              </p:nvSpPr>
              <p:spPr bwMode="auto">
                <a:xfrm>
                  <a:off x="3285" y="86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5" name="Line 473"/>
                <p:cNvSpPr>
                  <a:spLocks noChangeShapeType="1"/>
                </p:cNvSpPr>
                <p:nvPr/>
              </p:nvSpPr>
              <p:spPr bwMode="auto">
                <a:xfrm>
                  <a:off x="3289" y="867"/>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6" name="Line 474"/>
                <p:cNvSpPr>
                  <a:spLocks noChangeShapeType="1"/>
                </p:cNvSpPr>
                <p:nvPr/>
              </p:nvSpPr>
              <p:spPr bwMode="auto">
                <a:xfrm>
                  <a:off x="3293" y="871"/>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7" name="Freeform 475"/>
                <p:cNvSpPr>
                  <a:spLocks/>
                </p:cNvSpPr>
                <p:nvPr/>
              </p:nvSpPr>
              <p:spPr bwMode="auto">
                <a:xfrm>
                  <a:off x="3293" y="87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68" name="Line 476"/>
                <p:cNvSpPr>
                  <a:spLocks noChangeShapeType="1"/>
                </p:cNvSpPr>
                <p:nvPr/>
              </p:nvSpPr>
              <p:spPr bwMode="auto">
                <a:xfrm>
                  <a:off x="3298" y="88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69" name="Line 477"/>
                <p:cNvSpPr>
                  <a:spLocks noChangeShapeType="1"/>
                </p:cNvSpPr>
                <p:nvPr/>
              </p:nvSpPr>
              <p:spPr bwMode="auto">
                <a:xfrm>
                  <a:off x="3298" y="884"/>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0" name="Line 478"/>
                <p:cNvSpPr>
                  <a:spLocks noChangeShapeType="1"/>
                </p:cNvSpPr>
                <p:nvPr/>
              </p:nvSpPr>
              <p:spPr bwMode="auto">
                <a:xfrm>
                  <a:off x="3302" y="88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1" name="Line 479"/>
                <p:cNvSpPr>
                  <a:spLocks noChangeShapeType="1"/>
                </p:cNvSpPr>
                <p:nvPr/>
              </p:nvSpPr>
              <p:spPr bwMode="auto">
                <a:xfrm>
                  <a:off x="3306" y="893"/>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2" name="Freeform 480"/>
                <p:cNvSpPr>
                  <a:spLocks/>
                </p:cNvSpPr>
                <p:nvPr/>
              </p:nvSpPr>
              <p:spPr bwMode="auto">
                <a:xfrm>
                  <a:off x="3306" y="897"/>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73" name="Line 481"/>
                <p:cNvSpPr>
                  <a:spLocks noChangeShapeType="1"/>
                </p:cNvSpPr>
                <p:nvPr/>
              </p:nvSpPr>
              <p:spPr bwMode="auto">
                <a:xfrm>
                  <a:off x="3311" y="902"/>
                  <a:ext cx="0"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4" name="Freeform 482"/>
                <p:cNvSpPr>
                  <a:spLocks/>
                </p:cNvSpPr>
                <p:nvPr/>
              </p:nvSpPr>
              <p:spPr bwMode="auto">
                <a:xfrm>
                  <a:off x="3311" y="910"/>
                  <a:ext cx="4" cy="5"/>
                </a:xfrm>
                <a:custGeom>
                  <a:avLst/>
                  <a:gdLst>
                    <a:gd name="T0" fmla="*/ 0 w 4"/>
                    <a:gd name="T1" fmla="*/ 0 h 5"/>
                    <a:gd name="T2" fmla="*/ 0 w 4"/>
                    <a:gd name="T3" fmla="*/ 5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5"/>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75" name="Line 483"/>
                <p:cNvSpPr>
                  <a:spLocks noChangeShapeType="1"/>
                </p:cNvSpPr>
                <p:nvPr/>
              </p:nvSpPr>
              <p:spPr bwMode="auto">
                <a:xfrm>
                  <a:off x="3315" y="91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6" name="Line 484"/>
                <p:cNvSpPr>
                  <a:spLocks noChangeShapeType="1"/>
                </p:cNvSpPr>
                <p:nvPr/>
              </p:nvSpPr>
              <p:spPr bwMode="auto">
                <a:xfrm>
                  <a:off x="3315" y="919"/>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7" name="Line 485"/>
                <p:cNvSpPr>
                  <a:spLocks noChangeShapeType="1"/>
                </p:cNvSpPr>
                <p:nvPr/>
              </p:nvSpPr>
              <p:spPr bwMode="auto">
                <a:xfrm>
                  <a:off x="3319" y="924"/>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8" name="Line 486"/>
                <p:cNvSpPr>
                  <a:spLocks noChangeShapeType="1"/>
                </p:cNvSpPr>
                <p:nvPr/>
              </p:nvSpPr>
              <p:spPr bwMode="auto">
                <a:xfrm>
                  <a:off x="3324" y="92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79" name="Freeform 487"/>
                <p:cNvSpPr>
                  <a:spLocks/>
                </p:cNvSpPr>
                <p:nvPr/>
              </p:nvSpPr>
              <p:spPr bwMode="auto">
                <a:xfrm>
                  <a:off x="3324" y="93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80" name="Line 488"/>
                <p:cNvSpPr>
                  <a:spLocks noChangeShapeType="1"/>
                </p:cNvSpPr>
                <p:nvPr/>
              </p:nvSpPr>
              <p:spPr bwMode="auto">
                <a:xfrm>
                  <a:off x="3328" y="94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1" name="Line 489"/>
                <p:cNvSpPr>
                  <a:spLocks noChangeShapeType="1"/>
                </p:cNvSpPr>
                <p:nvPr/>
              </p:nvSpPr>
              <p:spPr bwMode="auto">
                <a:xfrm>
                  <a:off x="3328" y="945"/>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2" name="Line 490"/>
                <p:cNvSpPr>
                  <a:spLocks noChangeShapeType="1"/>
                </p:cNvSpPr>
                <p:nvPr/>
              </p:nvSpPr>
              <p:spPr bwMode="auto">
                <a:xfrm>
                  <a:off x="3332" y="950"/>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3" name="Line 491"/>
                <p:cNvSpPr>
                  <a:spLocks noChangeShapeType="1"/>
                </p:cNvSpPr>
                <p:nvPr/>
              </p:nvSpPr>
              <p:spPr bwMode="auto">
                <a:xfrm>
                  <a:off x="3337" y="954"/>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4" name="Freeform 492"/>
                <p:cNvSpPr>
                  <a:spLocks/>
                </p:cNvSpPr>
                <p:nvPr/>
              </p:nvSpPr>
              <p:spPr bwMode="auto">
                <a:xfrm>
                  <a:off x="3337" y="963"/>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85" name="Line 493"/>
                <p:cNvSpPr>
                  <a:spLocks noChangeShapeType="1"/>
                </p:cNvSpPr>
                <p:nvPr/>
              </p:nvSpPr>
              <p:spPr bwMode="auto">
                <a:xfrm>
                  <a:off x="3341" y="96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6" name="Freeform 494"/>
                <p:cNvSpPr>
                  <a:spLocks/>
                </p:cNvSpPr>
                <p:nvPr/>
              </p:nvSpPr>
              <p:spPr bwMode="auto">
                <a:xfrm>
                  <a:off x="3341" y="97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87" name="Line 495"/>
                <p:cNvSpPr>
                  <a:spLocks noChangeShapeType="1"/>
                </p:cNvSpPr>
                <p:nvPr/>
              </p:nvSpPr>
              <p:spPr bwMode="auto">
                <a:xfrm>
                  <a:off x="3345" y="98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8" name="Line 496"/>
                <p:cNvSpPr>
                  <a:spLocks noChangeShapeType="1"/>
                </p:cNvSpPr>
                <p:nvPr/>
              </p:nvSpPr>
              <p:spPr bwMode="auto">
                <a:xfrm>
                  <a:off x="3345" y="984"/>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89" name="Line 497"/>
                <p:cNvSpPr>
                  <a:spLocks noChangeShapeType="1"/>
                </p:cNvSpPr>
                <p:nvPr/>
              </p:nvSpPr>
              <p:spPr bwMode="auto">
                <a:xfrm>
                  <a:off x="3350" y="98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0" name="Line 498"/>
                <p:cNvSpPr>
                  <a:spLocks noChangeShapeType="1"/>
                </p:cNvSpPr>
                <p:nvPr/>
              </p:nvSpPr>
              <p:spPr bwMode="auto">
                <a:xfrm>
                  <a:off x="3354" y="993"/>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1" name="Freeform 499"/>
                <p:cNvSpPr>
                  <a:spLocks/>
                </p:cNvSpPr>
                <p:nvPr/>
              </p:nvSpPr>
              <p:spPr bwMode="auto">
                <a:xfrm>
                  <a:off x="3354" y="100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92" name="Line 500"/>
                <p:cNvSpPr>
                  <a:spLocks noChangeShapeType="1"/>
                </p:cNvSpPr>
                <p:nvPr/>
              </p:nvSpPr>
              <p:spPr bwMode="auto">
                <a:xfrm>
                  <a:off x="3359" y="100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3" name="Line 501"/>
                <p:cNvSpPr>
                  <a:spLocks noChangeShapeType="1"/>
                </p:cNvSpPr>
                <p:nvPr/>
              </p:nvSpPr>
              <p:spPr bwMode="auto">
                <a:xfrm>
                  <a:off x="3359" y="1010"/>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4" name="Line 502"/>
                <p:cNvSpPr>
                  <a:spLocks noChangeShapeType="1"/>
                </p:cNvSpPr>
                <p:nvPr/>
              </p:nvSpPr>
              <p:spPr bwMode="auto">
                <a:xfrm>
                  <a:off x="3363" y="101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5" name="Line 503"/>
                <p:cNvSpPr>
                  <a:spLocks noChangeShapeType="1"/>
                </p:cNvSpPr>
                <p:nvPr/>
              </p:nvSpPr>
              <p:spPr bwMode="auto">
                <a:xfrm>
                  <a:off x="3367" y="1023"/>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6" name="Freeform 504"/>
                <p:cNvSpPr>
                  <a:spLocks/>
                </p:cNvSpPr>
                <p:nvPr/>
              </p:nvSpPr>
              <p:spPr bwMode="auto">
                <a:xfrm>
                  <a:off x="3367" y="103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97" name="Line 505"/>
                <p:cNvSpPr>
                  <a:spLocks noChangeShapeType="1"/>
                </p:cNvSpPr>
                <p:nvPr/>
              </p:nvSpPr>
              <p:spPr bwMode="auto">
                <a:xfrm>
                  <a:off x="3372" y="1036"/>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98" name="Freeform 506"/>
                <p:cNvSpPr>
                  <a:spLocks/>
                </p:cNvSpPr>
                <p:nvPr/>
              </p:nvSpPr>
              <p:spPr bwMode="auto">
                <a:xfrm>
                  <a:off x="3372" y="1041"/>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99" name="Line 507"/>
                <p:cNvSpPr>
                  <a:spLocks noChangeShapeType="1"/>
                </p:cNvSpPr>
                <p:nvPr/>
              </p:nvSpPr>
              <p:spPr bwMode="auto">
                <a:xfrm>
                  <a:off x="3376" y="1049"/>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0" name="Line 508"/>
                <p:cNvSpPr>
                  <a:spLocks noChangeShapeType="1"/>
                </p:cNvSpPr>
                <p:nvPr/>
              </p:nvSpPr>
              <p:spPr bwMode="auto">
                <a:xfrm>
                  <a:off x="3376" y="1054"/>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1" name="Line 509"/>
                <p:cNvSpPr>
                  <a:spLocks noChangeShapeType="1"/>
                </p:cNvSpPr>
                <p:nvPr/>
              </p:nvSpPr>
              <p:spPr bwMode="auto">
                <a:xfrm>
                  <a:off x="3380" y="1058"/>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2" name="Line 510"/>
                <p:cNvSpPr>
                  <a:spLocks noChangeShapeType="1"/>
                </p:cNvSpPr>
                <p:nvPr/>
              </p:nvSpPr>
              <p:spPr bwMode="auto">
                <a:xfrm>
                  <a:off x="3385" y="106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3" name="Freeform 511"/>
                <p:cNvSpPr>
                  <a:spLocks/>
                </p:cNvSpPr>
                <p:nvPr/>
              </p:nvSpPr>
              <p:spPr bwMode="auto">
                <a:xfrm>
                  <a:off x="3385" y="1071"/>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04" name="Line 512"/>
                <p:cNvSpPr>
                  <a:spLocks noChangeShapeType="1"/>
                </p:cNvSpPr>
                <p:nvPr/>
              </p:nvSpPr>
              <p:spPr bwMode="auto">
                <a:xfrm>
                  <a:off x="3389" y="1080"/>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5" name="Line 513"/>
                <p:cNvSpPr>
                  <a:spLocks noChangeShapeType="1"/>
                </p:cNvSpPr>
                <p:nvPr/>
              </p:nvSpPr>
              <p:spPr bwMode="auto">
                <a:xfrm>
                  <a:off x="3389" y="1084"/>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6" name="Line 514"/>
                <p:cNvSpPr>
                  <a:spLocks noChangeShapeType="1"/>
                </p:cNvSpPr>
                <p:nvPr/>
              </p:nvSpPr>
              <p:spPr bwMode="auto">
                <a:xfrm>
                  <a:off x="3393" y="1093"/>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7" name="Line 515"/>
                <p:cNvSpPr>
                  <a:spLocks noChangeShapeType="1"/>
                </p:cNvSpPr>
                <p:nvPr/>
              </p:nvSpPr>
              <p:spPr bwMode="auto">
                <a:xfrm>
                  <a:off x="3398" y="109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08" name="Freeform 516"/>
                <p:cNvSpPr>
                  <a:spLocks/>
                </p:cNvSpPr>
                <p:nvPr/>
              </p:nvSpPr>
              <p:spPr bwMode="auto">
                <a:xfrm>
                  <a:off x="3398" y="110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09" name="Line 517"/>
                <p:cNvSpPr>
                  <a:spLocks noChangeShapeType="1"/>
                </p:cNvSpPr>
                <p:nvPr/>
              </p:nvSpPr>
              <p:spPr bwMode="auto">
                <a:xfrm>
                  <a:off x="3402" y="1110"/>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0" name="Freeform 518"/>
                <p:cNvSpPr>
                  <a:spLocks/>
                </p:cNvSpPr>
                <p:nvPr/>
              </p:nvSpPr>
              <p:spPr bwMode="auto">
                <a:xfrm>
                  <a:off x="3402" y="1115"/>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11" name="Line 519"/>
                <p:cNvSpPr>
                  <a:spLocks noChangeShapeType="1"/>
                </p:cNvSpPr>
                <p:nvPr/>
              </p:nvSpPr>
              <p:spPr bwMode="auto">
                <a:xfrm>
                  <a:off x="3406" y="1123"/>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2" name="Line 520"/>
                <p:cNvSpPr>
                  <a:spLocks noChangeShapeType="1"/>
                </p:cNvSpPr>
                <p:nvPr/>
              </p:nvSpPr>
              <p:spPr bwMode="auto">
                <a:xfrm>
                  <a:off x="3406" y="1128"/>
                  <a:ext cx="5"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3" name="Line 521"/>
                <p:cNvSpPr>
                  <a:spLocks noChangeShapeType="1"/>
                </p:cNvSpPr>
                <p:nvPr/>
              </p:nvSpPr>
              <p:spPr bwMode="auto">
                <a:xfrm>
                  <a:off x="3411" y="1136"/>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4" name="Line 522"/>
                <p:cNvSpPr>
                  <a:spLocks noChangeShapeType="1"/>
                </p:cNvSpPr>
                <p:nvPr/>
              </p:nvSpPr>
              <p:spPr bwMode="auto">
                <a:xfrm>
                  <a:off x="3415" y="114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5" name="Freeform 523"/>
                <p:cNvSpPr>
                  <a:spLocks/>
                </p:cNvSpPr>
                <p:nvPr/>
              </p:nvSpPr>
              <p:spPr bwMode="auto">
                <a:xfrm>
                  <a:off x="3415" y="1145"/>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16" name="Line 524"/>
                <p:cNvSpPr>
                  <a:spLocks noChangeShapeType="1"/>
                </p:cNvSpPr>
                <p:nvPr/>
              </p:nvSpPr>
              <p:spPr bwMode="auto">
                <a:xfrm>
                  <a:off x="3419" y="115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7" name="Line 525"/>
                <p:cNvSpPr>
                  <a:spLocks noChangeShapeType="1"/>
                </p:cNvSpPr>
                <p:nvPr/>
              </p:nvSpPr>
              <p:spPr bwMode="auto">
                <a:xfrm>
                  <a:off x="3419" y="1158"/>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8" name="Line 526"/>
                <p:cNvSpPr>
                  <a:spLocks noChangeShapeType="1"/>
                </p:cNvSpPr>
                <p:nvPr/>
              </p:nvSpPr>
              <p:spPr bwMode="auto">
                <a:xfrm>
                  <a:off x="3424" y="1167"/>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19" name="Line 527"/>
                <p:cNvSpPr>
                  <a:spLocks noChangeShapeType="1"/>
                </p:cNvSpPr>
                <p:nvPr/>
              </p:nvSpPr>
              <p:spPr bwMode="auto">
                <a:xfrm>
                  <a:off x="3428" y="1171"/>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0" name="Freeform 528"/>
                <p:cNvSpPr>
                  <a:spLocks/>
                </p:cNvSpPr>
                <p:nvPr/>
              </p:nvSpPr>
              <p:spPr bwMode="auto">
                <a:xfrm>
                  <a:off x="3428" y="1180"/>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21" name="Line 529"/>
                <p:cNvSpPr>
                  <a:spLocks noChangeShapeType="1"/>
                </p:cNvSpPr>
                <p:nvPr/>
              </p:nvSpPr>
              <p:spPr bwMode="auto">
                <a:xfrm>
                  <a:off x="3432" y="118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2" name="Freeform 530"/>
                <p:cNvSpPr>
                  <a:spLocks/>
                </p:cNvSpPr>
                <p:nvPr/>
              </p:nvSpPr>
              <p:spPr bwMode="auto">
                <a:xfrm>
                  <a:off x="3432" y="1188"/>
                  <a:ext cx="5" cy="9"/>
                </a:xfrm>
                <a:custGeom>
                  <a:avLst/>
                  <a:gdLst>
                    <a:gd name="T0" fmla="*/ 0 w 5"/>
                    <a:gd name="T1" fmla="*/ 0 h 9"/>
                    <a:gd name="T2" fmla="*/ 0 w 5"/>
                    <a:gd name="T3" fmla="*/ 5 h 9"/>
                    <a:gd name="T4" fmla="*/ 5 w 5"/>
                    <a:gd name="T5" fmla="*/ 9 h 9"/>
                    <a:gd name="T6" fmla="*/ 0 60000 65536"/>
                    <a:gd name="T7" fmla="*/ 0 60000 65536"/>
                    <a:gd name="T8" fmla="*/ 0 60000 65536"/>
                  </a:gdLst>
                  <a:ahLst/>
                  <a:cxnLst>
                    <a:cxn ang="T6">
                      <a:pos x="T0" y="T1"/>
                    </a:cxn>
                    <a:cxn ang="T7">
                      <a:pos x="T2" y="T3"/>
                    </a:cxn>
                    <a:cxn ang="T8">
                      <a:pos x="T4" y="T5"/>
                    </a:cxn>
                  </a:cxnLst>
                  <a:rect l="0" t="0" r="r" b="b"/>
                  <a:pathLst>
                    <a:path w="5" h="9">
                      <a:moveTo>
                        <a:pt x="0" y="0"/>
                      </a:moveTo>
                      <a:lnTo>
                        <a:pt x="0" y="5"/>
                      </a:lnTo>
                      <a:lnTo>
                        <a:pt x="5"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23" name="Line 531"/>
                <p:cNvSpPr>
                  <a:spLocks noChangeShapeType="1"/>
                </p:cNvSpPr>
                <p:nvPr/>
              </p:nvSpPr>
              <p:spPr bwMode="auto">
                <a:xfrm>
                  <a:off x="3437" y="119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4" name="Line 532"/>
                <p:cNvSpPr>
                  <a:spLocks noChangeShapeType="1"/>
                </p:cNvSpPr>
                <p:nvPr/>
              </p:nvSpPr>
              <p:spPr bwMode="auto">
                <a:xfrm>
                  <a:off x="3437" y="1201"/>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5" name="Line 533"/>
                <p:cNvSpPr>
                  <a:spLocks noChangeShapeType="1"/>
                </p:cNvSpPr>
                <p:nvPr/>
              </p:nvSpPr>
              <p:spPr bwMode="auto">
                <a:xfrm>
                  <a:off x="3441" y="1210"/>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6" name="Line 534"/>
                <p:cNvSpPr>
                  <a:spLocks noChangeShapeType="1"/>
                </p:cNvSpPr>
                <p:nvPr/>
              </p:nvSpPr>
              <p:spPr bwMode="auto">
                <a:xfrm>
                  <a:off x="3445" y="1214"/>
                  <a:ext cx="0"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7" name="Freeform 535"/>
                <p:cNvSpPr>
                  <a:spLocks/>
                </p:cNvSpPr>
                <p:nvPr/>
              </p:nvSpPr>
              <p:spPr bwMode="auto">
                <a:xfrm>
                  <a:off x="3445" y="1223"/>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28" name="Line 536"/>
                <p:cNvSpPr>
                  <a:spLocks noChangeShapeType="1"/>
                </p:cNvSpPr>
                <p:nvPr/>
              </p:nvSpPr>
              <p:spPr bwMode="auto">
                <a:xfrm>
                  <a:off x="3450" y="1227"/>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29" name="Line 537"/>
                <p:cNvSpPr>
                  <a:spLocks noChangeShapeType="1"/>
                </p:cNvSpPr>
                <p:nvPr/>
              </p:nvSpPr>
              <p:spPr bwMode="auto">
                <a:xfrm>
                  <a:off x="3450" y="1232"/>
                  <a:ext cx="4"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0" name="Line 538"/>
                <p:cNvSpPr>
                  <a:spLocks noChangeShapeType="1"/>
                </p:cNvSpPr>
                <p:nvPr/>
              </p:nvSpPr>
              <p:spPr bwMode="auto">
                <a:xfrm>
                  <a:off x="3454" y="1240"/>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1" name="Line 539"/>
                <p:cNvSpPr>
                  <a:spLocks noChangeShapeType="1"/>
                </p:cNvSpPr>
                <p:nvPr/>
              </p:nvSpPr>
              <p:spPr bwMode="auto">
                <a:xfrm>
                  <a:off x="3458" y="1245"/>
                  <a:ext cx="0"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2" name="Freeform 540"/>
                <p:cNvSpPr>
                  <a:spLocks/>
                </p:cNvSpPr>
                <p:nvPr/>
              </p:nvSpPr>
              <p:spPr bwMode="auto">
                <a:xfrm>
                  <a:off x="3458" y="1253"/>
                  <a:ext cx="5" cy="5"/>
                </a:xfrm>
                <a:custGeom>
                  <a:avLst/>
                  <a:gdLst>
                    <a:gd name="T0" fmla="*/ 0 w 5"/>
                    <a:gd name="T1" fmla="*/ 0 h 5"/>
                    <a:gd name="T2" fmla="*/ 0 w 5"/>
                    <a:gd name="T3" fmla="*/ 5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5"/>
                      </a:lnTo>
                      <a:lnTo>
                        <a:pt x="5"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33" name="Line 541"/>
                <p:cNvSpPr>
                  <a:spLocks noChangeShapeType="1"/>
                </p:cNvSpPr>
                <p:nvPr/>
              </p:nvSpPr>
              <p:spPr bwMode="auto">
                <a:xfrm>
                  <a:off x="3463" y="125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4" name="Freeform 542"/>
                <p:cNvSpPr>
                  <a:spLocks/>
                </p:cNvSpPr>
                <p:nvPr/>
              </p:nvSpPr>
              <p:spPr bwMode="auto">
                <a:xfrm>
                  <a:off x="3463" y="12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dirty="0"/>
                </a:p>
              </p:txBody>
            </p:sp>
            <p:sp>
              <p:nvSpPr>
                <p:cNvPr id="16935" name="Line 543"/>
                <p:cNvSpPr>
                  <a:spLocks noChangeShapeType="1"/>
                </p:cNvSpPr>
                <p:nvPr/>
              </p:nvSpPr>
              <p:spPr bwMode="auto">
                <a:xfrm>
                  <a:off x="3467" y="127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6" name="Line 544"/>
                <p:cNvSpPr>
                  <a:spLocks noChangeShapeType="1"/>
                </p:cNvSpPr>
                <p:nvPr/>
              </p:nvSpPr>
              <p:spPr bwMode="auto">
                <a:xfrm>
                  <a:off x="3467" y="1275"/>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7" name="Line 545"/>
                <p:cNvSpPr>
                  <a:spLocks noChangeShapeType="1"/>
                </p:cNvSpPr>
                <p:nvPr/>
              </p:nvSpPr>
              <p:spPr bwMode="auto">
                <a:xfrm>
                  <a:off x="3471" y="1284"/>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8" name="Line 546"/>
                <p:cNvSpPr>
                  <a:spLocks noChangeShapeType="1"/>
                </p:cNvSpPr>
                <p:nvPr/>
              </p:nvSpPr>
              <p:spPr bwMode="auto">
                <a:xfrm>
                  <a:off x="3476" y="128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39" name="Freeform 547"/>
                <p:cNvSpPr>
                  <a:spLocks/>
                </p:cNvSpPr>
                <p:nvPr/>
              </p:nvSpPr>
              <p:spPr bwMode="auto">
                <a:xfrm>
                  <a:off x="3476" y="129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40" name="Line 548"/>
                <p:cNvSpPr>
                  <a:spLocks noChangeShapeType="1"/>
                </p:cNvSpPr>
                <p:nvPr/>
              </p:nvSpPr>
              <p:spPr bwMode="auto">
                <a:xfrm>
                  <a:off x="3480" y="1301"/>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1" name="Line 549"/>
                <p:cNvSpPr>
                  <a:spLocks noChangeShapeType="1"/>
                </p:cNvSpPr>
                <p:nvPr/>
              </p:nvSpPr>
              <p:spPr bwMode="auto">
                <a:xfrm>
                  <a:off x="3480" y="1306"/>
                  <a:ext cx="4"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2" name="Line 550"/>
                <p:cNvSpPr>
                  <a:spLocks noChangeShapeType="1"/>
                </p:cNvSpPr>
                <p:nvPr/>
              </p:nvSpPr>
              <p:spPr bwMode="auto">
                <a:xfrm>
                  <a:off x="3484" y="1314"/>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3" name="Line 551"/>
                <p:cNvSpPr>
                  <a:spLocks noChangeShapeType="1"/>
                </p:cNvSpPr>
                <p:nvPr/>
              </p:nvSpPr>
              <p:spPr bwMode="auto">
                <a:xfrm>
                  <a:off x="3489" y="1319"/>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4" name="Freeform 552"/>
                <p:cNvSpPr>
                  <a:spLocks/>
                </p:cNvSpPr>
                <p:nvPr/>
              </p:nvSpPr>
              <p:spPr bwMode="auto">
                <a:xfrm>
                  <a:off x="3489" y="1323"/>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45" name="Line 553"/>
                <p:cNvSpPr>
                  <a:spLocks noChangeShapeType="1"/>
                </p:cNvSpPr>
                <p:nvPr/>
              </p:nvSpPr>
              <p:spPr bwMode="auto">
                <a:xfrm>
                  <a:off x="3493" y="1332"/>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6" name="Line 554"/>
                <p:cNvSpPr>
                  <a:spLocks noChangeShapeType="1"/>
                </p:cNvSpPr>
                <p:nvPr/>
              </p:nvSpPr>
              <p:spPr bwMode="auto">
                <a:xfrm>
                  <a:off x="3493" y="1336"/>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7" name="Line 555"/>
                <p:cNvSpPr>
                  <a:spLocks noChangeShapeType="1"/>
                </p:cNvSpPr>
                <p:nvPr/>
              </p:nvSpPr>
              <p:spPr bwMode="auto">
                <a:xfrm>
                  <a:off x="3497" y="1340"/>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8" name="Line 556"/>
                <p:cNvSpPr>
                  <a:spLocks noChangeShapeType="1"/>
                </p:cNvSpPr>
                <p:nvPr/>
              </p:nvSpPr>
              <p:spPr bwMode="auto">
                <a:xfrm>
                  <a:off x="3502" y="1349"/>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49" name="Freeform 557"/>
                <p:cNvSpPr>
                  <a:spLocks/>
                </p:cNvSpPr>
                <p:nvPr/>
              </p:nvSpPr>
              <p:spPr bwMode="auto">
                <a:xfrm>
                  <a:off x="3502" y="135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50" name="Line 558"/>
                <p:cNvSpPr>
                  <a:spLocks noChangeShapeType="1"/>
                </p:cNvSpPr>
                <p:nvPr/>
              </p:nvSpPr>
              <p:spPr bwMode="auto">
                <a:xfrm>
                  <a:off x="3506" y="135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1" name="Freeform 559"/>
                <p:cNvSpPr>
                  <a:spLocks/>
                </p:cNvSpPr>
                <p:nvPr/>
              </p:nvSpPr>
              <p:spPr bwMode="auto">
                <a:xfrm>
                  <a:off x="3506" y="13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52" name="Line 560"/>
                <p:cNvSpPr>
                  <a:spLocks noChangeShapeType="1"/>
                </p:cNvSpPr>
                <p:nvPr/>
              </p:nvSpPr>
              <p:spPr bwMode="auto">
                <a:xfrm>
                  <a:off x="3510" y="137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3" name="Line 561"/>
                <p:cNvSpPr>
                  <a:spLocks noChangeShapeType="1"/>
                </p:cNvSpPr>
                <p:nvPr/>
              </p:nvSpPr>
              <p:spPr bwMode="auto">
                <a:xfrm>
                  <a:off x="3510" y="1375"/>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4" name="Line 562"/>
                <p:cNvSpPr>
                  <a:spLocks noChangeShapeType="1"/>
                </p:cNvSpPr>
                <p:nvPr/>
              </p:nvSpPr>
              <p:spPr bwMode="auto">
                <a:xfrm>
                  <a:off x="3515" y="1379"/>
                  <a:ext cx="4"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5" name="Line 563"/>
                <p:cNvSpPr>
                  <a:spLocks noChangeShapeType="1"/>
                </p:cNvSpPr>
                <p:nvPr/>
              </p:nvSpPr>
              <p:spPr bwMode="auto">
                <a:xfrm>
                  <a:off x="3519" y="1388"/>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6" name="Freeform 564"/>
                <p:cNvSpPr>
                  <a:spLocks/>
                </p:cNvSpPr>
                <p:nvPr/>
              </p:nvSpPr>
              <p:spPr bwMode="auto">
                <a:xfrm>
                  <a:off x="3519" y="1392"/>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57" name="Line 565"/>
                <p:cNvSpPr>
                  <a:spLocks noChangeShapeType="1"/>
                </p:cNvSpPr>
                <p:nvPr/>
              </p:nvSpPr>
              <p:spPr bwMode="auto">
                <a:xfrm>
                  <a:off x="3523" y="139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8" name="Line 566"/>
                <p:cNvSpPr>
                  <a:spLocks noChangeShapeType="1"/>
                </p:cNvSpPr>
                <p:nvPr/>
              </p:nvSpPr>
              <p:spPr bwMode="auto">
                <a:xfrm>
                  <a:off x="3523" y="1401"/>
                  <a:ext cx="5" cy="9"/>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59" name="Line 567"/>
                <p:cNvSpPr>
                  <a:spLocks noChangeShapeType="1"/>
                </p:cNvSpPr>
                <p:nvPr/>
              </p:nvSpPr>
              <p:spPr bwMode="auto">
                <a:xfrm>
                  <a:off x="3528" y="1410"/>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0" name="Line 568"/>
                <p:cNvSpPr>
                  <a:spLocks noChangeShapeType="1"/>
                </p:cNvSpPr>
                <p:nvPr/>
              </p:nvSpPr>
              <p:spPr bwMode="auto">
                <a:xfrm>
                  <a:off x="3532" y="141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1" name="Freeform 569"/>
                <p:cNvSpPr>
                  <a:spLocks/>
                </p:cNvSpPr>
                <p:nvPr/>
              </p:nvSpPr>
              <p:spPr bwMode="auto">
                <a:xfrm>
                  <a:off x="3532" y="1418"/>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62" name="Line 570"/>
                <p:cNvSpPr>
                  <a:spLocks noChangeShapeType="1"/>
                </p:cNvSpPr>
                <p:nvPr/>
              </p:nvSpPr>
              <p:spPr bwMode="auto">
                <a:xfrm>
                  <a:off x="3537" y="1423"/>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3" name="Freeform 571"/>
                <p:cNvSpPr>
                  <a:spLocks/>
                </p:cNvSpPr>
                <p:nvPr/>
              </p:nvSpPr>
              <p:spPr bwMode="auto">
                <a:xfrm>
                  <a:off x="3537" y="1427"/>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64" name="Line 572"/>
                <p:cNvSpPr>
                  <a:spLocks noChangeShapeType="1"/>
                </p:cNvSpPr>
                <p:nvPr/>
              </p:nvSpPr>
              <p:spPr bwMode="auto">
                <a:xfrm>
                  <a:off x="3541" y="143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5" name="Line 573"/>
                <p:cNvSpPr>
                  <a:spLocks noChangeShapeType="1"/>
                </p:cNvSpPr>
                <p:nvPr/>
              </p:nvSpPr>
              <p:spPr bwMode="auto">
                <a:xfrm>
                  <a:off x="3541" y="1440"/>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6" name="Line 574"/>
                <p:cNvSpPr>
                  <a:spLocks noChangeShapeType="1"/>
                </p:cNvSpPr>
                <p:nvPr/>
              </p:nvSpPr>
              <p:spPr bwMode="auto">
                <a:xfrm>
                  <a:off x="3545" y="1444"/>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7" name="Line 575"/>
                <p:cNvSpPr>
                  <a:spLocks noChangeShapeType="1"/>
                </p:cNvSpPr>
                <p:nvPr/>
              </p:nvSpPr>
              <p:spPr bwMode="auto">
                <a:xfrm>
                  <a:off x="3550" y="1449"/>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68" name="Freeform 576"/>
                <p:cNvSpPr>
                  <a:spLocks/>
                </p:cNvSpPr>
                <p:nvPr/>
              </p:nvSpPr>
              <p:spPr bwMode="auto">
                <a:xfrm>
                  <a:off x="3550" y="14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69" name="Line 577"/>
                <p:cNvSpPr>
                  <a:spLocks noChangeShapeType="1"/>
                </p:cNvSpPr>
                <p:nvPr/>
              </p:nvSpPr>
              <p:spPr bwMode="auto">
                <a:xfrm>
                  <a:off x="3554" y="1457"/>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0" name="Line 578"/>
                <p:cNvSpPr>
                  <a:spLocks noChangeShapeType="1"/>
                </p:cNvSpPr>
                <p:nvPr/>
              </p:nvSpPr>
              <p:spPr bwMode="auto">
                <a:xfrm>
                  <a:off x="3554" y="1462"/>
                  <a:ext cx="4" cy="8"/>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1" name="Line 579"/>
                <p:cNvSpPr>
                  <a:spLocks noChangeShapeType="1"/>
                </p:cNvSpPr>
                <p:nvPr/>
              </p:nvSpPr>
              <p:spPr bwMode="auto">
                <a:xfrm>
                  <a:off x="3558" y="1470"/>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2" name="Line 580"/>
                <p:cNvSpPr>
                  <a:spLocks noChangeShapeType="1"/>
                </p:cNvSpPr>
                <p:nvPr/>
              </p:nvSpPr>
              <p:spPr bwMode="auto">
                <a:xfrm>
                  <a:off x="3563" y="147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3" name="Freeform 581"/>
                <p:cNvSpPr>
                  <a:spLocks/>
                </p:cNvSpPr>
                <p:nvPr/>
              </p:nvSpPr>
              <p:spPr bwMode="auto">
                <a:xfrm>
                  <a:off x="3563" y="147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74" name="Line 582"/>
                <p:cNvSpPr>
                  <a:spLocks noChangeShapeType="1"/>
                </p:cNvSpPr>
                <p:nvPr/>
              </p:nvSpPr>
              <p:spPr bwMode="auto">
                <a:xfrm>
                  <a:off x="3567" y="1483"/>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5" name="Freeform 583"/>
                <p:cNvSpPr>
                  <a:spLocks/>
                </p:cNvSpPr>
                <p:nvPr/>
              </p:nvSpPr>
              <p:spPr bwMode="auto">
                <a:xfrm>
                  <a:off x="3567" y="148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76" name="Line 584"/>
                <p:cNvSpPr>
                  <a:spLocks noChangeShapeType="1"/>
                </p:cNvSpPr>
                <p:nvPr/>
              </p:nvSpPr>
              <p:spPr bwMode="auto">
                <a:xfrm>
                  <a:off x="3571" y="1492"/>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7" name="Line 585"/>
                <p:cNvSpPr>
                  <a:spLocks noChangeShapeType="1"/>
                </p:cNvSpPr>
                <p:nvPr/>
              </p:nvSpPr>
              <p:spPr bwMode="auto">
                <a:xfrm>
                  <a:off x="3571" y="1497"/>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8" name="Line 586"/>
                <p:cNvSpPr>
                  <a:spLocks noChangeShapeType="1"/>
                </p:cNvSpPr>
                <p:nvPr/>
              </p:nvSpPr>
              <p:spPr bwMode="auto">
                <a:xfrm>
                  <a:off x="3576" y="1501"/>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79" name="Line 587"/>
                <p:cNvSpPr>
                  <a:spLocks noChangeShapeType="1"/>
                </p:cNvSpPr>
                <p:nvPr/>
              </p:nvSpPr>
              <p:spPr bwMode="auto">
                <a:xfrm>
                  <a:off x="3580" y="1505"/>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0" name="Freeform 588"/>
                <p:cNvSpPr>
                  <a:spLocks/>
                </p:cNvSpPr>
                <p:nvPr/>
              </p:nvSpPr>
              <p:spPr bwMode="auto">
                <a:xfrm>
                  <a:off x="3580" y="151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81" name="Line 589"/>
                <p:cNvSpPr>
                  <a:spLocks noChangeShapeType="1"/>
                </p:cNvSpPr>
                <p:nvPr/>
              </p:nvSpPr>
              <p:spPr bwMode="auto">
                <a:xfrm>
                  <a:off x="3584" y="151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2" name="Line 590"/>
                <p:cNvSpPr>
                  <a:spLocks noChangeShapeType="1"/>
                </p:cNvSpPr>
                <p:nvPr/>
              </p:nvSpPr>
              <p:spPr bwMode="auto">
                <a:xfrm>
                  <a:off x="3584" y="1518"/>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3" name="Line 591"/>
                <p:cNvSpPr>
                  <a:spLocks noChangeShapeType="1"/>
                </p:cNvSpPr>
                <p:nvPr/>
              </p:nvSpPr>
              <p:spPr bwMode="auto">
                <a:xfrm>
                  <a:off x="3589" y="152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4" name="Line 592"/>
                <p:cNvSpPr>
                  <a:spLocks noChangeShapeType="1"/>
                </p:cNvSpPr>
                <p:nvPr/>
              </p:nvSpPr>
              <p:spPr bwMode="auto">
                <a:xfrm>
                  <a:off x="3593" y="152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5" name="Freeform 593"/>
                <p:cNvSpPr>
                  <a:spLocks/>
                </p:cNvSpPr>
                <p:nvPr/>
              </p:nvSpPr>
              <p:spPr bwMode="auto">
                <a:xfrm>
                  <a:off x="3593" y="1531"/>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86" name="Line 594"/>
                <p:cNvSpPr>
                  <a:spLocks noChangeShapeType="1"/>
                </p:cNvSpPr>
                <p:nvPr/>
              </p:nvSpPr>
              <p:spPr bwMode="auto">
                <a:xfrm>
                  <a:off x="3597" y="153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7" name="Freeform 595"/>
                <p:cNvSpPr>
                  <a:spLocks/>
                </p:cNvSpPr>
                <p:nvPr/>
              </p:nvSpPr>
              <p:spPr bwMode="auto">
                <a:xfrm>
                  <a:off x="3597" y="154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88" name="Line 596"/>
                <p:cNvSpPr>
                  <a:spLocks noChangeShapeType="1"/>
                </p:cNvSpPr>
                <p:nvPr/>
              </p:nvSpPr>
              <p:spPr bwMode="auto">
                <a:xfrm>
                  <a:off x="3602" y="1544"/>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89" name="Line 597"/>
                <p:cNvSpPr>
                  <a:spLocks noChangeShapeType="1"/>
                </p:cNvSpPr>
                <p:nvPr/>
              </p:nvSpPr>
              <p:spPr bwMode="auto">
                <a:xfrm>
                  <a:off x="3602" y="1549"/>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0" name="Line 598"/>
                <p:cNvSpPr>
                  <a:spLocks noChangeShapeType="1"/>
                </p:cNvSpPr>
                <p:nvPr/>
              </p:nvSpPr>
              <p:spPr bwMode="auto">
                <a:xfrm>
                  <a:off x="3606" y="1553"/>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1" name="Line 599"/>
                <p:cNvSpPr>
                  <a:spLocks noChangeShapeType="1"/>
                </p:cNvSpPr>
                <p:nvPr/>
              </p:nvSpPr>
              <p:spPr bwMode="auto">
                <a:xfrm>
                  <a:off x="3610" y="1557"/>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2" name="Freeform 600"/>
                <p:cNvSpPr>
                  <a:spLocks/>
                </p:cNvSpPr>
                <p:nvPr/>
              </p:nvSpPr>
              <p:spPr bwMode="auto">
                <a:xfrm>
                  <a:off x="3610" y="156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93" name="Line 601"/>
                <p:cNvSpPr>
                  <a:spLocks noChangeShapeType="1"/>
                </p:cNvSpPr>
                <p:nvPr/>
              </p:nvSpPr>
              <p:spPr bwMode="auto">
                <a:xfrm>
                  <a:off x="3615" y="1566"/>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4" name="Line 602"/>
                <p:cNvSpPr>
                  <a:spLocks noChangeShapeType="1"/>
                </p:cNvSpPr>
                <p:nvPr/>
              </p:nvSpPr>
              <p:spPr bwMode="auto">
                <a:xfrm>
                  <a:off x="3615" y="1570"/>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5" name="Line 603"/>
                <p:cNvSpPr>
                  <a:spLocks noChangeShapeType="1"/>
                </p:cNvSpPr>
                <p:nvPr/>
              </p:nvSpPr>
              <p:spPr bwMode="auto">
                <a:xfrm>
                  <a:off x="3619" y="1570"/>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6" name="Line 604"/>
                <p:cNvSpPr>
                  <a:spLocks noChangeShapeType="1"/>
                </p:cNvSpPr>
                <p:nvPr/>
              </p:nvSpPr>
              <p:spPr bwMode="auto">
                <a:xfrm>
                  <a:off x="3623" y="1575"/>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7" name="Freeform 605"/>
                <p:cNvSpPr>
                  <a:spLocks/>
                </p:cNvSpPr>
                <p:nvPr/>
              </p:nvSpPr>
              <p:spPr bwMode="auto">
                <a:xfrm>
                  <a:off x="3623" y="1579"/>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998" name="Line 606"/>
                <p:cNvSpPr>
                  <a:spLocks noChangeShapeType="1"/>
                </p:cNvSpPr>
                <p:nvPr/>
              </p:nvSpPr>
              <p:spPr bwMode="auto">
                <a:xfrm>
                  <a:off x="3628" y="1583"/>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999" name="Freeform 607"/>
                <p:cNvSpPr>
                  <a:spLocks/>
                </p:cNvSpPr>
                <p:nvPr/>
              </p:nvSpPr>
              <p:spPr bwMode="auto">
                <a:xfrm>
                  <a:off x="3628" y="1588"/>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7000" name="Line 608"/>
                <p:cNvSpPr>
                  <a:spLocks noChangeShapeType="1"/>
                </p:cNvSpPr>
                <p:nvPr/>
              </p:nvSpPr>
              <p:spPr bwMode="auto">
                <a:xfrm>
                  <a:off x="3632" y="1592"/>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01" name="Line 609"/>
                <p:cNvSpPr>
                  <a:spLocks noChangeShapeType="1"/>
                </p:cNvSpPr>
                <p:nvPr/>
              </p:nvSpPr>
              <p:spPr bwMode="auto">
                <a:xfrm>
                  <a:off x="3632" y="1592"/>
                  <a:ext cx="4"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02" name="Line 610"/>
                <p:cNvSpPr>
                  <a:spLocks noChangeShapeType="1"/>
                </p:cNvSpPr>
                <p:nvPr/>
              </p:nvSpPr>
              <p:spPr bwMode="auto">
                <a:xfrm>
                  <a:off x="3636" y="1596"/>
                  <a:ext cx="5"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003" name="Line 611"/>
                <p:cNvSpPr>
                  <a:spLocks noChangeShapeType="1"/>
                </p:cNvSpPr>
                <p:nvPr/>
              </p:nvSpPr>
              <p:spPr bwMode="auto">
                <a:xfrm>
                  <a:off x="3641" y="1601"/>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6591" name="Group 612"/>
              <p:cNvGrpSpPr>
                <a:grpSpLocks/>
              </p:cNvGrpSpPr>
              <p:nvPr/>
            </p:nvGrpSpPr>
            <p:grpSpPr bwMode="auto">
              <a:xfrm>
                <a:off x="3641" y="1609"/>
                <a:ext cx="508" cy="178"/>
                <a:chOff x="3641" y="1605"/>
                <a:chExt cx="508" cy="178"/>
              </a:xfrm>
            </p:grpSpPr>
            <p:sp>
              <p:nvSpPr>
                <p:cNvPr id="16604" name="Freeform 613"/>
                <p:cNvSpPr>
                  <a:spLocks/>
                </p:cNvSpPr>
                <p:nvPr/>
              </p:nvSpPr>
              <p:spPr bwMode="auto">
                <a:xfrm>
                  <a:off x="3641" y="1605"/>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05" name="Line 614"/>
                <p:cNvSpPr>
                  <a:spLocks noChangeShapeType="1"/>
                </p:cNvSpPr>
                <p:nvPr/>
              </p:nvSpPr>
              <p:spPr bwMode="auto">
                <a:xfrm>
                  <a:off x="3645" y="160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6" name="Line 615"/>
                <p:cNvSpPr>
                  <a:spLocks noChangeShapeType="1"/>
                </p:cNvSpPr>
                <p:nvPr/>
              </p:nvSpPr>
              <p:spPr bwMode="auto">
                <a:xfrm>
                  <a:off x="3645" y="1609"/>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7" name="Line 616"/>
                <p:cNvSpPr>
                  <a:spLocks noChangeShapeType="1"/>
                </p:cNvSpPr>
                <p:nvPr/>
              </p:nvSpPr>
              <p:spPr bwMode="auto">
                <a:xfrm>
                  <a:off x="3649" y="1614"/>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8" name="Line 617"/>
                <p:cNvSpPr>
                  <a:spLocks noChangeShapeType="1"/>
                </p:cNvSpPr>
                <p:nvPr/>
              </p:nvSpPr>
              <p:spPr bwMode="auto">
                <a:xfrm>
                  <a:off x="3654" y="161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9" name="Freeform 618"/>
                <p:cNvSpPr>
                  <a:spLocks/>
                </p:cNvSpPr>
                <p:nvPr/>
              </p:nvSpPr>
              <p:spPr bwMode="auto">
                <a:xfrm>
                  <a:off x="3654" y="161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10" name="Line 619"/>
                <p:cNvSpPr>
                  <a:spLocks noChangeShapeType="1"/>
                </p:cNvSpPr>
                <p:nvPr/>
              </p:nvSpPr>
              <p:spPr bwMode="auto">
                <a:xfrm>
                  <a:off x="3658" y="1622"/>
                  <a:ext cx="0"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1" name="Freeform 620"/>
                <p:cNvSpPr>
                  <a:spLocks/>
                </p:cNvSpPr>
                <p:nvPr/>
              </p:nvSpPr>
              <p:spPr bwMode="auto">
                <a:xfrm>
                  <a:off x="3658" y="1627"/>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12" name="Line 621"/>
                <p:cNvSpPr>
                  <a:spLocks noChangeShapeType="1"/>
                </p:cNvSpPr>
                <p:nvPr/>
              </p:nvSpPr>
              <p:spPr bwMode="auto">
                <a:xfrm>
                  <a:off x="3662" y="163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3" name="Line 622"/>
                <p:cNvSpPr>
                  <a:spLocks noChangeShapeType="1"/>
                </p:cNvSpPr>
                <p:nvPr/>
              </p:nvSpPr>
              <p:spPr bwMode="auto">
                <a:xfrm>
                  <a:off x="3662" y="1631"/>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4" name="Line 623"/>
                <p:cNvSpPr>
                  <a:spLocks noChangeShapeType="1"/>
                </p:cNvSpPr>
                <p:nvPr/>
              </p:nvSpPr>
              <p:spPr bwMode="auto">
                <a:xfrm>
                  <a:off x="3667" y="1635"/>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5" name="Line 624"/>
                <p:cNvSpPr>
                  <a:spLocks noChangeShapeType="1"/>
                </p:cNvSpPr>
                <p:nvPr/>
              </p:nvSpPr>
              <p:spPr bwMode="auto">
                <a:xfrm>
                  <a:off x="3671" y="164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6" name="Freeform 625"/>
                <p:cNvSpPr>
                  <a:spLocks/>
                </p:cNvSpPr>
                <p:nvPr/>
              </p:nvSpPr>
              <p:spPr bwMode="auto">
                <a:xfrm>
                  <a:off x="3671" y="164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17" name="Line 626"/>
                <p:cNvSpPr>
                  <a:spLocks noChangeShapeType="1"/>
                </p:cNvSpPr>
                <p:nvPr/>
              </p:nvSpPr>
              <p:spPr bwMode="auto">
                <a:xfrm>
                  <a:off x="3675" y="1644"/>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8" name="Line 627"/>
                <p:cNvSpPr>
                  <a:spLocks noChangeShapeType="1"/>
                </p:cNvSpPr>
                <p:nvPr/>
              </p:nvSpPr>
              <p:spPr bwMode="auto">
                <a:xfrm>
                  <a:off x="3675" y="164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19" name="Freeform 628"/>
                <p:cNvSpPr>
                  <a:spLocks/>
                </p:cNvSpPr>
                <p:nvPr/>
              </p:nvSpPr>
              <p:spPr bwMode="auto">
                <a:xfrm>
                  <a:off x="3680" y="16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20" name="Line 629"/>
                <p:cNvSpPr>
                  <a:spLocks noChangeShapeType="1"/>
                </p:cNvSpPr>
                <p:nvPr/>
              </p:nvSpPr>
              <p:spPr bwMode="auto">
                <a:xfrm>
                  <a:off x="3684" y="165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21" name="Freeform 630"/>
                <p:cNvSpPr>
                  <a:spLocks/>
                </p:cNvSpPr>
                <p:nvPr/>
              </p:nvSpPr>
              <p:spPr bwMode="auto">
                <a:xfrm>
                  <a:off x="3684" y="16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22" name="Line 631"/>
                <p:cNvSpPr>
                  <a:spLocks noChangeShapeType="1"/>
                </p:cNvSpPr>
                <p:nvPr/>
              </p:nvSpPr>
              <p:spPr bwMode="auto">
                <a:xfrm>
                  <a:off x="3688" y="1657"/>
                  <a:ext cx="0"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23" name="Freeform 632"/>
                <p:cNvSpPr>
                  <a:spLocks/>
                </p:cNvSpPr>
                <p:nvPr/>
              </p:nvSpPr>
              <p:spPr bwMode="auto">
                <a:xfrm>
                  <a:off x="3688"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24" name="Freeform 633"/>
                <p:cNvSpPr>
                  <a:spLocks/>
                </p:cNvSpPr>
                <p:nvPr/>
              </p:nvSpPr>
              <p:spPr bwMode="auto">
                <a:xfrm>
                  <a:off x="3693" y="1661"/>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25" name="Line 634"/>
                <p:cNvSpPr>
                  <a:spLocks noChangeShapeType="1"/>
                </p:cNvSpPr>
                <p:nvPr/>
              </p:nvSpPr>
              <p:spPr bwMode="auto">
                <a:xfrm>
                  <a:off x="3693" y="1666"/>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26" name="Freeform 635"/>
                <p:cNvSpPr>
                  <a:spLocks/>
                </p:cNvSpPr>
                <p:nvPr/>
              </p:nvSpPr>
              <p:spPr bwMode="auto">
                <a:xfrm>
                  <a:off x="3697" y="1666"/>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27" name="Line 636"/>
                <p:cNvSpPr>
                  <a:spLocks noChangeShapeType="1"/>
                </p:cNvSpPr>
                <p:nvPr/>
              </p:nvSpPr>
              <p:spPr bwMode="auto">
                <a:xfrm>
                  <a:off x="3701" y="16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28" name="Freeform 637"/>
                <p:cNvSpPr>
                  <a:spLocks/>
                </p:cNvSpPr>
                <p:nvPr/>
              </p:nvSpPr>
              <p:spPr bwMode="auto">
                <a:xfrm>
                  <a:off x="3701" y="167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29" name="Line 638"/>
                <p:cNvSpPr>
                  <a:spLocks noChangeShapeType="1"/>
                </p:cNvSpPr>
                <p:nvPr/>
              </p:nvSpPr>
              <p:spPr bwMode="auto">
                <a:xfrm>
                  <a:off x="3706" y="16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30" name="Line 639"/>
                <p:cNvSpPr>
                  <a:spLocks noChangeShapeType="1"/>
                </p:cNvSpPr>
                <p:nvPr/>
              </p:nvSpPr>
              <p:spPr bwMode="auto">
                <a:xfrm>
                  <a:off x="3706" y="1674"/>
                  <a:ext cx="4" cy="5"/>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31" name="Line 640"/>
                <p:cNvSpPr>
                  <a:spLocks noChangeShapeType="1"/>
                </p:cNvSpPr>
                <p:nvPr/>
              </p:nvSpPr>
              <p:spPr bwMode="auto">
                <a:xfrm>
                  <a:off x="3710" y="1679"/>
                  <a:ext cx="5" cy="4"/>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32" name="Line 641"/>
                <p:cNvSpPr>
                  <a:spLocks noChangeShapeType="1"/>
                </p:cNvSpPr>
                <p:nvPr/>
              </p:nvSpPr>
              <p:spPr bwMode="auto">
                <a:xfrm>
                  <a:off x="3715" y="16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33" name="Freeform 642"/>
                <p:cNvSpPr>
                  <a:spLocks/>
                </p:cNvSpPr>
                <p:nvPr/>
              </p:nvSpPr>
              <p:spPr bwMode="auto">
                <a:xfrm>
                  <a:off x="3715" y="168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34" name="Line 643"/>
                <p:cNvSpPr>
                  <a:spLocks noChangeShapeType="1"/>
                </p:cNvSpPr>
                <p:nvPr/>
              </p:nvSpPr>
              <p:spPr bwMode="auto">
                <a:xfrm>
                  <a:off x="3719" y="16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35" name="Freeform 644"/>
                <p:cNvSpPr>
                  <a:spLocks/>
                </p:cNvSpPr>
                <p:nvPr/>
              </p:nvSpPr>
              <p:spPr bwMode="auto">
                <a:xfrm>
                  <a:off x="3719" y="16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36" name="Freeform 645"/>
                <p:cNvSpPr>
                  <a:spLocks/>
                </p:cNvSpPr>
                <p:nvPr/>
              </p:nvSpPr>
              <p:spPr bwMode="auto">
                <a:xfrm>
                  <a:off x="3723" y="1687"/>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37" name="Line 646"/>
                <p:cNvSpPr>
                  <a:spLocks noChangeShapeType="1"/>
                </p:cNvSpPr>
                <p:nvPr/>
              </p:nvSpPr>
              <p:spPr bwMode="auto">
                <a:xfrm>
                  <a:off x="3723" y="1692"/>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38" name="Freeform 647"/>
                <p:cNvSpPr>
                  <a:spLocks/>
                </p:cNvSpPr>
                <p:nvPr/>
              </p:nvSpPr>
              <p:spPr bwMode="auto">
                <a:xfrm>
                  <a:off x="3728" y="1692"/>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39" name="Line 648"/>
                <p:cNvSpPr>
                  <a:spLocks noChangeShapeType="1"/>
                </p:cNvSpPr>
                <p:nvPr/>
              </p:nvSpPr>
              <p:spPr bwMode="auto">
                <a:xfrm>
                  <a:off x="3732" y="169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40" name="Freeform 649"/>
                <p:cNvSpPr>
                  <a:spLocks/>
                </p:cNvSpPr>
                <p:nvPr/>
              </p:nvSpPr>
              <p:spPr bwMode="auto">
                <a:xfrm>
                  <a:off x="3732" y="1696"/>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41" name="Line 650"/>
                <p:cNvSpPr>
                  <a:spLocks noChangeShapeType="1"/>
                </p:cNvSpPr>
                <p:nvPr/>
              </p:nvSpPr>
              <p:spPr bwMode="auto">
                <a:xfrm>
                  <a:off x="3736" y="170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42" name="Freeform 651"/>
                <p:cNvSpPr>
                  <a:spLocks/>
                </p:cNvSpPr>
                <p:nvPr/>
              </p:nvSpPr>
              <p:spPr bwMode="auto">
                <a:xfrm>
                  <a:off x="3736" y="1701"/>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43" name="Line 652"/>
                <p:cNvSpPr>
                  <a:spLocks noChangeShapeType="1"/>
                </p:cNvSpPr>
                <p:nvPr/>
              </p:nvSpPr>
              <p:spPr bwMode="auto">
                <a:xfrm>
                  <a:off x="3741" y="1705"/>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44" name="Line 653"/>
                <p:cNvSpPr>
                  <a:spLocks noChangeShapeType="1"/>
                </p:cNvSpPr>
                <p:nvPr/>
              </p:nvSpPr>
              <p:spPr bwMode="auto">
                <a:xfrm>
                  <a:off x="3745" y="170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45" name="Freeform 654"/>
                <p:cNvSpPr>
                  <a:spLocks/>
                </p:cNvSpPr>
                <p:nvPr/>
              </p:nvSpPr>
              <p:spPr bwMode="auto">
                <a:xfrm>
                  <a:off x="3745" y="1705"/>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46" name="Line 655"/>
                <p:cNvSpPr>
                  <a:spLocks noChangeShapeType="1"/>
                </p:cNvSpPr>
                <p:nvPr/>
              </p:nvSpPr>
              <p:spPr bwMode="auto">
                <a:xfrm>
                  <a:off x="3749" y="170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47" name="Freeform 656"/>
                <p:cNvSpPr>
                  <a:spLocks/>
                </p:cNvSpPr>
                <p:nvPr/>
              </p:nvSpPr>
              <p:spPr bwMode="auto">
                <a:xfrm>
                  <a:off x="3749" y="1709"/>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48" name="Line 657"/>
                <p:cNvSpPr>
                  <a:spLocks noChangeShapeType="1"/>
                </p:cNvSpPr>
                <p:nvPr/>
              </p:nvSpPr>
              <p:spPr bwMode="auto">
                <a:xfrm>
                  <a:off x="3754" y="171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49" name="Line 658"/>
                <p:cNvSpPr>
                  <a:spLocks noChangeShapeType="1"/>
                </p:cNvSpPr>
                <p:nvPr/>
              </p:nvSpPr>
              <p:spPr bwMode="auto">
                <a:xfrm>
                  <a:off x="3754" y="171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50" name="Freeform 659"/>
                <p:cNvSpPr>
                  <a:spLocks/>
                </p:cNvSpPr>
                <p:nvPr/>
              </p:nvSpPr>
              <p:spPr bwMode="auto">
                <a:xfrm>
                  <a:off x="3758" y="1714"/>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51" name="Line 660"/>
                <p:cNvSpPr>
                  <a:spLocks noChangeShapeType="1"/>
                </p:cNvSpPr>
                <p:nvPr/>
              </p:nvSpPr>
              <p:spPr bwMode="auto">
                <a:xfrm>
                  <a:off x="3762" y="171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52" name="Freeform 661"/>
                <p:cNvSpPr>
                  <a:spLocks/>
                </p:cNvSpPr>
                <p:nvPr/>
              </p:nvSpPr>
              <p:spPr bwMode="auto">
                <a:xfrm>
                  <a:off x="3762" y="1718"/>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53" name="Freeform 662"/>
                <p:cNvSpPr>
                  <a:spLocks/>
                </p:cNvSpPr>
                <p:nvPr/>
              </p:nvSpPr>
              <p:spPr bwMode="auto">
                <a:xfrm>
                  <a:off x="3767" y="1718"/>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54" name="Line 663"/>
                <p:cNvSpPr>
                  <a:spLocks noChangeShapeType="1"/>
                </p:cNvSpPr>
                <p:nvPr/>
              </p:nvSpPr>
              <p:spPr bwMode="auto">
                <a:xfrm>
                  <a:off x="3767" y="1722"/>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55" name="Line 664"/>
                <p:cNvSpPr>
                  <a:spLocks noChangeShapeType="1"/>
                </p:cNvSpPr>
                <p:nvPr/>
              </p:nvSpPr>
              <p:spPr bwMode="auto">
                <a:xfrm>
                  <a:off x="3771" y="1722"/>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56" name="Freeform 665"/>
                <p:cNvSpPr>
                  <a:spLocks/>
                </p:cNvSpPr>
                <p:nvPr/>
              </p:nvSpPr>
              <p:spPr bwMode="auto">
                <a:xfrm>
                  <a:off x="3775" y="1722"/>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57" name="Freeform 666"/>
                <p:cNvSpPr>
                  <a:spLocks/>
                </p:cNvSpPr>
                <p:nvPr/>
              </p:nvSpPr>
              <p:spPr bwMode="auto">
                <a:xfrm>
                  <a:off x="3775" y="172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58" name="Line 667"/>
                <p:cNvSpPr>
                  <a:spLocks noChangeShapeType="1"/>
                </p:cNvSpPr>
                <p:nvPr/>
              </p:nvSpPr>
              <p:spPr bwMode="auto">
                <a:xfrm>
                  <a:off x="3780" y="172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59" name="Freeform 668"/>
                <p:cNvSpPr>
                  <a:spLocks/>
                </p:cNvSpPr>
                <p:nvPr/>
              </p:nvSpPr>
              <p:spPr bwMode="auto">
                <a:xfrm>
                  <a:off x="3780" y="1727"/>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60" name="Line 669"/>
                <p:cNvSpPr>
                  <a:spLocks noChangeShapeType="1"/>
                </p:cNvSpPr>
                <p:nvPr/>
              </p:nvSpPr>
              <p:spPr bwMode="auto">
                <a:xfrm>
                  <a:off x="3784" y="173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61" name="Line 670"/>
                <p:cNvSpPr>
                  <a:spLocks noChangeShapeType="1"/>
                </p:cNvSpPr>
                <p:nvPr/>
              </p:nvSpPr>
              <p:spPr bwMode="auto">
                <a:xfrm>
                  <a:off x="3784" y="1731"/>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62" name="Freeform 671"/>
                <p:cNvSpPr>
                  <a:spLocks/>
                </p:cNvSpPr>
                <p:nvPr/>
              </p:nvSpPr>
              <p:spPr bwMode="auto">
                <a:xfrm>
                  <a:off x="3788" y="1731"/>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63" name="Line 672"/>
                <p:cNvSpPr>
                  <a:spLocks noChangeShapeType="1"/>
                </p:cNvSpPr>
                <p:nvPr/>
              </p:nvSpPr>
              <p:spPr bwMode="auto">
                <a:xfrm>
                  <a:off x="3793" y="173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64" name="Freeform 673"/>
                <p:cNvSpPr>
                  <a:spLocks/>
                </p:cNvSpPr>
                <p:nvPr/>
              </p:nvSpPr>
              <p:spPr bwMode="auto">
                <a:xfrm>
                  <a:off x="3793" y="1735"/>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65" name="Line 674"/>
                <p:cNvSpPr>
                  <a:spLocks noChangeShapeType="1"/>
                </p:cNvSpPr>
                <p:nvPr/>
              </p:nvSpPr>
              <p:spPr bwMode="auto">
                <a:xfrm>
                  <a:off x="3797" y="1735"/>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66" name="Freeform 675"/>
                <p:cNvSpPr>
                  <a:spLocks/>
                </p:cNvSpPr>
                <p:nvPr/>
              </p:nvSpPr>
              <p:spPr bwMode="auto">
                <a:xfrm>
                  <a:off x="3797" y="173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67" name="Line 676"/>
                <p:cNvSpPr>
                  <a:spLocks noChangeShapeType="1"/>
                </p:cNvSpPr>
                <p:nvPr/>
              </p:nvSpPr>
              <p:spPr bwMode="auto">
                <a:xfrm>
                  <a:off x="3801" y="1740"/>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68" name="Line 677"/>
                <p:cNvSpPr>
                  <a:spLocks noChangeShapeType="1"/>
                </p:cNvSpPr>
                <p:nvPr/>
              </p:nvSpPr>
              <p:spPr bwMode="auto">
                <a:xfrm>
                  <a:off x="3806" y="174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69" name="Freeform 678"/>
                <p:cNvSpPr>
                  <a:spLocks/>
                </p:cNvSpPr>
                <p:nvPr/>
              </p:nvSpPr>
              <p:spPr bwMode="auto">
                <a:xfrm>
                  <a:off x="3806" y="174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70" name="Freeform 679"/>
                <p:cNvSpPr>
                  <a:spLocks/>
                </p:cNvSpPr>
                <p:nvPr/>
              </p:nvSpPr>
              <p:spPr bwMode="auto">
                <a:xfrm>
                  <a:off x="3810" y="174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71" name="Line 680"/>
                <p:cNvSpPr>
                  <a:spLocks noChangeShapeType="1"/>
                </p:cNvSpPr>
                <p:nvPr/>
              </p:nvSpPr>
              <p:spPr bwMode="auto">
                <a:xfrm>
                  <a:off x="3810" y="174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72" name="Line 681"/>
                <p:cNvSpPr>
                  <a:spLocks noChangeShapeType="1"/>
                </p:cNvSpPr>
                <p:nvPr/>
              </p:nvSpPr>
              <p:spPr bwMode="auto">
                <a:xfrm>
                  <a:off x="3814" y="174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73" name="Line 682"/>
                <p:cNvSpPr>
                  <a:spLocks noChangeShapeType="1"/>
                </p:cNvSpPr>
                <p:nvPr/>
              </p:nvSpPr>
              <p:spPr bwMode="auto">
                <a:xfrm>
                  <a:off x="3819" y="174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74" name="Freeform 683"/>
                <p:cNvSpPr>
                  <a:spLocks/>
                </p:cNvSpPr>
                <p:nvPr/>
              </p:nvSpPr>
              <p:spPr bwMode="auto">
                <a:xfrm>
                  <a:off x="3819" y="1744"/>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75" name="Line 684"/>
                <p:cNvSpPr>
                  <a:spLocks noChangeShapeType="1"/>
                </p:cNvSpPr>
                <p:nvPr/>
              </p:nvSpPr>
              <p:spPr bwMode="auto">
                <a:xfrm>
                  <a:off x="3823" y="174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76" name="Freeform 685"/>
                <p:cNvSpPr>
                  <a:spLocks/>
                </p:cNvSpPr>
                <p:nvPr/>
              </p:nvSpPr>
              <p:spPr bwMode="auto">
                <a:xfrm>
                  <a:off x="3823" y="174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77" name="Line 686"/>
                <p:cNvSpPr>
                  <a:spLocks noChangeShapeType="1"/>
                </p:cNvSpPr>
                <p:nvPr/>
              </p:nvSpPr>
              <p:spPr bwMode="auto">
                <a:xfrm>
                  <a:off x="3827" y="1748"/>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78" name="Line 687"/>
                <p:cNvSpPr>
                  <a:spLocks noChangeShapeType="1"/>
                </p:cNvSpPr>
                <p:nvPr/>
              </p:nvSpPr>
              <p:spPr bwMode="auto">
                <a:xfrm>
                  <a:off x="3827" y="1748"/>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79" name="Freeform 688"/>
                <p:cNvSpPr>
                  <a:spLocks/>
                </p:cNvSpPr>
                <p:nvPr/>
              </p:nvSpPr>
              <p:spPr bwMode="auto">
                <a:xfrm>
                  <a:off x="3832" y="17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80" name="Line 689"/>
                <p:cNvSpPr>
                  <a:spLocks noChangeShapeType="1"/>
                </p:cNvSpPr>
                <p:nvPr/>
              </p:nvSpPr>
              <p:spPr bwMode="auto">
                <a:xfrm>
                  <a:off x="3836" y="175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81" name="Freeform 690"/>
                <p:cNvSpPr>
                  <a:spLocks/>
                </p:cNvSpPr>
                <p:nvPr/>
              </p:nvSpPr>
              <p:spPr bwMode="auto">
                <a:xfrm>
                  <a:off x="3836" y="175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82" name="Line 691"/>
                <p:cNvSpPr>
                  <a:spLocks noChangeShapeType="1"/>
                </p:cNvSpPr>
                <p:nvPr/>
              </p:nvSpPr>
              <p:spPr bwMode="auto">
                <a:xfrm>
                  <a:off x="3840" y="175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83" name="Line 692"/>
                <p:cNvSpPr>
                  <a:spLocks noChangeShapeType="1"/>
                </p:cNvSpPr>
                <p:nvPr/>
              </p:nvSpPr>
              <p:spPr bwMode="auto">
                <a:xfrm>
                  <a:off x="3840" y="175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84" name="Line 693"/>
                <p:cNvSpPr>
                  <a:spLocks noChangeShapeType="1"/>
                </p:cNvSpPr>
                <p:nvPr/>
              </p:nvSpPr>
              <p:spPr bwMode="auto">
                <a:xfrm>
                  <a:off x="3845" y="175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85" name="Freeform 694"/>
                <p:cNvSpPr>
                  <a:spLocks/>
                </p:cNvSpPr>
                <p:nvPr/>
              </p:nvSpPr>
              <p:spPr bwMode="auto">
                <a:xfrm>
                  <a:off x="3849" y="1753"/>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86" name="Freeform 695"/>
                <p:cNvSpPr>
                  <a:spLocks/>
                </p:cNvSpPr>
                <p:nvPr/>
              </p:nvSpPr>
              <p:spPr bwMode="auto">
                <a:xfrm>
                  <a:off x="3849" y="175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87" name="Line 696"/>
                <p:cNvSpPr>
                  <a:spLocks noChangeShapeType="1"/>
                </p:cNvSpPr>
                <p:nvPr/>
              </p:nvSpPr>
              <p:spPr bwMode="auto">
                <a:xfrm>
                  <a:off x="3853" y="175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88" name="Freeform 697"/>
                <p:cNvSpPr>
                  <a:spLocks/>
                </p:cNvSpPr>
                <p:nvPr/>
              </p:nvSpPr>
              <p:spPr bwMode="auto">
                <a:xfrm>
                  <a:off x="3853" y="175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89" name="Line 698"/>
                <p:cNvSpPr>
                  <a:spLocks noChangeShapeType="1"/>
                </p:cNvSpPr>
                <p:nvPr/>
              </p:nvSpPr>
              <p:spPr bwMode="auto">
                <a:xfrm>
                  <a:off x="3858" y="175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0" name="Line 699"/>
                <p:cNvSpPr>
                  <a:spLocks noChangeShapeType="1"/>
                </p:cNvSpPr>
                <p:nvPr/>
              </p:nvSpPr>
              <p:spPr bwMode="auto">
                <a:xfrm>
                  <a:off x="3858" y="175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1" name="Freeform 700"/>
                <p:cNvSpPr>
                  <a:spLocks/>
                </p:cNvSpPr>
                <p:nvPr/>
              </p:nvSpPr>
              <p:spPr bwMode="auto">
                <a:xfrm>
                  <a:off x="3862" y="1757"/>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92" name="Line 701"/>
                <p:cNvSpPr>
                  <a:spLocks noChangeShapeType="1"/>
                </p:cNvSpPr>
                <p:nvPr/>
              </p:nvSpPr>
              <p:spPr bwMode="auto">
                <a:xfrm>
                  <a:off x="3866" y="176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3" name="Freeform 702"/>
                <p:cNvSpPr>
                  <a:spLocks/>
                </p:cNvSpPr>
                <p:nvPr/>
              </p:nvSpPr>
              <p:spPr bwMode="auto">
                <a:xfrm>
                  <a:off x="3866" y="17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94" name="Line 703"/>
                <p:cNvSpPr>
                  <a:spLocks noChangeShapeType="1"/>
                </p:cNvSpPr>
                <p:nvPr/>
              </p:nvSpPr>
              <p:spPr bwMode="auto">
                <a:xfrm>
                  <a:off x="3871" y="176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5" name="Line 704"/>
                <p:cNvSpPr>
                  <a:spLocks noChangeShapeType="1"/>
                </p:cNvSpPr>
                <p:nvPr/>
              </p:nvSpPr>
              <p:spPr bwMode="auto">
                <a:xfrm>
                  <a:off x="3871" y="1761"/>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6" name="Line 705"/>
                <p:cNvSpPr>
                  <a:spLocks noChangeShapeType="1"/>
                </p:cNvSpPr>
                <p:nvPr/>
              </p:nvSpPr>
              <p:spPr bwMode="auto">
                <a:xfrm>
                  <a:off x="3875" y="1761"/>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7" name="Line 706"/>
                <p:cNvSpPr>
                  <a:spLocks noChangeShapeType="1"/>
                </p:cNvSpPr>
                <p:nvPr/>
              </p:nvSpPr>
              <p:spPr bwMode="auto">
                <a:xfrm>
                  <a:off x="3879" y="1761"/>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98" name="Freeform 707"/>
                <p:cNvSpPr>
                  <a:spLocks/>
                </p:cNvSpPr>
                <p:nvPr/>
              </p:nvSpPr>
              <p:spPr bwMode="auto">
                <a:xfrm>
                  <a:off x="3879" y="1761"/>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99" name="Line 708"/>
                <p:cNvSpPr>
                  <a:spLocks noChangeShapeType="1"/>
                </p:cNvSpPr>
                <p:nvPr/>
              </p:nvSpPr>
              <p:spPr bwMode="auto">
                <a:xfrm>
                  <a:off x="3884" y="176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0" name="Freeform 709"/>
                <p:cNvSpPr>
                  <a:spLocks/>
                </p:cNvSpPr>
                <p:nvPr/>
              </p:nvSpPr>
              <p:spPr bwMode="auto">
                <a:xfrm>
                  <a:off x="3884"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01" name="Line 710"/>
                <p:cNvSpPr>
                  <a:spLocks noChangeShapeType="1"/>
                </p:cNvSpPr>
                <p:nvPr/>
              </p:nvSpPr>
              <p:spPr bwMode="auto">
                <a:xfrm>
                  <a:off x="3888" y="176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2" name="Line 711"/>
                <p:cNvSpPr>
                  <a:spLocks noChangeShapeType="1"/>
                </p:cNvSpPr>
                <p:nvPr/>
              </p:nvSpPr>
              <p:spPr bwMode="auto">
                <a:xfrm>
                  <a:off x="3888" y="1766"/>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3" name="Line 712"/>
                <p:cNvSpPr>
                  <a:spLocks noChangeShapeType="1"/>
                </p:cNvSpPr>
                <p:nvPr/>
              </p:nvSpPr>
              <p:spPr bwMode="auto">
                <a:xfrm>
                  <a:off x="3892" y="1766"/>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4" name="Line 713"/>
                <p:cNvSpPr>
                  <a:spLocks noChangeShapeType="1"/>
                </p:cNvSpPr>
                <p:nvPr/>
              </p:nvSpPr>
              <p:spPr bwMode="auto">
                <a:xfrm>
                  <a:off x="3897" y="176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5" name="Freeform 714"/>
                <p:cNvSpPr>
                  <a:spLocks/>
                </p:cNvSpPr>
                <p:nvPr/>
              </p:nvSpPr>
              <p:spPr bwMode="auto">
                <a:xfrm>
                  <a:off x="3897"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06" name="Line 715"/>
                <p:cNvSpPr>
                  <a:spLocks noChangeShapeType="1"/>
                </p:cNvSpPr>
                <p:nvPr/>
              </p:nvSpPr>
              <p:spPr bwMode="auto">
                <a:xfrm>
                  <a:off x="3901" y="1766"/>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7" name="Freeform 716"/>
                <p:cNvSpPr>
                  <a:spLocks/>
                </p:cNvSpPr>
                <p:nvPr/>
              </p:nvSpPr>
              <p:spPr bwMode="auto">
                <a:xfrm>
                  <a:off x="3901" y="176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08" name="Line 717"/>
                <p:cNvSpPr>
                  <a:spLocks noChangeShapeType="1"/>
                </p:cNvSpPr>
                <p:nvPr/>
              </p:nvSpPr>
              <p:spPr bwMode="auto">
                <a:xfrm>
                  <a:off x="3906" y="1770"/>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09" name="Line 718"/>
                <p:cNvSpPr>
                  <a:spLocks noChangeShapeType="1"/>
                </p:cNvSpPr>
                <p:nvPr/>
              </p:nvSpPr>
              <p:spPr bwMode="auto">
                <a:xfrm>
                  <a:off x="3910"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10" name="Freeform 719"/>
                <p:cNvSpPr>
                  <a:spLocks/>
                </p:cNvSpPr>
                <p:nvPr/>
              </p:nvSpPr>
              <p:spPr bwMode="auto">
                <a:xfrm>
                  <a:off x="3910"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11" name="Line 720"/>
                <p:cNvSpPr>
                  <a:spLocks noChangeShapeType="1"/>
                </p:cNvSpPr>
                <p:nvPr/>
              </p:nvSpPr>
              <p:spPr bwMode="auto">
                <a:xfrm>
                  <a:off x="3914"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12" name="Freeform 721"/>
                <p:cNvSpPr>
                  <a:spLocks/>
                </p:cNvSpPr>
                <p:nvPr/>
              </p:nvSpPr>
              <p:spPr bwMode="auto">
                <a:xfrm>
                  <a:off x="3914"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13" name="Line 722"/>
                <p:cNvSpPr>
                  <a:spLocks noChangeShapeType="1"/>
                </p:cNvSpPr>
                <p:nvPr/>
              </p:nvSpPr>
              <p:spPr bwMode="auto">
                <a:xfrm>
                  <a:off x="3919"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14" name="Line 723"/>
                <p:cNvSpPr>
                  <a:spLocks noChangeShapeType="1"/>
                </p:cNvSpPr>
                <p:nvPr/>
              </p:nvSpPr>
              <p:spPr bwMode="auto">
                <a:xfrm>
                  <a:off x="3919" y="1770"/>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15" name="Line 724"/>
                <p:cNvSpPr>
                  <a:spLocks noChangeShapeType="1"/>
                </p:cNvSpPr>
                <p:nvPr/>
              </p:nvSpPr>
              <p:spPr bwMode="auto">
                <a:xfrm>
                  <a:off x="3923" y="1770"/>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16" name="Line 725"/>
                <p:cNvSpPr>
                  <a:spLocks noChangeShapeType="1"/>
                </p:cNvSpPr>
                <p:nvPr/>
              </p:nvSpPr>
              <p:spPr bwMode="auto">
                <a:xfrm>
                  <a:off x="3927" y="1770"/>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17" name="Freeform 726"/>
                <p:cNvSpPr>
                  <a:spLocks/>
                </p:cNvSpPr>
                <p:nvPr/>
              </p:nvSpPr>
              <p:spPr bwMode="auto">
                <a:xfrm>
                  <a:off x="3927"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18" name="Freeform 727"/>
                <p:cNvSpPr>
                  <a:spLocks/>
                </p:cNvSpPr>
                <p:nvPr/>
              </p:nvSpPr>
              <p:spPr bwMode="auto">
                <a:xfrm>
                  <a:off x="3932" y="177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19" name="Line 728"/>
                <p:cNvSpPr>
                  <a:spLocks noChangeShapeType="1"/>
                </p:cNvSpPr>
                <p:nvPr/>
              </p:nvSpPr>
              <p:spPr bwMode="auto">
                <a:xfrm>
                  <a:off x="3932"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0" name="Line 729"/>
                <p:cNvSpPr>
                  <a:spLocks noChangeShapeType="1"/>
                </p:cNvSpPr>
                <p:nvPr/>
              </p:nvSpPr>
              <p:spPr bwMode="auto">
                <a:xfrm>
                  <a:off x="3936"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1" name="Line 730"/>
                <p:cNvSpPr>
                  <a:spLocks noChangeShapeType="1"/>
                </p:cNvSpPr>
                <p:nvPr/>
              </p:nvSpPr>
              <p:spPr bwMode="auto">
                <a:xfrm>
                  <a:off x="3940"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2" name="Freeform 731"/>
                <p:cNvSpPr>
                  <a:spLocks/>
                </p:cNvSpPr>
                <p:nvPr/>
              </p:nvSpPr>
              <p:spPr bwMode="auto">
                <a:xfrm>
                  <a:off x="3940"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23" name="Line 732"/>
                <p:cNvSpPr>
                  <a:spLocks noChangeShapeType="1"/>
                </p:cNvSpPr>
                <p:nvPr/>
              </p:nvSpPr>
              <p:spPr bwMode="auto">
                <a:xfrm>
                  <a:off x="3945"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4" name="Freeform 733"/>
                <p:cNvSpPr>
                  <a:spLocks/>
                </p:cNvSpPr>
                <p:nvPr/>
              </p:nvSpPr>
              <p:spPr bwMode="auto">
                <a:xfrm>
                  <a:off x="3945"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25" name="Line 734"/>
                <p:cNvSpPr>
                  <a:spLocks noChangeShapeType="1"/>
                </p:cNvSpPr>
                <p:nvPr/>
              </p:nvSpPr>
              <p:spPr bwMode="auto">
                <a:xfrm>
                  <a:off x="3949"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6" name="Line 735"/>
                <p:cNvSpPr>
                  <a:spLocks noChangeShapeType="1"/>
                </p:cNvSpPr>
                <p:nvPr/>
              </p:nvSpPr>
              <p:spPr bwMode="auto">
                <a:xfrm>
                  <a:off x="3949"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7" name="Line 736"/>
                <p:cNvSpPr>
                  <a:spLocks noChangeShapeType="1"/>
                </p:cNvSpPr>
                <p:nvPr/>
              </p:nvSpPr>
              <p:spPr bwMode="auto">
                <a:xfrm>
                  <a:off x="3953" y="177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8" name="Line 737"/>
                <p:cNvSpPr>
                  <a:spLocks noChangeShapeType="1"/>
                </p:cNvSpPr>
                <p:nvPr/>
              </p:nvSpPr>
              <p:spPr bwMode="auto">
                <a:xfrm>
                  <a:off x="3958"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29" name="Freeform 738"/>
                <p:cNvSpPr>
                  <a:spLocks/>
                </p:cNvSpPr>
                <p:nvPr/>
              </p:nvSpPr>
              <p:spPr bwMode="auto">
                <a:xfrm>
                  <a:off x="3958"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30" name="Line 739"/>
                <p:cNvSpPr>
                  <a:spLocks noChangeShapeType="1"/>
                </p:cNvSpPr>
                <p:nvPr/>
              </p:nvSpPr>
              <p:spPr bwMode="auto">
                <a:xfrm>
                  <a:off x="3962"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31" name="Line 740"/>
                <p:cNvSpPr>
                  <a:spLocks noChangeShapeType="1"/>
                </p:cNvSpPr>
                <p:nvPr/>
              </p:nvSpPr>
              <p:spPr bwMode="auto">
                <a:xfrm>
                  <a:off x="3962" y="1774"/>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32" name="Line 741"/>
                <p:cNvSpPr>
                  <a:spLocks noChangeShapeType="1"/>
                </p:cNvSpPr>
                <p:nvPr/>
              </p:nvSpPr>
              <p:spPr bwMode="auto">
                <a:xfrm>
                  <a:off x="3966" y="1774"/>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33" name="Line 742"/>
                <p:cNvSpPr>
                  <a:spLocks noChangeShapeType="1"/>
                </p:cNvSpPr>
                <p:nvPr/>
              </p:nvSpPr>
              <p:spPr bwMode="auto">
                <a:xfrm>
                  <a:off x="3971" y="1774"/>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34" name="Freeform 743"/>
                <p:cNvSpPr>
                  <a:spLocks/>
                </p:cNvSpPr>
                <p:nvPr/>
              </p:nvSpPr>
              <p:spPr bwMode="auto">
                <a:xfrm>
                  <a:off x="3971"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35" name="Freeform 744"/>
                <p:cNvSpPr>
                  <a:spLocks/>
                </p:cNvSpPr>
                <p:nvPr/>
              </p:nvSpPr>
              <p:spPr bwMode="auto">
                <a:xfrm>
                  <a:off x="3975" y="177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36" name="Freeform 745"/>
                <p:cNvSpPr>
                  <a:spLocks/>
                </p:cNvSpPr>
                <p:nvPr/>
              </p:nvSpPr>
              <p:spPr bwMode="auto">
                <a:xfrm>
                  <a:off x="3975"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37" name="Line 746"/>
                <p:cNvSpPr>
                  <a:spLocks noChangeShapeType="1"/>
                </p:cNvSpPr>
                <p:nvPr/>
              </p:nvSpPr>
              <p:spPr bwMode="auto">
                <a:xfrm>
                  <a:off x="3979"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38" name="Line 747"/>
                <p:cNvSpPr>
                  <a:spLocks noChangeShapeType="1"/>
                </p:cNvSpPr>
                <p:nvPr/>
              </p:nvSpPr>
              <p:spPr bwMode="auto">
                <a:xfrm>
                  <a:off x="3979" y="1779"/>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39" name="Line 748"/>
                <p:cNvSpPr>
                  <a:spLocks noChangeShapeType="1"/>
                </p:cNvSpPr>
                <p:nvPr/>
              </p:nvSpPr>
              <p:spPr bwMode="auto">
                <a:xfrm>
                  <a:off x="3984"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0" name="Line 749"/>
                <p:cNvSpPr>
                  <a:spLocks noChangeShapeType="1"/>
                </p:cNvSpPr>
                <p:nvPr/>
              </p:nvSpPr>
              <p:spPr bwMode="auto">
                <a:xfrm>
                  <a:off x="3988"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1" name="Freeform 750"/>
                <p:cNvSpPr>
                  <a:spLocks/>
                </p:cNvSpPr>
                <p:nvPr/>
              </p:nvSpPr>
              <p:spPr bwMode="auto">
                <a:xfrm>
                  <a:off x="3988"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42" name="Line 751"/>
                <p:cNvSpPr>
                  <a:spLocks noChangeShapeType="1"/>
                </p:cNvSpPr>
                <p:nvPr/>
              </p:nvSpPr>
              <p:spPr bwMode="auto">
                <a:xfrm>
                  <a:off x="3992"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3" name="Line 752"/>
                <p:cNvSpPr>
                  <a:spLocks noChangeShapeType="1"/>
                </p:cNvSpPr>
                <p:nvPr/>
              </p:nvSpPr>
              <p:spPr bwMode="auto">
                <a:xfrm>
                  <a:off x="3992" y="1779"/>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4" name="Line 753"/>
                <p:cNvSpPr>
                  <a:spLocks noChangeShapeType="1"/>
                </p:cNvSpPr>
                <p:nvPr/>
              </p:nvSpPr>
              <p:spPr bwMode="auto">
                <a:xfrm>
                  <a:off x="3997"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5" name="Line 754"/>
                <p:cNvSpPr>
                  <a:spLocks noChangeShapeType="1"/>
                </p:cNvSpPr>
                <p:nvPr/>
              </p:nvSpPr>
              <p:spPr bwMode="auto">
                <a:xfrm>
                  <a:off x="4001"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6" name="Freeform 755"/>
                <p:cNvSpPr>
                  <a:spLocks/>
                </p:cNvSpPr>
                <p:nvPr/>
              </p:nvSpPr>
              <p:spPr bwMode="auto">
                <a:xfrm>
                  <a:off x="4001"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47" name="Line 756"/>
                <p:cNvSpPr>
                  <a:spLocks noChangeShapeType="1"/>
                </p:cNvSpPr>
                <p:nvPr/>
              </p:nvSpPr>
              <p:spPr bwMode="auto">
                <a:xfrm>
                  <a:off x="4005"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48" name="Freeform 757"/>
                <p:cNvSpPr>
                  <a:spLocks/>
                </p:cNvSpPr>
                <p:nvPr/>
              </p:nvSpPr>
              <p:spPr bwMode="auto">
                <a:xfrm>
                  <a:off x="4005"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49" name="Line 758"/>
                <p:cNvSpPr>
                  <a:spLocks noChangeShapeType="1"/>
                </p:cNvSpPr>
                <p:nvPr/>
              </p:nvSpPr>
              <p:spPr bwMode="auto">
                <a:xfrm>
                  <a:off x="4010"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0" name="Line 759"/>
                <p:cNvSpPr>
                  <a:spLocks noChangeShapeType="1"/>
                </p:cNvSpPr>
                <p:nvPr/>
              </p:nvSpPr>
              <p:spPr bwMode="auto">
                <a:xfrm>
                  <a:off x="4010"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1" name="Line 760"/>
                <p:cNvSpPr>
                  <a:spLocks noChangeShapeType="1"/>
                </p:cNvSpPr>
                <p:nvPr/>
              </p:nvSpPr>
              <p:spPr bwMode="auto">
                <a:xfrm>
                  <a:off x="4014"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2" name="Line 761"/>
                <p:cNvSpPr>
                  <a:spLocks noChangeShapeType="1"/>
                </p:cNvSpPr>
                <p:nvPr/>
              </p:nvSpPr>
              <p:spPr bwMode="auto">
                <a:xfrm>
                  <a:off x="4018"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3" name="Freeform 762"/>
                <p:cNvSpPr>
                  <a:spLocks/>
                </p:cNvSpPr>
                <p:nvPr/>
              </p:nvSpPr>
              <p:spPr bwMode="auto">
                <a:xfrm>
                  <a:off x="4018"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54" name="Line 763"/>
                <p:cNvSpPr>
                  <a:spLocks noChangeShapeType="1"/>
                </p:cNvSpPr>
                <p:nvPr/>
              </p:nvSpPr>
              <p:spPr bwMode="auto">
                <a:xfrm>
                  <a:off x="4023"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5" name="Line 764"/>
                <p:cNvSpPr>
                  <a:spLocks noChangeShapeType="1"/>
                </p:cNvSpPr>
                <p:nvPr/>
              </p:nvSpPr>
              <p:spPr bwMode="auto">
                <a:xfrm>
                  <a:off x="4023"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6" name="Line 765"/>
                <p:cNvSpPr>
                  <a:spLocks noChangeShapeType="1"/>
                </p:cNvSpPr>
                <p:nvPr/>
              </p:nvSpPr>
              <p:spPr bwMode="auto">
                <a:xfrm>
                  <a:off x="4027"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7" name="Line 766"/>
                <p:cNvSpPr>
                  <a:spLocks noChangeShapeType="1"/>
                </p:cNvSpPr>
                <p:nvPr/>
              </p:nvSpPr>
              <p:spPr bwMode="auto">
                <a:xfrm>
                  <a:off x="4031"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58" name="Freeform 767"/>
                <p:cNvSpPr>
                  <a:spLocks/>
                </p:cNvSpPr>
                <p:nvPr/>
              </p:nvSpPr>
              <p:spPr bwMode="auto">
                <a:xfrm>
                  <a:off x="4031"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59" name="Line 768"/>
                <p:cNvSpPr>
                  <a:spLocks noChangeShapeType="1"/>
                </p:cNvSpPr>
                <p:nvPr/>
              </p:nvSpPr>
              <p:spPr bwMode="auto">
                <a:xfrm>
                  <a:off x="4036"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0" name="Freeform 769"/>
                <p:cNvSpPr>
                  <a:spLocks/>
                </p:cNvSpPr>
                <p:nvPr/>
              </p:nvSpPr>
              <p:spPr bwMode="auto">
                <a:xfrm>
                  <a:off x="4036"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61" name="Line 770"/>
                <p:cNvSpPr>
                  <a:spLocks noChangeShapeType="1"/>
                </p:cNvSpPr>
                <p:nvPr/>
              </p:nvSpPr>
              <p:spPr bwMode="auto">
                <a:xfrm>
                  <a:off x="4040"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2" name="Line 771"/>
                <p:cNvSpPr>
                  <a:spLocks noChangeShapeType="1"/>
                </p:cNvSpPr>
                <p:nvPr/>
              </p:nvSpPr>
              <p:spPr bwMode="auto">
                <a:xfrm>
                  <a:off x="4040"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3" name="Line 772"/>
                <p:cNvSpPr>
                  <a:spLocks noChangeShapeType="1"/>
                </p:cNvSpPr>
                <p:nvPr/>
              </p:nvSpPr>
              <p:spPr bwMode="auto">
                <a:xfrm>
                  <a:off x="4044" y="1779"/>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4" name="Line 773"/>
                <p:cNvSpPr>
                  <a:spLocks noChangeShapeType="1"/>
                </p:cNvSpPr>
                <p:nvPr/>
              </p:nvSpPr>
              <p:spPr bwMode="auto">
                <a:xfrm>
                  <a:off x="4049"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5" name="Freeform 774"/>
                <p:cNvSpPr>
                  <a:spLocks/>
                </p:cNvSpPr>
                <p:nvPr/>
              </p:nvSpPr>
              <p:spPr bwMode="auto">
                <a:xfrm>
                  <a:off x="4049"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66" name="Line 775"/>
                <p:cNvSpPr>
                  <a:spLocks noChangeShapeType="1"/>
                </p:cNvSpPr>
                <p:nvPr/>
              </p:nvSpPr>
              <p:spPr bwMode="auto">
                <a:xfrm>
                  <a:off x="4053" y="1779"/>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7" name="Line 776"/>
                <p:cNvSpPr>
                  <a:spLocks noChangeShapeType="1"/>
                </p:cNvSpPr>
                <p:nvPr/>
              </p:nvSpPr>
              <p:spPr bwMode="auto">
                <a:xfrm>
                  <a:off x="4053" y="1779"/>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68" name="Freeform 777"/>
                <p:cNvSpPr>
                  <a:spLocks/>
                </p:cNvSpPr>
                <p:nvPr/>
              </p:nvSpPr>
              <p:spPr bwMode="auto">
                <a:xfrm>
                  <a:off x="4057" y="1779"/>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69" name="Line 778"/>
                <p:cNvSpPr>
                  <a:spLocks noChangeShapeType="1"/>
                </p:cNvSpPr>
                <p:nvPr/>
              </p:nvSpPr>
              <p:spPr bwMode="auto">
                <a:xfrm>
                  <a:off x="4062"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0" name="Freeform 779"/>
                <p:cNvSpPr>
                  <a:spLocks/>
                </p:cNvSpPr>
                <p:nvPr/>
              </p:nvSpPr>
              <p:spPr bwMode="auto">
                <a:xfrm>
                  <a:off x="4062"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71" name="Line 780"/>
                <p:cNvSpPr>
                  <a:spLocks noChangeShapeType="1"/>
                </p:cNvSpPr>
                <p:nvPr/>
              </p:nvSpPr>
              <p:spPr bwMode="auto">
                <a:xfrm>
                  <a:off x="4066"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2" name="Freeform 781"/>
                <p:cNvSpPr>
                  <a:spLocks/>
                </p:cNvSpPr>
                <p:nvPr/>
              </p:nvSpPr>
              <p:spPr bwMode="auto">
                <a:xfrm>
                  <a:off x="406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73" name="Line 782"/>
                <p:cNvSpPr>
                  <a:spLocks noChangeShapeType="1"/>
                </p:cNvSpPr>
                <p:nvPr/>
              </p:nvSpPr>
              <p:spPr bwMode="auto">
                <a:xfrm>
                  <a:off x="4070"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4" name="Line 783"/>
                <p:cNvSpPr>
                  <a:spLocks noChangeShapeType="1"/>
                </p:cNvSpPr>
                <p:nvPr/>
              </p:nvSpPr>
              <p:spPr bwMode="auto">
                <a:xfrm>
                  <a:off x="4070"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5" name="Line 784"/>
                <p:cNvSpPr>
                  <a:spLocks noChangeShapeType="1"/>
                </p:cNvSpPr>
                <p:nvPr/>
              </p:nvSpPr>
              <p:spPr bwMode="auto">
                <a:xfrm>
                  <a:off x="4075"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6" name="Line 785"/>
                <p:cNvSpPr>
                  <a:spLocks noChangeShapeType="1"/>
                </p:cNvSpPr>
                <p:nvPr/>
              </p:nvSpPr>
              <p:spPr bwMode="auto">
                <a:xfrm>
                  <a:off x="4079"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7" name="Freeform 786"/>
                <p:cNvSpPr>
                  <a:spLocks/>
                </p:cNvSpPr>
                <p:nvPr/>
              </p:nvSpPr>
              <p:spPr bwMode="auto">
                <a:xfrm>
                  <a:off x="4079"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78" name="Line 787"/>
                <p:cNvSpPr>
                  <a:spLocks noChangeShapeType="1"/>
                </p:cNvSpPr>
                <p:nvPr/>
              </p:nvSpPr>
              <p:spPr bwMode="auto">
                <a:xfrm>
                  <a:off x="4084"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79" name="Line 788"/>
                <p:cNvSpPr>
                  <a:spLocks noChangeShapeType="1"/>
                </p:cNvSpPr>
                <p:nvPr/>
              </p:nvSpPr>
              <p:spPr bwMode="auto">
                <a:xfrm>
                  <a:off x="4084"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0" name="Line 789"/>
                <p:cNvSpPr>
                  <a:spLocks noChangeShapeType="1"/>
                </p:cNvSpPr>
                <p:nvPr/>
              </p:nvSpPr>
              <p:spPr bwMode="auto">
                <a:xfrm>
                  <a:off x="4088"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1" name="Line 790"/>
                <p:cNvSpPr>
                  <a:spLocks noChangeShapeType="1"/>
                </p:cNvSpPr>
                <p:nvPr/>
              </p:nvSpPr>
              <p:spPr bwMode="auto">
                <a:xfrm>
                  <a:off x="4092"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2" name="Freeform 791"/>
                <p:cNvSpPr>
                  <a:spLocks/>
                </p:cNvSpPr>
                <p:nvPr/>
              </p:nvSpPr>
              <p:spPr bwMode="auto">
                <a:xfrm>
                  <a:off x="4092"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83" name="Line 792"/>
                <p:cNvSpPr>
                  <a:spLocks noChangeShapeType="1"/>
                </p:cNvSpPr>
                <p:nvPr/>
              </p:nvSpPr>
              <p:spPr bwMode="auto">
                <a:xfrm>
                  <a:off x="4097"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4" name="Freeform 793"/>
                <p:cNvSpPr>
                  <a:spLocks/>
                </p:cNvSpPr>
                <p:nvPr/>
              </p:nvSpPr>
              <p:spPr bwMode="auto">
                <a:xfrm>
                  <a:off x="4097"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85" name="Line 794"/>
                <p:cNvSpPr>
                  <a:spLocks noChangeShapeType="1"/>
                </p:cNvSpPr>
                <p:nvPr/>
              </p:nvSpPr>
              <p:spPr bwMode="auto">
                <a:xfrm>
                  <a:off x="4101"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6" name="Line 795"/>
                <p:cNvSpPr>
                  <a:spLocks noChangeShapeType="1"/>
                </p:cNvSpPr>
                <p:nvPr/>
              </p:nvSpPr>
              <p:spPr bwMode="auto">
                <a:xfrm>
                  <a:off x="4101"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7" name="Line 796"/>
                <p:cNvSpPr>
                  <a:spLocks noChangeShapeType="1"/>
                </p:cNvSpPr>
                <p:nvPr/>
              </p:nvSpPr>
              <p:spPr bwMode="auto">
                <a:xfrm>
                  <a:off x="4105"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8" name="Line 797"/>
                <p:cNvSpPr>
                  <a:spLocks noChangeShapeType="1"/>
                </p:cNvSpPr>
                <p:nvPr/>
              </p:nvSpPr>
              <p:spPr bwMode="auto">
                <a:xfrm>
                  <a:off x="4110"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89" name="Freeform 798"/>
                <p:cNvSpPr>
                  <a:spLocks/>
                </p:cNvSpPr>
                <p:nvPr/>
              </p:nvSpPr>
              <p:spPr bwMode="auto">
                <a:xfrm>
                  <a:off x="411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90" name="Line 799"/>
                <p:cNvSpPr>
                  <a:spLocks noChangeShapeType="1"/>
                </p:cNvSpPr>
                <p:nvPr/>
              </p:nvSpPr>
              <p:spPr bwMode="auto">
                <a:xfrm>
                  <a:off x="4114"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1" name="Line 800"/>
                <p:cNvSpPr>
                  <a:spLocks noChangeShapeType="1"/>
                </p:cNvSpPr>
                <p:nvPr/>
              </p:nvSpPr>
              <p:spPr bwMode="auto">
                <a:xfrm>
                  <a:off x="4114"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2" name="Line 801"/>
                <p:cNvSpPr>
                  <a:spLocks noChangeShapeType="1"/>
                </p:cNvSpPr>
                <p:nvPr/>
              </p:nvSpPr>
              <p:spPr bwMode="auto">
                <a:xfrm>
                  <a:off x="4118"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3" name="Line 802"/>
                <p:cNvSpPr>
                  <a:spLocks noChangeShapeType="1"/>
                </p:cNvSpPr>
                <p:nvPr/>
              </p:nvSpPr>
              <p:spPr bwMode="auto">
                <a:xfrm>
                  <a:off x="4123"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4" name="Freeform 803"/>
                <p:cNvSpPr>
                  <a:spLocks/>
                </p:cNvSpPr>
                <p:nvPr/>
              </p:nvSpPr>
              <p:spPr bwMode="auto">
                <a:xfrm>
                  <a:off x="4123"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795" name="Line 804"/>
                <p:cNvSpPr>
                  <a:spLocks noChangeShapeType="1"/>
                </p:cNvSpPr>
                <p:nvPr/>
              </p:nvSpPr>
              <p:spPr bwMode="auto">
                <a:xfrm>
                  <a:off x="4127"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6" name="Line 805"/>
                <p:cNvSpPr>
                  <a:spLocks noChangeShapeType="1"/>
                </p:cNvSpPr>
                <p:nvPr/>
              </p:nvSpPr>
              <p:spPr bwMode="auto">
                <a:xfrm>
                  <a:off x="4127" y="1783"/>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7" name="Line 806"/>
                <p:cNvSpPr>
                  <a:spLocks noChangeShapeType="1"/>
                </p:cNvSpPr>
                <p:nvPr/>
              </p:nvSpPr>
              <p:spPr bwMode="auto">
                <a:xfrm>
                  <a:off x="4131"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8" name="Line 807"/>
                <p:cNvSpPr>
                  <a:spLocks noChangeShapeType="1"/>
                </p:cNvSpPr>
                <p:nvPr/>
              </p:nvSpPr>
              <p:spPr bwMode="auto">
                <a:xfrm>
                  <a:off x="4136"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799" name="Freeform 808"/>
                <p:cNvSpPr>
                  <a:spLocks/>
                </p:cNvSpPr>
                <p:nvPr/>
              </p:nvSpPr>
              <p:spPr bwMode="auto">
                <a:xfrm>
                  <a:off x="413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00" name="Line 809"/>
                <p:cNvSpPr>
                  <a:spLocks noChangeShapeType="1"/>
                </p:cNvSpPr>
                <p:nvPr/>
              </p:nvSpPr>
              <p:spPr bwMode="auto">
                <a:xfrm>
                  <a:off x="4140"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01" name="Freeform 810"/>
                <p:cNvSpPr>
                  <a:spLocks/>
                </p:cNvSpPr>
                <p:nvPr/>
              </p:nvSpPr>
              <p:spPr bwMode="auto">
                <a:xfrm>
                  <a:off x="414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802" name="Line 811"/>
                <p:cNvSpPr>
                  <a:spLocks noChangeShapeType="1"/>
                </p:cNvSpPr>
                <p:nvPr/>
              </p:nvSpPr>
              <p:spPr bwMode="auto">
                <a:xfrm>
                  <a:off x="4144" y="1783"/>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803" name="Line 812"/>
                <p:cNvSpPr>
                  <a:spLocks noChangeShapeType="1"/>
                </p:cNvSpPr>
                <p:nvPr/>
              </p:nvSpPr>
              <p:spPr bwMode="auto">
                <a:xfrm>
                  <a:off x="4144" y="1783"/>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6592" name="Line 813"/>
              <p:cNvSpPr>
                <a:spLocks noChangeShapeType="1"/>
              </p:cNvSpPr>
              <p:nvPr/>
            </p:nvSpPr>
            <p:spPr bwMode="auto">
              <a:xfrm>
                <a:off x="4149"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93" name="Line 814"/>
              <p:cNvSpPr>
                <a:spLocks noChangeShapeType="1"/>
              </p:cNvSpPr>
              <p:nvPr/>
            </p:nvSpPr>
            <p:spPr bwMode="auto">
              <a:xfrm>
                <a:off x="4153"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94" name="Freeform 815"/>
              <p:cNvSpPr>
                <a:spLocks/>
              </p:cNvSpPr>
              <p:nvPr/>
            </p:nvSpPr>
            <p:spPr bwMode="auto">
              <a:xfrm>
                <a:off x="4153"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595" name="Line 816"/>
              <p:cNvSpPr>
                <a:spLocks noChangeShapeType="1"/>
              </p:cNvSpPr>
              <p:nvPr/>
            </p:nvSpPr>
            <p:spPr bwMode="auto">
              <a:xfrm>
                <a:off x="4157"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96" name="Line 817"/>
              <p:cNvSpPr>
                <a:spLocks noChangeShapeType="1"/>
              </p:cNvSpPr>
              <p:nvPr/>
            </p:nvSpPr>
            <p:spPr bwMode="auto">
              <a:xfrm>
                <a:off x="4157" y="1787"/>
                <a:ext cx="5"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97" name="Line 818"/>
              <p:cNvSpPr>
                <a:spLocks noChangeShapeType="1"/>
              </p:cNvSpPr>
              <p:nvPr/>
            </p:nvSpPr>
            <p:spPr bwMode="auto">
              <a:xfrm>
                <a:off x="4162"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98" name="Line 819"/>
              <p:cNvSpPr>
                <a:spLocks noChangeShapeType="1"/>
              </p:cNvSpPr>
              <p:nvPr/>
            </p:nvSpPr>
            <p:spPr bwMode="auto">
              <a:xfrm>
                <a:off x="4166"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599" name="Freeform 820"/>
              <p:cNvSpPr>
                <a:spLocks/>
              </p:cNvSpPr>
              <p:nvPr/>
            </p:nvSpPr>
            <p:spPr bwMode="auto">
              <a:xfrm>
                <a:off x="4166"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3175">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600" name="Line 821"/>
              <p:cNvSpPr>
                <a:spLocks noChangeShapeType="1"/>
              </p:cNvSpPr>
              <p:nvPr/>
            </p:nvSpPr>
            <p:spPr bwMode="auto">
              <a:xfrm>
                <a:off x="4170"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1" name="Line 822"/>
              <p:cNvSpPr>
                <a:spLocks noChangeShapeType="1"/>
              </p:cNvSpPr>
              <p:nvPr/>
            </p:nvSpPr>
            <p:spPr bwMode="auto">
              <a:xfrm>
                <a:off x="4175" y="1787"/>
                <a:ext cx="0"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2" name="Line 823"/>
              <p:cNvSpPr>
                <a:spLocks noChangeShapeType="1"/>
              </p:cNvSpPr>
              <p:nvPr/>
            </p:nvSpPr>
            <p:spPr bwMode="auto">
              <a:xfrm>
                <a:off x="4175"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603" name="Line 824"/>
              <p:cNvSpPr>
                <a:spLocks noChangeShapeType="1"/>
              </p:cNvSpPr>
              <p:nvPr/>
            </p:nvSpPr>
            <p:spPr bwMode="auto">
              <a:xfrm>
                <a:off x="4179" y="1787"/>
                <a:ext cx="4" cy="0"/>
              </a:xfrm>
              <a:prstGeom prst="line">
                <a:avLst/>
              </a:prstGeom>
              <a:noFill/>
              <a:ln w="3175">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6399" name="Line 825"/>
            <p:cNvSpPr>
              <a:spLocks noChangeShapeType="1"/>
            </p:cNvSpPr>
            <p:nvPr/>
          </p:nvSpPr>
          <p:spPr bwMode="auto">
            <a:xfrm flipV="1">
              <a:off x="6125360" y="5078524"/>
              <a:ext cx="2485240" cy="874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aphicFrame>
        <p:nvGraphicFramePr>
          <p:cNvPr id="16400" name="Object 827"/>
          <p:cNvGraphicFramePr>
            <a:graphicFrameLocks noChangeAspect="1"/>
          </p:cNvGraphicFramePr>
          <p:nvPr>
            <p:extLst>
              <p:ext uri="{D42A27DB-BD31-4B8C-83A1-F6EECF244321}">
                <p14:modId xmlns:p14="http://schemas.microsoft.com/office/powerpoint/2010/main" val="3692536890"/>
              </p:ext>
            </p:extLst>
          </p:nvPr>
        </p:nvGraphicFramePr>
        <p:xfrm>
          <a:off x="7017739" y="4113935"/>
          <a:ext cx="219075" cy="238125"/>
        </p:xfrm>
        <a:graphic>
          <a:graphicData uri="http://schemas.openxmlformats.org/presentationml/2006/ole">
            <mc:AlternateContent xmlns:mc="http://schemas.openxmlformats.org/markup-compatibility/2006">
              <mc:Choice xmlns:v="urn:schemas-microsoft-com:vml" Requires="v">
                <p:oleObj name="Equation" r:id="rId9" imgW="177646" imgH="190335" progId="Equation.DSMT4">
                  <p:embed/>
                </p:oleObj>
              </mc:Choice>
              <mc:Fallback>
                <p:oleObj name="Equation" r:id="rId9" imgW="177646" imgH="190335" progId="Equation.DSMT4">
                  <p:embed/>
                  <p:pic>
                    <p:nvPicPr>
                      <p:cNvPr id="16400" name="Object 8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17739" y="4113935"/>
                        <a:ext cx="219075" cy="23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01" name="Object 828"/>
          <p:cNvGraphicFramePr>
            <a:graphicFrameLocks noChangeAspect="1"/>
          </p:cNvGraphicFramePr>
          <p:nvPr>
            <p:extLst>
              <p:ext uri="{D42A27DB-BD31-4B8C-83A1-F6EECF244321}">
                <p14:modId xmlns:p14="http://schemas.microsoft.com/office/powerpoint/2010/main" val="3554033108"/>
              </p:ext>
            </p:extLst>
          </p:nvPr>
        </p:nvGraphicFramePr>
        <p:xfrm>
          <a:off x="7644063" y="4764482"/>
          <a:ext cx="219075" cy="204788"/>
        </p:xfrm>
        <a:graphic>
          <a:graphicData uri="http://schemas.openxmlformats.org/presentationml/2006/ole">
            <mc:AlternateContent xmlns:mc="http://schemas.openxmlformats.org/markup-compatibility/2006">
              <mc:Choice xmlns:v="urn:schemas-microsoft-com:vml" Requires="v">
                <p:oleObj name="Equation" r:id="rId11" imgW="177492" imgH="164814" progId="Equation.DSMT4">
                  <p:embed/>
                </p:oleObj>
              </mc:Choice>
              <mc:Fallback>
                <p:oleObj name="Equation" r:id="rId11" imgW="177492" imgH="164814" progId="Equation.DSMT4">
                  <p:embed/>
                  <p:pic>
                    <p:nvPicPr>
                      <p:cNvPr id="16401" name="Object 8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44063" y="4764482"/>
                        <a:ext cx="219075" cy="204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3" name="Text Box 9"/>
          <p:cNvSpPr txBox="1">
            <a:spLocks noChangeArrowheads="1"/>
          </p:cNvSpPr>
          <p:nvPr/>
        </p:nvSpPr>
        <p:spPr bwMode="auto">
          <a:xfrm>
            <a:off x="228600" y="1958658"/>
            <a:ext cx="3552825" cy="492443"/>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180975" indent="-180975" eaLnBrk="1" hangingPunct="1">
              <a:defRPr/>
            </a:pPr>
            <a:r>
              <a:rPr lang="es-ES" altLang="es-ES" sz="1300" dirty="0">
                <a:latin typeface="+mj-lt"/>
              </a:rPr>
              <a:t>1. Si la variable es normal, la media también. ¿Con qué parámetros?</a:t>
            </a:r>
          </a:p>
        </p:txBody>
      </p:sp>
      <p:sp>
        <p:nvSpPr>
          <p:cNvPr id="822" name="CuadroTexto 821"/>
          <p:cNvSpPr txBox="1"/>
          <p:nvPr/>
        </p:nvSpPr>
        <p:spPr>
          <a:xfrm>
            <a:off x="460488" y="5654278"/>
            <a:ext cx="8150112" cy="646331"/>
          </a:xfrm>
          <a:prstGeom prst="rect">
            <a:avLst/>
          </a:prstGeom>
          <a:noFill/>
        </p:spPr>
        <p:txBody>
          <a:bodyPr wrap="square" rtlCol="0">
            <a:spAutoFit/>
          </a:bodyPr>
          <a:lstStyle/>
          <a:p>
            <a:pPr algn="just">
              <a:spcBef>
                <a:spcPts val="600"/>
              </a:spcBef>
            </a:pPr>
            <a:r>
              <a:rPr lang="es-ES" dirty="0"/>
              <a:t>Este resultado es muy importante. En inferencia, lo que más vamos a usar es la media. Si se puede considerar que la distribución de la media se adapta a un modelo normal, entonces se dispone de una herramienta muy potente. En breve </a:t>
            </a:r>
            <a:r>
              <a:rPr lang="es-ES" b="1" dirty="0"/>
              <a:t> </a:t>
            </a:r>
            <a:r>
              <a:rPr lang="es-ES" b="1" i="1" dirty="0"/>
              <a:t>toda inferencia basada en la normalidad es fácil de realizar</a:t>
            </a:r>
          </a:p>
        </p:txBody>
      </p:sp>
      <p:sp>
        <p:nvSpPr>
          <p:cNvPr id="824" name="AutoShape 44"/>
          <p:cNvSpPr>
            <a:spLocks noChangeArrowheads="1"/>
          </p:cNvSpPr>
          <p:nvPr/>
        </p:nvSpPr>
        <p:spPr bwMode="auto">
          <a:xfrm>
            <a:off x="252437" y="5562600"/>
            <a:ext cx="8510563" cy="798159"/>
          </a:xfrm>
          <a:prstGeom prst="roundRect">
            <a:avLst>
              <a:gd name="adj" fmla="val 369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sp>
        <p:nvSpPr>
          <p:cNvPr id="825" name="Text Box 7"/>
          <p:cNvSpPr txBox="1">
            <a:spLocks noChangeArrowheads="1"/>
          </p:cNvSpPr>
          <p:nvPr/>
        </p:nvSpPr>
        <p:spPr bwMode="auto">
          <a:xfrm>
            <a:off x="457646" y="2971800"/>
            <a:ext cx="8076753" cy="646331"/>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27013" indent="-22701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171450" indent="-171450" algn="just" eaLnBrk="1" hangingPunct="1">
              <a:buFont typeface="Arial" panose="020B0604020202020204" pitchFamily="34" charset="0"/>
              <a:buChar char="•"/>
            </a:pPr>
            <a:r>
              <a:rPr lang="es-ES" altLang="es-ES" dirty="0"/>
              <a:t>La media de las medias, es también la media poblacional,</a:t>
            </a:r>
            <a:r>
              <a:rPr lang="es-ES" altLang="es-ES" b="1" dirty="0"/>
              <a:t> la posición no cambia</a:t>
            </a:r>
          </a:p>
          <a:p>
            <a:pPr marL="171450" indent="-171450" algn="just" eaLnBrk="1" hangingPunct="1">
              <a:buFont typeface="Arial" panose="020B0604020202020204" pitchFamily="34" charset="0"/>
              <a:buChar char="•"/>
            </a:pPr>
            <a:r>
              <a:rPr lang="es-ES" altLang="es-ES" dirty="0"/>
              <a:t>La </a:t>
            </a:r>
            <a:r>
              <a:rPr lang="es-ES" altLang="es-ES" b="1" dirty="0"/>
              <a:t>dispersión</a:t>
            </a:r>
            <a:r>
              <a:rPr lang="es-ES" altLang="es-ES" dirty="0"/>
              <a:t> de la media se reduce en la medida en que el tamaño de muestra aumenta; la media gana </a:t>
            </a:r>
            <a:r>
              <a:rPr lang="es-ES" altLang="es-ES" b="1" i="1" dirty="0"/>
              <a:t>robustez</a:t>
            </a:r>
            <a:r>
              <a:rPr lang="es-ES" altLang="es-ES" dirty="0"/>
              <a:t>, ahora estamos viendo cómo lo hace</a:t>
            </a:r>
          </a:p>
        </p:txBody>
      </p:sp>
      <p:sp>
        <p:nvSpPr>
          <p:cNvPr id="826" name="4 Rectángulo"/>
          <p:cNvSpPr>
            <a:spLocks noChangeArrowheads="1"/>
          </p:cNvSpPr>
          <p:nvPr/>
        </p:nvSpPr>
        <p:spPr bwMode="auto">
          <a:xfrm>
            <a:off x="201161" y="86927"/>
            <a:ext cx="5596456"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La media muestral como VAC y su distribución</a:t>
            </a:r>
          </a:p>
        </p:txBody>
      </p:sp>
      <p:sp>
        <p:nvSpPr>
          <p:cNvPr id="827" name="4 Rectángulo"/>
          <p:cNvSpPr>
            <a:spLocks noChangeArrowheads="1"/>
          </p:cNvSpPr>
          <p:nvPr/>
        </p:nvSpPr>
        <p:spPr bwMode="auto">
          <a:xfrm>
            <a:off x="178484" y="414993"/>
            <a:ext cx="5596456"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1400" b="1" dirty="0"/>
              <a:t>Teorema del límite central</a:t>
            </a:r>
          </a:p>
        </p:txBody>
      </p:sp>
      <p:grpSp>
        <p:nvGrpSpPr>
          <p:cNvPr id="6" name="Grupo 5"/>
          <p:cNvGrpSpPr/>
          <p:nvPr/>
        </p:nvGrpSpPr>
        <p:grpSpPr>
          <a:xfrm>
            <a:off x="5943600" y="1371600"/>
            <a:ext cx="2743200" cy="1462026"/>
            <a:chOff x="5943600" y="1371600"/>
            <a:chExt cx="2743200" cy="1462026"/>
          </a:xfrm>
        </p:grpSpPr>
        <p:grpSp>
          <p:nvGrpSpPr>
            <p:cNvPr id="16393" name="Group 829"/>
            <p:cNvGrpSpPr>
              <a:grpSpLocks/>
            </p:cNvGrpSpPr>
            <p:nvPr/>
          </p:nvGrpSpPr>
          <p:grpSpPr bwMode="auto">
            <a:xfrm>
              <a:off x="5943600" y="1371600"/>
              <a:ext cx="2743200" cy="1462026"/>
              <a:chOff x="3984" y="1440"/>
              <a:chExt cx="1728" cy="975"/>
            </a:xfrm>
          </p:grpSpPr>
          <p:pic>
            <p:nvPicPr>
              <p:cNvPr id="17204" name="Picture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84" y="1440"/>
                <a:ext cx="1728" cy="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7205" name="Object 19"/>
              <p:cNvGraphicFramePr>
                <a:graphicFrameLocks noChangeAspect="1"/>
              </p:cNvGraphicFramePr>
              <p:nvPr>
                <p:extLst>
                  <p:ext uri="{D42A27DB-BD31-4B8C-83A1-F6EECF244321}">
                    <p14:modId xmlns:p14="http://schemas.microsoft.com/office/powerpoint/2010/main" val="193746835"/>
                  </p:ext>
                </p:extLst>
              </p:nvPr>
            </p:nvGraphicFramePr>
            <p:xfrm>
              <a:off x="4931" y="1544"/>
              <a:ext cx="138" cy="150"/>
            </p:xfrm>
            <a:graphic>
              <a:graphicData uri="http://schemas.openxmlformats.org/presentationml/2006/ole">
                <mc:AlternateContent xmlns:mc="http://schemas.openxmlformats.org/markup-compatibility/2006">
                  <mc:Choice xmlns:v="urn:schemas-microsoft-com:vml" Requires="v">
                    <p:oleObj name="Equation" r:id="rId14" imgW="177646" imgH="190335" progId="Equation.DSMT4">
                      <p:embed/>
                    </p:oleObj>
                  </mc:Choice>
                  <mc:Fallback>
                    <p:oleObj name="Equation" r:id="rId14" imgW="177646" imgH="190335" progId="Equation.DSMT4">
                      <p:embed/>
                      <p:pic>
                        <p:nvPicPr>
                          <p:cNvPr id="17205"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1" y="1544"/>
                            <a:ext cx="138" cy="150"/>
                          </a:xfrm>
                          <a:prstGeom prst="rect">
                            <a:avLst/>
                          </a:prstGeom>
                          <a:noFill/>
                          <a:ln>
                            <a:noFill/>
                          </a:ln>
                          <a:effectLst/>
                        </p:spPr>
                      </p:pic>
                    </p:oleObj>
                  </mc:Fallback>
                </mc:AlternateContent>
              </a:graphicData>
            </a:graphic>
          </p:graphicFrame>
          <p:graphicFrame>
            <p:nvGraphicFramePr>
              <p:cNvPr id="17206" name="Object 20"/>
              <p:cNvGraphicFramePr>
                <a:graphicFrameLocks noChangeAspect="1"/>
              </p:cNvGraphicFramePr>
              <p:nvPr/>
            </p:nvGraphicFramePr>
            <p:xfrm>
              <a:off x="5088" y="1920"/>
              <a:ext cx="138" cy="129"/>
            </p:xfrm>
            <a:graphic>
              <a:graphicData uri="http://schemas.openxmlformats.org/presentationml/2006/ole">
                <mc:AlternateContent xmlns:mc="http://schemas.openxmlformats.org/markup-compatibility/2006">
                  <mc:Choice xmlns:v="urn:schemas-microsoft-com:vml" Requires="v">
                    <p:oleObj name="Equation" r:id="rId15" imgW="177492" imgH="164814" progId="Equation.DSMT4">
                      <p:embed/>
                    </p:oleObj>
                  </mc:Choice>
                  <mc:Fallback>
                    <p:oleObj name="Equation" r:id="rId15" imgW="177492" imgH="164814" progId="Equation.DSMT4">
                      <p:embed/>
                      <p:pic>
                        <p:nvPicPr>
                          <p:cNvPr id="17206"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8" y="1920"/>
                            <a:ext cx="138"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5" name="Conector recto 4"/>
            <p:cNvCxnSpPr/>
            <p:nvPr/>
          </p:nvCxnSpPr>
          <p:spPr>
            <a:xfrm>
              <a:off x="5943600" y="2821594"/>
              <a:ext cx="274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28" name="CuadroTexto 827">
            <a:extLst>
              <a:ext uri="{FF2B5EF4-FFF2-40B4-BE49-F238E27FC236}">
                <a16:creationId xmlns:a16="http://schemas.microsoft.com/office/drawing/2014/main" id="{8979A694-205F-4244-8DD1-201B162E0A9C}"/>
              </a:ext>
            </a:extLst>
          </p:cNvPr>
          <p:cNvSpPr txBox="1"/>
          <p:nvPr/>
        </p:nvSpPr>
        <p:spPr>
          <a:xfrm rot="590582">
            <a:off x="7609102" y="402625"/>
            <a:ext cx="1180388" cy="276999"/>
          </a:xfrm>
          <a:prstGeom prst="rect">
            <a:avLst/>
          </a:prstGeom>
          <a:solidFill>
            <a:schemeClr val="bg1"/>
          </a:solidFill>
          <a:ln>
            <a:solidFill>
              <a:srgbClr val="FF0000"/>
            </a:solidFill>
          </a:ln>
        </p:spPr>
        <p:txBody>
          <a:bodyPr wrap="none" rtlCol="0">
            <a:spAutoFit/>
          </a:bodyPr>
          <a:lstStyle/>
          <a:p>
            <a:r>
              <a:rPr lang="es-ES" dirty="0">
                <a:solidFill>
                  <a:srgbClr val="C00000"/>
                </a:solidFill>
              </a:rPr>
              <a:t>IMPORTANTE</a:t>
            </a:r>
          </a:p>
        </p:txBody>
      </p:sp>
    </p:spTree>
    <p:extLst>
      <p:ext uri="{BB962C8B-B14F-4D97-AF65-F5344CB8AC3E}">
        <p14:creationId xmlns:p14="http://schemas.microsoft.com/office/powerpoint/2010/main" val="4219976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25" name="Rectangle 12"/>
          <p:cNvSpPr>
            <a:spLocks noChangeArrowheads="1"/>
          </p:cNvSpPr>
          <p:nvPr/>
        </p:nvSpPr>
        <p:spPr bwMode="auto">
          <a:xfrm>
            <a:off x="238125" y="3238500"/>
            <a:ext cx="8534400" cy="1047750"/>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1450" indent="-171450" eaLnBrk="0" hangingPunct="0">
              <a:tabLst>
                <a:tab pos="171450" algn="l"/>
              </a:tabLst>
              <a:defRPr>
                <a:solidFill>
                  <a:schemeClr val="tx1"/>
                </a:solidFill>
                <a:latin typeface="Arial" panose="020B0604020202020204" pitchFamily="34" charset="0"/>
              </a:defRPr>
            </a:lvl1pPr>
            <a:lvl2pPr marL="742950" indent="-285750" eaLnBrk="0" hangingPunct="0">
              <a:tabLst>
                <a:tab pos="171450" algn="l"/>
              </a:tabLst>
              <a:defRPr>
                <a:solidFill>
                  <a:schemeClr val="tx1"/>
                </a:solidFill>
                <a:latin typeface="Arial" panose="020B0604020202020204" pitchFamily="34" charset="0"/>
              </a:defRPr>
            </a:lvl2pPr>
            <a:lvl3pPr marL="1143000" indent="-228600" eaLnBrk="0" hangingPunct="0">
              <a:tabLst>
                <a:tab pos="171450" algn="l"/>
              </a:tabLst>
              <a:defRPr>
                <a:solidFill>
                  <a:schemeClr val="tx1"/>
                </a:solidFill>
                <a:latin typeface="Arial" panose="020B0604020202020204" pitchFamily="34" charset="0"/>
              </a:defRPr>
            </a:lvl3pPr>
            <a:lvl4pPr marL="1600200" indent="-228600" eaLnBrk="0" hangingPunct="0">
              <a:tabLst>
                <a:tab pos="171450" algn="l"/>
              </a:tabLst>
              <a:defRPr>
                <a:solidFill>
                  <a:schemeClr val="tx1"/>
                </a:solidFill>
                <a:latin typeface="Arial" panose="020B0604020202020204" pitchFamily="34" charset="0"/>
              </a:defRPr>
            </a:lvl4pPr>
            <a:lvl5pPr marL="2057400" indent="-228600" eaLnBrk="0" hangingPunct="0">
              <a:tabLst>
                <a:tab pos="17145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17145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17145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17145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algn="just" eaLnBrk="1" hangingPunct="1">
              <a:lnSpc>
                <a:spcPct val="150000"/>
              </a:lnSpc>
            </a:pPr>
            <a:r>
              <a:rPr lang="es-ES_tradnl" altLang="es-ES" sz="1300" dirty="0">
                <a:cs typeface="Times New Roman" panose="02020603050405020304" pitchFamily="18" charset="0"/>
              </a:rPr>
              <a:t>En general, las poblaciones son </a:t>
            </a:r>
            <a:r>
              <a:rPr lang="es-ES_tradnl" altLang="es-ES" sz="1300" b="1" dirty="0">
                <a:cs typeface="Times New Roman" panose="02020603050405020304" pitchFamily="18" charset="0"/>
              </a:rPr>
              <a:t>dinámicas</a:t>
            </a:r>
            <a:r>
              <a:rPr lang="es-ES_tradnl" altLang="es-ES" sz="1300" dirty="0">
                <a:cs typeface="Times New Roman" panose="02020603050405020304" pitchFamily="18" charset="0"/>
              </a:rPr>
              <a:t>:   </a:t>
            </a:r>
          </a:p>
          <a:p>
            <a:pPr algn="just" eaLnBrk="1" hangingPunct="1">
              <a:lnSpc>
                <a:spcPct val="110000"/>
              </a:lnSpc>
              <a:buFontTx/>
              <a:buChar char="-"/>
            </a:pPr>
            <a:r>
              <a:rPr lang="es-ES_tradnl" altLang="es-ES" sz="1300" dirty="0">
                <a:cs typeface="Times New Roman" panose="02020603050405020304" pitchFamily="18" charset="0"/>
              </a:rPr>
              <a:t>Hay individuos que se incorporan (inmigración, nacimiento)</a:t>
            </a:r>
          </a:p>
          <a:p>
            <a:pPr algn="just" eaLnBrk="1" hangingPunct="1">
              <a:lnSpc>
                <a:spcPct val="110000"/>
              </a:lnSpc>
              <a:buFontTx/>
              <a:buChar char="-"/>
            </a:pPr>
            <a:r>
              <a:rPr lang="es-ES_tradnl" altLang="es-ES" sz="1300" dirty="0">
                <a:cs typeface="Times New Roman" panose="02020603050405020304" pitchFamily="18" charset="0"/>
              </a:rPr>
              <a:t>Hay individuos que desaparecen de ella (emigración, muerte)</a:t>
            </a:r>
          </a:p>
          <a:p>
            <a:pPr algn="just" eaLnBrk="1" hangingPunct="1">
              <a:lnSpc>
                <a:spcPct val="110000"/>
              </a:lnSpc>
              <a:buFontTx/>
              <a:buChar char="-"/>
            </a:pPr>
            <a:r>
              <a:rPr lang="es-ES" altLang="es-ES" sz="1300" dirty="0">
                <a:cs typeface="Times New Roman" panose="02020603050405020304" pitchFamily="18" charset="0"/>
              </a:rPr>
              <a:t>Hay individuos que cambian su estatus (pueden dejar de verificar las condiciones de inclusión o exclusión)</a:t>
            </a:r>
            <a:endParaRPr lang="es-ES_tradnl" altLang="es-ES" sz="1300" dirty="0">
              <a:cs typeface="Times New Roman" panose="02020603050405020304" pitchFamily="18" charset="0"/>
            </a:endParaRPr>
          </a:p>
        </p:txBody>
      </p:sp>
      <p:sp>
        <p:nvSpPr>
          <p:cNvPr id="24580" name="Rectangle 9"/>
          <p:cNvSpPr>
            <a:spLocks noChangeArrowheads="1"/>
          </p:cNvSpPr>
          <p:nvPr/>
        </p:nvSpPr>
        <p:spPr bwMode="auto">
          <a:xfrm>
            <a:off x="239713" y="809625"/>
            <a:ext cx="6618288" cy="1569660"/>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300" b="1" dirty="0">
                <a:cs typeface="Times New Roman" panose="02020603050405020304" pitchFamily="18" charset="0"/>
              </a:rPr>
              <a:t>Población</a:t>
            </a:r>
            <a:r>
              <a:rPr lang="es-ES_tradnl" altLang="es-ES" sz="1300" dirty="0">
                <a:cs typeface="Times New Roman" panose="02020603050405020304" pitchFamily="18" charset="0"/>
              </a:rPr>
              <a:t>: </a:t>
            </a:r>
            <a:r>
              <a:rPr lang="es-ES_tradnl" altLang="es-ES" sz="1300" dirty="0">
                <a:solidFill>
                  <a:srgbClr val="FF0000"/>
                </a:solidFill>
                <a:cs typeface="Times New Roman" panose="02020603050405020304" pitchFamily="18" charset="0"/>
              </a:rPr>
              <a:t>Conjunto de </a:t>
            </a:r>
            <a:r>
              <a:rPr lang="es-ES_tradnl" altLang="es-ES" sz="1300" i="1" dirty="0">
                <a:solidFill>
                  <a:srgbClr val="FF0000"/>
                </a:solidFill>
                <a:cs typeface="Times New Roman" panose="02020603050405020304" pitchFamily="18" charset="0"/>
              </a:rPr>
              <a:t>individuos</a:t>
            </a:r>
            <a:r>
              <a:rPr lang="es-ES_tradnl" altLang="es-ES" sz="1300" dirty="0">
                <a:solidFill>
                  <a:srgbClr val="FF0000"/>
                </a:solidFill>
                <a:cs typeface="Times New Roman" panose="02020603050405020304" pitchFamily="18" charset="0"/>
              </a:rPr>
              <a:t> -o </a:t>
            </a:r>
            <a:r>
              <a:rPr lang="es-ES" altLang="es-ES" sz="1300" dirty="0">
                <a:solidFill>
                  <a:srgbClr val="FF0000"/>
                </a:solidFill>
                <a:cs typeface="Times New Roman" panose="02020603050405020304" pitchFamily="18" charset="0"/>
              </a:rPr>
              <a:t>más genéricamente </a:t>
            </a:r>
            <a:r>
              <a:rPr lang="es-ES" altLang="es-ES" sz="1300" i="1" dirty="0">
                <a:solidFill>
                  <a:srgbClr val="FF0000"/>
                </a:solidFill>
                <a:cs typeface="Times New Roman" panose="02020603050405020304" pitchFamily="18" charset="0"/>
              </a:rPr>
              <a:t>unidades-</a:t>
            </a:r>
            <a:r>
              <a:rPr lang="es-ES" altLang="es-ES" sz="1300" dirty="0">
                <a:solidFill>
                  <a:srgbClr val="FF0000"/>
                </a:solidFill>
                <a:cs typeface="Times New Roman" panose="02020603050405020304" pitchFamily="18" charset="0"/>
              </a:rPr>
              <a:t> </a:t>
            </a:r>
            <a:r>
              <a:rPr lang="es-ES_tradnl" altLang="es-ES" sz="1300" dirty="0">
                <a:solidFill>
                  <a:srgbClr val="FF0000"/>
                </a:solidFill>
                <a:cs typeface="Times New Roman" panose="02020603050405020304" pitchFamily="18" charset="0"/>
              </a:rPr>
              <a:t>sobre los que se desea hacer alguna afirmación (el objeto de nuestro estudio).</a:t>
            </a:r>
          </a:p>
          <a:p>
            <a:pPr algn="just" eaLnBrk="1" hangingPunct="1">
              <a:spcBef>
                <a:spcPts val="600"/>
              </a:spcBef>
            </a:pPr>
            <a:r>
              <a:rPr lang="es-ES_tradnl" altLang="es-ES" sz="1300" dirty="0">
                <a:cs typeface="Times New Roman" panose="02020603050405020304" pitchFamily="18" charset="0"/>
              </a:rPr>
              <a:t>La población objetivo del estudio debe </a:t>
            </a:r>
            <a:r>
              <a:rPr lang="es-ES_tradnl" altLang="es-ES" sz="1300" b="1" dirty="0">
                <a:cs typeface="Times New Roman" panose="02020603050405020304" pitchFamily="18" charset="0"/>
              </a:rPr>
              <a:t>definirse</a:t>
            </a:r>
            <a:r>
              <a:rPr lang="es-ES_tradnl" altLang="es-ES" sz="1300" dirty="0">
                <a:cs typeface="Times New Roman" panose="02020603050405020304" pitchFamily="18" charset="0"/>
              </a:rPr>
              <a:t> mediante</a:t>
            </a:r>
          </a:p>
          <a:p>
            <a:pPr marL="266700" lvl="1" indent="-266700" algn="just" eaLnBrk="1" hangingPunct="1">
              <a:buFont typeface="Arial" panose="020B0604020202020204" pitchFamily="34" charset="0"/>
              <a:buChar char="•"/>
            </a:pPr>
            <a:r>
              <a:rPr lang="es-ES_tradnl" altLang="es-ES" sz="1300" dirty="0">
                <a:cs typeface="Times New Roman" panose="02020603050405020304" pitchFamily="18" charset="0"/>
              </a:rPr>
              <a:t>Condiciones de </a:t>
            </a:r>
            <a:r>
              <a:rPr lang="es-ES_tradnl" altLang="es-ES" sz="1300" b="1" i="1" dirty="0">
                <a:cs typeface="Times New Roman" panose="02020603050405020304" pitchFamily="18" charset="0"/>
              </a:rPr>
              <a:t>inclusión</a:t>
            </a:r>
            <a:r>
              <a:rPr lang="es-ES_tradnl" altLang="es-ES" sz="1300" dirty="0">
                <a:cs typeface="Times New Roman" panose="02020603050405020304" pitchFamily="18" charset="0"/>
              </a:rPr>
              <a:t>: qué requisitos se deben cumplir los sujetos para pertenecer a la misma </a:t>
            </a:r>
            <a:r>
              <a:rPr lang="es-ES_tradnl" altLang="es-ES" sz="1300" dirty="0">
                <a:solidFill>
                  <a:srgbClr val="35747B"/>
                </a:solidFill>
                <a:cs typeface="Times New Roman" panose="02020603050405020304" pitchFamily="18" charset="0"/>
              </a:rPr>
              <a:t>Ej. Personas de ambos sexos con edad superior a 80 años </a:t>
            </a:r>
            <a:endParaRPr lang="es-ES_tradnl" altLang="es-ES" sz="1300" b="1" dirty="0">
              <a:solidFill>
                <a:srgbClr val="35747B"/>
              </a:solidFill>
              <a:cs typeface="Times New Roman" panose="02020603050405020304" pitchFamily="18" charset="0"/>
            </a:endParaRPr>
          </a:p>
          <a:p>
            <a:pPr marL="266700" indent="-266700" algn="just" eaLnBrk="1" hangingPunct="1">
              <a:buFont typeface="Arial" panose="020B0604020202020204" pitchFamily="34" charset="0"/>
              <a:buChar char="•"/>
            </a:pPr>
            <a:r>
              <a:rPr lang="es-ES_tradnl" altLang="es-ES" sz="1300" dirty="0">
                <a:cs typeface="Times New Roman" panose="02020603050405020304" pitchFamily="18" charset="0"/>
              </a:rPr>
              <a:t>Condiciones de </a:t>
            </a:r>
            <a:r>
              <a:rPr lang="es-ES_tradnl" altLang="es-ES" sz="1300" b="1" i="1" dirty="0">
                <a:cs typeface="Times New Roman" panose="02020603050405020304" pitchFamily="18" charset="0"/>
              </a:rPr>
              <a:t>exclusión</a:t>
            </a:r>
            <a:r>
              <a:rPr lang="es-ES_tradnl" altLang="es-ES" sz="1300" b="1" dirty="0">
                <a:cs typeface="Times New Roman" panose="02020603050405020304" pitchFamily="18" charset="0"/>
              </a:rPr>
              <a:t>:</a:t>
            </a:r>
            <a:r>
              <a:rPr lang="es-ES_tradnl" altLang="es-ES" sz="1300" dirty="0">
                <a:cs typeface="Times New Roman" panose="02020603050405020304" pitchFamily="18" charset="0"/>
              </a:rPr>
              <a:t> Características que no se deben cumplir</a:t>
            </a:r>
            <a:r>
              <a:rPr lang="es-ES_tradnl" altLang="es-ES" sz="1300" b="1" dirty="0">
                <a:cs typeface="Times New Roman" panose="02020603050405020304" pitchFamily="18" charset="0"/>
              </a:rPr>
              <a:t>. </a:t>
            </a:r>
            <a:r>
              <a:rPr lang="es-ES_tradnl" altLang="es-ES" sz="1300" dirty="0">
                <a:solidFill>
                  <a:srgbClr val="35747B"/>
                </a:solidFill>
                <a:cs typeface="Times New Roman" panose="02020603050405020304" pitchFamily="18" charset="0"/>
              </a:rPr>
              <a:t>Ej. Padecer algún tipo de traumatismo </a:t>
            </a:r>
            <a:r>
              <a:rPr lang="es-ES_tradnl" altLang="es-ES" sz="1300" dirty="0" err="1">
                <a:solidFill>
                  <a:srgbClr val="35747B"/>
                </a:solidFill>
                <a:cs typeface="Times New Roman" panose="02020603050405020304" pitchFamily="18" charset="0"/>
              </a:rPr>
              <a:t>discapacitante</a:t>
            </a:r>
            <a:endParaRPr lang="es-ES_tradnl" altLang="es-ES" sz="1300" dirty="0">
              <a:solidFill>
                <a:srgbClr val="35747B"/>
              </a:solidFill>
              <a:cs typeface="Times New Roman" panose="02020603050405020304" pitchFamily="18" charset="0"/>
            </a:endParaRPr>
          </a:p>
        </p:txBody>
      </p:sp>
      <p:sp>
        <p:nvSpPr>
          <p:cNvPr id="24582" name="Rectangle 11"/>
          <p:cNvSpPr>
            <a:spLocks noChangeArrowheads="1"/>
          </p:cNvSpPr>
          <p:nvPr/>
        </p:nvSpPr>
        <p:spPr bwMode="auto">
          <a:xfrm>
            <a:off x="239712" y="2489012"/>
            <a:ext cx="443071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40000"/>
              </a:lnSpc>
            </a:pPr>
            <a:r>
              <a:rPr lang="es-ES_tradnl" altLang="es-ES" sz="1400" b="1" dirty="0"/>
              <a:t>Las poblaciones, en su totalidad, son inaccesibles</a:t>
            </a:r>
          </a:p>
        </p:txBody>
      </p:sp>
      <p:sp>
        <p:nvSpPr>
          <p:cNvPr id="24583" name="Rectangle 12"/>
          <p:cNvSpPr>
            <a:spLocks noChangeArrowheads="1"/>
          </p:cNvSpPr>
          <p:nvPr/>
        </p:nvSpPr>
        <p:spPr bwMode="auto">
          <a:xfrm>
            <a:off x="228600" y="2838450"/>
            <a:ext cx="8534400" cy="530225"/>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10000"/>
              </a:lnSpc>
            </a:pPr>
            <a:r>
              <a:rPr lang="es-ES_tradnl" altLang="es-ES" sz="1300" dirty="0">
                <a:cs typeface="Times New Roman" panose="02020603050405020304" pitchFamily="18" charset="0"/>
              </a:rPr>
              <a:t>El concepto de población implica la connotación de </a:t>
            </a:r>
            <a:r>
              <a:rPr lang="es-ES_tradnl" altLang="es-ES" sz="1300" b="1" i="1" dirty="0">
                <a:cs typeface="Times New Roman" panose="02020603050405020304" pitchFamily="18" charset="0"/>
              </a:rPr>
              <a:t>gran</a:t>
            </a:r>
            <a:r>
              <a:rPr lang="es-ES_tradnl" altLang="es-ES" sz="1300" i="1" dirty="0">
                <a:cs typeface="Times New Roman" panose="02020603050405020304" pitchFamily="18" charset="0"/>
              </a:rPr>
              <a:t> </a:t>
            </a:r>
            <a:r>
              <a:rPr lang="es-ES_tradnl" altLang="es-ES" sz="1300" b="1" i="1" dirty="0">
                <a:cs typeface="Times New Roman" panose="02020603050405020304" pitchFamily="18" charset="0"/>
              </a:rPr>
              <a:t>tamaño</a:t>
            </a:r>
            <a:r>
              <a:rPr lang="es-ES_tradnl" altLang="es-ES" sz="1300" dirty="0">
                <a:cs typeface="Times New Roman" panose="02020603050405020304" pitchFamily="18" charset="0"/>
              </a:rPr>
              <a:t> lo que supone un gran esfuerzo estudiarlas en su totalidad (imposibilidad física y económica)</a:t>
            </a:r>
          </a:p>
        </p:txBody>
      </p:sp>
      <p:sp>
        <p:nvSpPr>
          <p:cNvPr id="24584" name="Rectangle 13"/>
          <p:cNvSpPr>
            <a:spLocks noChangeArrowheads="1"/>
          </p:cNvSpPr>
          <p:nvPr/>
        </p:nvSpPr>
        <p:spPr bwMode="auto">
          <a:xfrm>
            <a:off x="287338" y="4921250"/>
            <a:ext cx="85344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300" dirty="0"/>
              <a:t>Las poblaciones suelen caracterizarse en términos de determinados </a:t>
            </a:r>
            <a:r>
              <a:rPr lang="es-ES_tradnl" altLang="es-ES" sz="1300" b="1" dirty="0"/>
              <a:t>parámetros</a:t>
            </a:r>
            <a:r>
              <a:rPr lang="es-ES_tradnl" altLang="es-ES" sz="1300" dirty="0"/>
              <a:t>,</a:t>
            </a:r>
            <a:r>
              <a:rPr lang="es-ES_tradnl" altLang="es-ES" sz="1300" b="1" i="1" dirty="0"/>
              <a:t> </a:t>
            </a:r>
            <a:r>
              <a:rPr lang="es-ES_tradnl" altLang="es-ES" sz="1300" dirty="0"/>
              <a:t>en función de ellos será posible responder a determinadas preguntas</a:t>
            </a:r>
          </a:p>
        </p:txBody>
      </p:sp>
      <p:grpSp>
        <p:nvGrpSpPr>
          <p:cNvPr id="24624" name="Group 48"/>
          <p:cNvGrpSpPr>
            <a:grpSpLocks/>
          </p:cNvGrpSpPr>
          <p:nvPr/>
        </p:nvGrpSpPr>
        <p:grpSpPr bwMode="auto">
          <a:xfrm>
            <a:off x="6407943" y="2518381"/>
            <a:ext cx="2438400" cy="312737"/>
            <a:chOff x="3936" y="1091"/>
            <a:chExt cx="1536" cy="197"/>
          </a:xfrm>
        </p:grpSpPr>
        <p:sp>
          <p:nvSpPr>
            <p:cNvPr id="24602" name="Rectangle 15"/>
            <p:cNvSpPr>
              <a:spLocks noChangeArrowheads="1"/>
            </p:cNvSpPr>
            <p:nvPr/>
          </p:nvSpPr>
          <p:spPr bwMode="auto">
            <a:xfrm>
              <a:off x="3936" y="1100"/>
              <a:ext cx="1536"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pPr>
              <a:r>
                <a:rPr lang="es-ES_tradnl" altLang="es-ES" sz="1400" dirty="0"/>
                <a:t>¿Cómo estudiarlas?</a:t>
              </a:r>
            </a:p>
          </p:txBody>
        </p:sp>
        <p:sp>
          <p:nvSpPr>
            <p:cNvPr id="24603" name="AutoShape 17"/>
            <p:cNvSpPr>
              <a:spLocks noChangeArrowheads="1"/>
            </p:cNvSpPr>
            <p:nvPr/>
          </p:nvSpPr>
          <p:spPr bwMode="auto">
            <a:xfrm>
              <a:off x="3984" y="1091"/>
              <a:ext cx="1440" cy="197"/>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grpSp>
      <p:grpSp>
        <p:nvGrpSpPr>
          <p:cNvPr id="24626" name="Group 50"/>
          <p:cNvGrpSpPr>
            <a:grpSpLocks/>
          </p:cNvGrpSpPr>
          <p:nvPr/>
        </p:nvGrpSpPr>
        <p:grpSpPr bwMode="auto">
          <a:xfrm>
            <a:off x="6305549" y="4486275"/>
            <a:ext cx="2643188" cy="381000"/>
            <a:chOff x="3775" y="2016"/>
            <a:chExt cx="1665" cy="240"/>
          </a:xfrm>
        </p:grpSpPr>
        <p:sp>
          <p:nvSpPr>
            <p:cNvPr id="24600" name="Rectangle 21"/>
            <p:cNvSpPr>
              <a:spLocks noChangeArrowheads="1"/>
            </p:cNvSpPr>
            <p:nvPr/>
          </p:nvSpPr>
          <p:spPr bwMode="auto">
            <a:xfrm>
              <a:off x="3792" y="2046"/>
              <a:ext cx="163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pPr>
              <a:r>
                <a:rPr lang="es-ES_tradnl" altLang="es-ES" sz="1400" dirty="0"/>
                <a:t>¿Cómo caracterizarlas?</a:t>
              </a:r>
            </a:p>
          </p:txBody>
        </p:sp>
        <p:sp>
          <p:nvSpPr>
            <p:cNvPr id="24601" name="AutoShape 22"/>
            <p:cNvSpPr>
              <a:spLocks noChangeArrowheads="1"/>
            </p:cNvSpPr>
            <p:nvPr/>
          </p:nvSpPr>
          <p:spPr bwMode="auto">
            <a:xfrm>
              <a:off x="3775" y="2016"/>
              <a:ext cx="1665" cy="240"/>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grpSp>
      <p:grpSp>
        <p:nvGrpSpPr>
          <p:cNvPr id="24644" name="Group 68"/>
          <p:cNvGrpSpPr>
            <a:grpSpLocks/>
          </p:cNvGrpSpPr>
          <p:nvPr/>
        </p:nvGrpSpPr>
        <p:grpSpPr bwMode="auto">
          <a:xfrm>
            <a:off x="7270749" y="3243075"/>
            <a:ext cx="1146176" cy="637380"/>
            <a:chOff x="4750" y="432"/>
            <a:chExt cx="770" cy="528"/>
          </a:xfrm>
        </p:grpSpPr>
        <p:pic>
          <p:nvPicPr>
            <p:cNvPr id="24607" name="Picture 44" descr="SNAGHTMLb4ee0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750" y="432"/>
              <a:ext cx="686" cy="528"/>
            </a:xfrm>
            <a:prstGeom prst="rect">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pic>
        <p:pic>
          <p:nvPicPr>
            <p:cNvPr id="24609" name="Picture 49" descr="SNAGHTMLb8708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994" y="510"/>
              <a:ext cx="19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11" name="Picture 51" descr="SNAGHTMLb8708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993" y="557"/>
              <a:ext cx="2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616" name="Group 40"/>
            <p:cNvGrpSpPr>
              <a:grpSpLocks/>
            </p:cNvGrpSpPr>
            <p:nvPr/>
          </p:nvGrpSpPr>
          <p:grpSpPr bwMode="auto">
            <a:xfrm>
              <a:off x="5322" y="576"/>
              <a:ext cx="198" cy="96"/>
              <a:chOff x="4986" y="624"/>
              <a:chExt cx="198" cy="96"/>
            </a:xfrm>
          </p:grpSpPr>
          <p:sp>
            <p:nvSpPr>
              <p:cNvPr id="24613" name="Line 37"/>
              <p:cNvSpPr>
                <a:spLocks noChangeShapeType="1"/>
              </p:cNvSpPr>
              <p:nvPr/>
            </p:nvSpPr>
            <p:spPr bwMode="auto">
              <a:xfrm flipV="1">
                <a:off x="4992" y="624"/>
                <a:ext cx="19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4614" name="Line 38"/>
              <p:cNvSpPr>
                <a:spLocks noChangeShapeType="1"/>
              </p:cNvSpPr>
              <p:nvPr/>
            </p:nvSpPr>
            <p:spPr bwMode="auto">
              <a:xfrm flipH="1">
                <a:off x="4986" y="672"/>
                <a:ext cx="19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4615" name="Arc 39"/>
            <p:cNvSpPr>
              <a:spLocks/>
            </p:cNvSpPr>
            <p:nvPr/>
          </p:nvSpPr>
          <p:spPr bwMode="auto">
            <a:xfrm flipH="1">
              <a:off x="5044" y="672"/>
              <a:ext cx="99" cy="144"/>
            </a:xfrm>
            <a:custGeom>
              <a:avLst/>
              <a:gdLst>
                <a:gd name="G0" fmla="+- 21600 0 0"/>
                <a:gd name="G1" fmla="+- 21600 0 0"/>
                <a:gd name="G2" fmla="+- 21600 0 0"/>
                <a:gd name="T0" fmla="*/ 3628 w 43200"/>
                <a:gd name="T1" fmla="*/ 9618 h 43200"/>
                <a:gd name="T2" fmla="*/ 103 w 43200"/>
                <a:gd name="T3" fmla="*/ 19490 h 43200"/>
                <a:gd name="T4" fmla="*/ 21600 w 43200"/>
                <a:gd name="T5" fmla="*/ 21600 h 43200"/>
              </a:gdLst>
              <a:ahLst/>
              <a:cxnLst>
                <a:cxn ang="0">
                  <a:pos x="T0" y="T1"/>
                </a:cxn>
                <a:cxn ang="0">
                  <a:pos x="T2" y="T3"/>
                </a:cxn>
                <a:cxn ang="0">
                  <a:pos x="T4" y="T5"/>
                </a:cxn>
              </a:cxnLst>
              <a:rect l="0" t="0" r="r" b="b"/>
              <a:pathLst>
                <a:path w="43200" h="43200" fill="none" extrusionOk="0">
                  <a:moveTo>
                    <a:pt x="3628" y="9618"/>
                  </a:moveTo>
                  <a:cubicBezTo>
                    <a:pt x="7634" y="3609"/>
                    <a:pt x="14378" y="0"/>
                    <a:pt x="21600" y="0"/>
                  </a:cubicBezTo>
                  <a:cubicBezTo>
                    <a:pt x="33529" y="0"/>
                    <a:pt x="43200" y="9670"/>
                    <a:pt x="43200" y="21600"/>
                  </a:cubicBezTo>
                  <a:cubicBezTo>
                    <a:pt x="43200" y="33529"/>
                    <a:pt x="33529" y="43200"/>
                    <a:pt x="21600" y="43200"/>
                  </a:cubicBezTo>
                  <a:cubicBezTo>
                    <a:pt x="9670" y="43200"/>
                    <a:pt x="0" y="33529"/>
                    <a:pt x="0" y="21600"/>
                  </a:cubicBezTo>
                  <a:cubicBezTo>
                    <a:pt x="0" y="20895"/>
                    <a:pt x="34" y="20191"/>
                    <a:pt x="103" y="19490"/>
                  </a:cubicBezTo>
                </a:path>
                <a:path w="43200" h="43200" stroke="0" extrusionOk="0">
                  <a:moveTo>
                    <a:pt x="3628" y="9618"/>
                  </a:moveTo>
                  <a:cubicBezTo>
                    <a:pt x="7634" y="3609"/>
                    <a:pt x="14378" y="0"/>
                    <a:pt x="21600" y="0"/>
                  </a:cubicBezTo>
                  <a:cubicBezTo>
                    <a:pt x="33529" y="0"/>
                    <a:pt x="43200" y="9670"/>
                    <a:pt x="43200" y="21600"/>
                  </a:cubicBezTo>
                  <a:cubicBezTo>
                    <a:pt x="43200" y="33529"/>
                    <a:pt x="33529" y="43200"/>
                    <a:pt x="21600" y="43200"/>
                  </a:cubicBezTo>
                  <a:cubicBezTo>
                    <a:pt x="9670" y="43200"/>
                    <a:pt x="0" y="33529"/>
                    <a:pt x="0" y="21600"/>
                  </a:cubicBezTo>
                  <a:cubicBezTo>
                    <a:pt x="0" y="20895"/>
                    <a:pt x="34" y="20191"/>
                    <a:pt x="103" y="19490"/>
                  </a:cubicBezTo>
                  <a:lnTo>
                    <a:pt x="2160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aphicFrame>
          <p:nvGraphicFramePr>
            <p:cNvPr id="24621" name="1 Objeto"/>
            <p:cNvGraphicFramePr>
              <a:graphicFrameLocks noChangeAspect="1"/>
            </p:cNvGraphicFramePr>
            <p:nvPr/>
          </p:nvGraphicFramePr>
          <p:xfrm>
            <a:off x="4894" y="432"/>
            <a:ext cx="398" cy="144"/>
          </p:xfrm>
          <a:graphic>
            <a:graphicData uri="http://schemas.openxmlformats.org/presentationml/2006/ole">
              <mc:AlternateContent xmlns:mc="http://schemas.openxmlformats.org/markup-compatibility/2006">
                <mc:Choice xmlns:v="urn:schemas-microsoft-com:vml" Requires="v">
                  <p:oleObj name="Equation" r:id="rId5" imgW="495000" imgH="177480" progId="Equation.DSMT4">
                    <p:embed/>
                  </p:oleObj>
                </mc:Choice>
                <mc:Fallback>
                  <p:oleObj name="Equation" r:id="rId5" imgW="495000" imgH="177480" progId="Equation.DSMT4">
                    <p:embed/>
                    <p:pic>
                      <p:nvPicPr>
                        <p:cNvPr id="24621"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4" y="432"/>
                          <a:ext cx="398" cy="144"/>
                        </a:xfrm>
                        <a:prstGeom prst="rect">
                          <a:avLst/>
                        </a:prstGeom>
                        <a:noFill/>
                        <a:ln>
                          <a:noFill/>
                        </a:ln>
                        <a:effectLst/>
                        <a:extLst>
                          <a:ext uri="{909E8E84-426E-40DD-AFC4-6F175D3DCCD1}">
                            <a14:hiddenFill xmlns:a14="http://schemas.microsoft.com/office/drawing/2010/main">
                              <a:solidFill>
                                <a:srgbClr val="BFDAEB">
                                  <a:alpha val="5300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4633" name="Group 57"/>
          <p:cNvGrpSpPr>
            <a:grpSpLocks/>
          </p:cNvGrpSpPr>
          <p:nvPr/>
        </p:nvGrpSpPr>
        <p:grpSpPr bwMode="auto">
          <a:xfrm>
            <a:off x="1143000" y="5410200"/>
            <a:ext cx="6210300" cy="1295400"/>
            <a:chOff x="720" y="3072"/>
            <a:chExt cx="3912" cy="816"/>
          </a:xfrm>
        </p:grpSpPr>
        <p:sp>
          <p:nvSpPr>
            <p:cNvPr id="24592" name="Rectangle 14"/>
            <p:cNvSpPr>
              <a:spLocks noChangeArrowheads="1"/>
            </p:cNvSpPr>
            <p:nvPr/>
          </p:nvSpPr>
          <p:spPr bwMode="auto">
            <a:xfrm>
              <a:off x="807" y="3268"/>
              <a:ext cx="3738" cy="572"/>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3946525" algn="l"/>
                </a:tabLst>
                <a:defRPr>
                  <a:solidFill>
                    <a:schemeClr val="tx1"/>
                  </a:solidFill>
                  <a:latin typeface="Arial" panose="020B0604020202020204" pitchFamily="34" charset="0"/>
                </a:defRPr>
              </a:lvl1pPr>
              <a:lvl2pPr marL="742950" indent="-285750" eaLnBrk="0" hangingPunct="0">
                <a:tabLst>
                  <a:tab pos="3946525" algn="l"/>
                </a:tabLst>
                <a:defRPr>
                  <a:solidFill>
                    <a:schemeClr val="tx1"/>
                  </a:solidFill>
                  <a:latin typeface="Arial" panose="020B0604020202020204" pitchFamily="34" charset="0"/>
                </a:defRPr>
              </a:lvl2pPr>
              <a:lvl3pPr marL="1143000" indent="-228600" eaLnBrk="0" hangingPunct="0">
                <a:tabLst>
                  <a:tab pos="3946525" algn="l"/>
                </a:tabLst>
                <a:defRPr>
                  <a:solidFill>
                    <a:schemeClr val="tx1"/>
                  </a:solidFill>
                  <a:latin typeface="Arial" panose="020B0604020202020204" pitchFamily="34" charset="0"/>
                </a:defRPr>
              </a:lvl3pPr>
              <a:lvl4pPr marL="1600200" indent="-228600" eaLnBrk="0" hangingPunct="0">
                <a:tabLst>
                  <a:tab pos="3946525" algn="l"/>
                </a:tabLst>
                <a:defRPr>
                  <a:solidFill>
                    <a:schemeClr val="tx1"/>
                  </a:solidFill>
                  <a:latin typeface="Arial" panose="020B0604020202020204" pitchFamily="34" charset="0"/>
                </a:defRPr>
              </a:lvl4pPr>
              <a:lvl5pPr marL="2057400" indent="-228600" eaLnBrk="0" hangingPunct="0">
                <a:tabLst>
                  <a:tab pos="3946525"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3946525"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3946525"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3946525"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3946525" algn="l"/>
                </a:tabLst>
                <a:defRPr>
                  <a:solidFill>
                    <a:schemeClr val="tx1"/>
                  </a:solidFill>
                  <a:latin typeface="Arial" panose="020B0604020202020204" pitchFamily="34" charset="0"/>
                </a:defRPr>
              </a:lvl9pPr>
            </a:lstStyle>
            <a:p>
              <a:pPr algn="just" eaLnBrk="1" hangingPunct="1">
                <a:lnSpc>
                  <a:spcPct val="110000"/>
                </a:lnSpc>
              </a:pPr>
              <a:r>
                <a:rPr lang="es-ES_tradnl" altLang="es-ES" sz="1300" dirty="0">
                  <a:solidFill>
                    <a:srgbClr val="2A5B60"/>
                  </a:solidFill>
                  <a:cs typeface="Times New Roman" panose="02020603050405020304" pitchFamily="18" charset="0"/>
                </a:rPr>
                <a:t>Pregunta 	Parámetro de interés</a:t>
              </a:r>
            </a:p>
            <a:p>
              <a:pPr algn="just" eaLnBrk="1" hangingPunct="1">
                <a:lnSpc>
                  <a:spcPct val="150000"/>
                </a:lnSpc>
              </a:pPr>
              <a:r>
                <a:rPr lang="es-ES_tradnl" altLang="es-ES" sz="1300" dirty="0">
                  <a:solidFill>
                    <a:srgbClr val="2A5B60"/>
                  </a:solidFill>
                  <a:cs typeface="Times New Roman" panose="02020603050405020304" pitchFamily="18" charset="0"/>
                </a:rPr>
                <a:t>¿Es la población infantil más obesa? 	← </a:t>
              </a:r>
              <a:r>
                <a:rPr lang="es-ES_tradnl" altLang="es-ES" sz="1300" b="1" dirty="0">
                  <a:solidFill>
                    <a:srgbClr val="2A5B60"/>
                  </a:solidFill>
                  <a:cs typeface="Times New Roman" panose="02020603050405020304" pitchFamily="18" charset="0"/>
                </a:rPr>
                <a:t>Media</a:t>
              </a:r>
              <a:r>
                <a:rPr lang="es-ES_tradnl" altLang="es-ES" sz="1300" dirty="0">
                  <a:solidFill>
                    <a:srgbClr val="2A5B60"/>
                  </a:solidFill>
                  <a:cs typeface="Times New Roman" panose="02020603050405020304" pitchFamily="18" charset="0"/>
                </a:rPr>
                <a:t> del IMC</a:t>
              </a:r>
            </a:p>
            <a:p>
              <a:pPr algn="just" eaLnBrk="1" hangingPunct="1">
                <a:lnSpc>
                  <a:spcPct val="150000"/>
                </a:lnSpc>
              </a:pPr>
              <a:r>
                <a:rPr lang="es-ES_tradnl" altLang="es-ES" sz="1300" dirty="0">
                  <a:solidFill>
                    <a:srgbClr val="2A5B60"/>
                  </a:solidFill>
                  <a:cs typeface="Times New Roman" panose="02020603050405020304" pitchFamily="18" charset="0"/>
                </a:rPr>
                <a:t>¿Ha disminuido el número de seropositivos del VIH? 	← </a:t>
              </a:r>
              <a:r>
                <a:rPr lang="es-ES_tradnl" altLang="es-ES" sz="1300" b="1" dirty="0">
                  <a:solidFill>
                    <a:srgbClr val="2A5B60"/>
                  </a:solidFill>
                  <a:cs typeface="Times New Roman" panose="02020603050405020304" pitchFamily="18" charset="0"/>
                </a:rPr>
                <a:t>Prevalencia</a:t>
              </a:r>
              <a:r>
                <a:rPr lang="es-ES_tradnl" altLang="es-ES" sz="1300" dirty="0">
                  <a:solidFill>
                    <a:srgbClr val="2A5B60"/>
                  </a:solidFill>
                  <a:cs typeface="Times New Roman" panose="02020603050405020304" pitchFamily="18" charset="0"/>
                </a:rPr>
                <a:t> del VIH</a:t>
              </a:r>
            </a:p>
          </p:txBody>
        </p:sp>
        <p:sp>
          <p:nvSpPr>
            <p:cNvPr id="24591" name="AutoShape 38"/>
            <p:cNvSpPr>
              <a:spLocks noChangeArrowheads="1"/>
            </p:cNvSpPr>
            <p:nvPr/>
          </p:nvSpPr>
          <p:spPr bwMode="auto">
            <a:xfrm>
              <a:off x="720" y="3168"/>
              <a:ext cx="3912" cy="720"/>
            </a:xfrm>
            <a:prstGeom prst="roundRect">
              <a:avLst>
                <a:gd name="adj" fmla="val 5991"/>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300"/>
            </a:p>
          </p:txBody>
        </p:sp>
        <p:sp>
          <p:nvSpPr>
            <p:cNvPr id="24632" name="Text Box 56"/>
            <p:cNvSpPr txBox="1">
              <a:spLocks noChangeArrowheads="1"/>
            </p:cNvSpPr>
            <p:nvPr/>
          </p:nvSpPr>
          <p:spPr bwMode="auto">
            <a:xfrm>
              <a:off x="810" y="3072"/>
              <a:ext cx="528" cy="1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_tradnl" altLang="es-ES" sz="1300" dirty="0">
                  <a:solidFill>
                    <a:schemeClr val="accent1">
                      <a:lumMod val="25000"/>
                    </a:schemeClr>
                  </a:solidFill>
                </a:rPr>
                <a:t>Ejemplo</a:t>
              </a:r>
              <a:endParaRPr lang="es-ES" altLang="es-ES" sz="1300" dirty="0">
                <a:solidFill>
                  <a:schemeClr val="accent1">
                    <a:lumMod val="25000"/>
                  </a:schemeClr>
                </a:solidFill>
              </a:endParaRPr>
            </a:p>
          </p:txBody>
        </p:sp>
      </p:grpSp>
      <p:sp>
        <p:nvSpPr>
          <p:cNvPr id="24634" name="Rectangle 11"/>
          <p:cNvSpPr>
            <a:spLocks noChangeArrowheads="1"/>
          </p:cNvSpPr>
          <p:nvPr/>
        </p:nvSpPr>
        <p:spPr bwMode="auto">
          <a:xfrm>
            <a:off x="287338" y="4495800"/>
            <a:ext cx="550386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40000"/>
              </a:lnSpc>
            </a:pPr>
            <a:r>
              <a:rPr lang="es-ES_tradnl" altLang="es-ES" sz="1400" b="1"/>
              <a:t>Las poblaciones, en su totalidad, son </a:t>
            </a:r>
            <a:r>
              <a:rPr lang="es-ES" altLang="es-ES" sz="1400" b="1"/>
              <a:t>difícilmente descriptibles</a:t>
            </a:r>
            <a:endParaRPr lang="es-ES_tradnl" altLang="es-ES" sz="1400" b="1"/>
          </a:p>
        </p:txBody>
      </p:sp>
      <p:sp>
        <p:nvSpPr>
          <p:cNvPr id="24645" name="Rectangle 2"/>
          <p:cNvSpPr>
            <a:spLocks noChangeArrowheads="1"/>
          </p:cNvSpPr>
          <p:nvPr/>
        </p:nvSpPr>
        <p:spPr bwMode="auto">
          <a:xfrm>
            <a:off x="152400" y="192665"/>
            <a:ext cx="4415289"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600" b="1" dirty="0">
                <a:cs typeface="Times New Roman" panose="02020603050405020304" pitchFamily="18" charset="0"/>
              </a:rPr>
              <a:t>Inferencia Estadística. Población y mu</a:t>
            </a:r>
            <a:r>
              <a:rPr lang="es-ES" altLang="es-ES" sz="1600" b="1" dirty="0" err="1">
                <a:cs typeface="Times New Roman" panose="02020603050405020304" pitchFamily="18" charset="0"/>
              </a:rPr>
              <a:t>estra</a:t>
            </a:r>
            <a:endParaRPr lang="es-ES" altLang="es-ES" sz="1600" b="1" dirty="0">
              <a:cs typeface="Times New Roman" panose="02020603050405020304" pitchFamily="18" charset="0"/>
            </a:endParaRPr>
          </a:p>
        </p:txBody>
      </p:sp>
      <p:grpSp>
        <p:nvGrpSpPr>
          <p:cNvPr id="29" name="Group 48"/>
          <p:cNvGrpSpPr>
            <a:grpSpLocks/>
          </p:cNvGrpSpPr>
          <p:nvPr/>
        </p:nvGrpSpPr>
        <p:grpSpPr bwMode="auto">
          <a:xfrm>
            <a:off x="6558756" y="1165831"/>
            <a:ext cx="2136775" cy="312737"/>
            <a:chOff x="3936" y="1091"/>
            <a:chExt cx="1536" cy="197"/>
          </a:xfrm>
        </p:grpSpPr>
        <p:sp>
          <p:nvSpPr>
            <p:cNvPr id="30" name="Rectangle 15"/>
            <p:cNvSpPr>
              <a:spLocks noChangeArrowheads="1"/>
            </p:cNvSpPr>
            <p:nvPr/>
          </p:nvSpPr>
          <p:spPr bwMode="auto">
            <a:xfrm>
              <a:off x="3936" y="1100"/>
              <a:ext cx="1536"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pPr>
              <a:r>
                <a:rPr lang="es-ES_tradnl" altLang="es-ES" sz="1400" dirty="0"/>
                <a:t>¿Cómo definirlas?</a:t>
              </a:r>
            </a:p>
          </p:txBody>
        </p:sp>
        <p:sp>
          <p:nvSpPr>
            <p:cNvPr id="31" name="AutoShape 17"/>
            <p:cNvSpPr>
              <a:spLocks noChangeArrowheads="1"/>
            </p:cNvSpPr>
            <p:nvPr/>
          </p:nvSpPr>
          <p:spPr bwMode="auto">
            <a:xfrm>
              <a:off x="3984" y="1091"/>
              <a:ext cx="1440" cy="197"/>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grpSp>
    </p:spTree>
    <p:extLst>
      <p:ext uri="{BB962C8B-B14F-4D97-AF65-F5344CB8AC3E}">
        <p14:creationId xmlns:p14="http://schemas.microsoft.com/office/powerpoint/2010/main" val="1023703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152400" y="5257800"/>
            <a:ext cx="8763000" cy="1252651"/>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10000"/>
              </a:lnSpc>
            </a:pPr>
            <a:r>
              <a:rPr lang="es-ES_tradnl" altLang="es-ES" sz="1300" dirty="0">
                <a:cs typeface="Times New Roman" panose="02020603050405020304" pitchFamily="18" charset="0"/>
              </a:rPr>
              <a:t>La muestra debe estar bien escogida, debe </a:t>
            </a:r>
            <a:r>
              <a:rPr lang="es-ES_tradnl" altLang="es-ES" sz="1300" b="1" dirty="0">
                <a:solidFill>
                  <a:srgbClr val="FF0000"/>
                </a:solidFill>
                <a:cs typeface="Times New Roman" panose="02020603050405020304" pitchFamily="18" charset="0"/>
              </a:rPr>
              <a:t>representar</a:t>
            </a:r>
            <a:r>
              <a:rPr lang="es-ES_tradnl" altLang="es-ES" sz="1300" dirty="0">
                <a:cs typeface="Times New Roman" panose="02020603050405020304" pitchFamily="18" charset="0"/>
              </a:rPr>
              <a:t> a toda la </a:t>
            </a:r>
            <a:r>
              <a:rPr lang="es-ES_tradnl" altLang="es-ES" sz="1300" b="1" i="1" dirty="0">
                <a:cs typeface="Times New Roman" panose="02020603050405020304" pitchFamily="18" charset="0"/>
              </a:rPr>
              <a:t>población</a:t>
            </a:r>
            <a:r>
              <a:rPr lang="es-ES_tradnl" altLang="es-ES" sz="1300" dirty="0">
                <a:cs typeface="Times New Roman" panose="02020603050405020304" pitchFamily="18" charset="0"/>
              </a:rPr>
              <a:t> </a:t>
            </a:r>
            <a:r>
              <a:rPr lang="es-ES_tradnl" altLang="es-ES" sz="1300" b="1" i="1" dirty="0">
                <a:cs typeface="Times New Roman" panose="02020603050405020304" pitchFamily="18" charset="0"/>
              </a:rPr>
              <a:t>objetivo</a:t>
            </a:r>
            <a:r>
              <a:rPr lang="es-ES_tradnl" altLang="es-ES" sz="1300" dirty="0">
                <a:cs typeface="Times New Roman" panose="02020603050405020304" pitchFamily="18" charset="0"/>
              </a:rPr>
              <a:t> de forma que sea una imagen lo más fiel posible de la misma. </a:t>
            </a:r>
          </a:p>
          <a:p>
            <a:pPr algn="just" eaLnBrk="1" hangingPunct="1">
              <a:lnSpc>
                <a:spcPct val="30000"/>
              </a:lnSpc>
            </a:pPr>
            <a:endParaRPr lang="es-ES_tradnl" altLang="es-ES" sz="1300" dirty="0">
              <a:cs typeface="Times New Roman" panose="02020603050405020304" pitchFamily="18" charset="0"/>
            </a:endParaRPr>
          </a:p>
          <a:p>
            <a:pPr algn="just" eaLnBrk="1" hangingPunct="1">
              <a:lnSpc>
                <a:spcPct val="30000"/>
              </a:lnSpc>
            </a:pPr>
            <a:endParaRPr lang="es-ES_tradnl" altLang="es-ES" sz="1300" dirty="0">
              <a:cs typeface="Times New Roman" panose="02020603050405020304" pitchFamily="18" charset="0"/>
            </a:endParaRPr>
          </a:p>
          <a:p>
            <a:pPr algn="just" eaLnBrk="1" hangingPunct="1"/>
            <a:r>
              <a:rPr lang="es-ES_tradnl" altLang="es-ES" sz="1300" dirty="0">
                <a:cs typeface="Times New Roman" panose="02020603050405020304" pitchFamily="18" charset="0"/>
              </a:rPr>
              <a:t>El </a:t>
            </a:r>
            <a:r>
              <a:rPr lang="es-ES_tradnl" altLang="es-ES" sz="1300" b="1" dirty="0">
                <a:cs typeface="Times New Roman" panose="02020603050405020304" pitchFamily="18" charset="0"/>
              </a:rPr>
              <a:t>tamaño de la muestra NO</a:t>
            </a:r>
            <a:r>
              <a:rPr lang="es-ES_tradnl" altLang="es-ES" sz="1300" dirty="0">
                <a:cs typeface="Times New Roman" panose="02020603050405020304" pitchFamily="18" charset="0"/>
              </a:rPr>
              <a:t> garantiza su representatividad. Lo que si es cierto es que una muestra mayor tendrá más contenido informativo que una muestra pequeña. Un aspecto fundamental en lo que sigue es conocer qué aspectos están condicionados por el </a:t>
            </a:r>
            <a:r>
              <a:rPr lang="es-ES_tradnl" altLang="es-ES" sz="1300" dirty="0" err="1">
                <a:cs typeface="Times New Roman" panose="02020603050405020304" pitchFamily="18" charset="0"/>
              </a:rPr>
              <a:t>tam</a:t>
            </a:r>
            <a:r>
              <a:rPr lang="es-ES" altLang="es-ES" sz="1300" dirty="0">
                <a:cs typeface="Times New Roman" panose="02020603050405020304" pitchFamily="18" charset="0"/>
              </a:rPr>
              <a:t>año muestral.</a:t>
            </a:r>
            <a:r>
              <a:rPr lang="es-ES_tradnl" altLang="es-ES" sz="1300" dirty="0">
                <a:cs typeface="Times New Roman" panose="02020603050405020304" pitchFamily="18" charset="0"/>
              </a:rPr>
              <a:t> </a:t>
            </a:r>
          </a:p>
        </p:txBody>
      </p:sp>
      <p:sp>
        <p:nvSpPr>
          <p:cNvPr id="25603" name="Rectangle 5"/>
          <p:cNvSpPr>
            <a:spLocks noChangeArrowheads="1"/>
          </p:cNvSpPr>
          <p:nvPr/>
        </p:nvSpPr>
        <p:spPr bwMode="auto">
          <a:xfrm>
            <a:off x="152400" y="852487"/>
            <a:ext cx="8763000" cy="29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dirty="0">
                <a:cs typeface="Times New Roman" panose="02020603050405020304" pitchFamily="18" charset="0"/>
              </a:rPr>
              <a:t>Ante la imposibilidad de estudiar a toda la población, se debe considerar un subconjunto</a:t>
            </a:r>
            <a:r>
              <a:rPr lang="es-ES" altLang="es-ES" sz="1300" dirty="0">
                <a:cs typeface="Times New Roman" panose="02020603050405020304" pitchFamily="18" charset="0"/>
              </a:rPr>
              <a:t> de ella:</a:t>
            </a:r>
            <a:r>
              <a:rPr lang="es-ES_tradnl" altLang="es-ES" sz="1300" dirty="0">
                <a:cs typeface="Times New Roman" panose="02020603050405020304" pitchFamily="18" charset="0"/>
              </a:rPr>
              <a:t> una </a:t>
            </a:r>
            <a:r>
              <a:rPr lang="es-ES_tradnl" altLang="es-ES" sz="1300" b="1" dirty="0">
                <a:cs typeface="Times New Roman" panose="02020603050405020304" pitchFamily="18" charset="0"/>
              </a:rPr>
              <a:t>muestra</a:t>
            </a:r>
          </a:p>
        </p:txBody>
      </p:sp>
      <p:sp>
        <p:nvSpPr>
          <p:cNvPr id="25617" name="Rectangle 5"/>
          <p:cNvSpPr>
            <a:spLocks noChangeArrowheads="1"/>
          </p:cNvSpPr>
          <p:nvPr/>
        </p:nvSpPr>
        <p:spPr bwMode="auto">
          <a:xfrm>
            <a:off x="152400" y="1752600"/>
            <a:ext cx="87630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300" dirty="0">
                <a:cs typeface="Times New Roman" panose="02020603050405020304" pitchFamily="18" charset="0"/>
              </a:rPr>
              <a:t>El cálculo de probabilidades y los modelos de distribución de probabilidad </a:t>
            </a:r>
            <a:r>
              <a:rPr lang="es-ES" altLang="es-ES" sz="1300" dirty="0">
                <a:cs typeface="Times New Roman" panose="02020603050405020304" pitchFamily="18" charset="0"/>
              </a:rPr>
              <a:t>constituyen una herramienta fundamental para poder realizar la inferencia. A menudo hay que establecer determinados </a:t>
            </a:r>
            <a:r>
              <a:rPr lang="es-ES" altLang="es-ES" sz="1300" b="1" dirty="0">
                <a:cs typeface="Times New Roman" panose="02020603050405020304" pitchFamily="18" charset="0"/>
              </a:rPr>
              <a:t>supuestos</a:t>
            </a:r>
            <a:r>
              <a:rPr lang="es-ES" altLang="es-ES" sz="1300" dirty="0">
                <a:cs typeface="Times New Roman" panose="02020603050405020304" pitchFamily="18" charset="0"/>
              </a:rPr>
              <a:t> acerca de cómo se distribuye la variable estudiada en la población</a:t>
            </a:r>
            <a:endParaRPr lang="es-ES_tradnl" altLang="es-ES" sz="1300" dirty="0">
              <a:cs typeface="Times New Roman" panose="02020603050405020304" pitchFamily="18" charset="0"/>
            </a:endParaRPr>
          </a:p>
        </p:txBody>
      </p:sp>
      <p:grpSp>
        <p:nvGrpSpPr>
          <p:cNvPr id="25623" name="Group 23"/>
          <p:cNvGrpSpPr>
            <a:grpSpLocks/>
          </p:cNvGrpSpPr>
          <p:nvPr/>
        </p:nvGrpSpPr>
        <p:grpSpPr bwMode="auto">
          <a:xfrm>
            <a:off x="1143000" y="2590800"/>
            <a:ext cx="6553200" cy="2281238"/>
            <a:chOff x="720" y="2688"/>
            <a:chExt cx="4128" cy="1437"/>
          </a:xfrm>
        </p:grpSpPr>
        <p:grpSp>
          <p:nvGrpSpPr>
            <p:cNvPr id="25616" name="Group 16"/>
            <p:cNvGrpSpPr>
              <a:grpSpLocks/>
            </p:cNvGrpSpPr>
            <p:nvPr/>
          </p:nvGrpSpPr>
          <p:grpSpPr bwMode="auto">
            <a:xfrm>
              <a:off x="720" y="2928"/>
              <a:ext cx="4128" cy="1197"/>
              <a:chOff x="384" y="528"/>
              <a:chExt cx="4128" cy="1197"/>
            </a:xfrm>
          </p:grpSpPr>
          <p:pic>
            <p:nvPicPr>
              <p:cNvPr id="25613"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2" y="576"/>
                <a:ext cx="1200" cy="1056"/>
              </a:xfrm>
              <a:prstGeom prst="rect">
                <a:avLst/>
              </a:prstGeom>
              <a:noFill/>
              <a:ln w="9525">
                <a:solidFill>
                  <a:srgbClr val="8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4" y="528"/>
                <a:ext cx="1281" cy="1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1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8" y="528"/>
                <a:ext cx="1344" cy="1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5618" name="Text Box 18"/>
            <p:cNvSpPr txBox="1">
              <a:spLocks noChangeArrowheads="1"/>
            </p:cNvSpPr>
            <p:nvPr/>
          </p:nvSpPr>
          <p:spPr bwMode="auto">
            <a:xfrm>
              <a:off x="816" y="2750"/>
              <a:ext cx="11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ES_tradnl" altLang="es-ES" sz="1200"/>
                <a:t>Muestra</a:t>
              </a:r>
              <a:endParaRPr lang="es-ES" altLang="es-ES" sz="1200"/>
            </a:p>
          </p:txBody>
        </p:sp>
        <p:sp>
          <p:nvSpPr>
            <p:cNvPr id="25619" name="Text Box 19"/>
            <p:cNvSpPr txBox="1">
              <a:spLocks noChangeArrowheads="1"/>
            </p:cNvSpPr>
            <p:nvPr/>
          </p:nvSpPr>
          <p:spPr bwMode="auto">
            <a:xfrm>
              <a:off x="3648" y="2750"/>
              <a:ext cx="11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ES_tradnl" altLang="es-ES" sz="1200"/>
                <a:t>¿Población?</a:t>
              </a:r>
              <a:endParaRPr lang="es-ES" altLang="es-ES" sz="1200"/>
            </a:p>
          </p:txBody>
        </p:sp>
        <p:sp>
          <p:nvSpPr>
            <p:cNvPr id="25620" name="Text Box 20"/>
            <p:cNvSpPr txBox="1">
              <a:spLocks noChangeArrowheads="1"/>
            </p:cNvSpPr>
            <p:nvPr/>
          </p:nvSpPr>
          <p:spPr bwMode="auto">
            <a:xfrm>
              <a:off x="2208" y="2688"/>
              <a:ext cx="11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s-ES_tradnl" altLang="es-ES" sz="1200"/>
                <a:t>Supuestos sobre la distribución</a:t>
              </a:r>
              <a:endParaRPr lang="es-ES" altLang="es-ES" sz="1200"/>
            </a:p>
          </p:txBody>
        </p:sp>
        <p:sp>
          <p:nvSpPr>
            <p:cNvPr id="25621" name="Line 21"/>
            <p:cNvSpPr>
              <a:spLocks noChangeShapeType="1"/>
            </p:cNvSpPr>
            <p:nvPr/>
          </p:nvSpPr>
          <p:spPr bwMode="auto">
            <a:xfrm>
              <a:off x="1776" y="2862"/>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5622" name="Line 22"/>
            <p:cNvSpPr>
              <a:spLocks noChangeShapeType="1"/>
            </p:cNvSpPr>
            <p:nvPr/>
          </p:nvSpPr>
          <p:spPr bwMode="auto">
            <a:xfrm>
              <a:off x="3408" y="2862"/>
              <a:ext cx="3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25624" name="Rectangle 5"/>
          <p:cNvSpPr>
            <a:spLocks noChangeArrowheads="1"/>
          </p:cNvSpPr>
          <p:nvPr/>
        </p:nvSpPr>
        <p:spPr bwMode="auto">
          <a:xfrm>
            <a:off x="152400" y="1187450"/>
            <a:ext cx="87630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300" dirty="0">
                <a:cs typeface="Times New Roman" panose="02020603050405020304" pitchFamily="18" charset="0"/>
              </a:rPr>
              <a:t>Para </a:t>
            </a:r>
            <a:r>
              <a:rPr lang="es-ES" altLang="es-ES" sz="1300" dirty="0">
                <a:cs typeface="Times New Roman" panose="02020603050405020304" pitchFamily="18" charset="0"/>
              </a:rPr>
              <a:t>generalizar (extrapolar) a toda la población la información suministrada por la muestra obtenida a partir de ella es necesaria una forma de </a:t>
            </a:r>
            <a:r>
              <a:rPr lang="es-ES" altLang="es-ES" sz="1300" b="1" dirty="0">
                <a:solidFill>
                  <a:srgbClr val="FF0000"/>
                </a:solidFill>
                <a:cs typeface="Times New Roman" panose="02020603050405020304" pitchFamily="18" charset="0"/>
              </a:rPr>
              <a:t>razonamiento inductivo</a:t>
            </a:r>
            <a:r>
              <a:rPr lang="es-ES" altLang="es-ES" sz="1300" dirty="0">
                <a:cs typeface="Times New Roman" panose="02020603050405020304" pitchFamily="18" charset="0"/>
              </a:rPr>
              <a:t>: la </a:t>
            </a:r>
            <a:r>
              <a:rPr lang="es-ES" altLang="es-ES" sz="1300" b="1" dirty="0">
                <a:solidFill>
                  <a:srgbClr val="B00000"/>
                </a:solidFill>
                <a:cs typeface="Times New Roman" panose="02020603050405020304" pitchFamily="18" charset="0"/>
              </a:rPr>
              <a:t>inferencia estadística</a:t>
            </a:r>
            <a:endParaRPr lang="es-ES_tradnl" altLang="es-ES" sz="1300" b="1" dirty="0">
              <a:solidFill>
                <a:srgbClr val="B00000"/>
              </a:solidFill>
              <a:cs typeface="Times New Roman" panose="02020603050405020304" pitchFamily="18" charset="0"/>
            </a:endParaRPr>
          </a:p>
        </p:txBody>
      </p:sp>
      <p:sp>
        <p:nvSpPr>
          <p:cNvPr id="25626" name="Rectangle 2"/>
          <p:cNvSpPr>
            <a:spLocks noChangeArrowheads="1"/>
          </p:cNvSpPr>
          <p:nvPr/>
        </p:nvSpPr>
        <p:spPr bwMode="auto">
          <a:xfrm>
            <a:off x="157576" y="67322"/>
            <a:ext cx="3870268"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Inferencia Estadística. Población y </a:t>
            </a:r>
            <a:r>
              <a:rPr lang="es-ES" altLang="es-ES" sz="1400" b="1" dirty="0">
                <a:cs typeface="Times New Roman" panose="02020603050405020304" pitchFamily="18" charset="0"/>
              </a:rPr>
              <a:t>muestra</a:t>
            </a:r>
          </a:p>
        </p:txBody>
      </p:sp>
      <p:sp>
        <p:nvSpPr>
          <p:cNvPr id="17" name="Rectangle 2"/>
          <p:cNvSpPr>
            <a:spLocks noChangeArrowheads="1"/>
          </p:cNvSpPr>
          <p:nvPr/>
        </p:nvSpPr>
        <p:spPr bwMode="auto">
          <a:xfrm>
            <a:off x="152400" y="356355"/>
            <a:ext cx="1271800" cy="371513"/>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 altLang="es-ES" sz="1800" b="1" dirty="0">
                <a:solidFill>
                  <a:srgbClr val="FF0000"/>
                </a:solidFill>
                <a:cs typeface="Times New Roman" panose="02020603050405020304" pitchFamily="18" charset="0"/>
              </a:rPr>
              <a:t>Inferencia</a:t>
            </a:r>
          </a:p>
        </p:txBody>
      </p:sp>
    </p:spTree>
    <p:extLst>
      <p:ext uri="{BB962C8B-B14F-4D97-AF65-F5344CB8AC3E}">
        <p14:creationId xmlns:p14="http://schemas.microsoft.com/office/powerpoint/2010/main" val="3461767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4"/>
          <p:cNvSpPr>
            <a:spLocks noChangeArrowheads="1"/>
          </p:cNvSpPr>
          <p:nvPr/>
        </p:nvSpPr>
        <p:spPr bwMode="auto">
          <a:xfrm>
            <a:off x="228600" y="2819400"/>
            <a:ext cx="8534400" cy="814711"/>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27013" indent="-227013" eaLnBrk="0" hangingPunct="0">
              <a:defRPr>
                <a:solidFill>
                  <a:schemeClr val="tx1"/>
                </a:solidFill>
                <a:latin typeface="Arial" panose="020B0604020202020204" pitchFamily="34" charset="0"/>
              </a:defRPr>
            </a:lvl1pPr>
            <a:lvl2pPr marL="969963" indent="-457200" eaLnBrk="0" hangingPunct="0">
              <a:defRPr>
                <a:solidFill>
                  <a:schemeClr val="tx1"/>
                </a:solidFill>
                <a:latin typeface="Arial" panose="020B0604020202020204" pitchFamily="34" charset="0"/>
              </a:defRPr>
            </a:lvl2pPr>
            <a:lvl3pPr marL="1541463" indent="-457200" eaLnBrk="0" hangingPunct="0">
              <a:defRPr>
                <a:solidFill>
                  <a:schemeClr val="tx1"/>
                </a:solidFill>
                <a:latin typeface="Arial" panose="020B0604020202020204" pitchFamily="34" charset="0"/>
              </a:defRPr>
            </a:lvl3pPr>
            <a:lvl4pPr marL="2112963" indent="-457200" eaLnBrk="0" hangingPunct="0">
              <a:defRPr>
                <a:solidFill>
                  <a:schemeClr val="tx1"/>
                </a:solidFill>
                <a:latin typeface="Arial" panose="020B0604020202020204" pitchFamily="34" charset="0"/>
              </a:defRPr>
            </a:lvl4pPr>
            <a:lvl5pPr marL="2684463" indent="-457200" eaLnBrk="0" hangingPunct="0">
              <a:defRPr>
                <a:solidFill>
                  <a:schemeClr val="tx1"/>
                </a:solidFill>
                <a:latin typeface="Arial" panose="020B0604020202020204" pitchFamily="34" charset="0"/>
              </a:defRPr>
            </a:lvl5pPr>
            <a:lvl6pPr marL="3141663" indent="-457200" eaLnBrk="0" fontAlgn="base" hangingPunct="0">
              <a:spcBef>
                <a:spcPct val="0"/>
              </a:spcBef>
              <a:spcAft>
                <a:spcPct val="0"/>
              </a:spcAft>
              <a:defRPr>
                <a:solidFill>
                  <a:schemeClr val="tx1"/>
                </a:solidFill>
                <a:latin typeface="Arial" panose="020B0604020202020204" pitchFamily="34" charset="0"/>
              </a:defRPr>
            </a:lvl6pPr>
            <a:lvl7pPr marL="3598863" indent="-457200" eaLnBrk="0" fontAlgn="base" hangingPunct="0">
              <a:spcBef>
                <a:spcPct val="0"/>
              </a:spcBef>
              <a:spcAft>
                <a:spcPct val="0"/>
              </a:spcAft>
              <a:defRPr>
                <a:solidFill>
                  <a:schemeClr val="tx1"/>
                </a:solidFill>
                <a:latin typeface="Arial" panose="020B0604020202020204" pitchFamily="34" charset="0"/>
              </a:defRPr>
            </a:lvl7pPr>
            <a:lvl8pPr marL="4056063" indent="-457200" eaLnBrk="0" fontAlgn="base" hangingPunct="0">
              <a:spcBef>
                <a:spcPct val="0"/>
              </a:spcBef>
              <a:spcAft>
                <a:spcPct val="0"/>
              </a:spcAft>
              <a:defRPr>
                <a:solidFill>
                  <a:schemeClr val="tx1"/>
                </a:solidFill>
                <a:latin typeface="Arial" panose="020B0604020202020204" pitchFamily="34" charset="0"/>
              </a:defRPr>
            </a:lvl8pPr>
            <a:lvl9pPr marL="4513263" indent="-457200" eaLnBrk="0" fontAlgn="base" hangingPunct="0">
              <a:spcBef>
                <a:spcPct val="0"/>
              </a:spcBef>
              <a:spcAft>
                <a:spcPct val="0"/>
              </a:spcAft>
              <a:defRPr>
                <a:solidFill>
                  <a:schemeClr val="tx1"/>
                </a:solidFill>
                <a:latin typeface="Arial" panose="020B0604020202020204" pitchFamily="34" charset="0"/>
              </a:defRPr>
            </a:lvl9pPr>
          </a:lstStyle>
          <a:p>
            <a:pPr algn="just">
              <a:lnSpc>
                <a:spcPct val="110000"/>
              </a:lnSpc>
              <a:buFontTx/>
              <a:buAutoNum type="arabicPeriod"/>
            </a:pPr>
            <a:r>
              <a:rPr lang="es-ES" altLang="es-ES" dirty="0">
                <a:cs typeface="Times New Roman" panose="02020603050405020304" pitchFamily="18" charset="0"/>
              </a:rPr>
              <a:t>Tener determinada la población objeto del estudio. (con condiciones</a:t>
            </a:r>
            <a:r>
              <a:rPr lang="es-ES" altLang="es-ES" i="1" dirty="0">
                <a:cs typeface="Times New Roman" panose="02020603050405020304" pitchFamily="18" charset="0"/>
              </a:rPr>
              <a:t> </a:t>
            </a:r>
            <a:r>
              <a:rPr lang="es-ES" altLang="es-ES" dirty="0">
                <a:cs typeface="Times New Roman" panose="02020603050405020304" pitchFamily="18" charset="0"/>
              </a:rPr>
              <a:t>explícitas</a:t>
            </a:r>
            <a:r>
              <a:rPr lang="es-ES" altLang="es-ES" i="1" dirty="0">
                <a:cs typeface="Times New Roman" panose="02020603050405020304" pitchFamily="18" charset="0"/>
              </a:rPr>
              <a:t> </a:t>
            </a:r>
            <a:r>
              <a:rPr lang="es-ES" altLang="es-ES" dirty="0">
                <a:cs typeface="Times New Roman" panose="02020603050405020304" pitchFamily="18" charset="0"/>
              </a:rPr>
              <a:t>de</a:t>
            </a:r>
            <a:r>
              <a:rPr lang="es-ES" altLang="es-ES" i="1" dirty="0">
                <a:cs typeface="Times New Roman" panose="02020603050405020304" pitchFamily="18" charset="0"/>
              </a:rPr>
              <a:t> inclusión </a:t>
            </a:r>
            <a:r>
              <a:rPr lang="es-ES" altLang="es-ES" dirty="0">
                <a:cs typeface="Times New Roman" panose="02020603050405020304" pitchFamily="18" charset="0"/>
              </a:rPr>
              <a:t>y de </a:t>
            </a:r>
            <a:r>
              <a:rPr lang="es-ES" altLang="es-ES" i="1" dirty="0">
                <a:cs typeface="Times New Roman" panose="02020603050405020304" pitchFamily="18" charset="0"/>
              </a:rPr>
              <a:t>exclusión</a:t>
            </a:r>
            <a:r>
              <a:rPr lang="es-ES" altLang="es-ES" dirty="0">
                <a:cs typeface="Times New Roman" panose="02020603050405020304" pitchFamily="18" charset="0"/>
              </a:rPr>
              <a:t>).</a:t>
            </a:r>
            <a:endParaRPr lang="es-ES_tradnl" altLang="es-ES" dirty="0">
              <a:cs typeface="Times New Roman" panose="02020603050405020304" pitchFamily="18" charset="0"/>
            </a:endParaRPr>
          </a:p>
          <a:p>
            <a:pPr algn="just">
              <a:lnSpc>
                <a:spcPct val="160000"/>
              </a:lnSpc>
              <a:buFontTx/>
              <a:buAutoNum type="arabicPeriod"/>
            </a:pPr>
            <a:r>
              <a:rPr lang="es-ES" altLang="es-ES" dirty="0">
                <a:cs typeface="Times New Roman" panose="02020603050405020304" pitchFamily="18" charset="0"/>
              </a:rPr>
              <a:t>Tener identificados a cada uno de los individuos de esa población y asignado a cada uno de ellos un número.</a:t>
            </a:r>
            <a:endParaRPr lang="es-ES_tradnl" altLang="es-ES" dirty="0">
              <a:cs typeface="Times New Roman" panose="02020603050405020304" pitchFamily="18" charset="0"/>
            </a:endParaRPr>
          </a:p>
          <a:p>
            <a:pPr>
              <a:lnSpc>
                <a:spcPct val="120000"/>
              </a:lnSpc>
              <a:buFontTx/>
              <a:buAutoNum type="arabicPeriod"/>
            </a:pPr>
            <a:r>
              <a:rPr lang="es-ES" altLang="es-ES" dirty="0">
                <a:cs typeface="Times New Roman" panose="02020603050405020304" pitchFamily="18" charset="0"/>
              </a:rPr>
              <a:t>Elegir, por un </a:t>
            </a:r>
            <a:r>
              <a:rPr lang="es-ES" altLang="es-ES" i="1" dirty="0">
                <a:solidFill>
                  <a:srgbClr val="C00000"/>
                </a:solidFill>
                <a:cs typeface="Times New Roman" panose="02020603050405020304" pitchFamily="18" charset="0"/>
              </a:rPr>
              <a:t>mecanismo que represente suficientemente bien al azar</a:t>
            </a:r>
            <a:r>
              <a:rPr lang="es-ES" altLang="es-ES" dirty="0">
                <a:cs typeface="Times New Roman" panose="02020603050405020304" pitchFamily="18" charset="0"/>
              </a:rPr>
              <a:t>, una muestra de los individuos de la población.</a:t>
            </a:r>
            <a:endParaRPr lang="es-ES" altLang="es-ES" dirty="0"/>
          </a:p>
        </p:txBody>
      </p:sp>
      <p:sp>
        <p:nvSpPr>
          <p:cNvPr id="26627" name="Rectangle 35"/>
          <p:cNvSpPr>
            <a:spLocks noChangeArrowheads="1"/>
          </p:cNvSpPr>
          <p:nvPr/>
        </p:nvSpPr>
        <p:spPr bwMode="auto">
          <a:xfrm>
            <a:off x="227013" y="2514600"/>
            <a:ext cx="3395779" cy="294569"/>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b="1" dirty="0">
                <a:cs typeface="Times New Roman" panose="02020603050405020304" pitchFamily="18" charset="0"/>
              </a:rPr>
              <a:t>Forma de escoger una muestra aleatoria</a:t>
            </a:r>
            <a:endParaRPr lang="es-ES" altLang="es-ES" sz="1300" b="1" dirty="0">
              <a:cs typeface="Times New Roman" panose="02020603050405020304" pitchFamily="18" charset="0"/>
            </a:endParaRPr>
          </a:p>
        </p:txBody>
      </p:sp>
      <p:sp>
        <p:nvSpPr>
          <p:cNvPr id="26628" name="Rectangle 41"/>
          <p:cNvSpPr>
            <a:spLocks noChangeArrowheads="1"/>
          </p:cNvSpPr>
          <p:nvPr/>
        </p:nvSpPr>
        <p:spPr bwMode="auto">
          <a:xfrm>
            <a:off x="227013" y="4770347"/>
            <a:ext cx="8610600" cy="611579"/>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sz="1300" b="1" dirty="0">
                <a:cs typeface="Times New Roman" panose="02020603050405020304" pitchFamily="18" charset="0"/>
              </a:rPr>
              <a:t>Las tablas de números aleatorios.</a:t>
            </a:r>
          </a:p>
          <a:p>
            <a:pPr algn="just" eaLnBrk="1" hangingPunct="1">
              <a:lnSpc>
                <a:spcPct val="130000"/>
              </a:lnSpc>
              <a:spcBef>
                <a:spcPts val="600"/>
              </a:spcBef>
            </a:pPr>
            <a:r>
              <a:rPr lang="es-ES_tradnl" altLang="es-ES" dirty="0">
                <a:cs typeface="Times New Roman" panose="02020603050405020304" pitchFamily="18" charset="0"/>
              </a:rPr>
              <a:t>Una tabla de números al</a:t>
            </a:r>
            <a:r>
              <a:rPr lang="es-ES" altLang="es-ES" dirty="0">
                <a:cs typeface="Times New Roman" panose="02020603050405020304" pitchFamily="18" charset="0"/>
              </a:rPr>
              <a:t>e</a:t>
            </a:r>
            <a:r>
              <a:rPr lang="es-ES_tradnl" altLang="es-ES" dirty="0">
                <a:cs typeface="Times New Roman" panose="02020603050405020304" pitchFamily="18" charset="0"/>
              </a:rPr>
              <a:t>ato</a:t>
            </a:r>
            <a:r>
              <a:rPr lang="es-ES" altLang="es-ES" dirty="0" err="1">
                <a:cs typeface="Times New Roman" panose="02020603050405020304" pitchFamily="18" charset="0"/>
              </a:rPr>
              <a:t>rios</a:t>
            </a:r>
            <a:r>
              <a:rPr lang="es-ES" altLang="es-ES" dirty="0">
                <a:cs typeface="Times New Roman" panose="02020603050405020304" pitchFamily="18" charset="0"/>
              </a:rPr>
              <a:t> es</a:t>
            </a:r>
            <a:r>
              <a:rPr lang="es-ES_tradnl" altLang="es-ES" dirty="0">
                <a:cs typeface="Times New Roman" panose="02020603050405020304" pitchFamily="18" charset="0"/>
              </a:rPr>
              <a:t> en una lista de dígitos del 0 al 9 con las siguientes características:</a:t>
            </a:r>
            <a:endParaRPr lang="en-GB" altLang="es-ES" dirty="0"/>
          </a:p>
        </p:txBody>
      </p:sp>
      <p:sp>
        <p:nvSpPr>
          <p:cNvPr id="26629" name="Rectangle 42"/>
          <p:cNvSpPr>
            <a:spLocks noChangeArrowheads="1"/>
          </p:cNvSpPr>
          <p:nvPr/>
        </p:nvSpPr>
        <p:spPr bwMode="auto">
          <a:xfrm>
            <a:off x="227013" y="5410200"/>
            <a:ext cx="8478837" cy="1128643"/>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227013" indent="-227013" eaLnBrk="0" hangingPunct="0">
              <a:defRPr>
                <a:solidFill>
                  <a:schemeClr val="tx1"/>
                </a:solidFill>
                <a:latin typeface="Arial" panose="020B0604020202020204" pitchFamily="34" charset="0"/>
              </a:defRPr>
            </a:lvl1pPr>
            <a:lvl2pPr marL="969963" indent="-457200" eaLnBrk="0" hangingPunct="0">
              <a:defRPr>
                <a:solidFill>
                  <a:schemeClr val="tx1"/>
                </a:solidFill>
                <a:latin typeface="Arial" panose="020B0604020202020204" pitchFamily="34" charset="0"/>
              </a:defRPr>
            </a:lvl2pPr>
            <a:lvl3pPr marL="1541463" indent="-457200" eaLnBrk="0" hangingPunct="0">
              <a:defRPr>
                <a:solidFill>
                  <a:schemeClr val="tx1"/>
                </a:solidFill>
                <a:latin typeface="Arial" panose="020B0604020202020204" pitchFamily="34" charset="0"/>
              </a:defRPr>
            </a:lvl3pPr>
            <a:lvl4pPr marL="2112963" indent="-457200" eaLnBrk="0" hangingPunct="0">
              <a:defRPr>
                <a:solidFill>
                  <a:schemeClr val="tx1"/>
                </a:solidFill>
                <a:latin typeface="Arial" panose="020B0604020202020204" pitchFamily="34" charset="0"/>
              </a:defRPr>
            </a:lvl4pPr>
            <a:lvl5pPr marL="2684463" indent="-457200" eaLnBrk="0" hangingPunct="0">
              <a:defRPr>
                <a:solidFill>
                  <a:schemeClr val="tx1"/>
                </a:solidFill>
                <a:latin typeface="Arial" panose="020B0604020202020204" pitchFamily="34" charset="0"/>
              </a:defRPr>
            </a:lvl5pPr>
            <a:lvl6pPr marL="3141663" indent="-457200" eaLnBrk="0" fontAlgn="base" hangingPunct="0">
              <a:spcBef>
                <a:spcPct val="0"/>
              </a:spcBef>
              <a:spcAft>
                <a:spcPct val="0"/>
              </a:spcAft>
              <a:defRPr>
                <a:solidFill>
                  <a:schemeClr val="tx1"/>
                </a:solidFill>
                <a:latin typeface="Arial" panose="020B0604020202020204" pitchFamily="34" charset="0"/>
              </a:defRPr>
            </a:lvl6pPr>
            <a:lvl7pPr marL="3598863" indent="-457200" eaLnBrk="0" fontAlgn="base" hangingPunct="0">
              <a:spcBef>
                <a:spcPct val="0"/>
              </a:spcBef>
              <a:spcAft>
                <a:spcPct val="0"/>
              </a:spcAft>
              <a:defRPr>
                <a:solidFill>
                  <a:schemeClr val="tx1"/>
                </a:solidFill>
                <a:latin typeface="Arial" panose="020B0604020202020204" pitchFamily="34" charset="0"/>
              </a:defRPr>
            </a:lvl7pPr>
            <a:lvl8pPr marL="4056063" indent="-457200" eaLnBrk="0" fontAlgn="base" hangingPunct="0">
              <a:spcBef>
                <a:spcPct val="0"/>
              </a:spcBef>
              <a:spcAft>
                <a:spcPct val="0"/>
              </a:spcAft>
              <a:defRPr>
                <a:solidFill>
                  <a:schemeClr val="tx1"/>
                </a:solidFill>
                <a:latin typeface="Arial" panose="020B0604020202020204" pitchFamily="34" charset="0"/>
              </a:defRPr>
            </a:lvl8pPr>
            <a:lvl9pPr marL="4513263" indent="-4572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AutoNum type="arabicPeriod"/>
            </a:pPr>
            <a:r>
              <a:rPr lang="es-ES_tradnl" altLang="es-ES" dirty="0">
                <a:cs typeface="Times New Roman" panose="02020603050405020304" pitchFamily="18" charset="0"/>
              </a:rPr>
              <a:t>Cada dígito tiene la misma probabilidad de aparecer en </a:t>
            </a:r>
            <a:r>
              <a:rPr lang="es-ES" altLang="es-ES" dirty="0">
                <a:cs typeface="Times New Roman" panose="02020603050405020304" pitchFamily="18" charset="0"/>
              </a:rPr>
              <a:t>cada posición de la tabla (</a:t>
            </a:r>
            <a:r>
              <a:rPr lang="es-ES" altLang="es-ES" b="1" dirty="0">
                <a:cs typeface="Times New Roman" panose="02020603050405020304" pitchFamily="18" charset="0"/>
              </a:rPr>
              <a:t>igual probabilidad</a:t>
            </a:r>
            <a:r>
              <a:rPr lang="es-ES" altLang="es-ES" dirty="0">
                <a:cs typeface="Times New Roman" panose="02020603050405020304" pitchFamily="18" charset="0"/>
              </a:rPr>
              <a:t>)</a:t>
            </a:r>
            <a:endParaRPr lang="es-ES_tradnl" altLang="es-ES" dirty="0">
              <a:cs typeface="Times New Roman" panose="02020603050405020304" pitchFamily="18" charset="0"/>
            </a:endParaRPr>
          </a:p>
          <a:p>
            <a:pPr algn="just" eaLnBrk="1" hangingPunct="1">
              <a:lnSpc>
                <a:spcPct val="60000"/>
              </a:lnSpc>
              <a:buFontTx/>
              <a:buAutoNum type="arabicPeriod"/>
            </a:pPr>
            <a:endParaRPr lang="es-ES_tradnl" altLang="es-ES" dirty="0">
              <a:cs typeface="Times New Roman" panose="02020603050405020304" pitchFamily="18" charset="0"/>
            </a:endParaRPr>
          </a:p>
          <a:p>
            <a:pPr algn="just" eaLnBrk="1" hangingPunct="1">
              <a:lnSpc>
                <a:spcPct val="150000"/>
              </a:lnSpc>
              <a:buFontTx/>
              <a:buAutoNum type="arabicPeriod"/>
            </a:pPr>
            <a:r>
              <a:rPr lang="es-ES_tradnl" altLang="es-ES" dirty="0">
                <a:cs typeface="Times New Roman" panose="02020603050405020304" pitchFamily="18" charset="0"/>
              </a:rPr>
              <a:t>La presencia o ausencia de un dígito dado en determinada posición no condiciona para nada a los dígitos que le siguen o que le preceden (</a:t>
            </a:r>
            <a:r>
              <a:rPr lang="es-ES_tradnl" altLang="es-ES" b="1" dirty="0">
                <a:cs typeface="Times New Roman" panose="02020603050405020304" pitchFamily="18" charset="0"/>
              </a:rPr>
              <a:t>independencia</a:t>
            </a:r>
            <a:r>
              <a:rPr lang="es-ES_tradnl" altLang="es-ES" dirty="0">
                <a:cs typeface="Times New Roman" panose="02020603050405020304" pitchFamily="18" charset="0"/>
              </a:rPr>
              <a:t>)</a:t>
            </a:r>
          </a:p>
          <a:p>
            <a:endParaRPr lang="es-ES_tradnl" altLang="es-ES" dirty="0"/>
          </a:p>
        </p:txBody>
      </p:sp>
      <p:sp>
        <p:nvSpPr>
          <p:cNvPr id="26630" name="Text Box 44"/>
          <p:cNvSpPr txBox="1">
            <a:spLocks noChangeArrowheads="1"/>
          </p:cNvSpPr>
          <p:nvPr/>
        </p:nvSpPr>
        <p:spPr bwMode="auto">
          <a:xfrm>
            <a:off x="0" y="273050"/>
            <a:ext cx="317341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 altLang="es-ES" sz="1600" b="1" dirty="0">
                <a:solidFill>
                  <a:schemeClr val="bg1"/>
                </a:solidFill>
              </a:rPr>
              <a:t>Concepto de Muestra Aleatoria</a:t>
            </a:r>
          </a:p>
        </p:txBody>
      </p:sp>
      <p:sp>
        <p:nvSpPr>
          <p:cNvPr id="26633" name="Rectangle 9"/>
          <p:cNvSpPr>
            <a:spLocks noChangeArrowheads="1"/>
          </p:cNvSpPr>
          <p:nvPr/>
        </p:nvSpPr>
        <p:spPr bwMode="auto">
          <a:xfrm>
            <a:off x="247650" y="1295400"/>
            <a:ext cx="8458200" cy="701731"/>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7013" indent="-22701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s-ES_tradnl" altLang="es-ES" dirty="0">
                <a:cs typeface="Times New Roman" panose="02020603050405020304" pitchFamily="18" charset="0"/>
              </a:rPr>
              <a:t>Todos los individuos de la </a:t>
            </a:r>
            <a:r>
              <a:rPr lang="es-ES_tradnl" altLang="es-ES" b="1" dirty="0">
                <a:solidFill>
                  <a:srgbClr val="FF0000"/>
                </a:solidFill>
                <a:cs typeface="Times New Roman" panose="02020603050405020304" pitchFamily="18" charset="0"/>
              </a:rPr>
              <a:t>población tengan la misma probabilidad de ser seleccionados </a:t>
            </a:r>
            <a:r>
              <a:rPr lang="es-ES_tradnl" altLang="es-ES" dirty="0">
                <a:cs typeface="Times New Roman" panose="02020603050405020304" pitchFamily="18" charset="0"/>
              </a:rPr>
              <a:t>e incluidos en la muestra (</a:t>
            </a:r>
            <a:r>
              <a:rPr lang="es-ES_tradnl" altLang="es-ES" b="1" dirty="0">
                <a:cs typeface="Times New Roman" panose="02020603050405020304" pitchFamily="18" charset="0"/>
              </a:rPr>
              <a:t>igual probabilidad</a:t>
            </a:r>
            <a:r>
              <a:rPr lang="es-ES_tradnl" altLang="es-ES" dirty="0">
                <a:cs typeface="Times New Roman" panose="02020603050405020304" pitchFamily="18" charset="0"/>
              </a:rPr>
              <a:t>).</a:t>
            </a:r>
          </a:p>
          <a:p>
            <a:pPr algn="just" eaLnBrk="1" hangingPunct="1">
              <a:lnSpc>
                <a:spcPct val="30000"/>
              </a:lnSpc>
              <a:buFontTx/>
              <a:buChar char="•"/>
            </a:pPr>
            <a:endParaRPr lang="es-ES_tradnl" altLang="es-ES" dirty="0">
              <a:cs typeface="Times New Roman" panose="02020603050405020304" pitchFamily="18" charset="0"/>
            </a:endParaRPr>
          </a:p>
          <a:p>
            <a:pPr algn="just" eaLnBrk="1" hangingPunct="1">
              <a:buFontTx/>
              <a:buChar char="•"/>
            </a:pPr>
            <a:r>
              <a:rPr lang="es-ES_tradnl" altLang="es-ES" dirty="0">
                <a:cs typeface="Times New Roman" panose="02020603050405020304" pitchFamily="18" charset="0"/>
              </a:rPr>
              <a:t>La selección de un individuo no influya para nada en la selección o no de otro individuo cualquiera (</a:t>
            </a:r>
            <a:r>
              <a:rPr lang="es-ES_tradnl" altLang="es-ES" b="1" dirty="0">
                <a:cs typeface="Times New Roman" panose="02020603050405020304" pitchFamily="18" charset="0"/>
              </a:rPr>
              <a:t>independencia</a:t>
            </a:r>
            <a:r>
              <a:rPr lang="es-ES_tradnl" altLang="es-ES" dirty="0">
                <a:cs typeface="Times New Roman" panose="02020603050405020304" pitchFamily="18" charset="0"/>
              </a:rPr>
              <a:t>)</a:t>
            </a:r>
            <a:endParaRPr lang="en-GB" altLang="es-ES" dirty="0">
              <a:cs typeface="Times New Roman" panose="02020603050405020304" pitchFamily="18" charset="0"/>
            </a:endParaRPr>
          </a:p>
        </p:txBody>
      </p:sp>
      <p:sp>
        <p:nvSpPr>
          <p:cNvPr id="26634" name="Rectangle 10"/>
          <p:cNvSpPr>
            <a:spLocks noChangeArrowheads="1"/>
          </p:cNvSpPr>
          <p:nvPr/>
        </p:nvSpPr>
        <p:spPr bwMode="auto">
          <a:xfrm>
            <a:off x="228600" y="838200"/>
            <a:ext cx="8458200" cy="461665"/>
          </a:xfrm>
          <a:prstGeom prst="rect">
            <a:avLst/>
          </a:prstGeom>
          <a:noFill/>
          <a:ln>
            <a:noFill/>
          </a:ln>
          <a:effectLst/>
          <a:extLst>
            <a:ext uri="{909E8E84-426E-40DD-AFC4-6F175D3DCCD1}">
              <a14:hiddenFill xmlns:a14="http://schemas.microsoft.com/office/drawing/2010/main">
                <a:solidFill>
                  <a:srgbClr val="EAEAEA">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_tradnl" altLang="es-ES" dirty="0">
                <a:cs typeface="Times New Roman" panose="02020603050405020304" pitchFamily="18" charset="0"/>
              </a:rPr>
              <a:t>Para que la muestra sea </a:t>
            </a:r>
            <a:r>
              <a:rPr lang="es-ES_tradnl" altLang="es-ES" b="1" dirty="0">
                <a:cs typeface="Times New Roman" panose="02020603050405020304" pitchFamily="18" charset="0"/>
              </a:rPr>
              <a:t>representativa</a:t>
            </a:r>
            <a:r>
              <a:rPr lang="es-ES_tradnl" altLang="es-ES" dirty="0">
                <a:cs typeface="Times New Roman" panose="02020603050405020304" pitchFamily="18" charset="0"/>
              </a:rPr>
              <a:t> de la población objeto de estudio, es preciso que sea extraída de ella de modo que:</a:t>
            </a:r>
          </a:p>
        </p:txBody>
      </p:sp>
      <p:sp>
        <p:nvSpPr>
          <p:cNvPr id="26635" name="Rectangle 11"/>
          <p:cNvSpPr>
            <a:spLocks noChangeArrowheads="1"/>
          </p:cNvSpPr>
          <p:nvPr/>
        </p:nvSpPr>
        <p:spPr bwMode="auto">
          <a:xfrm>
            <a:off x="227013" y="378644"/>
            <a:ext cx="32672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Definición de </a:t>
            </a:r>
            <a:r>
              <a:rPr lang="es-ES_tradnl" altLang="es-ES" sz="1800" b="1" dirty="0">
                <a:solidFill>
                  <a:srgbClr val="FF0000"/>
                </a:solidFill>
                <a:cs typeface="Times New Roman" panose="02020603050405020304" pitchFamily="18" charset="0"/>
              </a:rPr>
              <a:t>muestra aleatoria</a:t>
            </a:r>
            <a:endParaRPr lang="es-ES" altLang="es-ES" sz="1800" b="1" dirty="0">
              <a:solidFill>
                <a:srgbClr val="FF0000"/>
              </a:solidFill>
              <a:cs typeface="Times New Roman" panose="02020603050405020304" pitchFamily="18" charset="0"/>
            </a:endParaRPr>
          </a:p>
        </p:txBody>
      </p:sp>
      <p:sp>
        <p:nvSpPr>
          <p:cNvPr id="2" name="CuadroTexto 1"/>
          <p:cNvSpPr txBox="1"/>
          <p:nvPr/>
        </p:nvSpPr>
        <p:spPr>
          <a:xfrm>
            <a:off x="457200" y="3680936"/>
            <a:ext cx="5761514" cy="276999"/>
          </a:xfrm>
          <a:prstGeom prst="rect">
            <a:avLst/>
          </a:prstGeom>
          <a:noFill/>
        </p:spPr>
        <p:txBody>
          <a:bodyPr wrap="none" rtlCol="0">
            <a:spAutoFit/>
          </a:bodyPr>
          <a:lstStyle/>
          <a:p>
            <a:r>
              <a:rPr lang="es-ES" dirty="0"/>
              <a:t>La reproducción del azar se hace mediante la generación de </a:t>
            </a:r>
            <a:r>
              <a:rPr lang="es-ES" b="1" dirty="0"/>
              <a:t>números</a:t>
            </a:r>
            <a:r>
              <a:rPr lang="es-ES" dirty="0"/>
              <a:t> </a:t>
            </a:r>
            <a:r>
              <a:rPr lang="es-ES" b="1" dirty="0"/>
              <a:t>aleatorios</a:t>
            </a:r>
          </a:p>
        </p:txBody>
      </p:sp>
      <p:sp>
        <p:nvSpPr>
          <p:cNvPr id="12" name="CuadroTexto 11"/>
          <p:cNvSpPr txBox="1"/>
          <p:nvPr/>
        </p:nvSpPr>
        <p:spPr>
          <a:xfrm>
            <a:off x="476250" y="3957935"/>
            <a:ext cx="6876576" cy="461665"/>
          </a:xfrm>
          <a:prstGeom prst="rect">
            <a:avLst/>
          </a:prstGeom>
          <a:noFill/>
        </p:spPr>
        <p:txBody>
          <a:bodyPr wrap="square" rtlCol="0">
            <a:spAutoFit/>
          </a:bodyPr>
          <a:lstStyle/>
          <a:p>
            <a:pPr marL="171450" indent="-171450">
              <a:buFont typeface="Arial" panose="020B0604020202020204" pitchFamily="34" charset="0"/>
              <a:buChar char="•"/>
            </a:pPr>
            <a:r>
              <a:rPr lang="es-ES" dirty="0"/>
              <a:t>Tablas de números aleatorios</a:t>
            </a:r>
          </a:p>
          <a:p>
            <a:pPr marL="171450" indent="-171450">
              <a:buFont typeface="Arial" panose="020B0604020202020204" pitchFamily="34" charset="0"/>
              <a:buChar char="•"/>
            </a:pPr>
            <a:r>
              <a:rPr lang="es-ES" dirty="0"/>
              <a:t>Generación de números aleatorios por ordenador o calculadora de bolsillo</a:t>
            </a:r>
          </a:p>
        </p:txBody>
      </p:sp>
      <p:sp>
        <p:nvSpPr>
          <p:cNvPr id="13" name="CuadroTexto 12"/>
          <p:cNvSpPr txBox="1"/>
          <p:nvPr/>
        </p:nvSpPr>
        <p:spPr>
          <a:xfrm>
            <a:off x="228600" y="2009001"/>
            <a:ext cx="5022529" cy="276999"/>
          </a:xfrm>
          <a:prstGeom prst="rect">
            <a:avLst/>
          </a:prstGeom>
          <a:noFill/>
        </p:spPr>
        <p:txBody>
          <a:bodyPr wrap="none" rtlCol="0">
            <a:spAutoFit/>
          </a:bodyPr>
          <a:lstStyle/>
          <a:p>
            <a:r>
              <a:rPr lang="es-ES" dirty="0"/>
              <a:t>Una muestra elegida así se dice que es una </a:t>
            </a:r>
            <a:r>
              <a:rPr lang="es-ES" b="1" i="1" dirty="0">
                <a:solidFill>
                  <a:srgbClr val="C00000"/>
                </a:solidFill>
              </a:rPr>
              <a:t>muestra aleatoria simple</a:t>
            </a:r>
          </a:p>
        </p:txBody>
      </p:sp>
      <p:sp>
        <p:nvSpPr>
          <p:cNvPr id="14" name="Rectangle 2"/>
          <p:cNvSpPr>
            <a:spLocks noChangeArrowheads="1"/>
          </p:cNvSpPr>
          <p:nvPr/>
        </p:nvSpPr>
        <p:spPr bwMode="auto">
          <a:xfrm>
            <a:off x="228600" y="76200"/>
            <a:ext cx="3870268"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Inferencia Estadística. Población y </a:t>
            </a:r>
            <a:r>
              <a:rPr lang="es-ES" altLang="es-ES" sz="1400" b="1" dirty="0">
                <a:cs typeface="Times New Roman" panose="02020603050405020304" pitchFamily="18" charset="0"/>
              </a:rPr>
              <a:t>muestra</a:t>
            </a:r>
          </a:p>
        </p:txBody>
      </p:sp>
    </p:spTree>
    <p:extLst>
      <p:ext uri="{BB962C8B-B14F-4D97-AF65-F5344CB8AC3E}">
        <p14:creationId xmlns:p14="http://schemas.microsoft.com/office/powerpoint/2010/main" val="1579320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Text Box 49"/>
          <p:cNvSpPr txBox="1">
            <a:spLocks noChangeArrowheads="1"/>
          </p:cNvSpPr>
          <p:nvPr/>
        </p:nvSpPr>
        <p:spPr bwMode="auto">
          <a:xfrm>
            <a:off x="228600" y="935406"/>
            <a:ext cx="580319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300" dirty="0">
                <a:solidFill>
                  <a:schemeClr val="accent1">
                    <a:lumMod val="25000"/>
                  </a:schemeClr>
                </a:solidFill>
              </a:rPr>
              <a:t>Selección aleatoria de </a:t>
            </a:r>
            <a:r>
              <a:rPr lang="es-ES_tradnl" altLang="es-ES" sz="1300" i="1" dirty="0">
                <a:solidFill>
                  <a:schemeClr val="accent1">
                    <a:lumMod val="25000"/>
                  </a:schemeClr>
                </a:solidFill>
                <a:latin typeface="Times New Roman" panose="02020603050405020304" pitchFamily="18" charset="0"/>
              </a:rPr>
              <a:t>n </a:t>
            </a:r>
            <a:r>
              <a:rPr lang="es-ES_tradnl" altLang="es-ES" sz="1300" dirty="0">
                <a:solidFill>
                  <a:schemeClr val="accent1">
                    <a:lumMod val="25000"/>
                  </a:schemeClr>
                </a:solidFill>
              </a:rPr>
              <a:t>=10 individuos de una población de tamaño </a:t>
            </a:r>
            <a:r>
              <a:rPr lang="es-ES_tradnl" altLang="es-ES" sz="1300" i="1" dirty="0">
                <a:solidFill>
                  <a:schemeClr val="accent1">
                    <a:lumMod val="25000"/>
                  </a:schemeClr>
                </a:solidFill>
                <a:latin typeface="Times New Roman" panose="02020603050405020304" pitchFamily="18" charset="0"/>
              </a:rPr>
              <a:t>N </a:t>
            </a:r>
            <a:r>
              <a:rPr lang="es-ES_tradnl" altLang="es-ES" sz="1300" dirty="0">
                <a:solidFill>
                  <a:schemeClr val="accent1">
                    <a:lumMod val="25000"/>
                  </a:schemeClr>
                </a:solidFill>
              </a:rPr>
              <a:t>=800</a:t>
            </a:r>
            <a:endParaRPr lang="es-ES" altLang="es-ES" sz="1300" dirty="0">
              <a:solidFill>
                <a:schemeClr val="accent1">
                  <a:lumMod val="25000"/>
                </a:schemeClr>
              </a:solidFill>
            </a:endParaRPr>
          </a:p>
        </p:txBody>
      </p:sp>
      <p:pic>
        <p:nvPicPr>
          <p:cNvPr id="5" name="Imagen 4"/>
          <p:cNvPicPr>
            <a:picLocks noChangeAspect="1"/>
          </p:cNvPicPr>
          <p:nvPr/>
        </p:nvPicPr>
        <p:blipFill>
          <a:blip r:embed="rId2"/>
          <a:stretch>
            <a:fillRect/>
          </a:stretch>
        </p:blipFill>
        <p:spPr>
          <a:xfrm>
            <a:off x="1524001" y="1781839"/>
            <a:ext cx="5885656" cy="4628579"/>
          </a:xfrm>
          <a:prstGeom prst="rect">
            <a:avLst/>
          </a:prstGeom>
        </p:spPr>
      </p:pic>
      <p:grpSp>
        <p:nvGrpSpPr>
          <p:cNvPr id="12" name="Grupo 11"/>
          <p:cNvGrpSpPr/>
          <p:nvPr/>
        </p:nvGrpSpPr>
        <p:grpSpPr>
          <a:xfrm>
            <a:off x="1524000" y="1399722"/>
            <a:ext cx="5885658" cy="4886417"/>
            <a:chOff x="1524000" y="1399722"/>
            <a:chExt cx="5885658" cy="4886417"/>
          </a:xfrm>
        </p:grpSpPr>
        <p:cxnSp>
          <p:nvCxnSpPr>
            <p:cNvPr id="4" name="Conector recto 3"/>
            <p:cNvCxnSpPr/>
            <p:nvPr/>
          </p:nvCxnSpPr>
          <p:spPr>
            <a:xfrm flipV="1">
              <a:off x="1524001" y="1399722"/>
              <a:ext cx="0" cy="488641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Conector recto 45"/>
            <p:cNvCxnSpPr/>
            <p:nvPr/>
          </p:nvCxnSpPr>
          <p:spPr>
            <a:xfrm flipV="1">
              <a:off x="7409658" y="1399722"/>
              <a:ext cx="0" cy="4886417"/>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Conector recto 47"/>
            <p:cNvCxnSpPr/>
            <p:nvPr/>
          </p:nvCxnSpPr>
          <p:spPr>
            <a:xfrm flipH="1">
              <a:off x="1524000" y="1399722"/>
              <a:ext cx="5885658" cy="0"/>
            </a:xfrm>
            <a:prstGeom prst="line">
              <a:avLst/>
            </a:prstGeom>
            <a:ln w="158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2" name="Text Box 15"/>
          <p:cNvSpPr txBox="1">
            <a:spLocks noChangeArrowheads="1"/>
          </p:cNvSpPr>
          <p:nvPr/>
        </p:nvSpPr>
        <p:spPr bwMode="auto">
          <a:xfrm>
            <a:off x="1533438" y="1451191"/>
            <a:ext cx="5885657" cy="263791"/>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ES_tradnl" altLang="es-ES" sz="1100" b="1" dirty="0"/>
              <a:t>Tabla de números aleatorios</a:t>
            </a:r>
            <a:endParaRPr lang="es-ES" altLang="es-ES" sz="1100" b="1" dirty="0"/>
          </a:p>
        </p:txBody>
      </p:sp>
      <p:sp>
        <p:nvSpPr>
          <p:cNvPr id="13" name="CuadroTexto 12"/>
          <p:cNvSpPr txBox="1"/>
          <p:nvPr/>
        </p:nvSpPr>
        <p:spPr>
          <a:xfrm>
            <a:off x="228600" y="454223"/>
            <a:ext cx="2596673" cy="307777"/>
          </a:xfrm>
          <a:prstGeom prst="rect">
            <a:avLst/>
          </a:prstGeom>
          <a:noFill/>
        </p:spPr>
        <p:txBody>
          <a:bodyPr wrap="none" rtlCol="0">
            <a:spAutoFit/>
          </a:bodyPr>
          <a:lstStyle/>
          <a:p>
            <a:r>
              <a:rPr lang="es-ES" sz="1400" b="1" dirty="0"/>
              <a:t>Tabla de números aleatorios</a:t>
            </a:r>
          </a:p>
        </p:txBody>
      </p:sp>
      <p:sp>
        <p:nvSpPr>
          <p:cNvPr id="57" name="Rectangle 2"/>
          <p:cNvSpPr>
            <a:spLocks noChangeArrowheads="1"/>
          </p:cNvSpPr>
          <p:nvPr/>
        </p:nvSpPr>
        <p:spPr bwMode="auto">
          <a:xfrm>
            <a:off x="228600" y="76200"/>
            <a:ext cx="3870268"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Inferencia Estadística. Población y </a:t>
            </a:r>
            <a:r>
              <a:rPr lang="es-ES" altLang="es-ES" sz="1400" b="1" dirty="0">
                <a:cs typeface="Times New Roman" panose="02020603050405020304" pitchFamily="18" charset="0"/>
              </a:rPr>
              <a:t>muestra</a:t>
            </a:r>
          </a:p>
        </p:txBody>
      </p:sp>
    </p:spTree>
    <p:extLst>
      <p:ext uri="{BB962C8B-B14F-4D97-AF65-F5344CB8AC3E}">
        <p14:creationId xmlns:p14="http://schemas.microsoft.com/office/powerpoint/2010/main" val="2072258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upo 59"/>
          <p:cNvGrpSpPr/>
          <p:nvPr/>
        </p:nvGrpSpPr>
        <p:grpSpPr>
          <a:xfrm>
            <a:off x="5861744" y="1447800"/>
            <a:ext cx="800219" cy="850965"/>
            <a:chOff x="6477000" y="3020114"/>
            <a:chExt cx="800219" cy="850965"/>
          </a:xfrm>
        </p:grpSpPr>
        <p:sp>
          <p:nvSpPr>
            <p:cNvPr id="10" name="CuadroTexto 9"/>
            <p:cNvSpPr txBox="1"/>
            <p:nvPr/>
          </p:nvSpPr>
          <p:spPr>
            <a:xfrm>
              <a:off x="6477000" y="3020114"/>
              <a:ext cx="800219" cy="276999"/>
            </a:xfrm>
            <a:prstGeom prst="rect">
              <a:avLst/>
            </a:prstGeom>
            <a:pattFill prst="ltDnDiag">
              <a:fgClr>
                <a:schemeClr val="accent1"/>
              </a:fgClr>
              <a:bgClr>
                <a:schemeClr val="bg1"/>
              </a:bgClr>
            </a:pattFill>
            <a:ln>
              <a:solidFill>
                <a:schemeClr val="accent1">
                  <a:shade val="50000"/>
                </a:schemeClr>
              </a:solidFill>
            </a:ln>
          </p:spPr>
          <p:txBody>
            <a:bodyPr wrap="none" rtlCol="0">
              <a:spAutoFit/>
            </a:bodyPr>
            <a:lstStyle/>
            <a:p>
              <a:r>
                <a:rPr lang="es-ES" dirty="0">
                  <a:solidFill>
                    <a:srgbClr val="35747B"/>
                  </a:solidFill>
                </a:rPr>
                <a:t>Estrato 1</a:t>
              </a:r>
            </a:p>
          </p:txBody>
        </p:sp>
        <p:sp>
          <p:nvSpPr>
            <p:cNvPr id="12" name="CuadroTexto 11"/>
            <p:cNvSpPr txBox="1"/>
            <p:nvPr/>
          </p:nvSpPr>
          <p:spPr>
            <a:xfrm>
              <a:off x="6477000" y="3302335"/>
              <a:ext cx="800219" cy="276999"/>
            </a:xfrm>
            <a:prstGeom prst="rect">
              <a:avLst/>
            </a:prstGeom>
            <a:pattFill prst="diagBrick">
              <a:fgClr>
                <a:schemeClr val="accent2">
                  <a:lumMod val="20000"/>
                  <a:lumOff val="80000"/>
                </a:schemeClr>
              </a:fgClr>
              <a:bgClr>
                <a:schemeClr val="bg1"/>
              </a:bgClr>
            </a:pattFill>
            <a:ln>
              <a:solidFill>
                <a:schemeClr val="accent1">
                  <a:shade val="50000"/>
                </a:schemeClr>
              </a:solidFill>
            </a:ln>
          </p:spPr>
          <p:txBody>
            <a:bodyPr wrap="none" rtlCol="0">
              <a:spAutoFit/>
            </a:bodyPr>
            <a:lstStyle/>
            <a:p>
              <a:r>
                <a:rPr lang="es-ES" dirty="0">
                  <a:solidFill>
                    <a:schemeClr val="accent2">
                      <a:lumMod val="60000"/>
                      <a:lumOff val="40000"/>
                    </a:schemeClr>
                  </a:solidFill>
                </a:rPr>
                <a:t>Estrato 2</a:t>
              </a:r>
            </a:p>
          </p:txBody>
        </p:sp>
        <p:sp>
          <p:nvSpPr>
            <p:cNvPr id="13" name="CuadroTexto 12"/>
            <p:cNvSpPr txBox="1"/>
            <p:nvPr/>
          </p:nvSpPr>
          <p:spPr>
            <a:xfrm>
              <a:off x="6477000" y="3594080"/>
              <a:ext cx="800219" cy="276999"/>
            </a:xfrm>
            <a:prstGeom prst="rect">
              <a:avLst/>
            </a:prstGeom>
            <a:pattFill prst="pct80">
              <a:fgClr>
                <a:schemeClr val="bg2">
                  <a:lumMod val="40000"/>
                  <a:lumOff val="60000"/>
                </a:schemeClr>
              </a:fgClr>
              <a:bgClr>
                <a:schemeClr val="bg1"/>
              </a:bgClr>
            </a:pattFill>
            <a:ln>
              <a:solidFill>
                <a:schemeClr val="accent1">
                  <a:shade val="50000"/>
                </a:schemeClr>
              </a:solidFill>
            </a:ln>
          </p:spPr>
          <p:txBody>
            <a:bodyPr wrap="none" rtlCol="0">
              <a:spAutoFit/>
            </a:bodyPr>
            <a:lstStyle/>
            <a:p>
              <a:r>
                <a:rPr lang="es-ES" dirty="0">
                  <a:solidFill>
                    <a:schemeClr val="tx1">
                      <a:lumMod val="50000"/>
                      <a:lumOff val="50000"/>
                    </a:schemeClr>
                  </a:solidFill>
                </a:rPr>
                <a:t>Estrato 3</a:t>
              </a:r>
            </a:p>
          </p:txBody>
        </p:sp>
      </p:grpSp>
      <p:grpSp>
        <p:nvGrpSpPr>
          <p:cNvPr id="55" name="Grupo 54"/>
          <p:cNvGrpSpPr/>
          <p:nvPr/>
        </p:nvGrpSpPr>
        <p:grpSpPr>
          <a:xfrm>
            <a:off x="7162800" y="1447800"/>
            <a:ext cx="1371600" cy="1080501"/>
            <a:chOff x="4267200" y="3048689"/>
            <a:chExt cx="1371600" cy="1080501"/>
          </a:xfrm>
        </p:grpSpPr>
        <p:grpSp>
          <p:nvGrpSpPr>
            <p:cNvPr id="37" name="Grupo 36"/>
            <p:cNvGrpSpPr/>
            <p:nvPr/>
          </p:nvGrpSpPr>
          <p:grpSpPr>
            <a:xfrm>
              <a:off x="4267200" y="3048689"/>
              <a:ext cx="352982" cy="1080501"/>
              <a:chOff x="4500911" y="3114676"/>
              <a:chExt cx="352982" cy="1080501"/>
            </a:xfrm>
          </p:grpSpPr>
          <p:grpSp>
            <p:nvGrpSpPr>
              <p:cNvPr id="20" name="Grupo 19"/>
              <p:cNvGrpSpPr/>
              <p:nvPr/>
            </p:nvGrpSpPr>
            <p:grpSpPr>
              <a:xfrm>
                <a:off x="4511331" y="3114676"/>
                <a:ext cx="332142" cy="784458"/>
                <a:chOff x="4482130" y="3114676"/>
                <a:chExt cx="332142" cy="784458"/>
              </a:xfrm>
            </p:grpSpPr>
            <p:grpSp>
              <p:nvGrpSpPr>
                <p:cNvPr id="15" name="Grupo 14"/>
                <p:cNvGrpSpPr/>
                <p:nvPr/>
              </p:nvGrpSpPr>
              <p:grpSpPr>
                <a:xfrm>
                  <a:off x="4482130" y="3124198"/>
                  <a:ext cx="332142" cy="774935"/>
                  <a:chOff x="6461527" y="3020114"/>
                  <a:chExt cx="375911" cy="852101"/>
                </a:xfrm>
              </p:grpSpPr>
              <p:sp>
                <p:nvSpPr>
                  <p:cNvPr id="16" name="CuadroTexto 15"/>
                  <p:cNvSpPr txBox="1"/>
                  <p:nvPr/>
                </p:nvSpPr>
                <p:spPr>
                  <a:xfrm>
                    <a:off x="6461527" y="3020114"/>
                    <a:ext cx="375911" cy="287660"/>
                  </a:xfrm>
                  <a:prstGeom prst="rect">
                    <a:avLst/>
                  </a:prstGeom>
                  <a:pattFill prst="ltDnDiag">
                    <a:fgClr>
                      <a:schemeClr val="accent1"/>
                    </a:fgClr>
                    <a:bgClr>
                      <a:schemeClr val="bg1"/>
                    </a:bgClr>
                  </a:pattFill>
                  <a:ln>
                    <a:solidFill>
                      <a:schemeClr val="accent1">
                        <a:shade val="50000"/>
                      </a:schemeClr>
                    </a:solidFill>
                  </a:ln>
                </p:spPr>
                <p:txBody>
                  <a:bodyPr wrap="none" rtlCol="0">
                    <a:spAutoFit/>
                  </a:bodyPr>
                  <a:lstStyle/>
                  <a:p>
                    <a:pPr algn="ctr"/>
                    <a:r>
                      <a:rPr lang="es-ES" sz="1100" dirty="0">
                        <a:solidFill>
                          <a:schemeClr val="accent1">
                            <a:lumMod val="50000"/>
                          </a:schemeClr>
                        </a:solidFill>
                      </a:rPr>
                      <a:t>E</a:t>
                    </a:r>
                    <a:r>
                      <a:rPr lang="es-ES" sz="1100" baseline="-25000" dirty="0">
                        <a:solidFill>
                          <a:schemeClr val="accent1">
                            <a:lumMod val="50000"/>
                          </a:schemeClr>
                        </a:solidFill>
                      </a:rPr>
                      <a:t>1</a:t>
                    </a:r>
                  </a:p>
                </p:txBody>
              </p:sp>
              <p:sp>
                <p:nvSpPr>
                  <p:cNvPr id="17" name="CuadroTexto 16"/>
                  <p:cNvSpPr txBox="1"/>
                  <p:nvPr/>
                </p:nvSpPr>
                <p:spPr>
                  <a:xfrm>
                    <a:off x="6461527" y="3302335"/>
                    <a:ext cx="375911" cy="287660"/>
                  </a:xfrm>
                  <a:prstGeom prst="rect">
                    <a:avLst/>
                  </a:prstGeom>
                  <a:pattFill prst="diagBrick">
                    <a:fgClr>
                      <a:schemeClr val="accent2">
                        <a:lumMod val="20000"/>
                        <a:lumOff val="80000"/>
                      </a:schemeClr>
                    </a:fgClr>
                    <a:bgClr>
                      <a:schemeClr val="bg1"/>
                    </a:bgClr>
                  </a:pattFill>
                  <a:ln>
                    <a:solidFill>
                      <a:schemeClr val="accent1">
                        <a:shade val="50000"/>
                      </a:schemeClr>
                    </a:solidFill>
                  </a:ln>
                </p:spPr>
                <p:txBody>
                  <a:bodyPr wrap="none" rtlCol="0">
                    <a:spAutoFit/>
                  </a:bodyPr>
                  <a:lstStyle/>
                  <a:p>
                    <a:pPr algn="ctr"/>
                    <a:r>
                      <a:rPr lang="es-ES" sz="1100" dirty="0">
                        <a:solidFill>
                          <a:schemeClr val="accent2">
                            <a:lumMod val="60000"/>
                            <a:lumOff val="40000"/>
                          </a:schemeClr>
                        </a:solidFill>
                      </a:rPr>
                      <a:t>E</a:t>
                    </a:r>
                    <a:r>
                      <a:rPr lang="es-ES" sz="1100" baseline="-25000" dirty="0">
                        <a:solidFill>
                          <a:schemeClr val="accent2">
                            <a:lumMod val="60000"/>
                            <a:lumOff val="40000"/>
                          </a:schemeClr>
                        </a:solidFill>
                      </a:rPr>
                      <a:t>2</a:t>
                    </a:r>
                  </a:p>
                </p:txBody>
              </p:sp>
              <p:sp>
                <p:nvSpPr>
                  <p:cNvPr id="18" name="CuadroTexto 17"/>
                  <p:cNvSpPr txBox="1"/>
                  <p:nvPr/>
                </p:nvSpPr>
                <p:spPr>
                  <a:xfrm>
                    <a:off x="6461527" y="3584555"/>
                    <a:ext cx="375911" cy="287660"/>
                  </a:xfrm>
                  <a:prstGeom prst="rect">
                    <a:avLst/>
                  </a:prstGeom>
                  <a:pattFill prst="pct80">
                    <a:fgClr>
                      <a:schemeClr val="bg2">
                        <a:lumMod val="40000"/>
                        <a:lumOff val="60000"/>
                      </a:schemeClr>
                    </a:fgClr>
                    <a:bgClr>
                      <a:schemeClr val="bg1"/>
                    </a:bgClr>
                  </a:pattFill>
                  <a:ln>
                    <a:solidFill>
                      <a:schemeClr val="accent1">
                        <a:shade val="50000"/>
                      </a:schemeClr>
                    </a:solidFill>
                  </a:ln>
                </p:spPr>
                <p:txBody>
                  <a:bodyPr wrap="none" rtlCol="0">
                    <a:spAutoFit/>
                  </a:bodyPr>
                  <a:lstStyle/>
                  <a:p>
                    <a:pPr algn="ctr"/>
                    <a:r>
                      <a:rPr lang="es-ES" sz="1100" dirty="0">
                        <a:solidFill>
                          <a:schemeClr val="bg1">
                            <a:lumMod val="50000"/>
                          </a:schemeClr>
                        </a:solidFill>
                      </a:rPr>
                      <a:t>E</a:t>
                    </a:r>
                    <a:r>
                      <a:rPr lang="es-ES" sz="1100" baseline="-25000" dirty="0">
                        <a:solidFill>
                          <a:schemeClr val="bg1">
                            <a:lumMod val="50000"/>
                          </a:schemeClr>
                        </a:solidFill>
                      </a:rPr>
                      <a:t>3</a:t>
                    </a:r>
                  </a:p>
                </p:txBody>
              </p:sp>
            </p:grpSp>
            <p:sp>
              <p:nvSpPr>
                <p:cNvPr id="19" name="Rectángulo 18"/>
                <p:cNvSpPr/>
                <p:nvPr/>
              </p:nvSpPr>
              <p:spPr>
                <a:xfrm>
                  <a:off x="4482130" y="3114676"/>
                  <a:ext cx="332142" cy="7844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34" name="CuadroTexto 33"/>
              <p:cNvSpPr txBox="1"/>
              <p:nvPr/>
            </p:nvSpPr>
            <p:spPr>
              <a:xfrm>
                <a:off x="4500911" y="3918178"/>
                <a:ext cx="352982" cy="276999"/>
              </a:xfrm>
              <a:prstGeom prst="rect">
                <a:avLst/>
              </a:prstGeom>
              <a:noFill/>
            </p:spPr>
            <p:txBody>
              <a:bodyPr wrap="none" rtlCol="0">
                <a:spAutoFit/>
              </a:bodyPr>
              <a:lstStyle/>
              <a:p>
                <a:r>
                  <a:rPr lang="es-ES" dirty="0"/>
                  <a:t>C</a:t>
                </a:r>
                <a:r>
                  <a:rPr lang="es-ES" baseline="-25000" dirty="0"/>
                  <a:t>1</a:t>
                </a:r>
              </a:p>
            </p:txBody>
          </p:sp>
        </p:grpSp>
        <p:grpSp>
          <p:nvGrpSpPr>
            <p:cNvPr id="38" name="Grupo 37"/>
            <p:cNvGrpSpPr/>
            <p:nvPr/>
          </p:nvGrpSpPr>
          <p:grpSpPr>
            <a:xfrm>
              <a:off x="4648200" y="3048689"/>
              <a:ext cx="352982" cy="1080501"/>
              <a:chOff x="4500911" y="3114676"/>
              <a:chExt cx="352982" cy="1080501"/>
            </a:xfrm>
          </p:grpSpPr>
          <p:grpSp>
            <p:nvGrpSpPr>
              <p:cNvPr id="39" name="Grupo 38"/>
              <p:cNvGrpSpPr/>
              <p:nvPr/>
            </p:nvGrpSpPr>
            <p:grpSpPr>
              <a:xfrm>
                <a:off x="4511331" y="3114676"/>
                <a:ext cx="332142" cy="784458"/>
                <a:chOff x="4482130" y="3114676"/>
                <a:chExt cx="332142" cy="784458"/>
              </a:xfrm>
            </p:grpSpPr>
            <p:grpSp>
              <p:nvGrpSpPr>
                <p:cNvPr id="41" name="Grupo 40"/>
                <p:cNvGrpSpPr/>
                <p:nvPr/>
              </p:nvGrpSpPr>
              <p:grpSpPr>
                <a:xfrm>
                  <a:off x="4482130" y="3124198"/>
                  <a:ext cx="332142" cy="774935"/>
                  <a:chOff x="6461527" y="3020114"/>
                  <a:chExt cx="375911" cy="852101"/>
                </a:xfrm>
              </p:grpSpPr>
              <p:sp>
                <p:nvSpPr>
                  <p:cNvPr id="43" name="CuadroTexto 42"/>
                  <p:cNvSpPr txBox="1"/>
                  <p:nvPr/>
                </p:nvSpPr>
                <p:spPr>
                  <a:xfrm>
                    <a:off x="6461527" y="3020114"/>
                    <a:ext cx="375911" cy="287660"/>
                  </a:xfrm>
                  <a:prstGeom prst="rect">
                    <a:avLst/>
                  </a:prstGeom>
                  <a:pattFill prst="ltDnDiag">
                    <a:fgClr>
                      <a:schemeClr val="accent1"/>
                    </a:fgClr>
                    <a:bgClr>
                      <a:schemeClr val="bg1"/>
                    </a:bgClr>
                  </a:pattFill>
                  <a:ln>
                    <a:solidFill>
                      <a:schemeClr val="accent1">
                        <a:shade val="50000"/>
                      </a:schemeClr>
                    </a:solidFill>
                  </a:ln>
                </p:spPr>
                <p:txBody>
                  <a:bodyPr wrap="none" rtlCol="0">
                    <a:spAutoFit/>
                  </a:bodyPr>
                  <a:lstStyle/>
                  <a:p>
                    <a:pPr algn="ctr"/>
                    <a:r>
                      <a:rPr lang="es-ES" sz="1100" dirty="0">
                        <a:solidFill>
                          <a:schemeClr val="accent1">
                            <a:lumMod val="50000"/>
                          </a:schemeClr>
                        </a:solidFill>
                      </a:rPr>
                      <a:t>E</a:t>
                    </a:r>
                    <a:r>
                      <a:rPr lang="es-ES" sz="1100" baseline="-25000" dirty="0">
                        <a:solidFill>
                          <a:schemeClr val="accent1">
                            <a:lumMod val="50000"/>
                          </a:schemeClr>
                        </a:solidFill>
                      </a:rPr>
                      <a:t>1</a:t>
                    </a:r>
                  </a:p>
                </p:txBody>
              </p:sp>
              <p:sp>
                <p:nvSpPr>
                  <p:cNvPr id="44" name="CuadroTexto 43"/>
                  <p:cNvSpPr txBox="1"/>
                  <p:nvPr/>
                </p:nvSpPr>
                <p:spPr>
                  <a:xfrm>
                    <a:off x="6461527" y="3302335"/>
                    <a:ext cx="375911" cy="287660"/>
                  </a:xfrm>
                  <a:prstGeom prst="rect">
                    <a:avLst/>
                  </a:prstGeom>
                  <a:pattFill prst="diagBrick">
                    <a:fgClr>
                      <a:schemeClr val="accent2">
                        <a:lumMod val="20000"/>
                        <a:lumOff val="80000"/>
                      </a:schemeClr>
                    </a:fgClr>
                    <a:bgClr>
                      <a:schemeClr val="bg1"/>
                    </a:bgClr>
                  </a:pattFill>
                  <a:ln>
                    <a:solidFill>
                      <a:schemeClr val="accent1">
                        <a:shade val="50000"/>
                      </a:schemeClr>
                    </a:solidFill>
                  </a:ln>
                </p:spPr>
                <p:txBody>
                  <a:bodyPr wrap="none" rtlCol="0">
                    <a:spAutoFit/>
                  </a:bodyPr>
                  <a:lstStyle/>
                  <a:p>
                    <a:pPr algn="ctr"/>
                    <a:r>
                      <a:rPr lang="es-ES" sz="1100" dirty="0">
                        <a:solidFill>
                          <a:schemeClr val="accent2">
                            <a:lumMod val="60000"/>
                            <a:lumOff val="40000"/>
                          </a:schemeClr>
                        </a:solidFill>
                      </a:rPr>
                      <a:t>E</a:t>
                    </a:r>
                    <a:r>
                      <a:rPr lang="es-ES" sz="1100" baseline="-25000" dirty="0">
                        <a:solidFill>
                          <a:schemeClr val="accent2">
                            <a:lumMod val="60000"/>
                            <a:lumOff val="40000"/>
                          </a:schemeClr>
                        </a:solidFill>
                      </a:rPr>
                      <a:t>2</a:t>
                    </a:r>
                  </a:p>
                </p:txBody>
              </p:sp>
              <p:sp>
                <p:nvSpPr>
                  <p:cNvPr id="45" name="CuadroTexto 44"/>
                  <p:cNvSpPr txBox="1"/>
                  <p:nvPr/>
                </p:nvSpPr>
                <p:spPr>
                  <a:xfrm>
                    <a:off x="6461527" y="3584555"/>
                    <a:ext cx="375911" cy="287660"/>
                  </a:xfrm>
                  <a:prstGeom prst="rect">
                    <a:avLst/>
                  </a:prstGeom>
                  <a:pattFill prst="pct80">
                    <a:fgClr>
                      <a:schemeClr val="bg2">
                        <a:lumMod val="40000"/>
                        <a:lumOff val="60000"/>
                      </a:schemeClr>
                    </a:fgClr>
                    <a:bgClr>
                      <a:schemeClr val="bg1"/>
                    </a:bgClr>
                  </a:pattFill>
                  <a:ln>
                    <a:solidFill>
                      <a:schemeClr val="accent1">
                        <a:shade val="50000"/>
                      </a:schemeClr>
                    </a:solidFill>
                  </a:ln>
                </p:spPr>
                <p:txBody>
                  <a:bodyPr wrap="none" rtlCol="0">
                    <a:spAutoFit/>
                  </a:bodyPr>
                  <a:lstStyle/>
                  <a:p>
                    <a:pPr algn="ctr"/>
                    <a:r>
                      <a:rPr lang="es-ES" sz="1100" dirty="0">
                        <a:solidFill>
                          <a:schemeClr val="bg1">
                            <a:lumMod val="50000"/>
                          </a:schemeClr>
                        </a:solidFill>
                      </a:rPr>
                      <a:t>E</a:t>
                    </a:r>
                    <a:r>
                      <a:rPr lang="es-ES" sz="1100" baseline="-25000" dirty="0">
                        <a:solidFill>
                          <a:schemeClr val="bg1">
                            <a:lumMod val="50000"/>
                          </a:schemeClr>
                        </a:solidFill>
                      </a:rPr>
                      <a:t>3</a:t>
                    </a:r>
                  </a:p>
                </p:txBody>
              </p:sp>
            </p:grpSp>
            <p:sp>
              <p:nvSpPr>
                <p:cNvPr id="42" name="Rectángulo 41"/>
                <p:cNvSpPr/>
                <p:nvPr/>
              </p:nvSpPr>
              <p:spPr>
                <a:xfrm>
                  <a:off x="4482130" y="3114676"/>
                  <a:ext cx="332142" cy="7844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0" name="CuadroTexto 39"/>
              <p:cNvSpPr txBox="1"/>
              <p:nvPr/>
            </p:nvSpPr>
            <p:spPr>
              <a:xfrm>
                <a:off x="4500911" y="3918178"/>
                <a:ext cx="352982" cy="276999"/>
              </a:xfrm>
              <a:prstGeom prst="rect">
                <a:avLst/>
              </a:prstGeom>
              <a:noFill/>
            </p:spPr>
            <p:txBody>
              <a:bodyPr wrap="none" rtlCol="0">
                <a:spAutoFit/>
              </a:bodyPr>
              <a:lstStyle/>
              <a:p>
                <a:r>
                  <a:rPr lang="es-ES" dirty="0"/>
                  <a:t>C</a:t>
                </a:r>
                <a:r>
                  <a:rPr lang="es-ES" baseline="-25000" dirty="0"/>
                  <a:t>2</a:t>
                </a:r>
              </a:p>
            </p:txBody>
          </p:sp>
        </p:grpSp>
        <p:grpSp>
          <p:nvGrpSpPr>
            <p:cNvPr id="46" name="Grupo 45"/>
            <p:cNvGrpSpPr/>
            <p:nvPr/>
          </p:nvGrpSpPr>
          <p:grpSpPr>
            <a:xfrm>
              <a:off x="5274598" y="3048689"/>
              <a:ext cx="364202" cy="1080501"/>
              <a:chOff x="4500911" y="3114676"/>
              <a:chExt cx="364202" cy="1080501"/>
            </a:xfrm>
          </p:grpSpPr>
          <p:grpSp>
            <p:nvGrpSpPr>
              <p:cNvPr id="47" name="Grupo 46"/>
              <p:cNvGrpSpPr/>
              <p:nvPr/>
            </p:nvGrpSpPr>
            <p:grpSpPr>
              <a:xfrm>
                <a:off x="4511331" y="3114676"/>
                <a:ext cx="332142" cy="784458"/>
                <a:chOff x="4482130" y="3114676"/>
                <a:chExt cx="332142" cy="784458"/>
              </a:xfrm>
            </p:grpSpPr>
            <p:grpSp>
              <p:nvGrpSpPr>
                <p:cNvPr id="49" name="Grupo 48"/>
                <p:cNvGrpSpPr/>
                <p:nvPr/>
              </p:nvGrpSpPr>
              <p:grpSpPr>
                <a:xfrm>
                  <a:off x="4482130" y="3124198"/>
                  <a:ext cx="332142" cy="774935"/>
                  <a:chOff x="6461527" y="3020114"/>
                  <a:chExt cx="375911" cy="852101"/>
                </a:xfrm>
              </p:grpSpPr>
              <p:sp>
                <p:nvSpPr>
                  <p:cNvPr id="51" name="CuadroTexto 50"/>
                  <p:cNvSpPr txBox="1"/>
                  <p:nvPr/>
                </p:nvSpPr>
                <p:spPr>
                  <a:xfrm>
                    <a:off x="6461527" y="3020114"/>
                    <a:ext cx="375911" cy="287660"/>
                  </a:xfrm>
                  <a:prstGeom prst="rect">
                    <a:avLst/>
                  </a:prstGeom>
                  <a:pattFill prst="ltDnDiag">
                    <a:fgClr>
                      <a:schemeClr val="accent1"/>
                    </a:fgClr>
                    <a:bgClr>
                      <a:schemeClr val="bg1"/>
                    </a:bgClr>
                  </a:pattFill>
                  <a:ln>
                    <a:solidFill>
                      <a:schemeClr val="accent1">
                        <a:shade val="50000"/>
                      </a:schemeClr>
                    </a:solidFill>
                  </a:ln>
                </p:spPr>
                <p:txBody>
                  <a:bodyPr wrap="none" rtlCol="0">
                    <a:spAutoFit/>
                  </a:bodyPr>
                  <a:lstStyle/>
                  <a:p>
                    <a:pPr algn="ctr"/>
                    <a:r>
                      <a:rPr lang="es-ES" sz="1100" dirty="0">
                        <a:solidFill>
                          <a:schemeClr val="accent1">
                            <a:lumMod val="50000"/>
                          </a:schemeClr>
                        </a:solidFill>
                      </a:rPr>
                      <a:t>E</a:t>
                    </a:r>
                    <a:r>
                      <a:rPr lang="es-ES" sz="1100" baseline="-25000" dirty="0">
                        <a:solidFill>
                          <a:schemeClr val="accent1">
                            <a:lumMod val="50000"/>
                          </a:schemeClr>
                        </a:solidFill>
                      </a:rPr>
                      <a:t>1</a:t>
                    </a:r>
                  </a:p>
                </p:txBody>
              </p:sp>
              <p:sp>
                <p:nvSpPr>
                  <p:cNvPr id="52" name="CuadroTexto 51"/>
                  <p:cNvSpPr txBox="1"/>
                  <p:nvPr/>
                </p:nvSpPr>
                <p:spPr>
                  <a:xfrm>
                    <a:off x="6461527" y="3302335"/>
                    <a:ext cx="375911" cy="287660"/>
                  </a:xfrm>
                  <a:prstGeom prst="rect">
                    <a:avLst/>
                  </a:prstGeom>
                  <a:pattFill prst="diagBrick">
                    <a:fgClr>
                      <a:schemeClr val="accent2">
                        <a:lumMod val="20000"/>
                        <a:lumOff val="80000"/>
                      </a:schemeClr>
                    </a:fgClr>
                    <a:bgClr>
                      <a:schemeClr val="bg1"/>
                    </a:bgClr>
                  </a:pattFill>
                  <a:ln>
                    <a:solidFill>
                      <a:schemeClr val="accent1">
                        <a:shade val="50000"/>
                      </a:schemeClr>
                    </a:solidFill>
                  </a:ln>
                </p:spPr>
                <p:txBody>
                  <a:bodyPr wrap="none" rtlCol="0">
                    <a:spAutoFit/>
                  </a:bodyPr>
                  <a:lstStyle/>
                  <a:p>
                    <a:pPr algn="ctr"/>
                    <a:r>
                      <a:rPr lang="es-ES" sz="1100" dirty="0">
                        <a:solidFill>
                          <a:schemeClr val="accent2">
                            <a:lumMod val="60000"/>
                            <a:lumOff val="40000"/>
                          </a:schemeClr>
                        </a:solidFill>
                      </a:rPr>
                      <a:t>E</a:t>
                    </a:r>
                    <a:r>
                      <a:rPr lang="es-ES" sz="1100" baseline="-25000" dirty="0">
                        <a:solidFill>
                          <a:schemeClr val="accent2">
                            <a:lumMod val="60000"/>
                            <a:lumOff val="40000"/>
                          </a:schemeClr>
                        </a:solidFill>
                      </a:rPr>
                      <a:t>2</a:t>
                    </a:r>
                  </a:p>
                </p:txBody>
              </p:sp>
              <p:sp>
                <p:nvSpPr>
                  <p:cNvPr id="53" name="CuadroTexto 52"/>
                  <p:cNvSpPr txBox="1"/>
                  <p:nvPr/>
                </p:nvSpPr>
                <p:spPr>
                  <a:xfrm>
                    <a:off x="6461527" y="3584555"/>
                    <a:ext cx="375911" cy="287660"/>
                  </a:xfrm>
                  <a:prstGeom prst="rect">
                    <a:avLst/>
                  </a:prstGeom>
                  <a:pattFill prst="pct80">
                    <a:fgClr>
                      <a:schemeClr val="bg2">
                        <a:lumMod val="40000"/>
                        <a:lumOff val="60000"/>
                      </a:schemeClr>
                    </a:fgClr>
                    <a:bgClr>
                      <a:schemeClr val="bg1"/>
                    </a:bgClr>
                  </a:pattFill>
                  <a:ln>
                    <a:solidFill>
                      <a:schemeClr val="accent1">
                        <a:shade val="50000"/>
                      </a:schemeClr>
                    </a:solidFill>
                  </a:ln>
                </p:spPr>
                <p:txBody>
                  <a:bodyPr wrap="none" rtlCol="0">
                    <a:spAutoFit/>
                  </a:bodyPr>
                  <a:lstStyle/>
                  <a:p>
                    <a:pPr algn="ctr"/>
                    <a:r>
                      <a:rPr lang="es-ES" sz="1100" dirty="0">
                        <a:solidFill>
                          <a:schemeClr val="bg1">
                            <a:lumMod val="50000"/>
                          </a:schemeClr>
                        </a:solidFill>
                      </a:rPr>
                      <a:t>E</a:t>
                    </a:r>
                    <a:r>
                      <a:rPr lang="es-ES" sz="1100" baseline="-25000" dirty="0">
                        <a:solidFill>
                          <a:schemeClr val="bg1">
                            <a:lumMod val="50000"/>
                          </a:schemeClr>
                        </a:solidFill>
                      </a:rPr>
                      <a:t>3</a:t>
                    </a:r>
                  </a:p>
                </p:txBody>
              </p:sp>
            </p:grpSp>
            <p:sp>
              <p:nvSpPr>
                <p:cNvPr id="50" name="Rectángulo 49"/>
                <p:cNvSpPr/>
                <p:nvPr/>
              </p:nvSpPr>
              <p:spPr>
                <a:xfrm>
                  <a:off x="4482130" y="3114676"/>
                  <a:ext cx="332142" cy="7844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8" name="CuadroTexto 47"/>
              <p:cNvSpPr txBox="1"/>
              <p:nvPr/>
            </p:nvSpPr>
            <p:spPr>
              <a:xfrm>
                <a:off x="4500911" y="3918178"/>
                <a:ext cx="364202" cy="276999"/>
              </a:xfrm>
              <a:prstGeom prst="rect">
                <a:avLst/>
              </a:prstGeom>
              <a:noFill/>
            </p:spPr>
            <p:txBody>
              <a:bodyPr wrap="none" rtlCol="0">
                <a:spAutoFit/>
              </a:bodyPr>
              <a:lstStyle/>
              <a:p>
                <a:r>
                  <a:rPr lang="es-ES" dirty="0"/>
                  <a:t>C</a:t>
                </a:r>
                <a:r>
                  <a:rPr lang="es-ES" i="1" baseline="-25000" dirty="0"/>
                  <a:t>K</a:t>
                </a:r>
              </a:p>
            </p:txBody>
          </p:sp>
        </p:grpSp>
        <p:sp>
          <p:nvSpPr>
            <p:cNvPr id="54" name="CuadroTexto 53"/>
            <p:cNvSpPr txBox="1"/>
            <p:nvPr/>
          </p:nvSpPr>
          <p:spPr>
            <a:xfrm>
              <a:off x="4968613" y="3446061"/>
              <a:ext cx="338554" cy="276999"/>
            </a:xfrm>
            <a:prstGeom prst="rect">
              <a:avLst/>
            </a:prstGeom>
            <a:noFill/>
          </p:spPr>
          <p:txBody>
            <a:bodyPr wrap="none" rtlCol="0">
              <a:spAutoFit/>
            </a:bodyPr>
            <a:lstStyle/>
            <a:p>
              <a:r>
                <a:rPr lang="es-ES" dirty="0"/>
                <a:t>…</a:t>
              </a:r>
            </a:p>
          </p:txBody>
        </p:sp>
      </p:grpSp>
      <p:grpSp>
        <p:nvGrpSpPr>
          <p:cNvPr id="63" name="Grupo 62"/>
          <p:cNvGrpSpPr/>
          <p:nvPr/>
        </p:nvGrpSpPr>
        <p:grpSpPr>
          <a:xfrm>
            <a:off x="311557" y="2679300"/>
            <a:ext cx="4953000" cy="1277273"/>
            <a:chOff x="457200" y="3158613"/>
            <a:chExt cx="4680690" cy="1277273"/>
          </a:xfrm>
        </p:grpSpPr>
        <p:sp>
          <p:nvSpPr>
            <p:cNvPr id="56" name="CuadroTexto 55"/>
            <p:cNvSpPr txBox="1"/>
            <p:nvPr/>
          </p:nvSpPr>
          <p:spPr>
            <a:xfrm>
              <a:off x="457200" y="3158613"/>
              <a:ext cx="1481496" cy="276999"/>
            </a:xfrm>
            <a:prstGeom prst="rect">
              <a:avLst/>
            </a:prstGeom>
            <a:noFill/>
          </p:spPr>
          <p:txBody>
            <a:bodyPr wrap="none" rtlCol="0">
              <a:spAutoFit/>
            </a:bodyPr>
            <a:lstStyle/>
            <a:p>
              <a:pPr marL="171450" indent="-171450">
                <a:buFont typeface="Arial" panose="020B0604020202020204" pitchFamily="34" charset="0"/>
                <a:buChar char="•"/>
              </a:pPr>
              <a:r>
                <a:rPr lang="es-ES" b="1" dirty="0"/>
                <a:t>Conglomerados</a:t>
              </a:r>
              <a:r>
                <a:rPr lang="es-ES" dirty="0"/>
                <a:t>:</a:t>
              </a:r>
            </a:p>
          </p:txBody>
        </p:sp>
        <p:sp>
          <p:nvSpPr>
            <p:cNvPr id="58" name="CuadroTexto 57"/>
            <p:cNvSpPr txBox="1"/>
            <p:nvPr/>
          </p:nvSpPr>
          <p:spPr>
            <a:xfrm>
              <a:off x="1845677" y="3158613"/>
              <a:ext cx="3292213" cy="1277273"/>
            </a:xfrm>
            <a:prstGeom prst="rect">
              <a:avLst/>
            </a:prstGeom>
            <a:noFill/>
          </p:spPr>
          <p:txBody>
            <a:bodyPr wrap="square" rtlCol="0">
              <a:spAutoFit/>
            </a:bodyPr>
            <a:lstStyle/>
            <a:p>
              <a:pPr algn="just"/>
              <a:r>
                <a:rPr lang="es-ES" dirty="0"/>
                <a:t>Subconjuntos </a:t>
              </a:r>
              <a:r>
                <a:rPr lang="es-ES" b="1" dirty="0"/>
                <a:t>heterogéneos</a:t>
              </a:r>
              <a:r>
                <a:rPr lang="es-ES" dirty="0"/>
                <a:t> de la población que son </a:t>
              </a:r>
              <a:r>
                <a:rPr lang="es-ES" b="1" dirty="0"/>
                <a:t>internamente homogéneos </a:t>
              </a:r>
              <a:r>
                <a:rPr lang="es-ES" dirty="0"/>
                <a:t>bajo algún criterio (variable de estratificación) </a:t>
              </a:r>
            </a:p>
            <a:p>
              <a:pPr algn="just">
                <a:spcBef>
                  <a:spcPts val="600"/>
                </a:spcBef>
              </a:pPr>
              <a:r>
                <a:rPr lang="es-ES" dirty="0">
                  <a:solidFill>
                    <a:srgbClr val="35747B"/>
                  </a:solidFill>
                </a:rPr>
                <a:t>Ejemplo: Son conglomerados los grupos definidos por ciudades, centros hospitalarios, colegios,…</a:t>
              </a:r>
            </a:p>
          </p:txBody>
        </p:sp>
      </p:grpSp>
      <p:grpSp>
        <p:nvGrpSpPr>
          <p:cNvPr id="67" name="Grupo 66"/>
          <p:cNvGrpSpPr/>
          <p:nvPr/>
        </p:nvGrpSpPr>
        <p:grpSpPr>
          <a:xfrm>
            <a:off x="313430" y="1508476"/>
            <a:ext cx="4239520" cy="1092607"/>
            <a:chOff x="457200" y="1508476"/>
            <a:chExt cx="4239520" cy="1092607"/>
          </a:xfrm>
        </p:grpSpPr>
        <p:sp>
          <p:nvSpPr>
            <p:cNvPr id="57" name="CuadroTexto 56"/>
            <p:cNvSpPr txBox="1"/>
            <p:nvPr/>
          </p:nvSpPr>
          <p:spPr>
            <a:xfrm>
              <a:off x="457200" y="1508476"/>
              <a:ext cx="1058303" cy="276999"/>
            </a:xfrm>
            <a:prstGeom prst="rect">
              <a:avLst/>
            </a:prstGeom>
            <a:noFill/>
          </p:spPr>
          <p:txBody>
            <a:bodyPr wrap="none" rtlCol="0">
              <a:spAutoFit/>
            </a:bodyPr>
            <a:lstStyle/>
            <a:p>
              <a:pPr marL="171450" indent="-171450">
                <a:buFont typeface="Arial" panose="020B0604020202020204" pitchFamily="34" charset="0"/>
                <a:buChar char="•"/>
              </a:pPr>
              <a:r>
                <a:rPr lang="es-ES" b="1" dirty="0"/>
                <a:t>Estratos</a:t>
              </a:r>
              <a:r>
                <a:rPr lang="es-ES" dirty="0"/>
                <a:t>: </a:t>
              </a:r>
            </a:p>
          </p:txBody>
        </p:sp>
        <p:sp>
          <p:nvSpPr>
            <p:cNvPr id="61" name="CuadroTexto 60"/>
            <p:cNvSpPr txBox="1"/>
            <p:nvPr/>
          </p:nvSpPr>
          <p:spPr>
            <a:xfrm>
              <a:off x="1404507" y="1508476"/>
              <a:ext cx="3292213" cy="1092607"/>
            </a:xfrm>
            <a:prstGeom prst="rect">
              <a:avLst/>
            </a:prstGeom>
            <a:noFill/>
          </p:spPr>
          <p:txBody>
            <a:bodyPr wrap="square" rtlCol="0">
              <a:spAutoFit/>
            </a:bodyPr>
            <a:lstStyle/>
            <a:p>
              <a:pPr algn="just"/>
              <a:r>
                <a:rPr lang="es-ES" dirty="0"/>
                <a:t>Subconjuntos </a:t>
              </a:r>
              <a:r>
                <a:rPr lang="es-ES" b="1" dirty="0"/>
                <a:t>homogéneos </a:t>
              </a:r>
              <a:r>
                <a:rPr lang="es-ES" dirty="0"/>
                <a:t>de la población que son </a:t>
              </a:r>
              <a:r>
                <a:rPr lang="es-ES" b="1" dirty="0"/>
                <a:t>internamente heterogéneos</a:t>
              </a:r>
              <a:r>
                <a:rPr lang="es-ES" dirty="0"/>
                <a:t> algún criterio (variable de estratificación) </a:t>
              </a:r>
            </a:p>
            <a:p>
              <a:pPr algn="just">
                <a:spcBef>
                  <a:spcPts val="600"/>
                </a:spcBef>
              </a:pPr>
              <a:r>
                <a:rPr lang="es-ES" dirty="0">
                  <a:solidFill>
                    <a:srgbClr val="35747B"/>
                  </a:solidFill>
                </a:rPr>
                <a:t>Ejemplo: son estratos los grupos definidos por sexo, tramos de edad,…</a:t>
              </a:r>
            </a:p>
          </p:txBody>
        </p:sp>
      </p:grpSp>
      <p:sp>
        <p:nvSpPr>
          <p:cNvPr id="62" name="CuadroTexto 61"/>
          <p:cNvSpPr txBox="1"/>
          <p:nvPr/>
        </p:nvSpPr>
        <p:spPr>
          <a:xfrm>
            <a:off x="228600" y="900689"/>
            <a:ext cx="6533712" cy="461665"/>
          </a:xfrm>
          <a:prstGeom prst="rect">
            <a:avLst/>
          </a:prstGeom>
          <a:noFill/>
        </p:spPr>
        <p:txBody>
          <a:bodyPr wrap="none" rtlCol="0">
            <a:spAutoFit/>
          </a:bodyPr>
          <a:lstStyle/>
          <a:p>
            <a:r>
              <a:rPr lang="es-ES" dirty="0"/>
              <a:t>A menudo la población se subdivide en </a:t>
            </a:r>
            <a:r>
              <a:rPr lang="es-ES" b="1" dirty="0"/>
              <a:t>grupos</a:t>
            </a:r>
            <a:r>
              <a:rPr lang="es-ES" dirty="0"/>
              <a:t> antes de realizar el muestreo aleatorio simple.</a:t>
            </a:r>
          </a:p>
          <a:p>
            <a:r>
              <a:rPr lang="es-ES" dirty="0"/>
              <a:t>Dos tipos de agrupaciones: </a:t>
            </a:r>
          </a:p>
        </p:txBody>
      </p:sp>
      <p:sp>
        <p:nvSpPr>
          <p:cNvPr id="64" name="CuadroTexto 63"/>
          <p:cNvSpPr txBox="1"/>
          <p:nvPr/>
        </p:nvSpPr>
        <p:spPr>
          <a:xfrm>
            <a:off x="5913040" y="2572434"/>
            <a:ext cx="748923" cy="276999"/>
          </a:xfrm>
          <a:prstGeom prst="rect">
            <a:avLst/>
          </a:prstGeom>
          <a:noFill/>
        </p:spPr>
        <p:txBody>
          <a:bodyPr wrap="none" rtlCol="0">
            <a:spAutoFit/>
          </a:bodyPr>
          <a:lstStyle/>
          <a:p>
            <a:pPr algn="ctr"/>
            <a:r>
              <a:rPr lang="es-ES" dirty="0"/>
              <a:t>Estratos</a:t>
            </a:r>
          </a:p>
        </p:txBody>
      </p:sp>
      <p:sp>
        <p:nvSpPr>
          <p:cNvPr id="65" name="CuadroTexto 64"/>
          <p:cNvSpPr txBox="1"/>
          <p:nvPr/>
        </p:nvSpPr>
        <p:spPr>
          <a:xfrm>
            <a:off x="7247670" y="2559851"/>
            <a:ext cx="1265090" cy="276999"/>
          </a:xfrm>
          <a:prstGeom prst="rect">
            <a:avLst/>
          </a:prstGeom>
          <a:noFill/>
        </p:spPr>
        <p:txBody>
          <a:bodyPr wrap="none" rtlCol="0">
            <a:spAutoFit/>
          </a:bodyPr>
          <a:lstStyle/>
          <a:p>
            <a:pPr algn="ctr"/>
            <a:r>
              <a:rPr lang="es-ES" dirty="0"/>
              <a:t>Conglomerados</a:t>
            </a:r>
          </a:p>
        </p:txBody>
      </p:sp>
      <p:sp>
        <p:nvSpPr>
          <p:cNvPr id="66" name="AutoShape 44"/>
          <p:cNvSpPr>
            <a:spLocks noChangeArrowheads="1"/>
          </p:cNvSpPr>
          <p:nvPr/>
        </p:nvSpPr>
        <p:spPr bwMode="auto">
          <a:xfrm>
            <a:off x="5567827" y="1265366"/>
            <a:ext cx="3271373" cy="1718102"/>
          </a:xfrm>
          <a:prstGeom prst="roundRect">
            <a:avLst>
              <a:gd name="adj" fmla="val 369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ES" altLang="es-ES" sz="1400"/>
          </a:p>
        </p:txBody>
      </p:sp>
      <p:sp>
        <p:nvSpPr>
          <p:cNvPr id="68" name="CuadroTexto 67"/>
          <p:cNvSpPr txBox="1"/>
          <p:nvPr/>
        </p:nvSpPr>
        <p:spPr>
          <a:xfrm>
            <a:off x="247650" y="4087305"/>
            <a:ext cx="4520789" cy="276999"/>
          </a:xfrm>
          <a:prstGeom prst="rect">
            <a:avLst/>
          </a:prstGeom>
          <a:noFill/>
        </p:spPr>
        <p:txBody>
          <a:bodyPr wrap="none" rtlCol="0">
            <a:spAutoFit/>
          </a:bodyPr>
          <a:lstStyle/>
          <a:p>
            <a:r>
              <a:rPr lang="es-ES" dirty="0"/>
              <a:t>Idea intuitiva de un posible esquema de </a:t>
            </a:r>
            <a:r>
              <a:rPr lang="es-ES" b="1" i="1" dirty="0"/>
              <a:t>muestreo</a:t>
            </a:r>
            <a:r>
              <a:rPr lang="es-ES" dirty="0"/>
              <a:t> </a:t>
            </a:r>
            <a:r>
              <a:rPr lang="es-ES" b="1" i="1" dirty="0" err="1"/>
              <a:t>polietápico</a:t>
            </a:r>
            <a:r>
              <a:rPr lang="es-ES" dirty="0"/>
              <a:t>:</a:t>
            </a:r>
          </a:p>
        </p:txBody>
      </p:sp>
      <p:sp>
        <p:nvSpPr>
          <p:cNvPr id="70" name="CuadroTexto 69"/>
          <p:cNvSpPr txBox="1"/>
          <p:nvPr/>
        </p:nvSpPr>
        <p:spPr>
          <a:xfrm>
            <a:off x="405998" y="4697362"/>
            <a:ext cx="5001690" cy="646331"/>
          </a:xfrm>
          <a:prstGeom prst="rect">
            <a:avLst/>
          </a:prstGeom>
          <a:noFill/>
        </p:spPr>
        <p:txBody>
          <a:bodyPr wrap="none" rtlCol="0">
            <a:spAutoFit/>
          </a:bodyPr>
          <a:lstStyle/>
          <a:p>
            <a:pPr marL="228600" indent="-228600">
              <a:buFont typeface="+mj-lt"/>
              <a:buAutoNum type="arabicPeriod"/>
            </a:pPr>
            <a:r>
              <a:rPr lang="es-ES" dirty="0"/>
              <a:t>Selección aleatoria de conglomerados</a:t>
            </a:r>
          </a:p>
          <a:p>
            <a:pPr marL="228600" indent="-228600">
              <a:buFont typeface="+mj-lt"/>
              <a:buAutoNum type="arabicPeriod"/>
            </a:pPr>
            <a:r>
              <a:rPr lang="es-ES" dirty="0"/>
              <a:t>División en estratos dentro de cada conglomerado </a:t>
            </a:r>
          </a:p>
          <a:p>
            <a:pPr marL="228600" indent="-228600">
              <a:buFont typeface="+mj-lt"/>
              <a:buAutoNum type="arabicPeriod"/>
            </a:pPr>
            <a:r>
              <a:rPr lang="es-ES" dirty="0"/>
              <a:t>Selección de sujetos dentro de cada estrato de cada conglomerado</a:t>
            </a:r>
          </a:p>
        </p:txBody>
      </p:sp>
      <p:sp>
        <p:nvSpPr>
          <p:cNvPr id="71" name="CuadroTexto 70"/>
          <p:cNvSpPr txBox="1"/>
          <p:nvPr/>
        </p:nvSpPr>
        <p:spPr>
          <a:xfrm>
            <a:off x="405998" y="5612925"/>
            <a:ext cx="6533712" cy="646331"/>
          </a:xfrm>
          <a:prstGeom prst="rect">
            <a:avLst/>
          </a:prstGeom>
          <a:noFill/>
        </p:spPr>
        <p:txBody>
          <a:bodyPr wrap="none" rtlCol="0">
            <a:spAutoFit/>
          </a:bodyPr>
          <a:lstStyle/>
          <a:p>
            <a:pPr marL="228600" indent="-228600">
              <a:buFont typeface="+mj-lt"/>
              <a:buAutoNum type="arabicPeriod"/>
            </a:pPr>
            <a:r>
              <a:rPr lang="es-ES" dirty="0">
                <a:solidFill>
                  <a:srgbClr val="35747B"/>
                </a:solidFill>
              </a:rPr>
              <a:t>Selección aleatoria de hospitales</a:t>
            </a:r>
          </a:p>
          <a:p>
            <a:pPr marL="228600" indent="-228600">
              <a:buFont typeface="+mj-lt"/>
              <a:buAutoNum type="arabicPeriod"/>
            </a:pPr>
            <a:r>
              <a:rPr lang="es-ES" dirty="0">
                <a:solidFill>
                  <a:srgbClr val="35747B"/>
                </a:solidFill>
              </a:rPr>
              <a:t>En cada hospital hay Auxiliares, Personal de Enfermería y Médicos</a:t>
            </a:r>
          </a:p>
          <a:p>
            <a:pPr marL="228600" indent="-228600">
              <a:buFont typeface="+mj-lt"/>
              <a:buAutoNum type="arabicPeriod"/>
            </a:pPr>
            <a:r>
              <a:rPr lang="es-ES" dirty="0">
                <a:solidFill>
                  <a:srgbClr val="35747B"/>
                </a:solidFill>
              </a:rPr>
              <a:t>Selección aleatoria de un nº determinado de Auxiliares, de Enfermeros/as y de Médicos</a:t>
            </a:r>
          </a:p>
        </p:txBody>
      </p:sp>
      <p:sp>
        <p:nvSpPr>
          <p:cNvPr id="72" name="CuadroTexto 71"/>
          <p:cNvSpPr txBox="1"/>
          <p:nvPr/>
        </p:nvSpPr>
        <p:spPr>
          <a:xfrm>
            <a:off x="405998" y="4430433"/>
            <a:ext cx="4257897" cy="276999"/>
          </a:xfrm>
          <a:prstGeom prst="rect">
            <a:avLst/>
          </a:prstGeom>
          <a:noFill/>
        </p:spPr>
        <p:txBody>
          <a:bodyPr wrap="none" rtlCol="0">
            <a:spAutoFit/>
          </a:bodyPr>
          <a:lstStyle/>
          <a:p>
            <a:r>
              <a:rPr lang="es-ES" dirty="0"/>
              <a:t>Conocidos los conglomerados y los estratos de la población</a:t>
            </a:r>
          </a:p>
        </p:txBody>
      </p:sp>
      <p:sp>
        <p:nvSpPr>
          <p:cNvPr id="99" name="Rectangle 2"/>
          <p:cNvSpPr>
            <a:spLocks noChangeArrowheads="1"/>
          </p:cNvSpPr>
          <p:nvPr/>
        </p:nvSpPr>
        <p:spPr bwMode="auto">
          <a:xfrm>
            <a:off x="228600" y="76200"/>
            <a:ext cx="3870268"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Inferencia Estadística. Población y </a:t>
            </a:r>
            <a:r>
              <a:rPr lang="es-ES" altLang="es-ES" sz="1400" b="1" dirty="0">
                <a:cs typeface="Times New Roman" panose="02020603050405020304" pitchFamily="18" charset="0"/>
              </a:rPr>
              <a:t>muestra</a:t>
            </a:r>
          </a:p>
        </p:txBody>
      </p:sp>
      <p:sp>
        <p:nvSpPr>
          <p:cNvPr id="100" name="Rectangle 2"/>
          <p:cNvSpPr>
            <a:spLocks noChangeArrowheads="1"/>
          </p:cNvSpPr>
          <p:nvPr/>
        </p:nvSpPr>
        <p:spPr bwMode="auto">
          <a:xfrm>
            <a:off x="219075" y="409258"/>
            <a:ext cx="2698472"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solidFill>
                  <a:srgbClr val="FF0000"/>
                </a:solidFill>
                <a:cs typeface="Times New Roman" panose="02020603050405020304" pitchFamily="18" charset="0"/>
              </a:rPr>
              <a:t>Otros esquemas de muestreo</a:t>
            </a:r>
            <a:endParaRPr lang="es-ES" altLang="es-ES" sz="1400" b="1" dirty="0">
              <a:solidFill>
                <a:srgbClr val="FF0000"/>
              </a:solidFill>
              <a:cs typeface="Times New Roman" panose="02020603050405020304" pitchFamily="18" charset="0"/>
            </a:endParaRPr>
          </a:p>
        </p:txBody>
      </p:sp>
      <p:sp>
        <p:nvSpPr>
          <p:cNvPr id="101" name="CuadroTexto 100"/>
          <p:cNvSpPr txBox="1"/>
          <p:nvPr/>
        </p:nvSpPr>
        <p:spPr>
          <a:xfrm rot="1015401">
            <a:off x="7428562" y="526614"/>
            <a:ext cx="1104790" cy="276999"/>
          </a:xfrm>
          <a:prstGeom prst="rect">
            <a:avLst/>
          </a:prstGeom>
          <a:noFill/>
          <a:ln>
            <a:solidFill>
              <a:srgbClr val="FF0000"/>
            </a:solidFill>
          </a:ln>
        </p:spPr>
        <p:txBody>
          <a:bodyPr wrap="none" rtlCol="0">
            <a:spAutoFit/>
          </a:bodyPr>
          <a:lstStyle/>
          <a:p>
            <a:r>
              <a:rPr lang="es-ES" dirty="0">
                <a:solidFill>
                  <a:srgbClr val="C00000"/>
                </a:solidFill>
              </a:rPr>
              <a:t>complemento</a:t>
            </a:r>
          </a:p>
        </p:txBody>
      </p:sp>
    </p:spTree>
    <p:extLst>
      <p:ext uri="{BB962C8B-B14F-4D97-AF65-F5344CB8AC3E}">
        <p14:creationId xmlns:p14="http://schemas.microsoft.com/office/powerpoint/2010/main" val="2302120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4 Rectángulo"/>
          <p:cNvSpPr>
            <a:spLocks noChangeArrowheads="1"/>
          </p:cNvSpPr>
          <p:nvPr/>
        </p:nvSpPr>
        <p:spPr bwMode="auto">
          <a:xfrm>
            <a:off x="1828800" y="2514600"/>
            <a:ext cx="5715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s-ES" altLang="es-ES" sz="2000" b="1" dirty="0"/>
              <a:t>Concepto de </a:t>
            </a:r>
            <a:r>
              <a:rPr lang="es-ES" altLang="es-ES" sz="2000" b="1" dirty="0">
                <a:solidFill>
                  <a:srgbClr val="FF0000"/>
                </a:solidFill>
              </a:rPr>
              <a:t>INFERENCIA</a:t>
            </a:r>
            <a:r>
              <a:rPr lang="es-ES" altLang="es-ES" sz="2000" b="1" dirty="0"/>
              <a:t> </a:t>
            </a:r>
          </a:p>
        </p:txBody>
      </p:sp>
    </p:spTree>
    <p:extLst>
      <p:ext uri="{BB962C8B-B14F-4D97-AF65-F5344CB8AC3E}">
        <p14:creationId xmlns:p14="http://schemas.microsoft.com/office/powerpoint/2010/main" val="4995717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09" name="Rectangle 2"/>
          <p:cNvSpPr>
            <a:spLocks noChangeArrowheads="1"/>
          </p:cNvSpPr>
          <p:nvPr/>
        </p:nvSpPr>
        <p:spPr bwMode="auto">
          <a:xfrm>
            <a:off x="227013" y="428625"/>
            <a:ext cx="1807139"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solidFill>
                  <a:srgbClr val="FF0000"/>
                </a:solidFill>
                <a:cs typeface="Times New Roman" panose="02020603050405020304" pitchFamily="18" charset="0"/>
              </a:rPr>
              <a:t>Tipos de inferencia</a:t>
            </a:r>
          </a:p>
        </p:txBody>
      </p:sp>
      <p:sp>
        <p:nvSpPr>
          <p:cNvPr id="32811" name="Rectangle 2"/>
          <p:cNvSpPr>
            <a:spLocks noChangeArrowheads="1"/>
          </p:cNvSpPr>
          <p:nvPr/>
        </p:nvSpPr>
        <p:spPr bwMode="auto">
          <a:xfrm>
            <a:off x="304800" y="1371600"/>
            <a:ext cx="5875624"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buFont typeface="+mj-lt"/>
              <a:buAutoNum type="arabicPeriod"/>
            </a:pPr>
            <a:r>
              <a:rPr lang="es-ES_tradnl" altLang="es-ES" sz="1400" b="1" dirty="0">
                <a:solidFill>
                  <a:srgbClr val="FF0000"/>
                </a:solidFill>
                <a:cs typeface="Times New Roman" panose="02020603050405020304" pitchFamily="18" charset="0"/>
              </a:rPr>
              <a:t>Estimación de parámetros puntual y por intervalo de confianza</a:t>
            </a:r>
          </a:p>
        </p:txBody>
      </p:sp>
      <p:sp>
        <p:nvSpPr>
          <p:cNvPr id="32812" name="Rectangle 2"/>
          <p:cNvSpPr>
            <a:spLocks noChangeArrowheads="1"/>
          </p:cNvSpPr>
          <p:nvPr/>
        </p:nvSpPr>
        <p:spPr bwMode="auto">
          <a:xfrm>
            <a:off x="304800" y="3886200"/>
            <a:ext cx="2940526"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buFont typeface="+mj-lt"/>
              <a:buAutoNum type="arabicPeriod" startAt="2"/>
            </a:pPr>
            <a:r>
              <a:rPr lang="es-ES_tradnl" altLang="es-ES" sz="1400" b="1" dirty="0">
                <a:solidFill>
                  <a:srgbClr val="FF0000"/>
                </a:solidFill>
                <a:cs typeface="Times New Roman" panose="02020603050405020304" pitchFamily="18" charset="0"/>
              </a:rPr>
              <a:t>Contraste (</a:t>
            </a:r>
            <a:r>
              <a:rPr lang="es-ES" altLang="es-ES" sz="1400" b="1" dirty="0">
                <a:solidFill>
                  <a:srgbClr val="FF0000"/>
                </a:solidFill>
                <a:cs typeface="Times New Roman" panose="02020603050405020304" pitchFamily="18" charset="0"/>
              </a:rPr>
              <a:t>test) </a:t>
            </a:r>
            <a:r>
              <a:rPr lang="es-ES_tradnl" altLang="es-ES" sz="1400" b="1" dirty="0">
                <a:solidFill>
                  <a:srgbClr val="FF0000"/>
                </a:solidFill>
                <a:cs typeface="Times New Roman" panose="02020603050405020304" pitchFamily="18" charset="0"/>
              </a:rPr>
              <a:t>de hipótesis</a:t>
            </a:r>
          </a:p>
        </p:txBody>
      </p:sp>
      <p:sp>
        <p:nvSpPr>
          <p:cNvPr id="32813" name="Text Box 45"/>
          <p:cNvSpPr txBox="1">
            <a:spLocks noChangeArrowheads="1"/>
          </p:cNvSpPr>
          <p:nvPr/>
        </p:nvSpPr>
        <p:spPr bwMode="auto">
          <a:xfrm>
            <a:off x="304800" y="914400"/>
            <a:ext cx="3565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_tradnl" altLang="es-ES" sz="1400" dirty="0"/>
              <a:t>Dos facetas de la </a:t>
            </a:r>
            <a:r>
              <a:rPr lang="es-ES_tradnl" altLang="es-ES" sz="1400" b="1" dirty="0"/>
              <a:t>Inferencia Estadística:</a:t>
            </a:r>
            <a:r>
              <a:rPr lang="es-ES_tradnl" altLang="es-ES" sz="1400" dirty="0"/>
              <a:t> </a:t>
            </a:r>
            <a:endParaRPr lang="es-ES" altLang="es-ES" sz="1400" dirty="0"/>
          </a:p>
        </p:txBody>
      </p:sp>
      <p:sp>
        <p:nvSpPr>
          <p:cNvPr id="32815" name="Text Box 47"/>
          <p:cNvSpPr txBox="1">
            <a:spLocks noChangeArrowheads="1"/>
          </p:cNvSpPr>
          <p:nvPr/>
        </p:nvSpPr>
        <p:spPr bwMode="auto">
          <a:xfrm>
            <a:off x="304800" y="1738313"/>
            <a:ext cx="8610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s-ES_tradnl" altLang="es-ES" sz="1400" dirty="0"/>
              <a:t>1.1 Se trata de asignar valores a determinados parámetros poblacionales de interés.</a:t>
            </a:r>
          </a:p>
          <a:p>
            <a:endParaRPr lang="es-ES_tradnl" altLang="es-ES" sz="1400" dirty="0"/>
          </a:p>
          <a:p>
            <a:pPr algn="just"/>
            <a:r>
              <a:rPr lang="es-ES_tradnl" altLang="es-ES" sz="1400" dirty="0"/>
              <a:t>A menudo los parámetros poblacionales se corresponden con parámetros de una distribución de probabilidad</a:t>
            </a:r>
            <a:endParaRPr lang="es-ES" altLang="es-ES" sz="1400" dirty="0"/>
          </a:p>
        </p:txBody>
      </p:sp>
      <p:sp>
        <p:nvSpPr>
          <p:cNvPr id="32816" name="Text Box 48"/>
          <p:cNvSpPr txBox="1">
            <a:spLocks noChangeArrowheads="1"/>
          </p:cNvSpPr>
          <p:nvPr/>
        </p:nvSpPr>
        <p:spPr bwMode="auto">
          <a:xfrm>
            <a:off x="609600" y="2667000"/>
            <a:ext cx="7467600"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s-ES_tradnl" altLang="es-ES" sz="1400" dirty="0">
                <a:solidFill>
                  <a:srgbClr val="2A5B60"/>
                </a:solidFill>
              </a:rPr>
              <a:t>¿Cuál es el nivel medio de colesterol en la población infantil? →</a:t>
            </a:r>
            <a:r>
              <a:rPr lang="es-ES_tradnl" altLang="es-ES" sz="1600" dirty="0">
                <a:solidFill>
                  <a:srgbClr val="2A5B60"/>
                </a:solidFill>
              </a:rPr>
              <a:t> </a:t>
            </a:r>
            <a:r>
              <a:rPr lang="es-ES_tradnl" altLang="es-ES" sz="1600" dirty="0">
                <a:solidFill>
                  <a:srgbClr val="2A5B60"/>
                </a:solidFill>
                <a:latin typeface="Times New Roman" panose="02020603050405020304" pitchFamily="18" charset="0"/>
              </a:rPr>
              <a:t>¿</a:t>
            </a:r>
            <a:r>
              <a:rPr lang="es-ES_tradnl" altLang="es-ES" sz="1600" dirty="0">
                <a:solidFill>
                  <a:srgbClr val="2A5B60"/>
                </a:solidFill>
                <a:latin typeface="Symbol" panose="05050102010706020507" pitchFamily="18" charset="2"/>
              </a:rPr>
              <a:t>m? </a:t>
            </a:r>
            <a:r>
              <a:rPr lang="es-ES_tradnl" altLang="es-ES" sz="1400" dirty="0">
                <a:solidFill>
                  <a:srgbClr val="2A5B60"/>
                </a:solidFill>
              </a:rPr>
              <a:t>de una </a:t>
            </a:r>
            <a:r>
              <a:rPr lang="es-ES_tradnl" altLang="es-ES" sz="1600" dirty="0">
                <a:solidFill>
                  <a:srgbClr val="2A5B60"/>
                </a:solidFill>
                <a:latin typeface="Symbol" panose="05050102010706020507" pitchFamily="18" charset="2"/>
              </a:rPr>
              <a:t>N(</a:t>
            </a:r>
            <a:r>
              <a:rPr lang="es-ES_tradnl" altLang="es-ES" sz="1600" dirty="0" err="1">
                <a:solidFill>
                  <a:srgbClr val="2A5B60"/>
                </a:solidFill>
                <a:latin typeface="Symbol" panose="05050102010706020507" pitchFamily="18" charset="2"/>
              </a:rPr>
              <a:t>m,s</a:t>
            </a:r>
            <a:r>
              <a:rPr lang="es-ES_tradnl" altLang="es-ES" sz="1600" dirty="0">
                <a:solidFill>
                  <a:srgbClr val="2A5B60"/>
                </a:solidFill>
                <a:latin typeface="Symbol" panose="05050102010706020507" pitchFamily="18" charset="2"/>
              </a:rPr>
              <a:t>)</a:t>
            </a:r>
          </a:p>
          <a:p>
            <a:pPr algn="just">
              <a:lnSpc>
                <a:spcPct val="110000"/>
              </a:lnSpc>
            </a:pPr>
            <a:r>
              <a:rPr lang="es-ES_tradnl" altLang="es-ES" sz="1400" dirty="0">
                <a:solidFill>
                  <a:srgbClr val="2A5B60"/>
                </a:solidFill>
              </a:rPr>
              <a:t>¿Cuál es la prevalencia del síndrome metabólico en la población? → </a:t>
            </a:r>
            <a:r>
              <a:rPr lang="es-ES_tradnl" altLang="es-ES" sz="1400" dirty="0">
                <a:solidFill>
                  <a:srgbClr val="2A5B60"/>
                </a:solidFill>
                <a:latin typeface="Times New Roman" panose="02020603050405020304" pitchFamily="18" charset="0"/>
              </a:rPr>
              <a:t>¿ </a:t>
            </a:r>
            <a:r>
              <a:rPr lang="es-ES_tradnl" altLang="es-ES" sz="1600" i="1" dirty="0">
                <a:solidFill>
                  <a:srgbClr val="2A5B60"/>
                </a:solidFill>
                <a:latin typeface="Times New Roman" panose="02020603050405020304" pitchFamily="18" charset="0"/>
              </a:rPr>
              <a:t>p</a:t>
            </a:r>
            <a:r>
              <a:rPr lang="es-ES_tradnl" altLang="es-ES" sz="1600" dirty="0">
                <a:solidFill>
                  <a:srgbClr val="2A5B60"/>
                </a:solidFill>
                <a:latin typeface="Times New Roman" panose="02020603050405020304" pitchFamily="18" charset="0"/>
              </a:rPr>
              <a:t>?</a:t>
            </a:r>
            <a:r>
              <a:rPr lang="es-ES_tradnl" altLang="es-ES" sz="1400" dirty="0">
                <a:solidFill>
                  <a:srgbClr val="2A5B60"/>
                </a:solidFill>
              </a:rPr>
              <a:t> de una </a:t>
            </a:r>
            <a:r>
              <a:rPr lang="es-ES_tradnl" altLang="es-ES" sz="1600" dirty="0">
                <a:solidFill>
                  <a:srgbClr val="2A5B60"/>
                </a:solidFill>
                <a:latin typeface="Times New Roman" panose="02020603050405020304" pitchFamily="18" charset="0"/>
              </a:rPr>
              <a:t>B(</a:t>
            </a:r>
            <a:r>
              <a:rPr lang="es-ES_tradnl" altLang="es-ES" sz="1600" i="1" dirty="0" err="1">
                <a:solidFill>
                  <a:srgbClr val="2A5B60"/>
                </a:solidFill>
                <a:latin typeface="Times New Roman" panose="02020603050405020304" pitchFamily="18" charset="0"/>
              </a:rPr>
              <a:t>n,p</a:t>
            </a:r>
            <a:r>
              <a:rPr lang="es-ES_tradnl" altLang="es-ES" sz="1600" dirty="0">
                <a:solidFill>
                  <a:srgbClr val="2A5B60"/>
                </a:solidFill>
                <a:latin typeface="Times New Roman" panose="02020603050405020304" pitchFamily="18" charset="0"/>
              </a:rPr>
              <a:t>)</a:t>
            </a:r>
          </a:p>
          <a:p>
            <a:pPr algn="just"/>
            <a:r>
              <a:rPr lang="es-ES_tradnl" altLang="es-ES" sz="1400" dirty="0">
                <a:solidFill>
                  <a:srgbClr val="2A5B60"/>
                </a:solidFill>
              </a:rPr>
              <a:t>¿Cuál es el número medio de llamadas al 061 al día? → </a:t>
            </a:r>
            <a:r>
              <a:rPr lang="es-ES_tradnl" altLang="es-ES" sz="1400" dirty="0">
                <a:solidFill>
                  <a:srgbClr val="2A5B60"/>
                </a:solidFill>
                <a:latin typeface="Times New Roman" panose="02020603050405020304" pitchFamily="18" charset="0"/>
              </a:rPr>
              <a:t>¿</a:t>
            </a:r>
            <a:r>
              <a:rPr lang="es-ES_tradnl" altLang="es-ES" sz="1600" dirty="0">
                <a:solidFill>
                  <a:srgbClr val="2A5B60"/>
                </a:solidFill>
                <a:latin typeface="Symbol" panose="05050102010706020507" pitchFamily="18" charset="2"/>
              </a:rPr>
              <a:t>l?</a:t>
            </a:r>
            <a:r>
              <a:rPr lang="es-ES_tradnl" altLang="es-ES" sz="1400" dirty="0">
                <a:solidFill>
                  <a:srgbClr val="2A5B60"/>
                </a:solidFill>
              </a:rPr>
              <a:t> de </a:t>
            </a:r>
            <a:r>
              <a:rPr lang="es-ES_tradnl" altLang="es-ES" sz="1600" dirty="0">
                <a:solidFill>
                  <a:srgbClr val="2A5B60"/>
                </a:solidFill>
                <a:latin typeface="Times New Roman" panose="02020603050405020304" pitchFamily="18" charset="0"/>
              </a:rPr>
              <a:t>P</a:t>
            </a:r>
            <a:r>
              <a:rPr lang="es-ES_tradnl" altLang="es-ES" sz="1400" dirty="0">
                <a:solidFill>
                  <a:srgbClr val="2A5B60"/>
                </a:solidFill>
              </a:rPr>
              <a:t>(</a:t>
            </a:r>
            <a:r>
              <a:rPr lang="es-ES_tradnl" altLang="es-ES" sz="1600" dirty="0">
                <a:solidFill>
                  <a:srgbClr val="2A5B60"/>
                </a:solidFill>
                <a:latin typeface="Symbol" panose="05050102010706020507" pitchFamily="18" charset="2"/>
              </a:rPr>
              <a:t>l</a:t>
            </a:r>
            <a:r>
              <a:rPr lang="es-ES_tradnl" altLang="es-ES" sz="1400" dirty="0">
                <a:solidFill>
                  <a:srgbClr val="2A5B60"/>
                </a:solidFill>
              </a:rPr>
              <a:t>)</a:t>
            </a:r>
          </a:p>
        </p:txBody>
      </p:sp>
      <p:sp>
        <p:nvSpPr>
          <p:cNvPr id="32817" name="Text Box 49"/>
          <p:cNvSpPr txBox="1">
            <a:spLocks noChangeArrowheads="1"/>
          </p:cNvSpPr>
          <p:nvPr/>
        </p:nvSpPr>
        <p:spPr bwMode="auto">
          <a:xfrm>
            <a:off x="304800" y="4267200"/>
            <a:ext cx="86106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s-ES_tradnl" altLang="es-ES" sz="1400" dirty="0"/>
              <a:t>Se trata de decidir si un enunciado (hipótesis estadística) es soportado por la evidencia empírica o no.</a:t>
            </a:r>
          </a:p>
          <a:p>
            <a:pPr algn="just"/>
            <a:endParaRPr lang="es-ES_tradnl" altLang="es-ES" sz="1400" dirty="0"/>
          </a:p>
          <a:p>
            <a:pPr algn="just"/>
            <a:r>
              <a:rPr lang="es-ES_tradnl" altLang="es-ES" sz="1400" dirty="0"/>
              <a:t>Las hipótesis estadísticas se formulan en términos de los parámetros poblacionales, que a menudo se corresponden con parámetros de una distribución de probabilidad</a:t>
            </a:r>
            <a:endParaRPr lang="es-ES" altLang="es-ES" sz="1400" dirty="0"/>
          </a:p>
        </p:txBody>
      </p:sp>
      <p:sp>
        <p:nvSpPr>
          <p:cNvPr id="32818" name="Text Box 50"/>
          <p:cNvSpPr txBox="1">
            <a:spLocks noChangeArrowheads="1"/>
          </p:cNvSpPr>
          <p:nvPr/>
        </p:nvSpPr>
        <p:spPr bwMode="auto">
          <a:xfrm>
            <a:off x="609600" y="5257800"/>
            <a:ext cx="822960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10000"/>
              </a:lnSpc>
            </a:pPr>
            <a:r>
              <a:rPr lang="es-ES_tradnl" altLang="es-ES" sz="1400" dirty="0">
                <a:solidFill>
                  <a:srgbClr val="2A5B60"/>
                </a:solidFill>
              </a:rPr>
              <a:t>¿Esta relacionada la capacidad aeróbica con el sexo? →</a:t>
            </a:r>
            <a:r>
              <a:rPr lang="es-ES_tradnl" altLang="es-ES" sz="1600" dirty="0">
                <a:solidFill>
                  <a:srgbClr val="2A5B60"/>
                </a:solidFill>
              </a:rPr>
              <a:t> </a:t>
            </a:r>
            <a:r>
              <a:rPr lang="es-ES_tradnl" altLang="es-ES" sz="1600" dirty="0">
                <a:solidFill>
                  <a:srgbClr val="2A5B60"/>
                </a:solidFill>
                <a:latin typeface="Times New Roman" panose="02020603050405020304" pitchFamily="18" charset="0"/>
              </a:rPr>
              <a:t>¿</a:t>
            </a:r>
            <a:r>
              <a:rPr lang="es-ES_tradnl" altLang="es-ES" sz="1600" dirty="0" err="1">
                <a:solidFill>
                  <a:srgbClr val="2A5B60"/>
                </a:solidFill>
                <a:latin typeface="Symbol" panose="05050102010706020507" pitchFamily="18" charset="2"/>
              </a:rPr>
              <a:t>m</a:t>
            </a:r>
            <a:r>
              <a:rPr lang="es-ES_tradnl" altLang="es-ES" sz="1600" baseline="-25000" dirty="0" err="1">
                <a:solidFill>
                  <a:srgbClr val="2A5B60"/>
                </a:solidFill>
                <a:latin typeface="Times New Roman" panose="02020603050405020304" pitchFamily="18" charset="0"/>
              </a:rPr>
              <a:t>h</a:t>
            </a:r>
            <a:r>
              <a:rPr lang="es-ES_tradnl" altLang="es-ES" sz="1600" dirty="0">
                <a:solidFill>
                  <a:srgbClr val="2A5B60"/>
                </a:solidFill>
                <a:latin typeface="Symbol" panose="05050102010706020507" pitchFamily="18" charset="2"/>
              </a:rPr>
              <a:t>=m</a:t>
            </a:r>
            <a:r>
              <a:rPr lang="es-ES_tradnl" altLang="es-ES" sz="1600" baseline="-25000" dirty="0">
                <a:solidFill>
                  <a:srgbClr val="2A5B60"/>
                </a:solidFill>
                <a:latin typeface="Times New Roman" panose="02020603050405020304" pitchFamily="18" charset="0"/>
              </a:rPr>
              <a:t>m</a:t>
            </a:r>
            <a:r>
              <a:rPr lang="es-ES_tradnl" altLang="es-ES" sz="1600" dirty="0">
                <a:solidFill>
                  <a:srgbClr val="2A5B60"/>
                </a:solidFill>
                <a:latin typeface="Symbol" panose="05050102010706020507" pitchFamily="18" charset="2"/>
              </a:rPr>
              <a:t>?</a:t>
            </a:r>
          </a:p>
          <a:p>
            <a:pPr algn="just">
              <a:lnSpc>
                <a:spcPct val="110000"/>
              </a:lnSpc>
            </a:pPr>
            <a:r>
              <a:rPr lang="es-ES_tradnl" altLang="es-ES" sz="1400" dirty="0">
                <a:solidFill>
                  <a:srgbClr val="2A5B60"/>
                </a:solidFill>
              </a:rPr>
              <a:t>¿Ha variado la prevalencia del síndrome metabólico en la población en la última década? →</a:t>
            </a:r>
            <a:r>
              <a:rPr lang="es-ES_tradnl" altLang="es-ES" sz="1400" dirty="0">
                <a:solidFill>
                  <a:srgbClr val="2A5B60"/>
                </a:solidFill>
                <a:latin typeface="Times New Roman" panose="02020603050405020304" pitchFamily="18" charset="0"/>
              </a:rPr>
              <a:t>¿</a:t>
            </a:r>
            <a:r>
              <a:rPr lang="es-ES_tradnl" altLang="es-ES" sz="1600" i="1" dirty="0">
                <a:solidFill>
                  <a:srgbClr val="2A5B60"/>
                </a:solidFill>
                <a:latin typeface="Times New Roman" panose="02020603050405020304" pitchFamily="18" charset="0"/>
              </a:rPr>
              <a:t>p</a:t>
            </a:r>
            <a:r>
              <a:rPr lang="es-ES_tradnl" altLang="es-ES" sz="1600" baseline="-25000" dirty="0">
                <a:solidFill>
                  <a:srgbClr val="2A5B60"/>
                </a:solidFill>
                <a:latin typeface="Times New Roman" panose="02020603050405020304" pitchFamily="18" charset="0"/>
              </a:rPr>
              <a:t>1</a:t>
            </a:r>
            <a:r>
              <a:rPr lang="es-ES_tradnl" altLang="es-ES" sz="1600" i="1" dirty="0">
                <a:solidFill>
                  <a:srgbClr val="2A5B60"/>
                </a:solidFill>
                <a:latin typeface="Times New Roman" panose="02020603050405020304" pitchFamily="18" charset="0"/>
              </a:rPr>
              <a:t>=p</a:t>
            </a:r>
            <a:r>
              <a:rPr lang="es-ES_tradnl" altLang="es-ES" sz="1600" baseline="-25000" dirty="0">
                <a:solidFill>
                  <a:srgbClr val="2A5B60"/>
                </a:solidFill>
                <a:latin typeface="Times New Roman" panose="02020603050405020304" pitchFamily="18" charset="0"/>
              </a:rPr>
              <a:t>2</a:t>
            </a:r>
            <a:r>
              <a:rPr lang="es-ES_tradnl" altLang="es-ES" sz="1600" dirty="0">
                <a:solidFill>
                  <a:srgbClr val="2A5B60"/>
                </a:solidFill>
                <a:latin typeface="Times New Roman" panose="02020603050405020304" pitchFamily="18" charset="0"/>
              </a:rPr>
              <a:t>?</a:t>
            </a:r>
          </a:p>
          <a:p>
            <a:pPr algn="just"/>
            <a:endParaRPr lang="es-ES_tradnl" altLang="es-ES" sz="1400" dirty="0">
              <a:solidFill>
                <a:srgbClr val="2A5B60"/>
              </a:solidFill>
            </a:endParaRPr>
          </a:p>
        </p:txBody>
      </p:sp>
      <p:sp>
        <p:nvSpPr>
          <p:cNvPr id="11" name="Rectangle 2"/>
          <p:cNvSpPr>
            <a:spLocks noChangeArrowheads="1"/>
          </p:cNvSpPr>
          <p:nvPr/>
        </p:nvSpPr>
        <p:spPr bwMode="auto">
          <a:xfrm>
            <a:off x="228600" y="76200"/>
            <a:ext cx="3870268"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ES_tradnl" altLang="es-ES" sz="1400" b="1" dirty="0">
                <a:cs typeface="Times New Roman" panose="02020603050405020304" pitchFamily="18" charset="0"/>
              </a:rPr>
              <a:t>Inferencia Estadística. Población y </a:t>
            </a:r>
            <a:r>
              <a:rPr lang="es-ES" altLang="es-ES" sz="1400" b="1" dirty="0">
                <a:cs typeface="Times New Roman" panose="02020603050405020304" pitchFamily="18" charset="0"/>
              </a:rPr>
              <a:t>muestra</a:t>
            </a:r>
          </a:p>
        </p:txBody>
      </p:sp>
      <p:sp>
        <p:nvSpPr>
          <p:cNvPr id="2" name="Text Box 47">
            <a:extLst>
              <a:ext uri="{FF2B5EF4-FFF2-40B4-BE49-F238E27FC236}">
                <a16:creationId xmlns:a16="http://schemas.microsoft.com/office/drawing/2014/main" id="{2FEF66EE-E911-874C-CA26-EE19A4287DC4}"/>
              </a:ext>
            </a:extLst>
          </p:cNvPr>
          <p:cNvSpPr txBox="1">
            <a:spLocks noChangeArrowheads="1"/>
          </p:cNvSpPr>
          <p:nvPr/>
        </p:nvSpPr>
        <p:spPr bwMode="auto">
          <a:xfrm>
            <a:off x="266700" y="3471105"/>
            <a:ext cx="8610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s-ES_tradnl" altLang="es-ES" sz="1400"/>
              <a:t>1.2 La </a:t>
            </a:r>
            <a:r>
              <a:rPr lang="es-ES_tradnl" altLang="es-ES" sz="1400" dirty="0"/>
              <a:t>incertidumbre de la estimación del parámetro se acompaña de un intervalo </a:t>
            </a:r>
            <a:r>
              <a:rPr lang="es-ES_tradnl" altLang="es-ES" sz="1400"/>
              <a:t>de confianza</a:t>
            </a:r>
            <a:endParaRPr lang="es-ES_tradnl" altLang="es-ES" sz="1400" dirty="0"/>
          </a:p>
        </p:txBody>
      </p:sp>
    </p:spTree>
    <p:extLst>
      <p:ext uri="{BB962C8B-B14F-4D97-AF65-F5344CB8AC3E}">
        <p14:creationId xmlns:p14="http://schemas.microsoft.com/office/powerpoint/2010/main" val="1224946714"/>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8810</TotalTime>
  <Words>6297</Words>
  <Application>Microsoft Macintosh PowerPoint</Application>
  <PresentationFormat>On-screen Show (4:3)</PresentationFormat>
  <Paragraphs>540</Paragraphs>
  <Slides>45</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4</vt:i4>
      </vt:variant>
      <vt:variant>
        <vt:lpstr>Slide Titles</vt:lpstr>
      </vt:variant>
      <vt:variant>
        <vt:i4>45</vt:i4>
      </vt:variant>
    </vt:vector>
  </HeadingPairs>
  <TitlesOfParts>
    <vt:vector size="55" baseType="lpstr">
      <vt:lpstr>Arial</vt:lpstr>
      <vt:lpstr>Cambria Math</vt:lpstr>
      <vt:lpstr>Symbol</vt:lpstr>
      <vt:lpstr>Times New Roman</vt:lpstr>
      <vt:lpstr>Wingdings</vt:lpstr>
      <vt:lpstr>Diseño predeterminado</vt:lpstr>
      <vt:lpstr>Equation</vt:lpstr>
      <vt:lpstr>Ecuación</vt:lpstr>
      <vt:lpstr>Gráfico</vt:lpstr>
      <vt:lpstr>CorelDRAW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 ÁNGEL LUQUE FERNÁNDEZ</cp:lastModifiedBy>
  <cp:revision>341</cp:revision>
  <cp:lastPrinted>2018-10-02T16:54:01Z</cp:lastPrinted>
  <dcterms:created xsi:type="dcterms:W3CDTF">2012-06-20T17:39:24Z</dcterms:created>
  <dcterms:modified xsi:type="dcterms:W3CDTF">2023-09-29T09:15:36Z</dcterms:modified>
</cp:coreProperties>
</file>