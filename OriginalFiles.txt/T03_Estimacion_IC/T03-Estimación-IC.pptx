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7"/>
  </p:notesMasterIdLst>
  <p:handoutMasterIdLst>
    <p:handoutMasterId r:id="rId28"/>
  </p:handoutMasterIdLst>
  <p:sldIdLst>
    <p:sldId id="258" r:id="rId2"/>
    <p:sldId id="259" r:id="rId3"/>
    <p:sldId id="260" r:id="rId4"/>
    <p:sldId id="261" r:id="rId5"/>
    <p:sldId id="262" r:id="rId6"/>
    <p:sldId id="263" r:id="rId7"/>
    <p:sldId id="264" r:id="rId8"/>
    <p:sldId id="280" r:id="rId9"/>
    <p:sldId id="265" r:id="rId10"/>
    <p:sldId id="266" r:id="rId11"/>
    <p:sldId id="267" r:id="rId12"/>
    <p:sldId id="268" r:id="rId13"/>
    <p:sldId id="281" r:id="rId14"/>
    <p:sldId id="269" r:id="rId15"/>
    <p:sldId id="270" r:id="rId16"/>
    <p:sldId id="271" r:id="rId17"/>
    <p:sldId id="272" r:id="rId18"/>
    <p:sldId id="273" r:id="rId19"/>
    <p:sldId id="274" r:id="rId20"/>
    <p:sldId id="282" r:id="rId21"/>
    <p:sldId id="275" r:id="rId22"/>
    <p:sldId id="276" r:id="rId23"/>
    <p:sldId id="277" r:id="rId24"/>
    <p:sldId id="278" r:id="rId25"/>
    <p:sldId id="279" r:id="rId26"/>
  </p:sldIdLst>
  <p:sldSz cx="9144000" cy="6858000" type="screen4x3"/>
  <p:notesSz cx="7099300" cy="10234613"/>
  <p:defaultTextStyle>
    <a:defPPr>
      <a:defRPr lang="es-ES"/>
    </a:defPPr>
    <a:lvl1pPr algn="l" rtl="0" fontAlgn="base">
      <a:spcBef>
        <a:spcPct val="0"/>
      </a:spcBef>
      <a:spcAft>
        <a:spcPct val="0"/>
      </a:spcAft>
      <a:defRPr sz="1200" kern="120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88" userDrawn="1">
          <p15:clr>
            <a:srgbClr val="A4A3A4"/>
          </p15:clr>
        </p15:guide>
        <p15:guide id="2" pos="96"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83A1"/>
    <a:srgbClr val="800000"/>
    <a:srgbClr val="2A5B60"/>
    <a:srgbClr val="35747B"/>
    <a:srgbClr val="8BD9C1"/>
    <a:srgbClr val="FFD44B"/>
    <a:srgbClr val="FFFF99"/>
    <a:srgbClr val="0066CC"/>
    <a:srgbClr val="FF9900"/>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72" autoAdjust="0"/>
    <p:restoredTop sz="93998" autoAdjust="0"/>
  </p:normalViewPr>
  <p:slideViewPr>
    <p:cSldViewPr showGuides="1">
      <p:cViewPr varScale="1">
        <p:scale>
          <a:sx n="128" d="100"/>
          <a:sy n="128" d="100"/>
        </p:scale>
        <p:origin x="1728" y="176"/>
      </p:cViewPr>
      <p:guideLst>
        <p:guide orient="horz" pos="288"/>
        <p:guide pos="96"/>
      </p:guideLst>
    </p:cSldViewPr>
  </p:slid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73" d="100"/>
          <a:sy n="73" d="100"/>
        </p:scale>
        <p:origin x="4002" y="9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154940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smtClean="0"/>
            </a:lvl1pPr>
          </a:lstStyle>
          <a:p>
            <a:pPr>
              <a:defRPr/>
            </a:pPr>
            <a:r>
              <a:rPr lang="es-ES_tradnl" altLang="es-ES" sz="1100" dirty="0"/>
              <a:t>Pedro Fe</a:t>
            </a:r>
            <a:r>
              <a:rPr lang="es-ES" altLang="es-ES" sz="1100" dirty="0" err="1"/>
              <a:t>mia</a:t>
            </a:r>
            <a:r>
              <a:rPr lang="es-ES" altLang="es-ES" sz="1100" dirty="0"/>
              <a:t> (</a:t>
            </a:r>
            <a:r>
              <a:rPr lang="es-ES" altLang="es-ES" sz="1100" i="1" dirty="0"/>
              <a:t>pfemia@ugr.es</a:t>
            </a:r>
            <a:r>
              <a:rPr lang="es-ES" altLang="es-ES" sz="1100" dirty="0"/>
              <a:t>)  </a:t>
            </a:r>
          </a:p>
          <a:p>
            <a:pPr>
              <a:defRPr/>
            </a:pPr>
            <a:r>
              <a:rPr lang="es-ES_tradnl" altLang="es-ES" sz="1100" dirty="0"/>
              <a:t>Bioestadística. Universidad de Granada</a:t>
            </a:r>
            <a:endParaRPr lang="es-ES" altLang="es-ES" sz="1100" dirty="0"/>
          </a:p>
        </p:txBody>
      </p:sp>
      <p:sp>
        <p:nvSpPr>
          <p:cNvPr id="12293" name="Rectangle 5"/>
          <p:cNvSpPr>
            <a:spLocks noGrp="1" noChangeArrowheads="1"/>
          </p:cNvSpPr>
          <p:nvPr>
            <p:ph type="sldNum" sz="quarter" idx="3"/>
          </p:nvPr>
        </p:nvSpPr>
        <p:spPr bwMode="auto">
          <a:xfrm>
            <a:off x="0" y="9776391"/>
            <a:ext cx="7099300" cy="392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lgn="ctr">
              <a:defRPr/>
            </a:pPr>
            <a:fld id="{9C4F1793-6012-4E53-BF38-A80459238650}" type="slidenum">
              <a:rPr lang="es-ES" altLang="es-ES"/>
              <a:pPr algn="ctr">
                <a:defRPr/>
              </a:pPr>
              <a:t>‹#›</a:t>
            </a:fld>
            <a:endParaRPr lang="es-ES" altLang="es-ES"/>
          </a:p>
        </p:txBody>
      </p:sp>
      <p:pic>
        <p:nvPicPr>
          <p:cNvPr id="6" name="Picture 2" descr="http://es.creativecommons.org/blog/wp-content/uploads/2013/04/by-nc-nd.eu_peti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88106"/>
            <a:ext cx="1123950" cy="3905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p:cNvSpPr txBox="1">
            <a:spLocks noChangeArrowheads="1"/>
          </p:cNvSpPr>
          <p:nvPr/>
        </p:nvSpPr>
        <p:spPr bwMode="auto">
          <a:xfrm>
            <a:off x="3854450" y="88106"/>
            <a:ext cx="3074127"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defPPr>
              <a:defRPr lang="es-ES"/>
            </a:defPPr>
            <a:lvl1pPr algn="l" rtl="0" fontAlgn="base">
              <a:spcBef>
                <a:spcPct val="0"/>
              </a:spcBef>
              <a:spcAft>
                <a:spcPct val="0"/>
              </a:spcAft>
              <a:defRPr sz="1200" kern="1200" smtClean="0">
                <a:solidFill>
                  <a:schemeClr val="tx1"/>
                </a:solidFill>
                <a:latin typeface="Arial" charset="0"/>
                <a:ea typeface="+mn-ea"/>
                <a:cs typeface="+mn-cs"/>
              </a:defRPr>
            </a:lvl1pPr>
            <a:lvl2pPr marL="457200" algn="l" rtl="0" fontAlgn="base">
              <a:spcBef>
                <a:spcPct val="0"/>
              </a:spcBef>
              <a:spcAft>
                <a:spcPct val="0"/>
              </a:spcAft>
              <a:defRPr sz="1200" kern="1200">
                <a:solidFill>
                  <a:schemeClr val="tx1"/>
                </a:solidFill>
                <a:latin typeface="Arial" charset="0"/>
                <a:ea typeface="+mn-ea"/>
                <a:cs typeface="+mn-cs"/>
              </a:defRPr>
            </a:lvl2pPr>
            <a:lvl3pPr marL="914400" algn="l" rtl="0" fontAlgn="base">
              <a:spcBef>
                <a:spcPct val="0"/>
              </a:spcBef>
              <a:spcAft>
                <a:spcPct val="0"/>
              </a:spcAft>
              <a:defRPr sz="1200" kern="1200">
                <a:solidFill>
                  <a:schemeClr val="tx1"/>
                </a:solidFill>
                <a:latin typeface="Arial" charset="0"/>
                <a:ea typeface="+mn-ea"/>
                <a:cs typeface="+mn-cs"/>
              </a:defRPr>
            </a:lvl3pPr>
            <a:lvl4pPr marL="1371600" algn="l" rtl="0" fontAlgn="base">
              <a:spcBef>
                <a:spcPct val="0"/>
              </a:spcBef>
              <a:spcAft>
                <a:spcPct val="0"/>
              </a:spcAft>
              <a:defRPr sz="1200" kern="1200">
                <a:solidFill>
                  <a:schemeClr val="tx1"/>
                </a:solidFill>
                <a:latin typeface="Arial" charset="0"/>
                <a:ea typeface="+mn-ea"/>
                <a:cs typeface="+mn-cs"/>
              </a:defRPr>
            </a:lvl4pPr>
            <a:lvl5pPr marL="1828800" algn="l" rtl="0" fontAlgn="base">
              <a:spcBef>
                <a:spcPct val="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Arial" charset="0"/>
                <a:ea typeface="+mn-ea"/>
                <a:cs typeface="+mn-cs"/>
              </a:defRPr>
            </a:lvl6pPr>
            <a:lvl7pPr marL="2743200" algn="l" defTabSz="914400" rtl="0" eaLnBrk="1" latinLnBrk="0" hangingPunct="1">
              <a:defRPr sz="1200" kern="1200">
                <a:solidFill>
                  <a:schemeClr val="tx1"/>
                </a:solidFill>
                <a:latin typeface="Arial" charset="0"/>
                <a:ea typeface="+mn-ea"/>
                <a:cs typeface="+mn-cs"/>
              </a:defRPr>
            </a:lvl7pPr>
            <a:lvl8pPr marL="3200400" algn="l" defTabSz="914400" rtl="0" eaLnBrk="1" latinLnBrk="0" hangingPunct="1">
              <a:defRPr sz="1200" kern="1200">
                <a:solidFill>
                  <a:schemeClr val="tx1"/>
                </a:solidFill>
                <a:latin typeface="Arial" charset="0"/>
                <a:ea typeface="+mn-ea"/>
                <a:cs typeface="+mn-cs"/>
              </a:defRPr>
            </a:lvl8pPr>
            <a:lvl9pPr marL="3657600" algn="l" defTabSz="914400" rtl="0" eaLnBrk="1" latinLnBrk="0" hangingPunct="1">
              <a:defRPr sz="1200" kern="1200">
                <a:solidFill>
                  <a:schemeClr val="tx1"/>
                </a:solidFill>
                <a:latin typeface="Arial" charset="0"/>
                <a:ea typeface="+mn-ea"/>
                <a:cs typeface="+mn-cs"/>
              </a:defRPr>
            </a:lvl9pPr>
          </a:lstStyle>
          <a:p>
            <a:pPr algn="r">
              <a:defRPr/>
            </a:pPr>
            <a:r>
              <a:rPr lang="es-ES" altLang="es-ES" dirty="0"/>
              <a:t>Grado en Enfermería</a:t>
            </a:r>
          </a:p>
          <a:p>
            <a:pPr algn="r">
              <a:defRPr/>
            </a:pPr>
            <a:r>
              <a:rPr lang="es-ES" altLang="es-ES" dirty="0"/>
              <a:t>2018</a:t>
            </a:r>
          </a:p>
        </p:txBody>
      </p:sp>
    </p:spTree>
    <p:extLst>
      <p:ext uri="{BB962C8B-B14F-4D97-AF65-F5344CB8AC3E}">
        <p14:creationId xmlns:p14="http://schemas.microsoft.com/office/powerpoint/2010/main" val="41851753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a:lvl1pPr>
          </a:lstStyle>
          <a:p>
            <a:pPr>
              <a:defRPr/>
            </a:pPr>
            <a:endParaRPr lang="es-ES" altLang="es-ES"/>
          </a:p>
        </p:txBody>
      </p:sp>
      <p:sp>
        <p:nvSpPr>
          <p:cNvPr id="4403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a:defRPr/>
            </a:lvl1pPr>
          </a:lstStyle>
          <a:p>
            <a:pPr>
              <a:defRPr/>
            </a:pPr>
            <a:endParaRPr lang="es-ES" altLang="es-ES"/>
          </a:p>
        </p:txBody>
      </p:sp>
      <p:sp>
        <p:nvSpPr>
          <p:cNvPr id="40964"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403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s-ES" altLang="es-ES" noProof="0"/>
              <a:t>Haga clic para modificar el estilo de texto del patrón</a:t>
            </a:r>
          </a:p>
          <a:p>
            <a:pPr lvl="1"/>
            <a:r>
              <a:rPr lang="es-ES" altLang="es-ES" noProof="0"/>
              <a:t>Segundo nivel</a:t>
            </a:r>
          </a:p>
          <a:p>
            <a:pPr lvl="2"/>
            <a:r>
              <a:rPr lang="es-ES" altLang="es-ES" noProof="0"/>
              <a:t>Tercer nivel</a:t>
            </a:r>
          </a:p>
          <a:p>
            <a:pPr lvl="3"/>
            <a:r>
              <a:rPr lang="es-ES" altLang="es-ES" noProof="0"/>
              <a:t>Cuarto nivel</a:t>
            </a:r>
          </a:p>
          <a:p>
            <a:pPr lvl="4"/>
            <a:r>
              <a:rPr lang="es-ES" altLang="es-ES" noProof="0"/>
              <a:t>Quinto nivel</a:t>
            </a:r>
          </a:p>
        </p:txBody>
      </p:sp>
      <p:sp>
        <p:nvSpPr>
          <p:cNvPr id="4403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defRPr/>
            </a:lvl1pPr>
          </a:lstStyle>
          <a:p>
            <a:pPr>
              <a:defRPr/>
            </a:pPr>
            <a:endParaRPr lang="es-ES" altLang="es-ES"/>
          </a:p>
        </p:txBody>
      </p:sp>
      <p:sp>
        <p:nvSpPr>
          <p:cNvPr id="4403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a:lvl1pPr>
          </a:lstStyle>
          <a:p>
            <a:pPr>
              <a:defRPr/>
            </a:pPr>
            <a:fld id="{58445C5D-153B-4697-9968-7F13084BEFAB}" type="slidenum">
              <a:rPr lang="es-ES" altLang="es-ES"/>
              <a:pPr>
                <a:defRPr/>
              </a:pPr>
              <a:t>‹#›</a:t>
            </a:fld>
            <a:endParaRPr lang="es-ES" altLang="es-ES"/>
          </a:p>
        </p:txBody>
      </p:sp>
    </p:spTree>
    <p:extLst>
      <p:ext uri="{BB962C8B-B14F-4D97-AF65-F5344CB8AC3E}">
        <p14:creationId xmlns:p14="http://schemas.microsoft.com/office/powerpoint/2010/main" val="98882395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p>
        </p:txBody>
      </p:sp>
    </p:spTree>
    <p:extLst>
      <p:ext uri="{BB962C8B-B14F-4D97-AF65-F5344CB8AC3E}">
        <p14:creationId xmlns:p14="http://schemas.microsoft.com/office/powerpoint/2010/main" val="2571519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idx="1"/>
          </p:nvPr>
        </p:nvSpPr>
        <p:spPr>
          <a:xfrm>
            <a:off x="457200" y="1600200"/>
            <a:ext cx="8229600" cy="4525963"/>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45499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Tree>
    <p:extLst>
      <p:ext uri="{BB962C8B-B14F-4D97-AF65-F5344CB8AC3E}">
        <p14:creationId xmlns:p14="http://schemas.microsoft.com/office/powerpoint/2010/main" val="1768386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1832165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92105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CuadroTexto 1"/>
          <p:cNvSpPr txBox="1"/>
          <p:nvPr userDrawn="1"/>
        </p:nvSpPr>
        <p:spPr>
          <a:xfrm>
            <a:off x="8534400" y="152400"/>
            <a:ext cx="453970" cy="276999"/>
          </a:xfrm>
          <a:prstGeom prst="rect">
            <a:avLst/>
          </a:prstGeom>
          <a:noFill/>
        </p:spPr>
        <p:txBody>
          <a:bodyPr wrap="none" rtlCol="0">
            <a:spAutoFit/>
          </a:bodyPr>
          <a:lstStyle/>
          <a:p>
            <a:fld id="{E3AD23D9-B4EB-458E-89C0-FEC70281CA4B}" type="slidenum">
              <a:rPr lang="es-ES" b="1" smtClean="0"/>
              <a:t>‹#›</a:t>
            </a:fld>
            <a:endParaRPr lang="es-ES" b="1" dirty="0"/>
          </a:p>
        </p:txBody>
      </p:sp>
    </p:spTree>
    <p:extLst>
      <p:ext uri="{BB962C8B-B14F-4D97-AF65-F5344CB8AC3E}">
        <p14:creationId xmlns:p14="http://schemas.microsoft.com/office/powerpoint/2010/main" val="2527631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804485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Tree>
    <p:extLst>
      <p:ext uri="{BB962C8B-B14F-4D97-AF65-F5344CB8AC3E}">
        <p14:creationId xmlns:p14="http://schemas.microsoft.com/office/powerpoint/2010/main" val="3700327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a:t>Haga clic para modificar el estilo de título del patrón</a:t>
            </a:r>
          </a:p>
        </p:txBody>
      </p:sp>
      <p:sp>
        <p:nvSpPr>
          <p:cNvPr id="3" name="2 Marcador de texto vertical"/>
          <p:cNvSpPr>
            <a:spLocks noGrp="1"/>
          </p:cNvSpPr>
          <p:nvPr>
            <p:ph type="body" orient="vert" idx="1"/>
          </p:nvPr>
        </p:nvSpPr>
        <p:spPr>
          <a:xfrm>
            <a:off x="457200" y="1600200"/>
            <a:ext cx="8229600" cy="4525963"/>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099339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extLst>
      <p:ext uri="{BB962C8B-B14F-4D97-AF65-F5344CB8AC3E}">
        <p14:creationId xmlns:p14="http://schemas.microsoft.com/office/powerpoint/2010/main" val="3825035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5" name="Conector recto 4"/>
          <p:cNvCxnSpPr/>
          <p:nvPr userDrawn="1"/>
        </p:nvCxnSpPr>
        <p:spPr>
          <a:xfrm>
            <a:off x="0" y="762000"/>
            <a:ext cx="9144000" cy="0"/>
          </a:xfrm>
          <a:prstGeom prst="line">
            <a:avLst/>
          </a:prstGeom>
          <a:ln>
            <a:gradFill flip="none" rotWithShape="1">
              <a:gsLst>
                <a:gs pos="34000">
                  <a:schemeClr val="bg1"/>
                </a:gs>
                <a:gs pos="55000">
                  <a:schemeClr val="accent4">
                    <a:lumMod val="89000"/>
                  </a:schemeClr>
                </a:gs>
                <a:gs pos="81000">
                  <a:schemeClr val="accent4">
                    <a:lumMod val="75000"/>
                  </a:schemeClr>
                </a:gs>
                <a:gs pos="100000">
                  <a:schemeClr val="accent4">
                    <a:lumMod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Marcador de número de diapositiva 1"/>
          <p:cNvSpPr>
            <a:spLocks noGrp="1"/>
          </p:cNvSpPr>
          <p:nvPr>
            <p:ph type="sldNum" sz="quarter" idx="4"/>
          </p:nvPr>
        </p:nvSpPr>
        <p:spPr>
          <a:xfrm>
            <a:off x="8153400" y="152400"/>
            <a:ext cx="838200" cy="365125"/>
          </a:xfrm>
          <a:prstGeom prst="rect">
            <a:avLst/>
          </a:prstGeom>
        </p:spPr>
        <p:txBody>
          <a:bodyPr vert="horz" lIns="91440" tIns="45720" rIns="91440" bIns="45720" rtlCol="0" anchor="ctr"/>
          <a:lstStyle>
            <a:lvl1pPr algn="r">
              <a:defRPr sz="1200">
                <a:solidFill>
                  <a:schemeClr val="tx1"/>
                </a:solidFill>
              </a:defRPr>
            </a:lvl1pPr>
          </a:lstStyle>
          <a:p>
            <a:fld id="{A1481D16-1339-434F-AA60-8CE85E35A018}" type="slidenum">
              <a:rPr lang="es-ES" smtClean="0"/>
              <a:pPr/>
              <a:t>‹#›</a:t>
            </a:fld>
            <a:endParaRPr lang="es-ES" dirty="0"/>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3" r:id="rId6"/>
    <p:sldLayoutId id="2147483652" r:id="rId7"/>
    <p:sldLayoutId id="2147483651" r:id="rId8"/>
    <p:sldLayoutId id="2147483650" r:id="rId9"/>
    <p:sldLayoutId id="2147483649" r:id="rId10"/>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6.xml"/><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 Id="rId9" Type="http://schemas.openxmlformats.org/officeDocument/2006/relationships/image" Target="../media/image6.wmf"/></Relationships>
</file>

<file path=ppt/slides/_rels/slide4.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5.bin"/><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6.bin"/><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7.bin"/><Relationship Id="rId1" Type="http://schemas.openxmlformats.org/officeDocument/2006/relationships/slideLayout" Target="../slideLayouts/slideLayout6.xml"/><Relationship Id="rId6" Type="http://schemas.openxmlformats.org/officeDocument/2006/relationships/oleObject" Target="../embeddings/oleObject9.bin"/><Relationship Id="rId11" Type="http://schemas.openxmlformats.org/officeDocument/2006/relationships/image" Target="../media/image15.wmf"/><Relationship Id="rId5" Type="http://schemas.openxmlformats.org/officeDocument/2006/relationships/image" Target="../media/image12.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4.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image" Target="../media/image22.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oleObject" Target="../embeddings/oleObject16.bin"/><Relationship Id="rId2" Type="http://schemas.openxmlformats.org/officeDocument/2006/relationships/image" Target="../media/image16.png"/><Relationship Id="rId16" Type="http://schemas.openxmlformats.org/officeDocument/2006/relationships/image" Target="../media/image23.wmf"/><Relationship Id="rId1" Type="http://schemas.openxmlformats.org/officeDocument/2006/relationships/slideLayout" Target="../slideLayouts/slideLayout6.xml"/><Relationship Id="rId6" Type="http://schemas.openxmlformats.org/officeDocument/2006/relationships/image" Target="../media/image18.emf"/><Relationship Id="rId11" Type="http://schemas.openxmlformats.org/officeDocument/2006/relationships/image" Target="../media/image21.wmf"/><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oleObject" Target="../embeddings/oleObject15.bin"/><Relationship Id="rId4" Type="http://schemas.openxmlformats.org/officeDocument/2006/relationships/image" Target="../media/image17.wmf"/><Relationship Id="rId9" Type="http://schemas.openxmlformats.org/officeDocument/2006/relationships/image" Target="../media/image20.png"/><Relationship Id="rId14" Type="http://schemas.openxmlformats.org/officeDocument/2006/relationships/oleObject" Target="../embeddings/oleObject17.bin"/></Relationships>
</file>

<file path=ppt/slides/_rels/slide1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9.bin"/><Relationship Id="rId1" Type="http://schemas.openxmlformats.org/officeDocument/2006/relationships/slideLayout" Target="../slideLayouts/slideLayout6.xml"/><Relationship Id="rId6" Type="http://schemas.openxmlformats.org/officeDocument/2006/relationships/oleObject" Target="../embeddings/oleObject21.bin"/><Relationship Id="rId5" Type="http://schemas.openxmlformats.org/officeDocument/2006/relationships/image" Target="../media/image25.wmf"/><Relationship Id="rId4" Type="http://schemas.openxmlformats.org/officeDocument/2006/relationships/oleObject" Target="../embeddings/oleObject20.bin"/></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oleObject" Target="../embeddings/oleObject27.bin"/><Relationship Id="rId3" Type="http://schemas.openxmlformats.org/officeDocument/2006/relationships/image" Target="../media/image26.wmf"/><Relationship Id="rId7" Type="http://schemas.openxmlformats.org/officeDocument/2006/relationships/image" Target="../media/image28.wmf"/><Relationship Id="rId12" Type="http://schemas.openxmlformats.org/officeDocument/2006/relationships/image" Target="../media/image31.wmf"/><Relationship Id="rId2" Type="http://schemas.openxmlformats.org/officeDocument/2006/relationships/oleObject" Target="../embeddings/oleObject22.bin"/><Relationship Id="rId1" Type="http://schemas.openxmlformats.org/officeDocument/2006/relationships/slideLayout" Target="../slideLayouts/slideLayout6.xml"/><Relationship Id="rId6" Type="http://schemas.openxmlformats.org/officeDocument/2006/relationships/oleObject" Target="../embeddings/oleObject24.bin"/><Relationship Id="rId11" Type="http://schemas.openxmlformats.org/officeDocument/2006/relationships/oleObject" Target="../embeddings/oleObject26.bin"/><Relationship Id="rId5" Type="http://schemas.openxmlformats.org/officeDocument/2006/relationships/image" Target="../media/image27.wmf"/><Relationship Id="rId10" Type="http://schemas.openxmlformats.org/officeDocument/2006/relationships/image" Target="../media/image30.wmf"/><Relationship Id="rId4" Type="http://schemas.openxmlformats.org/officeDocument/2006/relationships/oleObject" Target="../embeddings/oleObject23.bin"/><Relationship Id="rId9" Type="http://schemas.openxmlformats.org/officeDocument/2006/relationships/oleObject" Target="../embeddings/oleObject25.bin"/><Relationship Id="rId14" Type="http://schemas.openxmlformats.org/officeDocument/2006/relationships/image" Target="../media/image32.wmf"/></Relationships>
</file>

<file path=ppt/slides/_rels/slide12.xml.rels><?xml version="1.0" encoding="UTF-8" standalone="yes"?>
<Relationships xmlns="http://schemas.openxmlformats.org/package/2006/relationships"><Relationship Id="rId8" Type="http://schemas.openxmlformats.org/officeDocument/2006/relationships/image" Target="../media/image36.wmf"/><Relationship Id="rId13" Type="http://schemas.openxmlformats.org/officeDocument/2006/relationships/oleObject" Target="../embeddings/oleObject33.bin"/><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38.wmf"/><Relationship Id="rId2" Type="http://schemas.openxmlformats.org/officeDocument/2006/relationships/image" Target="../media/image33.wmf"/><Relationship Id="rId1" Type="http://schemas.openxmlformats.org/officeDocument/2006/relationships/slideLayout" Target="../slideLayouts/slideLayout6.xml"/><Relationship Id="rId6" Type="http://schemas.openxmlformats.org/officeDocument/2006/relationships/image" Target="../media/image35.wmf"/><Relationship Id="rId11" Type="http://schemas.openxmlformats.org/officeDocument/2006/relationships/oleObject" Target="../embeddings/oleObject32.bin"/><Relationship Id="rId5" Type="http://schemas.openxmlformats.org/officeDocument/2006/relationships/oleObject" Target="../embeddings/oleObject29.bin"/><Relationship Id="rId10" Type="http://schemas.openxmlformats.org/officeDocument/2006/relationships/image" Target="../media/image37.wmf"/><Relationship Id="rId4" Type="http://schemas.openxmlformats.org/officeDocument/2006/relationships/image" Target="../media/image34.wmf"/><Relationship Id="rId9" Type="http://schemas.openxmlformats.org/officeDocument/2006/relationships/oleObject" Target="../embeddings/oleObject31.bin"/><Relationship Id="rId14" Type="http://schemas.openxmlformats.org/officeDocument/2006/relationships/image" Target="../media/image39.wmf"/></Relationships>
</file>

<file path=ppt/slides/_rels/slide13.xml.rels><?xml version="1.0" encoding="UTF-8" standalone="yes"?>
<Relationships xmlns="http://schemas.openxmlformats.org/package/2006/relationships"><Relationship Id="rId2" Type="http://schemas.openxmlformats.org/officeDocument/2006/relationships/hyperlink" Target="https://www.geogebra.org/m/AHdhBiGA"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44.wmf"/><Relationship Id="rId18" Type="http://schemas.openxmlformats.org/officeDocument/2006/relationships/oleObject" Target="../embeddings/oleObject42.bin"/><Relationship Id="rId3" Type="http://schemas.openxmlformats.org/officeDocument/2006/relationships/image" Target="../media/image38.wmf"/><Relationship Id="rId21" Type="http://schemas.openxmlformats.org/officeDocument/2006/relationships/image" Target="../media/image48.wmf"/><Relationship Id="rId7" Type="http://schemas.openxmlformats.org/officeDocument/2006/relationships/image" Target="../media/image41.wmf"/><Relationship Id="rId12" Type="http://schemas.openxmlformats.org/officeDocument/2006/relationships/oleObject" Target="../embeddings/oleObject39.bin"/><Relationship Id="rId17" Type="http://schemas.openxmlformats.org/officeDocument/2006/relationships/image" Target="../media/image46.wmf"/><Relationship Id="rId25" Type="http://schemas.openxmlformats.org/officeDocument/2006/relationships/hyperlink" Target="https://www.geogebra.org/m/Kcq3UxwZ" TargetMode="External"/><Relationship Id="rId2" Type="http://schemas.openxmlformats.org/officeDocument/2006/relationships/oleObject" Target="../embeddings/oleObject34.bin"/><Relationship Id="rId16" Type="http://schemas.openxmlformats.org/officeDocument/2006/relationships/oleObject" Target="../embeddings/oleObject41.bin"/><Relationship Id="rId20" Type="http://schemas.openxmlformats.org/officeDocument/2006/relationships/oleObject" Target="../embeddings/oleObject43.bin"/><Relationship Id="rId1" Type="http://schemas.openxmlformats.org/officeDocument/2006/relationships/slideLayout" Target="../slideLayouts/slideLayout6.xml"/><Relationship Id="rId6" Type="http://schemas.openxmlformats.org/officeDocument/2006/relationships/oleObject" Target="../embeddings/oleObject36.bin"/><Relationship Id="rId11" Type="http://schemas.openxmlformats.org/officeDocument/2006/relationships/image" Target="../media/image43.wmf"/><Relationship Id="rId24" Type="http://schemas.openxmlformats.org/officeDocument/2006/relationships/oleObject" Target="../embeddings/oleObject45.bin"/><Relationship Id="rId5" Type="http://schemas.openxmlformats.org/officeDocument/2006/relationships/image" Target="../media/image40.wmf"/><Relationship Id="rId15" Type="http://schemas.openxmlformats.org/officeDocument/2006/relationships/image" Target="../media/image45.wmf"/><Relationship Id="rId23" Type="http://schemas.openxmlformats.org/officeDocument/2006/relationships/image" Target="../media/image49.wmf"/><Relationship Id="rId10" Type="http://schemas.openxmlformats.org/officeDocument/2006/relationships/oleObject" Target="../embeddings/oleObject38.bin"/><Relationship Id="rId19" Type="http://schemas.openxmlformats.org/officeDocument/2006/relationships/image" Target="../media/image47.wmf"/><Relationship Id="rId4" Type="http://schemas.openxmlformats.org/officeDocument/2006/relationships/oleObject" Target="../embeddings/oleObject35.bin"/><Relationship Id="rId9" Type="http://schemas.openxmlformats.org/officeDocument/2006/relationships/image" Target="../media/image42.wmf"/><Relationship Id="rId14" Type="http://schemas.openxmlformats.org/officeDocument/2006/relationships/oleObject" Target="../embeddings/oleObject40.bin"/><Relationship Id="rId22" Type="http://schemas.openxmlformats.org/officeDocument/2006/relationships/oleObject" Target="../embeddings/oleObject44.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11.wmf"/><Relationship Id="rId7" Type="http://schemas.openxmlformats.org/officeDocument/2006/relationships/image" Target="../media/image51.wmf"/><Relationship Id="rId2" Type="http://schemas.openxmlformats.org/officeDocument/2006/relationships/oleObject" Target="../embeddings/oleObject46.bin"/><Relationship Id="rId1" Type="http://schemas.openxmlformats.org/officeDocument/2006/relationships/slideLayout" Target="../slideLayouts/slideLayout6.xml"/><Relationship Id="rId6" Type="http://schemas.openxmlformats.org/officeDocument/2006/relationships/oleObject" Target="../embeddings/oleObject48.bin"/><Relationship Id="rId5" Type="http://schemas.openxmlformats.org/officeDocument/2006/relationships/image" Target="../media/image50.wmf"/><Relationship Id="rId4" Type="http://schemas.openxmlformats.org/officeDocument/2006/relationships/oleObject" Target="../embeddings/oleObject47.bin"/><Relationship Id="rId9" Type="http://schemas.openxmlformats.org/officeDocument/2006/relationships/image" Target="../media/image13.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image" Target="../media/image57.wmf"/><Relationship Id="rId3" Type="http://schemas.openxmlformats.org/officeDocument/2006/relationships/image" Target="../media/image52.wmf"/><Relationship Id="rId7" Type="http://schemas.openxmlformats.org/officeDocument/2006/relationships/image" Target="../media/image54.wmf"/><Relationship Id="rId12" Type="http://schemas.openxmlformats.org/officeDocument/2006/relationships/oleObject" Target="../embeddings/oleObject55.bin"/><Relationship Id="rId2" Type="http://schemas.openxmlformats.org/officeDocument/2006/relationships/oleObject" Target="../embeddings/oleObject50.bin"/><Relationship Id="rId1" Type="http://schemas.openxmlformats.org/officeDocument/2006/relationships/slideLayout" Target="../slideLayouts/slideLayout6.xml"/><Relationship Id="rId6" Type="http://schemas.openxmlformats.org/officeDocument/2006/relationships/oleObject" Target="../embeddings/oleObject52.bin"/><Relationship Id="rId11" Type="http://schemas.openxmlformats.org/officeDocument/2006/relationships/image" Target="../media/image56.wmf"/><Relationship Id="rId5" Type="http://schemas.openxmlformats.org/officeDocument/2006/relationships/image" Target="../media/image53.wmf"/><Relationship Id="rId10" Type="http://schemas.openxmlformats.org/officeDocument/2006/relationships/oleObject" Target="../embeddings/oleObject54.bin"/><Relationship Id="rId4" Type="http://schemas.openxmlformats.org/officeDocument/2006/relationships/oleObject" Target="../embeddings/oleObject51.bin"/><Relationship Id="rId9" Type="http://schemas.openxmlformats.org/officeDocument/2006/relationships/image" Target="../media/image55.wmf"/></Relationships>
</file>

<file path=ppt/slides/_rels/slide17.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oleObject" Target="../embeddings/oleObject61.bin"/><Relationship Id="rId18" Type="http://schemas.openxmlformats.org/officeDocument/2006/relationships/image" Target="../media/image66.wmf"/><Relationship Id="rId3" Type="http://schemas.openxmlformats.org/officeDocument/2006/relationships/image" Target="../media/image58.wmf"/><Relationship Id="rId21" Type="http://schemas.openxmlformats.org/officeDocument/2006/relationships/oleObject" Target="../embeddings/oleObject65.bin"/><Relationship Id="rId7" Type="http://schemas.openxmlformats.org/officeDocument/2006/relationships/image" Target="../media/image60.wmf"/><Relationship Id="rId12" Type="http://schemas.openxmlformats.org/officeDocument/2006/relationships/image" Target="../media/image63.wmf"/><Relationship Id="rId17" Type="http://schemas.openxmlformats.org/officeDocument/2006/relationships/oleObject" Target="../embeddings/oleObject63.bin"/><Relationship Id="rId2" Type="http://schemas.openxmlformats.org/officeDocument/2006/relationships/oleObject" Target="../embeddings/oleObject56.bin"/><Relationship Id="rId16" Type="http://schemas.openxmlformats.org/officeDocument/2006/relationships/image" Target="../media/image65.wmf"/><Relationship Id="rId20" Type="http://schemas.openxmlformats.org/officeDocument/2006/relationships/image" Target="../media/image67.wmf"/><Relationship Id="rId1" Type="http://schemas.openxmlformats.org/officeDocument/2006/relationships/slideLayout" Target="../slideLayouts/slideLayout6.xml"/><Relationship Id="rId6" Type="http://schemas.openxmlformats.org/officeDocument/2006/relationships/oleObject" Target="../embeddings/oleObject58.bin"/><Relationship Id="rId11" Type="http://schemas.openxmlformats.org/officeDocument/2006/relationships/oleObject" Target="../embeddings/oleObject60.bin"/><Relationship Id="rId5" Type="http://schemas.openxmlformats.org/officeDocument/2006/relationships/image" Target="../media/image59.wmf"/><Relationship Id="rId15" Type="http://schemas.openxmlformats.org/officeDocument/2006/relationships/oleObject" Target="../embeddings/oleObject62.bin"/><Relationship Id="rId10" Type="http://schemas.openxmlformats.org/officeDocument/2006/relationships/image" Target="../media/image62.wmf"/><Relationship Id="rId19" Type="http://schemas.openxmlformats.org/officeDocument/2006/relationships/oleObject" Target="../embeddings/oleObject64.bin"/><Relationship Id="rId4" Type="http://schemas.openxmlformats.org/officeDocument/2006/relationships/oleObject" Target="../embeddings/oleObject57.bin"/><Relationship Id="rId9" Type="http://schemas.openxmlformats.org/officeDocument/2006/relationships/oleObject" Target="../embeddings/oleObject59.bin"/><Relationship Id="rId14" Type="http://schemas.openxmlformats.org/officeDocument/2006/relationships/image" Target="../media/image64.wmf"/><Relationship Id="rId22" Type="http://schemas.openxmlformats.org/officeDocument/2006/relationships/image" Target="../media/image68.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image" Target="../media/image69.wmf"/><Relationship Id="rId7" Type="http://schemas.openxmlformats.org/officeDocument/2006/relationships/image" Target="../media/image71.wmf"/><Relationship Id="rId2" Type="http://schemas.openxmlformats.org/officeDocument/2006/relationships/oleObject" Target="../embeddings/oleObject66.bin"/><Relationship Id="rId1" Type="http://schemas.openxmlformats.org/officeDocument/2006/relationships/slideLayout" Target="../slideLayouts/slideLayout6.xml"/><Relationship Id="rId6" Type="http://schemas.openxmlformats.org/officeDocument/2006/relationships/oleObject" Target="../embeddings/oleObject68.bin"/><Relationship Id="rId11" Type="http://schemas.openxmlformats.org/officeDocument/2006/relationships/image" Target="../media/image73.wmf"/><Relationship Id="rId5" Type="http://schemas.openxmlformats.org/officeDocument/2006/relationships/image" Target="../media/image70.wmf"/><Relationship Id="rId10" Type="http://schemas.openxmlformats.org/officeDocument/2006/relationships/oleObject" Target="../embeddings/oleObject70.bin"/><Relationship Id="rId4" Type="http://schemas.openxmlformats.org/officeDocument/2006/relationships/oleObject" Target="../embeddings/oleObject67.bin"/><Relationship Id="rId9" Type="http://schemas.openxmlformats.org/officeDocument/2006/relationships/image" Target="../media/image72.wmf"/></Relationships>
</file>

<file path=ppt/slides/_rels/slide19.xml.rels><?xml version="1.0" encoding="UTF-8" standalone="yes"?>
<Relationships xmlns="http://schemas.openxmlformats.org/package/2006/relationships"><Relationship Id="rId8" Type="http://schemas.openxmlformats.org/officeDocument/2006/relationships/image" Target="../media/image35.wmf"/><Relationship Id="rId13" Type="http://schemas.openxmlformats.org/officeDocument/2006/relationships/image" Target="../media/image78.png"/><Relationship Id="rId18" Type="http://schemas.openxmlformats.org/officeDocument/2006/relationships/oleObject" Target="../embeddings/oleObject78.bin"/><Relationship Id="rId3" Type="http://schemas.openxmlformats.org/officeDocument/2006/relationships/image" Target="../media/image74.wmf"/><Relationship Id="rId21" Type="http://schemas.openxmlformats.org/officeDocument/2006/relationships/image" Target="../media/image82.wmf"/><Relationship Id="rId7" Type="http://schemas.openxmlformats.org/officeDocument/2006/relationships/oleObject" Target="../embeddings/oleObject73.bin"/><Relationship Id="rId12" Type="http://schemas.openxmlformats.org/officeDocument/2006/relationships/image" Target="../media/image77.wmf"/><Relationship Id="rId17" Type="http://schemas.openxmlformats.org/officeDocument/2006/relationships/image" Target="../media/image80.wmf"/><Relationship Id="rId2" Type="http://schemas.openxmlformats.org/officeDocument/2006/relationships/oleObject" Target="../embeddings/oleObject71.bin"/><Relationship Id="rId16" Type="http://schemas.openxmlformats.org/officeDocument/2006/relationships/oleObject" Target="../embeddings/oleObject77.bin"/><Relationship Id="rId20" Type="http://schemas.openxmlformats.org/officeDocument/2006/relationships/oleObject" Target="../embeddings/oleObject79.bin"/><Relationship Id="rId1" Type="http://schemas.openxmlformats.org/officeDocument/2006/relationships/slideLayout" Target="../slideLayouts/slideLayout6.xml"/><Relationship Id="rId6" Type="http://schemas.openxmlformats.org/officeDocument/2006/relationships/image" Target="../media/image76.wmf"/><Relationship Id="rId11" Type="http://schemas.openxmlformats.org/officeDocument/2006/relationships/oleObject" Target="../embeddings/oleObject75.bin"/><Relationship Id="rId24" Type="http://schemas.openxmlformats.org/officeDocument/2006/relationships/hyperlink" Target="https://www.geogebra.org/m/upke9x5y" TargetMode="External"/><Relationship Id="rId5" Type="http://schemas.openxmlformats.org/officeDocument/2006/relationships/oleObject" Target="../embeddings/oleObject72.bin"/><Relationship Id="rId15" Type="http://schemas.openxmlformats.org/officeDocument/2006/relationships/image" Target="../media/image79.wmf"/><Relationship Id="rId23" Type="http://schemas.openxmlformats.org/officeDocument/2006/relationships/image" Target="../media/image83.wmf"/><Relationship Id="rId10" Type="http://schemas.openxmlformats.org/officeDocument/2006/relationships/image" Target="../media/image36.wmf"/><Relationship Id="rId19" Type="http://schemas.openxmlformats.org/officeDocument/2006/relationships/image" Target="../media/image81.wmf"/><Relationship Id="rId4" Type="http://schemas.openxmlformats.org/officeDocument/2006/relationships/image" Target="../media/image75.wmf"/><Relationship Id="rId9" Type="http://schemas.openxmlformats.org/officeDocument/2006/relationships/oleObject" Target="../embeddings/oleObject74.bin"/><Relationship Id="rId14" Type="http://schemas.openxmlformats.org/officeDocument/2006/relationships/oleObject" Target="../embeddings/oleObject76.bin"/><Relationship Id="rId22" Type="http://schemas.openxmlformats.org/officeDocument/2006/relationships/oleObject" Target="../embeddings/oleObject80.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4.bin"/><Relationship Id="rId13" Type="http://schemas.openxmlformats.org/officeDocument/2006/relationships/image" Target="../media/image89.wmf"/><Relationship Id="rId18" Type="http://schemas.openxmlformats.org/officeDocument/2006/relationships/oleObject" Target="../embeddings/oleObject89.bin"/><Relationship Id="rId3" Type="http://schemas.openxmlformats.org/officeDocument/2006/relationships/image" Target="../media/image84.wmf"/><Relationship Id="rId21" Type="http://schemas.openxmlformats.org/officeDocument/2006/relationships/oleObject" Target="../embeddings/oleObject91.bin"/><Relationship Id="rId7" Type="http://schemas.openxmlformats.org/officeDocument/2006/relationships/image" Target="../media/image86.wmf"/><Relationship Id="rId12" Type="http://schemas.openxmlformats.org/officeDocument/2006/relationships/oleObject" Target="../embeddings/oleObject86.bin"/><Relationship Id="rId17" Type="http://schemas.openxmlformats.org/officeDocument/2006/relationships/image" Target="../media/image91.wmf"/><Relationship Id="rId2" Type="http://schemas.openxmlformats.org/officeDocument/2006/relationships/oleObject" Target="../embeddings/oleObject81.bin"/><Relationship Id="rId16" Type="http://schemas.openxmlformats.org/officeDocument/2006/relationships/oleObject" Target="../embeddings/oleObject88.bin"/><Relationship Id="rId20" Type="http://schemas.openxmlformats.org/officeDocument/2006/relationships/oleObject" Target="../embeddings/oleObject90.bin"/><Relationship Id="rId1" Type="http://schemas.openxmlformats.org/officeDocument/2006/relationships/slideLayout" Target="../slideLayouts/slideLayout6.xml"/><Relationship Id="rId6" Type="http://schemas.openxmlformats.org/officeDocument/2006/relationships/oleObject" Target="../embeddings/oleObject83.bin"/><Relationship Id="rId11" Type="http://schemas.openxmlformats.org/officeDocument/2006/relationships/image" Target="../media/image88.wmf"/><Relationship Id="rId24" Type="http://schemas.openxmlformats.org/officeDocument/2006/relationships/image" Target="../media/image93.wmf"/><Relationship Id="rId5" Type="http://schemas.openxmlformats.org/officeDocument/2006/relationships/image" Target="../media/image85.wmf"/><Relationship Id="rId15" Type="http://schemas.openxmlformats.org/officeDocument/2006/relationships/image" Target="../media/image90.wmf"/><Relationship Id="rId23" Type="http://schemas.openxmlformats.org/officeDocument/2006/relationships/oleObject" Target="../embeddings/oleObject92.bin"/><Relationship Id="rId10" Type="http://schemas.openxmlformats.org/officeDocument/2006/relationships/oleObject" Target="../embeddings/oleObject85.bin"/><Relationship Id="rId19" Type="http://schemas.openxmlformats.org/officeDocument/2006/relationships/image" Target="../media/image49.wmf"/><Relationship Id="rId4" Type="http://schemas.openxmlformats.org/officeDocument/2006/relationships/oleObject" Target="../embeddings/oleObject82.bin"/><Relationship Id="rId9" Type="http://schemas.openxmlformats.org/officeDocument/2006/relationships/image" Target="../media/image87.wmf"/><Relationship Id="rId14" Type="http://schemas.openxmlformats.org/officeDocument/2006/relationships/oleObject" Target="../embeddings/oleObject87.bin"/><Relationship Id="rId22" Type="http://schemas.openxmlformats.org/officeDocument/2006/relationships/image" Target="../media/image92.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image" Target="../media/image99.wmf"/><Relationship Id="rId3" Type="http://schemas.openxmlformats.org/officeDocument/2006/relationships/image" Target="../media/image94.wmf"/><Relationship Id="rId7" Type="http://schemas.openxmlformats.org/officeDocument/2006/relationships/image" Target="../media/image96.wmf"/><Relationship Id="rId12" Type="http://schemas.openxmlformats.org/officeDocument/2006/relationships/oleObject" Target="../embeddings/oleObject98.bin"/><Relationship Id="rId2" Type="http://schemas.openxmlformats.org/officeDocument/2006/relationships/oleObject" Target="../embeddings/oleObject93.bin"/><Relationship Id="rId1" Type="http://schemas.openxmlformats.org/officeDocument/2006/relationships/slideLayout" Target="../slideLayouts/slideLayout6.xml"/><Relationship Id="rId6" Type="http://schemas.openxmlformats.org/officeDocument/2006/relationships/oleObject" Target="../embeddings/oleObject95.bin"/><Relationship Id="rId11" Type="http://schemas.openxmlformats.org/officeDocument/2006/relationships/image" Target="../media/image98.wmf"/><Relationship Id="rId5" Type="http://schemas.openxmlformats.org/officeDocument/2006/relationships/image" Target="../media/image95.wmf"/><Relationship Id="rId15" Type="http://schemas.openxmlformats.org/officeDocument/2006/relationships/image" Target="../media/image100.wmf"/><Relationship Id="rId10" Type="http://schemas.openxmlformats.org/officeDocument/2006/relationships/oleObject" Target="../embeddings/oleObject97.bin"/><Relationship Id="rId4" Type="http://schemas.openxmlformats.org/officeDocument/2006/relationships/oleObject" Target="../embeddings/oleObject94.bin"/><Relationship Id="rId9" Type="http://schemas.openxmlformats.org/officeDocument/2006/relationships/image" Target="../media/image97.wmf"/><Relationship Id="rId14" Type="http://schemas.openxmlformats.org/officeDocument/2006/relationships/oleObject" Target="../embeddings/oleObject99.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03.bin"/><Relationship Id="rId13" Type="http://schemas.openxmlformats.org/officeDocument/2006/relationships/image" Target="../media/image106.wmf"/><Relationship Id="rId3" Type="http://schemas.openxmlformats.org/officeDocument/2006/relationships/image" Target="../media/image101.wmf"/><Relationship Id="rId7" Type="http://schemas.openxmlformats.org/officeDocument/2006/relationships/image" Target="../media/image103.wmf"/><Relationship Id="rId12" Type="http://schemas.openxmlformats.org/officeDocument/2006/relationships/oleObject" Target="../embeddings/oleObject105.bin"/><Relationship Id="rId2" Type="http://schemas.openxmlformats.org/officeDocument/2006/relationships/oleObject" Target="../embeddings/oleObject100.bin"/><Relationship Id="rId1" Type="http://schemas.openxmlformats.org/officeDocument/2006/relationships/slideLayout" Target="../slideLayouts/slideLayout6.xml"/><Relationship Id="rId6" Type="http://schemas.openxmlformats.org/officeDocument/2006/relationships/oleObject" Target="../embeddings/oleObject102.bin"/><Relationship Id="rId11" Type="http://schemas.openxmlformats.org/officeDocument/2006/relationships/image" Target="../media/image105.wmf"/><Relationship Id="rId5" Type="http://schemas.openxmlformats.org/officeDocument/2006/relationships/image" Target="../media/image102.wmf"/><Relationship Id="rId15" Type="http://schemas.openxmlformats.org/officeDocument/2006/relationships/image" Target="../media/image107.wmf"/><Relationship Id="rId10" Type="http://schemas.openxmlformats.org/officeDocument/2006/relationships/oleObject" Target="../embeddings/oleObject104.bin"/><Relationship Id="rId4" Type="http://schemas.openxmlformats.org/officeDocument/2006/relationships/oleObject" Target="../embeddings/oleObject101.bin"/><Relationship Id="rId9" Type="http://schemas.openxmlformats.org/officeDocument/2006/relationships/image" Target="../media/image104.wmf"/><Relationship Id="rId14" Type="http://schemas.openxmlformats.org/officeDocument/2006/relationships/oleObject" Target="../embeddings/oleObject106.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image" Target="../media/image10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1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525000" cy="708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5" name="AutoShape 120"/>
          <p:cNvSpPr>
            <a:spLocks noChangeArrowheads="1"/>
          </p:cNvSpPr>
          <p:nvPr/>
        </p:nvSpPr>
        <p:spPr bwMode="auto">
          <a:xfrm>
            <a:off x="1685925" y="2514600"/>
            <a:ext cx="5791200" cy="1676400"/>
          </a:xfrm>
          <a:prstGeom prst="roundRect">
            <a:avLst>
              <a:gd name="adj" fmla="val 16667"/>
            </a:avLst>
          </a:prstGeom>
          <a:solidFill>
            <a:srgbClr val="C0C0C0">
              <a:alpha val="14902"/>
            </a:srgbClr>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sz="1200"/>
          </a:p>
        </p:txBody>
      </p:sp>
      <p:sp>
        <p:nvSpPr>
          <p:cNvPr id="3076" name="Text Box 115"/>
          <p:cNvSpPr txBox="1">
            <a:spLocks noChangeArrowheads="1"/>
          </p:cNvSpPr>
          <p:nvPr/>
        </p:nvSpPr>
        <p:spPr bwMode="auto">
          <a:xfrm>
            <a:off x="1900238" y="1720850"/>
            <a:ext cx="5362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600" b="1" dirty="0"/>
              <a:t>Grado en Fisioterapia</a:t>
            </a:r>
            <a:endParaRPr lang="es-ES" altLang="es-ES" sz="1600" b="1" dirty="0"/>
          </a:p>
        </p:txBody>
      </p:sp>
      <p:sp>
        <p:nvSpPr>
          <p:cNvPr id="3077" name="Text Box 117"/>
          <p:cNvSpPr txBox="1">
            <a:spLocks noChangeArrowheads="1"/>
          </p:cNvSpPr>
          <p:nvPr/>
        </p:nvSpPr>
        <p:spPr bwMode="auto">
          <a:xfrm>
            <a:off x="4105275" y="2819400"/>
            <a:ext cx="942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600" b="1"/>
              <a:t>Tema III</a:t>
            </a:r>
            <a:endParaRPr lang="es-ES" altLang="es-ES" sz="1600" b="1"/>
          </a:p>
        </p:txBody>
      </p:sp>
      <p:sp>
        <p:nvSpPr>
          <p:cNvPr id="3078" name="Rectangle 118"/>
          <p:cNvSpPr>
            <a:spLocks noChangeArrowheads="1"/>
          </p:cNvSpPr>
          <p:nvPr/>
        </p:nvSpPr>
        <p:spPr bwMode="auto">
          <a:xfrm>
            <a:off x="3175000" y="3328988"/>
            <a:ext cx="28575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 altLang="es-ES" sz="1900" b="1"/>
              <a:t>Teoría de la estimación</a:t>
            </a:r>
          </a:p>
        </p:txBody>
      </p:sp>
      <p:sp>
        <p:nvSpPr>
          <p:cNvPr id="3079" name="Text Box 119"/>
          <p:cNvSpPr txBox="1">
            <a:spLocks noChangeArrowheads="1"/>
          </p:cNvSpPr>
          <p:nvPr/>
        </p:nvSpPr>
        <p:spPr bwMode="auto">
          <a:xfrm>
            <a:off x="3727450" y="1339850"/>
            <a:ext cx="170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b="1"/>
              <a:t>ESTADÍSTICA</a:t>
            </a:r>
            <a:endParaRPr lang="es-ES" altLang="es-ES" b="1"/>
          </a:p>
        </p:txBody>
      </p:sp>
      <p:sp>
        <p:nvSpPr>
          <p:cNvPr id="18" name="Text Box 127"/>
          <p:cNvSpPr txBox="1">
            <a:spLocks noChangeArrowheads="1"/>
          </p:cNvSpPr>
          <p:nvPr/>
        </p:nvSpPr>
        <p:spPr bwMode="auto">
          <a:xfrm>
            <a:off x="3276600" y="6521450"/>
            <a:ext cx="2520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eaLnBrk="1" hangingPunct="1"/>
            <a:r>
              <a:rPr lang="es-ES_tradnl" altLang="es-ES" sz="1600" b="1">
                <a:solidFill>
                  <a:srgbClr val="002060"/>
                </a:solidFill>
              </a:rPr>
              <a:t>Universidad de Granada</a:t>
            </a:r>
            <a:endParaRPr lang="es-ES" altLang="es-ES" sz="1600" b="1">
              <a:solidFill>
                <a:srgbClr val="002060"/>
              </a:solidFill>
            </a:endParaRPr>
          </a:p>
        </p:txBody>
      </p:sp>
      <p:sp>
        <p:nvSpPr>
          <p:cNvPr id="19" name="Text Box 129"/>
          <p:cNvSpPr txBox="1">
            <a:spLocks noChangeArrowheads="1"/>
          </p:cNvSpPr>
          <p:nvPr/>
        </p:nvSpPr>
        <p:spPr bwMode="auto">
          <a:xfrm>
            <a:off x="833451" y="5972175"/>
            <a:ext cx="747711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200">
                <a:solidFill>
                  <a:schemeClr val="tx1"/>
                </a:solidFill>
                <a:latin typeface="Arial" charset="0"/>
              </a:defRPr>
            </a:lvl1pPr>
            <a:lvl2pPr marL="742950" indent="-285750" eaLnBrk="0" hangingPunct="0">
              <a:defRPr sz="1200">
                <a:solidFill>
                  <a:schemeClr val="tx1"/>
                </a:solidFill>
                <a:latin typeface="Arial" charset="0"/>
              </a:defRPr>
            </a:lvl2pPr>
            <a:lvl3pPr marL="1143000" indent="-228600" eaLnBrk="0" hangingPunct="0">
              <a:defRPr sz="1200">
                <a:solidFill>
                  <a:schemeClr val="tx1"/>
                </a:solidFill>
                <a:latin typeface="Arial" charset="0"/>
              </a:defRPr>
            </a:lvl3pPr>
            <a:lvl4pPr marL="1600200" indent="-228600" eaLnBrk="0" hangingPunct="0">
              <a:defRPr sz="1200">
                <a:solidFill>
                  <a:schemeClr val="tx1"/>
                </a:solidFill>
                <a:latin typeface="Arial" charset="0"/>
              </a:defRPr>
            </a:lvl4pPr>
            <a:lvl5pPr marL="2057400" indent="-228600" eaLnBrk="0" hangingPunct="0">
              <a:defRPr sz="1200">
                <a:solidFill>
                  <a:schemeClr val="tx1"/>
                </a:solidFill>
                <a:latin typeface="Arial" charset="0"/>
              </a:defRPr>
            </a:lvl5pPr>
            <a:lvl6pPr marL="2514600" indent="-228600" eaLnBrk="0" fontAlgn="base" hangingPunct="0">
              <a:spcBef>
                <a:spcPct val="0"/>
              </a:spcBef>
              <a:spcAft>
                <a:spcPct val="0"/>
              </a:spcAft>
              <a:defRPr sz="1200">
                <a:solidFill>
                  <a:schemeClr val="tx1"/>
                </a:solidFill>
                <a:latin typeface="Arial" charset="0"/>
              </a:defRPr>
            </a:lvl6pPr>
            <a:lvl7pPr marL="2971800" indent="-228600" eaLnBrk="0" fontAlgn="base" hangingPunct="0">
              <a:spcBef>
                <a:spcPct val="0"/>
              </a:spcBef>
              <a:spcAft>
                <a:spcPct val="0"/>
              </a:spcAft>
              <a:defRPr sz="1200">
                <a:solidFill>
                  <a:schemeClr val="tx1"/>
                </a:solidFill>
                <a:latin typeface="Arial" charset="0"/>
              </a:defRPr>
            </a:lvl7pPr>
            <a:lvl8pPr marL="3429000" indent="-228600" eaLnBrk="0" fontAlgn="base" hangingPunct="0">
              <a:spcBef>
                <a:spcPct val="0"/>
              </a:spcBef>
              <a:spcAft>
                <a:spcPct val="0"/>
              </a:spcAft>
              <a:defRPr sz="1200">
                <a:solidFill>
                  <a:schemeClr val="tx1"/>
                </a:solidFill>
                <a:latin typeface="Arial" charset="0"/>
              </a:defRPr>
            </a:lvl8pPr>
            <a:lvl9pPr marL="3886200" indent="-228600" eaLnBrk="0" fontAlgn="base" hangingPunct="0">
              <a:spcBef>
                <a:spcPct val="0"/>
              </a:spcBef>
              <a:spcAft>
                <a:spcPct val="0"/>
              </a:spcAft>
              <a:defRPr sz="1200">
                <a:solidFill>
                  <a:schemeClr val="tx1"/>
                </a:solidFill>
                <a:latin typeface="Arial" charset="0"/>
              </a:defRPr>
            </a:lvl9pPr>
          </a:lstStyle>
          <a:p>
            <a:pPr algn="ctr" eaLnBrk="1" hangingPunct="1"/>
            <a:r>
              <a:rPr lang="es-ES_tradnl" altLang="es-ES" sz="1600" b="1" dirty="0">
                <a:solidFill>
                  <a:srgbClr val="002060"/>
                </a:solidFill>
              </a:rPr>
              <a:t>Pedro </a:t>
            </a:r>
            <a:r>
              <a:rPr lang="es-ES_tradnl" altLang="es-ES" sz="1600" b="1" dirty="0" err="1">
                <a:solidFill>
                  <a:srgbClr val="002060"/>
                </a:solidFill>
              </a:rPr>
              <a:t>Femia</a:t>
            </a:r>
            <a:r>
              <a:rPr lang="es-ES_tradnl" altLang="es-ES" sz="1600" b="1" dirty="0">
                <a:solidFill>
                  <a:srgbClr val="002060"/>
                </a:solidFill>
              </a:rPr>
              <a:t> Marzo (autor) &amp; Miguel Angel Luque Fernandez (actualización)</a:t>
            </a:r>
          </a:p>
          <a:p>
            <a:pPr algn="ctr" eaLnBrk="1" hangingPunct="1"/>
            <a:r>
              <a:rPr lang="es-ES_tradnl" altLang="es-ES" sz="1600" b="1" dirty="0">
                <a:solidFill>
                  <a:srgbClr val="002060"/>
                </a:solidFill>
              </a:rPr>
              <a:t>Unidad de Bioestadística – Facultad de Medicina</a:t>
            </a:r>
          </a:p>
        </p:txBody>
      </p:sp>
      <p:pic>
        <p:nvPicPr>
          <p:cNvPr id="20" name="Picture 2" descr="http://es.creativecommons.org/blog/wp-content/uploads/2013/04/by-nc-nd.eu_peti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50" y="6442075"/>
            <a:ext cx="1123950" cy="390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7324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8" name="Group 23"/>
          <p:cNvGrpSpPr>
            <a:grpSpLocks/>
          </p:cNvGrpSpPr>
          <p:nvPr/>
        </p:nvGrpSpPr>
        <p:grpSpPr bwMode="auto">
          <a:xfrm>
            <a:off x="133350" y="800100"/>
            <a:ext cx="8763000" cy="3048000"/>
            <a:chOff x="84" y="504"/>
            <a:chExt cx="5520" cy="1920"/>
          </a:xfrm>
        </p:grpSpPr>
        <p:sp>
          <p:nvSpPr>
            <p:cNvPr id="4104" name="AutoShape 39"/>
            <p:cNvSpPr>
              <a:spLocks noChangeArrowheads="1"/>
            </p:cNvSpPr>
            <p:nvPr/>
          </p:nvSpPr>
          <p:spPr bwMode="auto">
            <a:xfrm>
              <a:off x="180" y="606"/>
              <a:ext cx="5424" cy="1818"/>
            </a:xfrm>
            <a:prstGeom prst="roundRect">
              <a:avLst>
                <a:gd name="adj" fmla="val 4972"/>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4105" name="3 Rectángulo"/>
            <p:cNvSpPr>
              <a:spLocks noChangeArrowheads="1"/>
            </p:cNvSpPr>
            <p:nvPr/>
          </p:nvSpPr>
          <p:spPr bwMode="auto">
            <a:xfrm>
              <a:off x="300" y="504"/>
              <a:ext cx="1176" cy="192"/>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4106" name="Text Box 6"/>
            <p:cNvSpPr txBox="1">
              <a:spLocks noChangeArrowheads="1"/>
            </p:cNvSpPr>
            <p:nvPr/>
          </p:nvSpPr>
          <p:spPr bwMode="auto">
            <a:xfrm>
              <a:off x="289" y="504"/>
              <a:ext cx="5280" cy="1893"/>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b="1" dirty="0"/>
                <a:t>Recordemos que:</a:t>
              </a:r>
            </a:p>
            <a:p>
              <a:pPr algn="just" eaLnBrk="1" hangingPunct="1"/>
              <a:r>
                <a:rPr lang="es-ES_tradnl" altLang="es-ES" sz="1400" dirty="0"/>
                <a:t>- Lo que interesa estudiar es a la </a:t>
              </a:r>
              <a:r>
                <a:rPr lang="es-ES_tradnl" altLang="es-ES" sz="1400" b="1" dirty="0"/>
                <a:t>población</a:t>
              </a:r>
              <a:r>
                <a:rPr lang="es-ES_tradnl" altLang="es-ES" sz="1400" dirty="0"/>
                <a:t> ← la población en su conjunto es inaccesible</a:t>
              </a:r>
            </a:p>
            <a:p>
              <a:pPr algn="just" eaLnBrk="1" hangingPunct="1">
                <a:lnSpc>
                  <a:spcPct val="120000"/>
                </a:lnSpc>
                <a:buFontTx/>
                <a:buChar char="-"/>
              </a:pPr>
              <a:r>
                <a:rPr lang="es-ES_tradnl" altLang="es-ES" sz="1400" dirty="0"/>
                <a:t> La población ha de caracterizarse de alguna manera “operativa” </a:t>
              </a:r>
              <a:r>
                <a:rPr lang="es-ES_tradnl" altLang="es-ES" sz="1400" b="1" dirty="0"/>
                <a:t>←</a:t>
              </a:r>
              <a:r>
                <a:rPr lang="es-ES_tradnl" altLang="es-ES" sz="1400" dirty="0"/>
                <a:t> parámetros poblacionales</a:t>
              </a:r>
            </a:p>
            <a:p>
              <a:pPr algn="just" eaLnBrk="1" hangingPunct="1">
                <a:lnSpc>
                  <a:spcPct val="110000"/>
                </a:lnSpc>
                <a:buFontTx/>
                <a:buChar char="-"/>
              </a:pPr>
              <a:r>
                <a:rPr lang="es-ES_tradnl" altLang="es-ES" sz="1400" dirty="0"/>
                <a:t> Se necesita algún tipo de técnica que permita extender las conclusiones extraídas a partir de una o varias muestras a toda la población ← </a:t>
              </a:r>
              <a:r>
                <a:rPr lang="es-ES_tradnl" altLang="es-ES" sz="1400" b="1" dirty="0">
                  <a:solidFill>
                    <a:srgbClr val="6A1700"/>
                  </a:solidFill>
                </a:rPr>
                <a:t>Inferencia Estadística. </a:t>
              </a:r>
            </a:p>
            <a:p>
              <a:pPr algn="just" eaLnBrk="1" hangingPunct="1">
                <a:lnSpc>
                  <a:spcPct val="150000"/>
                </a:lnSpc>
              </a:pPr>
              <a:r>
                <a:rPr lang="es-ES_tradnl" altLang="es-ES" sz="1400" dirty="0"/>
                <a:t>Veremos</a:t>
              </a:r>
              <a:r>
                <a:rPr lang="es-ES_tradnl" altLang="es-ES" sz="1400" b="1" dirty="0"/>
                <a:t> dos tipos </a:t>
              </a:r>
              <a:r>
                <a:rPr lang="es-ES_tradnl" altLang="es-ES" sz="1400" dirty="0"/>
                <a:t>de inferencia que permiten dar respuesta a dos tipos de problemas diferentes:</a:t>
              </a:r>
            </a:p>
            <a:p>
              <a:pPr algn="just" eaLnBrk="1" hangingPunct="1">
                <a:lnSpc>
                  <a:spcPct val="150000"/>
                </a:lnSpc>
              </a:pPr>
              <a:endParaRPr lang="es-ES_tradnl" altLang="es-ES" sz="1400" dirty="0"/>
            </a:p>
            <a:p>
              <a:pPr algn="just" eaLnBrk="1" hangingPunct="1">
                <a:lnSpc>
                  <a:spcPct val="150000"/>
                </a:lnSpc>
              </a:pPr>
              <a:endParaRPr lang="es-ES_tradnl" altLang="es-ES" sz="1400" dirty="0"/>
            </a:p>
            <a:p>
              <a:pPr algn="just" eaLnBrk="1" hangingPunct="1">
                <a:lnSpc>
                  <a:spcPct val="110000"/>
                </a:lnSpc>
              </a:pPr>
              <a:endParaRPr lang="es-ES_tradnl" altLang="es-ES" sz="1400" dirty="0"/>
            </a:p>
            <a:p>
              <a:pPr algn="just" eaLnBrk="1" hangingPunct="1">
                <a:lnSpc>
                  <a:spcPct val="150000"/>
                </a:lnSpc>
              </a:pPr>
              <a:r>
                <a:rPr lang="es-ES_tradnl" altLang="es-ES" sz="1400" dirty="0"/>
                <a:t>En ambos 	- Se </a:t>
              </a:r>
              <a:r>
                <a:rPr lang="es-ES" altLang="es-ES" sz="1400" dirty="0"/>
                <a:t>estudia a la población </a:t>
              </a:r>
              <a:r>
                <a:rPr lang="es-ES_tradnl" altLang="es-ES" sz="1400" dirty="0"/>
                <a:t>a través de sus </a:t>
              </a:r>
              <a:r>
                <a:rPr lang="es-ES_tradnl" altLang="es-ES" sz="1400" b="1" dirty="0"/>
                <a:t>parámetros</a:t>
              </a:r>
              <a:endParaRPr lang="es-ES_tradnl" altLang="es-ES" sz="1400" dirty="0"/>
            </a:p>
            <a:p>
              <a:pPr algn="just" eaLnBrk="1" hangingPunct="1">
                <a:lnSpc>
                  <a:spcPct val="120000"/>
                </a:lnSpc>
              </a:pPr>
              <a:r>
                <a:rPr lang="es-ES_tradnl" altLang="es-ES" sz="1400" dirty="0"/>
                <a:t>	- El </a:t>
              </a:r>
              <a:r>
                <a:rPr lang="es-ES_tradnl" altLang="es-ES" sz="1400" b="1" dirty="0"/>
                <a:t>tamaño de muestra</a:t>
              </a:r>
              <a:r>
                <a:rPr lang="es-ES_tradnl" altLang="es-ES" sz="1400" dirty="0"/>
                <a:t> jugará un papel relevante que siempre habrá que tener en cuenta</a:t>
              </a:r>
              <a:endParaRPr lang="es-ES" altLang="es-ES" sz="1400" dirty="0"/>
            </a:p>
          </p:txBody>
        </p:sp>
        <p:sp>
          <p:nvSpPr>
            <p:cNvPr id="4107" name="AutoShape 14"/>
            <p:cNvSpPr>
              <a:spLocks noChangeAspect="1" noChangeArrowheads="1" noTextEdit="1"/>
            </p:cNvSpPr>
            <p:nvPr/>
          </p:nvSpPr>
          <p:spPr bwMode="auto">
            <a:xfrm>
              <a:off x="84" y="1373"/>
              <a:ext cx="4645" cy="1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grpSp>
          <p:nvGrpSpPr>
            <p:cNvPr id="4108" name="Group 22"/>
            <p:cNvGrpSpPr>
              <a:grpSpLocks/>
            </p:cNvGrpSpPr>
            <p:nvPr/>
          </p:nvGrpSpPr>
          <p:grpSpPr bwMode="auto">
            <a:xfrm>
              <a:off x="450" y="1537"/>
              <a:ext cx="4884" cy="136"/>
              <a:chOff x="534" y="1531"/>
              <a:chExt cx="4884" cy="136"/>
            </a:xfrm>
          </p:grpSpPr>
          <p:sp>
            <p:nvSpPr>
              <p:cNvPr id="4113" name="Rectangle 17"/>
              <p:cNvSpPr>
                <a:spLocks noChangeArrowheads="1"/>
              </p:cNvSpPr>
              <p:nvPr/>
            </p:nvSpPr>
            <p:spPr bwMode="auto">
              <a:xfrm>
                <a:off x="2153" y="1539"/>
                <a:ext cx="3265"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300">
                    <a:solidFill>
                      <a:srgbClr val="006666"/>
                    </a:solidFill>
                  </a:rPr>
                  <a:t>→    ¿Cuál es el tiempo medio que tarda en hacer efecto un fármaco?</a:t>
                </a:r>
                <a:endParaRPr lang="es-ES" altLang="es-ES">
                  <a:solidFill>
                    <a:srgbClr val="006666"/>
                  </a:solidFill>
                </a:endParaRPr>
              </a:p>
            </p:txBody>
          </p:sp>
          <p:sp>
            <p:nvSpPr>
              <p:cNvPr id="4114" name="Rectangle 21"/>
              <p:cNvSpPr>
                <a:spLocks noChangeArrowheads="1"/>
              </p:cNvSpPr>
              <p:nvPr/>
            </p:nvSpPr>
            <p:spPr bwMode="auto">
              <a:xfrm>
                <a:off x="534" y="1531"/>
                <a:ext cx="122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400" dirty="0">
                    <a:solidFill>
                      <a:srgbClr val="000000"/>
                    </a:solidFill>
                  </a:rPr>
                  <a:t>Teoría de la </a:t>
                </a:r>
                <a:r>
                  <a:rPr lang="es-ES" altLang="es-ES" sz="1400" b="1" dirty="0">
                    <a:solidFill>
                      <a:srgbClr val="800000"/>
                    </a:solidFill>
                  </a:rPr>
                  <a:t>Estimación</a:t>
                </a:r>
              </a:p>
            </p:txBody>
          </p:sp>
        </p:grpSp>
        <p:grpSp>
          <p:nvGrpSpPr>
            <p:cNvPr id="4109" name="Group 21"/>
            <p:cNvGrpSpPr>
              <a:grpSpLocks/>
            </p:cNvGrpSpPr>
            <p:nvPr/>
          </p:nvGrpSpPr>
          <p:grpSpPr bwMode="auto">
            <a:xfrm>
              <a:off x="450" y="1765"/>
              <a:ext cx="4913" cy="136"/>
              <a:chOff x="534" y="1843"/>
              <a:chExt cx="4913" cy="136"/>
            </a:xfrm>
          </p:grpSpPr>
          <p:sp>
            <p:nvSpPr>
              <p:cNvPr id="4111" name="Rectangle 19"/>
              <p:cNvSpPr>
                <a:spLocks noChangeArrowheads="1"/>
              </p:cNvSpPr>
              <p:nvPr/>
            </p:nvSpPr>
            <p:spPr bwMode="auto">
              <a:xfrm>
                <a:off x="2493" y="1849"/>
                <a:ext cx="2954"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300" dirty="0">
                    <a:solidFill>
                      <a:srgbClr val="006666"/>
                    </a:solidFill>
                  </a:rPr>
                  <a:t> →  El tratamiento A ¿es igual de efectivo que el tratamiento B?</a:t>
                </a:r>
                <a:endParaRPr lang="es-ES" altLang="es-ES" dirty="0">
                  <a:solidFill>
                    <a:srgbClr val="006666"/>
                  </a:solidFill>
                </a:endParaRPr>
              </a:p>
            </p:txBody>
          </p:sp>
          <p:sp>
            <p:nvSpPr>
              <p:cNvPr id="4112" name="Rectangle 22"/>
              <p:cNvSpPr>
                <a:spLocks noChangeArrowheads="1"/>
              </p:cNvSpPr>
              <p:nvPr/>
            </p:nvSpPr>
            <p:spPr bwMode="auto">
              <a:xfrm>
                <a:off x="534" y="1843"/>
                <a:ext cx="196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400" dirty="0">
                    <a:solidFill>
                      <a:srgbClr val="000000"/>
                    </a:solidFill>
                  </a:rPr>
                  <a:t>Teoría de los </a:t>
                </a:r>
                <a:r>
                  <a:rPr lang="es-ES" altLang="es-ES" sz="1400" b="1" dirty="0">
                    <a:solidFill>
                      <a:srgbClr val="800000"/>
                    </a:solidFill>
                  </a:rPr>
                  <a:t>Contrastes de Hipótesis</a:t>
                </a:r>
              </a:p>
            </p:txBody>
          </p:sp>
        </p:grpSp>
        <p:sp>
          <p:nvSpPr>
            <p:cNvPr id="4110" name="AutoShape 31"/>
            <p:cNvSpPr>
              <a:spLocks/>
            </p:cNvSpPr>
            <p:nvPr/>
          </p:nvSpPr>
          <p:spPr bwMode="auto">
            <a:xfrm>
              <a:off x="354" y="1488"/>
              <a:ext cx="60" cy="411"/>
            </a:xfrm>
            <a:prstGeom prst="leftBrace">
              <a:avLst>
                <a:gd name="adj1" fmla="val 8032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sp>
        <p:nvSpPr>
          <p:cNvPr id="4099" name="Text Box 7"/>
          <p:cNvSpPr txBox="1">
            <a:spLocks noChangeArrowheads="1"/>
          </p:cNvSpPr>
          <p:nvPr/>
        </p:nvSpPr>
        <p:spPr bwMode="auto">
          <a:xfrm>
            <a:off x="457200" y="4121150"/>
            <a:ext cx="8380413" cy="999377"/>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lnSpc>
                <a:spcPct val="110000"/>
              </a:lnSpc>
            </a:pPr>
            <a:r>
              <a:rPr lang="es-ES_tradnl" altLang="es-ES" sz="1400" dirty="0"/>
              <a:t>La </a:t>
            </a:r>
            <a:r>
              <a:rPr lang="es-ES_tradnl" altLang="es-ES" sz="1400" b="1" dirty="0">
                <a:solidFill>
                  <a:srgbClr val="800000"/>
                </a:solidFill>
              </a:rPr>
              <a:t>Teoría de la Estimación</a:t>
            </a:r>
            <a:r>
              <a:rPr lang="es-ES_tradnl" altLang="es-ES" sz="1400" dirty="0">
                <a:solidFill>
                  <a:srgbClr val="800000"/>
                </a:solidFill>
              </a:rPr>
              <a:t> </a:t>
            </a:r>
            <a:r>
              <a:rPr lang="es-ES_tradnl" altLang="es-ES" sz="1400" dirty="0"/>
              <a:t>es la parte de la </a:t>
            </a:r>
            <a:r>
              <a:rPr lang="es-ES_tradnl" altLang="es-ES" sz="1400" b="1" dirty="0"/>
              <a:t>Inferencia Estadística</a:t>
            </a:r>
            <a:r>
              <a:rPr lang="es-ES_tradnl" altLang="es-ES" sz="1400" dirty="0"/>
              <a:t> que trata de determinar el valor de los parámetros poblacionales. </a:t>
            </a:r>
          </a:p>
          <a:p>
            <a:pPr algn="just" eaLnBrk="1" hangingPunct="1"/>
            <a:endParaRPr lang="es-ES_tradnl" altLang="es-ES" sz="1400" dirty="0"/>
          </a:p>
          <a:p>
            <a:pPr algn="just" eaLnBrk="1" hangingPunct="1"/>
            <a:r>
              <a:rPr lang="es-ES_tradnl" altLang="es-ES" sz="1400" dirty="0"/>
              <a:t>Distinguiremos </a:t>
            </a:r>
            <a:r>
              <a:rPr lang="es-ES_tradnl" altLang="es-ES" sz="1400" b="1" dirty="0"/>
              <a:t>dos formas de estimación</a:t>
            </a:r>
            <a:r>
              <a:rPr lang="es-ES_tradnl" altLang="es-ES" sz="1400" dirty="0"/>
              <a:t>: </a:t>
            </a:r>
            <a:endParaRPr lang="es-ES" altLang="es-ES" sz="1400" dirty="0"/>
          </a:p>
        </p:txBody>
      </p:sp>
      <p:sp>
        <p:nvSpPr>
          <p:cNvPr id="4100" name="Rectangle 10"/>
          <p:cNvSpPr>
            <a:spLocks noChangeArrowheads="1"/>
          </p:cNvSpPr>
          <p:nvPr/>
        </p:nvSpPr>
        <p:spPr bwMode="auto">
          <a:xfrm>
            <a:off x="457200" y="5189538"/>
            <a:ext cx="8458200" cy="985837"/>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228600" indent="-228600" eaLnBrk="0" hangingPunct="0">
              <a:defRPr>
                <a:solidFill>
                  <a:schemeClr val="tx1"/>
                </a:solidFill>
                <a:latin typeface="Arial" charset="0"/>
              </a:defRPr>
            </a:lvl1pPr>
            <a:lvl2pPr marL="2971800" indent="-457200" eaLnBrk="0" hangingPunct="0">
              <a:defRPr>
                <a:solidFill>
                  <a:schemeClr val="tx1"/>
                </a:solidFill>
                <a:latin typeface="Arial" charset="0"/>
              </a:defRPr>
            </a:lvl2pPr>
            <a:lvl3pPr marL="3543300" indent="-457200" eaLnBrk="0" hangingPunct="0">
              <a:defRPr>
                <a:solidFill>
                  <a:schemeClr val="tx1"/>
                </a:solidFill>
                <a:latin typeface="Arial" charset="0"/>
              </a:defRPr>
            </a:lvl3pPr>
            <a:lvl4pPr marL="4114800" indent="-457200" eaLnBrk="0" hangingPunct="0">
              <a:defRPr>
                <a:solidFill>
                  <a:schemeClr val="tx1"/>
                </a:solidFill>
                <a:latin typeface="Arial" charset="0"/>
              </a:defRPr>
            </a:lvl4pPr>
            <a:lvl5pPr marL="4686300" indent="-457200" eaLnBrk="0" hangingPunct="0">
              <a:defRPr>
                <a:solidFill>
                  <a:schemeClr val="tx1"/>
                </a:solidFill>
                <a:latin typeface="Arial" charset="0"/>
              </a:defRPr>
            </a:lvl5pPr>
            <a:lvl6pPr marL="5143500" indent="-457200" eaLnBrk="0" fontAlgn="base" hangingPunct="0">
              <a:spcBef>
                <a:spcPct val="0"/>
              </a:spcBef>
              <a:spcAft>
                <a:spcPct val="0"/>
              </a:spcAft>
              <a:defRPr>
                <a:solidFill>
                  <a:schemeClr val="tx1"/>
                </a:solidFill>
                <a:latin typeface="Arial" charset="0"/>
              </a:defRPr>
            </a:lvl6pPr>
            <a:lvl7pPr marL="5600700" indent="-457200" eaLnBrk="0" fontAlgn="base" hangingPunct="0">
              <a:spcBef>
                <a:spcPct val="0"/>
              </a:spcBef>
              <a:spcAft>
                <a:spcPct val="0"/>
              </a:spcAft>
              <a:defRPr>
                <a:solidFill>
                  <a:schemeClr val="tx1"/>
                </a:solidFill>
                <a:latin typeface="Arial" charset="0"/>
              </a:defRPr>
            </a:lvl7pPr>
            <a:lvl8pPr marL="6057900" indent="-457200" eaLnBrk="0" fontAlgn="base" hangingPunct="0">
              <a:spcBef>
                <a:spcPct val="0"/>
              </a:spcBef>
              <a:spcAft>
                <a:spcPct val="0"/>
              </a:spcAft>
              <a:defRPr>
                <a:solidFill>
                  <a:schemeClr val="tx1"/>
                </a:solidFill>
                <a:latin typeface="Arial" charset="0"/>
              </a:defRPr>
            </a:lvl8pPr>
            <a:lvl9pPr marL="6515100" indent="-457200" eaLnBrk="0" fontAlgn="base" hangingPunct="0">
              <a:spcBef>
                <a:spcPct val="0"/>
              </a:spcBef>
              <a:spcAft>
                <a:spcPct val="0"/>
              </a:spcAft>
              <a:defRPr>
                <a:solidFill>
                  <a:schemeClr val="tx1"/>
                </a:solidFill>
                <a:latin typeface="Arial" charset="0"/>
              </a:defRPr>
            </a:lvl9pPr>
          </a:lstStyle>
          <a:p>
            <a:pPr algn="just" eaLnBrk="1" hangingPunct="1">
              <a:buFontTx/>
              <a:buChar char="•"/>
            </a:pPr>
            <a:r>
              <a:rPr lang="es-ES_tradnl" altLang="es-ES" sz="1400"/>
              <a:t>Estimación </a:t>
            </a:r>
            <a:r>
              <a:rPr lang="es-ES_tradnl" altLang="es-ES" sz="1400" b="1"/>
              <a:t>puntual</a:t>
            </a:r>
          </a:p>
          <a:p>
            <a:pPr algn="just" eaLnBrk="1" hangingPunct="1">
              <a:lnSpc>
                <a:spcPct val="30000"/>
              </a:lnSpc>
              <a:buFontTx/>
              <a:buChar char="•"/>
            </a:pPr>
            <a:endParaRPr lang="es-ES_tradnl" altLang="es-ES" sz="1400"/>
          </a:p>
          <a:p>
            <a:pPr algn="just" eaLnBrk="1" hangingPunct="1">
              <a:buFontTx/>
              <a:buChar char="•"/>
            </a:pPr>
            <a:endParaRPr lang="es-ES_tradnl" altLang="es-ES" sz="1400"/>
          </a:p>
          <a:p>
            <a:pPr algn="just" eaLnBrk="1" hangingPunct="1">
              <a:lnSpc>
                <a:spcPct val="90000"/>
              </a:lnSpc>
              <a:buFontTx/>
              <a:buChar char="•"/>
            </a:pPr>
            <a:endParaRPr lang="es-ES_tradnl" altLang="es-ES" sz="1400"/>
          </a:p>
          <a:p>
            <a:pPr algn="just" eaLnBrk="1" hangingPunct="1">
              <a:buFontTx/>
              <a:buChar char="•"/>
            </a:pPr>
            <a:r>
              <a:rPr lang="es-ES_tradnl" altLang="es-ES" sz="1400"/>
              <a:t>Estimación por </a:t>
            </a:r>
            <a:r>
              <a:rPr lang="es-ES_tradnl" altLang="es-ES" sz="1400" b="1"/>
              <a:t>intervalo</a:t>
            </a:r>
            <a:endParaRPr lang="es-ES" altLang="es-ES" sz="1400" b="1"/>
          </a:p>
        </p:txBody>
      </p:sp>
      <p:sp>
        <p:nvSpPr>
          <p:cNvPr id="4101" name="Rectangle 34"/>
          <p:cNvSpPr>
            <a:spLocks noChangeArrowheads="1"/>
          </p:cNvSpPr>
          <p:nvPr/>
        </p:nvSpPr>
        <p:spPr bwMode="auto">
          <a:xfrm>
            <a:off x="2928938" y="5173663"/>
            <a:ext cx="5908675" cy="494624"/>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285750" indent="-285750" eaLnBrk="0" hangingPunct="0">
              <a:defRPr>
                <a:solidFill>
                  <a:schemeClr val="tx1"/>
                </a:solidFill>
                <a:latin typeface="Arial" charset="0"/>
              </a:defRPr>
            </a:lvl1pPr>
            <a:lvl2pPr marL="2971800" indent="-457200" eaLnBrk="0" hangingPunct="0">
              <a:defRPr>
                <a:solidFill>
                  <a:schemeClr val="tx1"/>
                </a:solidFill>
                <a:latin typeface="Arial" charset="0"/>
              </a:defRPr>
            </a:lvl2pPr>
            <a:lvl3pPr marL="3543300" indent="-457200" eaLnBrk="0" hangingPunct="0">
              <a:defRPr>
                <a:solidFill>
                  <a:schemeClr val="tx1"/>
                </a:solidFill>
                <a:latin typeface="Arial" charset="0"/>
              </a:defRPr>
            </a:lvl3pPr>
            <a:lvl4pPr marL="4114800" indent="-457200" eaLnBrk="0" hangingPunct="0">
              <a:defRPr>
                <a:solidFill>
                  <a:schemeClr val="tx1"/>
                </a:solidFill>
                <a:latin typeface="Arial" charset="0"/>
              </a:defRPr>
            </a:lvl4pPr>
            <a:lvl5pPr marL="4686300" indent="-457200" eaLnBrk="0" hangingPunct="0">
              <a:defRPr>
                <a:solidFill>
                  <a:schemeClr val="tx1"/>
                </a:solidFill>
                <a:latin typeface="Arial" charset="0"/>
              </a:defRPr>
            </a:lvl5pPr>
            <a:lvl6pPr marL="5143500" indent="-457200" eaLnBrk="0" fontAlgn="base" hangingPunct="0">
              <a:spcBef>
                <a:spcPct val="0"/>
              </a:spcBef>
              <a:spcAft>
                <a:spcPct val="0"/>
              </a:spcAft>
              <a:defRPr>
                <a:solidFill>
                  <a:schemeClr val="tx1"/>
                </a:solidFill>
                <a:latin typeface="Arial" charset="0"/>
              </a:defRPr>
            </a:lvl6pPr>
            <a:lvl7pPr marL="5600700" indent="-457200" eaLnBrk="0" fontAlgn="base" hangingPunct="0">
              <a:spcBef>
                <a:spcPct val="0"/>
              </a:spcBef>
              <a:spcAft>
                <a:spcPct val="0"/>
              </a:spcAft>
              <a:defRPr>
                <a:solidFill>
                  <a:schemeClr val="tx1"/>
                </a:solidFill>
                <a:latin typeface="Arial" charset="0"/>
              </a:defRPr>
            </a:lvl7pPr>
            <a:lvl8pPr marL="6057900" indent="-457200" eaLnBrk="0" fontAlgn="base" hangingPunct="0">
              <a:spcBef>
                <a:spcPct val="0"/>
              </a:spcBef>
              <a:spcAft>
                <a:spcPct val="0"/>
              </a:spcAft>
              <a:defRPr>
                <a:solidFill>
                  <a:schemeClr val="tx1"/>
                </a:solidFill>
                <a:latin typeface="Arial" charset="0"/>
              </a:defRPr>
            </a:lvl8pPr>
            <a:lvl9pPr marL="6515100" indent="-4572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300" dirty="0"/>
              <a:t>← lo mejor que se puede decir del parámetro a partir de la muestra reduciendo la información a </a:t>
            </a:r>
            <a:r>
              <a:rPr lang="es-ES_tradnl" altLang="es-ES" sz="1300" b="1" dirty="0"/>
              <a:t>un solo valor</a:t>
            </a:r>
            <a:endParaRPr lang="es-ES" altLang="es-ES" sz="1300" b="1" dirty="0"/>
          </a:p>
        </p:txBody>
      </p:sp>
      <p:sp>
        <p:nvSpPr>
          <p:cNvPr id="4102" name="Rectangle 35"/>
          <p:cNvSpPr>
            <a:spLocks noChangeArrowheads="1"/>
          </p:cNvSpPr>
          <p:nvPr/>
        </p:nvSpPr>
        <p:spPr bwMode="auto">
          <a:xfrm>
            <a:off x="2928938" y="5878513"/>
            <a:ext cx="5908675" cy="69467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285750" indent="-285750" eaLnBrk="0" hangingPunct="0">
              <a:tabLst>
                <a:tab pos="285750" algn="l"/>
              </a:tabLst>
              <a:defRPr>
                <a:solidFill>
                  <a:schemeClr val="tx1"/>
                </a:solidFill>
                <a:latin typeface="Arial" charset="0"/>
              </a:defRPr>
            </a:lvl1pPr>
            <a:lvl2pPr marL="2971800" indent="-457200" eaLnBrk="0" hangingPunct="0">
              <a:tabLst>
                <a:tab pos="285750" algn="l"/>
              </a:tabLst>
              <a:defRPr>
                <a:solidFill>
                  <a:schemeClr val="tx1"/>
                </a:solidFill>
                <a:latin typeface="Arial" charset="0"/>
              </a:defRPr>
            </a:lvl2pPr>
            <a:lvl3pPr marL="3543300" indent="-457200" eaLnBrk="0" hangingPunct="0">
              <a:tabLst>
                <a:tab pos="285750" algn="l"/>
              </a:tabLst>
              <a:defRPr>
                <a:solidFill>
                  <a:schemeClr val="tx1"/>
                </a:solidFill>
                <a:latin typeface="Arial" charset="0"/>
              </a:defRPr>
            </a:lvl3pPr>
            <a:lvl4pPr marL="4114800" indent="-457200" eaLnBrk="0" hangingPunct="0">
              <a:tabLst>
                <a:tab pos="285750" algn="l"/>
              </a:tabLst>
              <a:defRPr>
                <a:solidFill>
                  <a:schemeClr val="tx1"/>
                </a:solidFill>
                <a:latin typeface="Arial" charset="0"/>
              </a:defRPr>
            </a:lvl4pPr>
            <a:lvl5pPr marL="4686300" indent="-457200" eaLnBrk="0" hangingPunct="0">
              <a:tabLst>
                <a:tab pos="285750" algn="l"/>
              </a:tabLst>
              <a:defRPr>
                <a:solidFill>
                  <a:schemeClr val="tx1"/>
                </a:solidFill>
                <a:latin typeface="Arial" charset="0"/>
              </a:defRPr>
            </a:lvl5pPr>
            <a:lvl6pPr marL="5143500" indent="-457200" eaLnBrk="0" fontAlgn="base" hangingPunct="0">
              <a:spcBef>
                <a:spcPct val="0"/>
              </a:spcBef>
              <a:spcAft>
                <a:spcPct val="0"/>
              </a:spcAft>
              <a:tabLst>
                <a:tab pos="285750" algn="l"/>
              </a:tabLst>
              <a:defRPr>
                <a:solidFill>
                  <a:schemeClr val="tx1"/>
                </a:solidFill>
                <a:latin typeface="Arial" charset="0"/>
              </a:defRPr>
            </a:lvl6pPr>
            <a:lvl7pPr marL="5600700" indent="-457200" eaLnBrk="0" fontAlgn="base" hangingPunct="0">
              <a:spcBef>
                <a:spcPct val="0"/>
              </a:spcBef>
              <a:spcAft>
                <a:spcPct val="0"/>
              </a:spcAft>
              <a:tabLst>
                <a:tab pos="285750" algn="l"/>
              </a:tabLst>
              <a:defRPr>
                <a:solidFill>
                  <a:schemeClr val="tx1"/>
                </a:solidFill>
                <a:latin typeface="Arial" charset="0"/>
              </a:defRPr>
            </a:lvl7pPr>
            <a:lvl8pPr marL="6057900" indent="-457200" eaLnBrk="0" fontAlgn="base" hangingPunct="0">
              <a:spcBef>
                <a:spcPct val="0"/>
              </a:spcBef>
              <a:spcAft>
                <a:spcPct val="0"/>
              </a:spcAft>
              <a:tabLst>
                <a:tab pos="285750" algn="l"/>
              </a:tabLst>
              <a:defRPr>
                <a:solidFill>
                  <a:schemeClr val="tx1"/>
                </a:solidFill>
                <a:latin typeface="Arial" charset="0"/>
              </a:defRPr>
            </a:lvl8pPr>
            <a:lvl9pPr marL="6515100" indent="-457200" eaLnBrk="0" fontAlgn="base" hangingPunct="0">
              <a:spcBef>
                <a:spcPct val="0"/>
              </a:spcBef>
              <a:spcAft>
                <a:spcPct val="0"/>
              </a:spcAft>
              <a:tabLst>
                <a:tab pos="285750" algn="l"/>
              </a:tabLst>
              <a:defRPr>
                <a:solidFill>
                  <a:schemeClr val="tx1"/>
                </a:solidFill>
                <a:latin typeface="Arial" charset="0"/>
              </a:defRPr>
            </a:lvl9pPr>
          </a:lstStyle>
          <a:p>
            <a:pPr algn="just" eaLnBrk="1" hangingPunct="1"/>
            <a:r>
              <a:rPr lang="es-ES_tradnl" altLang="es-ES" sz="1300" dirty="0"/>
              <a:t>←	la mejor manera de explotar la información contenida en la muestra de cara a conocer entre qué valores debe encontrarse el parámetro. En lugar de un solo valor, se da un conjunto de ellos.</a:t>
            </a:r>
            <a:endParaRPr lang="es-ES" altLang="es-ES" sz="1300" dirty="0"/>
          </a:p>
        </p:txBody>
      </p:sp>
      <p:sp>
        <p:nvSpPr>
          <p:cNvPr id="4103" name="Text Box 16"/>
          <p:cNvSpPr txBox="1">
            <a:spLocks noChangeArrowheads="1"/>
          </p:cNvSpPr>
          <p:nvPr/>
        </p:nvSpPr>
        <p:spPr bwMode="auto">
          <a:xfrm>
            <a:off x="152400" y="391102"/>
            <a:ext cx="1424086"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Introducción</a:t>
            </a:r>
          </a:p>
        </p:txBody>
      </p:sp>
      <p:sp>
        <p:nvSpPr>
          <p:cNvPr id="19" name="Text Box 16"/>
          <p:cNvSpPr txBox="1">
            <a:spLocks noChangeArrowheads="1"/>
          </p:cNvSpPr>
          <p:nvPr/>
        </p:nvSpPr>
        <p:spPr bwMode="auto">
          <a:xfrm>
            <a:off x="161925" y="40265"/>
            <a:ext cx="2437953"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Teoría de la estimación</a:t>
            </a:r>
          </a:p>
        </p:txBody>
      </p:sp>
    </p:spTree>
    <p:extLst>
      <p:ext uri="{BB962C8B-B14F-4D97-AF65-F5344CB8AC3E}">
        <p14:creationId xmlns:p14="http://schemas.microsoft.com/office/powerpoint/2010/main" val="1923318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a:spLocks noChangeArrowheads="1"/>
          </p:cNvSpPr>
          <p:nvPr/>
        </p:nvSpPr>
        <p:spPr bwMode="auto">
          <a:xfrm>
            <a:off x="647700" y="990600"/>
            <a:ext cx="7848600" cy="525401"/>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dirty="0"/>
              <a:t>En la estimación puntual se trata de asignar al parámetro poblacional un único valor; que será un valor aproximado y que depende de la muestra</a:t>
            </a:r>
            <a:endParaRPr lang="es-ES" altLang="es-ES" sz="1400" dirty="0"/>
          </a:p>
        </p:txBody>
      </p:sp>
      <p:sp>
        <p:nvSpPr>
          <p:cNvPr id="5123" name="Text Box 7"/>
          <p:cNvSpPr txBox="1">
            <a:spLocks noChangeArrowheads="1"/>
          </p:cNvSpPr>
          <p:nvPr/>
        </p:nvSpPr>
        <p:spPr bwMode="auto">
          <a:xfrm>
            <a:off x="657225" y="2133600"/>
            <a:ext cx="7924800" cy="51752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Un </a:t>
            </a:r>
            <a:r>
              <a:rPr lang="es-ES_tradnl" altLang="es-ES" sz="1400">
                <a:solidFill>
                  <a:srgbClr val="800000"/>
                </a:solidFill>
              </a:rPr>
              <a:t>estimador de un parámetro</a:t>
            </a:r>
            <a:r>
              <a:rPr lang="es-ES_tradnl" altLang="es-ES" sz="1400"/>
              <a:t> es una </a:t>
            </a:r>
            <a:r>
              <a:rPr lang="es-ES_tradnl" altLang="es-ES" sz="1400" b="1" i="1"/>
              <a:t>función</a:t>
            </a:r>
            <a:r>
              <a:rPr lang="es-ES_tradnl" altLang="es-ES" sz="1400"/>
              <a:t> de las observaciones de la muestra que permite dar </a:t>
            </a:r>
            <a:r>
              <a:rPr lang="es-ES" altLang="es-ES" sz="1400"/>
              <a:t>valores apropiados </a:t>
            </a:r>
            <a:r>
              <a:rPr lang="es-ES_tradnl" altLang="es-ES" sz="1400"/>
              <a:t>para ese parámetro.</a:t>
            </a:r>
            <a:endParaRPr lang="es-ES" altLang="es-ES" sz="1400"/>
          </a:p>
        </p:txBody>
      </p:sp>
      <p:sp>
        <p:nvSpPr>
          <p:cNvPr id="5124" name="Text Box 8"/>
          <p:cNvSpPr txBox="1">
            <a:spLocks noChangeArrowheads="1"/>
          </p:cNvSpPr>
          <p:nvPr/>
        </p:nvSpPr>
        <p:spPr bwMode="auto">
          <a:xfrm>
            <a:off x="514350" y="1676400"/>
            <a:ext cx="3675063"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b="1" dirty="0"/>
              <a:t>Conceptos de estimador y</a:t>
            </a:r>
            <a:r>
              <a:rPr lang="es-ES" altLang="es-ES" sz="1400" b="1" dirty="0"/>
              <a:t> de estimación </a:t>
            </a:r>
          </a:p>
        </p:txBody>
      </p:sp>
      <p:sp>
        <p:nvSpPr>
          <p:cNvPr id="5125" name="Text Box 16"/>
          <p:cNvSpPr txBox="1">
            <a:spLocks noChangeArrowheads="1"/>
          </p:cNvSpPr>
          <p:nvPr/>
        </p:nvSpPr>
        <p:spPr bwMode="auto">
          <a:xfrm>
            <a:off x="161925" y="230126"/>
            <a:ext cx="1814513"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400" b="1" dirty="0">
                <a:solidFill>
                  <a:srgbClr val="000000"/>
                </a:solidFill>
              </a:rPr>
              <a:t>Estimación puntual</a:t>
            </a:r>
          </a:p>
        </p:txBody>
      </p:sp>
      <p:sp>
        <p:nvSpPr>
          <p:cNvPr id="5126" name="Text Box 5"/>
          <p:cNvSpPr txBox="1">
            <a:spLocks noChangeArrowheads="1"/>
          </p:cNvSpPr>
          <p:nvPr/>
        </p:nvSpPr>
        <p:spPr bwMode="auto">
          <a:xfrm>
            <a:off x="657225" y="4267200"/>
            <a:ext cx="5440363"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b="1" dirty="0"/>
              <a:t>En la práctica </a:t>
            </a:r>
            <a:r>
              <a:rPr lang="es-ES_tradnl" altLang="es-ES" sz="1400" dirty="0"/>
              <a:t>los estimadores habituales son (</a:t>
            </a:r>
            <a:r>
              <a:rPr lang="es-ES_tradnl" altLang="es-ES" sz="1400" i="1" dirty="0"/>
              <a:t>método</a:t>
            </a:r>
            <a:r>
              <a:rPr lang="es-ES_tradnl" altLang="es-ES" sz="1400" dirty="0"/>
              <a:t> </a:t>
            </a:r>
            <a:r>
              <a:rPr lang="es-ES_tradnl" altLang="es-ES" sz="1400" i="1" dirty="0"/>
              <a:t>analógico</a:t>
            </a:r>
            <a:r>
              <a:rPr lang="es-ES_tradnl" altLang="es-ES" sz="1400" dirty="0"/>
              <a:t>)</a:t>
            </a:r>
            <a:r>
              <a:rPr lang="es-ES_tradnl" altLang="es-ES" sz="1400" b="1" dirty="0"/>
              <a:t>:</a:t>
            </a:r>
            <a:endParaRPr lang="es-ES" altLang="es-ES" sz="1400" b="1" dirty="0"/>
          </a:p>
        </p:txBody>
      </p:sp>
      <p:sp>
        <p:nvSpPr>
          <p:cNvPr id="5127" name="Rectangle 19"/>
          <p:cNvSpPr>
            <a:spLocks noChangeArrowheads="1"/>
          </p:cNvSpPr>
          <p:nvPr/>
        </p:nvSpPr>
        <p:spPr bwMode="auto">
          <a:xfrm>
            <a:off x="533400" y="5364163"/>
            <a:ext cx="180975" cy="366712"/>
          </a:xfrm>
          <a:prstGeom prst="rect">
            <a:avLst/>
          </a:prstGeom>
          <a:noFill/>
          <a:ln>
            <a:noFill/>
          </a:ln>
          <a:effectLst>
            <a:outerShdw dist="107763" dir="2700000" algn="ctr" rotWithShape="0">
              <a:schemeClr val="bg2"/>
            </a:outerShdw>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0000" tIns="46800" rIns="90000" bIns="468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nvGrpSpPr>
          <p:cNvPr id="5128" name="Group 37"/>
          <p:cNvGrpSpPr>
            <a:grpSpLocks/>
          </p:cNvGrpSpPr>
          <p:nvPr/>
        </p:nvGrpSpPr>
        <p:grpSpPr bwMode="auto">
          <a:xfrm>
            <a:off x="685800" y="4953000"/>
            <a:ext cx="7010400" cy="1074738"/>
            <a:chOff x="480" y="3120"/>
            <a:chExt cx="4416" cy="677"/>
          </a:xfrm>
        </p:grpSpPr>
        <p:grpSp>
          <p:nvGrpSpPr>
            <p:cNvPr id="5140" name="Group 20"/>
            <p:cNvGrpSpPr>
              <a:grpSpLocks/>
            </p:cNvGrpSpPr>
            <p:nvPr/>
          </p:nvGrpSpPr>
          <p:grpSpPr bwMode="auto">
            <a:xfrm>
              <a:off x="480" y="3120"/>
              <a:ext cx="2062" cy="675"/>
              <a:chOff x="336" y="2690"/>
              <a:chExt cx="2062" cy="675"/>
            </a:xfrm>
          </p:grpSpPr>
          <p:sp>
            <p:nvSpPr>
              <p:cNvPr id="5148" name="Text Box 21"/>
              <p:cNvSpPr txBox="1">
                <a:spLocks noChangeArrowheads="1"/>
              </p:cNvSpPr>
              <p:nvPr/>
            </p:nvSpPr>
            <p:spPr bwMode="auto">
              <a:xfrm>
                <a:off x="336" y="2690"/>
                <a:ext cx="2062" cy="67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b="1" u="sng"/>
                  <a:t>Parámetros poblacionales de interés</a:t>
                </a:r>
              </a:p>
              <a:p>
                <a:pPr eaLnBrk="1" hangingPunct="1">
                  <a:lnSpc>
                    <a:spcPct val="120000"/>
                  </a:lnSpc>
                </a:pPr>
                <a:r>
                  <a:rPr lang="es-ES_tradnl" altLang="es-ES" sz="1400"/>
                  <a:t>Media</a:t>
                </a:r>
              </a:p>
              <a:p>
                <a:pPr eaLnBrk="1" hangingPunct="1">
                  <a:lnSpc>
                    <a:spcPct val="120000"/>
                  </a:lnSpc>
                </a:pPr>
                <a:r>
                  <a:rPr lang="es-ES_tradnl" altLang="es-ES" sz="1400"/>
                  <a:t>Desviación típica</a:t>
                </a:r>
              </a:p>
              <a:p>
                <a:pPr eaLnBrk="1" hangingPunct="1">
                  <a:lnSpc>
                    <a:spcPct val="120000"/>
                  </a:lnSpc>
                </a:pPr>
                <a:r>
                  <a:rPr lang="es-ES_tradnl" altLang="es-ES" sz="1400"/>
                  <a:t>Proporción</a:t>
                </a:r>
                <a:endParaRPr lang="es-ES" altLang="es-ES" sz="1400"/>
              </a:p>
            </p:txBody>
          </p:sp>
          <p:sp>
            <p:nvSpPr>
              <p:cNvPr id="5149" name="Text Box 22"/>
              <p:cNvSpPr txBox="1">
                <a:spLocks noChangeArrowheads="1"/>
              </p:cNvSpPr>
              <p:nvPr/>
            </p:nvSpPr>
            <p:spPr bwMode="auto">
              <a:xfrm>
                <a:off x="1770" y="2855"/>
                <a:ext cx="213" cy="49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500">
                    <a:latin typeface="Symbol" pitchFamily="18" charset="2"/>
                  </a:rPr>
                  <a:t>m</a:t>
                </a:r>
              </a:p>
              <a:p>
                <a:pPr algn="ctr" eaLnBrk="1" hangingPunct="1"/>
                <a:r>
                  <a:rPr lang="es-ES_tradnl" altLang="es-ES" sz="1500">
                    <a:latin typeface="Symbol" pitchFamily="18" charset="2"/>
                  </a:rPr>
                  <a:t>s</a:t>
                </a:r>
              </a:p>
              <a:p>
                <a:pPr algn="ctr" eaLnBrk="1" hangingPunct="1"/>
                <a:r>
                  <a:rPr lang="es-ES_tradnl" altLang="es-ES" sz="1500"/>
                  <a:t> </a:t>
                </a:r>
                <a:r>
                  <a:rPr lang="es-ES_tradnl" altLang="es-ES" sz="1500">
                    <a:latin typeface="Symbol" pitchFamily="18" charset="2"/>
                  </a:rPr>
                  <a:t>p</a:t>
                </a:r>
                <a:endParaRPr lang="es-ES" altLang="es-ES" sz="1500">
                  <a:latin typeface="Symbol" pitchFamily="18" charset="2"/>
                </a:endParaRPr>
              </a:p>
            </p:txBody>
          </p:sp>
        </p:grpSp>
        <p:sp>
          <p:nvSpPr>
            <p:cNvPr id="5141" name="Text Box 23"/>
            <p:cNvSpPr txBox="1">
              <a:spLocks noChangeArrowheads="1"/>
            </p:cNvSpPr>
            <p:nvPr/>
          </p:nvSpPr>
          <p:spPr bwMode="auto">
            <a:xfrm>
              <a:off x="3006" y="3120"/>
              <a:ext cx="1650" cy="67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b="1" u="sng"/>
                <a:t>Estimadores puntuales</a:t>
              </a:r>
            </a:p>
            <a:p>
              <a:pPr eaLnBrk="1" hangingPunct="1">
                <a:lnSpc>
                  <a:spcPct val="120000"/>
                </a:lnSpc>
              </a:pPr>
              <a:r>
                <a:rPr lang="es-ES_tradnl" altLang="es-ES" sz="1400"/>
                <a:t>Media muestral</a:t>
              </a:r>
            </a:p>
            <a:p>
              <a:pPr eaLnBrk="1" hangingPunct="1">
                <a:lnSpc>
                  <a:spcPct val="120000"/>
                </a:lnSpc>
              </a:pPr>
              <a:r>
                <a:rPr lang="es-ES_tradnl" altLang="es-ES" sz="1400"/>
                <a:t>Desviación típica muestral</a:t>
              </a:r>
            </a:p>
            <a:p>
              <a:pPr eaLnBrk="1" hangingPunct="1">
                <a:lnSpc>
                  <a:spcPct val="120000"/>
                </a:lnSpc>
              </a:pPr>
              <a:r>
                <a:rPr lang="es-ES_tradnl" altLang="es-ES" sz="1400"/>
                <a:t>Proporción muestral*</a:t>
              </a:r>
              <a:endParaRPr lang="es-ES" altLang="es-ES" sz="1400"/>
            </a:p>
          </p:txBody>
        </p:sp>
        <p:graphicFrame>
          <p:nvGraphicFramePr>
            <p:cNvPr id="5142" name="Object 24"/>
            <p:cNvGraphicFramePr>
              <a:graphicFrameLocks noChangeAspect="1"/>
            </p:cNvGraphicFramePr>
            <p:nvPr>
              <p:extLst>
                <p:ext uri="{D42A27DB-BD31-4B8C-83A1-F6EECF244321}">
                  <p14:modId xmlns:p14="http://schemas.microsoft.com/office/powerpoint/2010/main" val="3381954747"/>
                </p:ext>
              </p:extLst>
            </p:nvPr>
          </p:nvGraphicFramePr>
          <p:xfrm>
            <a:off x="4536" y="3605"/>
            <a:ext cx="360" cy="192"/>
          </p:xfrm>
          <a:graphic>
            <a:graphicData uri="http://schemas.openxmlformats.org/presentationml/2006/ole">
              <mc:AlternateContent xmlns:mc="http://schemas.openxmlformats.org/markup-compatibility/2006">
                <mc:Choice xmlns:v="urn:schemas-microsoft-com:vml" Requires="v">
                  <p:oleObj name="Equation" r:id="rId2" imgW="380835" imgH="203112" progId="Equation.DSMT4">
                    <p:embed/>
                  </p:oleObj>
                </mc:Choice>
                <mc:Fallback>
                  <p:oleObj name="Equation" r:id="rId2" imgW="380835" imgH="203112" progId="Equation.DSMT4">
                    <p:embed/>
                    <p:pic>
                      <p:nvPicPr>
                        <p:cNvPr id="5142"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6" y="3605"/>
                          <a:ext cx="360" cy="192"/>
                        </a:xfrm>
                        <a:prstGeom prst="rect">
                          <a:avLst/>
                        </a:prstGeom>
                        <a:noFill/>
                        <a:ln>
                          <a:noFill/>
                        </a:ln>
                        <a:effectLst/>
                      </p:spPr>
                    </p:pic>
                  </p:oleObj>
                </mc:Fallback>
              </mc:AlternateContent>
            </a:graphicData>
          </a:graphic>
        </p:graphicFrame>
        <p:graphicFrame>
          <p:nvGraphicFramePr>
            <p:cNvPr id="5143" name="Object 25"/>
            <p:cNvGraphicFramePr>
              <a:graphicFrameLocks noChangeAspect="1"/>
            </p:cNvGraphicFramePr>
            <p:nvPr>
              <p:extLst>
                <p:ext uri="{D42A27DB-BD31-4B8C-83A1-F6EECF244321}">
                  <p14:modId xmlns:p14="http://schemas.microsoft.com/office/powerpoint/2010/main" val="2301047600"/>
                </p:ext>
              </p:extLst>
            </p:nvPr>
          </p:nvGraphicFramePr>
          <p:xfrm>
            <a:off x="4560" y="3295"/>
            <a:ext cx="336" cy="179"/>
          </p:xfrm>
          <a:graphic>
            <a:graphicData uri="http://schemas.openxmlformats.org/presentationml/2006/ole">
              <mc:AlternateContent xmlns:mc="http://schemas.openxmlformats.org/markup-compatibility/2006">
                <mc:Choice xmlns:v="urn:schemas-microsoft-com:vml" Requires="v">
                  <p:oleObj name="Equation" r:id="rId4" imgW="380835" imgH="203112" progId="Equation.DSMT4">
                    <p:embed/>
                  </p:oleObj>
                </mc:Choice>
                <mc:Fallback>
                  <p:oleObj name="Equation" r:id="rId4" imgW="380835" imgH="203112" progId="Equation.DSMT4">
                    <p:embed/>
                    <p:pic>
                      <p:nvPicPr>
                        <p:cNvPr id="5143"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0" y="3295"/>
                          <a:ext cx="336" cy="179"/>
                        </a:xfrm>
                        <a:prstGeom prst="rect">
                          <a:avLst/>
                        </a:prstGeom>
                        <a:noFill/>
                        <a:ln>
                          <a:noFill/>
                        </a:ln>
                        <a:effectLst/>
                      </p:spPr>
                    </p:pic>
                  </p:oleObj>
                </mc:Fallback>
              </mc:AlternateContent>
            </a:graphicData>
          </a:graphic>
        </p:graphicFrame>
        <p:graphicFrame>
          <p:nvGraphicFramePr>
            <p:cNvPr id="5144" name="Object 26"/>
            <p:cNvGraphicFramePr>
              <a:graphicFrameLocks noChangeAspect="1"/>
            </p:cNvGraphicFramePr>
            <p:nvPr>
              <p:extLst>
                <p:ext uri="{D42A27DB-BD31-4B8C-83A1-F6EECF244321}">
                  <p14:modId xmlns:p14="http://schemas.microsoft.com/office/powerpoint/2010/main" val="122843233"/>
                </p:ext>
              </p:extLst>
            </p:nvPr>
          </p:nvGraphicFramePr>
          <p:xfrm>
            <a:off x="4560" y="3444"/>
            <a:ext cx="336" cy="168"/>
          </p:xfrm>
          <a:graphic>
            <a:graphicData uri="http://schemas.openxmlformats.org/presentationml/2006/ole">
              <mc:AlternateContent xmlns:mc="http://schemas.openxmlformats.org/markup-compatibility/2006">
                <mc:Choice xmlns:v="urn:schemas-microsoft-com:vml" Requires="v">
                  <p:oleObj name="Equation" r:id="rId6" imgW="355138" imgH="177569" progId="Equation.DSMT4">
                    <p:embed/>
                  </p:oleObj>
                </mc:Choice>
                <mc:Fallback>
                  <p:oleObj name="Equation" r:id="rId6" imgW="355138" imgH="177569" progId="Equation.DSMT4">
                    <p:embed/>
                    <p:pic>
                      <p:nvPicPr>
                        <p:cNvPr id="5144" name="Object 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60" y="3444"/>
                          <a:ext cx="336" cy="168"/>
                        </a:xfrm>
                        <a:prstGeom prst="rect">
                          <a:avLst/>
                        </a:prstGeom>
                        <a:noFill/>
                        <a:ln>
                          <a:noFill/>
                        </a:ln>
                        <a:effectLst/>
                      </p:spPr>
                    </p:pic>
                  </p:oleObj>
                </mc:Fallback>
              </mc:AlternateContent>
            </a:graphicData>
          </a:graphic>
        </p:graphicFrame>
        <p:sp>
          <p:nvSpPr>
            <p:cNvPr id="5145" name="Line 27"/>
            <p:cNvSpPr>
              <a:spLocks noChangeShapeType="1"/>
            </p:cNvSpPr>
            <p:nvPr/>
          </p:nvSpPr>
          <p:spPr bwMode="auto">
            <a:xfrm>
              <a:off x="2496" y="3370"/>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sp>
          <p:nvSpPr>
            <p:cNvPr id="5146" name="Line 28"/>
            <p:cNvSpPr>
              <a:spLocks noChangeShapeType="1"/>
            </p:cNvSpPr>
            <p:nvPr/>
          </p:nvSpPr>
          <p:spPr bwMode="auto">
            <a:xfrm>
              <a:off x="2496" y="3534"/>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sp>
          <p:nvSpPr>
            <p:cNvPr id="5147" name="Line 29"/>
            <p:cNvSpPr>
              <a:spLocks noChangeShapeType="1"/>
            </p:cNvSpPr>
            <p:nvPr/>
          </p:nvSpPr>
          <p:spPr bwMode="auto">
            <a:xfrm>
              <a:off x="2496" y="3696"/>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grpSp>
      <p:sp>
        <p:nvSpPr>
          <p:cNvPr id="5129" name="Text Box 33"/>
          <p:cNvSpPr txBox="1">
            <a:spLocks noChangeArrowheads="1"/>
          </p:cNvSpPr>
          <p:nvPr/>
        </p:nvSpPr>
        <p:spPr bwMode="auto">
          <a:xfrm>
            <a:off x="366712" y="6119814"/>
            <a:ext cx="679064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dirty="0"/>
              <a:t>* En adelante usaremos </a:t>
            </a:r>
            <a:r>
              <a:rPr lang="es-ES_tradnl" altLang="es-ES" sz="1400" i="1" dirty="0">
                <a:latin typeface="Times New Roman" pitchFamily="18" charset="0"/>
              </a:rPr>
              <a:t>p</a:t>
            </a:r>
            <a:r>
              <a:rPr lang="es-ES_tradnl" altLang="es-ES" dirty="0"/>
              <a:t> en lugar de </a:t>
            </a:r>
            <a:r>
              <a:rPr lang="es-ES_tradnl" altLang="es-ES" sz="1600" dirty="0">
                <a:latin typeface="Symbol" pitchFamily="18" charset="2"/>
              </a:rPr>
              <a:t>p</a:t>
            </a:r>
            <a:r>
              <a:rPr lang="es-ES_tradnl" altLang="es-ES" dirty="0"/>
              <a:t> para mantener la misma notación que en los resúmenes</a:t>
            </a:r>
            <a:endParaRPr lang="es-ES" altLang="es-ES" dirty="0"/>
          </a:p>
        </p:txBody>
      </p:sp>
      <p:sp>
        <p:nvSpPr>
          <p:cNvPr id="5130" name="Text Box 35"/>
          <p:cNvSpPr txBox="1">
            <a:spLocks noChangeArrowheads="1"/>
          </p:cNvSpPr>
          <p:nvPr/>
        </p:nvSpPr>
        <p:spPr bwMode="auto">
          <a:xfrm>
            <a:off x="657225" y="3429000"/>
            <a:ext cx="7924800" cy="57943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Cuando se haya obtenido la muestra y determinado un valor para </a:t>
            </a:r>
            <a:r>
              <a:rPr lang="es-ES_tradnl" altLang="es-ES" sz="1500">
                <a:latin typeface="Symbol" pitchFamily="18" charset="2"/>
              </a:rPr>
              <a:t>m</a:t>
            </a:r>
            <a:r>
              <a:rPr lang="es-ES_tradnl" altLang="es-ES" sz="1400"/>
              <a:t> a partir de ella, se dice entonces que ese valor es una </a:t>
            </a:r>
            <a:r>
              <a:rPr lang="es-ES_tradnl" altLang="es-ES" sz="1400">
                <a:solidFill>
                  <a:srgbClr val="800000"/>
                </a:solidFill>
              </a:rPr>
              <a:t>estimación</a:t>
            </a:r>
            <a:r>
              <a:rPr lang="es-ES_tradnl" altLang="es-ES" sz="1400"/>
              <a:t> de </a:t>
            </a:r>
            <a:r>
              <a:rPr lang="es-ES_tradnl" altLang="es-ES" sz="1700">
                <a:latin typeface="Symbol" pitchFamily="18" charset="2"/>
              </a:rPr>
              <a:t>m</a:t>
            </a:r>
            <a:r>
              <a:rPr lang="es-ES_tradnl" altLang="es-ES" sz="1400"/>
              <a:t>.</a:t>
            </a:r>
            <a:endParaRPr lang="es-ES" altLang="es-ES" sz="1400"/>
          </a:p>
        </p:txBody>
      </p:sp>
      <p:sp>
        <p:nvSpPr>
          <p:cNvPr id="5131" name="Text Box 7"/>
          <p:cNvSpPr txBox="1">
            <a:spLocks noChangeArrowheads="1"/>
          </p:cNvSpPr>
          <p:nvPr/>
        </p:nvSpPr>
        <p:spPr bwMode="auto">
          <a:xfrm>
            <a:off x="657225" y="2743200"/>
            <a:ext cx="7924800" cy="51752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Nota</a:t>
            </a:r>
            <a:r>
              <a:rPr lang="es-ES" altLang="es-ES" sz="1400"/>
              <a:t>ción: se utiliza el acento circunflejo sobre el símbolo del parámetro poblacional para aludir a su estimador</a:t>
            </a:r>
          </a:p>
        </p:txBody>
      </p:sp>
      <p:grpSp>
        <p:nvGrpSpPr>
          <p:cNvPr id="5132" name="Group 27"/>
          <p:cNvGrpSpPr>
            <a:grpSpLocks/>
          </p:cNvGrpSpPr>
          <p:nvPr/>
        </p:nvGrpSpPr>
        <p:grpSpPr bwMode="auto">
          <a:xfrm>
            <a:off x="3124200" y="3048000"/>
            <a:ext cx="2743200" cy="355600"/>
            <a:chOff x="1968" y="1896"/>
            <a:chExt cx="1728" cy="224"/>
          </a:xfrm>
        </p:grpSpPr>
        <p:graphicFrame>
          <p:nvGraphicFramePr>
            <p:cNvPr id="5138" name="Object 10"/>
            <p:cNvGraphicFramePr>
              <a:graphicFrameLocks noChangeAspect="1"/>
            </p:cNvGraphicFramePr>
            <p:nvPr/>
          </p:nvGraphicFramePr>
          <p:xfrm>
            <a:off x="1968" y="1920"/>
            <a:ext cx="125" cy="200"/>
          </p:xfrm>
          <a:graphic>
            <a:graphicData uri="http://schemas.openxmlformats.org/presentationml/2006/ole">
              <mc:AlternateContent xmlns:mc="http://schemas.openxmlformats.org/markup-compatibility/2006">
                <mc:Choice xmlns:v="urn:schemas-microsoft-com:vml" Requires="v">
                  <p:oleObj name="Equation" r:id="rId8" imgW="126835" imgH="202936" progId="Equation.DSMT4">
                    <p:embed/>
                  </p:oleObj>
                </mc:Choice>
                <mc:Fallback>
                  <p:oleObj name="Equation" r:id="rId8" imgW="126835" imgH="202936" progId="Equation.DSMT4">
                    <p:embed/>
                    <p:pic>
                      <p:nvPicPr>
                        <p:cNvPr id="5138"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68" y="1920"/>
                          <a:ext cx="125" cy="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9" name="Text Box 7"/>
            <p:cNvSpPr txBox="1">
              <a:spLocks noChangeArrowheads="1"/>
            </p:cNvSpPr>
            <p:nvPr/>
          </p:nvSpPr>
          <p:spPr bwMode="auto">
            <a:xfrm>
              <a:off x="2064" y="1896"/>
              <a:ext cx="1632" cy="221"/>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es </a:t>
              </a:r>
              <a:r>
                <a:rPr lang="es-ES" altLang="es-ES" sz="1400"/>
                <a:t>el estimador puntual de </a:t>
              </a:r>
              <a:r>
                <a:rPr lang="es-ES" altLang="es-ES" sz="1700">
                  <a:latin typeface="Symbol" pitchFamily="18" charset="2"/>
                </a:rPr>
                <a:t>m</a:t>
              </a:r>
            </a:p>
          </p:txBody>
        </p:sp>
      </p:grpSp>
      <p:grpSp>
        <p:nvGrpSpPr>
          <p:cNvPr id="5133" name="Group 30"/>
          <p:cNvGrpSpPr>
            <a:grpSpLocks/>
          </p:cNvGrpSpPr>
          <p:nvPr/>
        </p:nvGrpSpPr>
        <p:grpSpPr bwMode="auto">
          <a:xfrm>
            <a:off x="6248400" y="4038600"/>
            <a:ext cx="2286000" cy="838200"/>
            <a:chOff x="3984" y="2544"/>
            <a:chExt cx="1488" cy="528"/>
          </a:xfrm>
        </p:grpSpPr>
        <p:sp>
          <p:nvSpPr>
            <p:cNvPr id="5136" name="Text Box 33"/>
            <p:cNvSpPr txBox="1">
              <a:spLocks noChangeArrowheads="1"/>
            </p:cNvSpPr>
            <p:nvPr/>
          </p:nvSpPr>
          <p:spPr bwMode="auto">
            <a:xfrm>
              <a:off x="4008" y="2549"/>
              <a:ext cx="1440"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200" dirty="0"/>
                <a:t>Hay más </a:t>
              </a:r>
              <a:r>
                <a:rPr lang="es-ES_tradnl" altLang="es-ES" sz="1200" dirty="0" err="1"/>
                <a:t>mét</a:t>
              </a:r>
              <a:r>
                <a:rPr lang="es-ES" altLang="es-ES" sz="1200" dirty="0" err="1"/>
                <a:t>odos</a:t>
              </a:r>
              <a:r>
                <a:rPr lang="es-ES" altLang="es-ES" sz="1200" dirty="0"/>
                <a:t> de estimación, como el método de </a:t>
              </a:r>
              <a:r>
                <a:rPr lang="es-ES" altLang="es-ES" sz="1200" i="1" dirty="0"/>
                <a:t>mínimos cuadrados </a:t>
              </a:r>
              <a:r>
                <a:rPr lang="es-ES" altLang="es-ES" sz="1200" dirty="0"/>
                <a:t>que veremos en el último </a:t>
              </a:r>
              <a:r>
                <a:rPr lang="es-ES" altLang="es-ES" dirty="0"/>
                <a:t>tema</a:t>
              </a:r>
              <a:endParaRPr lang="es-ES" altLang="es-ES" sz="1200" dirty="0"/>
            </a:p>
          </p:txBody>
        </p:sp>
        <p:sp>
          <p:nvSpPr>
            <p:cNvPr id="5137" name="AutoShape 29"/>
            <p:cNvSpPr>
              <a:spLocks noChangeArrowheads="1"/>
            </p:cNvSpPr>
            <p:nvPr/>
          </p:nvSpPr>
          <p:spPr bwMode="auto">
            <a:xfrm>
              <a:off x="3984" y="2544"/>
              <a:ext cx="1488" cy="528"/>
            </a:xfrm>
            <a:prstGeom prst="roundRect">
              <a:avLst>
                <a:gd name="adj" fmla="val 2917"/>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spTree>
    <p:extLst>
      <p:ext uri="{BB962C8B-B14F-4D97-AF65-F5344CB8AC3E}">
        <p14:creationId xmlns:p14="http://schemas.microsoft.com/office/powerpoint/2010/main" val="3378927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p:cNvSpPr txBox="1">
            <a:spLocks noChangeArrowheads="1"/>
          </p:cNvSpPr>
          <p:nvPr/>
        </p:nvSpPr>
        <p:spPr bwMode="auto">
          <a:xfrm>
            <a:off x="304800" y="838200"/>
            <a:ext cx="5703888" cy="33655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600" b="1"/>
              <a:t>Problema que presenta el uso de estimadores puntuales:</a:t>
            </a:r>
            <a:endParaRPr lang="es-ES" altLang="es-ES" sz="1600" b="1"/>
          </a:p>
        </p:txBody>
      </p:sp>
      <p:sp>
        <p:nvSpPr>
          <p:cNvPr id="6147" name="Text Box 5"/>
          <p:cNvSpPr txBox="1">
            <a:spLocks noChangeArrowheads="1"/>
          </p:cNvSpPr>
          <p:nvPr/>
        </p:nvSpPr>
        <p:spPr bwMode="auto">
          <a:xfrm>
            <a:off x="457200" y="1250950"/>
            <a:ext cx="8305800" cy="69467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300"/>
              <a:t>El problema de los estimadores puntuales es que solo dan una idea de lo que puede valer el parámetro que estimamos, sin conocer como de buena es la aproximación; es decir, simplemente proporcionan un valor (de los muchos posibles) que puede proponerse como valor del parámetro.</a:t>
            </a:r>
            <a:endParaRPr lang="es-ES" altLang="es-ES" sz="1300"/>
          </a:p>
        </p:txBody>
      </p:sp>
      <p:sp>
        <p:nvSpPr>
          <p:cNvPr id="6148" name="Rectangle 6"/>
          <p:cNvSpPr>
            <a:spLocks noChangeArrowheads="1"/>
          </p:cNvSpPr>
          <p:nvPr/>
        </p:nvSpPr>
        <p:spPr bwMode="auto">
          <a:xfrm>
            <a:off x="609600" y="4441825"/>
            <a:ext cx="180975" cy="366713"/>
          </a:xfrm>
          <a:prstGeom prst="rect">
            <a:avLst/>
          </a:prstGeom>
          <a:noFill/>
          <a:ln>
            <a:noFill/>
          </a:ln>
          <a:effectLst>
            <a:outerShdw dist="107763" dir="2700000" algn="ctr" rotWithShape="0">
              <a:schemeClr val="bg2">
                <a:alpha val="50000"/>
              </a:schemeClr>
            </a:outerShdw>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9525">
                <a:solidFill>
                  <a:schemeClr val="tx1"/>
                </a:solidFill>
                <a:miter lim="800000"/>
                <a:headEnd/>
                <a:tailEnd/>
              </a14:hiddenLine>
            </a:ext>
          </a:extLst>
        </p:spPr>
        <p:txBody>
          <a:bodyPr wrap="none" lIns="90000" tIns="46800" rIns="90000" bIns="468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6149" name="Text Box 7"/>
          <p:cNvSpPr txBox="1">
            <a:spLocks noChangeArrowheads="1"/>
          </p:cNvSpPr>
          <p:nvPr/>
        </p:nvSpPr>
        <p:spPr bwMode="auto">
          <a:xfrm>
            <a:off x="485775" y="2279650"/>
            <a:ext cx="5105400" cy="2470614"/>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lnSpc>
                <a:spcPct val="200000"/>
              </a:lnSpc>
            </a:pPr>
            <a:r>
              <a:rPr lang="es-ES_tradnl" altLang="es-ES" sz="1300" b="1" dirty="0">
                <a:solidFill>
                  <a:srgbClr val="006666"/>
                </a:solidFill>
              </a:rPr>
              <a:t>Por ejemplo</a:t>
            </a:r>
            <a:r>
              <a:rPr lang="es-ES_tradnl" altLang="es-ES" sz="1300" dirty="0">
                <a:solidFill>
                  <a:srgbClr val="006666"/>
                </a:solidFill>
              </a:rPr>
              <a:t>:</a:t>
            </a:r>
          </a:p>
          <a:p>
            <a:pPr algn="just" eaLnBrk="1" hangingPunct="1">
              <a:lnSpc>
                <a:spcPct val="125000"/>
              </a:lnSpc>
            </a:pPr>
            <a:r>
              <a:rPr lang="es-ES_tradnl" altLang="es-ES" sz="1300" dirty="0">
                <a:solidFill>
                  <a:srgbClr val="006666"/>
                </a:solidFill>
              </a:rPr>
              <a:t>Considere la población de estudiantes de la Universidad de Granada. Estamos interesados en investigar el valor del parámetro </a:t>
            </a:r>
            <a:r>
              <a:rPr lang="es-ES_tradnl" altLang="es-ES" sz="1300" b="1" dirty="0">
                <a:solidFill>
                  <a:srgbClr val="006666"/>
                </a:solidFill>
                <a:latin typeface="Symbol" pitchFamily="18" charset="2"/>
              </a:rPr>
              <a:t>m</a:t>
            </a:r>
            <a:r>
              <a:rPr lang="es-ES_tradnl" altLang="es-ES" sz="1300" b="1" dirty="0">
                <a:solidFill>
                  <a:srgbClr val="006666"/>
                </a:solidFill>
                <a:latin typeface="Times New Roman" pitchFamily="18" charset="0"/>
              </a:rPr>
              <a:t>=</a:t>
            </a:r>
            <a:r>
              <a:rPr lang="es-ES_tradnl" altLang="es-ES" sz="1300" b="1" dirty="0">
                <a:solidFill>
                  <a:srgbClr val="006666"/>
                </a:solidFill>
              </a:rPr>
              <a:t>‘</a:t>
            </a:r>
            <a:r>
              <a:rPr lang="es-ES_tradnl" altLang="es-ES" sz="1300" b="1" i="1" dirty="0">
                <a:solidFill>
                  <a:srgbClr val="006666"/>
                </a:solidFill>
              </a:rPr>
              <a:t>peso medio de los estudiantes de la UGR</a:t>
            </a:r>
            <a:r>
              <a:rPr lang="es-ES_tradnl" altLang="es-ES" sz="1300" dirty="0">
                <a:solidFill>
                  <a:srgbClr val="006666"/>
                </a:solidFill>
              </a:rPr>
              <a:t>.’. Para ello seleccionamos aleatoriamente </a:t>
            </a:r>
            <a:r>
              <a:rPr lang="es-ES_tradnl" altLang="es-ES" sz="1300" b="1" dirty="0">
                <a:solidFill>
                  <a:srgbClr val="006666"/>
                </a:solidFill>
              </a:rPr>
              <a:t>dos muestras </a:t>
            </a:r>
            <a:r>
              <a:rPr lang="es-ES_tradnl" altLang="es-ES" sz="1300" dirty="0">
                <a:solidFill>
                  <a:srgbClr val="006666"/>
                </a:solidFill>
              </a:rPr>
              <a:t>de 20 estudiantes cada una y obtenemos el valor del peso medio en cada caso. ¿</a:t>
            </a:r>
            <a:r>
              <a:rPr lang="es-ES_tradnl" altLang="es-ES" sz="1300" b="1" dirty="0">
                <a:solidFill>
                  <a:srgbClr val="006666"/>
                </a:solidFill>
              </a:rPr>
              <a:t>coincidirán las dos medias </a:t>
            </a:r>
            <a:r>
              <a:rPr lang="es-ES_tradnl" altLang="es-ES" sz="1300" b="1" dirty="0" err="1">
                <a:solidFill>
                  <a:srgbClr val="006666"/>
                </a:solidFill>
              </a:rPr>
              <a:t>muestrales</a:t>
            </a:r>
            <a:r>
              <a:rPr lang="es-ES_tradnl" altLang="es-ES" sz="1300" dirty="0">
                <a:solidFill>
                  <a:srgbClr val="006666"/>
                </a:solidFill>
              </a:rPr>
              <a:t>? ¿cuál es </a:t>
            </a:r>
            <a:r>
              <a:rPr lang="es-ES_tradnl" altLang="es-ES" sz="1300" b="1" dirty="0">
                <a:solidFill>
                  <a:srgbClr val="006666"/>
                </a:solidFill>
              </a:rPr>
              <a:t>mejor como estimación</a:t>
            </a:r>
            <a:r>
              <a:rPr lang="es-ES_tradnl" altLang="es-ES" sz="1300" dirty="0">
                <a:solidFill>
                  <a:srgbClr val="006666"/>
                </a:solidFill>
              </a:rPr>
              <a:t>? ¿qué </a:t>
            </a:r>
            <a:r>
              <a:rPr lang="es-ES_tradnl" altLang="es-ES" sz="1300" b="1" dirty="0">
                <a:solidFill>
                  <a:srgbClr val="006666"/>
                </a:solidFill>
              </a:rPr>
              <a:t>error</a:t>
            </a:r>
            <a:r>
              <a:rPr lang="es-ES_tradnl" altLang="es-ES" sz="1300" dirty="0">
                <a:solidFill>
                  <a:srgbClr val="006666"/>
                </a:solidFill>
              </a:rPr>
              <a:t> se comete al asumir como valor de </a:t>
            </a:r>
            <a:r>
              <a:rPr lang="es-ES_tradnl" altLang="es-ES" sz="1300" dirty="0">
                <a:solidFill>
                  <a:srgbClr val="006666"/>
                </a:solidFill>
                <a:latin typeface="Symbol" pitchFamily="18" charset="2"/>
              </a:rPr>
              <a:t>m </a:t>
            </a:r>
            <a:r>
              <a:rPr lang="es-ES_tradnl" altLang="es-ES" sz="1300" dirty="0">
                <a:solidFill>
                  <a:srgbClr val="006666"/>
                </a:solidFill>
              </a:rPr>
              <a:t>el ofrecido por una de estas medias?</a:t>
            </a:r>
            <a:endParaRPr lang="es-ES" altLang="es-ES" sz="1300" dirty="0">
              <a:solidFill>
                <a:srgbClr val="006666"/>
              </a:solidFill>
            </a:endParaRPr>
          </a:p>
        </p:txBody>
      </p:sp>
      <p:grpSp>
        <p:nvGrpSpPr>
          <p:cNvPr id="6151" name="Group 11"/>
          <p:cNvGrpSpPr>
            <a:grpSpLocks/>
          </p:cNvGrpSpPr>
          <p:nvPr/>
        </p:nvGrpSpPr>
        <p:grpSpPr bwMode="auto">
          <a:xfrm>
            <a:off x="7301873" y="2682864"/>
            <a:ext cx="903288" cy="1066800"/>
            <a:chOff x="336" y="3312"/>
            <a:chExt cx="624" cy="768"/>
          </a:xfrm>
        </p:grpSpPr>
        <p:sp>
          <p:nvSpPr>
            <p:cNvPr id="6158" name="Rectangle 12"/>
            <p:cNvSpPr>
              <a:spLocks noChangeArrowheads="1"/>
            </p:cNvSpPr>
            <p:nvPr/>
          </p:nvSpPr>
          <p:spPr bwMode="auto">
            <a:xfrm>
              <a:off x="336" y="3560"/>
              <a:ext cx="624" cy="271"/>
            </a:xfrm>
            <a:prstGeom prst="rect">
              <a:avLst/>
            </a:prstGeom>
            <a:gradFill rotWithShape="0">
              <a:gsLst>
                <a:gs pos="0">
                  <a:srgbClr val="595959"/>
                </a:gs>
                <a:gs pos="100000">
                  <a:srgbClr val="C0C0C0"/>
                </a:gs>
              </a:gsLst>
              <a:lin ang="189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nvGrpSpPr>
            <p:cNvPr id="6159" name="Group 13"/>
            <p:cNvGrpSpPr>
              <a:grpSpLocks/>
            </p:cNvGrpSpPr>
            <p:nvPr/>
          </p:nvGrpSpPr>
          <p:grpSpPr bwMode="auto">
            <a:xfrm>
              <a:off x="336" y="3312"/>
              <a:ext cx="432" cy="672"/>
              <a:chOff x="432" y="3360"/>
              <a:chExt cx="336" cy="576"/>
            </a:xfrm>
          </p:grpSpPr>
          <p:grpSp>
            <p:nvGrpSpPr>
              <p:cNvPr id="6197" name="Group 14"/>
              <p:cNvGrpSpPr>
                <a:grpSpLocks/>
              </p:cNvGrpSpPr>
              <p:nvPr/>
            </p:nvGrpSpPr>
            <p:grpSpPr bwMode="auto">
              <a:xfrm>
                <a:off x="546" y="3408"/>
                <a:ext cx="126" cy="361"/>
                <a:chOff x="1650" y="3251"/>
                <a:chExt cx="231" cy="662"/>
              </a:xfrm>
            </p:grpSpPr>
            <p:sp>
              <p:nvSpPr>
                <p:cNvPr id="6230" name="Freeform 15"/>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231" name="Freeform 16"/>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232" name="Freeform 17"/>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198" name="Group 18"/>
              <p:cNvGrpSpPr>
                <a:grpSpLocks/>
              </p:cNvGrpSpPr>
              <p:nvPr/>
            </p:nvGrpSpPr>
            <p:grpSpPr bwMode="auto">
              <a:xfrm>
                <a:off x="480" y="3360"/>
                <a:ext cx="126" cy="361"/>
                <a:chOff x="1650" y="3251"/>
                <a:chExt cx="231" cy="662"/>
              </a:xfrm>
            </p:grpSpPr>
            <p:sp>
              <p:nvSpPr>
                <p:cNvPr id="6227" name="Freeform 19"/>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228" name="Freeform 20"/>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229" name="Freeform 21"/>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199" name="Group 22"/>
              <p:cNvGrpSpPr>
                <a:grpSpLocks/>
              </p:cNvGrpSpPr>
              <p:nvPr/>
            </p:nvGrpSpPr>
            <p:grpSpPr bwMode="auto">
              <a:xfrm>
                <a:off x="576" y="3456"/>
                <a:ext cx="126" cy="361"/>
                <a:chOff x="1650" y="3251"/>
                <a:chExt cx="231" cy="662"/>
              </a:xfrm>
            </p:grpSpPr>
            <p:sp>
              <p:nvSpPr>
                <p:cNvPr id="6224" name="Freeform 23"/>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225" name="Freeform 24"/>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226" name="Freeform 25"/>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200" name="Group 26"/>
              <p:cNvGrpSpPr>
                <a:grpSpLocks/>
              </p:cNvGrpSpPr>
              <p:nvPr/>
            </p:nvGrpSpPr>
            <p:grpSpPr bwMode="auto">
              <a:xfrm>
                <a:off x="432" y="3431"/>
                <a:ext cx="126" cy="361"/>
                <a:chOff x="1650" y="3251"/>
                <a:chExt cx="231" cy="662"/>
              </a:xfrm>
            </p:grpSpPr>
            <p:sp>
              <p:nvSpPr>
                <p:cNvPr id="6221" name="Freeform 27"/>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222" name="Freeform 28"/>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223" name="Freeform 29"/>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201" name="Group 30"/>
              <p:cNvGrpSpPr>
                <a:grpSpLocks/>
              </p:cNvGrpSpPr>
              <p:nvPr/>
            </p:nvGrpSpPr>
            <p:grpSpPr bwMode="auto">
              <a:xfrm>
                <a:off x="528" y="3552"/>
                <a:ext cx="126" cy="361"/>
                <a:chOff x="1650" y="3251"/>
                <a:chExt cx="231" cy="662"/>
              </a:xfrm>
            </p:grpSpPr>
            <p:sp>
              <p:nvSpPr>
                <p:cNvPr id="6218" name="Freeform 31"/>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219" name="Freeform 32"/>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220" name="Freeform 33"/>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202" name="Group 34"/>
              <p:cNvGrpSpPr>
                <a:grpSpLocks/>
              </p:cNvGrpSpPr>
              <p:nvPr/>
            </p:nvGrpSpPr>
            <p:grpSpPr bwMode="auto">
              <a:xfrm>
                <a:off x="432" y="3504"/>
                <a:ext cx="126" cy="361"/>
                <a:chOff x="1650" y="3251"/>
                <a:chExt cx="231" cy="662"/>
              </a:xfrm>
            </p:grpSpPr>
            <p:sp>
              <p:nvSpPr>
                <p:cNvPr id="6215" name="Freeform 35"/>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216" name="Freeform 36"/>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217" name="Freeform 37"/>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203" name="Group 38"/>
              <p:cNvGrpSpPr>
                <a:grpSpLocks/>
              </p:cNvGrpSpPr>
              <p:nvPr/>
            </p:nvGrpSpPr>
            <p:grpSpPr bwMode="auto">
              <a:xfrm>
                <a:off x="624" y="3408"/>
                <a:ext cx="126" cy="361"/>
                <a:chOff x="1650" y="3251"/>
                <a:chExt cx="231" cy="662"/>
              </a:xfrm>
            </p:grpSpPr>
            <p:sp>
              <p:nvSpPr>
                <p:cNvPr id="6212" name="Freeform 39"/>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213" name="Freeform 40"/>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214" name="Freeform 41"/>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204" name="Group 42"/>
              <p:cNvGrpSpPr>
                <a:grpSpLocks/>
              </p:cNvGrpSpPr>
              <p:nvPr/>
            </p:nvGrpSpPr>
            <p:grpSpPr bwMode="auto">
              <a:xfrm>
                <a:off x="642" y="3552"/>
                <a:ext cx="126" cy="361"/>
                <a:chOff x="1650" y="3251"/>
                <a:chExt cx="231" cy="662"/>
              </a:xfrm>
            </p:grpSpPr>
            <p:sp>
              <p:nvSpPr>
                <p:cNvPr id="6209" name="Freeform 43"/>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210" name="Freeform 44"/>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211" name="Freeform 45"/>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205" name="Group 46"/>
              <p:cNvGrpSpPr>
                <a:grpSpLocks/>
              </p:cNvGrpSpPr>
              <p:nvPr/>
            </p:nvGrpSpPr>
            <p:grpSpPr bwMode="auto">
              <a:xfrm>
                <a:off x="450" y="3575"/>
                <a:ext cx="126" cy="361"/>
                <a:chOff x="1650" y="3251"/>
                <a:chExt cx="231" cy="662"/>
              </a:xfrm>
            </p:grpSpPr>
            <p:sp>
              <p:nvSpPr>
                <p:cNvPr id="6206" name="Freeform 47"/>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207" name="Freeform 48"/>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208" name="Freeform 49"/>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grpSp>
          <p:nvGrpSpPr>
            <p:cNvPr id="6160" name="Group 50"/>
            <p:cNvGrpSpPr>
              <a:grpSpLocks/>
            </p:cNvGrpSpPr>
            <p:nvPr/>
          </p:nvGrpSpPr>
          <p:grpSpPr bwMode="auto">
            <a:xfrm>
              <a:off x="528" y="3408"/>
              <a:ext cx="432" cy="672"/>
              <a:chOff x="432" y="3360"/>
              <a:chExt cx="336" cy="576"/>
            </a:xfrm>
          </p:grpSpPr>
          <p:grpSp>
            <p:nvGrpSpPr>
              <p:cNvPr id="6161" name="Group 51"/>
              <p:cNvGrpSpPr>
                <a:grpSpLocks/>
              </p:cNvGrpSpPr>
              <p:nvPr/>
            </p:nvGrpSpPr>
            <p:grpSpPr bwMode="auto">
              <a:xfrm>
                <a:off x="546" y="3408"/>
                <a:ext cx="126" cy="361"/>
                <a:chOff x="1650" y="3251"/>
                <a:chExt cx="231" cy="662"/>
              </a:xfrm>
            </p:grpSpPr>
            <p:sp>
              <p:nvSpPr>
                <p:cNvPr id="6194" name="Freeform 52"/>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195" name="Freeform 53"/>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196" name="Freeform 54"/>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162" name="Group 55"/>
              <p:cNvGrpSpPr>
                <a:grpSpLocks/>
              </p:cNvGrpSpPr>
              <p:nvPr/>
            </p:nvGrpSpPr>
            <p:grpSpPr bwMode="auto">
              <a:xfrm>
                <a:off x="480" y="3360"/>
                <a:ext cx="126" cy="361"/>
                <a:chOff x="1650" y="3251"/>
                <a:chExt cx="231" cy="662"/>
              </a:xfrm>
            </p:grpSpPr>
            <p:sp>
              <p:nvSpPr>
                <p:cNvPr id="6191" name="Freeform 56"/>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192" name="Freeform 57"/>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193" name="Freeform 58"/>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163" name="Group 59"/>
              <p:cNvGrpSpPr>
                <a:grpSpLocks/>
              </p:cNvGrpSpPr>
              <p:nvPr/>
            </p:nvGrpSpPr>
            <p:grpSpPr bwMode="auto">
              <a:xfrm>
                <a:off x="576" y="3456"/>
                <a:ext cx="126" cy="361"/>
                <a:chOff x="1650" y="3251"/>
                <a:chExt cx="231" cy="662"/>
              </a:xfrm>
            </p:grpSpPr>
            <p:sp>
              <p:nvSpPr>
                <p:cNvPr id="6188" name="Freeform 60"/>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189" name="Freeform 61"/>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190" name="Freeform 62"/>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164" name="Group 63"/>
              <p:cNvGrpSpPr>
                <a:grpSpLocks/>
              </p:cNvGrpSpPr>
              <p:nvPr/>
            </p:nvGrpSpPr>
            <p:grpSpPr bwMode="auto">
              <a:xfrm>
                <a:off x="432" y="3431"/>
                <a:ext cx="126" cy="361"/>
                <a:chOff x="1650" y="3251"/>
                <a:chExt cx="231" cy="662"/>
              </a:xfrm>
            </p:grpSpPr>
            <p:sp>
              <p:nvSpPr>
                <p:cNvPr id="6185" name="Freeform 64"/>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186" name="Freeform 65"/>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187" name="Freeform 66"/>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165" name="Group 67"/>
              <p:cNvGrpSpPr>
                <a:grpSpLocks/>
              </p:cNvGrpSpPr>
              <p:nvPr/>
            </p:nvGrpSpPr>
            <p:grpSpPr bwMode="auto">
              <a:xfrm>
                <a:off x="528" y="3552"/>
                <a:ext cx="126" cy="361"/>
                <a:chOff x="1650" y="3251"/>
                <a:chExt cx="231" cy="662"/>
              </a:xfrm>
            </p:grpSpPr>
            <p:sp>
              <p:nvSpPr>
                <p:cNvPr id="6182" name="Freeform 68"/>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183" name="Freeform 69"/>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184" name="Freeform 70"/>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166" name="Group 71"/>
              <p:cNvGrpSpPr>
                <a:grpSpLocks/>
              </p:cNvGrpSpPr>
              <p:nvPr/>
            </p:nvGrpSpPr>
            <p:grpSpPr bwMode="auto">
              <a:xfrm>
                <a:off x="432" y="3504"/>
                <a:ext cx="126" cy="361"/>
                <a:chOff x="1650" y="3251"/>
                <a:chExt cx="231" cy="662"/>
              </a:xfrm>
            </p:grpSpPr>
            <p:sp>
              <p:nvSpPr>
                <p:cNvPr id="6179" name="Freeform 72"/>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180" name="Freeform 73"/>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181" name="Freeform 74"/>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167" name="Group 75"/>
              <p:cNvGrpSpPr>
                <a:grpSpLocks/>
              </p:cNvGrpSpPr>
              <p:nvPr/>
            </p:nvGrpSpPr>
            <p:grpSpPr bwMode="auto">
              <a:xfrm>
                <a:off x="624" y="3408"/>
                <a:ext cx="126" cy="361"/>
                <a:chOff x="1650" y="3251"/>
                <a:chExt cx="231" cy="662"/>
              </a:xfrm>
            </p:grpSpPr>
            <p:sp>
              <p:nvSpPr>
                <p:cNvPr id="6176" name="Freeform 76"/>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177" name="Freeform 77"/>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178" name="Freeform 78"/>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168" name="Group 79"/>
              <p:cNvGrpSpPr>
                <a:grpSpLocks/>
              </p:cNvGrpSpPr>
              <p:nvPr/>
            </p:nvGrpSpPr>
            <p:grpSpPr bwMode="auto">
              <a:xfrm>
                <a:off x="642" y="3552"/>
                <a:ext cx="126" cy="361"/>
                <a:chOff x="1650" y="3251"/>
                <a:chExt cx="231" cy="662"/>
              </a:xfrm>
            </p:grpSpPr>
            <p:sp>
              <p:nvSpPr>
                <p:cNvPr id="6173" name="Freeform 80"/>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174" name="Freeform 81"/>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175" name="Freeform 82"/>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nvGrpSpPr>
              <p:cNvPr id="6169" name="Group 83"/>
              <p:cNvGrpSpPr>
                <a:grpSpLocks/>
              </p:cNvGrpSpPr>
              <p:nvPr/>
            </p:nvGrpSpPr>
            <p:grpSpPr bwMode="auto">
              <a:xfrm>
                <a:off x="450" y="3575"/>
                <a:ext cx="126" cy="361"/>
                <a:chOff x="1650" y="3251"/>
                <a:chExt cx="231" cy="662"/>
              </a:xfrm>
            </p:grpSpPr>
            <p:sp>
              <p:nvSpPr>
                <p:cNvPr id="6170" name="Freeform 84"/>
                <p:cNvSpPr>
                  <a:spLocks noEditPoints="1"/>
                </p:cNvSpPr>
                <p:nvPr/>
              </p:nvSpPr>
              <p:spPr bwMode="auto">
                <a:xfrm>
                  <a:off x="1650" y="3251"/>
                  <a:ext cx="231" cy="662"/>
                </a:xfrm>
                <a:custGeom>
                  <a:avLst/>
                  <a:gdLst>
                    <a:gd name="T0" fmla="*/ 162 w 231"/>
                    <a:gd name="T1" fmla="*/ 66 h 662"/>
                    <a:gd name="T2" fmla="*/ 157 w 231"/>
                    <a:gd name="T3" fmla="*/ 80 h 662"/>
                    <a:gd name="T4" fmla="*/ 148 w 231"/>
                    <a:gd name="T5" fmla="*/ 95 h 662"/>
                    <a:gd name="T6" fmla="*/ 137 w 231"/>
                    <a:gd name="T7" fmla="*/ 106 h 662"/>
                    <a:gd name="T8" fmla="*/ 124 w 231"/>
                    <a:gd name="T9" fmla="*/ 111 h 662"/>
                    <a:gd name="T10" fmla="*/ 110 w 231"/>
                    <a:gd name="T11" fmla="*/ 112 h 662"/>
                    <a:gd name="T12" fmla="*/ 97 w 231"/>
                    <a:gd name="T13" fmla="*/ 108 h 662"/>
                    <a:gd name="T14" fmla="*/ 84 w 231"/>
                    <a:gd name="T15" fmla="*/ 99 h 662"/>
                    <a:gd name="T16" fmla="*/ 75 w 231"/>
                    <a:gd name="T17" fmla="*/ 86 h 662"/>
                    <a:gd name="T18" fmla="*/ 69 w 231"/>
                    <a:gd name="T19" fmla="*/ 70 h 662"/>
                    <a:gd name="T20" fmla="*/ 68 w 231"/>
                    <a:gd name="T21" fmla="*/ 54 h 662"/>
                    <a:gd name="T22" fmla="*/ 69 w 231"/>
                    <a:gd name="T23" fmla="*/ 37 h 662"/>
                    <a:gd name="T24" fmla="*/ 75 w 231"/>
                    <a:gd name="T25" fmla="*/ 24 h 662"/>
                    <a:gd name="T26" fmla="*/ 84 w 231"/>
                    <a:gd name="T27" fmla="*/ 12 h 662"/>
                    <a:gd name="T28" fmla="*/ 97 w 231"/>
                    <a:gd name="T29" fmla="*/ 4 h 662"/>
                    <a:gd name="T30" fmla="*/ 110 w 231"/>
                    <a:gd name="T31" fmla="*/ 0 h 662"/>
                    <a:gd name="T32" fmla="*/ 124 w 231"/>
                    <a:gd name="T33" fmla="*/ 1 h 662"/>
                    <a:gd name="T34" fmla="*/ 137 w 231"/>
                    <a:gd name="T35" fmla="*/ 5 h 662"/>
                    <a:gd name="T36" fmla="*/ 148 w 231"/>
                    <a:gd name="T37" fmla="*/ 16 h 662"/>
                    <a:gd name="T38" fmla="*/ 157 w 231"/>
                    <a:gd name="T39" fmla="*/ 28 h 662"/>
                    <a:gd name="T40" fmla="*/ 162 w 231"/>
                    <a:gd name="T41" fmla="*/ 43 h 662"/>
                    <a:gd name="T42" fmla="*/ 231 w 231"/>
                    <a:gd name="T43" fmla="*/ 378 h 662"/>
                    <a:gd name="T44" fmla="*/ 227 w 231"/>
                    <a:gd name="T45" fmla="*/ 394 h 662"/>
                    <a:gd name="T46" fmla="*/ 219 w 231"/>
                    <a:gd name="T47" fmla="*/ 404 h 662"/>
                    <a:gd name="T48" fmla="*/ 203 w 231"/>
                    <a:gd name="T49" fmla="*/ 405 h 662"/>
                    <a:gd name="T50" fmla="*/ 192 w 231"/>
                    <a:gd name="T51" fmla="*/ 398 h 662"/>
                    <a:gd name="T52" fmla="*/ 188 w 231"/>
                    <a:gd name="T53" fmla="*/ 384 h 662"/>
                    <a:gd name="T54" fmla="*/ 176 w 231"/>
                    <a:gd name="T55" fmla="*/ 195 h 662"/>
                    <a:gd name="T56" fmla="*/ 175 w 231"/>
                    <a:gd name="T57" fmla="*/ 646 h 662"/>
                    <a:gd name="T58" fmla="*/ 165 w 231"/>
                    <a:gd name="T59" fmla="*/ 658 h 662"/>
                    <a:gd name="T60" fmla="*/ 149 w 231"/>
                    <a:gd name="T61" fmla="*/ 662 h 662"/>
                    <a:gd name="T62" fmla="*/ 133 w 231"/>
                    <a:gd name="T63" fmla="*/ 658 h 662"/>
                    <a:gd name="T64" fmla="*/ 124 w 231"/>
                    <a:gd name="T65" fmla="*/ 646 h 662"/>
                    <a:gd name="T66" fmla="*/ 123 w 231"/>
                    <a:gd name="T67" fmla="*/ 374 h 662"/>
                    <a:gd name="T68" fmla="*/ 109 w 231"/>
                    <a:gd name="T69" fmla="*/ 640 h 662"/>
                    <a:gd name="T70" fmla="*/ 101 w 231"/>
                    <a:gd name="T71" fmla="*/ 655 h 662"/>
                    <a:gd name="T72" fmla="*/ 87 w 231"/>
                    <a:gd name="T73" fmla="*/ 660 h 662"/>
                    <a:gd name="T74" fmla="*/ 69 w 231"/>
                    <a:gd name="T75" fmla="*/ 659 h 662"/>
                    <a:gd name="T76" fmla="*/ 58 w 231"/>
                    <a:gd name="T77" fmla="*/ 651 h 662"/>
                    <a:gd name="T78" fmla="*/ 55 w 231"/>
                    <a:gd name="T79" fmla="*/ 634 h 662"/>
                    <a:gd name="T80" fmla="*/ 44 w 231"/>
                    <a:gd name="T81" fmla="*/ 378 h 662"/>
                    <a:gd name="T82" fmla="*/ 41 w 231"/>
                    <a:gd name="T83" fmla="*/ 394 h 662"/>
                    <a:gd name="T84" fmla="*/ 31 w 231"/>
                    <a:gd name="T85" fmla="*/ 404 h 662"/>
                    <a:gd name="T86" fmla="*/ 17 w 231"/>
                    <a:gd name="T87" fmla="*/ 405 h 662"/>
                    <a:gd name="T88" fmla="*/ 5 w 231"/>
                    <a:gd name="T89" fmla="*/ 398 h 662"/>
                    <a:gd name="T90" fmla="*/ 0 w 231"/>
                    <a:gd name="T91" fmla="*/ 384 h 662"/>
                    <a:gd name="T92" fmla="*/ 1 w 231"/>
                    <a:gd name="T93" fmla="*/ 156 h 662"/>
                    <a:gd name="T94" fmla="*/ 15 w 231"/>
                    <a:gd name="T95" fmla="*/ 131 h 662"/>
                    <a:gd name="T96" fmla="*/ 46 w 231"/>
                    <a:gd name="T97" fmla="*/ 119 h 662"/>
                    <a:gd name="T98" fmla="*/ 185 w 231"/>
                    <a:gd name="T99" fmla="*/ 119 h 662"/>
                    <a:gd name="T100" fmla="*/ 216 w 231"/>
                    <a:gd name="T101" fmla="*/ 131 h 662"/>
                    <a:gd name="T102" fmla="*/ 230 w 231"/>
                    <a:gd name="T103" fmla="*/ 156 h 66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231" h="662">
                      <a:moveTo>
                        <a:pt x="162" y="54"/>
                      </a:moveTo>
                      <a:lnTo>
                        <a:pt x="162" y="59"/>
                      </a:lnTo>
                      <a:lnTo>
                        <a:pt x="162" y="66"/>
                      </a:lnTo>
                      <a:lnTo>
                        <a:pt x="161" y="70"/>
                      </a:lnTo>
                      <a:lnTo>
                        <a:pt x="159" y="75"/>
                      </a:lnTo>
                      <a:lnTo>
                        <a:pt x="157" y="80"/>
                      </a:lnTo>
                      <a:lnTo>
                        <a:pt x="155" y="86"/>
                      </a:lnTo>
                      <a:lnTo>
                        <a:pt x="152" y="90"/>
                      </a:lnTo>
                      <a:lnTo>
                        <a:pt x="148" y="95"/>
                      </a:lnTo>
                      <a:lnTo>
                        <a:pt x="145" y="99"/>
                      </a:lnTo>
                      <a:lnTo>
                        <a:pt x="141" y="103"/>
                      </a:lnTo>
                      <a:lnTo>
                        <a:pt x="137" y="106"/>
                      </a:lnTo>
                      <a:lnTo>
                        <a:pt x="133" y="108"/>
                      </a:lnTo>
                      <a:lnTo>
                        <a:pt x="128" y="110"/>
                      </a:lnTo>
                      <a:lnTo>
                        <a:pt x="124" y="111"/>
                      </a:lnTo>
                      <a:lnTo>
                        <a:pt x="120" y="112"/>
                      </a:lnTo>
                      <a:lnTo>
                        <a:pt x="116" y="112"/>
                      </a:lnTo>
                      <a:lnTo>
                        <a:pt x="110" y="112"/>
                      </a:lnTo>
                      <a:lnTo>
                        <a:pt x="106" y="111"/>
                      </a:lnTo>
                      <a:lnTo>
                        <a:pt x="101" y="110"/>
                      </a:lnTo>
                      <a:lnTo>
                        <a:pt x="97" y="108"/>
                      </a:lnTo>
                      <a:lnTo>
                        <a:pt x="93" y="106"/>
                      </a:lnTo>
                      <a:lnTo>
                        <a:pt x="89" y="103"/>
                      </a:lnTo>
                      <a:lnTo>
                        <a:pt x="84" y="99"/>
                      </a:lnTo>
                      <a:lnTo>
                        <a:pt x="82" y="95"/>
                      </a:lnTo>
                      <a:lnTo>
                        <a:pt x="77" y="90"/>
                      </a:lnTo>
                      <a:lnTo>
                        <a:pt x="75" y="86"/>
                      </a:lnTo>
                      <a:lnTo>
                        <a:pt x="73" y="80"/>
                      </a:lnTo>
                      <a:lnTo>
                        <a:pt x="70" y="75"/>
                      </a:lnTo>
                      <a:lnTo>
                        <a:pt x="69" y="70"/>
                      </a:lnTo>
                      <a:lnTo>
                        <a:pt x="68" y="66"/>
                      </a:lnTo>
                      <a:lnTo>
                        <a:pt x="68" y="59"/>
                      </a:lnTo>
                      <a:lnTo>
                        <a:pt x="68" y="54"/>
                      </a:lnTo>
                      <a:lnTo>
                        <a:pt x="68" y="48"/>
                      </a:lnTo>
                      <a:lnTo>
                        <a:pt x="68" y="43"/>
                      </a:lnTo>
                      <a:lnTo>
                        <a:pt x="69" y="37"/>
                      </a:lnTo>
                      <a:lnTo>
                        <a:pt x="70" y="33"/>
                      </a:lnTo>
                      <a:lnTo>
                        <a:pt x="73" y="28"/>
                      </a:lnTo>
                      <a:lnTo>
                        <a:pt x="75" y="24"/>
                      </a:lnTo>
                      <a:lnTo>
                        <a:pt x="77" y="20"/>
                      </a:lnTo>
                      <a:lnTo>
                        <a:pt x="82" y="16"/>
                      </a:lnTo>
                      <a:lnTo>
                        <a:pt x="84" y="12"/>
                      </a:lnTo>
                      <a:lnTo>
                        <a:pt x="89" y="8"/>
                      </a:lnTo>
                      <a:lnTo>
                        <a:pt x="93" y="5"/>
                      </a:lnTo>
                      <a:lnTo>
                        <a:pt x="97" y="4"/>
                      </a:lnTo>
                      <a:lnTo>
                        <a:pt x="101" y="1"/>
                      </a:lnTo>
                      <a:lnTo>
                        <a:pt x="106" y="1"/>
                      </a:lnTo>
                      <a:lnTo>
                        <a:pt x="110" y="0"/>
                      </a:lnTo>
                      <a:lnTo>
                        <a:pt x="116" y="0"/>
                      </a:lnTo>
                      <a:lnTo>
                        <a:pt x="120" y="0"/>
                      </a:lnTo>
                      <a:lnTo>
                        <a:pt x="124" y="1"/>
                      </a:lnTo>
                      <a:lnTo>
                        <a:pt x="128" y="1"/>
                      </a:lnTo>
                      <a:lnTo>
                        <a:pt x="133" y="4"/>
                      </a:lnTo>
                      <a:lnTo>
                        <a:pt x="137" y="5"/>
                      </a:lnTo>
                      <a:lnTo>
                        <a:pt x="141" y="8"/>
                      </a:lnTo>
                      <a:lnTo>
                        <a:pt x="145" y="12"/>
                      </a:lnTo>
                      <a:lnTo>
                        <a:pt x="148" y="16"/>
                      </a:lnTo>
                      <a:lnTo>
                        <a:pt x="152" y="20"/>
                      </a:lnTo>
                      <a:lnTo>
                        <a:pt x="155" y="24"/>
                      </a:lnTo>
                      <a:lnTo>
                        <a:pt x="157" y="28"/>
                      </a:lnTo>
                      <a:lnTo>
                        <a:pt x="159" y="33"/>
                      </a:lnTo>
                      <a:lnTo>
                        <a:pt x="161" y="37"/>
                      </a:lnTo>
                      <a:lnTo>
                        <a:pt x="162" y="43"/>
                      </a:lnTo>
                      <a:lnTo>
                        <a:pt x="162" y="48"/>
                      </a:lnTo>
                      <a:lnTo>
                        <a:pt x="162" y="54"/>
                      </a:lnTo>
                      <a:close/>
                      <a:moveTo>
                        <a:pt x="231" y="378"/>
                      </a:moveTo>
                      <a:lnTo>
                        <a:pt x="230" y="384"/>
                      </a:lnTo>
                      <a:lnTo>
                        <a:pt x="230" y="389"/>
                      </a:lnTo>
                      <a:lnTo>
                        <a:pt x="227" y="394"/>
                      </a:lnTo>
                      <a:lnTo>
                        <a:pt x="226" y="398"/>
                      </a:lnTo>
                      <a:lnTo>
                        <a:pt x="221" y="401"/>
                      </a:lnTo>
                      <a:lnTo>
                        <a:pt x="219" y="404"/>
                      </a:lnTo>
                      <a:lnTo>
                        <a:pt x="214" y="405"/>
                      </a:lnTo>
                      <a:lnTo>
                        <a:pt x="209" y="405"/>
                      </a:lnTo>
                      <a:lnTo>
                        <a:pt x="203" y="405"/>
                      </a:lnTo>
                      <a:lnTo>
                        <a:pt x="199" y="404"/>
                      </a:lnTo>
                      <a:lnTo>
                        <a:pt x="196" y="401"/>
                      </a:lnTo>
                      <a:lnTo>
                        <a:pt x="192" y="398"/>
                      </a:lnTo>
                      <a:lnTo>
                        <a:pt x="190" y="394"/>
                      </a:lnTo>
                      <a:lnTo>
                        <a:pt x="188" y="389"/>
                      </a:lnTo>
                      <a:lnTo>
                        <a:pt x="188" y="384"/>
                      </a:lnTo>
                      <a:lnTo>
                        <a:pt x="188" y="378"/>
                      </a:lnTo>
                      <a:lnTo>
                        <a:pt x="188" y="195"/>
                      </a:lnTo>
                      <a:lnTo>
                        <a:pt x="176" y="195"/>
                      </a:lnTo>
                      <a:lnTo>
                        <a:pt x="176" y="634"/>
                      </a:lnTo>
                      <a:lnTo>
                        <a:pt x="176" y="640"/>
                      </a:lnTo>
                      <a:lnTo>
                        <a:pt x="175" y="646"/>
                      </a:lnTo>
                      <a:lnTo>
                        <a:pt x="172" y="651"/>
                      </a:lnTo>
                      <a:lnTo>
                        <a:pt x="169" y="655"/>
                      </a:lnTo>
                      <a:lnTo>
                        <a:pt x="165" y="658"/>
                      </a:lnTo>
                      <a:lnTo>
                        <a:pt x="161" y="659"/>
                      </a:lnTo>
                      <a:lnTo>
                        <a:pt x="155" y="660"/>
                      </a:lnTo>
                      <a:lnTo>
                        <a:pt x="149" y="662"/>
                      </a:lnTo>
                      <a:lnTo>
                        <a:pt x="142" y="660"/>
                      </a:lnTo>
                      <a:lnTo>
                        <a:pt x="137" y="659"/>
                      </a:lnTo>
                      <a:lnTo>
                        <a:pt x="133" y="658"/>
                      </a:lnTo>
                      <a:lnTo>
                        <a:pt x="130" y="655"/>
                      </a:lnTo>
                      <a:lnTo>
                        <a:pt x="125" y="651"/>
                      </a:lnTo>
                      <a:lnTo>
                        <a:pt x="124" y="646"/>
                      </a:lnTo>
                      <a:lnTo>
                        <a:pt x="123" y="640"/>
                      </a:lnTo>
                      <a:lnTo>
                        <a:pt x="123" y="634"/>
                      </a:lnTo>
                      <a:lnTo>
                        <a:pt x="123" y="374"/>
                      </a:lnTo>
                      <a:lnTo>
                        <a:pt x="109" y="374"/>
                      </a:lnTo>
                      <a:lnTo>
                        <a:pt x="109" y="634"/>
                      </a:lnTo>
                      <a:lnTo>
                        <a:pt x="109" y="640"/>
                      </a:lnTo>
                      <a:lnTo>
                        <a:pt x="107" y="646"/>
                      </a:lnTo>
                      <a:lnTo>
                        <a:pt x="104" y="651"/>
                      </a:lnTo>
                      <a:lnTo>
                        <a:pt x="101" y="655"/>
                      </a:lnTo>
                      <a:lnTo>
                        <a:pt x="97" y="658"/>
                      </a:lnTo>
                      <a:lnTo>
                        <a:pt x="93" y="659"/>
                      </a:lnTo>
                      <a:lnTo>
                        <a:pt x="87" y="660"/>
                      </a:lnTo>
                      <a:lnTo>
                        <a:pt x="82" y="662"/>
                      </a:lnTo>
                      <a:lnTo>
                        <a:pt x="75" y="660"/>
                      </a:lnTo>
                      <a:lnTo>
                        <a:pt x="69" y="659"/>
                      </a:lnTo>
                      <a:lnTo>
                        <a:pt x="65" y="658"/>
                      </a:lnTo>
                      <a:lnTo>
                        <a:pt x="62" y="655"/>
                      </a:lnTo>
                      <a:lnTo>
                        <a:pt x="58" y="651"/>
                      </a:lnTo>
                      <a:lnTo>
                        <a:pt x="56" y="646"/>
                      </a:lnTo>
                      <a:lnTo>
                        <a:pt x="55" y="640"/>
                      </a:lnTo>
                      <a:lnTo>
                        <a:pt x="55" y="634"/>
                      </a:lnTo>
                      <a:lnTo>
                        <a:pt x="55" y="195"/>
                      </a:lnTo>
                      <a:lnTo>
                        <a:pt x="44" y="195"/>
                      </a:lnTo>
                      <a:lnTo>
                        <a:pt x="44" y="378"/>
                      </a:lnTo>
                      <a:lnTo>
                        <a:pt x="44" y="384"/>
                      </a:lnTo>
                      <a:lnTo>
                        <a:pt x="42" y="389"/>
                      </a:lnTo>
                      <a:lnTo>
                        <a:pt x="41" y="394"/>
                      </a:lnTo>
                      <a:lnTo>
                        <a:pt x="38" y="398"/>
                      </a:lnTo>
                      <a:lnTo>
                        <a:pt x="35" y="401"/>
                      </a:lnTo>
                      <a:lnTo>
                        <a:pt x="31" y="404"/>
                      </a:lnTo>
                      <a:lnTo>
                        <a:pt x="27" y="405"/>
                      </a:lnTo>
                      <a:lnTo>
                        <a:pt x="22" y="405"/>
                      </a:lnTo>
                      <a:lnTo>
                        <a:pt x="17" y="405"/>
                      </a:lnTo>
                      <a:lnTo>
                        <a:pt x="12" y="404"/>
                      </a:lnTo>
                      <a:lnTo>
                        <a:pt x="8" y="401"/>
                      </a:lnTo>
                      <a:lnTo>
                        <a:pt x="5" y="398"/>
                      </a:lnTo>
                      <a:lnTo>
                        <a:pt x="3" y="394"/>
                      </a:lnTo>
                      <a:lnTo>
                        <a:pt x="1" y="389"/>
                      </a:lnTo>
                      <a:lnTo>
                        <a:pt x="0" y="384"/>
                      </a:lnTo>
                      <a:lnTo>
                        <a:pt x="0" y="378"/>
                      </a:lnTo>
                      <a:lnTo>
                        <a:pt x="0" y="168"/>
                      </a:lnTo>
                      <a:lnTo>
                        <a:pt x="1" y="156"/>
                      </a:lnTo>
                      <a:lnTo>
                        <a:pt x="4" y="147"/>
                      </a:lnTo>
                      <a:lnTo>
                        <a:pt x="8" y="138"/>
                      </a:lnTo>
                      <a:lnTo>
                        <a:pt x="15" y="131"/>
                      </a:lnTo>
                      <a:lnTo>
                        <a:pt x="24" y="126"/>
                      </a:lnTo>
                      <a:lnTo>
                        <a:pt x="34" y="122"/>
                      </a:lnTo>
                      <a:lnTo>
                        <a:pt x="46" y="119"/>
                      </a:lnTo>
                      <a:lnTo>
                        <a:pt x="60" y="118"/>
                      </a:lnTo>
                      <a:lnTo>
                        <a:pt x="171" y="118"/>
                      </a:lnTo>
                      <a:lnTo>
                        <a:pt x="185" y="119"/>
                      </a:lnTo>
                      <a:lnTo>
                        <a:pt x="197" y="122"/>
                      </a:lnTo>
                      <a:lnTo>
                        <a:pt x="207" y="126"/>
                      </a:lnTo>
                      <a:lnTo>
                        <a:pt x="216" y="131"/>
                      </a:lnTo>
                      <a:lnTo>
                        <a:pt x="223" y="138"/>
                      </a:lnTo>
                      <a:lnTo>
                        <a:pt x="227" y="147"/>
                      </a:lnTo>
                      <a:lnTo>
                        <a:pt x="230" y="156"/>
                      </a:lnTo>
                      <a:lnTo>
                        <a:pt x="231" y="168"/>
                      </a:lnTo>
                      <a:lnTo>
                        <a:pt x="231" y="378"/>
                      </a:lnTo>
                      <a:close/>
                    </a:path>
                  </a:pathLst>
                </a:custGeom>
                <a:solidFill>
                  <a:srgbClr val="DCD5D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6171" name="Freeform 85"/>
                <p:cNvSpPr>
                  <a:spLocks/>
                </p:cNvSpPr>
                <p:nvPr/>
              </p:nvSpPr>
              <p:spPr bwMode="auto">
                <a:xfrm>
                  <a:off x="1718" y="3251"/>
                  <a:ext cx="94" cy="112"/>
                </a:xfrm>
                <a:custGeom>
                  <a:avLst/>
                  <a:gdLst>
                    <a:gd name="T0" fmla="*/ 94 w 94"/>
                    <a:gd name="T1" fmla="*/ 59 h 112"/>
                    <a:gd name="T2" fmla="*/ 93 w 94"/>
                    <a:gd name="T3" fmla="*/ 70 h 112"/>
                    <a:gd name="T4" fmla="*/ 89 w 94"/>
                    <a:gd name="T5" fmla="*/ 80 h 112"/>
                    <a:gd name="T6" fmla="*/ 84 w 94"/>
                    <a:gd name="T7" fmla="*/ 90 h 112"/>
                    <a:gd name="T8" fmla="*/ 77 w 94"/>
                    <a:gd name="T9" fmla="*/ 99 h 112"/>
                    <a:gd name="T10" fmla="*/ 69 w 94"/>
                    <a:gd name="T11" fmla="*/ 106 h 112"/>
                    <a:gd name="T12" fmla="*/ 60 w 94"/>
                    <a:gd name="T13" fmla="*/ 110 h 112"/>
                    <a:gd name="T14" fmla="*/ 52 w 94"/>
                    <a:gd name="T15" fmla="*/ 112 h 112"/>
                    <a:gd name="T16" fmla="*/ 42 w 94"/>
                    <a:gd name="T17" fmla="*/ 112 h 112"/>
                    <a:gd name="T18" fmla="*/ 33 w 94"/>
                    <a:gd name="T19" fmla="*/ 110 h 112"/>
                    <a:gd name="T20" fmla="*/ 25 w 94"/>
                    <a:gd name="T21" fmla="*/ 106 h 112"/>
                    <a:gd name="T22" fmla="*/ 16 w 94"/>
                    <a:gd name="T23" fmla="*/ 99 h 112"/>
                    <a:gd name="T24" fmla="*/ 9 w 94"/>
                    <a:gd name="T25" fmla="*/ 90 h 112"/>
                    <a:gd name="T26" fmla="*/ 5 w 94"/>
                    <a:gd name="T27" fmla="*/ 80 h 112"/>
                    <a:gd name="T28" fmla="*/ 1 w 94"/>
                    <a:gd name="T29" fmla="*/ 70 h 112"/>
                    <a:gd name="T30" fmla="*/ 0 w 94"/>
                    <a:gd name="T31" fmla="*/ 59 h 112"/>
                    <a:gd name="T32" fmla="*/ 0 w 94"/>
                    <a:gd name="T33" fmla="*/ 48 h 112"/>
                    <a:gd name="T34" fmla="*/ 1 w 94"/>
                    <a:gd name="T35" fmla="*/ 37 h 112"/>
                    <a:gd name="T36" fmla="*/ 5 w 94"/>
                    <a:gd name="T37" fmla="*/ 28 h 112"/>
                    <a:gd name="T38" fmla="*/ 9 w 94"/>
                    <a:gd name="T39" fmla="*/ 20 h 112"/>
                    <a:gd name="T40" fmla="*/ 16 w 94"/>
                    <a:gd name="T41" fmla="*/ 12 h 112"/>
                    <a:gd name="T42" fmla="*/ 25 w 94"/>
                    <a:gd name="T43" fmla="*/ 5 h 112"/>
                    <a:gd name="T44" fmla="*/ 33 w 94"/>
                    <a:gd name="T45" fmla="*/ 1 h 112"/>
                    <a:gd name="T46" fmla="*/ 42 w 94"/>
                    <a:gd name="T47" fmla="*/ 0 h 112"/>
                    <a:gd name="T48" fmla="*/ 52 w 94"/>
                    <a:gd name="T49" fmla="*/ 0 h 112"/>
                    <a:gd name="T50" fmla="*/ 60 w 94"/>
                    <a:gd name="T51" fmla="*/ 1 h 112"/>
                    <a:gd name="T52" fmla="*/ 69 w 94"/>
                    <a:gd name="T53" fmla="*/ 5 h 112"/>
                    <a:gd name="T54" fmla="*/ 77 w 94"/>
                    <a:gd name="T55" fmla="*/ 12 h 112"/>
                    <a:gd name="T56" fmla="*/ 84 w 94"/>
                    <a:gd name="T57" fmla="*/ 20 h 112"/>
                    <a:gd name="T58" fmla="*/ 89 w 94"/>
                    <a:gd name="T59" fmla="*/ 28 h 112"/>
                    <a:gd name="T60" fmla="*/ 93 w 94"/>
                    <a:gd name="T61" fmla="*/ 37 h 112"/>
                    <a:gd name="T62" fmla="*/ 94 w 94"/>
                    <a:gd name="T63" fmla="*/ 48 h 11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94" h="112">
                      <a:moveTo>
                        <a:pt x="94" y="54"/>
                      </a:moveTo>
                      <a:lnTo>
                        <a:pt x="94" y="59"/>
                      </a:lnTo>
                      <a:lnTo>
                        <a:pt x="94" y="66"/>
                      </a:lnTo>
                      <a:lnTo>
                        <a:pt x="93" y="70"/>
                      </a:lnTo>
                      <a:lnTo>
                        <a:pt x="91" y="75"/>
                      </a:lnTo>
                      <a:lnTo>
                        <a:pt x="89" y="80"/>
                      </a:lnTo>
                      <a:lnTo>
                        <a:pt x="87" y="86"/>
                      </a:lnTo>
                      <a:lnTo>
                        <a:pt x="84" y="90"/>
                      </a:lnTo>
                      <a:lnTo>
                        <a:pt x="80" y="95"/>
                      </a:lnTo>
                      <a:lnTo>
                        <a:pt x="77" y="99"/>
                      </a:lnTo>
                      <a:lnTo>
                        <a:pt x="73" y="103"/>
                      </a:lnTo>
                      <a:lnTo>
                        <a:pt x="69" y="106"/>
                      </a:lnTo>
                      <a:lnTo>
                        <a:pt x="65" y="108"/>
                      </a:lnTo>
                      <a:lnTo>
                        <a:pt x="60" y="110"/>
                      </a:lnTo>
                      <a:lnTo>
                        <a:pt x="56" y="111"/>
                      </a:lnTo>
                      <a:lnTo>
                        <a:pt x="52" y="112"/>
                      </a:lnTo>
                      <a:lnTo>
                        <a:pt x="48" y="112"/>
                      </a:lnTo>
                      <a:lnTo>
                        <a:pt x="42" y="112"/>
                      </a:lnTo>
                      <a:lnTo>
                        <a:pt x="38" y="111"/>
                      </a:lnTo>
                      <a:lnTo>
                        <a:pt x="33" y="110"/>
                      </a:lnTo>
                      <a:lnTo>
                        <a:pt x="29" y="108"/>
                      </a:lnTo>
                      <a:lnTo>
                        <a:pt x="25" y="106"/>
                      </a:lnTo>
                      <a:lnTo>
                        <a:pt x="21" y="103"/>
                      </a:lnTo>
                      <a:lnTo>
                        <a:pt x="16" y="99"/>
                      </a:lnTo>
                      <a:lnTo>
                        <a:pt x="14" y="95"/>
                      </a:lnTo>
                      <a:lnTo>
                        <a:pt x="9" y="90"/>
                      </a:lnTo>
                      <a:lnTo>
                        <a:pt x="7" y="86"/>
                      </a:lnTo>
                      <a:lnTo>
                        <a:pt x="5" y="80"/>
                      </a:lnTo>
                      <a:lnTo>
                        <a:pt x="2" y="75"/>
                      </a:lnTo>
                      <a:lnTo>
                        <a:pt x="1" y="70"/>
                      </a:lnTo>
                      <a:lnTo>
                        <a:pt x="0" y="66"/>
                      </a:lnTo>
                      <a:lnTo>
                        <a:pt x="0" y="59"/>
                      </a:lnTo>
                      <a:lnTo>
                        <a:pt x="0" y="54"/>
                      </a:lnTo>
                      <a:lnTo>
                        <a:pt x="0" y="48"/>
                      </a:lnTo>
                      <a:lnTo>
                        <a:pt x="0" y="43"/>
                      </a:lnTo>
                      <a:lnTo>
                        <a:pt x="1" y="37"/>
                      </a:lnTo>
                      <a:lnTo>
                        <a:pt x="2" y="33"/>
                      </a:lnTo>
                      <a:lnTo>
                        <a:pt x="5" y="28"/>
                      </a:lnTo>
                      <a:lnTo>
                        <a:pt x="7" y="24"/>
                      </a:lnTo>
                      <a:lnTo>
                        <a:pt x="9" y="20"/>
                      </a:lnTo>
                      <a:lnTo>
                        <a:pt x="14" y="16"/>
                      </a:lnTo>
                      <a:lnTo>
                        <a:pt x="16" y="12"/>
                      </a:lnTo>
                      <a:lnTo>
                        <a:pt x="21" y="8"/>
                      </a:lnTo>
                      <a:lnTo>
                        <a:pt x="25" y="5"/>
                      </a:lnTo>
                      <a:lnTo>
                        <a:pt x="29" y="4"/>
                      </a:lnTo>
                      <a:lnTo>
                        <a:pt x="33" y="1"/>
                      </a:lnTo>
                      <a:lnTo>
                        <a:pt x="38" y="1"/>
                      </a:lnTo>
                      <a:lnTo>
                        <a:pt x="42" y="0"/>
                      </a:lnTo>
                      <a:lnTo>
                        <a:pt x="48" y="0"/>
                      </a:lnTo>
                      <a:lnTo>
                        <a:pt x="52" y="0"/>
                      </a:lnTo>
                      <a:lnTo>
                        <a:pt x="56" y="1"/>
                      </a:lnTo>
                      <a:lnTo>
                        <a:pt x="60" y="1"/>
                      </a:lnTo>
                      <a:lnTo>
                        <a:pt x="65" y="4"/>
                      </a:lnTo>
                      <a:lnTo>
                        <a:pt x="69" y="5"/>
                      </a:lnTo>
                      <a:lnTo>
                        <a:pt x="73" y="8"/>
                      </a:lnTo>
                      <a:lnTo>
                        <a:pt x="77" y="12"/>
                      </a:lnTo>
                      <a:lnTo>
                        <a:pt x="80" y="16"/>
                      </a:lnTo>
                      <a:lnTo>
                        <a:pt x="84" y="20"/>
                      </a:lnTo>
                      <a:lnTo>
                        <a:pt x="87" y="24"/>
                      </a:lnTo>
                      <a:lnTo>
                        <a:pt x="89" y="28"/>
                      </a:lnTo>
                      <a:lnTo>
                        <a:pt x="91" y="33"/>
                      </a:lnTo>
                      <a:lnTo>
                        <a:pt x="93" y="37"/>
                      </a:lnTo>
                      <a:lnTo>
                        <a:pt x="94" y="43"/>
                      </a:lnTo>
                      <a:lnTo>
                        <a:pt x="94" y="48"/>
                      </a:lnTo>
                      <a:lnTo>
                        <a:pt x="94" y="54"/>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6172" name="Freeform 86"/>
                <p:cNvSpPr>
                  <a:spLocks/>
                </p:cNvSpPr>
                <p:nvPr/>
              </p:nvSpPr>
              <p:spPr bwMode="auto">
                <a:xfrm>
                  <a:off x="1650" y="3369"/>
                  <a:ext cx="231" cy="544"/>
                </a:xfrm>
                <a:custGeom>
                  <a:avLst/>
                  <a:gdLst>
                    <a:gd name="T0" fmla="*/ 230 w 231"/>
                    <a:gd name="T1" fmla="*/ 266 h 544"/>
                    <a:gd name="T2" fmla="*/ 227 w 231"/>
                    <a:gd name="T3" fmla="*/ 276 h 544"/>
                    <a:gd name="T4" fmla="*/ 221 w 231"/>
                    <a:gd name="T5" fmla="*/ 283 h 544"/>
                    <a:gd name="T6" fmla="*/ 214 w 231"/>
                    <a:gd name="T7" fmla="*/ 287 h 544"/>
                    <a:gd name="T8" fmla="*/ 203 w 231"/>
                    <a:gd name="T9" fmla="*/ 287 h 544"/>
                    <a:gd name="T10" fmla="*/ 196 w 231"/>
                    <a:gd name="T11" fmla="*/ 283 h 544"/>
                    <a:gd name="T12" fmla="*/ 190 w 231"/>
                    <a:gd name="T13" fmla="*/ 276 h 544"/>
                    <a:gd name="T14" fmla="*/ 188 w 231"/>
                    <a:gd name="T15" fmla="*/ 266 h 544"/>
                    <a:gd name="T16" fmla="*/ 188 w 231"/>
                    <a:gd name="T17" fmla="*/ 77 h 544"/>
                    <a:gd name="T18" fmla="*/ 176 w 231"/>
                    <a:gd name="T19" fmla="*/ 516 h 544"/>
                    <a:gd name="T20" fmla="*/ 175 w 231"/>
                    <a:gd name="T21" fmla="*/ 528 h 544"/>
                    <a:gd name="T22" fmla="*/ 169 w 231"/>
                    <a:gd name="T23" fmla="*/ 537 h 544"/>
                    <a:gd name="T24" fmla="*/ 161 w 231"/>
                    <a:gd name="T25" fmla="*/ 541 h 544"/>
                    <a:gd name="T26" fmla="*/ 149 w 231"/>
                    <a:gd name="T27" fmla="*/ 544 h 544"/>
                    <a:gd name="T28" fmla="*/ 137 w 231"/>
                    <a:gd name="T29" fmla="*/ 541 h 544"/>
                    <a:gd name="T30" fmla="*/ 130 w 231"/>
                    <a:gd name="T31" fmla="*/ 537 h 544"/>
                    <a:gd name="T32" fmla="*/ 124 w 231"/>
                    <a:gd name="T33" fmla="*/ 528 h 544"/>
                    <a:gd name="T34" fmla="*/ 123 w 231"/>
                    <a:gd name="T35" fmla="*/ 516 h 544"/>
                    <a:gd name="T36" fmla="*/ 109 w 231"/>
                    <a:gd name="T37" fmla="*/ 256 h 544"/>
                    <a:gd name="T38" fmla="*/ 109 w 231"/>
                    <a:gd name="T39" fmla="*/ 522 h 544"/>
                    <a:gd name="T40" fmla="*/ 104 w 231"/>
                    <a:gd name="T41" fmla="*/ 533 h 544"/>
                    <a:gd name="T42" fmla="*/ 97 w 231"/>
                    <a:gd name="T43" fmla="*/ 540 h 544"/>
                    <a:gd name="T44" fmla="*/ 87 w 231"/>
                    <a:gd name="T45" fmla="*/ 542 h 544"/>
                    <a:gd name="T46" fmla="*/ 75 w 231"/>
                    <a:gd name="T47" fmla="*/ 542 h 544"/>
                    <a:gd name="T48" fmla="*/ 65 w 231"/>
                    <a:gd name="T49" fmla="*/ 540 h 544"/>
                    <a:gd name="T50" fmla="*/ 58 w 231"/>
                    <a:gd name="T51" fmla="*/ 533 h 544"/>
                    <a:gd name="T52" fmla="*/ 55 w 231"/>
                    <a:gd name="T53" fmla="*/ 522 h 544"/>
                    <a:gd name="T54" fmla="*/ 55 w 231"/>
                    <a:gd name="T55" fmla="*/ 77 h 544"/>
                    <a:gd name="T56" fmla="*/ 44 w 231"/>
                    <a:gd name="T57" fmla="*/ 260 h 544"/>
                    <a:gd name="T58" fmla="*/ 42 w 231"/>
                    <a:gd name="T59" fmla="*/ 271 h 544"/>
                    <a:gd name="T60" fmla="*/ 38 w 231"/>
                    <a:gd name="T61" fmla="*/ 280 h 544"/>
                    <a:gd name="T62" fmla="*/ 31 w 231"/>
                    <a:gd name="T63" fmla="*/ 286 h 544"/>
                    <a:gd name="T64" fmla="*/ 22 w 231"/>
                    <a:gd name="T65" fmla="*/ 287 h 544"/>
                    <a:gd name="T66" fmla="*/ 12 w 231"/>
                    <a:gd name="T67" fmla="*/ 286 h 544"/>
                    <a:gd name="T68" fmla="*/ 5 w 231"/>
                    <a:gd name="T69" fmla="*/ 280 h 544"/>
                    <a:gd name="T70" fmla="*/ 1 w 231"/>
                    <a:gd name="T71" fmla="*/ 271 h 544"/>
                    <a:gd name="T72" fmla="*/ 0 w 231"/>
                    <a:gd name="T73" fmla="*/ 260 h 544"/>
                    <a:gd name="T74" fmla="*/ 1 w 231"/>
                    <a:gd name="T75" fmla="*/ 38 h 544"/>
                    <a:gd name="T76" fmla="*/ 8 w 231"/>
                    <a:gd name="T77" fmla="*/ 20 h 544"/>
                    <a:gd name="T78" fmla="*/ 24 w 231"/>
                    <a:gd name="T79" fmla="*/ 8 h 544"/>
                    <a:gd name="T80" fmla="*/ 46 w 231"/>
                    <a:gd name="T81" fmla="*/ 1 h 544"/>
                    <a:gd name="T82" fmla="*/ 171 w 231"/>
                    <a:gd name="T83" fmla="*/ 0 h 544"/>
                    <a:gd name="T84" fmla="*/ 197 w 231"/>
                    <a:gd name="T85" fmla="*/ 4 h 544"/>
                    <a:gd name="T86" fmla="*/ 216 w 231"/>
                    <a:gd name="T87" fmla="*/ 13 h 544"/>
                    <a:gd name="T88" fmla="*/ 227 w 231"/>
                    <a:gd name="T89" fmla="*/ 29 h 544"/>
                    <a:gd name="T90" fmla="*/ 231 w 231"/>
                    <a:gd name="T91" fmla="*/ 50 h 54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31" h="544">
                      <a:moveTo>
                        <a:pt x="231" y="260"/>
                      </a:moveTo>
                      <a:lnTo>
                        <a:pt x="230" y="266"/>
                      </a:lnTo>
                      <a:lnTo>
                        <a:pt x="230" y="271"/>
                      </a:lnTo>
                      <a:lnTo>
                        <a:pt x="227" y="276"/>
                      </a:lnTo>
                      <a:lnTo>
                        <a:pt x="226" y="280"/>
                      </a:lnTo>
                      <a:lnTo>
                        <a:pt x="221" y="283"/>
                      </a:lnTo>
                      <a:lnTo>
                        <a:pt x="219" y="286"/>
                      </a:lnTo>
                      <a:lnTo>
                        <a:pt x="214" y="287"/>
                      </a:lnTo>
                      <a:lnTo>
                        <a:pt x="209" y="287"/>
                      </a:lnTo>
                      <a:lnTo>
                        <a:pt x="203" y="287"/>
                      </a:lnTo>
                      <a:lnTo>
                        <a:pt x="199" y="286"/>
                      </a:lnTo>
                      <a:lnTo>
                        <a:pt x="196" y="283"/>
                      </a:lnTo>
                      <a:lnTo>
                        <a:pt x="192" y="280"/>
                      </a:lnTo>
                      <a:lnTo>
                        <a:pt x="190" y="276"/>
                      </a:lnTo>
                      <a:lnTo>
                        <a:pt x="188" y="271"/>
                      </a:lnTo>
                      <a:lnTo>
                        <a:pt x="188" y="266"/>
                      </a:lnTo>
                      <a:lnTo>
                        <a:pt x="188" y="260"/>
                      </a:lnTo>
                      <a:lnTo>
                        <a:pt x="188" y="77"/>
                      </a:lnTo>
                      <a:lnTo>
                        <a:pt x="176" y="77"/>
                      </a:lnTo>
                      <a:lnTo>
                        <a:pt x="176" y="516"/>
                      </a:lnTo>
                      <a:lnTo>
                        <a:pt x="176" y="522"/>
                      </a:lnTo>
                      <a:lnTo>
                        <a:pt x="175" y="528"/>
                      </a:lnTo>
                      <a:lnTo>
                        <a:pt x="172" y="533"/>
                      </a:lnTo>
                      <a:lnTo>
                        <a:pt x="169" y="537"/>
                      </a:lnTo>
                      <a:lnTo>
                        <a:pt x="165" y="540"/>
                      </a:lnTo>
                      <a:lnTo>
                        <a:pt x="161" y="541"/>
                      </a:lnTo>
                      <a:lnTo>
                        <a:pt x="155" y="542"/>
                      </a:lnTo>
                      <a:lnTo>
                        <a:pt x="149" y="544"/>
                      </a:lnTo>
                      <a:lnTo>
                        <a:pt x="142" y="542"/>
                      </a:lnTo>
                      <a:lnTo>
                        <a:pt x="137" y="541"/>
                      </a:lnTo>
                      <a:lnTo>
                        <a:pt x="133" y="540"/>
                      </a:lnTo>
                      <a:lnTo>
                        <a:pt x="130" y="537"/>
                      </a:lnTo>
                      <a:lnTo>
                        <a:pt x="125" y="533"/>
                      </a:lnTo>
                      <a:lnTo>
                        <a:pt x="124" y="528"/>
                      </a:lnTo>
                      <a:lnTo>
                        <a:pt x="123" y="522"/>
                      </a:lnTo>
                      <a:lnTo>
                        <a:pt x="123" y="516"/>
                      </a:lnTo>
                      <a:lnTo>
                        <a:pt x="123" y="256"/>
                      </a:lnTo>
                      <a:lnTo>
                        <a:pt x="109" y="256"/>
                      </a:lnTo>
                      <a:lnTo>
                        <a:pt x="109" y="516"/>
                      </a:lnTo>
                      <a:lnTo>
                        <a:pt x="109" y="522"/>
                      </a:lnTo>
                      <a:lnTo>
                        <a:pt x="107" y="528"/>
                      </a:lnTo>
                      <a:lnTo>
                        <a:pt x="104" y="533"/>
                      </a:lnTo>
                      <a:lnTo>
                        <a:pt x="101" y="537"/>
                      </a:lnTo>
                      <a:lnTo>
                        <a:pt x="97" y="540"/>
                      </a:lnTo>
                      <a:lnTo>
                        <a:pt x="93" y="541"/>
                      </a:lnTo>
                      <a:lnTo>
                        <a:pt x="87" y="542"/>
                      </a:lnTo>
                      <a:lnTo>
                        <a:pt x="82" y="544"/>
                      </a:lnTo>
                      <a:lnTo>
                        <a:pt x="75" y="542"/>
                      </a:lnTo>
                      <a:lnTo>
                        <a:pt x="69" y="541"/>
                      </a:lnTo>
                      <a:lnTo>
                        <a:pt x="65" y="540"/>
                      </a:lnTo>
                      <a:lnTo>
                        <a:pt x="62" y="537"/>
                      </a:lnTo>
                      <a:lnTo>
                        <a:pt x="58" y="533"/>
                      </a:lnTo>
                      <a:lnTo>
                        <a:pt x="56" y="528"/>
                      </a:lnTo>
                      <a:lnTo>
                        <a:pt x="55" y="522"/>
                      </a:lnTo>
                      <a:lnTo>
                        <a:pt x="55" y="516"/>
                      </a:lnTo>
                      <a:lnTo>
                        <a:pt x="55" y="77"/>
                      </a:lnTo>
                      <a:lnTo>
                        <a:pt x="44" y="77"/>
                      </a:lnTo>
                      <a:lnTo>
                        <a:pt x="44" y="260"/>
                      </a:lnTo>
                      <a:lnTo>
                        <a:pt x="44" y="266"/>
                      </a:lnTo>
                      <a:lnTo>
                        <a:pt x="42" y="271"/>
                      </a:lnTo>
                      <a:lnTo>
                        <a:pt x="41" y="276"/>
                      </a:lnTo>
                      <a:lnTo>
                        <a:pt x="38" y="280"/>
                      </a:lnTo>
                      <a:lnTo>
                        <a:pt x="35" y="283"/>
                      </a:lnTo>
                      <a:lnTo>
                        <a:pt x="31" y="286"/>
                      </a:lnTo>
                      <a:lnTo>
                        <a:pt x="27" y="287"/>
                      </a:lnTo>
                      <a:lnTo>
                        <a:pt x="22" y="287"/>
                      </a:lnTo>
                      <a:lnTo>
                        <a:pt x="17" y="287"/>
                      </a:lnTo>
                      <a:lnTo>
                        <a:pt x="12" y="286"/>
                      </a:lnTo>
                      <a:lnTo>
                        <a:pt x="8" y="283"/>
                      </a:lnTo>
                      <a:lnTo>
                        <a:pt x="5" y="280"/>
                      </a:lnTo>
                      <a:lnTo>
                        <a:pt x="3" y="276"/>
                      </a:lnTo>
                      <a:lnTo>
                        <a:pt x="1" y="271"/>
                      </a:lnTo>
                      <a:lnTo>
                        <a:pt x="0" y="266"/>
                      </a:lnTo>
                      <a:lnTo>
                        <a:pt x="0" y="260"/>
                      </a:lnTo>
                      <a:lnTo>
                        <a:pt x="0" y="50"/>
                      </a:lnTo>
                      <a:lnTo>
                        <a:pt x="1" y="38"/>
                      </a:lnTo>
                      <a:lnTo>
                        <a:pt x="4" y="29"/>
                      </a:lnTo>
                      <a:lnTo>
                        <a:pt x="8" y="20"/>
                      </a:lnTo>
                      <a:lnTo>
                        <a:pt x="15" y="13"/>
                      </a:lnTo>
                      <a:lnTo>
                        <a:pt x="24" y="8"/>
                      </a:lnTo>
                      <a:lnTo>
                        <a:pt x="34" y="4"/>
                      </a:lnTo>
                      <a:lnTo>
                        <a:pt x="46" y="1"/>
                      </a:lnTo>
                      <a:lnTo>
                        <a:pt x="60" y="0"/>
                      </a:lnTo>
                      <a:lnTo>
                        <a:pt x="171" y="0"/>
                      </a:lnTo>
                      <a:lnTo>
                        <a:pt x="185" y="1"/>
                      </a:lnTo>
                      <a:lnTo>
                        <a:pt x="197" y="4"/>
                      </a:lnTo>
                      <a:lnTo>
                        <a:pt x="207" y="8"/>
                      </a:lnTo>
                      <a:lnTo>
                        <a:pt x="216" y="13"/>
                      </a:lnTo>
                      <a:lnTo>
                        <a:pt x="223" y="20"/>
                      </a:lnTo>
                      <a:lnTo>
                        <a:pt x="227" y="29"/>
                      </a:lnTo>
                      <a:lnTo>
                        <a:pt x="230" y="38"/>
                      </a:lnTo>
                      <a:lnTo>
                        <a:pt x="231" y="50"/>
                      </a:lnTo>
                      <a:lnTo>
                        <a:pt x="231" y="260"/>
                      </a:lnTo>
                    </a:path>
                  </a:pathLst>
                </a:custGeom>
                <a:noFill/>
                <a:ln w="1588">
                  <a:solidFill>
                    <a:srgbClr val="1F1A17"/>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grpSp>
        </p:grpSp>
      </p:grpSp>
      <p:sp>
        <p:nvSpPr>
          <p:cNvPr id="6153" name="AutoShape 10"/>
          <p:cNvSpPr>
            <a:spLocks noChangeArrowheads="1"/>
          </p:cNvSpPr>
          <p:nvPr/>
        </p:nvSpPr>
        <p:spPr bwMode="auto">
          <a:xfrm rot="8171527">
            <a:off x="6344527" y="3558326"/>
            <a:ext cx="627063" cy="133350"/>
          </a:xfrm>
          <a:custGeom>
            <a:avLst/>
            <a:gdLst>
              <a:gd name="T0" fmla="*/ 4966513 w 21600"/>
              <a:gd name="T1" fmla="*/ 0 h 21600"/>
              <a:gd name="T2" fmla="*/ 0 w 21600"/>
              <a:gd name="T3" fmla="*/ 0 h 21600"/>
              <a:gd name="T4" fmla="*/ 4966513 w 21600"/>
              <a:gd name="T5" fmla="*/ 0 h 21600"/>
              <a:gd name="T6" fmla="*/ 6385766 w 21600"/>
              <a:gd name="T7" fmla="*/ 0 h 21600"/>
              <a:gd name="T8" fmla="*/ 17694720 60000 65536"/>
              <a:gd name="T9" fmla="*/ 11796480 60000 65536"/>
              <a:gd name="T10" fmla="*/ 5898240 60000 65536"/>
              <a:gd name="T11" fmla="*/ 0 60000 65536"/>
              <a:gd name="T12" fmla="*/ 3377 w 21600"/>
              <a:gd name="T13" fmla="*/ 5400 h 21600"/>
              <a:gd name="T14" fmla="*/ 18919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0C0C0">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s-ES"/>
          </a:p>
        </p:txBody>
      </p:sp>
      <p:sp>
        <p:nvSpPr>
          <p:cNvPr id="6154" name="AutoShape 90"/>
          <p:cNvSpPr>
            <a:spLocks noChangeArrowheads="1"/>
          </p:cNvSpPr>
          <p:nvPr/>
        </p:nvSpPr>
        <p:spPr bwMode="auto">
          <a:xfrm>
            <a:off x="457200" y="2251076"/>
            <a:ext cx="8305800" cy="2778124"/>
          </a:xfrm>
          <a:prstGeom prst="roundRect">
            <a:avLst>
              <a:gd name="adj" fmla="val 639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6155" name="Text Box 5"/>
          <p:cNvSpPr txBox="1">
            <a:spLocks noChangeArrowheads="1"/>
          </p:cNvSpPr>
          <p:nvPr/>
        </p:nvSpPr>
        <p:spPr bwMode="auto">
          <a:xfrm>
            <a:off x="457200" y="5197475"/>
            <a:ext cx="8153400" cy="109478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300" dirty="0"/>
              <a:t>La </a:t>
            </a:r>
            <a:r>
              <a:rPr lang="es-ES_tradnl" altLang="es-ES" sz="1300" b="1" dirty="0"/>
              <a:t>estimación puntual </a:t>
            </a:r>
            <a:r>
              <a:rPr lang="es-ES_tradnl" altLang="es-ES" sz="1300" dirty="0"/>
              <a:t>supone</a:t>
            </a:r>
            <a:r>
              <a:rPr lang="es-ES" altLang="es-ES" sz="1300" dirty="0"/>
              <a:t> </a:t>
            </a:r>
            <a:r>
              <a:rPr lang="es-ES" altLang="es-ES" sz="1300" b="1" dirty="0"/>
              <a:t>reducir toda la información muestral a un solo valor</a:t>
            </a:r>
            <a:r>
              <a:rPr lang="es-ES" altLang="es-ES" sz="1300" dirty="0"/>
              <a:t>. Es obvio que dicho valor difícilmente coincidirá de forma exacta con el del parámetro poblacional</a:t>
            </a:r>
          </a:p>
          <a:p>
            <a:pPr algn="just" eaLnBrk="1" hangingPunct="1"/>
            <a:endParaRPr lang="es-ES_tradnl" altLang="es-ES" sz="1300" dirty="0"/>
          </a:p>
          <a:p>
            <a:pPr algn="just" eaLnBrk="1" hangingPunct="1"/>
            <a:r>
              <a:rPr lang="es-ES_tradnl" altLang="es-ES" sz="1300" dirty="0"/>
              <a:t>Intuitivamente </a:t>
            </a:r>
            <a:r>
              <a:rPr lang="es-ES_tradnl" altLang="es-ES" sz="1300" b="1" dirty="0"/>
              <a:t>una muestra de tamaño grande </a:t>
            </a:r>
            <a:r>
              <a:rPr lang="es-ES_tradnl" altLang="es-ES" sz="1300" dirty="0"/>
              <a:t>es </a:t>
            </a:r>
            <a:r>
              <a:rPr lang="es-ES_tradnl" altLang="es-ES" sz="1300" b="1" dirty="0"/>
              <a:t>preferible a otra de tamaño menor </a:t>
            </a:r>
            <a:r>
              <a:rPr lang="es-ES_tradnl" altLang="es-ES" sz="1300" dirty="0"/>
              <a:t>¿por qué</a:t>
            </a:r>
            <a:r>
              <a:rPr lang="es-ES" altLang="es-ES" sz="1300" dirty="0"/>
              <a:t>? (en la estimación puntual no se aprecia esto)</a:t>
            </a:r>
          </a:p>
        </p:txBody>
      </p:sp>
      <p:sp>
        <p:nvSpPr>
          <p:cNvPr id="89" name="Text Box 16"/>
          <p:cNvSpPr txBox="1">
            <a:spLocks noChangeArrowheads="1"/>
          </p:cNvSpPr>
          <p:nvPr/>
        </p:nvSpPr>
        <p:spPr bwMode="auto">
          <a:xfrm>
            <a:off x="156838" y="237478"/>
            <a:ext cx="1814513"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400" b="1" dirty="0">
                <a:solidFill>
                  <a:srgbClr val="000000"/>
                </a:solidFill>
              </a:rPr>
              <a:t>Estimación puntual</a:t>
            </a:r>
          </a:p>
        </p:txBody>
      </p:sp>
      <p:graphicFrame>
        <p:nvGraphicFramePr>
          <p:cNvPr id="6152" name="Object 87"/>
          <p:cNvGraphicFramePr>
            <a:graphicFrameLocks noChangeAspect="1"/>
          </p:cNvGraphicFramePr>
          <p:nvPr>
            <p:extLst>
              <p:ext uri="{D42A27DB-BD31-4B8C-83A1-F6EECF244321}">
                <p14:modId xmlns:p14="http://schemas.microsoft.com/office/powerpoint/2010/main" val="3465022125"/>
              </p:ext>
            </p:extLst>
          </p:nvPr>
        </p:nvGraphicFramePr>
        <p:xfrm>
          <a:off x="5705589" y="3978252"/>
          <a:ext cx="2905011" cy="687332"/>
        </p:xfrm>
        <a:graphic>
          <a:graphicData uri="http://schemas.openxmlformats.org/presentationml/2006/ole">
            <mc:AlternateContent xmlns:mc="http://schemas.openxmlformats.org/markup-compatibility/2006">
              <mc:Choice xmlns:v="urn:schemas-microsoft-com:vml" Requires="v">
                <p:oleObj name="Equation" r:id="rId2" imgW="1854200" imgH="457200" progId="Equation.DSMT4">
                  <p:embed/>
                </p:oleObj>
              </mc:Choice>
              <mc:Fallback>
                <p:oleObj name="Equation" r:id="rId2" imgW="1854200" imgH="457200" progId="Equation.DSMT4">
                  <p:embed/>
                  <p:pic>
                    <p:nvPicPr>
                      <p:cNvPr id="6152" name="Object 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5589" y="3978252"/>
                        <a:ext cx="2905011" cy="687332"/>
                      </a:xfrm>
                      <a:prstGeom prst="rect">
                        <a:avLst/>
                      </a:prstGeom>
                      <a:noFill/>
                      <a:ln>
                        <a:noFill/>
                      </a:ln>
                      <a:effectLst/>
                    </p:spPr>
                  </p:pic>
                </p:oleObj>
              </mc:Fallback>
            </mc:AlternateContent>
          </a:graphicData>
        </a:graphic>
      </p:graphicFrame>
      <p:sp>
        <p:nvSpPr>
          <p:cNvPr id="92" name="AutoShape 10"/>
          <p:cNvSpPr>
            <a:spLocks noChangeArrowheads="1"/>
          </p:cNvSpPr>
          <p:nvPr/>
        </p:nvSpPr>
        <p:spPr bwMode="auto">
          <a:xfrm rot="8171527">
            <a:off x="6652847" y="3568700"/>
            <a:ext cx="627063" cy="133350"/>
          </a:xfrm>
          <a:custGeom>
            <a:avLst/>
            <a:gdLst>
              <a:gd name="T0" fmla="*/ 4966513 w 21600"/>
              <a:gd name="T1" fmla="*/ 0 h 21600"/>
              <a:gd name="T2" fmla="*/ 0 w 21600"/>
              <a:gd name="T3" fmla="*/ 0 h 21600"/>
              <a:gd name="T4" fmla="*/ 4966513 w 21600"/>
              <a:gd name="T5" fmla="*/ 0 h 21600"/>
              <a:gd name="T6" fmla="*/ 6385766 w 21600"/>
              <a:gd name="T7" fmla="*/ 0 h 21600"/>
              <a:gd name="T8" fmla="*/ 17694720 60000 65536"/>
              <a:gd name="T9" fmla="*/ 11796480 60000 65536"/>
              <a:gd name="T10" fmla="*/ 5898240 60000 65536"/>
              <a:gd name="T11" fmla="*/ 0 60000 65536"/>
              <a:gd name="T12" fmla="*/ 3377 w 21600"/>
              <a:gd name="T13" fmla="*/ 5400 h 21600"/>
              <a:gd name="T14" fmla="*/ 18919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0C0C0">
              <a:alpha val="50195"/>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p>
            <a:endParaRPr lang="es-ES"/>
          </a:p>
        </p:txBody>
      </p:sp>
    </p:spTree>
    <p:extLst>
      <p:ext uri="{BB962C8B-B14F-4D97-AF65-F5344CB8AC3E}">
        <p14:creationId xmlns:p14="http://schemas.microsoft.com/office/powerpoint/2010/main" val="291120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32"/>
          <p:cNvSpPr txBox="1">
            <a:spLocks noChangeArrowheads="1"/>
          </p:cNvSpPr>
          <p:nvPr/>
        </p:nvSpPr>
        <p:spPr bwMode="auto">
          <a:xfrm>
            <a:off x="157223" y="212725"/>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
        <p:nvSpPr>
          <p:cNvPr id="7171" name="Text Box 34"/>
          <p:cNvSpPr txBox="1">
            <a:spLocks noChangeArrowheads="1"/>
          </p:cNvSpPr>
          <p:nvPr/>
        </p:nvSpPr>
        <p:spPr bwMode="auto">
          <a:xfrm>
            <a:off x="441325" y="2362200"/>
            <a:ext cx="8321675" cy="113347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lnSpc>
                <a:spcPct val="120000"/>
              </a:lnSpc>
            </a:pPr>
            <a:r>
              <a:rPr lang="es-ES_tradnl" altLang="es-ES" sz="1400" dirty="0"/>
              <a:t>La estimación por IC consiste en asignar al parámetro poblacional desconocido un intervalo de valores, digamos (</a:t>
            </a:r>
            <a:r>
              <a:rPr lang="es-ES_tradnl" altLang="es-ES" sz="1400" i="1" dirty="0"/>
              <a:t>a, b</a:t>
            </a:r>
            <a:r>
              <a:rPr lang="es-ES_tradnl" altLang="es-ES" sz="1400" dirty="0"/>
              <a:t>) entre los cuales está dicho parámetro con una cierta probabilidad</a:t>
            </a:r>
            <a:r>
              <a:rPr lang="es-ES" altLang="es-ES" sz="1400" dirty="0"/>
              <a:t> que denominaremos </a:t>
            </a:r>
            <a:r>
              <a:rPr lang="es-ES" altLang="es-ES" sz="1400" b="1" dirty="0">
                <a:solidFill>
                  <a:srgbClr val="6A1700"/>
                </a:solidFill>
              </a:rPr>
              <a:t>nivel de</a:t>
            </a:r>
            <a:r>
              <a:rPr lang="es-ES_tradnl" altLang="es-ES" sz="1400" dirty="0"/>
              <a:t> </a:t>
            </a:r>
            <a:r>
              <a:rPr lang="es-ES_tradnl" altLang="es-ES" sz="1400" b="1" dirty="0">
                <a:solidFill>
                  <a:srgbClr val="6A1700"/>
                </a:solidFill>
              </a:rPr>
              <a:t>confianza</a:t>
            </a:r>
            <a:r>
              <a:rPr lang="es-ES_tradnl" altLang="es-ES" sz="1400" dirty="0"/>
              <a:t> y que se </a:t>
            </a:r>
            <a:r>
              <a:rPr lang="es-ES" altLang="es-ES" sz="1400" dirty="0"/>
              <a:t>representa por </a:t>
            </a:r>
            <a:r>
              <a:rPr lang="es-ES_tradnl" altLang="es-ES" sz="1400" dirty="0"/>
              <a:t>(1</a:t>
            </a:r>
            <a:r>
              <a:rPr lang="es-ES_tradnl" altLang="es-ES" sz="1400" dirty="0">
                <a:cs typeface="Arial" charset="0"/>
              </a:rPr>
              <a:t>–</a:t>
            </a:r>
            <a:r>
              <a:rPr lang="es-ES_tradnl" altLang="es-ES" sz="1500" dirty="0">
                <a:latin typeface="Symbol" pitchFamily="18" charset="2"/>
              </a:rPr>
              <a:t>a</a:t>
            </a:r>
            <a:r>
              <a:rPr lang="es-ES_tradnl" altLang="es-ES" sz="1400" dirty="0"/>
              <a:t>). De aquí que </a:t>
            </a:r>
            <a:r>
              <a:rPr lang="es-ES_tradnl" altLang="es-ES" sz="1500" dirty="0">
                <a:latin typeface="Symbol" pitchFamily="18" charset="2"/>
              </a:rPr>
              <a:t>a</a:t>
            </a:r>
            <a:r>
              <a:rPr lang="es-ES_tradnl" altLang="es-ES" sz="1400" dirty="0"/>
              <a:t> sea el </a:t>
            </a:r>
            <a:r>
              <a:rPr lang="es-ES_tradnl" altLang="es-ES" sz="1400" b="1" dirty="0">
                <a:solidFill>
                  <a:srgbClr val="800000"/>
                </a:solidFill>
              </a:rPr>
              <a:t>nivel de error</a:t>
            </a:r>
            <a:r>
              <a:rPr lang="es-ES_tradnl" altLang="es-ES" sz="1400" b="1" dirty="0"/>
              <a:t> </a:t>
            </a:r>
            <a:r>
              <a:rPr lang="es-ES_tradnl" altLang="es-ES" sz="1400" dirty="0"/>
              <a:t>o p</a:t>
            </a:r>
            <a:r>
              <a:rPr lang="es-ES" altLang="es-ES" sz="1400" dirty="0" err="1"/>
              <a:t>robabilidad</a:t>
            </a:r>
            <a:r>
              <a:rPr lang="es-ES" altLang="es-ES" sz="1400" dirty="0"/>
              <a:t> de que el intervalo obtenido no contenga al parámetro.</a:t>
            </a:r>
            <a:endParaRPr lang="es-ES" altLang="es-ES" sz="1400" b="1" dirty="0"/>
          </a:p>
        </p:txBody>
      </p:sp>
      <p:graphicFrame>
        <p:nvGraphicFramePr>
          <p:cNvPr id="7172" name="Object 35"/>
          <p:cNvGraphicFramePr>
            <a:graphicFrameLocks noChangeAspect="1"/>
          </p:cNvGraphicFramePr>
          <p:nvPr/>
        </p:nvGraphicFramePr>
        <p:xfrm>
          <a:off x="3657600" y="4343400"/>
          <a:ext cx="1981200" cy="336550"/>
        </p:xfrm>
        <a:graphic>
          <a:graphicData uri="http://schemas.openxmlformats.org/presentationml/2006/ole">
            <mc:AlternateContent xmlns:mc="http://schemas.openxmlformats.org/markup-compatibility/2006">
              <mc:Choice xmlns:v="urn:schemas-microsoft-com:vml" Requires="v">
                <p:oleObj name="Equation" r:id="rId2" imgW="1206500" imgH="203200" progId="Equation.DSMT4">
                  <p:embed/>
                </p:oleObj>
              </mc:Choice>
              <mc:Fallback>
                <p:oleObj name="Equation" r:id="rId2" imgW="1206500" imgH="203200" progId="Equation.DSMT4">
                  <p:embed/>
                  <p:pic>
                    <p:nvPicPr>
                      <p:cNvPr id="7172"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4343400"/>
                        <a:ext cx="19812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3" name="Rectangle 29"/>
          <p:cNvSpPr>
            <a:spLocks noChangeArrowheads="1"/>
          </p:cNvSpPr>
          <p:nvPr/>
        </p:nvSpPr>
        <p:spPr bwMode="auto">
          <a:xfrm>
            <a:off x="442913" y="4914900"/>
            <a:ext cx="8256587" cy="161788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lnSpc>
                <a:spcPct val="110000"/>
              </a:lnSpc>
              <a:spcBef>
                <a:spcPct val="50000"/>
              </a:spcBef>
            </a:pPr>
            <a:r>
              <a:rPr lang="es-ES_tradnl" altLang="es-ES" sz="1300" dirty="0"/>
              <a:t>La </a:t>
            </a:r>
            <a:r>
              <a:rPr lang="es-ES_tradnl" altLang="es-ES" sz="1300" b="1" dirty="0"/>
              <a:t>confianza de un intervalo</a:t>
            </a:r>
            <a:r>
              <a:rPr lang="es-ES_tradnl" altLang="es-ES" sz="1300" dirty="0"/>
              <a:t> debe </a:t>
            </a:r>
            <a:r>
              <a:rPr lang="es-ES_tradnl" altLang="es-ES" sz="1300" b="1" dirty="0"/>
              <a:t>interpretarse</a:t>
            </a:r>
            <a:r>
              <a:rPr lang="es-ES_tradnl" altLang="es-ES" sz="1300" dirty="0"/>
              <a:t> en el sentido siguiente: Por cada 100 intervalos que construyamos para estimar un mismo parámetro (a partir de otras tantas muestras aleatorias y para un valor </a:t>
            </a:r>
            <a:r>
              <a:rPr lang="es-ES_tradnl" altLang="es-ES" sz="1300" dirty="0">
                <a:latin typeface="Symbol" panose="05050102010706020507" pitchFamily="18" charset="2"/>
              </a:rPr>
              <a:t>a</a:t>
            </a:r>
            <a:r>
              <a:rPr lang="es-ES_tradnl" altLang="es-ES" sz="1300" dirty="0"/>
              <a:t> prefijado), en promedio el </a:t>
            </a:r>
            <a:r>
              <a:rPr lang="es-ES_tradnl" altLang="es-ES" sz="1300" dirty="0">
                <a:latin typeface="Symbol" pitchFamily="18" charset="2"/>
              </a:rPr>
              <a:t>(1-a)%</a:t>
            </a:r>
            <a:r>
              <a:rPr lang="es-ES_tradnl" altLang="es-ES" sz="1300" dirty="0"/>
              <a:t> de los intervalos obtenidos recogerán en su interior al verdadero valor del parámetro, mientras que el </a:t>
            </a:r>
            <a:r>
              <a:rPr lang="es-ES_tradnl" altLang="es-ES" sz="1300" dirty="0">
                <a:latin typeface="Symbol" pitchFamily="18" charset="2"/>
              </a:rPr>
              <a:t>a%</a:t>
            </a:r>
            <a:r>
              <a:rPr lang="es-ES_tradnl" altLang="es-ES" sz="1300" b="1" dirty="0"/>
              <a:t> </a:t>
            </a:r>
            <a:r>
              <a:rPr lang="es-ES_tradnl" altLang="es-ES" sz="1300" dirty="0"/>
              <a:t>restante, por cosas del azar, pueden resultar ‘equivocados’. En la práctica s</a:t>
            </a:r>
            <a:r>
              <a:rPr lang="es-ES" altLang="es-ES" sz="1300" dirty="0"/>
              <a:t>e construye un único IC, así que s</a:t>
            </a:r>
            <a:r>
              <a:rPr lang="es-ES_tradnl" altLang="es-ES" sz="1300" dirty="0"/>
              <a:t>i elegimos un nivel de confianza </a:t>
            </a:r>
            <a:r>
              <a:rPr lang="es-ES_tradnl" altLang="es-ES" sz="1300" dirty="0">
                <a:latin typeface="Symbol" pitchFamily="18" charset="2"/>
              </a:rPr>
              <a:t>(1-a)%</a:t>
            </a:r>
            <a:r>
              <a:rPr lang="es-ES_tradnl" altLang="es-ES" sz="1300" dirty="0"/>
              <a:t> grande, por ejemplo del 95%, entonces nuestra esperanza es que dicho </a:t>
            </a:r>
            <a:r>
              <a:rPr lang="es-ES" altLang="es-ES" sz="1300" dirty="0"/>
              <a:t>intervalo </a:t>
            </a:r>
            <a:r>
              <a:rPr lang="es-ES_tradnl" altLang="es-ES" sz="1300" dirty="0"/>
              <a:t>sea uno de los 95 de cada 100 ‘acertados’ y </a:t>
            </a:r>
            <a:r>
              <a:rPr lang="es-ES" altLang="es-ES" sz="1300" dirty="0"/>
              <a:t>no uno de los 5 de cada 100 (en promedio) que no contienen al valor del parámetro</a:t>
            </a:r>
            <a:r>
              <a:rPr lang="es-ES_tradnl" altLang="es-ES" sz="1300" dirty="0"/>
              <a:t>.</a:t>
            </a:r>
          </a:p>
        </p:txBody>
      </p:sp>
      <p:sp>
        <p:nvSpPr>
          <p:cNvPr id="7174" name="AutoShape 39"/>
          <p:cNvSpPr>
            <a:spLocks noChangeArrowheads="1"/>
          </p:cNvSpPr>
          <p:nvPr/>
        </p:nvSpPr>
        <p:spPr bwMode="auto">
          <a:xfrm>
            <a:off x="409575" y="2324100"/>
            <a:ext cx="8382000" cy="2438400"/>
          </a:xfrm>
          <a:prstGeom prst="roundRect">
            <a:avLst>
              <a:gd name="adj" fmla="val 4972"/>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7175" name="Text Box 11"/>
          <p:cNvSpPr txBox="1">
            <a:spLocks noChangeArrowheads="1"/>
          </p:cNvSpPr>
          <p:nvPr/>
        </p:nvSpPr>
        <p:spPr bwMode="auto">
          <a:xfrm>
            <a:off x="441325" y="876300"/>
            <a:ext cx="8321675"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7475" indent="-1174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lnSpc>
                <a:spcPct val="110000"/>
              </a:lnSpc>
            </a:pPr>
            <a:r>
              <a:rPr lang="es-ES_tradnl" altLang="es-ES" sz="1400" dirty="0"/>
              <a:t>La </a:t>
            </a:r>
            <a:r>
              <a:rPr lang="es-ES_tradnl" altLang="es-ES" sz="1400" b="1" dirty="0"/>
              <a:t>estimación por IC </a:t>
            </a:r>
            <a:r>
              <a:rPr lang="es-ES_tradnl" altLang="es-ES" sz="1400" dirty="0"/>
              <a:t>implica asumir que </a:t>
            </a:r>
          </a:p>
          <a:p>
            <a:pPr algn="just" eaLnBrk="1" hangingPunct="1">
              <a:lnSpc>
                <a:spcPct val="110000"/>
              </a:lnSpc>
              <a:buFontTx/>
              <a:buChar char="-"/>
            </a:pPr>
            <a:r>
              <a:rPr lang="es-ES_tradnl" altLang="es-ES" sz="1400" dirty="0"/>
              <a:t>Es prácticamente imposible (por improbable) que valor único dado por el estimador puntual coincida con el valor del parámetro poblacional</a:t>
            </a:r>
          </a:p>
          <a:p>
            <a:pPr algn="just" eaLnBrk="1" hangingPunct="1">
              <a:lnSpc>
                <a:spcPct val="110000"/>
              </a:lnSpc>
              <a:buFontTx/>
              <a:buChar char="-"/>
            </a:pPr>
            <a:r>
              <a:rPr lang="es-ES_tradnl" altLang="es-ES" sz="1400" dirty="0"/>
              <a:t>Es mejor dar un </a:t>
            </a:r>
            <a:r>
              <a:rPr lang="es-ES_tradnl" altLang="es-ES" sz="1400" b="1" dirty="0"/>
              <a:t>conjunto de valores probables</a:t>
            </a:r>
            <a:r>
              <a:rPr lang="es-ES_tradnl" altLang="es-ES" sz="1400" dirty="0"/>
              <a:t> para el parámetro, en lugar de uno solo</a:t>
            </a:r>
          </a:p>
          <a:p>
            <a:pPr algn="just" eaLnBrk="1" hangingPunct="1">
              <a:lnSpc>
                <a:spcPct val="110000"/>
              </a:lnSpc>
              <a:buFontTx/>
              <a:buChar char="-"/>
            </a:pPr>
            <a:r>
              <a:rPr lang="es-ES_tradnl" altLang="es-ES" sz="1400" dirty="0"/>
              <a:t>Existe un </a:t>
            </a:r>
            <a:r>
              <a:rPr lang="es-ES_tradnl" altLang="es-ES" sz="1400" b="1" dirty="0"/>
              <a:t>error de estimación</a:t>
            </a:r>
            <a:r>
              <a:rPr lang="es-ES_tradnl" altLang="es-ES" sz="1400" dirty="0"/>
              <a:t> que en la estimación puntual no se pone de manifiesto</a:t>
            </a:r>
            <a:endParaRPr lang="es-ES" altLang="es-ES" sz="1400" dirty="0"/>
          </a:p>
        </p:txBody>
      </p:sp>
      <p:sp>
        <p:nvSpPr>
          <p:cNvPr id="7176" name="Text Box 34"/>
          <p:cNvSpPr txBox="1">
            <a:spLocks noChangeArrowheads="1"/>
          </p:cNvSpPr>
          <p:nvPr/>
        </p:nvSpPr>
        <p:spPr bwMode="auto">
          <a:xfrm>
            <a:off x="441325" y="3581400"/>
            <a:ext cx="8321675" cy="6604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lnSpc>
                <a:spcPct val="120000"/>
              </a:lnSpc>
            </a:pPr>
            <a:r>
              <a:rPr lang="es-ES_tradnl" altLang="es-ES" sz="1400"/>
              <a:t>Diremos entonces que (</a:t>
            </a:r>
            <a:r>
              <a:rPr lang="es-ES_tradnl" altLang="es-ES" sz="1400" i="1"/>
              <a:t>a, b</a:t>
            </a:r>
            <a:r>
              <a:rPr lang="es-ES_tradnl" altLang="es-ES" sz="1400"/>
              <a:t>) es un </a:t>
            </a:r>
            <a:r>
              <a:rPr lang="es-ES_tradnl" altLang="es-ES" sz="1400" b="1">
                <a:solidFill>
                  <a:srgbClr val="6A1700"/>
                </a:solidFill>
              </a:rPr>
              <a:t>intervalo de confianza</a:t>
            </a:r>
            <a:r>
              <a:rPr lang="es-ES_tradnl" altLang="es-ES" sz="1400"/>
              <a:t> para el parámetro </a:t>
            </a:r>
            <a:r>
              <a:rPr lang="es-ES_tradnl" altLang="es-ES" sz="1600">
                <a:latin typeface="Symbol" pitchFamily="18" charset="2"/>
              </a:rPr>
              <a:t>m</a:t>
            </a:r>
            <a:r>
              <a:rPr lang="es-ES_tradnl" altLang="es-ES" sz="1400"/>
              <a:t> construido al </a:t>
            </a:r>
            <a:br>
              <a:rPr lang="es-ES_tradnl" altLang="es-ES" sz="1400"/>
            </a:br>
            <a:r>
              <a:rPr lang="es-ES_tradnl" altLang="es-ES" sz="1500">
                <a:latin typeface="Symbol" pitchFamily="18" charset="2"/>
              </a:rPr>
              <a:t>(1-a)</a:t>
            </a:r>
            <a:r>
              <a:rPr lang="es-ES_tradnl" altLang="es-ES" sz="1500"/>
              <a:t>% </a:t>
            </a:r>
            <a:r>
              <a:rPr lang="es-ES_tradnl" altLang="es-ES" sz="1400"/>
              <a:t>de confianza (o al </a:t>
            </a:r>
            <a:r>
              <a:rPr lang="es-ES_tradnl" altLang="es-ES" sz="1500">
                <a:latin typeface="Symbol" pitchFamily="18" charset="2"/>
              </a:rPr>
              <a:t>a%</a:t>
            </a:r>
            <a:r>
              <a:rPr lang="es-ES_tradnl" altLang="es-ES" sz="1400"/>
              <a:t> de error) si se veri</a:t>
            </a:r>
            <a:r>
              <a:rPr lang="es-ES" altLang="es-ES" sz="1400"/>
              <a:t>fica que;</a:t>
            </a:r>
            <a:endParaRPr lang="es-ES" altLang="es-ES" sz="1400" b="1"/>
          </a:p>
        </p:txBody>
      </p:sp>
    </p:spTree>
    <p:extLst>
      <p:ext uri="{BB962C8B-B14F-4D97-AF65-F5344CB8AC3E}">
        <p14:creationId xmlns:p14="http://schemas.microsoft.com/office/powerpoint/2010/main" val="2233612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ChangeArrowheads="1"/>
          </p:cNvSpPr>
          <p:nvPr/>
        </p:nvSpPr>
        <p:spPr bwMode="auto">
          <a:xfrm>
            <a:off x="304800" y="850900"/>
            <a:ext cx="8458200" cy="894733"/>
          </a:xfrm>
          <a:prstGeom prst="rect">
            <a:avLst/>
          </a:prstGeom>
          <a:noFill/>
          <a:ln>
            <a:noFill/>
          </a:ln>
          <a:effectLst/>
          <a:extLst>
            <a:ext uri="{909E8E84-426E-40DD-AFC4-6F175D3DCCD1}">
              <a14:hiddenFill xmlns:a14="http://schemas.microsoft.com/office/drawing/2010/main">
                <a:solidFill>
                  <a:srgbClr val="F8F8F8"/>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300" b="1" dirty="0"/>
              <a:t>Ejemplo: </a:t>
            </a:r>
            <a:r>
              <a:rPr lang="es-ES_tradnl" altLang="es-ES" sz="1300" dirty="0"/>
              <a:t>Se trata de estudiar el nivel de glucosa en sangre en la población cuyos valores aparecen en el recuadro sombreado (esta población es pequeñísima, pero nos vale como ejemplo). Seleccionamos </a:t>
            </a:r>
            <a:r>
              <a:rPr lang="es-ES_tradnl" altLang="es-ES" sz="1300" b="1" dirty="0"/>
              <a:t>de forma aleatoria</a:t>
            </a:r>
            <a:r>
              <a:rPr lang="es-ES_tradnl" altLang="es-ES" sz="1300" dirty="0"/>
              <a:t> 5 muestras de tamaño </a:t>
            </a:r>
            <a:r>
              <a:rPr lang="es-ES_tradnl" altLang="es-ES" sz="1300" i="1" dirty="0">
                <a:latin typeface="Times New Roman" pitchFamily="18" charset="0"/>
              </a:rPr>
              <a:t>n </a:t>
            </a:r>
            <a:r>
              <a:rPr lang="es-ES_tradnl" altLang="es-ES" sz="1300" dirty="0"/>
              <a:t>= 5 y elaboramos, en cada caso, el intervalo de confianza para el nivel medio de glucemia (consideraremos un  nivel de confianza del 95%). Observemos los resultados:</a:t>
            </a:r>
            <a:endParaRPr lang="es-ES" altLang="es-ES" sz="1300" dirty="0"/>
          </a:p>
        </p:txBody>
      </p:sp>
      <p:grpSp>
        <p:nvGrpSpPr>
          <p:cNvPr id="8195" name="Group 6"/>
          <p:cNvGrpSpPr>
            <a:grpSpLocks/>
          </p:cNvGrpSpPr>
          <p:nvPr/>
        </p:nvGrpSpPr>
        <p:grpSpPr bwMode="auto">
          <a:xfrm>
            <a:off x="323850" y="1927225"/>
            <a:ext cx="8356600" cy="2568575"/>
            <a:chOff x="204" y="1614"/>
            <a:chExt cx="5264" cy="1618"/>
          </a:xfrm>
        </p:grpSpPr>
        <p:pic>
          <p:nvPicPr>
            <p:cNvPr id="904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 y="1678"/>
              <a:ext cx="871" cy="1554"/>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049"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0" y="1614"/>
              <a:ext cx="3858" cy="1436"/>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050" name="Group 9"/>
            <p:cNvGrpSpPr>
              <a:grpSpLocks/>
            </p:cNvGrpSpPr>
            <p:nvPr/>
          </p:nvGrpSpPr>
          <p:grpSpPr bwMode="auto">
            <a:xfrm>
              <a:off x="1114" y="2008"/>
              <a:ext cx="589" cy="787"/>
              <a:chOff x="1114" y="2039"/>
              <a:chExt cx="589" cy="787"/>
            </a:xfrm>
          </p:grpSpPr>
          <p:sp>
            <p:nvSpPr>
              <p:cNvPr id="9051" name="AutoShape 10"/>
              <p:cNvSpPr>
                <a:spLocks noChangeArrowheads="1"/>
              </p:cNvSpPr>
              <p:nvPr/>
            </p:nvSpPr>
            <p:spPr bwMode="auto">
              <a:xfrm>
                <a:off x="1222" y="2386"/>
                <a:ext cx="454" cy="91"/>
              </a:xfrm>
              <a:prstGeom prst="rightArrow">
                <a:avLst>
                  <a:gd name="adj1" fmla="val 50000"/>
                  <a:gd name="adj2" fmla="val 124725"/>
                </a:avLst>
              </a:prstGeom>
              <a:solidFill>
                <a:srgbClr val="EAEAEA"/>
              </a:solidFill>
              <a:ln w="9525">
                <a:solidFill>
                  <a:schemeClr val="tx1"/>
                </a:solidFill>
                <a:miter lim="800000"/>
                <a:headEnd/>
                <a:tailEnd/>
              </a:ln>
              <a:effectLst>
                <a:outerShdw dist="107763" dir="2700000" algn="ctr" rotWithShape="0">
                  <a:schemeClr val="bg2">
                    <a:alpha val="50000"/>
                  </a:schemeClr>
                </a:outerShdw>
              </a:effectLst>
            </p:spPr>
            <p:txBody>
              <a:bodyPr lIns="90000" tIns="46800" rIns="90000" bIns="468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9052" name="AutoShape 11"/>
              <p:cNvSpPr>
                <a:spLocks noChangeArrowheads="1"/>
              </p:cNvSpPr>
              <p:nvPr/>
            </p:nvSpPr>
            <p:spPr bwMode="auto">
              <a:xfrm rot="-926770">
                <a:off x="1159" y="2213"/>
                <a:ext cx="499" cy="91"/>
              </a:xfrm>
              <a:prstGeom prst="rightArrow">
                <a:avLst>
                  <a:gd name="adj1" fmla="val 50000"/>
                  <a:gd name="adj2" fmla="val 137088"/>
                </a:avLst>
              </a:prstGeom>
              <a:solidFill>
                <a:srgbClr val="EAEAEA"/>
              </a:solidFill>
              <a:ln w="9525">
                <a:solidFill>
                  <a:schemeClr val="tx1"/>
                </a:solidFill>
                <a:miter lim="800000"/>
                <a:headEnd/>
                <a:tailEnd/>
              </a:ln>
              <a:effectLst>
                <a:outerShdw dist="107763" dir="2700000" algn="ctr" rotWithShape="0">
                  <a:schemeClr val="bg2">
                    <a:alpha val="50000"/>
                  </a:schemeClr>
                </a:outerShdw>
              </a:effectLst>
            </p:spPr>
            <p:txBody>
              <a:bodyPr lIns="90000" tIns="46800" rIns="90000" bIns="468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9053" name="AutoShape 12"/>
              <p:cNvSpPr>
                <a:spLocks noChangeArrowheads="1"/>
              </p:cNvSpPr>
              <p:nvPr/>
            </p:nvSpPr>
            <p:spPr bwMode="auto">
              <a:xfrm rot="-1033368">
                <a:off x="1114" y="2039"/>
                <a:ext cx="589" cy="91"/>
              </a:xfrm>
              <a:prstGeom prst="rightArrow">
                <a:avLst>
                  <a:gd name="adj1" fmla="val 50000"/>
                  <a:gd name="adj2" fmla="val 161813"/>
                </a:avLst>
              </a:prstGeom>
              <a:solidFill>
                <a:srgbClr val="EAEAEA"/>
              </a:solidFill>
              <a:ln w="9525">
                <a:solidFill>
                  <a:schemeClr val="tx1"/>
                </a:solidFill>
                <a:miter lim="800000"/>
                <a:headEnd/>
                <a:tailEnd/>
              </a:ln>
              <a:effectLst>
                <a:outerShdw dist="107763" dir="2700000" algn="ctr" rotWithShape="0">
                  <a:schemeClr val="bg2">
                    <a:alpha val="50000"/>
                  </a:schemeClr>
                </a:outerShdw>
              </a:effectLst>
            </p:spPr>
            <p:txBody>
              <a:bodyPr lIns="90000" tIns="46800" rIns="90000" bIns="468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9054" name="AutoShape 13"/>
              <p:cNvSpPr>
                <a:spLocks noChangeArrowheads="1"/>
              </p:cNvSpPr>
              <p:nvPr/>
            </p:nvSpPr>
            <p:spPr bwMode="auto">
              <a:xfrm rot="926770" flipV="1">
                <a:off x="1159" y="2560"/>
                <a:ext cx="499" cy="91"/>
              </a:xfrm>
              <a:prstGeom prst="rightArrow">
                <a:avLst>
                  <a:gd name="adj1" fmla="val 50000"/>
                  <a:gd name="adj2" fmla="val 137088"/>
                </a:avLst>
              </a:prstGeom>
              <a:solidFill>
                <a:srgbClr val="EAEAEA"/>
              </a:solidFill>
              <a:ln w="9525">
                <a:solidFill>
                  <a:schemeClr val="tx1"/>
                </a:solidFill>
                <a:miter lim="800000"/>
                <a:headEnd/>
                <a:tailEnd/>
              </a:ln>
              <a:effectLst>
                <a:outerShdw dist="107763" dir="2700000" algn="ctr" rotWithShape="0">
                  <a:schemeClr val="bg2">
                    <a:alpha val="50000"/>
                  </a:schemeClr>
                </a:outerShdw>
              </a:effectLst>
            </p:spPr>
            <p:txBody>
              <a:bodyPr lIns="90000" tIns="46800" rIns="90000" bIns="468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9055" name="AutoShape 14"/>
              <p:cNvSpPr>
                <a:spLocks noChangeArrowheads="1"/>
              </p:cNvSpPr>
              <p:nvPr/>
            </p:nvSpPr>
            <p:spPr bwMode="auto">
              <a:xfrm rot="1033368" flipV="1">
                <a:off x="1114" y="2735"/>
                <a:ext cx="589" cy="91"/>
              </a:xfrm>
              <a:prstGeom prst="rightArrow">
                <a:avLst>
                  <a:gd name="adj1" fmla="val 50000"/>
                  <a:gd name="adj2" fmla="val 161813"/>
                </a:avLst>
              </a:prstGeom>
              <a:solidFill>
                <a:srgbClr val="EAEAEA"/>
              </a:solidFill>
              <a:ln w="9525">
                <a:solidFill>
                  <a:schemeClr val="tx1"/>
                </a:solidFill>
                <a:miter lim="800000"/>
                <a:headEnd/>
                <a:tailEnd/>
              </a:ln>
              <a:effectLst>
                <a:outerShdw dist="107763" dir="2700000" algn="ctr" rotWithShape="0">
                  <a:schemeClr val="bg2">
                    <a:alpha val="50000"/>
                  </a:schemeClr>
                </a:outerShdw>
              </a:effectLst>
            </p:spPr>
            <p:txBody>
              <a:bodyPr lIns="90000" tIns="46800" rIns="90000" bIns="468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grpSp>
      <p:grpSp>
        <p:nvGrpSpPr>
          <p:cNvPr id="8196" name="Group 887"/>
          <p:cNvGrpSpPr>
            <a:grpSpLocks/>
          </p:cNvGrpSpPr>
          <p:nvPr/>
        </p:nvGrpSpPr>
        <p:grpSpPr bwMode="auto">
          <a:xfrm>
            <a:off x="304800" y="4635500"/>
            <a:ext cx="5181600" cy="1857375"/>
            <a:chOff x="264" y="2880"/>
            <a:chExt cx="3264" cy="1170"/>
          </a:xfrm>
        </p:grpSpPr>
        <p:sp>
          <p:nvSpPr>
            <p:cNvPr id="9045" name="Rectangle 4"/>
            <p:cNvSpPr>
              <a:spLocks noChangeArrowheads="1"/>
            </p:cNvSpPr>
            <p:nvPr/>
          </p:nvSpPr>
          <p:spPr bwMode="auto">
            <a:xfrm>
              <a:off x="264" y="2880"/>
              <a:ext cx="3264" cy="192"/>
            </a:xfrm>
            <a:prstGeom prst="rect">
              <a:avLst/>
            </a:prstGeom>
            <a:noFill/>
            <a:ln>
              <a:noFill/>
            </a:ln>
            <a:effectLst/>
            <a:extLst>
              <a:ext uri="{909E8E84-426E-40DD-AFC4-6F175D3DCCD1}">
                <a14:hiddenFill xmlns:a14="http://schemas.microsoft.com/office/drawing/2010/main">
                  <a:solidFill>
                    <a:srgbClr val="F8F8F8"/>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spAutoFit/>
            </a:bodyPr>
            <a:lstStyle>
              <a:lvl1pPr marL="179388" indent="-179388"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buFontTx/>
                <a:buChar char="•"/>
              </a:pPr>
              <a:r>
                <a:rPr lang="es-ES_tradnl" altLang="es-ES" sz="1300" dirty="0"/>
                <a:t>Las estimaciones puntuales varían de muestra a muestra</a:t>
              </a:r>
            </a:p>
          </p:txBody>
        </p:sp>
        <p:sp>
          <p:nvSpPr>
            <p:cNvPr id="9046" name="Rectangle 818"/>
            <p:cNvSpPr>
              <a:spLocks noChangeArrowheads="1"/>
            </p:cNvSpPr>
            <p:nvPr/>
          </p:nvSpPr>
          <p:spPr bwMode="auto">
            <a:xfrm>
              <a:off x="264" y="3360"/>
              <a:ext cx="3264" cy="690"/>
            </a:xfrm>
            <a:prstGeom prst="rect">
              <a:avLst/>
            </a:prstGeom>
            <a:noFill/>
            <a:ln>
              <a:noFill/>
            </a:ln>
            <a:effectLst/>
            <a:extLst>
              <a:ext uri="{909E8E84-426E-40DD-AFC4-6F175D3DCCD1}">
                <a14:hiddenFill xmlns:a14="http://schemas.microsoft.com/office/drawing/2010/main">
                  <a:solidFill>
                    <a:srgbClr val="F8F8F8"/>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spAutoFit/>
            </a:bodyPr>
            <a:lstStyle>
              <a:lvl1pPr marL="179388" indent="-179388"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buFontTx/>
                <a:buChar char="•"/>
              </a:pPr>
              <a:r>
                <a:rPr lang="es-ES_tradnl" altLang="es-ES" sz="1300" dirty="0"/>
                <a:t>Los cuatro primeros intervalos contienen al verdadero valor de la media (que, excepcionalmente, por conocer a toda la población sabemos que vale 120), sin embargo, en la 5ª muestra los valores obtenidos son, por azar, más bajos de la cuenta y dan lugar a un intervalo que  ¡no contiene a </a:t>
              </a:r>
              <a:r>
                <a:rPr lang="es-ES_tradnl" altLang="es-ES" sz="1300" dirty="0">
                  <a:latin typeface="Symbol" pitchFamily="18" charset="2"/>
                </a:rPr>
                <a:t>m</a:t>
              </a:r>
              <a:r>
                <a:rPr lang="es-ES_tradnl" altLang="es-ES" sz="1300" dirty="0"/>
                <a:t>!</a:t>
              </a:r>
              <a:endParaRPr lang="es-ES" altLang="es-ES" sz="1300" dirty="0"/>
            </a:p>
          </p:txBody>
        </p:sp>
        <p:sp>
          <p:nvSpPr>
            <p:cNvPr id="9047" name="Rectangle 819"/>
            <p:cNvSpPr>
              <a:spLocks noChangeArrowheads="1"/>
            </p:cNvSpPr>
            <p:nvPr/>
          </p:nvSpPr>
          <p:spPr bwMode="auto">
            <a:xfrm>
              <a:off x="264" y="3120"/>
              <a:ext cx="3264" cy="192"/>
            </a:xfrm>
            <a:prstGeom prst="rect">
              <a:avLst/>
            </a:prstGeom>
            <a:noFill/>
            <a:ln>
              <a:noFill/>
            </a:ln>
            <a:effectLst/>
            <a:extLst>
              <a:ext uri="{909E8E84-426E-40DD-AFC4-6F175D3DCCD1}">
                <a14:hiddenFill xmlns:a14="http://schemas.microsoft.com/office/drawing/2010/main">
                  <a:solidFill>
                    <a:srgbClr val="F8F8F8"/>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spAutoFit/>
            </a:bodyPr>
            <a:lstStyle>
              <a:lvl1pPr marL="179388" indent="-179388"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buFontTx/>
                <a:buChar char="•"/>
              </a:pPr>
              <a:r>
                <a:rPr lang="es-ES_tradnl" altLang="es-ES" sz="1300"/>
                <a:t>Los 5 intervalos tienen diferente amplitud ¿por qué?</a:t>
              </a:r>
            </a:p>
          </p:txBody>
        </p:sp>
      </p:grpSp>
      <p:grpSp>
        <p:nvGrpSpPr>
          <p:cNvPr id="8197" name="Group 869"/>
          <p:cNvGrpSpPr>
            <a:grpSpLocks/>
          </p:cNvGrpSpPr>
          <p:nvPr/>
        </p:nvGrpSpPr>
        <p:grpSpPr bwMode="auto">
          <a:xfrm>
            <a:off x="5486400" y="4267200"/>
            <a:ext cx="3505200" cy="2544763"/>
            <a:chOff x="3696" y="2928"/>
            <a:chExt cx="1776" cy="1251"/>
          </a:xfrm>
        </p:grpSpPr>
        <p:grpSp>
          <p:nvGrpSpPr>
            <p:cNvPr id="8200" name="Group 837"/>
            <p:cNvGrpSpPr>
              <a:grpSpLocks/>
            </p:cNvGrpSpPr>
            <p:nvPr/>
          </p:nvGrpSpPr>
          <p:grpSpPr bwMode="auto">
            <a:xfrm>
              <a:off x="3696" y="2928"/>
              <a:ext cx="1776" cy="1251"/>
              <a:chOff x="3696" y="2928"/>
              <a:chExt cx="1776" cy="1251"/>
            </a:xfrm>
          </p:grpSpPr>
          <p:grpSp>
            <p:nvGrpSpPr>
              <p:cNvPr id="8232" name="Group 832"/>
              <p:cNvGrpSpPr>
                <a:grpSpLocks/>
              </p:cNvGrpSpPr>
              <p:nvPr/>
            </p:nvGrpSpPr>
            <p:grpSpPr bwMode="auto">
              <a:xfrm>
                <a:off x="3696" y="2928"/>
                <a:ext cx="1776" cy="1056"/>
                <a:chOff x="3696" y="2880"/>
                <a:chExt cx="1776" cy="1056"/>
              </a:xfrm>
            </p:grpSpPr>
            <p:grpSp>
              <p:nvGrpSpPr>
                <p:cNvPr id="8239" name="Group 15"/>
                <p:cNvGrpSpPr>
                  <a:grpSpLocks/>
                </p:cNvGrpSpPr>
                <p:nvPr/>
              </p:nvGrpSpPr>
              <p:grpSpPr bwMode="auto">
                <a:xfrm>
                  <a:off x="3888" y="2976"/>
                  <a:ext cx="1440" cy="912"/>
                  <a:chOff x="2152" y="758"/>
                  <a:chExt cx="2031" cy="1029"/>
                </a:xfrm>
              </p:grpSpPr>
              <p:sp>
                <p:nvSpPr>
                  <p:cNvPr id="8243" name="Line 16"/>
                  <p:cNvSpPr>
                    <a:spLocks noChangeShapeType="1"/>
                  </p:cNvSpPr>
                  <p:nvPr/>
                </p:nvSpPr>
                <p:spPr bwMode="auto">
                  <a:xfrm>
                    <a:off x="2152"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44" name="Line 17"/>
                  <p:cNvSpPr>
                    <a:spLocks noChangeShapeType="1"/>
                  </p:cNvSpPr>
                  <p:nvPr/>
                </p:nvSpPr>
                <p:spPr bwMode="auto">
                  <a:xfrm>
                    <a:off x="2156"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45" name="Line 18"/>
                  <p:cNvSpPr>
                    <a:spLocks noChangeShapeType="1"/>
                  </p:cNvSpPr>
                  <p:nvPr/>
                </p:nvSpPr>
                <p:spPr bwMode="auto">
                  <a:xfrm>
                    <a:off x="2160"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46" name="Freeform 19"/>
                  <p:cNvSpPr>
                    <a:spLocks/>
                  </p:cNvSpPr>
                  <p:nvPr/>
                </p:nvSpPr>
                <p:spPr bwMode="auto">
                  <a:xfrm>
                    <a:off x="2160" y="178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47" name="Line 20"/>
                  <p:cNvSpPr>
                    <a:spLocks noChangeShapeType="1"/>
                  </p:cNvSpPr>
                  <p:nvPr/>
                </p:nvSpPr>
                <p:spPr bwMode="auto">
                  <a:xfrm>
                    <a:off x="2165"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48" name="Freeform 21"/>
                  <p:cNvSpPr>
                    <a:spLocks/>
                  </p:cNvSpPr>
                  <p:nvPr/>
                </p:nvSpPr>
                <p:spPr bwMode="auto">
                  <a:xfrm>
                    <a:off x="2165"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49" name="Line 22"/>
                  <p:cNvSpPr>
                    <a:spLocks noChangeShapeType="1"/>
                  </p:cNvSpPr>
                  <p:nvPr/>
                </p:nvSpPr>
                <p:spPr bwMode="auto">
                  <a:xfrm>
                    <a:off x="2169"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50" name="Line 23"/>
                  <p:cNvSpPr>
                    <a:spLocks noChangeShapeType="1"/>
                  </p:cNvSpPr>
                  <p:nvPr/>
                </p:nvSpPr>
                <p:spPr bwMode="auto">
                  <a:xfrm>
                    <a:off x="2169"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51" name="Line 24"/>
                  <p:cNvSpPr>
                    <a:spLocks noChangeShapeType="1"/>
                  </p:cNvSpPr>
                  <p:nvPr/>
                </p:nvSpPr>
                <p:spPr bwMode="auto">
                  <a:xfrm>
                    <a:off x="2173" y="1787"/>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52" name="Line 25"/>
                  <p:cNvSpPr>
                    <a:spLocks noChangeShapeType="1"/>
                  </p:cNvSpPr>
                  <p:nvPr/>
                </p:nvSpPr>
                <p:spPr bwMode="auto">
                  <a:xfrm>
                    <a:off x="2178"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53" name="Freeform 26"/>
                  <p:cNvSpPr>
                    <a:spLocks/>
                  </p:cNvSpPr>
                  <p:nvPr/>
                </p:nvSpPr>
                <p:spPr bwMode="auto">
                  <a:xfrm>
                    <a:off x="2178"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54" name="Line 27"/>
                  <p:cNvSpPr>
                    <a:spLocks noChangeShapeType="1"/>
                  </p:cNvSpPr>
                  <p:nvPr/>
                </p:nvSpPr>
                <p:spPr bwMode="auto">
                  <a:xfrm>
                    <a:off x="2182"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55" name="Line 28"/>
                  <p:cNvSpPr>
                    <a:spLocks noChangeShapeType="1"/>
                  </p:cNvSpPr>
                  <p:nvPr/>
                </p:nvSpPr>
                <p:spPr bwMode="auto">
                  <a:xfrm>
                    <a:off x="2182"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56" name="Line 29"/>
                  <p:cNvSpPr>
                    <a:spLocks noChangeShapeType="1"/>
                  </p:cNvSpPr>
                  <p:nvPr/>
                </p:nvSpPr>
                <p:spPr bwMode="auto">
                  <a:xfrm>
                    <a:off x="2186" y="1787"/>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57" name="Line 30"/>
                  <p:cNvSpPr>
                    <a:spLocks noChangeShapeType="1"/>
                  </p:cNvSpPr>
                  <p:nvPr/>
                </p:nvSpPr>
                <p:spPr bwMode="auto">
                  <a:xfrm>
                    <a:off x="2191"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58" name="Freeform 31"/>
                  <p:cNvSpPr>
                    <a:spLocks/>
                  </p:cNvSpPr>
                  <p:nvPr/>
                </p:nvSpPr>
                <p:spPr bwMode="auto">
                  <a:xfrm>
                    <a:off x="2191"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59" name="Line 32"/>
                  <p:cNvSpPr>
                    <a:spLocks noChangeShapeType="1"/>
                  </p:cNvSpPr>
                  <p:nvPr/>
                </p:nvSpPr>
                <p:spPr bwMode="auto">
                  <a:xfrm>
                    <a:off x="2195"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60" name="Freeform 33"/>
                  <p:cNvSpPr>
                    <a:spLocks/>
                  </p:cNvSpPr>
                  <p:nvPr/>
                </p:nvSpPr>
                <p:spPr bwMode="auto">
                  <a:xfrm>
                    <a:off x="2195"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61" name="Line 34"/>
                  <p:cNvSpPr>
                    <a:spLocks noChangeShapeType="1"/>
                  </p:cNvSpPr>
                  <p:nvPr/>
                </p:nvSpPr>
                <p:spPr bwMode="auto">
                  <a:xfrm>
                    <a:off x="2199"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62" name="Line 35"/>
                  <p:cNvSpPr>
                    <a:spLocks noChangeShapeType="1"/>
                  </p:cNvSpPr>
                  <p:nvPr/>
                </p:nvSpPr>
                <p:spPr bwMode="auto">
                  <a:xfrm>
                    <a:off x="2199" y="1787"/>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63" name="Line 36"/>
                  <p:cNvSpPr>
                    <a:spLocks noChangeShapeType="1"/>
                  </p:cNvSpPr>
                  <p:nvPr/>
                </p:nvSpPr>
                <p:spPr bwMode="auto">
                  <a:xfrm>
                    <a:off x="2204"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64" name="Line 37"/>
                  <p:cNvSpPr>
                    <a:spLocks noChangeShapeType="1"/>
                  </p:cNvSpPr>
                  <p:nvPr/>
                </p:nvSpPr>
                <p:spPr bwMode="auto">
                  <a:xfrm>
                    <a:off x="2208"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65" name="Freeform 38"/>
                  <p:cNvSpPr>
                    <a:spLocks/>
                  </p:cNvSpPr>
                  <p:nvPr/>
                </p:nvSpPr>
                <p:spPr bwMode="auto">
                  <a:xfrm>
                    <a:off x="2208"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66" name="Line 39"/>
                  <p:cNvSpPr>
                    <a:spLocks noChangeShapeType="1"/>
                  </p:cNvSpPr>
                  <p:nvPr/>
                </p:nvSpPr>
                <p:spPr bwMode="auto">
                  <a:xfrm>
                    <a:off x="2212"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67" name="Line 40"/>
                  <p:cNvSpPr>
                    <a:spLocks noChangeShapeType="1"/>
                  </p:cNvSpPr>
                  <p:nvPr/>
                </p:nvSpPr>
                <p:spPr bwMode="auto">
                  <a:xfrm>
                    <a:off x="2212" y="1787"/>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68" name="Line 41"/>
                  <p:cNvSpPr>
                    <a:spLocks noChangeShapeType="1"/>
                  </p:cNvSpPr>
                  <p:nvPr/>
                </p:nvSpPr>
                <p:spPr bwMode="auto">
                  <a:xfrm>
                    <a:off x="2217"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69" name="Line 42"/>
                  <p:cNvSpPr>
                    <a:spLocks noChangeShapeType="1"/>
                  </p:cNvSpPr>
                  <p:nvPr/>
                </p:nvSpPr>
                <p:spPr bwMode="auto">
                  <a:xfrm>
                    <a:off x="2221"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70" name="Freeform 43"/>
                  <p:cNvSpPr>
                    <a:spLocks/>
                  </p:cNvSpPr>
                  <p:nvPr/>
                </p:nvSpPr>
                <p:spPr bwMode="auto">
                  <a:xfrm>
                    <a:off x="2221"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71" name="Line 44"/>
                  <p:cNvSpPr>
                    <a:spLocks noChangeShapeType="1"/>
                  </p:cNvSpPr>
                  <p:nvPr/>
                </p:nvSpPr>
                <p:spPr bwMode="auto">
                  <a:xfrm>
                    <a:off x="2225"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72" name="Line 45"/>
                  <p:cNvSpPr>
                    <a:spLocks noChangeShapeType="1"/>
                  </p:cNvSpPr>
                  <p:nvPr/>
                </p:nvSpPr>
                <p:spPr bwMode="auto">
                  <a:xfrm>
                    <a:off x="2225" y="1787"/>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73" name="Line 46"/>
                  <p:cNvSpPr>
                    <a:spLocks noChangeShapeType="1"/>
                  </p:cNvSpPr>
                  <p:nvPr/>
                </p:nvSpPr>
                <p:spPr bwMode="auto">
                  <a:xfrm>
                    <a:off x="2230"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74" name="Line 47"/>
                  <p:cNvSpPr>
                    <a:spLocks noChangeShapeType="1"/>
                  </p:cNvSpPr>
                  <p:nvPr/>
                </p:nvSpPr>
                <p:spPr bwMode="auto">
                  <a:xfrm>
                    <a:off x="2234"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75" name="Freeform 48"/>
                  <p:cNvSpPr>
                    <a:spLocks/>
                  </p:cNvSpPr>
                  <p:nvPr/>
                </p:nvSpPr>
                <p:spPr bwMode="auto">
                  <a:xfrm>
                    <a:off x="2234"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76" name="Line 49"/>
                  <p:cNvSpPr>
                    <a:spLocks noChangeShapeType="1"/>
                  </p:cNvSpPr>
                  <p:nvPr/>
                </p:nvSpPr>
                <p:spPr bwMode="auto">
                  <a:xfrm>
                    <a:off x="2238"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77" name="Freeform 50"/>
                  <p:cNvSpPr>
                    <a:spLocks/>
                  </p:cNvSpPr>
                  <p:nvPr/>
                </p:nvSpPr>
                <p:spPr bwMode="auto">
                  <a:xfrm>
                    <a:off x="2238" y="178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78" name="Line 51"/>
                  <p:cNvSpPr>
                    <a:spLocks noChangeShapeType="1"/>
                  </p:cNvSpPr>
                  <p:nvPr/>
                </p:nvSpPr>
                <p:spPr bwMode="auto">
                  <a:xfrm>
                    <a:off x="2243"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79" name="Line 52"/>
                  <p:cNvSpPr>
                    <a:spLocks noChangeShapeType="1"/>
                  </p:cNvSpPr>
                  <p:nvPr/>
                </p:nvSpPr>
                <p:spPr bwMode="auto">
                  <a:xfrm>
                    <a:off x="2243"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80" name="Line 53"/>
                  <p:cNvSpPr>
                    <a:spLocks noChangeShapeType="1"/>
                  </p:cNvSpPr>
                  <p:nvPr/>
                </p:nvSpPr>
                <p:spPr bwMode="auto">
                  <a:xfrm>
                    <a:off x="2247"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81" name="Line 54"/>
                  <p:cNvSpPr>
                    <a:spLocks noChangeShapeType="1"/>
                  </p:cNvSpPr>
                  <p:nvPr/>
                </p:nvSpPr>
                <p:spPr bwMode="auto">
                  <a:xfrm>
                    <a:off x="2251"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82" name="Freeform 55"/>
                  <p:cNvSpPr>
                    <a:spLocks/>
                  </p:cNvSpPr>
                  <p:nvPr/>
                </p:nvSpPr>
                <p:spPr bwMode="auto">
                  <a:xfrm>
                    <a:off x="2251" y="178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83" name="Line 56"/>
                  <p:cNvSpPr>
                    <a:spLocks noChangeShapeType="1"/>
                  </p:cNvSpPr>
                  <p:nvPr/>
                </p:nvSpPr>
                <p:spPr bwMode="auto">
                  <a:xfrm>
                    <a:off x="2256"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84" name="Line 57"/>
                  <p:cNvSpPr>
                    <a:spLocks noChangeShapeType="1"/>
                  </p:cNvSpPr>
                  <p:nvPr/>
                </p:nvSpPr>
                <p:spPr bwMode="auto">
                  <a:xfrm>
                    <a:off x="2256"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85" name="Line 58"/>
                  <p:cNvSpPr>
                    <a:spLocks noChangeShapeType="1"/>
                  </p:cNvSpPr>
                  <p:nvPr/>
                </p:nvSpPr>
                <p:spPr bwMode="auto">
                  <a:xfrm>
                    <a:off x="2260" y="1787"/>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86" name="Line 59"/>
                  <p:cNvSpPr>
                    <a:spLocks noChangeShapeType="1"/>
                  </p:cNvSpPr>
                  <p:nvPr/>
                </p:nvSpPr>
                <p:spPr bwMode="auto">
                  <a:xfrm>
                    <a:off x="2265"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87" name="Freeform 60"/>
                  <p:cNvSpPr>
                    <a:spLocks/>
                  </p:cNvSpPr>
                  <p:nvPr/>
                </p:nvSpPr>
                <p:spPr bwMode="auto">
                  <a:xfrm>
                    <a:off x="2265"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88" name="Line 61"/>
                  <p:cNvSpPr>
                    <a:spLocks noChangeShapeType="1"/>
                  </p:cNvSpPr>
                  <p:nvPr/>
                </p:nvSpPr>
                <p:spPr bwMode="auto">
                  <a:xfrm>
                    <a:off x="2269"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89" name="Freeform 62"/>
                  <p:cNvSpPr>
                    <a:spLocks/>
                  </p:cNvSpPr>
                  <p:nvPr/>
                </p:nvSpPr>
                <p:spPr bwMode="auto">
                  <a:xfrm>
                    <a:off x="2269"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90" name="Line 63"/>
                  <p:cNvSpPr>
                    <a:spLocks noChangeShapeType="1"/>
                  </p:cNvSpPr>
                  <p:nvPr/>
                </p:nvSpPr>
                <p:spPr bwMode="auto">
                  <a:xfrm>
                    <a:off x="2273"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91" name="Freeform 64"/>
                  <p:cNvSpPr>
                    <a:spLocks/>
                  </p:cNvSpPr>
                  <p:nvPr/>
                </p:nvSpPr>
                <p:spPr bwMode="auto">
                  <a:xfrm>
                    <a:off x="2273" y="1783"/>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92" name="Line 65"/>
                  <p:cNvSpPr>
                    <a:spLocks noChangeShapeType="1"/>
                  </p:cNvSpPr>
                  <p:nvPr/>
                </p:nvSpPr>
                <p:spPr bwMode="auto">
                  <a:xfrm>
                    <a:off x="2278"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93" name="Line 66"/>
                  <p:cNvSpPr>
                    <a:spLocks noChangeShapeType="1"/>
                  </p:cNvSpPr>
                  <p:nvPr/>
                </p:nvSpPr>
                <p:spPr bwMode="auto">
                  <a:xfrm>
                    <a:off x="2282"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94" name="Freeform 67"/>
                  <p:cNvSpPr>
                    <a:spLocks/>
                  </p:cNvSpPr>
                  <p:nvPr/>
                </p:nvSpPr>
                <p:spPr bwMode="auto">
                  <a:xfrm>
                    <a:off x="2282"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295" name="Line 68"/>
                  <p:cNvSpPr>
                    <a:spLocks noChangeShapeType="1"/>
                  </p:cNvSpPr>
                  <p:nvPr/>
                </p:nvSpPr>
                <p:spPr bwMode="auto">
                  <a:xfrm>
                    <a:off x="2286"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96" name="Line 69"/>
                  <p:cNvSpPr>
                    <a:spLocks noChangeShapeType="1"/>
                  </p:cNvSpPr>
                  <p:nvPr/>
                </p:nvSpPr>
                <p:spPr bwMode="auto">
                  <a:xfrm>
                    <a:off x="2286"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97" name="Line 70"/>
                  <p:cNvSpPr>
                    <a:spLocks noChangeShapeType="1"/>
                  </p:cNvSpPr>
                  <p:nvPr/>
                </p:nvSpPr>
                <p:spPr bwMode="auto">
                  <a:xfrm>
                    <a:off x="2291"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98" name="Line 71"/>
                  <p:cNvSpPr>
                    <a:spLocks noChangeShapeType="1"/>
                  </p:cNvSpPr>
                  <p:nvPr/>
                </p:nvSpPr>
                <p:spPr bwMode="auto">
                  <a:xfrm>
                    <a:off x="2295"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99" name="Freeform 72"/>
                  <p:cNvSpPr>
                    <a:spLocks/>
                  </p:cNvSpPr>
                  <p:nvPr/>
                </p:nvSpPr>
                <p:spPr bwMode="auto">
                  <a:xfrm>
                    <a:off x="2295"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00" name="Line 73"/>
                  <p:cNvSpPr>
                    <a:spLocks noChangeShapeType="1"/>
                  </p:cNvSpPr>
                  <p:nvPr/>
                </p:nvSpPr>
                <p:spPr bwMode="auto">
                  <a:xfrm>
                    <a:off x="2299"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01" name="Freeform 74"/>
                  <p:cNvSpPr>
                    <a:spLocks/>
                  </p:cNvSpPr>
                  <p:nvPr/>
                </p:nvSpPr>
                <p:spPr bwMode="auto">
                  <a:xfrm>
                    <a:off x="2299"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02" name="Line 75"/>
                  <p:cNvSpPr>
                    <a:spLocks noChangeShapeType="1"/>
                  </p:cNvSpPr>
                  <p:nvPr/>
                </p:nvSpPr>
                <p:spPr bwMode="auto">
                  <a:xfrm>
                    <a:off x="230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03" name="Line 76"/>
                  <p:cNvSpPr>
                    <a:spLocks noChangeShapeType="1"/>
                  </p:cNvSpPr>
                  <p:nvPr/>
                </p:nvSpPr>
                <p:spPr bwMode="auto">
                  <a:xfrm>
                    <a:off x="2304"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04" name="Line 77"/>
                  <p:cNvSpPr>
                    <a:spLocks noChangeShapeType="1"/>
                  </p:cNvSpPr>
                  <p:nvPr/>
                </p:nvSpPr>
                <p:spPr bwMode="auto">
                  <a:xfrm>
                    <a:off x="2308"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05" name="Line 78"/>
                  <p:cNvSpPr>
                    <a:spLocks noChangeShapeType="1"/>
                  </p:cNvSpPr>
                  <p:nvPr/>
                </p:nvSpPr>
                <p:spPr bwMode="auto">
                  <a:xfrm>
                    <a:off x="2312"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06" name="Freeform 79"/>
                  <p:cNvSpPr>
                    <a:spLocks/>
                  </p:cNvSpPr>
                  <p:nvPr/>
                </p:nvSpPr>
                <p:spPr bwMode="auto">
                  <a:xfrm>
                    <a:off x="2312"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07" name="Line 80"/>
                  <p:cNvSpPr>
                    <a:spLocks noChangeShapeType="1"/>
                  </p:cNvSpPr>
                  <p:nvPr/>
                </p:nvSpPr>
                <p:spPr bwMode="auto">
                  <a:xfrm>
                    <a:off x="2317"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08" name="Line 81"/>
                  <p:cNvSpPr>
                    <a:spLocks noChangeShapeType="1"/>
                  </p:cNvSpPr>
                  <p:nvPr/>
                </p:nvSpPr>
                <p:spPr bwMode="auto">
                  <a:xfrm>
                    <a:off x="2317"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09" name="Line 82"/>
                  <p:cNvSpPr>
                    <a:spLocks noChangeShapeType="1"/>
                  </p:cNvSpPr>
                  <p:nvPr/>
                </p:nvSpPr>
                <p:spPr bwMode="auto">
                  <a:xfrm>
                    <a:off x="2321"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10" name="Line 83"/>
                  <p:cNvSpPr>
                    <a:spLocks noChangeShapeType="1"/>
                  </p:cNvSpPr>
                  <p:nvPr/>
                </p:nvSpPr>
                <p:spPr bwMode="auto">
                  <a:xfrm>
                    <a:off x="2325"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11" name="Freeform 84"/>
                  <p:cNvSpPr>
                    <a:spLocks/>
                  </p:cNvSpPr>
                  <p:nvPr/>
                </p:nvSpPr>
                <p:spPr bwMode="auto">
                  <a:xfrm>
                    <a:off x="2325"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12" name="Line 85"/>
                  <p:cNvSpPr>
                    <a:spLocks noChangeShapeType="1"/>
                  </p:cNvSpPr>
                  <p:nvPr/>
                </p:nvSpPr>
                <p:spPr bwMode="auto">
                  <a:xfrm>
                    <a:off x="2330"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13" name="Freeform 86"/>
                  <p:cNvSpPr>
                    <a:spLocks/>
                  </p:cNvSpPr>
                  <p:nvPr/>
                </p:nvSpPr>
                <p:spPr bwMode="auto">
                  <a:xfrm>
                    <a:off x="2330"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14" name="Line 87"/>
                  <p:cNvSpPr>
                    <a:spLocks noChangeShapeType="1"/>
                  </p:cNvSpPr>
                  <p:nvPr/>
                </p:nvSpPr>
                <p:spPr bwMode="auto">
                  <a:xfrm>
                    <a:off x="233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15" name="Line 88"/>
                  <p:cNvSpPr>
                    <a:spLocks noChangeShapeType="1"/>
                  </p:cNvSpPr>
                  <p:nvPr/>
                </p:nvSpPr>
                <p:spPr bwMode="auto">
                  <a:xfrm>
                    <a:off x="2334"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16" name="Line 89"/>
                  <p:cNvSpPr>
                    <a:spLocks noChangeShapeType="1"/>
                  </p:cNvSpPr>
                  <p:nvPr/>
                </p:nvSpPr>
                <p:spPr bwMode="auto">
                  <a:xfrm>
                    <a:off x="2338"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17" name="Line 90"/>
                  <p:cNvSpPr>
                    <a:spLocks noChangeShapeType="1"/>
                  </p:cNvSpPr>
                  <p:nvPr/>
                </p:nvSpPr>
                <p:spPr bwMode="auto">
                  <a:xfrm>
                    <a:off x="2343"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18" name="Freeform 91"/>
                  <p:cNvSpPr>
                    <a:spLocks/>
                  </p:cNvSpPr>
                  <p:nvPr/>
                </p:nvSpPr>
                <p:spPr bwMode="auto">
                  <a:xfrm>
                    <a:off x="2343"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19" name="Line 92"/>
                  <p:cNvSpPr>
                    <a:spLocks noChangeShapeType="1"/>
                  </p:cNvSpPr>
                  <p:nvPr/>
                </p:nvSpPr>
                <p:spPr bwMode="auto">
                  <a:xfrm>
                    <a:off x="2347"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20" name="Line 93"/>
                  <p:cNvSpPr>
                    <a:spLocks noChangeShapeType="1"/>
                  </p:cNvSpPr>
                  <p:nvPr/>
                </p:nvSpPr>
                <p:spPr bwMode="auto">
                  <a:xfrm>
                    <a:off x="2347"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21" name="Line 94"/>
                  <p:cNvSpPr>
                    <a:spLocks noChangeShapeType="1"/>
                  </p:cNvSpPr>
                  <p:nvPr/>
                </p:nvSpPr>
                <p:spPr bwMode="auto">
                  <a:xfrm>
                    <a:off x="2351"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22" name="Line 95"/>
                  <p:cNvSpPr>
                    <a:spLocks noChangeShapeType="1"/>
                  </p:cNvSpPr>
                  <p:nvPr/>
                </p:nvSpPr>
                <p:spPr bwMode="auto">
                  <a:xfrm>
                    <a:off x="2356"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23" name="Freeform 96"/>
                  <p:cNvSpPr>
                    <a:spLocks/>
                  </p:cNvSpPr>
                  <p:nvPr/>
                </p:nvSpPr>
                <p:spPr bwMode="auto">
                  <a:xfrm>
                    <a:off x="2356"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24" name="Freeform 97"/>
                  <p:cNvSpPr>
                    <a:spLocks/>
                  </p:cNvSpPr>
                  <p:nvPr/>
                </p:nvSpPr>
                <p:spPr bwMode="auto">
                  <a:xfrm>
                    <a:off x="2360" y="1778"/>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25" name="Freeform 98"/>
                  <p:cNvSpPr>
                    <a:spLocks/>
                  </p:cNvSpPr>
                  <p:nvPr/>
                </p:nvSpPr>
                <p:spPr bwMode="auto">
                  <a:xfrm>
                    <a:off x="2360" y="177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26" name="Line 99"/>
                  <p:cNvSpPr>
                    <a:spLocks noChangeShapeType="1"/>
                  </p:cNvSpPr>
                  <p:nvPr/>
                </p:nvSpPr>
                <p:spPr bwMode="auto">
                  <a:xfrm>
                    <a:off x="2364" y="177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27" name="Line 100"/>
                  <p:cNvSpPr>
                    <a:spLocks noChangeShapeType="1"/>
                  </p:cNvSpPr>
                  <p:nvPr/>
                </p:nvSpPr>
                <p:spPr bwMode="auto">
                  <a:xfrm>
                    <a:off x="2364" y="177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28" name="Line 101"/>
                  <p:cNvSpPr>
                    <a:spLocks noChangeShapeType="1"/>
                  </p:cNvSpPr>
                  <p:nvPr/>
                </p:nvSpPr>
                <p:spPr bwMode="auto">
                  <a:xfrm>
                    <a:off x="2369" y="1778"/>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29" name="Line 102"/>
                  <p:cNvSpPr>
                    <a:spLocks noChangeShapeType="1"/>
                  </p:cNvSpPr>
                  <p:nvPr/>
                </p:nvSpPr>
                <p:spPr bwMode="auto">
                  <a:xfrm>
                    <a:off x="2373" y="177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30" name="Freeform 103"/>
                  <p:cNvSpPr>
                    <a:spLocks/>
                  </p:cNvSpPr>
                  <p:nvPr/>
                </p:nvSpPr>
                <p:spPr bwMode="auto">
                  <a:xfrm>
                    <a:off x="2373" y="177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31" name="Line 104"/>
                  <p:cNvSpPr>
                    <a:spLocks noChangeShapeType="1"/>
                  </p:cNvSpPr>
                  <p:nvPr/>
                </p:nvSpPr>
                <p:spPr bwMode="auto">
                  <a:xfrm>
                    <a:off x="2377" y="177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32" name="Line 105"/>
                  <p:cNvSpPr>
                    <a:spLocks noChangeShapeType="1"/>
                  </p:cNvSpPr>
                  <p:nvPr/>
                </p:nvSpPr>
                <p:spPr bwMode="auto">
                  <a:xfrm>
                    <a:off x="2377" y="177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33" name="Line 106"/>
                  <p:cNvSpPr>
                    <a:spLocks noChangeShapeType="1"/>
                  </p:cNvSpPr>
                  <p:nvPr/>
                </p:nvSpPr>
                <p:spPr bwMode="auto">
                  <a:xfrm>
                    <a:off x="2382" y="1778"/>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34" name="Line 107"/>
                  <p:cNvSpPr>
                    <a:spLocks noChangeShapeType="1"/>
                  </p:cNvSpPr>
                  <p:nvPr/>
                </p:nvSpPr>
                <p:spPr bwMode="auto">
                  <a:xfrm>
                    <a:off x="2386" y="177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35" name="Freeform 108"/>
                  <p:cNvSpPr>
                    <a:spLocks/>
                  </p:cNvSpPr>
                  <p:nvPr/>
                </p:nvSpPr>
                <p:spPr bwMode="auto">
                  <a:xfrm>
                    <a:off x="2386" y="177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36" name="Line 109"/>
                  <p:cNvSpPr>
                    <a:spLocks noChangeShapeType="1"/>
                  </p:cNvSpPr>
                  <p:nvPr/>
                </p:nvSpPr>
                <p:spPr bwMode="auto">
                  <a:xfrm>
                    <a:off x="2390" y="177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37" name="Freeform 110"/>
                  <p:cNvSpPr>
                    <a:spLocks/>
                  </p:cNvSpPr>
                  <p:nvPr/>
                </p:nvSpPr>
                <p:spPr bwMode="auto">
                  <a:xfrm>
                    <a:off x="2390" y="1778"/>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38" name="Line 111"/>
                  <p:cNvSpPr>
                    <a:spLocks noChangeShapeType="1"/>
                  </p:cNvSpPr>
                  <p:nvPr/>
                </p:nvSpPr>
                <p:spPr bwMode="auto">
                  <a:xfrm>
                    <a:off x="2395" y="177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39" name="Line 112"/>
                  <p:cNvSpPr>
                    <a:spLocks noChangeShapeType="1"/>
                  </p:cNvSpPr>
                  <p:nvPr/>
                </p:nvSpPr>
                <p:spPr bwMode="auto">
                  <a:xfrm>
                    <a:off x="2395" y="1778"/>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40" name="Line 113"/>
                  <p:cNvSpPr>
                    <a:spLocks noChangeShapeType="1"/>
                  </p:cNvSpPr>
                  <p:nvPr/>
                </p:nvSpPr>
                <p:spPr bwMode="auto">
                  <a:xfrm>
                    <a:off x="2399" y="1778"/>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41" name="Freeform 114"/>
                  <p:cNvSpPr>
                    <a:spLocks/>
                  </p:cNvSpPr>
                  <p:nvPr/>
                </p:nvSpPr>
                <p:spPr bwMode="auto">
                  <a:xfrm>
                    <a:off x="2403" y="1774"/>
                    <a:ext cx="0" cy="4"/>
                  </a:xfrm>
                  <a:custGeom>
                    <a:avLst/>
                    <a:gdLst>
                      <a:gd name="T0" fmla="*/ 4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42" name="Freeform 115"/>
                  <p:cNvSpPr>
                    <a:spLocks/>
                  </p:cNvSpPr>
                  <p:nvPr/>
                </p:nvSpPr>
                <p:spPr bwMode="auto">
                  <a:xfrm>
                    <a:off x="2403" y="1774"/>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43" name="Line 116"/>
                  <p:cNvSpPr>
                    <a:spLocks noChangeShapeType="1"/>
                  </p:cNvSpPr>
                  <p:nvPr/>
                </p:nvSpPr>
                <p:spPr bwMode="auto">
                  <a:xfrm>
                    <a:off x="2408"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44" name="Line 117"/>
                  <p:cNvSpPr>
                    <a:spLocks noChangeShapeType="1"/>
                  </p:cNvSpPr>
                  <p:nvPr/>
                </p:nvSpPr>
                <p:spPr bwMode="auto">
                  <a:xfrm>
                    <a:off x="2408"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45" name="Line 118"/>
                  <p:cNvSpPr>
                    <a:spLocks noChangeShapeType="1"/>
                  </p:cNvSpPr>
                  <p:nvPr/>
                </p:nvSpPr>
                <p:spPr bwMode="auto">
                  <a:xfrm>
                    <a:off x="2412"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46" name="Line 119"/>
                  <p:cNvSpPr>
                    <a:spLocks noChangeShapeType="1"/>
                  </p:cNvSpPr>
                  <p:nvPr/>
                </p:nvSpPr>
                <p:spPr bwMode="auto">
                  <a:xfrm>
                    <a:off x="2416"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47" name="Freeform 120"/>
                  <p:cNvSpPr>
                    <a:spLocks/>
                  </p:cNvSpPr>
                  <p:nvPr/>
                </p:nvSpPr>
                <p:spPr bwMode="auto">
                  <a:xfrm>
                    <a:off x="2416" y="1774"/>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48" name="Line 121"/>
                  <p:cNvSpPr>
                    <a:spLocks noChangeShapeType="1"/>
                  </p:cNvSpPr>
                  <p:nvPr/>
                </p:nvSpPr>
                <p:spPr bwMode="auto">
                  <a:xfrm>
                    <a:off x="2421"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49" name="Freeform 122"/>
                  <p:cNvSpPr>
                    <a:spLocks/>
                  </p:cNvSpPr>
                  <p:nvPr/>
                </p:nvSpPr>
                <p:spPr bwMode="auto">
                  <a:xfrm>
                    <a:off x="2421"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50" name="Line 123"/>
                  <p:cNvSpPr>
                    <a:spLocks noChangeShapeType="1"/>
                  </p:cNvSpPr>
                  <p:nvPr/>
                </p:nvSpPr>
                <p:spPr bwMode="auto">
                  <a:xfrm>
                    <a:off x="2425"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51" name="Line 124"/>
                  <p:cNvSpPr>
                    <a:spLocks noChangeShapeType="1"/>
                  </p:cNvSpPr>
                  <p:nvPr/>
                </p:nvSpPr>
                <p:spPr bwMode="auto">
                  <a:xfrm>
                    <a:off x="2425"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52" name="Freeform 125"/>
                  <p:cNvSpPr>
                    <a:spLocks/>
                  </p:cNvSpPr>
                  <p:nvPr/>
                </p:nvSpPr>
                <p:spPr bwMode="auto">
                  <a:xfrm>
                    <a:off x="2429" y="1770"/>
                    <a:ext cx="5" cy="4"/>
                  </a:xfrm>
                  <a:custGeom>
                    <a:avLst/>
                    <a:gdLst>
                      <a:gd name="T0" fmla="*/ 0 w 5"/>
                      <a:gd name="T1" fmla="*/ 4 h 4"/>
                      <a:gd name="T2" fmla="*/ 5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53" name="Line 126"/>
                  <p:cNvSpPr>
                    <a:spLocks noChangeShapeType="1"/>
                  </p:cNvSpPr>
                  <p:nvPr/>
                </p:nvSpPr>
                <p:spPr bwMode="auto">
                  <a:xfrm>
                    <a:off x="2434"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54" name="Freeform 127"/>
                  <p:cNvSpPr>
                    <a:spLocks/>
                  </p:cNvSpPr>
                  <p:nvPr/>
                </p:nvSpPr>
                <p:spPr bwMode="auto">
                  <a:xfrm>
                    <a:off x="2434" y="177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55" name="Line 128"/>
                  <p:cNvSpPr>
                    <a:spLocks noChangeShapeType="1"/>
                  </p:cNvSpPr>
                  <p:nvPr/>
                </p:nvSpPr>
                <p:spPr bwMode="auto">
                  <a:xfrm>
                    <a:off x="2438"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56" name="Line 129"/>
                  <p:cNvSpPr>
                    <a:spLocks noChangeShapeType="1"/>
                  </p:cNvSpPr>
                  <p:nvPr/>
                </p:nvSpPr>
                <p:spPr bwMode="auto">
                  <a:xfrm>
                    <a:off x="2438" y="1770"/>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57" name="Line 130"/>
                  <p:cNvSpPr>
                    <a:spLocks noChangeShapeType="1"/>
                  </p:cNvSpPr>
                  <p:nvPr/>
                </p:nvSpPr>
                <p:spPr bwMode="auto">
                  <a:xfrm>
                    <a:off x="2443" y="17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58" name="Line 131"/>
                  <p:cNvSpPr>
                    <a:spLocks noChangeShapeType="1"/>
                  </p:cNvSpPr>
                  <p:nvPr/>
                </p:nvSpPr>
                <p:spPr bwMode="auto">
                  <a:xfrm>
                    <a:off x="2447"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59" name="Freeform 132"/>
                  <p:cNvSpPr>
                    <a:spLocks/>
                  </p:cNvSpPr>
                  <p:nvPr/>
                </p:nvSpPr>
                <p:spPr bwMode="auto">
                  <a:xfrm>
                    <a:off x="2447" y="177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60" name="Line 133"/>
                  <p:cNvSpPr>
                    <a:spLocks noChangeShapeType="1"/>
                  </p:cNvSpPr>
                  <p:nvPr/>
                </p:nvSpPr>
                <p:spPr bwMode="auto">
                  <a:xfrm>
                    <a:off x="2451"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61" name="Freeform 134"/>
                  <p:cNvSpPr>
                    <a:spLocks/>
                  </p:cNvSpPr>
                  <p:nvPr/>
                </p:nvSpPr>
                <p:spPr bwMode="auto">
                  <a:xfrm>
                    <a:off x="2451" y="1765"/>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62" name="Line 135"/>
                  <p:cNvSpPr>
                    <a:spLocks noChangeShapeType="1"/>
                  </p:cNvSpPr>
                  <p:nvPr/>
                </p:nvSpPr>
                <p:spPr bwMode="auto">
                  <a:xfrm>
                    <a:off x="2456" y="176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63" name="Line 136"/>
                  <p:cNvSpPr>
                    <a:spLocks noChangeShapeType="1"/>
                  </p:cNvSpPr>
                  <p:nvPr/>
                </p:nvSpPr>
                <p:spPr bwMode="auto">
                  <a:xfrm>
                    <a:off x="2456" y="1765"/>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64" name="Line 137"/>
                  <p:cNvSpPr>
                    <a:spLocks noChangeShapeType="1"/>
                  </p:cNvSpPr>
                  <p:nvPr/>
                </p:nvSpPr>
                <p:spPr bwMode="auto">
                  <a:xfrm>
                    <a:off x="2460" y="1765"/>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65" name="Line 138"/>
                  <p:cNvSpPr>
                    <a:spLocks noChangeShapeType="1"/>
                  </p:cNvSpPr>
                  <p:nvPr/>
                </p:nvSpPr>
                <p:spPr bwMode="auto">
                  <a:xfrm>
                    <a:off x="2464" y="176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66" name="Freeform 139"/>
                  <p:cNvSpPr>
                    <a:spLocks/>
                  </p:cNvSpPr>
                  <p:nvPr/>
                </p:nvSpPr>
                <p:spPr bwMode="auto">
                  <a:xfrm>
                    <a:off x="2464" y="1765"/>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67" name="Line 140"/>
                  <p:cNvSpPr>
                    <a:spLocks noChangeShapeType="1"/>
                  </p:cNvSpPr>
                  <p:nvPr/>
                </p:nvSpPr>
                <p:spPr bwMode="auto">
                  <a:xfrm>
                    <a:off x="2469" y="176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68" name="Freeform 141"/>
                  <p:cNvSpPr>
                    <a:spLocks/>
                  </p:cNvSpPr>
                  <p:nvPr/>
                </p:nvSpPr>
                <p:spPr bwMode="auto">
                  <a:xfrm>
                    <a:off x="2469" y="1761"/>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69" name="Line 142"/>
                  <p:cNvSpPr>
                    <a:spLocks noChangeShapeType="1"/>
                  </p:cNvSpPr>
                  <p:nvPr/>
                </p:nvSpPr>
                <p:spPr bwMode="auto">
                  <a:xfrm>
                    <a:off x="2473" y="1761"/>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70" name="Line 143"/>
                  <p:cNvSpPr>
                    <a:spLocks noChangeShapeType="1"/>
                  </p:cNvSpPr>
                  <p:nvPr/>
                </p:nvSpPr>
                <p:spPr bwMode="auto">
                  <a:xfrm>
                    <a:off x="2477"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71" name="Freeform 144"/>
                  <p:cNvSpPr>
                    <a:spLocks/>
                  </p:cNvSpPr>
                  <p:nvPr/>
                </p:nvSpPr>
                <p:spPr bwMode="auto">
                  <a:xfrm>
                    <a:off x="2477" y="17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72" name="Line 145"/>
                  <p:cNvSpPr>
                    <a:spLocks noChangeShapeType="1"/>
                  </p:cNvSpPr>
                  <p:nvPr/>
                </p:nvSpPr>
                <p:spPr bwMode="auto">
                  <a:xfrm>
                    <a:off x="2482"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73" name="Freeform 146"/>
                  <p:cNvSpPr>
                    <a:spLocks/>
                  </p:cNvSpPr>
                  <p:nvPr/>
                </p:nvSpPr>
                <p:spPr bwMode="auto">
                  <a:xfrm>
                    <a:off x="2482" y="176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74" name="Freeform 147"/>
                  <p:cNvSpPr>
                    <a:spLocks/>
                  </p:cNvSpPr>
                  <p:nvPr/>
                </p:nvSpPr>
                <p:spPr bwMode="auto">
                  <a:xfrm>
                    <a:off x="2486" y="1757"/>
                    <a:ext cx="0" cy="4"/>
                  </a:xfrm>
                  <a:custGeom>
                    <a:avLst/>
                    <a:gdLst>
                      <a:gd name="T0" fmla="*/ 4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75" name="Line 148"/>
                  <p:cNvSpPr>
                    <a:spLocks noChangeShapeType="1"/>
                  </p:cNvSpPr>
                  <p:nvPr/>
                </p:nvSpPr>
                <p:spPr bwMode="auto">
                  <a:xfrm>
                    <a:off x="2486" y="175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76" name="Line 149"/>
                  <p:cNvSpPr>
                    <a:spLocks noChangeShapeType="1"/>
                  </p:cNvSpPr>
                  <p:nvPr/>
                </p:nvSpPr>
                <p:spPr bwMode="auto">
                  <a:xfrm>
                    <a:off x="2490" y="1757"/>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77" name="Line 150"/>
                  <p:cNvSpPr>
                    <a:spLocks noChangeShapeType="1"/>
                  </p:cNvSpPr>
                  <p:nvPr/>
                </p:nvSpPr>
                <p:spPr bwMode="auto">
                  <a:xfrm>
                    <a:off x="2495" y="175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78" name="Freeform 151"/>
                  <p:cNvSpPr>
                    <a:spLocks/>
                  </p:cNvSpPr>
                  <p:nvPr/>
                </p:nvSpPr>
                <p:spPr bwMode="auto">
                  <a:xfrm>
                    <a:off x="2495" y="175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79" name="Line 152"/>
                  <p:cNvSpPr>
                    <a:spLocks noChangeShapeType="1"/>
                  </p:cNvSpPr>
                  <p:nvPr/>
                </p:nvSpPr>
                <p:spPr bwMode="auto">
                  <a:xfrm>
                    <a:off x="2499" y="175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80" name="Freeform 153"/>
                  <p:cNvSpPr>
                    <a:spLocks/>
                  </p:cNvSpPr>
                  <p:nvPr/>
                </p:nvSpPr>
                <p:spPr bwMode="auto">
                  <a:xfrm>
                    <a:off x="2499" y="1752"/>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81" name="Line 154"/>
                  <p:cNvSpPr>
                    <a:spLocks noChangeShapeType="1"/>
                  </p:cNvSpPr>
                  <p:nvPr/>
                </p:nvSpPr>
                <p:spPr bwMode="auto">
                  <a:xfrm>
                    <a:off x="2503" y="1752"/>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82" name="Line 155"/>
                  <p:cNvSpPr>
                    <a:spLocks noChangeShapeType="1"/>
                  </p:cNvSpPr>
                  <p:nvPr/>
                </p:nvSpPr>
                <p:spPr bwMode="auto">
                  <a:xfrm>
                    <a:off x="2508" y="175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83" name="Freeform 156"/>
                  <p:cNvSpPr>
                    <a:spLocks/>
                  </p:cNvSpPr>
                  <p:nvPr/>
                </p:nvSpPr>
                <p:spPr bwMode="auto">
                  <a:xfrm>
                    <a:off x="2508" y="1752"/>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84" name="Line 157"/>
                  <p:cNvSpPr>
                    <a:spLocks noChangeShapeType="1"/>
                  </p:cNvSpPr>
                  <p:nvPr/>
                </p:nvSpPr>
                <p:spPr bwMode="auto">
                  <a:xfrm>
                    <a:off x="2512" y="175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85" name="Freeform 158"/>
                  <p:cNvSpPr>
                    <a:spLocks/>
                  </p:cNvSpPr>
                  <p:nvPr/>
                </p:nvSpPr>
                <p:spPr bwMode="auto">
                  <a:xfrm>
                    <a:off x="2512" y="174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86" name="Line 159"/>
                  <p:cNvSpPr>
                    <a:spLocks noChangeShapeType="1"/>
                  </p:cNvSpPr>
                  <p:nvPr/>
                </p:nvSpPr>
                <p:spPr bwMode="auto">
                  <a:xfrm>
                    <a:off x="2516" y="17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87" name="Line 160"/>
                  <p:cNvSpPr>
                    <a:spLocks noChangeShapeType="1"/>
                  </p:cNvSpPr>
                  <p:nvPr/>
                </p:nvSpPr>
                <p:spPr bwMode="auto">
                  <a:xfrm>
                    <a:off x="2516" y="17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88" name="Line 161"/>
                  <p:cNvSpPr>
                    <a:spLocks noChangeShapeType="1"/>
                  </p:cNvSpPr>
                  <p:nvPr/>
                </p:nvSpPr>
                <p:spPr bwMode="auto">
                  <a:xfrm>
                    <a:off x="2521" y="1748"/>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89" name="Freeform 162"/>
                  <p:cNvSpPr>
                    <a:spLocks/>
                  </p:cNvSpPr>
                  <p:nvPr/>
                </p:nvSpPr>
                <p:spPr bwMode="auto">
                  <a:xfrm>
                    <a:off x="2525" y="1744"/>
                    <a:ext cx="0" cy="4"/>
                  </a:xfrm>
                  <a:custGeom>
                    <a:avLst/>
                    <a:gdLst>
                      <a:gd name="T0" fmla="*/ 4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90" name="Freeform 163"/>
                  <p:cNvSpPr>
                    <a:spLocks/>
                  </p:cNvSpPr>
                  <p:nvPr/>
                </p:nvSpPr>
                <p:spPr bwMode="auto">
                  <a:xfrm>
                    <a:off x="2525" y="174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91" name="Line 164"/>
                  <p:cNvSpPr>
                    <a:spLocks noChangeShapeType="1"/>
                  </p:cNvSpPr>
                  <p:nvPr/>
                </p:nvSpPr>
                <p:spPr bwMode="auto">
                  <a:xfrm>
                    <a:off x="2529" y="174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92" name="Line 165"/>
                  <p:cNvSpPr>
                    <a:spLocks noChangeShapeType="1"/>
                  </p:cNvSpPr>
                  <p:nvPr/>
                </p:nvSpPr>
                <p:spPr bwMode="auto">
                  <a:xfrm>
                    <a:off x="2529" y="174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93" name="Freeform 166"/>
                  <p:cNvSpPr>
                    <a:spLocks/>
                  </p:cNvSpPr>
                  <p:nvPr/>
                </p:nvSpPr>
                <p:spPr bwMode="auto">
                  <a:xfrm>
                    <a:off x="2534" y="1739"/>
                    <a:ext cx="4" cy="5"/>
                  </a:xfrm>
                  <a:custGeom>
                    <a:avLst/>
                    <a:gdLst>
                      <a:gd name="T0" fmla="*/ 0 w 4"/>
                      <a:gd name="T1" fmla="*/ 5 h 5"/>
                      <a:gd name="T2" fmla="*/ 4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94" name="Line 167"/>
                  <p:cNvSpPr>
                    <a:spLocks noChangeShapeType="1"/>
                  </p:cNvSpPr>
                  <p:nvPr/>
                </p:nvSpPr>
                <p:spPr bwMode="auto">
                  <a:xfrm>
                    <a:off x="2538" y="173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95" name="Freeform 168"/>
                  <p:cNvSpPr>
                    <a:spLocks/>
                  </p:cNvSpPr>
                  <p:nvPr/>
                </p:nvSpPr>
                <p:spPr bwMode="auto">
                  <a:xfrm>
                    <a:off x="2538" y="173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96" name="Line 169"/>
                  <p:cNvSpPr>
                    <a:spLocks noChangeShapeType="1"/>
                  </p:cNvSpPr>
                  <p:nvPr/>
                </p:nvSpPr>
                <p:spPr bwMode="auto">
                  <a:xfrm>
                    <a:off x="2542" y="173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97" name="Freeform 170"/>
                  <p:cNvSpPr>
                    <a:spLocks/>
                  </p:cNvSpPr>
                  <p:nvPr/>
                </p:nvSpPr>
                <p:spPr bwMode="auto">
                  <a:xfrm>
                    <a:off x="2542" y="1735"/>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398" name="Line 171"/>
                  <p:cNvSpPr>
                    <a:spLocks noChangeShapeType="1"/>
                  </p:cNvSpPr>
                  <p:nvPr/>
                </p:nvSpPr>
                <p:spPr bwMode="auto">
                  <a:xfrm>
                    <a:off x="2547" y="1735"/>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399" name="Line 172"/>
                  <p:cNvSpPr>
                    <a:spLocks noChangeShapeType="1"/>
                  </p:cNvSpPr>
                  <p:nvPr/>
                </p:nvSpPr>
                <p:spPr bwMode="auto">
                  <a:xfrm>
                    <a:off x="2551" y="173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00" name="Freeform 173"/>
                  <p:cNvSpPr>
                    <a:spLocks/>
                  </p:cNvSpPr>
                  <p:nvPr/>
                </p:nvSpPr>
                <p:spPr bwMode="auto">
                  <a:xfrm>
                    <a:off x="2551" y="1731"/>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01" name="Line 174"/>
                  <p:cNvSpPr>
                    <a:spLocks noChangeShapeType="1"/>
                  </p:cNvSpPr>
                  <p:nvPr/>
                </p:nvSpPr>
                <p:spPr bwMode="auto">
                  <a:xfrm>
                    <a:off x="2555" y="173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02" name="Freeform 175"/>
                  <p:cNvSpPr>
                    <a:spLocks/>
                  </p:cNvSpPr>
                  <p:nvPr/>
                </p:nvSpPr>
                <p:spPr bwMode="auto">
                  <a:xfrm>
                    <a:off x="2555" y="173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03" name="Freeform 176"/>
                  <p:cNvSpPr>
                    <a:spLocks/>
                  </p:cNvSpPr>
                  <p:nvPr/>
                </p:nvSpPr>
                <p:spPr bwMode="auto">
                  <a:xfrm>
                    <a:off x="2560" y="1726"/>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04" name="Line 177"/>
                  <p:cNvSpPr>
                    <a:spLocks noChangeShapeType="1"/>
                  </p:cNvSpPr>
                  <p:nvPr/>
                </p:nvSpPr>
                <p:spPr bwMode="auto">
                  <a:xfrm>
                    <a:off x="2560" y="172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05" name="Line 178"/>
                  <p:cNvSpPr>
                    <a:spLocks noChangeShapeType="1"/>
                  </p:cNvSpPr>
                  <p:nvPr/>
                </p:nvSpPr>
                <p:spPr bwMode="auto">
                  <a:xfrm>
                    <a:off x="2564" y="172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06" name="Freeform 179"/>
                  <p:cNvSpPr>
                    <a:spLocks/>
                  </p:cNvSpPr>
                  <p:nvPr/>
                </p:nvSpPr>
                <p:spPr bwMode="auto">
                  <a:xfrm>
                    <a:off x="2568" y="1722"/>
                    <a:ext cx="0" cy="4"/>
                  </a:xfrm>
                  <a:custGeom>
                    <a:avLst/>
                    <a:gdLst>
                      <a:gd name="T0" fmla="*/ 4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07" name="Freeform 180"/>
                  <p:cNvSpPr>
                    <a:spLocks/>
                  </p:cNvSpPr>
                  <p:nvPr/>
                </p:nvSpPr>
                <p:spPr bwMode="auto">
                  <a:xfrm>
                    <a:off x="2568" y="1722"/>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08" name="Line 181"/>
                  <p:cNvSpPr>
                    <a:spLocks noChangeShapeType="1"/>
                  </p:cNvSpPr>
                  <p:nvPr/>
                </p:nvSpPr>
                <p:spPr bwMode="auto">
                  <a:xfrm>
                    <a:off x="2573" y="172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09" name="Freeform 182"/>
                  <p:cNvSpPr>
                    <a:spLocks/>
                  </p:cNvSpPr>
                  <p:nvPr/>
                </p:nvSpPr>
                <p:spPr bwMode="auto">
                  <a:xfrm>
                    <a:off x="2573" y="171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10" name="Line 183"/>
                  <p:cNvSpPr>
                    <a:spLocks noChangeShapeType="1"/>
                  </p:cNvSpPr>
                  <p:nvPr/>
                </p:nvSpPr>
                <p:spPr bwMode="auto">
                  <a:xfrm>
                    <a:off x="2577" y="1718"/>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11" name="Line 184"/>
                  <p:cNvSpPr>
                    <a:spLocks noChangeShapeType="1"/>
                  </p:cNvSpPr>
                  <p:nvPr/>
                </p:nvSpPr>
                <p:spPr bwMode="auto">
                  <a:xfrm>
                    <a:off x="2581" y="171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12" name="Freeform 185"/>
                  <p:cNvSpPr>
                    <a:spLocks/>
                  </p:cNvSpPr>
                  <p:nvPr/>
                </p:nvSpPr>
                <p:spPr bwMode="auto">
                  <a:xfrm>
                    <a:off x="2581" y="1713"/>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13" name="Line 186"/>
                  <p:cNvSpPr>
                    <a:spLocks noChangeShapeType="1"/>
                  </p:cNvSpPr>
                  <p:nvPr/>
                </p:nvSpPr>
                <p:spPr bwMode="auto">
                  <a:xfrm>
                    <a:off x="2586" y="171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14" name="Freeform 187"/>
                  <p:cNvSpPr>
                    <a:spLocks/>
                  </p:cNvSpPr>
                  <p:nvPr/>
                </p:nvSpPr>
                <p:spPr bwMode="auto">
                  <a:xfrm>
                    <a:off x="2586" y="1709"/>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15" name="Line 188"/>
                  <p:cNvSpPr>
                    <a:spLocks noChangeShapeType="1"/>
                  </p:cNvSpPr>
                  <p:nvPr/>
                </p:nvSpPr>
                <p:spPr bwMode="auto">
                  <a:xfrm>
                    <a:off x="2590" y="170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16" name="Line 189"/>
                  <p:cNvSpPr>
                    <a:spLocks noChangeShapeType="1"/>
                  </p:cNvSpPr>
                  <p:nvPr/>
                </p:nvSpPr>
                <p:spPr bwMode="auto">
                  <a:xfrm>
                    <a:off x="2590" y="170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17" name="Freeform 190"/>
                  <p:cNvSpPr>
                    <a:spLocks/>
                  </p:cNvSpPr>
                  <p:nvPr/>
                </p:nvSpPr>
                <p:spPr bwMode="auto">
                  <a:xfrm>
                    <a:off x="2594" y="1705"/>
                    <a:ext cx="5" cy="4"/>
                  </a:xfrm>
                  <a:custGeom>
                    <a:avLst/>
                    <a:gdLst>
                      <a:gd name="T0" fmla="*/ 0 w 5"/>
                      <a:gd name="T1" fmla="*/ 4 h 4"/>
                      <a:gd name="T2" fmla="*/ 5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18" name="Line 191"/>
                  <p:cNvSpPr>
                    <a:spLocks noChangeShapeType="1"/>
                  </p:cNvSpPr>
                  <p:nvPr/>
                </p:nvSpPr>
                <p:spPr bwMode="auto">
                  <a:xfrm>
                    <a:off x="2599" y="170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19" name="Freeform 192"/>
                  <p:cNvSpPr>
                    <a:spLocks/>
                  </p:cNvSpPr>
                  <p:nvPr/>
                </p:nvSpPr>
                <p:spPr bwMode="auto">
                  <a:xfrm>
                    <a:off x="2599" y="1700"/>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20" name="Line 193"/>
                  <p:cNvSpPr>
                    <a:spLocks noChangeShapeType="1"/>
                  </p:cNvSpPr>
                  <p:nvPr/>
                </p:nvSpPr>
                <p:spPr bwMode="auto">
                  <a:xfrm>
                    <a:off x="2603" y="170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21" name="Freeform 194"/>
                  <p:cNvSpPr>
                    <a:spLocks/>
                  </p:cNvSpPr>
                  <p:nvPr/>
                </p:nvSpPr>
                <p:spPr bwMode="auto">
                  <a:xfrm>
                    <a:off x="2603" y="1696"/>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22" name="Line 195"/>
                  <p:cNvSpPr>
                    <a:spLocks noChangeShapeType="1"/>
                  </p:cNvSpPr>
                  <p:nvPr/>
                </p:nvSpPr>
                <p:spPr bwMode="auto">
                  <a:xfrm>
                    <a:off x="2607" y="1696"/>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23" name="Freeform 196"/>
                  <p:cNvSpPr>
                    <a:spLocks/>
                  </p:cNvSpPr>
                  <p:nvPr/>
                </p:nvSpPr>
                <p:spPr bwMode="auto">
                  <a:xfrm>
                    <a:off x="2612" y="1691"/>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24" name="Freeform 197"/>
                  <p:cNvSpPr>
                    <a:spLocks/>
                  </p:cNvSpPr>
                  <p:nvPr/>
                </p:nvSpPr>
                <p:spPr bwMode="auto">
                  <a:xfrm>
                    <a:off x="2612" y="169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25" name="Line 198"/>
                  <p:cNvSpPr>
                    <a:spLocks noChangeShapeType="1"/>
                  </p:cNvSpPr>
                  <p:nvPr/>
                </p:nvSpPr>
                <p:spPr bwMode="auto">
                  <a:xfrm>
                    <a:off x="2616" y="169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26" name="Freeform 199"/>
                  <p:cNvSpPr>
                    <a:spLocks/>
                  </p:cNvSpPr>
                  <p:nvPr/>
                </p:nvSpPr>
                <p:spPr bwMode="auto">
                  <a:xfrm>
                    <a:off x="2616" y="1687"/>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27" name="Line 200"/>
                  <p:cNvSpPr>
                    <a:spLocks noChangeShapeType="1"/>
                  </p:cNvSpPr>
                  <p:nvPr/>
                </p:nvSpPr>
                <p:spPr bwMode="auto">
                  <a:xfrm>
                    <a:off x="2621" y="16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28" name="Line 201"/>
                  <p:cNvSpPr>
                    <a:spLocks noChangeShapeType="1"/>
                  </p:cNvSpPr>
                  <p:nvPr/>
                </p:nvSpPr>
                <p:spPr bwMode="auto">
                  <a:xfrm flipV="1">
                    <a:off x="2621" y="168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29" name="Line 202"/>
                  <p:cNvSpPr>
                    <a:spLocks noChangeShapeType="1"/>
                  </p:cNvSpPr>
                  <p:nvPr/>
                </p:nvSpPr>
                <p:spPr bwMode="auto">
                  <a:xfrm flipV="1">
                    <a:off x="2625" y="1678"/>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8430" name="Group 203"/>
                  <p:cNvGrpSpPr>
                    <a:grpSpLocks/>
                  </p:cNvGrpSpPr>
                  <p:nvPr/>
                </p:nvGrpSpPr>
                <p:grpSpPr bwMode="auto">
                  <a:xfrm>
                    <a:off x="2629" y="767"/>
                    <a:ext cx="504" cy="911"/>
                    <a:chOff x="2629" y="763"/>
                    <a:chExt cx="504" cy="911"/>
                  </a:xfrm>
                </p:grpSpPr>
                <p:sp>
                  <p:nvSpPr>
                    <p:cNvPr id="8845" name="Line 204"/>
                    <p:cNvSpPr>
                      <a:spLocks noChangeShapeType="1"/>
                    </p:cNvSpPr>
                    <p:nvPr/>
                  </p:nvSpPr>
                  <p:spPr bwMode="auto">
                    <a:xfrm>
                      <a:off x="2629" y="16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46" name="Freeform 205"/>
                    <p:cNvSpPr>
                      <a:spLocks/>
                    </p:cNvSpPr>
                    <p:nvPr/>
                  </p:nvSpPr>
                  <p:spPr bwMode="auto">
                    <a:xfrm>
                      <a:off x="2629" y="1670"/>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47" name="Line 206"/>
                    <p:cNvSpPr>
                      <a:spLocks noChangeShapeType="1"/>
                    </p:cNvSpPr>
                    <p:nvPr/>
                  </p:nvSpPr>
                  <p:spPr bwMode="auto">
                    <a:xfrm>
                      <a:off x="2634" y="16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48" name="Freeform 207"/>
                    <p:cNvSpPr>
                      <a:spLocks/>
                    </p:cNvSpPr>
                    <p:nvPr/>
                  </p:nvSpPr>
                  <p:spPr bwMode="auto">
                    <a:xfrm>
                      <a:off x="2634" y="1666"/>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49" name="Line 208"/>
                    <p:cNvSpPr>
                      <a:spLocks noChangeShapeType="1"/>
                    </p:cNvSpPr>
                    <p:nvPr/>
                  </p:nvSpPr>
                  <p:spPr bwMode="auto">
                    <a:xfrm>
                      <a:off x="2638" y="166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50" name="Freeform 209"/>
                    <p:cNvSpPr>
                      <a:spLocks/>
                    </p:cNvSpPr>
                    <p:nvPr/>
                  </p:nvSpPr>
                  <p:spPr bwMode="auto">
                    <a:xfrm>
                      <a:off x="2642" y="1661"/>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51" name="Freeform 210"/>
                    <p:cNvSpPr>
                      <a:spLocks/>
                    </p:cNvSpPr>
                    <p:nvPr/>
                  </p:nvSpPr>
                  <p:spPr bwMode="auto">
                    <a:xfrm>
                      <a:off x="2642" y="16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52" name="Line 211"/>
                    <p:cNvSpPr>
                      <a:spLocks noChangeShapeType="1"/>
                    </p:cNvSpPr>
                    <p:nvPr/>
                  </p:nvSpPr>
                  <p:spPr bwMode="auto">
                    <a:xfrm flipV="1">
                      <a:off x="2647" y="165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53" name="Freeform 212"/>
                    <p:cNvSpPr>
                      <a:spLocks/>
                    </p:cNvSpPr>
                    <p:nvPr/>
                  </p:nvSpPr>
                  <p:spPr bwMode="auto">
                    <a:xfrm>
                      <a:off x="2647" y="1653"/>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54" name="Line 213"/>
                    <p:cNvSpPr>
                      <a:spLocks noChangeShapeType="1"/>
                    </p:cNvSpPr>
                    <p:nvPr/>
                  </p:nvSpPr>
                  <p:spPr bwMode="auto">
                    <a:xfrm>
                      <a:off x="2651" y="16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55" name="Freeform 214"/>
                    <p:cNvSpPr>
                      <a:spLocks/>
                    </p:cNvSpPr>
                    <p:nvPr/>
                  </p:nvSpPr>
                  <p:spPr bwMode="auto">
                    <a:xfrm>
                      <a:off x="2651" y="1648"/>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56" name="Line 215"/>
                    <p:cNvSpPr>
                      <a:spLocks noChangeShapeType="1"/>
                    </p:cNvSpPr>
                    <p:nvPr/>
                  </p:nvSpPr>
                  <p:spPr bwMode="auto">
                    <a:xfrm>
                      <a:off x="2655" y="16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57" name="Line 216"/>
                    <p:cNvSpPr>
                      <a:spLocks noChangeShapeType="1"/>
                    </p:cNvSpPr>
                    <p:nvPr/>
                  </p:nvSpPr>
                  <p:spPr bwMode="auto">
                    <a:xfrm flipV="1">
                      <a:off x="2660" y="164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58" name="Freeform 217"/>
                    <p:cNvSpPr>
                      <a:spLocks/>
                    </p:cNvSpPr>
                    <p:nvPr/>
                  </p:nvSpPr>
                  <p:spPr bwMode="auto">
                    <a:xfrm>
                      <a:off x="2660" y="1640"/>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59" name="Line 218"/>
                    <p:cNvSpPr>
                      <a:spLocks noChangeShapeType="1"/>
                    </p:cNvSpPr>
                    <p:nvPr/>
                  </p:nvSpPr>
                  <p:spPr bwMode="auto">
                    <a:xfrm>
                      <a:off x="2664" y="164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60" name="Line 219"/>
                    <p:cNvSpPr>
                      <a:spLocks noChangeShapeType="1"/>
                    </p:cNvSpPr>
                    <p:nvPr/>
                  </p:nvSpPr>
                  <p:spPr bwMode="auto">
                    <a:xfrm flipV="1">
                      <a:off x="2664" y="163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61" name="Line 220"/>
                    <p:cNvSpPr>
                      <a:spLocks noChangeShapeType="1"/>
                    </p:cNvSpPr>
                    <p:nvPr/>
                  </p:nvSpPr>
                  <p:spPr bwMode="auto">
                    <a:xfrm flipV="1">
                      <a:off x="2668" y="1631"/>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62" name="Line 221"/>
                    <p:cNvSpPr>
                      <a:spLocks noChangeShapeType="1"/>
                    </p:cNvSpPr>
                    <p:nvPr/>
                  </p:nvSpPr>
                  <p:spPr bwMode="auto">
                    <a:xfrm>
                      <a:off x="2673" y="163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63" name="Freeform 222"/>
                    <p:cNvSpPr>
                      <a:spLocks/>
                    </p:cNvSpPr>
                    <p:nvPr/>
                  </p:nvSpPr>
                  <p:spPr bwMode="auto">
                    <a:xfrm>
                      <a:off x="2673" y="1627"/>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64" name="Line 223"/>
                    <p:cNvSpPr>
                      <a:spLocks noChangeShapeType="1"/>
                    </p:cNvSpPr>
                    <p:nvPr/>
                  </p:nvSpPr>
                  <p:spPr bwMode="auto">
                    <a:xfrm flipV="1">
                      <a:off x="2677" y="162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65" name="Freeform 224"/>
                    <p:cNvSpPr>
                      <a:spLocks/>
                    </p:cNvSpPr>
                    <p:nvPr/>
                  </p:nvSpPr>
                  <p:spPr bwMode="auto">
                    <a:xfrm>
                      <a:off x="2677" y="161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66" name="Line 225"/>
                    <p:cNvSpPr>
                      <a:spLocks noChangeShapeType="1"/>
                    </p:cNvSpPr>
                    <p:nvPr/>
                  </p:nvSpPr>
                  <p:spPr bwMode="auto">
                    <a:xfrm>
                      <a:off x="2681" y="161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67" name="Line 226"/>
                    <p:cNvSpPr>
                      <a:spLocks noChangeShapeType="1"/>
                    </p:cNvSpPr>
                    <p:nvPr/>
                  </p:nvSpPr>
                  <p:spPr bwMode="auto">
                    <a:xfrm flipV="1">
                      <a:off x="2681" y="161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68" name="Line 227"/>
                    <p:cNvSpPr>
                      <a:spLocks noChangeShapeType="1"/>
                    </p:cNvSpPr>
                    <p:nvPr/>
                  </p:nvSpPr>
                  <p:spPr bwMode="auto">
                    <a:xfrm flipV="1">
                      <a:off x="2686" y="160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69" name="Line 228"/>
                    <p:cNvSpPr>
                      <a:spLocks noChangeShapeType="1"/>
                    </p:cNvSpPr>
                    <p:nvPr/>
                  </p:nvSpPr>
                  <p:spPr bwMode="auto">
                    <a:xfrm>
                      <a:off x="2690" y="160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70" name="Freeform 229"/>
                    <p:cNvSpPr>
                      <a:spLocks/>
                    </p:cNvSpPr>
                    <p:nvPr/>
                  </p:nvSpPr>
                  <p:spPr bwMode="auto">
                    <a:xfrm>
                      <a:off x="2690" y="1605"/>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71" name="Line 230"/>
                    <p:cNvSpPr>
                      <a:spLocks noChangeShapeType="1"/>
                    </p:cNvSpPr>
                    <p:nvPr/>
                  </p:nvSpPr>
                  <p:spPr bwMode="auto">
                    <a:xfrm flipV="1">
                      <a:off x="2694" y="160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72" name="Line 231"/>
                    <p:cNvSpPr>
                      <a:spLocks noChangeShapeType="1"/>
                    </p:cNvSpPr>
                    <p:nvPr/>
                  </p:nvSpPr>
                  <p:spPr bwMode="auto">
                    <a:xfrm flipV="1">
                      <a:off x="2694" y="1596"/>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73" name="Line 232"/>
                    <p:cNvSpPr>
                      <a:spLocks noChangeShapeType="1"/>
                    </p:cNvSpPr>
                    <p:nvPr/>
                  </p:nvSpPr>
                  <p:spPr bwMode="auto">
                    <a:xfrm flipV="1">
                      <a:off x="2699" y="1592"/>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74" name="Line 233"/>
                    <p:cNvSpPr>
                      <a:spLocks noChangeShapeType="1"/>
                    </p:cNvSpPr>
                    <p:nvPr/>
                  </p:nvSpPr>
                  <p:spPr bwMode="auto">
                    <a:xfrm>
                      <a:off x="2703" y="159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75" name="Freeform 234"/>
                    <p:cNvSpPr>
                      <a:spLocks/>
                    </p:cNvSpPr>
                    <p:nvPr/>
                  </p:nvSpPr>
                  <p:spPr bwMode="auto">
                    <a:xfrm>
                      <a:off x="2703" y="1588"/>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76" name="Line 235"/>
                    <p:cNvSpPr>
                      <a:spLocks noChangeShapeType="1"/>
                    </p:cNvSpPr>
                    <p:nvPr/>
                  </p:nvSpPr>
                  <p:spPr bwMode="auto">
                    <a:xfrm flipV="1">
                      <a:off x="2707" y="15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77" name="Freeform 236"/>
                    <p:cNvSpPr>
                      <a:spLocks/>
                    </p:cNvSpPr>
                    <p:nvPr/>
                  </p:nvSpPr>
                  <p:spPr bwMode="auto">
                    <a:xfrm>
                      <a:off x="2707" y="1579"/>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78" name="Line 237"/>
                    <p:cNvSpPr>
                      <a:spLocks noChangeShapeType="1"/>
                    </p:cNvSpPr>
                    <p:nvPr/>
                  </p:nvSpPr>
                  <p:spPr bwMode="auto">
                    <a:xfrm flipV="1">
                      <a:off x="2712" y="15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79" name="Line 238"/>
                    <p:cNvSpPr>
                      <a:spLocks noChangeShapeType="1"/>
                    </p:cNvSpPr>
                    <p:nvPr/>
                  </p:nvSpPr>
                  <p:spPr bwMode="auto">
                    <a:xfrm flipV="1">
                      <a:off x="2712" y="157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80" name="Line 239"/>
                    <p:cNvSpPr>
                      <a:spLocks noChangeShapeType="1"/>
                    </p:cNvSpPr>
                    <p:nvPr/>
                  </p:nvSpPr>
                  <p:spPr bwMode="auto">
                    <a:xfrm>
                      <a:off x="2716" y="15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81" name="Line 240"/>
                    <p:cNvSpPr>
                      <a:spLocks noChangeShapeType="1"/>
                    </p:cNvSpPr>
                    <p:nvPr/>
                  </p:nvSpPr>
                  <p:spPr bwMode="auto">
                    <a:xfrm flipV="1">
                      <a:off x="2720" y="156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82" name="Freeform 241"/>
                    <p:cNvSpPr>
                      <a:spLocks/>
                    </p:cNvSpPr>
                    <p:nvPr/>
                  </p:nvSpPr>
                  <p:spPr bwMode="auto">
                    <a:xfrm>
                      <a:off x="2720" y="1562"/>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83" name="Line 242"/>
                    <p:cNvSpPr>
                      <a:spLocks noChangeShapeType="1"/>
                    </p:cNvSpPr>
                    <p:nvPr/>
                  </p:nvSpPr>
                  <p:spPr bwMode="auto">
                    <a:xfrm flipV="1">
                      <a:off x="2725" y="15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84" name="Line 243"/>
                    <p:cNvSpPr>
                      <a:spLocks noChangeShapeType="1"/>
                    </p:cNvSpPr>
                    <p:nvPr/>
                  </p:nvSpPr>
                  <p:spPr bwMode="auto">
                    <a:xfrm flipV="1">
                      <a:off x="2725" y="155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85" name="Line 244"/>
                    <p:cNvSpPr>
                      <a:spLocks noChangeShapeType="1"/>
                    </p:cNvSpPr>
                    <p:nvPr/>
                  </p:nvSpPr>
                  <p:spPr bwMode="auto">
                    <a:xfrm flipV="1">
                      <a:off x="2729" y="154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86" name="Line 245"/>
                    <p:cNvSpPr>
                      <a:spLocks noChangeShapeType="1"/>
                    </p:cNvSpPr>
                    <p:nvPr/>
                  </p:nvSpPr>
                  <p:spPr bwMode="auto">
                    <a:xfrm flipV="1">
                      <a:off x="2733" y="1544"/>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87" name="Freeform 246"/>
                    <p:cNvSpPr>
                      <a:spLocks/>
                    </p:cNvSpPr>
                    <p:nvPr/>
                  </p:nvSpPr>
                  <p:spPr bwMode="auto">
                    <a:xfrm>
                      <a:off x="2733" y="1540"/>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88" name="Line 247"/>
                    <p:cNvSpPr>
                      <a:spLocks noChangeShapeType="1"/>
                    </p:cNvSpPr>
                    <p:nvPr/>
                  </p:nvSpPr>
                  <p:spPr bwMode="auto">
                    <a:xfrm flipV="1">
                      <a:off x="2738" y="15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89" name="Freeform 248"/>
                    <p:cNvSpPr>
                      <a:spLocks/>
                    </p:cNvSpPr>
                    <p:nvPr/>
                  </p:nvSpPr>
                  <p:spPr bwMode="auto">
                    <a:xfrm>
                      <a:off x="2738" y="1531"/>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90" name="Line 249"/>
                    <p:cNvSpPr>
                      <a:spLocks noChangeShapeType="1"/>
                    </p:cNvSpPr>
                    <p:nvPr/>
                  </p:nvSpPr>
                  <p:spPr bwMode="auto">
                    <a:xfrm flipV="1">
                      <a:off x="2742" y="152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91" name="Line 250"/>
                    <p:cNvSpPr>
                      <a:spLocks noChangeShapeType="1"/>
                    </p:cNvSpPr>
                    <p:nvPr/>
                  </p:nvSpPr>
                  <p:spPr bwMode="auto">
                    <a:xfrm flipV="1">
                      <a:off x="2742" y="152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92" name="Line 251"/>
                    <p:cNvSpPr>
                      <a:spLocks noChangeShapeType="1"/>
                    </p:cNvSpPr>
                    <p:nvPr/>
                  </p:nvSpPr>
                  <p:spPr bwMode="auto">
                    <a:xfrm flipV="1">
                      <a:off x="2746" y="1518"/>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93" name="Line 252"/>
                    <p:cNvSpPr>
                      <a:spLocks noChangeShapeType="1"/>
                    </p:cNvSpPr>
                    <p:nvPr/>
                  </p:nvSpPr>
                  <p:spPr bwMode="auto">
                    <a:xfrm flipV="1">
                      <a:off x="2751" y="15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94" name="Freeform 253"/>
                    <p:cNvSpPr>
                      <a:spLocks/>
                    </p:cNvSpPr>
                    <p:nvPr/>
                  </p:nvSpPr>
                  <p:spPr bwMode="auto">
                    <a:xfrm>
                      <a:off x="2751" y="1510"/>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95" name="Line 254"/>
                    <p:cNvSpPr>
                      <a:spLocks noChangeShapeType="1"/>
                    </p:cNvSpPr>
                    <p:nvPr/>
                  </p:nvSpPr>
                  <p:spPr bwMode="auto">
                    <a:xfrm flipV="1">
                      <a:off x="2755" y="1505"/>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96" name="Line 255"/>
                    <p:cNvSpPr>
                      <a:spLocks noChangeShapeType="1"/>
                    </p:cNvSpPr>
                    <p:nvPr/>
                  </p:nvSpPr>
                  <p:spPr bwMode="auto">
                    <a:xfrm flipV="1">
                      <a:off x="2755" y="1501"/>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97" name="Line 256"/>
                    <p:cNvSpPr>
                      <a:spLocks noChangeShapeType="1"/>
                    </p:cNvSpPr>
                    <p:nvPr/>
                  </p:nvSpPr>
                  <p:spPr bwMode="auto">
                    <a:xfrm flipV="1">
                      <a:off x="2759" y="1497"/>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98" name="Line 257"/>
                    <p:cNvSpPr>
                      <a:spLocks noChangeShapeType="1"/>
                    </p:cNvSpPr>
                    <p:nvPr/>
                  </p:nvSpPr>
                  <p:spPr bwMode="auto">
                    <a:xfrm flipV="1">
                      <a:off x="2764" y="149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99" name="Freeform 258"/>
                    <p:cNvSpPr>
                      <a:spLocks/>
                    </p:cNvSpPr>
                    <p:nvPr/>
                  </p:nvSpPr>
                  <p:spPr bwMode="auto">
                    <a:xfrm>
                      <a:off x="2764" y="148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00" name="Line 259"/>
                    <p:cNvSpPr>
                      <a:spLocks noChangeShapeType="1"/>
                    </p:cNvSpPr>
                    <p:nvPr/>
                  </p:nvSpPr>
                  <p:spPr bwMode="auto">
                    <a:xfrm flipV="1">
                      <a:off x="2768" y="14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01" name="Freeform 260"/>
                    <p:cNvSpPr>
                      <a:spLocks/>
                    </p:cNvSpPr>
                    <p:nvPr/>
                  </p:nvSpPr>
                  <p:spPr bwMode="auto">
                    <a:xfrm>
                      <a:off x="2768" y="1479"/>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02" name="Line 261"/>
                    <p:cNvSpPr>
                      <a:spLocks noChangeShapeType="1"/>
                    </p:cNvSpPr>
                    <p:nvPr/>
                  </p:nvSpPr>
                  <p:spPr bwMode="auto">
                    <a:xfrm flipV="1">
                      <a:off x="2772" y="14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03" name="Line 262"/>
                    <p:cNvSpPr>
                      <a:spLocks noChangeShapeType="1"/>
                    </p:cNvSpPr>
                    <p:nvPr/>
                  </p:nvSpPr>
                  <p:spPr bwMode="auto">
                    <a:xfrm flipV="1">
                      <a:off x="2772" y="1470"/>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04" name="Line 263"/>
                    <p:cNvSpPr>
                      <a:spLocks noChangeShapeType="1"/>
                    </p:cNvSpPr>
                    <p:nvPr/>
                  </p:nvSpPr>
                  <p:spPr bwMode="auto">
                    <a:xfrm flipV="1">
                      <a:off x="2777" y="146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05" name="Line 264"/>
                    <p:cNvSpPr>
                      <a:spLocks noChangeShapeType="1"/>
                    </p:cNvSpPr>
                    <p:nvPr/>
                  </p:nvSpPr>
                  <p:spPr bwMode="auto">
                    <a:xfrm flipV="1">
                      <a:off x="2781" y="14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06" name="Freeform 265"/>
                    <p:cNvSpPr>
                      <a:spLocks/>
                    </p:cNvSpPr>
                    <p:nvPr/>
                  </p:nvSpPr>
                  <p:spPr bwMode="auto">
                    <a:xfrm>
                      <a:off x="2781" y="1453"/>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07" name="Line 266"/>
                    <p:cNvSpPr>
                      <a:spLocks noChangeShapeType="1"/>
                    </p:cNvSpPr>
                    <p:nvPr/>
                  </p:nvSpPr>
                  <p:spPr bwMode="auto">
                    <a:xfrm flipV="1">
                      <a:off x="2785" y="14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08" name="Line 267"/>
                    <p:cNvSpPr>
                      <a:spLocks noChangeShapeType="1"/>
                    </p:cNvSpPr>
                    <p:nvPr/>
                  </p:nvSpPr>
                  <p:spPr bwMode="auto">
                    <a:xfrm flipV="1">
                      <a:off x="2785" y="144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09" name="Line 268"/>
                    <p:cNvSpPr>
                      <a:spLocks noChangeShapeType="1"/>
                    </p:cNvSpPr>
                    <p:nvPr/>
                  </p:nvSpPr>
                  <p:spPr bwMode="auto">
                    <a:xfrm flipV="1">
                      <a:off x="2790" y="144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10" name="Line 269"/>
                    <p:cNvSpPr>
                      <a:spLocks noChangeShapeType="1"/>
                    </p:cNvSpPr>
                    <p:nvPr/>
                  </p:nvSpPr>
                  <p:spPr bwMode="auto">
                    <a:xfrm flipV="1">
                      <a:off x="2794" y="14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11" name="Freeform 270"/>
                    <p:cNvSpPr>
                      <a:spLocks/>
                    </p:cNvSpPr>
                    <p:nvPr/>
                  </p:nvSpPr>
                  <p:spPr bwMode="auto">
                    <a:xfrm>
                      <a:off x="2794" y="1427"/>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12" name="Line 271"/>
                    <p:cNvSpPr>
                      <a:spLocks noChangeShapeType="1"/>
                    </p:cNvSpPr>
                    <p:nvPr/>
                  </p:nvSpPr>
                  <p:spPr bwMode="auto">
                    <a:xfrm flipV="1">
                      <a:off x="2798" y="142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13" name="Freeform 272"/>
                    <p:cNvSpPr>
                      <a:spLocks/>
                    </p:cNvSpPr>
                    <p:nvPr/>
                  </p:nvSpPr>
                  <p:spPr bwMode="auto">
                    <a:xfrm>
                      <a:off x="2798" y="1418"/>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14" name="Line 273"/>
                    <p:cNvSpPr>
                      <a:spLocks noChangeShapeType="1"/>
                    </p:cNvSpPr>
                    <p:nvPr/>
                  </p:nvSpPr>
                  <p:spPr bwMode="auto">
                    <a:xfrm flipV="1">
                      <a:off x="2803" y="14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15" name="Line 274"/>
                    <p:cNvSpPr>
                      <a:spLocks noChangeShapeType="1"/>
                    </p:cNvSpPr>
                    <p:nvPr/>
                  </p:nvSpPr>
                  <p:spPr bwMode="auto">
                    <a:xfrm flipV="1">
                      <a:off x="2803" y="14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16" name="Line 275"/>
                    <p:cNvSpPr>
                      <a:spLocks noChangeShapeType="1"/>
                    </p:cNvSpPr>
                    <p:nvPr/>
                  </p:nvSpPr>
                  <p:spPr bwMode="auto">
                    <a:xfrm flipV="1">
                      <a:off x="2807" y="1401"/>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17" name="Line 276"/>
                    <p:cNvSpPr>
                      <a:spLocks noChangeShapeType="1"/>
                    </p:cNvSpPr>
                    <p:nvPr/>
                  </p:nvSpPr>
                  <p:spPr bwMode="auto">
                    <a:xfrm flipV="1">
                      <a:off x="2812" y="13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18" name="Freeform 277"/>
                    <p:cNvSpPr>
                      <a:spLocks/>
                    </p:cNvSpPr>
                    <p:nvPr/>
                  </p:nvSpPr>
                  <p:spPr bwMode="auto">
                    <a:xfrm>
                      <a:off x="2812" y="1392"/>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19" name="Line 278"/>
                    <p:cNvSpPr>
                      <a:spLocks noChangeShapeType="1"/>
                    </p:cNvSpPr>
                    <p:nvPr/>
                  </p:nvSpPr>
                  <p:spPr bwMode="auto">
                    <a:xfrm flipV="1">
                      <a:off x="2816" y="13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20" name="Line 279"/>
                    <p:cNvSpPr>
                      <a:spLocks noChangeShapeType="1"/>
                    </p:cNvSpPr>
                    <p:nvPr/>
                  </p:nvSpPr>
                  <p:spPr bwMode="auto">
                    <a:xfrm flipV="1">
                      <a:off x="2816" y="1379"/>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21" name="Line 280"/>
                    <p:cNvSpPr>
                      <a:spLocks noChangeShapeType="1"/>
                    </p:cNvSpPr>
                    <p:nvPr/>
                  </p:nvSpPr>
                  <p:spPr bwMode="auto">
                    <a:xfrm flipV="1">
                      <a:off x="2820" y="137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22" name="Line 281"/>
                    <p:cNvSpPr>
                      <a:spLocks noChangeShapeType="1"/>
                    </p:cNvSpPr>
                    <p:nvPr/>
                  </p:nvSpPr>
                  <p:spPr bwMode="auto">
                    <a:xfrm flipV="1">
                      <a:off x="2825" y="13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23" name="Freeform 282"/>
                    <p:cNvSpPr>
                      <a:spLocks/>
                    </p:cNvSpPr>
                    <p:nvPr/>
                  </p:nvSpPr>
                  <p:spPr bwMode="auto">
                    <a:xfrm>
                      <a:off x="2825" y="1362"/>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24" name="Line 283"/>
                    <p:cNvSpPr>
                      <a:spLocks noChangeShapeType="1"/>
                    </p:cNvSpPr>
                    <p:nvPr/>
                  </p:nvSpPr>
                  <p:spPr bwMode="auto">
                    <a:xfrm flipV="1">
                      <a:off x="2829" y="13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25" name="Freeform 284"/>
                    <p:cNvSpPr>
                      <a:spLocks/>
                    </p:cNvSpPr>
                    <p:nvPr/>
                  </p:nvSpPr>
                  <p:spPr bwMode="auto">
                    <a:xfrm>
                      <a:off x="2829" y="1353"/>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26" name="Line 285"/>
                    <p:cNvSpPr>
                      <a:spLocks noChangeShapeType="1"/>
                    </p:cNvSpPr>
                    <p:nvPr/>
                  </p:nvSpPr>
                  <p:spPr bwMode="auto">
                    <a:xfrm flipV="1">
                      <a:off x="2833" y="13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27" name="Line 286"/>
                    <p:cNvSpPr>
                      <a:spLocks noChangeShapeType="1"/>
                    </p:cNvSpPr>
                    <p:nvPr/>
                  </p:nvSpPr>
                  <p:spPr bwMode="auto">
                    <a:xfrm flipV="1">
                      <a:off x="2833" y="1340"/>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28" name="Line 287"/>
                    <p:cNvSpPr>
                      <a:spLocks noChangeShapeType="1"/>
                    </p:cNvSpPr>
                    <p:nvPr/>
                  </p:nvSpPr>
                  <p:spPr bwMode="auto">
                    <a:xfrm flipV="1">
                      <a:off x="2838" y="1336"/>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29" name="Line 288"/>
                    <p:cNvSpPr>
                      <a:spLocks noChangeShapeType="1"/>
                    </p:cNvSpPr>
                    <p:nvPr/>
                  </p:nvSpPr>
                  <p:spPr bwMode="auto">
                    <a:xfrm flipV="1">
                      <a:off x="2842" y="1332"/>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30" name="Freeform 289"/>
                    <p:cNvSpPr>
                      <a:spLocks/>
                    </p:cNvSpPr>
                    <p:nvPr/>
                  </p:nvSpPr>
                  <p:spPr bwMode="auto">
                    <a:xfrm>
                      <a:off x="2842" y="1323"/>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31" name="Line 290"/>
                    <p:cNvSpPr>
                      <a:spLocks noChangeShapeType="1"/>
                    </p:cNvSpPr>
                    <p:nvPr/>
                  </p:nvSpPr>
                  <p:spPr bwMode="auto">
                    <a:xfrm flipV="1">
                      <a:off x="2846" y="131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32" name="Line 291"/>
                    <p:cNvSpPr>
                      <a:spLocks noChangeShapeType="1"/>
                    </p:cNvSpPr>
                    <p:nvPr/>
                  </p:nvSpPr>
                  <p:spPr bwMode="auto">
                    <a:xfrm flipV="1">
                      <a:off x="2846" y="131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33" name="Line 292"/>
                    <p:cNvSpPr>
                      <a:spLocks noChangeShapeType="1"/>
                    </p:cNvSpPr>
                    <p:nvPr/>
                  </p:nvSpPr>
                  <p:spPr bwMode="auto">
                    <a:xfrm flipV="1">
                      <a:off x="2851" y="1306"/>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34" name="Line 293"/>
                    <p:cNvSpPr>
                      <a:spLocks noChangeShapeType="1"/>
                    </p:cNvSpPr>
                    <p:nvPr/>
                  </p:nvSpPr>
                  <p:spPr bwMode="auto">
                    <a:xfrm flipV="1">
                      <a:off x="2855" y="130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35" name="Freeform 294"/>
                    <p:cNvSpPr>
                      <a:spLocks/>
                    </p:cNvSpPr>
                    <p:nvPr/>
                  </p:nvSpPr>
                  <p:spPr bwMode="auto">
                    <a:xfrm>
                      <a:off x="2855" y="1292"/>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36" name="Line 295"/>
                    <p:cNvSpPr>
                      <a:spLocks noChangeShapeType="1"/>
                    </p:cNvSpPr>
                    <p:nvPr/>
                  </p:nvSpPr>
                  <p:spPr bwMode="auto">
                    <a:xfrm flipV="1">
                      <a:off x="2859" y="12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37" name="Line 296"/>
                    <p:cNvSpPr>
                      <a:spLocks noChangeShapeType="1"/>
                    </p:cNvSpPr>
                    <p:nvPr/>
                  </p:nvSpPr>
                  <p:spPr bwMode="auto">
                    <a:xfrm flipV="1">
                      <a:off x="2859" y="128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38" name="Line 297"/>
                    <p:cNvSpPr>
                      <a:spLocks noChangeShapeType="1"/>
                    </p:cNvSpPr>
                    <p:nvPr/>
                  </p:nvSpPr>
                  <p:spPr bwMode="auto">
                    <a:xfrm flipV="1">
                      <a:off x="2864" y="1275"/>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39" name="Line 298"/>
                    <p:cNvSpPr>
                      <a:spLocks noChangeShapeType="1"/>
                    </p:cNvSpPr>
                    <p:nvPr/>
                  </p:nvSpPr>
                  <p:spPr bwMode="auto">
                    <a:xfrm flipV="1">
                      <a:off x="2868" y="12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40" name="Freeform 299"/>
                    <p:cNvSpPr>
                      <a:spLocks/>
                    </p:cNvSpPr>
                    <p:nvPr/>
                  </p:nvSpPr>
                  <p:spPr bwMode="auto">
                    <a:xfrm>
                      <a:off x="2868" y="1262"/>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41" name="Line 300"/>
                    <p:cNvSpPr>
                      <a:spLocks noChangeShapeType="1"/>
                    </p:cNvSpPr>
                    <p:nvPr/>
                  </p:nvSpPr>
                  <p:spPr bwMode="auto">
                    <a:xfrm flipV="1">
                      <a:off x="2872" y="12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42" name="Freeform 301"/>
                    <p:cNvSpPr>
                      <a:spLocks/>
                    </p:cNvSpPr>
                    <p:nvPr/>
                  </p:nvSpPr>
                  <p:spPr bwMode="auto">
                    <a:xfrm>
                      <a:off x="2872" y="1253"/>
                      <a:ext cx="5" cy="5"/>
                    </a:xfrm>
                    <a:custGeom>
                      <a:avLst/>
                      <a:gdLst>
                        <a:gd name="T0" fmla="*/ 0 w 5"/>
                        <a:gd name="T1" fmla="*/ 5 h 5"/>
                        <a:gd name="T2" fmla="*/ 0 w 5"/>
                        <a:gd name="T3" fmla="*/ 5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5"/>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43" name="Line 302"/>
                    <p:cNvSpPr>
                      <a:spLocks noChangeShapeType="1"/>
                    </p:cNvSpPr>
                    <p:nvPr/>
                  </p:nvSpPr>
                  <p:spPr bwMode="auto">
                    <a:xfrm flipV="1">
                      <a:off x="2877" y="1245"/>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44" name="Line 303"/>
                    <p:cNvSpPr>
                      <a:spLocks noChangeShapeType="1"/>
                    </p:cNvSpPr>
                    <p:nvPr/>
                  </p:nvSpPr>
                  <p:spPr bwMode="auto">
                    <a:xfrm flipV="1">
                      <a:off x="2877" y="124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45" name="Line 304"/>
                    <p:cNvSpPr>
                      <a:spLocks noChangeShapeType="1"/>
                    </p:cNvSpPr>
                    <p:nvPr/>
                  </p:nvSpPr>
                  <p:spPr bwMode="auto">
                    <a:xfrm flipV="1">
                      <a:off x="2881" y="123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46" name="Line 305"/>
                    <p:cNvSpPr>
                      <a:spLocks noChangeShapeType="1"/>
                    </p:cNvSpPr>
                    <p:nvPr/>
                  </p:nvSpPr>
                  <p:spPr bwMode="auto">
                    <a:xfrm flipV="1">
                      <a:off x="2885" y="122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47" name="Freeform 306"/>
                    <p:cNvSpPr>
                      <a:spLocks/>
                    </p:cNvSpPr>
                    <p:nvPr/>
                  </p:nvSpPr>
                  <p:spPr bwMode="auto">
                    <a:xfrm>
                      <a:off x="2885" y="1223"/>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48" name="Line 307"/>
                    <p:cNvSpPr>
                      <a:spLocks noChangeShapeType="1"/>
                    </p:cNvSpPr>
                    <p:nvPr/>
                  </p:nvSpPr>
                  <p:spPr bwMode="auto">
                    <a:xfrm flipV="1">
                      <a:off x="2890" y="121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49" name="Line 308"/>
                    <p:cNvSpPr>
                      <a:spLocks noChangeShapeType="1"/>
                    </p:cNvSpPr>
                    <p:nvPr/>
                  </p:nvSpPr>
                  <p:spPr bwMode="auto">
                    <a:xfrm flipV="1">
                      <a:off x="2890" y="12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50" name="Line 309"/>
                    <p:cNvSpPr>
                      <a:spLocks noChangeShapeType="1"/>
                    </p:cNvSpPr>
                    <p:nvPr/>
                  </p:nvSpPr>
                  <p:spPr bwMode="auto">
                    <a:xfrm flipV="1">
                      <a:off x="2894" y="1201"/>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51" name="Line 310"/>
                    <p:cNvSpPr>
                      <a:spLocks noChangeShapeType="1"/>
                    </p:cNvSpPr>
                    <p:nvPr/>
                  </p:nvSpPr>
                  <p:spPr bwMode="auto">
                    <a:xfrm flipV="1">
                      <a:off x="2898" y="11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52" name="Freeform 311"/>
                    <p:cNvSpPr>
                      <a:spLocks/>
                    </p:cNvSpPr>
                    <p:nvPr/>
                  </p:nvSpPr>
                  <p:spPr bwMode="auto">
                    <a:xfrm>
                      <a:off x="2898" y="1188"/>
                      <a:ext cx="5" cy="9"/>
                    </a:xfrm>
                    <a:custGeom>
                      <a:avLst/>
                      <a:gdLst>
                        <a:gd name="T0" fmla="*/ 0 w 5"/>
                        <a:gd name="T1" fmla="*/ 9 h 9"/>
                        <a:gd name="T2" fmla="*/ 0 w 5"/>
                        <a:gd name="T3" fmla="*/ 5 h 9"/>
                        <a:gd name="T4" fmla="*/ 5 w 5"/>
                        <a:gd name="T5" fmla="*/ 0 h 9"/>
                        <a:gd name="T6" fmla="*/ 0 60000 65536"/>
                        <a:gd name="T7" fmla="*/ 0 60000 65536"/>
                        <a:gd name="T8" fmla="*/ 0 60000 65536"/>
                      </a:gdLst>
                      <a:ahLst/>
                      <a:cxnLst>
                        <a:cxn ang="T6">
                          <a:pos x="T0" y="T1"/>
                        </a:cxn>
                        <a:cxn ang="T7">
                          <a:pos x="T2" y="T3"/>
                        </a:cxn>
                        <a:cxn ang="T8">
                          <a:pos x="T4" y="T5"/>
                        </a:cxn>
                      </a:cxnLst>
                      <a:rect l="0" t="0" r="r" b="b"/>
                      <a:pathLst>
                        <a:path w="5" h="9">
                          <a:moveTo>
                            <a:pt x="0" y="9"/>
                          </a:moveTo>
                          <a:lnTo>
                            <a:pt x="0" y="5"/>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53" name="Line 312"/>
                    <p:cNvSpPr>
                      <a:spLocks noChangeShapeType="1"/>
                    </p:cNvSpPr>
                    <p:nvPr/>
                  </p:nvSpPr>
                  <p:spPr bwMode="auto">
                    <a:xfrm flipV="1">
                      <a:off x="2903" y="118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54" name="Freeform 313"/>
                    <p:cNvSpPr>
                      <a:spLocks/>
                    </p:cNvSpPr>
                    <p:nvPr/>
                  </p:nvSpPr>
                  <p:spPr bwMode="auto">
                    <a:xfrm>
                      <a:off x="2903" y="1180"/>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55" name="Line 314"/>
                    <p:cNvSpPr>
                      <a:spLocks noChangeShapeType="1"/>
                    </p:cNvSpPr>
                    <p:nvPr/>
                  </p:nvSpPr>
                  <p:spPr bwMode="auto">
                    <a:xfrm flipV="1">
                      <a:off x="2907" y="1171"/>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56" name="Line 315"/>
                    <p:cNvSpPr>
                      <a:spLocks noChangeShapeType="1"/>
                    </p:cNvSpPr>
                    <p:nvPr/>
                  </p:nvSpPr>
                  <p:spPr bwMode="auto">
                    <a:xfrm flipV="1">
                      <a:off x="2907" y="11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57" name="Line 316"/>
                    <p:cNvSpPr>
                      <a:spLocks noChangeShapeType="1"/>
                    </p:cNvSpPr>
                    <p:nvPr/>
                  </p:nvSpPr>
                  <p:spPr bwMode="auto">
                    <a:xfrm flipV="1">
                      <a:off x="2911" y="11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58" name="Line 317"/>
                    <p:cNvSpPr>
                      <a:spLocks noChangeShapeType="1"/>
                    </p:cNvSpPr>
                    <p:nvPr/>
                  </p:nvSpPr>
                  <p:spPr bwMode="auto">
                    <a:xfrm flipV="1">
                      <a:off x="2916" y="115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59" name="Freeform 318"/>
                    <p:cNvSpPr>
                      <a:spLocks/>
                    </p:cNvSpPr>
                    <p:nvPr/>
                  </p:nvSpPr>
                  <p:spPr bwMode="auto">
                    <a:xfrm>
                      <a:off x="2916" y="1145"/>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60" name="Line 319"/>
                    <p:cNvSpPr>
                      <a:spLocks noChangeShapeType="1"/>
                    </p:cNvSpPr>
                    <p:nvPr/>
                  </p:nvSpPr>
                  <p:spPr bwMode="auto">
                    <a:xfrm flipV="1">
                      <a:off x="2920" y="11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61" name="Line 320"/>
                    <p:cNvSpPr>
                      <a:spLocks noChangeShapeType="1"/>
                    </p:cNvSpPr>
                    <p:nvPr/>
                  </p:nvSpPr>
                  <p:spPr bwMode="auto">
                    <a:xfrm flipV="1">
                      <a:off x="2920" y="1136"/>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62" name="Line 321"/>
                    <p:cNvSpPr>
                      <a:spLocks noChangeShapeType="1"/>
                    </p:cNvSpPr>
                    <p:nvPr/>
                  </p:nvSpPr>
                  <p:spPr bwMode="auto">
                    <a:xfrm flipV="1">
                      <a:off x="2924" y="1128"/>
                      <a:ext cx="5"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63" name="Line 322"/>
                    <p:cNvSpPr>
                      <a:spLocks noChangeShapeType="1"/>
                    </p:cNvSpPr>
                    <p:nvPr/>
                  </p:nvSpPr>
                  <p:spPr bwMode="auto">
                    <a:xfrm flipV="1">
                      <a:off x="2929" y="112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64" name="Freeform 323"/>
                    <p:cNvSpPr>
                      <a:spLocks/>
                    </p:cNvSpPr>
                    <p:nvPr/>
                  </p:nvSpPr>
                  <p:spPr bwMode="auto">
                    <a:xfrm>
                      <a:off x="2929" y="1115"/>
                      <a:ext cx="4" cy="8"/>
                    </a:xfrm>
                    <a:custGeom>
                      <a:avLst/>
                      <a:gdLst>
                        <a:gd name="T0" fmla="*/ 0 w 4"/>
                        <a:gd name="T1" fmla="*/ 8 h 8"/>
                        <a:gd name="T2" fmla="*/ 0 w 4"/>
                        <a:gd name="T3" fmla="*/ 4 h 8"/>
                        <a:gd name="T4" fmla="*/ 4 w 4"/>
                        <a:gd name="T5" fmla="*/ 0 h 8"/>
                        <a:gd name="T6" fmla="*/ 0 60000 65536"/>
                        <a:gd name="T7" fmla="*/ 0 60000 65536"/>
                        <a:gd name="T8" fmla="*/ 0 60000 65536"/>
                      </a:gdLst>
                      <a:ahLst/>
                      <a:cxnLst>
                        <a:cxn ang="T6">
                          <a:pos x="T0" y="T1"/>
                        </a:cxn>
                        <a:cxn ang="T7">
                          <a:pos x="T2" y="T3"/>
                        </a:cxn>
                        <a:cxn ang="T8">
                          <a:pos x="T4" y="T5"/>
                        </a:cxn>
                      </a:cxnLst>
                      <a:rect l="0" t="0" r="r" b="b"/>
                      <a:pathLst>
                        <a:path w="4" h="8">
                          <a:moveTo>
                            <a:pt x="0" y="8"/>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65" name="Line 324"/>
                    <p:cNvSpPr>
                      <a:spLocks noChangeShapeType="1"/>
                    </p:cNvSpPr>
                    <p:nvPr/>
                  </p:nvSpPr>
                  <p:spPr bwMode="auto">
                    <a:xfrm flipV="1">
                      <a:off x="2933" y="1110"/>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66" name="Freeform 325"/>
                    <p:cNvSpPr>
                      <a:spLocks/>
                    </p:cNvSpPr>
                    <p:nvPr/>
                  </p:nvSpPr>
                  <p:spPr bwMode="auto">
                    <a:xfrm>
                      <a:off x="2933" y="1101"/>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67" name="Line 326"/>
                    <p:cNvSpPr>
                      <a:spLocks noChangeShapeType="1"/>
                    </p:cNvSpPr>
                    <p:nvPr/>
                  </p:nvSpPr>
                  <p:spPr bwMode="auto">
                    <a:xfrm flipV="1">
                      <a:off x="2937" y="10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68" name="Line 327"/>
                    <p:cNvSpPr>
                      <a:spLocks noChangeShapeType="1"/>
                    </p:cNvSpPr>
                    <p:nvPr/>
                  </p:nvSpPr>
                  <p:spPr bwMode="auto">
                    <a:xfrm flipV="1">
                      <a:off x="2937" y="1093"/>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69" name="Line 328"/>
                    <p:cNvSpPr>
                      <a:spLocks noChangeShapeType="1"/>
                    </p:cNvSpPr>
                    <p:nvPr/>
                  </p:nvSpPr>
                  <p:spPr bwMode="auto">
                    <a:xfrm flipV="1">
                      <a:off x="2942" y="1084"/>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70" name="Line 329"/>
                    <p:cNvSpPr>
                      <a:spLocks noChangeShapeType="1"/>
                    </p:cNvSpPr>
                    <p:nvPr/>
                  </p:nvSpPr>
                  <p:spPr bwMode="auto">
                    <a:xfrm flipV="1">
                      <a:off x="2946" y="10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71" name="Freeform 330"/>
                    <p:cNvSpPr>
                      <a:spLocks/>
                    </p:cNvSpPr>
                    <p:nvPr/>
                  </p:nvSpPr>
                  <p:spPr bwMode="auto">
                    <a:xfrm>
                      <a:off x="2946" y="1071"/>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72" name="Line 331"/>
                    <p:cNvSpPr>
                      <a:spLocks noChangeShapeType="1"/>
                    </p:cNvSpPr>
                    <p:nvPr/>
                  </p:nvSpPr>
                  <p:spPr bwMode="auto">
                    <a:xfrm flipV="1">
                      <a:off x="2950" y="10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73" name="Line 332"/>
                    <p:cNvSpPr>
                      <a:spLocks noChangeShapeType="1"/>
                    </p:cNvSpPr>
                    <p:nvPr/>
                  </p:nvSpPr>
                  <p:spPr bwMode="auto">
                    <a:xfrm flipV="1">
                      <a:off x="2950" y="10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74" name="Line 333"/>
                    <p:cNvSpPr>
                      <a:spLocks noChangeShapeType="1"/>
                    </p:cNvSpPr>
                    <p:nvPr/>
                  </p:nvSpPr>
                  <p:spPr bwMode="auto">
                    <a:xfrm flipV="1">
                      <a:off x="2955" y="1054"/>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75" name="Line 334"/>
                    <p:cNvSpPr>
                      <a:spLocks noChangeShapeType="1"/>
                    </p:cNvSpPr>
                    <p:nvPr/>
                  </p:nvSpPr>
                  <p:spPr bwMode="auto">
                    <a:xfrm flipV="1">
                      <a:off x="2959" y="1049"/>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76" name="Freeform 335"/>
                    <p:cNvSpPr>
                      <a:spLocks/>
                    </p:cNvSpPr>
                    <p:nvPr/>
                  </p:nvSpPr>
                  <p:spPr bwMode="auto">
                    <a:xfrm>
                      <a:off x="2959" y="1041"/>
                      <a:ext cx="4" cy="8"/>
                    </a:xfrm>
                    <a:custGeom>
                      <a:avLst/>
                      <a:gdLst>
                        <a:gd name="T0" fmla="*/ 0 w 4"/>
                        <a:gd name="T1" fmla="*/ 8 h 8"/>
                        <a:gd name="T2" fmla="*/ 0 w 4"/>
                        <a:gd name="T3" fmla="*/ 4 h 8"/>
                        <a:gd name="T4" fmla="*/ 4 w 4"/>
                        <a:gd name="T5" fmla="*/ 0 h 8"/>
                        <a:gd name="T6" fmla="*/ 0 60000 65536"/>
                        <a:gd name="T7" fmla="*/ 0 60000 65536"/>
                        <a:gd name="T8" fmla="*/ 0 60000 65536"/>
                      </a:gdLst>
                      <a:ahLst/>
                      <a:cxnLst>
                        <a:cxn ang="T6">
                          <a:pos x="T0" y="T1"/>
                        </a:cxn>
                        <a:cxn ang="T7">
                          <a:pos x="T2" y="T3"/>
                        </a:cxn>
                        <a:cxn ang="T8">
                          <a:pos x="T4" y="T5"/>
                        </a:cxn>
                      </a:cxnLst>
                      <a:rect l="0" t="0" r="r" b="b"/>
                      <a:pathLst>
                        <a:path w="4" h="8">
                          <a:moveTo>
                            <a:pt x="0" y="8"/>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77" name="Line 336"/>
                    <p:cNvSpPr>
                      <a:spLocks noChangeShapeType="1"/>
                    </p:cNvSpPr>
                    <p:nvPr/>
                  </p:nvSpPr>
                  <p:spPr bwMode="auto">
                    <a:xfrm flipV="1">
                      <a:off x="2963" y="103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78" name="Freeform 337"/>
                    <p:cNvSpPr>
                      <a:spLocks/>
                    </p:cNvSpPr>
                    <p:nvPr/>
                  </p:nvSpPr>
                  <p:spPr bwMode="auto">
                    <a:xfrm>
                      <a:off x="2963" y="1032"/>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79" name="Line 338"/>
                    <p:cNvSpPr>
                      <a:spLocks noChangeShapeType="1"/>
                    </p:cNvSpPr>
                    <p:nvPr/>
                  </p:nvSpPr>
                  <p:spPr bwMode="auto">
                    <a:xfrm flipV="1">
                      <a:off x="2968" y="102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80" name="Line 339"/>
                    <p:cNvSpPr>
                      <a:spLocks noChangeShapeType="1"/>
                    </p:cNvSpPr>
                    <p:nvPr/>
                  </p:nvSpPr>
                  <p:spPr bwMode="auto">
                    <a:xfrm flipV="1">
                      <a:off x="2968" y="101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81" name="Line 340"/>
                    <p:cNvSpPr>
                      <a:spLocks noChangeShapeType="1"/>
                    </p:cNvSpPr>
                    <p:nvPr/>
                  </p:nvSpPr>
                  <p:spPr bwMode="auto">
                    <a:xfrm flipV="1">
                      <a:off x="2972" y="1010"/>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82" name="Line 341"/>
                    <p:cNvSpPr>
                      <a:spLocks noChangeShapeType="1"/>
                    </p:cNvSpPr>
                    <p:nvPr/>
                  </p:nvSpPr>
                  <p:spPr bwMode="auto">
                    <a:xfrm flipV="1">
                      <a:off x="2976" y="100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83" name="Freeform 342"/>
                    <p:cNvSpPr>
                      <a:spLocks/>
                    </p:cNvSpPr>
                    <p:nvPr/>
                  </p:nvSpPr>
                  <p:spPr bwMode="auto">
                    <a:xfrm>
                      <a:off x="2976" y="1002"/>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84" name="Line 343"/>
                    <p:cNvSpPr>
                      <a:spLocks noChangeShapeType="1"/>
                    </p:cNvSpPr>
                    <p:nvPr/>
                  </p:nvSpPr>
                  <p:spPr bwMode="auto">
                    <a:xfrm flipV="1">
                      <a:off x="2981" y="99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85" name="Line 344"/>
                    <p:cNvSpPr>
                      <a:spLocks noChangeShapeType="1"/>
                    </p:cNvSpPr>
                    <p:nvPr/>
                  </p:nvSpPr>
                  <p:spPr bwMode="auto">
                    <a:xfrm flipV="1">
                      <a:off x="2981" y="9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86" name="Line 345"/>
                    <p:cNvSpPr>
                      <a:spLocks noChangeShapeType="1"/>
                    </p:cNvSpPr>
                    <p:nvPr/>
                  </p:nvSpPr>
                  <p:spPr bwMode="auto">
                    <a:xfrm flipV="1">
                      <a:off x="2985" y="98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87" name="Line 346"/>
                    <p:cNvSpPr>
                      <a:spLocks noChangeShapeType="1"/>
                    </p:cNvSpPr>
                    <p:nvPr/>
                  </p:nvSpPr>
                  <p:spPr bwMode="auto">
                    <a:xfrm flipV="1">
                      <a:off x="2990" y="9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88" name="Freeform 347"/>
                    <p:cNvSpPr>
                      <a:spLocks/>
                    </p:cNvSpPr>
                    <p:nvPr/>
                  </p:nvSpPr>
                  <p:spPr bwMode="auto">
                    <a:xfrm>
                      <a:off x="2990" y="971"/>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89" name="Line 348"/>
                    <p:cNvSpPr>
                      <a:spLocks noChangeShapeType="1"/>
                    </p:cNvSpPr>
                    <p:nvPr/>
                  </p:nvSpPr>
                  <p:spPr bwMode="auto">
                    <a:xfrm flipV="1">
                      <a:off x="2994" y="9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90" name="Freeform 349"/>
                    <p:cNvSpPr>
                      <a:spLocks/>
                    </p:cNvSpPr>
                    <p:nvPr/>
                  </p:nvSpPr>
                  <p:spPr bwMode="auto">
                    <a:xfrm>
                      <a:off x="2994" y="963"/>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91" name="Line 350"/>
                    <p:cNvSpPr>
                      <a:spLocks noChangeShapeType="1"/>
                    </p:cNvSpPr>
                    <p:nvPr/>
                  </p:nvSpPr>
                  <p:spPr bwMode="auto">
                    <a:xfrm flipV="1">
                      <a:off x="2998" y="95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92" name="Line 351"/>
                    <p:cNvSpPr>
                      <a:spLocks noChangeShapeType="1"/>
                    </p:cNvSpPr>
                    <p:nvPr/>
                  </p:nvSpPr>
                  <p:spPr bwMode="auto">
                    <a:xfrm flipV="1">
                      <a:off x="2998" y="950"/>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93" name="Line 352"/>
                    <p:cNvSpPr>
                      <a:spLocks noChangeShapeType="1"/>
                    </p:cNvSpPr>
                    <p:nvPr/>
                  </p:nvSpPr>
                  <p:spPr bwMode="auto">
                    <a:xfrm flipV="1">
                      <a:off x="3003" y="94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94" name="Line 353"/>
                    <p:cNvSpPr>
                      <a:spLocks noChangeShapeType="1"/>
                    </p:cNvSpPr>
                    <p:nvPr/>
                  </p:nvSpPr>
                  <p:spPr bwMode="auto">
                    <a:xfrm flipV="1">
                      <a:off x="3007" y="9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95" name="Freeform 354"/>
                    <p:cNvSpPr>
                      <a:spLocks/>
                    </p:cNvSpPr>
                    <p:nvPr/>
                  </p:nvSpPr>
                  <p:spPr bwMode="auto">
                    <a:xfrm>
                      <a:off x="3007" y="932"/>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996" name="Line 355"/>
                    <p:cNvSpPr>
                      <a:spLocks noChangeShapeType="1"/>
                    </p:cNvSpPr>
                    <p:nvPr/>
                  </p:nvSpPr>
                  <p:spPr bwMode="auto">
                    <a:xfrm flipV="1">
                      <a:off x="3011" y="9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97" name="Line 356"/>
                    <p:cNvSpPr>
                      <a:spLocks noChangeShapeType="1"/>
                    </p:cNvSpPr>
                    <p:nvPr/>
                  </p:nvSpPr>
                  <p:spPr bwMode="auto">
                    <a:xfrm flipV="1">
                      <a:off x="3011" y="92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98" name="Line 357"/>
                    <p:cNvSpPr>
                      <a:spLocks noChangeShapeType="1"/>
                    </p:cNvSpPr>
                    <p:nvPr/>
                  </p:nvSpPr>
                  <p:spPr bwMode="auto">
                    <a:xfrm flipV="1">
                      <a:off x="3016" y="9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99" name="Line 358"/>
                    <p:cNvSpPr>
                      <a:spLocks noChangeShapeType="1"/>
                    </p:cNvSpPr>
                    <p:nvPr/>
                  </p:nvSpPr>
                  <p:spPr bwMode="auto">
                    <a:xfrm flipV="1">
                      <a:off x="3020" y="91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00" name="Freeform 359"/>
                    <p:cNvSpPr>
                      <a:spLocks/>
                    </p:cNvSpPr>
                    <p:nvPr/>
                  </p:nvSpPr>
                  <p:spPr bwMode="auto">
                    <a:xfrm>
                      <a:off x="3020" y="910"/>
                      <a:ext cx="4" cy="5"/>
                    </a:xfrm>
                    <a:custGeom>
                      <a:avLst/>
                      <a:gdLst>
                        <a:gd name="T0" fmla="*/ 0 w 4"/>
                        <a:gd name="T1" fmla="*/ 5 h 5"/>
                        <a:gd name="T2" fmla="*/ 0 w 4"/>
                        <a:gd name="T3" fmla="*/ 5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01" name="Line 360"/>
                    <p:cNvSpPr>
                      <a:spLocks noChangeShapeType="1"/>
                    </p:cNvSpPr>
                    <p:nvPr/>
                  </p:nvSpPr>
                  <p:spPr bwMode="auto">
                    <a:xfrm flipV="1">
                      <a:off x="3024" y="902"/>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02" name="Freeform 361"/>
                    <p:cNvSpPr>
                      <a:spLocks/>
                    </p:cNvSpPr>
                    <p:nvPr/>
                  </p:nvSpPr>
                  <p:spPr bwMode="auto">
                    <a:xfrm>
                      <a:off x="3024" y="897"/>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03" name="Line 362"/>
                    <p:cNvSpPr>
                      <a:spLocks noChangeShapeType="1"/>
                    </p:cNvSpPr>
                    <p:nvPr/>
                  </p:nvSpPr>
                  <p:spPr bwMode="auto">
                    <a:xfrm flipV="1">
                      <a:off x="3029" y="89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04" name="Line 363"/>
                    <p:cNvSpPr>
                      <a:spLocks noChangeShapeType="1"/>
                    </p:cNvSpPr>
                    <p:nvPr/>
                  </p:nvSpPr>
                  <p:spPr bwMode="auto">
                    <a:xfrm flipV="1">
                      <a:off x="3029" y="8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05" name="Line 364"/>
                    <p:cNvSpPr>
                      <a:spLocks noChangeShapeType="1"/>
                    </p:cNvSpPr>
                    <p:nvPr/>
                  </p:nvSpPr>
                  <p:spPr bwMode="auto">
                    <a:xfrm flipV="1">
                      <a:off x="3033" y="884"/>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06" name="Line 365"/>
                    <p:cNvSpPr>
                      <a:spLocks noChangeShapeType="1"/>
                    </p:cNvSpPr>
                    <p:nvPr/>
                  </p:nvSpPr>
                  <p:spPr bwMode="auto">
                    <a:xfrm flipV="1">
                      <a:off x="3037" y="8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07" name="Freeform 366"/>
                    <p:cNvSpPr>
                      <a:spLocks/>
                    </p:cNvSpPr>
                    <p:nvPr/>
                  </p:nvSpPr>
                  <p:spPr bwMode="auto">
                    <a:xfrm>
                      <a:off x="3037" y="876"/>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08" name="Line 367"/>
                    <p:cNvSpPr>
                      <a:spLocks noChangeShapeType="1"/>
                    </p:cNvSpPr>
                    <p:nvPr/>
                  </p:nvSpPr>
                  <p:spPr bwMode="auto">
                    <a:xfrm flipV="1">
                      <a:off x="3042" y="87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09" name="Line 368"/>
                    <p:cNvSpPr>
                      <a:spLocks noChangeShapeType="1"/>
                    </p:cNvSpPr>
                    <p:nvPr/>
                  </p:nvSpPr>
                  <p:spPr bwMode="auto">
                    <a:xfrm flipV="1">
                      <a:off x="3042" y="8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10" name="Line 369"/>
                    <p:cNvSpPr>
                      <a:spLocks noChangeShapeType="1"/>
                    </p:cNvSpPr>
                    <p:nvPr/>
                  </p:nvSpPr>
                  <p:spPr bwMode="auto">
                    <a:xfrm flipV="1">
                      <a:off x="3046" y="86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11" name="Line 370"/>
                    <p:cNvSpPr>
                      <a:spLocks noChangeShapeType="1"/>
                    </p:cNvSpPr>
                    <p:nvPr/>
                  </p:nvSpPr>
                  <p:spPr bwMode="auto">
                    <a:xfrm flipV="1">
                      <a:off x="3050" y="858"/>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12" name="Freeform 371"/>
                    <p:cNvSpPr>
                      <a:spLocks/>
                    </p:cNvSpPr>
                    <p:nvPr/>
                  </p:nvSpPr>
                  <p:spPr bwMode="auto">
                    <a:xfrm>
                      <a:off x="3050" y="854"/>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13" name="Line 372"/>
                    <p:cNvSpPr>
                      <a:spLocks noChangeShapeType="1"/>
                    </p:cNvSpPr>
                    <p:nvPr/>
                  </p:nvSpPr>
                  <p:spPr bwMode="auto">
                    <a:xfrm flipV="1">
                      <a:off x="3055" y="85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14" name="Freeform 373"/>
                    <p:cNvSpPr>
                      <a:spLocks/>
                    </p:cNvSpPr>
                    <p:nvPr/>
                  </p:nvSpPr>
                  <p:spPr bwMode="auto">
                    <a:xfrm>
                      <a:off x="3055" y="845"/>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15" name="Line 374"/>
                    <p:cNvSpPr>
                      <a:spLocks noChangeShapeType="1"/>
                    </p:cNvSpPr>
                    <p:nvPr/>
                  </p:nvSpPr>
                  <p:spPr bwMode="auto">
                    <a:xfrm flipV="1">
                      <a:off x="3059" y="8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16" name="Line 375"/>
                    <p:cNvSpPr>
                      <a:spLocks noChangeShapeType="1"/>
                    </p:cNvSpPr>
                    <p:nvPr/>
                  </p:nvSpPr>
                  <p:spPr bwMode="auto">
                    <a:xfrm flipV="1">
                      <a:off x="3059" y="83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17" name="Line 376"/>
                    <p:cNvSpPr>
                      <a:spLocks noChangeShapeType="1"/>
                    </p:cNvSpPr>
                    <p:nvPr/>
                  </p:nvSpPr>
                  <p:spPr bwMode="auto">
                    <a:xfrm flipV="1">
                      <a:off x="3063" y="832"/>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18" name="Line 377"/>
                    <p:cNvSpPr>
                      <a:spLocks noChangeShapeType="1"/>
                    </p:cNvSpPr>
                    <p:nvPr/>
                  </p:nvSpPr>
                  <p:spPr bwMode="auto">
                    <a:xfrm flipV="1">
                      <a:off x="3068" y="8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19" name="Freeform 378"/>
                    <p:cNvSpPr>
                      <a:spLocks/>
                    </p:cNvSpPr>
                    <p:nvPr/>
                  </p:nvSpPr>
                  <p:spPr bwMode="auto">
                    <a:xfrm>
                      <a:off x="3068" y="82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20" name="Line 379"/>
                    <p:cNvSpPr>
                      <a:spLocks noChangeShapeType="1"/>
                    </p:cNvSpPr>
                    <p:nvPr/>
                  </p:nvSpPr>
                  <p:spPr bwMode="auto">
                    <a:xfrm flipV="1">
                      <a:off x="3072" y="82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21" name="Line 380"/>
                    <p:cNvSpPr>
                      <a:spLocks noChangeShapeType="1"/>
                    </p:cNvSpPr>
                    <p:nvPr/>
                  </p:nvSpPr>
                  <p:spPr bwMode="auto">
                    <a:xfrm flipV="1">
                      <a:off x="3072" y="8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22" name="Line 381"/>
                    <p:cNvSpPr>
                      <a:spLocks noChangeShapeType="1"/>
                    </p:cNvSpPr>
                    <p:nvPr/>
                  </p:nvSpPr>
                  <p:spPr bwMode="auto">
                    <a:xfrm flipV="1">
                      <a:off x="3076" y="81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23" name="Line 382"/>
                    <p:cNvSpPr>
                      <a:spLocks noChangeShapeType="1"/>
                    </p:cNvSpPr>
                    <p:nvPr/>
                  </p:nvSpPr>
                  <p:spPr bwMode="auto">
                    <a:xfrm flipV="1">
                      <a:off x="3081" y="81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24" name="Freeform 383"/>
                    <p:cNvSpPr>
                      <a:spLocks/>
                    </p:cNvSpPr>
                    <p:nvPr/>
                  </p:nvSpPr>
                  <p:spPr bwMode="auto">
                    <a:xfrm>
                      <a:off x="3081" y="81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25" name="Line 384"/>
                    <p:cNvSpPr>
                      <a:spLocks noChangeShapeType="1"/>
                    </p:cNvSpPr>
                    <p:nvPr/>
                  </p:nvSpPr>
                  <p:spPr bwMode="auto">
                    <a:xfrm flipV="1">
                      <a:off x="3085" y="80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26" name="Freeform 385"/>
                    <p:cNvSpPr>
                      <a:spLocks/>
                    </p:cNvSpPr>
                    <p:nvPr/>
                  </p:nvSpPr>
                  <p:spPr bwMode="auto">
                    <a:xfrm>
                      <a:off x="3085" y="802"/>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27" name="Line 386"/>
                    <p:cNvSpPr>
                      <a:spLocks noChangeShapeType="1"/>
                    </p:cNvSpPr>
                    <p:nvPr/>
                  </p:nvSpPr>
                  <p:spPr bwMode="auto">
                    <a:xfrm flipV="1">
                      <a:off x="3089" y="79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28" name="Line 387"/>
                    <p:cNvSpPr>
                      <a:spLocks noChangeShapeType="1"/>
                    </p:cNvSpPr>
                    <p:nvPr/>
                  </p:nvSpPr>
                  <p:spPr bwMode="auto">
                    <a:xfrm>
                      <a:off x="3089" y="79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29" name="Freeform 388"/>
                    <p:cNvSpPr>
                      <a:spLocks/>
                    </p:cNvSpPr>
                    <p:nvPr/>
                  </p:nvSpPr>
                  <p:spPr bwMode="auto">
                    <a:xfrm>
                      <a:off x="3094" y="793"/>
                      <a:ext cx="4" cy="5"/>
                    </a:xfrm>
                    <a:custGeom>
                      <a:avLst/>
                      <a:gdLst>
                        <a:gd name="T0" fmla="*/ 0 w 4"/>
                        <a:gd name="T1" fmla="*/ 5 h 5"/>
                        <a:gd name="T2" fmla="*/ 4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30" name="Line 389"/>
                    <p:cNvSpPr>
                      <a:spLocks noChangeShapeType="1"/>
                    </p:cNvSpPr>
                    <p:nvPr/>
                  </p:nvSpPr>
                  <p:spPr bwMode="auto">
                    <a:xfrm>
                      <a:off x="3098" y="79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31" name="Freeform 390"/>
                    <p:cNvSpPr>
                      <a:spLocks/>
                    </p:cNvSpPr>
                    <p:nvPr/>
                  </p:nvSpPr>
                  <p:spPr bwMode="auto">
                    <a:xfrm>
                      <a:off x="3098" y="789"/>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32" name="Line 391"/>
                    <p:cNvSpPr>
                      <a:spLocks noChangeShapeType="1"/>
                    </p:cNvSpPr>
                    <p:nvPr/>
                  </p:nvSpPr>
                  <p:spPr bwMode="auto">
                    <a:xfrm flipV="1">
                      <a:off x="3102" y="78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33" name="Line 392"/>
                    <p:cNvSpPr>
                      <a:spLocks noChangeShapeType="1"/>
                    </p:cNvSpPr>
                    <p:nvPr/>
                  </p:nvSpPr>
                  <p:spPr bwMode="auto">
                    <a:xfrm>
                      <a:off x="3102" y="785"/>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34" name="Freeform 393"/>
                    <p:cNvSpPr>
                      <a:spLocks/>
                    </p:cNvSpPr>
                    <p:nvPr/>
                  </p:nvSpPr>
                  <p:spPr bwMode="auto">
                    <a:xfrm>
                      <a:off x="3107" y="780"/>
                      <a:ext cx="4" cy="5"/>
                    </a:xfrm>
                    <a:custGeom>
                      <a:avLst/>
                      <a:gdLst>
                        <a:gd name="T0" fmla="*/ 0 w 4"/>
                        <a:gd name="T1" fmla="*/ 5 h 5"/>
                        <a:gd name="T2" fmla="*/ 4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35" name="Line 394"/>
                    <p:cNvSpPr>
                      <a:spLocks noChangeShapeType="1"/>
                    </p:cNvSpPr>
                    <p:nvPr/>
                  </p:nvSpPr>
                  <p:spPr bwMode="auto">
                    <a:xfrm>
                      <a:off x="3111" y="78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36" name="Freeform 395"/>
                    <p:cNvSpPr>
                      <a:spLocks/>
                    </p:cNvSpPr>
                    <p:nvPr/>
                  </p:nvSpPr>
                  <p:spPr bwMode="auto">
                    <a:xfrm>
                      <a:off x="3111" y="776"/>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37" name="Line 396"/>
                    <p:cNvSpPr>
                      <a:spLocks noChangeShapeType="1"/>
                    </p:cNvSpPr>
                    <p:nvPr/>
                  </p:nvSpPr>
                  <p:spPr bwMode="auto">
                    <a:xfrm>
                      <a:off x="3115" y="77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38" name="Freeform 397"/>
                    <p:cNvSpPr>
                      <a:spLocks/>
                    </p:cNvSpPr>
                    <p:nvPr/>
                  </p:nvSpPr>
                  <p:spPr bwMode="auto">
                    <a:xfrm>
                      <a:off x="3115" y="772"/>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39" name="Line 398"/>
                    <p:cNvSpPr>
                      <a:spLocks noChangeShapeType="1"/>
                    </p:cNvSpPr>
                    <p:nvPr/>
                  </p:nvSpPr>
                  <p:spPr bwMode="auto">
                    <a:xfrm>
                      <a:off x="3120" y="77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40" name="Freeform 399"/>
                    <p:cNvSpPr>
                      <a:spLocks/>
                    </p:cNvSpPr>
                    <p:nvPr/>
                  </p:nvSpPr>
                  <p:spPr bwMode="auto">
                    <a:xfrm>
                      <a:off x="3120" y="767"/>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41" name="Line 400"/>
                    <p:cNvSpPr>
                      <a:spLocks noChangeShapeType="1"/>
                    </p:cNvSpPr>
                    <p:nvPr/>
                  </p:nvSpPr>
                  <p:spPr bwMode="auto">
                    <a:xfrm>
                      <a:off x="3124" y="76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42" name="Line 401"/>
                    <p:cNvSpPr>
                      <a:spLocks noChangeShapeType="1"/>
                    </p:cNvSpPr>
                    <p:nvPr/>
                  </p:nvSpPr>
                  <p:spPr bwMode="auto">
                    <a:xfrm>
                      <a:off x="3128" y="76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43" name="Freeform 402"/>
                    <p:cNvSpPr>
                      <a:spLocks/>
                    </p:cNvSpPr>
                    <p:nvPr/>
                  </p:nvSpPr>
                  <p:spPr bwMode="auto">
                    <a:xfrm>
                      <a:off x="3128" y="763"/>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044" name="Line 403"/>
                    <p:cNvSpPr>
                      <a:spLocks noChangeShapeType="1"/>
                    </p:cNvSpPr>
                    <p:nvPr/>
                  </p:nvSpPr>
                  <p:spPr bwMode="auto">
                    <a:xfrm>
                      <a:off x="3133" y="76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8431" name="Group 404"/>
                  <p:cNvGrpSpPr>
                    <a:grpSpLocks/>
                  </p:cNvGrpSpPr>
                  <p:nvPr/>
                </p:nvGrpSpPr>
                <p:grpSpPr bwMode="auto">
                  <a:xfrm>
                    <a:off x="3133" y="758"/>
                    <a:ext cx="508" cy="851"/>
                    <a:chOff x="3133" y="754"/>
                    <a:chExt cx="508" cy="851"/>
                  </a:xfrm>
                </p:grpSpPr>
                <p:sp>
                  <p:nvSpPr>
                    <p:cNvPr id="8645" name="Line 405"/>
                    <p:cNvSpPr>
                      <a:spLocks noChangeShapeType="1"/>
                    </p:cNvSpPr>
                    <p:nvPr/>
                  </p:nvSpPr>
                  <p:spPr bwMode="auto">
                    <a:xfrm>
                      <a:off x="3133" y="76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46" name="Freeform 406"/>
                    <p:cNvSpPr>
                      <a:spLocks/>
                    </p:cNvSpPr>
                    <p:nvPr/>
                  </p:nvSpPr>
                  <p:spPr bwMode="auto">
                    <a:xfrm>
                      <a:off x="3137" y="759"/>
                      <a:ext cx="4" cy="4"/>
                    </a:xfrm>
                    <a:custGeom>
                      <a:avLst/>
                      <a:gdLst>
                        <a:gd name="T0" fmla="*/ 0 w 4"/>
                        <a:gd name="T1" fmla="*/ 4 h 4"/>
                        <a:gd name="T2" fmla="*/ 4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7" name="Line 407"/>
                    <p:cNvSpPr>
                      <a:spLocks noChangeShapeType="1"/>
                    </p:cNvSpPr>
                    <p:nvPr/>
                  </p:nvSpPr>
                  <p:spPr bwMode="auto">
                    <a:xfrm>
                      <a:off x="3141"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48" name="Freeform 408"/>
                    <p:cNvSpPr>
                      <a:spLocks/>
                    </p:cNvSpPr>
                    <p:nvPr/>
                  </p:nvSpPr>
                  <p:spPr bwMode="auto">
                    <a:xfrm>
                      <a:off x="3141" y="75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9" name="Line 409"/>
                    <p:cNvSpPr>
                      <a:spLocks noChangeShapeType="1"/>
                    </p:cNvSpPr>
                    <p:nvPr/>
                  </p:nvSpPr>
                  <p:spPr bwMode="auto">
                    <a:xfrm>
                      <a:off x="3146"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50" name="Freeform 410"/>
                    <p:cNvSpPr>
                      <a:spLocks/>
                    </p:cNvSpPr>
                    <p:nvPr/>
                  </p:nvSpPr>
                  <p:spPr bwMode="auto">
                    <a:xfrm>
                      <a:off x="3146" y="75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51" name="Freeform 411"/>
                    <p:cNvSpPr>
                      <a:spLocks/>
                    </p:cNvSpPr>
                    <p:nvPr/>
                  </p:nvSpPr>
                  <p:spPr bwMode="auto">
                    <a:xfrm>
                      <a:off x="3150" y="754"/>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52" name="Line 412"/>
                    <p:cNvSpPr>
                      <a:spLocks noChangeShapeType="1"/>
                    </p:cNvSpPr>
                    <p:nvPr/>
                  </p:nvSpPr>
                  <p:spPr bwMode="auto">
                    <a:xfrm>
                      <a:off x="3150" y="75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53" name="Line 413"/>
                    <p:cNvSpPr>
                      <a:spLocks noChangeShapeType="1"/>
                    </p:cNvSpPr>
                    <p:nvPr/>
                  </p:nvSpPr>
                  <p:spPr bwMode="auto">
                    <a:xfrm>
                      <a:off x="3154" y="75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54" name="Line 414"/>
                    <p:cNvSpPr>
                      <a:spLocks noChangeShapeType="1"/>
                    </p:cNvSpPr>
                    <p:nvPr/>
                  </p:nvSpPr>
                  <p:spPr bwMode="auto">
                    <a:xfrm>
                      <a:off x="3159"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55" name="Freeform 415"/>
                    <p:cNvSpPr>
                      <a:spLocks/>
                    </p:cNvSpPr>
                    <p:nvPr/>
                  </p:nvSpPr>
                  <p:spPr bwMode="auto">
                    <a:xfrm>
                      <a:off x="3159" y="75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56" name="Line 416"/>
                    <p:cNvSpPr>
                      <a:spLocks noChangeShapeType="1"/>
                    </p:cNvSpPr>
                    <p:nvPr/>
                  </p:nvSpPr>
                  <p:spPr bwMode="auto">
                    <a:xfrm>
                      <a:off x="3163"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57" name="Line 417"/>
                    <p:cNvSpPr>
                      <a:spLocks noChangeShapeType="1"/>
                    </p:cNvSpPr>
                    <p:nvPr/>
                  </p:nvSpPr>
                  <p:spPr bwMode="auto">
                    <a:xfrm>
                      <a:off x="3163" y="75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58" name="Line 418"/>
                    <p:cNvSpPr>
                      <a:spLocks noChangeShapeType="1"/>
                    </p:cNvSpPr>
                    <p:nvPr/>
                  </p:nvSpPr>
                  <p:spPr bwMode="auto">
                    <a:xfrm>
                      <a:off x="3168" y="75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59" name="Line 419"/>
                    <p:cNvSpPr>
                      <a:spLocks noChangeShapeType="1"/>
                    </p:cNvSpPr>
                    <p:nvPr/>
                  </p:nvSpPr>
                  <p:spPr bwMode="auto">
                    <a:xfrm>
                      <a:off x="3172"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60" name="Freeform 420"/>
                    <p:cNvSpPr>
                      <a:spLocks/>
                    </p:cNvSpPr>
                    <p:nvPr/>
                  </p:nvSpPr>
                  <p:spPr bwMode="auto">
                    <a:xfrm>
                      <a:off x="3172" y="75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61" name="Line 421"/>
                    <p:cNvSpPr>
                      <a:spLocks noChangeShapeType="1"/>
                    </p:cNvSpPr>
                    <p:nvPr/>
                  </p:nvSpPr>
                  <p:spPr bwMode="auto">
                    <a:xfrm>
                      <a:off x="3176"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62" name="Line 422"/>
                    <p:cNvSpPr>
                      <a:spLocks noChangeShapeType="1"/>
                    </p:cNvSpPr>
                    <p:nvPr/>
                  </p:nvSpPr>
                  <p:spPr bwMode="auto">
                    <a:xfrm>
                      <a:off x="3176" y="75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63" name="Line 423"/>
                    <p:cNvSpPr>
                      <a:spLocks noChangeShapeType="1"/>
                    </p:cNvSpPr>
                    <p:nvPr/>
                  </p:nvSpPr>
                  <p:spPr bwMode="auto">
                    <a:xfrm>
                      <a:off x="3181" y="75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64" name="Freeform 424"/>
                    <p:cNvSpPr>
                      <a:spLocks/>
                    </p:cNvSpPr>
                    <p:nvPr/>
                  </p:nvSpPr>
                  <p:spPr bwMode="auto">
                    <a:xfrm>
                      <a:off x="3185" y="754"/>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65" name="Freeform 425"/>
                    <p:cNvSpPr>
                      <a:spLocks/>
                    </p:cNvSpPr>
                    <p:nvPr/>
                  </p:nvSpPr>
                  <p:spPr bwMode="auto">
                    <a:xfrm>
                      <a:off x="3185" y="75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66" name="Line 426"/>
                    <p:cNvSpPr>
                      <a:spLocks noChangeShapeType="1"/>
                    </p:cNvSpPr>
                    <p:nvPr/>
                  </p:nvSpPr>
                  <p:spPr bwMode="auto">
                    <a:xfrm>
                      <a:off x="3189"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67" name="Freeform 427"/>
                    <p:cNvSpPr>
                      <a:spLocks/>
                    </p:cNvSpPr>
                    <p:nvPr/>
                  </p:nvSpPr>
                  <p:spPr bwMode="auto">
                    <a:xfrm>
                      <a:off x="3189" y="75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68" name="Line 428"/>
                    <p:cNvSpPr>
                      <a:spLocks noChangeShapeType="1"/>
                    </p:cNvSpPr>
                    <p:nvPr/>
                  </p:nvSpPr>
                  <p:spPr bwMode="auto">
                    <a:xfrm>
                      <a:off x="3194"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69" name="Freeform 429"/>
                    <p:cNvSpPr>
                      <a:spLocks/>
                    </p:cNvSpPr>
                    <p:nvPr/>
                  </p:nvSpPr>
                  <p:spPr bwMode="auto">
                    <a:xfrm>
                      <a:off x="3194" y="759"/>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70" name="Line 430"/>
                    <p:cNvSpPr>
                      <a:spLocks noChangeShapeType="1"/>
                    </p:cNvSpPr>
                    <p:nvPr/>
                  </p:nvSpPr>
                  <p:spPr bwMode="auto">
                    <a:xfrm>
                      <a:off x="3198" y="76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71" name="Line 431"/>
                    <p:cNvSpPr>
                      <a:spLocks noChangeShapeType="1"/>
                    </p:cNvSpPr>
                    <p:nvPr/>
                  </p:nvSpPr>
                  <p:spPr bwMode="auto">
                    <a:xfrm>
                      <a:off x="3202" y="76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72" name="Freeform 432"/>
                    <p:cNvSpPr>
                      <a:spLocks/>
                    </p:cNvSpPr>
                    <p:nvPr/>
                  </p:nvSpPr>
                  <p:spPr bwMode="auto">
                    <a:xfrm>
                      <a:off x="3202" y="763"/>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73" name="Line 433"/>
                    <p:cNvSpPr>
                      <a:spLocks noChangeShapeType="1"/>
                    </p:cNvSpPr>
                    <p:nvPr/>
                  </p:nvSpPr>
                  <p:spPr bwMode="auto">
                    <a:xfrm>
                      <a:off x="3207" y="76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74" name="Line 434"/>
                    <p:cNvSpPr>
                      <a:spLocks noChangeShapeType="1"/>
                    </p:cNvSpPr>
                    <p:nvPr/>
                  </p:nvSpPr>
                  <p:spPr bwMode="auto">
                    <a:xfrm>
                      <a:off x="3207" y="76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75" name="Freeform 435"/>
                    <p:cNvSpPr>
                      <a:spLocks/>
                    </p:cNvSpPr>
                    <p:nvPr/>
                  </p:nvSpPr>
                  <p:spPr bwMode="auto">
                    <a:xfrm>
                      <a:off x="3211" y="767"/>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76" name="Line 436"/>
                    <p:cNvSpPr>
                      <a:spLocks noChangeShapeType="1"/>
                    </p:cNvSpPr>
                    <p:nvPr/>
                  </p:nvSpPr>
                  <p:spPr bwMode="auto">
                    <a:xfrm>
                      <a:off x="3215" y="77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77" name="Freeform 437"/>
                    <p:cNvSpPr>
                      <a:spLocks/>
                    </p:cNvSpPr>
                    <p:nvPr/>
                  </p:nvSpPr>
                  <p:spPr bwMode="auto">
                    <a:xfrm>
                      <a:off x="3215" y="772"/>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78" name="Line 438"/>
                    <p:cNvSpPr>
                      <a:spLocks noChangeShapeType="1"/>
                    </p:cNvSpPr>
                    <p:nvPr/>
                  </p:nvSpPr>
                  <p:spPr bwMode="auto">
                    <a:xfrm>
                      <a:off x="3220" y="77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79" name="Freeform 439"/>
                    <p:cNvSpPr>
                      <a:spLocks/>
                    </p:cNvSpPr>
                    <p:nvPr/>
                  </p:nvSpPr>
                  <p:spPr bwMode="auto">
                    <a:xfrm>
                      <a:off x="3220" y="776"/>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80" name="Line 440"/>
                    <p:cNvSpPr>
                      <a:spLocks noChangeShapeType="1"/>
                    </p:cNvSpPr>
                    <p:nvPr/>
                  </p:nvSpPr>
                  <p:spPr bwMode="auto">
                    <a:xfrm>
                      <a:off x="3224" y="78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81" name="Freeform 441"/>
                    <p:cNvSpPr>
                      <a:spLocks/>
                    </p:cNvSpPr>
                    <p:nvPr/>
                  </p:nvSpPr>
                  <p:spPr bwMode="auto">
                    <a:xfrm>
                      <a:off x="3224" y="780"/>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82" name="Line 442"/>
                    <p:cNvSpPr>
                      <a:spLocks noChangeShapeType="1"/>
                    </p:cNvSpPr>
                    <p:nvPr/>
                  </p:nvSpPr>
                  <p:spPr bwMode="auto">
                    <a:xfrm>
                      <a:off x="3228" y="785"/>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83" name="Line 443"/>
                    <p:cNvSpPr>
                      <a:spLocks noChangeShapeType="1"/>
                    </p:cNvSpPr>
                    <p:nvPr/>
                  </p:nvSpPr>
                  <p:spPr bwMode="auto">
                    <a:xfrm>
                      <a:off x="3233" y="78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84" name="Freeform 444"/>
                    <p:cNvSpPr>
                      <a:spLocks/>
                    </p:cNvSpPr>
                    <p:nvPr/>
                  </p:nvSpPr>
                  <p:spPr bwMode="auto">
                    <a:xfrm>
                      <a:off x="3233" y="789"/>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85" name="Line 445"/>
                    <p:cNvSpPr>
                      <a:spLocks noChangeShapeType="1"/>
                    </p:cNvSpPr>
                    <p:nvPr/>
                  </p:nvSpPr>
                  <p:spPr bwMode="auto">
                    <a:xfrm>
                      <a:off x="3237" y="79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86" name="Freeform 446"/>
                    <p:cNvSpPr>
                      <a:spLocks/>
                    </p:cNvSpPr>
                    <p:nvPr/>
                  </p:nvSpPr>
                  <p:spPr bwMode="auto">
                    <a:xfrm>
                      <a:off x="3237" y="793"/>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87" name="Line 447"/>
                    <p:cNvSpPr>
                      <a:spLocks noChangeShapeType="1"/>
                    </p:cNvSpPr>
                    <p:nvPr/>
                  </p:nvSpPr>
                  <p:spPr bwMode="auto">
                    <a:xfrm>
                      <a:off x="3241" y="79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88" name="Line 448"/>
                    <p:cNvSpPr>
                      <a:spLocks noChangeShapeType="1"/>
                    </p:cNvSpPr>
                    <p:nvPr/>
                  </p:nvSpPr>
                  <p:spPr bwMode="auto">
                    <a:xfrm>
                      <a:off x="3246" y="79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89" name="Freeform 449"/>
                    <p:cNvSpPr>
                      <a:spLocks/>
                    </p:cNvSpPr>
                    <p:nvPr/>
                  </p:nvSpPr>
                  <p:spPr bwMode="auto">
                    <a:xfrm>
                      <a:off x="3246" y="802"/>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90" name="Line 450"/>
                    <p:cNvSpPr>
                      <a:spLocks noChangeShapeType="1"/>
                    </p:cNvSpPr>
                    <p:nvPr/>
                  </p:nvSpPr>
                  <p:spPr bwMode="auto">
                    <a:xfrm>
                      <a:off x="3250" y="80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91" name="Freeform 451"/>
                    <p:cNvSpPr>
                      <a:spLocks/>
                    </p:cNvSpPr>
                    <p:nvPr/>
                  </p:nvSpPr>
                  <p:spPr bwMode="auto">
                    <a:xfrm>
                      <a:off x="3250" y="81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92" name="Line 452"/>
                    <p:cNvSpPr>
                      <a:spLocks noChangeShapeType="1"/>
                    </p:cNvSpPr>
                    <p:nvPr/>
                  </p:nvSpPr>
                  <p:spPr bwMode="auto">
                    <a:xfrm>
                      <a:off x="3254" y="81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93" name="Line 453"/>
                    <p:cNvSpPr>
                      <a:spLocks noChangeShapeType="1"/>
                    </p:cNvSpPr>
                    <p:nvPr/>
                  </p:nvSpPr>
                  <p:spPr bwMode="auto">
                    <a:xfrm>
                      <a:off x="3254" y="81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94" name="Line 454"/>
                    <p:cNvSpPr>
                      <a:spLocks noChangeShapeType="1"/>
                    </p:cNvSpPr>
                    <p:nvPr/>
                  </p:nvSpPr>
                  <p:spPr bwMode="auto">
                    <a:xfrm>
                      <a:off x="3259" y="8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95" name="Line 455"/>
                    <p:cNvSpPr>
                      <a:spLocks noChangeShapeType="1"/>
                    </p:cNvSpPr>
                    <p:nvPr/>
                  </p:nvSpPr>
                  <p:spPr bwMode="auto">
                    <a:xfrm>
                      <a:off x="3263" y="82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96" name="Freeform 456"/>
                    <p:cNvSpPr>
                      <a:spLocks/>
                    </p:cNvSpPr>
                    <p:nvPr/>
                  </p:nvSpPr>
                  <p:spPr bwMode="auto">
                    <a:xfrm>
                      <a:off x="3263" y="82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97" name="Line 457"/>
                    <p:cNvSpPr>
                      <a:spLocks noChangeShapeType="1"/>
                    </p:cNvSpPr>
                    <p:nvPr/>
                  </p:nvSpPr>
                  <p:spPr bwMode="auto">
                    <a:xfrm>
                      <a:off x="3267" y="8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98" name="Line 458"/>
                    <p:cNvSpPr>
                      <a:spLocks noChangeShapeType="1"/>
                    </p:cNvSpPr>
                    <p:nvPr/>
                  </p:nvSpPr>
                  <p:spPr bwMode="auto">
                    <a:xfrm>
                      <a:off x="3267" y="832"/>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99" name="Line 459"/>
                    <p:cNvSpPr>
                      <a:spLocks noChangeShapeType="1"/>
                    </p:cNvSpPr>
                    <p:nvPr/>
                  </p:nvSpPr>
                  <p:spPr bwMode="auto">
                    <a:xfrm>
                      <a:off x="3272" y="83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00" name="Line 460"/>
                    <p:cNvSpPr>
                      <a:spLocks noChangeShapeType="1"/>
                    </p:cNvSpPr>
                    <p:nvPr/>
                  </p:nvSpPr>
                  <p:spPr bwMode="auto">
                    <a:xfrm>
                      <a:off x="3276" y="8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01" name="Freeform 461"/>
                    <p:cNvSpPr>
                      <a:spLocks/>
                    </p:cNvSpPr>
                    <p:nvPr/>
                  </p:nvSpPr>
                  <p:spPr bwMode="auto">
                    <a:xfrm>
                      <a:off x="3276" y="845"/>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02" name="Line 462"/>
                    <p:cNvSpPr>
                      <a:spLocks noChangeShapeType="1"/>
                    </p:cNvSpPr>
                    <p:nvPr/>
                  </p:nvSpPr>
                  <p:spPr bwMode="auto">
                    <a:xfrm>
                      <a:off x="3280" y="85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03" name="Freeform 463"/>
                    <p:cNvSpPr>
                      <a:spLocks/>
                    </p:cNvSpPr>
                    <p:nvPr/>
                  </p:nvSpPr>
                  <p:spPr bwMode="auto">
                    <a:xfrm>
                      <a:off x="3280" y="854"/>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04" name="Line 464"/>
                    <p:cNvSpPr>
                      <a:spLocks noChangeShapeType="1"/>
                    </p:cNvSpPr>
                    <p:nvPr/>
                  </p:nvSpPr>
                  <p:spPr bwMode="auto">
                    <a:xfrm>
                      <a:off x="3285" y="858"/>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05" name="Line 465"/>
                    <p:cNvSpPr>
                      <a:spLocks noChangeShapeType="1"/>
                    </p:cNvSpPr>
                    <p:nvPr/>
                  </p:nvSpPr>
                  <p:spPr bwMode="auto">
                    <a:xfrm>
                      <a:off x="3285" y="86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06" name="Line 466"/>
                    <p:cNvSpPr>
                      <a:spLocks noChangeShapeType="1"/>
                    </p:cNvSpPr>
                    <p:nvPr/>
                  </p:nvSpPr>
                  <p:spPr bwMode="auto">
                    <a:xfrm>
                      <a:off x="3289" y="8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07" name="Line 467"/>
                    <p:cNvSpPr>
                      <a:spLocks noChangeShapeType="1"/>
                    </p:cNvSpPr>
                    <p:nvPr/>
                  </p:nvSpPr>
                  <p:spPr bwMode="auto">
                    <a:xfrm>
                      <a:off x="3293" y="87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08" name="Freeform 468"/>
                    <p:cNvSpPr>
                      <a:spLocks/>
                    </p:cNvSpPr>
                    <p:nvPr/>
                  </p:nvSpPr>
                  <p:spPr bwMode="auto">
                    <a:xfrm>
                      <a:off x="3293" y="876"/>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09" name="Line 469"/>
                    <p:cNvSpPr>
                      <a:spLocks noChangeShapeType="1"/>
                    </p:cNvSpPr>
                    <p:nvPr/>
                  </p:nvSpPr>
                  <p:spPr bwMode="auto">
                    <a:xfrm>
                      <a:off x="3298" y="8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10" name="Line 470"/>
                    <p:cNvSpPr>
                      <a:spLocks noChangeShapeType="1"/>
                    </p:cNvSpPr>
                    <p:nvPr/>
                  </p:nvSpPr>
                  <p:spPr bwMode="auto">
                    <a:xfrm>
                      <a:off x="3298" y="884"/>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11" name="Line 471"/>
                    <p:cNvSpPr>
                      <a:spLocks noChangeShapeType="1"/>
                    </p:cNvSpPr>
                    <p:nvPr/>
                  </p:nvSpPr>
                  <p:spPr bwMode="auto">
                    <a:xfrm>
                      <a:off x="3302" y="8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12" name="Line 472"/>
                    <p:cNvSpPr>
                      <a:spLocks noChangeShapeType="1"/>
                    </p:cNvSpPr>
                    <p:nvPr/>
                  </p:nvSpPr>
                  <p:spPr bwMode="auto">
                    <a:xfrm>
                      <a:off x="3306" y="89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13" name="Freeform 473"/>
                    <p:cNvSpPr>
                      <a:spLocks/>
                    </p:cNvSpPr>
                    <p:nvPr/>
                  </p:nvSpPr>
                  <p:spPr bwMode="auto">
                    <a:xfrm>
                      <a:off x="3306" y="897"/>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14" name="Line 474"/>
                    <p:cNvSpPr>
                      <a:spLocks noChangeShapeType="1"/>
                    </p:cNvSpPr>
                    <p:nvPr/>
                  </p:nvSpPr>
                  <p:spPr bwMode="auto">
                    <a:xfrm>
                      <a:off x="3311" y="902"/>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15" name="Freeform 475"/>
                    <p:cNvSpPr>
                      <a:spLocks/>
                    </p:cNvSpPr>
                    <p:nvPr/>
                  </p:nvSpPr>
                  <p:spPr bwMode="auto">
                    <a:xfrm>
                      <a:off x="3311" y="910"/>
                      <a:ext cx="4" cy="5"/>
                    </a:xfrm>
                    <a:custGeom>
                      <a:avLst/>
                      <a:gdLst>
                        <a:gd name="T0" fmla="*/ 0 w 4"/>
                        <a:gd name="T1" fmla="*/ 0 h 5"/>
                        <a:gd name="T2" fmla="*/ 0 w 4"/>
                        <a:gd name="T3" fmla="*/ 5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5"/>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16" name="Line 476"/>
                    <p:cNvSpPr>
                      <a:spLocks noChangeShapeType="1"/>
                    </p:cNvSpPr>
                    <p:nvPr/>
                  </p:nvSpPr>
                  <p:spPr bwMode="auto">
                    <a:xfrm>
                      <a:off x="3315" y="91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17" name="Line 477"/>
                    <p:cNvSpPr>
                      <a:spLocks noChangeShapeType="1"/>
                    </p:cNvSpPr>
                    <p:nvPr/>
                  </p:nvSpPr>
                  <p:spPr bwMode="auto">
                    <a:xfrm>
                      <a:off x="3315" y="9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18" name="Line 478"/>
                    <p:cNvSpPr>
                      <a:spLocks noChangeShapeType="1"/>
                    </p:cNvSpPr>
                    <p:nvPr/>
                  </p:nvSpPr>
                  <p:spPr bwMode="auto">
                    <a:xfrm>
                      <a:off x="3319" y="92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19" name="Line 479"/>
                    <p:cNvSpPr>
                      <a:spLocks noChangeShapeType="1"/>
                    </p:cNvSpPr>
                    <p:nvPr/>
                  </p:nvSpPr>
                  <p:spPr bwMode="auto">
                    <a:xfrm>
                      <a:off x="3324" y="9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20" name="Freeform 480"/>
                    <p:cNvSpPr>
                      <a:spLocks/>
                    </p:cNvSpPr>
                    <p:nvPr/>
                  </p:nvSpPr>
                  <p:spPr bwMode="auto">
                    <a:xfrm>
                      <a:off x="3324" y="932"/>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1" name="Line 481"/>
                    <p:cNvSpPr>
                      <a:spLocks noChangeShapeType="1"/>
                    </p:cNvSpPr>
                    <p:nvPr/>
                  </p:nvSpPr>
                  <p:spPr bwMode="auto">
                    <a:xfrm>
                      <a:off x="3328" y="9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22" name="Line 482"/>
                    <p:cNvSpPr>
                      <a:spLocks noChangeShapeType="1"/>
                    </p:cNvSpPr>
                    <p:nvPr/>
                  </p:nvSpPr>
                  <p:spPr bwMode="auto">
                    <a:xfrm>
                      <a:off x="3328" y="94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23" name="Line 483"/>
                    <p:cNvSpPr>
                      <a:spLocks noChangeShapeType="1"/>
                    </p:cNvSpPr>
                    <p:nvPr/>
                  </p:nvSpPr>
                  <p:spPr bwMode="auto">
                    <a:xfrm>
                      <a:off x="3332" y="950"/>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24" name="Line 484"/>
                    <p:cNvSpPr>
                      <a:spLocks noChangeShapeType="1"/>
                    </p:cNvSpPr>
                    <p:nvPr/>
                  </p:nvSpPr>
                  <p:spPr bwMode="auto">
                    <a:xfrm>
                      <a:off x="3337" y="95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25" name="Freeform 485"/>
                    <p:cNvSpPr>
                      <a:spLocks/>
                    </p:cNvSpPr>
                    <p:nvPr/>
                  </p:nvSpPr>
                  <p:spPr bwMode="auto">
                    <a:xfrm>
                      <a:off x="3337" y="963"/>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6" name="Line 486"/>
                    <p:cNvSpPr>
                      <a:spLocks noChangeShapeType="1"/>
                    </p:cNvSpPr>
                    <p:nvPr/>
                  </p:nvSpPr>
                  <p:spPr bwMode="auto">
                    <a:xfrm>
                      <a:off x="3341" y="9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27" name="Freeform 487"/>
                    <p:cNvSpPr>
                      <a:spLocks/>
                    </p:cNvSpPr>
                    <p:nvPr/>
                  </p:nvSpPr>
                  <p:spPr bwMode="auto">
                    <a:xfrm>
                      <a:off x="3341" y="971"/>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28" name="Line 488"/>
                    <p:cNvSpPr>
                      <a:spLocks noChangeShapeType="1"/>
                    </p:cNvSpPr>
                    <p:nvPr/>
                  </p:nvSpPr>
                  <p:spPr bwMode="auto">
                    <a:xfrm>
                      <a:off x="3345" y="9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29" name="Line 489"/>
                    <p:cNvSpPr>
                      <a:spLocks noChangeShapeType="1"/>
                    </p:cNvSpPr>
                    <p:nvPr/>
                  </p:nvSpPr>
                  <p:spPr bwMode="auto">
                    <a:xfrm>
                      <a:off x="3345" y="98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30" name="Line 490"/>
                    <p:cNvSpPr>
                      <a:spLocks noChangeShapeType="1"/>
                    </p:cNvSpPr>
                    <p:nvPr/>
                  </p:nvSpPr>
                  <p:spPr bwMode="auto">
                    <a:xfrm>
                      <a:off x="3350" y="9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31" name="Line 491"/>
                    <p:cNvSpPr>
                      <a:spLocks noChangeShapeType="1"/>
                    </p:cNvSpPr>
                    <p:nvPr/>
                  </p:nvSpPr>
                  <p:spPr bwMode="auto">
                    <a:xfrm>
                      <a:off x="3354" y="99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32" name="Freeform 492"/>
                    <p:cNvSpPr>
                      <a:spLocks/>
                    </p:cNvSpPr>
                    <p:nvPr/>
                  </p:nvSpPr>
                  <p:spPr bwMode="auto">
                    <a:xfrm>
                      <a:off x="3354" y="1002"/>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3" name="Line 493"/>
                    <p:cNvSpPr>
                      <a:spLocks noChangeShapeType="1"/>
                    </p:cNvSpPr>
                    <p:nvPr/>
                  </p:nvSpPr>
                  <p:spPr bwMode="auto">
                    <a:xfrm>
                      <a:off x="3359" y="100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34" name="Line 494"/>
                    <p:cNvSpPr>
                      <a:spLocks noChangeShapeType="1"/>
                    </p:cNvSpPr>
                    <p:nvPr/>
                  </p:nvSpPr>
                  <p:spPr bwMode="auto">
                    <a:xfrm>
                      <a:off x="3359" y="1010"/>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35" name="Line 495"/>
                    <p:cNvSpPr>
                      <a:spLocks noChangeShapeType="1"/>
                    </p:cNvSpPr>
                    <p:nvPr/>
                  </p:nvSpPr>
                  <p:spPr bwMode="auto">
                    <a:xfrm>
                      <a:off x="3363" y="101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36" name="Line 496"/>
                    <p:cNvSpPr>
                      <a:spLocks noChangeShapeType="1"/>
                    </p:cNvSpPr>
                    <p:nvPr/>
                  </p:nvSpPr>
                  <p:spPr bwMode="auto">
                    <a:xfrm>
                      <a:off x="3367" y="102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37" name="Freeform 497"/>
                    <p:cNvSpPr>
                      <a:spLocks/>
                    </p:cNvSpPr>
                    <p:nvPr/>
                  </p:nvSpPr>
                  <p:spPr bwMode="auto">
                    <a:xfrm>
                      <a:off x="3367" y="1032"/>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38" name="Line 498"/>
                    <p:cNvSpPr>
                      <a:spLocks noChangeShapeType="1"/>
                    </p:cNvSpPr>
                    <p:nvPr/>
                  </p:nvSpPr>
                  <p:spPr bwMode="auto">
                    <a:xfrm>
                      <a:off x="3372" y="103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39" name="Freeform 499"/>
                    <p:cNvSpPr>
                      <a:spLocks/>
                    </p:cNvSpPr>
                    <p:nvPr/>
                  </p:nvSpPr>
                  <p:spPr bwMode="auto">
                    <a:xfrm>
                      <a:off x="3372" y="1041"/>
                      <a:ext cx="4" cy="8"/>
                    </a:xfrm>
                    <a:custGeom>
                      <a:avLst/>
                      <a:gdLst>
                        <a:gd name="T0" fmla="*/ 0 w 4"/>
                        <a:gd name="T1" fmla="*/ 0 h 8"/>
                        <a:gd name="T2" fmla="*/ 0 w 4"/>
                        <a:gd name="T3" fmla="*/ 4 h 8"/>
                        <a:gd name="T4" fmla="*/ 4 w 4"/>
                        <a:gd name="T5" fmla="*/ 8 h 8"/>
                        <a:gd name="T6" fmla="*/ 0 60000 65536"/>
                        <a:gd name="T7" fmla="*/ 0 60000 65536"/>
                        <a:gd name="T8" fmla="*/ 0 60000 65536"/>
                      </a:gdLst>
                      <a:ahLst/>
                      <a:cxnLst>
                        <a:cxn ang="T6">
                          <a:pos x="T0" y="T1"/>
                        </a:cxn>
                        <a:cxn ang="T7">
                          <a:pos x="T2" y="T3"/>
                        </a:cxn>
                        <a:cxn ang="T8">
                          <a:pos x="T4" y="T5"/>
                        </a:cxn>
                      </a:cxnLst>
                      <a:rect l="0" t="0" r="r" b="b"/>
                      <a:pathLst>
                        <a:path w="4" h="8">
                          <a:moveTo>
                            <a:pt x="0" y="0"/>
                          </a:moveTo>
                          <a:lnTo>
                            <a:pt x="0" y="4"/>
                          </a:lnTo>
                          <a:lnTo>
                            <a:pt x="4" y="8"/>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40" name="Line 500"/>
                    <p:cNvSpPr>
                      <a:spLocks noChangeShapeType="1"/>
                    </p:cNvSpPr>
                    <p:nvPr/>
                  </p:nvSpPr>
                  <p:spPr bwMode="auto">
                    <a:xfrm>
                      <a:off x="3376" y="1049"/>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41" name="Line 501"/>
                    <p:cNvSpPr>
                      <a:spLocks noChangeShapeType="1"/>
                    </p:cNvSpPr>
                    <p:nvPr/>
                  </p:nvSpPr>
                  <p:spPr bwMode="auto">
                    <a:xfrm>
                      <a:off x="3376" y="1054"/>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42" name="Line 502"/>
                    <p:cNvSpPr>
                      <a:spLocks noChangeShapeType="1"/>
                    </p:cNvSpPr>
                    <p:nvPr/>
                  </p:nvSpPr>
                  <p:spPr bwMode="auto">
                    <a:xfrm>
                      <a:off x="3380" y="10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43" name="Line 503"/>
                    <p:cNvSpPr>
                      <a:spLocks noChangeShapeType="1"/>
                    </p:cNvSpPr>
                    <p:nvPr/>
                  </p:nvSpPr>
                  <p:spPr bwMode="auto">
                    <a:xfrm>
                      <a:off x="3385" y="10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44" name="Freeform 504"/>
                    <p:cNvSpPr>
                      <a:spLocks/>
                    </p:cNvSpPr>
                    <p:nvPr/>
                  </p:nvSpPr>
                  <p:spPr bwMode="auto">
                    <a:xfrm>
                      <a:off x="3385" y="1071"/>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45" name="Line 505"/>
                    <p:cNvSpPr>
                      <a:spLocks noChangeShapeType="1"/>
                    </p:cNvSpPr>
                    <p:nvPr/>
                  </p:nvSpPr>
                  <p:spPr bwMode="auto">
                    <a:xfrm>
                      <a:off x="3389" y="10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46" name="Line 506"/>
                    <p:cNvSpPr>
                      <a:spLocks noChangeShapeType="1"/>
                    </p:cNvSpPr>
                    <p:nvPr/>
                  </p:nvSpPr>
                  <p:spPr bwMode="auto">
                    <a:xfrm>
                      <a:off x="3389" y="1084"/>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47" name="Line 507"/>
                    <p:cNvSpPr>
                      <a:spLocks noChangeShapeType="1"/>
                    </p:cNvSpPr>
                    <p:nvPr/>
                  </p:nvSpPr>
                  <p:spPr bwMode="auto">
                    <a:xfrm>
                      <a:off x="3393" y="1093"/>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48" name="Line 508"/>
                    <p:cNvSpPr>
                      <a:spLocks noChangeShapeType="1"/>
                    </p:cNvSpPr>
                    <p:nvPr/>
                  </p:nvSpPr>
                  <p:spPr bwMode="auto">
                    <a:xfrm>
                      <a:off x="3398" y="10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49" name="Freeform 509"/>
                    <p:cNvSpPr>
                      <a:spLocks/>
                    </p:cNvSpPr>
                    <p:nvPr/>
                  </p:nvSpPr>
                  <p:spPr bwMode="auto">
                    <a:xfrm>
                      <a:off x="3398" y="1101"/>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50" name="Line 510"/>
                    <p:cNvSpPr>
                      <a:spLocks noChangeShapeType="1"/>
                    </p:cNvSpPr>
                    <p:nvPr/>
                  </p:nvSpPr>
                  <p:spPr bwMode="auto">
                    <a:xfrm>
                      <a:off x="3402" y="1110"/>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51" name="Freeform 511"/>
                    <p:cNvSpPr>
                      <a:spLocks/>
                    </p:cNvSpPr>
                    <p:nvPr/>
                  </p:nvSpPr>
                  <p:spPr bwMode="auto">
                    <a:xfrm>
                      <a:off x="3402" y="1115"/>
                      <a:ext cx="4" cy="8"/>
                    </a:xfrm>
                    <a:custGeom>
                      <a:avLst/>
                      <a:gdLst>
                        <a:gd name="T0" fmla="*/ 0 w 4"/>
                        <a:gd name="T1" fmla="*/ 0 h 8"/>
                        <a:gd name="T2" fmla="*/ 0 w 4"/>
                        <a:gd name="T3" fmla="*/ 4 h 8"/>
                        <a:gd name="T4" fmla="*/ 4 w 4"/>
                        <a:gd name="T5" fmla="*/ 8 h 8"/>
                        <a:gd name="T6" fmla="*/ 0 60000 65536"/>
                        <a:gd name="T7" fmla="*/ 0 60000 65536"/>
                        <a:gd name="T8" fmla="*/ 0 60000 65536"/>
                      </a:gdLst>
                      <a:ahLst/>
                      <a:cxnLst>
                        <a:cxn ang="T6">
                          <a:pos x="T0" y="T1"/>
                        </a:cxn>
                        <a:cxn ang="T7">
                          <a:pos x="T2" y="T3"/>
                        </a:cxn>
                        <a:cxn ang="T8">
                          <a:pos x="T4" y="T5"/>
                        </a:cxn>
                      </a:cxnLst>
                      <a:rect l="0" t="0" r="r" b="b"/>
                      <a:pathLst>
                        <a:path w="4" h="8">
                          <a:moveTo>
                            <a:pt x="0" y="0"/>
                          </a:moveTo>
                          <a:lnTo>
                            <a:pt x="0" y="4"/>
                          </a:lnTo>
                          <a:lnTo>
                            <a:pt x="4" y="8"/>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52" name="Line 512"/>
                    <p:cNvSpPr>
                      <a:spLocks noChangeShapeType="1"/>
                    </p:cNvSpPr>
                    <p:nvPr/>
                  </p:nvSpPr>
                  <p:spPr bwMode="auto">
                    <a:xfrm>
                      <a:off x="3406" y="112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53" name="Line 513"/>
                    <p:cNvSpPr>
                      <a:spLocks noChangeShapeType="1"/>
                    </p:cNvSpPr>
                    <p:nvPr/>
                  </p:nvSpPr>
                  <p:spPr bwMode="auto">
                    <a:xfrm>
                      <a:off x="3406" y="1128"/>
                      <a:ext cx="5"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54" name="Line 514"/>
                    <p:cNvSpPr>
                      <a:spLocks noChangeShapeType="1"/>
                    </p:cNvSpPr>
                    <p:nvPr/>
                  </p:nvSpPr>
                  <p:spPr bwMode="auto">
                    <a:xfrm>
                      <a:off x="3411" y="1136"/>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55" name="Line 515"/>
                    <p:cNvSpPr>
                      <a:spLocks noChangeShapeType="1"/>
                    </p:cNvSpPr>
                    <p:nvPr/>
                  </p:nvSpPr>
                  <p:spPr bwMode="auto">
                    <a:xfrm>
                      <a:off x="3415" y="11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56" name="Freeform 516"/>
                    <p:cNvSpPr>
                      <a:spLocks/>
                    </p:cNvSpPr>
                    <p:nvPr/>
                  </p:nvSpPr>
                  <p:spPr bwMode="auto">
                    <a:xfrm>
                      <a:off x="3415" y="1145"/>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57" name="Line 517"/>
                    <p:cNvSpPr>
                      <a:spLocks noChangeShapeType="1"/>
                    </p:cNvSpPr>
                    <p:nvPr/>
                  </p:nvSpPr>
                  <p:spPr bwMode="auto">
                    <a:xfrm>
                      <a:off x="3419" y="115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58" name="Line 518"/>
                    <p:cNvSpPr>
                      <a:spLocks noChangeShapeType="1"/>
                    </p:cNvSpPr>
                    <p:nvPr/>
                  </p:nvSpPr>
                  <p:spPr bwMode="auto">
                    <a:xfrm>
                      <a:off x="3419" y="11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59" name="Line 519"/>
                    <p:cNvSpPr>
                      <a:spLocks noChangeShapeType="1"/>
                    </p:cNvSpPr>
                    <p:nvPr/>
                  </p:nvSpPr>
                  <p:spPr bwMode="auto">
                    <a:xfrm>
                      <a:off x="3424" y="11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60" name="Line 520"/>
                    <p:cNvSpPr>
                      <a:spLocks noChangeShapeType="1"/>
                    </p:cNvSpPr>
                    <p:nvPr/>
                  </p:nvSpPr>
                  <p:spPr bwMode="auto">
                    <a:xfrm>
                      <a:off x="3428" y="1171"/>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61" name="Freeform 521"/>
                    <p:cNvSpPr>
                      <a:spLocks/>
                    </p:cNvSpPr>
                    <p:nvPr/>
                  </p:nvSpPr>
                  <p:spPr bwMode="auto">
                    <a:xfrm>
                      <a:off x="3428" y="1180"/>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62" name="Line 522"/>
                    <p:cNvSpPr>
                      <a:spLocks noChangeShapeType="1"/>
                    </p:cNvSpPr>
                    <p:nvPr/>
                  </p:nvSpPr>
                  <p:spPr bwMode="auto">
                    <a:xfrm>
                      <a:off x="3432" y="118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63" name="Freeform 523"/>
                    <p:cNvSpPr>
                      <a:spLocks/>
                    </p:cNvSpPr>
                    <p:nvPr/>
                  </p:nvSpPr>
                  <p:spPr bwMode="auto">
                    <a:xfrm>
                      <a:off x="3432" y="1188"/>
                      <a:ext cx="5" cy="9"/>
                    </a:xfrm>
                    <a:custGeom>
                      <a:avLst/>
                      <a:gdLst>
                        <a:gd name="T0" fmla="*/ 0 w 5"/>
                        <a:gd name="T1" fmla="*/ 0 h 9"/>
                        <a:gd name="T2" fmla="*/ 0 w 5"/>
                        <a:gd name="T3" fmla="*/ 5 h 9"/>
                        <a:gd name="T4" fmla="*/ 5 w 5"/>
                        <a:gd name="T5" fmla="*/ 9 h 9"/>
                        <a:gd name="T6" fmla="*/ 0 60000 65536"/>
                        <a:gd name="T7" fmla="*/ 0 60000 65536"/>
                        <a:gd name="T8" fmla="*/ 0 60000 65536"/>
                      </a:gdLst>
                      <a:ahLst/>
                      <a:cxnLst>
                        <a:cxn ang="T6">
                          <a:pos x="T0" y="T1"/>
                        </a:cxn>
                        <a:cxn ang="T7">
                          <a:pos x="T2" y="T3"/>
                        </a:cxn>
                        <a:cxn ang="T8">
                          <a:pos x="T4" y="T5"/>
                        </a:cxn>
                      </a:cxnLst>
                      <a:rect l="0" t="0" r="r" b="b"/>
                      <a:pathLst>
                        <a:path w="5" h="9">
                          <a:moveTo>
                            <a:pt x="0" y="0"/>
                          </a:moveTo>
                          <a:lnTo>
                            <a:pt x="0" y="5"/>
                          </a:lnTo>
                          <a:lnTo>
                            <a:pt x="5"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64" name="Line 524"/>
                    <p:cNvSpPr>
                      <a:spLocks noChangeShapeType="1"/>
                    </p:cNvSpPr>
                    <p:nvPr/>
                  </p:nvSpPr>
                  <p:spPr bwMode="auto">
                    <a:xfrm>
                      <a:off x="3437" y="11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65" name="Line 525"/>
                    <p:cNvSpPr>
                      <a:spLocks noChangeShapeType="1"/>
                    </p:cNvSpPr>
                    <p:nvPr/>
                  </p:nvSpPr>
                  <p:spPr bwMode="auto">
                    <a:xfrm>
                      <a:off x="3437" y="1201"/>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66" name="Line 526"/>
                    <p:cNvSpPr>
                      <a:spLocks noChangeShapeType="1"/>
                    </p:cNvSpPr>
                    <p:nvPr/>
                  </p:nvSpPr>
                  <p:spPr bwMode="auto">
                    <a:xfrm>
                      <a:off x="3441" y="12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67" name="Line 527"/>
                    <p:cNvSpPr>
                      <a:spLocks noChangeShapeType="1"/>
                    </p:cNvSpPr>
                    <p:nvPr/>
                  </p:nvSpPr>
                  <p:spPr bwMode="auto">
                    <a:xfrm>
                      <a:off x="3445" y="121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68" name="Freeform 528"/>
                    <p:cNvSpPr>
                      <a:spLocks/>
                    </p:cNvSpPr>
                    <p:nvPr/>
                  </p:nvSpPr>
                  <p:spPr bwMode="auto">
                    <a:xfrm>
                      <a:off x="3445" y="1223"/>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69" name="Line 529"/>
                    <p:cNvSpPr>
                      <a:spLocks noChangeShapeType="1"/>
                    </p:cNvSpPr>
                    <p:nvPr/>
                  </p:nvSpPr>
                  <p:spPr bwMode="auto">
                    <a:xfrm>
                      <a:off x="3450" y="122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70" name="Line 530"/>
                    <p:cNvSpPr>
                      <a:spLocks noChangeShapeType="1"/>
                    </p:cNvSpPr>
                    <p:nvPr/>
                  </p:nvSpPr>
                  <p:spPr bwMode="auto">
                    <a:xfrm>
                      <a:off x="3450" y="123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71" name="Line 531"/>
                    <p:cNvSpPr>
                      <a:spLocks noChangeShapeType="1"/>
                    </p:cNvSpPr>
                    <p:nvPr/>
                  </p:nvSpPr>
                  <p:spPr bwMode="auto">
                    <a:xfrm>
                      <a:off x="3454" y="124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72" name="Line 532"/>
                    <p:cNvSpPr>
                      <a:spLocks noChangeShapeType="1"/>
                    </p:cNvSpPr>
                    <p:nvPr/>
                  </p:nvSpPr>
                  <p:spPr bwMode="auto">
                    <a:xfrm>
                      <a:off x="3458" y="1245"/>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73" name="Freeform 533"/>
                    <p:cNvSpPr>
                      <a:spLocks/>
                    </p:cNvSpPr>
                    <p:nvPr/>
                  </p:nvSpPr>
                  <p:spPr bwMode="auto">
                    <a:xfrm>
                      <a:off x="3458" y="1253"/>
                      <a:ext cx="5" cy="5"/>
                    </a:xfrm>
                    <a:custGeom>
                      <a:avLst/>
                      <a:gdLst>
                        <a:gd name="T0" fmla="*/ 0 w 5"/>
                        <a:gd name="T1" fmla="*/ 0 h 5"/>
                        <a:gd name="T2" fmla="*/ 0 w 5"/>
                        <a:gd name="T3" fmla="*/ 5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5"/>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74" name="Line 534"/>
                    <p:cNvSpPr>
                      <a:spLocks noChangeShapeType="1"/>
                    </p:cNvSpPr>
                    <p:nvPr/>
                  </p:nvSpPr>
                  <p:spPr bwMode="auto">
                    <a:xfrm>
                      <a:off x="3463" y="12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75" name="Freeform 535"/>
                    <p:cNvSpPr>
                      <a:spLocks/>
                    </p:cNvSpPr>
                    <p:nvPr/>
                  </p:nvSpPr>
                  <p:spPr bwMode="auto">
                    <a:xfrm>
                      <a:off x="3463" y="1262"/>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76" name="Line 536"/>
                    <p:cNvSpPr>
                      <a:spLocks noChangeShapeType="1"/>
                    </p:cNvSpPr>
                    <p:nvPr/>
                  </p:nvSpPr>
                  <p:spPr bwMode="auto">
                    <a:xfrm>
                      <a:off x="3467" y="12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77" name="Line 537"/>
                    <p:cNvSpPr>
                      <a:spLocks noChangeShapeType="1"/>
                    </p:cNvSpPr>
                    <p:nvPr/>
                  </p:nvSpPr>
                  <p:spPr bwMode="auto">
                    <a:xfrm>
                      <a:off x="3467" y="1275"/>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78" name="Line 538"/>
                    <p:cNvSpPr>
                      <a:spLocks noChangeShapeType="1"/>
                    </p:cNvSpPr>
                    <p:nvPr/>
                  </p:nvSpPr>
                  <p:spPr bwMode="auto">
                    <a:xfrm>
                      <a:off x="3471" y="128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79" name="Line 539"/>
                    <p:cNvSpPr>
                      <a:spLocks noChangeShapeType="1"/>
                    </p:cNvSpPr>
                    <p:nvPr/>
                  </p:nvSpPr>
                  <p:spPr bwMode="auto">
                    <a:xfrm>
                      <a:off x="3476" y="12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80" name="Freeform 540"/>
                    <p:cNvSpPr>
                      <a:spLocks/>
                    </p:cNvSpPr>
                    <p:nvPr/>
                  </p:nvSpPr>
                  <p:spPr bwMode="auto">
                    <a:xfrm>
                      <a:off x="3476" y="1292"/>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81" name="Line 541"/>
                    <p:cNvSpPr>
                      <a:spLocks noChangeShapeType="1"/>
                    </p:cNvSpPr>
                    <p:nvPr/>
                  </p:nvSpPr>
                  <p:spPr bwMode="auto">
                    <a:xfrm>
                      <a:off x="3480" y="130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82" name="Line 542"/>
                    <p:cNvSpPr>
                      <a:spLocks noChangeShapeType="1"/>
                    </p:cNvSpPr>
                    <p:nvPr/>
                  </p:nvSpPr>
                  <p:spPr bwMode="auto">
                    <a:xfrm>
                      <a:off x="3480" y="1306"/>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83" name="Line 543"/>
                    <p:cNvSpPr>
                      <a:spLocks noChangeShapeType="1"/>
                    </p:cNvSpPr>
                    <p:nvPr/>
                  </p:nvSpPr>
                  <p:spPr bwMode="auto">
                    <a:xfrm>
                      <a:off x="3484" y="131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84" name="Line 544"/>
                    <p:cNvSpPr>
                      <a:spLocks noChangeShapeType="1"/>
                    </p:cNvSpPr>
                    <p:nvPr/>
                  </p:nvSpPr>
                  <p:spPr bwMode="auto">
                    <a:xfrm>
                      <a:off x="3489" y="131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85" name="Freeform 545"/>
                    <p:cNvSpPr>
                      <a:spLocks/>
                    </p:cNvSpPr>
                    <p:nvPr/>
                  </p:nvSpPr>
                  <p:spPr bwMode="auto">
                    <a:xfrm>
                      <a:off x="3489" y="1323"/>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86" name="Line 546"/>
                    <p:cNvSpPr>
                      <a:spLocks noChangeShapeType="1"/>
                    </p:cNvSpPr>
                    <p:nvPr/>
                  </p:nvSpPr>
                  <p:spPr bwMode="auto">
                    <a:xfrm>
                      <a:off x="3493" y="1332"/>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87" name="Line 547"/>
                    <p:cNvSpPr>
                      <a:spLocks noChangeShapeType="1"/>
                    </p:cNvSpPr>
                    <p:nvPr/>
                  </p:nvSpPr>
                  <p:spPr bwMode="auto">
                    <a:xfrm>
                      <a:off x="3493" y="1336"/>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88" name="Line 548"/>
                    <p:cNvSpPr>
                      <a:spLocks noChangeShapeType="1"/>
                    </p:cNvSpPr>
                    <p:nvPr/>
                  </p:nvSpPr>
                  <p:spPr bwMode="auto">
                    <a:xfrm>
                      <a:off x="3497" y="1340"/>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89" name="Line 549"/>
                    <p:cNvSpPr>
                      <a:spLocks noChangeShapeType="1"/>
                    </p:cNvSpPr>
                    <p:nvPr/>
                  </p:nvSpPr>
                  <p:spPr bwMode="auto">
                    <a:xfrm>
                      <a:off x="3502" y="13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90" name="Freeform 550"/>
                    <p:cNvSpPr>
                      <a:spLocks/>
                    </p:cNvSpPr>
                    <p:nvPr/>
                  </p:nvSpPr>
                  <p:spPr bwMode="auto">
                    <a:xfrm>
                      <a:off x="3502" y="1353"/>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91" name="Line 551"/>
                    <p:cNvSpPr>
                      <a:spLocks noChangeShapeType="1"/>
                    </p:cNvSpPr>
                    <p:nvPr/>
                  </p:nvSpPr>
                  <p:spPr bwMode="auto">
                    <a:xfrm>
                      <a:off x="3506" y="13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92" name="Freeform 552"/>
                    <p:cNvSpPr>
                      <a:spLocks/>
                    </p:cNvSpPr>
                    <p:nvPr/>
                  </p:nvSpPr>
                  <p:spPr bwMode="auto">
                    <a:xfrm>
                      <a:off x="3506" y="1362"/>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93" name="Line 553"/>
                    <p:cNvSpPr>
                      <a:spLocks noChangeShapeType="1"/>
                    </p:cNvSpPr>
                    <p:nvPr/>
                  </p:nvSpPr>
                  <p:spPr bwMode="auto">
                    <a:xfrm>
                      <a:off x="3510" y="13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94" name="Line 554"/>
                    <p:cNvSpPr>
                      <a:spLocks noChangeShapeType="1"/>
                    </p:cNvSpPr>
                    <p:nvPr/>
                  </p:nvSpPr>
                  <p:spPr bwMode="auto">
                    <a:xfrm>
                      <a:off x="3510" y="137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95" name="Line 555"/>
                    <p:cNvSpPr>
                      <a:spLocks noChangeShapeType="1"/>
                    </p:cNvSpPr>
                    <p:nvPr/>
                  </p:nvSpPr>
                  <p:spPr bwMode="auto">
                    <a:xfrm>
                      <a:off x="3515" y="1379"/>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96" name="Line 556"/>
                    <p:cNvSpPr>
                      <a:spLocks noChangeShapeType="1"/>
                    </p:cNvSpPr>
                    <p:nvPr/>
                  </p:nvSpPr>
                  <p:spPr bwMode="auto">
                    <a:xfrm>
                      <a:off x="3519" y="13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97" name="Freeform 557"/>
                    <p:cNvSpPr>
                      <a:spLocks/>
                    </p:cNvSpPr>
                    <p:nvPr/>
                  </p:nvSpPr>
                  <p:spPr bwMode="auto">
                    <a:xfrm>
                      <a:off x="3519" y="1392"/>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798" name="Line 558"/>
                    <p:cNvSpPr>
                      <a:spLocks noChangeShapeType="1"/>
                    </p:cNvSpPr>
                    <p:nvPr/>
                  </p:nvSpPr>
                  <p:spPr bwMode="auto">
                    <a:xfrm>
                      <a:off x="3523" y="13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799" name="Line 559"/>
                    <p:cNvSpPr>
                      <a:spLocks noChangeShapeType="1"/>
                    </p:cNvSpPr>
                    <p:nvPr/>
                  </p:nvSpPr>
                  <p:spPr bwMode="auto">
                    <a:xfrm>
                      <a:off x="3523" y="1401"/>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00" name="Line 560"/>
                    <p:cNvSpPr>
                      <a:spLocks noChangeShapeType="1"/>
                    </p:cNvSpPr>
                    <p:nvPr/>
                  </p:nvSpPr>
                  <p:spPr bwMode="auto">
                    <a:xfrm>
                      <a:off x="3528" y="14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01" name="Line 561"/>
                    <p:cNvSpPr>
                      <a:spLocks noChangeShapeType="1"/>
                    </p:cNvSpPr>
                    <p:nvPr/>
                  </p:nvSpPr>
                  <p:spPr bwMode="auto">
                    <a:xfrm>
                      <a:off x="3532" y="14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02" name="Freeform 562"/>
                    <p:cNvSpPr>
                      <a:spLocks/>
                    </p:cNvSpPr>
                    <p:nvPr/>
                  </p:nvSpPr>
                  <p:spPr bwMode="auto">
                    <a:xfrm>
                      <a:off x="3532" y="1418"/>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03" name="Line 563"/>
                    <p:cNvSpPr>
                      <a:spLocks noChangeShapeType="1"/>
                    </p:cNvSpPr>
                    <p:nvPr/>
                  </p:nvSpPr>
                  <p:spPr bwMode="auto">
                    <a:xfrm>
                      <a:off x="3537" y="142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04" name="Freeform 564"/>
                    <p:cNvSpPr>
                      <a:spLocks/>
                    </p:cNvSpPr>
                    <p:nvPr/>
                  </p:nvSpPr>
                  <p:spPr bwMode="auto">
                    <a:xfrm>
                      <a:off x="3537" y="1427"/>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05" name="Line 565"/>
                    <p:cNvSpPr>
                      <a:spLocks noChangeShapeType="1"/>
                    </p:cNvSpPr>
                    <p:nvPr/>
                  </p:nvSpPr>
                  <p:spPr bwMode="auto">
                    <a:xfrm>
                      <a:off x="3541" y="14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06" name="Line 566"/>
                    <p:cNvSpPr>
                      <a:spLocks noChangeShapeType="1"/>
                    </p:cNvSpPr>
                    <p:nvPr/>
                  </p:nvSpPr>
                  <p:spPr bwMode="auto">
                    <a:xfrm>
                      <a:off x="3541" y="144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07" name="Line 567"/>
                    <p:cNvSpPr>
                      <a:spLocks noChangeShapeType="1"/>
                    </p:cNvSpPr>
                    <p:nvPr/>
                  </p:nvSpPr>
                  <p:spPr bwMode="auto">
                    <a:xfrm>
                      <a:off x="3545" y="144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08" name="Line 568"/>
                    <p:cNvSpPr>
                      <a:spLocks noChangeShapeType="1"/>
                    </p:cNvSpPr>
                    <p:nvPr/>
                  </p:nvSpPr>
                  <p:spPr bwMode="auto">
                    <a:xfrm>
                      <a:off x="3550" y="14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09" name="Freeform 569"/>
                    <p:cNvSpPr>
                      <a:spLocks/>
                    </p:cNvSpPr>
                    <p:nvPr/>
                  </p:nvSpPr>
                  <p:spPr bwMode="auto">
                    <a:xfrm>
                      <a:off x="3550" y="145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10" name="Line 570"/>
                    <p:cNvSpPr>
                      <a:spLocks noChangeShapeType="1"/>
                    </p:cNvSpPr>
                    <p:nvPr/>
                  </p:nvSpPr>
                  <p:spPr bwMode="auto">
                    <a:xfrm>
                      <a:off x="3554" y="14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11" name="Line 571"/>
                    <p:cNvSpPr>
                      <a:spLocks noChangeShapeType="1"/>
                    </p:cNvSpPr>
                    <p:nvPr/>
                  </p:nvSpPr>
                  <p:spPr bwMode="auto">
                    <a:xfrm>
                      <a:off x="3554" y="146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12" name="Line 572"/>
                    <p:cNvSpPr>
                      <a:spLocks noChangeShapeType="1"/>
                    </p:cNvSpPr>
                    <p:nvPr/>
                  </p:nvSpPr>
                  <p:spPr bwMode="auto">
                    <a:xfrm>
                      <a:off x="3558" y="1470"/>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13" name="Line 573"/>
                    <p:cNvSpPr>
                      <a:spLocks noChangeShapeType="1"/>
                    </p:cNvSpPr>
                    <p:nvPr/>
                  </p:nvSpPr>
                  <p:spPr bwMode="auto">
                    <a:xfrm>
                      <a:off x="3563" y="14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14" name="Freeform 574"/>
                    <p:cNvSpPr>
                      <a:spLocks/>
                    </p:cNvSpPr>
                    <p:nvPr/>
                  </p:nvSpPr>
                  <p:spPr bwMode="auto">
                    <a:xfrm>
                      <a:off x="3563" y="1479"/>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15" name="Line 575"/>
                    <p:cNvSpPr>
                      <a:spLocks noChangeShapeType="1"/>
                    </p:cNvSpPr>
                    <p:nvPr/>
                  </p:nvSpPr>
                  <p:spPr bwMode="auto">
                    <a:xfrm>
                      <a:off x="3567" y="14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16" name="Freeform 576"/>
                    <p:cNvSpPr>
                      <a:spLocks/>
                    </p:cNvSpPr>
                    <p:nvPr/>
                  </p:nvSpPr>
                  <p:spPr bwMode="auto">
                    <a:xfrm>
                      <a:off x="3567" y="1488"/>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17" name="Line 577"/>
                    <p:cNvSpPr>
                      <a:spLocks noChangeShapeType="1"/>
                    </p:cNvSpPr>
                    <p:nvPr/>
                  </p:nvSpPr>
                  <p:spPr bwMode="auto">
                    <a:xfrm>
                      <a:off x="3571" y="149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18" name="Line 578"/>
                    <p:cNvSpPr>
                      <a:spLocks noChangeShapeType="1"/>
                    </p:cNvSpPr>
                    <p:nvPr/>
                  </p:nvSpPr>
                  <p:spPr bwMode="auto">
                    <a:xfrm>
                      <a:off x="3571" y="1497"/>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19" name="Line 579"/>
                    <p:cNvSpPr>
                      <a:spLocks noChangeShapeType="1"/>
                    </p:cNvSpPr>
                    <p:nvPr/>
                  </p:nvSpPr>
                  <p:spPr bwMode="auto">
                    <a:xfrm>
                      <a:off x="3576" y="1501"/>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20" name="Line 580"/>
                    <p:cNvSpPr>
                      <a:spLocks noChangeShapeType="1"/>
                    </p:cNvSpPr>
                    <p:nvPr/>
                  </p:nvSpPr>
                  <p:spPr bwMode="auto">
                    <a:xfrm>
                      <a:off x="3580" y="1505"/>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21" name="Freeform 581"/>
                    <p:cNvSpPr>
                      <a:spLocks/>
                    </p:cNvSpPr>
                    <p:nvPr/>
                  </p:nvSpPr>
                  <p:spPr bwMode="auto">
                    <a:xfrm>
                      <a:off x="3580" y="1510"/>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22" name="Line 582"/>
                    <p:cNvSpPr>
                      <a:spLocks noChangeShapeType="1"/>
                    </p:cNvSpPr>
                    <p:nvPr/>
                  </p:nvSpPr>
                  <p:spPr bwMode="auto">
                    <a:xfrm>
                      <a:off x="3584" y="15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23" name="Line 583"/>
                    <p:cNvSpPr>
                      <a:spLocks noChangeShapeType="1"/>
                    </p:cNvSpPr>
                    <p:nvPr/>
                  </p:nvSpPr>
                  <p:spPr bwMode="auto">
                    <a:xfrm>
                      <a:off x="3584" y="1518"/>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24" name="Line 584"/>
                    <p:cNvSpPr>
                      <a:spLocks noChangeShapeType="1"/>
                    </p:cNvSpPr>
                    <p:nvPr/>
                  </p:nvSpPr>
                  <p:spPr bwMode="auto">
                    <a:xfrm>
                      <a:off x="3589" y="152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25" name="Line 585"/>
                    <p:cNvSpPr>
                      <a:spLocks noChangeShapeType="1"/>
                    </p:cNvSpPr>
                    <p:nvPr/>
                  </p:nvSpPr>
                  <p:spPr bwMode="auto">
                    <a:xfrm>
                      <a:off x="3593" y="152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26" name="Freeform 586"/>
                    <p:cNvSpPr>
                      <a:spLocks/>
                    </p:cNvSpPr>
                    <p:nvPr/>
                  </p:nvSpPr>
                  <p:spPr bwMode="auto">
                    <a:xfrm>
                      <a:off x="3593" y="1531"/>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27" name="Line 587"/>
                    <p:cNvSpPr>
                      <a:spLocks noChangeShapeType="1"/>
                    </p:cNvSpPr>
                    <p:nvPr/>
                  </p:nvSpPr>
                  <p:spPr bwMode="auto">
                    <a:xfrm>
                      <a:off x="3597" y="15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28" name="Freeform 588"/>
                    <p:cNvSpPr>
                      <a:spLocks/>
                    </p:cNvSpPr>
                    <p:nvPr/>
                  </p:nvSpPr>
                  <p:spPr bwMode="auto">
                    <a:xfrm>
                      <a:off x="3597" y="1540"/>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29" name="Line 589"/>
                    <p:cNvSpPr>
                      <a:spLocks noChangeShapeType="1"/>
                    </p:cNvSpPr>
                    <p:nvPr/>
                  </p:nvSpPr>
                  <p:spPr bwMode="auto">
                    <a:xfrm>
                      <a:off x="3602" y="1544"/>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30" name="Line 590"/>
                    <p:cNvSpPr>
                      <a:spLocks noChangeShapeType="1"/>
                    </p:cNvSpPr>
                    <p:nvPr/>
                  </p:nvSpPr>
                  <p:spPr bwMode="auto">
                    <a:xfrm>
                      <a:off x="3602" y="154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31" name="Line 591"/>
                    <p:cNvSpPr>
                      <a:spLocks noChangeShapeType="1"/>
                    </p:cNvSpPr>
                    <p:nvPr/>
                  </p:nvSpPr>
                  <p:spPr bwMode="auto">
                    <a:xfrm>
                      <a:off x="3606" y="155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32" name="Line 592"/>
                    <p:cNvSpPr>
                      <a:spLocks noChangeShapeType="1"/>
                    </p:cNvSpPr>
                    <p:nvPr/>
                  </p:nvSpPr>
                  <p:spPr bwMode="auto">
                    <a:xfrm>
                      <a:off x="3610" y="15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33" name="Freeform 593"/>
                    <p:cNvSpPr>
                      <a:spLocks/>
                    </p:cNvSpPr>
                    <p:nvPr/>
                  </p:nvSpPr>
                  <p:spPr bwMode="auto">
                    <a:xfrm>
                      <a:off x="3610" y="1562"/>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34" name="Line 594"/>
                    <p:cNvSpPr>
                      <a:spLocks noChangeShapeType="1"/>
                    </p:cNvSpPr>
                    <p:nvPr/>
                  </p:nvSpPr>
                  <p:spPr bwMode="auto">
                    <a:xfrm>
                      <a:off x="3615" y="156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35" name="Line 595"/>
                    <p:cNvSpPr>
                      <a:spLocks noChangeShapeType="1"/>
                    </p:cNvSpPr>
                    <p:nvPr/>
                  </p:nvSpPr>
                  <p:spPr bwMode="auto">
                    <a:xfrm>
                      <a:off x="3615" y="15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36" name="Line 596"/>
                    <p:cNvSpPr>
                      <a:spLocks noChangeShapeType="1"/>
                    </p:cNvSpPr>
                    <p:nvPr/>
                  </p:nvSpPr>
                  <p:spPr bwMode="auto">
                    <a:xfrm>
                      <a:off x="3619" y="157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37" name="Line 597"/>
                    <p:cNvSpPr>
                      <a:spLocks noChangeShapeType="1"/>
                    </p:cNvSpPr>
                    <p:nvPr/>
                  </p:nvSpPr>
                  <p:spPr bwMode="auto">
                    <a:xfrm>
                      <a:off x="3623" y="15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38" name="Freeform 598"/>
                    <p:cNvSpPr>
                      <a:spLocks/>
                    </p:cNvSpPr>
                    <p:nvPr/>
                  </p:nvSpPr>
                  <p:spPr bwMode="auto">
                    <a:xfrm>
                      <a:off x="3623" y="1579"/>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39" name="Line 599"/>
                    <p:cNvSpPr>
                      <a:spLocks noChangeShapeType="1"/>
                    </p:cNvSpPr>
                    <p:nvPr/>
                  </p:nvSpPr>
                  <p:spPr bwMode="auto">
                    <a:xfrm>
                      <a:off x="3628" y="15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40" name="Freeform 600"/>
                    <p:cNvSpPr>
                      <a:spLocks/>
                    </p:cNvSpPr>
                    <p:nvPr/>
                  </p:nvSpPr>
                  <p:spPr bwMode="auto">
                    <a:xfrm>
                      <a:off x="3628" y="1588"/>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841" name="Line 601"/>
                    <p:cNvSpPr>
                      <a:spLocks noChangeShapeType="1"/>
                    </p:cNvSpPr>
                    <p:nvPr/>
                  </p:nvSpPr>
                  <p:spPr bwMode="auto">
                    <a:xfrm>
                      <a:off x="3632" y="159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42" name="Line 602"/>
                    <p:cNvSpPr>
                      <a:spLocks noChangeShapeType="1"/>
                    </p:cNvSpPr>
                    <p:nvPr/>
                  </p:nvSpPr>
                  <p:spPr bwMode="auto">
                    <a:xfrm>
                      <a:off x="3632" y="1592"/>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43" name="Line 603"/>
                    <p:cNvSpPr>
                      <a:spLocks noChangeShapeType="1"/>
                    </p:cNvSpPr>
                    <p:nvPr/>
                  </p:nvSpPr>
                  <p:spPr bwMode="auto">
                    <a:xfrm>
                      <a:off x="3636" y="1596"/>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844" name="Line 604"/>
                    <p:cNvSpPr>
                      <a:spLocks noChangeShapeType="1"/>
                    </p:cNvSpPr>
                    <p:nvPr/>
                  </p:nvSpPr>
                  <p:spPr bwMode="auto">
                    <a:xfrm>
                      <a:off x="3641" y="160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8432" name="Group 605"/>
                  <p:cNvGrpSpPr>
                    <a:grpSpLocks/>
                  </p:cNvGrpSpPr>
                  <p:nvPr/>
                </p:nvGrpSpPr>
                <p:grpSpPr bwMode="auto">
                  <a:xfrm>
                    <a:off x="3641" y="1609"/>
                    <a:ext cx="508" cy="178"/>
                    <a:chOff x="3641" y="1605"/>
                    <a:chExt cx="508" cy="178"/>
                  </a:xfrm>
                </p:grpSpPr>
                <p:sp>
                  <p:nvSpPr>
                    <p:cNvPr id="8445" name="Freeform 606"/>
                    <p:cNvSpPr>
                      <a:spLocks/>
                    </p:cNvSpPr>
                    <p:nvPr/>
                  </p:nvSpPr>
                  <p:spPr bwMode="auto">
                    <a:xfrm>
                      <a:off x="3641" y="1605"/>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46" name="Line 607"/>
                    <p:cNvSpPr>
                      <a:spLocks noChangeShapeType="1"/>
                    </p:cNvSpPr>
                    <p:nvPr/>
                  </p:nvSpPr>
                  <p:spPr bwMode="auto">
                    <a:xfrm>
                      <a:off x="3645" y="160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47" name="Line 608"/>
                    <p:cNvSpPr>
                      <a:spLocks noChangeShapeType="1"/>
                    </p:cNvSpPr>
                    <p:nvPr/>
                  </p:nvSpPr>
                  <p:spPr bwMode="auto">
                    <a:xfrm>
                      <a:off x="3645" y="160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48" name="Line 609"/>
                    <p:cNvSpPr>
                      <a:spLocks noChangeShapeType="1"/>
                    </p:cNvSpPr>
                    <p:nvPr/>
                  </p:nvSpPr>
                  <p:spPr bwMode="auto">
                    <a:xfrm>
                      <a:off x="3649" y="161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49" name="Line 610"/>
                    <p:cNvSpPr>
                      <a:spLocks noChangeShapeType="1"/>
                    </p:cNvSpPr>
                    <p:nvPr/>
                  </p:nvSpPr>
                  <p:spPr bwMode="auto">
                    <a:xfrm>
                      <a:off x="3654" y="161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50" name="Freeform 611"/>
                    <p:cNvSpPr>
                      <a:spLocks/>
                    </p:cNvSpPr>
                    <p:nvPr/>
                  </p:nvSpPr>
                  <p:spPr bwMode="auto">
                    <a:xfrm>
                      <a:off x="3654" y="1618"/>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51" name="Line 612"/>
                    <p:cNvSpPr>
                      <a:spLocks noChangeShapeType="1"/>
                    </p:cNvSpPr>
                    <p:nvPr/>
                  </p:nvSpPr>
                  <p:spPr bwMode="auto">
                    <a:xfrm>
                      <a:off x="3658" y="162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52" name="Freeform 613"/>
                    <p:cNvSpPr>
                      <a:spLocks/>
                    </p:cNvSpPr>
                    <p:nvPr/>
                  </p:nvSpPr>
                  <p:spPr bwMode="auto">
                    <a:xfrm>
                      <a:off x="3658" y="1627"/>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53" name="Line 614"/>
                    <p:cNvSpPr>
                      <a:spLocks noChangeShapeType="1"/>
                    </p:cNvSpPr>
                    <p:nvPr/>
                  </p:nvSpPr>
                  <p:spPr bwMode="auto">
                    <a:xfrm>
                      <a:off x="3662" y="163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54" name="Line 615"/>
                    <p:cNvSpPr>
                      <a:spLocks noChangeShapeType="1"/>
                    </p:cNvSpPr>
                    <p:nvPr/>
                  </p:nvSpPr>
                  <p:spPr bwMode="auto">
                    <a:xfrm>
                      <a:off x="3662" y="1631"/>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55" name="Line 616"/>
                    <p:cNvSpPr>
                      <a:spLocks noChangeShapeType="1"/>
                    </p:cNvSpPr>
                    <p:nvPr/>
                  </p:nvSpPr>
                  <p:spPr bwMode="auto">
                    <a:xfrm>
                      <a:off x="3667" y="163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56" name="Line 617"/>
                    <p:cNvSpPr>
                      <a:spLocks noChangeShapeType="1"/>
                    </p:cNvSpPr>
                    <p:nvPr/>
                  </p:nvSpPr>
                  <p:spPr bwMode="auto">
                    <a:xfrm>
                      <a:off x="3671" y="164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57" name="Freeform 618"/>
                    <p:cNvSpPr>
                      <a:spLocks/>
                    </p:cNvSpPr>
                    <p:nvPr/>
                  </p:nvSpPr>
                  <p:spPr bwMode="auto">
                    <a:xfrm>
                      <a:off x="3671" y="1640"/>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58" name="Line 619"/>
                    <p:cNvSpPr>
                      <a:spLocks noChangeShapeType="1"/>
                    </p:cNvSpPr>
                    <p:nvPr/>
                  </p:nvSpPr>
                  <p:spPr bwMode="auto">
                    <a:xfrm>
                      <a:off x="3675" y="164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59" name="Line 620"/>
                    <p:cNvSpPr>
                      <a:spLocks noChangeShapeType="1"/>
                    </p:cNvSpPr>
                    <p:nvPr/>
                  </p:nvSpPr>
                  <p:spPr bwMode="auto">
                    <a:xfrm>
                      <a:off x="3675" y="16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60" name="Freeform 621"/>
                    <p:cNvSpPr>
                      <a:spLocks/>
                    </p:cNvSpPr>
                    <p:nvPr/>
                  </p:nvSpPr>
                  <p:spPr bwMode="auto">
                    <a:xfrm>
                      <a:off x="3680" y="1648"/>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61" name="Line 622"/>
                    <p:cNvSpPr>
                      <a:spLocks noChangeShapeType="1"/>
                    </p:cNvSpPr>
                    <p:nvPr/>
                  </p:nvSpPr>
                  <p:spPr bwMode="auto">
                    <a:xfrm>
                      <a:off x="3684" y="16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62" name="Freeform 623"/>
                    <p:cNvSpPr>
                      <a:spLocks/>
                    </p:cNvSpPr>
                    <p:nvPr/>
                  </p:nvSpPr>
                  <p:spPr bwMode="auto">
                    <a:xfrm>
                      <a:off x="3684" y="165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63" name="Line 624"/>
                    <p:cNvSpPr>
                      <a:spLocks noChangeShapeType="1"/>
                    </p:cNvSpPr>
                    <p:nvPr/>
                  </p:nvSpPr>
                  <p:spPr bwMode="auto">
                    <a:xfrm>
                      <a:off x="3688" y="165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64" name="Freeform 625"/>
                    <p:cNvSpPr>
                      <a:spLocks/>
                    </p:cNvSpPr>
                    <p:nvPr/>
                  </p:nvSpPr>
                  <p:spPr bwMode="auto">
                    <a:xfrm>
                      <a:off x="3688" y="16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65" name="Freeform 626"/>
                    <p:cNvSpPr>
                      <a:spLocks/>
                    </p:cNvSpPr>
                    <p:nvPr/>
                  </p:nvSpPr>
                  <p:spPr bwMode="auto">
                    <a:xfrm>
                      <a:off x="3693" y="1661"/>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66" name="Line 627"/>
                    <p:cNvSpPr>
                      <a:spLocks noChangeShapeType="1"/>
                    </p:cNvSpPr>
                    <p:nvPr/>
                  </p:nvSpPr>
                  <p:spPr bwMode="auto">
                    <a:xfrm>
                      <a:off x="3693" y="166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67" name="Freeform 628"/>
                    <p:cNvSpPr>
                      <a:spLocks/>
                    </p:cNvSpPr>
                    <p:nvPr/>
                  </p:nvSpPr>
                  <p:spPr bwMode="auto">
                    <a:xfrm>
                      <a:off x="3697" y="1666"/>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68" name="Line 629"/>
                    <p:cNvSpPr>
                      <a:spLocks noChangeShapeType="1"/>
                    </p:cNvSpPr>
                    <p:nvPr/>
                  </p:nvSpPr>
                  <p:spPr bwMode="auto">
                    <a:xfrm>
                      <a:off x="3701" y="16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69" name="Freeform 630"/>
                    <p:cNvSpPr>
                      <a:spLocks/>
                    </p:cNvSpPr>
                    <p:nvPr/>
                  </p:nvSpPr>
                  <p:spPr bwMode="auto">
                    <a:xfrm>
                      <a:off x="3701" y="1670"/>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70" name="Line 631"/>
                    <p:cNvSpPr>
                      <a:spLocks noChangeShapeType="1"/>
                    </p:cNvSpPr>
                    <p:nvPr/>
                  </p:nvSpPr>
                  <p:spPr bwMode="auto">
                    <a:xfrm>
                      <a:off x="3706" y="16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71" name="Line 632"/>
                    <p:cNvSpPr>
                      <a:spLocks noChangeShapeType="1"/>
                    </p:cNvSpPr>
                    <p:nvPr/>
                  </p:nvSpPr>
                  <p:spPr bwMode="auto">
                    <a:xfrm>
                      <a:off x="3706" y="1674"/>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72" name="Line 633"/>
                    <p:cNvSpPr>
                      <a:spLocks noChangeShapeType="1"/>
                    </p:cNvSpPr>
                    <p:nvPr/>
                  </p:nvSpPr>
                  <p:spPr bwMode="auto">
                    <a:xfrm>
                      <a:off x="3710" y="1679"/>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73" name="Line 634"/>
                    <p:cNvSpPr>
                      <a:spLocks noChangeShapeType="1"/>
                    </p:cNvSpPr>
                    <p:nvPr/>
                  </p:nvSpPr>
                  <p:spPr bwMode="auto">
                    <a:xfrm>
                      <a:off x="3715" y="16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74" name="Freeform 635"/>
                    <p:cNvSpPr>
                      <a:spLocks/>
                    </p:cNvSpPr>
                    <p:nvPr/>
                  </p:nvSpPr>
                  <p:spPr bwMode="auto">
                    <a:xfrm>
                      <a:off x="3715" y="168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75" name="Line 636"/>
                    <p:cNvSpPr>
                      <a:spLocks noChangeShapeType="1"/>
                    </p:cNvSpPr>
                    <p:nvPr/>
                  </p:nvSpPr>
                  <p:spPr bwMode="auto">
                    <a:xfrm>
                      <a:off x="3719" y="16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76" name="Freeform 637"/>
                    <p:cNvSpPr>
                      <a:spLocks/>
                    </p:cNvSpPr>
                    <p:nvPr/>
                  </p:nvSpPr>
                  <p:spPr bwMode="auto">
                    <a:xfrm>
                      <a:off x="3719" y="16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77" name="Freeform 638"/>
                    <p:cNvSpPr>
                      <a:spLocks/>
                    </p:cNvSpPr>
                    <p:nvPr/>
                  </p:nvSpPr>
                  <p:spPr bwMode="auto">
                    <a:xfrm>
                      <a:off x="3723" y="1687"/>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78" name="Line 639"/>
                    <p:cNvSpPr>
                      <a:spLocks noChangeShapeType="1"/>
                    </p:cNvSpPr>
                    <p:nvPr/>
                  </p:nvSpPr>
                  <p:spPr bwMode="auto">
                    <a:xfrm>
                      <a:off x="3723" y="1692"/>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79" name="Freeform 640"/>
                    <p:cNvSpPr>
                      <a:spLocks/>
                    </p:cNvSpPr>
                    <p:nvPr/>
                  </p:nvSpPr>
                  <p:spPr bwMode="auto">
                    <a:xfrm>
                      <a:off x="3728" y="1692"/>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80" name="Line 641"/>
                    <p:cNvSpPr>
                      <a:spLocks noChangeShapeType="1"/>
                    </p:cNvSpPr>
                    <p:nvPr/>
                  </p:nvSpPr>
                  <p:spPr bwMode="auto">
                    <a:xfrm>
                      <a:off x="3732" y="169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81" name="Freeform 642"/>
                    <p:cNvSpPr>
                      <a:spLocks/>
                    </p:cNvSpPr>
                    <p:nvPr/>
                  </p:nvSpPr>
                  <p:spPr bwMode="auto">
                    <a:xfrm>
                      <a:off x="3732" y="1696"/>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82" name="Line 643"/>
                    <p:cNvSpPr>
                      <a:spLocks noChangeShapeType="1"/>
                    </p:cNvSpPr>
                    <p:nvPr/>
                  </p:nvSpPr>
                  <p:spPr bwMode="auto">
                    <a:xfrm>
                      <a:off x="3736" y="170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83" name="Freeform 644"/>
                    <p:cNvSpPr>
                      <a:spLocks/>
                    </p:cNvSpPr>
                    <p:nvPr/>
                  </p:nvSpPr>
                  <p:spPr bwMode="auto">
                    <a:xfrm>
                      <a:off x="3736" y="1701"/>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84" name="Line 645"/>
                    <p:cNvSpPr>
                      <a:spLocks noChangeShapeType="1"/>
                    </p:cNvSpPr>
                    <p:nvPr/>
                  </p:nvSpPr>
                  <p:spPr bwMode="auto">
                    <a:xfrm>
                      <a:off x="3741" y="1705"/>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85" name="Line 646"/>
                    <p:cNvSpPr>
                      <a:spLocks noChangeShapeType="1"/>
                    </p:cNvSpPr>
                    <p:nvPr/>
                  </p:nvSpPr>
                  <p:spPr bwMode="auto">
                    <a:xfrm>
                      <a:off x="3745" y="170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86" name="Freeform 647"/>
                    <p:cNvSpPr>
                      <a:spLocks/>
                    </p:cNvSpPr>
                    <p:nvPr/>
                  </p:nvSpPr>
                  <p:spPr bwMode="auto">
                    <a:xfrm>
                      <a:off x="3745" y="1705"/>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87" name="Line 648"/>
                    <p:cNvSpPr>
                      <a:spLocks noChangeShapeType="1"/>
                    </p:cNvSpPr>
                    <p:nvPr/>
                  </p:nvSpPr>
                  <p:spPr bwMode="auto">
                    <a:xfrm>
                      <a:off x="3749" y="170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88" name="Freeform 649"/>
                    <p:cNvSpPr>
                      <a:spLocks/>
                    </p:cNvSpPr>
                    <p:nvPr/>
                  </p:nvSpPr>
                  <p:spPr bwMode="auto">
                    <a:xfrm>
                      <a:off x="3749" y="1709"/>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89" name="Line 650"/>
                    <p:cNvSpPr>
                      <a:spLocks noChangeShapeType="1"/>
                    </p:cNvSpPr>
                    <p:nvPr/>
                  </p:nvSpPr>
                  <p:spPr bwMode="auto">
                    <a:xfrm>
                      <a:off x="3754" y="171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90" name="Line 651"/>
                    <p:cNvSpPr>
                      <a:spLocks noChangeShapeType="1"/>
                    </p:cNvSpPr>
                    <p:nvPr/>
                  </p:nvSpPr>
                  <p:spPr bwMode="auto">
                    <a:xfrm>
                      <a:off x="3754" y="171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91" name="Freeform 652"/>
                    <p:cNvSpPr>
                      <a:spLocks/>
                    </p:cNvSpPr>
                    <p:nvPr/>
                  </p:nvSpPr>
                  <p:spPr bwMode="auto">
                    <a:xfrm>
                      <a:off x="3758" y="1714"/>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92" name="Line 653"/>
                    <p:cNvSpPr>
                      <a:spLocks noChangeShapeType="1"/>
                    </p:cNvSpPr>
                    <p:nvPr/>
                  </p:nvSpPr>
                  <p:spPr bwMode="auto">
                    <a:xfrm>
                      <a:off x="3762" y="171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93" name="Freeform 654"/>
                    <p:cNvSpPr>
                      <a:spLocks/>
                    </p:cNvSpPr>
                    <p:nvPr/>
                  </p:nvSpPr>
                  <p:spPr bwMode="auto">
                    <a:xfrm>
                      <a:off x="3762" y="1718"/>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94" name="Freeform 655"/>
                    <p:cNvSpPr>
                      <a:spLocks/>
                    </p:cNvSpPr>
                    <p:nvPr/>
                  </p:nvSpPr>
                  <p:spPr bwMode="auto">
                    <a:xfrm>
                      <a:off x="3767" y="1718"/>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95" name="Line 656"/>
                    <p:cNvSpPr>
                      <a:spLocks noChangeShapeType="1"/>
                    </p:cNvSpPr>
                    <p:nvPr/>
                  </p:nvSpPr>
                  <p:spPr bwMode="auto">
                    <a:xfrm>
                      <a:off x="3767" y="1722"/>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96" name="Line 657"/>
                    <p:cNvSpPr>
                      <a:spLocks noChangeShapeType="1"/>
                    </p:cNvSpPr>
                    <p:nvPr/>
                  </p:nvSpPr>
                  <p:spPr bwMode="auto">
                    <a:xfrm>
                      <a:off x="3771" y="1722"/>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97" name="Freeform 658"/>
                    <p:cNvSpPr>
                      <a:spLocks/>
                    </p:cNvSpPr>
                    <p:nvPr/>
                  </p:nvSpPr>
                  <p:spPr bwMode="auto">
                    <a:xfrm>
                      <a:off x="3775" y="1722"/>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98" name="Freeform 659"/>
                    <p:cNvSpPr>
                      <a:spLocks/>
                    </p:cNvSpPr>
                    <p:nvPr/>
                  </p:nvSpPr>
                  <p:spPr bwMode="auto">
                    <a:xfrm>
                      <a:off x="3775" y="172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99" name="Line 660"/>
                    <p:cNvSpPr>
                      <a:spLocks noChangeShapeType="1"/>
                    </p:cNvSpPr>
                    <p:nvPr/>
                  </p:nvSpPr>
                  <p:spPr bwMode="auto">
                    <a:xfrm>
                      <a:off x="3780" y="172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00" name="Freeform 661"/>
                    <p:cNvSpPr>
                      <a:spLocks/>
                    </p:cNvSpPr>
                    <p:nvPr/>
                  </p:nvSpPr>
                  <p:spPr bwMode="auto">
                    <a:xfrm>
                      <a:off x="3780" y="1727"/>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01" name="Line 662"/>
                    <p:cNvSpPr>
                      <a:spLocks noChangeShapeType="1"/>
                    </p:cNvSpPr>
                    <p:nvPr/>
                  </p:nvSpPr>
                  <p:spPr bwMode="auto">
                    <a:xfrm>
                      <a:off x="3784" y="173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02" name="Line 663"/>
                    <p:cNvSpPr>
                      <a:spLocks noChangeShapeType="1"/>
                    </p:cNvSpPr>
                    <p:nvPr/>
                  </p:nvSpPr>
                  <p:spPr bwMode="auto">
                    <a:xfrm>
                      <a:off x="3784" y="1731"/>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03" name="Freeform 664"/>
                    <p:cNvSpPr>
                      <a:spLocks/>
                    </p:cNvSpPr>
                    <p:nvPr/>
                  </p:nvSpPr>
                  <p:spPr bwMode="auto">
                    <a:xfrm>
                      <a:off x="3788" y="1731"/>
                      <a:ext cx="5" cy="4"/>
                    </a:xfrm>
                    <a:custGeom>
                      <a:avLst/>
                      <a:gdLst>
                        <a:gd name="T0" fmla="*/ 0 w 5"/>
                        <a:gd name="T1" fmla="*/ 0 h 4"/>
                        <a:gd name="T2" fmla="*/ 5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5"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04" name="Line 665"/>
                    <p:cNvSpPr>
                      <a:spLocks noChangeShapeType="1"/>
                    </p:cNvSpPr>
                    <p:nvPr/>
                  </p:nvSpPr>
                  <p:spPr bwMode="auto">
                    <a:xfrm>
                      <a:off x="3793" y="173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05" name="Freeform 666"/>
                    <p:cNvSpPr>
                      <a:spLocks/>
                    </p:cNvSpPr>
                    <p:nvPr/>
                  </p:nvSpPr>
                  <p:spPr bwMode="auto">
                    <a:xfrm>
                      <a:off x="3793" y="1735"/>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06" name="Line 667"/>
                    <p:cNvSpPr>
                      <a:spLocks noChangeShapeType="1"/>
                    </p:cNvSpPr>
                    <p:nvPr/>
                  </p:nvSpPr>
                  <p:spPr bwMode="auto">
                    <a:xfrm>
                      <a:off x="3797" y="173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07" name="Freeform 668"/>
                    <p:cNvSpPr>
                      <a:spLocks/>
                    </p:cNvSpPr>
                    <p:nvPr/>
                  </p:nvSpPr>
                  <p:spPr bwMode="auto">
                    <a:xfrm>
                      <a:off x="3797" y="1735"/>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08" name="Line 669"/>
                    <p:cNvSpPr>
                      <a:spLocks noChangeShapeType="1"/>
                    </p:cNvSpPr>
                    <p:nvPr/>
                  </p:nvSpPr>
                  <p:spPr bwMode="auto">
                    <a:xfrm>
                      <a:off x="3801" y="1740"/>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09" name="Line 670"/>
                    <p:cNvSpPr>
                      <a:spLocks noChangeShapeType="1"/>
                    </p:cNvSpPr>
                    <p:nvPr/>
                  </p:nvSpPr>
                  <p:spPr bwMode="auto">
                    <a:xfrm>
                      <a:off x="3806" y="174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10" name="Freeform 671"/>
                    <p:cNvSpPr>
                      <a:spLocks/>
                    </p:cNvSpPr>
                    <p:nvPr/>
                  </p:nvSpPr>
                  <p:spPr bwMode="auto">
                    <a:xfrm>
                      <a:off x="3806" y="174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11" name="Freeform 672"/>
                    <p:cNvSpPr>
                      <a:spLocks/>
                    </p:cNvSpPr>
                    <p:nvPr/>
                  </p:nvSpPr>
                  <p:spPr bwMode="auto">
                    <a:xfrm>
                      <a:off x="3810" y="1740"/>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12" name="Line 673"/>
                    <p:cNvSpPr>
                      <a:spLocks noChangeShapeType="1"/>
                    </p:cNvSpPr>
                    <p:nvPr/>
                  </p:nvSpPr>
                  <p:spPr bwMode="auto">
                    <a:xfrm>
                      <a:off x="3810" y="174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13" name="Line 674"/>
                    <p:cNvSpPr>
                      <a:spLocks noChangeShapeType="1"/>
                    </p:cNvSpPr>
                    <p:nvPr/>
                  </p:nvSpPr>
                  <p:spPr bwMode="auto">
                    <a:xfrm>
                      <a:off x="3814" y="174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14" name="Line 675"/>
                    <p:cNvSpPr>
                      <a:spLocks noChangeShapeType="1"/>
                    </p:cNvSpPr>
                    <p:nvPr/>
                  </p:nvSpPr>
                  <p:spPr bwMode="auto">
                    <a:xfrm>
                      <a:off x="3819" y="174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15" name="Freeform 676"/>
                    <p:cNvSpPr>
                      <a:spLocks/>
                    </p:cNvSpPr>
                    <p:nvPr/>
                  </p:nvSpPr>
                  <p:spPr bwMode="auto">
                    <a:xfrm>
                      <a:off x="3819" y="1744"/>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16" name="Line 677"/>
                    <p:cNvSpPr>
                      <a:spLocks noChangeShapeType="1"/>
                    </p:cNvSpPr>
                    <p:nvPr/>
                  </p:nvSpPr>
                  <p:spPr bwMode="auto">
                    <a:xfrm>
                      <a:off x="3823" y="17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17" name="Freeform 678"/>
                    <p:cNvSpPr>
                      <a:spLocks/>
                    </p:cNvSpPr>
                    <p:nvPr/>
                  </p:nvSpPr>
                  <p:spPr bwMode="auto">
                    <a:xfrm>
                      <a:off x="3823" y="174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18" name="Line 679"/>
                    <p:cNvSpPr>
                      <a:spLocks noChangeShapeType="1"/>
                    </p:cNvSpPr>
                    <p:nvPr/>
                  </p:nvSpPr>
                  <p:spPr bwMode="auto">
                    <a:xfrm>
                      <a:off x="3827" y="17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19" name="Line 680"/>
                    <p:cNvSpPr>
                      <a:spLocks noChangeShapeType="1"/>
                    </p:cNvSpPr>
                    <p:nvPr/>
                  </p:nvSpPr>
                  <p:spPr bwMode="auto">
                    <a:xfrm>
                      <a:off x="3827" y="17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20" name="Freeform 681"/>
                    <p:cNvSpPr>
                      <a:spLocks/>
                    </p:cNvSpPr>
                    <p:nvPr/>
                  </p:nvSpPr>
                  <p:spPr bwMode="auto">
                    <a:xfrm>
                      <a:off x="3832" y="1748"/>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21" name="Line 682"/>
                    <p:cNvSpPr>
                      <a:spLocks noChangeShapeType="1"/>
                    </p:cNvSpPr>
                    <p:nvPr/>
                  </p:nvSpPr>
                  <p:spPr bwMode="auto">
                    <a:xfrm>
                      <a:off x="3836" y="17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22" name="Freeform 683"/>
                    <p:cNvSpPr>
                      <a:spLocks/>
                    </p:cNvSpPr>
                    <p:nvPr/>
                  </p:nvSpPr>
                  <p:spPr bwMode="auto">
                    <a:xfrm>
                      <a:off x="3836" y="175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23" name="Line 684"/>
                    <p:cNvSpPr>
                      <a:spLocks noChangeShapeType="1"/>
                    </p:cNvSpPr>
                    <p:nvPr/>
                  </p:nvSpPr>
                  <p:spPr bwMode="auto">
                    <a:xfrm>
                      <a:off x="3840" y="17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24" name="Line 685"/>
                    <p:cNvSpPr>
                      <a:spLocks noChangeShapeType="1"/>
                    </p:cNvSpPr>
                    <p:nvPr/>
                  </p:nvSpPr>
                  <p:spPr bwMode="auto">
                    <a:xfrm>
                      <a:off x="3840" y="175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25" name="Line 686"/>
                    <p:cNvSpPr>
                      <a:spLocks noChangeShapeType="1"/>
                    </p:cNvSpPr>
                    <p:nvPr/>
                  </p:nvSpPr>
                  <p:spPr bwMode="auto">
                    <a:xfrm>
                      <a:off x="3845" y="175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26" name="Freeform 687"/>
                    <p:cNvSpPr>
                      <a:spLocks/>
                    </p:cNvSpPr>
                    <p:nvPr/>
                  </p:nvSpPr>
                  <p:spPr bwMode="auto">
                    <a:xfrm>
                      <a:off x="3849" y="1753"/>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27" name="Freeform 688"/>
                    <p:cNvSpPr>
                      <a:spLocks/>
                    </p:cNvSpPr>
                    <p:nvPr/>
                  </p:nvSpPr>
                  <p:spPr bwMode="auto">
                    <a:xfrm>
                      <a:off x="3849" y="175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28" name="Line 689"/>
                    <p:cNvSpPr>
                      <a:spLocks noChangeShapeType="1"/>
                    </p:cNvSpPr>
                    <p:nvPr/>
                  </p:nvSpPr>
                  <p:spPr bwMode="auto">
                    <a:xfrm>
                      <a:off x="3853" y="175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29" name="Freeform 690"/>
                    <p:cNvSpPr>
                      <a:spLocks/>
                    </p:cNvSpPr>
                    <p:nvPr/>
                  </p:nvSpPr>
                  <p:spPr bwMode="auto">
                    <a:xfrm>
                      <a:off x="3853" y="175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30" name="Line 691"/>
                    <p:cNvSpPr>
                      <a:spLocks noChangeShapeType="1"/>
                    </p:cNvSpPr>
                    <p:nvPr/>
                  </p:nvSpPr>
                  <p:spPr bwMode="auto">
                    <a:xfrm>
                      <a:off x="3858" y="175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31" name="Line 692"/>
                    <p:cNvSpPr>
                      <a:spLocks noChangeShapeType="1"/>
                    </p:cNvSpPr>
                    <p:nvPr/>
                  </p:nvSpPr>
                  <p:spPr bwMode="auto">
                    <a:xfrm>
                      <a:off x="3858" y="175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32" name="Freeform 693"/>
                    <p:cNvSpPr>
                      <a:spLocks/>
                    </p:cNvSpPr>
                    <p:nvPr/>
                  </p:nvSpPr>
                  <p:spPr bwMode="auto">
                    <a:xfrm>
                      <a:off x="3862" y="1757"/>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33" name="Line 694"/>
                    <p:cNvSpPr>
                      <a:spLocks noChangeShapeType="1"/>
                    </p:cNvSpPr>
                    <p:nvPr/>
                  </p:nvSpPr>
                  <p:spPr bwMode="auto">
                    <a:xfrm>
                      <a:off x="3866"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34" name="Freeform 695"/>
                    <p:cNvSpPr>
                      <a:spLocks/>
                    </p:cNvSpPr>
                    <p:nvPr/>
                  </p:nvSpPr>
                  <p:spPr bwMode="auto">
                    <a:xfrm>
                      <a:off x="3866" y="17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35" name="Line 696"/>
                    <p:cNvSpPr>
                      <a:spLocks noChangeShapeType="1"/>
                    </p:cNvSpPr>
                    <p:nvPr/>
                  </p:nvSpPr>
                  <p:spPr bwMode="auto">
                    <a:xfrm>
                      <a:off x="3871"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36" name="Line 697"/>
                    <p:cNvSpPr>
                      <a:spLocks noChangeShapeType="1"/>
                    </p:cNvSpPr>
                    <p:nvPr/>
                  </p:nvSpPr>
                  <p:spPr bwMode="auto">
                    <a:xfrm>
                      <a:off x="3871" y="1761"/>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37" name="Line 698"/>
                    <p:cNvSpPr>
                      <a:spLocks noChangeShapeType="1"/>
                    </p:cNvSpPr>
                    <p:nvPr/>
                  </p:nvSpPr>
                  <p:spPr bwMode="auto">
                    <a:xfrm>
                      <a:off x="3875" y="1761"/>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38" name="Line 699"/>
                    <p:cNvSpPr>
                      <a:spLocks noChangeShapeType="1"/>
                    </p:cNvSpPr>
                    <p:nvPr/>
                  </p:nvSpPr>
                  <p:spPr bwMode="auto">
                    <a:xfrm>
                      <a:off x="3879"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39" name="Freeform 700"/>
                    <p:cNvSpPr>
                      <a:spLocks/>
                    </p:cNvSpPr>
                    <p:nvPr/>
                  </p:nvSpPr>
                  <p:spPr bwMode="auto">
                    <a:xfrm>
                      <a:off x="3879" y="1761"/>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40" name="Line 701"/>
                    <p:cNvSpPr>
                      <a:spLocks noChangeShapeType="1"/>
                    </p:cNvSpPr>
                    <p:nvPr/>
                  </p:nvSpPr>
                  <p:spPr bwMode="auto">
                    <a:xfrm>
                      <a:off x="3884"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41" name="Freeform 702"/>
                    <p:cNvSpPr>
                      <a:spLocks/>
                    </p:cNvSpPr>
                    <p:nvPr/>
                  </p:nvSpPr>
                  <p:spPr bwMode="auto">
                    <a:xfrm>
                      <a:off x="3884" y="1766"/>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42" name="Line 703"/>
                    <p:cNvSpPr>
                      <a:spLocks noChangeShapeType="1"/>
                    </p:cNvSpPr>
                    <p:nvPr/>
                  </p:nvSpPr>
                  <p:spPr bwMode="auto">
                    <a:xfrm>
                      <a:off x="3888"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43" name="Line 704"/>
                    <p:cNvSpPr>
                      <a:spLocks noChangeShapeType="1"/>
                    </p:cNvSpPr>
                    <p:nvPr/>
                  </p:nvSpPr>
                  <p:spPr bwMode="auto">
                    <a:xfrm>
                      <a:off x="3888" y="176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44" name="Line 705"/>
                    <p:cNvSpPr>
                      <a:spLocks noChangeShapeType="1"/>
                    </p:cNvSpPr>
                    <p:nvPr/>
                  </p:nvSpPr>
                  <p:spPr bwMode="auto">
                    <a:xfrm>
                      <a:off x="3892" y="1766"/>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45" name="Line 706"/>
                    <p:cNvSpPr>
                      <a:spLocks noChangeShapeType="1"/>
                    </p:cNvSpPr>
                    <p:nvPr/>
                  </p:nvSpPr>
                  <p:spPr bwMode="auto">
                    <a:xfrm>
                      <a:off x="3897"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46" name="Freeform 707"/>
                    <p:cNvSpPr>
                      <a:spLocks/>
                    </p:cNvSpPr>
                    <p:nvPr/>
                  </p:nvSpPr>
                  <p:spPr bwMode="auto">
                    <a:xfrm>
                      <a:off x="3897" y="1766"/>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47" name="Line 708"/>
                    <p:cNvSpPr>
                      <a:spLocks noChangeShapeType="1"/>
                    </p:cNvSpPr>
                    <p:nvPr/>
                  </p:nvSpPr>
                  <p:spPr bwMode="auto">
                    <a:xfrm>
                      <a:off x="3901"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48" name="Freeform 709"/>
                    <p:cNvSpPr>
                      <a:spLocks/>
                    </p:cNvSpPr>
                    <p:nvPr/>
                  </p:nvSpPr>
                  <p:spPr bwMode="auto">
                    <a:xfrm>
                      <a:off x="3901" y="1766"/>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49" name="Line 710"/>
                    <p:cNvSpPr>
                      <a:spLocks noChangeShapeType="1"/>
                    </p:cNvSpPr>
                    <p:nvPr/>
                  </p:nvSpPr>
                  <p:spPr bwMode="auto">
                    <a:xfrm>
                      <a:off x="3906" y="17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50" name="Line 711"/>
                    <p:cNvSpPr>
                      <a:spLocks noChangeShapeType="1"/>
                    </p:cNvSpPr>
                    <p:nvPr/>
                  </p:nvSpPr>
                  <p:spPr bwMode="auto">
                    <a:xfrm>
                      <a:off x="3910"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51" name="Freeform 712"/>
                    <p:cNvSpPr>
                      <a:spLocks/>
                    </p:cNvSpPr>
                    <p:nvPr/>
                  </p:nvSpPr>
                  <p:spPr bwMode="auto">
                    <a:xfrm>
                      <a:off x="3910" y="177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52" name="Line 713"/>
                    <p:cNvSpPr>
                      <a:spLocks noChangeShapeType="1"/>
                    </p:cNvSpPr>
                    <p:nvPr/>
                  </p:nvSpPr>
                  <p:spPr bwMode="auto">
                    <a:xfrm>
                      <a:off x="3914"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53" name="Freeform 714"/>
                    <p:cNvSpPr>
                      <a:spLocks/>
                    </p:cNvSpPr>
                    <p:nvPr/>
                  </p:nvSpPr>
                  <p:spPr bwMode="auto">
                    <a:xfrm>
                      <a:off x="3914" y="1770"/>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54" name="Line 715"/>
                    <p:cNvSpPr>
                      <a:spLocks noChangeShapeType="1"/>
                    </p:cNvSpPr>
                    <p:nvPr/>
                  </p:nvSpPr>
                  <p:spPr bwMode="auto">
                    <a:xfrm>
                      <a:off x="3919"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55" name="Line 716"/>
                    <p:cNvSpPr>
                      <a:spLocks noChangeShapeType="1"/>
                    </p:cNvSpPr>
                    <p:nvPr/>
                  </p:nvSpPr>
                  <p:spPr bwMode="auto">
                    <a:xfrm>
                      <a:off x="3919" y="17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56" name="Line 717"/>
                    <p:cNvSpPr>
                      <a:spLocks noChangeShapeType="1"/>
                    </p:cNvSpPr>
                    <p:nvPr/>
                  </p:nvSpPr>
                  <p:spPr bwMode="auto">
                    <a:xfrm>
                      <a:off x="3923" y="17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57" name="Line 718"/>
                    <p:cNvSpPr>
                      <a:spLocks noChangeShapeType="1"/>
                    </p:cNvSpPr>
                    <p:nvPr/>
                  </p:nvSpPr>
                  <p:spPr bwMode="auto">
                    <a:xfrm>
                      <a:off x="3927"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58" name="Freeform 719"/>
                    <p:cNvSpPr>
                      <a:spLocks/>
                    </p:cNvSpPr>
                    <p:nvPr/>
                  </p:nvSpPr>
                  <p:spPr bwMode="auto">
                    <a:xfrm>
                      <a:off x="3927" y="1770"/>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59" name="Freeform 720"/>
                    <p:cNvSpPr>
                      <a:spLocks/>
                    </p:cNvSpPr>
                    <p:nvPr/>
                  </p:nvSpPr>
                  <p:spPr bwMode="auto">
                    <a:xfrm>
                      <a:off x="3932" y="1770"/>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60" name="Line 721"/>
                    <p:cNvSpPr>
                      <a:spLocks noChangeShapeType="1"/>
                    </p:cNvSpPr>
                    <p:nvPr/>
                  </p:nvSpPr>
                  <p:spPr bwMode="auto">
                    <a:xfrm>
                      <a:off x="3932"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61" name="Line 722"/>
                    <p:cNvSpPr>
                      <a:spLocks noChangeShapeType="1"/>
                    </p:cNvSpPr>
                    <p:nvPr/>
                  </p:nvSpPr>
                  <p:spPr bwMode="auto">
                    <a:xfrm>
                      <a:off x="3936"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62" name="Line 723"/>
                    <p:cNvSpPr>
                      <a:spLocks noChangeShapeType="1"/>
                    </p:cNvSpPr>
                    <p:nvPr/>
                  </p:nvSpPr>
                  <p:spPr bwMode="auto">
                    <a:xfrm>
                      <a:off x="3940"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63" name="Freeform 724"/>
                    <p:cNvSpPr>
                      <a:spLocks/>
                    </p:cNvSpPr>
                    <p:nvPr/>
                  </p:nvSpPr>
                  <p:spPr bwMode="auto">
                    <a:xfrm>
                      <a:off x="3940" y="1774"/>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64" name="Line 725"/>
                    <p:cNvSpPr>
                      <a:spLocks noChangeShapeType="1"/>
                    </p:cNvSpPr>
                    <p:nvPr/>
                  </p:nvSpPr>
                  <p:spPr bwMode="auto">
                    <a:xfrm>
                      <a:off x="3945"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65" name="Freeform 726"/>
                    <p:cNvSpPr>
                      <a:spLocks/>
                    </p:cNvSpPr>
                    <p:nvPr/>
                  </p:nvSpPr>
                  <p:spPr bwMode="auto">
                    <a:xfrm>
                      <a:off x="3945"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66" name="Line 727"/>
                    <p:cNvSpPr>
                      <a:spLocks noChangeShapeType="1"/>
                    </p:cNvSpPr>
                    <p:nvPr/>
                  </p:nvSpPr>
                  <p:spPr bwMode="auto">
                    <a:xfrm>
                      <a:off x="3949"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67" name="Line 728"/>
                    <p:cNvSpPr>
                      <a:spLocks noChangeShapeType="1"/>
                    </p:cNvSpPr>
                    <p:nvPr/>
                  </p:nvSpPr>
                  <p:spPr bwMode="auto">
                    <a:xfrm>
                      <a:off x="3949"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68" name="Line 729"/>
                    <p:cNvSpPr>
                      <a:spLocks noChangeShapeType="1"/>
                    </p:cNvSpPr>
                    <p:nvPr/>
                  </p:nvSpPr>
                  <p:spPr bwMode="auto">
                    <a:xfrm>
                      <a:off x="3953" y="17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69" name="Line 730"/>
                    <p:cNvSpPr>
                      <a:spLocks noChangeShapeType="1"/>
                    </p:cNvSpPr>
                    <p:nvPr/>
                  </p:nvSpPr>
                  <p:spPr bwMode="auto">
                    <a:xfrm>
                      <a:off x="3958"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70" name="Freeform 731"/>
                    <p:cNvSpPr>
                      <a:spLocks/>
                    </p:cNvSpPr>
                    <p:nvPr/>
                  </p:nvSpPr>
                  <p:spPr bwMode="auto">
                    <a:xfrm>
                      <a:off x="3958"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71" name="Line 732"/>
                    <p:cNvSpPr>
                      <a:spLocks noChangeShapeType="1"/>
                    </p:cNvSpPr>
                    <p:nvPr/>
                  </p:nvSpPr>
                  <p:spPr bwMode="auto">
                    <a:xfrm>
                      <a:off x="3962"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72" name="Line 733"/>
                    <p:cNvSpPr>
                      <a:spLocks noChangeShapeType="1"/>
                    </p:cNvSpPr>
                    <p:nvPr/>
                  </p:nvSpPr>
                  <p:spPr bwMode="auto">
                    <a:xfrm>
                      <a:off x="3962"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73" name="Line 734"/>
                    <p:cNvSpPr>
                      <a:spLocks noChangeShapeType="1"/>
                    </p:cNvSpPr>
                    <p:nvPr/>
                  </p:nvSpPr>
                  <p:spPr bwMode="auto">
                    <a:xfrm>
                      <a:off x="3966" y="17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74" name="Line 735"/>
                    <p:cNvSpPr>
                      <a:spLocks noChangeShapeType="1"/>
                    </p:cNvSpPr>
                    <p:nvPr/>
                  </p:nvSpPr>
                  <p:spPr bwMode="auto">
                    <a:xfrm>
                      <a:off x="3971"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75" name="Freeform 736"/>
                    <p:cNvSpPr>
                      <a:spLocks/>
                    </p:cNvSpPr>
                    <p:nvPr/>
                  </p:nvSpPr>
                  <p:spPr bwMode="auto">
                    <a:xfrm>
                      <a:off x="3971"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76" name="Freeform 737"/>
                    <p:cNvSpPr>
                      <a:spLocks/>
                    </p:cNvSpPr>
                    <p:nvPr/>
                  </p:nvSpPr>
                  <p:spPr bwMode="auto">
                    <a:xfrm>
                      <a:off x="3975" y="1774"/>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77" name="Freeform 738"/>
                    <p:cNvSpPr>
                      <a:spLocks/>
                    </p:cNvSpPr>
                    <p:nvPr/>
                  </p:nvSpPr>
                  <p:spPr bwMode="auto">
                    <a:xfrm>
                      <a:off x="3975"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78" name="Line 739"/>
                    <p:cNvSpPr>
                      <a:spLocks noChangeShapeType="1"/>
                    </p:cNvSpPr>
                    <p:nvPr/>
                  </p:nvSpPr>
                  <p:spPr bwMode="auto">
                    <a:xfrm>
                      <a:off x="3979"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79" name="Line 740"/>
                    <p:cNvSpPr>
                      <a:spLocks noChangeShapeType="1"/>
                    </p:cNvSpPr>
                    <p:nvPr/>
                  </p:nvSpPr>
                  <p:spPr bwMode="auto">
                    <a:xfrm>
                      <a:off x="3979" y="177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80" name="Line 741"/>
                    <p:cNvSpPr>
                      <a:spLocks noChangeShapeType="1"/>
                    </p:cNvSpPr>
                    <p:nvPr/>
                  </p:nvSpPr>
                  <p:spPr bwMode="auto">
                    <a:xfrm>
                      <a:off x="3984"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81" name="Line 742"/>
                    <p:cNvSpPr>
                      <a:spLocks noChangeShapeType="1"/>
                    </p:cNvSpPr>
                    <p:nvPr/>
                  </p:nvSpPr>
                  <p:spPr bwMode="auto">
                    <a:xfrm>
                      <a:off x="3988"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82" name="Freeform 743"/>
                    <p:cNvSpPr>
                      <a:spLocks/>
                    </p:cNvSpPr>
                    <p:nvPr/>
                  </p:nvSpPr>
                  <p:spPr bwMode="auto">
                    <a:xfrm>
                      <a:off x="3988"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83" name="Line 744"/>
                    <p:cNvSpPr>
                      <a:spLocks noChangeShapeType="1"/>
                    </p:cNvSpPr>
                    <p:nvPr/>
                  </p:nvSpPr>
                  <p:spPr bwMode="auto">
                    <a:xfrm>
                      <a:off x="3992"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84" name="Line 745"/>
                    <p:cNvSpPr>
                      <a:spLocks noChangeShapeType="1"/>
                    </p:cNvSpPr>
                    <p:nvPr/>
                  </p:nvSpPr>
                  <p:spPr bwMode="auto">
                    <a:xfrm>
                      <a:off x="3992" y="177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85" name="Line 746"/>
                    <p:cNvSpPr>
                      <a:spLocks noChangeShapeType="1"/>
                    </p:cNvSpPr>
                    <p:nvPr/>
                  </p:nvSpPr>
                  <p:spPr bwMode="auto">
                    <a:xfrm>
                      <a:off x="3997"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86" name="Line 747"/>
                    <p:cNvSpPr>
                      <a:spLocks noChangeShapeType="1"/>
                    </p:cNvSpPr>
                    <p:nvPr/>
                  </p:nvSpPr>
                  <p:spPr bwMode="auto">
                    <a:xfrm>
                      <a:off x="4001"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87" name="Freeform 748"/>
                    <p:cNvSpPr>
                      <a:spLocks/>
                    </p:cNvSpPr>
                    <p:nvPr/>
                  </p:nvSpPr>
                  <p:spPr bwMode="auto">
                    <a:xfrm>
                      <a:off x="4001"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88" name="Line 749"/>
                    <p:cNvSpPr>
                      <a:spLocks noChangeShapeType="1"/>
                    </p:cNvSpPr>
                    <p:nvPr/>
                  </p:nvSpPr>
                  <p:spPr bwMode="auto">
                    <a:xfrm>
                      <a:off x="4005"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89" name="Freeform 750"/>
                    <p:cNvSpPr>
                      <a:spLocks/>
                    </p:cNvSpPr>
                    <p:nvPr/>
                  </p:nvSpPr>
                  <p:spPr bwMode="auto">
                    <a:xfrm>
                      <a:off x="4005"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90" name="Line 751"/>
                    <p:cNvSpPr>
                      <a:spLocks noChangeShapeType="1"/>
                    </p:cNvSpPr>
                    <p:nvPr/>
                  </p:nvSpPr>
                  <p:spPr bwMode="auto">
                    <a:xfrm>
                      <a:off x="4010"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91" name="Line 752"/>
                    <p:cNvSpPr>
                      <a:spLocks noChangeShapeType="1"/>
                    </p:cNvSpPr>
                    <p:nvPr/>
                  </p:nvSpPr>
                  <p:spPr bwMode="auto">
                    <a:xfrm>
                      <a:off x="4010"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92" name="Line 753"/>
                    <p:cNvSpPr>
                      <a:spLocks noChangeShapeType="1"/>
                    </p:cNvSpPr>
                    <p:nvPr/>
                  </p:nvSpPr>
                  <p:spPr bwMode="auto">
                    <a:xfrm>
                      <a:off x="4014"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93" name="Line 754"/>
                    <p:cNvSpPr>
                      <a:spLocks noChangeShapeType="1"/>
                    </p:cNvSpPr>
                    <p:nvPr/>
                  </p:nvSpPr>
                  <p:spPr bwMode="auto">
                    <a:xfrm>
                      <a:off x="4018"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94" name="Freeform 755"/>
                    <p:cNvSpPr>
                      <a:spLocks/>
                    </p:cNvSpPr>
                    <p:nvPr/>
                  </p:nvSpPr>
                  <p:spPr bwMode="auto">
                    <a:xfrm>
                      <a:off x="4018"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595" name="Line 756"/>
                    <p:cNvSpPr>
                      <a:spLocks noChangeShapeType="1"/>
                    </p:cNvSpPr>
                    <p:nvPr/>
                  </p:nvSpPr>
                  <p:spPr bwMode="auto">
                    <a:xfrm>
                      <a:off x="4023"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96" name="Line 757"/>
                    <p:cNvSpPr>
                      <a:spLocks noChangeShapeType="1"/>
                    </p:cNvSpPr>
                    <p:nvPr/>
                  </p:nvSpPr>
                  <p:spPr bwMode="auto">
                    <a:xfrm>
                      <a:off x="4023"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97" name="Line 758"/>
                    <p:cNvSpPr>
                      <a:spLocks noChangeShapeType="1"/>
                    </p:cNvSpPr>
                    <p:nvPr/>
                  </p:nvSpPr>
                  <p:spPr bwMode="auto">
                    <a:xfrm>
                      <a:off x="4027"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98" name="Line 759"/>
                    <p:cNvSpPr>
                      <a:spLocks noChangeShapeType="1"/>
                    </p:cNvSpPr>
                    <p:nvPr/>
                  </p:nvSpPr>
                  <p:spPr bwMode="auto">
                    <a:xfrm>
                      <a:off x="4031"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99" name="Freeform 760"/>
                    <p:cNvSpPr>
                      <a:spLocks/>
                    </p:cNvSpPr>
                    <p:nvPr/>
                  </p:nvSpPr>
                  <p:spPr bwMode="auto">
                    <a:xfrm>
                      <a:off x="4031"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00" name="Line 761"/>
                    <p:cNvSpPr>
                      <a:spLocks noChangeShapeType="1"/>
                    </p:cNvSpPr>
                    <p:nvPr/>
                  </p:nvSpPr>
                  <p:spPr bwMode="auto">
                    <a:xfrm>
                      <a:off x="4036"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01" name="Freeform 762"/>
                    <p:cNvSpPr>
                      <a:spLocks/>
                    </p:cNvSpPr>
                    <p:nvPr/>
                  </p:nvSpPr>
                  <p:spPr bwMode="auto">
                    <a:xfrm>
                      <a:off x="4036"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02" name="Line 763"/>
                    <p:cNvSpPr>
                      <a:spLocks noChangeShapeType="1"/>
                    </p:cNvSpPr>
                    <p:nvPr/>
                  </p:nvSpPr>
                  <p:spPr bwMode="auto">
                    <a:xfrm>
                      <a:off x="4040"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03" name="Line 764"/>
                    <p:cNvSpPr>
                      <a:spLocks noChangeShapeType="1"/>
                    </p:cNvSpPr>
                    <p:nvPr/>
                  </p:nvSpPr>
                  <p:spPr bwMode="auto">
                    <a:xfrm>
                      <a:off x="4040"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04" name="Line 765"/>
                    <p:cNvSpPr>
                      <a:spLocks noChangeShapeType="1"/>
                    </p:cNvSpPr>
                    <p:nvPr/>
                  </p:nvSpPr>
                  <p:spPr bwMode="auto">
                    <a:xfrm>
                      <a:off x="4044" y="177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05" name="Line 766"/>
                    <p:cNvSpPr>
                      <a:spLocks noChangeShapeType="1"/>
                    </p:cNvSpPr>
                    <p:nvPr/>
                  </p:nvSpPr>
                  <p:spPr bwMode="auto">
                    <a:xfrm>
                      <a:off x="4049"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06" name="Freeform 767"/>
                    <p:cNvSpPr>
                      <a:spLocks/>
                    </p:cNvSpPr>
                    <p:nvPr/>
                  </p:nvSpPr>
                  <p:spPr bwMode="auto">
                    <a:xfrm>
                      <a:off x="4049"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07" name="Line 768"/>
                    <p:cNvSpPr>
                      <a:spLocks noChangeShapeType="1"/>
                    </p:cNvSpPr>
                    <p:nvPr/>
                  </p:nvSpPr>
                  <p:spPr bwMode="auto">
                    <a:xfrm>
                      <a:off x="4053"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08" name="Line 769"/>
                    <p:cNvSpPr>
                      <a:spLocks noChangeShapeType="1"/>
                    </p:cNvSpPr>
                    <p:nvPr/>
                  </p:nvSpPr>
                  <p:spPr bwMode="auto">
                    <a:xfrm>
                      <a:off x="4053"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09" name="Freeform 770"/>
                    <p:cNvSpPr>
                      <a:spLocks/>
                    </p:cNvSpPr>
                    <p:nvPr/>
                  </p:nvSpPr>
                  <p:spPr bwMode="auto">
                    <a:xfrm>
                      <a:off x="4057" y="1779"/>
                      <a:ext cx="5" cy="4"/>
                    </a:xfrm>
                    <a:custGeom>
                      <a:avLst/>
                      <a:gdLst>
                        <a:gd name="T0" fmla="*/ 0 w 5"/>
                        <a:gd name="T1" fmla="*/ 0 h 4"/>
                        <a:gd name="T2" fmla="*/ 5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5"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10" name="Line 771"/>
                    <p:cNvSpPr>
                      <a:spLocks noChangeShapeType="1"/>
                    </p:cNvSpPr>
                    <p:nvPr/>
                  </p:nvSpPr>
                  <p:spPr bwMode="auto">
                    <a:xfrm>
                      <a:off x="4062"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11" name="Freeform 772"/>
                    <p:cNvSpPr>
                      <a:spLocks/>
                    </p:cNvSpPr>
                    <p:nvPr/>
                  </p:nvSpPr>
                  <p:spPr bwMode="auto">
                    <a:xfrm>
                      <a:off x="4062"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12" name="Line 773"/>
                    <p:cNvSpPr>
                      <a:spLocks noChangeShapeType="1"/>
                    </p:cNvSpPr>
                    <p:nvPr/>
                  </p:nvSpPr>
                  <p:spPr bwMode="auto">
                    <a:xfrm>
                      <a:off x="4066"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13" name="Freeform 774"/>
                    <p:cNvSpPr>
                      <a:spLocks/>
                    </p:cNvSpPr>
                    <p:nvPr/>
                  </p:nvSpPr>
                  <p:spPr bwMode="auto">
                    <a:xfrm>
                      <a:off x="4066"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14" name="Line 775"/>
                    <p:cNvSpPr>
                      <a:spLocks noChangeShapeType="1"/>
                    </p:cNvSpPr>
                    <p:nvPr/>
                  </p:nvSpPr>
                  <p:spPr bwMode="auto">
                    <a:xfrm>
                      <a:off x="4070"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15" name="Line 776"/>
                    <p:cNvSpPr>
                      <a:spLocks noChangeShapeType="1"/>
                    </p:cNvSpPr>
                    <p:nvPr/>
                  </p:nvSpPr>
                  <p:spPr bwMode="auto">
                    <a:xfrm>
                      <a:off x="4070"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16" name="Line 777"/>
                    <p:cNvSpPr>
                      <a:spLocks noChangeShapeType="1"/>
                    </p:cNvSpPr>
                    <p:nvPr/>
                  </p:nvSpPr>
                  <p:spPr bwMode="auto">
                    <a:xfrm>
                      <a:off x="4075"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17" name="Line 778"/>
                    <p:cNvSpPr>
                      <a:spLocks noChangeShapeType="1"/>
                    </p:cNvSpPr>
                    <p:nvPr/>
                  </p:nvSpPr>
                  <p:spPr bwMode="auto">
                    <a:xfrm>
                      <a:off x="4079"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18" name="Freeform 779"/>
                    <p:cNvSpPr>
                      <a:spLocks/>
                    </p:cNvSpPr>
                    <p:nvPr/>
                  </p:nvSpPr>
                  <p:spPr bwMode="auto">
                    <a:xfrm>
                      <a:off x="4079"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19" name="Line 780"/>
                    <p:cNvSpPr>
                      <a:spLocks noChangeShapeType="1"/>
                    </p:cNvSpPr>
                    <p:nvPr/>
                  </p:nvSpPr>
                  <p:spPr bwMode="auto">
                    <a:xfrm>
                      <a:off x="408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20" name="Line 781"/>
                    <p:cNvSpPr>
                      <a:spLocks noChangeShapeType="1"/>
                    </p:cNvSpPr>
                    <p:nvPr/>
                  </p:nvSpPr>
                  <p:spPr bwMode="auto">
                    <a:xfrm>
                      <a:off x="4084"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21" name="Line 782"/>
                    <p:cNvSpPr>
                      <a:spLocks noChangeShapeType="1"/>
                    </p:cNvSpPr>
                    <p:nvPr/>
                  </p:nvSpPr>
                  <p:spPr bwMode="auto">
                    <a:xfrm>
                      <a:off x="4088"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22" name="Line 783"/>
                    <p:cNvSpPr>
                      <a:spLocks noChangeShapeType="1"/>
                    </p:cNvSpPr>
                    <p:nvPr/>
                  </p:nvSpPr>
                  <p:spPr bwMode="auto">
                    <a:xfrm>
                      <a:off x="4092"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23" name="Freeform 784"/>
                    <p:cNvSpPr>
                      <a:spLocks/>
                    </p:cNvSpPr>
                    <p:nvPr/>
                  </p:nvSpPr>
                  <p:spPr bwMode="auto">
                    <a:xfrm>
                      <a:off x="4092"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4" name="Line 785"/>
                    <p:cNvSpPr>
                      <a:spLocks noChangeShapeType="1"/>
                    </p:cNvSpPr>
                    <p:nvPr/>
                  </p:nvSpPr>
                  <p:spPr bwMode="auto">
                    <a:xfrm>
                      <a:off x="4097"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25" name="Freeform 786"/>
                    <p:cNvSpPr>
                      <a:spLocks/>
                    </p:cNvSpPr>
                    <p:nvPr/>
                  </p:nvSpPr>
                  <p:spPr bwMode="auto">
                    <a:xfrm>
                      <a:off x="4097"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26" name="Line 787"/>
                    <p:cNvSpPr>
                      <a:spLocks noChangeShapeType="1"/>
                    </p:cNvSpPr>
                    <p:nvPr/>
                  </p:nvSpPr>
                  <p:spPr bwMode="auto">
                    <a:xfrm>
                      <a:off x="4101"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27" name="Line 788"/>
                    <p:cNvSpPr>
                      <a:spLocks noChangeShapeType="1"/>
                    </p:cNvSpPr>
                    <p:nvPr/>
                  </p:nvSpPr>
                  <p:spPr bwMode="auto">
                    <a:xfrm>
                      <a:off x="4101"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28" name="Line 789"/>
                    <p:cNvSpPr>
                      <a:spLocks noChangeShapeType="1"/>
                    </p:cNvSpPr>
                    <p:nvPr/>
                  </p:nvSpPr>
                  <p:spPr bwMode="auto">
                    <a:xfrm>
                      <a:off x="4105"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29" name="Line 790"/>
                    <p:cNvSpPr>
                      <a:spLocks noChangeShapeType="1"/>
                    </p:cNvSpPr>
                    <p:nvPr/>
                  </p:nvSpPr>
                  <p:spPr bwMode="auto">
                    <a:xfrm>
                      <a:off x="4110"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30" name="Freeform 791"/>
                    <p:cNvSpPr>
                      <a:spLocks/>
                    </p:cNvSpPr>
                    <p:nvPr/>
                  </p:nvSpPr>
                  <p:spPr bwMode="auto">
                    <a:xfrm>
                      <a:off x="4110"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31" name="Line 792"/>
                    <p:cNvSpPr>
                      <a:spLocks noChangeShapeType="1"/>
                    </p:cNvSpPr>
                    <p:nvPr/>
                  </p:nvSpPr>
                  <p:spPr bwMode="auto">
                    <a:xfrm>
                      <a:off x="411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32" name="Line 793"/>
                    <p:cNvSpPr>
                      <a:spLocks noChangeShapeType="1"/>
                    </p:cNvSpPr>
                    <p:nvPr/>
                  </p:nvSpPr>
                  <p:spPr bwMode="auto">
                    <a:xfrm>
                      <a:off x="4114"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33" name="Line 794"/>
                    <p:cNvSpPr>
                      <a:spLocks noChangeShapeType="1"/>
                    </p:cNvSpPr>
                    <p:nvPr/>
                  </p:nvSpPr>
                  <p:spPr bwMode="auto">
                    <a:xfrm>
                      <a:off x="4118"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34" name="Line 795"/>
                    <p:cNvSpPr>
                      <a:spLocks noChangeShapeType="1"/>
                    </p:cNvSpPr>
                    <p:nvPr/>
                  </p:nvSpPr>
                  <p:spPr bwMode="auto">
                    <a:xfrm>
                      <a:off x="4123"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35" name="Freeform 796"/>
                    <p:cNvSpPr>
                      <a:spLocks/>
                    </p:cNvSpPr>
                    <p:nvPr/>
                  </p:nvSpPr>
                  <p:spPr bwMode="auto">
                    <a:xfrm>
                      <a:off x="4123"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36" name="Line 797"/>
                    <p:cNvSpPr>
                      <a:spLocks noChangeShapeType="1"/>
                    </p:cNvSpPr>
                    <p:nvPr/>
                  </p:nvSpPr>
                  <p:spPr bwMode="auto">
                    <a:xfrm>
                      <a:off x="4127"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37" name="Line 798"/>
                    <p:cNvSpPr>
                      <a:spLocks noChangeShapeType="1"/>
                    </p:cNvSpPr>
                    <p:nvPr/>
                  </p:nvSpPr>
                  <p:spPr bwMode="auto">
                    <a:xfrm>
                      <a:off x="4127"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38" name="Line 799"/>
                    <p:cNvSpPr>
                      <a:spLocks noChangeShapeType="1"/>
                    </p:cNvSpPr>
                    <p:nvPr/>
                  </p:nvSpPr>
                  <p:spPr bwMode="auto">
                    <a:xfrm>
                      <a:off x="4131"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39" name="Line 800"/>
                    <p:cNvSpPr>
                      <a:spLocks noChangeShapeType="1"/>
                    </p:cNvSpPr>
                    <p:nvPr/>
                  </p:nvSpPr>
                  <p:spPr bwMode="auto">
                    <a:xfrm>
                      <a:off x="4136"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40" name="Freeform 801"/>
                    <p:cNvSpPr>
                      <a:spLocks/>
                    </p:cNvSpPr>
                    <p:nvPr/>
                  </p:nvSpPr>
                  <p:spPr bwMode="auto">
                    <a:xfrm>
                      <a:off x="4136"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1" name="Line 802"/>
                    <p:cNvSpPr>
                      <a:spLocks noChangeShapeType="1"/>
                    </p:cNvSpPr>
                    <p:nvPr/>
                  </p:nvSpPr>
                  <p:spPr bwMode="auto">
                    <a:xfrm>
                      <a:off x="4140"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42" name="Freeform 803"/>
                    <p:cNvSpPr>
                      <a:spLocks/>
                    </p:cNvSpPr>
                    <p:nvPr/>
                  </p:nvSpPr>
                  <p:spPr bwMode="auto">
                    <a:xfrm>
                      <a:off x="4140"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643" name="Line 804"/>
                    <p:cNvSpPr>
                      <a:spLocks noChangeShapeType="1"/>
                    </p:cNvSpPr>
                    <p:nvPr/>
                  </p:nvSpPr>
                  <p:spPr bwMode="auto">
                    <a:xfrm>
                      <a:off x="414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644" name="Line 805"/>
                    <p:cNvSpPr>
                      <a:spLocks noChangeShapeType="1"/>
                    </p:cNvSpPr>
                    <p:nvPr/>
                  </p:nvSpPr>
                  <p:spPr bwMode="auto">
                    <a:xfrm>
                      <a:off x="4144"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8433" name="Line 806"/>
                  <p:cNvSpPr>
                    <a:spLocks noChangeShapeType="1"/>
                  </p:cNvSpPr>
                  <p:nvPr/>
                </p:nvSpPr>
                <p:spPr bwMode="auto">
                  <a:xfrm>
                    <a:off x="4149"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34" name="Line 807"/>
                  <p:cNvSpPr>
                    <a:spLocks noChangeShapeType="1"/>
                  </p:cNvSpPr>
                  <p:nvPr/>
                </p:nvSpPr>
                <p:spPr bwMode="auto">
                  <a:xfrm>
                    <a:off x="4153"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35" name="Freeform 808"/>
                  <p:cNvSpPr>
                    <a:spLocks/>
                  </p:cNvSpPr>
                  <p:nvPr/>
                </p:nvSpPr>
                <p:spPr bwMode="auto">
                  <a:xfrm>
                    <a:off x="4153"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36" name="Line 809"/>
                  <p:cNvSpPr>
                    <a:spLocks noChangeShapeType="1"/>
                  </p:cNvSpPr>
                  <p:nvPr/>
                </p:nvSpPr>
                <p:spPr bwMode="auto">
                  <a:xfrm>
                    <a:off x="4157"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37" name="Line 810"/>
                  <p:cNvSpPr>
                    <a:spLocks noChangeShapeType="1"/>
                  </p:cNvSpPr>
                  <p:nvPr/>
                </p:nvSpPr>
                <p:spPr bwMode="auto">
                  <a:xfrm>
                    <a:off x="4157" y="1787"/>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38" name="Line 811"/>
                  <p:cNvSpPr>
                    <a:spLocks noChangeShapeType="1"/>
                  </p:cNvSpPr>
                  <p:nvPr/>
                </p:nvSpPr>
                <p:spPr bwMode="auto">
                  <a:xfrm>
                    <a:off x="4162"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39" name="Line 812"/>
                  <p:cNvSpPr>
                    <a:spLocks noChangeShapeType="1"/>
                  </p:cNvSpPr>
                  <p:nvPr/>
                </p:nvSpPr>
                <p:spPr bwMode="auto">
                  <a:xfrm>
                    <a:off x="4166"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40" name="Freeform 813"/>
                  <p:cNvSpPr>
                    <a:spLocks/>
                  </p:cNvSpPr>
                  <p:nvPr/>
                </p:nvSpPr>
                <p:spPr bwMode="auto">
                  <a:xfrm>
                    <a:off x="4166" y="17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8441" name="Line 814"/>
                  <p:cNvSpPr>
                    <a:spLocks noChangeShapeType="1"/>
                  </p:cNvSpPr>
                  <p:nvPr/>
                </p:nvSpPr>
                <p:spPr bwMode="auto">
                  <a:xfrm>
                    <a:off x="4170"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42" name="Line 815"/>
                  <p:cNvSpPr>
                    <a:spLocks noChangeShapeType="1"/>
                  </p:cNvSpPr>
                  <p:nvPr/>
                </p:nvSpPr>
                <p:spPr bwMode="auto">
                  <a:xfrm>
                    <a:off x="4175" y="1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43" name="Line 816"/>
                  <p:cNvSpPr>
                    <a:spLocks noChangeShapeType="1"/>
                  </p:cNvSpPr>
                  <p:nvPr/>
                </p:nvSpPr>
                <p:spPr bwMode="auto">
                  <a:xfrm>
                    <a:off x="4175"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44" name="Line 817"/>
                  <p:cNvSpPr>
                    <a:spLocks noChangeShapeType="1"/>
                  </p:cNvSpPr>
                  <p:nvPr/>
                </p:nvSpPr>
                <p:spPr bwMode="auto">
                  <a:xfrm>
                    <a:off x="4179" y="178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8240" name="Rectangle 830"/>
                <p:cNvSpPr>
                  <a:spLocks noChangeArrowheads="1"/>
                </p:cNvSpPr>
                <p:nvPr/>
              </p:nvSpPr>
              <p:spPr bwMode="auto">
                <a:xfrm>
                  <a:off x="3696" y="2880"/>
                  <a:ext cx="1776" cy="1056"/>
                </a:xfrm>
                <a:prstGeom prst="rect">
                  <a:avLst/>
                </a:prstGeom>
                <a:solidFill>
                  <a:schemeClr val="bg1">
                    <a:alpha val="67058"/>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8241" name="Line 820"/>
                <p:cNvSpPr>
                  <a:spLocks noChangeShapeType="1"/>
                </p:cNvSpPr>
                <p:nvPr/>
              </p:nvSpPr>
              <p:spPr bwMode="auto">
                <a:xfrm>
                  <a:off x="3744" y="3892"/>
                  <a:ext cx="1728"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42" name="Line 821"/>
                <p:cNvSpPr>
                  <a:spLocks noChangeShapeType="1"/>
                </p:cNvSpPr>
                <p:nvPr/>
              </p:nvSpPr>
              <p:spPr bwMode="auto">
                <a:xfrm rot="-5400000">
                  <a:off x="4080" y="3408"/>
                  <a:ext cx="1056" cy="0"/>
                </a:xfrm>
                <a:prstGeom prst="line">
                  <a:avLst/>
                </a:prstGeom>
                <a:noFill/>
                <a:ln w="158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8233" name="Text Box 828"/>
              <p:cNvSpPr txBox="1">
                <a:spLocks noChangeArrowheads="1"/>
              </p:cNvSpPr>
              <p:nvPr/>
            </p:nvSpPr>
            <p:spPr bwMode="auto">
              <a:xfrm>
                <a:off x="4506" y="3954"/>
                <a:ext cx="199"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000"/>
                  <a:t>120</a:t>
                </a:r>
              </a:p>
              <a:p>
                <a:pPr algn="ctr" eaLnBrk="1" hangingPunct="1"/>
                <a:r>
                  <a:rPr lang="es-ES_tradnl" altLang="es-ES" sz="1400">
                    <a:latin typeface="Symbol" pitchFamily="18" charset="2"/>
                  </a:rPr>
                  <a:t>m</a:t>
                </a:r>
                <a:endParaRPr lang="es-ES" altLang="es-ES" sz="1400">
                  <a:latin typeface="Symbol" pitchFamily="18" charset="2"/>
                </a:endParaRPr>
              </a:p>
            </p:txBody>
          </p:sp>
          <p:sp>
            <p:nvSpPr>
              <p:cNvPr id="8234" name="Text Box 829"/>
              <p:cNvSpPr txBox="1">
                <a:spLocks noChangeArrowheads="1"/>
              </p:cNvSpPr>
              <p:nvPr/>
            </p:nvSpPr>
            <p:spPr bwMode="auto">
              <a:xfrm>
                <a:off x="4032" y="3954"/>
                <a:ext cx="28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000"/>
                  <a:t>95</a:t>
                </a:r>
                <a:endParaRPr lang="es-ES" altLang="es-ES" sz="1000"/>
              </a:p>
            </p:txBody>
          </p:sp>
          <p:sp>
            <p:nvSpPr>
              <p:cNvPr id="8235" name="Text Box 833"/>
              <p:cNvSpPr txBox="1">
                <a:spLocks noChangeArrowheads="1"/>
              </p:cNvSpPr>
              <p:nvPr/>
            </p:nvSpPr>
            <p:spPr bwMode="auto">
              <a:xfrm>
                <a:off x="4896" y="3954"/>
                <a:ext cx="28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000"/>
                  <a:t>144</a:t>
                </a:r>
                <a:endParaRPr lang="es-ES" altLang="es-ES" sz="1000"/>
              </a:p>
            </p:txBody>
          </p:sp>
          <p:grpSp>
            <p:nvGrpSpPr>
              <p:cNvPr id="8236" name="Group 836"/>
              <p:cNvGrpSpPr>
                <a:grpSpLocks/>
              </p:cNvGrpSpPr>
              <p:nvPr/>
            </p:nvGrpSpPr>
            <p:grpSpPr bwMode="auto">
              <a:xfrm>
                <a:off x="4176" y="3914"/>
                <a:ext cx="864" cy="47"/>
                <a:chOff x="3840" y="3408"/>
                <a:chExt cx="96" cy="48"/>
              </a:xfrm>
            </p:grpSpPr>
            <p:sp>
              <p:nvSpPr>
                <p:cNvPr id="8237" name="Line 834"/>
                <p:cNvSpPr>
                  <a:spLocks noChangeShapeType="1"/>
                </p:cNvSpPr>
                <p:nvPr/>
              </p:nvSpPr>
              <p:spPr bwMode="auto">
                <a:xfrm>
                  <a:off x="3840" y="3408"/>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38" name="Line 835"/>
                <p:cNvSpPr>
                  <a:spLocks noChangeShapeType="1"/>
                </p:cNvSpPr>
                <p:nvPr/>
              </p:nvSpPr>
              <p:spPr bwMode="auto">
                <a:xfrm>
                  <a:off x="3936" y="3408"/>
                  <a:ext cx="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8201" name="Group 863"/>
            <p:cNvGrpSpPr>
              <a:grpSpLocks/>
            </p:cNvGrpSpPr>
            <p:nvPr/>
          </p:nvGrpSpPr>
          <p:grpSpPr bwMode="auto">
            <a:xfrm>
              <a:off x="4419" y="3216"/>
              <a:ext cx="525" cy="672"/>
              <a:chOff x="4419" y="3216"/>
              <a:chExt cx="525" cy="672"/>
            </a:xfrm>
          </p:grpSpPr>
          <p:grpSp>
            <p:nvGrpSpPr>
              <p:cNvPr id="8207" name="Group 827"/>
              <p:cNvGrpSpPr>
                <a:grpSpLocks/>
              </p:cNvGrpSpPr>
              <p:nvPr/>
            </p:nvGrpSpPr>
            <p:grpSpPr bwMode="auto">
              <a:xfrm>
                <a:off x="4437" y="3792"/>
                <a:ext cx="144" cy="96"/>
                <a:chOff x="3600" y="2784"/>
                <a:chExt cx="528" cy="144"/>
              </a:xfrm>
            </p:grpSpPr>
            <p:sp>
              <p:nvSpPr>
                <p:cNvPr id="8228" name="Line 82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8229" name="Group 826"/>
                <p:cNvGrpSpPr>
                  <a:grpSpLocks/>
                </p:cNvGrpSpPr>
                <p:nvPr/>
              </p:nvGrpSpPr>
              <p:grpSpPr bwMode="auto">
                <a:xfrm>
                  <a:off x="3600" y="2784"/>
                  <a:ext cx="528" cy="144"/>
                  <a:chOff x="3696" y="2784"/>
                  <a:chExt cx="528" cy="144"/>
                </a:xfrm>
              </p:grpSpPr>
              <p:sp>
                <p:nvSpPr>
                  <p:cNvPr id="8230" name="Line 823"/>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31" name="Line 825"/>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8208" name="Group 843"/>
              <p:cNvGrpSpPr>
                <a:grpSpLocks/>
              </p:cNvGrpSpPr>
              <p:nvPr/>
            </p:nvGrpSpPr>
            <p:grpSpPr bwMode="auto">
              <a:xfrm>
                <a:off x="4422" y="3648"/>
                <a:ext cx="522" cy="96"/>
                <a:chOff x="3600" y="2784"/>
                <a:chExt cx="528" cy="144"/>
              </a:xfrm>
            </p:grpSpPr>
            <p:sp>
              <p:nvSpPr>
                <p:cNvPr id="8224" name="Line 84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8225" name="Group 845"/>
                <p:cNvGrpSpPr>
                  <a:grpSpLocks/>
                </p:cNvGrpSpPr>
                <p:nvPr/>
              </p:nvGrpSpPr>
              <p:grpSpPr bwMode="auto">
                <a:xfrm>
                  <a:off x="3600" y="2784"/>
                  <a:ext cx="528" cy="144"/>
                  <a:chOff x="3696" y="2784"/>
                  <a:chExt cx="528" cy="144"/>
                </a:xfrm>
              </p:grpSpPr>
              <p:sp>
                <p:nvSpPr>
                  <p:cNvPr id="8226" name="Line 84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27" name="Line 84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8209" name="Group 848"/>
              <p:cNvGrpSpPr>
                <a:grpSpLocks/>
              </p:cNvGrpSpPr>
              <p:nvPr/>
            </p:nvGrpSpPr>
            <p:grpSpPr bwMode="auto">
              <a:xfrm>
                <a:off x="4512" y="3504"/>
                <a:ext cx="336" cy="96"/>
                <a:chOff x="3600" y="2784"/>
                <a:chExt cx="528" cy="144"/>
              </a:xfrm>
            </p:grpSpPr>
            <p:sp>
              <p:nvSpPr>
                <p:cNvPr id="8220" name="Line 84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8221" name="Group 850"/>
                <p:cNvGrpSpPr>
                  <a:grpSpLocks/>
                </p:cNvGrpSpPr>
                <p:nvPr/>
              </p:nvGrpSpPr>
              <p:grpSpPr bwMode="auto">
                <a:xfrm>
                  <a:off x="3600" y="2784"/>
                  <a:ext cx="528" cy="144"/>
                  <a:chOff x="3696" y="2784"/>
                  <a:chExt cx="528" cy="144"/>
                </a:xfrm>
              </p:grpSpPr>
              <p:sp>
                <p:nvSpPr>
                  <p:cNvPr id="8222" name="Line 85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23" name="Line 85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8210" name="Group 853"/>
              <p:cNvGrpSpPr>
                <a:grpSpLocks/>
              </p:cNvGrpSpPr>
              <p:nvPr/>
            </p:nvGrpSpPr>
            <p:grpSpPr bwMode="auto">
              <a:xfrm>
                <a:off x="4419" y="3360"/>
                <a:ext cx="477" cy="96"/>
                <a:chOff x="3600" y="2784"/>
                <a:chExt cx="528" cy="144"/>
              </a:xfrm>
            </p:grpSpPr>
            <p:sp>
              <p:nvSpPr>
                <p:cNvPr id="8216" name="Line 85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8217" name="Group 855"/>
                <p:cNvGrpSpPr>
                  <a:grpSpLocks/>
                </p:cNvGrpSpPr>
                <p:nvPr/>
              </p:nvGrpSpPr>
              <p:grpSpPr bwMode="auto">
                <a:xfrm>
                  <a:off x="3600" y="2784"/>
                  <a:ext cx="528" cy="144"/>
                  <a:chOff x="3696" y="2784"/>
                  <a:chExt cx="528" cy="144"/>
                </a:xfrm>
              </p:grpSpPr>
              <p:sp>
                <p:nvSpPr>
                  <p:cNvPr id="8218" name="Line 85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19" name="Line 85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8211" name="Group 858"/>
              <p:cNvGrpSpPr>
                <a:grpSpLocks/>
              </p:cNvGrpSpPr>
              <p:nvPr/>
            </p:nvGrpSpPr>
            <p:grpSpPr bwMode="auto">
              <a:xfrm>
                <a:off x="4557" y="3216"/>
                <a:ext cx="291" cy="96"/>
                <a:chOff x="3600" y="2784"/>
                <a:chExt cx="528" cy="144"/>
              </a:xfrm>
            </p:grpSpPr>
            <p:sp>
              <p:nvSpPr>
                <p:cNvPr id="8212" name="Line 85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8213" name="Group 860"/>
                <p:cNvGrpSpPr>
                  <a:grpSpLocks/>
                </p:cNvGrpSpPr>
                <p:nvPr/>
              </p:nvGrpSpPr>
              <p:grpSpPr bwMode="auto">
                <a:xfrm>
                  <a:off x="3600" y="2784"/>
                  <a:ext cx="528" cy="144"/>
                  <a:chOff x="3696" y="2784"/>
                  <a:chExt cx="528" cy="144"/>
                </a:xfrm>
              </p:grpSpPr>
              <p:sp>
                <p:nvSpPr>
                  <p:cNvPr id="8214" name="Line 86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8215" name="Line 86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sp>
          <p:nvSpPr>
            <p:cNvPr id="8202" name="Text Box 864"/>
            <p:cNvSpPr txBox="1">
              <a:spLocks noChangeArrowheads="1"/>
            </p:cNvSpPr>
            <p:nvPr/>
          </p:nvSpPr>
          <p:spPr bwMode="auto">
            <a:xfrm>
              <a:off x="4140" y="3189"/>
              <a:ext cx="350" cy="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900" b="1">
                  <a:solidFill>
                    <a:srgbClr val="3366FF"/>
                  </a:solidFill>
                </a:rPr>
                <a:t>M1</a:t>
              </a:r>
              <a:endParaRPr lang="es-ES" altLang="es-ES" sz="900" b="1">
                <a:solidFill>
                  <a:srgbClr val="3366FF"/>
                </a:solidFill>
              </a:endParaRPr>
            </a:p>
          </p:txBody>
        </p:sp>
        <p:sp>
          <p:nvSpPr>
            <p:cNvPr id="8203" name="Text Box 865"/>
            <p:cNvSpPr txBox="1">
              <a:spLocks noChangeArrowheads="1"/>
            </p:cNvSpPr>
            <p:nvPr/>
          </p:nvSpPr>
          <p:spPr bwMode="auto">
            <a:xfrm>
              <a:off x="4140" y="3336"/>
              <a:ext cx="350" cy="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900" b="1">
                  <a:solidFill>
                    <a:srgbClr val="3366FF"/>
                  </a:solidFill>
                </a:rPr>
                <a:t>M2</a:t>
              </a:r>
              <a:endParaRPr lang="es-ES" altLang="es-ES" sz="900" b="1">
                <a:solidFill>
                  <a:srgbClr val="3366FF"/>
                </a:solidFill>
              </a:endParaRPr>
            </a:p>
          </p:txBody>
        </p:sp>
        <p:sp>
          <p:nvSpPr>
            <p:cNvPr id="8204" name="Text Box 866"/>
            <p:cNvSpPr txBox="1">
              <a:spLocks noChangeArrowheads="1"/>
            </p:cNvSpPr>
            <p:nvPr/>
          </p:nvSpPr>
          <p:spPr bwMode="auto">
            <a:xfrm>
              <a:off x="4140" y="3477"/>
              <a:ext cx="350" cy="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900" b="1">
                  <a:solidFill>
                    <a:srgbClr val="3366FF"/>
                  </a:solidFill>
                </a:rPr>
                <a:t>M3</a:t>
              </a:r>
              <a:endParaRPr lang="es-ES" altLang="es-ES" sz="900" b="1">
                <a:solidFill>
                  <a:srgbClr val="3366FF"/>
                </a:solidFill>
              </a:endParaRPr>
            </a:p>
          </p:txBody>
        </p:sp>
        <p:sp>
          <p:nvSpPr>
            <p:cNvPr id="8205" name="Text Box 867"/>
            <p:cNvSpPr txBox="1">
              <a:spLocks noChangeArrowheads="1"/>
            </p:cNvSpPr>
            <p:nvPr/>
          </p:nvSpPr>
          <p:spPr bwMode="auto">
            <a:xfrm>
              <a:off x="4140" y="3624"/>
              <a:ext cx="350" cy="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900" b="1">
                  <a:solidFill>
                    <a:srgbClr val="3366FF"/>
                  </a:solidFill>
                </a:rPr>
                <a:t>M4</a:t>
              </a:r>
              <a:endParaRPr lang="es-ES" altLang="es-ES" sz="900" b="1">
                <a:solidFill>
                  <a:srgbClr val="3366FF"/>
                </a:solidFill>
              </a:endParaRPr>
            </a:p>
          </p:txBody>
        </p:sp>
        <p:sp>
          <p:nvSpPr>
            <p:cNvPr id="8206" name="Text Box 868"/>
            <p:cNvSpPr txBox="1">
              <a:spLocks noChangeArrowheads="1"/>
            </p:cNvSpPr>
            <p:nvPr/>
          </p:nvSpPr>
          <p:spPr bwMode="auto">
            <a:xfrm>
              <a:off x="4140" y="3768"/>
              <a:ext cx="350" cy="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900" b="1">
                  <a:solidFill>
                    <a:srgbClr val="3366FF"/>
                  </a:solidFill>
                </a:rPr>
                <a:t>M5</a:t>
              </a:r>
              <a:endParaRPr lang="es-ES" altLang="es-ES" sz="900" b="1">
                <a:solidFill>
                  <a:srgbClr val="3366FF"/>
                </a:solidFill>
              </a:endParaRPr>
            </a:p>
          </p:txBody>
        </p:sp>
      </p:grpSp>
      <p:sp>
        <p:nvSpPr>
          <p:cNvPr id="8198" name="AutoShape 886"/>
          <p:cNvSpPr>
            <a:spLocks noChangeArrowheads="1"/>
          </p:cNvSpPr>
          <p:nvPr/>
        </p:nvSpPr>
        <p:spPr bwMode="auto">
          <a:xfrm>
            <a:off x="304800" y="4572000"/>
            <a:ext cx="5410200" cy="2057400"/>
          </a:xfrm>
          <a:prstGeom prst="roundRect">
            <a:avLst>
              <a:gd name="adj" fmla="val 5324"/>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864" name="Text Box 32"/>
          <p:cNvSpPr txBox="1">
            <a:spLocks noChangeArrowheads="1"/>
          </p:cNvSpPr>
          <p:nvPr/>
        </p:nvSpPr>
        <p:spPr bwMode="auto">
          <a:xfrm>
            <a:off x="157223" y="212725"/>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2353839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997"/>
          <p:cNvSpPr txBox="1">
            <a:spLocks noChangeArrowheads="1"/>
          </p:cNvSpPr>
          <p:nvPr/>
        </p:nvSpPr>
        <p:spPr bwMode="auto">
          <a:xfrm>
            <a:off x="441325" y="838200"/>
            <a:ext cx="45132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b="1"/>
              <a:t>Intervalos construidos a nivel de confianza del 95%</a:t>
            </a:r>
            <a:endParaRPr lang="es-ES" altLang="es-ES" sz="1400" b="1"/>
          </a:p>
        </p:txBody>
      </p:sp>
      <p:graphicFrame>
        <p:nvGraphicFramePr>
          <p:cNvPr id="9219" name="Object 1001"/>
          <p:cNvGraphicFramePr>
            <a:graphicFrameLocks noChangeAspect="1"/>
          </p:cNvGraphicFramePr>
          <p:nvPr>
            <p:extLst>
              <p:ext uri="{D42A27DB-BD31-4B8C-83A1-F6EECF244321}">
                <p14:modId xmlns:p14="http://schemas.microsoft.com/office/powerpoint/2010/main" val="4168401876"/>
              </p:ext>
            </p:extLst>
          </p:nvPr>
        </p:nvGraphicFramePr>
        <p:xfrm>
          <a:off x="5334000" y="847725"/>
          <a:ext cx="2432050" cy="304800"/>
        </p:xfrm>
        <a:graphic>
          <a:graphicData uri="http://schemas.openxmlformats.org/presentationml/2006/ole">
            <mc:AlternateContent xmlns:mc="http://schemas.openxmlformats.org/markup-compatibility/2006">
              <mc:Choice xmlns:v="urn:schemas-microsoft-com:vml" Requires="v">
                <p:oleObj name="Equation" r:id="rId2" imgW="1625600" imgH="203200" progId="Equation.DSMT4">
                  <p:embed/>
                </p:oleObj>
              </mc:Choice>
              <mc:Fallback>
                <p:oleObj name="Equation" r:id="rId2" imgW="1625600" imgH="203200" progId="Equation.DSMT4">
                  <p:embed/>
                  <p:pic>
                    <p:nvPicPr>
                      <p:cNvPr id="9219" name="Object 1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847725"/>
                        <a:ext cx="2432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0" name="Line 1044"/>
          <p:cNvSpPr>
            <a:spLocks noChangeShapeType="1"/>
          </p:cNvSpPr>
          <p:nvPr/>
        </p:nvSpPr>
        <p:spPr bwMode="auto">
          <a:xfrm>
            <a:off x="5029200" y="966788"/>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221" name="Group 1065"/>
          <p:cNvGrpSpPr>
            <a:grpSpLocks/>
          </p:cNvGrpSpPr>
          <p:nvPr/>
        </p:nvGrpSpPr>
        <p:grpSpPr bwMode="auto">
          <a:xfrm>
            <a:off x="2362200" y="1847850"/>
            <a:ext cx="5715000" cy="4781550"/>
            <a:chOff x="1056" y="1104"/>
            <a:chExt cx="3600" cy="3012"/>
          </a:xfrm>
        </p:grpSpPr>
        <p:grpSp>
          <p:nvGrpSpPr>
            <p:cNvPr id="9252" name="Group 1063"/>
            <p:cNvGrpSpPr>
              <a:grpSpLocks/>
            </p:cNvGrpSpPr>
            <p:nvPr/>
          </p:nvGrpSpPr>
          <p:grpSpPr bwMode="auto">
            <a:xfrm>
              <a:off x="1056" y="1104"/>
              <a:ext cx="3600" cy="2880"/>
              <a:chOff x="1056" y="1104"/>
              <a:chExt cx="3600" cy="2880"/>
            </a:xfrm>
          </p:grpSpPr>
          <p:grpSp>
            <p:nvGrpSpPr>
              <p:cNvPr id="9256" name="Group 1062"/>
              <p:cNvGrpSpPr>
                <a:grpSpLocks/>
              </p:cNvGrpSpPr>
              <p:nvPr/>
            </p:nvGrpSpPr>
            <p:grpSpPr bwMode="auto">
              <a:xfrm>
                <a:off x="1445" y="1784"/>
                <a:ext cx="2919" cy="2090"/>
                <a:chOff x="1445" y="1784"/>
                <a:chExt cx="2919" cy="2090"/>
              </a:xfrm>
            </p:grpSpPr>
            <p:sp>
              <p:nvSpPr>
                <p:cNvPr id="9396" name="Line 21"/>
                <p:cNvSpPr>
                  <a:spLocks noChangeShapeType="1"/>
                </p:cNvSpPr>
                <p:nvPr/>
              </p:nvSpPr>
              <p:spPr bwMode="auto">
                <a:xfrm>
                  <a:off x="1445"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97" name="Line 22"/>
                <p:cNvSpPr>
                  <a:spLocks noChangeShapeType="1"/>
                </p:cNvSpPr>
                <p:nvPr/>
              </p:nvSpPr>
              <p:spPr bwMode="auto">
                <a:xfrm>
                  <a:off x="1451" y="38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98" name="Line 23"/>
                <p:cNvSpPr>
                  <a:spLocks noChangeShapeType="1"/>
                </p:cNvSpPr>
                <p:nvPr/>
              </p:nvSpPr>
              <p:spPr bwMode="auto">
                <a:xfrm>
                  <a:off x="1456"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99" name="Freeform 24"/>
                <p:cNvSpPr>
                  <a:spLocks/>
                </p:cNvSpPr>
                <p:nvPr/>
              </p:nvSpPr>
              <p:spPr bwMode="auto">
                <a:xfrm>
                  <a:off x="1456" y="3874"/>
                  <a:ext cx="8" cy="0"/>
                </a:xfrm>
                <a:custGeom>
                  <a:avLst/>
                  <a:gdLst>
                    <a:gd name="T0" fmla="*/ 0 w 5"/>
                    <a:gd name="T1" fmla="*/ 0 w 5"/>
                    <a:gd name="T2" fmla="*/ 86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00" name="Line 25"/>
                <p:cNvSpPr>
                  <a:spLocks noChangeShapeType="1"/>
                </p:cNvSpPr>
                <p:nvPr/>
              </p:nvSpPr>
              <p:spPr bwMode="auto">
                <a:xfrm>
                  <a:off x="1464"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01" name="Freeform 26"/>
                <p:cNvSpPr>
                  <a:spLocks/>
                </p:cNvSpPr>
                <p:nvPr/>
              </p:nvSpPr>
              <p:spPr bwMode="auto">
                <a:xfrm>
                  <a:off x="1464" y="3874"/>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02" name="Line 27"/>
                <p:cNvSpPr>
                  <a:spLocks noChangeShapeType="1"/>
                </p:cNvSpPr>
                <p:nvPr/>
              </p:nvSpPr>
              <p:spPr bwMode="auto">
                <a:xfrm>
                  <a:off x="1469"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03" name="Line 28"/>
                <p:cNvSpPr>
                  <a:spLocks noChangeShapeType="1"/>
                </p:cNvSpPr>
                <p:nvPr/>
              </p:nvSpPr>
              <p:spPr bwMode="auto">
                <a:xfrm>
                  <a:off x="1469"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04" name="Line 29"/>
                <p:cNvSpPr>
                  <a:spLocks noChangeShapeType="1"/>
                </p:cNvSpPr>
                <p:nvPr/>
              </p:nvSpPr>
              <p:spPr bwMode="auto">
                <a:xfrm>
                  <a:off x="1475"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05" name="Line 30"/>
                <p:cNvSpPr>
                  <a:spLocks noChangeShapeType="1"/>
                </p:cNvSpPr>
                <p:nvPr/>
              </p:nvSpPr>
              <p:spPr bwMode="auto">
                <a:xfrm>
                  <a:off x="1482"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06" name="Freeform 31"/>
                <p:cNvSpPr>
                  <a:spLocks/>
                </p:cNvSpPr>
                <p:nvPr/>
              </p:nvSpPr>
              <p:spPr bwMode="auto">
                <a:xfrm>
                  <a:off x="1482"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07" name="Line 32"/>
                <p:cNvSpPr>
                  <a:spLocks noChangeShapeType="1"/>
                </p:cNvSpPr>
                <p:nvPr/>
              </p:nvSpPr>
              <p:spPr bwMode="auto">
                <a:xfrm>
                  <a:off x="1488"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08" name="Line 33"/>
                <p:cNvSpPr>
                  <a:spLocks noChangeShapeType="1"/>
                </p:cNvSpPr>
                <p:nvPr/>
              </p:nvSpPr>
              <p:spPr bwMode="auto">
                <a:xfrm>
                  <a:off x="1488"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09" name="Line 34"/>
                <p:cNvSpPr>
                  <a:spLocks noChangeShapeType="1"/>
                </p:cNvSpPr>
                <p:nvPr/>
              </p:nvSpPr>
              <p:spPr bwMode="auto">
                <a:xfrm>
                  <a:off x="1494"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10" name="Line 35"/>
                <p:cNvSpPr>
                  <a:spLocks noChangeShapeType="1"/>
                </p:cNvSpPr>
                <p:nvPr/>
              </p:nvSpPr>
              <p:spPr bwMode="auto">
                <a:xfrm>
                  <a:off x="1501"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11" name="Freeform 36"/>
                <p:cNvSpPr>
                  <a:spLocks/>
                </p:cNvSpPr>
                <p:nvPr/>
              </p:nvSpPr>
              <p:spPr bwMode="auto">
                <a:xfrm>
                  <a:off x="1501"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12" name="Line 37"/>
                <p:cNvSpPr>
                  <a:spLocks noChangeShapeType="1"/>
                </p:cNvSpPr>
                <p:nvPr/>
              </p:nvSpPr>
              <p:spPr bwMode="auto">
                <a:xfrm>
                  <a:off x="1507"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13" name="Freeform 38"/>
                <p:cNvSpPr>
                  <a:spLocks/>
                </p:cNvSpPr>
                <p:nvPr/>
              </p:nvSpPr>
              <p:spPr bwMode="auto">
                <a:xfrm>
                  <a:off x="1507"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14" name="Line 39"/>
                <p:cNvSpPr>
                  <a:spLocks noChangeShapeType="1"/>
                </p:cNvSpPr>
                <p:nvPr/>
              </p:nvSpPr>
              <p:spPr bwMode="auto">
                <a:xfrm>
                  <a:off x="1513"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15" name="Line 40"/>
                <p:cNvSpPr>
                  <a:spLocks noChangeShapeType="1"/>
                </p:cNvSpPr>
                <p:nvPr/>
              </p:nvSpPr>
              <p:spPr bwMode="auto">
                <a:xfrm>
                  <a:off x="1513"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16" name="Line 41"/>
                <p:cNvSpPr>
                  <a:spLocks noChangeShapeType="1"/>
                </p:cNvSpPr>
                <p:nvPr/>
              </p:nvSpPr>
              <p:spPr bwMode="auto">
                <a:xfrm>
                  <a:off x="1520" y="38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17" name="Line 42"/>
                <p:cNvSpPr>
                  <a:spLocks noChangeShapeType="1"/>
                </p:cNvSpPr>
                <p:nvPr/>
              </p:nvSpPr>
              <p:spPr bwMode="auto">
                <a:xfrm>
                  <a:off x="1525"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18" name="Freeform 43"/>
                <p:cNvSpPr>
                  <a:spLocks/>
                </p:cNvSpPr>
                <p:nvPr/>
              </p:nvSpPr>
              <p:spPr bwMode="auto">
                <a:xfrm>
                  <a:off x="1525"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19" name="Line 44"/>
                <p:cNvSpPr>
                  <a:spLocks noChangeShapeType="1"/>
                </p:cNvSpPr>
                <p:nvPr/>
              </p:nvSpPr>
              <p:spPr bwMode="auto">
                <a:xfrm>
                  <a:off x="1531"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20" name="Line 45"/>
                <p:cNvSpPr>
                  <a:spLocks noChangeShapeType="1"/>
                </p:cNvSpPr>
                <p:nvPr/>
              </p:nvSpPr>
              <p:spPr bwMode="auto">
                <a:xfrm>
                  <a:off x="1531"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21" name="Line 46"/>
                <p:cNvSpPr>
                  <a:spLocks noChangeShapeType="1"/>
                </p:cNvSpPr>
                <p:nvPr/>
              </p:nvSpPr>
              <p:spPr bwMode="auto">
                <a:xfrm>
                  <a:off x="1538"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22" name="Line 47"/>
                <p:cNvSpPr>
                  <a:spLocks noChangeShapeType="1"/>
                </p:cNvSpPr>
                <p:nvPr/>
              </p:nvSpPr>
              <p:spPr bwMode="auto">
                <a:xfrm>
                  <a:off x="1544"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23" name="Freeform 48"/>
                <p:cNvSpPr>
                  <a:spLocks/>
                </p:cNvSpPr>
                <p:nvPr/>
              </p:nvSpPr>
              <p:spPr bwMode="auto">
                <a:xfrm>
                  <a:off x="1544"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24" name="Line 49"/>
                <p:cNvSpPr>
                  <a:spLocks noChangeShapeType="1"/>
                </p:cNvSpPr>
                <p:nvPr/>
              </p:nvSpPr>
              <p:spPr bwMode="auto">
                <a:xfrm>
                  <a:off x="1550"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25" name="Line 50"/>
                <p:cNvSpPr>
                  <a:spLocks noChangeShapeType="1"/>
                </p:cNvSpPr>
                <p:nvPr/>
              </p:nvSpPr>
              <p:spPr bwMode="auto">
                <a:xfrm>
                  <a:off x="1550"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26" name="Line 51"/>
                <p:cNvSpPr>
                  <a:spLocks noChangeShapeType="1"/>
                </p:cNvSpPr>
                <p:nvPr/>
              </p:nvSpPr>
              <p:spPr bwMode="auto">
                <a:xfrm>
                  <a:off x="1557"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27" name="Line 52"/>
                <p:cNvSpPr>
                  <a:spLocks noChangeShapeType="1"/>
                </p:cNvSpPr>
                <p:nvPr/>
              </p:nvSpPr>
              <p:spPr bwMode="auto">
                <a:xfrm>
                  <a:off x="1563"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28" name="Freeform 53"/>
                <p:cNvSpPr>
                  <a:spLocks/>
                </p:cNvSpPr>
                <p:nvPr/>
              </p:nvSpPr>
              <p:spPr bwMode="auto">
                <a:xfrm>
                  <a:off x="1563"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29" name="Line 54"/>
                <p:cNvSpPr>
                  <a:spLocks noChangeShapeType="1"/>
                </p:cNvSpPr>
                <p:nvPr/>
              </p:nvSpPr>
              <p:spPr bwMode="auto">
                <a:xfrm>
                  <a:off x="1569"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30" name="Freeform 55"/>
                <p:cNvSpPr>
                  <a:spLocks/>
                </p:cNvSpPr>
                <p:nvPr/>
              </p:nvSpPr>
              <p:spPr bwMode="auto">
                <a:xfrm>
                  <a:off x="1569" y="3874"/>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31" name="Line 56"/>
                <p:cNvSpPr>
                  <a:spLocks noChangeShapeType="1"/>
                </p:cNvSpPr>
                <p:nvPr/>
              </p:nvSpPr>
              <p:spPr bwMode="auto">
                <a:xfrm>
                  <a:off x="1576"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32" name="Line 57"/>
                <p:cNvSpPr>
                  <a:spLocks noChangeShapeType="1"/>
                </p:cNvSpPr>
                <p:nvPr/>
              </p:nvSpPr>
              <p:spPr bwMode="auto">
                <a:xfrm>
                  <a:off x="1576"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33" name="Line 58"/>
                <p:cNvSpPr>
                  <a:spLocks noChangeShapeType="1"/>
                </p:cNvSpPr>
                <p:nvPr/>
              </p:nvSpPr>
              <p:spPr bwMode="auto">
                <a:xfrm>
                  <a:off x="1582" y="38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34" name="Line 59"/>
                <p:cNvSpPr>
                  <a:spLocks noChangeShapeType="1"/>
                </p:cNvSpPr>
                <p:nvPr/>
              </p:nvSpPr>
              <p:spPr bwMode="auto">
                <a:xfrm>
                  <a:off x="1587"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35" name="Freeform 60"/>
                <p:cNvSpPr>
                  <a:spLocks/>
                </p:cNvSpPr>
                <p:nvPr/>
              </p:nvSpPr>
              <p:spPr bwMode="auto">
                <a:xfrm>
                  <a:off x="1587" y="3874"/>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36" name="Line 61"/>
                <p:cNvSpPr>
                  <a:spLocks noChangeShapeType="1"/>
                </p:cNvSpPr>
                <p:nvPr/>
              </p:nvSpPr>
              <p:spPr bwMode="auto">
                <a:xfrm>
                  <a:off x="1594"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37" name="Line 62"/>
                <p:cNvSpPr>
                  <a:spLocks noChangeShapeType="1"/>
                </p:cNvSpPr>
                <p:nvPr/>
              </p:nvSpPr>
              <p:spPr bwMode="auto">
                <a:xfrm>
                  <a:off x="1594"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38" name="Line 63"/>
                <p:cNvSpPr>
                  <a:spLocks noChangeShapeType="1"/>
                </p:cNvSpPr>
                <p:nvPr/>
              </p:nvSpPr>
              <p:spPr bwMode="auto">
                <a:xfrm>
                  <a:off x="1600"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39" name="Line 64"/>
                <p:cNvSpPr>
                  <a:spLocks noChangeShapeType="1"/>
                </p:cNvSpPr>
                <p:nvPr/>
              </p:nvSpPr>
              <p:spPr bwMode="auto">
                <a:xfrm>
                  <a:off x="1607"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40" name="Freeform 65"/>
                <p:cNvSpPr>
                  <a:spLocks/>
                </p:cNvSpPr>
                <p:nvPr/>
              </p:nvSpPr>
              <p:spPr bwMode="auto">
                <a:xfrm>
                  <a:off x="1607"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41" name="Line 66"/>
                <p:cNvSpPr>
                  <a:spLocks noChangeShapeType="1"/>
                </p:cNvSpPr>
                <p:nvPr/>
              </p:nvSpPr>
              <p:spPr bwMode="auto">
                <a:xfrm>
                  <a:off x="1613"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42" name="Freeform 67"/>
                <p:cNvSpPr>
                  <a:spLocks/>
                </p:cNvSpPr>
                <p:nvPr/>
              </p:nvSpPr>
              <p:spPr bwMode="auto">
                <a:xfrm>
                  <a:off x="1613"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43" name="Line 68"/>
                <p:cNvSpPr>
                  <a:spLocks noChangeShapeType="1"/>
                </p:cNvSpPr>
                <p:nvPr/>
              </p:nvSpPr>
              <p:spPr bwMode="auto">
                <a:xfrm>
                  <a:off x="1619"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44" name="Freeform 69"/>
                <p:cNvSpPr>
                  <a:spLocks/>
                </p:cNvSpPr>
                <p:nvPr/>
              </p:nvSpPr>
              <p:spPr bwMode="auto">
                <a:xfrm>
                  <a:off x="1619" y="3866"/>
                  <a:ext cx="7" cy="8"/>
                </a:xfrm>
                <a:custGeom>
                  <a:avLst/>
                  <a:gdLst>
                    <a:gd name="T0" fmla="*/ 0 w 5"/>
                    <a:gd name="T1" fmla="*/ 256 h 4"/>
                    <a:gd name="T2" fmla="*/ 0 w 5"/>
                    <a:gd name="T3" fmla="*/ 0 h 4"/>
                    <a:gd name="T4" fmla="*/ 39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45" name="Line 70"/>
                <p:cNvSpPr>
                  <a:spLocks noChangeShapeType="1"/>
                </p:cNvSpPr>
                <p:nvPr/>
              </p:nvSpPr>
              <p:spPr bwMode="auto">
                <a:xfrm>
                  <a:off x="1626"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46" name="Line 71"/>
                <p:cNvSpPr>
                  <a:spLocks noChangeShapeType="1"/>
                </p:cNvSpPr>
                <p:nvPr/>
              </p:nvSpPr>
              <p:spPr bwMode="auto">
                <a:xfrm>
                  <a:off x="1632"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47" name="Freeform 72"/>
                <p:cNvSpPr>
                  <a:spLocks/>
                </p:cNvSpPr>
                <p:nvPr/>
              </p:nvSpPr>
              <p:spPr bwMode="auto">
                <a:xfrm>
                  <a:off x="1632" y="3866"/>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48" name="Line 73"/>
                <p:cNvSpPr>
                  <a:spLocks noChangeShapeType="1"/>
                </p:cNvSpPr>
                <p:nvPr/>
              </p:nvSpPr>
              <p:spPr bwMode="auto">
                <a:xfrm>
                  <a:off x="1638"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49" name="Line 74"/>
                <p:cNvSpPr>
                  <a:spLocks noChangeShapeType="1"/>
                </p:cNvSpPr>
                <p:nvPr/>
              </p:nvSpPr>
              <p:spPr bwMode="auto">
                <a:xfrm>
                  <a:off x="1638" y="3866"/>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50" name="Line 75"/>
                <p:cNvSpPr>
                  <a:spLocks noChangeShapeType="1"/>
                </p:cNvSpPr>
                <p:nvPr/>
              </p:nvSpPr>
              <p:spPr bwMode="auto">
                <a:xfrm>
                  <a:off x="1645"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51" name="Line 76"/>
                <p:cNvSpPr>
                  <a:spLocks noChangeShapeType="1"/>
                </p:cNvSpPr>
                <p:nvPr/>
              </p:nvSpPr>
              <p:spPr bwMode="auto">
                <a:xfrm>
                  <a:off x="1651"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52" name="Freeform 77"/>
                <p:cNvSpPr>
                  <a:spLocks/>
                </p:cNvSpPr>
                <p:nvPr/>
              </p:nvSpPr>
              <p:spPr bwMode="auto">
                <a:xfrm>
                  <a:off x="1651" y="3866"/>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53" name="Line 78"/>
                <p:cNvSpPr>
                  <a:spLocks noChangeShapeType="1"/>
                </p:cNvSpPr>
                <p:nvPr/>
              </p:nvSpPr>
              <p:spPr bwMode="auto">
                <a:xfrm>
                  <a:off x="1656"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54" name="Freeform 79"/>
                <p:cNvSpPr>
                  <a:spLocks/>
                </p:cNvSpPr>
                <p:nvPr/>
              </p:nvSpPr>
              <p:spPr bwMode="auto">
                <a:xfrm>
                  <a:off x="1656" y="3866"/>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55" name="Line 80"/>
                <p:cNvSpPr>
                  <a:spLocks noChangeShapeType="1"/>
                </p:cNvSpPr>
                <p:nvPr/>
              </p:nvSpPr>
              <p:spPr bwMode="auto">
                <a:xfrm>
                  <a:off x="1663"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56" name="Line 81"/>
                <p:cNvSpPr>
                  <a:spLocks noChangeShapeType="1"/>
                </p:cNvSpPr>
                <p:nvPr/>
              </p:nvSpPr>
              <p:spPr bwMode="auto">
                <a:xfrm>
                  <a:off x="1663"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57" name="Line 82"/>
                <p:cNvSpPr>
                  <a:spLocks noChangeShapeType="1"/>
                </p:cNvSpPr>
                <p:nvPr/>
              </p:nvSpPr>
              <p:spPr bwMode="auto">
                <a:xfrm>
                  <a:off x="1669"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58" name="Line 83"/>
                <p:cNvSpPr>
                  <a:spLocks noChangeShapeType="1"/>
                </p:cNvSpPr>
                <p:nvPr/>
              </p:nvSpPr>
              <p:spPr bwMode="auto">
                <a:xfrm>
                  <a:off x="1675"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59" name="Freeform 84"/>
                <p:cNvSpPr>
                  <a:spLocks/>
                </p:cNvSpPr>
                <p:nvPr/>
              </p:nvSpPr>
              <p:spPr bwMode="auto">
                <a:xfrm>
                  <a:off x="1675" y="3866"/>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60" name="Line 85"/>
                <p:cNvSpPr>
                  <a:spLocks noChangeShapeType="1"/>
                </p:cNvSpPr>
                <p:nvPr/>
              </p:nvSpPr>
              <p:spPr bwMode="auto">
                <a:xfrm>
                  <a:off x="1682"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61" name="Line 86"/>
                <p:cNvSpPr>
                  <a:spLocks noChangeShapeType="1"/>
                </p:cNvSpPr>
                <p:nvPr/>
              </p:nvSpPr>
              <p:spPr bwMode="auto">
                <a:xfrm>
                  <a:off x="1682"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62" name="Line 87"/>
                <p:cNvSpPr>
                  <a:spLocks noChangeShapeType="1"/>
                </p:cNvSpPr>
                <p:nvPr/>
              </p:nvSpPr>
              <p:spPr bwMode="auto">
                <a:xfrm>
                  <a:off x="1688"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63" name="Line 88"/>
                <p:cNvSpPr>
                  <a:spLocks noChangeShapeType="1"/>
                </p:cNvSpPr>
                <p:nvPr/>
              </p:nvSpPr>
              <p:spPr bwMode="auto">
                <a:xfrm>
                  <a:off x="1694"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64" name="Freeform 89"/>
                <p:cNvSpPr>
                  <a:spLocks/>
                </p:cNvSpPr>
                <p:nvPr/>
              </p:nvSpPr>
              <p:spPr bwMode="auto">
                <a:xfrm>
                  <a:off x="1694" y="3866"/>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65" name="Line 90"/>
                <p:cNvSpPr>
                  <a:spLocks noChangeShapeType="1"/>
                </p:cNvSpPr>
                <p:nvPr/>
              </p:nvSpPr>
              <p:spPr bwMode="auto">
                <a:xfrm>
                  <a:off x="1701"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66" name="Freeform 91"/>
                <p:cNvSpPr>
                  <a:spLocks/>
                </p:cNvSpPr>
                <p:nvPr/>
              </p:nvSpPr>
              <p:spPr bwMode="auto">
                <a:xfrm>
                  <a:off x="1701" y="3866"/>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67" name="Line 92"/>
                <p:cNvSpPr>
                  <a:spLocks noChangeShapeType="1"/>
                </p:cNvSpPr>
                <p:nvPr/>
              </p:nvSpPr>
              <p:spPr bwMode="auto">
                <a:xfrm>
                  <a:off x="1707"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68" name="Line 93"/>
                <p:cNvSpPr>
                  <a:spLocks noChangeShapeType="1"/>
                </p:cNvSpPr>
                <p:nvPr/>
              </p:nvSpPr>
              <p:spPr bwMode="auto">
                <a:xfrm>
                  <a:off x="1707" y="3866"/>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69" name="Line 94"/>
                <p:cNvSpPr>
                  <a:spLocks noChangeShapeType="1"/>
                </p:cNvSpPr>
                <p:nvPr/>
              </p:nvSpPr>
              <p:spPr bwMode="auto">
                <a:xfrm>
                  <a:off x="1712" y="3866"/>
                  <a:ext cx="8"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70" name="Line 95"/>
                <p:cNvSpPr>
                  <a:spLocks noChangeShapeType="1"/>
                </p:cNvSpPr>
                <p:nvPr/>
              </p:nvSpPr>
              <p:spPr bwMode="auto">
                <a:xfrm>
                  <a:off x="1720"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71" name="Freeform 96"/>
                <p:cNvSpPr>
                  <a:spLocks/>
                </p:cNvSpPr>
                <p:nvPr/>
              </p:nvSpPr>
              <p:spPr bwMode="auto">
                <a:xfrm>
                  <a:off x="1720" y="3866"/>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72" name="Line 97"/>
                <p:cNvSpPr>
                  <a:spLocks noChangeShapeType="1"/>
                </p:cNvSpPr>
                <p:nvPr/>
              </p:nvSpPr>
              <p:spPr bwMode="auto">
                <a:xfrm>
                  <a:off x="1725"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73" name="Line 98"/>
                <p:cNvSpPr>
                  <a:spLocks noChangeShapeType="1"/>
                </p:cNvSpPr>
                <p:nvPr/>
              </p:nvSpPr>
              <p:spPr bwMode="auto">
                <a:xfrm>
                  <a:off x="1725"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74" name="Line 99"/>
                <p:cNvSpPr>
                  <a:spLocks noChangeShapeType="1"/>
                </p:cNvSpPr>
                <p:nvPr/>
              </p:nvSpPr>
              <p:spPr bwMode="auto">
                <a:xfrm>
                  <a:off x="1731" y="3866"/>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75" name="Line 100"/>
                <p:cNvSpPr>
                  <a:spLocks noChangeShapeType="1"/>
                </p:cNvSpPr>
                <p:nvPr/>
              </p:nvSpPr>
              <p:spPr bwMode="auto">
                <a:xfrm>
                  <a:off x="1738"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76" name="Freeform 101"/>
                <p:cNvSpPr>
                  <a:spLocks/>
                </p:cNvSpPr>
                <p:nvPr/>
              </p:nvSpPr>
              <p:spPr bwMode="auto">
                <a:xfrm>
                  <a:off x="1738" y="3866"/>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77" name="Freeform 102"/>
                <p:cNvSpPr>
                  <a:spLocks/>
                </p:cNvSpPr>
                <p:nvPr/>
              </p:nvSpPr>
              <p:spPr bwMode="auto">
                <a:xfrm>
                  <a:off x="1744" y="3856"/>
                  <a:ext cx="0" cy="10"/>
                </a:xfrm>
                <a:custGeom>
                  <a:avLst/>
                  <a:gdLst>
                    <a:gd name="T0" fmla="*/ 320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78" name="Freeform 103"/>
                <p:cNvSpPr>
                  <a:spLocks/>
                </p:cNvSpPr>
                <p:nvPr/>
              </p:nvSpPr>
              <p:spPr bwMode="auto">
                <a:xfrm>
                  <a:off x="1744" y="3856"/>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79" name="Line 104"/>
                <p:cNvSpPr>
                  <a:spLocks noChangeShapeType="1"/>
                </p:cNvSpPr>
                <p:nvPr/>
              </p:nvSpPr>
              <p:spPr bwMode="auto">
                <a:xfrm>
                  <a:off x="1750"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80" name="Line 105"/>
                <p:cNvSpPr>
                  <a:spLocks noChangeShapeType="1"/>
                </p:cNvSpPr>
                <p:nvPr/>
              </p:nvSpPr>
              <p:spPr bwMode="auto">
                <a:xfrm>
                  <a:off x="1750" y="3856"/>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81" name="Line 106"/>
                <p:cNvSpPr>
                  <a:spLocks noChangeShapeType="1"/>
                </p:cNvSpPr>
                <p:nvPr/>
              </p:nvSpPr>
              <p:spPr bwMode="auto">
                <a:xfrm>
                  <a:off x="1757" y="385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82" name="Line 107"/>
                <p:cNvSpPr>
                  <a:spLocks noChangeShapeType="1"/>
                </p:cNvSpPr>
                <p:nvPr/>
              </p:nvSpPr>
              <p:spPr bwMode="auto">
                <a:xfrm>
                  <a:off x="1763"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83" name="Freeform 108"/>
                <p:cNvSpPr>
                  <a:spLocks/>
                </p:cNvSpPr>
                <p:nvPr/>
              </p:nvSpPr>
              <p:spPr bwMode="auto">
                <a:xfrm>
                  <a:off x="1763" y="3856"/>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84" name="Line 109"/>
                <p:cNvSpPr>
                  <a:spLocks noChangeShapeType="1"/>
                </p:cNvSpPr>
                <p:nvPr/>
              </p:nvSpPr>
              <p:spPr bwMode="auto">
                <a:xfrm>
                  <a:off x="1768"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85" name="Line 110"/>
                <p:cNvSpPr>
                  <a:spLocks noChangeShapeType="1"/>
                </p:cNvSpPr>
                <p:nvPr/>
              </p:nvSpPr>
              <p:spPr bwMode="auto">
                <a:xfrm>
                  <a:off x="1768" y="3856"/>
                  <a:ext cx="8"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86" name="Line 111"/>
                <p:cNvSpPr>
                  <a:spLocks noChangeShapeType="1"/>
                </p:cNvSpPr>
                <p:nvPr/>
              </p:nvSpPr>
              <p:spPr bwMode="auto">
                <a:xfrm>
                  <a:off x="1776" y="3856"/>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87" name="Line 112"/>
                <p:cNvSpPr>
                  <a:spLocks noChangeShapeType="1"/>
                </p:cNvSpPr>
                <p:nvPr/>
              </p:nvSpPr>
              <p:spPr bwMode="auto">
                <a:xfrm>
                  <a:off x="1781"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88" name="Freeform 113"/>
                <p:cNvSpPr>
                  <a:spLocks/>
                </p:cNvSpPr>
                <p:nvPr/>
              </p:nvSpPr>
              <p:spPr bwMode="auto">
                <a:xfrm>
                  <a:off x="1781" y="3856"/>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89" name="Line 114"/>
                <p:cNvSpPr>
                  <a:spLocks noChangeShapeType="1"/>
                </p:cNvSpPr>
                <p:nvPr/>
              </p:nvSpPr>
              <p:spPr bwMode="auto">
                <a:xfrm>
                  <a:off x="1787"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90" name="Freeform 115"/>
                <p:cNvSpPr>
                  <a:spLocks/>
                </p:cNvSpPr>
                <p:nvPr/>
              </p:nvSpPr>
              <p:spPr bwMode="auto">
                <a:xfrm>
                  <a:off x="1787" y="3856"/>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91" name="Line 116"/>
                <p:cNvSpPr>
                  <a:spLocks noChangeShapeType="1"/>
                </p:cNvSpPr>
                <p:nvPr/>
              </p:nvSpPr>
              <p:spPr bwMode="auto">
                <a:xfrm>
                  <a:off x="1794"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92" name="Line 117"/>
                <p:cNvSpPr>
                  <a:spLocks noChangeShapeType="1"/>
                </p:cNvSpPr>
                <p:nvPr/>
              </p:nvSpPr>
              <p:spPr bwMode="auto">
                <a:xfrm>
                  <a:off x="1794" y="385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93" name="Line 118"/>
                <p:cNvSpPr>
                  <a:spLocks noChangeShapeType="1"/>
                </p:cNvSpPr>
                <p:nvPr/>
              </p:nvSpPr>
              <p:spPr bwMode="auto">
                <a:xfrm>
                  <a:off x="1800" y="385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94" name="Freeform 119"/>
                <p:cNvSpPr>
                  <a:spLocks/>
                </p:cNvSpPr>
                <p:nvPr/>
              </p:nvSpPr>
              <p:spPr bwMode="auto">
                <a:xfrm>
                  <a:off x="1806" y="3848"/>
                  <a:ext cx="0" cy="8"/>
                </a:xfrm>
                <a:custGeom>
                  <a:avLst/>
                  <a:gdLst>
                    <a:gd name="T0" fmla="*/ 256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95" name="Freeform 120"/>
                <p:cNvSpPr>
                  <a:spLocks/>
                </p:cNvSpPr>
                <p:nvPr/>
              </p:nvSpPr>
              <p:spPr bwMode="auto">
                <a:xfrm>
                  <a:off x="1806" y="3848"/>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496" name="Line 121"/>
                <p:cNvSpPr>
                  <a:spLocks noChangeShapeType="1"/>
                </p:cNvSpPr>
                <p:nvPr/>
              </p:nvSpPr>
              <p:spPr bwMode="auto">
                <a:xfrm>
                  <a:off x="1813" y="38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97" name="Line 122"/>
                <p:cNvSpPr>
                  <a:spLocks noChangeShapeType="1"/>
                </p:cNvSpPr>
                <p:nvPr/>
              </p:nvSpPr>
              <p:spPr bwMode="auto">
                <a:xfrm>
                  <a:off x="1813" y="3848"/>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98" name="Line 123"/>
                <p:cNvSpPr>
                  <a:spLocks noChangeShapeType="1"/>
                </p:cNvSpPr>
                <p:nvPr/>
              </p:nvSpPr>
              <p:spPr bwMode="auto">
                <a:xfrm>
                  <a:off x="1819" y="38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499" name="Line 124"/>
                <p:cNvSpPr>
                  <a:spLocks noChangeShapeType="1"/>
                </p:cNvSpPr>
                <p:nvPr/>
              </p:nvSpPr>
              <p:spPr bwMode="auto">
                <a:xfrm>
                  <a:off x="1824" y="38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00" name="Freeform 125"/>
                <p:cNvSpPr>
                  <a:spLocks/>
                </p:cNvSpPr>
                <p:nvPr/>
              </p:nvSpPr>
              <p:spPr bwMode="auto">
                <a:xfrm>
                  <a:off x="1824" y="3848"/>
                  <a:ext cx="8" cy="0"/>
                </a:xfrm>
                <a:custGeom>
                  <a:avLst/>
                  <a:gdLst>
                    <a:gd name="T0" fmla="*/ 0 w 5"/>
                    <a:gd name="T1" fmla="*/ 0 w 5"/>
                    <a:gd name="T2" fmla="*/ 86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01" name="Line 126"/>
                <p:cNvSpPr>
                  <a:spLocks noChangeShapeType="1"/>
                </p:cNvSpPr>
                <p:nvPr/>
              </p:nvSpPr>
              <p:spPr bwMode="auto">
                <a:xfrm>
                  <a:off x="1832" y="38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02" name="Freeform 127"/>
                <p:cNvSpPr>
                  <a:spLocks/>
                </p:cNvSpPr>
                <p:nvPr/>
              </p:nvSpPr>
              <p:spPr bwMode="auto">
                <a:xfrm>
                  <a:off x="1832" y="3848"/>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03" name="Line 128"/>
                <p:cNvSpPr>
                  <a:spLocks noChangeShapeType="1"/>
                </p:cNvSpPr>
                <p:nvPr/>
              </p:nvSpPr>
              <p:spPr bwMode="auto">
                <a:xfrm>
                  <a:off x="1837" y="38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04" name="Line 129"/>
                <p:cNvSpPr>
                  <a:spLocks noChangeShapeType="1"/>
                </p:cNvSpPr>
                <p:nvPr/>
              </p:nvSpPr>
              <p:spPr bwMode="auto">
                <a:xfrm>
                  <a:off x="1837" y="3848"/>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05" name="Freeform 130"/>
                <p:cNvSpPr>
                  <a:spLocks/>
                </p:cNvSpPr>
                <p:nvPr/>
              </p:nvSpPr>
              <p:spPr bwMode="auto">
                <a:xfrm>
                  <a:off x="1843" y="3839"/>
                  <a:ext cx="7" cy="9"/>
                </a:xfrm>
                <a:custGeom>
                  <a:avLst/>
                  <a:gdLst>
                    <a:gd name="T0" fmla="*/ 0 w 5"/>
                    <a:gd name="T1" fmla="*/ 511 h 4"/>
                    <a:gd name="T2" fmla="*/ 39 w 5"/>
                    <a:gd name="T3" fmla="*/ 0 h 4"/>
                    <a:gd name="T4" fmla="*/ 39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06" name="Line 131"/>
                <p:cNvSpPr>
                  <a:spLocks noChangeShapeType="1"/>
                </p:cNvSpPr>
                <p:nvPr/>
              </p:nvSpPr>
              <p:spPr bwMode="auto">
                <a:xfrm>
                  <a:off x="1850" y="383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07" name="Freeform 132"/>
                <p:cNvSpPr>
                  <a:spLocks/>
                </p:cNvSpPr>
                <p:nvPr/>
              </p:nvSpPr>
              <p:spPr bwMode="auto">
                <a:xfrm>
                  <a:off x="1850" y="3839"/>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08" name="Line 133"/>
                <p:cNvSpPr>
                  <a:spLocks noChangeShapeType="1"/>
                </p:cNvSpPr>
                <p:nvPr/>
              </p:nvSpPr>
              <p:spPr bwMode="auto">
                <a:xfrm>
                  <a:off x="1856" y="383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09" name="Line 134"/>
                <p:cNvSpPr>
                  <a:spLocks noChangeShapeType="1"/>
                </p:cNvSpPr>
                <p:nvPr/>
              </p:nvSpPr>
              <p:spPr bwMode="auto">
                <a:xfrm>
                  <a:off x="1856" y="3839"/>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10" name="Line 135"/>
                <p:cNvSpPr>
                  <a:spLocks noChangeShapeType="1"/>
                </p:cNvSpPr>
                <p:nvPr/>
              </p:nvSpPr>
              <p:spPr bwMode="auto">
                <a:xfrm>
                  <a:off x="1863" y="3839"/>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11" name="Line 136"/>
                <p:cNvSpPr>
                  <a:spLocks noChangeShapeType="1"/>
                </p:cNvSpPr>
                <p:nvPr/>
              </p:nvSpPr>
              <p:spPr bwMode="auto">
                <a:xfrm>
                  <a:off x="1869" y="383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12" name="Freeform 137"/>
                <p:cNvSpPr>
                  <a:spLocks/>
                </p:cNvSpPr>
                <p:nvPr/>
              </p:nvSpPr>
              <p:spPr bwMode="auto">
                <a:xfrm>
                  <a:off x="1869" y="3839"/>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13" name="Line 138"/>
                <p:cNvSpPr>
                  <a:spLocks noChangeShapeType="1"/>
                </p:cNvSpPr>
                <p:nvPr/>
              </p:nvSpPr>
              <p:spPr bwMode="auto">
                <a:xfrm>
                  <a:off x="1875" y="383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14" name="Freeform 139"/>
                <p:cNvSpPr>
                  <a:spLocks/>
                </p:cNvSpPr>
                <p:nvPr/>
              </p:nvSpPr>
              <p:spPr bwMode="auto">
                <a:xfrm>
                  <a:off x="1875" y="3829"/>
                  <a:ext cx="7" cy="10"/>
                </a:xfrm>
                <a:custGeom>
                  <a:avLst/>
                  <a:gdLst>
                    <a:gd name="T0" fmla="*/ 0 w 5"/>
                    <a:gd name="T1" fmla="*/ 320 h 5"/>
                    <a:gd name="T2" fmla="*/ 0 w 5"/>
                    <a:gd name="T3" fmla="*/ 0 h 5"/>
                    <a:gd name="T4" fmla="*/ 39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15" name="Line 140"/>
                <p:cNvSpPr>
                  <a:spLocks noChangeShapeType="1"/>
                </p:cNvSpPr>
                <p:nvPr/>
              </p:nvSpPr>
              <p:spPr bwMode="auto">
                <a:xfrm>
                  <a:off x="1882" y="382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16" name="Line 141"/>
                <p:cNvSpPr>
                  <a:spLocks noChangeShapeType="1"/>
                </p:cNvSpPr>
                <p:nvPr/>
              </p:nvSpPr>
              <p:spPr bwMode="auto">
                <a:xfrm>
                  <a:off x="1882" y="3829"/>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17" name="Line 142"/>
                <p:cNvSpPr>
                  <a:spLocks noChangeShapeType="1"/>
                </p:cNvSpPr>
                <p:nvPr/>
              </p:nvSpPr>
              <p:spPr bwMode="auto">
                <a:xfrm>
                  <a:off x="1888" y="382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18" name="Line 143"/>
                <p:cNvSpPr>
                  <a:spLocks noChangeShapeType="1"/>
                </p:cNvSpPr>
                <p:nvPr/>
              </p:nvSpPr>
              <p:spPr bwMode="auto">
                <a:xfrm>
                  <a:off x="1893" y="382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19" name="Freeform 144"/>
                <p:cNvSpPr>
                  <a:spLocks/>
                </p:cNvSpPr>
                <p:nvPr/>
              </p:nvSpPr>
              <p:spPr bwMode="auto">
                <a:xfrm>
                  <a:off x="1893" y="3829"/>
                  <a:ext cx="8" cy="0"/>
                </a:xfrm>
                <a:custGeom>
                  <a:avLst/>
                  <a:gdLst>
                    <a:gd name="T0" fmla="*/ 0 w 5"/>
                    <a:gd name="T1" fmla="*/ 0 w 5"/>
                    <a:gd name="T2" fmla="*/ 86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20" name="Line 145"/>
                <p:cNvSpPr>
                  <a:spLocks noChangeShapeType="1"/>
                </p:cNvSpPr>
                <p:nvPr/>
              </p:nvSpPr>
              <p:spPr bwMode="auto">
                <a:xfrm>
                  <a:off x="1901" y="382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21" name="Freeform 146"/>
                <p:cNvSpPr>
                  <a:spLocks/>
                </p:cNvSpPr>
                <p:nvPr/>
              </p:nvSpPr>
              <p:spPr bwMode="auto">
                <a:xfrm>
                  <a:off x="1901" y="3821"/>
                  <a:ext cx="5" cy="8"/>
                </a:xfrm>
                <a:custGeom>
                  <a:avLst/>
                  <a:gdLst>
                    <a:gd name="T0" fmla="*/ 0 w 4"/>
                    <a:gd name="T1" fmla="*/ 256 h 4"/>
                    <a:gd name="T2" fmla="*/ 0 w 4"/>
                    <a:gd name="T3" fmla="*/ 0 h 4"/>
                    <a:gd name="T4" fmla="*/ 16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22" name="Line 147"/>
                <p:cNvSpPr>
                  <a:spLocks noChangeShapeType="1"/>
                </p:cNvSpPr>
                <p:nvPr/>
              </p:nvSpPr>
              <p:spPr bwMode="auto">
                <a:xfrm>
                  <a:off x="1906" y="3821"/>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23" name="Line 148"/>
                <p:cNvSpPr>
                  <a:spLocks noChangeShapeType="1"/>
                </p:cNvSpPr>
                <p:nvPr/>
              </p:nvSpPr>
              <p:spPr bwMode="auto">
                <a:xfrm>
                  <a:off x="1912" y="382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24" name="Freeform 149"/>
                <p:cNvSpPr>
                  <a:spLocks/>
                </p:cNvSpPr>
                <p:nvPr/>
              </p:nvSpPr>
              <p:spPr bwMode="auto">
                <a:xfrm>
                  <a:off x="1912" y="3821"/>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25" name="Line 150"/>
                <p:cNvSpPr>
                  <a:spLocks noChangeShapeType="1"/>
                </p:cNvSpPr>
                <p:nvPr/>
              </p:nvSpPr>
              <p:spPr bwMode="auto">
                <a:xfrm>
                  <a:off x="1919" y="382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26" name="Freeform 151"/>
                <p:cNvSpPr>
                  <a:spLocks/>
                </p:cNvSpPr>
                <p:nvPr/>
              </p:nvSpPr>
              <p:spPr bwMode="auto">
                <a:xfrm>
                  <a:off x="1919" y="3821"/>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27" name="Freeform 152"/>
                <p:cNvSpPr>
                  <a:spLocks/>
                </p:cNvSpPr>
                <p:nvPr/>
              </p:nvSpPr>
              <p:spPr bwMode="auto">
                <a:xfrm>
                  <a:off x="1925" y="3813"/>
                  <a:ext cx="0" cy="8"/>
                </a:xfrm>
                <a:custGeom>
                  <a:avLst/>
                  <a:gdLst>
                    <a:gd name="T0" fmla="*/ 256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28" name="Line 153"/>
                <p:cNvSpPr>
                  <a:spLocks noChangeShapeType="1"/>
                </p:cNvSpPr>
                <p:nvPr/>
              </p:nvSpPr>
              <p:spPr bwMode="auto">
                <a:xfrm>
                  <a:off x="1925" y="3813"/>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29" name="Line 154"/>
                <p:cNvSpPr>
                  <a:spLocks noChangeShapeType="1"/>
                </p:cNvSpPr>
                <p:nvPr/>
              </p:nvSpPr>
              <p:spPr bwMode="auto">
                <a:xfrm>
                  <a:off x="1931" y="3813"/>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30" name="Line 155"/>
                <p:cNvSpPr>
                  <a:spLocks noChangeShapeType="1"/>
                </p:cNvSpPr>
                <p:nvPr/>
              </p:nvSpPr>
              <p:spPr bwMode="auto">
                <a:xfrm>
                  <a:off x="1938" y="381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31" name="Freeform 156"/>
                <p:cNvSpPr>
                  <a:spLocks/>
                </p:cNvSpPr>
                <p:nvPr/>
              </p:nvSpPr>
              <p:spPr bwMode="auto">
                <a:xfrm>
                  <a:off x="1938" y="3813"/>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32" name="Line 157"/>
                <p:cNvSpPr>
                  <a:spLocks noChangeShapeType="1"/>
                </p:cNvSpPr>
                <p:nvPr/>
              </p:nvSpPr>
              <p:spPr bwMode="auto">
                <a:xfrm>
                  <a:off x="1944" y="381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33" name="Freeform 158"/>
                <p:cNvSpPr>
                  <a:spLocks/>
                </p:cNvSpPr>
                <p:nvPr/>
              </p:nvSpPr>
              <p:spPr bwMode="auto">
                <a:xfrm>
                  <a:off x="1944" y="3803"/>
                  <a:ext cx="5" cy="10"/>
                </a:xfrm>
                <a:custGeom>
                  <a:avLst/>
                  <a:gdLst>
                    <a:gd name="T0" fmla="*/ 0 w 4"/>
                    <a:gd name="T1" fmla="*/ 320 h 5"/>
                    <a:gd name="T2" fmla="*/ 0 w 4"/>
                    <a:gd name="T3" fmla="*/ 0 h 5"/>
                    <a:gd name="T4" fmla="*/ 16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34" name="Line 159"/>
                <p:cNvSpPr>
                  <a:spLocks noChangeShapeType="1"/>
                </p:cNvSpPr>
                <p:nvPr/>
              </p:nvSpPr>
              <p:spPr bwMode="auto">
                <a:xfrm>
                  <a:off x="1949" y="3803"/>
                  <a:ext cx="8"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35" name="Line 160"/>
                <p:cNvSpPr>
                  <a:spLocks noChangeShapeType="1"/>
                </p:cNvSpPr>
                <p:nvPr/>
              </p:nvSpPr>
              <p:spPr bwMode="auto">
                <a:xfrm>
                  <a:off x="1957" y="380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36" name="Freeform 161"/>
                <p:cNvSpPr>
                  <a:spLocks/>
                </p:cNvSpPr>
                <p:nvPr/>
              </p:nvSpPr>
              <p:spPr bwMode="auto">
                <a:xfrm>
                  <a:off x="1957" y="3803"/>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37" name="Line 162"/>
                <p:cNvSpPr>
                  <a:spLocks noChangeShapeType="1"/>
                </p:cNvSpPr>
                <p:nvPr/>
              </p:nvSpPr>
              <p:spPr bwMode="auto">
                <a:xfrm>
                  <a:off x="1962" y="380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38" name="Freeform 163"/>
                <p:cNvSpPr>
                  <a:spLocks/>
                </p:cNvSpPr>
                <p:nvPr/>
              </p:nvSpPr>
              <p:spPr bwMode="auto">
                <a:xfrm>
                  <a:off x="1962" y="3795"/>
                  <a:ext cx="6" cy="8"/>
                </a:xfrm>
                <a:custGeom>
                  <a:avLst/>
                  <a:gdLst>
                    <a:gd name="T0" fmla="*/ 0 w 4"/>
                    <a:gd name="T1" fmla="*/ 256 h 4"/>
                    <a:gd name="T2" fmla="*/ 0 w 4"/>
                    <a:gd name="T3" fmla="*/ 0 h 4"/>
                    <a:gd name="T4" fmla="*/ 48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39" name="Line 164"/>
                <p:cNvSpPr>
                  <a:spLocks noChangeShapeType="1"/>
                </p:cNvSpPr>
                <p:nvPr/>
              </p:nvSpPr>
              <p:spPr bwMode="auto">
                <a:xfrm>
                  <a:off x="1968" y="379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40" name="Line 165"/>
                <p:cNvSpPr>
                  <a:spLocks noChangeShapeType="1"/>
                </p:cNvSpPr>
                <p:nvPr/>
              </p:nvSpPr>
              <p:spPr bwMode="auto">
                <a:xfrm>
                  <a:off x="1968" y="3795"/>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41" name="Line 166"/>
                <p:cNvSpPr>
                  <a:spLocks noChangeShapeType="1"/>
                </p:cNvSpPr>
                <p:nvPr/>
              </p:nvSpPr>
              <p:spPr bwMode="auto">
                <a:xfrm>
                  <a:off x="1975" y="3795"/>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42" name="Freeform 167"/>
                <p:cNvSpPr>
                  <a:spLocks/>
                </p:cNvSpPr>
                <p:nvPr/>
              </p:nvSpPr>
              <p:spPr bwMode="auto">
                <a:xfrm>
                  <a:off x="1981" y="3787"/>
                  <a:ext cx="0" cy="8"/>
                </a:xfrm>
                <a:custGeom>
                  <a:avLst/>
                  <a:gdLst>
                    <a:gd name="T0" fmla="*/ 256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43" name="Freeform 168"/>
                <p:cNvSpPr>
                  <a:spLocks/>
                </p:cNvSpPr>
                <p:nvPr/>
              </p:nvSpPr>
              <p:spPr bwMode="auto">
                <a:xfrm>
                  <a:off x="1981" y="3787"/>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44" name="Line 169"/>
                <p:cNvSpPr>
                  <a:spLocks noChangeShapeType="1"/>
                </p:cNvSpPr>
                <p:nvPr/>
              </p:nvSpPr>
              <p:spPr bwMode="auto">
                <a:xfrm>
                  <a:off x="1987" y="3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45" name="Line 170"/>
                <p:cNvSpPr>
                  <a:spLocks noChangeShapeType="1"/>
                </p:cNvSpPr>
                <p:nvPr/>
              </p:nvSpPr>
              <p:spPr bwMode="auto">
                <a:xfrm>
                  <a:off x="1987" y="3787"/>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46" name="Freeform 171"/>
                <p:cNvSpPr>
                  <a:spLocks/>
                </p:cNvSpPr>
                <p:nvPr/>
              </p:nvSpPr>
              <p:spPr bwMode="auto">
                <a:xfrm>
                  <a:off x="1994" y="3777"/>
                  <a:ext cx="6" cy="10"/>
                </a:xfrm>
                <a:custGeom>
                  <a:avLst/>
                  <a:gdLst>
                    <a:gd name="T0" fmla="*/ 0 w 4"/>
                    <a:gd name="T1" fmla="*/ 320 h 5"/>
                    <a:gd name="T2" fmla="*/ 48 w 4"/>
                    <a:gd name="T3" fmla="*/ 0 h 5"/>
                    <a:gd name="T4" fmla="*/ 48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47" name="Line 172"/>
                <p:cNvSpPr>
                  <a:spLocks noChangeShapeType="1"/>
                </p:cNvSpPr>
                <p:nvPr/>
              </p:nvSpPr>
              <p:spPr bwMode="auto">
                <a:xfrm>
                  <a:off x="2000" y="377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48" name="Freeform 173"/>
                <p:cNvSpPr>
                  <a:spLocks/>
                </p:cNvSpPr>
                <p:nvPr/>
              </p:nvSpPr>
              <p:spPr bwMode="auto">
                <a:xfrm>
                  <a:off x="2000" y="3777"/>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49" name="Line 174"/>
                <p:cNvSpPr>
                  <a:spLocks noChangeShapeType="1"/>
                </p:cNvSpPr>
                <p:nvPr/>
              </p:nvSpPr>
              <p:spPr bwMode="auto">
                <a:xfrm>
                  <a:off x="2006" y="377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50" name="Freeform 175"/>
                <p:cNvSpPr>
                  <a:spLocks/>
                </p:cNvSpPr>
                <p:nvPr/>
              </p:nvSpPr>
              <p:spPr bwMode="auto">
                <a:xfrm>
                  <a:off x="2006" y="3768"/>
                  <a:ext cx="7" cy="9"/>
                </a:xfrm>
                <a:custGeom>
                  <a:avLst/>
                  <a:gdLst>
                    <a:gd name="T0" fmla="*/ 0 w 5"/>
                    <a:gd name="T1" fmla="*/ 511 h 4"/>
                    <a:gd name="T2" fmla="*/ 0 w 5"/>
                    <a:gd name="T3" fmla="*/ 0 h 4"/>
                    <a:gd name="T4" fmla="*/ 39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51" name="Line 176"/>
                <p:cNvSpPr>
                  <a:spLocks noChangeShapeType="1"/>
                </p:cNvSpPr>
                <p:nvPr/>
              </p:nvSpPr>
              <p:spPr bwMode="auto">
                <a:xfrm>
                  <a:off x="2013" y="376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52" name="Line 177"/>
                <p:cNvSpPr>
                  <a:spLocks noChangeShapeType="1"/>
                </p:cNvSpPr>
                <p:nvPr/>
              </p:nvSpPr>
              <p:spPr bwMode="auto">
                <a:xfrm>
                  <a:off x="2018" y="376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53" name="Freeform 178"/>
                <p:cNvSpPr>
                  <a:spLocks/>
                </p:cNvSpPr>
                <p:nvPr/>
              </p:nvSpPr>
              <p:spPr bwMode="auto">
                <a:xfrm>
                  <a:off x="2018" y="3760"/>
                  <a:ext cx="6" cy="8"/>
                </a:xfrm>
                <a:custGeom>
                  <a:avLst/>
                  <a:gdLst>
                    <a:gd name="T0" fmla="*/ 0 w 4"/>
                    <a:gd name="T1" fmla="*/ 256 h 4"/>
                    <a:gd name="T2" fmla="*/ 0 w 4"/>
                    <a:gd name="T3" fmla="*/ 0 h 4"/>
                    <a:gd name="T4" fmla="*/ 48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54" name="Line 179"/>
                <p:cNvSpPr>
                  <a:spLocks noChangeShapeType="1"/>
                </p:cNvSpPr>
                <p:nvPr/>
              </p:nvSpPr>
              <p:spPr bwMode="auto">
                <a:xfrm>
                  <a:off x="2024" y="376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55" name="Freeform 180"/>
                <p:cNvSpPr>
                  <a:spLocks/>
                </p:cNvSpPr>
                <p:nvPr/>
              </p:nvSpPr>
              <p:spPr bwMode="auto">
                <a:xfrm>
                  <a:off x="2024" y="3760"/>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56" name="Freeform 181"/>
                <p:cNvSpPr>
                  <a:spLocks/>
                </p:cNvSpPr>
                <p:nvPr/>
              </p:nvSpPr>
              <p:spPr bwMode="auto">
                <a:xfrm>
                  <a:off x="2031" y="3750"/>
                  <a:ext cx="0" cy="10"/>
                </a:xfrm>
                <a:custGeom>
                  <a:avLst/>
                  <a:gdLst>
                    <a:gd name="T0" fmla="*/ 320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57" name="Line 182"/>
                <p:cNvSpPr>
                  <a:spLocks noChangeShapeType="1"/>
                </p:cNvSpPr>
                <p:nvPr/>
              </p:nvSpPr>
              <p:spPr bwMode="auto">
                <a:xfrm>
                  <a:off x="2031" y="3750"/>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58" name="Line 183"/>
                <p:cNvSpPr>
                  <a:spLocks noChangeShapeType="1"/>
                </p:cNvSpPr>
                <p:nvPr/>
              </p:nvSpPr>
              <p:spPr bwMode="auto">
                <a:xfrm>
                  <a:off x="2037" y="3750"/>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59" name="Freeform 184"/>
                <p:cNvSpPr>
                  <a:spLocks/>
                </p:cNvSpPr>
                <p:nvPr/>
              </p:nvSpPr>
              <p:spPr bwMode="auto">
                <a:xfrm>
                  <a:off x="2043" y="3742"/>
                  <a:ext cx="0" cy="8"/>
                </a:xfrm>
                <a:custGeom>
                  <a:avLst/>
                  <a:gdLst>
                    <a:gd name="T0" fmla="*/ 256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60" name="Freeform 185"/>
                <p:cNvSpPr>
                  <a:spLocks/>
                </p:cNvSpPr>
                <p:nvPr/>
              </p:nvSpPr>
              <p:spPr bwMode="auto">
                <a:xfrm>
                  <a:off x="2043" y="3742"/>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61" name="Line 186"/>
                <p:cNvSpPr>
                  <a:spLocks noChangeShapeType="1"/>
                </p:cNvSpPr>
                <p:nvPr/>
              </p:nvSpPr>
              <p:spPr bwMode="auto">
                <a:xfrm>
                  <a:off x="2050" y="374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62" name="Freeform 187"/>
                <p:cNvSpPr>
                  <a:spLocks/>
                </p:cNvSpPr>
                <p:nvPr/>
              </p:nvSpPr>
              <p:spPr bwMode="auto">
                <a:xfrm>
                  <a:off x="2050" y="3734"/>
                  <a:ext cx="6" cy="8"/>
                </a:xfrm>
                <a:custGeom>
                  <a:avLst/>
                  <a:gdLst>
                    <a:gd name="T0" fmla="*/ 0 w 4"/>
                    <a:gd name="T1" fmla="*/ 256 h 4"/>
                    <a:gd name="T2" fmla="*/ 0 w 4"/>
                    <a:gd name="T3" fmla="*/ 0 h 4"/>
                    <a:gd name="T4" fmla="*/ 48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63" name="Line 188"/>
                <p:cNvSpPr>
                  <a:spLocks noChangeShapeType="1"/>
                </p:cNvSpPr>
                <p:nvPr/>
              </p:nvSpPr>
              <p:spPr bwMode="auto">
                <a:xfrm>
                  <a:off x="2056" y="373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64" name="Line 189"/>
                <p:cNvSpPr>
                  <a:spLocks noChangeShapeType="1"/>
                </p:cNvSpPr>
                <p:nvPr/>
              </p:nvSpPr>
              <p:spPr bwMode="auto">
                <a:xfrm>
                  <a:off x="2062" y="373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65" name="Freeform 190"/>
                <p:cNvSpPr>
                  <a:spLocks/>
                </p:cNvSpPr>
                <p:nvPr/>
              </p:nvSpPr>
              <p:spPr bwMode="auto">
                <a:xfrm>
                  <a:off x="2062" y="3724"/>
                  <a:ext cx="7" cy="10"/>
                </a:xfrm>
                <a:custGeom>
                  <a:avLst/>
                  <a:gdLst>
                    <a:gd name="T0" fmla="*/ 0 w 5"/>
                    <a:gd name="T1" fmla="*/ 320 h 5"/>
                    <a:gd name="T2" fmla="*/ 0 w 5"/>
                    <a:gd name="T3" fmla="*/ 0 h 5"/>
                    <a:gd name="T4" fmla="*/ 39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66" name="Line 191"/>
                <p:cNvSpPr>
                  <a:spLocks noChangeShapeType="1"/>
                </p:cNvSpPr>
                <p:nvPr/>
              </p:nvSpPr>
              <p:spPr bwMode="auto">
                <a:xfrm>
                  <a:off x="2069" y="372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67" name="Freeform 192"/>
                <p:cNvSpPr>
                  <a:spLocks/>
                </p:cNvSpPr>
                <p:nvPr/>
              </p:nvSpPr>
              <p:spPr bwMode="auto">
                <a:xfrm>
                  <a:off x="2069" y="3716"/>
                  <a:ext cx="6" cy="8"/>
                </a:xfrm>
                <a:custGeom>
                  <a:avLst/>
                  <a:gdLst>
                    <a:gd name="T0" fmla="*/ 0 w 4"/>
                    <a:gd name="T1" fmla="*/ 256 h 4"/>
                    <a:gd name="T2" fmla="*/ 0 w 4"/>
                    <a:gd name="T3" fmla="*/ 0 h 4"/>
                    <a:gd name="T4" fmla="*/ 48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68" name="Line 193"/>
                <p:cNvSpPr>
                  <a:spLocks noChangeShapeType="1"/>
                </p:cNvSpPr>
                <p:nvPr/>
              </p:nvSpPr>
              <p:spPr bwMode="auto">
                <a:xfrm>
                  <a:off x="2075" y="371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69" name="Line 194"/>
                <p:cNvSpPr>
                  <a:spLocks noChangeShapeType="1"/>
                </p:cNvSpPr>
                <p:nvPr/>
              </p:nvSpPr>
              <p:spPr bwMode="auto">
                <a:xfrm>
                  <a:off x="2075" y="3716"/>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70" name="Freeform 195"/>
                <p:cNvSpPr>
                  <a:spLocks/>
                </p:cNvSpPr>
                <p:nvPr/>
              </p:nvSpPr>
              <p:spPr bwMode="auto">
                <a:xfrm>
                  <a:off x="2080" y="3707"/>
                  <a:ext cx="7" cy="9"/>
                </a:xfrm>
                <a:custGeom>
                  <a:avLst/>
                  <a:gdLst>
                    <a:gd name="T0" fmla="*/ 0 w 5"/>
                    <a:gd name="T1" fmla="*/ 511 h 4"/>
                    <a:gd name="T2" fmla="*/ 39 w 5"/>
                    <a:gd name="T3" fmla="*/ 0 h 4"/>
                    <a:gd name="T4" fmla="*/ 39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71" name="Line 196"/>
                <p:cNvSpPr>
                  <a:spLocks noChangeShapeType="1"/>
                </p:cNvSpPr>
                <p:nvPr/>
              </p:nvSpPr>
              <p:spPr bwMode="auto">
                <a:xfrm>
                  <a:off x="2087" y="370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72" name="Freeform 197"/>
                <p:cNvSpPr>
                  <a:spLocks/>
                </p:cNvSpPr>
                <p:nvPr/>
              </p:nvSpPr>
              <p:spPr bwMode="auto">
                <a:xfrm>
                  <a:off x="2087" y="3697"/>
                  <a:ext cx="6" cy="10"/>
                </a:xfrm>
                <a:custGeom>
                  <a:avLst/>
                  <a:gdLst>
                    <a:gd name="T0" fmla="*/ 0 w 4"/>
                    <a:gd name="T1" fmla="*/ 320 h 5"/>
                    <a:gd name="T2" fmla="*/ 0 w 4"/>
                    <a:gd name="T3" fmla="*/ 0 h 5"/>
                    <a:gd name="T4" fmla="*/ 48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73" name="Line 198"/>
                <p:cNvSpPr>
                  <a:spLocks noChangeShapeType="1"/>
                </p:cNvSpPr>
                <p:nvPr/>
              </p:nvSpPr>
              <p:spPr bwMode="auto">
                <a:xfrm>
                  <a:off x="2093" y="369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74" name="Freeform 199"/>
                <p:cNvSpPr>
                  <a:spLocks/>
                </p:cNvSpPr>
                <p:nvPr/>
              </p:nvSpPr>
              <p:spPr bwMode="auto">
                <a:xfrm>
                  <a:off x="2093" y="3689"/>
                  <a:ext cx="6" cy="8"/>
                </a:xfrm>
                <a:custGeom>
                  <a:avLst/>
                  <a:gdLst>
                    <a:gd name="T0" fmla="*/ 0 w 4"/>
                    <a:gd name="T1" fmla="*/ 256 h 4"/>
                    <a:gd name="T2" fmla="*/ 0 w 4"/>
                    <a:gd name="T3" fmla="*/ 0 h 4"/>
                    <a:gd name="T4" fmla="*/ 48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75" name="Line 200"/>
                <p:cNvSpPr>
                  <a:spLocks noChangeShapeType="1"/>
                </p:cNvSpPr>
                <p:nvPr/>
              </p:nvSpPr>
              <p:spPr bwMode="auto">
                <a:xfrm>
                  <a:off x="2099" y="3689"/>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76" name="Freeform 201"/>
                <p:cNvSpPr>
                  <a:spLocks/>
                </p:cNvSpPr>
                <p:nvPr/>
              </p:nvSpPr>
              <p:spPr bwMode="auto">
                <a:xfrm>
                  <a:off x="2106" y="3679"/>
                  <a:ext cx="0" cy="10"/>
                </a:xfrm>
                <a:custGeom>
                  <a:avLst/>
                  <a:gdLst>
                    <a:gd name="T0" fmla="*/ 320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77" name="Freeform 202"/>
                <p:cNvSpPr>
                  <a:spLocks/>
                </p:cNvSpPr>
                <p:nvPr/>
              </p:nvSpPr>
              <p:spPr bwMode="auto">
                <a:xfrm>
                  <a:off x="2106" y="3679"/>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78" name="Line 203"/>
                <p:cNvSpPr>
                  <a:spLocks noChangeShapeType="1"/>
                </p:cNvSpPr>
                <p:nvPr/>
              </p:nvSpPr>
              <p:spPr bwMode="auto">
                <a:xfrm>
                  <a:off x="2112" y="36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79" name="Freeform 204"/>
                <p:cNvSpPr>
                  <a:spLocks/>
                </p:cNvSpPr>
                <p:nvPr/>
              </p:nvSpPr>
              <p:spPr bwMode="auto">
                <a:xfrm>
                  <a:off x="2112" y="3671"/>
                  <a:ext cx="7" cy="8"/>
                </a:xfrm>
                <a:custGeom>
                  <a:avLst/>
                  <a:gdLst>
                    <a:gd name="T0" fmla="*/ 0 w 5"/>
                    <a:gd name="T1" fmla="*/ 256 h 4"/>
                    <a:gd name="T2" fmla="*/ 0 w 5"/>
                    <a:gd name="T3" fmla="*/ 0 h 4"/>
                    <a:gd name="T4" fmla="*/ 39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80" name="Line 205"/>
                <p:cNvSpPr>
                  <a:spLocks noChangeShapeType="1"/>
                </p:cNvSpPr>
                <p:nvPr/>
              </p:nvSpPr>
              <p:spPr bwMode="auto">
                <a:xfrm>
                  <a:off x="2119" y="367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81" name="Line 206"/>
                <p:cNvSpPr>
                  <a:spLocks noChangeShapeType="1"/>
                </p:cNvSpPr>
                <p:nvPr/>
              </p:nvSpPr>
              <p:spPr bwMode="auto">
                <a:xfrm flipV="1">
                  <a:off x="2119" y="3663"/>
                  <a:ext cx="6"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82" name="Line 207"/>
                <p:cNvSpPr>
                  <a:spLocks noChangeShapeType="1"/>
                </p:cNvSpPr>
                <p:nvPr/>
              </p:nvSpPr>
              <p:spPr bwMode="auto">
                <a:xfrm flipV="1">
                  <a:off x="2125" y="3653"/>
                  <a:ext cx="6" cy="1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9583" name="Group 208"/>
                <p:cNvGrpSpPr>
                  <a:grpSpLocks/>
                </p:cNvGrpSpPr>
                <p:nvPr/>
              </p:nvGrpSpPr>
              <p:grpSpPr bwMode="auto">
                <a:xfrm>
                  <a:off x="2131" y="1802"/>
                  <a:ext cx="724" cy="1851"/>
                  <a:chOff x="2629" y="763"/>
                  <a:chExt cx="504" cy="911"/>
                </a:xfrm>
              </p:grpSpPr>
              <p:sp>
                <p:nvSpPr>
                  <p:cNvPr id="9998" name="Line 209"/>
                  <p:cNvSpPr>
                    <a:spLocks noChangeShapeType="1"/>
                  </p:cNvSpPr>
                  <p:nvPr/>
                </p:nvSpPr>
                <p:spPr bwMode="auto">
                  <a:xfrm>
                    <a:off x="2629" y="16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99" name="Freeform 210"/>
                  <p:cNvSpPr>
                    <a:spLocks/>
                  </p:cNvSpPr>
                  <p:nvPr/>
                </p:nvSpPr>
                <p:spPr bwMode="auto">
                  <a:xfrm>
                    <a:off x="2629" y="1670"/>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00" name="Line 211"/>
                  <p:cNvSpPr>
                    <a:spLocks noChangeShapeType="1"/>
                  </p:cNvSpPr>
                  <p:nvPr/>
                </p:nvSpPr>
                <p:spPr bwMode="auto">
                  <a:xfrm>
                    <a:off x="2634" y="16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01" name="Freeform 212"/>
                  <p:cNvSpPr>
                    <a:spLocks/>
                  </p:cNvSpPr>
                  <p:nvPr/>
                </p:nvSpPr>
                <p:spPr bwMode="auto">
                  <a:xfrm>
                    <a:off x="2634" y="1666"/>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02" name="Line 213"/>
                  <p:cNvSpPr>
                    <a:spLocks noChangeShapeType="1"/>
                  </p:cNvSpPr>
                  <p:nvPr/>
                </p:nvSpPr>
                <p:spPr bwMode="auto">
                  <a:xfrm>
                    <a:off x="2638" y="166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03" name="Freeform 214"/>
                  <p:cNvSpPr>
                    <a:spLocks/>
                  </p:cNvSpPr>
                  <p:nvPr/>
                </p:nvSpPr>
                <p:spPr bwMode="auto">
                  <a:xfrm>
                    <a:off x="2642" y="1661"/>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04" name="Freeform 215"/>
                  <p:cNvSpPr>
                    <a:spLocks/>
                  </p:cNvSpPr>
                  <p:nvPr/>
                </p:nvSpPr>
                <p:spPr bwMode="auto">
                  <a:xfrm>
                    <a:off x="2642" y="16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05" name="Line 216"/>
                  <p:cNvSpPr>
                    <a:spLocks noChangeShapeType="1"/>
                  </p:cNvSpPr>
                  <p:nvPr/>
                </p:nvSpPr>
                <p:spPr bwMode="auto">
                  <a:xfrm flipV="1">
                    <a:off x="2647" y="165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06" name="Freeform 217"/>
                  <p:cNvSpPr>
                    <a:spLocks/>
                  </p:cNvSpPr>
                  <p:nvPr/>
                </p:nvSpPr>
                <p:spPr bwMode="auto">
                  <a:xfrm>
                    <a:off x="2647" y="1653"/>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07" name="Line 218"/>
                  <p:cNvSpPr>
                    <a:spLocks noChangeShapeType="1"/>
                  </p:cNvSpPr>
                  <p:nvPr/>
                </p:nvSpPr>
                <p:spPr bwMode="auto">
                  <a:xfrm>
                    <a:off x="2651" y="16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08" name="Freeform 219"/>
                  <p:cNvSpPr>
                    <a:spLocks/>
                  </p:cNvSpPr>
                  <p:nvPr/>
                </p:nvSpPr>
                <p:spPr bwMode="auto">
                  <a:xfrm>
                    <a:off x="2651" y="1648"/>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09" name="Line 220"/>
                  <p:cNvSpPr>
                    <a:spLocks noChangeShapeType="1"/>
                  </p:cNvSpPr>
                  <p:nvPr/>
                </p:nvSpPr>
                <p:spPr bwMode="auto">
                  <a:xfrm>
                    <a:off x="2655" y="16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10" name="Line 221"/>
                  <p:cNvSpPr>
                    <a:spLocks noChangeShapeType="1"/>
                  </p:cNvSpPr>
                  <p:nvPr/>
                </p:nvSpPr>
                <p:spPr bwMode="auto">
                  <a:xfrm flipV="1">
                    <a:off x="2660" y="164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11" name="Freeform 222"/>
                  <p:cNvSpPr>
                    <a:spLocks/>
                  </p:cNvSpPr>
                  <p:nvPr/>
                </p:nvSpPr>
                <p:spPr bwMode="auto">
                  <a:xfrm>
                    <a:off x="2660" y="1640"/>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12" name="Line 223"/>
                  <p:cNvSpPr>
                    <a:spLocks noChangeShapeType="1"/>
                  </p:cNvSpPr>
                  <p:nvPr/>
                </p:nvSpPr>
                <p:spPr bwMode="auto">
                  <a:xfrm>
                    <a:off x="2664" y="164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13" name="Line 224"/>
                  <p:cNvSpPr>
                    <a:spLocks noChangeShapeType="1"/>
                  </p:cNvSpPr>
                  <p:nvPr/>
                </p:nvSpPr>
                <p:spPr bwMode="auto">
                  <a:xfrm flipV="1">
                    <a:off x="2664" y="163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14" name="Line 225"/>
                  <p:cNvSpPr>
                    <a:spLocks noChangeShapeType="1"/>
                  </p:cNvSpPr>
                  <p:nvPr/>
                </p:nvSpPr>
                <p:spPr bwMode="auto">
                  <a:xfrm flipV="1">
                    <a:off x="2668" y="1631"/>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15" name="Line 226"/>
                  <p:cNvSpPr>
                    <a:spLocks noChangeShapeType="1"/>
                  </p:cNvSpPr>
                  <p:nvPr/>
                </p:nvSpPr>
                <p:spPr bwMode="auto">
                  <a:xfrm>
                    <a:off x="2673" y="163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16" name="Freeform 227"/>
                  <p:cNvSpPr>
                    <a:spLocks/>
                  </p:cNvSpPr>
                  <p:nvPr/>
                </p:nvSpPr>
                <p:spPr bwMode="auto">
                  <a:xfrm>
                    <a:off x="2673" y="1627"/>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17" name="Line 228"/>
                  <p:cNvSpPr>
                    <a:spLocks noChangeShapeType="1"/>
                  </p:cNvSpPr>
                  <p:nvPr/>
                </p:nvSpPr>
                <p:spPr bwMode="auto">
                  <a:xfrm flipV="1">
                    <a:off x="2677" y="162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18" name="Freeform 229"/>
                  <p:cNvSpPr>
                    <a:spLocks/>
                  </p:cNvSpPr>
                  <p:nvPr/>
                </p:nvSpPr>
                <p:spPr bwMode="auto">
                  <a:xfrm>
                    <a:off x="2677" y="161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19" name="Line 230"/>
                  <p:cNvSpPr>
                    <a:spLocks noChangeShapeType="1"/>
                  </p:cNvSpPr>
                  <p:nvPr/>
                </p:nvSpPr>
                <p:spPr bwMode="auto">
                  <a:xfrm>
                    <a:off x="2681" y="161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20" name="Line 231"/>
                  <p:cNvSpPr>
                    <a:spLocks noChangeShapeType="1"/>
                  </p:cNvSpPr>
                  <p:nvPr/>
                </p:nvSpPr>
                <p:spPr bwMode="auto">
                  <a:xfrm flipV="1">
                    <a:off x="2681" y="161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21" name="Line 232"/>
                  <p:cNvSpPr>
                    <a:spLocks noChangeShapeType="1"/>
                  </p:cNvSpPr>
                  <p:nvPr/>
                </p:nvSpPr>
                <p:spPr bwMode="auto">
                  <a:xfrm flipV="1">
                    <a:off x="2686" y="160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22" name="Line 233"/>
                  <p:cNvSpPr>
                    <a:spLocks noChangeShapeType="1"/>
                  </p:cNvSpPr>
                  <p:nvPr/>
                </p:nvSpPr>
                <p:spPr bwMode="auto">
                  <a:xfrm>
                    <a:off x="2690" y="160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23" name="Freeform 234"/>
                  <p:cNvSpPr>
                    <a:spLocks/>
                  </p:cNvSpPr>
                  <p:nvPr/>
                </p:nvSpPr>
                <p:spPr bwMode="auto">
                  <a:xfrm>
                    <a:off x="2690" y="1605"/>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24" name="Line 235"/>
                  <p:cNvSpPr>
                    <a:spLocks noChangeShapeType="1"/>
                  </p:cNvSpPr>
                  <p:nvPr/>
                </p:nvSpPr>
                <p:spPr bwMode="auto">
                  <a:xfrm flipV="1">
                    <a:off x="2694" y="160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25" name="Line 236"/>
                  <p:cNvSpPr>
                    <a:spLocks noChangeShapeType="1"/>
                  </p:cNvSpPr>
                  <p:nvPr/>
                </p:nvSpPr>
                <p:spPr bwMode="auto">
                  <a:xfrm flipV="1">
                    <a:off x="2694" y="1596"/>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26" name="Line 237"/>
                  <p:cNvSpPr>
                    <a:spLocks noChangeShapeType="1"/>
                  </p:cNvSpPr>
                  <p:nvPr/>
                </p:nvSpPr>
                <p:spPr bwMode="auto">
                  <a:xfrm flipV="1">
                    <a:off x="2699" y="1592"/>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27" name="Line 238"/>
                  <p:cNvSpPr>
                    <a:spLocks noChangeShapeType="1"/>
                  </p:cNvSpPr>
                  <p:nvPr/>
                </p:nvSpPr>
                <p:spPr bwMode="auto">
                  <a:xfrm>
                    <a:off x="2703" y="159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28" name="Freeform 239"/>
                  <p:cNvSpPr>
                    <a:spLocks/>
                  </p:cNvSpPr>
                  <p:nvPr/>
                </p:nvSpPr>
                <p:spPr bwMode="auto">
                  <a:xfrm>
                    <a:off x="2703" y="1588"/>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29" name="Line 240"/>
                  <p:cNvSpPr>
                    <a:spLocks noChangeShapeType="1"/>
                  </p:cNvSpPr>
                  <p:nvPr/>
                </p:nvSpPr>
                <p:spPr bwMode="auto">
                  <a:xfrm flipV="1">
                    <a:off x="2707" y="15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30" name="Freeform 241"/>
                  <p:cNvSpPr>
                    <a:spLocks/>
                  </p:cNvSpPr>
                  <p:nvPr/>
                </p:nvSpPr>
                <p:spPr bwMode="auto">
                  <a:xfrm>
                    <a:off x="2707" y="1579"/>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31" name="Line 242"/>
                  <p:cNvSpPr>
                    <a:spLocks noChangeShapeType="1"/>
                  </p:cNvSpPr>
                  <p:nvPr/>
                </p:nvSpPr>
                <p:spPr bwMode="auto">
                  <a:xfrm flipV="1">
                    <a:off x="2712" y="15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32" name="Line 243"/>
                  <p:cNvSpPr>
                    <a:spLocks noChangeShapeType="1"/>
                  </p:cNvSpPr>
                  <p:nvPr/>
                </p:nvSpPr>
                <p:spPr bwMode="auto">
                  <a:xfrm flipV="1">
                    <a:off x="2712" y="157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33" name="Line 244"/>
                  <p:cNvSpPr>
                    <a:spLocks noChangeShapeType="1"/>
                  </p:cNvSpPr>
                  <p:nvPr/>
                </p:nvSpPr>
                <p:spPr bwMode="auto">
                  <a:xfrm>
                    <a:off x="2716" y="15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34" name="Line 245"/>
                  <p:cNvSpPr>
                    <a:spLocks noChangeShapeType="1"/>
                  </p:cNvSpPr>
                  <p:nvPr/>
                </p:nvSpPr>
                <p:spPr bwMode="auto">
                  <a:xfrm flipV="1">
                    <a:off x="2720" y="156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35" name="Freeform 246"/>
                  <p:cNvSpPr>
                    <a:spLocks/>
                  </p:cNvSpPr>
                  <p:nvPr/>
                </p:nvSpPr>
                <p:spPr bwMode="auto">
                  <a:xfrm>
                    <a:off x="2720" y="1562"/>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36" name="Line 247"/>
                  <p:cNvSpPr>
                    <a:spLocks noChangeShapeType="1"/>
                  </p:cNvSpPr>
                  <p:nvPr/>
                </p:nvSpPr>
                <p:spPr bwMode="auto">
                  <a:xfrm flipV="1">
                    <a:off x="2725" y="15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37" name="Line 248"/>
                  <p:cNvSpPr>
                    <a:spLocks noChangeShapeType="1"/>
                  </p:cNvSpPr>
                  <p:nvPr/>
                </p:nvSpPr>
                <p:spPr bwMode="auto">
                  <a:xfrm flipV="1">
                    <a:off x="2725" y="155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38" name="Line 249"/>
                  <p:cNvSpPr>
                    <a:spLocks noChangeShapeType="1"/>
                  </p:cNvSpPr>
                  <p:nvPr/>
                </p:nvSpPr>
                <p:spPr bwMode="auto">
                  <a:xfrm flipV="1">
                    <a:off x="2729" y="154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39" name="Line 250"/>
                  <p:cNvSpPr>
                    <a:spLocks noChangeShapeType="1"/>
                  </p:cNvSpPr>
                  <p:nvPr/>
                </p:nvSpPr>
                <p:spPr bwMode="auto">
                  <a:xfrm flipV="1">
                    <a:off x="2733" y="1544"/>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40" name="Freeform 251"/>
                  <p:cNvSpPr>
                    <a:spLocks/>
                  </p:cNvSpPr>
                  <p:nvPr/>
                </p:nvSpPr>
                <p:spPr bwMode="auto">
                  <a:xfrm>
                    <a:off x="2733" y="1540"/>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41" name="Line 252"/>
                  <p:cNvSpPr>
                    <a:spLocks noChangeShapeType="1"/>
                  </p:cNvSpPr>
                  <p:nvPr/>
                </p:nvSpPr>
                <p:spPr bwMode="auto">
                  <a:xfrm flipV="1">
                    <a:off x="2738" y="15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42" name="Freeform 253"/>
                  <p:cNvSpPr>
                    <a:spLocks/>
                  </p:cNvSpPr>
                  <p:nvPr/>
                </p:nvSpPr>
                <p:spPr bwMode="auto">
                  <a:xfrm>
                    <a:off x="2738" y="1531"/>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43" name="Line 254"/>
                  <p:cNvSpPr>
                    <a:spLocks noChangeShapeType="1"/>
                  </p:cNvSpPr>
                  <p:nvPr/>
                </p:nvSpPr>
                <p:spPr bwMode="auto">
                  <a:xfrm flipV="1">
                    <a:off x="2742" y="152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44" name="Line 255"/>
                  <p:cNvSpPr>
                    <a:spLocks noChangeShapeType="1"/>
                  </p:cNvSpPr>
                  <p:nvPr/>
                </p:nvSpPr>
                <p:spPr bwMode="auto">
                  <a:xfrm flipV="1">
                    <a:off x="2742" y="152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45" name="Line 256"/>
                  <p:cNvSpPr>
                    <a:spLocks noChangeShapeType="1"/>
                  </p:cNvSpPr>
                  <p:nvPr/>
                </p:nvSpPr>
                <p:spPr bwMode="auto">
                  <a:xfrm flipV="1">
                    <a:off x="2746" y="1518"/>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46" name="Line 257"/>
                  <p:cNvSpPr>
                    <a:spLocks noChangeShapeType="1"/>
                  </p:cNvSpPr>
                  <p:nvPr/>
                </p:nvSpPr>
                <p:spPr bwMode="auto">
                  <a:xfrm flipV="1">
                    <a:off x="2751" y="15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47" name="Freeform 258"/>
                  <p:cNvSpPr>
                    <a:spLocks/>
                  </p:cNvSpPr>
                  <p:nvPr/>
                </p:nvSpPr>
                <p:spPr bwMode="auto">
                  <a:xfrm>
                    <a:off x="2751" y="1510"/>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48" name="Line 259"/>
                  <p:cNvSpPr>
                    <a:spLocks noChangeShapeType="1"/>
                  </p:cNvSpPr>
                  <p:nvPr/>
                </p:nvSpPr>
                <p:spPr bwMode="auto">
                  <a:xfrm flipV="1">
                    <a:off x="2755" y="1505"/>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49" name="Line 260"/>
                  <p:cNvSpPr>
                    <a:spLocks noChangeShapeType="1"/>
                  </p:cNvSpPr>
                  <p:nvPr/>
                </p:nvSpPr>
                <p:spPr bwMode="auto">
                  <a:xfrm flipV="1">
                    <a:off x="2755" y="1501"/>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50" name="Line 261"/>
                  <p:cNvSpPr>
                    <a:spLocks noChangeShapeType="1"/>
                  </p:cNvSpPr>
                  <p:nvPr/>
                </p:nvSpPr>
                <p:spPr bwMode="auto">
                  <a:xfrm flipV="1">
                    <a:off x="2759" y="1497"/>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51" name="Line 262"/>
                  <p:cNvSpPr>
                    <a:spLocks noChangeShapeType="1"/>
                  </p:cNvSpPr>
                  <p:nvPr/>
                </p:nvSpPr>
                <p:spPr bwMode="auto">
                  <a:xfrm flipV="1">
                    <a:off x="2764" y="149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52" name="Freeform 263"/>
                  <p:cNvSpPr>
                    <a:spLocks/>
                  </p:cNvSpPr>
                  <p:nvPr/>
                </p:nvSpPr>
                <p:spPr bwMode="auto">
                  <a:xfrm>
                    <a:off x="2764" y="148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53" name="Line 264"/>
                  <p:cNvSpPr>
                    <a:spLocks noChangeShapeType="1"/>
                  </p:cNvSpPr>
                  <p:nvPr/>
                </p:nvSpPr>
                <p:spPr bwMode="auto">
                  <a:xfrm flipV="1">
                    <a:off x="2768" y="14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54" name="Freeform 265"/>
                  <p:cNvSpPr>
                    <a:spLocks/>
                  </p:cNvSpPr>
                  <p:nvPr/>
                </p:nvSpPr>
                <p:spPr bwMode="auto">
                  <a:xfrm>
                    <a:off x="2768" y="1479"/>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55" name="Line 266"/>
                  <p:cNvSpPr>
                    <a:spLocks noChangeShapeType="1"/>
                  </p:cNvSpPr>
                  <p:nvPr/>
                </p:nvSpPr>
                <p:spPr bwMode="auto">
                  <a:xfrm flipV="1">
                    <a:off x="2772" y="14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56" name="Line 267"/>
                  <p:cNvSpPr>
                    <a:spLocks noChangeShapeType="1"/>
                  </p:cNvSpPr>
                  <p:nvPr/>
                </p:nvSpPr>
                <p:spPr bwMode="auto">
                  <a:xfrm flipV="1">
                    <a:off x="2772" y="1470"/>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57" name="Line 268"/>
                  <p:cNvSpPr>
                    <a:spLocks noChangeShapeType="1"/>
                  </p:cNvSpPr>
                  <p:nvPr/>
                </p:nvSpPr>
                <p:spPr bwMode="auto">
                  <a:xfrm flipV="1">
                    <a:off x="2777" y="146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58" name="Line 269"/>
                  <p:cNvSpPr>
                    <a:spLocks noChangeShapeType="1"/>
                  </p:cNvSpPr>
                  <p:nvPr/>
                </p:nvSpPr>
                <p:spPr bwMode="auto">
                  <a:xfrm flipV="1">
                    <a:off x="2781" y="14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59" name="Freeform 270"/>
                  <p:cNvSpPr>
                    <a:spLocks/>
                  </p:cNvSpPr>
                  <p:nvPr/>
                </p:nvSpPr>
                <p:spPr bwMode="auto">
                  <a:xfrm>
                    <a:off x="2781" y="1453"/>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60" name="Line 271"/>
                  <p:cNvSpPr>
                    <a:spLocks noChangeShapeType="1"/>
                  </p:cNvSpPr>
                  <p:nvPr/>
                </p:nvSpPr>
                <p:spPr bwMode="auto">
                  <a:xfrm flipV="1">
                    <a:off x="2785" y="14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61" name="Line 272"/>
                  <p:cNvSpPr>
                    <a:spLocks noChangeShapeType="1"/>
                  </p:cNvSpPr>
                  <p:nvPr/>
                </p:nvSpPr>
                <p:spPr bwMode="auto">
                  <a:xfrm flipV="1">
                    <a:off x="2785" y="144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62" name="Line 273"/>
                  <p:cNvSpPr>
                    <a:spLocks noChangeShapeType="1"/>
                  </p:cNvSpPr>
                  <p:nvPr/>
                </p:nvSpPr>
                <p:spPr bwMode="auto">
                  <a:xfrm flipV="1">
                    <a:off x="2790" y="144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63" name="Line 274"/>
                  <p:cNvSpPr>
                    <a:spLocks noChangeShapeType="1"/>
                  </p:cNvSpPr>
                  <p:nvPr/>
                </p:nvSpPr>
                <p:spPr bwMode="auto">
                  <a:xfrm flipV="1">
                    <a:off x="2794" y="14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64" name="Freeform 275"/>
                  <p:cNvSpPr>
                    <a:spLocks/>
                  </p:cNvSpPr>
                  <p:nvPr/>
                </p:nvSpPr>
                <p:spPr bwMode="auto">
                  <a:xfrm>
                    <a:off x="2794" y="1427"/>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65" name="Line 276"/>
                  <p:cNvSpPr>
                    <a:spLocks noChangeShapeType="1"/>
                  </p:cNvSpPr>
                  <p:nvPr/>
                </p:nvSpPr>
                <p:spPr bwMode="auto">
                  <a:xfrm flipV="1">
                    <a:off x="2798" y="142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66" name="Freeform 277"/>
                  <p:cNvSpPr>
                    <a:spLocks/>
                  </p:cNvSpPr>
                  <p:nvPr/>
                </p:nvSpPr>
                <p:spPr bwMode="auto">
                  <a:xfrm>
                    <a:off x="2798" y="1418"/>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67" name="Line 278"/>
                  <p:cNvSpPr>
                    <a:spLocks noChangeShapeType="1"/>
                  </p:cNvSpPr>
                  <p:nvPr/>
                </p:nvSpPr>
                <p:spPr bwMode="auto">
                  <a:xfrm flipV="1">
                    <a:off x="2803" y="14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68" name="Line 279"/>
                  <p:cNvSpPr>
                    <a:spLocks noChangeShapeType="1"/>
                  </p:cNvSpPr>
                  <p:nvPr/>
                </p:nvSpPr>
                <p:spPr bwMode="auto">
                  <a:xfrm flipV="1">
                    <a:off x="2803" y="14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69" name="Line 280"/>
                  <p:cNvSpPr>
                    <a:spLocks noChangeShapeType="1"/>
                  </p:cNvSpPr>
                  <p:nvPr/>
                </p:nvSpPr>
                <p:spPr bwMode="auto">
                  <a:xfrm flipV="1">
                    <a:off x="2807" y="1401"/>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70" name="Line 281"/>
                  <p:cNvSpPr>
                    <a:spLocks noChangeShapeType="1"/>
                  </p:cNvSpPr>
                  <p:nvPr/>
                </p:nvSpPr>
                <p:spPr bwMode="auto">
                  <a:xfrm flipV="1">
                    <a:off x="2812" y="13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71" name="Freeform 282"/>
                  <p:cNvSpPr>
                    <a:spLocks/>
                  </p:cNvSpPr>
                  <p:nvPr/>
                </p:nvSpPr>
                <p:spPr bwMode="auto">
                  <a:xfrm>
                    <a:off x="2812" y="1392"/>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72" name="Line 283"/>
                  <p:cNvSpPr>
                    <a:spLocks noChangeShapeType="1"/>
                  </p:cNvSpPr>
                  <p:nvPr/>
                </p:nvSpPr>
                <p:spPr bwMode="auto">
                  <a:xfrm flipV="1">
                    <a:off x="2816" y="13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73" name="Line 284"/>
                  <p:cNvSpPr>
                    <a:spLocks noChangeShapeType="1"/>
                  </p:cNvSpPr>
                  <p:nvPr/>
                </p:nvSpPr>
                <p:spPr bwMode="auto">
                  <a:xfrm flipV="1">
                    <a:off x="2816" y="1379"/>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74" name="Line 285"/>
                  <p:cNvSpPr>
                    <a:spLocks noChangeShapeType="1"/>
                  </p:cNvSpPr>
                  <p:nvPr/>
                </p:nvSpPr>
                <p:spPr bwMode="auto">
                  <a:xfrm flipV="1">
                    <a:off x="2820" y="137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75" name="Line 286"/>
                  <p:cNvSpPr>
                    <a:spLocks noChangeShapeType="1"/>
                  </p:cNvSpPr>
                  <p:nvPr/>
                </p:nvSpPr>
                <p:spPr bwMode="auto">
                  <a:xfrm flipV="1">
                    <a:off x="2825" y="13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76" name="Freeform 287"/>
                  <p:cNvSpPr>
                    <a:spLocks/>
                  </p:cNvSpPr>
                  <p:nvPr/>
                </p:nvSpPr>
                <p:spPr bwMode="auto">
                  <a:xfrm>
                    <a:off x="2825" y="1362"/>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77" name="Line 288"/>
                  <p:cNvSpPr>
                    <a:spLocks noChangeShapeType="1"/>
                  </p:cNvSpPr>
                  <p:nvPr/>
                </p:nvSpPr>
                <p:spPr bwMode="auto">
                  <a:xfrm flipV="1">
                    <a:off x="2829" y="13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78" name="Freeform 289"/>
                  <p:cNvSpPr>
                    <a:spLocks/>
                  </p:cNvSpPr>
                  <p:nvPr/>
                </p:nvSpPr>
                <p:spPr bwMode="auto">
                  <a:xfrm>
                    <a:off x="2829" y="1353"/>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79" name="Line 290"/>
                  <p:cNvSpPr>
                    <a:spLocks noChangeShapeType="1"/>
                  </p:cNvSpPr>
                  <p:nvPr/>
                </p:nvSpPr>
                <p:spPr bwMode="auto">
                  <a:xfrm flipV="1">
                    <a:off x="2833" y="13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80" name="Line 291"/>
                  <p:cNvSpPr>
                    <a:spLocks noChangeShapeType="1"/>
                  </p:cNvSpPr>
                  <p:nvPr/>
                </p:nvSpPr>
                <p:spPr bwMode="auto">
                  <a:xfrm flipV="1">
                    <a:off x="2833" y="1340"/>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81" name="Line 292"/>
                  <p:cNvSpPr>
                    <a:spLocks noChangeShapeType="1"/>
                  </p:cNvSpPr>
                  <p:nvPr/>
                </p:nvSpPr>
                <p:spPr bwMode="auto">
                  <a:xfrm flipV="1">
                    <a:off x="2838" y="1336"/>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82" name="Line 293"/>
                  <p:cNvSpPr>
                    <a:spLocks noChangeShapeType="1"/>
                  </p:cNvSpPr>
                  <p:nvPr/>
                </p:nvSpPr>
                <p:spPr bwMode="auto">
                  <a:xfrm flipV="1">
                    <a:off x="2842" y="1332"/>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83" name="Freeform 294"/>
                  <p:cNvSpPr>
                    <a:spLocks/>
                  </p:cNvSpPr>
                  <p:nvPr/>
                </p:nvSpPr>
                <p:spPr bwMode="auto">
                  <a:xfrm>
                    <a:off x="2842" y="1323"/>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84" name="Line 295"/>
                  <p:cNvSpPr>
                    <a:spLocks noChangeShapeType="1"/>
                  </p:cNvSpPr>
                  <p:nvPr/>
                </p:nvSpPr>
                <p:spPr bwMode="auto">
                  <a:xfrm flipV="1">
                    <a:off x="2846" y="131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85" name="Line 296"/>
                  <p:cNvSpPr>
                    <a:spLocks noChangeShapeType="1"/>
                  </p:cNvSpPr>
                  <p:nvPr/>
                </p:nvSpPr>
                <p:spPr bwMode="auto">
                  <a:xfrm flipV="1">
                    <a:off x="2846" y="131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86" name="Line 297"/>
                  <p:cNvSpPr>
                    <a:spLocks noChangeShapeType="1"/>
                  </p:cNvSpPr>
                  <p:nvPr/>
                </p:nvSpPr>
                <p:spPr bwMode="auto">
                  <a:xfrm flipV="1">
                    <a:off x="2851" y="1306"/>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87" name="Line 298"/>
                  <p:cNvSpPr>
                    <a:spLocks noChangeShapeType="1"/>
                  </p:cNvSpPr>
                  <p:nvPr/>
                </p:nvSpPr>
                <p:spPr bwMode="auto">
                  <a:xfrm flipV="1">
                    <a:off x="2855" y="130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88" name="Freeform 299"/>
                  <p:cNvSpPr>
                    <a:spLocks/>
                  </p:cNvSpPr>
                  <p:nvPr/>
                </p:nvSpPr>
                <p:spPr bwMode="auto">
                  <a:xfrm>
                    <a:off x="2855" y="1292"/>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89" name="Line 300"/>
                  <p:cNvSpPr>
                    <a:spLocks noChangeShapeType="1"/>
                  </p:cNvSpPr>
                  <p:nvPr/>
                </p:nvSpPr>
                <p:spPr bwMode="auto">
                  <a:xfrm flipV="1">
                    <a:off x="2859" y="12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90" name="Line 301"/>
                  <p:cNvSpPr>
                    <a:spLocks noChangeShapeType="1"/>
                  </p:cNvSpPr>
                  <p:nvPr/>
                </p:nvSpPr>
                <p:spPr bwMode="auto">
                  <a:xfrm flipV="1">
                    <a:off x="2859" y="128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91" name="Line 302"/>
                  <p:cNvSpPr>
                    <a:spLocks noChangeShapeType="1"/>
                  </p:cNvSpPr>
                  <p:nvPr/>
                </p:nvSpPr>
                <p:spPr bwMode="auto">
                  <a:xfrm flipV="1">
                    <a:off x="2864" y="1275"/>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92" name="Line 303"/>
                  <p:cNvSpPr>
                    <a:spLocks noChangeShapeType="1"/>
                  </p:cNvSpPr>
                  <p:nvPr/>
                </p:nvSpPr>
                <p:spPr bwMode="auto">
                  <a:xfrm flipV="1">
                    <a:off x="2868" y="12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93" name="Freeform 304"/>
                  <p:cNvSpPr>
                    <a:spLocks/>
                  </p:cNvSpPr>
                  <p:nvPr/>
                </p:nvSpPr>
                <p:spPr bwMode="auto">
                  <a:xfrm>
                    <a:off x="2868" y="1262"/>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94" name="Line 305"/>
                  <p:cNvSpPr>
                    <a:spLocks noChangeShapeType="1"/>
                  </p:cNvSpPr>
                  <p:nvPr/>
                </p:nvSpPr>
                <p:spPr bwMode="auto">
                  <a:xfrm flipV="1">
                    <a:off x="2872" y="12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95" name="Freeform 306"/>
                  <p:cNvSpPr>
                    <a:spLocks/>
                  </p:cNvSpPr>
                  <p:nvPr/>
                </p:nvSpPr>
                <p:spPr bwMode="auto">
                  <a:xfrm>
                    <a:off x="2872" y="1253"/>
                    <a:ext cx="5" cy="5"/>
                  </a:xfrm>
                  <a:custGeom>
                    <a:avLst/>
                    <a:gdLst>
                      <a:gd name="T0" fmla="*/ 0 w 5"/>
                      <a:gd name="T1" fmla="*/ 5 h 5"/>
                      <a:gd name="T2" fmla="*/ 0 w 5"/>
                      <a:gd name="T3" fmla="*/ 5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5"/>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096" name="Line 307"/>
                  <p:cNvSpPr>
                    <a:spLocks noChangeShapeType="1"/>
                  </p:cNvSpPr>
                  <p:nvPr/>
                </p:nvSpPr>
                <p:spPr bwMode="auto">
                  <a:xfrm flipV="1">
                    <a:off x="2877" y="1245"/>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97" name="Line 308"/>
                  <p:cNvSpPr>
                    <a:spLocks noChangeShapeType="1"/>
                  </p:cNvSpPr>
                  <p:nvPr/>
                </p:nvSpPr>
                <p:spPr bwMode="auto">
                  <a:xfrm flipV="1">
                    <a:off x="2877" y="124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98" name="Line 309"/>
                  <p:cNvSpPr>
                    <a:spLocks noChangeShapeType="1"/>
                  </p:cNvSpPr>
                  <p:nvPr/>
                </p:nvSpPr>
                <p:spPr bwMode="auto">
                  <a:xfrm flipV="1">
                    <a:off x="2881" y="123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099" name="Line 310"/>
                  <p:cNvSpPr>
                    <a:spLocks noChangeShapeType="1"/>
                  </p:cNvSpPr>
                  <p:nvPr/>
                </p:nvSpPr>
                <p:spPr bwMode="auto">
                  <a:xfrm flipV="1">
                    <a:off x="2885" y="122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00" name="Freeform 311"/>
                  <p:cNvSpPr>
                    <a:spLocks/>
                  </p:cNvSpPr>
                  <p:nvPr/>
                </p:nvSpPr>
                <p:spPr bwMode="auto">
                  <a:xfrm>
                    <a:off x="2885" y="1223"/>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01" name="Line 312"/>
                  <p:cNvSpPr>
                    <a:spLocks noChangeShapeType="1"/>
                  </p:cNvSpPr>
                  <p:nvPr/>
                </p:nvSpPr>
                <p:spPr bwMode="auto">
                  <a:xfrm flipV="1">
                    <a:off x="2890" y="121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02" name="Line 313"/>
                  <p:cNvSpPr>
                    <a:spLocks noChangeShapeType="1"/>
                  </p:cNvSpPr>
                  <p:nvPr/>
                </p:nvSpPr>
                <p:spPr bwMode="auto">
                  <a:xfrm flipV="1">
                    <a:off x="2890" y="12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03" name="Line 314"/>
                  <p:cNvSpPr>
                    <a:spLocks noChangeShapeType="1"/>
                  </p:cNvSpPr>
                  <p:nvPr/>
                </p:nvSpPr>
                <p:spPr bwMode="auto">
                  <a:xfrm flipV="1">
                    <a:off x="2894" y="1201"/>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04" name="Line 315"/>
                  <p:cNvSpPr>
                    <a:spLocks noChangeShapeType="1"/>
                  </p:cNvSpPr>
                  <p:nvPr/>
                </p:nvSpPr>
                <p:spPr bwMode="auto">
                  <a:xfrm flipV="1">
                    <a:off x="2898" y="11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05" name="Freeform 316"/>
                  <p:cNvSpPr>
                    <a:spLocks/>
                  </p:cNvSpPr>
                  <p:nvPr/>
                </p:nvSpPr>
                <p:spPr bwMode="auto">
                  <a:xfrm>
                    <a:off x="2898" y="1188"/>
                    <a:ext cx="5" cy="9"/>
                  </a:xfrm>
                  <a:custGeom>
                    <a:avLst/>
                    <a:gdLst>
                      <a:gd name="T0" fmla="*/ 0 w 5"/>
                      <a:gd name="T1" fmla="*/ 9 h 9"/>
                      <a:gd name="T2" fmla="*/ 0 w 5"/>
                      <a:gd name="T3" fmla="*/ 5 h 9"/>
                      <a:gd name="T4" fmla="*/ 5 w 5"/>
                      <a:gd name="T5" fmla="*/ 0 h 9"/>
                      <a:gd name="T6" fmla="*/ 0 60000 65536"/>
                      <a:gd name="T7" fmla="*/ 0 60000 65536"/>
                      <a:gd name="T8" fmla="*/ 0 60000 65536"/>
                    </a:gdLst>
                    <a:ahLst/>
                    <a:cxnLst>
                      <a:cxn ang="T6">
                        <a:pos x="T0" y="T1"/>
                      </a:cxn>
                      <a:cxn ang="T7">
                        <a:pos x="T2" y="T3"/>
                      </a:cxn>
                      <a:cxn ang="T8">
                        <a:pos x="T4" y="T5"/>
                      </a:cxn>
                    </a:cxnLst>
                    <a:rect l="0" t="0" r="r" b="b"/>
                    <a:pathLst>
                      <a:path w="5" h="9">
                        <a:moveTo>
                          <a:pt x="0" y="9"/>
                        </a:moveTo>
                        <a:lnTo>
                          <a:pt x="0" y="5"/>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06" name="Line 317"/>
                  <p:cNvSpPr>
                    <a:spLocks noChangeShapeType="1"/>
                  </p:cNvSpPr>
                  <p:nvPr/>
                </p:nvSpPr>
                <p:spPr bwMode="auto">
                  <a:xfrm flipV="1">
                    <a:off x="2903" y="118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07" name="Freeform 318"/>
                  <p:cNvSpPr>
                    <a:spLocks/>
                  </p:cNvSpPr>
                  <p:nvPr/>
                </p:nvSpPr>
                <p:spPr bwMode="auto">
                  <a:xfrm>
                    <a:off x="2903" y="1180"/>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08" name="Line 319"/>
                  <p:cNvSpPr>
                    <a:spLocks noChangeShapeType="1"/>
                  </p:cNvSpPr>
                  <p:nvPr/>
                </p:nvSpPr>
                <p:spPr bwMode="auto">
                  <a:xfrm flipV="1">
                    <a:off x="2907" y="1171"/>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09" name="Line 320"/>
                  <p:cNvSpPr>
                    <a:spLocks noChangeShapeType="1"/>
                  </p:cNvSpPr>
                  <p:nvPr/>
                </p:nvSpPr>
                <p:spPr bwMode="auto">
                  <a:xfrm flipV="1">
                    <a:off x="2907" y="11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10" name="Line 321"/>
                  <p:cNvSpPr>
                    <a:spLocks noChangeShapeType="1"/>
                  </p:cNvSpPr>
                  <p:nvPr/>
                </p:nvSpPr>
                <p:spPr bwMode="auto">
                  <a:xfrm flipV="1">
                    <a:off x="2911" y="11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11" name="Line 322"/>
                  <p:cNvSpPr>
                    <a:spLocks noChangeShapeType="1"/>
                  </p:cNvSpPr>
                  <p:nvPr/>
                </p:nvSpPr>
                <p:spPr bwMode="auto">
                  <a:xfrm flipV="1">
                    <a:off x="2916" y="115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12" name="Freeform 323"/>
                  <p:cNvSpPr>
                    <a:spLocks/>
                  </p:cNvSpPr>
                  <p:nvPr/>
                </p:nvSpPr>
                <p:spPr bwMode="auto">
                  <a:xfrm>
                    <a:off x="2916" y="1145"/>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13" name="Line 324"/>
                  <p:cNvSpPr>
                    <a:spLocks noChangeShapeType="1"/>
                  </p:cNvSpPr>
                  <p:nvPr/>
                </p:nvSpPr>
                <p:spPr bwMode="auto">
                  <a:xfrm flipV="1">
                    <a:off x="2920" y="11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14" name="Line 325"/>
                  <p:cNvSpPr>
                    <a:spLocks noChangeShapeType="1"/>
                  </p:cNvSpPr>
                  <p:nvPr/>
                </p:nvSpPr>
                <p:spPr bwMode="auto">
                  <a:xfrm flipV="1">
                    <a:off x="2920" y="1136"/>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15" name="Line 326"/>
                  <p:cNvSpPr>
                    <a:spLocks noChangeShapeType="1"/>
                  </p:cNvSpPr>
                  <p:nvPr/>
                </p:nvSpPr>
                <p:spPr bwMode="auto">
                  <a:xfrm flipV="1">
                    <a:off x="2924" y="1128"/>
                    <a:ext cx="5"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16" name="Line 327"/>
                  <p:cNvSpPr>
                    <a:spLocks noChangeShapeType="1"/>
                  </p:cNvSpPr>
                  <p:nvPr/>
                </p:nvSpPr>
                <p:spPr bwMode="auto">
                  <a:xfrm flipV="1">
                    <a:off x="2929" y="112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17" name="Freeform 328"/>
                  <p:cNvSpPr>
                    <a:spLocks/>
                  </p:cNvSpPr>
                  <p:nvPr/>
                </p:nvSpPr>
                <p:spPr bwMode="auto">
                  <a:xfrm>
                    <a:off x="2929" y="1115"/>
                    <a:ext cx="4" cy="8"/>
                  </a:xfrm>
                  <a:custGeom>
                    <a:avLst/>
                    <a:gdLst>
                      <a:gd name="T0" fmla="*/ 0 w 4"/>
                      <a:gd name="T1" fmla="*/ 8 h 8"/>
                      <a:gd name="T2" fmla="*/ 0 w 4"/>
                      <a:gd name="T3" fmla="*/ 4 h 8"/>
                      <a:gd name="T4" fmla="*/ 4 w 4"/>
                      <a:gd name="T5" fmla="*/ 0 h 8"/>
                      <a:gd name="T6" fmla="*/ 0 60000 65536"/>
                      <a:gd name="T7" fmla="*/ 0 60000 65536"/>
                      <a:gd name="T8" fmla="*/ 0 60000 65536"/>
                    </a:gdLst>
                    <a:ahLst/>
                    <a:cxnLst>
                      <a:cxn ang="T6">
                        <a:pos x="T0" y="T1"/>
                      </a:cxn>
                      <a:cxn ang="T7">
                        <a:pos x="T2" y="T3"/>
                      </a:cxn>
                      <a:cxn ang="T8">
                        <a:pos x="T4" y="T5"/>
                      </a:cxn>
                    </a:cxnLst>
                    <a:rect l="0" t="0" r="r" b="b"/>
                    <a:pathLst>
                      <a:path w="4" h="8">
                        <a:moveTo>
                          <a:pt x="0" y="8"/>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18" name="Line 329"/>
                  <p:cNvSpPr>
                    <a:spLocks noChangeShapeType="1"/>
                  </p:cNvSpPr>
                  <p:nvPr/>
                </p:nvSpPr>
                <p:spPr bwMode="auto">
                  <a:xfrm flipV="1">
                    <a:off x="2933" y="1110"/>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19" name="Freeform 330"/>
                  <p:cNvSpPr>
                    <a:spLocks/>
                  </p:cNvSpPr>
                  <p:nvPr/>
                </p:nvSpPr>
                <p:spPr bwMode="auto">
                  <a:xfrm>
                    <a:off x="2933" y="1101"/>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20" name="Line 331"/>
                  <p:cNvSpPr>
                    <a:spLocks noChangeShapeType="1"/>
                  </p:cNvSpPr>
                  <p:nvPr/>
                </p:nvSpPr>
                <p:spPr bwMode="auto">
                  <a:xfrm flipV="1">
                    <a:off x="2937" y="10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21" name="Line 332"/>
                  <p:cNvSpPr>
                    <a:spLocks noChangeShapeType="1"/>
                  </p:cNvSpPr>
                  <p:nvPr/>
                </p:nvSpPr>
                <p:spPr bwMode="auto">
                  <a:xfrm flipV="1">
                    <a:off x="2937" y="1093"/>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22" name="Line 333"/>
                  <p:cNvSpPr>
                    <a:spLocks noChangeShapeType="1"/>
                  </p:cNvSpPr>
                  <p:nvPr/>
                </p:nvSpPr>
                <p:spPr bwMode="auto">
                  <a:xfrm flipV="1">
                    <a:off x="2942" y="1084"/>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23" name="Line 334"/>
                  <p:cNvSpPr>
                    <a:spLocks noChangeShapeType="1"/>
                  </p:cNvSpPr>
                  <p:nvPr/>
                </p:nvSpPr>
                <p:spPr bwMode="auto">
                  <a:xfrm flipV="1">
                    <a:off x="2946" y="10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24" name="Freeform 335"/>
                  <p:cNvSpPr>
                    <a:spLocks/>
                  </p:cNvSpPr>
                  <p:nvPr/>
                </p:nvSpPr>
                <p:spPr bwMode="auto">
                  <a:xfrm>
                    <a:off x="2946" y="1071"/>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25" name="Line 336"/>
                  <p:cNvSpPr>
                    <a:spLocks noChangeShapeType="1"/>
                  </p:cNvSpPr>
                  <p:nvPr/>
                </p:nvSpPr>
                <p:spPr bwMode="auto">
                  <a:xfrm flipV="1">
                    <a:off x="2950" y="10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26" name="Line 337"/>
                  <p:cNvSpPr>
                    <a:spLocks noChangeShapeType="1"/>
                  </p:cNvSpPr>
                  <p:nvPr/>
                </p:nvSpPr>
                <p:spPr bwMode="auto">
                  <a:xfrm flipV="1">
                    <a:off x="2950" y="10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27" name="Line 338"/>
                  <p:cNvSpPr>
                    <a:spLocks noChangeShapeType="1"/>
                  </p:cNvSpPr>
                  <p:nvPr/>
                </p:nvSpPr>
                <p:spPr bwMode="auto">
                  <a:xfrm flipV="1">
                    <a:off x="2955" y="1054"/>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28" name="Line 339"/>
                  <p:cNvSpPr>
                    <a:spLocks noChangeShapeType="1"/>
                  </p:cNvSpPr>
                  <p:nvPr/>
                </p:nvSpPr>
                <p:spPr bwMode="auto">
                  <a:xfrm flipV="1">
                    <a:off x="2959" y="1049"/>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29" name="Freeform 340"/>
                  <p:cNvSpPr>
                    <a:spLocks/>
                  </p:cNvSpPr>
                  <p:nvPr/>
                </p:nvSpPr>
                <p:spPr bwMode="auto">
                  <a:xfrm>
                    <a:off x="2959" y="1041"/>
                    <a:ext cx="4" cy="8"/>
                  </a:xfrm>
                  <a:custGeom>
                    <a:avLst/>
                    <a:gdLst>
                      <a:gd name="T0" fmla="*/ 0 w 4"/>
                      <a:gd name="T1" fmla="*/ 8 h 8"/>
                      <a:gd name="T2" fmla="*/ 0 w 4"/>
                      <a:gd name="T3" fmla="*/ 4 h 8"/>
                      <a:gd name="T4" fmla="*/ 4 w 4"/>
                      <a:gd name="T5" fmla="*/ 0 h 8"/>
                      <a:gd name="T6" fmla="*/ 0 60000 65536"/>
                      <a:gd name="T7" fmla="*/ 0 60000 65536"/>
                      <a:gd name="T8" fmla="*/ 0 60000 65536"/>
                    </a:gdLst>
                    <a:ahLst/>
                    <a:cxnLst>
                      <a:cxn ang="T6">
                        <a:pos x="T0" y="T1"/>
                      </a:cxn>
                      <a:cxn ang="T7">
                        <a:pos x="T2" y="T3"/>
                      </a:cxn>
                      <a:cxn ang="T8">
                        <a:pos x="T4" y="T5"/>
                      </a:cxn>
                    </a:cxnLst>
                    <a:rect l="0" t="0" r="r" b="b"/>
                    <a:pathLst>
                      <a:path w="4" h="8">
                        <a:moveTo>
                          <a:pt x="0" y="8"/>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30" name="Line 341"/>
                  <p:cNvSpPr>
                    <a:spLocks noChangeShapeType="1"/>
                  </p:cNvSpPr>
                  <p:nvPr/>
                </p:nvSpPr>
                <p:spPr bwMode="auto">
                  <a:xfrm flipV="1">
                    <a:off x="2963" y="103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31" name="Freeform 342"/>
                  <p:cNvSpPr>
                    <a:spLocks/>
                  </p:cNvSpPr>
                  <p:nvPr/>
                </p:nvSpPr>
                <p:spPr bwMode="auto">
                  <a:xfrm>
                    <a:off x="2963" y="1032"/>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32" name="Line 343"/>
                  <p:cNvSpPr>
                    <a:spLocks noChangeShapeType="1"/>
                  </p:cNvSpPr>
                  <p:nvPr/>
                </p:nvSpPr>
                <p:spPr bwMode="auto">
                  <a:xfrm flipV="1">
                    <a:off x="2968" y="102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33" name="Line 344"/>
                  <p:cNvSpPr>
                    <a:spLocks noChangeShapeType="1"/>
                  </p:cNvSpPr>
                  <p:nvPr/>
                </p:nvSpPr>
                <p:spPr bwMode="auto">
                  <a:xfrm flipV="1">
                    <a:off x="2968" y="101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34" name="Line 345"/>
                  <p:cNvSpPr>
                    <a:spLocks noChangeShapeType="1"/>
                  </p:cNvSpPr>
                  <p:nvPr/>
                </p:nvSpPr>
                <p:spPr bwMode="auto">
                  <a:xfrm flipV="1">
                    <a:off x="2972" y="1010"/>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35" name="Line 346"/>
                  <p:cNvSpPr>
                    <a:spLocks noChangeShapeType="1"/>
                  </p:cNvSpPr>
                  <p:nvPr/>
                </p:nvSpPr>
                <p:spPr bwMode="auto">
                  <a:xfrm flipV="1">
                    <a:off x="2976" y="100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36" name="Freeform 347"/>
                  <p:cNvSpPr>
                    <a:spLocks/>
                  </p:cNvSpPr>
                  <p:nvPr/>
                </p:nvSpPr>
                <p:spPr bwMode="auto">
                  <a:xfrm>
                    <a:off x="2976" y="1002"/>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37" name="Line 348"/>
                  <p:cNvSpPr>
                    <a:spLocks noChangeShapeType="1"/>
                  </p:cNvSpPr>
                  <p:nvPr/>
                </p:nvSpPr>
                <p:spPr bwMode="auto">
                  <a:xfrm flipV="1">
                    <a:off x="2981" y="99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38" name="Line 349"/>
                  <p:cNvSpPr>
                    <a:spLocks noChangeShapeType="1"/>
                  </p:cNvSpPr>
                  <p:nvPr/>
                </p:nvSpPr>
                <p:spPr bwMode="auto">
                  <a:xfrm flipV="1">
                    <a:off x="2981" y="9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39" name="Line 350"/>
                  <p:cNvSpPr>
                    <a:spLocks noChangeShapeType="1"/>
                  </p:cNvSpPr>
                  <p:nvPr/>
                </p:nvSpPr>
                <p:spPr bwMode="auto">
                  <a:xfrm flipV="1">
                    <a:off x="2985" y="98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40" name="Line 351"/>
                  <p:cNvSpPr>
                    <a:spLocks noChangeShapeType="1"/>
                  </p:cNvSpPr>
                  <p:nvPr/>
                </p:nvSpPr>
                <p:spPr bwMode="auto">
                  <a:xfrm flipV="1">
                    <a:off x="2990" y="9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41" name="Freeform 352"/>
                  <p:cNvSpPr>
                    <a:spLocks/>
                  </p:cNvSpPr>
                  <p:nvPr/>
                </p:nvSpPr>
                <p:spPr bwMode="auto">
                  <a:xfrm>
                    <a:off x="2990" y="971"/>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42" name="Line 353"/>
                  <p:cNvSpPr>
                    <a:spLocks noChangeShapeType="1"/>
                  </p:cNvSpPr>
                  <p:nvPr/>
                </p:nvSpPr>
                <p:spPr bwMode="auto">
                  <a:xfrm flipV="1">
                    <a:off x="2994" y="9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43" name="Freeform 354"/>
                  <p:cNvSpPr>
                    <a:spLocks/>
                  </p:cNvSpPr>
                  <p:nvPr/>
                </p:nvSpPr>
                <p:spPr bwMode="auto">
                  <a:xfrm>
                    <a:off x="2994" y="963"/>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44" name="Line 355"/>
                  <p:cNvSpPr>
                    <a:spLocks noChangeShapeType="1"/>
                  </p:cNvSpPr>
                  <p:nvPr/>
                </p:nvSpPr>
                <p:spPr bwMode="auto">
                  <a:xfrm flipV="1">
                    <a:off x="2998" y="95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45" name="Line 356"/>
                  <p:cNvSpPr>
                    <a:spLocks noChangeShapeType="1"/>
                  </p:cNvSpPr>
                  <p:nvPr/>
                </p:nvSpPr>
                <p:spPr bwMode="auto">
                  <a:xfrm flipV="1">
                    <a:off x="2998" y="950"/>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46" name="Line 357"/>
                  <p:cNvSpPr>
                    <a:spLocks noChangeShapeType="1"/>
                  </p:cNvSpPr>
                  <p:nvPr/>
                </p:nvSpPr>
                <p:spPr bwMode="auto">
                  <a:xfrm flipV="1">
                    <a:off x="3003" y="94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47" name="Line 358"/>
                  <p:cNvSpPr>
                    <a:spLocks noChangeShapeType="1"/>
                  </p:cNvSpPr>
                  <p:nvPr/>
                </p:nvSpPr>
                <p:spPr bwMode="auto">
                  <a:xfrm flipV="1">
                    <a:off x="3007" y="9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48" name="Freeform 359"/>
                  <p:cNvSpPr>
                    <a:spLocks/>
                  </p:cNvSpPr>
                  <p:nvPr/>
                </p:nvSpPr>
                <p:spPr bwMode="auto">
                  <a:xfrm>
                    <a:off x="3007" y="932"/>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49" name="Line 360"/>
                  <p:cNvSpPr>
                    <a:spLocks noChangeShapeType="1"/>
                  </p:cNvSpPr>
                  <p:nvPr/>
                </p:nvSpPr>
                <p:spPr bwMode="auto">
                  <a:xfrm flipV="1">
                    <a:off x="3011" y="9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50" name="Line 361"/>
                  <p:cNvSpPr>
                    <a:spLocks noChangeShapeType="1"/>
                  </p:cNvSpPr>
                  <p:nvPr/>
                </p:nvSpPr>
                <p:spPr bwMode="auto">
                  <a:xfrm flipV="1">
                    <a:off x="3011" y="92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51" name="Line 362"/>
                  <p:cNvSpPr>
                    <a:spLocks noChangeShapeType="1"/>
                  </p:cNvSpPr>
                  <p:nvPr/>
                </p:nvSpPr>
                <p:spPr bwMode="auto">
                  <a:xfrm flipV="1">
                    <a:off x="3016" y="9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52" name="Line 363"/>
                  <p:cNvSpPr>
                    <a:spLocks noChangeShapeType="1"/>
                  </p:cNvSpPr>
                  <p:nvPr/>
                </p:nvSpPr>
                <p:spPr bwMode="auto">
                  <a:xfrm flipV="1">
                    <a:off x="3020" y="91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53" name="Freeform 364"/>
                  <p:cNvSpPr>
                    <a:spLocks/>
                  </p:cNvSpPr>
                  <p:nvPr/>
                </p:nvSpPr>
                <p:spPr bwMode="auto">
                  <a:xfrm>
                    <a:off x="3020" y="910"/>
                    <a:ext cx="4" cy="5"/>
                  </a:xfrm>
                  <a:custGeom>
                    <a:avLst/>
                    <a:gdLst>
                      <a:gd name="T0" fmla="*/ 0 w 4"/>
                      <a:gd name="T1" fmla="*/ 5 h 5"/>
                      <a:gd name="T2" fmla="*/ 0 w 4"/>
                      <a:gd name="T3" fmla="*/ 5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54" name="Line 365"/>
                  <p:cNvSpPr>
                    <a:spLocks noChangeShapeType="1"/>
                  </p:cNvSpPr>
                  <p:nvPr/>
                </p:nvSpPr>
                <p:spPr bwMode="auto">
                  <a:xfrm flipV="1">
                    <a:off x="3024" y="902"/>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55" name="Freeform 366"/>
                  <p:cNvSpPr>
                    <a:spLocks/>
                  </p:cNvSpPr>
                  <p:nvPr/>
                </p:nvSpPr>
                <p:spPr bwMode="auto">
                  <a:xfrm>
                    <a:off x="3024" y="897"/>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56" name="Line 367"/>
                  <p:cNvSpPr>
                    <a:spLocks noChangeShapeType="1"/>
                  </p:cNvSpPr>
                  <p:nvPr/>
                </p:nvSpPr>
                <p:spPr bwMode="auto">
                  <a:xfrm flipV="1">
                    <a:off x="3029" y="89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57" name="Line 368"/>
                  <p:cNvSpPr>
                    <a:spLocks noChangeShapeType="1"/>
                  </p:cNvSpPr>
                  <p:nvPr/>
                </p:nvSpPr>
                <p:spPr bwMode="auto">
                  <a:xfrm flipV="1">
                    <a:off x="3029" y="8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58" name="Line 369"/>
                  <p:cNvSpPr>
                    <a:spLocks noChangeShapeType="1"/>
                  </p:cNvSpPr>
                  <p:nvPr/>
                </p:nvSpPr>
                <p:spPr bwMode="auto">
                  <a:xfrm flipV="1">
                    <a:off x="3033" y="884"/>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59" name="Line 370"/>
                  <p:cNvSpPr>
                    <a:spLocks noChangeShapeType="1"/>
                  </p:cNvSpPr>
                  <p:nvPr/>
                </p:nvSpPr>
                <p:spPr bwMode="auto">
                  <a:xfrm flipV="1">
                    <a:off x="3037" y="8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60" name="Freeform 371"/>
                  <p:cNvSpPr>
                    <a:spLocks/>
                  </p:cNvSpPr>
                  <p:nvPr/>
                </p:nvSpPr>
                <p:spPr bwMode="auto">
                  <a:xfrm>
                    <a:off x="3037" y="876"/>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61" name="Line 372"/>
                  <p:cNvSpPr>
                    <a:spLocks noChangeShapeType="1"/>
                  </p:cNvSpPr>
                  <p:nvPr/>
                </p:nvSpPr>
                <p:spPr bwMode="auto">
                  <a:xfrm flipV="1">
                    <a:off x="3042" y="87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62" name="Line 373"/>
                  <p:cNvSpPr>
                    <a:spLocks noChangeShapeType="1"/>
                  </p:cNvSpPr>
                  <p:nvPr/>
                </p:nvSpPr>
                <p:spPr bwMode="auto">
                  <a:xfrm flipV="1">
                    <a:off x="3042" y="8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63" name="Line 374"/>
                  <p:cNvSpPr>
                    <a:spLocks noChangeShapeType="1"/>
                  </p:cNvSpPr>
                  <p:nvPr/>
                </p:nvSpPr>
                <p:spPr bwMode="auto">
                  <a:xfrm flipV="1">
                    <a:off x="3046" y="86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64" name="Line 375"/>
                  <p:cNvSpPr>
                    <a:spLocks noChangeShapeType="1"/>
                  </p:cNvSpPr>
                  <p:nvPr/>
                </p:nvSpPr>
                <p:spPr bwMode="auto">
                  <a:xfrm flipV="1">
                    <a:off x="3050" y="858"/>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65" name="Freeform 376"/>
                  <p:cNvSpPr>
                    <a:spLocks/>
                  </p:cNvSpPr>
                  <p:nvPr/>
                </p:nvSpPr>
                <p:spPr bwMode="auto">
                  <a:xfrm>
                    <a:off x="3050" y="854"/>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66" name="Line 377"/>
                  <p:cNvSpPr>
                    <a:spLocks noChangeShapeType="1"/>
                  </p:cNvSpPr>
                  <p:nvPr/>
                </p:nvSpPr>
                <p:spPr bwMode="auto">
                  <a:xfrm flipV="1">
                    <a:off x="3055" y="85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67" name="Freeform 378"/>
                  <p:cNvSpPr>
                    <a:spLocks/>
                  </p:cNvSpPr>
                  <p:nvPr/>
                </p:nvSpPr>
                <p:spPr bwMode="auto">
                  <a:xfrm>
                    <a:off x="3055" y="845"/>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68" name="Line 379"/>
                  <p:cNvSpPr>
                    <a:spLocks noChangeShapeType="1"/>
                  </p:cNvSpPr>
                  <p:nvPr/>
                </p:nvSpPr>
                <p:spPr bwMode="auto">
                  <a:xfrm flipV="1">
                    <a:off x="3059" y="8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69" name="Line 380"/>
                  <p:cNvSpPr>
                    <a:spLocks noChangeShapeType="1"/>
                  </p:cNvSpPr>
                  <p:nvPr/>
                </p:nvSpPr>
                <p:spPr bwMode="auto">
                  <a:xfrm flipV="1">
                    <a:off x="3059" y="83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70" name="Line 381"/>
                  <p:cNvSpPr>
                    <a:spLocks noChangeShapeType="1"/>
                  </p:cNvSpPr>
                  <p:nvPr/>
                </p:nvSpPr>
                <p:spPr bwMode="auto">
                  <a:xfrm flipV="1">
                    <a:off x="3063" y="832"/>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71" name="Line 382"/>
                  <p:cNvSpPr>
                    <a:spLocks noChangeShapeType="1"/>
                  </p:cNvSpPr>
                  <p:nvPr/>
                </p:nvSpPr>
                <p:spPr bwMode="auto">
                  <a:xfrm flipV="1">
                    <a:off x="3068" y="8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72" name="Freeform 383"/>
                  <p:cNvSpPr>
                    <a:spLocks/>
                  </p:cNvSpPr>
                  <p:nvPr/>
                </p:nvSpPr>
                <p:spPr bwMode="auto">
                  <a:xfrm>
                    <a:off x="3068" y="82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73" name="Line 384"/>
                  <p:cNvSpPr>
                    <a:spLocks noChangeShapeType="1"/>
                  </p:cNvSpPr>
                  <p:nvPr/>
                </p:nvSpPr>
                <p:spPr bwMode="auto">
                  <a:xfrm flipV="1">
                    <a:off x="3072" y="82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74" name="Line 385"/>
                  <p:cNvSpPr>
                    <a:spLocks noChangeShapeType="1"/>
                  </p:cNvSpPr>
                  <p:nvPr/>
                </p:nvSpPr>
                <p:spPr bwMode="auto">
                  <a:xfrm flipV="1">
                    <a:off x="3072" y="8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75" name="Line 386"/>
                  <p:cNvSpPr>
                    <a:spLocks noChangeShapeType="1"/>
                  </p:cNvSpPr>
                  <p:nvPr/>
                </p:nvSpPr>
                <p:spPr bwMode="auto">
                  <a:xfrm flipV="1">
                    <a:off x="3076" y="81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76" name="Line 387"/>
                  <p:cNvSpPr>
                    <a:spLocks noChangeShapeType="1"/>
                  </p:cNvSpPr>
                  <p:nvPr/>
                </p:nvSpPr>
                <p:spPr bwMode="auto">
                  <a:xfrm flipV="1">
                    <a:off x="3081" y="81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77" name="Freeform 388"/>
                  <p:cNvSpPr>
                    <a:spLocks/>
                  </p:cNvSpPr>
                  <p:nvPr/>
                </p:nvSpPr>
                <p:spPr bwMode="auto">
                  <a:xfrm>
                    <a:off x="3081" y="81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78" name="Line 389"/>
                  <p:cNvSpPr>
                    <a:spLocks noChangeShapeType="1"/>
                  </p:cNvSpPr>
                  <p:nvPr/>
                </p:nvSpPr>
                <p:spPr bwMode="auto">
                  <a:xfrm flipV="1">
                    <a:off x="3085" y="80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79" name="Freeform 390"/>
                  <p:cNvSpPr>
                    <a:spLocks/>
                  </p:cNvSpPr>
                  <p:nvPr/>
                </p:nvSpPr>
                <p:spPr bwMode="auto">
                  <a:xfrm>
                    <a:off x="3085" y="802"/>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80" name="Line 391"/>
                  <p:cNvSpPr>
                    <a:spLocks noChangeShapeType="1"/>
                  </p:cNvSpPr>
                  <p:nvPr/>
                </p:nvSpPr>
                <p:spPr bwMode="auto">
                  <a:xfrm flipV="1">
                    <a:off x="3089" y="79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81" name="Line 392"/>
                  <p:cNvSpPr>
                    <a:spLocks noChangeShapeType="1"/>
                  </p:cNvSpPr>
                  <p:nvPr/>
                </p:nvSpPr>
                <p:spPr bwMode="auto">
                  <a:xfrm>
                    <a:off x="3089" y="79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82" name="Freeform 393"/>
                  <p:cNvSpPr>
                    <a:spLocks/>
                  </p:cNvSpPr>
                  <p:nvPr/>
                </p:nvSpPr>
                <p:spPr bwMode="auto">
                  <a:xfrm>
                    <a:off x="3094" y="793"/>
                    <a:ext cx="4" cy="5"/>
                  </a:xfrm>
                  <a:custGeom>
                    <a:avLst/>
                    <a:gdLst>
                      <a:gd name="T0" fmla="*/ 0 w 4"/>
                      <a:gd name="T1" fmla="*/ 5 h 5"/>
                      <a:gd name="T2" fmla="*/ 4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83" name="Line 394"/>
                  <p:cNvSpPr>
                    <a:spLocks noChangeShapeType="1"/>
                  </p:cNvSpPr>
                  <p:nvPr/>
                </p:nvSpPr>
                <p:spPr bwMode="auto">
                  <a:xfrm>
                    <a:off x="3098" y="79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84" name="Freeform 395"/>
                  <p:cNvSpPr>
                    <a:spLocks/>
                  </p:cNvSpPr>
                  <p:nvPr/>
                </p:nvSpPr>
                <p:spPr bwMode="auto">
                  <a:xfrm>
                    <a:off x="3098" y="789"/>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85" name="Line 396"/>
                  <p:cNvSpPr>
                    <a:spLocks noChangeShapeType="1"/>
                  </p:cNvSpPr>
                  <p:nvPr/>
                </p:nvSpPr>
                <p:spPr bwMode="auto">
                  <a:xfrm flipV="1">
                    <a:off x="3102" y="78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86" name="Line 397"/>
                  <p:cNvSpPr>
                    <a:spLocks noChangeShapeType="1"/>
                  </p:cNvSpPr>
                  <p:nvPr/>
                </p:nvSpPr>
                <p:spPr bwMode="auto">
                  <a:xfrm>
                    <a:off x="3102" y="785"/>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87" name="Freeform 398"/>
                  <p:cNvSpPr>
                    <a:spLocks/>
                  </p:cNvSpPr>
                  <p:nvPr/>
                </p:nvSpPr>
                <p:spPr bwMode="auto">
                  <a:xfrm>
                    <a:off x="3107" y="780"/>
                    <a:ext cx="4" cy="5"/>
                  </a:xfrm>
                  <a:custGeom>
                    <a:avLst/>
                    <a:gdLst>
                      <a:gd name="T0" fmla="*/ 0 w 4"/>
                      <a:gd name="T1" fmla="*/ 5 h 5"/>
                      <a:gd name="T2" fmla="*/ 4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88" name="Line 399"/>
                  <p:cNvSpPr>
                    <a:spLocks noChangeShapeType="1"/>
                  </p:cNvSpPr>
                  <p:nvPr/>
                </p:nvSpPr>
                <p:spPr bwMode="auto">
                  <a:xfrm>
                    <a:off x="3111" y="78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89" name="Freeform 400"/>
                  <p:cNvSpPr>
                    <a:spLocks/>
                  </p:cNvSpPr>
                  <p:nvPr/>
                </p:nvSpPr>
                <p:spPr bwMode="auto">
                  <a:xfrm>
                    <a:off x="3111" y="776"/>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90" name="Line 401"/>
                  <p:cNvSpPr>
                    <a:spLocks noChangeShapeType="1"/>
                  </p:cNvSpPr>
                  <p:nvPr/>
                </p:nvSpPr>
                <p:spPr bwMode="auto">
                  <a:xfrm>
                    <a:off x="3115" y="77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91" name="Freeform 402"/>
                  <p:cNvSpPr>
                    <a:spLocks/>
                  </p:cNvSpPr>
                  <p:nvPr/>
                </p:nvSpPr>
                <p:spPr bwMode="auto">
                  <a:xfrm>
                    <a:off x="3115" y="772"/>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92" name="Line 403"/>
                  <p:cNvSpPr>
                    <a:spLocks noChangeShapeType="1"/>
                  </p:cNvSpPr>
                  <p:nvPr/>
                </p:nvSpPr>
                <p:spPr bwMode="auto">
                  <a:xfrm>
                    <a:off x="3120" y="77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93" name="Freeform 404"/>
                  <p:cNvSpPr>
                    <a:spLocks/>
                  </p:cNvSpPr>
                  <p:nvPr/>
                </p:nvSpPr>
                <p:spPr bwMode="auto">
                  <a:xfrm>
                    <a:off x="3120" y="767"/>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94" name="Line 405"/>
                  <p:cNvSpPr>
                    <a:spLocks noChangeShapeType="1"/>
                  </p:cNvSpPr>
                  <p:nvPr/>
                </p:nvSpPr>
                <p:spPr bwMode="auto">
                  <a:xfrm>
                    <a:off x="3124" y="76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95" name="Line 406"/>
                  <p:cNvSpPr>
                    <a:spLocks noChangeShapeType="1"/>
                  </p:cNvSpPr>
                  <p:nvPr/>
                </p:nvSpPr>
                <p:spPr bwMode="auto">
                  <a:xfrm>
                    <a:off x="3128" y="76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196" name="Freeform 407"/>
                  <p:cNvSpPr>
                    <a:spLocks/>
                  </p:cNvSpPr>
                  <p:nvPr/>
                </p:nvSpPr>
                <p:spPr bwMode="auto">
                  <a:xfrm>
                    <a:off x="3128" y="763"/>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0197" name="Line 408"/>
                  <p:cNvSpPr>
                    <a:spLocks noChangeShapeType="1"/>
                  </p:cNvSpPr>
                  <p:nvPr/>
                </p:nvSpPr>
                <p:spPr bwMode="auto">
                  <a:xfrm>
                    <a:off x="3133" y="76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584" name="Group 409"/>
                <p:cNvGrpSpPr>
                  <a:grpSpLocks/>
                </p:cNvGrpSpPr>
                <p:nvPr/>
              </p:nvGrpSpPr>
              <p:grpSpPr bwMode="auto">
                <a:xfrm>
                  <a:off x="2855" y="1784"/>
                  <a:ext cx="730" cy="1728"/>
                  <a:chOff x="3133" y="754"/>
                  <a:chExt cx="508" cy="851"/>
                </a:xfrm>
              </p:grpSpPr>
              <p:sp>
                <p:nvSpPr>
                  <p:cNvPr id="9798" name="Line 410"/>
                  <p:cNvSpPr>
                    <a:spLocks noChangeShapeType="1"/>
                  </p:cNvSpPr>
                  <p:nvPr/>
                </p:nvSpPr>
                <p:spPr bwMode="auto">
                  <a:xfrm>
                    <a:off x="3133" y="76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99" name="Freeform 411"/>
                  <p:cNvSpPr>
                    <a:spLocks/>
                  </p:cNvSpPr>
                  <p:nvPr/>
                </p:nvSpPr>
                <p:spPr bwMode="auto">
                  <a:xfrm>
                    <a:off x="3137" y="759"/>
                    <a:ext cx="4" cy="4"/>
                  </a:xfrm>
                  <a:custGeom>
                    <a:avLst/>
                    <a:gdLst>
                      <a:gd name="T0" fmla="*/ 0 w 4"/>
                      <a:gd name="T1" fmla="*/ 4 h 4"/>
                      <a:gd name="T2" fmla="*/ 4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00" name="Line 412"/>
                  <p:cNvSpPr>
                    <a:spLocks noChangeShapeType="1"/>
                  </p:cNvSpPr>
                  <p:nvPr/>
                </p:nvSpPr>
                <p:spPr bwMode="auto">
                  <a:xfrm>
                    <a:off x="3141"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01" name="Freeform 413"/>
                  <p:cNvSpPr>
                    <a:spLocks/>
                  </p:cNvSpPr>
                  <p:nvPr/>
                </p:nvSpPr>
                <p:spPr bwMode="auto">
                  <a:xfrm>
                    <a:off x="3141" y="75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02" name="Line 414"/>
                  <p:cNvSpPr>
                    <a:spLocks noChangeShapeType="1"/>
                  </p:cNvSpPr>
                  <p:nvPr/>
                </p:nvSpPr>
                <p:spPr bwMode="auto">
                  <a:xfrm>
                    <a:off x="3146"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03" name="Freeform 415"/>
                  <p:cNvSpPr>
                    <a:spLocks/>
                  </p:cNvSpPr>
                  <p:nvPr/>
                </p:nvSpPr>
                <p:spPr bwMode="auto">
                  <a:xfrm>
                    <a:off x="3146" y="75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04" name="Freeform 416"/>
                  <p:cNvSpPr>
                    <a:spLocks/>
                  </p:cNvSpPr>
                  <p:nvPr/>
                </p:nvSpPr>
                <p:spPr bwMode="auto">
                  <a:xfrm>
                    <a:off x="3150" y="754"/>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05" name="Line 417"/>
                  <p:cNvSpPr>
                    <a:spLocks noChangeShapeType="1"/>
                  </p:cNvSpPr>
                  <p:nvPr/>
                </p:nvSpPr>
                <p:spPr bwMode="auto">
                  <a:xfrm>
                    <a:off x="3150" y="75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06" name="Line 418"/>
                  <p:cNvSpPr>
                    <a:spLocks noChangeShapeType="1"/>
                  </p:cNvSpPr>
                  <p:nvPr/>
                </p:nvSpPr>
                <p:spPr bwMode="auto">
                  <a:xfrm>
                    <a:off x="3154" y="75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07" name="Line 419"/>
                  <p:cNvSpPr>
                    <a:spLocks noChangeShapeType="1"/>
                  </p:cNvSpPr>
                  <p:nvPr/>
                </p:nvSpPr>
                <p:spPr bwMode="auto">
                  <a:xfrm>
                    <a:off x="3159"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08" name="Freeform 420"/>
                  <p:cNvSpPr>
                    <a:spLocks/>
                  </p:cNvSpPr>
                  <p:nvPr/>
                </p:nvSpPr>
                <p:spPr bwMode="auto">
                  <a:xfrm>
                    <a:off x="3159" y="75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09" name="Line 421"/>
                  <p:cNvSpPr>
                    <a:spLocks noChangeShapeType="1"/>
                  </p:cNvSpPr>
                  <p:nvPr/>
                </p:nvSpPr>
                <p:spPr bwMode="auto">
                  <a:xfrm>
                    <a:off x="3163"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10" name="Line 422"/>
                  <p:cNvSpPr>
                    <a:spLocks noChangeShapeType="1"/>
                  </p:cNvSpPr>
                  <p:nvPr/>
                </p:nvSpPr>
                <p:spPr bwMode="auto">
                  <a:xfrm>
                    <a:off x="3163" y="75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11" name="Line 423"/>
                  <p:cNvSpPr>
                    <a:spLocks noChangeShapeType="1"/>
                  </p:cNvSpPr>
                  <p:nvPr/>
                </p:nvSpPr>
                <p:spPr bwMode="auto">
                  <a:xfrm>
                    <a:off x="3168" y="75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12" name="Line 424"/>
                  <p:cNvSpPr>
                    <a:spLocks noChangeShapeType="1"/>
                  </p:cNvSpPr>
                  <p:nvPr/>
                </p:nvSpPr>
                <p:spPr bwMode="auto">
                  <a:xfrm>
                    <a:off x="3172"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13" name="Freeform 425"/>
                  <p:cNvSpPr>
                    <a:spLocks/>
                  </p:cNvSpPr>
                  <p:nvPr/>
                </p:nvSpPr>
                <p:spPr bwMode="auto">
                  <a:xfrm>
                    <a:off x="3172" y="75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14" name="Line 426"/>
                  <p:cNvSpPr>
                    <a:spLocks noChangeShapeType="1"/>
                  </p:cNvSpPr>
                  <p:nvPr/>
                </p:nvSpPr>
                <p:spPr bwMode="auto">
                  <a:xfrm>
                    <a:off x="3176"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15" name="Line 427"/>
                  <p:cNvSpPr>
                    <a:spLocks noChangeShapeType="1"/>
                  </p:cNvSpPr>
                  <p:nvPr/>
                </p:nvSpPr>
                <p:spPr bwMode="auto">
                  <a:xfrm>
                    <a:off x="3176" y="75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16" name="Line 428"/>
                  <p:cNvSpPr>
                    <a:spLocks noChangeShapeType="1"/>
                  </p:cNvSpPr>
                  <p:nvPr/>
                </p:nvSpPr>
                <p:spPr bwMode="auto">
                  <a:xfrm>
                    <a:off x="3181" y="75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17" name="Freeform 429"/>
                  <p:cNvSpPr>
                    <a:spLocks/>
                  </p:cNvSpPr>
                  <p:nvPr/>
                </p:nvSpPr>
                <p:spPr bwMode="auto">
                  <a:xfrm>
                    <a:off x="3185" y="754"/>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18" name="Freeform 430"/>
                  <p:cNvSpPr>
                    <a:spLocks/>
                  </p:cNvSpPr>
                  <p:nvPr/>
                </p:nvSpPr>
                <p:spPr bwMode="auto">
                  <a:xfrm>
                    <a:off x="3185" y="75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19" name="Line 431"/>
                  <p:cNvSpPr>
                    <a:spLocks noChangeShapeType="1"/>
                  </p:cNvSpPr>
                  <p:nvPr/>
                </p:nvSpPr>
                <p:spPr bwMode="auto">
                  <a:xfrm>
                    <a:off x="3189"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20" name="Freeform 432"/>
                  <p:cNvSpPr>
                    <a:spLocks/>
                  </p:cNvSpPr>
                  <p:nvPr/>
                </p:nvSpPr>
                <p:spPr bwMode="auto">
                  <a:xfrm>
                    <a:off x="3189" y="75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21" name="Line 433"/>
                  <p:cNvSpPr>
                    <a:spLocks noChangeShapeType="1"/>
                  </p:cNvSpPr>
                  <p:nvPr/>
                </p:nvSpPr>
                <p:spPr bwMode="auto">
                  <a:xfrm>
                    <a:off x="3194"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22" name="Freeform 434"/>
                  <p:cNvSpPr>
                    <a:spLocks/>
                  </p:cNvSpPr>
                  <p:nvPr/>
                </p:nvSpPr>
                <p:spPr bwMode="auto">
                  <a:xfrm>
                    <a:off x="3194" y="759"/>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23" name="Line 435"/>
                  <p:cNvSpPr>
                    <a:spLocks noChangeShapeType="1"/>
                  </p:cNvSpPr>
                  <p:nvPr/>
                </p:nvSpPr>
                <p:spPr bwMode="auto">
                  <a:xfrm>
                    <a:off x="3198" y="76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24" name="Line 436"/>
                  <p:cNvSpPr>
                    <a:spLocks noChangeShapeType="1"/>
                  </p:cNvSpPr>
                  <p:nvPr/>
                </p:nvSpPr>
                <p:spPr bwMode="auto">
                  <a:xfrm>
                    <a:off x="3202" y="76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25" name="Freeform 437"/>
                  <p:cNvSpPr>
                    <a:spLocks/>
                  </p:cNvSpPr>
                  <p:nvPr/>
                </p:nvSpPr>
                <p:spPr bwMode="auto">
                  <a:xfrm>
                    <a:off x="3202" y="763"/>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26" name="Line 438"/>
                  <p:cNvSpPr>
                    <a:spLocks noChangeShapeType="1"/>
                  </p:cNvSpPr>
                  <p:nvPr/>
                </p:nvSpPr>
                <p:spPr bwMode="auto">
                  <a:xfrm>
                    <a:off x="3207" y="76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27" name="Line 439"/>
                  <p:cNvSpPr>
                    <a:spLocks noChangeShapeType="1"/>
                  </p:cNvSpPr>
                  <p:nvPr/>
                </p:nvSpPr>
                <p:spPr bwMode="auto">
                  <a:xfrm>
                    <a:off x="3207" y="76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28" name="Freeform 440"/>
                  <p:cNvSpPr>
                    <a:spLocks/>
                  </p:cNvSpPr>
                  <p:nvPr/>
                </p:nvSpPr>
                <p:spPr bwMode="auto">
                  <a:xfrm>
                    <a:off x="3211" y="767"/>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29" name="Line 441"/>
                  <p:cNvSpPr>
                    <a:spLocks noChangeShapeType="1"/>
                  </p:cNvSpPr>
                  <p:nvPr/>
                </p:nvSpPr>
                <p:spPr bwMode="auto">
                  <a:xfrm>
                    <a:off x="3215" y="77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30" name="Freeform 442"/>
                  <p:cNvSpPr>
                    <a:spLocks/>
                  </p:cNvSpPr>
                  <p:nvPr/>
                </p:nvSpPr>
                <p:spPr bwMode="auto">
                  <a:xfrm>
                    <a:off x="3215" y="772"/>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31" name="Line 443"/>
                  <p:cNvSpPr>
                    <a:spLocks noChangeShapeType="1"/>
                  </p:cNvSpPr>
                  <p:nvPr/>
                </p:nvSpPr>
                <p:spPr bwMode="auto">
                  <a:xfrm>
                    <a:off x="3220" y="77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32" name="Freeform 444"/>
                  <p:cNvSpPr>
                    <a:spLocks/>
                  </p:cNvSpPr>
                  <p:nvPr/>
                </p:nvSpPr>
                <p:spPr bwMode="auto">
                  <a:xfrm>
                    <a:off x="3220" y="776"/>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33" name="Line 445"/>
                  <p:cNvSpPr>
                    <a:spLocks noChangeShapeType="1"/>
                  </p:cNvSpPr>
                  <p:nvPr/>
                </p:nvSpPr>
                <p:spPr bwMode="auto">
                  <a:xfrm>
                    <a:off x="3224" y="78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34" name="Freeform 446"/>
                  <p:cNvSpPr>
                    <a:spLocks/>
                  </p:cNvSpPr>
                  <p:nvPr/>
                </p:nvSpPr>
                <p:spPr bwMode="auto">
                  <a:xfrm>
                    <a:off x="3224" y="780"/>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35" name="Line 447"/>
                  <p:cNvSpPr>
                    <a:spLocks noChangeShapeType="1"/>
                  </p:cNvSpPr>
                  <p:nvPr/>
                </p:nvSpPr>
                <p:spPr bwMode="auto">
                  <a:xfrm>
                    <a:off x="3228" y="785"/>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36" name="Line 448"/>
                  <p:cNvSpPr>
                    <a:spLocks noChangeShapeType="1"/>
                  </p:cNvSpPr>
                  <p:nvPr/>
                </p:nvSpPr>
                <p:spPr bwMode="auto">
                  <a:xfrm>
                    <a:off x="3233" y="78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37" name="Freeform 449"/>
                  <p:cNvSpPr>
                    <a:spLocks/>
                  </p:cNvSpPr>
                  <p:nvPr/>
                </p:nvSpPr>
                <p:spPr bwMode="auto">
                  <a:xfrm>
                    <a:off x="3233" y="789"/>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38" name="Line 450"/>
                  <p:cNvSpPr>
                    <a:spLocks noChangeShapeType="1"/>
                  </p:cNvSpPr>
                  <p:nvPr/>
                </p:nvSpPr>
                <p:spPr bwMode="auto">
                  <a:xfrm>
                    <a:off x="3237" y="79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39" name="Freeform 451"/>
                  <p:cNvSpPr>
                    <a:spLocks/>
                  </p:cNvSpPr>
                  <p:nvPr/>
                </p:nvSpPr>
                <p:spPr bwMode="auto">
                  <a:xfrm>
                    <a:off x="3237" y="793"/>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40" name="Line 452"/>
                  <p:cNvSpPr>
                    <a:spLocks noChangeShapeType="1"/>
                  </p:cNvSpPr>
                  <p:nvPr/>
                </p:nvSpPr>
                <p:spPr bwMode="auto">
                  <a:xfrm>
                    <a:off x="3241" y="79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41" name="Line 453"/>
                  <p:cNvSpPr>
                    <a:spLocks noChangeShapeType="1"/>
                  </p:cNvSpPr>
                  <p:nvPr/>
                </p:nvSpPr>
                <p:spPr bwMode="auto">
                  <a:xfrm>
                    <a:off x="3246" y="79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42" name="Freeform 454"/>
                  <p:cNvSpPr>
                    <a:spLocks/>
                  </p:cNvSpPr>
                  <p:nvPr/>
                </p:nvSpPr>
                <p:spPr bwMode="auto">
                  <a:xfrm>
                    <a:off x="3246" y="802"/>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43" name="Line 455"/>
                  <p:cNvSpPr>
                    <a:spLocks noChangeShapeType="1"/>
                  </p:cNvSpPr>
                  <p:nvPr/>
                </p:nvSpPr>
                <p:spPr bwMode="auto">
                  <a:xfrm>
                    <a:off x="3250" y="80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44" name="Freeform 456"/>
                  <p:cNvSpPr>
                    <a:spLocks/>
                  </p:cNvSpPr>
                  <p:nvPr/>
                </p:nvSpPr>
                <p:spPr bwMode="auto">
                  <a:xfrm>
                    <a:off x="3250" y="81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45" name="Line 457"/>
                  <p:cNvSpPr>
                    <a:spLocks noChangeShapeType="1"/>
                  </p:cNvSpPr>
                  <p:nvPr/>
                </p:nvSpPr>
                <p:spPr bwMode="auto">
                  <a:xfrm>
                    <a:off x="3254" y="81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46" name="Line 458"/>
                  <p:cNvSpPr>
                    <a:spLocks noChangeShapeType="1"/>
                  </p:cNvSpPr>
                  <p:nvPr/>
                </p:nvSpPr>
                <p:spPr bwMode="auto">
                  <a:xfrm>
                    <a:off x="3254" y="81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47" name="Line 459"/>
                  <p:cNvSpPr>
                    <a:spLocks noChangeShapeType="1"/>
                  </p:cNvSpPr>
                  <p:nvPr/>
                </p:nvSpPr>
                <p:spPr bwMode="auto">
                  <a:xfrm>
                    <a:off x="3259" y="8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48" name="Line 460"/>
                  <p:cNvSpPr>
                    <a:spLocks noChangeShapeType="1"/>
                  </p:cNvSpPr>
                  <p:nvPr/>
                </p:nvSpPr>
                <p:spPr bwMode="auto">
                  <a:xfrm>
                    <a:off x="3263" y="82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49" name="Freeform 461"/>
                  <p:cNvSpPr>
                    <a:spLocks/>
                  </p:cNvSpPr>
                  <p:nvPr/>
                </p:nvSpPr>
                <p:spPr bwMode="auto">
                  <a:xfrm>
                    <a:off x="3263" y="82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50" name="Line 462"/>
                  <p:cNvSpPr>
                    <a:spLocks noChangeShapeType="1"/>
                  </p:cNvSpPr>
                  <p:nvPr/>
                </p:nvSpPr>
                <p:spPr bwMode="auto">
                  <a:xfrm>
                    <a:off x="3267" y="8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51" name="Line 463"/>
                  <p:cNvSpPr>
                    <a:spLocks noChangeShapeType="1"/>
                  </p:cNvSpPr>
                  <p:nvPr/>
                </p:nvSpPr>
                <p:spPr bwMode="auto">
                  <a:xfrm>
                    <a:off x="3267" y="832"/>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52" name="Line 464"/>
                  <p:cNvSpPr>
                    <a:spLocks noChangeShapeType="1"/>
                  </p:cNvSpPr>
                  <p:nvPr/>
                </p:nvSpPr>
                <p:spPr bwMode="auto">
                  <a:xfrm>
                    <a:off x="3272" y="83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53" name="Line 465"/>
                  <p:cNvSpPr>
                    <a:spLocks noChangeShapeType="1"/>
                  </p:cNvSpPr>
                  <p:nvPr/>
                </p:nvSpPr>
                <p:spPr bwMode="auto">
                  <a:xfrm>
                    <a:off x="3276" y="8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54" name="Freeform 466"/>
                  <p:cNvSpPr>
                    <a:spLocks/>
                  </p:cNvSpPr>
                  <p:nvPr/>
                </p:nvSpPr>
                <p:spPr bwMode="auto">
                  <a:xfrm>
                    <a:off x="3276" y="845"/>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55" name="Line 467"/>
                  <p:cNvSpPr>
                    <a:spLocks noChangeShapeType="1"/>
                  </p:cNvSpPr>
                  <p:nvPr/>
                </p:nvSpPr>
                <p:spPr bwMode="auto">
                  <a:xfrm>
                    <a:off x="3280" y="85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56" name="Freeform 468"/>
                  <p:cNvSpPr>
                    <a:spLocks/>
                  </p:cNvSpPr>
                  <p:nvPr/>
                </p:nvSpPr>
                <p:spPr bwMode="auto">
                  <a:xfrm>
                    <a:off x="3280" y="854"/>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57" name="Line 469"/>
                  <p:cNvSpPr>
                    <a:spLocks noChangeShapeType="1"/>
                  </p:cNvSpPr>
                  <p:nvPr/>
                </p:nvSpPr>
                <p:spPr bwMode="auto">
                  <a:xfrm>
                    <a:off x="3285" y="858"/>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58" name="Line 470"/>
                  <p:cNvSpPr>
                    <a:spLocks noChangeShapeType="1"/>
                  </p:cNvSpPr>
                  <p:nvPr/>
                </p:nvSpPr>
                <p:spPr bwMode="auto">
                  <a:xfrm>
                    <a:off x="3285" y="86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59" name="Line 471"/>
                  <p:cNvSpPr>
                    <a:spLocks noChangeShapeType="1"/>
                  </p:cNvSpPr>
                  <p:nvPr/>
                </p:nvSpPr>
                <p:spPr bwMode="auto">
                  <a:xfrm>
                    <a:off x="3289" y="8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60" name="Line 472"/>
                  <p:cNvSpPr>
                    <a:spLocks noChangeShapeType="1"/>
                  </p:cNvSpPr>
                  <p:nvPr/>
                </p:nvSpPr>
                <p:spPr bwMode="auto">
                  <a:xfrm>
                    <a:off x="3293" y="87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61" name="Freeform 473"/>
                  <p:cNvSpPr>
                    <a:spLocks/>
                  </p:cNvSpPr>
                  <p:nvPr/>
                </p:nvSpPr>
                <p:spPr bwMode="auto">
                  <a:xfrm>
                    <a:off x="3293" y="876"/>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62" name="Line 474"/>
                  <p:cNvSpPr>
                    <a:spLocks noChangeShapeType="1"/>
                  </p:cNvSpPr>
                  <p:nvPr/>
                </p:nvSpPr>
                <p:spPr bwMode="auto">
                  <a:xfrm>
                    <a:off x="3298" y="8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63" name="Line 475"/>
                  <p:cNvSpPr>
                    <a:spLocks noChangeShapeType="1"/>
                  </p:cNvSpPr>
                  <p:nvPr/>
                </p:nvSpPr>
                <p:spPr bwMode="auto">
                  <a:xfrm>
                    <a:off x="3298" y="884"/>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64" name="Line 476"/>
                  <p:cNvSpPr>
                    <a:spLocks noChangeShapeType="1"/>
                  </p:cNvSpPr>
                  <p:nvPr/>
                </p:nvSpPr>
                <p:spPr bwMode="auto">
                  <a:xfrm>
                    <a:off x="3302" y="8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65" name="Line 477"/>
                  <p:cNvSpPr>
                    <a:spLocks noChangeShapeType="1"/>
                  </p:cNvSpPr>
                  <p:nvPr/>
                </p:nvSpPr>
                <p:spPr bwMode="auto">
                  <a:xfrm>
                    <a:off x="3306" y="89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66" name="Freeform 478"/>
                  <p:cNvSpPr>
                    <a:spLocks/>
                  </p:cNvSpPr>
                  <p:nvPr/>
                </p:nvSpPr>
                <p:spPr bwMode="auto">
                  <a:xfrm>
                    <a:off x="3306" y="897"/>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67" name="Line 479"/>
                  <p:cNvSpPr>
                    <a:spLocks noChangeShapeType="1"/>
                  </p:cNvSpPr>
                  <p:nvPr/>
                </p:nvSpPr>
                <p:spPr bwMode="auto">
                  <a:xfrm>
                    <a:off x="3311" y="902"/>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68" name="Freeform 480"/>
                  <p:cNvSpPr>
                    <a:spLocks/>
                  </p:cNvSpPr>
                  <p:nvPr/>
                </p:nvSpPr>
                <p:spPr bwMode="auto">
                  <a:xfrm>
                    <a:off x="3311" y="910"/>
                    <a:ext cx="4" cy="5"/>
                  </a:xfrm>
                  <a:custGeom>
                    <a:avLst/>
                    <a:gdLst>
                      <a:gd name="T0" fmla="*/ 0 w 4"/>
                      <a:gd name="T1" fmla="*/ 0 h 5"/>
                      <a:gd name="T2" fmla="*/ 0 w 4"/>
                      <a:gd name="T3" fmla="*/ 5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5"/>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69" name="Line 481"/>
                  <p:cNvSpPr>
                    <a:spLocks noChangeShapeType="1"/>
                  </p:cNvSpPr>
                  <p:nvPr/>
                </p:nvSpPr>
                <p:spPr bwMode="auto">
                  <a:xfrm>
                    <a:off x="3315" y="91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70" name="Line 482"/>
                  <p:cNvSpPr>
                    <a:spLocks noChangeShapeType="1"/>
                  </p:cNvSpPr>
                  <p:nvPr/>
                </p:nvSpPr>
                <p:spPr bwMode="auto">
                  <a:xfrm>
                    <a:off x="3315" y="9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71" name="Line 483"/>
                  <p:cNvSpPr>
                    <a:spLocks noChangeShapeType="1"/>
                  </p:cNvSpPr>
                  <p:nvPr/>
                </p:nvSpPr>
                <p:spPr bwMode="auto">
                  <a:xfrm>
                    <a:off x="3319" y="92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72" name="Line 484"/>
                  <p:cNvSpPr>
                    <a:spLocks noChangeShapeType="1"/>
                  </p:cNvSpPr>
                  <p:nvPr/>
                </p:nvSpPr>
                <p:spPr bwMode="auto">
                  <a:xfrm>
                    <a:off x="3324" y="9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73" name="Freeform 485"/>
                  <p:cNvSpPr>
                    <a:spLocks/>
                  </p:cNvSpPr>
                  <p:nvPr/>
                </p:nvSpPr>
                <p:spPr bwMode="auto">
                  <a:xfrm>
                    <a:off x="3324" y="932"/>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74" name="Line 486"/>
                  <p:cNvSpPr>
                    <a:spLocks noChangeShapeType="1"/>
                  </p:cNvSpPr>
                  <p:nvPr/>
                </p:nvSpPr>
                <p:spPr bwMode="auto">
                  <a:xfrm>
                    <a:off x="3328" y="9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75" name="Line 487"/>
                  <p:cNvSpPr>
                    <a:spLocks noChangeShapeType="1"/>
                  </p:cNvSpPr>
                  <p:nvPr/>
                </p:nvSpPr>
                <p:spPr bwMode="auto">
                  <a:xfrm>
                    <a:off x="3328" y="94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76" name="Line 488"/>
                  <p:cNvSpPr>
                    <a:spLocks noChangeShapeType="1"/>
                  </p:cNvSpPr>
                  <p:nvPr/>
                </p:nvSpPr>
                <p:spPr bwMode="auto">
                  <a:xfrm>
                    <a:off x="3332" y="950"/>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77" name="Line 489"/>
                  <p:cNvSpPr>
                    <a:spLocks noChangeShapeType="1"/>
                  </p:cNvSpPr>
                  <p:nvPr/>
                </p:nvSpPr>
                <p:spPr bwMode="auto">
                  <a:xfrm>
                    <a:off x="3337" y="95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78" name="Freeform 490"/>
                  <p:cNvSpPr>
                    <a:spLocks/>
                  </p:cNvSpPr>
                  <p:nvPr/>
                </p:nvSpPr>
                <p:spPr bwMode="auto">
                  <a:xfrm>
                    <a:off x="3337" y="963"/>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79" name="Line 491"/>
                  <p:cNvSpPr>
                    <a:spLocks noChangeShapeType="1"/>
                  </p:cNvSpPr>
                  <p:nvPr/>
                </p:nvSpPr>
                <p:spPr bwMode="auto">
                  <a:xfrm>
                    <a:off x="3341" y="9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80" name="Freeform 492"/>
                  <p:cNvSpPr>
                    <a:spLocks/>
                  </p:cNvSpPr>
                  <p:nvPr/>
                </p:nvSpPr>
                <p:spPr bwMode="auto">
                  <a:xfrm>
                    <a:off x="3341" y="971"/>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81" name="Line 493"/>
                  <p:cNvSpPr>
                    <a:spLocks noChangeShapeType="1"/>
                  </p:cNvSpPr>
                  <p:nvPr/>
                </p:nvSpPr>
                <p:spPr bwMode="auto">
                  <a:xfrm>
                    <a:off x="3345" y="9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82" name="Line 494"/>
                  <p:cNvSpPr>
                    <a:spLocks noChangeShapeType="1"/>
                  </p:cNvSpPr>
                  <p:nvPr/>
                </p:nvSpPr>
                <p:spPr bwMode="auto">
                  <a:xfrm>
                    <a:off x="3345" y="98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83" name="Line 495"/>
                  <p:cNvSpPr>
                    <a:spLocks noChangeShapeType="1"/>
                  </p:cNvSpPr>
                  <p:nvPr/>
                </p:nvSpPr>
                <p:spPr bwMode="auto">
                  <a:xfrm>
                    <a:off x="3350" y="9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84" name="Line 496"/>
                  <p:cNvSpPr>
                    <a:spLocks noChangeShapeType="1"/>
                  </p:cNvSpPr>
                  <p:nvPr/>
                </p:nvSpPr>
                <p:spPr bwMode="auto">
                  <a:xfrm>
                    <a:off x="3354" y="99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85" name="Freeform 497"/>
                  <p:cNvSpPr>
                    <a:spLocks/>
                  </p:cNvSpPr>
                  <p:nvPr/>
                </p:nvSpPr>
                <p:spPr bwMode="auto">
                  <a:xfrm>
                    <a:off x="3354" y="1002"/>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86" name="Line 498"/>
                  <p:cNvSpPr>
                    <a:spLocks noChangeShapeType="1"/>
                  </p:cNvSpPr>
                  <p:nvPr/>
                </p:nvSpPr>
                <p:spPr bwMode="auto">
                  <a:xfrm>
                    <a:off x="3359" y="100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87" name="Line 499"/>
                  <p:cNvSpPr>
                    <a:spLocks noChangeShapeType="1"/>
                  </p:cNvSpPr>
                  <p:nvPr/>
                </p:nvSpPr>
                <p:spPr bwMode="auto">
                  <a:xfrm>
                    <a:off x="3359" y="1010"/>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88" name="Line 500"/>
                  <p:cNvSpPr>
                    <a:spLocks noChangeShapeType="1"/>
                  </p:cNvSpPr>
                  <p:nvPr/>
                </p:nvSpPr>
                <p:spPr bwMode="auto">
                  <a:xfrm>
                    <a:off x="3363" y="101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89" name="Line 501"/>
                  <p:cNvSpPr>
                    <a:spLocks noChangeShapeType="1"/>
                  </p:cNvSpPr>
                  <p:nvPr/>
                </p:nvSpPr>
                <p:spPr bwMode="auto">
                  <a:xfrm>
                    <a:off x="3367" y="102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90" name="Freeform 502"/>
                  <p:cNvSpPr>
                    <a:spLocks/>
                  </p:cNvSpPr>
                  <p:nvPr/>
                </p:nvSpPr>
                <p:spPr bwMode="auto">
                  <a:xfrm>
                    <a:off x="3367" y="1032"/>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91" name="Line 503"/>
                  <p:cNvSpPr>
                    <a:spLocks noChangeShapeType="1"/>
                  </p:cNvSpPr>
                  <p:nvPr/>
                </p:nvSpPr>
                <p:spPr bwMode="auto">
                  <a:xfrm>
                    <a:off x="3372" y="103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92" name="Freeform 504"/>
                  <p:cNvSpPr>
                    <a:spLocks/>
                  </p:cNvSpPr>
                  <p:nvPr/>
                </p:nvSpPr>
                <p:spPr bwMode="auto">
                  <a:xfrm>
                    <a:off x="3372" y="1041"/>
                    <a:ext cx="4" cy="8"/>
                  </a:xfrm>
                  <a:custGeom>
                    <a:avLst/>
                    <a:gdLst>
                      <a:gd name="T0" fmla="*/ 0 w 4"/>
                      <a:gd name="T1" fmla="*/ 0 h 8"/>
                      <a:gd name="T2" fmla="*/ 0 w 4"/>
                      <a:gd name="T3" fmla="*/ 4 h 8"/>
                      <a:gd name="T4" fmla="*/ 4 w 4"/>
                      <a:gd name="T5" fmla="*/ 8 h 8"/>
                      <a:gd name="T6" fmla="*/ 0 60000 65536"/>
                      <a:gd name="T7" fmla="*/ 0 60000 65536"/>
                      <a:gd name="T8" fmla="*/ 0 60000 65536"/>
                    </a:gdLst>
                    <a:ahLst/>
                    <a:cxnLst>
                      <a:cxn ang="T6">
                        <a:pos x="T0" y="T1"/>
                      </a:cxn>
                      <a:cxn ang="T7">
                        <a:pos x="T2" y="T3"/>
                      </a:cxn>
                      <a:cxn ang="T8">
                        <a:pos x="T4" y="T5"/>
                      </a:cxn>
                    </a:cxnLst>
                    <a:rect l="0" t="0" r="r" b="b"/>
                    <a:pathLst>
                      <a:path w="4" h="8">
                        <a:moveTo>
                          <a:pt x="0" y="0"/>
                        </a:moveTo>
                        <a:lnTo>
                          <a:pt x="0" y="4"/>
                        </a:lnTo>
                        <a:lnTo>
                          <a:pt x="4" y="8"/>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93" name="Line 505"/>
                  <p:cNvSpPr>
                    <a:spLocks noChangeShapeType="1"/>
                  </p:cNvSpPr>
                  <p:nvPr/>
                </p:nvSpPr>
                <p:spPr bwMode="auto">
                  <a:xfrm>
                    <a:off x="3376" y="1049"/>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94" name="Line 506"/>
                  <p:cNvSpPr>
                    <a:spLocks noChangeShapeType="1"/>
                  </p:cNvSpPr>
                  <p:nvPr/>
                </p:nvSpPr>
                <p:spPr bwMode="auto">
                  <a:xfrm>
                    <a:off x="3376" y="1054"/>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95" name="Line 507"/>
                  <p:cNvSpPr>
                    <a:spLocks noChangeShapeType="1"/>
                  </p:cNvSpPr>
                  <p:nvPr/>
                </p:nvSpPr>
                <p:spPr bwMode="auto">
                  <a:xfrm>
                    <a:off x="3380" y="10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96" name="Line 508"/>
                  <p:cNvSpPr>
                    <a:spLocks noChangeShapeType="1"/>
                  </p:cNvSpPr>
                  <p:nvPr/>
                </p:nvSpPr>
                <p:spPr bwMode="auto">
                  <a:xfrm>
                    <a:off x="3385" y="10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97" name="Freeform 509"/>
                  <p:cNvSpPr>
                    <a:spLocks/>
                  </p:cNvSpPr>
                  <p:nvPr/>
                </p:nvSpPr>
                <p:spPr bwMode="auto">
                  <a:xfrm>
                    <a:off x="3385" y="1071"/>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898" name="Line 510"/>
                  <p:cNvSpPr>
                    <a:spLocks noChangeShapeType="1"/>
                  </p:cNvSpPr>
                  <p:nvPr/>
                </p:nvSpPr>
                <p:spPr bwMode="auto">
                  <a:xfrm>
                    <a:off x="3389" y="10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899" name="Line 511"/>
                  <p:cNvSpPr>
                    <a:spLocks noChangeShapeType="1"/>
                  </p:cNvSpPr>
                  <p:nvPr/>
                </p:nvSpPr>
                <p:spPr bwMode="auto">
                  <a:xfrm>
                    <a:off x="3389" y="1084"/>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00" name="Line 512"/>
                  <p:cNvSpPr>
                    <a:spLocks noChangeShapeType="1"/>
                  </p:cNvSpPr>
                  <p:nvPr/>
                </p:nvSpPr>
                <p:spPr bwMode="auto">
                  <a:xfrm>
                    <a:off x="3393" y="1093"/>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01" name="Line 513"/>
                  <p:cNvSpPr>
                    <a:spLocks noChangeShapeType="1"/>
                  </p:cNvSpPr>
                  <p:nvPr/>
                </p:nvSpPr>
                <p:spPr bwMode="auto">
                  <a:xfrm>
                    <a:off x="3398" y="10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02" name="Freeform 514"/>
                  <p:cNvSpPr>
                    <a:spLocks/>
                  </p:cNvSpPr>
                  <p:nvPr/>
                </p:nvSpPr>
                <p:spPr bwMode="auto">
                  <a:xfrm>
                    <a:off x="3398" y="1101"/>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03" name="Line 515"/>
                  <p:cNvSpPr>
                    <a:spLocks noChangeShapeType="1"/>
                  </p:cNvSpPr>
                  <p:nvPr/>
                </p:nvSpPr>
                <p:spPr bwMode="auto">
                  <a:xfrm>
                    <a:off x="3402" y="1110"/>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04" name="Freeform 516"/>
                  <p:cNvSpPr>
                    <a:spLocks/>
                  </p:cNvSpPr>
                  <p:nvPr/>
                </p:nvSpPr>
                <p:spPr bwMode="auto">
                  <a:xfrm>
                    <a:off x="3402" y="1115"/>
                    <a:ext cx="4" cy="8"/>
                  </a:xfrm>
                  <a:custGeom>
                    <a:avLst/>
                    <a:gdLst>
                      <a:gd name="T0" fmla="*/ 0 w 4"/>
                      <a:gd name="T1" fmla="*/ 0 h 8"/>
                      <a:gd name="T2" fmla="*/ 0 w 4"/>
                      <a:gd name="T3" fmla="*/ 4 h 8"/>
                      <a:gd name="T4" fmla="*/ 4 w 4"/>
                      <a:gd name="T5" fmla="*/ 8 h 8"/>
                      <a:gd name="T6" fmla="*/ 0 60000 65536"/>
                      <a:gd name="T7" fmla="*/ 0 60000 65536"/>
                      <a:gd name="T8" fmla="*/ 0 60000 65536"/>
                    </a:gdLst>
                    <a:ahLst/>
                    <a:cxnLst>
                      <a:cxn ang="T6">
                        <a:pos x="T0" y="T1"/>
                      </a:cxn>
                      <a:cxn ang="T7">
                        <a:pos x="T2" y="T3"/>
                      </a:cxn>
                      <a:cxn ang="T8">
                        <a:pos x="T4" y="T5"/>
                      </a:cxn>
                    </a:cxnLst>
                    <a:rect l="0" t="0" r="r" b="b"/>
                    <a:pathLst>
                      <a:path w="4" h="8">
                        <a:moveTo>
                          <a:pt x="0" y="0"/>
                        </a:moveTo>
                        <a:lnTo>
                          <a:pt x="0" y="4"/>
                        </a:lnTo>
                        <a:lnTo>
                          <a:pt x="4" y="8"/>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05" name="Line 517"/>
                  <p:cNvSpPr>
                    <a:spLocks noChangeShapeType="1"/>
                  </p:cNvSpPr>
                  <p:nvPr/>
                </p:nvSpPr>
                <p:spPr bwMode="auto">
                  <a:xfrm>
                    <a:off x="3406" y="112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06" name="Line 518"/>
                  <p:cNvSpPr>
                    <a:spLocks noChangeShapeType="1"/>
                  </p:cNvSpPr>
                  <p:nvPr/>
                </p:nvSpPr>
                <p:spPr bwMode="auto">
                  <a:xfrm>
                    <a:off x="3406" y="1128"/>
                    <a:ext cx="5"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07" name="Line 519"/>
                  <p:cNvSpPr>
                    <a:spLocks noChangeShapeType="1"/>
                  </p:cNvSpPr>
                  <p:nvPr/>
                </p:nvSpPr>
                <p:spPr bwMode="auto">
                  <a:xfrm>
                    <a:off x="3411" y="1136"/>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08" name="Line 520"/>
                  <p:cNvSpPr>
                    <a:spLocks noChangeShapeType="1"/>
                  </p:cNvSpPr>
                  <p:nvPr/>
                </p:nvSpPr>
                <p:spPr bwMode="auto">
                  <a:xfrm>
                    <a:off x="3415" y="11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09" name="Freeform 521"/>
                  <p:cNvSpPr>
                    <a:spLocks/>
                  </p:cNvSpPr>
                  <p:nvPr/>
                </p:nvSpPr>
                <p:spPr bwMode="auto">
                  <a:xfrm>
                    <a:off x="3415" y="1145"/>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10" name="Line 522"/>
                  <p:cNvSpPr>
                    <a:spLocks noChangeShapeType="1"/>
                  </p:cNvSpPr>
                  <p:nvPr/>
                </p:nvSpPr>
                <p:spPr bwMode="auto">
                  <a:xfrm>
                    <a:off x="3419" y="115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11" name="Line 523"/>
                  <p:cNvSpPr>
                    <a:spLocks noChangeShapeType="1"/>
                  </p:cNvSpPr>
                  <p:nvPr/>
                </p:nvSpPr>
                <p:spPr bwMode="auto">
                  <a:xfrm>
                    <a:off x="3419" y="11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12" name="Line 524"/>
                  <p:cNvSpPr>
                    <a:spLocks noChangeShapeType="1"/>
                  </p:cNvSpPr>
                  <p:nvPr/>
                </p:nvSpPr>
                <p:spPr bwMode="auto">
                  <a:xfrm>
                    <a:off x="3424" y="11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13" name="Line 525"/>
                  <p:cNvSpPr>
                    <a:spLocks noChangeShapeType="1"/>
                  </p:cNvSpPr>
                  <p:nvPr/>
                </p:nvSpPr>
                <p:spPr bwMode="auto">
                  <a:xfrm>
                    <a:off x="3428" y="1171"/>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14" name="Freeform 526"/>
                  <p:cNvSpPr>
                    <a:spLocks/>
                  </p:cNvSpPr>
                  <p:nvPr/>
                </p:nvSpPr>
                <p:spPr bwMode="auto">
                  <a:xfrm>
                    <a:off x="3428" y="1180"/>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15" name="Line 527"/>
                  <p:cNvSpPr>
                    <a:spLocks noChangeShapeType="1"/>
                  </p:cNvSpPr>
                  <p:nvPr/>
                </p:nvSpPr>
                <p:spPr bwMode="auto">
                  <a:xfrm>
                    <a:off x="3432" y="118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16" name="Freeform 528"/>
                  <p:cNvSpPr>
                    <a:spLocks/>
                  </p:cNvSpPr>
                  <p:nvPr/>
                </p:nvSpPr>
                <p:spPr bwMode="auto">
                  <a:xfrm>
                    <a:off x="3432" y="1188"/>
                    <a:ext cx="5" cy="9"/>
                  </a:xfrm>
                  <a:custGeom>
                    <a:avLst/>
                    <a:gdLst>
                      <a:gd name="T0" fmla="*/ 0 w 5"/>
                      <a:gd name="T1" fmla="*/ 0 h 9"/>
                      <a:gd name="T2" fmla="*/ 0 w 5"/>
                      <a:gd name="T3" fmla="*/ 5 h 9"/>
                      <a:gd name="T4" fmla="*/ 5 w 5"/>
                      <a:gd name="T5" fmla="*/ 9 h 9"/>
                      <a:gd name="T6" fmla="*/ 0 60000 65536"/>
                      <a:gd name="T7" fmla="*/ 0 60000 65536"/>
                      <a:gd name="T8" fmla="*/ 0 60000 65536"/>
                    </a:gdLst>
                    <a:ahLst/>
                    <a:cxnLst>
                      <a:cxn ang="T6">
                        <a:pos x="T0" y="T1"/>
                      </a:cxn>
                      <a:cxn ang="T7">
                        <a:pos x="T2" y="T3"/>
                      </a:cxn>
                      <a:cxn ang="T8">
                        <a:pos x="T4" y="T5"/>
                      </a:cxn>
                    </a:cxnLst>
                    <a:rect l="0" t="0" r="r" b="b"/>
                    <a:pathLst>
                      <a:path w="5" h="9">
                        <a:moveTo>
                          <a:pt x="0" y="0"/>
                        </a:moveTo>
                        <a:lnTo>
                          <a:pt x="0" y="5"/>
                        </a:lnTo>
                        <a:lnTo>
                          <a:pt x="5"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17" name="Line 529"/>
                  <p:cNvSpPr>
                    <a:spLocks noChangeShapeType="1"/>
                  </p:cNvSpPr>
                  <p:nvPr/>
                </p:nvSpPr>
                <p:spPr bwMode="auto">
                  <a:xfrm>
                    <a:off x="3437" y="11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18" name="Line 530"/>
                  <p:cNvSpPr>
                    <a:spLocks noChangeShapeType="1"/>
                  </p:cNvSpPr>
                  <p:nvPr/>
                </p:nvSpPr>
                <p:spPr bwMode="auto">
                  <a:xfrm>
                    <a:off x="3437" y="1201"/>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19" name="Line 531"/>
                  <p:cNvSpPr>
                    <a:spLocks noChangeShapeType="1"/>
                  </p:cNvSpPr>
                  <p:nvPr/>
                </p:nvSpPr>
                <p:spPr bwMode="auto">
                  <a:xfrm>
                    <a:off x="3441" y="12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20" name="Line 532"/>
                  <p:cNvSpPr>
                    <a:spLocks noChangeShapeType="1"/>
                  </p:cNvSpPr>
                  <p:nvPr/>
                </p:nvSpPr>
                <p:spPr bwMode="auto">
                  <a:xfrm>
                    <a:off x="3445" y="121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21" name="Freeform 533"/>
                  <p:cNvSpPr>
                    <a:spLocks/>
                  </p:cNvSpPr>
                  <p:nvPr/>
                </p:nvSpPr>
                <p:spPr bwMode="auto">
                  <a:xfrm>
                    <a:off x="3445" y="1223"/>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22" name="Line 534"/>
                  <p:cNvSpPr>
                    <a:spLocks noChangeShapeType="1"/>
                  </p:cNvSpPr>
                  <p:nvPr/>
                </p:nvSpPr>
                <p:spPr bwMode="auto">
                  <a:xfrm>
                    <a:off x="3450" y="122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23" name="Line 535"/>
                  <p:cNvSpPr>
                    <a:spLocks noChangeShapeType="1"/>
                  </p:cNvSpPr>
                  <p:nvPr/>
                </p:nvSpPr>
                <p:spPr bwMode="auto">
                  <a:xfrm>
                    <a:off x="3450" y="123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24" name="Line 536"/>
                  <p:cNvSpPr>
                    <a:spLocks noChangeShapeType="1"/>
                  </p:cNvSpPr>
                  <p:nvPr/>
                </p:nvSpPr>
                <p:spPr bwMode="auto">
                  <a:xfrm>
                    <a:off x="3454" y="124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25" name="Line 537"/>
                  <p:cNvSpPr>
                    <a:spLocks noChangeShapeType="1"/>
                  </p:cNvSpPr>
                  <p:nvPr/>
                </p:nvSpPr>
                <p:spPr bwMode="auto">
                  <a:xfrm>
                    <a:off x="3458" y="1245"/>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26" name="Freeform 538"/>
                  <p:cNvSpPr>
                    <a:spLocks/>
                  </p:cNvSpPr>
                  <p:nvPr/>
                </p:nvSpPr>
                <p:spPr bwMode="auto">
                  <a:xfrm>
                    <a:off x="3458" y="1253"/>
                    <a:ext cx="5" cy="5"/>
                  </a:xfrm>
                  <a:custGeom>
                    <a:avLst/>
                    <a:gdLst>
                      <a:gd name="T0" fmla="*/ 0 w 5"/>
                      <a:gd name="T1" fmla="*/ 0 h 5"/>
                      <a:gd name="T2" fmla="*/ 0 w 5"/>
                      <a:gd name="T3" fmla="*/ 5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5"/>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27" name="Line 539"/>
                  <p:cNvSpPr>
                    <a:spLocks noChangeShapeType="1"/>
                  </p:cNvSpPr>
                  <p:nvPr/>
                </p:nvSpPr>
                <p:spPr bwMode="auto">
                  <a:xfrm>
                    <a:off x="3463" y="12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28" name="Freeform 540"/>
                  <p:cNvSpPr>
                    <a:spLocks/>
                  </p:cNvSpPr>
                  <p:nvPr/>
                </p:nvSpPr>
                <p:spPr bwMode="auto">
                  <a:xfrm>
                    <a:off x="3463" y="1262"/>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29" name="Line 541"/>
                  <p:cNvSpPr>
                    <a:spLocks noChangeShapeType="1"/>
                  </p:cNvSpPr>
                  <p:nvPr/>
                </p:nvSpPr>
                <p:spPr bwMode="auto">
                  <a:xfrm>
                    <a:off x="3467" y="12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30" name="Line 542"/>
                  <p:cNvSpPr>
                    <a:spLocks noChangeShapeType="1"/>
                  </p:cNvSpPr>
                  <p:nvPr/>
                </p:nvSpPr>
                <p:spPr bwMode="auto">
                  <a:xfrm>
                    <a:off x="3467" y="1275"/>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31" name="Line 543"/>
                  <p:cNvSpPr>
                    <a:spLocks noChangeShapeType="1"/>
                  </p:cNvSpPr>
                  <p:nvPr/>
                </p:nvSpPr>
                <p:spPr bwMode="auto">
                  <a:xfrm>
                    <a:off x="3471" y="128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32" name="Line 544"/>
                  <p:cNvSpPr>
                    <a:spLocks noChangeShapeType="1"/>
                  </p:cNvSpPr>
                  <p:nvPr/>
                </p:nvSpPr>
                <p:spPr bwMode="auto">
                  <a:xfrm>
                    <a:off x="3476" y="12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33" name="Freeform 545"/>
                  <p:cNvSpPr>
                    <a:spLocks/>
                  </p:cNvSpPr>
                  <p:nvPr/>
                </p:nvSpPr>
                <p:spPr bwMode="auto">
                  <a:xfrm>
                    <a:off x="3476" y="1292"/>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34" name="Line 546"/>
                  <p:cNvSpPr>
                    <a:spLocks noChangeShapeType="1"/>
                  </p:cNvSpPr>
                  <p:nvPr/>
                </p:nvSpPr>
                <p:spPr bwMode="auto">
                  <a:xfrm>
                    <a:off x="3480" y="130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35" name="Line 547"/>
                  <p:cNvSpPr>
                    <a:spLocks noChangeShapeType="1"/>
                  </p:cNvSpPr>
                  <p:nvPr/>
                </p:nvSpPr>
                <p:spPr bwMode="auto">
                  <a:xfrm>
                    <a:off x="3480" y="1306"/>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36" name="Line 548"/>
                  <p:cNvSpPr>
                    <a:spLocks noChangeShapeType="1"/>
                  </p:cNvSpPr>
                  <p:nvPr/>
                </p:nvSpPr>
                <p:spPr bwMode="auto">
                  <a:xfrm>
                    <a:off x="3484" y="131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37" name="Line 549"/>
                  <p:cNvSpPr>
                    <a:spLocks noChangeShapeType="1"/>
                  </p:cNvSpPr>
                  <p:nvPr/>
                </p:nvSpPr>
                <p:spPr bwMode="auto">
                  <a:xfrm>
                    <a:off x="3489" y="131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38" name="Freeform 550"/>
                  <p:cNvSpPr>
                    <a:spLocks/>
                  </p:cNvSpPr>
                  <p:nvPr/>
                </p:nvSpPr>
                <p:spPr bwMode="auto">
                  <a:xfrm>
                    <a:off x="3489" y="1323"/>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39" name="Line 551"/>
                  <p:cNvSpPr>
                    <a:spLocks noChangeShapeType="1"/>
                  </p:cNvSpPr>
                  <p:nvPr/>
                </p:nvSpPr>
                <p:spPr bwMode="auto">
                  <a:xfrm>
                    <a:off x="3493" y="1332"/>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40" name="Line 552"/>
                  <p:cNvSpPr>
                    <a:spLocks noChangeShapeType="1"/>
                  </p:cNvSpPr>
                  <p:nvPr/>
                </p:nvSpPr>
                <p:spPr bwMode="auto">
                  <a:xfrm>
                    <a:off x="3493" y="1336"/>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41" name="Line 553"/>
                  <p:cNvSpPr>
                    <a:spLocks noChangeShapeType="1"/>
                  </p:cNvSpPr>
                  <p:nvPr/>
                </p:nvSpPr>
                <p:spPr bwMode="auto">
                  <a:xfrm>
                    <a:off x="3497" y="1340"/>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42" name="Line 554"/>
                  <p:cNvSpPr>
                    <a:spLocks noChangeShapeType="1"/>
                  </p:cNvSpPr>
                  <p:nvPr/>
                </p:nvSpPr>
                <p:spPr bwMode="auto">
                  <a:xfrm>
                    <a:off x="3502" y="13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43" name="Freeform 555"/>
                  <p:cNvSpPr>
                    <a:spLocks/>
                  </p:cNvSpPr>
                  <p:nvPr/>
                </p:nvSpPr>
                <p:spPr bwMode="auto">
                  <a:xfrm>
                    <a:off x="3502" y="1353"/>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44" name="Line 556"/>
                  <p:cNvSpPr>
                    <a:spLocks noChangeShapeType="1"/>
                  </p:cNvSpPr>
                  <p:nvPr/>
                </p:nvSpPr>
                <p:spPr bwMode="auto">
                  <a:xfrm>
                    <a:off x="3506" y="13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45" name="Freeform 557"/>
                  <p:cNvSpPr>
                    <a:spLocks/>
                  </p:cNvSpPr>
                  <p:nvPr/>
                </p:nvSpPr>
                <p:spPr bwMode="auto">
                  <a:xfrm>
                    <a:off x="3506" y="1362"/>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46" name="Line 558"/>
                  <p:cNvSpPr>
                    <a:spLocks noChangeShapeType="1"/>
                  </p:cNvSpPr>
                  <p:nvPr/>
                </p:nvSpPr>
                <p:spPr bwMode="auto">
                  <a:xfrm>
                    <a:off x="3510" y="13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47" name="Line 559"/>
                  <p:cNvSpPr>
                    <a:spLocks noChangeShapeType="1"/>
                  </p:cNvSpPr>
                  <p:nvPr/>
                </p:nvSpPr>
                <p:spPr bwMode="auto">
                  <a:xfrm>
                    <a:off x="3510" y="137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48" name="Line 560"/>
                  <p:cNvSpPr>
                    <a:spLocks noChangeShapeType="1"/>
                  </p:cNvSpPr>
                  <p:nvPr/>
                </p:nvSpPr>
                <p:spPr bwMode="auto">
                  <a:xfrm>
                    <a:off x="3515" y="1379"/>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49" name="Line 561"/>
                  <p:cNvSpPr>
                    <a:spLocks noChangeShapeType="1"/>
                  </p:cNvSpPr>
                  <p:nvPr/>
                </p:nvSpPr>
                <p:spPr bwMode="auto">
                  <a:xfrm>
                    <a:off x="3519" y="13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50" name="Freeform 562"/>
                  <p:cNvSpPr>
                    <a:spLocks/>
                  </p:cNvSpPr>
                  <p:nvPr/>
                </p:nvSpPr>
                <p:spPr bwMode="auto">
                  <a:xfrm>
                    <a:off x="3519" y="1392"/>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51" name="Line 563"/>
                  <p:cNvSpPr>
                    <a:spLocks noChangeShapeType="1"/>
                  </p:cNvSpPr>
                  <p:nvPr/>
                </p:nvSpPr>
                <p:spPr bwMode="auto">
                  <a:xfrm>
                    <a:off x="3523" y="13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52" name="Line 564"/>
                  <p:cNvSpPr>
                    <a:spLocks noChangeShapeType="1"/>
                  </p:cNvSpPr>
                  <p:nvPr/>
                </p:nvSpPr>
                <p:spPr bwMode="auto">
                  <a:xfrm>
                    <a:off x="3523" y="1401"/>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53" name="Line 565"/>
                  <p:cNvSpPr>
                    <a:spLocks noChangeShapeType="1"/>
                  </p:cNvSpPr>
                  <p:nvPr/>
                </p:nvSpPr>
                <p:spPr bwMode="auto">
                  <a:xfrm>
                    <a:off x="3528" y="14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54" name="Line 566"/>
                  <p:cNvSpPr>
                    <a:spLocks noChangeShapeType="1"/>
                  </p:cNvSpPr>
                  <p:nvPr/>
                </p:nvSpPr>
                <p:spPr bwMode="auto">
                  <a:xfrm>
                    <a:off x="3532" y="14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55" name="Freeform 567"/>
                  <p:cNvSpPr>
                    <a:spLocks/>
                  </p:cNvSpPr>
                  <p:nvPr/>
                </p:nvSpPr>
                <p:spPr bwMode="auto">
                  <a:xfrm>
                    <a:off x="3532" y="1418"/>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56" name="Line 568"/>
                  <p:cNvSpPr>
                    <a:spLocks noChangeShapeType="1"/>
                  </p:cNvSpPr>
                  <p:nvPr/>
                </p:nvSpPr>
                <p:spPr bwMode="auto">
                  <a:xfrm>
                    <a:off x="3537" y="142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57" name="Freeform 569"/>
                  <p:cNvSpPr>
                    <a:spLocks/>
                  </p:cNvSpPr>
                  <p:nvPr/>
                </p:nvSpPr>
                <p:spPr bwMode="auto">
                  <a:xfrm>
                    <a:off x="3537" y="1427"/>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58" name="Line 570"/>
                  <p:cNvSpPr>
                    <a:spLocks noChangeShapeType="1"/>
                  </p:cNvSpPr>
                  <p:nvPr/>
                </p:nvSpPr>
                <p:spPr bwMode="auto">
                  <a:xfrm>
                    <a:off x="3541" y="14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59" name="Line 571"/>
                  <p:cNvSpPr>
                    <a:spLocks noChangeShapeType="1"/>
                  </p:cNvSpPr>
                  <p:nvPr/>
                </p:nvSpPr>
                <p:spPr bwMode="auto">
                  <a:xfrm>
                    <a:off x="3541" y="144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60" name="Line 572"/>
                  <p:cNvSpPr>
                    <a:spLocks noChangeShapeType="1"/>
                  </p:cNvSpPr>
                  <p:nvPr/>
                </p:nvSpPr>
                <p:spPr bwMode="auto">
                  <a:xfrm>
                    <a:off x="3545" y="144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61" name="Line 573"/>
                  <p:cNvSpPr>
                    <a:spLocks noChangeShapeType="1"/>
                  </p:cNvSpPr>
                  <p:nvPr/>
                </p:nvSpPr>
                <p:spPr bwMode="auto">
                  <a:xfrm>
                    <a:off x="3550" y="14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62" name="Freeform 574"/>
                  <p:cNvSpPr>
                    <a:spLocks/>
                  </p:cNvSpPr>
                  <p:nvPr/>
                </p:nvSpPr>
                <p:spPr bwMode="auto">
                  <a:xfrm>
                    <a:off x="3550" y="145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63" name="Line 575"/>
                  <p:cNvSpPr>
                    <a:spLocks noChangeShapeType="1"/>
                  </p:cNvSpPr>
                  <p:nvPr/>
                </p:nvSpPr>
                <p:spPr bwMode="auto">
                  <a:xfrm>
                    <a:off x="3554" y="14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64" name="Line 576"/>
                  <p:cNvSpPr>
                    <a:spLocks noChangeShapeType="1"/>
                  </p:cNvSpPr>
                  <p:nvPr/>
                </p:nvSpPr>
                <p:spPr bwMode="auto">
                  <a:xfrm>
                    <a:off x="3554" y="146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65" name="Line 577"/>
                  <p:cNvSpPr>
                    <a:spLocks noChangeShapeType="1"/>
                  </p:cNvSpPr>
                  <p:nvPr/>
                </p:nvSpPr>
                <p:spPr bwMode="auto">
                  <a:xfrm>
                    <a:off x="3558" y="1470"/>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66" name="Line 578"/>
                  <p:cNvSpPr>
                    <a:spLocks noChangeShapeType="1"/>
                  </p:cNvSpPr>
                  <p:nvPr/>
                </p:nvSpPr>
                <p:spPr bwMode="auto">
                  <a:xfrm>
                    <a:off x="3563" y="14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67" name="Freeform 579"/>
                  <p:cNvSpPr>
                    <a:spLocks/>
                  </p:cNvSpPr>
                  <p:nvPr/>
                </p:nvSpPr>
                <p:spPr bwMode="auto">
                  <a:xfrm>
                    <a:off x="3563" y="1479"/>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68" name="Line 580"/>
                  <p:cNvSpPr>
                    <a:spLocks noChangeShapeType="1"/>
                  </p:cNvSpPr>
                  <p:nvPr/>
                </p:nvSpPr>
                <p:spPr bwMode="auto">
                  <a:xfrm>
                    <a:off x="3567" y="14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69" name="Freeform 581"/>
                  <p:cNvSpPr>
                    <a:spLocks/>
                  </p:cNvSpPr>
                  <p:nvPr/>
                </p:nvSpPr>
                <p:spPr bwMode="auto">
                  <a:xfrm>
                    <a:off x="3567" y="1488"/>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70" name="Line 582"/>
                  <p:cNvSpPr>
                    <a:spLocks noChangeShapeType="1"/>
                  </p:cNvSpPr>
                  <p:nvPr/>
                </p:nvSpPr>
                <p:spPr bwMode="auto">
                  <a:xfrm>
                    <a:off x="3571" y="149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71" name="Line 583"/>
                  <p:cNvSpPr>
                    <a:spLocks noChangeShapeType="1"/>
                  </p:cNvSpPr>
                  <p:nvPr/>
                </p:nvSpPr>
                <p:spPr bwMode="auto">
                  <a:xfrm>
                    <a:off x="3571" y="1497"/>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72" name="Line 584"/>
                  <p:cNvSpPr>
                    <a:spLocks noChangeShapeType="1"/>
                  </p:cNvSpPr>
                  <p:nvPr/>
                </p:nvSpPr>
                <p:spPr bwMode="auto">
                  <a:xfrm>
                    <a:off x="3576" y="1501"/>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73" name="Line 585"/>
                  <p:cNvSpPr>
                    <a:spLocks noChangeShapeType="1"/>
                  </p:cNvSpPr>
                  <p:nvPr/>
                </p:nvSpPr>
                <p:spPr bwMode="auto">
                  <a:xfrm>
                    <a:off x="3580" y="1505"/>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74" name="Freeform 586"/>
                  <p:cNvSpPr>
                    <a:spLocks/>
                  </p:cNvSpPr>
                  <p:nvPr/>
                </p:nvSpPr>
                <p:spPr bwMode="auto">
                  <a:xfrm>
                    <a:off x="3580" y="1510"/>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75" name="Line 587"/>
                  <p:cNvSpPr>
                    <a:spLocks noChangeShapeType="1"/>
                  </p:cNvSpPr>
                  <p:nvPr/>
                </p:nvSpPr>
                <p:spPr bwMode="auto">
                  <a:xfrm>
                    <a:off x="3584" y="15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76" name="Line 588"/>
                  <p:cNvSpPr>
                    <a:spLocks noChangeShapeType="1"/>
                  </p:cNvSpPr>
                  <p:nvPr/>
                </p:nvSpPr>
                <p:spPr bwMode="auto">
                  <a:xfrm>
                    <a:off x="3584" y="1518"/>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77" name="Line 589"/>
                  <p:cNvSpPr>
                    <a:spLocks noChangeShapeType="1"/>
                  </p:cNvSpPr>
                  <p:nvPr/>
                </p:nvSpPr>
                <p:spPr bwMode="auto">
                  <a:xfrm>
                    <a:off x="3589" y="152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78" name="Line 590"/>
                  <p:cNvSpPr>
                    <a:spLocks noChangeShapeType="1"/>
                  </p:cNvSpPr>
                  <p:nvPr/>
                </p:nvSpPr>
                <p:spPr bwMode="auto">
                  <a:xfrm>
                    <a:off x="3593" y="152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79" name="Freeform 591"/>
                  <p:cNvSpPr>
                    <a:spLocks/>
                  </p:cNvSpPr>
                  <p:nvPr/>
                </p:nvSpPr>
                <p:spPr bwMode="auto">
                  <a:xfrm>
                    <a:off x="3593" y="1531"/>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80" name="Line 592"/>
                  <p:cNvSpPr>
                    <a:spLocks noChangeShapeType="1"/>
                  </p:cNvSpPr>
                  <p:nvPr/>
                </p:nvSpPr>
                <p:spPr bwMode="auto">
                  <a:xfrm>
                    <a:off x="3597" y="15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81" name="Freeform 593"/>
                  <p:cNvSpPr>
                    <a:spLocks/>
                  </p:cNvSpPr>
                  <p:nvPr/>
                </p:nvSpPr>
                <p:spPr bwMode="auto">
                  <a:xfrm>
                    <a:off x="3597" y="1540"/>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82" name="Line 594"/>
                  <p:cNvSpPr>
                    <a:spLocks noChangeShapeType="1"/>
                  </p:cNvSpPr>
                  <p:nvPr/>
                </p:nvSpPr>
                <p:spPr bwMode="auto">
                  <a:xfrm>
                    <a:off x="3602" y="1544"/>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83" name="Line 595"/>
                  <p:cNvSpPr>
                    <a:spLocks noChangeShapeType="1"/>
                  </p:cNvSpPr>
                  <p:nvPr/>
                </p:nvSpPr>
                <p:spPr bwMode="auto">
                  <a:xfrm>
                    <a:off x="3602" y="154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84" name="Line 596"/>
                  <p:cNvSpPr>
                    <a:spLocks noChangeShapeType="1"/>
                  </p:cNvSpPr>
                  <p:nvPr/>
                </p:nvSpPr>
                <p:spPr bwMode="auto">
                  <a:xfrm>
                    <a:off x="3606" y="155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85" name="Line 597"/>
                  <p:cNvSpPr>
                    <a:spLocks noChangeShapeType="1"/>
                  </p:cNvSpPr>
                  <p:nvPr/>
                </p:nvSpPr>
                <p:spPr bwMode="auto">
                  <a:xfrm>
                    <a:off x="3610" y="15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86" name="Freeform 598"/>
                  <p:cNvSpPr>
                    <a:spLocks/>
                  </p:cNvSpPr>
                  <p:nvPr/>
                </p:nvSpPr>
                <p:spPr bwMode="auto">
                  <a:xfrm>
                    <a:off x="3610" y="1562"/>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87" name="Line 599"/>
                  <p:cNvSpPr>
                    <a:spLocks noChangeShapeType="1"/>
                  </p:cNvSpPr>
                  <p:nvPr/>
                </p:nvSpPr>
                <p:spPr bwMode="auto">
                  <a:xfrm>
                    <a:off x="3615" y="156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88" name="Line 600"/>
                  <p:cNvSpPr>
                    <a:spLocks noChangeShapeType="1"/>
                  </p:cNvSpPr>
                  <p:nvPr/>
                </p:nvSpPr>
                <p:spPr bwMode="auto">
                  <a:xfrm>
                    <a:off x="3615" y="15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89" name="Line 601"/>
                  <p:cNvSpPr>
                    <a:spLocks noChangeShapeType="1"/>
                  </p:cNvSpPr>
                  <p:nvPr/>
                </p:nvSpPr>
                <p:spPr bwMode="auto">
                  <a:xfrm>
                    <a:off x="3619" y="157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90" name="Line 602"/>
                  <p:cNvSpPr>
                    <a:spLocks noChangeShapeType="1"/>
                  </p:cNvSpPr>
                  <p:nvPr/>
                </p:nvSpPr>
                <p:spPr bwMode="auto">
                  <a:xfrm>
                    <a:off x="3623" y="15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91" name="Freeform 603"/>
                  <p:cNvSpPr>
                    <a:spLocks/>
                  </p:cNvSpPr>
                  <p:nvPr/>
                </p:nvSpPr>
                <p:spPr bwMode="auto">
                  <a:xfrm>
                    <a:off x="3623" y="1579"/>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92" name="Line 604"/>
                  <p:cNvSpPr>
                    <a:spLocks noChangeShapeType="1"/>
                  </p:cNvSpPr>
                  <p:nvPr/>
                </p:nvSpPr>
                <p:spPr bwMode="auto">
                  <a:xfrm>
                    <a:off x="3628" y="15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93" name="Freeform 605"/>
                  <p:cNvSpPr>
                    <a:spLocks/>
                  </p:cNvSpPr>
                  <p:nvPr/>
                </p:nvSpPr>
                <p:spPr bwMode="auto">
                  <a:xfrm>
                    <a:off x="3628" y="1588"/>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994" name="Line 606"/>
                  <p:cNvSpPr>
                    <a:spLocks noChangeShapeType="1"/>
                  </p:cNvSpPr>
                  <p:nvPr/>
                </p:nvSpPr>
                <p:spPr bwMode="auto">
                  <a:xfrm>
                    <a:off x="3632" y="159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95" name="Line 607"/>
                  <p:cNvSpPr>
                    <a:spLocks noChangeShapeType="1"/>
                  </p:cNvSpPr>
                  <p:nvPr/>
                </p:nvSpPr>
                <p:spPr bwMode="auto">
                  <a:xfrm>
                    <a:off x="3632" y="1592"/>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96" name="Line 608"/>
                  <p:cNvSpPr>
                    <a:spLocks noChangeShapeType="1"/>
                  </p:cNvSpPr>
                  <p:nvPr/>
                </p:nvSpPr>
                <p:spPr bwMode="auto">
                  <a:xfrm>
                    <a:off x="3636" y="1596"/>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997" name="Line 609"/>
                  <p:cNvSpPr>
                    <a:spLocks noChangeShapeType="1"/>
                  </p:cNvSpPr>
                  <p:nvPr/>
                </p:nvSpPr>
                <p:spPr bwMode="auto">
                  <a:xfrm>
                    <a:off x="3641" y="160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585" name="Group 610"/>
                <p:cNvGrpSpPr>
                  <a:grpSpLocks/>
                </p:cNvGrpSpPr>
                <p:nvPr/>
              </p:nvGrpSpPr>
              <p:grpSpPr bwMode="auto">
                <a:xfrm>
                  <a:off x="3585" y="3512"/>
                  <a:ext cx="730" cy="362"/>
                  <a:chOff x="3641" y="1605"/>
                  <a:chExt cx="508" cy="178"/>
                </a:xfrm>
              </p:grpSpPr>
              <p:sp>
                <p:nvSpPr>
                  <p:cNvPr id="9598" name="Freeform 611"/>
                  <p:cNvSpPr>
                    <a:spLocks/>
                  </p:cNvSpPr>
                  <p:nvPr/>
                </p:nvSpPr>
                <p:spPr bwMode="auto">
                  <a:xfrm>
                    <a:off x="3641" y="1605"/>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99" name="Line 612"/>
                  <p:cNvSpPr>
                    <a:spLocks noChangeShapeType="1"/>
                  </p:cNvSpPr>
                  <p:nvPr/>
                </p:nvSpPr>
                <p:spPr bwMode="auto">
                  <a:xfrm>
                    <a:off x="3645" y="160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00" name="Line 613"/>
                  <p:cNvSpPr>
                    <a:spLocks noChangeShapeType="1"/>
                  </p:cNvSpPr>
                  <p:nvPr/>
                </p:nvSpPr>
                <p:spPr bwMode="auto">
                  <a:xfrm>
                    <a:off x="3645" y="160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01" name="Line 614"/>
                  <p:cNvSpPr>
                    <a:spLocks noChangeShapeType="1"/>
                  </p:cNvSpPr>
                  <p:nvPr/>
                </p:nvSpPr>
                <p:spPr bwMode="auto">
                  <a:xfrm>
                    <a:off x="3649" y="161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02" name="Line 615"/>
                  <p:cNvSpPr>
                    <a:spLocks noChangeShapeType="1"/>
                  </p:cNvSpPr>
                  <p:nvPr/>
                </p:nvSpPr>
                <p:spPr bwMode="auto">
                  <a:xfrm>
                    <a:off x="3654" y="161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03" name="Freeform 616"/>
                  <p:cNvSpPr>
                    <a:spLocks/>
                  </p:cNvSpPr>
                  <p:nvPr/>
                </p:nvSpPr>
                <p:spPr bwMode="auto">
                  <a:xfrm>
                    <a:off x="3654" y="1618"/>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04" name="Line 617"/>
                  <p:cNvSpPr>
                    <a:spLocks noChangeShapeType="1"/>
                  </p:cNvSpPr>
                  <p:nvPr/>
                </p:nvSpPr>
                <p:spPr bwMode="auto">
                  <a:xfrm>
                    <a:off x="3658" y="162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05" name="Freeform 618"/>
                  <p:cNvSpPr>
                    <a:spLocks/>
                  </p:cNvSpPr>
                  <p:nvPr/>
                </p:nvSpPr>
                <p:spPr bwMode="auto">
                  <a:xfrm>
                    <a:off x="3658" y="1627"/>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06" name="Line 619"/>
                  <p:cNvSpPr>
                    <a:spLocks noChangeShapeType="1"/>
                  </p:cNvSpPr>
                  <p:nvPr/>
                </p:nvSpPr>
                <p:spPr bwMode="auto">
                  <a:xfrm>
                    <a:off x="3662" y="163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07" name="Line 620"/>
                  <p:cNvSpPr>
                    <a:spLocks noChangeShapeType="1"/>
                  </p:cNvSpPr>
                  <p:nvPr/>
                </p:nvSpPr>
                <p:spPr bwMode="auto">
                  <a:xfrm>
                    <a:off x="3662" y="1631"/>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08" name="Line 621"/>
                  <p:cNvSpPr>
                    <a:spLocks noChangeShapeType="1"/>
                  </p:cNvSpPr>
                  <p:nvPr/>
                </p:nvSpPr>
                <p:spPr bwMode="auto">
                  <a:xfrm>
                    <a:off x="3667" y="163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09" name="Line 622"/>
                  <p:cNvSpPr>
                    <a:spLocks noChangeShapeType="1"/>
                  </p:cNvSpPr>
                  <p:nvPr/>
                </p:nvSpPr>
                <p:spPr bwMode="auto">
                  <a:xfrm>
                    <a:off x="3671" y="164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10" name="Freeform 623"/>
                  <p:cNvSpPr>
                    <a:spLocks/>
                  </p:cNvSpPr>
                  <p:nvPr/>
                </p:nvSpPr>
                <p:spPr bwMode="auto">
                  <a:xfrm>
                    <a:off x="3671" y="1640"/>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11" name="Line 624"/>
                  <p:cNvSpPr>
                    <a:spLocks noChangeShapeType="1"/>
                  </p:cNvSpPr>
                  <p:nvPr/>
                </p:nvSpPr>
                <p:spPr bwMode="auto">
                  <a:xfrm>
                    <a:off x="3675" y="164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12" name="Line 625"/>
                  <p:cNvSpPr>
                    <a:spLocks noChangeShapeType="1"/>
                  </p:cNvSpPr>
                  <p:nvPr/>
                </p:nvSpPr>
                <p:spPr bwMode="auto">
                  <a:xfrm>
                    <a:off x="3675" y="16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13" name="Freeform 626"/>
                  <p:cNvSpPr>
                    <a:spLocks/>
                  </p:cNvSpPr>
                  <p:nvPr/>
                </p:nvSpPr>
                <p:spPr bwMode="auto">
                  <a:xfrm>
                    <a:off x="3680" y="1648"/>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14" name="Line 627"/>
                  <p:cNvSpPr>
                    <a:spLocks noChangeShapeType="1"/>
                  </p:cNvSpPr>
                  <p:nvPr/>
                </p:nvSpPr>
                <p:spPr bwMode="auto">
                  <a:xfrm>
                    <a:off x="3684" y="16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15" name="Freeform 628"/>
                  <p:cNvSpPr>
                    <a:spLocks/>
                  </p:cNvSpPr>
                  <p:nvPr/>
                </p:nvSpPr>
                <p:spPr bwMode="auto">
                  <a:xfrm>
                    <a:off x="3684" y="165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16" name="Line 629"/>
                  <p:cNvSpPr>
                    <a:spLocks noChangeShapeType="1"/>
                  </p:cNvSpPr>
                  <p:nvPr/>
                </p:nvSpPr>
                <p:spPr bwMode="auto">
                  <a:xfrm>
                    <a:off x="3688" y="165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17" name="Freeform 630"/>
                  <p:cNvSpPr>
                    <a:spLocks/>
                  </p:cNvSpPr>
                  <p:nvPr/>
                </p:nvSpPr>
                <p:spPr bwMode="auto">
                  <a:xfrm>
                    <a:off x="3688" y="16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18" name="Freeform 631"/>
                  <p:cNvSpPr>
                    <a:spLocks/>
                  </p:cNvSpPr>
                  <p:nvPr/>
                </p:nvSpPr>
                <p:spPr bwMode="auto">
                  <a:xfrm>
                    <a:off x="3693" y="1661"/>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19" name="Line 632"/>
                  <p:cNvSpPr>
                    <a:spLocks noChangeShapeType="1"/>
                  </p:cNvSpPr>
                  <p:nvPr/>
                </p:nvSpPr>
                <p:spPr bwMode="auto">
                  <a:xfrm>
                    <a:off x="3693" y="166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20" name="Freeform 633"/>
                  <p:cNvSpPr>
                    <a:spLocks/>
                  </p:cNvSpPr>
                  <p:nvPr/>
                </p:nvSpPr>
                <p:spPr bwMode="auto">
                  <a:xfrm>
                    <a:off x="3697" y="1666"/>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21" name="Line 634"/>
                  <p:cNvSpPr>
                    <a:spLocks noChangeShapeType="1"/>
                  </p:cNvSpPr>
                  <p:nvPr/>
                </p:nvSpPr>
                <p:spPr bwMode="auto">
                  <a:xfrm>
                    <a:off x="3701" y="16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22" name="Freeform 635"/>
                  <p:cNvSpPr>
                    <a:spLocks/>
                  </p:cNvSpPr>
                  <p:nvPr/>
                </p:nvSpPr>
                <p:spPr bwMode="auto">
                  <a:xfrm>
                    <a:off x="3701" y="1670"/>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23" name="Line 636"/>
                  <p:cNvSpPr>
                    <a:spLocks noChangeShapeType="1"/>
                  </p:cNvSpPr>
                  <p:nvPr/>
                </p:nvSpPr>
                <p:spPr bwMode="auto">
                  <a:xfrm>
                    <a:off x="3706" y="16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24" name="Line 637"/>
                  <p:cNvSpPr>
                    <a:spLocks noChangeShapeType="1"/>
                  </p:cNvSpPr>
                  <p:nvPr/>
                </p:nvSpPr>
                <p:spPr bwMode="auto">
                  <a:xfrm>
                    <a:off x="3706" y="1674"/>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25" name="Line 638"/>
                  <p:cNvSpPr>
                    <a:spLocks noChangeShapeType="1"/>
                  </p:cNvSpPr>
                  <p:nvPr/>
                </p:nvSpPr>
                <p:spPr bwMode="auto">
                  <a:xfrm>
                    <a:off x="3710" y="1679"/>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26" name="Line 639"/>
                  <p:cNvSpPr>
                    <a:spLocks noChangeShapeType="1"/>
                  </p:cNvSpPr>
                  <p:nvPr/>
                </p:nvSpPr>
                <p:spPr bwMode="auto">
                  <a:xfrm>
                    <a:off x="3715" y="16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27" name="Freeform 640"/>
                  <p:cNvSpPr>
                    <a:spLocks/>
                  </p:cNvSpPr>
                  <p:nvPr/>
                </p:nvSpPr>
                <p:spPr bwMode="auto">
                  <a:xfrm>
                    <a:off x="3715" y="168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28" name="Line 641"/>
                  <p:cNvSpPr>
                    <a:spLocks noChangeShapeType="1"/>
                  </p:cNvSpPr>
                  <p:nvPr/>
                </p:nvSpPr>
                <p:spPr bwMode="auto">
                  <a:xfrm>
                    <a:off x="3719" y="16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29" name="Freeform 642"/>
                  <p:cNvSpPr>
                    <a:spLocks/>
                  </p:cNvSpPr>
                  <p:nvPr/>
                </p:nvSpPr>
                <p:spPr bwMode="auto">
                  <a:xfrm>
                    <a:off x="3719" y="16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30" name="Freeform 643"/>
                  <p:cNvSpPr>
                    <a:spLocks/>
                  </p:cNvSpPr>
                  <p:nvPr/>
                </p:nvSpPr>
                <p:spPr bwMode="auto">
                  <a:xfrm>
                    <a:off x="3723" y="1687"/>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31" name="Line 644"/>
                  <p:cNvSpPr>
                    <a:spLocks noChangeShapeType="1"/>
                  </p:cNvSpPr>
                  <p:nvPr/>
                </p:nvSpPr>
                <p:spPr bwMode="auto">
                  <a:xfrm>
                    <a:off x="3723" y="1692"/>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32" name="Freeform 645"/>
                  <p:cNvSpPr>
                    <a:spLocks/>
                  </p:cNvSpPr>
                  <p:nvPr/>
                </p:nvSpPr>
                <p:spPr bwMode="auto">
                  <a:xfrm>
                    <a:off x="3728" y="1692"/>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33" name="Line 646"/>
                  <p:cNvSpPr>
                    <a:spLocks noChangeShapeType="1"/>
                  </p:cNvSpPr>
                  <p:nvPr/>
                </p:nvSpPr>
                <p:spPr bwMode="auto">
                  <a:xfrm>
                    <a:off x="3732" y="169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34" name="Freeform 647"/>
                  <p:cNvSpPr>
                    <a:spLocks/>
                  </p:cNvSpPr>
                  <p:nvPr/>
                </p:nvSpPr>
                <p:spPr bwMode="auto">
                  <a:xfrm>
                    <a:off x="3732" y="1696"/>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35" name="Line 648"/>
                  <p:cNvSpPr>
                    <a:spLocks noChangeShapeType="1"/>
                  </p:cNvSpPr>
                  <p:nvPr/>
                </p:nvSpPr>
                <p:spPr bwMode="auto">
                  <a:xfrm>
                    <a:off x="3736" y="170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36" name="Freeform 649"/>
                  <p:cNvSpPr>
                    <a:spLocks/>
                  </p:cNvSpPr>
                  <p:nvPr/>
                </p:nvSpPr>
                <p:spPr bwMode="auto">
                  <a:xfrm>
                    <a:off x="3736" y="1701"/>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37" name="Line 650"/>
                  <p:cNvSpPr>
                    <a:spLocks noChangeShapeType="1"/>
                  </p:cNvSpPr>
                  <p:nvPr/>
                </p:nvSpPr>
                <p:spPr bwMode="auto">
                  <a:xfrm>
                    <a:off x="3741" y="1705"/>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38" name="Line 651"/>
                  <p:cNvSpPr>
                    <a:spLocks noChangeShapeType="1"/>
                  </p:cNvSpPr>
                  <p:nvPr/>
                </p:nvSpPr>
                <p:spPr bwMode="auto">
                  <a:xfrm>
                    <a:off x="3745" y="170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39" name="Freeform 652"/>
                  <p:cNvSpPr>
                    <a:spLocks/>
                  </p:cNvSpPr>
                  <p:nvPr/>
                </p:nvSpPr>
                <p:spPr bwMode="auto">
                  <a:xfrm>
                    <a:off x="3745" y="1705"/>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40" name="Line 653"/>
                  <p:cNvSpPr>
                    <a:spLocks noChangeShapeType="1"/>
                  </p:cNvSpPr>
                  <p:nvPr/>
                </p:nvSpPr>
                <p:spPr bwMode="auto">
                  <a:xfrm>
                    <a:off x="3749" y="170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41" name="Freeform 654"/>
                  <p:cNvSpPr>
                    <a:spLocks/>
                  </p:cNvSpPr>
                  <p:nvPr/>
                </p:nvSpPr>
                <p:spPr bwMode="auto">
                  <a:xfrm>
                    <a:off x="3749" y="1709"/>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42" name="Line 655"/>
                  <p:cNvSpPr>
                    <a:spLocks noChangeShapeType="1"/>
                  </p:cNvSpPr>
                  <p:nvPr/>
                </p:nvSpPr>
                <p:spPr bwMode="auto">
                  <a:xfrm>
                    <a:off x="3754" y="171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43" name="Line 656"/>
                  <p:cNvSpPr>
                    <a:spLocks noChangeShapeType="1"/>
                  </p:cNvSpPr>
                  <p:nvPr/>
                </p:nvSpPr>
                <p:spPr bwMode="auto">
                  <a:xfrm>
                    <a:off x="3754" y="171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44" name="Freeform 657"/>
                  <p:cNvSpPr>
                    <a:spLocks/>
                  </p:cNvSpPr>
                  <p:nvPr/>
                </p:nvSpPr>
                <p:spPr bwMode="auto">
                  <a:xfrm>
                    <a:off x="3758" y="1714"/>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45" name="Line 658"/>
                  <p:cNvSpPr>
                    <a:spLocks noChangeShapeType="1"/>
                  </p:cNvSpPr>
                  <p:nvPr/>
                </p:nvSpPr>
                <p:spPr bwMode="auto">
                  <a:xfrm>
                    <a:off x="3762" y="171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46" name="Freeform 659"/>
                  <p:cNvSpPr>
                    <a:spLocks/>
                  </p:cNvSpPr>
                  <p:nvPr/>
                </p:nvSpPr>
                <p:spPr bwMode="auto">
                  <a:xfrm>
                    <a:off x="3762" y="1718"/>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47" name="Freeform 660"/>
                  <p:cNvSpPr>
                    <a:spLocks/>
                  </p:cNvSpPr>
                  <p:nvPr/>
                </p:nvSpPr>
                <p:spPr bwMode="auto">
                  <a:xfrm>
                    <a:off x="3767" y="1718"/>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48" name="Line 661"/>
                  <p:cNvSpPr>
                    <a:spLocks noChangeShapeType="1"/>
                  </p:cNvSpPr>
                  <p:nvPr/>
                </p:nvSpPr>
                <p:spPr bwMode="auto">
                  <a:xfrm>
                    <a:off x="3767" y="1722"/>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49" name="Line 662"/>
                  <p:cNvSpPr>
                    <a:spLocks noChangeShapeType="1"/>
                  </p:cNvSpPr>
                  <p:nvPr/>
                </p:nvSpPr>
                <p:spPr bwMode="auto">
                  <a:xfrm>
                    <a:off x="3771" y="1722"/>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50" name="Freeform 663"/>
                  <p:cNvSpPr>
                    <a:spLocks/>
                  </p:cNvSpPr>
                  <p:nvPr/>
                </p:nvSpPr>
                <p:spPr bwMode="auto">
                  <a:xfrm>
                    <a:off x="3775" y="1722"/>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51" name="Freeform 664"/>
                  <p:cNvSpPr>
                    <a:spLocks/>
                  </p:cNvSpPr>
                  <p:nvPr/>
                </p:nvSpPr>
                <p:spPr bwMode="auto">
                  <a:xfrm>
                    <a:off x="3775" y="172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52" name="Line 665"/>
                  <p:cNvSpPr>
                    <a:spLocks noChangeShapeType="1"/>
                  </p:cNvSpPr>
                  <p:nvPr/>
                </p:nvSpPr>
                <p:spPr bwMode="auto">
                  <a:xfrm>
                    <a:off x="3780" y="172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53" name="Freeform 666"/>
                  <p:cNvSpPr>
                    <a:spLocks/>
                  </p:cNvSpPr>
                  <p:nvPr/>
                </p:nvSpPr>
                <p:spPr bwMode="auto">
                  <a:xfrm>
                    <a:off x="3780" y="1727"/>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54" name="Line 667"/>
                  <p:cNvSpPr>
                    <a:spLocks noChangeShapeType="1"/>
                  </p:cNvSpPr>
                  <p:nvPr/>
                </p:nvSpPr>
                <p:spPr bwMode="auto">
                  <a:xfrm>
                    <a:off x="3784" y="173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55" name="Line 668"/>
                  <p:cNvSpPr>
                    <a:spLocks noChangeShapeType="1"/>
                  </p:cNvSpPr>
                  <p:nvPr/>
                </p:nvSpPr>
                <p:spPr bwMode="auto">
                  <a:xfrm>
                    <a:off x="3784" y="1731"/>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56" name="Freeform 669"/>
                  <p:cNvSpPr>
                    <a:spLocks/>
                  </p:cNvSpPr>
                  <p:nvPr/>
                </p:nvSpPr>
                <p:spPr bwMode="auto">
                  <a:xfrm>
                    <a:off x="3788" y="1731"/>
                    <a:ext cx="5" cy="4"/>
                  </a:xfrm>
                  <a:custGeom>
                    <a:avLst/>
                    <a:gdLst>
                      <a:gd name="T0" fmla="*/ 0 w 5"/>
                      <a:gd name="T1" fmla="*/ 0 h 4"/>
                      <a:gd name="T2" fmla="*/ 5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5"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57" name="Line 670"/>
                  <p:cNvSpPr>
                    <a:spLocks noChangeShapeType="1"/>
                  </p:cNvSpPr>
                  <p:nvPr/>
                </p:nvSpPr>
                <p:spPr bwMode="auto">
                  <a:xfrm>
                    <a:off x="3793" y="173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58" name="Freeform 671"/>
                  <p:cNvSpPr>
                    <a:spLocks/>
                  </p:cNvSpPr>
                  <p:nvPr/>
                </p:nvSpPr>
                <p:spPr bwMode="auto">
                  <a:xfrm>
                    <a:off x="3793" y="1735"/>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59" name="Line 672"/>
                  <p:cNvSpPr>
                    <a:spLocks noChangeShapeType="1"/>
                  </p:cNvSpPr>
                  <p:nvPr/>
                </p:nvSpPr>
                <p:spPr bwMode="auto">
                  <a:xfrm>
                    <a:off x="3797" y="173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60" name="Freeform 673"/>
                  <p:cNvSpPr>
                    <a:spLocks/>
                  </p:cNvSpPr>
                  <p:nvPr/>
                </p:nvSpPr>
                <p:spPr bwMode="auto">
                  <a:xfrm>
                    <a:off x="3797" y="1735"/>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61" name="Line 674"/>
                  <p:cNvSpPr>
                    <a:spLocks noChangeShapeType="1"/>
                  </p:cNvSpPr>
                  <p:nvPr/>
                </p:nvSpPr>
                <p:spPr bwMode="auto">
                  <a:xfrm>
                    <a:off x="3801" y="1740"/>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62" name="Line 675"/>
                  <p:cNvSpPr>
                    <a:spLocks noChangeShapeType="1"/>
                  </p:cNvSpPr>
                  <p:nvPr/>
                </p:nvSpPr>
                <p:spPr bwMode="auto">
                  <a:xfrm>
                    <a:off x="3806" y="174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63" name="Freeform 676"/>
                  <p:cNvSpPr>
                    <a:spLocks/>
                  </p:cNvSpPr>
                  <p:nvPr/>
                </p:nvSpPr>
                <p:spPr bwMode="auto">
                  <a:xfrm>
                    <a:off x="3806" y="174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64" name="Freeform 677"/>
                  <p:cNvSpPr>
                    <a:spLocks/>
                  </p:cNvSpPr>
                  <p:nvPr/>
                </p:nvSpPr>
                <p:spPr bwMode="auto">
                  <a:xfrm>
                    <a:off x="3810" y="1740"/>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65" name="Line 678"/>
                  <p:cNvSpPr>
                    <a:spLocks noChangeShapeType="1"/>
                  </p:cNvSpPr>
                  <p:nvPr/>
                </p:nvSpPr>
                <p:spPr bwMode="auto">
                  <a:xfrm>
                    <a:off x="3810" y="174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66" name="Line 679"/>
                  <p:cNvSpPr>
                    <a:spLocks noChangeShapeType="1"/>
                  </p:cNvSpPr>
                  <p:nvPr/>
                </p:nvSpPr>
                <p:spPr bwMode="auto">
                  <a:xfrm>
                    <a:off x="3814" y="174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67" name="Line 680"/>
                  <p:cNvSpPr>
                    <a:spLocks noChangeShapeType="1"/>
                  </p:cNvSpPr>
                  <p:nvPr/>
                </p:nvSpPr>
                <p:spPr bwMode="auto">
                  <a:xfrm>
                    <a:off x="3819" y="174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68" name="Freeform 681"/>
                  <p:cNvSpPr>
                    <a:spLocks/>
                  </p:cNvSpPr>
                  <p:nvPr/>
                </p:nvSpPr>
                <p:spPr bwMode="auto">
                  <a:xfrm>
                    <a:off x="3819" y="1744"/>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69" name="Line 682"/>
                  <p:cNvSpPr>
                    <a:spLocks noChangeShapeType="1"/>
                  </p:cNvSpPr>
                  <p:nvPr/>
                </p:nvSpPr>
                <p:spPr bwMode="auto">
                  <a:xfrm>
                    <a:off x="3823" y="17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70" name="Freeform 683"/>
                  <p:cNvSpPr>
                    <a:spLocks/>
                  </p:cNvSpPr>
                  <p:nvPr/>
                </p:nvSpPr>
                <p:spPr bwMode="auto">
                  <a:xfrm>
                    <a:off x="3823" y="174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71" name="Line 684"/>
                  <p:cNvSpPr>
                    <a:spLocks noChangeShapeType="1"/>
                  </p:cNvSpPr>
                  <p:nvPr/>
                </p:nvSpPr>
                <p:spPr bwMode="auto">
                  <a:xfrm>
                    <a:off x="3827" y="17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72" name="Line 685"/>
                  <p:cNvSpPr>
                    <a:spLocks noChangeShapeType="1"/>
                  </p:cNvSpPr>
                  <p:nvPr/>
                </p:nvSpPr>
                <p:spPr bwMode="auto">
                  <a:xfrm>
                    <a:off x="3827" y="17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73" name="Freeform 686"/>
                  <p:cNvSpPr>
                    <a:spLocks/>
                  </p:cNvSpPr>
                  <p:nvPr/>
                </p:nvSpPr>
                <p:spPr bwMode="auto">
                  <a:xfrm>
                    <a:off x="3832" y="1748"/>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74" name="Line 687"/>
                  <p:cNvSpPr>
                    <a:spLocks noChangeShapeType="1"/>
                  </p:cNvSpPr>
                  <p:nvPr/>
                </p:nvSpPr>
                <p:spPr bwMode="auto">
                  <a:xfrm>
                    <a:off x="3836" y="17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75" name="Freeform 688"/>
                  <p:cNvSpPr>
                    <a:spLocks/>
                  </p:cNvSpPr>
                  <p:nvPr/>
                </p:nvSpPr>
                <p:spPr bwMode="auto">
                  <a:xfrm>
                    <a:off x="3836" y="175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76" name="Line 689"/>
                  <p:cNvSpPr>
                    <a:spLocks noChangeShapeType="1"/>
                  </p:cNvSpPr>
                  <p:nvPr/>
                </p:nvSpPr>
                <p:spPr bwMode="auto">
                  <a:xfrm>
                    <a:off x="3840" y="17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77" name="Line 690"/>
                  <p:cNvSpPr>
                    <a:spLocks noChangeShapeType="1"/>
                  </p:cNvSpPr>
                  <p:nvPr/>
                </p:nvSpPr>
                <p:spPr bwMode="auto">
                  <a:xfrm>
                    <a:off x="3840" y="175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78" name="Line 691"/>
                  <p:cNvSpPr>
                    <a:spLocks noChangeShapeType="1"/>
                  </p:cNvSpPr>
                  <p:nvPr/>
                </p:nvSpPr>
                <p:spPr bwMode="auto">
                  <a:xfrm>
                    <a:off x="3845" y="175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79" name="Freeform 692"/>
                  <p:cNvSpPr>
                    <a:spLocks/>
                  </p:cNvSpPr>
                  <p:nvPr/>
                </p:nvSpPr>
                <p:spPr bwMode="auto">
                  <a:xfrm>
                    <a:off x="3849" y="1753"/>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80" name="Freeform 693"/>
                  <p:cNvSpPr>
                    <a:spLocks/>
                  </p:cNvSpPr>
                  <p:nvPr/>
                </p:nvSpPr>
                <p:spPr bwMode="auto">
                  <a:xfrm>
                    <a:off x="3849" y="175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81" name="Line 694"/>
                  <p:cNvSpPr>
                    <a:spLocks noChangeShapeType="1"/>
                  </p:cNvSpPr>
                  <p:nvPr/>
                </p:nvSpPr>
                <p:spPr bwMode="auto">
                  <a:xfrm>
                    <a:off x="3853" y="175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82" name="Freeform 695"/>
                  <p:cNvSpPr>
                    <a:spLocks/>
                  </p:cNvSpPr>
                  <p:nvPr/>
                </p:nvSpPr>
                <p:spPr bwMode="auto">
                  <a:xfrm>
                    <a:off x="3853" y="175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83" name="Line 696"/>
                  <p:cNvSpPr>
                    <a:spLocks noChangeShapeType="1"/>
                  </p:cNvSpPr>
                  <p:nvPr/>
                </p:nvSpPr>
                <p:spPr bwMode="auto">
                  <a:xfrm>
                    <a:off x="3858" y="175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84" name="Line 697"/>
                  <p:cNvSpPr>
                    <a:spLocks noChangeShapeType="1"/>
                  </p:cNvSpPr>
                  <p:nvPr/>
                </p:nvSpPr>
                <p:spPr bwMode="auto">
                  <a:xfrm>
                    <a:off x="3858" y="175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85" name="Freeform 698"/>
                  <p:cNvSpPr>
                    <a:spLocks/>
                  </p:cNvSpPr>
                  <p:nvPr/>
                </p:nvSpPr>
                <p:spPr bwMode="auto">
                  <a:xfrm>
                    <a:off x="3862" y="1757"/>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86" name="Line 699"/>
                  <p:cNvSpPr>
                    <a:spLocks noChangeShapeType="1"/>
                  </p:cNvSpPr>
                  <p:nvPr/>
                </p:nvSpPr>
                <p:spPr bwMode="auto">
                  <a:xfrm>
                    <a:off x="3866"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87" name="Freeform 700"/>
                  <p:cNvSpPr>
                    <a:spLocks/>
                  </p:cNvSpPr>
                  <p:nvPr/>
                </p:nvSpPr>
                <p:spPr bwMode="auto">
                  <a:xfrm>
                    <a:off x="3866" y="17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88" name="Line 701"/>
                  <p:cNvSpPr>
                    <a:spLocks noChangeShapeType="1"/>
                  </p:cNvSpPr>
                  <p:nvPr/>
                </p:nvSpPr>
                <p:spPr bwMode="auto">
                  <a:xfrm>
                    <a:off x="3871"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89" name="Line 702"/>
                  <p:cNvSpPr>
                    <a:spLocks noChangeShapeType="1"/>
                  </p:cNvSpPr>
                  <p:nvPr/>
                </p:nvSpPr>
                <p:spPr bwMode="auto">
                  <a:xfrm>
                    <a:off x="3871" y="1761"/>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90" name="Line 703"/>
                  <p:cNvSpPr>
                    <a:spLocks noChangeShapeType="1"/>
                  </p:cNvSpPr>
                  <p:nvPr/>
                </p:nvSpPr>
                <p:spPr bwMode="auto">
                  <a:xfrm>
                    <a:off x="3875" y="1761"/>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91" name="Line 704"/>
                  <p:cNvSpPr>
                    <a:spLocks noChangeShapeType="1"/>
                  </p:cNvSpPr>
                  <p:nvPr/>
                </p:nvSpPr>
                <p:spPr bwMode="auto">
                  <a:xfrm>
                    <a:off x="3879"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92" name="Freeform 705"/>
                  <p:cNvSpPr>
                    <a:spLocks/>
                  </p:cNvSpPr>
                  <p:nvPr/>
                </p:nvSpPr>
                <p:spPr bwMode="auto">
                  <a:xfrm>
                    <a:off x="3879" y="1761"/>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93" name="Line 706"/>
                  <p:cNvSpPr>
                    <a:spLocks noChangeShapeType="1"/>
                  </p:cNvSpPr>
                  <p:nvPr/>
                </p:nvSpPr>
                <p:spPr bwMode="auto">
                  <a:xfrm>
                    <a:off x="3884"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94" name="Freeform 707"/>
                  <p:cNvSpPr>
                    <a:spLocks/>
                  </p:cNvSpPr>
                  <p:nvPr/>
                </p:nvSpPr>
                <p:spPr bwMode="auto">
                  <a:xfrm>
                    <a:off x="3884" y="1766"/>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695" name="Line 708"/>
                  <p:cNvSpPr>
                    <a:spLocks noChangeShapeType="1"/>
                  </p:cNvSpPr>
                  <p:nvPr/>
                </p:nvSpPr>
                <p:spPr bwMode="auto">
                  <a:xfrm>
                    <a:off x="3888"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96" name="Line 709"/>
                  <p:cNvSpPr>
                    <a:spLocks noChangeShapeType="1"/>
                  </p:cNvSpPr>
                  <p:nvPr/>
                </p:nvSpPr>
                <p:spPr bwMode="auto">
                  <a:xfrm>
                    <a:off x="3888" y="176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97" name="Line 710"/>
                  <p:cNvSpPr>
                    <a:spLocks noChangeShapeType="1"/>
                  </p:cNvSpPr>
                  <p:nvPr/>
                </p:nvSpPr>
                <p:spPr bwMode="auto">
                  <a:xfrm>
                    <a:off x="3892" y="1766"/>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98" name="Line 711"/>
                  <p:cNvSpPr>
                    <a:spLocks noChangeShapeType="1"/>
                  </p:cNvSpPr>
                  <p:nvPr/>
                </p:nvSpPr>
                <p:spPr bwMode="auto">
                  <a:xfrm>
                    <a:off x="3897"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699" name="Freeform 712"/>
                  <p:cNvSpPr>
                    <a:spLocks/>
                  </p:cNvSpPr>
                  <p:nvPr/>
                </p:nvSpPr>
                <p:spPr bwMode="auto">
                  <a:xfrm>
                    <a:off x="3897" y="1766"/>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00" name="Line 713"/>
                  <p:cNvSpPr>
                    <a:spLocks noChangeShapeType="1"/>
                  </p:cNvSpPr>
                  <p:nvPr/>
                </p:nvSpPr>
                <p:spPr bwMode="auto">
                  <a:xfrm>
                    <a:off x="3901"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01" name="Freeform 714"/>
                  <p:cNvSpPr>
                    <a:spLocks/>
                  </p:cNvSpPr>
                  <p:nvPr/>
                </p:nvSpPr>
                <p:spPr bwMode="auto">
                  <a:xfrm>
                    <a:off x="3901" y="1766"/>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02" name="Line 715"/>
                  <p:cNvSpPr>
                    <a:spLocks noChangeShapeType="1"/>
                  </p:cNvSpPr>
                  <p:nvPr/>
                </p:nvSpPr>
                <p:spPr bwMode="auto">
                  <a:xfrm>
                    <a:off x="3906" y="17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03" name="Line 716"/>
                  <p:cNvSpPr>
                    <a:spLocks noChangeShapeType="1"/>
                  </p:cNvSpPr>
                  <p:nvPr/>
                </p:nvSpPr>
                <p:spPr bwMode="auto">
                  <a:xfrm>
                    <a:off x="3910"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04" name="Freeform 717"/>
                  <p:cNvSpPr>
                    <a:spLocks/>
                  </p:cNvSpPr>
                  <p:nvPr/>
                </p:nvSpPr>
                <p:spPr bwMode="auto">
                  <a:xfrm>
                    <a:off x="3910" y="177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05" name="Line 718"/>
                  <p:cNvSpPr>
                    <a:spLocks noChangeShapeType="1"/>
                  </p:cNvSpPr>
                  <p:nvPr/>
                </p:nvSpPr>
                <p:spPr bwMode="auto">
                  <a:xfrm>
                    <a:off x="3914"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06" name="Freeform 719"/>
                  <p:cNvSpPr>
                    <a:spLocks/>
                  </p:cNvSpPr>
                  <p:nvPr/>
                </p:nvSpPr>
                <p:spPr bwMode="auto">
                  <a:xfrm>
                    <a:off x="3914" y="1770"/>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07" name="Line 720"/>
                  <p:cNvSpPr>
                    <a:spLocks noChangeShapeType="1"/>
                  </p:cNvSpPr>
                  <p:nvPr/>
                </p:nvSpPr>
                <p:spPr bwMode="auto">
                  <a:xfrm>
                    <a:off x="3919"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08" name="Line 721"/>
                  <p:cNvSpPr>
                    <a:spLocks noChangeShapeType="1"/>
                  </p:cNvSpPr>
                  <p:nvPr/>
                </p:nvSpPr>
                <p:spPr bwMode="auto">
                  <a:xfrm>
                    <a:off x="3919" y="17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09" name="Line 722"/>
                  <p:cNvSpPr>
                    <a:spLocks noChangeShapeType="1"/>
                  </p:cNvSpPr>
                  <p:nvPr/>
                </p:nvSpPr>
                <p:spPr bwMode="auto">
                  <a:xfrm>
                    <a:off x="3923" y="17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10" name="Line 723"/>
                  <p:cNvSpPr>
                    <a:spLocks noChangeShapeType="1"/>
                  </p:cNvSpPr>
                  <p:nvPr/>
                </p:nvSpPr>
                <p:spPr bwMode="auto">
                  <a:xfrm>
                    <a:off x="3927"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11" name="Freeform 724"/>
                  <p:cNvSpPr>
                    <a:spLocks/>
                  </p:cNvSpPr>
                  <p:nvPr/>
                </p:nvSpPr>
                <p:spPr bwMode="auto">
                  <a:xfrm>
                    <a:off x="3927" y="1770"/>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12" name="Freeform 725"/>
                  <p:cNvSpPr>
                    <a:spLocks/>
                  </p:cNvSpPr>
                  <p:nvPr/>
                </p:nvSpPr>
                <p:spPr bwMode="auto">
                  <a:xfrm>
                    <a:off x="3932" y="1770"/>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13" name="Line 726"/>
                  <p:cNvSpPr>
                    <a:spLocks noChangeShapeType="1"/>
                  </p:cNvSpPr>
                  <p:nvPr/>
                </p:nvSpPr>
                <p:spPr bwMode="auto">
                  <a:xfrm>
                    <a:off x="3932"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14" name="Line 727"/>
                  <p:cNvSpPr>
                    <a:spLocks noChangeShapeType="1"/>
                  </p:cNvSpPr>
                  <p:nvPr/>
                </p:nvSpPr>
                <p:spPr bwMode="auto">
                  <a:xfrm>
                    <a:off x="3936"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15" name="Line 728"/>
                  <p:cNvSpPr>
                    <a:spLocks noChangeShapeType="1"/>
                  </p:cNvSpPr>
                  <p:nvPr/>
                </p:nvSpPr>
                <p:spPr bwMode="auto">
                  <a:xfrm>
                    <a:off x="3940"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16" name="Freeform 729"/>
                  <p:cNvSpPr>
                    <a:spLocks/>
                  </p:cNvSpPr>
                  <p:nvPr/>
                </p:nvSpPr>
                <p:spPr bwMode="auto">
                  <a:xfrm>
                    <a:off x="3940" y="1774"/>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17" name="Line 730"/>
                  <p:cNvSpPr>
                    <a:spLocks noChangeShapeType="1"/>
                  </p:cNvSpPr>
                  <p:nvPr/>
                </p:nvSpPr>
                <p:spPr bwMode="auto">
                  <a:xfrm>
                    <a:off x="3945"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18" name="Freeform 731"/>
                  <p:cNvSpPr>
                    <a:spLocks/>
                  </p:cNvSpPr>
                  <p:nvPr/>
                </p:nvSpPr>
                <p:spPr bwMode="auto">
                  <a:xfrm>
                    <a:off x="3945"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19" name="Line 732"/>
                  <p:cNvSpPr>
                    <a:spLocks noChangeShapeType="1"/>
                  </p:cNvSpPr>
                  <p:nvPr/>
                </p:nvSpPr>
                <p:spPr bwMode="auto">
                  <a:xfrm>
                    <a:off x="3949"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20" name="Line 733"/>
                  <p:cNvSpPr>
                    <a:spLocks noChangeShapeType="1"/>
                  </p:cNvSpPr>
                  <p:nvPr/>
                </p:nvSpPr>
                <p:spPr bwMode="auto">
                  <a:xfrm>
                    <a:off x="3949"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21" name="Line 734"/>
                  <p:cNvSpPr>
                    <a:spLocks noChangeShapeType="1"/>
                  </p:cNvSpPr>
                  <p:nvPr/>
                </p:nvSpPr>
                <p:spPr bwMode="auto">
                  <a:xfrm>
                    <a:off x="3953" y="17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22" name="Line 735"/>
                  <p:cNvSpPr>
                    <a:spLocks noChangeShapeType="1"/>
                  </p:cNvSpPr>
                  <p:nvPr/>
                </p:nvSpPr>
                <p:spPr bwMode="auto">
                  <a:xfrm>
                    <a:off x="3958"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23" name="Freeform 736"/>
                  <p:cNvSpPr>
                    <a:spLocks/>
                  </p:cNvSpPr>
                  <p:nvPr/>
                </p:nvSpPr>
                <p:spPr bwMode="auto">
                  <a:xfrm>
                    <a:off x="3958"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24" name="Line 737"/>
                  <p:cNvSpPr>
                    <a:spLocks noChangeShapeType="1"/>
                  </p:cNvSpPr>
                  <p:nvPr/>
                </p:nvSpPr>
                <p:spPr bwMode="auto">
                  <a:xfrm>
                    <a:off x="3962"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25" name="Line 738"/>
                  <p:cNvSpPr>
                    <a:spLocks noChangeShapeType="1"/>
                  </p:cNvSpPr>
                  <p:nvPr/>
                </p:nvSpPr>
                <p:spPr bwMode="auto">
                  <a:xfrm>
                    <a:off x="3962"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26" name="Line 739"/>
                  <p:cNvSpPr>
                    <a:spLocks noChangeShapeType="1"/>
                  </p:cNvSpPr>
                  <p:nvPr/>
                </p:nvSpPr>
                <p:spPr bwMode="auto">
                  <a:xfrm>
                    <a:off x="3966" y="17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27" name="Line 740"/>
                  <p:cNvSpPr>
                    <a:spLocks noChangeShapeType="1"/>
                  </p:cNvSpPr>
                  <p:nvPr/>
                </p:nvSpPr>
                <p:spPr bwMode="auto">
                  <a:xfrm>
                    <a:off x="3971"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28" name="Freeform 741"/>
                  <p:cNvSpPr>
                    <a:spLocks/>
                  </p:cNvSpPr>
                  <p:nvPr/>
                </p:nvSpPr>
                <p:spPr bwMode="auto">
                  <a:xfrm>
                    <a:off x="3971"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29" name="Freeform 742"/>
                  <p:cNvSpPr>
                    <a:spLocks/>
                  </p:cNvSpPr>
                  <p:nvPr/>
                </p:nvSpPr>
                <p:spPr bwMode="auto">
                  <a:xfrm>
                    <a:off x="3975" y="1774"/>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30" name="Freeform 743"/>
                  <p:cNvSpPr>
                    <a:spLocks/>
                  </p:cNvSpPr>
                  <p:nvPr/>
                </p:nvSpPr>
                <p:spPr bwMode="auto">
                  <a:xfrm>
                    <a:off x="3975"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31" name="Line 744"/>
                  <p:cNvSpPr>
                    <a:spLocks noChangeShapeType="1"/>
                  </p:cNvSpPr>
                  <p:nvPr/>
                </p:nvSpPr>
                <p:spPr bwMode="auto">
                  <a:xfrm>
                    <a:off x="3979"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32" name="Line 745"/>
                  <p:cNvSpPr>
                    <a:spLocks noChangeShapeType="1"/>
                  </p:cNvSpPr>
                  <p:nvPr/>
                </p:nvSpPr>
                <p:spPr bwMode="auto">
                  <a:xfrm>
                    <a:off x="3979" y="177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33" name="Line 746"/>
                  <p:cNvSpPr>
                    <a:spLocks noChangeShapeType="1"/>
                  </p:cNvSpPr>
                  <p:nvPr/>
                </p:nvSpPr>
                <p:spPr bwMode="auto">
                  <a:xfrm>
                    <a:off x="3984"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34" name="Line 747"/>
                  <p:cNvSpPr>
                    <a:spLocks noChangeShapeType="1"/>
                  </p:cNvSpPr>
                  <p:nvPr/>
                </p:nvSpPr>
                <p:spPr bwMode="auto">
                  <a:xfrm>
                    <a:off x="3988"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35" name="Freeform 748"/>
                  <p:cNvSpPr>
                    <a:spLocks/>
                  </p:cNvSpPr>
                  <p:nvPr/>
                </p:nvSpPr>
                <p:spPr bwMode="auto">
                  <a:xfrm>
                    <a:off x="3988"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36" name="Line 749"/>
                  <p:cNvSpPr>
                    <a:spLocks noChangeShapeType="1"/>
                  </p:cNvSpPr>
                  <p:nvPr/>
                </p:nvSpPr>
                <p:spPr bwMode="auto">
                  <a:xfrm>
                    <a:off x="3992"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37" name="Line 750"/>
                  <p:cNvSpPr>
                    <a:spLocks noChangeShapeType="1"/>
                  </p:cNvSpPr>
                  <p:nvPr/>
                </p:nvSpPr>
                <p:spPr bwMode="auto">
                  <a:xfrm>
                    <a:off x="3992" y="177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38" name="Line 751"/>
                  <p:cNvSpPr>
                    <a:spLocks noChangeShapeType="1"/>
                  </p:cNvSpPr>
                  <p:nvPr/>
                </p:nvSpPr>
                <p:spPr bwMode="auto">
                  <a:xfrm>
                    <a:off x="3997"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39" name="Line 752"/>
                  <p:cNvSpPr>
                    <a:spLocks noChangeShapeType="1"/>
                  </p:cNvSpPr>
                  <p:nvPr/>
                </p:nvSpPr>
                <p:spPr bwMode="auto">
                  <a:xfrm>
                    <a:off x="4001"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40" name="Freeform 753"/>
                  <p:cNvSpPr>
                    <a:spLocks/>
                  </p:cNvSpPr>
                  <p:nvPr/>
                </p:nvSpPr>
                <p:spPr bwMode="auto">
                  <a:xfrm>
                    <a:off x="4001"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41" name="Line 754"/>
                  <p:cNvSpPr>
                    <a:spLocks noChangeShapeType="1"/>
                  </p:cNvSpPr>
                  <p:nvPr/>
                </p:nvSpPr>
                <p:spPr bwMode="auto">
                  <a:xfrm>
                    <a:off x="4005"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42" name="Freeform 755"/>
                  <p:cNvSpPr>
                    <a:spLocks/>
                  </p:cNvSpPr>
                  <p:nvPr/>
                </p:nvSpPr>
                <p:spPr bwMode="auto">
                  <a:xfrm>
                    <a:off x="4005"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43" name="Line 756"/>
                  <p:cNvSpPr>
                    <a:spLocks noChangeShapeType="1"/>
                  </p:cNvSpPr>
                  <p:nvPr/>
                </p:nvSpPr>
                <p:spPr bwMode="auto">
                  <a:xfrm>
                    <a:off x="4010"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44" name="Line 757"/>
                  <p:cNvSpPr>
                    <a:spLocks noChangeShapeType="1"/>
                  </p:cNvSpPr>
                  <p:nvPr/>
                </p:nvSpPr>
                <p:spPr bwMode="auto">
                  <a:xfrm>
                    <a:off x="4010"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45" name="Line 758"/>
                  <p:cNvSpPr>
                    <a:spLocks noChangeShapeType="1"/>
                  </p:cNvSpPr>
                  <p:nvPr/>
                </p:nvSpPr>
                <p:spPr bwMode="auto">
                  <a:xfrm>
                    <a:off x="4014"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46" name="Line 759"/>
                  <p:cNvSpPr>
                    <a:spLocks noChangeShapeType="1"/>
                  </p:cNvSpPr>
                  <p:nvPr/>
                </p:nvSpPr>
                <p:spPr bwMode="auto">
                  <a:xfrm>
                    <a:off x="4018"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47" name="Freeform 760"/>
                  <p:cNvSpPr>
                    <a:spLocks/>
                  </p:cNvSpPr>
                  <p:nvPr/>
                </p:nvSpPr>
                <p:spPr bwMode="auto">
                  <a:xfrm>
                    <a:off x="4018"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48" name="Line 761"/>
                  <p:cNvSpPr>
                    <a:spLocks noChangeShapeType="1"/>
                  </p:cNvSpPr>
                  <p:nvPr/>
                </p:nvSpPr>
                <p:spPr bwMode="auto">
                  <a:xfrm>
                    <a:off x="4023"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49" name="Line 762"/>
                  <p:cNvSpPr>
                    <a:spLocks noChangeShapeType="1"/>
                  </p:cNvSpPr>
                  <p:nvPr/>
                </p:nvSpPr>
                <p:spPr bwMode="auto">
                  <a:xfrm>
                    <a:off x="4023"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50" name="Line 763"/>
                  <p:cNvSpPr>
                    <a:spLocks noChangeShapeType="1"/>
                  </p:cNvSpPr>
                  <p:nvPr/>
                </p:nvSpPr>
                <p:spPr bwMode="auto">
                  <a:xfrm>
                    <a:off x="4027"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51" name="Line 764"/>
                  <p:cNvSpPr>
                    <a:spLocks noChangeShapeType="1"/>
                  </p:cNvSpPr>
                  <p:nvPr/>
                </p:nvSpPr>
                <p:spPr bwMode="auto">
                  <a:xfrm>
                    <a:off x="4031"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52" name="Freeform 765"/>
                  <p:cNvSpPr>
                    <a:spLocks/>
                  </p:cNvSpPr>
                  <p:nvPr/>
                </p:nvSpPr>
                <p:spPr bwMode="auto">
                  <a:xfrm>
                    <a:off x="4031"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53" name="Line 766"/>
                  <p:cNvSpPr>
                    <a:spLocks noChangeShapeType="1"/>
                  </p:cNvSpPr>
                  <p:nvPr/>
                </p:nvSpPr>
                <p:spPr bwMode="auto">
                  <a:xfrm>
                    <a:off x="4036"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54" name="Freeform 767"/>
                  <p:cNvSpPr>
                    <a:spLocks/>
                  </p:cNvSpPr>
                  <p:nvPr/>
                </p:nvSpPr>
                <p:spPr bwMode="auto">
                  <a:xfrm>
                    <a:off x="4036"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55" name="Line 768"/>
                  <p:cNvSpPr>
                    <a:spLocks noChangeShapeType="1"/>
                  </p:cNvSpPr>
                  <p:nvPr/>
                </p:nvSpPr>
                <p:spPr bwMode="auto">
                  <a:xfrm>
                    <a:off x="4040"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56" name="Line 769"/>
                  <p:cNvSpPr>
                    <a:spLocks noChangeShapeType="1"/>
                  </p:cNvSpPr>
                  <p:nvPr/>
                </p:nvSpPr>
                <p:spPr bwMode="auto">
                  <a:xfrm>
                    <a:off x="4040"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57" name="Line 770"/>
                  <p:cNvSpPr>
                    <a:spLocks noChangeShapeType="1"/>
                  </p:cNvSpPr>
                  <p:nvPr/>
                </p:nvSpPr>
                <p:spPr bwMode="auto">
                  <a:xfrm>
                    <a:off x="4044" y="177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58" name="Line 771"/>
                  <p:cNvSpPr>
                    <a:spLocks noChangeShapeType="1"/>
                  </p:cNvSpPr>
                  <p:nvPr/>
                </p:nvSpPr>
                <p:spPr bwMode="auto">
                  <a:xfrm>
                    <a:off x="4049"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59" name="Freeform 772"/>
                  <p:cNvSpPr>
                    <a:spLocks/>
                  </p:cNvSpPr>
                  <p:nvPr/>
                </p:nvSpPr>
                <p:spPr bwMode="auto">
                  <a:xfrm>
                    <a:off x="4049"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60" name="Line 773"/>
                  <p:cNvSpPr>
                    <a:spLocks noChangeShapeType="1"/>
                  </p:cNvSpPr>
                  <p:nvPr/>
                </p:nvSpPr>
                <p:spPr bwMode="auto">
                  <a:xfrm>
                    <a:off x="4053"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61" name="Line 774"/>
                  <p:cNvSpPr>
                    <a:spLocks noChangeShapeType="1"/>
                  </p:cNvSpPr>
                  <p:nvPr/>
                </p:nvSpPr>
                <p:spPr bwMode="auto">
                  <a:xfrm>
                    <a:off x="4053"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62" name="Freeform 775"/>
                  <p:cNvSpPr>
                    <a:spLocks/>
                  </p:cNvSpPr>
                  <p:nvPr/>
                </p:nvSpPr>
                <p:spPr bwMode="auto">
                  <a:xfrm>
                    <a:off x="4057" y="1779"/>
                    <a:ext cx="5" cy="4"/>
                  </a:xfrm>
                  <a:custGeom>
                    <a:avLst/>
                    <a:gdLst>
                      <a:gd name="T0" fmla="*/ 0 w 5"/>
                      <a:gd name="T1" fmla="*/ 0 h 4"/>
                      <a:gd name="T2" fmla="*/ 5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5"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63" name="Line 776"/>
                  <p:cNvSpPr>
                    <a:spLocks noChangeShapeType="1"/>
                  </p:cNvSpPr>
                  <p:nvPr/>
                </p:nvSpPr>
                <p:spPr bwMode="auto">
                  <a:xfrm>
                    <a:off x="4062"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64" name="Freeform 777"/>
                  <p:cNvSpPr>
                    <a:spLocks/>
                  </p:cNvSpPr>
                  <p:nvPr/>
                </p:nvSpPr>
                <p:spPr bwMode="auto">
                  <a:xfrm>
                    <a:off x="4062"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65" name="Line 778"/>
                  <p:cNvSpPr>
                    <a:spLocks noChangeShapeType="1"/>
                  </p:cNvSpPr>
                  <p:nvPr/>
                </p:nvSpPr>
                <p:spPr bwMode="auto">
                  <a:xfrm>
                    <a:off x="4066"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66" name="Freeform 779"/>
                  <p:cNvSpPr>
                    <a:spLocks/>
                  </p:cNvSpPr>
                  <p:nvPr/>
                </p:nvSpPr>
                <p:spPr bwMode="auto">
                  <a:xfrm>
                    <a:off x="4066"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67" name="Line 780"/>
                  <p:cNvSpPr>
                    <a:spLocks noChangeShapeType="1"/>
                  </p:cNvSpPr>
                  <p:nvPr/>
                </p:nvSpPr>
                <p:spPr bwMode="auto">
                  <a:xfrm>
                    <a:off x="4070"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68" name="Line 781"/>
                  <p:cNvSpPr>
                    <a:spLocks noChangeShapeType="1"/>
                  </p:cNvSpPr>
                  <p:nvPr/>
                </p:nvSpPr>
                <p:spPr bwMode="auto">
                  <a:xfrm>
                    <a:off x="4070"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69" name="Line 782"/>
                  <p:cNvSpPr>
                    <a:spLocks noChangeShapeType="1"/>
                  </p:cNvSpPr>
                  <p:nvPr/>
                </p:nvSpPr>
                <p:spPr bwMode="auto">
                  <a:xfrm>
                    <a:off x="4075"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70" name="Line 783"/>
                  <p:cNvSpPr>
                    <a:spLocks noChangeShapeType="1"/>
                  </p:cNvSpPr>
                  <p:nvPr/>
                </p:nvSpPr>
                <p:spPr bwMode="auto">
                  <a:xfrm>
                    <a:off x="4079"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71" name="Freeform 784"/>
                  <p:cNvSpPr>
                    <a:spLocks/>
                  </p:cNvSpPr>
                  <p:nvPr/>
                </p:nvSpPr>
                <p:spPr bwMode="auto">
                  <a:xfrm>
                    <a:off x="4079"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72" name="Line 785"/>
                  <p:cNvSpPr>
                    <a:spLocks noChangeShapeType="1"/>
                  </p:cNvSpPr>
                  <p:nvPr/>
                </p:nvSpPr>
                <p:spPr bwMode="auto">
                  <a:xfrm>
                    <a:off x="408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73" name="Line 786"/>
                  <p:cNvSpPr>
                    <a:spLocks noChangeShapeType="1"/>
                  </p:cNvSpPr>
                  <p:nvPr/>
                </p:nvSpPr>
                <p:spPr bwMode="auto">
                  <a:xfrm>
                    <a:off x="4084"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74" name="Line 787"/>
                  <p:cNvSpPr>
                    <a:spLocks noChangeShapeType="1"/>
                  </p:cNvSpPr>
                  <p:nvPr/>
                </p:nvSpPr>
                <p:spPr bwMode="auto">
                  <a:xfrm>
                    <a:off x="4088"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75" name="Line 788"/>
                  <p:cNvSpPr>
                    <a:spLocks noChangeShapeType="1"/>
                  </p:cNvSpPr>
                  <p:nvPr/>
                </p:nvSpPr>
                <p:spPr bwMode="auto">
                  <a:xfrm>
                    <a:off x="4092"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76" name="Freeform 789"/>
                  <p:cNvSpPr>
                    <a:spLocks/>
                  </p:cNvSpPr>
                  <p:nvPr/>
                </p:nvSpPr>
                <p:spPr bwMode="auto">
                  <a:xfrm>
                    <a:off x="4092"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77" name="Line 790"/>
                  <p:cNvSpPr>
                    <a:spLocks noChangeShapeType="1"/>
                  </p:cNvSpPr>
                  <p:nvPr/>
                </p:nvSpPr>
                <p:spPr bwMode="auto">
                  <a:xfrm>
                    <a:off x="4097"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78" name="Freeform 791"/>
                  <p:cNvSpPr>
                    <a:spLocks/>
                  </p:cNvSpPr>
                  <p:nvPr/>
                </p:nvSpPr>
                <p:spPr bwMode="auto">
                  <a:xfrm>
                    <a:off x="4097"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79" name="Line 792"/>
                  <p:cNvSpPr>
                    <a:spLocks noChangeShapeType="1"/>
                  </p:cNvSpPr>
                  <p:nvPr/>
                </p:nvSpPr>
                <p:spPr bwMode="auto">
                  <a:xfrm>
                    <a:off x="4101"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80" name="Line 793"/>
                  <p:cNvSpPr>
                    <a:spLocks noChangeShapeType="1"/>
                  </p:cNvSpPr>
                  <p:nvPr/>
                </p:nvSpPr>
                <p:spPr bwMode="auto">
                  <a:xfrm>
                    <a:off x="4101"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81" name="Line 794"/>
                  <p:cNvSpPr>
                    <a:spLocks noChangeShapeType="1"/>
                  </p:cNvSpPr>
                  <p:nvPr/>
                </p:nvSpPr>
                <p:spPr bwMode="auto">
                  <a:xfrm>
                    <a:off x="4105"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82" name="Line 795"/>
                  <p:cNvSpPr>
                    <a:spLocks noChangeShapeType="1"/>
                  </p:cNvSpPr>
                  <p:nvPr/>
                </p:nvSpPr>
                <p:spPr bwMode="auto">
                  <a:xfrm>
                    <a:off x="4110"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83" name="Freeform 796"/>
                  <p:cNvSpPr>
                    <a:spLocks/>
                  </p:cNvSpPr>
                  <p:nvPr/>
                </p:nvSpPr>
                <p:spPr bwMode="auto">
                  <a:xfrm>
                    <a:off x="4110"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84" name="Line 797"/>
                  <p:cNvSpPr>
                    <a:spLocks noChangeShapeType="1"/>
                  </p:cNvSpPr>
                  <p:nvPr/>
                </p:nvSpPr>
                <p:spPr bwMode="auto">
                  <a:xfrm>
                    <a:off x="411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85" name="Line 798"/>
                  <p:cNvSpPr>
                    <a:spLocks noChangeShapeType="1"/>
                  </p:cNvSpPr>
                  <p:nvPr/>
                </p:nvSpPr>
                <p:spPr bwMode="auto">
                  <a:xfrm>
                    <a:off x="4114"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86" name="Line 799"/>
                  <p:cNvSpPr>
                    <a:spLocks noChangeShapeType="1"/>
                  </p:cNvSpPr>
                  <p:nvPr/>
                </p:nvSpPr>
                <p:spPr bwMode="auto">
                  <a:xfrm>
                    <a:off x="4118"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87" name="Line 800"/>
                  <p:cNvSpPr>
                    <a:spLocks noChangeShapeType="1"/>
                  </p:cNvSpPr>
                  <p:nvPr/>
                </p:nvSpPr>
                <p:spPr bwMode="auto">
                  <a:xfrm>
                    <a:off x="4123"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88" name="Freeform 801"/>
                  <p:cNvSpPr>
                    <a:spLocks/>
                  </p:cNvSpPr>
                  <p:nvPr/>
                </p:nvSpPr>
                <p:spPr bwMode="auto">
                  <a:xfrm>
                    <a:off x="4123"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89" name="Line 802"/>
                  <p:cNvSpPr>
                    <a:spLocks noChangeShapeType="1"/>
                  </p:cNvSpPr>
                  <p:nvPr/>
                </p:nvSpPr>
                <p:spPr bwMode="auto">
                  <a:xfrm>
                    <a:off x="4127"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90" name="Line 803"/>
                  <p:cNvSpPr>
                    <a:spLocks noChangeShapeType="1"/>
                  </p:cNvSpPr>
                  <p:nvPr/>
                </p:nvSpPr>
                <p:spPr bwMode="auto">
                  <a:xfrm>
                    <a:off x="4127"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91" name="Line 804"/>
                  <p:cNvSpPr>
                    <a:spLocks noChangeShapeType="1"/>
                  </p:cNvSpPr>
                  <p:nvPr/>
                </p:nvSpPr>
                <p:spPr bwMode="auto">
                  <a:xfrm>
                    <a:off x="4131"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92" name="Line 805"/>
                  <p:cNvSpPr>
                    <a:spLocks noChangeShapeType="1"/>
                  </p:cNvSpPr>
                  <p:nvPr/>
                </p:nvSpPr>
                <p:spPr bwMode="auto">
                  <a:xfrm>
                    <a:off x="4136"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93" name="Freeform 806"/>
                  <p:cNvSpPr>
                    <a:spLocks/>
                  </p:cNvSpPr>
                  <p:nvPr/>
                </p:nvSpPr>
                <p:spPr bwMode="auto">
                  <a:xfrm>
                    <a:off x="4136"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94" name="Line 807"/>
                  <p:cNvSpPr>
                    <a:spLocks noChangeShapeType="1"/>
                  </p:cNvSpPr>
                  <p:nvPr/>
                </p:nvSpPr>
                <p:spPr bwMode="auto">
                  <a:xfrm>
                    <a:off x="4140"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95" name="Freeform 808"/>
                  <p:cNvSpPr>
                    <a:spLocks/>
                  </p:cNvSpPr>
                  <p:nvPr/>
                </p:nvSpPr>
                <p:spPr bwMode="auto">
                  <a:xfrm>
                    <a:off x="4140"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796" name="Line 809"/>
                  <p:cNvSpPr>
                    <a:spLocks noChangeShapeType="1"/>
                  </p:cNvSpPr>
                  <p:nvPr/>
                </p:nvSpPr>
                <p:spPr bwMode="auto">
                  <a:xfrm>
                    <a:off x="414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797" name="Line 810"/>
                  <p:cNvSpPr>
                    <a:spLocks noChangeShapeType="1"/>
                  </p:cNvSpPr>
                  <p:nvPr/>
                </p:nvSpPr>
                <p:spPr bwMode="auto">
                  <a:xfrm>
                    <a:off x="4144"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9586" name="Line 811"/>
                <p:cNvSpPr>
                  <a:spLocks noChangeShapeType="1"/>
                </p:cNvSpPr>
                <p:nvPr/>
              </p:nvSpPr>
              <p:spPr bwMode="auto">
                <a:xfrm>
                  <a:off x="4315"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87" name="Line 812"/>
                <p:cNvSpPr>
                  <a:spLocks noChangeShapeType="1"/>
                </p:cNvSpPr>
                <p:nvPr/>
              </p:nvSpPr>
              <p:spPr bwMode="auto">
                <a:xfrm>
                  <a:off x="4321"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88" name="Freeform 813"/>
                <p:cNvSpPr>
                  <a:spLocks/>
                </p:cNvSpPr>
                <p:nvPr/>
              </p:nvSpPr>
              <p:spPr bwMode="auto">
                <a:xfrm>
                  <a:off x="4321"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89" name="Line 814"/>
                <p:cNvSpPr>
                  <a:spLocks noChangeShapeType="1"/>
                </p:cNvSpPr>
                <p:nvPr/>
              </p:nvSpPr>
              <p:spPr bwMode="auto">
                <a:xfrm>
                  <a:off x="4327"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90" name="Line 815"/>
                <p:cNvSpPr>
                  <a:spLocks noChangeShapeType="1"/>
                </p:cNvSpPr>
                <p:nvPr/>
              </p:nvSpPr>
              <p:spPr bwMode="auto">
                <a:xfrm>
                  <a:off x="4327"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91" name="Line 816"/>
                <p:cNvSpPr>
                  <a:spLocks noChangeShapeType="1"/>
                </p:cNvSpPr>
                <p:nvPr/>
              </p:nvSpPr>
              <p:spPr bwMode="auto">
                <a:xfrm>
                  <a:off x="4334"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92" name="Line 817"/>
                <p:cNvSpPr>
                  <a:spLocks noChangeShapeType="1"/>
                </p:cNvSpPr>
                <p:nvPr/>
              </p:nvSpPr>
              <p:spPr bwMode="auto">
                <a:xfrm>
                  <a:off x="4340"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93" name="Freeform 818"/>
                <p:cNvSpPr>
                  <a:spLocks/>
                </p:cNvSpPr>
                <p:nvPr/>
              </p:nvSpPr>
              <p:spPr bwMode="auto">
                <a:xfrm>
                  <a:off x="4340" y="3874"/>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94" name="Line 819"/>
                <p:cNvSpPr>
                  <a:spLocks noChangeShapeType="1"/>
                </p:cNvSpPr>
                <p:nvPr/>
              </p:nvSpPr>
              <p:spPr bwMode="auto">
                <a:xfrm>
                  <a:off x="4345"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95" name="Line 820"/>
                <p:cNvSpPr>
                  <a:spLocks noChangeShapeType="1"/>
                </p:cNvSpPr>
                <p:nvPr/>
              </p:nvSpPr>
              <p:spPr bwMode="auto">
                <a:xfrm>
                  <a:off x="4353"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96" name="Line 821"/>
                <p:cNvSpPr>
                  <a:spLocks noChangeShapeType="1"/>
                </p:cNvSpPr>
                <p:nvPr/>
              </p:nvSpPr>
              <p:spPr bwMode="auto">
                <a:xfrm>
                  <a:off x="4353" y="38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597" name="Line 822"/>
                <p:cNvSpPr>
                  <a:spLocks noChangeShapeType="1"/>
                </p:cNvSpPr>
                <p:nvPr/>
              </p:nvSpPr>
              <p:spPr bwMode="auto">
                <a:xfrm>
                  <a:off x="4358"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9257" name="Rectangle 823"/>
              <p:cNvSpPr>
                <a:spLocks noChangeArrowheads="1"/>
              </p:cNvSpPr>
              <p:nvPr/>
            </p:nvSpPr>
            <p:spPr bwMode="auto">
              <a:xfrm>
                <a:off x="1056" y="1708"/>
                <a:ext cx="3600" cy="2276"/>
              </a:xfrm>
              <a:prstGeom prst="rect">
                <a:avLst/>
              </a:prstGeom>
              <a:solidFill>
                <a:schemeClr val="bg1">
                  <a:alpha val="67058"/>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9258" name="Line 824"/>
              <p:cNvSpPr>
                <a:spLocks noChangeShapeType="1"/>
              </p:cNvSpPr>
              <p:nvPr/>
            </p:nvSpPr>
            <p:spPr bwMode="auto">
              <a:xfrm>
                <a:off x="1153" y="3883"/>
                <a:ext cx="3503"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59" name="Line 825"/>
              <p:cNvSpPr>
                <a:spLocks noChangeShapeType="1"/>
              </p:cNvSpPr>
              <p:nvPr/>
            </p:nvSpPr>
            <p:spPr bwMode="auto">
              <a:xfrm rot="-5400000">
                <a:off x="1465" y="2544"/>
                <a:ext cx="2879" cy="0"/>
              </a:xfrm>
              <a:prstGeom prst="line">
                <a:avLst/>
              </a:prstGeom>
              <a:noFill/>
              <a:ln w="158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260" name="Group 1061"/>
              <p:cNvGrpSpPr>
                <a:grpSpLocks/>
              </p:cNvGrpSpPr>
              <p:nvPr/>
            </p:nvGrpSpPr>
            <p:grpSpPr bwMode="auto">
              <a:xfrm>
                <a:off x="2206" y="1228"/>
                <a:ext cx="1778" cy="2592"/>
                <a:chOff x="2206" y="1228"/>
                <a:chExt cx="1778" cy="2592"/>
              </a:xfrm>
            </p:grpSpPr>
            <p:grpSp>
              <p:nvGrpSpPr>
                <p:cNvPr id="9261" name="Group 833"/>
                <p:cNvGrpSpPr>
                  <a:grpSpLocks/>
                </p:cNvGrpSpPr>
                <p:nvPr/>
              </p:nvGrpSpPr>
              <p:grpSpPr bwMode="auto">
                <a:xfrm>
                  <a:off x="2882" y="2470"/>
                  <a:ext cx="196" cy="74"/>
                  <a:chOff x="3600" y="2784"/>
                  <a:chExt cx="528" cy="144"/>
                </a:xfrm>
              </p:grpSpPr>
              <p:sp>
                <p:nvSpPr>
                  <p:cNvPr id="9392" name="Line 83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93" name="Group 835"/>
                  <p:cNvGrpSpPr>
                    <a:grpSpLocks/>
                  </p:cNvGrpSpPr>
                  <p:nvPr/>
                </p:nvGrpSpPr>
                <p:grpSpPr bwMode="auto">
                  <a:xfrm>
                    <a:off x="3600" y="2784"/>
                    <a:ext cx="528" cy="144"/>
                    <a:chOff x="3696" y="2784"/>
                    <a:chExt cx="528" cy="144"/>
                  </a:xfrm>
                </p:grpSpPr>
                <p:sp>
                  <p:nvSpPr>
                    <p:cNvPr id="9394" name="Line 83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95" name="Line 83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62" name="Group 838"/>
                <p:cNvGrpSpPr>
                  <a:grpSpLocks/>
                </p:cNvGrpSpPr>
                <p:nvPr/>
              </p:nvGrpSpPr>
              <p:grpSpPr bwMode="auto">
                <a:xfrm>
                  <a:off x="2455" y="2373"/>
                  <a:ext cx="1058" cy="54"/>
                  <a:chOff x="3600" y="2784"/>
                  <a:chExt cx="528" cy="144"/>
                </a:xfrm>
              </p:grpSpPr>
              <p:sp>
                <p:nvSpPr>
                  <p:cNvPr id="9388" name="Line 83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89" name="Group 840"/>
                  <p:cNvGrpSpPr>
                    <a:grpSpLocks/>
                  </p:cNvGrpSpPr>
                  <p:nvPr/>
                </p:nvGrpSpPr>
                <p:grpSpPr bwMode="auto">
                  <a:xfrm>
                    <a:off x="3600" y="2784"/>
                    <a:ext cx="528" cy="144"/>
                    <a:chOff x="3696" y="2784"/>
                    <a:chExt cx="528" cy="144"/>
                  </a:xfrm>
                </p:grpSpPr>
                <p:sp>
                  <p:nvSpPr>
                    <p:cNvPr id="9390" name="Line 84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91" name="Line 84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63" name="Group 843"/>
                <p:cNvGrpSpPr>
                  <a:grpSpLocks/>
                </p:cNvGrpSpPr>
                <p:nvPr/>
              </p:nvGrpSpPr>
              <p:grpSpPr bwMode="auto">
                <a:xfrm>
                  <a:off x="2637" y="2277"/>
                  <a:ext cx="681" cy="54"/>
                  <a:chOff x="3600" y="2784"/>
                  <a:chExt cx="528" cy="144"/>
                </a:xfrm>
              </p:grpSpPr>
              <p:sp>
                <p:nvSpPr>
                  <p:cNvPr id="9384" name="Line 84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85" name="Group 845"/>
                  <p:cNvGrpSpPr>
                    <a:grpSpLocks/>
                  </p:cNvGrpSpPr>
                  <p:nvPr/>
                </p:nvGrpSpPr>
                <p:grpSpPr bwMode="auto">
                  <a:xfrm>
                    <a:off x="3600" y="2784"/>
                    <a:ext cx="528" cy="144"/>
                    <a:chOff x="3696" y="2784"/>
                    <a:chExt cx="528" cy="144"/>
                  </a:xfrm>
                </p:grpSpPr>
                <p:sp>
                  <p:nvSpPr>
                    <p:cNvPr id="9386" name="Line 84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87" name="Line 84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64" name="Group 848"/>
                <p:cNvGrpSpPr>
                  <a:grpSpLocks/>
                </p:cNvGrpSpPr>
                <p:nvPr/>
              </p:nvGrpSpPr>
              <p:grpSpPr bwMode="auto">
                <a:xfrm>
                  <a:off x="2449" y="2181"/>
                  <a:ext cx="967" cy="53"/>
                  <a:chOff x="3600" y="2784"/>
                  <a:chExt cx="528" cy="144"/>
                </a:xfrm>
              </p:grpSpPr>
              <p:sp>
                <p:nvSpPr>
                  <p:cNvPr id="9380" name="Line 84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81" name="Group 850"/>
                  <p:cNvGrpSpPr>
                    <a:grpSpLocks/>
                  </p:cNvGrpSpPr>
                  <p:nvPr/>
                </p:nvGrpSpPr>
                <p:grpSpPr bwMode="auto">
                  <a:xfrm>
                    <a:off x="3600" y="2784"/>
                    <a:ext cx="528" cy="144"/>
                    <a:chOff x="3696" y="2784"/>
                    <a:chExt cx="528" cy="144"/>
                  </a:xfrm>
                </p:grpSpPr>
                <p:sp>
                  <p:nvSpPr>
                    <p:cNvPr id="9382" name="Line 85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83" name="Line 85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65" name="Group 853"/>
                <p:cNvGrpSpPr>
                  <a:grpSpLocks/>
                </p:cNvGrpSpPr>
                <p:nvPr/>
              </p:nvGrpSpPr>
              <p:grpSpPr bwMode="auto">
                <a:xfrm>
                  <a:off x="2729" y="2086"/>
                  <a:ext cx="589" cy="53"/>
                  <a:chOff x="3600" y="2784"/>
                  <a:chExt cx="528" cy="144"/>
                </a:xfrm>
              </p:grpSpPr>
              <p:sp>
                <p:nvSpPr>
                  <p:cNvPr id="9376" name="Line 85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77" name="Group 855"/>
                  <p:cNvGrpSpPr>
                    <a:grpSpLocks/>
                  </p:cNvGrpSpPr>
                  <p:nvPr/>
                </p:nvGrpSpPr>
                <p:grpSpPr bwMode="auto">
                  <a:xfrm>
                    <a:off x="3600" y="2784"/>
                    <a:ext cx="528" cy="144"/>
                    <a:chOff x="3696" y="2784"/>
                    <a:chExt cx="528" cy="144"/>
                  </a:xfrm>
                </p:grpSpPr>
                <p:sp>
                  <p:nvSpPr>
                    <p:cNvPr id="9378" name="Line 85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79" name="Line 85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66" name="Group 869"/>
                <p:cNvGrpSpPr>
                  <a:grpSpLocks/>
                </p:cNvGrpSpPr>
                <p:nvPr/>
              </p:nvGrpSpPr>
              <p:grpSpPr bwMode="auto">
                <a:xfrm rot="10800000">
                  <a:off x="2206" y="1228"/>
                  <a:ext cx="1058" cy="54"/>
                  <a:chOff x="3600" y="2784"/>
                  <a:chExt cx="528" cy="144"/>
                </a:xfrm>
              </p:grpSpPr>
              <p:sp>
                <p:nvSpPr>
                  <p:cNvPr id="9372" name="Line 87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73" name="Group 871"/>
                  <p:cNvGrpSpPr>
                    <a:grpSpLocks/>
                  </p:cNvGrpSpPr>
                  <p:nvPr/>
                </p:nvGrpSpPr>
                <p:grpSpPr bwMode="auto">
                  <a:xfrm>
                    <a:off x="3600" y="2784"/>
                    <a:ext cx="528" cy="144"/>
                    <a:chOff x="3696" y="2784"/>
                    <a:chExt cx="528" cy="144"/>
                  </a:xfrm>
                </p:grpSpPr>
                <p:sp>
                  <p:nvSpPr>
                    <p:cNvPr id="9374" name="Line 87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75" name="Line 87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67" name="Group 874"/>
                <p:cNvGrpSpPr>
                  <a:grpSpLocks/>
                </p:cNvGrpSpPr>
                <p:nvPr/>
              </p:nvGrpSpPr>
              <p:grpSpPr bwMode="auto">
                <a:xfrm rot="10800000">
                  <a:off x="2775" y="1324"/>
                  <a:ext cx="681" cy="54"/>
                  <a:chOff x="3600" y="2784"/>
                  <a:chExt cx="528" cy="144"/>
                </a:xfrm>
              </p:grpSpPr>
              <p:sp>
                <p:nvSpPr>
                  <p:cNvPr id="9368" name="Line 87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69" name="Group 876"/>
                  <p:cNvGrpSpPr>
                    <a:grpSpLocks/>
                  </p:cNvGrpSpPr>
                  <p:nvPr/>
                </p:nvGrpSpPr>
                <p:grpSpPr bwMode="auto">
                  <a:xfrm>
                    <a:off x="3600" y="2784"/>
                    <a:ext cx="528" cy="144"/>
                    <a:chOff x="3696" y="2784"/>
                    <a:chExt cx="528" cy="144"/>
                  </a:xfrm>
                </p:grpSpPr>
                <p:sp>
                  <p:nvSpPr>
                    <p:cNvPr id="9370" name="Line 87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71" name="Line 87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68" name="Group 879"/>
                <p:cNvGrpSpPr>
                  <a:grpSpLocks/>
                </p:cNvGrpSpPr>
                <p:nvPr/>
              </p:nvGrpSpPr>
              <p:grpSpPr bwMode="auto">
                <a:xfrm rot="10800000">
                  <a:off x="2544" y="1420"/>
                  <a:ext cx="967" cy="53"/>
                  <a:chOff x="3600" y="2784"/>
                  <a:chExt cx="528" cy="144"/>
                </a:xfrm>
              </p:grpSpPr>
              <p:sp>
                <p:nvSpPr>
                  <p:cNvPr id="9364" name="Line 88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65" name="Group 881"/>
                  <p:cNvGrpSpPr>
                    <a:grpSpLocks/>
                  </p:cNvGrpSpPr>
                  <p:nvPr/>
                </p:nvGrpSpPr>
                <p:grpSpPr bwMode="auto">
                  <a:xfrm>
                    <a:off x="3600" y="2784"/>
                    <a:ext cx="528" cy="144"/>
                    <a:chOff x="3696" y="2784"/>
                    <a:chExt cx="528" cy="144"/>
                  </a:xfrm>
                </p:grpSpPr>
                <p:sp>
                  <p:nvSpPr>
                    <p:cNvPr id="9366" name="Line 88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67" name="Line 88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69" name="Group 884"/>
                <p:cNvGrpSpPr>
                  <a:grpSpLocks/>
                </p:cNvGrpSpPr>
                <p:nvPr/>
              </p:nvGrpSpPr>
              <p:grpSpPr bwMode="auto">
                <a:xfrm rot="10800000">
                  <a:off x="2643" y="1515"/>
                  <a:ext cx="589" cy="53"/>
                  <a:chOff x="3600" y="2784"/>
                  <a:chExt cx="528" cy="144"/>
                </a:xfrm>
              </p:grpSpPr>
              <p:sp>
                <p:nvSpPr>
                  <p:cNvPr id="9360" name="Line 88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61" name="Group 886"/>
                  <p:cNvGrpSpPr>
                    <a:grpSpLocks/>
                  </p:cNvGrpSpPr>
                  <p:nvPr/>
                </p:nvGrpSpPr>
                <p:grpSpPr bwMode="auto">
                  <a:xfrm>
                    <a:off x="3600" y="2784"/>
                    <a:ext cx="528" cy="144"/>
                    <a:chOff x="3696" y="2784"/>
                    <a:chExt cx="528" cy="144"/>
                  </a:xfrm>
                </p:grpSpPr>
                <p:sp>
                  <p:nvSpPr>
                    <p:cNvPr id="9362" name="Line 88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63" name="Line 88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70" name="Group 890"/>
                <p:cNvGrpSpPr>
                  <a:grpSpLocks/>
                </p:cNvGrpSpPr>
                <p:nvPr/>
              </p:nvGrpSpPr>
              <p:grpSpPr bwMode="auto">
                <a:xfrm rot="10800000">
                  <a:off x="3024" y="1609"/>
                  <a:ext cx="292" cy="53"/>
                  <a:chOff x="3600" y="2784"/>
                  <a:chExt cx="528" cy="144"/>
                </a:xfrm>
              </p:grpSpPr>
              <p:sp>
                <p:nvSpPr>
                  <p:cNvPr id="9356" name="Line 891"/>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57" name="Group 892"/>
                  <p:cNvGrpSpPr>
                    <a:grpSpLocks/>
                  </p:cNvGrpSpPr>
                  <p:nvPr/>
                </p:nvGrpSpPr>
                <p:grpSpPr bwMode="auto">
                  <a:xfrm>
                    <a:off x="3600" y="2784"/>
                    <a:ext cx="528" cy="144"/>
                    <a:chOff x="3696" y="2784"/>
                    <a:chExt cx="528" cy="144"/>
                  </a:xfrm>
                </p:grpSpPr>
                <p:sp>
                  <p:nvSpPr>
                    <p:cNvPr id="9358" name="Line 893"/>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59" name="Line 894"/>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71" name="Group 895"/>
                <p:cNvGrpSpPr>
                  <a:grpSpLocks/>
                </p:cNvGrpSpPr>
                <p:nvPr/>
              </p:nvGrpSpPr>
              <p:grpSpPr bwMode="auto">
                <a:xfrm rot="10800000">
                  <a:off x="2400" y="1704"/>
                  <a:ext cx="1058" cy="54"/>
                  <a:chOff x="3600" y="2784"/>
                  <a:chExt cx="528" cy="144"/>
                </a:xfrm>
              </p:grpSpPr>
              <p:sp>
                <p:nvSpPr>
                  <p:cNvPr id="9352" name="Line 896"/>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53" name="Group 897"/>
                  <p:cNvGrpSpPr>
                    <a:grpSpLocks/>
                  </p:cNvGrpSpPr>
                  <p:nvPr/>
                </p:nvGrpSpPr>
                <p:grpSpPr bwMode="auto">
                  <a:xfrm>
                    <a:off x="3600" y="2784"/>
                    <a:ext cx="528" cy="144"/>
                    <a:chOff x="3696" y="2784"/>
                    <a:chExt cx="528" cy="144"/>
                  </a:xfrm>
                </p:grpSpPr>
                <p:sp>
                  <p:nvSpPr>
                    <p:cNvPr id="9354" name="Line 898"/>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55" name="Line 899"/>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72" name="Group 900"/>
                <p:cNvGrpSpPr>
                  <a:grpSpLocks/>
                </p:cNvGrpSpPr>
                <p:nvPr/>
              </p:nvGrpSpPr>
              <p:grpSpPr bwMode="auto">
                <a:xfrm rot="10800000">
                  <a:off x="2594" y="1800"/>
                  <a:ext cx="681" cy="53"/>
                  <a:chOff x="3600" y="2784"/>
                  <a:chExt cx="528" cy="144"/>
                </a:xfrm>
              </p:grpSpPr>
              <p:sp>
                <p:nvSpPr>
                  <p:cNvPr id="9348" name="Line 901"/>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49" name="Group 902"/>
                  <p:cNvGrpSpPr>
                    <a:grpSpLocks/>
                  </p:cNvGrpSpPr>
                  <p:nvPr/>
                </p:nvGrpSpPr>
                <p:grpSpPr bwMode="auto">
                  <a:xfrm>
                    <a:off x="3600" y="2784"/>
                    <a:ext cx="528" cy="144"/>
                    <a:chOff x="3696" y="2784"/>
                    <a:chExt cx="528" cy="144"/>
                  </a:xfrm>
                </p:grpSpPr>
                <p:sp>
                  <p:nvSpPr>
                    <p:cNvPr id="9350" name="Line 903"/>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51" name="Line 904"/>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73" name="Group 905"/>
                <p:cNvGrpSpPr>
                  <a:grpSpLocks/>
                </p:cNvGrpSpPr>
                <p:nvPr/>
              </p:nvGrpSpPr>
              <p:grpSpPr bwMode="auto">
                <a:xfrm rot="10800000">
                  <a:off x="2256" y="1895"/>
                  <a:ext cx="967" cy="54"/>
                  <a:chOff x="3600" y="2784"/>
                  <a:chExt cx="528" cy="144"/>
                </a:xfrm>
              </p:grpSpPr>
              <p:sp>
                <p:nvSpPr>
                  <p:cNvPr id="9344" name="Line 906"/>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45" name="Group 907"/>
                  <p:cNvGrpSpPr>
                    <a:grpSpLocks/>
                  </p:cNvGrpSpPr>
                  <p:nvPr/>
                </p:nvGrpSpPr>
                <p:grpSpPr bwMode="auto">
                  <a:xfrm>
                    <a:off x="3600" y="2784"/>
                    <a:ext cx="528" cy="144"/>
                    <a:chOff x="3696" y="2784"/>
                    <a:chExt cx="528" cy="144"/>
                  </a:xfrm>
                </p:grpSpPr>
                <p:sp>
                  <p:nvSpPr>
                    <p:cNvPr id="9346" name="Line 908"/>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47" name="Line 909"/>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74" name="Group 910"/>
                <p:cNvGrpSpPr>
                  <a:grpSpLocks/>
                </p:cNvGrpSpPr>
                <p:nvPr/>
              </p:nvGrpSpPr>
              <p:grpSpPr bwMode="auto">
                <a:xfrm rot="10800000">
                  <a:off x="2594" y="1991"/>
                  <a:ext cx="589" cy="53"/>
                  <a:chOff x="3600" y="2784"/>
                  <a:chExt cx="528" cy="144"/>
                </a:xfrm>
              </p:grpSpPr>
              <p:sp>
                <p:nvSpPr>
                  <p:cNvPr id="9340" name="Line 911"/>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41" name="Group 912"/>
                  <p:cNvGrpSpPr>
                    <a:grpSpLocks/>
                  </p:cNvGrpSpPr>
                  <p:nvPr/>
                </p:nvGrpSpPr>
                <p:grpSpPr bwMode="auto">
                  <a:xfrm>
                    <a:off x="3600" y="2784"/>
                    <a:ext cx="528" cy="144"/>
                    <a:chOff x="3696" y="2784"/>
                    <a:chExt cx="528" cy="144"/>
                  </a:xfrm>
                </p:grpSpPr>
                <p:sp>
                  <p:nvSpPr>
                    <p:cNvPr id="9342" name="Line 913"/>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43" name="Line 914"/>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75" name="Group 923"/>
                <p:cNvGrpSpPr>
                  <a:grpSpLocks/>
                </p:cNvGrpSpPr>
                <p:nvPr/>
              </p:nvGrpSpPr>
              <p:grpSpPr bwMode="auto">
                <a:xfrm>
                  <a:off x="2359" y="3766"/>
                  <a:ext cx="1058" cy="54"/>
                  <a:chOff x="3600" y="2784"/>
                  <a:chExt cx="528" cy="144"/>
                </a:xfrm>
              </p:grpSpPr>
              <p:sp>
                <p:nvSpPr>
                  <p:cNvPr id="9336" name="Line 92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37" name="Group 925"/>
                  <p:cNvGrpSpPr>
                    <a:grpSpLocks/>
                  </p:cNvGrpSpPr>
                  <p:nvPr/>
                </p:nvGrpSpPr>
                <p:grpSpPr bwMode="auto">
                  <a:xfrm>
                    <a:off x="3600" y="2784"/>
                    <a:ext cx="528" cy="144"/>
                    <a:chOff x="3696" y="2784"/>
                    <a:chExt cx="528" cy="144"/>
                  </a:xfrm>
                </p:grpSpPr>
                <p:sp>
                  <p:nvSpPr>
                    <p:cNvPr id="9338" name="Line 92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39" name="Line 92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76" name="Group 928"/>
                <p:cNvGrpSpPr>
                  <a:grpSpLocks/>
                </p:cNvGrpSpPr>
                <p:nvPr/>
              </p:nvGrpSpPr>
              <p:grpSpPr bwMode="auto">
                <a:xfrm>
                  <a:off x="2541" y="3669"/>
                  <a:ext cx="681" cy="54"/>
                  <a:chOff x="3600" y="2784"/>
                  <a:chExt cx="528" cy="144"/>
                </a:xfrm>
              </p:grpSpPr>
              <p:sp>
                <p:nvSpPr>
                  <p:cNvPr id="9332" name="Line 92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33" name="Group 930"/>
                  <p:cNvGrpSpPr>
                    <a:grpSpLocks/>
                  </p:cNvGrpSpPr>
                  <p:nvPr/>
                </p:nvGrpSpPr>
                <p:grpSpPr bwMode="auto">
                  <a:xfrm>
                    <a:off x="3600" y="2784"/>
                    <a:ext cx="528" cy="144"/>
                    <a:chOff x="3696" y="2784"/>
                    <a:chExt cx="528" cy="144"/>
                  </a:xfrm>
                </p:grpSpPr>
                <p:sp>
                  <p:nvSpPr>
                    <p:cNvPr id="9334" name="Line 93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35" name="Line 93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77" name="Group 933"/>
                <p:cNvGrpSpPr>
                  <a:grpSpLocks/>
                </p:cNvGrpSpPr>
                <p:nvPr/>
              </p:nvGrpSpPr>
              <p:grpSpPr bwMode="auto">
                <a:xfrm>
                  <a:off x="2736" y="3569"/>
                  <a:ext cx="288" cy="58"/>
                  <a:chOff x="3600" y="2784"/>
                  <a:chExt cx="528" cy="144"/>
                </a:xfrm>
              </p:grpSpPr>
              <p:sp>
                <p:nvSpPr>
                  <p:cNvPr id="9328" name="Line 93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29" name="Group 935"/>
                  <p:cNvGrpSpPr>
                    <a:grpSpLocks/>
                  </p:cNvGrpSpPr>
                  <p:nvPr/>
                </p:nvGrpSpPr>
                <p:grpSpPr bwMode="auto">
                  <a:xfrm>
                    <a:off x="3600" y="2784"/>
                    <a:ext cx="528" cy="144"/>
                    <a:chOff x="3696" y="2784"/>
                    <a:chExt cx="528" cy="144"/>
                  </a:xfrm>
                </p:grpSpPr>
                <p:sp>
                  <p:nvSpPr>
                    <p:cNvPr id="9330" name="Line 93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31" name="Line 93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78" name="Group 938"/>
                <p:cNvGrpSpPr>
                  <a:grpSpLocks/>
                </p:cNvGrpSpPr>
                <p:nvPr/>
              </p:nvGrpSpPr>
              <p:grpSpPr bwMode="auto">
                <a:xfrm>
                  <a:off x="2400" y="3474"/>
                  <a:ext cx="589" cy="52"/>
                  <a:chOff x="3600" y="2784"/>
                  <a:chExt cx="528" cy="144"/>
                </a:xfrm>
              </p:grpSpPr>
              <p:sp>
                <p:nvSpPr>
                  <p:cNvPr id="9324" name="Line 93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25" name="Group 940"/>
                  <p:cNvGrpSpPr>
                    <a:grpSpLocks/>
                  </p:cNvGrpSpPr>
                  <p:nvPr/>
                </p:nvGrpSpPr>
                <p:grpSpPr bwMode="auto">
                  <a:xfrm>
                    <a:off x="3600" y="2784"/>
                    <a:ext cx="528" cy="144"/>
                    <a:chOff x="3696" y="2784"/>
                    <a:chExt cx="528" cy="144"/>
                  </a:xfrm>
                </p:grpSpPr>
                <p:sp>
                  <p:nvSpPr>
                    <p:cNvPr id="9326" name="Line 94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27" name="Line 94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79" name="Group 948"/>
                <p:cNvGrpSpPr>
                  <a:grpSpLocks/>
                </p:cNvGrpSpPr>
                <p:nvPr/>
              </p:nvGrpSpPr>
              <p:grpSpPr bwMode="auto">
                <a:xfrm rot="10800000">
                  <a:off x="2446" y="2586"/>
                  <a:ext cx="1538" cy="70"/>
                  <a:chOff x="3600" y="2784"/>
                  <a:chExt cx="528" cy="144"/>
                </a:xfrm>
              </p:grpSpPr>
              <p:sp>
                <p:nvSpPr>
                  <p:cNvPr id="9320" name="Line 94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21" name="Group 950"/>
                  <p:cNvGrpSpPr>
                    <a:grpSpLocks/>
                  </p:cNvGrpSpPr>
                  <p:nvPr/>
                </p:nvGrpSpPr>
                <p:grpSpPr bwMode="auto">
                  <a:xfrm>
                    <a:off x="3600" y="2784"/>
                    <a:ext cx="528" cy="144"/>
                    <a:chOff x="3696" y="2784"/>
                    <a:chExt cx="528" cy="144"/>
                  </a:xfrm>
                </p:grpSpPr>
                <p:sp>
                  <p:nvSpPr>
                    <p:cNvPr id="9322" name="Line 95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23" name="Line 95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80" name="Group 953"/>
                <p:cNvGrpSpPr>
                  <a:grpSpLocks/>
                </p:cNvGrpSpPr>
                <p:nvPr/>
              </p:nvGrpSpPr>
              <p:grpSpPr bwMode="auto">
                <a:xfrm rot="10800000">
                  <a:off x="2546" y="2698"/>
                  <a:ext cx="681" cy="53"/>
                  <a:chOff x="3600" y="2784"/>
                  <a:chExt cx="528" cy="144"/>
                </a:xfrm>
              </p:grpSpPr>
              <p:sp>
                <p:nvSpPr>
                  <p:cNvPr id="9316" name="Line 95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17" name="Group 955"/>
                  <p:cNvGrpSpPr>
                    <a:grpSpLocks/>
                  </p:cNvGrpSpPr>
                  <p:nvPr/>
                </p:nvGrpSpPr>
                <p:grpSpPr bwMode="auto">
                  <a:xfrm>
                    <a:off x="3600" y="2784"/>
                    <a:ext cx="528" cy="144"/>
                    <a:chOff x="3696" y="2784"/>
                    <a:chExt cx="528" cy="144"/>
                  </a:xfrm>
                </p:grpSpPr>
                <p:sp>
                  <p:nvSpPr>
                    <p:cNvPr id="9318" name="Line 95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19" name="Line 95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81" name="Group 958"/>
                <p:cNvGrpSpPr>
                  <a:grpSpLocks/>
                </p:cNvGrpSpPr>
                <p:nvPr/>
              </p:nvGrpSpPr>
              <p:grpSpPr bwMode="auto">
                <a:xfrm rot="10800000">
                  <a:off x="2448" y="2793"/>
                  <a:ext cx="967" cy="54"/>
                  <a:chOff x="3600" y="2784"/>
                  <a:chExt cx="528" cy="144"/>
                </a:xfrm>
              </p:grpSpPr>
              <p:sp>
                <p:nvSpPr>
                  <p:cNvPr id="9312" name="Line 95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13" name="Group 960"/>
                  <p:cNvGrpSpPr>
                    <a:grpSpLocks/>
                  </p:cNvGrpSpPr>
                  <p:nvPr/>
                </p:nvGrpSpPr>
                <p:grpSpPr bwMode="auto">
                  <a:xfrm>
                    <a:off x="3600" y="2784"/>
                    <a:ext cx="528" cy="144"/>
                    <a:chOff x="3696" y="2784"/>
                    <a:chExt cx="528" cy="144"/>
                  </a:xfrm>
                </p:grpSpPr>
                <p:sp>
                  <p:nvSpPr>
                    <p:cNvPr id="9314" name="Line 96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15" name="Line 96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82" name="Group 963"/>
                <p:cNvGrpSpPr>
                  <a:grpSpLocks/>
                </p:cNvGrpSpPr>
                <p:nvPr/>
              </p:nvGrpSpPr>
              <p:grpSpPr bwMode="auto">
                <a:xfrm rot="10800000">
                  <a:off x="2547" y="2889"/>
                  <a:ext cx="589" cy="52"/>
                  <a:chOff x="3600" y="2784"/>
                  <a:chExt cx="528" cy="144"/>
                </a:xfrm>
              </p:grpSpPr>
              <p:sp>
                <p:nvSpPr>
                  <p:cNvPr id="9308" name="Line 96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09" name="Group 965"/>
                  <p:cNvGrpSpPr>
                    <a:grpSpLocks/>
                  </p:cNvGrpSpPr>
                  <p:nvPr/>
                </p:nvGrpSpPr>
                <p:grpSpPr bwMode="auto">
                  <a:xfrm>
                    <a:off x="3600" y="2784"/>
                    <a:ext cx="528" cy="144"/>
                    <a:chOff x="3696" y="2784"/>
                    <a:chExt cx="528" cy="144"/>
                  </a:xfrm>
                </p:grpSpPr>
                <p:sp>
                  <p:nvSpPr>
                    <p:cNvPr id="9310" name="Line 96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11" name="Line 96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83" name="Group 968"/>
                <p:cNvGrpSpPr>
                  <a:grpSpLocks/>
                </p:cNvGrpSpPr>
                <p:nvPr/>
              </p:nvGrpSpPr>
              <p:grpSpPr bwMode="auto">
                <a:xfrm rot="10800000">
                  <a:off x="2812" y="2984"/>
                  <a:ext cx="548" cy="67"/>
                  <a:chOff x="3600" y="2784"/>
                  <a:chExt cx="528" cy="144"/>
                </a:xfrm>
              </p:grpSpPr>
              <p:sp>
                <p:nvSpPr>
                  <p:cNvPr id="9304" name="Line 96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05" name="Group 970"/>
                  <p:cNvGrpSpPr>
                    <a:grpSpLocks/>
                  </p:cNvGrpSpPr>
                  <p:nvPr/>
                </p:nvGrpSpPr>
                <p:grpSpPr bwMode="auto">
                  <a:xfrm>
                    <a:off x="3600" y="2784"/>
                    <a:ext cx="528" cy="144"/>
                    <a:chOff x="3696" y="2784"/>
                    <a:chExt cx="528" cy="144"/>
                  </a:xfrm>
                </p:grpSpPr>
                <p:sp>
                  <p:nvSpPr>
                    <p:cNvPr id="9306" name="Line 97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07" name="Line 97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84" name="Group 973"/>
                <p:cNvGrpSpPr>
                  <a:grpSpLocks/>
                </p:cNvGrpSpPr>
                <p:nvPr/>
              </p:nvGrpSpPr>
              <p:grpSpPr bwMode="auto">
                <a:xfrm rot="10800000">
                  <a:off x="2208" y="3092"/>
                  <a:ext cx="1058" cy="53"/>
                  <a:chOff x="3600" y="2784"/>
                  <a:chExt cx="528" cy="144"/>
                </a:xfrm>
              </p:grpSpPr>
              <p:sp>
                <p:nvSpPr>
                  <p:cNvPr id="9300" name="Line 97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301" name="Group 975"/>
                  <p:cNvGrpSpPr>
                    <a:grpSpLocks/>
                  </p:cNvGrpSpPr>
                  <p:nvPr/>
                </p:nvGrpSpPr>
                <p:grpSpPr bwMode="auto">
                  <a:xfrm>
                    <a:off x="3600" y="2784"/>
                    <a:ext cx="528" cy="144"/>
                    <a:chOff x="3696" y="2784"/>
                    <a:chExt cx="528" cy="144"/>
                  </a:xfrm>
                </p:grpSpPr>
                <p:sp>
                  <p:nvSpPr>
                    <p:cNvPr id="9302" name="Line 97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303" name="Line 97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85" name="Group 978"/>
                <p:cNvGrpSpPr>
                  <a:grpSpLocks/>
                </p:cNvGrpSpPr>
                <p:nvPr/>
              </p:nvGrpSpPr>
              <p:grpSpPr bwMode="auto">
                <a:xfrm rot="10800000">
                  <a:off x="2498" y="3187"/>
                  <a:ext cx="681" cy="54"/>
                  <a:chOff x="3600" y="2784"/>
                  <a:chExt cx="528" cy="144"/>
                </a:xfrm>
              </p:grpSpPr>
              <p:sp>
                <p:nvSpPr>
                  <p:cNvPr id="9296" name="Line 97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297" name="Group 980"/>
                  <p:cNvGrpSpPr>
                    <a:grpSpLocks/>
                  </p:cNvGrpSpPr>
                  <p:nvPr/>
                </p:nvGrpSpPr>
                <p:grpSpPr bwMode="auto">
                  <a:xfrm>
                    <a:off x="3600" y="2784"/>
                    <a:ext cx="528" cy="144"/>
                    <a:chOff x="3696" y="2784"/>
                    <a:chExt cx="528" cy="144"/>
                  </a:xfrm>
                </p:grpSpPr>
                <p:sp>
                  <p:nvSpPr>
                    <p:cNvPr id="9298" name="Line 98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99" name="Line 98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86" name="Group 983"/>
                <p:cNvGrpSpPr>
                  <a:grpSpLocks/>
                </p:cNvGrpSpPr>
                <p:nvPr/>
              </p:nvGrpSpPr>
              <p:grpSpPr bwMode="auto">
                <a:xfrm rot="10800000">
                  <a:off x="2400" y="3283"/>
                  <a:ext cx="967" cy="53"/>
                  <a:chOff x="3600" y="2784"/>
                  <a:chExt cx="528" cy="144"/>
                </a:xfrm>
              </p:grpSpPr>
              <p:sp>
                <p:nvSpPr>
                  <p:cNvPr id="9292" name="Line 984"/>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293" name="Group 985"/>
                  <p:cNvGrpSpPr>
                    <a:grpSpLocks/>
                  </p:cNvGrpSpPr>
                  <p:nvPr/>
                </p:nvGrpSpPr>
                <p:grpSpPr bwMode="auto">
                  <a:xfrm>
                    <a:off x="3600" y="2784"/>
                    <a:ext cx="528" cy="144"/>
                    <a:chOff x="3696" y="2784"/>
                    <a:chExt cx="528" cy="144"/>
                  </a:xfrm>
                </p:grpSpPr>
                <p:sp>
                  <p:nvSpPr>
                    <p:cNvPr id="9294" name="Line 986"/>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95" name="Line 987"/>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9287" name="Group 988"/>
                <p:cNvGrpSpPr>
                  <a:grpSpLocks/>
                </p:cNvGrpSpPr>
                <p:nvPr/>
              </p:nvGrpSpPr>
              <p:grpSpPr bwMode="auto">
                <a:xfrm rot="10800000">
                  <a:off x="2498" y="3378"/>
                  <a:ext cx="589" cy="54"/>
                  <a:chOff x="3600" y="2784"/>
                  <a:chExt cx="528" cy="144"/>
                </a:xfrm>
              </p:grpSpPr>
              <p:sp>
                <p:nvSpPr>
                  <p:cNvPr id="9288" name="Line 989"/>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289" name="Group 990"/>
                  <p:cNvGrpSpPr>
                    <a:grpSpLocks/>
                  </p:cNvGrpSpPr>
                  <p:nvPr/>
                </p:nvGrpSpPr>
                <p:grpSpPr bwMode="auto">
                  <a:xfrm>
                    <a:off x="3600" y="2784"/>
                    <a:ext cx="528" cy="144"/>
                    <a:chOff x="3696" y="2784"/>
                    <a:chExt cx="528" cy="144"/>
                  </a:xfrm>
                </p:grpSpPr>
                <p:sp>
                  <p:nvSpPr>
                    <p:cNvPr id="9290" name="Line 991"/>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91" name="Line 992"/>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grpSp>
        <p:grpSp>
          <p:nvGrpSpPr>
            <p:cNvPr id="9253" name="Group 1055"/>
            <p:cNvGrpSpPr>
              <a:grpSpLocks noChangeAspect="1"/>
            </p:cNvGrpSpPr>
            <p:nvPr/>
          </p:nvGrpSpPr>
          <p:grpSpPr bwMode="auto">
            <a:xfrm>
              <a:off x="2862" y="3943"/>
              <a:ext cx="102" cy="173"/>
              <a:chOff x="2862" y="3943"/>
              <a:chExt cx="102" cy="173"/>
            </a:xfrm>
          </p:grpSpPr>
          <p:sp>
            <p:nvSpPr>
              <p:cNvPr id="9254" name="AutoShape 1054"/>
              <p:cNvSpPr>
                <a:spLocks noChangeAspect="1" noChangeArrowheads="1" noTextEdit="1"/>
              </p:cNvSpPr>
              <p:nvPr/>
            </p:nvSpPr>
            <p:spPr bwMode="auto">
              <a:xfrm>
                <a:off x="2862" y="3984"/>
                <a:ext cx="10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9255" name="Rectangle 1056"/>
              <p:cNvSpPr>
                <a:spLocks noChangeArrowheads="1"/>
              </p:cNvSpPr>
              <p:nvPr/>
            </p:nvSpPr>
            <p:spPr bwMode="auto">
              <a:xfrm>
                <a:off x="2877" y="3943"/>
                <a:ext cx="6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500">
                    <a:solidFill>
                      <a:srgbClr val="000000"/>
                    </a:solidFill>
                    <a:latin typeface="Symbol" pitchFamily="18" charset="2"/>
                  </a:rPr>
                  <a:t>m</a:t>
                </a:r>
                <a:endParaRPr lang="es-ES" altLang="es-ES"/>
              </a:p>
            </p:txBody>
          </p:sp>
        </p:grpSp>
      </p:grpSp>
      <p:sp>
        <p:nvSpPr>
          <p:cNvPr id="9222" name="Text Box 1046"/>
          <p:cNvSpPr txBox="1">
            <a:spLocks noChangeArrowheads="1"/>
          </p:cNvSpPr>
          <p:nvPr/>
        </p:nvSpPr>
        <p:spPr bwMode="auto">
          <a:xfrm>
            <a:off x="6629400" y="2286000"/>
            <a:ext cx="2438400"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300" dirty="0"/>
              <a:t>Intervalo que </a:t>
            </a:r>
            <a:r>
              <a:rPr lang="es-ES_tradnl" altLang="es-ES" sz="1300" b="1" dirty="0"/>
              <a:t>no contiene</a:t>
            </a:r>
            <a:r>
              <a:rPr lang="es-ES_tradnl" altLang="es-ES" sz="1300" dirty="0"/>
              <a:t> al parámetro poblacional</a:t>
            </a:r>
          </a:p>
          <a:p>
            <a:pPr algn="just" eaLnBrk="1" hangingPunct="1"/>
            <a:r>
              <a:rPr lang="es-ES_tradnl" altLang="es-ES" sz="1300" dirty="0"/>
              <a:t>En promedio, por cada 100 intervalos, el </a:t>
            </a:r>
            <a:r>
              <a:rPr lang="es-ES_tradnl" altLang="es-ES" sz="1300" dirty="0">
                <a:latin typeface="Symbol" pitchFamily="18" charset="2"/>
              </a:rPr>
              <a:t>a</a:t>
            </a:r>
            <a:r>
              <a:rPr lang="es-ES_tradnl" altLang="es-ES" sz="1300" dirty="0"/>
              <a:t>% de ellos no contienen al parámetro (por azar)</a:t>
            </a:r>
            <a:endParaRPr lang="es-ES" altLang="es-ES" sz="1300" dirty="0"/>
          </a:p>
        </p:txBody>
      </p:sp>
      <p:sp>
        <p:nvSpPr>
          <p:cNvPr id="9223" name="Text Box 1047"/>
          <p:cNvSpPr txBox="1">
            <a:spLocks noChangeArrowheads="1"/>
          </p:cNvSpPr>
          <p:nvPr/>
        </p:nvSpPr>
        <p:spPr bwMode="auto">
          <a:xfrm>
            <a:off x="7172325" y="4387850"/>
            <a:ext cx="189706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300"/>
              <a:t>Intervalo </a:t>
            </a:r>
            <a:r>
              <a:rPr lang="es-ES_tradnl" altLang="es-ES" sz="1300" b="1"/>
              <a:t>poco preciso</a:t>
            </a:r>
            <a:br>
              <a:rPr lang="es-ES_tradnl" altLang="es-ES" sz="1300" b="1"/>
            </a:br>
            <a:r>
              <a:rPr lang="es-ES_tradnl" altLang="es-ES" sz="1300"/>
              <a:t>(ancho)</a:t>
            </a:r>
            <a:endParaRPr lang="es-ES" altLang="es-ES" sz="1300" b="1"/>
          </a:p>
        </p:txBody>
      </p:sp>
      <p:sp>
        <p:nvSpPr>
          <p:cNvPr id="9224" name="Text Box 1048"/>
          <p:cNvSpPr txBox="1">
            <a:spLocks noChangeArrowheads="1"/>
          </p:cNvSpPr>
          <p:nvPr/>
        </p:nvSpPr>
        <p:spPr bwMode="auto">
          <a:xfrm>
            <a:off x="7172325" y="3810000"/>
            <a:ext cx="188595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300"/>
              <a:t>Intervalo </a:t>
            </a:r>
            <a:r>
              <a:rPr lang="es-ES_tradnl" altLang="es-ES" sz="1300" b="1"/>
              <a:t>muy preciso </a:t>
            </a:r>
          </a:p>
          <a:p>
            <a:pPr algn="ctr" eaLnBrk="1" hangingPunct="1"/>
            <a:r>
              <a:rPr lang="es-ES_tradnl" altLang="es-ES" sz="1300"/>
              <a:t>(estrecho)</a:t>
            </a:r>
            <a:endParaRPr lang="es-ES" altLang="es-ES" sz="1300"/>
          </a:p>
        </p:txBody>
      </p:sp>
      <p:sp>
        <p:nvSpPr>
          <p:cNvPr id="9225" name="Line 1057"/>
          <p:cNvSpPr>
            <a:spLocks noChangeShapeType="1"/>
          </p:cNvSpPr>
          <p:nvPr/>
        </p:nvSpPr>
        <p:spPr bwMode="auto">
          <a:xfrm flipH="1">
            <a:off x="6096000" y="2514600"/>
            <a:ext cx="533400" cy="152400"/>
          </a:xfrm>
          <a:prstGeom prst="line">
            <a:avLst/>
          </a:prstGeom>
          <a:noFill/>
          <a:ln w="9525" cap="rnd">
            <a:solidFill>
              <a:schemeClr val="bg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26" name="Line 1058"/>
          <p:cNvSpPr>
            <a:spLocks noChangeShapeType="1"/>
          </p:cNvSpPr>
          <p:nvPr/>
        </p:nvSpPr>
        <p:spPr bwMode="auto">
          <a:xfrm flipH="1">
            <a:off x="5715000" y="3886200"/>
            <a:ext cx="1447800" cy="152400"/>
          </a:xfrm>
          <a:prstGeom prst="line">
            <a:avLst/>
          </a:prstGeom>
          <a:noFill/>
          <a:ln w="9525" cap="rnd">
            <a:solidFill>
              <a:schemeClr val="bg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27" name="Line 1059"/>
          <p:cNvSpPr>
            <a:spLocks noChangeShapeType="1"/>
          </p:cNvSpPr>
          <p:nvPr/>
        </p:nvSpPr>
        <p:spPr bwMode="auto">
          <a:xfrm flipH="1" flipV="1">
            <a:off x="7086600" y="4343400"/>
            <a:ext cx="228600" cy="76200"/>
          </a:xfrm>
          <a:prstGeom prst="line">
            <a:avLst/>
          </a:prstGeom>
          <a:noFill/>
          <a:ln w="9525" cap="rnd">
            <a:solidFill>
              <a:schemeClr val="bg2"/>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28" name="Text Box 1040"/>
          <p:cNvSpPr txBox="1">
            <a:spLocks noChangeArrowheads="1"/>
          </p:cNvSpPr>
          <p:nvPr/>
        </p:nvSpPr>
        <p:spPr bwMode="auto">
          <a:xfrm>
            <a:off x="447675" y="1181100"/>
            <a:ext cx="2971800"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b="1" dirty="0"/>
              <a:t>Cuidado:</a:t>
            </a:r>
            <a:r>
              <a:rPr lang="es-ES_tradnl" altLang="es-ES" sz="1400" dirty="0"/>
              <a:t> El </a:t>
            </a:r>
            <a:r>
              <a:rPr lang="es-ES" altLang="es-ES" sz="1400" dirty="0"/>
              <a:t>parámetro no “</a:t>
            </a:r>
            <a:r>
              <a:rPr lang="es-ES" altLang="es-ES" sz="1400" i="1" dirty="0"/>
              <a:t>cae</a:t>
            </a:r>
            <a:r>
              <a:rPr lang="es-ES" altLang="es-ES" sz="1400" b="1" i="1" dirty="0"/>
              <a:t>”</a:t>
            </a:r>
            <a:r>
              <a:rPr lang="es-ES" altLang="es-ES" sz="1400" dirty="0"/>
              <a:t> en el intervalo. Es el intervalo el que intenta </a:t>
            </a:r>
            <a:r>
              <a:rPr lang="es-ES" altLang="es-ES" sz="1400" b="1" dirty="0"/>
              <a:t>contener</a:t>
            </a:r>
            <a:r>
              <a:rPr lang="es-ES" altLang="es-ES" sz="1400" dirty="0"/>
              <a:t> </a:t>
            </a:r>
            <a:r>
              <a:rPr lang="es-ES" altLang="es-ES" sz="1400" b="1" dirty="0"/>
              <a:t>al parámetro</a:t>
            </a:r>
          </a:p>
        </p:txBody>
      </p:sp>
      <p:sp>
        <p:nvSpPr>
          <p:cNvPr id="9229" name="Text Box 1041"/>
          <p:cNvSpPr txBox="1">
            <a:spLocks noChangeArrowheads="1"/>
          </p:cNvSpPr>
          <p:nvPr/>
        </p:nvSpPr>
        <p:spPr bwMode="auto">
          <a:xfrm>
            <a:off x="447675" y="1920875"/>
            <a:ext cx="2971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Para un IC dado, se espera que esto </a:t>
            </a:r>
            <a:r>
              <a:rPr lang="es-ES" altLang="es-ES" sz="1400"/>
              <a:t>ocurra </a:t>
            </a:r>
            <a:r>
              <a:rPr lang="es-ES_tradnl" altLang="es-ES" sz="1400"/>
              <a:t>con una probabilidad de </a:t>
            </a:r>
            <a:r>
              <a:rPr lang="es-ES_tradnl" altLang="es-ES" sz="1600">
                <a:latin typeface="Symbol" pitchFamily="18" charset="2"/>
              </a:rPr>
              <a:t>1-a</a:t>
            </a:r>
            <a:r>
              <a:rPr lang="es-ES" altLang="es-ES" sz="1600">
                <a:latin typeface="Symbol" pitchFamily="18" charset="2"/>
              </a:rPr>
              <a:t> </a:t>
            </a:r>
            <a:r>
              <a:rPr lang="es-ES_tradnl" altLang="es-ES" sz="1400"/>
              <a:t>(la </a:t>
            </a:r>
            <a:r>
              <a:rPr lang="es-ES_tradnl" altLang="es-ES" sz="1400" b="1"/>
              <a:t>confianza</a:t>
            </a:r>
            <a:r>
              <a:rPr lang="es-ES_tradnl" altLang="es-ES" sz="1400"/>
              <a:t> del intervalo)</a:t>
            </a:r>
            <a:endParaRPr lang="es-ES" altLang="es-ES" sz="1400"/>
          </a:p>
        </p:txBody>
      </p:sp>
      <p:sp>
        <p:nvSpPr>
          <p:cNvPr id="9230" name="Text Box 1095"/>
          <p:cNvSpPr txBox="1">
            <a:spLocks noChangeArrowheads="1"/>
          </p:cNvSpPr>
          <p:nvPr/>
        </p:nvSpPr>
        <p:spPr bwMode="auto">
          <a:xfrm>
            <a:off x="447675" y="2835275"/>
            <a:ext cx="2971800" cy="746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cs typeface="Arial" charset="0"/>
              </a:rPr>
              <a:t>Además del </a:t>
            </a:r>
            <a:r>
              <a:rPr lang="es-ES" altLang="es-ES" sz="1400">
                <a:cs typeface="Arial" charset="0"/>
              </a:rPr>
              <a:t>nivel de confianza los IC tienen un </a:t>
            </a:r>
            <a:r>
              <a:rPr lang="es-ES" altLang="es-ES" sz="1400" b="1">
                <a:cs typeface="Arial" charset="0"/>
              </a:rPr>
              <a:t>nivel de precisión:</a:t>
            </a:r>
            <a:r>
              <a:rPr lang="es-ES" altLang="es-ES" sz="1400">
                <a:cs typeface="Arial" charset="0"/>
              </a:rPr>
              <a:t> </a:t>
            </a:r>
            <a:r>
              <a:rPr lang="es-ES_tradnl" altLang="es-ES" sz="1500">
                <a:latin typeface="Symbol" pitchFamily="18" charset="2"/>
                <a:cs typeface="Arial" charset="0"/>
              </a:rPr>
              <a:t>d </a:t>
            </a:r>
            <a:r>
              <a:rPr lang="es-ES_tradnl" altLang="es-ES" sz="1400">
                <a:cs typeface="Arial" charset="0"/>
              </a:rPr>
              <a:t>(su radio)</a:t>
            </a:r>
          </a:p>
        </p:txBody>
      </p:sp>
      <p:grpSp>
        <p:nvGrpSpPr>
          <p:cNvPr id="9231" name="Group 986"/>
          <p:cNvGrpSpPr>
            <a:grpSpLocks/>
          </p:cNvGrpSpPr>
          <p:nvPr/>
        </p:nvGrpSpPr>
        <p:grpSpPr bwMode="auto">
          <a:xfrm>
            <a:off x="7162800" y="5105400"/>
            <a:ext cx="1828800" cy="990600"/>
            <a:chOff x="4512" y="3312"/>
            <a:chExt cx="1152" cy="624"/>
          </a:xfrm>
        </p:grpSpPr>
        <p:graphicFrame>
          <p:nvGraphicFramePr>
            <p:cNvPr id="9249" name="Object 1042"/>
            <p:cNvGraphicFramePr>
              <a:graphicFrameLocks noChangeAspect="1"/>
            </p:cNvGraphicFramePr>
            <p:nvPr/>
          </p:nvGraphicFramePr>
          <p:xfrm>
            <a:off x="4968" y="3756"/>
            <a:ext cx="240" cy="130"/>
          </p:xfrm>
          <a:graphic>
            <a:graphicData uri="http://schemas.openxmlformats.org/presentationml/2006/ole">
              <mc:AlternateContent xmlns:mc="http://schemas.openxmlformats.org/markup-compatibility/2006">
                <mc:Choice xmlns:v="urn:schemas-microsoft-com:vml" Requires="v">
                  <p:oleObj name="Equation" r:id="rId4" imgW="329914" imgH="177646" progId="Equation.DSMT4">
                    <p:embed/>
                  </p:oleObj>
                </mc:Choice>
                <mc:Fallback>
                  <p:oleObj name="Equation" r:id="rId4" imgW="329914" imgH="177646" progId="Equation.DSMT4">
                    <p:embed/>
                    <p:pic>
                      <p:nvPicPr>
                        <p:cNvPr id="9249" name="Object 10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8" y="3756"/>
                          <a:ext cx="240" cy="1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50" name="AutoShape 1051"/>
            <p:cNvSpPr>
              <a:spLocks noChangeArrowheads="1"/>
            </p:cNvSpPr>
            <p:nvPr/>
          </p:nvSpPr>
          <p:spPr bwMode="auto">
            <a:xfrm>
              <a:off x="4568" y="3312"/>
              <a:ext cx="1040" cy="624"/>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9251" name="Text Box 1100"/>
            <p:cNvSpPr txBox="1">
              <a:spLocks noChangeArrowheads="1"/>
            </p:cNvSpPr>
            <p:nvPr/>
          </p:nvSpPr>
          <p:spPr bwMode="auto">
            <a:xfrm>
              <a:off x="4512" y="3324"/>
              <a:ext cx="1152" cy="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300"/>
                <a:t>Todos los IC están elaborados al mismo nivel de confianza</a:t>
              </a:r>
              <a:endParaRPr lang="es-ES" altLang="es-ES" sz="1300"/>
            </a:p>
          </p:txBody>
        </p:sp>
      </p:grpSp>
      <p:sp>
        <p:nvSpPr>
          <p:cNvPr id="9232" name="Text Box 1095"/>
          <p:cNvSpPr txBox="1">
            <a:spLocks noChangeArrowheads="1"/>
          </p:cNvSpPr>
          <p:nvPr/>
        </p:nvSpPr>
        <p:spPr bwMode="auto">
          <a:xfrm>
            <a:off x="447675" y="4495800"/>
            <a:ext cx="2905125"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cs typeface="Arial" charset="0"/>
              </a:rPr>
              <a:t>Interesan inte</a:t>
            </a:r>
            <a:r>
              <a:rPr lang="es-ES" altLang="es-ES" sz="1400">
                <a:cs typeface="Arial" charset="0"/>
              </a:rPr>
              <a:t>rvalos fiables y precisos (estrechos </a:t>
            </a:r>
            <a:r>
              <a:rPr lang="es-ES" altLang="es-ES" sz="1200">
                <a:cs typeface="Arial" charset="0"/>
              </a:rPr>
              <a:t>→</a:t>
            </a:r>
            <a:r>
              <a:rPr lang="es-ES" altLang="es-ES" sz="1400">
                <a:cs typeface="Arial" charset="0"/>
              </a:rPr>
              <a:t> </a:t>
            </a:r>
            <a:r>
              <a:rPr lang="es-ES" altLang="es-ES" sz="1400">
                <a:latin typeface="Symbol" pitchFamily="18" charset="2"/>
                <a:cs typeface="Arial" charset="0"/>
              </a:rPr>
              <a:t>d</a:t>
            </a:r>
            <a:r>
              <a:rPr lang="es-ES" altLang="es-ES" sz="1400">
                <a:cs typeface="Arial" charset="0"/>
              </a:rPr>
              <a:t> pequeño).</a:t>
            </a:r>
            <a:endParaRPr lang="es-ES_tradnl" altLang="es-ES" sz="1400">
              <a:cs typeface="Arial" charset="0"/>
            </a:endParaRPr>
          </a:p>
        </p:txBody>
      </p:sp>
      <p:grpSp>
        <p:nvGrpSpPr>
          <p:cNvPr id="9233" name="Group 984"/>
          <p:cNvGrpSpPr>
            <a:grpSpLocks/>
          </p:cNvGrpSpPr>
          <p:nvPr/>
        </p:nvGrpSpPr>
        <p:grpSpPr bwMode="auto">
          <a:xfrm>
            <a:off x="1198563" y="3505200"/>
            <a:ext cx="1250950" cy="947738"/>
            <a:chOff x="755" y="2403"/>
            <a:chExt cx="788" cy="597"/>
          </a:xfrm>
        </p:grpSpPr>
        <p:graphicFrame>
          <p:nvGraphicFramePr>
            <p:cNvPr id="9236" name="Object 1016"/>
            <p:cNvGraphicFramePr>
              <a:graphicFrameLocks noChangeAspect="1"/>
            </p:cNvGraphicFramePr>
            <p:nvPr/>
          </p:nvGraphicFramePr>
          <p:xfrm>
            <a:off x="1097" y="2790"/>
            <a:ext cx="128" cy="151"/>
          </p:xfrm>
          <a:graphic>
            <a:graphicData uri="http://schemas.openxmlformats.org/presentationml/2006/ole">
              <mc:AlternateContent xmlns:mc="http://schemas.openxmlformats.org/markup-compatibility/2006">
                <mc:Choice xmlns:v="urn:schemas-microsoft-com:vml" Requires="v">
                  <p:oleObj name="Equation" r:id="rId6" imgW="139579" imgH="164957" progId="Equation.DSMT4">
                    <p:embed/>
                  </p:oleObj>
                </mc:Choice>
                <mc:Fallback>
                  <p:oleObj name="Equation" r:id="rId6" imgW="139579" imgH="164957" progId="Equation.DSMT4">
                    <p:embed/>
                    <p:pic>
                      <p:nvPicPr>
                        <p:cNvPr id="9236" name="Object 10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7" y="2790"/>
                          <a:ext cx="128"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7" name="Line 1009"/>
            <p:cNvSpPr>
              <a:spLocks noChangeShapeType="1"/>
            </p:cNvSpPr>
            <p:nvPr/>
          </p:nvSpPr>
          <p:spPr bwMode="auto">
            <a:xfrm rot="10800000">
              <a:off x="816" y="2736"/>
              <a:ext cx="672"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9238" name="Group 1018"/>
            <p:cNvGrpSpPr>
              <a:grpSpLocks/>
            </p:cNvGrpSpPr>
            <p:nvPr/>
          </p:nvGrpSpPr>
          <p:grpSpPr bwMode="auto">
            <a:xfrm>
              <a:off x="815" y="2664"/>
              <a:ext cx="672" cy="144"/>
              <a:chOff x="863" y="1392"/>
              <a:chExt cx="672" cy="240"/>
            </a:xfrm>
          </p:grpSpPr>
          <p:sp>
            <p:nvSpPr>
              <p:cNvPr id="9247" name="Line 1007"/>
              <p:cNvSpPr>
                <a:spLocks noChangeShapeType="1"/>
              </p:cNvSpPr>
              <p:nvPr/>
            </p:nvSpPr>
            <p:spPr bwMode="auto">
              <a:xfrm rot="10800000">
                <a:off x="1535" y="1392"/>
                <a:ext cx="0" cy="24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48" name="Line 1010"/>
              <p:cNvSpPr>
                <a:spLocks noChangeShapeType="1"/>
              </p:cNvSpPr>
              <p:nvPr/>
            </p:nvSpPr>
            <p:spPr bwMode="auto">
              <a:xfrm rot="10800000">
                <a:off x="863" y="1392"/>
                <a:ext cx="0" cy="24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9239" name="Line 1020"/>
            <p:cNvSpPr>
              <a:spLocks noChangeShapeType="1"/>
            </p:cNvSpPr>
            <p:nvPr/>
          </p:nvSpPr>
          <p:spPr bwMode="auto">
            <a:xfrm rot="10800000">
              <a:off x="1152" y="2664"/>
              <a:ext cx="0" cy="105"/>
            </a:xfrm>
            <a:prstGeom prst="line">
              <a:avLst/>
            </a:prstGeom>
            <a:noFill/>
            <a:ln w="1270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9240" name="Object 1034"/>
            <p:cNvGraphicFramePr>
              <a:graphicFrameLocks noChangeAspect="1"/>
            </p:cNvGraphicFramePr>
            <p:nvPr/>
          </p:nvGraphicFramePr>
          <p:xfrm>
            <a:off x="755" y="2856"/>
            <a:ext cx="131" cy="144"/>
          </p:xfrm>
          <a:graphic>
            <a:graphicData uri="http://schemas.openxmlformats.org/presentationml/2006/ole">
              <mc:AlternateContent xmlns:mc="http://schemas.openxmlformats.org/markup-compatibility/2006">
                <mc:Choice xmlns:v="urn:schemas-microsoft-com:vml" Requires="v">
                  <p:oleObj name="Equation" r:id="rId8" imgW="126835" imgH="139518" progId="Equation.DSMT4">
                    <p:embed/>
                  </p:oleObj>
                </mc:Choice>
                <mc:Fallback>
                  <p:oleObj name="Equation" r:id="rId8" imgW="126835" imgH="139518" progId="Equation.DSMT4">
                    <p:embed/>
                    <p:pic>
                      <p:nvPicPr>
                        <p:cNvPr id="9240" name="Object 10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 y="2856"/>
                          <a:ext cx="13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41" name="Object 1035"/>
            <p:cNvGraphicFramePr>
              <a:graphicFrameLocks noChangeAspect="1"/>
            </p:cNvGraphicFramePr>
            <p:nvPr/>
          </p:nvGraphicFramePr>
          <p:xfrm>
            <a:off x="1440" y="2856"/>
            <a:ext cx="103" cy="144"/>
          </p:xfrm>
          <a:graphic>
            <a:graphicData uri="http://schemas.openxmlformats.org/presentationml/2006/ole">
              <mc:AlternateContent xmlns:mc="http://schemas.openxmlformats.org/markup-compatibility/2006">
                <mc:Choice xmlns:v="urn:schemas-microsoft-com:vml" Requires="v">
                  <p:oleObj name="Equation" r:id="rId10" imgW="126725" imgH="177415" progId="Equation.DSMT4">
                    <p:embed/>
                  </p:oleObj>
                </mc:Choice>
                <mc:Fallback>
                  <p:oleObj name="Equation" r:id="rId10" imgW="126725" imgH="177415" progId="Equation.DSMT4">
                    <p:embed/>
                    <p:pic>
                      <p:nvPicPr>
                        <p:cNvPr id="9241" name="Object 103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0" y="2856"/>
                          <a:ext cx="103"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242" name="Group 1037"/>
            <p:cNvGrpSpPr>
              <a:grpSpLocks/>
            </p:cNvGrpSpPr>
            <p:nvPr/>
          </p:nvGrpSpPr>
          <p:grpSpPr bwMode="auto">
            <a:xfrm>
              <a:off x="816" y="2712"/>
              <a:ext cx="672" cy="144"/>
              <a:chOff x="864" y="1488"/>
              <a:chExt cx="672" cy="240"/>
            </a:xfrm>
          </p:grpSpPr>
          <p:sp>
            <p:nvSpPr>
              <p:cNvPr id="9245" name="Line 1019"/>
              <p:cNvSpPr>
                <a:spLocks noChangeShapeType="1"/>
              </p:cNvSpPr>
              <p:nvPr/>
            </p:nvSpPr>
            <p:spPr bwMode="auto">
              <a:xfrm rot="10800000">
                <a:off x="1536" y="1488"/>
                <a:ext cx="0" cy="240"/>
              </a:xfrm>
              <a:prstGeom prst="line">
                <a:avLst/>
              </a:prstGeom>
              <a:noFill/>
              <a:ln w="1270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9246" name="Line 1036"/>
              <p:cNvSpPr>
                <a:spLocks noChangeShapeType="1"/>
              </p:cNvSpPr>
              <p:nvPr/>
            </p:nvSpPr>
            <p:spPr bwMode="auto">
              <a:xfrm rot="10800000">
                <a:off x="864" y="1488"/>
                <a:ext cx="0" cy="240"/>
              </a:xfrm>
              <a:prstGeom prst="line">
                <a:avLst/>
              </a:prstGeom>
              <a:noFill/>
              <a:ln w="1270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9243" name="Rectangle 1096"/>
            <p:cNvSpPr>
              <a:spLocks noChangeArrowheads="1"/>
            </p:cNvSpPr>
            <p:nvPr/>
          </p:nvSpPr>
          <p:spPr bwMode="auto">
            <a:xfrm>
              <a:off x="1176" y="2403"/>
              <a:ext cx="288" cy="1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200" b="1">
                  <a:latin typeface="Symbol" pitchFamily="18" charset="2"/>
                  <a:cs typeface="Arial" charset="0"/>
                </a:rPr>
                <a:t>d </a:t>
              </a:r>
            </a:p>
          </p:txBody>
        </p:sp>
        <p:sp>
          <p:nvSpPr>
            <p:cNvPr id="9244" name="AutoShape 1039"/>
            <p:cNvSpPr>
              <a:spLocks/>
            </p:cNvSpPr>
            <p:nvPr/>
          </p:nvSpPr>
          <p:spPr bwMode="auto">
            <a:xfrm rot="5400000" flipV="1">
              <a:off x="1272" y="2424"/>
              <a:ext cx="96" cy="336"/>
            </a:xfrm>
            <a:prstGeom prst="leftBrace">
              <a:avLst>
                <a:gd name="adj1" fmla="val 2916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sp>
        <p:nvSpPr>
          <p:cNvPr id="9234" name="Text Box 1095"/>
          <p:cNvSpPr txBox="1">
            <a:spLocks noChangeArrowheads="1"/>
          </p:cNvSpPr>
          <p:nvPr/>
        </p:nvSpPr>
        <p:spPr bwMode="auto">
          <a:xfrm>
            <a:off x="457200" y="5153025"/>
            <a:ext cx="2895600" cy="94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8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 altLang="es-ES" sz="1400">
                <a:cs typeface="Arial" charset="0"/>
              </a:rPr>
              <a:t>El nivel de confianza lo establece el investigador de antemano. La precisión no → habrá que estudiar de qué depende</a:t>
            </a:r>
            <a:endParaRPr lang="es-ES_tradnl" altLang="es-ES" sz="1400">
              <a:cs typeface="Arial" charset="0"/>
            </a:endParaRPr>
          </a:p>
        </p:txBody>
      </p:sp>
      <p:sp>
        <p:nvSpPr>
          <p:cNvPr id="982" name="Text Box 32"/>
          <p:cNvSpPr txBox="1">
            <a:spLocks noChangeArrowheads="1"/>
          </p:cNvSpPr>
          <p:nvPr/>
        </p:nvSpPr>
        <p:spPr bwMode="auto">
          <a:xfrm>
            <a:off x="157223" y="212725"/>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1195961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4155CB-7821-37F6-AC88-1E20C521A76F}"/>
              </a:ext>
            </a:extLst>
          </p:cNvPr>
          <p:cNvSpPr txBox="1"/>
          <p:nvPr/>
        </p:nvSpPr>
        <p:spPr>
          <a:xfrm>
            <a:off x="583674" y="1674673"/>
            <a:ext cx="7976651" cy="3508653"/>
          </a:xfrm>
          <a:prstGeom prst="rect">
            <a:avLst/>
          </a:prstGeom>
          <a:noFill/>
        </p:spPr>
        <p:txBody>
          <a:bodyPr wrap="square" rtlCol="0">
            <a:spAutoFit/>
          </a:bodyPr>
          <a:lstStyle/>
          <a:p>
            <a:pPr algn="just" eaLnBrk="1" hangingPunct="1">
              <a:lnSpc>
                <a:spcPct val="150000"/>
              </a:lnSpc>
              <a:spcBef>
                <a:spcPct val="0"/>
              </a:spcBef>
              <a:buClrTx/>
              <a:buSzTx/>
              <a:buFontTx/>
              <a:buNone/>
            </a:pPr>
            <a:r>
              <a:rPr lang="es-ES_tradnl" altLang="es-ES" sz="2800" b="1" dirty="0">
                <a:solidFill>
                  <a:srgbClr val="BD1E03"/>
                </a:solidFill>
                <a:sym typeface="Symbol" panose="05050102010706020507" pitchFamily="18" charset="2"/>
              </a:rPr>
              <a:t>Definición:</a:t>
            </a:r>
            <a:r>
              <a:rPr lang="es-ES_tradnl" altLang="es-ES" sz="2800" b="1" dirty="0">
                <a:solidFill>
                  <a:schemeClr val="tx1"/>
                </a:solidFill>
                <a:sym typeface="Symbol" panose="05050102010706020507" pitchFamily="18" charset="2"/>
              </a:rPr>
              <a:t> </a:t>
            </a:r>
            <a:r>
              <a:rPr lang="es-ES_tradnl" altLang="es-ES" sz="2800" b="1" i="1" dirty="0">
                <a:solidFill>
                  <a:srgbClr val="160149"/>
                </a:solidFill>
                <a:sym typeface="Symbol" panose="05050102010706020507" pitchFamily="18" charset="2"/>
              </a:rPr>
              <a:t>Nivel de confianza </a:t>
            </a:r>
            <a:r>
              <a:rPr lang="es-ES_tradnl" altLang="es-ES" sz="2800" b="1" dirty="0">
                <a:solidFill>
                  <a:srgbClr val="160149"/>
                </a:solidFill>
                <a:sym typeface="Symbol" panose="05050102010706020507" pitchFamily="18" charset="2"/>
              </a:rPr>
              <a:t>(1)</a:t>
            </a:r>
          </a:p>
          <a:p>
            <a:pPr algn="just" eaLnBrk="1" hangingPunct="1">
              <a:lnSpc>
                <a:spcPct val="150000"/>
              </a:lnSpc>
              <a:spcBef>
                <a:spcPct val="0"/>
              </a:spcBef>
              <a:buClrTx/>
              <a:buSzTx/>
              <a:buFontTx/>
              <a:buNone/>
            </a:pPr>
            <a:r>
              <a:rPr lang="es-ES_tradnl" altLang="es-ES" sz="2800" b="1" dirty="0">
                <a:solidFill>
                  <a:schemeClr val="tx1"/>
                </a:solidFill>
                <a:sym typeface="Symbol" panose="05050102010706020507" pitchFamily="18" charset="2"/>
              </a:rPr>
              <a:t>Llamamos </a:t>
            </a:r>
            <a:r>
              <a:rPr lang="es-ES_tradnl" altLang="es-ES" sz="2800" b="1" dirty="0">
                <a:solidFill>
                  <a:srgbClr val="003300"/>
                </a:solidFill>
                <a:sym typeface="Symbol" panose="05050102010706020507" pitchFamily="18" charset="2"/>
              </a:rPr>
              <a:t>nivel de confianza</a:t>
            </a:r>
            <a:r>
              <a:rPr lang="es-ES_tradnl" altLang="es-ES" sz="2800" b="1" dirty="0">
                <a:sym typeface="Symbol" panose="05050102010706020507" pitchFamily="18" charset="2"/>
              </a:rPr>
              <a:t> </a:t>
            </a:r>
            <a:r>
              <a:rPr lang="es-ES_tradnl" altLang="es-ES" sz="2800" b="1" dirty="0">
                <a:solidFill>
                  <a:schemeClr val="tx1"/>
                </a:solidFill>
                <a:sym typeface="Symbol" panose="05050102010706020507" pitchFamily="18" charset="2"/>
              </a:rPr>
              <a:t>(</a:t>
            </a:r>
            <a:r>
              <a:rPr lang="es-ES_tradnl" altLang="es-ES" sz="2800" b="1" dirty="0">
                <a:solidFill>
                  <a:srgbClr val="45050B"/>
                </a:solidFill>
                <a:sym typeface="Symbol" panose="05050102010706020507" pitchFamily="18" charset="2"/>
              </a:rPr>
              <a:t>1)</a:t>
            </a:r>
            <a:r>
              <a:rPr lang="es-ES_tradnl" altLang="es-ES" sz="2800" b="1" dirty="0">
                <a:solidFill>
                  <a:schemeClr val="tx1"/>
                </a:solidFill>
                <a:sym typeface="Symbol" panose="05050102010706020507" pitchFamily="18" charset="2"/>
              </a:rPr>
              <a:t> a la </a:t>
            </a:r>
            <a:r>
              <a:rPr lang="es-ES_tradnl" altLang="es-ES" sz="2800" b="1" dirty="0">
                <a:solidFill>
                  <a:srgbClr val="006600"/>
                </a:solidFill>
                <a:sym typeface="Symbol" panose="05050102010706020507" pitchFamily="18" charset="2"/>
              </a:rPr>
              <a:t>probabilidad</a:t>
            </a:r>
            <a:r>
              <a:rPr lang="es-ES_tradnl" altLang="es-ES" sz="2800" b="1" dirty="0">
                <a:solidFill>
                  <a:schemeClr val="tx1"/>
                </a:solidFill>
                <a:sym typeface="Symbol" panose="05050102010706020507" pitchFamily="18" charset="2"/>
              </a:rPr>
              <a:t> de que un intervalo de confianza contenga al </a:t>
            </a:r>
            <a:r>
              <a:rPr lang="es-ES_tradnl" altLang="es-ES" sz="2800" b="1" dirty="0">
                <a:solidFill>
                  <a:srgbClr val="006600"/>
                </a:solidFill>
                <a:sym typeface="Symbol" panose="05050102010706020507" pitchFamily="18" charset="2"/>
              </a:rPr>
              <a:t>verdadero valor del parámetro poblacional</a:t>
            </a:r>
            <a:r>
              <a:rPr lang="es-ES_tradnl" altLang="es-ES" sz="2800" b="1" dirty="0">
                <a:solidFill>
                  <a:schemeClr val="tx1"/>
                </a:solidFill>
                <a:sym typeface="Symbol" panose="05050102010706020507" pitchFamily="18" charset="2"/>
              </a:rPr>
              <a:t>.</a:t>
            </a:r>
          </a:p>
          <a:p>
            <a:endParaRPr lang="en-US" dirty="0"/>
          </a:p>
        </p:txBody>
      </p:sp>
    </p:spTree>
    <p:extLst>
      <p:ext uri="{BB962C8B-B14F-4D97-AF65-F5344CB8AC3E}">
        <p14:creationId xmlns:p14="http://schemas.microsoft.com/office/powerpoint/2010/main" val="357319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3"/>
          <p:cNvSpPr>
            <a:spLocks noChangeArrowheads="1"/>
          </p:cNvSpPr>
          <p:nvPr/>
        </p:nvSpPr>
        <p:spPr bwMode="auto">
          <a:xfrm>
            <a:off x="304800" y="838200"/>
            <a:ext cx="3514725"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a:solidFill>
                  <a:srgbClr val="000000"/>
                </a:solidFill>
              </a:rPr>
              <a:t>Intervalos de confianza a estudiar:</a:t>
            </a:r>
            <a:endParaRPr lang="es-ES" altLang="es-ES" sz="1600" b="1">
              <a:solidFill>
                <a:srgbClr val="000000"/>
              </a:solidFill>
            </a:endParaRPr>
          </a:p>
        </p:txBody>
      </p:sp>
      <p:pic>
        <p:nvPicPr>
          <p:cNvPr id="10243"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0" y="914400"/>
            <a:ext cx="18288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0244" name="Object 11"/>
          <p:cNvGraphicFramePr>
            <a:graphicFrameLocks noChangeAspect="1"/>
          </p:cNvGraphicFramePr>
          <p:nvPr/>
        </p:nvGraphicFramePr>
        <p:xfrm>
          <a:off x="7240588" y="658813"/>
          <a:ext cx="1408112" cy="255587"/>
        </p:xfrm>
        <a:graphic>
          <a:graphicData uri="http://schemas.openxmlformats.org/presentationml/2006/ole">
            <mc:AlternateContent xmlns:mc="http://schemas.openxmlformats.org/markup-compatibility/2006">
              <mc:Choice xmlns:v="urn:schemas-microsoft-com:vml" Requires="v">
                <p:oleObj name="Equation" r:id="rId3" imgW="901309" imgH="203112" progId="Equation.DSMT4">
                  <p:embed/>
                </p:oleObj>
              </mc:Choice>
              <mc:Fallback>
                <p:oleObj name="Equation" r:id="rId3" imgW="901309" imgH="203112" progId="Equation.DSMT4">
                  <p:embed/>
                  <p:pic>
                    <p:nvPicPr>
                      <p:cNvPr id="10244"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0588" y="658813"/>
                        <a:ext cx="1408112" cy="255587"/>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5" name="Object 21"/>
          <p:cNvGraphicFramePr>
            <a:graphicFrameLocks noChangeAspect="1"/>
          </p:cNvGraphicFramePr>
          <p:nvPr/>
        </p:nvGraphicFramePr>
        <p:xfrm>
          <a:off x="7010400" y="4876800"/>
          <a:ext cx="1676400" cy="1163638"/>
        </p:xfrm>
        <a:graphic>
          <a:graphicData uri="http://schemas.openxmlformats.org/presentationml/2006/ole">
            <mc:AlternateContent xmlns:mc="http://schemas.openxmlformats.org/markup-compatibility/2006">
              <mc:Choice xmlns:v="urn:schemas-microsoft-com:vml" Requires="v">
                <p:oleObj name="Gráfico" r:id="rId5" imgW="4867332" imgH="3381310" progId="Excel.Chart.8">
                  <p:embed/>
                </p:oleObj>
              </mc:Choice>
              <mc:Fallback>
                <p:oleObj name="Gráfico" r:id="rId5" imgW="4867332" imgH="3381310" progId="Excel.Chart.8">
                  <p:embed/>
                  <p:pic>
                    <p:nvPicPr>
                      <p:cNvPr id="10245"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0400" y="4876800"/>
                        <a:ext cx="1676400" cy="11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6" name="Object 11"/>
          <p:cNvGraphicFramePr>
            <a:graphicFrameLocks noChangeAspect="1"/>
          </p:cNvGraphicFramePr>
          <p:nvPr/>
        </p:nvGraphicFramePr>
        <p:xfrm>
          <a:off x="7253288" y="4697413"/>
          <a:ext cx="1384300" cy="255587"/>
        </p:xfrm>
        <a:graphic>
          <a:graphicData uri="http://schemas.openxmlformats.org/presentationml/2006/ole">
            <mc:AlternateContent xmlns:mc="http://schemas.openxmlformats.org/markup-compatibility/2006">
              <mc:Choice xmlns:v="urn:schemas-microsoft-com:vml" Requires="v">
                <p:oleObj name="Equation" r:id="rId7" imgW="888614" imgH="203112" progId="Equation.DSMT4">
                  <p:embed/>
                </p:oleObj>
              </mc:Choice>
              <mc:Fallback>
                <p:oleObj name="Equation" r:id="rId7" imgW="888614" imgH="203112" progId="Equation.DSMT4">
                  <p:embed/>
                  <p:pic>
                    <p:nvPicPr>
                      <p:cNvPr id="10246"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53288" y="4697413"/>
                        <a:ext cx="1384300" cy="255587"/>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247" name="Picture 17"/>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858000" y="2895600"/>
            <a:ext cx="1828800" cy="1508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0248" name="Object 23"/>
          <p:cNvGraphicFramePr>
            <a:graphicFrameLocks noChangeAspect="1"/>
          </p:cNvGraphicFramePr>
          <p:nvPr/>
        </p:nvGraphicFramePr>
        <p:xfrm>
          <a:off x="7340600" y="2625725"/>
          <a:ext cx="1208088" cy="269875"/>
        </p:xfrm>
        <a:graphic>
          <a:graphicData uri="http://schemas.openxmlformats.org/presentationml/2006/ole">
            <mc:AlternateContent xmlns:mc="http://schemas.openxmlformats.org/markup-compatibility/2006">
              <mc:Choice xmlns:v="urn:schemas-microsoft-com:vml" Requires="v">
                <p:oleObj name="Equation" r:id="rId10" imgW="876300" imgH="241300" progId="Equation.DSMT4">
                  <p:embed/>
                </p:oleObj>
              </mc:Choice>
              <mc:Fallback>
                <p:oleObj name="Equation" r:id="rId10" imgW="876300" imgH="241300" progId="Equation.DSMT4">
                  <p:embed/>
                  <p:pic>
                    <p:nvPicPr>
                      <p:cNvPr id="10248"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40600" y="2625725"/>
                        <a:ext cx="1208088" cy="2698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9" name="Object 11"/>
          <p:cNvGraphicFramePr>
            <a:graphicFrameLocks noChangeAspect="1"/>
          </p:cNvGraphicFramePr>
          <p:nvPr/>
        </p:nvGraphicFramePr>
        <p:xfrm>
          <a:off x="7716838" y="2236788"/>
          <a:ext cx="457200" cy="269875"/>
        </p:xfrm>
        <a:graphic>
          <a:graphicData uri="http://schemas.openxmlformats.org/presentationml/2006/ole">
            <mc:AlternateContent xmlns:mc="http://schemas.openxmlformats.org/markup-compatibility/2006">
              <mc:Choice xmlns:v="urn:schemas-microsoft-com:vml" Requires="v">
                <p:oleObj name="Equation" r:id="rId12" imgW="279279" imgH="203112" progId="Equation.DSMT4">
                  <p:embed/>
                </p:oleObj>
              </mc:Choice>
              <mc:Fallback>
                <p:oleObj name="Equation" r:id="rId12" imgW="279279" imgH="203112" progId="Equation.DSMT4">
                  <p:embed/>
                  <p:pic>
                    <p:nvPicPr>
                      <p:cNvPr id="10249"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16838" y="2236788"/>
                        <a:ext cx="457200" cy="2698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0" name="Object 11"/>
          <p:cNvGraphicFramePr>
            <a:graphicFrameLocks noChangeAspect="1"/>
          </p:cNvGraphicFramePr>
          <p:nvPr/>
        </p:nvGraphicFramePr>
        <p:xfrm>
          <a:off x="7716838" y="4267200"/>
          <a:ext cx="457200" cy="269875"/>
        </p:xfrm>
        <a:graphic>
          <a:graphicData uri="http://schemas.openxmlformats.org/presentationml/2006/ole">
            <mc:AlternateContent xmlns:mc="http://schemas.openxmlformats.org/markup-compatibility/2006">
              <mc:Choice xmlns:v="urn:schemas-microsoft-com:vml" Requires="v">
                <p:oleObj name="Equation" r:id="rId14" imgW="279279" imgH="203112" progId="Equation.DSMT4">
                  <p:embed/>
                </p:oleObj>
              </mc:Choice>
              <mc:Fallback>
                <p:oleObj name="Equation" r:id="rId14" imgW="279279" imgH="203112" progId="Equation.DSMT4">
                  <p:embed/>
                  <p:pic>
                    <p:nvPicPr>
                      <p:cNvPr id="1025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16838" y="4267200"/>
                        <a:ext cx="457200" cy="2698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51" name="Object 11"/>
          <p:cNvGraphicFramePr>
            <a:graphicFrameLocks noChangeAspect="1"/>
          </p:cNvGraphicFramePr>
          <p:nvPr/>
        </p:nvGraphicFramePr>
        <p:xfrm>
          <a:off x="7705725" y="5978525"/>
          <a:ext cx="477838" cy="269875"/>
        </p:xfrm>
        <a:graphic>
          <a:graphicData uri="http://schemas.openxmlformats.org/presentationml/2006/ole">
            <mc:AlternateContent xmlns:mc="http://schemas.openxmlformats.org/markup-compatibility/2006">
              <mc:Choice xmlns:v="urn:schemas-microsoft-com:vml" Requires="v">
                <p:oleObj name="Equation" r:id="rId15" imgW="291973" imgH="203112" progId="Equation.DSMT4">
                  <p:embed/>
                </p:oleObj>
              </mc:Choice>
              <mc:Fallback>
                <p:oleObj name="Equation" r:id="rId15" imgW="291973" imgH="203112" progId="Equation.DSMT4">
                  <p:embed/>
                  <p:pic>
                    <p:nvPicPr>
                      <p:cNvPr id="10251"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705725" y="5978525"/>
                        <a:ext cx="477838" cy="2698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2" name="Rectangle 13"/>
          <p:cNvSpPr>
            <a:spLocks noChangeArrowheads="1"/>
          </p:cNvSpPr>
          <p:nvPr/>
        </p:nvSpPr>
        <p:spPr bwMode="auto">
          <a:xfrm>
            <a:off x="304800" y="1295400"/>
            <a:ext cx="4973134" cy="4022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57150" indent="-5715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buFontTx/>
              <a:buChar char="•"/>
            </a:pPr>
            <a:r>
              <a:rPr lang="es-ES_tradnl" altLang="es-ES" sz="1600" dirty="0">
                <a:solidFill>
                  <a:srgbClr val="000000"/>
                </a:solidFill>
              </a:rPr>
              <a:t> IC para la media </a:t>
            </a:r>
            <a:r>
              <a:rPr lang="es-ES_tradnl" altLang="es-ES" sz="1600" dirty="0">
                <a:solidFill>
                  <a:srgbClr val="000000"/>
                </a:solidFill>
                <a:latin typeface="Symbol" pitchFamily="18" charset="2"/>
              </a:rPr>
              <a:t>m</a:t>
            </a:r>
            <a:r>
              <a:rPr lang="es-ES_tradnl" altLang="es-ES" sz="1600" dirty="0">
                <a:solidFill>
                  <a:srgbClr val="000000"/>
                </a:solidFill>
              </a:rPr>
              <a:t> de una variable cuantitativa </a:t>
            </a:r>
            <a:r>
              <a:rPr lang="es-ES_tradnl" altLang="es-ES" sz="1600" i="1" dirty="0">
                <a:solidFill>
                  <a:srgbClr val="000000"/>
                </a:solidFill>
                <a:latin typeface="Times New Roman" pitchFamily="18" charset="0"/>
              </a:rPr>
              <a:t>X</a:t>
            </a:r>
            <a:r>
              <a:rPr lang="es-ES_tradnl" altLang="es-ES" sz="2000" dirty="0">
                <a:solidFill>
                  <a:srgbClr val="000000"/>
                </a:solidFill>
              </a:rPr>
              <a:t> </a:t>
            </a:r>
            <a:r>
              <a:rPr lang="es-ES_tradnl" altLang="es-ES" sz="1600" dirty="0">
                <a:solidFill>
                  <a:srgbClr val="000000"/>
                </a:solidFill>
              </a:rPr>
              <a:t>   </a:t>
            </a:r>
            <a:endParaRPr lang="es-ES" altLang="es-ES" sz="1600" dirty="0">
              <a:solidFill>
                <a:srgbClr val="000000"/>
              </a:solidFill>
            </a:endParaRPr>
          </a:p>
        </p:txBody>
      </p:sp>
      <p:sp>
        <p:nvSpPr>
          <p:cNvPr id="10253" name="Rectangle 13"/>
          <p:cNvSpPr>
            <a:spLocks noChangeArrowheads="1"/>
          </p:cNvSpPr>
          <p:nvPr/>
        </p:nvSpPr>
        <p:spPr bwMode="auto">
          <a:xfrm>
            <a:off x="609600" y="2147888"/>
            <a:ext cx="3636871" cy="4022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buFontTx/>
              <a:buChar char="•"/>
            </a:pPr>
            <a:r>
              <a:rPr lang="es-ES_tradnl" altLang="es-ES" sz="1600" i="1" dirty="0">
                <a:solidFill>
                  <a:srgbClr val="000000"/>
                </a:solidFill>
                <a:latin typeface="Times New Roman" pitchFamily="18" charset="0"/>
              </a:rPr>
              <a:t>  X</a:t>
            </a:r>
            <a:r>
              <a:rPr lang="es-ES_tradnl" altLang="es-ES" sz="2000" dirty="0">
                <a:solidFill>
                  <a:srgbClr val="000000"/>
                </a:solidFill>
              </a:rPr>
              <a:t> </a:t>
            </a:r>
            <a:r>
              <a:rPr lang="es-ES" altLang="es-ES" sz="1600" dirty="0">
                <a:solidFill>
                  <a:srgbClr val="000000"/>
                </a:solidFill>
              </a:rPr>
              <a:t>es una VA con </a:t>
            </a:r>
            <a:r>
              <a:rPr lang="es-ES_tradnl" altLang="es-ES" sz="1600" dirty="0">
                <a:solidFill>
                  <a:srgbClr val="000000"/>
                </a:solidFill>
              </a:rPr>
              <a:t>distribución normal</a:t>
            </a:r>
            <a:endParaRPr lang="es-ES" altLang="es-ES" sz="1600" dirty="0">
              <a:solidFill>
                <a:srgbClr val="000000"/>
              </a:solidFill>
            </a:endParaRPr>
          </a:p>
        </p:txBody>
      </p:sp>
      <p:sp>
        <p:nvSpPr>
          <p:cNvPr id="10254" name="Rectangle 13"/>
          <p:cNvSpPr>
            <a:spLocks noChangeArrowheads="1"/>
          </p:cNvSpPr>
          <p:nvPr/>
        </p:nvSpPr>
        <p:spPr bwMode="auto">
          <a:xfrm>
            <a:off x="609600" y="2757488"/>
            <a:ext cx="4292499" cy="4022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171450" indent="-171450">
              <a:buFont typeface="Arial" panose="020B0604020202020204" pitchFamily="34" charset="0"/>
              <a:buChar char="•"/>
            </a:pPr>
            <a:r>
              <a:rPr lang="es-ES_tradnl" altLang="es-ES" sz="1600" i="1" dirty="0">
                <a:solidFill>
                  <a:srgbClr val="000000"/>
                </a:solidFill>
                <a:latin typeface="Times New Roman" pitchFamily="18" charset="0"/>
              </a:rPr>
              <a:t>X</a:t>
            </a:r>
            <a:r>
              <a:rPr lang="es-ES_tradnl" altLang="es-ES" sz="2000" dirty="0">
                <a:solidFill>
                  <a:srgbClr val="000000"/>
                </a:solidFill>
              </a:rPr>
              <a:t> </a:t>
            </a:r>
            <a:r>
              <a:rPr lang="es-ES_tradnl" altLang="es-ES" sz="1600" dirty="0">
                <a:solidFill>
                  <a:srgbClr val="000000"/>
                </a:solidFill>
              </a:rPr>
              <a:t> </a:t>
            </a:r>
            <a:r>
              <a:rPr lang="es-ES" altLang="es-ES" sz="1600" dirty="0">
                <a:solidFill>
                  <a:srgbClr val="000000"/>
                </a:solidFill>
              </a:rPr>
              <a:t>es una VA con </a:t>
            </a:r>
            <a:r>
              <a:rPr lang="es-ES_tradnl" altLang="es-ES" sz="1600" dirty="0">
                <a:solidFill>
                  <a:srgbClr val="000000"/>
                </a:solidFill>
              </a:rPr>
              <a:t>distribución desconocida</a:t>
            </a:r>
            <a:endParaRPr lang="es-ES" altLang="es-ES" sz="1600" dirty="0">
              <a:solidFill>
                <a:srgbClr val="000000"/>
              </a:solidFill>
            </a:endParaRPr>
          </a:p>
        </p:txBody>
      </p:sp>
      <p:sp>
        <p:nvSpPr>
          <p:cNvPr id="10255" name="Rectangle 13"/>
          <p:cNvSpPr>
            <a:spLocks noChangeArrowheads="1"/>
          </p:cNvSpPr>
          <p:nvPr/>
        </p:nvSpPr>
        <p:spPr bwMode="auto">
          <a:xfrm>
            <a:off x="304800" y="3321050"/>
            <a:ext cx="5791200" cy="6485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114300" indent="-114300" eaLnBrk="0" hangingPunct="0">
              <a:tabLst>
                <a:tab pos="114300" algn="l"/>
              </a:tabLst>
              <a:defRPr>
                <a:solidFill>
                  <a:schemeClr val="tx1"/>
                </a:solidFill>
                <a:latin typeface="Arial" charset="0"/>
              </a:defRPr>
            </a:lvl1pPr>
            <a:lvl2pPr marL="742950" indent="-285750" eaLnBrk="0" hangingPunct="0">
              <a:tabLst>
                <a:tab pos="114300" algn="l"/>
              </a:tabLst>
              <a:defRPr>
                <a:solidFill>
                  <a:schemeClr val="tx1"/>
                </a:solidFill>
                <a:latin typeface="Arial" charset="0"/>
              </a:defRPr>
            </a:lvl2pPr>
            <a:lvl3pPr marL="1143000" indent="-228600" eaLnBrk="0" hangingPunct="0">
              <a:tabLst>
                <a:tab pos="114300" algn="l"/>
              </a:tabLst>
              <a:defRPr>
                <a:solidFill>
                  <a:schemeClr val="tx1"/>
                </a:solidFill>
                <a:latin typeface="Arial" charset="0"/>
              </a:defRPr>
            </a:lvl3pPr>
            <a:lvl4pPr marL="1600200" indent="-228600" eaLnBrk="0" hangingPunct="0">
              <a:tabLst>
                <a:tab pos="114300" algn="l"/>
              </a:tabLst>
              <a:defRPr>
                <a:solidFill>
                  <a:schemeClr val="tx1"/>
                </a:solidFill>
                <a:latin typeface="Arial" charset="0"/>
              </a:defRPr>
            </a:lvl4pPr>
            <a:lvl5pPr marL="2057400" indent="-228600" eaLnBrk="0" hangingPunct="0">
              <a:tabLst>
                <a:tab pos="114300" algn="l"/>
              </a:tabLst>
              <a:defRPr>
                <a:solidFill>
                  <a:schemeClr val="tx1"/>
                </a:solidFill>
                <a:latin typeface="Arial" charset="0"/>
              </a:defRPr>
            </a:lvl5pPr>
            <a:lvl6pPr marL="2514600" indent="-228600" eaLnBrk="0" fontAlgn="base" hangingPunct="0">
              <a:spcBef>
                <a:spcPct val="0"/>
              </a:spcBef>
              <a:spcAft>
                <a:spcPct val="0"/>
              </a:spcAft>
              <a:tabLst>
                <a:tab pos="114300" algn="l"/>
              </a:tabLst>
              <a:defRPr>
                <a:solidFill>
                  <a:schemeClr val="tx1"/>
                </a:solidFill>
                <a:latin typeface="Arial" charset="0"/>
              </a:defRPr>
            </a:lvl6pPr>
            <a:lvl7pPr marL="2971800" indent="-228600" eaLnBrk="0" fontAlgn="base" hangingPunct="0">
              <a:spcBef>
                <a:spcPct val="0"/>
              </a:spcBef>
              <a:spcAft>
                <a:spcPct val="0"/>
              </a:spcAft>
              <a:tabLst>
                <a:tab pos="114300" algn="l"/>
              </a:tabLst>
              <a:defRPr>
                <a:solidFill>
                  <a:schemeClr val="tx1"/>
                </a:solidFill>
                <a:latin typeface="Arial" charset="0"/>
              </a:defRPr>
            </a:lvl7pPr>
            <a:lvl8pPr marL="3429000" indent="-228600" eaLnBrk="0" fontAlgn="base" hangingPunct="0">
              <a:spcBef>
                <a:spcPct val="0"/>
              </a:spcBef>
              <a:spcAft>
                <a:spcPct val="0"/>
              </a:spcAft>
              <a:tabLst>
                <a:tab pos="114300" algn="l"/>
              </a:tabLst>
              <a:defRPr>
                <a:solidFill>
                  <a:schemeClr val="tx1"/>
                </a:solidFill>
                <a:latin typeface="Arial" charset="0"/>
              </a:defRPr>
            </a:lvl8pPr>
            <a:lvl9pPr marL="3886200" indent="-228600" eaLnBrk="0" fontAlgn="base" hangingPunct="0">
              <a:spcBef>
                <a:spcPct val="0"/>
              </a:spcBef>
              <a:spcAft>
                <a:spcPct val="0"/>
              </a:spcAft>
              <a:tabLst>
                <a:tab pos="114300" algn="l"/>
              </a:tabLst>
              <a:defRPr>
                <a:solidFill>
                  <a:schemeClr val="tx1"/>
                </a:solidFill>
                <a:latin typeface="Arial" charset="0"/>
              </a:defRPr>
            </a:lvl9pPr>
          </a:lstStyle>
          <a:p>
            <a:pPr>
              <a:buFontTx/>
              <a:buChar char="•"/>
            </a:pPr>
            <a:r>
              <a:rPr lang="es-ES_tradnl" altLang="es-ES" sz="1600" dirty="0">
                <a:solidFill>
                  <a:srgbClr val="000000"/>
                </a:solidFill>
              </a:rPr>
              <a:t>IC para el parámetro</a:t>
            </a:r>
            <a:r>
              <a:rPr lang="es-ES_tradnl" altLang="es-ES" sz="2000" dirty="0">
                <a:solidFill>
                  <a:srgbClr val="000000"/>
                </a:solidFill>
              </a:rPr>
              <a:t> </a:t>
            </a:r>
            <a:r>
              <a:rPr lang="es-ES_tradnl" altLang="es-ES" sz="1800" i="1" dirty="0">
                <a:solidFill>
                  <a:srgbClr val="000000"/>
                </a:solidFill>
                <a:latin typeface="Times New Roman" pitchFamily="18" charset="0"/>
              </a:rPr>
              <a:t>p</a:t>
            </a:r>
            <a:r>
              <a:rPr lang="es-ES" altLang="es-ES" sz="2000" dirty="0">
                <a:solidFill>
                  <a:srgbClr val="000000"/>
                </a:solidFill>
              </a:rPr>
              <a:t> </a:t>
            </a:r>
            <a:r>
              <a:rPr lang="es-ES" altLang="es-ES" sz="1600" dirty="0">
                <a:solidFill>
                  <a:srgbClr val="000000"/>
                </a:solidFill>
              </a:rPr>
              <a:t>asociado a la distribución binomial </a:t>
            </a:r>
          </a:p>
          <a:p>
            <a:r>
              <a:rPr lang="es-ES" altLang="es-ES" sz="1600" dirty="0">
                <a:solidFill>
                  <a:srgbClr val="000000"/>
                </a:solidFill>
              </a:rPr>
              <a:t>	(</a:t>
            </a:r>
            <a:r>
              <a:rPr lang="es-ES_tradnl" altLang="es-ES" i="1" dirty="0">
                <a:solidFill>
                  <a:srgbClr val="000000"/>
                </a:solidFill>
                <a:latin typeface="Times New Roman" pitchFamily="18" charset="0"/>
              </a:rPr>
              <a:t>X </a:t>
            </a:r>
            <a:r>
              <a:rPr lang="es-ES_tradnl" altLang="es-ES" sz="1600" dirty="0">
                <a:solidFill>
                  <a:srgbClr val="000000"/>
                </a:solidFill>
              </a:rPr>
              <a:t>es ahora una VAD)    </a:t>
            </a:r>
            <a:endParaRPr lang="es-ES" altLang="es-ES" sz="1600" dirty="0">
              <a:solidFill>
                <a:srgbClr val="000000"/>
              </a:solidFill>
            </a:endParaRPr>
          </a:p>
        </p:txBody>
      </p:sp>
      <p:sp>
        <p:nvSpPr>
          <p:cNvPr id="10256" name="Rectangle 13"/>
          <p:cNvSpPr>
            <a:spLocks noChangeArrowheads="1"/>
          </p:cNvSpPr>
          <p:nvPr/>
        </p:nvSpPr>
        <p:spPr bwMode="auto">
          <a:xfrm>
            <a:off x="419100" y="1676400"/>
            <a:ext cx="2370138"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a:solidFill>
                  <a:srgbClr val="000000"/>
                </a:solidFill>
              </a:rPr>
              <a:t>Distinguimos dos </a:t>
            </a:r>
            <a:r>
              <a:rPr lang="es-ES" altLang="es-ES" sz="1600">
                <a:solidFill>
                  <a:srgbClr val="000000"/>
                </a:solidFill>
              </a:rPr>
              <a:t>casos:</a:t>
            </a:r>
          </a:p>
        </p:txBody>
      </p:sp>
      <p:sp>
        <p:nvSpPr>
          <p:cNvPr id="10257" name="Rectangle 13"/>
          <p:cNvSpPr>
            <a:spLocks noChangeArrowheads="1"/>
          </p:cNvSpPr>
          <p:nvPr/>
        </p:nvSpPr>
        <p:spPr bwMode="auto">
          <a:xfrm>
            <a:off x="398628" y="4648200"/>
            <a:ext cx="6096000" cy="956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a:r>
              <a:rPr lang="es-ES_tradnl" altLang="es-ES" sz="1400" dirty="0">
                <a:solidFill>
                  <a:srgbClr val="000000"/>
                </a:solidFill>
              </a:rPr>
              <a:t>Los métodos estadístico</a:t>
            </a:r>
            <a:r>
              <a:rPr lang="es-ES" altLang="es-ES" sz="1400" dirty="0">
                <a:solidFill>
                  <a:srgbClr val="000000"/>
                </a:solidFill>
              </a:rPr>
              <a:t>s permiten construir IC para cualquier parámetro (en el adelante se verá alguno más). Siempre que se hable de </a:t>
            </a:r>
            <a:r>
              <a:rPr lang="es-ES" altLang="es-ES" sz="1400" b="1" dirty="0">
                <a:solidFill>
                  <a:srgbClr val="000000"/>
                </a:solidFill>
              </a:rPr>
              <a:t>estimar</a:t>
            </a:r>
            <a:r>
              <a:rPr lang="es-ES" altLang="es-ES" sz="1400" dirty="0">
                <a:solidFill>
                  <a:srgbClr val="000000"/>
                </a:solidFill>
              </a:rPr>
              <a:t> un parámetro debe pensarse en </a:t>
            </a:r>
            <a:r>
              <a:rPr lang="es-ES" altLang="es-ES" sz="1400" b="1" dirty="0">
                <a:solidFill>
                  <a:srgbClr val="000000"/>
                </a:solidFill>
              </a:rPr>
              <a:t>obtener su IC </a:t>
            </a:r>
            <a:r>
              <a:rPr lang="es-ES" altLang="es-ES" sz="1400" dirty="0">
                <a:solidFill>
                  <a:srgbClr val="000000"/>
                </a:solidFill>
              </a:rPr>
              <a:t>(no basta con el estimador puntual)</a:t>
            </a:r>
          </a:p>
        </p:txBody>
      </p:sp>
      <p:sp>
        <p:nvSpPr>
          <p:cNvPr id="10258" name="AutoShape 39"/>
          <p:cNvSpPr>
            <a:spLocks noChangeArrowheads="1"/>
          </p:cNvSpPr>
          <p:nvPr/>
        </p:nvSpPr>
        <p:spPr bwMode="auto">
          <a:xfrm>
            <a:off x="381000" y="4572000"/>
            <a:ext cx="6172200" cy="1066800"/>
          </a:xfrm>
          <a:prstGeom prst="roundRect">
            <a:avLst>
              <a:gd name="adj" fmla="val 2380"/>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10259" name="Line 40"/>
          <p:cNvSpPr>
            <a:spLocks noChangeShapeType="1"/>
          </p:cNvSpPr>
          <p:nvPr/>
        </p:nvSpPr>
        <p:spPr bwMode="auto">
          <a:xfrm>
            <a:off x="5029200" y="2971800"/>
            <a:ext cx="1752600" cy="304800"/>
          </a:xfrm>
          <a:prstGeom prst="line">
            <a:avLst/>
          </a:prstGeom>
          <a:noFill/>
          <a:ln w="9525">
            <a:solidFill>
              <a:srgbClr val="3333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0260" name="Line 41"/>
          <p:cNvSpPr>
            <a:spLocks noChangeShapeType="1"/>
          </p:cNvSpPr>
          <p:nvPr/>
        </p:nvSpPr>
        <p:spPr bwMode="auto">
          <a:xfrm flipV="1">
            <a:off x="4495800" y="1981200"/>
            <a:ext cx="2286000" cy="381000"/>
          </a:xfrm>
          <a:prstGeom prst="line">
            <a:avLst/>
          </a:prstGeom>
          <a:noFill/>
          <a:ln w="9525">
            <a:solidFill>
              <a:srgbClr val="3333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0261" name="Line 42"/>
          <p:cNvSpPr>
            <a:spLocks noChangeShapeType="1"/>
          </p:cNvSpPr>
          <p:nvPr/>
        </p:nvSpPr>
        <p:spPr bwMode="auto">
          <a:xfrm>
            <a:off x="5867400" y="3733800"/>
            <a:ext cx="990600" cy="990600"/>
          </a:xfrm>
          <a:prstGeom prst="line">
            <a:avLst/>
          </a:prstGeom>
          <a:noFill/>
          <a:ln w="9525">
            <a:solidFill>
              <a:srgbClr val="33333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3" name="Text Box 32"/>
          <p:cNvSpPr txBox="1">
            <a:spLocks noChangeArrowheads="1"/>
          </p:cNvSpPr>
          <p:nvPr/>
        </p:nvSpPr>
        <p:spPr bwMode="auto">
          <a:xfrm>
            <a:off x="157223" y="212725"/>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611765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5"/>
          <p:cNvGraphicFramePr>
            <a:graphicFrameLocks noChangeAspect="1"/>
          </p:cNvGraphicFramePr>
          <p:nvPr/>
        </p:nvGraphicFramePr>
        <p:xfrm>
          <a:off x="649288" y="3756025"/>
          <a:ext cx="2514600" cy="1044575"/>
        </p:xfrm>
        <a:graphic>
          <a:graphicData uri="http://schemas.openxmlformats.org/presentationml/2006/ole">
            <mc:AlternateContent xmlns:mc="http://schemas.openxmlformats.org/markup-compatibility/2006">
              <mc:Choice xmlns:v="urn:schemas-microsoft-com:vml" Requires="v">
                <p:oleObj name="Equation" r:id="rId2" imgW="1714500" imgH="711200" progId="Equation.DSMT4">
                  <p:embed/>
                </p:oleObj>
              </mc:Choice>
              <mc:Fallback>
                <p:oleObj name="Equation" r:id="rId2" imgW="1714500" imgH="711200" progId="Equation.DSMT4">
                  <p:embed/>
                  <p:pic>
                    <p:nvPicPr>
                      <p:cNvPr id="1126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88" y="3756025"/>
                        <a:ext cx="2514600" cy="1044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7" name="Rectangle 24"/>
          <p:cNvSpPr>
            <a:spLocks noChangeArrowheads="1"/>
          </p:cNvSpPr>
          <p:nvPr/>
        </p:nvSpPr>
        <p:spPr bwMode="auto">
          <a:xfrm>
            <a:off x="161925" y="409575"/>
            <a:ext cx="6510338"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dirty="0">
                <a:solidFill>
                  <a:srgbClr val="000000"/>
                </a:solidFill>
              </a:rPr>
              <a:t>Intervalos de confianza para la media de una variable cuantitativa</a:t>
            </a:r>
            <a:endParaRPr lang="es-ES" altLang="es-ES" sz="1600" b="1" dirty="0">
              <a:solidFill>
                <a:srgbClr val="000000"/>
              </a:solidFill>
            </a:endParaRPr>
          </a:p>
        </p:txBody>
      </p:sp>
      <p:sp>
        <p:nvSpPr>
          <p:cNvPr id="11268" name="Text Box 19"/>
          <p:cNvSpPr txBox="1">
            <a:spLocks noChangeArrowheads="1"/>
          </p:cNvSpPr>
          <p:nvPr/>
        </p:nvSpPr>
        <p:spPr bwMode="auto">
          <a:xfrm>
            <a:off x="304800" y="3409950"/>
            <a:ext cx="256031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600" dirty="0"/>
              <a:t>2. </a:t>
            </a:r>
            <a:r>
              <a:rPr lang="es-ES_tradnl" altLang="es-ES" sz="1600" b="1" dirty="0"/>
              <a:t>Información muestral</a:t>
            </a:r>
            <a:r>
              <a:rPr lang="es-ES_tradnl" altLang="es-ES" sz="1600" dirty="0"/>
              <a:t>:</a:t>
            </a:r>
            <a:endParaRPr lang="es-ES" altLang="es-ES" sz="1600" dirty="0"/>
          </a:p>
        </p:txBody>
      </p:sp>
      <p:sp>
        <p:nvSpPr>
          <p:cNvPr id="11269" name="Text Box 20"/>
          <p:cNvSpPr txBox="1">
            <a:spLocks noChangeArrowheads="1"/>
          </p:cNvSpPr>
          <p:nvPr/>
        </p:nvSpPr>
        <p:spPr bwMode="auto">
          <a:xfrm>
            <a:off x="304800" y="1068388"/>
            <a:ext cx="656461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600" dirty="0"/>
              <a:t>1. ¿Qué se puede decir de la </a:t>
            </a:r>
            <a:r>
              <a:rPr lang="es-ES_tradnl" altLang="es-ES" sz="1600" b="1" dirty="0"/>
              <a:t>normalidad</a:t>
            </a:r>
            <a:r>
              <a:rPr lang="es-ES_tradnl" altLang="es-ES" sz="1600" dirty="0"/>
              <a:t> de la variable estudiada </a:t>
            </a:r>
            <a:r>
              <a:rPr lang="es-ES_tradnl" altLang="es-ES" sz="1600" i="1" dirty="0">
                <a:latin typeface="Times New Roman" pitchFamily="18" charset="0"/>
              </a:rPr>
              <a:t>X </a:t>
            </a:r>
            <a:r>
              <a:rPr lang="es-ES_tradnl" altLang="es-ES" sz="1600" dirty="0"/>
              <a:t>?</a:t>
            </a:r>
            <a:endParaRPr lang="es-ES" altLang="es-ES" sz="1600" dirty="0"/>
          </a:p>
        </p:txBody>
      </p:sp>
      <p:grpSp>
        <p:nvGrpSpPr>
          <p:cNvPr id="11270" name="Group 23"/>
          <p:cNvGrpSpPr>
            <a:grpSpLocks/>
          </p:cNvGrpSpPr>
          <p:nvPr/>
        </p:nvGrpSpPr>
        <p:grpSpPr bwMode="auto">
          <a:xfrm>
            <a:off x="649288" y="1600200"/>
            <a:ext cx="7188200" cy="304800"/>
            <a:chOff x="192" y="1025"/>
            <a:chExt cx="4528" cy="192"/>
          </a:xfrm>
        </p:grpSpPr>
        <p:sp>
          <p:nvSpPr>
            <p:cNvPr id="11282" name="Text Box 21"/>
            <p:cNvSpPr txBox="1">
              <a:spLocks noChangeArrowheads="1"/>
            </p:cNvSpPr>
            <p:nvPr/>
          </p:nvSpPr>
          <p:spPr bwMode="auto">
            <a:xfrm>
              <a:off x="192" y="1025"/>
              <a:ext cx="452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La variable </a:t>
              </a:r>
              <a:r>
                <a:rPr lang="es-ES_tradnl" altLang="es-ES" sz="1400" i="1">
                  <a:latin typeface="Times New Roman" pitchFamily="18" charset="0"/>
                </a:rPr>
                <a:t>X</a:t>
              </a:r>
              <a:r>
                <a:rPr lang="es-ES_tradnl" altLang="es-ES" sz="1400"/>
                <a:t>  tiene distribución normal → Su media     tiene entonces distribución normal</a:t>
              </a:r>
              <a:endParaRPr lang="es-ES" altLang="es-ES" sz="1400"/>
            </a:p>
          </p:txBody>
        </p:sp>
        <p:graphicFrame>
          <p:nvGraphicFramePr>
            <p:cNvPr id="11283" name="Object 4"/>
            <p:cNvGraphicFramePr>
              <a:graphicFrameLocks noChangeAspect="1"/>
            </p:cNvGraphicFramePr>
            <p:nvPr/>
          </p:nvGraphicFramePr>
          <p:xfrm>
            <a:off x="2826" y="1032"/>
            <a:ext cx="143" cy="169"/>
          </p:xfrm>
          <a:graphic>
            <a:graphicData uri="http://schemas.openxmlformats.org/presentationml/2006/ole">
              <mc:AlternateContent xmlns:mc="http://schemas.openxmlformats.org/markup-compatibility/2006">
                <mc:Choice xmlns:v="urn:schemas-microsoft-com:vml" Requires="v">
                  <p:oleObj name="Equation" r:id="rId4" imgW="139579" imgH="164957" progId="Equation.DSMT4">
                    <p:embed/>
                  </p:oleObj>
                </mc:Choice>
                <mc:Fallback>
                  <p:oleObj name="Equation" r:id="rId4" imgW="139579" imgH="164957" progId="Equation.DSMT4">
                    <p:embed/>
                    <p:pic>
                      <p:nvPicPr>
                        <p:cNvPr id="1128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26" y="1032"/>
                          <a:ext cx="143"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271" name="Group 27"/>
          <p:cNvGrpSpPr>
            <a:grpSpLocks/>
          </p:cNvGrpSpPr>
          <p:nvPr/>
        </p:nvGrpSpPr>
        <p:grpSpPr bwMode="auto">
          <a:xfrm>
            <a:off x="649288" y="2286000"/>
            <a:ext cx="7351712" cy="336550"/>
            <a:chOff x="336" y="1104"/>
            <a:chExt cx="4631" cy="212"/>
          </a:xfrm>
        </p:grpSpPr>
        <p:sp>
          <p:nvSpPr>
            <p:cNvPr id="11280" name="Text Box 25"/>
            <p:cNvSpPr txBox="1">
              <a:spLocks noChangeArrowheads="1"/>
            </p:cNvSpPr>
            <p:nvPr/>
          </p:nvSpPr>
          <p:spPr bwMode="auto">
            <a:xfrm>
              <a:off x="336" y="1104"/>
              <a:ext cx="46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La variable </a:t>
              </a:r>
              <a:r>
                <a:rPr lang="es-ES_tradnl" altLang="es-ES" sz="1400" i="1">
                  <a:latin typeface="Times New Roman" pitchFamily="18" charset="0"/>
                </a:rPr>
                <a:t>X</a:t>
              </a:r>
              <a:r>
                <a:rPr lang="es-ES_tradnl" altLang="es-ES" sz="1400"/>
                <a:t>  no tiene distribución normal → Su media     tiene distribución normal si </a:t>
              </a:r>
              <a:r>
                <a:rPr lang="es-ES_tradnl" altLang="es-ES" sz="1600" i="1">
                  <a:latin typeface="Times New Roman" pitchFamily="18" charset="0"/>
                </a:rPr>
                <a:t>n</a:t>
              </a:r>
              <a:r>
                <a:rPr lang="es-ES_tradnl" altLang="es-ES" sz="1600">
                  <a:latin typeface="Times New Roman" pitchFamily="18" charset="0"/>
                  <a:cs typeface="Arial" charset="0"/>
                </a:rPr>
                <a:t>≥</a:t>
              </a:r>
              <a:r>
                <a:rPr lang="es-ES_tradnl" altLang="es-ES" sz="1400">
                  <a:cs typeface="Arial" charset="0"/>
                </a:rPr>
                <a:t>60 </a:t>
              </a:r>
            </a:p>
          </p:txBody>
        </p:sp>
        <p:graphicFrame>
          <p:nvGraphicFramePr>
            <p:cNvPr id="11281" name="Object 4"/>
            <p:cNvGraphicFramePr>
              <a:graphicFrameLocks noChangeAspect="1"/>
            </p:cNvGraphicFramePr>
            <p:nvPr/>
          </p:nvGraphicFramePr>
          <p:xfrm>
            <a:off x="3126" y="1128"/>
            <a:ext cx="143" cy="169"/>
          </p:xfrm>
          <a:graphic>
            <a:graphicData uri="http://schemas.openxmlformats.org/presentationml/2006/ole">
              <mc:AlternateContent xmlns:mc="http://schemas.openxmlformats.org/markup-compatibility/2006">
                <mc:Choice xmlns:v="urn:schemas-microsoft-com:vml" Requires="v">
                  <p:oleObj name="Equation" r:id="rId6" imgW="139579" imgH="164957" progId="Equation.DSMT4">
                    <p:embed/>
                  </p:oleObj>
                </mc:Choice>
                <mc:Fallback>
                  <p:oleObj name="Equation" r:id="rId6" imgW="139579" imgH="164957" progId="Equation.DSMT4">
                    <p:embed/>
                    <p:pic>
                      <p:nvPicPr>
                        <p:cNvPr id="11281"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6" y="1128"/>
                          <a:ext cx="143" cy="1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1272" name="Text Box 29"/>
          <p:cNvSpPr txBox="1">
            <a:spLocks noChangeArrowheads="1"/>
          </p:cNvSpPr>
          <p:nvPr/>
        </p:nvSpPr>
        <p:spPr bwMode="auto">
          <a:xfrm>
            <a:off x="3962400" y="1838325"/>
            <a:ext cx="2311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(lo que sigue vale siempre)</a:t>
            </a:r>
            <a:endParaRPr lang="es-ES" altLang="es-ES" sz="1400"/>
          </a:p>
        </p:txBody>
      </p:sp>
      <p:sp>
        <p:nvSpPr>
          <p:cNvPr id="11273" name="Text Box 33"/>
          <p:cNvSpPr txBox="1">
            <a:spLocks noChangeArrowheads="1"/>
          </p:cNvSpPr>
          <p:nvPr/>
        </p:nvSpPr>
        <p:spPr bwMode="auto">
          <a:xfrm>
            <a:off x="1423988" y="2630488"/>
            <a:ext cx="63484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Si </a:t>
            </a:r>
            <a:r>
              <a:rPr lang="es-ES_tradnl" altLang="es-ES" sz="1600" i="1">
                <a:latin typeface="Times New Roman" pitchFamily="18" charset="0"/>
              </a:rPr>
              <a:t>n</a:t>
            </a:r>
            <a:r>
              <a:rPr lang="es-ES_tradnl" altLang="es-ES" sz="1600">
                <a:latin typeface="Times New Roman" pitchFamily="18" charset="0"/>
                <a:cs typeface="Arial" charset="0"/>
              </a:rPr>
              <a:t>≥</a:t>
            </a:r>
            <a:r>
              <a:rPr lang="es-ES_tradnl" altLang="es-ES" sz="1400">
                <a:cs typeface="Arial" charset="0"/>
              </a:rPr>
              <a:t>60 → lo que sigue vale de forma aproximada (mejor cuanto mayor sea </a:t>
            </a:r>
            <a:r>
              <a:rPr lang="es-ES_tradnl" altLang="es-ES" sz="1600" i="1">
                <a:latin typeface="Times New Roman" pitchFamily="18" charset="0"/>
                <a:cs typeface="Arial" charset="0"/>
              </a:rPr>
              <a:t>n</a:t>
            </a:r>
            <a:r>
              <a:rPr lang="es-ES_tradnl" altLang="es-ES" sz="1400">
                <a:cs typeface="Arial" charset="0"/>
              </a:rPr>
              <a:t>)</a:t>
            </a:r>
          </a:p>
        </p:txBody>
      </p:sp>
      <p:sp>
        <p:nvSpPr>
          <p:cNvPr id="11274" name="Text Box 35"/>
          <p:cNvSpPr txBox="1">
            <a:spLocks noChangeArrowheads="1"/>
          </p:cNvSpPr>
          <p:nvPr/>
        </p:nvSpPr>
        <p:spPr bwMode="auto">
          <a:xfrm>
            <a:off x="1423988" y="2930525"/>
            <a:ext cx="5895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dirty="0"/>
              <a:t>Si </a:t>
            </a:r>
            <a:r>
              <a:rPr lang="es-ES_tradnl" altLang="es-ES" sz="1600" i="1" dirty="0">
                <a:latin typeface="Times New Roman" pitchFamily="18" charset="0"/>
              </a:rPr>
              <a:t>n</a:t>
            </a:r>
            <a:r>
              <a:rPr lang="es-ES_tradnl" altLang="es-ES" sz="1600" dirty="0">
                <a:latin typeface="Times New Roman" pitchFamily="18" charset="0"/>
                <a:cs typeface="Arial" charset="0"/>
              </a:rPr>
              <a:t>&lt;</a:t>
            </a:r>
            <a:r>
              <a:rPr lang="es-ES_tradnl" altLang="es-ES" sz="1400" dirty="0">
                <a:cs typeface="Arial" charset="0"/>
              </a:rPr>
              <a:t>60 → no se puede estimar </a:t>
            </a:r>
            <a:r>
              <a:rPr lang="es-ES_tradnl" altLang="es-ES" sz="1600" dirty="0">
                <a:latin typeface="Symbol" pitchFamily="18" charset="2"/>
                <a:cs typeface="Arial" charset="0"/>
              </a:rPr>
              <a:t>m</a:t>
            </a:r>
            <a:r>
              <a:rPr lang="es-ES_tradnl" altLang="es-ES" sz="1400" dirty="0">
                <a:cs typeface="Arial" charset="0"/>
              </a:rPr>
              <a:t> con los métodos que se exponen aquí</a:t>
            </a:r>
          </a:p>
        </p:txBody>
      </p:sp>
      <p:sp>
        <p:nvSpPr>
          <p:cNvPr id="11275" name="Text Box 36"/>
          <p:cNvSpPr txBox="1">
            <a:spLocks noChangeArrowheads="1"/>
          </p:cNvSpPr>
          <p:nvPr/>
        </p:nvSpPr>
        <p:spPr bwMode="auto">
          <a:xfrm>
            <a:off x="304800" y="5046663"/>
            <a:ext cx="260039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600" dirty="0"/>
              <a:t>3.  </a:t>
            </a:r>
            <a:r>
              <a:rPr lang="es-ES_tradnl" altLang="es-ES" sz="1600" b="1" dirty="0"/>
              <a:t>Nivel de confianza </a:t>
            </a:r>
            <a:r>
              <a:rPr lang="es-ES_tradnl" altLang="es-ES" sz="1400" dirty="0">
                <a:latin typeface="Symbol" pitchFamily="18" charset="2"/>
              </a:rPr>
              <a:t>1-a</a:t>
            </a:r>
            <a:endParaRPr lang="es-ES" altLang="es-ES" sz="1400" dirty="0">
              <a:latin typeface="Symbol" pitchFamily="18" charset="2"/>
            </a:endParaRPr>
          </a:p>
        </p:txBody>
      </p:sp>
      <p:sp>
        <p:nvSpPr>
          <p:cNvPr id="11276" name="Text Box 37"/>
          <p:cNvSpPr txBox="1">
            <a:spLocks noChangeArrowheads="1"/>
          </p:cNvSpPr>
          <p:nvPr/>
        </p:nvSpPr>
        <p:spPr bwMode="auto">
          <a:xfrm>
            <a:off x="609600" y="5486400"/>
            <a:ext cx="568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Lo fija el investigador de antemano. NO depende del tamaño muestral</a:t>
            </a:r>
            <a:endParaRPr lang="es-ES" altLang="es-ES" sz="1400"/>
          </a:p>
        </p:txBody>
      </p:sp>
      <p:sp>
        <p:nvSpPr>
          <p:cNvPr id="11277" name="Text Box 38"/>
          <p:cNvSpPr txBox="1">
            <a:spLocks noChangeArrowheads="1"/>
          </p:cNvSpPr>
          <p:nvPr/>
        </p:nvSpPr>
        <p:spPr bwMode="auto">
          <a:xfrm>
            <a:off x="609600" y="5810250"/>
            <a:ext cx="80772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En general se establece al 95% (</a:t>
            </a:r>
            <a:r>
              <a:rPr lang="es-ES_tradnl" altLang="es-ES" sz="1600">
                <a:latin typeface="Symbol" pitchFamily="18" charset="2"/>
              </a:rPr>
              <a:t>a=</a:t>
            </a:r>
            <a:r>
              <a:rPr lang="es-ES_tradnl" altLang="es-ES" sz="1400"/>
              <a:t>0.05). Otros valores habituales son el 90% (</a:t>
            </a:r>
            <a:r>
              <a:rPr lang="es-ES_tradnl" altLang="es-ES" sz="1600">
                <a:latin typeface="Symbol" pitchFamily="18" charset="2"/>
              </a:rPr>
              <a:t>a</a:t>
            </a:r>
            <a:r>
              <a:rPr lang="es-ES_tradnl" altLang="es-ES" sz="1400"/>
              <a:t>=0.10) y el 99% (</a:t>
            </a:r>
            <a:r>
              <a:rPr lang="es-ES_tradnl" altLang="es-ES" sz="1600">
                <a:latin typeface="Symbol" pitchFamily="18" charset="2"/>
              </a:rPr>
              <a:t>a</a:t>
            </a:r>
            <a:r>
              <a:rPr lang="es-ES_tradnl" altLang="es-ES" sz="1400"/>
              <a:t>=0.01)</a:t>
            </a:r>
            <a:endParaRPr lang="es-ES" altLang="es-ES" sz="1400"/>
          </a:p>
        </p:txBody>
      </p:sp>
      <p:sp>
        <p:nvSpPr>
          <p:cNvPr id="11278" name="Line 39"/>
          <p:cNvSpPr>
            <a:spLocks noChangeShapeType="1"/>
          </p:cNvSpPr>
          <p:nvPr/>
        </p:nvSpPr>
        <p:spPr bwMode="auto">
          <a:xfrm>
            <a:off x="3390900" y="4610100"/>
            <a:ext cx="6096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1279" name="Text Box 40"/>
          <p:cNvSpPr txBox="1">
            <a:spLocks noChangeArrowheads="1"/>
          </p:cNvSpPr>
          <p:nvPr/>
        </p:nvSpPr>
        <p:spPr bwMode="auto">
          <a:xfrm>
            <a:off x="4038600" y="4191000"/>
            <a:ext cx="46482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Observe el detalle de que </a:t>
            </a:r>
            <a:r>
              <a:rPr lang="es-ES_tradnl" altLang="es-ES" sz="1600" i="1">
                <a:latin typeface="Times New Roman" pitchFamily="18" charset="0"/>
              </a:rPr>
              <a:t>s</a:t>
            </a:r>
            <a:r>
              <a:rPr lang="es-ES_tradnl" altLang="es-ES" sz="1400"/>
              <a:t> es el estimador puntual de </a:t>
            </a:r>
            <a:r>
              <a:rPr lang="es-ES_tradnl" altLang="es-ES" sz="1600">
                <a:latin typeface="Symbol" pitchFamily="18" charset="2"/>
              </a:rPr>
              <a:t>s</a:t>
            </a:r>
            <a:r>
              <a:rPr lang="es-ES_tradnl" altLang="es-ES" sz="1400"/>
              <a:t>, que normalmente es un parámetro desconocido (si no se conoce </a:t>
            </a:r>
            <a:r>
              <a:rPr lang="es-ES_tradnl" altLang="es-ES" sz="1600">
                <a:latin typeface="Symbol" pitchFamily="18" charset="2"/>
              </a:rPr>
              <a:t>m</a:t>
            </a:r>
            <a:r>
              <a:rPr lang="es-ES_tradnl" altLang="es-ES" sz="1400"/>
              <a:t>, es muy raro conocer </a:t>
            </a:r>
            <a:r>
              <a:rPr lang="es-ES_tradnl" altLang="es-ES" sz="1600">
                <a:latin typeface="Symbol" pitchFamily="18" charset="2"/>
              </a:rPr>
              <a:t>s</a:t>
            </a:r>
            <a:r>
              <a:rPr lang="es-ES_tradnl" altLang="es-ES" sz="1400"/>
              <a:t>)</a:t>
            </a:r>
            <a:endParaRPr lang="es-ES" altLang="es-ES" sz="1400"/>
          </a:p>
        </p:txBody>
      </p:sp>
      <p:sp>
        <p:nvSpPr>
          <p:cNvPr id="20"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
        <p:nvSpPr>
          <p:cNvPr id="2" name="Abrir llave 1"/>
          <p:cNvSpPr/>
          <p:nvPr/>
        </p:nvSpPr>
        <p:spPr>
          <a:xfrm>
            <a:off x="527051" y="1746884"/>
            <a:ext cx="122237" cy="752475"/>
          </a:xfrm>
          <a:prstGeom prst="leftBrac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
        <p:nvSpPr>
          <p:cNvPr id="23" name="Abrir llave 22"/>
          <p:cNvSpPr/>
          <p:nvPr/>
        </p:nvSpPr>
        <p:spPr>
          <a:xfrm>
            <a:off x="1271588" y="2815592"/>
            <a:ext cx="152400" cy="308448"/>
          </a:xfrm>
          <a:prstGeom prst="leftBrac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Tree>
    <p:extLst>
      <p:ext uri="{BB962C8B-B14F-4D97-AF65-F5344CB8AC3E}">
        <p14:creationId xmlns:p14="http://schemas.microsoft.com/office/powerpoint/2010/main" val="860377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886"/>
          <p:cNvSpPr>
            <a:spLocks noChangeArrowheads="1"/>
          </p:cNvSpPr>
          <p:nvPr/>
        </p:nvSpPr>
        <p:spPr bwMode="auto">
          <a:xfrm>
            <a:off x="381000" y="3505200"/>
            <a:ext cx="8458200" cy="2971800"/>
          </a:xfrm>
          <a:prstGeom prst="roundRect">
            <a:avLst>
              <a:gd name="adj" fmla="val 5324"/>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aphicFrame>
        <p:nvGraphicFramePr>
          <p:cNvPr id="12291" name="Object 4"/>
          <p:cNvGraphicFramePr>
            <a:graphicFrameLocks noChangeAspect="1"/>
          </p:cNvGraphicFramePr>
          <p:nvPr>
            <p:extLst>
              <p:ext uri="{D42A27DB-BD31-4B8C-83A1-F6EECF244321}">
                <p14:modId xmlns:p14="http://schemas.microsoft.com/office/powerpoint/2010/main" val="2480197571"/>
              </p:ext>
            </p:extLst>
          </p:nvPr>
        </p:nvGraphicFramePr>
        <p:xfrm>
          <a:off x="2667000" y="1193800"/>
          <a:ext cx="2114550" cy="711200"/>
        </p:xfrm>
        <a:graphic>
          <a:graphicData uri="http://schemas.openxmlformats.org/presentationml/2006/ole">
            <mc:AlternateContent xmlns:mc="http://schemas.openxmlformats.org/markup-compatibility/2006">
              <mc:Choice xmlns:v="urn:schemas-microsoft-com:vml" Requires="v">
                <p:oleObj name="Equation" r:id="rId2" imgW="1244600" imgH="419100" progId="Equation.DSMT4">
                  <p:embed/>
                </p:oleObj>
              </mc:Choice>
              <mc:Fallback>
                <p:oleObj name="Equation" r:id="rId2" imgW="1244600" imgH="419100" progId="Equation.DSMT4">
                  <p:embed/>
                  <p:pic>
                    <p:nvPicPr>
                      <p:cNvPr id="1229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193800"/>
                        <a:ext cx="2114550" cy="711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2" name="Object 6"/>
          <p:cNvGraphicFramePr>
            <a:graphicFrameLocks noChangeAspect="1"/>
          </p:cNvGraphicFramePr>
          <p:nvPr/>
        </p:nvGraphicFramePr>
        <p:xfrm>
          <a:off x="609600" y="2133600"/>
          <a:ext cx="4341813" cy="766763"/>
        </p:xfrm>
        <a:graphic>
          <a:graphicData uri="http://schemas.openxmlformats.org/presentationml/2006/ole">
            <mc:AlternateContent xmlns:mc="http://schemas.openxmlformats.org/markup-compatibility/2006">
              <mc:Choice xmlns:v="urn:schemas-microsoft-com:vml" Requires="v">
                <p:oleObj name="Equation" r:id="rId4" imgW="2590800" imgH="457200" progId="Equation.DSMT4">
                  <p:embed/>
                </p:oleObj>
              </mc:Choice>
              <mc:Fallback>
                <p:oleObj name="Equation" r:id="rId4" imgW="2590800" imgH="457200" progId="Equation.DSMT4">
                  <p:embed/>
                  <p:pic>
                    <p:nvPicPr>
                      <p:cNvPr id="12292"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2133600"/>
                        <a:ext cx="4341813"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3" name="Text Box 14"/>
          <p:cNvSpPr txBox="1">
            <a:spLocks noChangeArrowheads="1"/>
          </p:cNvSpPr>
          <p:nvPr/>
        </p:nvSpPr>
        <p:spPr bwMode="auto">
          <a:xfrm>
            <a:off x="304800" y="838200"/>
            <a:ext cx="33057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600" dirty="0"/>
              <a:t>4. Expresión del </a:t>
            </a:r>
            <a:r>
              <a:rPr lang="es-ES_tradnl" altLang="es-ES" sz="1600" b="1" dirty="0"/>
              <a:t>IC</a:t>
            </a:r>
            <a:r>
              <a:rPr lang="es-ES_tradnl" altLang="es-ES" sz="1600" dirty="0"/>
              <a:t> para estimar</a:t>
            </a:r>
            <a:r>
              <a:rPr lang="es-ES_tradnl" altLang="es-ES" sz="2000" dirty="0"/>
              <a:t> </a:t>
            </a:r>
            <a:r>
              <a:rPr lang="es-ES_tradnl" altLang="es-ES" sz="1600" b="1" dirty="0">
                <a:latin typeface="Symbol" pitchFamily="18" charset="2"/>
              </a:rPr>
              <a:t>m</a:t>
            </a:r>
            <a:endParaRPr lang="es-ES" altLang="es-ES" b="1" dirty="0">
              <a:latin typeface="Symbol" pitchFamily="18" charset="2"/>
            </a:endParaRPr>
          </a:p>
        </p:txBody>
      </p:sp>
      <p:sp>
        <p:nvSpPr>
          <p:cNvPr id="12294" name="Text Box 24"/>
          <p:cNvSpPr txBox="1">
            <a:spLocks noChangeArrowheads="1"/>
          </p:cNvSpPr>
          <p:nvPr/>
        </p:nvSpPr>
        <p:spPr bwMode="auto">
          <a:xfrm>
            <a:off x="533400" y="1720850"/>
            <a:ext cx="18081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600" dirty="0"/>
              <a:t>Equivalentemente</a:t>
            </a:r>
            <a:endParaRPr lang="es-ES" altLang="es-ES" dirty="0">
              <a:latin typeface="Symbol" pitchFamily="18" charset="2"/>
            </a:endParaRPr>
          </a:p>
        </p:txBody>
      </p:sp>
      <p:grpSp>
        <p:nvGrpSpPr>
          <p:cNvPr id="12295" name="Group 27"/>
          <p:cNvGrpSpPr>
            <a:grpSpLocks/>
          </p:cNvGrpSpPr>
          <p:nvPr/>
        </p:nvGrpSpPr>
        <p:grpSpPr bwMode="auto">
          <a:xfrm>
            <a:off x="5334000" y="1524000"/>
            <a:ext cx="3581400" cy="1371600"/>
            <a:chOff x="2304" y="2304"/>
            <a:chExt cx="2256" cy="864"/>
          </a:xfrm>
        </p:grpSpPr>
        <p:sp>
          <p:nvSpPr>
            <p:cNvPr id="12314" name="Text Box 22"/>
            <p:cNvSpPr txBox="1">
              <a:spLocks noChangeArrowheads="1"/>
            </p:cNvSpPr>
            <p:nvPr/>
          </p:nvSpPr>
          <p:spPr bwMode="auto">
            <a:xfrm>
              <a:off x="2352" y="2481"/>
              <a:ext cx="2160" cy="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Si</a:t>
              </a:r>
              <a:r>
                <a:rPr lang="es-ES_tradnl" altLang="es-ES" sz="1600" i="1">
                  <a:latin typeface="Times New Roman" pitchFamily="18" charset="0"/>
                </a:rPr>
                <a:t> X </a:t>
              </a:r>
              <a:r>
                <a:rPr lang="es-ES_tradnl" altLang="es-ES" sz="1400"/>
                <a:t>normal, vale siempre, si no es normal solo es válido como aproximación si </a:t>
              </a:r>
              <a:r>
                <a:rPr lang="es-ES_tradnl" altLang="es-ES" sz="1600" i="1">
                  <a:latin typeface="Times New Roman" pitchFamily="18" charset="0"/>
                </a:rPr>
                <a:t>n</a:t>
              </a:r>
              <a:r>
                <a:rPr lang="es-ES_tradnl" altLang="es-ES" sz="1600">
                  <a:latin typeface="Times New Roman" pitchFamily="18" charset="0"/>
                  <a:cs typeface="Arial" charset="0"/>
                </a:rPr>
                <a:t>≥</a:t>
              </a:r>
              <a:r>
                <a:rPr lang="es-ES_tradnl" altLang="es-ES" sz="1400">
                  <a:cs typeface="Arial" charset="0"/>
                </a:rPr>
                <a:t>60 (la aproximación que mejora cuanto mayor sea </a:t>
              </a:r>
              <a:r>
                <a:rPr lang="es-ES_tradnl" altLang="es-ES" sz="1600" i="1">
                  <a:latin typeface="Times New Roman" pitchFamily="18" charset="0"/>
                  <a:cs typeface="Arial" charset="0"/>
                </a:rPr>
                <a:t>n</a:t>
              </a:r>
              <a:r>
                <a:rPr lang="es-ES_tradnl" altLang="es-ES" sz="1600">
                  <a:cs typeface="Arial" charset="0"/>
                </a:rPr>
                <a:t>)</a:t>
              </a:r>
              <a:endParaRPr lang="es-ES_tradnl" altLang="es-ES" sz="1400">
                <a:cs typeface="Arial" charset="0"/>
              </a:endParaRPr>
            </a:p>
          </p:txBody>
        </p:sp>
        <p:sp>
          <p:nvSpPr>
            <p:cNvPr id="12315" name="AutoShape 886"/>
            <p:cNvSpPr>
              <a:spLocks noChangeArrowheads="1"/>
            </p:cNvSpPr>
            <p:nvPr/>
          </p:nvSpPr>
          <p:spPr bwMode="auto">
            <a:xfrm>
              <a:off x="2304" y="2400"/>
              <a:ext cx="2256" cy="768"/>
            </a:xfrm>
            <a:prstGeom prst="roundRect">
              <a:avLst>
                <a:gd name="adj" fmla="val 5324"/>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12316" name="Text Box 25"/>
            <p:cNvSpPr txBox="1">
              <a:spLocks noChangeArrowheads="1"/>
            </p:cNvSpPr>
            <p:nvPr/>
          </p:nvSpPr>
          <p:spPr bwMode="auto">
            <a:xfrm>
              <a:off x="2352" y="2304"/>
              <a:ext cx="1188" cy="192"/>
            </a:xfrm>
            <a:prstGeom prst="rect">
              <a:avLst/>
            </a:prstGeom>
            <a:solidFill>
              <a:schemeClr val="bg1"/>
            </a:solidFill>
            <a:ln>
              <a:noFill/>
            </a:ln>
            <a:effectLst/>
            <a:extLs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400" dirty="0"/>
                <a:t>Condición de </a:t>
              </a:r>
              <a:r>
                <a:rPr lang="es-ES_tradnl" altLang="es-ES" sz="1400" b="1" dirty="0"/>
                <a:t>validez</a:t>
              </a:r>
              <a:endParaRPr lang="es-ES_tradnl" altLang="es-ES" sz="1400" b="1" dirty="0">
                <a:cs typeface="Arial" charset="0"/>
              </a:endParaRPr>
            </a:p>
          </p:txBody>
        </p:sp>
      </p:grpSp>
      <p:grpSp>
        <p:nvGrpSpPr>
          <p:cNvPr id="12296" name="Group 31"/>
          <p:cNvGrpSpPr>
            <a:grpSpLocks/>
          </p:cNvGrpSpPr>
          <p:nvPr/>
        </p:nvGrpSpPr>
        <p:grpSpPr bwMode="auto">
          <a:xfrm>
            <a:off x="785813" y="3311525"/>
            <a:ext cx="1804987" cy="422275"/>
            <a:chOff x="384" y="2726"/>
            <a:chExt cx="1137" cy="266"/>
          </a:xfrm>
        </p:grpSpPr>
        <p:sp>
          <p:nvSpPr>
            <p:cNvPr id="12312" name="Text Box 28"/>
            <p:cNvSpPr txBox="1">
              <a:spLocks noChangeArrowheads="1"/>
            </p:cNvSpPr>
            <p:nvPr/>
          </p:nvSpPr>
          <p:spPr bwMode="auto">
            <a:xfrm>
              <a:off x="384" y="2736"/>
              <a:ext cx="1137" cy="212"/>
            </a:xfrm>
            <a:prstGeom prst="rect">
              <a:avLst/>
            </a:prstGeom>
            <a:solidFill>
              <a:schemeClr val="bg1"/>
            </a:solidFill>
            <a:ln>
              <a:noFill/>
            </a:ln>
            <a:effectLst/>
            <a:extLs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600"/>
                <a:t>¿Quién es          ?</a:t>
              </a:r>
              <a:endParaRPr lang="es-ES" altLang="es-ES">
                <a:latin typeface="Symbol" pitchFamily="18" charset="2"/>
              </a:endParaRPr>
            </a:p>
          </p:txBody>
        </p:sp>
        <p:graphicFrame>
          <p:nvGraphicFramePr>
            <p:cNvPr id="12313" name="Object 29"/>
            <p:cNvGraphicFramePr>
              <a:graphicFrameLocks noChangeAspect="1"/>
            </p:cNvGraphicFramePr>
            <p:nvPr/>
          </p:nvGraphicFramePr>
          <p:xfrm>
            <a:off x="1056" y="2726"/>
            <a:ext cx="336" cy="266"/>
          </p:xfrm>
          <a:graphic>
            <a:graphicData uri="http://schemas.openxmlformats.org/presentationml/2006/ole">
              <mc:AlternateContent xmlns:mc="http://schemas.openxmlformats.org/markup-compatibility/2006">
                <mc:Choice xmlns:v="urn:schemas-microsoft-com:vml" Requires="v">
                  <p:oleObj name="Equation" r:id="rId6" imgW="304668" imgH="241195" progId="Equation.DSMT4">
                    <p:embed/>
                  </p:oleObj>
                </mc:Choice>
                <mc:Fallback>
                  <p:oleObj name="Equation" r:id="rId6" imgW="304668" imgH="241195" progId="Equation.DSMT4">
                    <p:embed/>
                    <p:pic>
                      <p:nvPicPr>
                        <p:cNvPr id="12313" name="Object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6" y="2726"/>
                          <a:ext cx="336"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2297" name="Group 39"/>
          <p:cNvGrpSpPr>
            <a:grpSpLocks/>
          </p:cNvGrpSpPr>
          <p:nvPr/>
        </p:nvGrpSpPr>
        <p:grpSpPr bwMode="auto">
          <a:xfrm>
            <a:off x="6096000" y="3819525"/>
            <a:ext cx="2438400" cy="2047875"/>
            <a:chOff x="3552" y="2646"/>
            <a:chExt cx="1824" cy="1266"/>
          </a:xfrm>
        </p:grpSpPr>
        <p:pic>
          <p:nvPicPr>
            <p:cNvPr id="12305"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52" y="2736"/>
              <a:ext cx="1728" cy="1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2306" name="Object 4"/>
            <p:cNvGraphicFramePr>
              <a:graphicFrameLocks noChangeAspect="1"/>
            </p:cNvGraphicFramePr>
            <p:nvPr/>
          </p:nvGraphicFramePr>
          <p:xfrm>
            <a:off x="4992" y="3456"/>
            <a:ext cx="384" cy="158"/>
          </p:xfrm>
          <a:graphic>
            <a:graphicData uri="http://schemas.openxmlformats.org/presentationml/2006/ole">
              <mc:AlternateContent xmlns:mc="http://schemas.openxmlformats.org/markup-compatibility/2006">
                <mc:Choice xmlns:v="urn:schemas-microsoft-com:vml" Requires="v">
                  <p:oleObj name="Equation" r:id="rId9" imgW="431425" imgH="177646" progId="Equation.DSMT4">
                    <p:embed/>
                  </p:oleObj>
                </mc:Choice>
                <mc:Fallback>
                  <p:oleObj name="Equation" r:id="rId9" imgW="431425" imgH="177646" progId="Equation.DSMT4">
                    <p:embed/>
                    <p:pic>
                      <p:nvPicPr>
                        <p:cNvPr id="12306"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2" y="3456"/>
                          <a:ext cx="384"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07" name="Object 4"/>
            <p:cNvGraphicFramePr>
              <a:graphicFrameLocks noChangeAspect="1"/>
            </p:cNvGraphicFramePr>
            <p:nvPr/>
          </p:nvGraphicFramePr>
          <p:xfrm>
            <a:off x="4848" y="3168"/>
            <a:ext cx="373" cy="158"/>
          </p:xfrm>
          <a:graphic>
            <a:graphicData uri="http://schemas.openxmlformats.org/presentationml/2006/ole">
              <mc:AlternateContent xmlns:mc="http://schemas.openxmlformats.org/markup-compatibility/2006">
                <mc:Choice xmlns:v="urn:schemas-microsoft-com:vml" Requires="v">
                  <p:oleObj name="Equation" r:id="rId11" imgW="418918" imgH="177723" progId="Equation.DSMT4">
                    <p:embed/>
                  </p:oleObj>
                </mc:Choice>
                <mc:Fallback>
                  <p:oleObj name="Equation" r:id="rId11" imgW="418918" imgH="177723" progId="Equation.DSMT4">
                    <p:embed/>
                    <p:pic>
                      <p:nvPicPr>
                        <p:cNvPr id="12307"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48" y="3168"/>
                          <a:ext cx="373"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08" name="Object 4"/>
            <p:cNvGraphicFramePr>
              <a:graphicFrameLocks noChangeAspect="1"/>
            </p:cNvGraphicFramePr>
            <p:nvPr/>
          </p:nvGraphicFramePr>
          <p:xfrm>
            <a:off x="4622" y="2646"/>
            <a:ext cx="667" cy="271"/>
          </p:xfrm>
          <a:graphic>
            <a:graphicData uri="http://schemas.openxmlformats.org/presentationml/2006/ole">
              <mc:AlternateContent xmlns:mc="http://schemas.openxmlformats.org/markup-compatibility/2006">
                <mc:Choice xmlns:v="urn:schemas-microsoft-com:vml" Requires="v">
                  <p:oleObj name="Equation" r:id="rId13" imgW="748975" imgH="304668" progId="Equation.DSMT4">
                    <p:embed/>
                  </p:oleObj>
                </mc:Choice>
                <mc:Fallback>
                  <p:oleObj name="Equation" r:id="rId13" imgW="748975" imgH="304668" progId="Equation.DSMT4">
                    <p:embed/>
                    <p:pic>
                      <p:nvPicPr>
                        <p:cNvPr id="12308"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22" y="2646"/>
                          <a:ext cx="667"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9" name="Line 36"/>
            <p:cNvSpPr>
              <a:spLocks noChangeShapeType="1"/>
            </p:cNvSpPr>
            <p:nvPr/>
          </p:nvSpPr>
          <p:spPr bwMode="auto">
            <a:xfrm flipV="1">
              <a:off x="4524" y="2928"/>
              <a:ext cx="288" cy="144"/>
            </a:xfrm>
            <a:prstGeom prst="line">
              <a:avLst/>
            </a:prstGeom>
            <a:noFill/>
            <a:ln w="9525">
              <a:solidFill>
                <a:srgbClr val="99CCFF"/>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2310" name="Line 37"/>
            <p:cNvSpPr>
              <a:spLocks noChangeShapeType="1"/>
            </p:cNvSpPr>
            <p:nvPr/>
          </p:nvSpPr>
          <p:spPr bwMode="auto">
            <a:xfrm flipV="1">
              <a:off x="4722" y="3408"/>
              <a:ext cx="174" cy="258"/>
            </a:xfrm>
            <a:prstGeom prst="line">
              <a:avLst/>
            </a:prstGeom>
            <a:noFill/>
            <a:ln w="9525">
              <a:solidFill>
                <a:srgbClr val="99CCFF"/>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2311" name="Line 38"/>
            <p:cNvSpPr>
              <a:spLocks noChangeShapeType="1"/>
            </p:cNvSpPr>
            <p:nvPr/>
          </p:nvSpPr>
          <p:spPr bwMode="auto">
            <a:xfrm flipV="1">
              <a:off x="4950" y="3648"/>
              <a:ext cx="138" cy="144"/>
            </a:xfrm>
            <a:prstGeom prst="line">
              <a:avLst/>
            </a:prstGeom>
            <a:noFill/>
            <a:ln w="9525">
              <a:solidFill>
                <a:srgbClr val="99CCFF"/>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12298" name="Group 46"/>
          <p:cNvGrpSpPr>
            <a:grpSpLocks/>
          </p:cNvGrpSpPr>
          <p:nvPr/>
        </p:nvGrpSpPr>
        <p:grpSpPr bwMode="auto">
          <a:xfrm>
            <a:off x="609600" y="3733800"/>
            <a:ext cx="5029200" cy="1860550"/>
            <a:chOff x="384" y="2592"/>
            <a:chExt cx="3168" cy="1172"/>
          </a:xfrm>
        </p:grpSpPr>
        <p:sp>
          <p:nvSpPr>
            <p:cNvPr id="12302" name="Text Box 41"/>
            <p:cNvSpPr txBox="1">
              <a:spLocks noChangeArrowheads="1"/>
            </p:cNvSpPr>
            <p:nvPr/>
          </p:nvSpPr>
          <p:spPr bwMode="auto">
            <a:xfrm>
              <a:off x="384" y="2592"/>
              <a:ext cx="3168"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La distribución t-student está vinculada a la distribución normal. Se trata de una normal corregida por el hecho de no conocer </a:t>
              </a:r>
              <a:r>
                <a:rPr lang="es-ES_tradnl" altLang="es-ES" sz="1600">
                  <a:latin typeface="Symbol" pitchFamily="18" charset="2"/>
                </a:rPr>
                <a:t>s</a:t>
              </a:r>
              <a:r>
                <a:rPr lang="es-ES_tradnl" altLang="es-ES" sz="1400"/>
                <a:t> y utilizar</a:t>
              </a:r>
              <a:r>
                <a:rPr lang="es-ES_tradnl" altLang="es-ES" sz="1600" i="1">
                  <a:latin typeface="Times New Roman" pitchFamily="18" charset="0"/>
                </a:rPr>
                <a:t> s</a:t>
              </a:r>
              <a:r>
                <a:rPr lang="es-ES_tradnl" altLang="es-ES" sz="1400"/>
                <a:t> (su estimador puntual) en su lugar.</a:t>
              </a:r>
              <a:endParaRPr lang="es-ES" altLang="es-ES" sz="1400">
                <a:latin typeface="Symbol" pitchFamily="18" charset="2"/>
              </a:endParaRPr>
            </a:p>
          </p:txBody>
        </p:sp>
        <p:sp>
          <p:nvSpPr>
            <p:cNvPr id="12303" name="Text Box 43"/>
            <p:cNvSpPr txBox="1">
              <a:spLocks noChangeArrowheads="1"/>
            </p:cNvSpPr>
            <p:nvPr/>
          </p:nvSpPr>
          <p:spPr bwMode="auto">
            <a:xfrm>
              <a:off x="384" y="3120"/>
              <a:ext cx="3168" cy="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El efecto de la corrección es tanto mayor cuanto menor sea el tamaño de muestra. Para muestras grandes, la t y la normal coinciden</a:t>
              </a:r>
              <a:endParaRPr lang="es-ES" altLang="es-ES" sz="1600">
                <a:latin typeface="Symbol" pitchFamily="18" charset="2"/>
              </a:endParaRPr>
            </a:p>
          </p:txBody>
        </p:sp>
        <p:sp>
          <p:nvSpPr>
            <p:cNvPr id="12304" name="Text Box 44"/>
            <p:cNvSpPr txBox="1">
              <a:spLocks noChangeArrowheads="1"/>
            </p:cNvSpPr>
            <p:nvPr/>
          </p:nvSpPr>
          <p:spPr bwMode="auto">
            <a:xfrm>
              <a:off x="384" y="3552"/>
              <a:ext cx="31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600" i="1">
                  <a:latin typeface="Times New Roman" pitchFamily="18" charset="0"/>
                </a:rPr>
                <a:t>n-</a:t>
              </a:r>
              <a:r>
                <a:rPr lang="es-ES_tradnl" altLang="es-ES" sz="1400">
                  <a:latin typeface="Times New Roman" pitchFamily="18" charset="0"/>
                </a:rPr>
                <a:t>1</a:t>
              </a:r>
              <a:r>
                <a:rPr lang="es-ES_tradnl" altLang="es-ES" sz="1400"/>
                <a:t> son los grados de libertad de la distribución</a:t>
              </a:r>
              <a:endParaRPr lang="es-ES" altLang="es-ES" sz="1600">
                <a:latin typeface="Symbol" pitchFamily="18" charset="2"/>
              </a:endParaRPr>
            </a:p>
          </p:txBody>
        </p:sp>
      </p:grpSp>
      <p:sp>
        <p:nvSpPr>
          <p:cNvPr id="12299" name="Text Box 45"/>
          <p:cNvSpPr txBox="1">
            <a:spLocks noChangeArrowheads="1"/>
          </p:cNvSpPr>
          <p:nvPr/>
        </p:nvSpPr>
        <p:spPr bwMode="auto">
          <a:xfrm>
            <a:off x="600075" y="5762625"/>
            <a:ext cx="5029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dirty="0"/>
              <a:t>Para un </a:t>
            </a:r>
            <a:r>
              <a:rPr lang="es-ES_tradnl" altLang="es-ES" sz="1400" dirty="0">
                <a:latin typeface="Symbol" pitchFamily="18" charset="2"/>
              </a:rPr>
              <a:t>a</a:t>
            </a:r>
            <a:r>
              <a:rPr lang="es-ES_tradnl" altLang="es-ES" sz="1400" dirty="0"/>
              <a:t> prefijado ¿quién es mayor </a:t>
            </a:r>
            <a:r>
              <a:rPr lang="es-ES_tradnl" altLang="es-ES" sz="1600" i="1" dirty="0" err="1">
                <a:latin typeface="Times New Roman" pitchFamily="18" charset="0"/>
              </a:rPr>
              <a:t>z</a:t>
            </a:r>
            <a:r>
              <a:rPr lang="es-ES_tradnl" altLang="es-ES" sz="1400" baseline="-25000" dirty="0" err="1"/>
              <a:t>a</a:t>
            </a:r>
            <a:r>
              <a:rPr lang="es-ES_tradnl" altLang="es-ES" sz="1400" dirty="0"/>
              <a:t> de la normal o </a:t>
            </a:r>
            <a:r>
              <a:rPr lang="es-ES_tradnl" altLang="es-ES" sz="1600" i="1" dirty="0" err="1">
                <a:latin typeface="Times New Roman" pitchFamily="18" charset="0"/>
              </a:rPr>
              <a:t>t</a:t>
            </a:r>
            <a:r>
              <a:rPr lang="es-ES_tradnl" altLang="es-ES" sz="1400" baseline="-25000" dirty="0" err="1">
                <a:latin typeface="Symbol" pitchFamily="18" charset="2"/>
              </a:rPr>
              <a:t>a</a:t>
            </a:r>
            <a:r>
              <a:rPr lang="es-ES_tradnl" altLang="es-ES" sz="1400" dirty="0"/>
              <a:t> de la t-</a:t>
            </a:r>
            <a:r>
              <a:rPr lang="es-ES_tradnl" altLang="es-ES" sz="1400" dirty="0" err="1"/>
              <a:t>student</a:t>
            </a:r>
            <a:r>
              <a:rPr lang="es-ES_tradnl" altLang="es-ES" sz="1400" dirty="0"/>
              <a:t>? </a:t>
            </a:r>
            <a:endParaRPr lang="es-ES" altLang="es-ES" sz="1400" dirty="0"/>
          </a:p>
        </p:txBody>
      </p:sp>
      <p:sp>
        <p:nvSpPr>
          <p:cNvPr id="12300" name="Text Box 13"/>
          <p:cNvSpPr txBox="1">
            <a:spLocks noChangeArrowheads="1"/>
          </p:cNvSpPr>
          <p:nvPr/>
        </p:nvSpPr>
        <p:spPr bwMode="auto">
          <a:xfrm>
            <a:off x="5943600" y="6019800"/>
            <a:ext cx="2655888"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200" b="1"/>
              <a:t>Distribución t de student</a:t>
            </a:r>
            <a:endParaRPr lang="es-ES" altLang="es-ES" sz="1200" b="1"/>
          </a:p>
        </p:txBody>
      </p:sp>
      <p:sp>
        <p:nvSpPr>
          <p:cNvPr id="29" name="Rectangle 24"/>
          <p:cNvSpPr>
            <a:spLocks noChangeArrowheads="1"/>
          </p:cNvSpPr>
          <p:nvPr/>
        </p:nvSpPr>
        <p:spPr bwMode="auto">
          <a:xfrm>
            <a:off x="161925" y="409575"/>
            <a:ext cx="6572931" cy="3407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dirty="0">
                <a:solidFill>
                  <a:srgbClr val="000000"/>
                </a:solidFill>
              </a:rPr>
              <a:t>Intervalos de confianza para la media de una </a:t>
            </a:r>
            <a:r>
              <a:rPr lang="es-ES_tradnl" altLang="es-ES" sz="1600" b="1" dirty="0">
                <a:solidFill>
                  <a:srgbClr val="FF0000"/>
                </a:solidFill>
              </a:rPr>
              <a:t>variable cuantitativa</a:t>
            </a:r>
            <a:endParaRPr lang="es-ES" altLang="es-ES" sz="1600" b="1" dirty="0">
              <a:solidFill>
                <a:srgbClr val="FF0000"/>
              </a:solidFill>
            </a:endParaRPr>
          </a:p>
        </p:txBody>
      </p:sp>
      <p:sp>
        <p:nvSpPr>
          <p:cNvPr id="30"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855132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10038" y="685800"/>
            <a:ext cx="4832350" cy="59436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5" name="Text Box 13"/>
          <p:cNvSpPr txBox="1">
            <a:spLocks noChangeArrowheads="1"/>
          </p:cNvSpPr>
          <p:nvPr/>
        </p:nvSpPr>
        <p:spPr bwMode="auto">
          <a:xfrm>
            <a:off x="161925" y="381000"/>
            <a:ext cx="2655888" cy="3407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600" b="1" dirty="0">
                <a:solidFill>
                  <a:srgbClr val="FF0000"/>
                </a:solidFill>
              </a:rPr>
              <a:t>Distribución t de </a:t>
            </a:r>
            <a:r>
              <a:rPr lang="es-ES_tradnl" altLang="es-ES" sz="1600" b="1" dirty="0" err="1">
                <a:solidFill>
                  <a:srgbClr val="FF0000"/>
                </a:solidFill>
              </a:rPr>
              <a:t>student</a:t>
            </a:r>
            <a:endParaRPr lang="es-ES" altLang="es-ES" sz="1600" b="1" dirty="0">
              <a:solidFill>
                <a:srgbClr val="FF0000"/>
              </a:solidFill>
            </a:endParaRPr>
          </a:p>
        </p:txBody>
      </p:sp>
      <p:sp>
        <p:nvSpPr>
          <p:cNvPr id="13316" name="Rectangle 17"/>
          <p:cNvSpPr>
            <a:spLocks noChangeArrowheads="1"/>
          </p:cNvSpPr>
          <p:nvPr/>
        </p:nvSpPr>
        <p:spPr bwMode="auto">
          <a:xfrm>
            <a:off x="628650" y="1905000"/>
            <a:ext cx="3581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13317" name="Text Box 54"/>
          <p:cNvSpPr txBox="1">
            <a:spLocks noChangeArrowheads="1"/>
          </p:cNvSpPr>
          <p:nvPr/>
        </p:nvSpPr>
        <p:spPr bwMode="auto">
          <a:xfrm>
            <a:off x="517525" y="2743200"/>
            <a:ext cx="2528888" cy="16033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Para una confianza del 95% :</a:t>
            </a:r>
          </a:p>
          <a:p>
            <a:pPr eaLnBrk="1" hangingPunct="1"/>
            <a:endParaRPr lang="es-ES_tradnl" altLang="es-ES" sz="1400"/>
          </a:p>
          <a:p>
            <a:pPr eaLnBrk="1" hangingPunct="1"/>
            <a:endParaRPr lang="es-ES_tradnl" altLang="es-ES" sz="1400"/>
          </a:p>
          <a:p>
            <a:pPr eaLnBrk="1" hangingPunct="1"/>
            <a:endParaRPr lang="es-ES_tradnl" altLang="es-ES" sz="1400"/>
          </a:p>
          <a:p>
            <a:pPr eaLnBrk="1" hangingPunct="1"/>
            <a:r>
              <a:rPr lang="es-ES_tradnl" altLang="es-ES" sz="1400"/>
              <a:t>Entonces</a:t>
            </a:r>
          </a:p>
          <a:p>
            <a:pPr eaLnBrk="1" hangingPunct="1"/>
            <a:endParaRPr lang="es-ES_tradnl" altLang="es-ES" sz="1400"/>
          </a:p>
          <a:p>
            <a:pPr eaLnBrk="1" hangingPunct="1"/>
            <a:r>
              <a:rPr lang="es-ES_tradnl" altLang="es-ES" sz="1400"/>
              <a:t>De aquí se obtiene</a:t>
            </a:r>
            <a:endParaRPr lang="es-ES" altLang="es-ES" sz="1400"/>
          </a:p>
        </p:txBody>
      </p:sp>
      <p:graphicFrame>
        <p:nvGraphicFramePr>
          <p:cNvPr id="13318" name="Object 55"/>
          <p:cNvGraphicFramePr>
            <a:graphicFrameLocks noChangeAspect="1"/>
          </p:cNvGraphicFramePr>
          <p:nvPr/>
        </p:nvGraphicFramePr>
        <p:xfrm>
          <a:off x="1447800" y="4371975"/>
          <a:ext cx="1143000" cy="374650"/>
        </p:xfrm>
        <a:graphic>
          <a:graphicData uri="http://schemas.openxmlformats.org/presentationml/2006/ole">
            <mc:AlternateContent xmlns:mc="http://schemas.openxmlformats.org/markup-compatibility/2006">
              <mc:Choice xmlns:v="urn:schemas-microsoft-com:vml" Requires="v">
                <p:oleObj name="Equation" r:id="rId3" imgW="825500" imgH="241300" progId="Equation.DSMT4">
                  <p:embed/>
                </p:oleObj>
              </mc:Choice>
              <mc:Fallback>
                <p:oleObj name="Equation" r:id="rId3" imgW="825500" imgH="241300" progId="Equation.DSMT4">
                  <p:embed/>
                  <p:pic>
                    <p:nvPicPr>
                      <p:cNvPr id="13318"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4371975"/>
                        <a:ext cx="1143000"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9" name="Object 57"/>
          <p:cNvGraphicFramePr>
            <a:graphicFrameLocks noChangeAspect="1"/>
          </p:cNvGraphicFramePr>
          <p:nvPr/>
        </p:nvGraphicFramePr>
        <p:xfrm>
          <a:off x="1600200" y="3759200"/>
          <a:ext cx="836613" cy="231775"/>
        </p:xfrm>
        <a:graphic>
          <a:graphicData uri="http://schemas.openxmlformats.org/presentationml/2006/ole">
            <mc:AlternateContent xmlns:mc="http://schemas.openxmlformats.org/markup-compatibility/2006">
              <mc:Choice xmlns:v="urn:schemas-microsoft-com:vml" Requires="v">
                <p:oleObj name="Equation" r:id="rId5" imgW="558558" imgH="177723" progId="Equation.DSMT4">
                  <p:embed/>
                </p:oleObj>
              </mc:Choice>
              <mc:Fallback>
                <p:oleObj name="Equation" r:id="rId5" imgW="558558" imgH="177723" progId="Equation.DSMT4">
                  <p:embed/>
                  <p:pic>
                    <p:nvPicPr>
                      <p:cNvPr id="13319" name="Object 5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3759200"/>
                        <a:ext cx="836613" cy="231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0" name="Object 58"/>
          <p:cNvGraphicFramePr>
            <a:graphicFrameLocks noChangeAspect="1"/>
          </p:cNvGraphicFramePr>
          <p:nvPr/>
        </p:nvGraphicFramePr>
        <p:xfrm>
          <a:off x="1403350" y="3152775"/>
          <a:ext cx="1371600" cy="285750"/>
        </p:xfrm>
        <a:graphic>
          <a:graphicData uri="http://schemas.openxmlformats.org/presentationml/2006/ole">
            <mc:AlternateContent xmlns:mc="http://schemas.openxmlformats.org/markup-compatibility/2006">
              <mc:Choice xmlns:v="urn:schemas-microsoft-com:vml" Requires="v">
                <p:oleObj name="Equation" r:id="rId7" imgW="850531" imgH="203112" progId="Equation.DSMT4">
                  <p:embed/>
                </p:oleObj>
              </mc:Choice>
              <mc:Fallback>
                <p:oleObj name="Equation" r:id="rId7" imgW="850531" imgH="203112" progId="Equation.DSMT4">
                  <p:embed/>
                  <p:pic>
                    <p:nvPicPr>
                      <p:cNvPr id="13320" name="Object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3152775"/>
                        <a:ext cx="137160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21" name="Object 60"/>
          <p:cNvGraphicFramePr>
            <a:graphicFrameLocks noChangeAspect="1"/>
          </p:cNvGraphicFramePr>
          <p:nvPr/>
        </p:nvGraphicFramePr>
        <p:xfrm>
          <a:off x="762000" y="2371725"/>
          <a:ext cx="2655888" cy="323850"/>
        </p:xfrm>
        <a:graphic>
          <a:graphicData uri="http://schemas.openxmlformats.org/presentationml/2006/ole">
            <mc:AlternateContent xmlns:mc="http://schemas.openxmlformats.org/markup-compatibility/2006">
              <mc:Choice xmlns:v="urn:schemas-microsoft-com:vml" Requires="v">
                <p:oleObj name="Equation" r:id="rId9" imgW="1676400" imgH="203200" progId="Equation.DSMT4">
                  <p:embed/>
                </p:oleObj>
              </mc:Choice>
              <mc:Fallback>
                <p:oleObj name="Equation" r:id="rId9" imgW="1676400" imgH="203200" progId="Equation.DSMT4">
                  <p:embed/>
                  <p:pic>
                    <p:nvPicPr>
                      <p:cNvPr id="13321" name="Object 6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2000" y="2371725"/>
                        <a:ext cx="2655888"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22" name="Text Box 61"/>
          <p:cNvSpPr txBox="1">
            <a:spLocks noChangeArrowheads="1"/>
          </p:cNvSpPr>
          <p:nvPr/>
        </p:nvSpPr>
        <p:spPr bwMode="auto">
          <a:xfrm>
            <a:off x="490538" y="1625600"/>
            <a:ext cx="2751137" cy="5492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Supongamos una muestra de 10</a:t>
            </a:r>
          </a:p>
          <a:p>
            <a:pPr eaLnBrk="1" hangingPunct="1"/>
            <a:r>
              <a:rPr lang="es-ES_tradnl" altLang="es-ES" sz="1400"/>
              <a:t>observaciones</a:t>
            </a:r>
            <a:r>
              <a:rPr lang="es-ES_tradnl" altLang="es-ES" sz="1600">
                <a:latin typeface="Times New Roman" pitchFamily="18" charset="0"/>
              </a:rPr>
              <a:t>:</a:t>
            </a:r>
            <a:endParaRPr lang="es-ES" altLang="es-ES" sz="1600">
              <a:latin typeface="Times New Roman" pitchFamily="18" charset="0"/>
            </a:endParaRPr>
          </a:p>
        </p:txBody>
      </p:sp>
      <p:sp>
        <p:nvSpPr>
          <p:cNvPr id="13323" name="AutoShape 886"/>
          <p:cNvSpPr>
            <a:spLocks noChangeArrowheads="1"/>
          </p:cNvSpPr>
          <p:nvPr/>
        </p:nvSpPr>
        <p:spPr bwMode="auto">
          <a:xfrm>
            <a:off x="381000" y="1247775"/>
            <a:ext cx="3614738" cy="3629025"/>
          </a:xfrm>
          <a:prstGeom prst="roundRect">
            <a:avLst>
              <a:gd name="adj" fmla="val 5324"/>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sz="1600"/>
          </a:p>
        </p:txBody>
      </p:sp>
      <p:grpSp>
        <p:nvGrpSpPr>
          <p:cNvPr id="13324" name="Group 26"/>
          <p:cNvGrpSpPr>
            <a:grpSpLocks/>
          </p:cNvGrpSpPr>
          <p:nvPr/>
        </p:nvGrpSpPr>
        <p:grpSpPr bwMode="auto">
          <a:xfrm>
            <a:off x="609600" y="1066800"/>
            <a:ext cx="2779713" cy="382588"/>
            <a:chOff x="519" y="1188"/>
            <a:chExt cx="1751" cy="241"/>
          </a:xfrm>
        </p:grpSpPr>
        <p:sp>
          <p:nvSpPr>
            <p:cNvPr id="13331" name="Rectangle 63"/>
            <p:cNvSpPr>
              <a:spLocks noChangeArrowheads="1"/>
            </p:cNvSpPr>
            <p:nvPr/>
          </p:nvSpPr>
          <p:spPr bwMode="auto">
            <a:xfrm>
              <a:off x="519" y="1200"/>
              <a:ext cx="1751" cy="19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400"/>
                <a:t>¿Cómo obtener un valor            ?</a:t>
              </a:r>
            </a:p>
          </p:txBody>
        </p:sp>
        <p:graphicFrame>
          <p:nvGraphicFramePr>
            <p:cNvPr id="13332" name="Object 64"/>
            <p:cNvGraphicFramePr>
              <a:graphicFrameLocks noChangeAspect="1"/>
            </p:cNvGraphicFramePr>
            <p:nvPr/>
          </p:nvGraphicFramePr>
          <p:xfrm>
            <a:off x="1812" y="1188"/>
            <a:ext cx="305" cy="241"/>
          </p:xfrm>
          <a:graphic>
            <a:graphicData uri="http://schemas.openxmlformats.org/presentationml/2006/ole">
              <mc:AlternateContent xmlns:mc="http://schemas.openxmlformats.org/markup-compatibility/2006">
                <mc:Choice xmlns:v="urn:schemas-microsoft-com:vml" Requires="v">
                  <p:oleObj name="Equation" r:id="rId11" imgW="304668" imgH="241195" progId="Equation.DSMT4">
                    <p:embed/>
                  </p:oleObj>
                </mc:Choice>
                <mc:Fallback>
                  <p:oleObj name="Equation" r:id="rId11" imgW="304668" imgH="241195" progId="Equation.DSMT4">
                    <p:embed/>
                    <p:pic>
                      <p:nvPicPr>
                        <p:cNvPr id="13332" name="Object 6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12" y="1188"/>
                          <a:ext cx="305" cy="241"/>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3325" name="Rectangle 27"/>
          <p:cNvSpPr>
            <a:spLocks noChangeArrowheads="1"/>
          </p:cNvSpPr>
          <p:nvPr/>
        </p:nvSpPr>
        <p:spPr bwMode="auto">
          <a:xfrm>
            <a:off x="4191000" y="2262188"/>
            <a:ext cx="4724400" cy="176212"/>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13326" name="Rectangle 28"/>
          <p:cNvSpPr>
            <a:spLocks noChangeArrowheads="1"/>
          </p:cNvSpPr>
          <p:nvPr/>
        </p:nvSpPr>
        <p:spPr bwMode="auto">
          <a:xfrm rot="-5400000">
            <a:off x="4126706" y="3425032"/>
            <a:ext cx="5799137" cy="457200"/>
          </a:xfrm>
          <a:prstGeom prst="rect">
            <a:avLst/>
          </a:prstGeom>
          <a:noFill/>
          <a:ln w="9525">
            <a:solidFill>
              <a:srgbClr val="FF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13327" name="Text Box 54"/>
          <p:cNvSpPr txBox="1">
            <a:spLocks noChangeArrowheads="1"/>
          </p:cNvSpPr>
          <p:nvPr/>
        </p:nvSpPr>
        <p:spPr bwMode="auto">
          <a:xfrm>
            <a:off x="457200" y="5105400"/>
            <a:ext cx="3505200" cy="94297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Si no aparecen los gl que buscamos, lo correcto </a:t>
            </a:r>
            <a:r>
              <a:rPr lang="es-ES" altLang="es-ES" sz="1400"/>
              <a:t>es interpolar, pero aquí bastará con tomar los anteriores de la tabla</a:t>
            </a:r>
            <a:r>
              <a:rPr lang="es-ES_tradnl" altLang="es-ES" sz="1400"/>
              <a:t> (nu</a:t>
            </a:r>
            <a:r>
              <a:rPr lang="es-ES" altLang="es-ES" sz="1400"/>
              <a:t>nca más de los que tengamos)</a:t>
            </a:r>
          </a:p>
        </p:txBody>
      </p:sp>
      <p:sp>
        <p:nvSpPr>
          <p:cNvPr id="13328" name="Rectangle 34"/>
          <p:cNvSpPr>
            <a:spLocks noChangeArrowheads="1"/>
          </p:cNvSpPr>
          <p:nvPr/>
        </p:nvSpPr>
        <p:spPr bwMode="auto">
          <a:xfrm>
            <a:off x="2133600" y="6324600"/>
            <a:ext cx="6734175" cy="219075"/>
          </a:xfrm>
          <a:prstGeom prst="rect">
            <a:avLst/>
          </a:prstGeom>
          <a:solidFill>
            <a:srgbClr val="C0C0C0">
              <a:alpha val="18823"/>
            </a:srgbClr>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aphicFrame>
        <p:nvGraphicFramePr>
          <p:cNvPr id="13329" name="Object 33"/>
          <p:cNvGraphicFramePr>
            <a:graphicFrameLocks noChangeAspect="1"/>
          </p:cNvGraphicFramePr>
          <p:nvPr/>
        </p:nvGraphicFramePr>
        <p:xfrm>
          <a:off x="2209800" y="6294438"/>
          <a:ext cx="1795463" cy="287337"/>
        </p:xfrm>
        <a:graphic>
          <a:graphicData uri="http://schemas.openxmlformats.org/presentationml/2006/ole">
            <mc:AlternateContent xmlns:mc="http://schemas.openxmlformats.org/markup-compatibility/2006">
              <mc:Choice xmlns:v="urn:schemas-microsoft-com:vml" Requires="v">
                <p:oleObj name="Equation" r:id="rId13" imgW="1269449" imgH="203112" progId="Equation.DSMT4">
                  <p:embed/>
                </p:oleObj>
              </mc:Choice>
              <mc:Fallback>
                <p:oleObj name="Equation" r:id="rId13" imgW="1269449" imgH="203112" progId="Equation.DSMT4">
                  <p:embed/>
                  <p:pic>
                    <p:nvPicPr>
                      <p:cNvPr id="13329"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09800" y="6294438"/>
                        <a:ext cx="1795463"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1777658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AAADF4-8CAD-C5DE-F02F-F4F78173206E}"/>
              </a:ext>
            </a:extLst>
          </p:cNvPr>
          <p:cNvSpPr txBox="1"/>
          <p:nvPr/>
        </p:nvSpPr>
        <p:spPr>
          <a:xfrm>
            <a:off x="685800" y="1600200"/>
            <a:ext cx="7772400" cy="3539430"/>
          </a:xfrm>
          <a:prstGeom prst="rect">
            <a:avLst/>
          </a:prstGeom>
          <a:noFill/>
        </p:spPr>
        <p:txBody>
          <a:bodyPr wrap="square">
            <a:spAutoFit/>
          </a:bodyPr>
          <a:lstStyle/>
          <a:p>
            <a:r>
              <a:rPr lang="en-US" sz="2800" dirty="0"/>
              <a:t># CUANTILES DISTRIBUCION T-STUDENT </a:t>
            </a:r>
          </a:p>
          <a:p>
            <a:endParaRPr lang="en-US" sz="2800" dirty="0"/>
          </a:p>
          <a:p>
            <a:r>
              <a:rPr lang="en-US" sz="2800" dirty="0"/>
              <a:t>qt(c(0.975), </a:t>
            </a:r>
            <a:r>
              <a:rPr lang="en-US" sz="2800" dirty="0" err="1"/>
              <a:t>df</a:t>
            </a:r>
            <a:r>
              <a:rPr lang="en-US" sz="2800" dirty="0"/>
              <a:t>=9, </a:t>
            </a:r>
            <a:r>
              <a:rPr lang="en-US" sz="2800" dirty="0" err="1"/>
              <a:t>lower.tail</a:t>
            </a:r>
            <a:r>
              <a:rPr lang="en-US" sz="2800" dirty="0"/>
              <a:t>=TRUE)</a:t>
            </a:r>
          </a:p>
          <a:p>
            <a:endParaRPr lang="en-US" sz="2800" dirty="0"/>
          </a:p>
          <a:p>
            <a:r>
              <a:rPr lang="en-US" sz="2800" dirty="0"/>
              <a:t>[1] 2.262157</a:t>
            </a:r>
          </a:p>
          <a:p>
            <a:endParaRPr lang="en-US" sz="2800" dirty="0"/>
          </a:p>
          <a:p>
            <a:r>
              <a:rPr lang="en-US" sz="2800" dirty="0">
                <a:hlinkClick r:id="rId2"/>
              </a:rPr>
              <a:t>https://www.geogebra.org/m/AHdhBiGA</a:t>
            </a:r>
            <a:endParaRPr lang="en-US" sz="2800" dirty="0"/>
          </a:p>
          <a:p>
            <a:endParaRPr lang="en-US" sz="2800" dirty="0"/>
          </a:p>
        </p:txBody>
      </p:sp>
    </p:spTree>
    <p:extLst>
      <p:ext uri="{BB962C8B-B14F-4D97-AF65-F5344CB8AC3E}">
        <p14:creationId xmlns:p14="http://schemas.microsoft.com/office/powerpoint/2010/main" val="2913841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886"/>
          <p:cNvSpPr>
            <a:spLocks noChangeArrowheads="1"/>
          </p:cNvSpPr>
          <p:nvPr/>
        </p:nvSpPr>
        <p:spPr bwMode="auto">
          <a:xfrm>
            <a:off x="304800" y="2133600"/>
            <a:ext cx="8686800" cy="2133600"/>
          </a:xfrm>
          <a:prstGeom prst="roundRect">
            <a:avLst>
              <a:gd name="adj" fmla="val 5324"/>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sz="1600"/>
          </a:p>
        </p:txBody>
      </p:sp>
      <p:grpSp>
        <p:nvGrpSpPr>
          <p:cNvPr id="14339" name="Group 38"/>
          <p:cNvGrpSpPr>
            <a:grpSpLocks/>
          </p:cNvGrpSpPr>
          <p:nvPr/>
        </p:nvGrpSpPr>
        <p:grpSpPr bwMode="auto">
          <a:xfrm>
            <a:off x="284163" y="796925"/>
            <a:ext cx="5486400" cy="422275"/>
            <a:chOff x="240" y="424"/>
            <a:chExt cx="3456" cy="266"/>
          </a:xfrm>
        </p:grpSpPr>
        <p:graphicFrame>
          <p:nvGraphicFramePr>
            <p:cNvPr id="14369" name="Object 6"/>
            <p:cNvGraphicFramePr>
              <a:graphicFrameLocks noChangeAspect="1"/>
            </p:cNvGraphicFramePr>
            <p:nvPr/>
          </p:nvGraphicFramePr>
          <p:xfrm>
            <a:off x="3360" y="424"/>
            <a:ext cx="336" cy="266"/>
          </p:xfrm>
          <a:graphic>
            <a:graphicData uri="http://schemas.openxmlformats.org/presentationml/2006/ole">
              <mc:AlternateContent xmlns:mc="http://schemas.openxmlformats.org/markup-compatibility/2006">
                <mc:Choice xmlns:v="urn:schemas-microsoft-com:vml" Requires="v">
                  <p:oleObj name="Equation" r:id="rId2" imgW="304668" imgH="241195" progId="Equation.DSMT4">
                    <p:embed/>
                  </p:oleObj>
                </mc:Choice>
                <mc:Fallback>
                  <p:oleObj name="Equation" r:id="rId2" imgW="304668" imgH="241195" progId="Equation.DSMT4">
                    <p:embed/>
                    <p:pic>
                      <p:nvPicPr>
                        <p:cNvPr id="14369"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 y="424"/>
                          <a:ext cx="336"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70" name="Text Box 7"/>
            <p:cNvSpPr txBox="1">
              <a:spLocks noChangeArrowheads="1"/>
            </p:cNvSpPr>
            <p:nvPr/>
          </p:nvSpPr>
          <p:spPr bwMode="auto">
            <a:xfrm>
              <a:off x="240" y="438"/>
              <a:ext cx="3188" cy="21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600" dirty="0"/>
                <a:t>Fijar </a:t>
              </a:r>
              <a:r>
                <a:rPr lang="es-ES_tradnl" altLang="es-ES" sz="1600" dirty="0">
                  <a:latin typeface="Symbol" pitchFamily="18" charset="2"/>
                </a:rPr>
                <a:t>a</a:t>
              </a:r>
              <a:r>
                <a:rPr lang="es-ES_tradnl" altLang="es-ES" sz="1600" dirty="0"/>
                <a:t> implica, para un tamaño de muestra dado, fijar</a:t>
              </a:r>
              <a:r>
                <a:rPr lang="es-ES_tradnl" altLang="es-ES" sz="1600" dirty="0">
                  <a:latin typeface="Times New Roman" pitchFamily="18" charset="0"/>
                </a:rPr>
                <a:t> </a:t>
              </a:r>
              <a:endParaRPr lang="es-ES" altLang="es-ES" sz="1600" dirty="0">
                <a:latin typeface="Times New Roman" pitchFamily="18" charset="0"/>
              </a:endParaRPr>
            </a:p>
          </p:txBody>
        </p:sp>
      </p:grpSp>
      <p:graphicFrame>
        <p:nvGraphicFramePr>
          <p:cNvPr id="14340" name="Object 9"/>
          <p:cNvGraphicFramePr>
            <a:graphicFrameLocks noChangeAspect="1"/>
          </p:cNvGraphicFramePr>
          <p:nvPr>
            <p:extLst>
              <p:ext uri="{D42A27DB-BD31-4B8C-83A1-F6EECF244321}">
                <p14:modId xmlns:p14="http://schemas.microsoft.com/office/powerpoint/2010/main" val="165945191"/>
              </p:ext>
            </p:extLst>
          </p:nvPr>
        </p:nvGraphicFramePr>
        <p:xfrm>
          <a:off x="4238625" y="1119188"/>
          <a:ext cx="1219200" cy="647700"/>
        </p:xfrm>
        <a:graphic>
          <a:graphicData uri="http://schemas.openxmlformats.org/presentationml/2006/ole">
            <mc:AlternateContent xmlns:mc="http://schemas.openxmlformats.org/markup-compatibility/2006">
              <mc:Choice xmlns:v="urn:schemas-microsoft-com:vml" Requires="v">
                <p:oleObj name="Equation" r:id="rId4" imgW="787400" imgH="419100" progId="Equation.DSMT4">
                  <p:embed/>
                </p:oleObj>
              </mc:Choice>
              <mc:Fallback>
                <p:oleObj name="Equation" r:id="rId4" imgW="787400" imgH="419100" progId="Equation.DSMT4">
                  <p:embed/>
                  <p:pic>
                    <p:nvPicPr>
                      <p:cNvPr id="1434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8625" y="1119188"/>
                        <a:ext cx="1219200"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1" name="Rectangle 11"/>
          <p:cNvSpPr>
            <a:spLocks noChangeArrowheads="1"/>
          </p:cNvSpPr>
          <p:nvPr/>
        </p:nvSpPr>
        <p:spPr bwMode="auto">
          <a:xfrm>
            <a:off x="284163" y="1244600"/>
            <a:ext cx="6954837" cy="33655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600"/>
              <a:t>Si                            es el intervalo para </a:t>
            </a:r>
            <a:r>
              <a:rPr lang="es-ES_tradnl" altLang="es-ES" sz="1600" b="1">
                <a:latin typeface="Symbol" pitchFamily="18" charset="2"/>
              </a:rPr>
              <a:t>m</a:t>
            </a:r>
            <a:r>
              <a:rPr lang="es-ES_tradnl" altLang="es-ES" sz="1600"/>
              <a:t>,                            es su </a:t>
            </a:r>
            <a:r>
              <a:rPr lang="es-ES_tradnl" altLang="es-ES" sz="1600" b="1"/>
              <a:t>precisión</a:t>
            </a:r>
            <a:endParaRPr lang="es-ES" altLang="es-ES" sz="1600" b="1"/>
          </a:p>
        </p:txBody>
      </p:sp>
      <p:graphicFrame>
        <p:nvGraphicFramePr>
          <p:cNvPr id="14342" name="Object 12"/>
          <p:cNvGraphicFramePr>
            <a:graphicFrameLocks noChangeAspect="1"/>
          </p:cNvGraphicFramePr>
          <p:nvPr>
            <p:extLst>
              <p:ext uri="{D42A27DB-BD31-4B8C-83A1-F6EECF244321}">
                <p14:modId xmlns:p14="http://schemas.microsoft.com/office/powerpoint/2010/main" val="1638819379"/>
              </p:ext>
            </p:extLst>
          </p:nvPr>
        </p:nvGraphicFramePr>
        <p:xfrm>
          <a:off x="655638" y="1085850"/>
          <a:ext cx="1344612" cy="714375"/>
        </p:xfrm>
        <a:graphic>
          <a:graphicData uri="http://schemas.openxmlformats.org/presentationml/2006/ole">
            <mc:AlternateContent xmlns:mc="http://schemas.openxmlformats.org/markup-compatibility/2006">
              <mc:Choice xmlns:v="urn:schemas-microsoft-com:vml" Requires="v">
                <p:oleObj name="Equation" r:id="rId6" imgW="787400" imgH="419100" progId="Equation.DSMT4">
                  <p:embed/>
                </p:oleObj>
              </mc:Choice>
              <mc:Fallback>
                <p:oleObj name="Equation" r:id="rId6" imgW="787400" imgH="419100" progId="Equation.DSMT4">
                  <p:embed/>
                  <p:pic>
                    <p:nvPicPr>
                      <p:cNvPr id="14342"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638" y="1085850"/>
                        <a:ext cx="1344612"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43" name="Object 15"/>
          <p:cNvGraphicFramePr>
            <a:graphicFrameLocks noChangeAspect="1"/>
          </p:cNvGraphicFramePr>
          <p:nvPr/>
        </p:nvGraphicFramePr>
        <p:xfrm>
          <a:off x="4267200" y="5254625"/>
          <a:ext cx="1828800" cy="774700"/>
        </p:xfrm>
        <a:graphic>
          <a:graphicData uri="http://schemas.openxmlformats.org/presentationml/2006/ole">
            <mc:AlternateContent xmlns:mc="http://schemas.openxmlformats.org/markup-compatibility/2006">
              <mc:Choice xmlns:v="urn:schemas-microsoft-com:vml" Requires="v">
                <p:oleObj name="Equation" r:id="rId8" imgW="1256755" imgH="533169" progId="Equation.DSMT4">
                  <p:embed/>
                </p:oleObj>
              </mc:Choice>
              <mc:Fallback>
                <p:oleObj name="Equation" r:id="rId8" imgW="1256755" imgH="533169" progId="Equation.DSMT4">
                  <p:embed/>
                  <p:pic>
                    <p:nvPicPr>
                      <p:cNvPr id="14343"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7200" y="5254625"/>
                        <a:ext cx="1828800" cy="774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4" name="Rectangle 16"/>
          <p:cNvSpPr>
            <a:spLocks noChangeArrowheads="1"/>
          </p:cNvSpPr>
          <p:nvPr/>
        </p:nvSpPr>
        <p:spPr bwMode="auto">
          <a:xfrm>
            <a:off x="533400" y="5449888"/>
            <a:ext cx="3751263" cy="36671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400"/>
              <a:t>Tamaño mínimo de muestra para estimar</a:t>
            </a:r>
            <a:r>
              <a:rPr lang="es-ES_tradnl" altLang="es-ES">
                <a:latin typeface="Times New Roman" pitchFamily="18" charset="0"/>
              </a:rPr>
              <a:t> </a:t>
            </a:r>
            <a:r>
              <a:rPr lang="es-ES_tradnl" altLang="es-ES">
                <a:latin typeface="Symbol" pitchFamily="18" charset="2"/>
              </a:rPr>
              <a:t>m</a:t>
            </a:r>
            <a:r>
              <a:rPr lang="es-ES_tradnl" altLang="es-ES" b="1">
                <a:latin typeface="Times New Roman" pitchFamily="18" charset="0"/>
              </a:rPr>
              <a:t>:</a:t>
            </a:r>
            <a:r>
              <a:rPr lang="es-ES_tradnl" altLang="es-ES">
                <a:latin typeface="Times New Roman" pitchFamily="18" charset="0"/>
              </a:rPr>
              <a:t> </a:t>
            </a:r>
            <a:endParaRPr lang="es-ES" altLang="es-ES">
              <a:latin typeface="Times New Roman" pitchFamily="18" charset="0"/>
            </a:endParaRPr>
          </a:p>
        </p:txBody>
      </p:sp>
      <p:sp>
        <p:nvSpPr>
          <p:cNvPr id="14345" name="Text Box 36"/>
          <p:cNvSpPr txBox="1">
            <a:spLocks noChangeArrowheads="1"/>
          </p:cNvSpPr>
          <p:nvPr/>
        </p:nvSpPr>
        <p:spPr bwMode="auto">
          <a:xfrm>
            <a:off x="228600" y="4311650"/>
            <a:ext cx="32337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600"/>
              <a:t>5. Como garantizar una precisión </a:t>
            </a:r>
          </a:p>
        </p:txBody>
      </p:sp>
      <p:graphicFrame>
        <p:nvGraphicFramePr>
          <p:cNvPr id="14346" name="Object 38"/>
          <p:cNvGraphicFramePr>
            <a:graphicFrameLocks noChangeAspect="1"/>
          </p:cNvGraphicFramePr>
          <p:nvPr/>
        </p:nvGraphicFramePr>
        <p:xfrm>
          <a:off x="3352800" y="4344988"/>
          <a:ext cx="609600" cy="331787"/>
        </p:xfrm>
        <a:graphic>
          <a:graphicData uri="http://schemas.openxmlformats.org/presentationml/2006/ole">
            <mc:AlternateContent xmlns:mc="http://schemas.openxmlformats.org/markup-compatibility/2006">
              <mc:Choice xmlns:v="urn:schemas-microsoft-com:vml" Requires="v">
                <p:oleObj name="Equation" r:id="rId10" imgW="419100" imgH="228600" progId="Equation.DSMT4">
                  <p:embed/>
                </p:oleObj>
              </mc:Choice>
              <mc:Fallback>
                <p:oleObj name="Equation" r:id="rId10" imgW="419100" imgH="228600" progId="Equation.DSMT4">
                  <p:embed/>
                  <p:pic>
                    <p:nvPicPr>
                      <p:cNvPr id="14346"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2800" y="4344988"/>
                        <a:ext cx="609600" cy="331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7" name="Text Box 40"/>
          <p:cNvSpPr txBox="1">
            <a:spLocks noChangeArrowheads="1"/>
          </p:cNvSpPr>
          <p:nvPr/>
        </p:nvSpPr>
        <p:spPr bwMode="auto">
          <a:xfrm>
            <a:off x="533400" y="4724400"/>
            <a:ext cx="83058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 altLang="es-ES" sz="1400"/>
              <a:t>Es necesario disponer de información previa =</a:t>
            </a:r>
            <a:r>
              <a:rPr lang="es-ES" altLang="es-ES" sz="1400" i="1"/>
              <a:t> </a:t>
            </a:r>
            <a:r>
              <a:rPr lang="es-ES" altLang="es-ES" sz="1400" b="1"/>
              <a:t>Muestra piloto</a:t>
            </a:r>
            <a:r>
              <a:rPr lang="es-ES" altLang="es-ES" sz="1400" i="1"/>
              <a:t> </a:t>
            </a:r>
            <a:r>
              <a:rPr lang="es-ES" altLang="es-ES" sz="1400"/>
              <a:t>que proporcione una estimación de la variabilidad que se puede encontrar en la población</a:t>
            </a:r>
          </a:p>
        </p:txBody>
      </p:sp>
      <p:sp>
        <p:nvSpPr>
          <p:cNvPr id="14348" name="Rectangle 42"/>
          <p:cNvSpPr>
            <a:spLocks noChangeArrowheads="1"/>
          </p:cNvSpPr>
          <p:nvPr/>
        </p:nvSpPr>
        <p:spPr bwMode="auto">
          <a:xfrm>
            <a:off x="533400" y="6018213"/>
            <a:ext cx="8229600" cy="54927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Como la información dada por la muestra piloto es una variable aleatoria (</a:t>
            </a:r>
            <a:r>
              <a:rPr lang="es-ES_tradnl" altLang="es-ES" sz="1600" i="1">
                <a:latin typeface="Times New Roman" pitchFamily="18" charset="0"/>
              </a:rPr>
              <a:t>s</a:t>
            </a:r>
            <a:r>
              <a:rPr lang="es-ES_tradnl" altLang="es-ES" sz="1400"/>
              <a:t>) la fórmula es una aproximación cuyo resultado se debe comprobar después</a:t>
            </a:r>
            <a:endParaRPr lang="es-ES" altLang="es-ES">
              <a:latin typeface="Times New Roman" pitchFamily="18" charset="0"/>
            </a:endParaRPr>
          </a:p>
        </p:txBody>
      </p:sp>
      <p:graphicFrame>
        <p:nvGraphicFramePr>
          <p:cNvPr id="14349" name="Object 49"/>
          <p:cNvGraphicFramePr>
            <a:graphicFrameLocks noChangeAspect="1"/>
          </p:cNvGraphicFramePr>
          <p:nvPr>
            <p:extLst>
              <p:ext uri="{D42A27DB-BD31-4B8C-83A1-F6EECF244321}">
                <p14:modId xmlns:p14="http://schemas.microsoft.com/office/powerpoint/2010/main" val="3033245353"/>
              </p:ext>
            </p:extLst>
          </p:nvPr>
        </p:nvGraphicFramePr>
        <p:xfrm>
          <a:off x="533400" y="2311400"/>
          <a:ext cx="2438400" cy="393700"/>
        </p:xfrm>
        <a:graphic>
          <a:graphicData uri="http://schemas.openxmlformats.org/presentationml/2006/ole">
            <mc:AlternateContent xmlns:mc="http://schemas.openxmlformats.org/markup-compatibility/2006">
              <mc:Choice xmlns:v="urn:schemas-microsoft-com:vml" Requires="v">
                <p:oleObj name="Equation" r:id="rId12" imgW="1497950" imgH="241195" progId="Equation.DSMT4">
                  <p:embed/>
                </p:oleObj>
              </mc:Choice>
              <mc:Fallback>
                <p:oleObj name="Equation" r:id="rId12" imgW="1497950" imgH="241195" progId="Equation.DSMT4">
                  <p:embed/>
                  <p:pic>
                    <p:nvPicPr>
                      <p:cNvPr id="14349" name="Object 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3400" y="2311400"/>
                        <a:ext cx="24384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50" name="Text Box 50"/>
          <p:cNvSpPr txBox="1">
            <a:spLocks noChangeArrowheads="1"/>
          </p:cNvSpPr>
          <p:nvPr/>
        </p:nvSpPr>
        <p:spPr bwMode="auto">
          <a:xfrm>
            <a:off x="679450" y="2667000"/>
            <a:ext cx="36909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400"/>
              <a:t>→ Si aumenta el error, </a:t>
            </a:r>
            <a:r>
              <a:rPr lang="es-ES" altLang="es-ES" sz="1400" b="1"/>
              <a:t>aumenta </a:t>
            </a:r>
            <a:r>
              <a:rPr lang="es-ES" altLang="es-ES" sz="1400"/>
              <a:t>la precisión</a:t>
            </a:r>
          </a:p>
        </p:txBody>
      </p:sp>
      <p:graphicFrame>
        <p:nvGraphicFramePr>
          <p:cNvPr id="14351" name="Object 51"/>
          <p:cNvGraphicFramePr>
            <a:graphicFrameLocks noChangeAspect="1"/>
          </p:cNvGraphicFramePr>
          <p:nvPr>
            <p:extLst>
              <p:ext uri="{D42A27DB-BD31-4B8C-83A1-F6EECF244321}">
                <p14:modId xmlns:p14="http://schemas.microsoft.com/office/powerpoint/2010/main" val="3384267947"/>
              </p:ext>
            </p:extLst>
          </p:nvPr>
        </p:nvGraphicFramePr>
        <p:xfrm>
          <a:off x="533400" y="3146425"/>
          <a:ext cx="3124200" cy="396875"/>
        </p:xfrm>
        <a:graphic>
          <a:graphicData uri="http://schemas.openxmlformats.org/presentationml/2006/ole">
            <mc:AlternateContent xmlns:mc="http://schemas.openxmlformats.org/markup-compatibility/2006">
              <mc:Choice xmlns:v="urn:schemas-microsoft-com:vml" Requires="v">
                <p:oleObj name="Equation" r:id="rId14" imgW="1905000" imgH="241300" progId="Equation.DSMT4">
                  <p:embed/>
                </p:oleObj>
              </mc:Choice>
              <mc:Fallback>
                <p:oleObj name="Equation" r:id="rId14" imgW="1905000" imgH="241300" progId="Equation.DSMT4">
                  <p:embed/>
                  <p:pic>
                    <p:nvPicPr>
                      <p:cNvPr id="14351" name="Object 5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3400" y="3146425"/>
                        <a:ext cx="3124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52" name="Text Box 52"/>
          <p:cNvSpPr txBox="1">
            <a:spLocks noChangeArrowheads="1"/>
          </p:cNvSpPr>
          <p:nvPr/>
        </p:nvSpPr>
        <p:spPr bwMode="auto">
          <a:xfrm>
            <a:off x="679450" y="3495675"/>
            <a:ext cx="47942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400"/>
              <a:t>→ Si aumenta el tamaño de muestra </a:t>
            </a:r>
            <a:r>
              <a:rPr lang="es-ES" altLang="es-ES" sz="1400" b="1"/>
              <a:t>aumenta</a:t>
            </a:r>
            <a:r>
              <a:rPr lang="es-ES" altLang="es-ES" sz="1400"/>
              <a:t> la precisión</a:t>
            </a:r>
          </a:p>
        </p:txBody>
      </p:sp>
      <p:sp>
        <p:nvSpPr>
          <p:cNvPr id="14353" name="Text Box 54"/>
          <p:cNvSpPr txBox="1">
            <a:spLocks noChangeArrowheads="1"/>
          </p:cNvSpPr>
          <p:nvPr/>
        </p:nvSpPr>
        <p:spPr bwMode="auto">
          <a:xfrm>
            <a:off x="679450" y="3854450"/>
            <a:ext cx="79740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400"/>
              <a:t>→ Por otra parte, cuanto mayor sea la variabilidad, menor será la precisión (esto no es controlable)</a:t>
            </a:r>
          </a:p>
        </p:txBody>
      </p:sp>
      <p:sp>
        <p:nvSpPr>
          <p:cNvPr id="14354" name="Text Box 35"/>
          <p:cNvSpPr txBox="1">
            <a:spLocks noChangeArrowheads="1"/>
          </p:cNvSpPr>
          <p:nvPr/>
        </p:nvSpPr>
        <p:spPr bwMode="auto">
          <a:xfrm>
            <a:off x="304800" y="1905000"/>
            <a:ext cx="2767013"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600"/>
              <a:t>De qué depende la precisión</a:t>
            </a:r>
          </a:p>
        </p:txBody>
      </p:sp>
      <p:grpSp>
        <p:nvGrpSpPr>
          <p:cNvPr id="14355" name="9 Grupo"/>
          <p:cNvGrpSpPr>
            <a:grpSpLocks/>
          </p:cNvGrpSpPr>
          <p:nvPr/>
        </p:nvGrpSpPr>
        <p:grpSpPr bwMode="auto">
          <a:xfrm>
            <a:off x="5349875" y="2438400"/>
            <a:ext cx="3371850" cy="1143000"/>
            <a:chOff x="5349875" y="2362200"/>
            <a:chExt cx="3371850" cy="1143000"/>
          </a:xfrm>
        </p:grpSpPr>
        <p:graphicFrame>
          <p:nvGraphicFramePr>
            <p:cNvPr id="14357" name="Object 23"/>
            <p:cNvGraphicFramePr>
              <a:graphicFrameLocks noChangeAspect="1"/>
            </p:cNvGraphicFramePr>
            <p:nvPr/>
          </p:nvGraphicFramePr>
          <p:xfrm>
            <a:off x="5349875" y="2647950"/>
            <a:ext cx="976313" cy="704850"/>
          </p:xfrm>
          <a:graphic>
            <a:graphicData uri="http://schemas.openxmlformats.org/presentationml/2006/ole">
              <mc:AlternateContent xmlns:mc="http://schemas.openxmlformats.org/markup-compatibility/2006">
                <mc:Choice xmlns:v="urn:schemas-microsoft-com:vml" Requires="v">
                  <p:oleObj name="Equation" r:id="rId16" imgW="418918" imgH="304668" progId="Equation.DSMT4">
                    <p:embed/>
                  </p:oleObj>
                </mc:Choice>
                <mc:Fallback>
                  <p:oleObj name="Equation" r:id="rId16" imgW="418918" imgH="304668" progId="Equation.DSMT4">
                    <p:embed/>
                    <p:pic>
                      <p:nvPicPr>
                        <p:cNvPr id="14357" name="Object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49875" y="2647950"/>
                          <a:ext cx="976313"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8" name="Object 24"/>
            <p:cNvGraphicFramePr>
              <a:graphicFrameLocks noChangeAspect="1"/>
            </p:cNvGraphicFramePr>
            <p:nvPr/>
          </p:nvGraphicFramePr>
          <p:xfrm>
            <a:off x="7747000" y="2692400"/>
            <a:ext cx="974725" cy="706438"/>
          </p:xfrm>
          <a:graphic>
            <a:graphicData uri="http://schemas.openxmlformats.org/presentationml/2006/ole">
              <mc:AlternateContent xmlns:mc="http://schemas.openxmlformats.org/markup-compatibility/2006">
                <mc:Choice xmlns:v="urn:schemas-microsoft-com:vml" Requires="v">
                  <p:oleObj name="Equation" r:id="rId18" imgW="418918" imgH="304668" progId="Equation.DSMT4">
                    <p:embed/>
                  </p:oleObj>
                </mc:Choice>
                <mc:Fallback>
                  <p:oleObj name="Equation" r:id="rId18" imgW="418918" imgH="304668" progId="Equation.DSMT4">
                    <p:embed/>
                    <p:pic>
                      <p:nvPicPr>
                        <p:cNvPr id="14358" name="Object 2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747000" y="2692400"/>
                          <a:ext cx="974725" cy="706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9" name="Line 26"/>
            <p:cNvSpPr>
              <a:spLocks noChangeShapeType="1"/>
            </p:cNvSpPr>
            <p:nvPr/>
          </p:nvSpPr>
          <p:spPr bwMode="auto">
            <a:xfrm>
              <a:off x="5412479" y="2743200"/>
              <a:ext cx="324826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graphicFrame>
          <p:nvGraphicFramePr>
            <p:cNvPr id="14360" name="Object 28"/>
            <p:cNvGraphicFramePr>
              <a:graphicFrameLocks noChangeAspect="1"/>
            </p:cNvGraphicFramePr>
            <p:nvPr/>
          </p:nvGraphicFramePr>
          <p:xfrm>
            <a:off x="6770974" y="2801007"/>
            <a:ext cx="502708" cy="704193"/>
          </p:xfrm>
          <a:graphic>
            <a:graphicData uri="http://schemas.openxmlformats.org/presentationml/2006/ole">
              <mc:AlternateContent xmlns:mc="http://schemas.openxmlformats.org/markup-compatibility/2006">
                <mc:Choice xmlns:v="urn:schemas-microsoft-com:vml" Requires="v">
                  <p:oleObj name="Equation" r:id="rId20" imgW="215713" imgH="304536" progId="Equation.DSMT4">
                    <p:embed/>
                  </p:oleObj>
                </mc:Choice>
                <mc:Fallback>
                  <p:oleObj name="Equation" r:id="rId20" imgW="215713" imgH="304536" progId="Equation.DSMT4">
                    <p:embed/>
                    <p:pic>
                      <p:nvPicPr>
                        <p:cNvPr id="14360" name="Object 2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770974" y="2801007"/>
                          <a:ext cx="502708" cy="704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61" name="Object 31"/>
            <p:cNvGraphicFramePr>
              <a:graphicFrameLocks noChangeAspect="1"/>
            </p:cNvGraphicFramePr>
            <p:nvPr/>
          </p:nvGraphicFramePr>
          <p:xfrm>
            <a:off x="6335400" y="2362200"/>
            <a:ext cx="157257" cy="223345"/>
          </p:xfrm>
          <a:graphic>
            <a:graphicData uri="http://schemas.openxmlformats.org/presentationml/2006/ole">
              <mc:AlternateContent xmlns:mc="http://schemas.openxmlformats.org/markup-compatibility/2006">
                <mc:Choice xmlns:v="urn:schemas-microsoft-com:vml" Requires="v">
                  <p:oleObj name="Equation" r:id="rId22" imgW="126725" imgH="177415" progId="Equation.DSMT4">
                    <p:embed/>
                  </p:oleObj>
                </mc:Choice>
                <mc:Fallback>
                  <p:oleObj name="Equation" r:id="rId22" imgW="126725" imgH="177415" progId="Equation.DSMT4">
                    <p:embed/>
                    <p:pic>
                      <p:nvPicPr>
                        <p:cNvPr id="14361" name="Object 31"/>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335400" y="2362200"/>
                          <a:ext cx="157257" cy="223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62" name="Object 32"/>
            <p:cNvGraphicFramePr>
              <a:graphicFrameLocks noChangeAspect="1"/>
            </p:cNvGraphicFramePr>
            <p:nvPr/>
          </p:nvGraphicFramePr>
          <p:xfrm>
            <a:off x="7517410" y="2362200"/>
            <a:ext cx="157257" cy="223345"/>
          </p:xfrm>
          <a:graphic>
            <a:graphicData uri="http://schemas.openxmlformats.org/presentationml/2006/ole">
              <mc:AlternateContent xmlns:mc="http://schemas.openxmlformats.org/markup-compatibility/2006">
                <mc:Choice xmlns:v="urn:schemas-microsoft-com:vml" Requires="v">
                  <p:oleObj name="Equation" r:id="rId24" imgW="126725" imgH="177415" progId="Equation.DSMT4">
                    <p:embed/>
                  </p:oleObj>
                </mc:Choice>
                <mc:Fallback>
                  <p:oleObj name="Equation" r:id="rId24" imgW="126725" imgH="177415" progId="Equation.DSMT4">
                    <p:embed/>
                    <p:pic>
                      <p:nvPicPr>
                        <p:cNvPr id="14362" name="Object 3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517410" y="2362200"/>
                          <a:ext cx="157257" cy="223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4363" name="1 Grupo"/>
            <p:cNvGrpSpPr>
              <a:grpSpLocks/>
            </p:cNvGrpSpPr>
            <p:nvPr/>
          </p:nvGrpSpPr>
          <p:grpSpPr bwMode="auto">
            <a:xfrm>
              <a:off x="5829300" y="2522220"/>
              <a:ext cx="2356874" cy="449579"/>
              <a:chOff x="5829300" y="2514600"/>
              <a:chExt cx="2356874" cy="457695"/>
            </a:xfrm>
          </p:grpSpPr>
          <p:sp>
            <p:nvSpPr>
              <p:cNvPr id="14367" name="AutoShape 30"/>
              <p:cNvSpPr>
                <a:spLocks/>
              </p:cNvSpPr>
              <p:nvPr/>
            </p:nvSpPr>
            <p:spPr bwMode="auto">
              <a:xfrm flipH="1">
                <a:off x="8136383" y="2514600"/>
                <a:ext cx="49791" cy="443364"/>
              </a:xfrm>
              <a:prstGeom prst="leftBracket">
                <a:avLst>
                  <a:gd name="adj" fmla="val 51077"/>
                </a:avLst>
              </a:prstGeom>
              <a:noFill/>
              <a:ln w="1587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14368" name="AutoShape 31"/>
              <p:cNvSpPr>
                <a:spLocks/>
              </p:cNvSpPr>
              <p:nvPr/>
            </p:nvSpPr>
            <p:spPr bwMode="auto">
              <a:xfrm>
                <a:off x="5829300" y="2528931"/>
                <a:ext cx="50851" cy="443364"/>
              </a:xfrm>
              <a:prstGeom prst="leftBracket">
                <a:avLst>
                  <a:gd name="adj" fmla="val 50012"/>
                </a:avLst>
              </a:prstGeom>
              <a:noFill/>
              <a:ln w="1587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cxnSp>
          <p:nvCxnSpPr>
            <p:cNvPr id="6" name="5 Conector recto"/>
            <p:cNvCxnSpPr/>
            <p:nvPr/>
          </p:nvCxnSpPr>
          <p:spPr bwMode="auto">
            <a:xfrm>
              <a:off x="7008813" y="2620963"/>
              <a:ext cx="0" cy="228600"/>
            </a:xfrm>
            <a:prstGeom prst="line">
              <a:avLst/>
            </a:prstGeom>
            <a:noFill/>
            <a:ln w="1270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65" name="7 Conector recto"/>
            <p:cNvCxnSpPr>
              <a:cxnSpLocks noChangeShapeType="1"/>
            </p:cNvCxnSpPr>
            <p:nvPr/>
          </p:nvCxnSpPr>
          <p:spPr bwMode="auto">
            <a:xfrm>
              <a:off x="5829300" y="2652233"/>
              <a:ext cx="1178719" cy="0"/>
            </a:xfrm>
            <a:prstGeom prst="line">
              <a:avLst/>
            </a:prstGeom>
            <a:noFill/>
            <a:ln w="12700" algn="ctr">
              <a:solidFill>
                <a:srgbClr val="C0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66" name="43 Conector recto"/>
            <p:cNvCxnSpPr>
              <a:cxnSpLocks noChangeShapeType="1"/>
            </p:cNvCxnSpPr>
            <p:nvPr/>
          </p:nvCxnSpPr>
          <p:spPr bwMode="auto">
            <a:xfrm>
              <a:off x="7020401" y="2651760"/>
              <a:ext cx="1178719" cy="0"/>
            </a:xfrm>
            <a:prstGeom prst="line">
              <a:avLst/>
            </a:prstGeom>
            <a:noFill/>
            <a:ln w="12700" algn="ctr">
              <a:solidFill>
                <a:srgbClr val="C0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6" name="Rectangle 24"/>
          <p:cNvSpPr>
            <a:spLocks noChangeArrowheads="1"/>
          </p:cNvSpPr>
          <p:nvPr/>
        </p:nvSpPr>
        <p:spPr bwMode="auto">
          <a:xfrm>
            <a:off x="161925" y="409575"/>
            <a:ext cx="6572931" cy="3407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dirty="0">
                <a:solidFill>
                  <a:srgbClr val="000000"/>
                </a:solidFill>
              </a:rPr>
              <a:t>Intervalos de confianza para la media de una </a:t>
            </a:r>
            <a:r>
              <a:rPr lang="es-ES_tradnl" altLang="es-ES" sz="1600" b="1" dirty="0">
                <a:solidFill>
                  <a:srgbClr val="FF0000"/>
                </a:solidFill>
              </a:rPr>
              <a:t>variable cuantitativa</a:t>
            </a:r>
            <a:endParaRPr lang="es-ES" altLang="es-ES" sz="1600" b="1" dirty="0">
              <a:solidFill>
                <a:srgbClr val="FF0000"/>
              </a:solidFill>
            </a:endParaRPr>
          </a:p>
        </p:txBody>
      </p:sp>
      <p:sp>
        <p:nvSpPr>
          <p:cNvPr id="37"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
        <p:nvSpPr>
          <p:cNvPr id="3" name="TextBox 2">
            <a:extLst>
              <a:ext uri="{FF2B5EF4-FFF2-40B4-BE49-F238E27FC236}">
                <a16:creationId xmlns:a16="http://schemas.microsoft.com/office/drawing/2014/main" id="{4278C1AE-CDCE-A796-5297-805058D3EB0C}"/>
              </a:ext>
            </a:extLst>
          </p:cNvPr>
          <p:cNvSpPr txBox="1"/>
          <p:nvPr/>
        </p:nvSpPr>
        <p:spPr>
          <a:xfrm>
            <a:off x="3657600" y="1767334"/>
            <a:ext cx="4578350" cy="461665"/>
          </a:xfrm>
          <a:prstGeom prst="rect">
            <a:avLst/>
          </a:prstGeom>
          <a:noFill/>
        </p:spPr>
        <p:txBody>
          <a:bodyPr wrap="square">
            <a:spAutoFit/>
          </a:bodyPr>
          <a:lstStyle/>
          <a:p>
            <a:r>
              <a:rPr lang="en-US" dirty="0">
                <a:hlinkClick r:id="rId25"/>
              </a:rPr>
              <a:t>https://www.geogebra.org/m/Kcq3UxwZ</a:t>
            </a:r>
            <a:endParaRPr lang="en-US" dirty="0"/>
          </a:p>
          <a:p>
            <a:endParaRPr lang="en-US" dirty="0"/>
          </a:p>
        </p:txBody>
      </p:sp>
    </p:spTree>
    <p:extLst>
      <p:ext uri="{BB962C8B-B14F-4D97-AF65-F5344CB8AC3E}">
        <p14:creationId xmlns:p14="http://schemas.microsoft.com/office/powerpoint/2010/main" val="2914815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txBox="1">
            <a:spLocks noChangeArrowheads="1"/>
          </p:cNvSpPr>
          <p:nvPr/>
        </p:nvSpPr>
        <p:spPr bwMode="auto">
          <a:xfrm>
            <a:off x="441325" y="877888"/>
            <a:ext cx="45132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b="1"/>
              <a:t>Intervalos construidos a nivel de confianza del 95%</a:t>
            </a:r>
            <a:endParaRPr lang="es-ES" altLang="es-ES" sz="1400" b="1"/>
          </a:p>
        </p:txBody>
      </p:sp>
      <p:graphicFrame>
        <p:nvGraphicFramePr>
          <p:cNvPr id="15363" name="Object 5"/>
          <p:cNvGraphicFramePr>
            <a:graphicFrameLocks noChangeAspect="1"/>
          </p:cNvGraphicFramePr>
          <p:nvPr>
            <p:extLst>
              <p:ext uri="{D42A27DB-BD31-4B8C-83A1-F6EECF244321}">
                <p14:modId xmlns:p14="http://schemas.microsoft.com/office/powerpoint/2010/main" val="524073540"/>
              </p:ext>
            </p:extLst>
          </p:nvPr>
        </p:nvGraphicFramePr>
        <p:xfrm>
          <a:off x="5334000" y="942975"/>
          <a:ext cx="2209800" cy="276225"/>
        </p:xfrm>
        <a:graphic>
          <a:graphicData uri="http://schemas.openxmlformats.org/presentationml/2006/ole">
            <mc:AlternateContent xmlns:mc="http://schemas.openxmlformats.org/markup-compatibility/2006">
              <mc:Choice xmlns:v="urn:schemas-microsoft-com:vml" Requires="v">
                <p:oleObj name="Equation" r:id="rId2" imgW="1625600" imgH="203200" progId="Equation.DSMT4">
                  <p:embed/>
                </p:oleObj>
              </mc:Choice>
              <mc:Fallback>
                <p:oleObj name="Equation" r:id="rId2" imgW="1625600" imgH="203200" progId="Equation.DSMT4">
                  <p:embed/>
                  <p:pic>
                    <p:nvPicPr>
                      <p:cNvPr id="1536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942975"/>
                        <a:ext cx="22098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4" name="Line 18"/>
          <p:cNvSpPr>
            <a:spLocks noChangeShapeType="1"/>
          </p:cNvSpPr>
          <p:nvPr/>
        </p:nvSpPr>
        <p:spPr bwMode="auto">
          <a:xfrm>
            <a:off x="5029200" y="1071563"/>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365" name="Group 22"/>
          <p:cNvGrpSpPr>
            <a:grpSpLocks/>
          </p:cNvGrpSpPr>
          <p:nvPr/>
        </p:nvGrpSpPr>
        <p:grpSpPr bwMode="auto">
          <a:xfrm>
            <a:off x="2760663" y="2743200"/>
            <a:ext cx="4633912" cy="3317875"/>
            <a:chOff x="1445" y="1784"/>
            <a:chExt cx="2919" cy="2090"/>
          </a:xfrm>
        </p:grpSpPr>
        <p:sp>
          <p:nvSpPr>
            <p:cNvPr id="15524" name="Line 23"/>
            <p:cNvSpPr>
              <a:spLocks noChangeShapeType="1"/>
            </p:cNvSpPr>
            <p:nvPr/>
          </p:nvSpPr>
          <p:spPr bwMode="auto">
            <a:xfrm>
              <a:off x="1445"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25" name="Line 24"/>
            <p:cNvSpPr>
              <a:spLocks noChangeShapeType="1"/>
            </p:cNvSpPr>
            <p:nvPr/>
          </p:nvSpPr>
          <p:spPr bwMode="auto">
            <a:xfrm>
              <a:off x="1451" y="38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26" name="Line 25"/>
            <p:cNvSpPr>
              <a:spLocks noChangeShapeType="1"/>
            </p:cNvSpPr>
            <p:nvPr/>
          </p:nvSpPr>
          <p:spPr bwMode="auto">
            <a:xfrm>
              <a:off x="1456"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27" name="Freeform 26"/>
            <p:cNvSpPr>
              <a:spLocks/>
            </p:cNvSpPr>
            <p:nvPr/>
          </p:nvSpPr>
          <p:spPr bwMode="auto">
            <a:xfrm>
              <a:off x="1456" y="3874"/>
              <a:ext cx="8" cy="0"/>
            </a:xfrm>
            <a:custGeom>
              <a:avLst/>
              <a:gdLst>
                <a:gd name="T0" fmla="*/ 0 w 5"/>
                <a:gd name="T1" fmla="*/ 0 w 5"/>
                <a:gd name="T2" fmla="*/ 86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28" name="Line 27"/>
            <p:cNvSpPr>
              <a:spLocks noChangeShapeType="1"/>
            </p:cNvSpPr>
            <p:nvPr/>
          </p:nvSpPr>
          <p:spPr bwMode="auto">
            <a:xfrm>
              <a:off x="1464"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29" name="Freeform 28"/>
            <p:cNvSpPr>
              <a:spLocks/>
            </p:cNvSpPr>
            <p:nvPr/>
          </p:nvSpPr>
          <p:spPr bwMode="auto">
            <a:xfrm>
              <a:off x="1464" y="3874"/>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30" name="Line 29"/>
            <p:cNvSpPr>
              <a:spLocks noChangeShapeType="1"/>
            </p:cNvSpPr>
            <p:nvPr/>
          </p:nvSpPr>
          <p:spPr bwMode="auto">
            <a:xfrm>
              <a:off x="1469"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1" name="Line 30"/>
            <p:cNvSpPr>
              <a:spLocks noChangeShapeType="1"/>
            </p:cNvSpPr>
            <p:nvPr/>
          </p:nvSpPr>
          <p:spPr bwMode="auto">
            <a:xfrm>
              <a:off x="1469"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2" name="Line 31"/>
            <p:cNvSpPr>
              <a:spLocks noChangeShapeType="1"/>
            </p:cNvSpPr>
            <p:nvPr/>
          </p:nvSpPr>
          <p:spPr bwMode="auto">
            <a:xfrm>
              <a:off x="1475"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3" name="Line 32"/>
            <p:cNvSpPr>
              <a:spLocks noChangeShapeType="1"/>
            </p:cNvSpPr>
            <p:nvPr/>
          </p:nvSpPr>
          <p:spPr bwMode="auto">
            <a:xfrm>
              <a:off x="1482"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4" name="Freeform 33"/>
            <p:cNvSpPr>
              <a:spLocks/>
            </p:cNvSpPr>
            <p:nvPr/>
          </p:nvSpPr>
          <p:spPr bwMode="auto">
            <a:xfrm>
              <a:off x="1482"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35" name="Line 34"/>
            <p:cNvSpPr>
              <a:spLocks noChangeShapeType="1"/>
            </p:cNvSpPr>
            <p:nvPr/>
          </p:nvSpPr>
          <p:spPr bwMode="auto">
            <a:xfrm>
              <a:off x="1488"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6" name="Line 35"/>
            <p:cNvSpPr>
              <a:spLocks noChangeShapeType="1"/>
            </p:cNvSpPr>
            <p:nvPr/>
          </p:nvSpPr>
          <p:spPr bwMode="auto">
            <a:xfrm>
              <a:off x="1488"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7" name="Line 36"/>
            <p:cNvSpPr>
              <a:spLocks noChangeShapeType="1"/>
            </p:cNvSpPr>
            <p:nvPr/>
          </p:nvSpPr>
          <p:spPr bwMode="auto">
            <a:xfrm>
              <a:off x="1494"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8" name="Line 37"/>
            <p:cNvSpPr>
              <a:spLocks noChangeShapeType="1"/>
            </p:cNvSpPr>
            <p:nvPr/>
          </p:nvSpPr>
          <p:spPr bwMode="auto">
            <a:xfrm>
              <a:off x="1501"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39" name="Freeform 38"/>
            <p:cNvSpPr>
              <a:spLocks/>
            </p:cNvSpPr>
            <p:nvPr/>
          </p:nvSpPr>
          <p:spPr bwMode="auto">
            <a:xfrm>
              <a:off x="1501"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40" name="Line 39"/>
            <p:cNvSpPr>
              <a:spLocks noChangeShapeType="1"/>
            </p:cNvSpPr>
            <p:nvPr/>
          </p:nvSpPr>
          <p:spPr bwMode="auto">
            <a:xfrm>
              <a:off x="1507"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41" name="Freeform 40"/>
            <p:cNvSpPr>
              <a:spLocks/>
            </p:cNvSpPr>
            <p:nvPr/>
          </p:nvSpPr>
          <p:spPr bwMode="auto">
            <a:xfrm>
              <a:off x="1507"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42" name="Line 41"/>
            <p:cNvSpPr>
              <a:spLocks noChangeShapeType="1"/>
            </p:cNvSpPr>
            <p:nvPr/>
          </p:nvSpPr>
          <p:spPr bwMode="auto">
            <a:xfrm>
              <a:off x="1513"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43" name="Line 42"/>
            <p:cNvSpPr>
              <a:spLocks noChangeShapeType="1"/>
            </p:cNvSpPr>
            <p:nvPr/>
          </p:nvSpPr>
          <p:spPr bwMode="auto">
            <a:xfrm>
              <a:off x="1513"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44" name="Line 43"/>
            <p:cNvSpPr>
              <a:spLocks noChangeShapeType="1"/>
            </p:cNvSpPr>
            <p:nvPr/>
          </p:nvSpPr>
          <p:spPr bwMode="auto">
            <a:xfrm>
              <a:off x="1520" y="38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45" name="Line 44"/>
            <p:cNvSpPr>
              <a:spLocks noChangeShapeType="1"/>
            </p:cNvSpPr>
            <p:nvPr/>
          </p:nvSpPr>
          <p:spPr bwMode="auto">
            <a:xfrm>
              <a:off x="1525"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46" name="Freeform 45"/>
            <p:cNvSpPr>
              <a:spLocks/>
            </p:cNvSpPr>
            <p:nvPr/>
          </p:nvSpPr>
          <p:spPr bwMode="auto">
            <a:xfrm>
              <a:off x="1525"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47" name="Line 46"/>
            <p:cNvSpPr>
              <a:spLocks noChangeShapeType="1"/>
            </p:cNvSpPr>
            <p:nvPr/>
          </p:nvSpPr>
          <p:spPr bwMode="auto">
            <a:xfrm>
              <a:off x="1531"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48" name="Line 47"/>
            <p:cNvSpPr>
              <a:spLocks noChangeShapeType="1"/>
            </p:cNvSpPr>
            <p:nvPr/>
          </p:nvSpPr>
          <p:spPr bwMode="auto">
            <a:xfrm>
              <a:off x="1531"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49" name="Line 48"/>
            <p:cNvSpPr>
              <a:spLocks noChangeShapeType="1"/>
            </p:cNvSpPr>
            <p:nvPr/>
          </p:nvSpPr>
          <p:spPr bwMode="auto">
            <a:xfrm>
              <a:off x="1538"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50" name="Line 49"/>
            <p:cNvSpPr>
              <a:spLocks noChangeShapeType="1"/>
            </p:cNvSpPr>
            <p:nvPr/>
          </p:nvSpPr>
          <p:spPr bwMode="auto">
            <a:xfrm>
              <a:off x="1544"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51" name="Freeform 50"/>
            <p:cNvSpPr>
              <a:spLocks/>
            </p:cNvSpPr>
            <p:nvPr/>
          </p:nvSpPr>
          <p:spPr bwMode="auto">
            <a:xfrm>
              <a:off x="1544"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52" name="Line 51"/>
            <p:cNvSpPr>
              <a:spLocks noChangeShapeType="1"/>
            </p:cNvSpPr>
            <p:nvPr/>
          </p:nvSpPr>
          <p:spPr bwMode="auto">
            <a:xfrm>
              <a:off x="1550"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53" name="Line 52"/>
            <p:cNvSpPr>
              <a:spLocks noChangeShapeType="1"/>
            </p:cNvSpPr>
            <p:nvPr/>
          </p:nvSpPr>
          <p:spPr bwMode="auto">
            <a:xfrm>
              <a:off x="1550"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54" name="Line 53"/>
            <p:cNvSpPr>
              <a:spLocks noChangeShapeType="1"/>
            </p:cNvSpPr>
            <p:nvPr/>
          </p:nvSpPr>
          <p:spPr bwMode="auto">
            <a:xfrm>
              <a:off x="1557"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55" name="Line 54"/>
            <p:cNvSpPr>
              <a:spLocks noChangeShapeType="1"/>
            </p:cNvSpPr>
            <p:nvPr/>
          </p:nvSpPr>
          <p:spPr bwMode="auto">
            <a:xfrm>
              <a:off x="1563"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56" name="Freeform 55"/>
            <p:cNvSpPr>
              <a:spLocks/>
            </p:cNvSpPr>
            <p:nvPr/>
          </p:nvSpPr>
          <p:spPr bwMode="auto">
            <a:xfrm>
              <a:off x="1563"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57" name="Line 56"/>
            <p:cNvSpPr>
              <a:spLocks noChangeShapeType="1"/>
            </p:cNvSpPr>
            <p:nvPr/>
          </p:nvSpPr>
          <p:spPr bwMode="auto">
            <a:xfrm>
              <a:off x="1569"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58" name="Freeform 57"/>
            <p:cNvSpPr>
              <a:spLocks/>
            </p:cNvSpPr>
            <p:nvPr/>
          </p:nvSpPr>
          <p:spPr bwMode="auto">
            <a:xfrm>
              <a:off x="1569" y="3874"/>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59" name="Line 58"/>
            <p:cNvSpPr>
              <a:spLocks noChangeShapeType="1"/>
            </p:cNvSpPr>
            <p:nvPr/>
          </p:nvSpPr>
          <p:spPr bwMode="auto">
            <a:xfrm>
              <a:off x="1576"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60" name="Line 59"/>
            <p:cNvSpPr>
              <a:spLocks noChangeShapeType="1"/>
            </p:cNvSpPr>
            <p:nvPr/>
          </p:nvSpPr>
          <p:spPr bwMode="auto">
            <a:xfrm>
              <a:off x="1576"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61" name="Line 60"/>
            <p:cNvSpPr>
              <a:spLocks noChangeShapeType="1"/>
            </p:cNvSpPr>
            <p:nvPr/>
          </p:nvSpPr>
          <p:spPr bwMode="auto">
            <a:xfrm>
              <a:off x="1582" y="38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62" name="Line 61"/>
            <p:cNvSpPr>
              <a:spLocks noChangeShapeType="1"/>
            </p:cNvSpPr>
            <p:nvPr/>
          </p:nvSpPr>
          <p:spPr bwMode="auto">
            <a:xfrm>
              <a:off x="1587"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63" name="Freeform 62"/>
            <p:cNvSpPr>
              <a:spLocks/>
            </p:cNvSpPr>
            <p:nvPr/>
          </p:nvSpPr>
          <p:spPr bwMode="auto">
            <a:xfrm>
              <a:off x="1587" y="3874"/>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64" name="Line 63"/>
            <p:cNvSpPr>
              <a:spLocks noChangeShapeType="1"/>
            </p:cNvSpPr>
            <p:nvPr/>
          </p:nvSpPr>
          <p:spPr bwMode="auto">
            <a:xfrm>
              <a:off x="1594"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65" name="Line 64"/>
            <p:cNvSpPr>
              <a:spLocks noChangeShapeType="1"/>
            </p:cNvSpPr>
            <p:nvPr/>
          </p:nvSpPr>
          <p:spPr bwMode="auto">
            <a:xfrm>
              <a:off x="1594"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66" name="Line 65"/>
            <p:cNvSpPr>
              <a:spLocks noChangeShapeType="1"/>
            </p:cNvSpPr>
            <p:nvPr/>
          </p:nvSpPr>
          <p:spPr bwMode="auto">
            <a:xfrm>
              <a:off x="1600"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67" name="Line 66"/>
            <p:cNvSpPr>
              <a:spLocks noChangeShapeType="1"/>
            </p:cNvSpPr>
            <p:nvPr/>
          </p:nvSpPr>
          <p:spPr bwMode="auto">
            <a:xfrm>
              <a:off x="1607"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68" name="Freeform 67"/>
            <p:cNvSpPr>
              <a:spLocks/>
            </p:cNvSpPr>
            <p:nvPr/>
          </p:nvSpPr>
          <p:spPr bwMode="auto">
            <a:xfrm>
              <a:off x="1607"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69" name="Line 68"/>
            <p:cNvSpPr>
              <a:spLocks noChangeShapeType="1"/>
            </p:cNvSpPr>
            <p:nvPr/>
          </p:nvSpPr>
          <p:spPr bwMode="auto">
            <a:xfrm>
              <a:off x="1613"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70" name="Freeform 69"/>
            <p:cNvSpPr>
              <a:spLocks/>
            </p:cNvSpPr>
            <p:nvPr/>
          </p:nvSpPr>
          <p:spPr bwMode="auto">
            <a:xfrm>
              <a:off x="1613"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71" name="Line 70"/>
            <p:cNvSpPr>
              <a:spLocks noChangeShapeType="1"/>
            </p:cNvSpPr>
            <p:nvPr/>
          </p:nvSpPr>
          <p:spPr bwMode="auto">
            <a:xfrm>
              <a:off x="1619"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72" name="Freeform 71"/>
            <p:cNvSpPr>
              <a:spLocks/>
            </p:cNvSpPr>
            <p:nvPr/>
          </p:nvSpPr>
          <p:spPr bwMode="auto">
            <a:xfrm>
              <a:off x="1619" y="3866"/>
              <a:ext cx="7" cy="8"/>
            </a:xfrm>
            <a:custGeom>
              <a:avLst/>
              <a:gdLst>
                <a:gd name="T0" fmla="*/ 0 w 5"/>
                <a:gd name="T1" fmla="*/ 256 h 4"/>
                <a:gd name="T2" fmla="*/ 0 w 5"/>
                <a:gd name="T3" fmla="*/ 0 h 4"/>
                <a:gd name="T4" fmla="*/ 39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73" name="Line 72"/>
            <p:cNvSpPr>
              <a:spLocks noChangeShapeType="1"/>
            </p:cNvSpPr>
            <p:nvPr/>
          </p:nvSpPr>
          <p:spPr bwMode="auto">
            <a:xfrm>
              <a:off x="1626"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74" name="Line 73"/>
            <p:cNvSpPr>
              <a:spLocks noChangeShapeType="1"/>
            </p:cNvSpPr>
            <p:nvPr/>
          </p:nvSpPr>
          <p:spPr bwMode="auto">
            <a:xfrm>
              <a:off x="1632"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75" name="Freeform 74"/>
            <p:cNvSpPr>
              <a:spLocks/>
            </p:cNvSpPr>
            <p:nvPr/>
          </p:nvSpPr>
          <p:spPr bwMode="auto">
            <a:xfrm>
              <a:off x="1632" y="3866"/>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76" name="Line 75"/>
            <p:cNvSpPr>
              <a:spLocks noChangeShapeType="1"/>
            </p:cNvSpPr>
            <p:nvPr/>
          </p:nvSpPr>
          <p:spPr bwMode="auto">
            <a:xfrm>
              <a:off x="1638"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77" name="Line 76"/>
            <p:cNvSpPr>
              <a:spLocks noChangeShapeType="1"/>
            </p:cNvSpPr>
            <p:nvPr/>
          </p:nvSpPr>
          <p:spPr bwMode="auto">
            <a:xfrm>
              <a:off x="1638" y="3866"/>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78" name="Line 77"/>
            <p:cNvSpPr>
              <a:spLocks noChangeShapeType="1"/>
            </p:cNvSpPr>
            <p:nvPr/>
          </p:nvSpPr>
          <p:spPr bwMode="auto">
            <a:xfrm>
              <a:off x="1645"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79" name="Line 78"/>
            <p:cNvSpPr>
              <a:spLocks noChangeShapeType="1"/>
            </p:cNvSpPr>
            <p:nvPr/>
          </p:nvSpPr>
          <p:spPr bwMode="auto">
            <a:xfrm>
              <a:off x="1651"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80" name="Freeform 79"/>
            <p:cNvSpPr>
              <a:spLocks/>
            </p:cNvSpPr>
            <p:nvPr/>
          </p:nvSpPr>
          <p:spPr bwMode="auto">
            <a:xfrm>
              <a:off x="1651" y="3866"/>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81" name="Line 80"/>
            <p:cNvSpPr>
              <a:spLocks noChangeShapeType="1"/>
            </p:cNvSpPr>
            <p:nvPr/>
          </p:nvSpPr>
          <p:spPr bwMode="auto">
            <a:xfrm>
              <a:off x="1656"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82" name="Freeform 81"/>
            <p:cNvSpPr>
              <a:spLocks/>
            </p:cNvSpPr>
            <p:nvPr/>
          </p:nvSpPr>
          <p:spPr bwMode="auto">
            <a:xfrm>
              <a:off x="1656" y="3866"/>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83" name="Line 82"/>
            <p:cNvSpPr>
              <a:spLocks noChangeShapeType="1"/>
            </p:cNvSpPr>
            <p:nvPr/>
          </p:nvSpPr>
          <p:spPr bwMode="auto">
            <a:xfrm>
              <a:off x="1663"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84" name="Line 83"/>
            <p:cNvSpPr>
              <a:spLocks noChangeShapeType="1"/>
            </p:cNvSpPr>
            <p:nvPr/>
          </p:nvSpPr>
          <p:spPr bwMode="auto">
            <a:xfrm>
              <a:off x="1663"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85" name="Line 84"/>
            <p:cNvSpPr>
              <a:spLocks noChangeShapeType="1"/>
            </p:cNvSpPr>
            <p:nvPr/>
          </p:nvSpPr>
          <p:spPr bwMode="auto">
            <a:xfrm>
              <a:off x="1669"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86" name="Line 85"/>
            <p:cNvSpPr>
              <a:spLocks noChangeShapeType="1"/>
            </p:cNvSpPr>
            <p:nvPr/>
          </p:nvSpPr>
          <p:spPr bwMode="auto">
            <a:xfrm>
              <a:off x="1675"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87" name="Freeform 86"/>
            <p:cNvSpPr>
              <a:spLocks/>
            </p:cNvSpPr>
            <p:nvPr/>
          </p:nvSpPr>
          <p:spPr bwMode="auto">
            <a:xfrm>
              <a:off x="1675" y="3866"/>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88" name="Line 87"/>
            <p:cNvSpPr>
              <a:spLocks noChangeShapeType="1"/>
            </p:cNvSpPr>
            <p:nvPr/>
          </p:nvSpPr>
          <p:spPr bwMode="auto">
            <a:xfrm>
              <a:off x="1682"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89" name="Line 88"/>
            <p:cNvSpPr>
              <a:spLocks noChangeShapeType="1"/>
            </p:cNvSpPr>
            <p:nvPr/>
          </p:nvSpPr>
          <p:spPr bwMode="auto">
            <a:xfrm>
              <a:off x="1682"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90" name="Line 89"/>
            <p:cNvSpPr>
              <a:spLocks noChangeShapeType="1"/>
            </p:cNvSpPr>
            <p:nvPr/>
          </p:nvSpPr>
          <p:spPr bwMode="auto">
            <a:xfrm>
              <a:off x="1688"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91" name="Line 90"/>
            <p:cNvSpPr>
              <a:spLocks noChangeShapeType="1"/>
            </p:cNvSpPr>
            <p:nvPr/>
          </p:nvSpPr>
          <p:spPr bwMode="auto">
            <a:xfrm>
              <a:off x="1694"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92" name="Freeform 91"/>
            <p:cNvSpPr>
              <a:spLocks/>
            </p:cNvSpPr>
            <p:nvPr/>
          </p:nvSpPr>
          <p:spPr bwMode="auto">
            <a:xfrm>
              <a:off x="1694" y="3866"/>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93" name="Line 92"/>
            <p:cNvSpPr>
              <a:spLocks noChangeShapeType="1"/>
            </p:cNvSpPr>
            <p:nvPr/>
          </p:nvSpPr>
          <p:spPr bwMode="auto">
            <a:xfrm>
              <a:off x="1701"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94" name="Freeform 93"/>
            <p:cNvSpPr>
              <a:spLocks/>
            </p:cNvSpPr>
            <p:nvPr/>
          </p:nvSpPr>
          <p:spPr bwMode="auto">
            <a:xfrm>
              <a:off x="1701" y="3866"/>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595" name="Line 94"/>
            <p:cNvSpPr>
              <a:spLocks noChangeShapeType="1"/>
            </p:cNvSpPr>
            <p:nvPr/>
          </p:nvSpPr>
          <p:spPr bwMode="auto">
            <a:xfrm>
              <a:off x="1707"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96" name="Line 95"/>
            <p:cNvSpPr>
              <a:spLocks noChangeShapeType="1"/>
            </p:cNvSpPr>
            <p:nvPr/>
          </p:nvSpPr>
          <p:spPr bwMode="auto">
            <a:xfrm>
              <a:off x="1707" y="3866"/>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97" name="Line 96"/>
            <p:cNvSpPr>
              <a:spLocks noChangeShapeType="1"/>
            </p:cNvSpPr>
            <p:nvPr/>
          </p:nvSpPr>
          <p:spPr bwMode="auto">
            <a:xfrm>
              <a:off x="1712" y="3866"/>
              <a:ext cx="8"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98" name="Line 97"/>
            <p:cNvSpPr>
              <a:spLocks noChangeShapeType="1"/>
            </p:cNvSpPr>
            <p:nvPr/>
          </p:nvSpPr>
          <p:spPr bwMode="auto">
            <a:xfrm>
              <a:off x="1720"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599" name="Freeform 98"/>
            <p:cNvSpPr>
              <a:spLocks/>
            </p:cNvSpPr>
            <p:nvPr/>
          </p:nvSpPr>
          <p:spPr bwMode="auto">
            <a:xfrm>
              <a:off x="1720" y="3866"/>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00" name="Line 99"/>
            <p:cNvSpPr>
              <a:spLocks noChangeShapeType="1"/>
            </p:cNvSpPr>
            <p:nvPr/>
          </p:nvSpPr>
          <p:spPr bwMode="auto">
            <a:xfrm>
              <a:off x="1725"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01" name="Line 100"/>
            <p:cNvSpPr>
              <a:spLocks noChangeShapeType="1"/>
            </p:cNvSpPr>
            <p:nvPr/>
          </p:nvSpPr>
          <p:spPr bwMode="auto">
            <a:xfrm>
              <a:off x="1725" y="386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02" name="Line 101"/>
            <p:cNvSpPr>
              <a:spLocks noChangeShapeType="1"/>
            </p:cNvSpPr>
            <p:nvPr/>
          </p:nvSpPr>
          <p:spPr bwMode="auto">
            <a:xfrm>
              <a:off x="1731" y="3866"/>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03" name="Line 102"/>
            <p:cNvSpPr>
              <a:spLocks noChangeShapeType="1"/>
            </p:cNvSpPr>
            <p:nvPr/>
          </p:nvSpPr>
          <p:spPr bwMode="auto">
            <a:xfrm>
              <a:off x="1738" y="38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04" name="Freeform 103"/>
            <p:cNvSpPr>
              <a:spLocks/>
            </p:cNvSpPr>
            <p:nvPr/>
          </p:nvSpPr>
          <p:spPr bwMode="auto">
            <a:xfrm>
              <a:off x="1738" y="3866"/>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05" name="Freeform 104"/>
            <p:cNvSpPr>
              <a:spLocks/>
            </p:cNvSpPr>
            <p:nvPr/>
          </p:nvSpPr>
          <p:spPr bwMode="auto">
            <a:xfrm>
              <a:off x="1744" y="3856"/>
              <a:ext cx="0" cy="10"/>
            </a:xfrm>
            <a:custGeom>
              <a:avLst/>
              <a:gdLst>
                <a:gd name="T0" fmla="*/ 320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06" name="Freeform 105"/>
            <p:cNvSpPr>
              <a:spLocks/>
            </p:cNvSpPr>
            <p:nvPr/>
          </p:nvSpPr>
          <p:spPr bwMode="auto">
            <a:xfrm>
              <a:off x="1744" y="3856"/>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07" name="Line 106"/>
            <p:cNvSpPr>
              <a:spLocks noChangeShapeType="1"/>
            </p:cNvSpPr>
            <p:nvPr/>
          </p:nvSpPr>
          <p:spPr bwMode="auto">
            <a:xfrm>
              <a:off x="1750"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08" name="Line 107"/>
            <p:cNvSpPr>
              <a:spLocks noChangeShapeType="1"/>
            </p:cNvSpPr>
            <p:nvPr/>
          </p:nvSpPr>
          <p:spPr bwMode="auto">
            <a:xfrm>
              <a:off x="1750" y="3856"/>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09" name="Line 108"/>
            <p:cNvSpPr>
              <a:spLocks noChangeShapeType="1"/>
            </p:cNvSpPr>
            <p:nvPr/>
          </p:nvSpPr>
          <p:spPr bwMode="auto">
            <a:xfrm>
              <a:off x="1757" y="385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10" name="Line 109"/>
            <p:cNvSpPr>
              <a:spLocks noChangeShapeType="1"/>
            </p:cNvSpPr>
            <p:nvPr/>
          </p:nvSpPr>
          <p:spPr bwMode="auto">
            <a:xfrm>
              <a:off x="1763"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11" name="Freeform 110"/>
            <p:cNvSpPr>
              <a:spLocks/>
            </p:cNvSpPr>
            <p:nvPr/>
          </p:nvSpPr>
          <p:spPr bwMode="auto">
            <a:xfrm>
              <a:off x="1763" y="3856"/>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12" name="Line 111"/>
            <p:cNvSpPr>
              <a:spLocks noChangeShapeType="1"/>
            </p:cNvSpPr>
            <p:nvPr/>
          </p:nvSpPr>
          <p:spPr bwMode="auto">
            <a:xfrm>
              <a:off x="1768"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13" name="Line 112"/>
            <p:cNvSpPr>
              <a:spLocks noChangeShapeType="1"/>
            </p:cNvSpPr>
            <p:nvPr/>
          </p:nvSpPr>
          <p:spPr bwMode="auto">
            <a:xfrm>
              <a:off x="1768" y="3856"/>
              <a:ext cx="8"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14" name="Line 113"/>
            <p:cNvSpPr>
              <a:spLocks noChangeShapeType="1"/>
            </p:cNvSpPr>
            <p:nvPr/>
          </p:nvSpPr>
          <p:spPr bwMode="auto">
            <a:xfrm>
              <a:off x="1776" y="3856"/>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15" name="Line 114"/>
            <p:cNvSpPr>
              <a:spLocks noChangeShapeType="1"/>
            </p:cNvSpPr>
            <p:nvPr/>
          </p:nvSpPr>
          <p:spPr bwMode="auto">
            <a:xfrm>
              <a:off x="1781"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16" name="Freeform 115"/>
            <p:cNvSpPr>
              <a:spLocks/>
            </p:cNvSpPr>
            <p:nvPr/>
          </p:nvSpPr>
          <p:spPr bwMode="auto">
            <a:xfrm>
              <a:off x="1781" y="3856"/>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17" name="Line 116"/>
            <p:cNvSpPr>
              <a:spLocks noChangeShapeType="1"/>
            </p:cNvSpPr>
            <p:nvPr/>
          </p:nvSpPr>
          <p:spPr bwMode="auto">
            <a:xfrm>
              <a:off x="1787"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18" name="Freeform 117"/>
            <p:cNvSpPr>
              <a:spLocks/>
            </p:cNvSpPr>
            <p:nvPr/>
          </p:nvSpPr>
          <p:spPr bwMode="auto">
            <a:xfrm>
              <a:off x="1787" y="3856"/>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19" name="Line 118"/>
            <p:cNvSpPr>
              <a:spLocks noChangeShapeType="1"/>
            </p:cNvSpPr>
            <p:nvPr/>
          </p:nvSpPr>
          <p:spPr bwMode="auto">
            <a:xfrm>
              <a:off x="1794" y="385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20" name="Line 119"/>
            <p:cNvSpPr>
              <a:spLocks noChangeShapeType="1"/>
            </p:cNvSpPr>
            <p:nvPr/>
          </p:nvSpPr>
          <p:spPr bwMode="auto">
            <a:xfrm>
              <a:off x="1794" y="385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21" name="Line 120"/>
            <p:cNvSpPr>
              <a:spLocks noChangeShapeType="1"/>
            </p:cNvSpPr>
            <p:nvPr/>
          </p:nvSpPr>
          <p:spPr bwMode="auto">
            <a:xfrm>
              <a:off x="1800" y="3856"/>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22" name="Freeform 121"/>
            <p:cNvSpPr>
              <a:spLocks/>
            </p:cNvSpPr>
            <p:nvPr/>
          </p:nvSpPr>
          <p:spPr bwMode="auto">
            <a:xfrm>
              <a:off x="1806" y="3848"/>
              <a:ext cx="0" cy="8"/>
            </a:xfrm>
            <a:custGeom>
              <a:avLst/>
              <a:gdLst>
                <a:gd name="T0" fmla="*/ 256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23" name="Freeform 122"/>
            <p:cNvSpPr>
              <a:spLocks/>
            </p:cNvSpPr>
            <p:nvPr/>
          </p:nvSpPr>
          <p:spPr bwMode="auto">
            <a:xfrm>
              <a:off x="1806" y="3848"/>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24" name="Line 123"/>
            <p:cNvSpPr>
              <a:spLocks noChangeShapeType="1"/>
            </p:cNvSpPr>
            <p:nvPr/>
          </p:nvSpPr>
          <p:spPr bwMode="auto">
            <a:xfrm>
              <a:off x="1813" y="38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25" name="Line 124"/>
            <p:cNvSpPr>
              <a:spLocks noChangeShapeType="1"/>
            </p:cNvSpPr>
            <p:nvPr/>
          </p:nvSpPr>
          <p:spPr bwMode="auto">
            <a:xfrm>
              <a:off x="1813" y="3848"/>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26" name="Line 125"/>
            <p:cNvSpPr>
              <a:spLocks noChangeShapeType="1"/>
            </p:cNvSpPr>
            <p:nvPr/>
          </p:nvSpPr>
          <p:spPr bwMode="auto">
            <a:xfrm>
              <a:off x="1819" y="38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27" name="Line 126"/>
            <p:cNvSpPr>
              <a:spLocks noChangeShapeType="1"/>
            </p:cNvSpPr>
            <p:nvPr/>
          </p:nvSpPr>
          <p:spPr bwMode="auto">
            <a:xfrm>
              <a:off x="1824" y="38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28" name="Freeform 127"/>
            <p:cNvSpPr>
              <a:spLocks/>
            </p:cNvSpPr>
            <p:nvPr/>
          </p:nvSpPr>
          <p:spPr bwMode="auto">
            <a:xfrm>
              <a:off x="1824" y="3848"/>
              <a:ext cx="8" cy="0"/>
            </a:xfrm>
            <a:custGeom>
              <a:avLst/>
              <a:gdLst>
                <a:gd name="T0" fmla="*/ 0 w 5"/>
                <a:gd name="T1" fmla="*/ 0 w 5"/>
                <a:gd name="T2" fmla="*/ 86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29" name="Line 128"/>
            <p:cNvSpPr>
              <a:spLocks noChangeShapeType="1"/>
            </p:cNvSpPr>
            <p:nvPr/>
          </p:nvSpPr>
          <p:spPr bwMode="auto">
            <a:xfrm>
              <a:off x="1832" y="38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30" name="Freeform 129"/>
            <p:cNvSpPr>
              <a:spLocks/>
            </p:cNvSpPr>
            <p:nvPr/>
          </p:nvSpPr>
          <p:spPr bwMode="auto">
            <a:xfrm>
              <a:off x="1832" y="3848"/>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31" name="Line 130"/>
            <p:cNvSpPr>
              <a:spLocks noChangeShapeType="1"/>
            </p:cNvSpPr>
            <p:nvPr/>
          </p:nvSpPr>
          <p:spPr bwMode="auto">
            <a:xfrm>
              <a:off x="1837" y="38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32" name="Line 131"/>
            <p:cNvSpPr>
              <a:spLocks noChangeShapeType="1"/>
            </p:cNvSpPr>
            <p:nvPr/>
          </p:nvSpPr>
          <p:spPr bwMode="auto">
            <a:xfrm>
              <a:off x="1837" y="3848"/>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33" name="Freeform 132"/>
            <p:cNvSpPr>
              <a:spLocks/>
            </p:cNvSpPr>
            <p:nvPr/>
          </p:nvSpPr>
          <p:spPr bwMode="auto">
            <a:xfrm>
              <a:off x="1843" y="3839"/>
              <a:ext cx="7" cy="9"/>
            </a:xfrm>
            <a:custGeom>
              <a:avLst/>
              <a:gdLst>
                <a:gd name="T0" fmla="*/ 0 w 5"/>
                <a:gd name="T1" fmla="*/ 511 h 4"/>
                <a:gd name="T2" fmla="*/ 39 w 5"/>
                <a:gd name="T3" fmla="*/ 0 h 4"/>
                <a:gd name="T4" fmla="*/ 39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34" name="Line 133"/>
            <p:cNvSpPr>
              <a:spLocks noChangeShapeType="1"/>
            </p:cNvSpPr>
            <p:nvPr/>
          </p:nvSpPr>
          <p:spPr bwMode="auto">
            <a:xfrm>
              <a:off x="1850" y="383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35" name="Freeform 134"/>
            <p:cNvSpPr>
              <a:spLocks/>
            </p:cNvSpPr>
            <p:nvPr/>
          </p:nvSpPr>
          <p:spPr bwMode="auto">
            <a:xfrm>
              <a:off x="1850" y="3839"/>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36" name="Line 135"/>
            <p:cNvSpPr>
              <a:spLocks noChangeShapeType="1"/>
            </p:cNvSpPr>
            <p:nvPr/>
          </p:nvSpPr>
          <p:spPr bwMode="auto">
            <a:xfrm>
              <a:off x="1856" y="383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37" name="Line 136"/>
            <p:cNvSpPr>
              <a:spLocks noChangeShapeType="1"/>
            </p:cNvSpPr>
            <p:nvPr/>
          </p:nvSpPr>
          <p:spPr bwMode="auto">
            <a:xfrm>
              <a:off x="1856" y="3839"/>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38" name="Line 137"/>
            <p:cNvSpPr>
              <a:spLocks noChangeShapeType="1"/>
            </p:cNvSpPr>
            <p:nvPr/>
          </p:nvSpPr>
          <p:spPr bwMode="auto">
            <a:xfrm>
              <a:off x="1863" y="3839"/>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39" name="Line 138"/>
            <p:cNvSpPr>
              <a:spLocks noChangeShapeType="1"/>
            </p:cNvSpPr>
            <p:nvPr/>
          </p:nvSpPr>
          <p:spPr bwMode="auto">
            <a:xfrm>
              <a:off x="1869" y="383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40" name="Freeform 139"/>
            <p:cNvSpPr>
              <a:spLocks/>
            </p:cNvSpPr>
            <p:nvPr/>
          </p:nvSpPr>
          <p:spPr bwMode="auto">
            <a:xfrm>
              <a:off x="1869" y="3839"/>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41" name="Line 140"/>
            <p:cNvSpPr>
              <a:spLocks noChangeShapeType="1"/>
            </p:cNvSpPr>
            <p:nvPr/>
          </p:nvSpPr>
          <p:spPr bwMode="auto">
            <a:xfrm>
              <a:off x="1875" y="383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42" name="Freeform 141"/>
            <p:cNvSpPr>
              <a:spLocks/>
            </p:cNvSpPr>
            <p:nvPr/>
          </p:nvSpPr>
          <p:spPr bwMode="auto">
            <a:xfrm>
              <a:off x="1875" y="3829"/>
              <a:ext cx="7" cy="10"/>
            </a:xfrm>
            <a:custGeom>
              <a:avLst/>
              <a:gdLst>
                <a:gd name="T0" fmla="*/ 0 w 5"/>
                <a:gd name="T1" fmla="*/ 320 h 5"/>
                <a:gd name="T2" fmla="*/ 0 w 5"/>
                <a:gd name="T3" fmla="*/ 0 h 5"/>
                <a:gd name="T4" fmla="*/ 39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43" name="Line 142"/>
            <p:cNvSpPr>
              <a:spLocks noChangeShapeType="1"/>
            </p:cNvSpPr>
            <p:nvPr/>
          </p:nvSpPr>
          <p:spPr bwMode="auto">
            <a:xfrm>
              <a:off x="1882" y="382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44" name="Line 143"/>
            <p:cNvSpPr>
              <a:spLocks noChangeShapeType="1"/>
            </p:cNvSpPr>
            <p:nvPr/>
          </p:nvSpPr>
          <p:spPr bwMode="auto">
            <a:xfrm>
              <a:off x="1882" y="3829"/>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45" name="Line 144"/>
            <p:cNvSpPr>
              <a:spLocks noChangeShapeType="1"/>
            </p:cNvSpPr>
            <p:nvPr/>
          </p:nvSpPr>
          <p:spPr bwMode="auto">
            <a:xfrm>
              <a:off x="1888" y="382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46" name="Line 145"/>
            <p:cNvSpPr>
              <a:spLocks noChangeShapeType="1"/>
            </p:cNvSpPr>
            <p:nvPr/>
          </p:nvSpPr>
          <p:spPr bwMode="auto">
            <a:xfrm>
              <a:off x="1893" y="382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47" name="Freeform 146"/>
            <p:cNvSpPr>
              <a:spLocks/>
            </p:cNvSpPr>
            <p:nvPr/>
          </p:nvSpPr>
          <p:spPr bwMode="auto">
            <a:xfrm>
              <a:off x="1893" y="3829"/>
              <a:ext cx="8" cy="0"/>
            </a:xfrm>
            <a:custGeom>
              <a:avLst/>
              <a:gdLst>
                <a:gd name="T0" fmla="*/ 0 w 5"/>
                <a:gd name="T1" fmla="*/ 0 w 5"/>
                <a:gd name="T2" fmla="*/ 86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48" name="Line 147"/>
            <p:cNvSpPr>
              <a:spLocks noChangeShapeType="1"/>
            </p:cNvSpPr>
            <p:nvPr/>
          </p:nvSpPr>
          <p:spPr bwMode="auto">
            <a:xfrm>
              <a:off x="1901" y="382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49" name="Freeform 148"/>
            <p:cNvSpPr>
              <a:spLocks/>
            </p:cNvSpPr>
            <p:nvPr/>
          </p:nvSpPr>
          <p:spPr bwMode="auto">
            <a:xfrm>
              <a:off x="1901" y="3821"/>
              <a:ext cx="5" cy="8"/>
            </a:xfrm>
            <a:custGeom>
              <a:avLst/>
              <a:gdLst>
                <a:gd name="T0" fmla="*/ 0 w 4"/>
                <a:gd name="T1" fmla="*/ 256 h 4"/>
                <a:gd name="T2" fmla="*/ 0 w 4"/>
                <a:gd name="T3" fmla="*/ 0 h 4"/>
                <a:gd name="T4" fmla="*/ 16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50" name="Line 149"/>
            <p:cNvSpPr>
              <a:spLocks noChangeShapeType="1"/>
            </p:cNvSpPr>
            <p:nvPr/>
          </p:nvSpPr>
          <p:spPr bwMode="auto">
            <a:xfrm>
              <a:off x="1906" y="3821"/>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51" name="Line 150"/>
            <p:cNvSpPr>
              <a:spLocks noChangeShapeType="1"/>
            </p:cNvSpPr>
            <p:nvPr/>
          </p:nvSpPr>
          <p:spPr bwMode="auto">
            <a:xfrm>
              <a:off x="1912" y="382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52" name="Freeform 151"/>
            <p:cNvSpPr>
              <a:spLocks/>
            </p:cNvSpPr>
            <p:nvPr/>
          </p:nvSpPr>
          <p:spPr bwMode="auto">
            <a:xfrm>
              <a:off x="1912" y="3821"/>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53" name="Line 152"/>
            <p:cNvSpPr>
              <a:spLocks noChangeShapeType="1"/>
            </p:cNvSpPr>
            <p:nvPr/>
          </p:nvSpPr>
          <p:spPr bwMode="auto">
            <a:xfrm>
              <a:off x="1919" y="382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54" name="Freeform 153"/>
            <p:cNvSpPr>
              <a:spLocks/>
            </p:cNvSpPr>
            <p:nvPr/>
          </p:nvSpPr>
          <p:spPr bwMode="auto">
            <a:xfrm>
              <a:off x="1919" y="3821"/>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55" name="Freeform 154"/>
            <p:cNvSpPr>
              <a:spLocks/>
            </p:cNvSpPr>
            <p:nvPr/>
          </p:nvSpPr>
          <p:spPr bwMode="auto">
            <a:xfrm>
              <a:off x="1925" y="3813"/>
              <a:ext cx="0" cy="8"/>
            </a:xfrm>
            <a:custGeom>
              <a:avLst/>
              <a:gdLst>
                <a:gd name="T0" fmla="*/ 256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56" name="Line 155"/>
            <p:cNvSpPr>
              <a:spLocks noChangeShapeType="1"/>
            </p:cNvSpPr>
            <p:nvPr/>
          </p:nvSpPr>
          <p:spPr bwMode="auto">
            <a:xfrm>
              <a:off x="1925" y="3813"/>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57" name="Line 156"/>
            <p:cNvSpPr>
              <a:spLocks noChangeShapeType="1"/>
            </p:cNvSpPr>
            <p:nvPr/>
          </p:nvSpPr>
          <p:spPr bwMode="auto">
            <a:xfrm>
              <a:off x="1931" y="3813"/>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58" name="Line 157"/>
            <p:cNvSpPr>
              <a:spLocks noChangeShapeType="1"/>
            </p:cNvSpPr>
            <p:nvPr/>
          </p:nvSpPr>
          <p:spPr bwMode="auto">
            <a:xfrm>
              <a:off x="1938" y="381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59" name="Freeform 158"/>
            <p:cNvSpPr>
              <a:spLocks/>
            </p:cNvSpPr>
            <p:nvPr/>
          </p:nvSpPr>
          <p:spPr bwMode="auto">
            <a:xfrm>
              <a:off x="1938" y="3813"/>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60" name="Line 159"/>
            <p:cNvSpPr>
              <a:spLocks noChangeShapeType="1"/>
            </p:cNvSpPr>
            <p:nvPr/>
          </p:nvSpPr>
          <p:spPr bwMode="auto">
            <a:xfrm>
              <a:off x="1944" y="381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61" name="Freeform 160"/>
            <p:cNvSpPr>
              <a:spLocks/>
            </p:cNvSpPr>
            <p:nvPr/>
          </p:nvSpPr>
          <p:spPr bwMode="auto">
            <a:xfrm>
              <a:off x="1944" y="3803"/>
              <a:ext cx="5" cy="10"/>
            </a:xfrm>
            <a:custGeom>
              <a:avLst/>
              <a:gdLst>
                <a:gd name="T0" fmla="*/ 0 w 4"/>
                <a:gd name="T1" fmla="*/ 320 h 5"/>
                <a:gd name="T2" fmla="*/ 0 w 4"/>
                <a:gd name="T3" fmla="*/ 0 h 5"/>
                <a:gd name="T4" fmla="*/ 16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62" name="Line 161"/>
            <p:cNvSpPr>
              <a:spLocks noChangeShapeType="1"/>
            </p:cNvSpPr>
            <p:nvPr/>
          </p:nvSpPr>
          <p:spPr bwMode="auto">
            <a:xfrm>
              <a:off x="1949" y="3803"/>
              <a:ext cx="8"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63" name="Line 162"/>
            <p:cNvSpPr>
              <a:spLocks noChangeShapeType="1"/>
            </p:cNvSpPr>
            <p:nvPr/>
          </p:nvSpPr>
          <p:spPr bwMode="auto">
            <a:xfrm>
              <a:off x="1957" y="380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64" name="Freeform 163"/>
            <p:cNvSpPr>
              <a:spLocks/>
            </p:cNvSpPr>
            <p:nvPr/>
          </p:nvSpPr>
          <p:spPr bwMode="auto">
            <a:xfrm>
              <a:off x="1957" y="3803"/>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65" name="Line 164"/>
            <p:cNvSpPr>
              <a:spLocks noChangeShapeType="1"/>
            </p:cNvSpPr>
            <p:nvPr/>
          </p:nvSpPr>
          <p:spPr bwMode="auto">
            <a:xfrm>
              <a:off x="1962" y="380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66" name="Freeform 165"/>
            <p:cNvSpPr>
              <a:spLocks/>
            </p:cNvSpPr>
            <p:nvPr/>
          </p:nvSpPr>
          <p:spPr bwMode="auto">
            <a:xfrm>
              <a:off x="1962" y="3795"/>
              <a:ext cx="6" cy="8"/>
            </a:xfrm>
            <a:custGeom>
              <a:avLst/>
              <a:gdLst>
                <a:gd name="T0" fmla="*/ 0 w 4"/>
                <a:gd name="T1" fmla="*/ 256 h 4"/>
                <a:gd name="T2" fmla="*/ 0 w 4"/>
                <a:gd name="T3" fmla="*/ 0 h 4"/>
                <a:gd name="T4" fmla="*/ 48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67" name="Line 166"/>
            <p:cNvSpPr>
              <a:spLocks noChangeShapeType="1"/>
            </p:cNvSpPr>
            <p:nvPr/>
          </p:nvSpPr>
          <p:spPr bwMode="auto">
            <a:xfrm>
              <a:off x="1968" y="379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68" name="Line 167"/>
            <p:cNvSpPr>
              <a:spLocks noChangeShapeType="1"/>
            </p:cNvSpPr>
            <p:nvPr/>
          </p:nvSpPr>
          <p:spPr bwMode="auto">
            <a:xfrm>
              <a:off x="1968" y="3795"/>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69" name="Line 168"/>
            <p:cNvSpPr>
              <a:spLocks noChangeShapeType="1"/>
            </p:cNvSpPr>
            <p:nvPr/>
          </p:nvSpPr>
          <p:spPr bwMode="auto">
            <a:xfrm>
              <a:off x="1975" y="3795"/>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70" name="Freeform 169"/>
            <p:cNvSpPr>
              <a:spLocks/>
            </p:cNvSpPr>
            <p:nvPr/>
          </p:nvSpPr>
          <p:spPr bwMode="auto">
            <a:xfrm>
              <a:off x="1981" y="3787"/>
              <a:ext cx="0" cy="8"/>
            </a:xfrm>
            <a:custGeom>
              <a:avLst/>
              <a:gdLst>
                <a:gd name="T0" fmla="*/ 256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71" name="Freeform 170"/>
            <p:cNvSpPr>
              <a:spLocks/>
            </p:cNvSpPr>
            <p:nvPr/>
          </p:nvSpPr>
          <p:spPr bwMode="auto">
            <a:xfrm>
              <a:off x="1981" y="3787"/>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72" name="Line 171"/>
            <p:cNvSpPr>
              <a:spLocks noChangeShapeType="1"/>
            </p:cNvSpPr>
            <p:nvPr/>
          </p:nvSpPr>
          <p:spPr bwMode="auto">
            <a:xfrm>
              <a:off x="1987" y="37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73" name="Line 172"/>
            <p:cNvSpPr>
              <a:spLocks noChangeShapeType="1"/>
            </p:cNvSpPr>
            <p:nvPr/>
          </p:nvSpPr>
          <p:spPr bwMode="auto">
            <a:xfrm>
              <a:off x="1987" y="3787"/>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74" name="Freeform 173"/>
            <p:cNvSpPr>
              <a:spLocks/>
            </p:cNvSpPr>
            <p:nvPr/>
          </p:nvSpPr>
          <p:spPr bwMode="auto">
            <a:xfrm>
              <a:off x="1994" y="3777"/>
              <a:ext cx="6" cy="10"/>
            </a:xfrm>
            <a:custGeom>
              <a:avLst/>
              <a:gdLst>
                <a:gd name="T0" fmla="*/ 0 w 4"/>
                <a:gd name="T1" fmla="*/ 320 h 5"/>
                <a:gd name="T2" fmla="*/ 48 w 4"/>
                <a:gd name="T3" fmla="*/ 0 h 5"/>
                <a:gd name="T4" fmla="*/ 48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75" name="Line 174"/>
            <p:cNvSpPr>
              <a:spLocks noChangeShapeType="1"/>
            </p:cNvSpPr>
            <p:nvPr/>
          </p:nvSpPr>
          <p:spPr bwMode="auto">
            <a:xfrm>
              <a:off x="2000" y="377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76" name="Freeform 175"/>
            <p:cNvSpPr>
              <a:spLocks/>
            </p:cNvSpPr>
            <p:nvPr/>
          </p:nvSpPr>
          <p:spPr bwMode="auto">
            <a:xfrm>
              <a:off x="2000" y="3777"/>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77" name="Line 176"/>
            <p:cNvSpPr>
              <a:spLocks noChangeShapeType="1"/>
            </p:cNvSpPr>
            <p:nvPr/>
          </p:nvSpPr>
          <p:spPr bwMode="auto">
            <a:xfrm>
              <a:off x="2006" y="377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78" name="Freeform 177"/>
            <p:cNvSpPr>
              <a:spLocks/>
            </p:cNvSpPr>
            <p:nvPr/>
          </p:nvSpPr>
          <p:spPr bwMode="auto">
            <a:xfrm>
              <a:off x="2006" y="3768"/>
              <a:ext cx="7" cy="9"/>
            </a:xfrm>
            <a:custGeom>
              <a:avLst/>
              <a:gdLst>
                <a:gd name="T0" fmla="*/ 0 w 5"/>
                <a:gd name="T1" fmla="*/ 511 h 4"/>
                <a:gd name="T2" fmla="*/ 0 w 5"/>
                <a:gd name="T3" fmla="*/ 0 h 4"/>
                <a:gd name="T4" fmla="*/ 39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79" name="Line 178"/>
            <p:cNvSpPr>
              <a:spLocks noChangeShapeType="1"/>
            </p:cNvSpPr>
            <p:nvPr/>
          </p:nvSpPr>
          <p:spPr bwMode="auto">
            <a:xfrm>
              <a:off x="2013" y="376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80" name="Line 179"/>
            <p:cNvSpPr>
              <a:spLocks noChangeShapeType="1"/>
            </p:cNvSpPr>
            <p:nvPr/>
          </p:nvSpPr>
          <p:spPr bwMode="auto">
            <a:xfrm>
              <a:off x="2018" y="376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81" name="Freeform 180"/>
            <p:cNvSpPr>
              <a:spLocks/>
            </p:cNvSpPr>
            <p:nvPr/>
          </p:nvSpPr>
          <p:spPr bwMode="auto">
            <a:xfrm>
              <a:off x="2018" y="3760"/>
              <a:ext cx="6" cy="8"/>
            </a:xfrm>
            <a:custGeom>
              <a:avLst/>
              <a:gdLst>
                <a:gd name="T0" fmla="*/ 0 w 4"/>
                <a:gd name="T1" fmla="*/ 256 h 4"/>
                <a:gd name="T2" fmla="*/ 0 w 4"/>
                <a:gd name="T3" fmla="*/ 0 h 4"/>
                <a:gd name="T4" fmla="*/ 48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82" name="Line 181"/>
            <p:cNvSpPr>
              <a:spLocks noChangeShapeType="1"/>
            </p:cNvSpPr>
            <p:nvPr/>
          </p:nvSpPr>
          <p:spPr bwMode="auto">
            <a:xfrm>
              <a:off x="2024" y="376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83" name="Freeform 182"/>
            <p:cNvSpPr>
              <a:spLocks/>
            </p:cNvSpPr>
            <p:nvPr/>
          </p:nvSpPr>
          <p:spPr bwMode="auto">
            <a:xfrm>
              <a:off x="2024" y="3760"/>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84" name="Freeform 183"/>
            <p:cNvSpPr>
              <a:spLocks/>
            </p:cNvSpPr>
            <p:nvPr/>
          </p:nvSpPr>
          <p:spPr bwMode="auto">
            <a:xfrm>
              <a:off x="2031" y="3750"/>
              <a:ext cx="0" cy="10"/>
            </a:xfrm>
            <a:custGeom>
              <a:avLst/>
              <a:gdLst>
                <a:gd name="T0" fmla="*/ 320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85" name="Line 184"/>
            <p:cNvSpPr>
              <a:spLocks noChangeShapeType="1"/>
            </p:cNvSpPr>
            <p:nvPr/>
          </p:nvSpPr>
          <p:spPr bwMode="auto">
            <a:xfrm>
              <a:off x="2031" y="3750"/>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86" name="Line 185"/>
            <p:cNvSpPr>
              <a:spLocks noChangeShapeType="1"/>
            </p:cNvSpPr>
            <p:nvPr/>
          </p:nvSpPr>
          <p:spPr bwMode="auto">
            <a:xfrm>
              <a:off x="2037" y="3750"/>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87" name="Freeform 186"/>
            <p:cNvSpPr>
              <a:spLocks/>
            </p:cNvSpPr>
            <p:nvPr/>
          </p:nvSpPr>
          <p:spPr bwMode="auto">
            <a:xfrm>
              <a:off x="2043" y="3742"/>
              <a:ext cx="0" cy="8"/>
            </a:xfrm>
            <a:custGeom>
              <a:avLst/>
              <a:gdLst>
                <a:gd name="T0" fmla="*/ 256 h 4"/>
                <a:gd name="T1" fmla="*/ 0 h 4"/>
                <a:gd name="T2" fmla="*/ 0 h 4"/>
                <a:gd name="T3" fmla="*/ 0 60000 65536"/>
                <a:gd name="T4" fmla="*/ 0 60000 65536"/>
                <a:gd name="T5" fmla="*/ 0 60000 65536"/>
              </a:gdLst>
              <a:ahLst/>
              <a:cxnLst>
                <a:cxn ang="T3">
                  <a:pos x="0" y="T0"/>
                </a:cxn>
                <a:cxn ang="T4">
                  <a:pos x="0" y="T1"/>
                </a:cxn>
                <a:cxn ang="T5">
                  <a:pos x="0" y="T2"/>
                </a:cxn>
              </a:cxnLst>
              <a:rect l="0" t="0" r="r" b="b"/>
              <a:pathLst>
                <a:path h="4">
                  <a:moveTo>
                    <a:pt x="0" y="4"/>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88" name="Freeform 187"/>
            <p:cNvSpPr>
              <a:spLocks/>
            </p:cNvSpPr>
            <p:nvPr/>
          </p:nvSpPr>
          <p:spPr bwMode="auto">
            <a:xfrm>
              <a:off x="2043" y="3742"/>
              <a:ext cx="7" cy="0"/>
            </a:xfrm>
            <a:custGeom>
              <a:avLst/>
              <a:gdLst>
                <a:gd name="T0" fmla="*/ 0 w 5"/>
                <a:gd name="T1" fmla="*/ 0 w 5"/>
                <a:gd name="T2" fmla="*/ 39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89" name="Line 188"/>
            <p:cNvSpPr>
              <a:spLocks noChangeShapeType="1"/>
            </p:cNvSpPr>
            <p:nvPr/>
          </p:nvSpPr>
          <p:spPr bwMode="auto">
            <a:xfrm>
              <a:off x="2050" y="374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90" name="Freeform 189"/>
            <p:cNvSpPr>
              <a:spLocks/>
            </p:cNvSpPr>
            <p:nvPr/>
          </p:nvSpPr>
          <p:spPr bwMode="auto">
            <a:xfrm>
              <a:off x="2050" y="3734"/>
              <a:ext cx="6" cy="8"/>
            </a:xfrm>
            <a:custGeom>
              <a:avLst/>
              <a:gdLst>
                <a:gd name="T0" fmla="*/ 0 w 4"/>
                <a:gd name="T1" fmla="*/ 256 h 4"/>
                <a:gd name="T2" fmla="*/ 0 w 4"/>
                <a:gd name="T3" fmla="*/ 0 h 4"/>
                <a:gd name="T4" fmla="*/ 48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91" name="Line 190"/>
            <p:cNvSpPr>
              <a:spLocks noChangeShapeType="1"/>
            </p:cNvSpPr>
            <p:nvPr/>
          </p:nvSpPr>
          <p:spPr bwMode="auto">
            <a:xfrm>
              <a:off x="2056" y="373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92" name="Line 191"/>
            <p:cNvSpPr>
              <a:spLocks noChangeShapeType="1"/>
            </p:cNvSpPr>
            <p:nvPr/>
          </p:nvSpPr>
          <p:spPr bwMode="auto">
            <a:xfrm>
              <a:off x="2062" y="373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93" name="Freeform 192"/>
            <p:cNvSpPr>
              <a:spLocks/>
            </p:cNvSpPr>
            <p:nvPr/>
          </p:nvSpPr>
          <p:spPr bwMode="auto">
            <a:xfrm>
              <a:off x="2062" y="3724"/>
              <a:ext cx="7" cy="10"/>
            </a:xfrm>
            <a:custGeom>
              <a:avLst/>
              <a:gdLst>
                <a:gd name="T0" fmla="*/ 0 w 5"/>
                <a:gd name="T1" fmla="*/ 320 h 5"/>
                <a:gd name="T2" fmla="*/ 0 w 5"/>
                <a:gd name="T3" fmla="*/ 0 h 5"/>
                <a:gd name="T4" fmla="*/ 39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94" name="Line 193"/>
            <p:cNvSpPr>
              <a:spLocks noChangeShapeType="1"/>
            </p:cNvSpPr>
            <p:nvPr/>
          </p:nvSpPr>
          <p:spPr bwMode="auto">
            <a:xfrm>
              <a:off x="2069" y="372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95" name="Freeform 194"/>
            <p:cNvSpPr>
              <a:spLocks/>
            </p:cNvSpPr>
            <p:nvPr/>
          </p:nvSpPr>
          <p:spPr bwMode="auto">
            <a:xfrm>
              <a:off x="2069" y="3716"/>
              <a:ext cx="6" cy="8"/>
            </a:xfrm>
            <a:custGeom>
              <a:avLst/>
              <a:gdLst>
                <a:gd name="T0" fmla="*/ 0 w 4"/>
                <a:gd name="T1" fmla="*/ 256 h 4"/>
                <a:gd name="T2" fmla="*/ 0 w 4"/>
                <a:gd name="T3" fmla="*/ 0 h 4"/>
                <a:gd name="T4" fmla="*/ 48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96" name="Line 195"/>
            <p:cNvSpPr>
              <a:spLocks noChangeShapeType="1"/>
            </p:cNvSpPr>
            <p:nvPr/>
          </p:nvSpPr>
          <p:spPr bwMode="auto">
            <a:xfrm>
              <a:off x="2075" y="371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97" name="Line 196"/>
            <p:cNvSpPr>
              <a:spLocks noChangeShapeType="1"/>
            </p:cNvSpPr>
            <p:nvPr/>
          </p:nvSpPr>
          <p:spPr bwMode="auto">
            <a:xfrm>
              <a:off x="2075" y="3716"/>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698" name="Freeform 197"/>
            <p:cNvSpPr>
              <a:spLocks/>
            </p:cNvSpPr>
            <p:nvPr/>
          </p:nvSpPr>
          <p:spPr bwMode="auto">
            <a:xfrm>
              <a:off x="2080" y="3707"/>
              <a:ext cx="7" cy="9"/>
            </a:xfrm>
            <a:custGeom>
              <a:avLst/>
              <a:gdLst>
                <a:gd name="T0" fmla="*/ 0 w 5"/>
                <a:gd name="T1" fmla="*/ 511 h 4"/>
                <a:gd name="T2" fmla="*/ 39 w 5"/>
                <a:gd name="T3" fmla="*/ 0 h 4"/>
                <a:gd name="T4" fmla="*/ 39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699" name="Line 198"/>
            <p:cNvSpPr>
              <a:spLocks noChangeShapeType="1"/>
            </p:cNvSpPr>
            <p:nvPr/>
          </p:nvSpPr>
          <p:spPr bwMode="auto">
            <a:xfrm>
              <a:off x="2087" y="370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00" name="Freeform 199"/>
            <p:cNvSpPr>
              <a:spLocks/>
            </p:cNvSpPr>
            <p:nvPr/>
          </p:nvSpPr>
          <p:spPr bwMode="auto">
            <a:xfrm>
              <a:off x="2087" y="3697"/>
              <a:ext cx="6" cy="10"/>
            </a:xfrm>
            <a:custGeom>
              <a:avLst/>
              <a:gdLst>
                <a:gd name="T0" fmla="*/ 0 w 4"/>
                <a:gd name="T1" fmla="*/ 320 h 5"/>
                <a:gd name="T2" fmla="*/ 0 w 4"/>
                <a:gd name="T3" fmla="*/ 0 h 5"/>
                <a:gd name="T4" fmla="*/ 48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01" name="Line 200"/>
            <p:cNvSpPr>
              <a:spLocks noChangeShapeType="1"/>
            </p:cNvSpPr>
            <p:nvPr/>
          </p:nvSpPr>
          <p:spPr bwMode="auto">
            <a:xfrm>
              <a:off x="2093" y="369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02" name="Freeform 201"/>
            <p:cNvSpPr>
              <a:spLocks/>
            </p:cNvSpPr>
            <p:nvPr/>
          </p:nvSpPr>
          <p:spPr bwMode="auto">
            <a:xfrm>
              <a:off x="2093" y="3689"/>
              <a:ext cx="6" cy="8"/>
            </a:xfrm>
            <a:custGeom>
              <a:avLst/>
              <a:gdLst>
                <a:gd name="T0" fmla="*/ 0 w 4"/>
                <a:gd name="T1" fmla="*/ 256 h 4"/>
                <a:gd name="T2" fmla="*/ 0 w 4"/>
                <a:gd name="T3" fmla="*/ 0 h 4"/>
                <a:gd name="T4" fmla="*/ 48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03" name="Line 202"/>
            <p:cNvSpPr>
              <a:spLocks noChangeShapeType="1"/>
            </p:cNvSpPr>
            <p:nvPr/>
          </p:nvSpPr>
          <p:spPr bwMode="auto">
            <a:xfrm>
              <a:off x="2099" y="3689"/>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04" name="Freeform 203"/>
            <p:cNvSpPr>
              <a:spLocks/>
            </p:cNvSpPr>
            <p:nvPr/>
          </p:nvSpPr>
          <p:spPr bwMode="auto">
            <a:xfrm>
              <a:off x="2106" y="3679"/>
              <a:ext cx="0" cy="10"/>
            </a:xfrm>
            <a:custGeom>
              <a:avLst/>
              <a:gdLst>
                <a:gd name="T0" fmla="*/ 320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05" name="Freeform 204"/>
            <p:cNvSpPr>
              <a:spLocks/>
            </p:cNvSpPr>
            <p:nvPr/>
          </p:nvSpPr>
          <p:spPr bwMode="auto">
            <a:xfrm>
              <a:off x="2106" y="3679"/>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06" name="Line 205"/>
            <p:cNvSpPr>
              <a:spLocks noChangeShapeType="1"/>
            </p:cNvSpPr>
            <p:nvPr/>
          </p:nvSpPr>
          <p:spPr bwMode="auto">
            <a:xfrm>
              <a:off x="2112" y="36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07" name="Freeform 206"/>
            <p:cNvSpPr>
              <a:spLocks/>
            </p:cNvSpPr>
            <p:nvPr/>
          </p:nvSpPr>
          <p:spPr bwMode="auto">
            <a:xfrm>
              <a:off x="2112" y="3671"/>
              <a:ext cx="7" cy="8"/>
            </a:xfrm>
            <a:custGeom>
              <a:avLst/>
              <a:gdLst>
                <a:gd name="T0" fmla="*/ 0 w 5"/>
                <a:gd name="T1" fmla="*/ 256 h 4"/>
                <a:gd name="T2" fmla="*/ 0 w 5"/>
                <a:gd name="T3" fmla="*/ 0 h 4"/>
                <a:gd name="T4" fmla="*/ 39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08" name="Line 207"/>
            <p:cNvSpPr>
              <a:spLocks noChangeShapeType="1"/>
            </p:cNvSpPr>
            <p:nvPr/>
          </p:nvSpPr>
          <p:spPr bwMode="auto">
            <a:xfrm>
              <a:off x="2119" y="367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09" name="Line 208"/>
            <p:cNvSpPr>
              <a:spLocks noChangeShapeType="1"/>
            </p:cNvSpPr>
            <p:nvPr/>
          </p:nvSpPr>
          <p:spPr bwMode="auto">
            <a:xfrm flipV="1">
              <a:off x="2119" y="3663"/>
              <a:ext cx="6"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10" name="Line 209"/>
            <p:cNvSpPr>
              <a:spLocks noChangeShapeType="1"/>
            </p:cNvSpPr>
            <p:nvPr/>
          </p:nvSpPr>
          <p:spPr bwMode="auto">
            <a:xfrm flipV="1">
              <a:off x="2125" y="3653"/>
              <a:ext cx="6" cy="1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15711" name="Group 210"/>
            <p:cNvGrpSpPr>
              <a:grpSpLocks/>
            </p:cNvGrpSpPr>
            <p:nvPr/>
          </p:nvGrpSpPr>
          <p:grpSpPr bwMode="auto">
            <a:xfrm>
              <a:off x="2131" y="1802"/>
              <a:ext cx="724" cy="1851"/>
              <a:chOff x="2629" y="763"/>
              <a:chExt cx="504" cy="911"/>
            </a:xfrm>
          </p:grpSpPr>
          <p:sp>
            <p:nvSpPr>
              <p:cNvPr id="16126" name="Line 211"/>
              <p:cNvSpPr>
                <a:spLocks noChangeShapeType="1"/>
              </p:cNvSpPr>
              <p:nvPr/>
            </p:nvSpPr>
            <p:spPr bwMode="auto">
              <a:xfrm>
                <a:off x="2629" y="16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27" name="Freeform 212"/>
              <p:cNvSpPr>
                <a:spLocks/>
              </p:cNvSpPr>
              <p:nvPr/>
            </p:nvSpPr>
            <p:spPr bwMode="auto">
              <a:xfrm>
                <a:off x="2629" y="1670"/>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28" name="Line 213"/>
              <p:cNvSpPr>
                <a:spLocks noChangeShapeType="1"/>
              </p:cNvSpPr>
              <p:nvPr/>
            </p:nvSpPr>
            <p:spPr bwMode="auto">
              <a:xfrm>
                <a:off x="2634" y="16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29" name="Freeform 214"/>
              <p:cNvSpPr>
                <a:spLocks/>
              </p:cNvSpPr>
              <p:nvPr/>
            </p:nvSpPr>
            <p:spPr bwMode="auto">
              <a:xfrm>
                <a:off x="2634" y="1666"/>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30" name="Line 215"/>
              <p:cNvSpPr>
                <a:spLocks noChangeShapeType="1"/>
              </p:cNvSpPr>
              <p:nvPr/>
            </p:nvSpPr>
            <p:spPr bwMode="auto">
              <a:xfrm>
                <a:off x="2638" y="166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31" name="Freeform 216"/>
              <p:cNvSpPr>
                <a:spLocks/>
              </p:cNvSpPr>
              <p:nvPr/>
            </p:nvSpPr>
            <p:spPr bwMode="auto">
              <a:xfrm>
                <a:off x="2642" y="1661"/>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32" name="Freeform 217"/>
              <p:cNvSpPr>
                <a:spLocks/>
              </p:cNvSpPr>
              <p:nvPr/>
            </p:nvSpPr>
            <p:spPr bwMode="auto">
              <a:xfrm>
                <a:off x="2642" y="16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33" name="Line 218"/>
              <p:cNvSpPr>
                <a:spLocks noChangeShapeType="1"/>
              </p:cNvSpPr>
              <p:nvPr/>
            </p:nvSpPr>
            <p:spPr bwMode="auto">
              <a:xfrm flipV="1">
                <a:off x="2647" y="165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34" name="Freeform 219"/>
              <p:cNvSpPr>
                <a:spLocks/>
              </p:cNvSpPr>
              <p:nvPr/>
            </p:nvSpPr>
            <p:spPr bwMode="auto">
              <a:xfrm>
                <a:off x="2647" y="1653"/>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35" name="Line 220"/>
              <p:cNvSpPr>
                <a:spLocks noChangeShapeType="1"/>
              </p:cNvSpPr>
              <p:nvPr/>
            </p:nvSpPr>
            <p:spPr bwMode="auto">
              <a:xfrm>
                <a:off x="2651" y="16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36" name="Freeform 221"/>
              <p:cNvSpPr>
                <a:spLocks/>
              </p:cNvSpPr>
              <p:nvPr/>
            </p:nvSpPr>
            <p:spPr bwMode="auto">
              <a:xfrm>
                <a:off x="2651" y="1648"/>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37" name="Line 222"/>
              <p:cNvSpPr>
                <a:spLocks noChangeShapeType="1"/>
              </p:cNvSpPr>
              <p:nvPr/>
            </p:nvSpPr>
            <p:spPr bwMode="auto">
              <a:xfrm>
                <a:off x="2655" y="16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38" name="Line 223"/>
              <p:cNvSpPr>
                <a:spLocks noChangeShapeType="1"/>
              </p:cNvSpPr>
              <p:nvPr/>
            </p:nvSpPr>
            <p:spPr bwMode="auto">
              <a:xfrm flipV="1">
                <a:off x="2660" y="164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39" name="Freeform 224"/>
              <p:cNvSpPr>
                <a:spLocks/>
              </p:cNvSpPr>
              <p:nvPr/>
            </p:nvSpPr>
            <p:spPr bwMode="auto">
              <a:xfrm>
                <a:off x="2660" y="1640"/>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40" name="Line 225"/>
              <p:cNvSpPr>
                <a:spLocks noChangeShapeType="1"/>
              </p:cNvSpPr>
              <p:nvPr/>
            </p:nvSpPr>
            <p:spPr bwMode="auto">
              <a:xfrm>
                <a:off x="2664" y="164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41" name="Line 226"/>
              <p:cNvSpPr>
                <a:spLocks noChangeShapeType="1"/>
              </p:cNvSpPr>
              <p:nvPr/>
            </p:nvSpPr>
            <p:spPr bwMode="auto">
              <a:xfrm flipV="1">
                <a:off x="2664" y="163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42" name="Line 227"/>
              <p:cNvSpPr>
                <a:spLocks noChangeShapeType="1"/>
              </p:cNvSpPr>
              <p:nvPr/>
            </p:nvSpPr>
            <p:spPr bwMode="auto">
              <a:xfrm flipV="1">
                <a:off x="2668" y="1631"/>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43" name="Line 228"/>
              <p:cNvSpPr>
                <a:spLocks noChangeShapeType="1"/>
              </p:cNvSpPr>
              <p:nvPr/>
            </p:nvSpPr>
            <p:spPr bwMode="auto">
              <a:xfrm>
                <a:off x="2673" y="163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44" name="Freeform 229"/>
              <p:cNvSpPr>
                <a:spLocks/>
              </p:cNvSpPr>
              <p:nvPr/>
            </p:nvSpPr>
            <p:spPr bwMode="auto">
              <a:xfrm>
                <a:off x="2673" y="1627"/>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45" name="Line 230"/>
              <p:cNvSpPr>
                <a:spLocks noChangeShapeType="1"/>
              </p:cNvSpPr>
              <p:nvPr/>
            </p:nvSpPr>
            <p:spPr bwMode="auto">
              <a:xfrm flipV="1">
                <a:off x="2677" y="162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46" name="Freeform 231"/>
              <p:cNvSpPr>
                <a:spLocks/>
              </p:cNvSpPr>
              <p:nvPr/>
            </p:nvSpPr>
            <p:spPr bwMode="auto">
              <a:xfrm>
                <a:off x="2677" y="161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47" name="Line 232"/>
              <p:cNvSpPr>
                <a:spLocks noChangeShapeType="1"/>
              </p:cNvSpPr>
              <p:nvPr/>
            </p:nvSpPr>
            <p:spPr bwMode="auto">
              <a:xfrm>
                <a:off x="2681" y="161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48" name="Line 233"/>
              <p:cNvSpPr>
                <a:spLocks noChangeShapeType="1"/>
              </p:cNvSpPr>
              <p:nvPr/>
            </p:nvSpPr>
            <p:spPr bwMode="auto">
              <a:xfrm flipV="1">
                <a:off x="2681" y="161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49" name="Line 234"/>
              <p:cNvSpPr>
                <a:spLocks noChangeShapeType="1"/>
              </p:cNvSpPr>
              <p:nvPr/>
            </p:nvSpPr>
            <p:spPr bwMode="auto">
              <a:xfrm flipV="1">
                <a:off x="2686" y="160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50" name="Line 235"/>
              <p:cNvSpPr>
                <a:spLocks noChangeShapeType="1"/>
              </p:cNvSpPr>
              <p:nvPr/>
            </p:nvSpPr>
            <p:spPr bwMode="auto">
              <a:xfrm>
                <a:off x="2690" y="160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51" name="Freeform 236"/>
              <p:cNvSpPr>
                <a:spLocks/>
              </p:cNvSpPr>
              <p:nvPr/>
            </p:nvSpPr>
            <p:spPr bwMode="auto">
              <a:xfrm>
                <a:off x="2690" y="1605"/>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52" name="Line 237"/>
              <p:cNvSpPr>
                <a:spLocks noChangeShapeType="1"/>
              </p:cNvSpPr>
              <p:nvPr/>
            </p:nvSpPr>
            <p:spPr bwMode="auto">
              <a:xfrm flipV="1">
                <a:off x="2694" y="160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53" name="Line 238"/>
              <p:cNvSpPr>
                <a:spLocks noChangeShapeType="1"/>
              </p:cNvSpPr>
              <p:nvPr/>
            </p:nvSpPr>
            <p:spPr bwMode="auto">
              <a:xfrm flipV="1">
                <a:off x="2694" y="1596"/>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54" name="Line 239"/>
              <p:cNvSpPr>
                <a:spLocks noChangeShapeType="1"/>
              </p:cNvSpPr>
              <p:nvPr/>
            </p:nvSpPr>
            <p:spPr bwMode="auto">
              <a:xfrm flipV="1">
                <a:off x="2699" y="1592"/>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55" name="Line 240"/>
              <p:cNvSpPr>
                <a:spLocks noChangeShapeType="1"/>
              </p:cNvSpPr>
              <p:nvPr/>
            </p:nvSpPr>
            <p:spPr bwMode="auto">
              <a:xfrm>
                <a:off x="2703" y="159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56" name="Freeform 241"/>
              <p:cNvSpPr>
                <a:spLocks/>
              </p:cNvSpPr>
              <p:nvPr/>
            </p:nvSpPr>
            <p:spPr bwMode="auto">
              <a:xfrm>
                <a:off x="2703" y="1588"/>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57" name="Line 242"/>
              <p:cNvSpPr>
                <a:spLocks noChangeShapeType="1"/>
              </p:cNvSpPr>
              <p:nvPr/>
            </p:nvSpPr>
            <p:spPr bwMode="auto">
              <a:xfrm flipV="1">
                <a:off x="2707" y="15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58" name="Freeform 243"/>
              <p:cNvSpPr>
                <a:spLocks/>
              </p:cNvSpPr>
              <p:nvPr/>
            </p:nvSpPr>
            <p:spPr bwMode="auto">
              <a:xfrm>
                <a:off x="2707" y="1579"/>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59" name="Line 244"/>
              <p:cNvSpPr>
                <a:spLocks noChangeShapeType="1"/>
              </p:cNvSpPr>
              <p:nvPr/>
            </p:nvSpPr>
            <p:spPr bwMode="auto">
              <a:xfrm flipV="1">
                <a:off x="2712" y="15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60" name="Line 245"/>
              <p:cNvSpPr>
                <a:spLocks noChangeShapeType="1"/>
              </p:cNvSpPr>
              <p:nvPr/>
            </p:nvSpPr>
            <p:spPr bwMode="auto">
              <a:xfrm flipV="1">
                <a:off x="2712" y="157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61" name="Line 246"/>
              <p:cNvSpPr>
                <a:spLocks noChangeShapeType="1"/>
              </p:cNvSpPr>
              <p:nvPr/>
            </p:nvSpPr>
            <p:spPr bwMode="auto">
              <a:xfrm>
                <a:off x="2716" y="15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62" name="Line 247"/>
              <p:cNvSpPr>
                <a:spLocks noChangeShapeType="1"/>
              </p:cNvSpPr>
              <p:nvPr/>
            </p:nvSpPr>
            <p:spPr bwMode="auto">
              <a:xfrm flipV="1">
                <a:off x="2720" y="156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63" name="Freeform 248"/>
              <p:cNvSpPr>
                <a:spLocks/>
              </p:cNvSpPr>
              <p:nvPr/>
            </p:nvSpPr>
            <p:spPr bwMode="auto">
              <a:xfrm>
                <a:off x="2720" y="1562"/>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64" name="Line 249"/>
              <p:cNvSpPr>
                <a:spLocks noChangeShapeType="1"/>
              </p:cNvSpPr>
              <p:nvPr/>
            </p:nvSpPr>
            <p:spPr bwMode="auto">
              <a:xfrm flipV="1">
                <a:off x="2725" y="15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65" name="Line 250"/>
              <p:cNvSpPr>
                <a:spLocks noChangeShapeType="1"/>
              </p:cNvSpPr>
              <p:nvPr/>
            </p:nvSpPr>
            <p:spPr bwMode="auto">
              <a:xfrm flipV="1">
                <a:off x="2725" y="155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66" name="Line 251"/>
              <p:cNvSpPr>
                <a:spLocks noChangeShapeType="1"/>
              </p:cNvSpPr>
              <p:nvPr/>
            </p:nvSpPr>
            <p:spPr bwMode="auto">
              <a:xfrm flipV="1">
                <a:off x="2729" y="154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67" name="Line 252"/>
              <p:cNvSpPr>
                <a:spLocks noChangeShapeType="1"/>
              </p:cNvSpPr>
              <p:nvPr/>
            </p:nvSpPr>
            <p:spPr bwMode="auto">
              <a:xfrm flipV="1">
                <a:off x="2733" y="1544"/>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68" name="Freeform 253"/>
              <p:cNvSpPr>
                <a:spLocks/>
              </p:cNvSpPr>
              <p:nvPr/>
            </p:nvSpPr>
            <p:spPr bwMode="auto">
              <a:xfrm>
                <a:off x="2733" y="1540"/>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69" name="Line 254"/>
              <p:cNvSpPr>
                <a:spLocks noChangeShapeType="1"/>
              </p:cNvSpPr>
              <p:nvPr/>
            </p:nvSpPr>
            <p:spPr bwMode="auto">
              <a:xfrm flipV="1">
                <a:off x="2738" y="15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70" name="Freeform 255"/>
              <p:cNvSpPr>
                <a:spLocks/>
              </p:cNvSpPr>
              <p:nvPr/>
            </p:nvSpPr>
            <p:spPr bwMode="auto">
              <a:xfrm>
                <a:off x="2738" y="1531"/>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71" name="Line 256"/>
              <p:cNvSpPr>
                <a:spLocks noChangeShapeType="1"/>
              </p:cNvSpPr>
              <p:nvPr/>
            </p:nvSpPr>
            <p:spPr bwMode="auto">
              <a:xfrm flipV="1">
                <a:off x="2742" y="152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72" name="Line 257"/>
              <p:cNvSpPr>
                <a:spLocks noChangeShapeType="1"/>
              </p:cNvSpPr>
              <p:nvPr/>
            </p:nvSpPr>
            <p:spPr bwMode="auto">
              <a:xfrm flipV="1">
                <a:off x="2742" y="152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73" name="Line 258"/>
              <p:cNvSpPr>
                <a:spLocks noChangeShapeType="1"/>
              </p:cNvSpPr>
              <p:nvPr/>
            </p:nvSpPr>
            <p:spPr bwMode="auto">
              <a:xfrm flipV="1">
                <a:off x="2746" y="1518"/>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74" name="Line 259"/>
              <p:cNvSpPr>
                <a:spLocks noChangeShapeType="1"/>
              </p:cNvSpPr>
              <p:nvPr/>
            </p:nvSpPr>
            <p:spPr bwMode="auto">
              <a:xfrm flipV="1">
                <a:off x="2751" y="15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75" name="Freeform 260"/>
              <p:cNvSpPr>
                <a:spLocks/>
              </p:cNvSpPr>
              <p:nvPr/>
            </p:nvSpPr>
            <p:spPr bwMode="auto">
              <a:xfrm>
                <a:off x="2751" y="1510"/>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76" name="Line 261"/>
              <p:cNvSpPr>
                <a:spLocks noChangeShapeType="1"/>
              </p:cNvSpPr>
              <p:nvPr/>
            </p:nvSpPr>
            <p:spPr bwMode="auto">
              <a:xfrm flipV="1">
                <a:off x="2755" y="1505"/>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77" name="Line 262"/>
              <p:cNvSpPr>
                <a:spLocks noChangeShapeType="1"/>
              </p:cNvSpPr>
              <p:nvPr/>
            </p:nvSpPr>
            <p:spPr bwMode="auto">
              <a:xfrm flipV="1">
                <a:off x="2755" y="1501"/>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78" name="Line 263"/>
              <p:cNvSpPr>
                <a:spLocks noChangeShapeType="1"/>
              </p:cNvSpPr>
              <p:nvPr/>
            </p:nvSpPr>
            <p:spPr bwMode="auto">
              <a:xfrm flipV="1">
                <a:off x="2759" y="1497"/>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79" name="Line 264"/>
              <p:cNvSpPr>
                <a:spLocks noChangeShapeType="1"/>
              </p:cNvSpPr>
              <p:nvPr/>
            </p:nvSpPr>
            <p:spPr bwMode="auto">
              <a:xfrm flipV="1">
                <a:off x="2764" y="149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80" name="Freeform 265"/>
              <p:cNvSpPr>
                <a:spLocks/>
              </p:cNvSpPr>
              <p:nvPr/>
            </p:nvSpPr>
            <p:spPr bwMode="auto">
              <a:xfrm>
                <a:off x="2764" y="1488"/>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81" name="Line 266"/>
              <p:cNvSpPr>
                <a:spLocks noChangeShapeType="1"/>
              </p:cNvSpPr>
              <p:nvPr/>
            </p:nvSpPr>
            <p:spPr bwMode="auto">
              <a:xfrm flipV="1">
                <a:off x="2768" y="14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82" name="Freeform 267"/>
              <p:cNvSpPr>
                <a:spLocks/>
              </p:cNvSpPr>
              <p:nvPr/>
            </p:nvSpPr>
            <p:spPr bwMode="auto">
              <a:xfrm>
                <a:off x="2768" y="1479"/>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83" name="Line 268"/>
              <p:cNvSpPr>
                <a:spLocks noChangeShapeType="1"/>
              </p:cNvSpPr>
              <p:nvPr/>
            </p:nvSpPr>
            <p:spPr bwMode="auto">
              <a:xfrm flipV="1">
                <a:off x="2772" y="14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84" name="Line 269"/>
              <p:cNvSpPr>
                <a:spLocks noChangeShapeType="1"/>
              </p:cNvSpPr>
              <p:nvPr/>
            </p:nvSpPr>
            <p:spPr bwMode="auto">
              <a:xfrm flipV="1">
                <a:off x="2772" y="1470"/>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85" name="Line 270"/>
              <p:cNvSpPr>
                <a:spLocks noChangeShapeType="1"/>
              </p:cNvSpPr>
              <p:nvPr/>
            </p:nvSpPr>
            <p:spPr bwMode="auto">
              <a:xfrm flipV="1">
                <a:off x="2777" y="146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86" name="Line 271"/>
              <p:cNvSpPr>
                <a:spLocks noChangeShapeType="1"/>
              </p:cNvSpPr>
              <p:nvPr/>
            </p:nvSpPr>
            <p:spPr bwMode="auto">
              <a:xfrm flipV="1">
                <a:off x="2781" y="14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87" name="Freeform 272"/>
              <p:cNvSpPr>
                <a:spLocks/>
              </p:cNvSpPr>
              <p:nvPr/>
            </p:nvSpPr>
            <p:spPr bwMode="auto">
              <a:xfrm>
                <a:off x="2781" y="1453"/>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88" name="Line 273"/>
              <p:cNvSpPr>
                <a:spLocks noChangeShapeType="1"/>
              </p:cNvSpPr>
              <p:nvPr/>
            </p:nvSpPr>
            <p:spPr bwMode="auto">
              <a:xfrm flipV="1">
                <a:off x="2785" y="14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89" name="Line 274"/>
              <p:cNvSpPr>
                <a:spLocks noChangeShapeType="1"/>
              </p:cNvSpPr>
              <p:nvPr/>
            </p:nvSpPr>
            <p:spPr bwMode="auto">
              <a:xfrm flipV="1">
                <a:off x="2785" y="144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90" name="Line 275"/>
              <p:cNvSpPr>
                <a:spLocks noChangeShapeType="1"/>
              </p:cNvSpPr>
              <p:nvPr/>
            </p:nvSpPr>
            <p:spPr bwMode="auto">
              <a:xfrm flipV="1">
                <a:off x="2790" y="144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91" name="Line 276"/>
              <p:cNvSpPr>
                <a:spLocks noChangeShapeType="1"/>
              </p:cNvSpPr>
              <p:nvPr/>
            </p:nvSpPr>
            <p:spPr bwMode="auto">
              <a:xfrm flipV="1">
                <a:off x="2794" y="14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92" name="Freeform 277"/>
              <p:cNvSpPr>
                <a:spLocks/>
              </p:cNvSpPr>
              <p:nvPr/>
            </p:nvSpPr>
            <p:spPr bwMode="auto">
              <a:xfrm>
                <a:off x="2794" y="1427"/>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93" name="Line 278"/>
              <p:cNvSpPr>
                <a:spLocks noChangeShapeType="1"/>
              </p:cNvSpPr>
              <p:nvPr/>
            </p:nvSpPr>
            <p:spPr bwMode="auto">
              <a:xfrm flipV="1">
                <a:off x="2798" y="142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94" name="Freeform 279"/>
              <p:cNvSpPr>
                <a:spLocks/>
              </p:cNvSpPr>
              <p:nvPr/>
            </p:nvSpPr>
            <p:spPr bwMode="auto">
              <a:xfrm>
                <a:off x="2798" y="1418"/>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95" name="Line 280"/>
              <p:cNvSpPr>
                <a:spLocks noChangeShapeType="1"/>
              </p:cNvSpPr>
              <p:nvPr/>
            </p:nvSpPr>
            <p:spPr bwMode="auto">
              <a:xfrm flipV="1">
                <a:off x="2803" y="14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96" name="Line 281"/>
              <p:cNvSpPr>
                <a:spLocks noChangeShapeType="1"/>
              </p:cNvSpPr>
              <p:nvPr/>
            </p:nvSpPr>
            <p:spPr bwMode="auto">
              <a:xfrm flipV="1">
                <a:off x="2803" y="14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97" name="Line 282"/>
              <p:cNvSpPr>
                <a:spLocks noChangeShapeType="1"/>
              </p:cNvSpPr>
              <p:nvPr/>
            </p:nvSpPr>
            <p:spPr bwMode="auto">
              <a:xfrm flipV="1">
                <a:off x="2807" y="1401"/>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98" name="Line 283"/>
              <p:cNvSpPr>
                <a:spLocks noChangeShapeType="1"/>
              </p:cNvSpPr>
              <p:nvPr/>
            </p:nvSpPr>
            <p:spPr bwMode="auto">
              <a:xfrm flipV="1">
                <a:off x="2812" y="13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99" name="Freeform 284"/>
              <p:cNvSpPr>
                <a:spLocks/>
              </p:cNvSpPr>
              <p:nvPr/>
            </p:nvSpPr>
            <p:spPr bwMode="auto">
              <a:xfrm>
                <a:off x="2812" y="1392"/>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00" name="Line 285"/>
              <p:cNvSpPr>
                <a:spLocks noChangeShapeType="1"/>
              </p:cNvSpPr>
              <p:nvPr/>
            </p:nvSpPr>
            <p:spPr bwMode="auto">
              <a:xfrm flipV="1">
                <a:off x="2816" y="13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01" name="Line 286"/>
              <p:cNvSpPr>
                <a:spLocks noChangeShapeType="1"/>
              </p:cNvSpPr>
              <p:nvPr/>
            </p:nvSpPr>
            <p:spPr bwMode="auto">
              <a:xfrm flipV="1">
                <a:off x="2816" y="1379"/>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02" name="Line 287"/>
              <p:cNvSpPr>
                <a:spLocks noChangeShapeType="1"/>
              </p:cNvSpPr>
              <p:nvPr/>
            </p:nvSpPr>
            <p:spPr bwMode="auto">
              <a:xfrm flipV="1">
                <a:off x="2820" y="137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03" name="Line 288"/>
              <p:cNvSpPr>
                <a:spLocks noChangeShapeType="1"/>
              </p:cNvSpPr>
              <p:nvPr/>
            </p:nvSpPr>
            <p:spPr bwMode="auto">
              <a:xfrm flipV="1">
                <a:off x="2825" y="13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04" name="Freeform 289"/>
              <p:cNvSpPr>
                <a:spLocks/>
              </p:cNvSpPr>
              <p:nvPr/>
            </p:nvSpPr>
            <p:spPr bwMode="auto">
              <a:xfrm>
                <a:off x="2825" y="1362"/>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05" name="Line 290"/>
              <p:cNvSpPr>
                <a:spLocks noChangeShapeType="1"/>
              </p:cNvSpPr>
              <p:nvPr/>
            </p:nvSpPr>
            <p:spPr bwMode="auto">
              <a:xfrm flipV="1">
                <a:off x="2829" y="13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06" name="Freeform 291"/>
              <p:cNvSpPr>
                <a:spLocks/>
              </p:cNvSpPr>
              <p:nvPr/>
            </p:nvSpPr>
            <p:spPr bwMode="auto">
              <a:xfrm>
                <a:off x="2829" y="1353"/>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07" name="Line 292"/>
              <p:cNvSpPr>
                <a:spLocks noChangeShapeType="1"/>
              </p:cNvSpPr>
              <p:nvPr/>
            </p:nvSpPr>
            <p:spPr bwMode="auto">
              <a:xfrm flipV="1">
                <a:off x="2833" y="13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08" name="Line 293"/>
              <p:cNvSpPr>
                <a:spLocks noChangeShapeType="1"/>
              </p:cNvSpPr>
              <p:nvPr/>
            </p:nvSpPr>
            <p:spPr bwMode="auto">
              <a:xfrm flipV="1">
                <a:off x="2833" y="1340"/>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09" name="Line 294"/>
              <p:cNvSpPr>
                <a:spLocks noChangeShapeType="1"/>
              </p:cNvSpPr>
              <p:nvPr/>
            </p:nvSpPr>
            <p:spPr bwMode="auto">
              <a:xfrm flipV="1">
                <a:off x="2838" y="1336"/>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10" name="Line 295"/>
              <p:cNvSpPr>
                <a:spLocks noChangeShapeType="1"/>
              </p:cNvSpPr>
              <p:nvPr/>
            </p:nvSpPr>
            <p:spPr bwMode="auto">
              <a:xfrm flipV="1">
                <a:off x="2842" y="1332"/>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11" name="Freeform 296"/>
              <p:cNvSpPr>
                <a:spLocks/>
              </p:cNvSpPr>
              <p:nvPr/>
            </p:nvSpPr>
            <p:spPr bwMode="auto">
              <a:xfrm>
                <a:off x="2842" y="1323"/>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12" name="Line 297"/>
              <p:cNvSpPr>
                <a:spLocks noChangeShapeType="1"/>
              </p:cNvSpPr>
              <p:nvPr/>
            </p:nvSpPr>
            <p:spPr bwMode="auto">
              <a:xfrm flipV="1">
                <a:off x="2846" y="131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13" name="Line 298"/>
              <p:cNvSpPr>
                <a:spLocks noChangeShapeType="1"/>
              </p:cNvSpPr>
              <p:nvPr/>
            </p:nvSpPr>
            <p:spPr bwMode="auto">
              <a:xfrm flipV="1">
                <a:off x="2846" y="131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14" name="Line 299"/>
              <p:cNvSpPr>
                <a:spLocks noChangeShapeType="1"/>
              </p:cNvSpPr>
              <p:nvPr/>
            </p:nvSpPr>
            <p:spPr bwMode="auto">
              <a:xfrm flipV="1">
                <a:off x="2851" y="1306"/>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15" name="Line 300"/>
              <p:cNvSpPr>
                <a:spLocks noChangeShapeType="1"/>
              </p:cNvSpPr>
              <p:nvPr/>
            </p:nvSpPr>
            <p:spPr bwMode="auto">
              <a:xfrm flipV="1">
                <a:off x="2855" y="130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16" name="Freeform 301"/>
              <p:cNvSpPr>
                <a:spLocks/>
              </p:cNvSpPr>
              <p:nvPr/>
            </p:nvSpPr>
            <p:spPr bwMode="auto">
              <a:xfrm>
                <a:off x="2855" y="1292"/>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17" name="Line 302"/>
              <p:cNvSpPr>
                <a:spLocks noChangeShapeType="1"/>
              </p:cNvSpPr>
              <p:nvPr/>
            </p:nvSpPr>
            <p:spPr bwMode="auto">
              <a:xfrm flipV="1">
                <a:off x="2859" y="12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18" name="Line 303"/>
              <p:cNvSpPr>
                <a:spLocks noChangeShapeType="1"/>
              </p:cNvSpPr>
              <p:nvPr/>
            </p:nvSpPr>
            <p:spPr bwMode="auto">
              <a:xfrm flipV="1">
                <a:off x="2859" y="128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19" name="Line 304"/>
              <p:cNvSpPr>
                <a:spLocks noChangeShapeType="1"/>
              </p:cNvSpPr>
              <p:nvPr/>
            </p:nvSpPr>
            <p:spPr bwMode="auto">
              <a:xfrm flipV="1">
                <a:off x="2864" y="1275"/>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20" name="Line 305"/>
              <p:cNvSpPr>
                <a:spLocks noChangeShapeType="1"/>
              </p:cNvSpPr>
              <p:nvPr/>
            </p:nvSpPr>
            <p:spPr bwMode="auto">
              <a:xfrm flipV="1">
                <a:off x="2868" y="12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21" name="Freeform 306"/>
              <p:cNvSpPr>
                <a:spLocks/>
              </p:cNvSpPr>
              <p:nvPr/>
            </p:nvSpPr>
            <p:spPr bwMode="auto">
              <a:xfrm>
                <a:off x="2868" y="1262"/>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22" name="Line 307"/>
              <p:cNvSpPr>
                <a:spLocks noChangeShapeType="1"/>
              </p:cNvSpPr>
              <p:nvPr/>
            </p:nvSpPr>
            <p:spPr bwMode="auto">
              <a:xfrm flipV="1">
                <a:off x="2872" y="12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23" name="Freeform 308"/>
              <p:cNvSpPr>
                <a:spLocks/>
              </p:cNvSpPr>
              <p:nvPr/>
            </p:nvSpPr>
            <p:spPr bwMode="auto">
              <a:xfrm>
                <a:off x="2872" y="1253"/>
                <a:ext cx="5" cy="5"/>
              </a:xfrm>
              <a:custGeom>
                <a:avLst/>
                <a:gdLst>
                  <a:gd name="T0" fmla="*/ 0 w 5"/>
                  <a:gd name="T1" fmla="*/ 5 h 5"/>
                  <a:gd name="T2" fmla="*/ 0 w 5"/>
                  <a:gd name="T3" fmla="*/ 5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5"/>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24" name="Line 309"/>
              <p:cNvSpPr>
                <a:spLocks noChangeShapeType="1"/>
              </p:cNvSpPr>
              <p:nvPr/>
            </p:nvSpPr>
            <p:spPr bwMode="auto">
              <a:xfrm flipV="1">
                <a:off x="2877" y="1245"/>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25" name="Line 310"/>
              <p:cNvSpPr>
                <a:spLocks noChangeShapeType="1"/>
              </p:cNvSpPr>
              <p:nvPr/>
            </p:nvSpPr>
            <p:spPr bwMode="auto">
              <a:xfrm flipV="1">
                <a:off x="2877" y="124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26" name="Line 311"/>
              <p:cNvSpPr>
                <a:spLocks noChangeShapeType="1"/>
              </p:cNvSpPr>
              <p:nvPr/>
            </p:nvSpPr>
            <p:spPr bwMode="auto">
              <a:xfrm flipV="1">
                <a:off x="2881" y="123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27" name="Line 312"/>
              <p:cNvSpPr>
                <a:spLocks noChangeShapeType="1"/>
              </p:cNvSpPr>
              <p:nvPr/>
            </p:nvSpPr>
            <p:spPr bwMode="auto">
              <a:xfrm flipV="1">
                <a:off x="2885" y="122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28" name="Freeform 313"/>
              <p:cNvSpPr>
                <a:spLocks/>
              </p:cNvSpPr>
              <p:nvPr/>
            </p:nvSpPr>
            <p:spPr bwMode="auto">
              <a:xfrm>
                <a:off x="2885" y="1223"/>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29" name="Line 314"/>
              <p:cNvSpPr>
                <a:spLocks noChangeShapeType="1"/>
              </p:cNvSpPr>
              <p:nvPr/>
            </p:nvSpPr>
            <p:spPr bwMode="auto">
              <a:xfrm flipV="1">
                <a:off x="2890" y="121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30" name="Line 315"/>
              <p:cNvSpPr>
                <a:spLocks noChangeShapeType="1"/>
              </p:cNvSpPr>
              <p:nvPr/>
            </p:nvSpPr>
            <p:spPr bwMode="auto">
              <a:xfrm flipV="1">
                <a:off x="2890" y="12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31" name="Line 316"/>
              <p:cNvSpPr>
                <a:spLocks noChangeShapeType="1"/>
              </p:cNvSpPr>
              <p:nvPr/>
            </p:nvSpPr>
            <p:spPr bwMode="auto">
              <a:xfrm flipV="1">
                <a:off x="2894" y="1201"/>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32" name="Line 317"/>
              <p:cNvSpPr>
                <a:spLocks noChangeShapeType="1"/>
              </p:cNvSpPr>
              <p:nvPr/>
            </p:nvSpPr>
            <p:spPr bwMode="auto">
              <a:xfrm flipV="1">
                <a:off x="2898" y="11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33" name="Freeform 318"/>
              <p:cNvSpPr>
                <a:spLocks/>
              </p:cNvSpPr>
              <p:nvPr/>
            </p:nvSpPr>
            <p:spPr bwMode="auto">
              <a:xfrm>
                <a:off x="2898" y="1188"/>
                <a:ext cx="5" cy="9"/>
              </a:xfrm>
              <a:custGeom>
                <a:avLst/>
                <a:gdLst>
                  <a:gd name="T0" fmla="*/ 0 w 5"/>
                  <a:gd name="T1" fmla="*/ 9 h 9"/>
                  <a:gd name="T2" fmla="*/ 0 w 5"/>
                  <a:gd name="T3" fmla="*/ 5 h 9"/>
                  <a:gd name="T4" fmla="*/ 5 w 5"/>
                  <a:gd name="T5" fmla="*/ 0 h 9"/>
                  <a:gd name="T6" fmla="*/ 0 60000 65536"/>
                  <a:gd name="T7" fmla="*/ 0 60000 65536"/>
                  <a:gd name="T8" fmla="*/ 0 60000 65536"/>
                </a:gdLst>
                <a:ahLst/>
                <a:cxnLst>
                  <a:cxn ang="T6">
                    <a:pos x="T0" y="T1"/>
                  </a:cxn>
                  <a:cxn ang="T7">
                    <a:pos x="T2" y="T3"/>
                  </a:cxn>
                  <a:cxn ang="T8">
                    <a:pos x="T4" y="T5"/>
                  </a:cxn>
                </a:cxnLst>
                <a:rect l="0" t="0" r="r" b="b"/>
                <a:pathLst>
                  <a:path w="5" h="9">
                    <a:moveTo>
                      <a:pt x="0" y="9"/>
                    </a:moveTo>
                    <a:lnTo>
                      <a:pt x="0" y="5"/>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34" name="Line 319"/>
              <p:cNvSpPr>
                <a:spLocks noChangeShapeType="1"/>
              </p:cNvSpPr>
              <p:nvPr/>
            </p:nvSpPr>
            <p:spPr bwMode="auto">
              <a:xfrm flipV="1">
                <a:off x="2903" y="118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35" name="Freeform 320"/>
              <p:cNvSpPr>
                <a:spLocks/>
              </p:cNvSpPr>
              <p:nvPr/>
            </p:nvSpPr>
            <p:spPr bwMode="auto">
              <a:xfrm>
                <a:off x="2903" y="1180"/>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36" name="Line 321"/>
              <p:cNvSpPr>
                <a:spLocks noChangeShapeType="1"/>
              </p:cNvSpPr>
              <p:nvPr/>
            </p:nvSpPr>
            <p:spPr bwMode="auto">
              <a:xfrm flipV="1">
                <a:off x="2907" y="1171"/>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37" name="Line 322"/>
              <p:cNvSpPr>
                <a:spLocks noChangeShapeType="1"/>
              </p:cNvSpPr>
              <p:nvPr/>
            </p:nvSpPr>
            <p:spPr bwMode="auto">
              <a:xfrm flipV="1">
                <a:off x="2907" y="11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38" name="Line 323"/>
              <p:cNvSpPr>
                <a:spLocks noChangeShapeType="1"/>
              </p:cNvSpPr>
              <p:nvPr/>
            </p:nvSpPr>
            <p:spPr bwMode="auto">
              <a:xfrm flipV="1">
                <a:off x="2911" y="11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39" name="Line 324"/>
              <p:cNvSpPr>
                <a:spLocks noChangeShapeType="1"/>
              </p:cNvSpPr>
              <p:nvPr/>
            </p:nvSpPr>
            <p:spPr bwMode="auto">
              <a:xfrm flipV="1">
                <a:off x="2916" y="115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40" name="Freeform 325"/>
              <p:cNvSpPr>
                <a:spLocks/>
              </p:cNvSpPr>
              <p:nvPr/>
            </p:nvSpPr>
            <p:spPr bwMode="auto">
              <a:xfrm>
                <a:off x="2916" y="1145"/>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41" name="Line 326"/>
              <p:cNvSpPr>
                <a:spLocks noChangeShapeType="1"/>
              </p:cNvSpPr>
              <p:nvPr/>
            </p:nvSpPr>
            <p:spPr bwMode="auto">
              <a:xfrm flipV="1">
                <a:off x="2920" y="11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42" name="Line 327"/>
              <p:cNvSpPr>
                <a:spLocks noChangeShapeType="1"/>
              </p:cNvSpPr>
              <p:nvPr/>
            </p:nvSpPr>
            <p:spPr bwMode="auto">
              <a:xfrm flipV="1">
                <a:off x="2920" y="1136"/>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43" name="Line 328"/>
              <p:cNvSpPr>
                <a:spLocks noChangeShapeType="1"/>
              </p:cNvSpPr>
              <p:nvPr/>
            </p:nvSpPr>
            <p:spPr bwMode="auto">
              <a:xfrm flipV="1">
                <a:off x="2924" y="1128"/>
                <a:ext cx="5"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44" name="Line 329"/>
              <p:cNvSpPr>
                <a:spLocks noChangeShapeType="1"/>
              </p:cNvSpPr>
              <p:nvPr/>
            </p:nvSpPr>
            <p:spPr bwMode="auto">
              <a:xfrm flipV="1">
                <a:off x="2929" y="112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45" name="Freeform 330"/>
              <p:cNvSpPr>
                <a:spLocks/>
              </p:cNvSpPr>
              <p:nvPr/>
            </p:nvSpPr>
            <p:spPr bwMode="auto">
              <a:xfrm>
                <a:off x="2929" y="1115"/>
                <a:ext cx="4" cy="8"/>
              </a:xfrm>
              <a:custGeom>
                <a:avLst/>
                <a:gdLst>
                  <a:gd name="T0" fmla="*/ 0 w 4"/>
                  <a:gd name="T1" fmla="*/ 8 h 8"/>
                  <a:gd name="T2" fmla="*/ 0 w 4"/>
                  <a:gd name="T3" fmla="*/ 4 h 8"/>
                  <a:gd name="T4" fmla="*/ 4 w 4"/>
                  <a:gd name="T5" fmla="*/ 0 h 8"/>
                  <a:gd name="T6" fmla="*/ 0 60000 65536"/>
                  <a:gd name="T7" fmla="*/ 0 60000 65536"/>
                  <a:gd name="T8" fmla="*/ 0 60000 65536"/>
                </a:gdLst>
                <a:ahLst/>
                <a:cxnLst>
                  <a:cxn ang="T6">
                    <a:pos x="T0" y="T1"/>
                  </a:cxn>
                  <a:cxn ang="T7">
                    <a:pos x="T2" y="T3"/>
                  </a:cxn>
                  <a:cxn ang="T8">
                    <a:pos x="T4" y="T5"/>
                  </a:cxn>
                </a:cxnLst>
                <a:rect l="0" t="0" r="r" b="b"/>
                <a:pathLst>
                  <a:path w="4" h="8">
                    <a:moveTo>
                      <a:pt x="0" y="8"/>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46" name="Line 331"/>
              <p:cNvSpPr>
                <a:spLocks noChangeShapeType="1"/>
              </p:cNvSpPr>
              <p:nvPr/>
            </p:nvSpPr>
            <p:spPr bwMode="auto">
              <a:xfrm flipV="1">
                <a:off x="2933" y="1110"/>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47" name="Freeform 332"/>
              <p:cNvSpPr>
                <a:spLocks/>
              </p:cNvSpPr>
              <p:nvPr/>
            </p:nvSpPr>
            <p:spPr bwMode="auto">
              <a:xfrm>
                <a:off x="2933" y="1101"/>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48" name="Line 333"/>
              <p:cNvSpPr>
                <a:spLocks noChangeShapeType="1"/>
              </p:cNvSpPr>
              <p:nvPr/>
            </p:nvSpPr>
            <p:spPr bwMode="auto">
              <a:xfrm flipV="1">
                <a:off x="2937" y="10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49" name="Line 334"/>
              <p:cNvSpPr>
                <a:spLocks noChangeShapeType="1"/>
              </p:cNvSpPr>
              <p:nvPr/>
            </p:nvSpPr>
            <p:spPr bwMode="auto">
              <a:xfrm flipV="1">
                <a:off x="2937" y="1093"/>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50" name="Line 335"/>
              <p:cNvSpPr>
                <a:spLocks noChangeShapeType="1"/>
              </p:cNvSpPr>
              <p:nvPr/>
            </p:nvSpPr>
            <p:spPr bwMode="auto">
              <a:xfrm flipV="1">
                <a:off x="2942" y="1084"/>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51" name="Line 336"/>
              <p:cNvSpPr>
                <a:spLocks noChangeShapeType="1"/>
              </p:cNvSpPr>
              <p:nvPr/>
            </p:nvSpPr>
            <p:spPr bwMode="auto">
              <a:xfrm flipV="1">
                <a:off x="2946" y="10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52" name="Freeform 337"/>
              <p:cNvSpPr>
                <a:spLocks/>
              </p:cNvSpPr>
              <p:nvPr/>
            </p:nvSpPr>
            <p:spPr bwMode="auto">
              <a:xfrm>
                <a:off x="2946" y="1071"/>
                <a:ext cx="4" cy="9"/>
              </a:xfrm>
              <a:custGeom>
                <a:avLst/>
                <a:gdLst>
                  <a:gd name="T0" fmla="*/ 0 w 4"/>
                  <a:gd name="T1" fmla="*/ 9 h 9"/>
                  <a:gd name="T2" fmla="*/ 0 w 4"/>
                  <a:gd name="T3" fmla="*/ 4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53" name="Line 338"/>
              <p:cNvSpPr>
                <a:spLocks noChangeShapeType="1"/>
              </p:cNvSpPr>
              <p:nvPr/>
            </p:nvSpPr>
            <p:spPr bwMode="auto">
              <a:xfrm flipV="1">
                <a:off x="2950" y="10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54" name="Line 339"/>
              <p:cNvSpPr>
                <a:spLocks noChangeShapeType="1"/>
              </p:cNvSpPr>
              <p:nvPr/>
            </p:nvSpPr>
            <p:spPr bwMode="auto">
              <a:xfrm flipV="1">
                <a:off x="2950" y="10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55" name="Line 340"/>
              <p:cNvSpPr>
                <a:spLocks noChangeShapeType="1"/>
              </p:cNvSpPr>
              <p:nvPr/>
            </p:nvSpPr>
            <p:spPr bwMode="auto">
              <a:xfrm flipV="1">
                <a:off x="2955" y="1054"/>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56" name="Line 341"/>
              <p:cNvSpPr>
                <a:spLocks noChangeShapeType="1"/>
              </p:cNvSpPr>
              <p:nvPr/>
            </p:nvSpPr>
            <p:spPr bwMode="auto">
              <a:xfrm flipV="1">
                <a:off x="2959" y="1049"/>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57" name="Freeform 342"/>
              <p:cNvSpPr>
                <a:spLocks/>
              </p:cNvSpPr>
              <p:nvPr/>
            </p:nvSpPr>
            <p:spPr bwMode="auto">
              <a:xfrm>
                <a:off x="2959" y="1041"/>
                <a:ext cx="4" cy="8"/>
              </a:xfrm>
              <a:custGeom>
                <a:avLst/>
                <a:gdLst>
                  <a:gd name="T0" fmla="*/ 0 w 4"/>
                  <a:gd name="T1" fmla="*/ 8 h 8"/>
                  <a:gd name="T2" fmla="*/ 0 w 4"/>
                  <a:gd name="T3" fmla="*/ 4 h 8"/>
                  <a:gd name="T4" fmla="*/ 4 w 4"/>
                  <a:gd name="T5" fmla="*/ 0 h 8"/>
                  <a:gd name="T6" fmla="*/ 0 60000 65536"/>
                  <a:gd name="T7" fmla="*/ 0 60000 65536"/>
                  <a:gd name="T8" fmla="*/ 0 60000 65536"/>
                </a:gdLst>
                <a:ahLst/>
                <a:cxnLst>
                  <a:cxn ang="T6">
                    <a:pos x="T0" y="T1"/>
                  </a:cxn>
                  <a:cxn ang="T7">
                    <a:pos x="T2" y="T3"/>
                  </a:cxn>
                  <a:cxn ang="T8">
                    <a:pos x="T4" y="T5"/>
                  </a:cxn>
                </a:cxnLst>
                <a:rect l="0" t="0" r="r" b="b"/>
                <a:pathLst>
                  <a:path w="4" h="8">
                    <a:moveTo>
                      <a:pt x="0" y="8"/>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58" name="Line 343"/>
              <p:cNvSpPr>
                <a:spLocks noChangeShapeType="1"/>
              </p:cNvSpPr>
              <p:nvPr/>
            </p:nvSpPr>
            <p:spPr bwMode="auto">
              <a:xfrm flipV="1">
                <a:off x="2963" y="103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59" name="Freeform 344"/>
              <p:cNvSpPr>
                <a:spLocks/>
              </p:cNvSpPr>
              <p:nvPr/>
            </p:nvSpPr>
            <p:spPr bwMode="auto">
              <a:xfrm>
                <a:off x="2963" y="1032"/>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60" name="Line 345"/>
              <p:cNvSpPr>
                <a:spLocks noChangeShapeType="1"/>
              </p:cNvSpPr>
              <p:nvPr/>
            </p:nvSpPr>
            <p:spPr bwMode="auto">
              <a:xfrm flipV="1">
                <a:off x="2968" y="102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61" name="Line 346"/>
              <p:cNvSpPr>
                <a:spLocks noChangeShapeType="1"/>
              </p:cNvSpPr>
              <p:nvPr/>
            </p:nvSpPr>
            <p:spPr bwMode="auto">
              <a:xfrm flipV="1">
                <a:off x="2968" y="101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62" name="Line 347"/>
              <p:cNvSpPr>
                <a:spLocks noChangeShapeType="1"/>
              </p:cNvSpPr>
              <p:nvPr/>
            </p:nvSpPr>
            <p:spPr bwMode="auto">
              <a:xfrm flipV="1">
                <a:off x="2972" y="1010"/>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63" name="Line 348"/>
              <p:cNvSpPr>
                <a:spLocks noChangeShapeType="1"/>
              </p:cNvSpPr>
              <p:nvPr/>
            </p:nvSpPr>
            <p:spPr bwMode="auto">
              <a:xfrm flipV="1">
                <a:off x="2976" y="100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64" name="Freeform 349"/>
              <p:cNvSpPr>
                <a:spLocks/>
              </p:cNvSpPr>
              <p:nvPr/>
            </p:nvSpPr>
            <p:spPr bwMode="auto">
              <a:xfrm>
                <a:off x="2976" y="1002"/>
                <a:ext cx="5" cy="4"/>
              </a:xfrm>
              <a:custGeom>
                <a:avLst/>
                <a:gdLst>
                  <a:gd name="T0" fmla="*/ 0 w 5"/>
                  <a:gd name="T1" fmla="*/ 4 h 4"/>
                  <a:gd name="T2" fmla="*/ 0 w 5"/>
                  <a:gd name="T3" fmla="*/ 4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4"/>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65" name="Line 350"/>
              <p:cNvSpPr>
                <a:spLocks noChangeShapeType="1"/>
              </p:cNvSpPr>
              <p:nvPr/>
            </p:nvSpPr>
            <p:spPr bwMode="auto">
              <a:xfrm flipV="1">
                <a:off x="2981" y="99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66" name="Line 351"/>
              <p:cNvSpPr>
                <a:spLocks noChangeShapeType="1"/>
              </p:cNvSpPr>
              <p:nvPr/>
            </p:nvSpPr>
            <p:spPr bwMode="auto">
              <a:xfrm flipV="1">
                <a:off x="2981" y="9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67" name="Line 352"/>
              <p:cNvSpPr>
                <a:spLocks noChangeShapeType="1"/>
              </p:cNvSpPr>
              <p:nvPr/>
            </p:nvSpPr>
            <p:spPr bwMode="auto">
              <a:xfrm flipV="1">
                <a:off x="2985" y="98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68" name="Line 353"/>
              <p:cNvSpPr>
                <a:spLocks noChangeShapeType="1"/>
              </p:cNvSpPr>
              <p:nvPr/>
            </p:nvSpPr>
            <p:spPr bwMode="auto">
              <a:xfrm flipV="1">
                <a:off x="2990" y="9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69" name="Freeform 354"/>
              <p:cNvSpPr>
                <a:spLocks/>
              </p:cNvSpPr>
              <p:nvPr/>
            </p:nvSpPr>
            <p:spPr bwMode="auto">
              <a:xfrm>
                <a:off x="2990" y="971"/>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70" name="Line 355"/>
              <p:cNvSpPr>
                <a:spLocks noChangeShapeType="1"/>
              </p:cNvSpPr>
              <p:nvPr/>
            </p:nvSpPr>
            <p:spPr bwMode="auto">
              <a:xfrm flipV="1">
                <a:off x="2994" y="9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71" name="Freeform 356"/>
              <p:cNvSpPr>
                <a:spLocks/>
              </p:cNvSpPr>
              <p:nvPr/>
            </p:nvSpPr>
            <p:spPr bwMode="auto">
              <a:xfrm>
                <a:off x="2994" y="963"/>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72" name="Line 357"/>
              <p:cNvSpPr>
                <a:spLocks noChangeShapeType="1"/>
              </p:cNvSpPr>
              <p:nvPr/>
            </p:nvSpPr>
            <p:spPr bwMode="auto">
              <a:xfrm flipV="1">
                <a:off x="2998" y="95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73" name="Line 358"/>
              <p:cNvSpPr>
                <a:spLocks noChangeShapeType="1"/>
              </p:cNvSpPr>
              <p:nvPr/>
            </p:nvSpPr>
            <p:spPr bwMode="auto">
              <a:xfrm flipV="1">
                <a:off x="2998" y="950"/>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74" name="Line 359"/>
              <p:cNvSpPr>
                <a:spLocks noChangeShapeType="1"/>
              </p:cNvSpPr>
              <p:nvPr/>
            </p:nvSpPr>
            <p:spPr bwMode="auto">
              <a:xfrm flipV="1">
                <a:off x="3003" y="94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75" name="Line 360"/>
              <p:cNvSpPr>
                <a:spLocks noChangeShapeType="1"/>
              </p:cNvSpPr>
              <p:nvPr/>
            </p:nvSpPr>
            <p:spPr bwMode="auto">
              <a:xfrm flipV="1">
                <a:off x="3007" y="9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76" name="Freeform 361"/>
              <p:cNvSpPr>
                <a:spLocks/>
              </p:cNvSpPr>
              <p:nvPr/>
            </p:nvSpPr>
            <p:spPr bwMode="auto">
              <a:xfrm>
                <a:off x="3007" y="932"/>
                <a:ext cx="4" cy="9"/>
              </a:xfrm>
              <a:custGeom>
                <a:avLst/>
                <a:gdLst>
                  <a:gd name="T0" fmla="*/ 0 w 4"/>
                  <a:gd name="T1" fmla="*/ 9 h 9"/>
                  <a:gd name="T2" fmla="*/ 0 w 4"/>
                  <a:gd name="T3" fmla="*/ 5 h 9"/>
                  <a:gd name="T4" fmla="*/ 4 w 4"/>
                  <a:gd name="T5" fmla="*/ 0 h 9"/>
                  <a:gd name="T6" fmla="*/ 0 60000 65536"/>
                  <a:gd name="T7" fmla="*/ 0 60000 65536"/>
                  <a:gd name="T8" fmla="*/ 0 60000 65536"/>
                </a:gdLst>
                <a:ahLst/>
                <a:cxnLst>
                  <a:cxn ang="T6">
                    <a:pos x="T0" y="T1"/>
                  </a:cxn>
                  <a:cxn ang="T7">
                    <a:pos x="T2" y="T3"/>
                  </a:cxn>
                  <a:cxn ang="T8">
                    <a:pos x="T4" y="T5"/>
                  </a:cxn>
                </a:cxnLst>
                <a:rect l="0" t="0" r="r" b="b"/>
                <a:pathLst>
                  <a:path w="4" h="9">
                    <a:moveTo>
                      <a:pt x="0" y="9"/>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77" name="Line 362"/>
              <p:cNvSpPr>
                <a:spLocks noChangeShapeType="1"/>
              </p:cNvSpPr>
              <p:nvPr/>
            </p:nvSpPr>
            <p:spPr bwMode="auto">
              <a:xfrm flipV="1">
                <a:off x="3011" y="9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78" name="Line 363"/>
              <p:cNvSpPr>
                <a:spLocks noChangeShapeType="1"/>
              </p:cNvSpPr>
              <p:nvPr/>
            </p:nvSpPr>
            <p:spPr bwMode="auto">
              <a:xfrm flipV="1">
                <a:off x="3011" y="92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79" name="Line 364"/>
              <p:cNvSpPr>
                <a:spLocks noChangeShapeType="1"/>
              </p:cNvSpPr>
              <p:nvPr/>
            </p:nvSpPr>
            <p:spPr bwMode="auto">
              <a:xfrm flipV="1">
                <a:off x="3016" y="9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80" name="Line 365"/>
              <p:cNvSpPr>
                <a:spLocks noChangeShapeType="1"/>
              </p:cNvSpPr>
              <p:nvPr/>
            </p:nvSpPr>
            <p:spPr bwMode="auto">
              <a:xfrm flipV="1">
                <a:off x="3020" y="91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81" name="Freeform 366"/>
              <p:cNvSpPr>
                <a:spLocks/>
              </p:cNvSpPr>
              <p:nvPr/>
            </p:nvSpPr>
            <p:spPr bwMode="auto">
              <a:xfrm>
                <a:off x="3020" y="910"/>
                <a:ext cx="4" cy="5"/>
              </a:xfrm>
              <a:custGeom>
                <a:avLst/>
                <a:gdLst>
                  <a:gd name="T0" fmla="*/ 0 w 4"/>
                  <a:gd name="T1" fmla="*/ 5 h 5"/>
                  <a:gd name="T2" fmla="*/ 0 w 4"/>
                  <a:gd name="T3" fmla="*/ 5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5"/>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82" name="Line 367"/>
              <p:cNvSpPr>
                <a:spLocks noChangeShapeType="1"/>
              </p:cNvSpPr>
              <p:nvPr/>
            </p:nvSpPr>
            <p:spPr bwMode="auto">
              <a:xfrm flipV="1">
                <a:off x="3024" y="902"/>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83" name="Freeform 368"/>
              <p:cNvSpPr>
                <a:spLocks/>
              </p:cNvSpPr>
              <p:nvPr/>
            </p:nvSpPr>
            <p:spPr bwMode="auto">
              <a:xfrm>
                <a:off x="3024" y="897"/>
                <a:ext cx="5" cy="5"/>
              </a:xfrm>
              <a:custGeom>
                <a:avLst/>
                <a:gdLst>
                  <a:gd name="T0" fmla="*/ 0 w 5"/>
                  <a:gd name="T1" fmla="*/ 5 h 5"/>
                  <a:gd name="T2" fmla="*/ 0 w 5"/>
                  <a:gd name="T3" fmla="*/ 0 h 5"/>
                  <a:gd name="T4" fmla="*/ 5 w 5"/>
                  <a:gd name="T5" fmla="*/ 0 h 5"/>
                  <a:gd name="T6" fmla="*/ 0 60000 65536"/>
                  <a:gd name="T7" fmla="*/ 0 60000 65536"/>
                  <a:gd name="T8" fmla="*/ 0 60000 65536"/>
                </a:gdLst>
                <a:ahLst/>
                <a:cxnLst>
                  <a:cxn ang="T6">
                    <a:pos x="T0" y="T1"/>
                  </a:cxn>
                  <a:cxn ang="T7">
                    <a:pos x="T2" y="T3"/>
                  </a:cxn>
                  <a:cxn ang="T8">
                    <a:pos x="T4" y="T5"/>
                  </a:cxn>
                </a:cxnLst>
                <a:rect l="0" t="0" r="r" b="b"/>
                <a:pathLst>
                  <a:path w="5" h="5">
                    <a:moveTo>
                      <a:pt x="0" y="5"/>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84" name="Line 369"/>
              <p:cNvSpPr>
                <a:spLocks noChangeShapeType="1"/>
              </p:cNvSpPr>
              <p:nvPr/>
            </p:nvSpPr>
            <p:spPr bwMode="auto">
              <a:xfrm flipV="1">
                <a:off x="3029" y="89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85" name="Line 370"/>
              <p:cNvSpPr>
                <a:spLocks noChangeShapeType="1"/>
              </p:cNvSpPr>
              <p:nvPr/>
            </p:nvSpPr>
            <p:spPr bwMode="auto">
              <a:xfrm flipV="1">
                <a:off x="3029" y="8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86" name="Line 371"/>
              <p:cNvSpPr>
                <a:spLocks noChangeShapeType="1"/>
              </p:cNvSpPr>
              <p:nvPr/>
            </p:nvSpPr>
            <p:spPr bwMode="auto">
              <a:xfrm flipV="1">
                <a:off x="3033" y="884"/>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87" name="Line 372"/>
              <p:cNvSpPr>
                <a:spLocks noChangeShapeType="1"/>
              </p:cNvSpPr>
              <p:nvPr/>
            </p:nvSpPr>
            <p:spPr bwMode="auto">
              <a:xfrm flipV="1">
                <a:off x="3037" y="8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88" name="Freeform 373"/>
              <p:cNvSpPr>
                <a:spLocks/>
              </p:cNvSpPr>
              <p:nvPr/>
            </p:nvSpPr>
            <p:spPr bwMode="auto">
              <a:xfrm>
                <a:off x="3037" y="876"/>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89" name="Line 374"/>
              <p:cNvSpPr>
                <a:spLocks noChangeShapeType="1"/>
              </p:cNvSpPr>
              <p:nvPr/>
            </p:nvSpPr>
            <p:spPr bwMode="auto">
              <a:xfrm flipV="1">
                <a:off x="3042" y="87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90" name="Line 375"/>
              <p:cNvSpPr>
                <a:spLocks noChangeShapeType="1"/>
              </p:cNvSpPr>
              <p:nvPr/>
            </p:nvSpPr>
            <p:spPr bwMode="auto">
              <a:xfrm flipV="1">
                <a:off x="3042" y="8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91" name="Line 376"/>
              <p:cNvSpPr>
                <a:spLocks noChangeShapeType="1"/>
              </p:cNvSpPr>
              <p:nvPr/>
            </p:nvSpPr>
            <p:spPr bwMode="auto">
              <a:xfrm flipV="1">
                <a:off x="3046" y="86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92" name="Line 377"/>
              <p:cNvSpPr>
                <a:spLocks noChangeShapeType="1"/>
              </p:cNvSpPr>
              <p:nvPr/>
            </p:nvSpPr>
            <p:spPr bwMode="auto">
              <a:xfrm flipV="1">
                <a:off x="3050" y="858"/>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93" name="Freeform 378"/>
              <p:cNvSpPr>
                <a:spLocks/>
              </p:cNvSpPr>
              <p:nvPr/>
            </p:nvSpPr>
            <p:spPr bwMode="auto">
              <a:xfrm>
                <a:off x="3050" y="854"/>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94" name="Line 379"/>
              <p:cNvSpPr>
                <a:spLocks noChangeShapeType="1"/>
              </p:cNvSpPr>
              <p:nvPr/>
            </p:nvSpPr>
            <p:spPr bwMode="auto">
              <a:xfrm flipV="1">
                <a:off x="3055" y="85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95" name="Freeform 380"/>
              <p:cNvSpPr>
                <a:spLocks/>
              </p:cNvSpPr>
              <p:nvPr/>
            </p:nvSpPr>
            <p:spPr bwMode="auto">
              <a:xfrm>
                <a:off x="3055" y="845"/>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296" name="Line 381"/>
              <p:cNvSpPr>
                <a:spLocks noChangeShapeType="1"/>
              </p:cNvSpPr>
              <p:nvPr/>
            </p:nvSpPr>
            <p:spPr bwMode="auto">
              <a:xfrm flipV="1">
                <a:off x="3059" y="8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97" name="Line 382"/>
              <p:cNvSpPr>
                <a:spLocks noChangeShapeType="1"/>
              </p:cNvSpPr>
              <p:nvPr/>
            </p:nvSpPr>
            <p:spPr bwMode="auto">
              <a:xfrm flipV="1">
                <a:off x="3059" y="83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98" name="Line 383"/>
              <p:cNvSpPr>
                <a:spLocks noChangeShapeType="1"/>
              </p:cNvSpPr>
              <p:nvPr/>
            </p:nvSpPr>
            <p:spPr bwMode="auto">
              <a:xfrm flipV="1">
                <a:off x="3063" y="832"/>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299" name="Line 384"/>
              <p:cNvSpPr>
                <a:spLocks noChangeShapeType="1"/>
              </p:cNvSpPr>
              <p:nvPr/>
            </p:nvSpPr>
            <p:spPr bwMode="auto">
              <a:xfrm flipV="1">
                <a:off x="3068" y="8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00" name="Freeform 385"/>
              <p:cNvSpPr>
                <a:spLocks/>
              </p:cNvSpPr>
              <p:nvPr/>
            </p:nvSpPr>
            <p:spPr bwMode="auto">
              <a:xfrm>
                <a:off x="3068" y="82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301" name="Line 386"/>
              <p:cNvSpPr>
                <a:spLocks noChangeShapeType="1"/>
              </p:cNvSpPr>
              <p:nvPr/>
            </p:nvSpPr>
            <p:spPr bwMode="auto">
              <a:xfrm flipV="1">
                <a:off x="3072" y="82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02" name="Line 387"/>
              <p:cNvSpPr>
                <a:spLocks noChangeShapeType="1"/>
              </p:cNvSpPr>
              <p:nvPr/>
            </p:nvSpPr>
            <p:spPr bwMode="auto">
              <a:xfrm flipV="1">
                <a:off x="3072" y="8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03" name="Line 388"/>
              <p:cNvSpPr>
                <a:spLocks noChangeShapeType="1"/>
              </p:cNvSpPr>
              <p:nvPr/>
            </p:nvSpPr>
            <p:spPr bwMode="auto">
              <a:xfrm flipV="1">
                <a:off x="3076" y="81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04" name="Line 389"/>
              <p:cNvSpPr>
                <a:spLocks noChangeShapeType="1"/>
              </p:cNvSpPr>
              <p:nvPr/>
            </p:nvSpPr>
            <p:spPr bwMode="auto">
              <a:xfrm flipV="1">
                <a:off x="3081" y="81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05" name="Freeform 390"/>
              <p:cNvSpPr>
                <a:spLocks/>
              </p:cNvSpPr>
              <p:nvPr/>
            </p:nvSpPr>
            <p:spPr bwMode="auto">
              <a:xfrm>
                <a:off x="3081" y="81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306" name="Line 391"/>
              <p:cNvSpPr>
                <a:spLocks noChangeShapeType="1"/>
              </p:cNvSpPr>
              <p:nvPr/>
            </p:nvSpPr>
            <p:spPr bwMode="auto">
              <a:xfrm flipV="1">
                <a:off x="3085" y="80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07" name="Freeform 392"/>
              <p:cNvSpPr>
                <a:spLocks/>
              </p:cNvSpPr>
              <p:nvPr/>
            </p:nvSpPr>
            <p:spPr bwMode="auto">
              <a:xfrm>
                <a:off x="3085" y="802"/>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308" name="Line 393"/>
              <p:cNvSpPr>
                <a:spLocks noChangeShapeType="1"/>
              </p:cNvSpPr>
              <p:nvPr/>
            </p:nvSpPr>
            <p:spPr bwMode="auto">
              <a:xfrm flipV="1">
                <a:off x="3089" y="79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09" name="Line 394"/>
              <p:cNvSpPr>
                <a:spLocks noChangeShapeType="1"/>
              </p:cNvSpPr>
              <p:nvPr/>
            </p:nvSpPr>
            <p:spPr bwMode="auto">
              <a:xfrm>
                <a:off x="3089" y="79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10" name="Freeform 395"/>
              <p:cNvSpPr>
                <a:spLocks/>
              </p:cNvSpPr>
              <p:nvPr/>
            </p:nvSpPr>
            <p:spPr bwMode="auto">
              <a:xfrm>
                <a:off x="3094" y="793"/>
                <a:ext cx="4" cy="5"/>
              </a:xfrm>
              <a:custGeom>
                <a:avLst/>
                <a:gdLst>
                  <a:gd name="T0" fmla="*/ 0 w 4"/>
                  <a:gd name="T1" fmla="*/ 5 h 5"/>
                  <a:gd name="T2" fmla="*/ 4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311" name="Line 396"/>
              <p:cNvSpPr>
                <a:spLocks noChangeShapeType="1"/>
              </p:cNvSpPr>
              <p:nvPr/>
            </p:nvSpPr>
            <p:spPr bwMode="auto">
              <a:xfrm>
                <a:off x="3098" y="79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12" name="Freeform 397"/>
              <p:cNvSpPr>
                <a:spLocks/>
              </p:cNvSpPr>
              <p:nvPr/>
            </p:nvSpPr>
            <p:spPr bwMode="auto">
              <a:xfrm>
                <a:off x="3098" y="789"/>
                <a:ext cx="4" cy="4"/>
              </a:xfrm>
              <a:custGeom>
                <a:avLst/>
                <a:gdLst>
                  <a:gd name="T0" fmla="*/ 0 w 4"/>
                  <a:gd name="T1" fmla="*/ 4 h 4"/>
                  <a:gd name="T2" fmla="*/ 0 w 4"/>
                  <a:gd name="T3" fmla="*/ 4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4"/>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313" name="Line 398"/>
              <p:cNvSpPr>
                <a:spLocks noChangeShapeType="1"/>
              </p:cNvSpPr>
              <p:nvPr/>
            </p:nvSpPr>
            <p:spPr bwMode="auto">
              <a:xfrm flipV="1">
                <a:off x="3102" y="78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14" name="Line 399"/>
              <p:cNvSpPr>
                <a:spLocks noChangeShapeType="1"/>
              </p:cNvSpPr>
              <p:nvPr/>
            </p:nvSpPr>
            <p:spPr bwMode="auto">
              <a:xfrm>
                <a:off x="3102" y="785"/>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15" name="Freeform 400"/>
              <p:cNvSpPr>
                <a:spLocks/>
              </p:cNvSpPr>
              <p:nvPr/>
            </p:nvSpPr>
            <p:spPr bwMode="auto">
              <a:xfrm>
                <a:off x="3107" y="780"/>
                <a:ext cx="4" cy="5"/>
              </a:xfrm>
              <a:custGeom>
                <a:avLst/>
                <a:gdLst>
                  <a:gd name="T0" fmla="*/ 0 w 4"/>
                  <a:gd name="T1" fmla="*/ 5 h 5"/>
                  <a:gd name="T2" fmla="*/ 4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316" name="Line 401"/>
              <p:cNvSpPr>
                <a:spLocks noChangeShapeType="1"/>
              </p:cNvSpPr>
              <p:nvPr/>
            </p:nvSpPr>
            <p:spPr bwMode="auto">
              <a:xfrm>
                <a:off x="3111" y="78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17" name="Freeform 402"/>
              <p:cNvSpPr>
                <a:spLocks/>
              </p:cNvSpPr>
              <p:nvPr/>
            </p:nvSpPr>
            <p:spPr bwMode="auto">
              <a:xfrm>
                <a:off x="3111" y="776"/>
                <a:ext cx="4" cy="4"/>
              </a:xfrm>
              <a:custGeom>
                <a:avLst/>
                <a:gdLst>
                  <a:gd name="T0" fmla="*/ 0 w 4"/>
                  <a:gd name="T1" fmla="*/ 4 h 4"/>
                  <a:gd name="T2" fmla="*/ 0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318" name="Line 403"/>
              <p:cNvSpPr>
                <a:spLocks noChangeShapeType="1"/>
              </p:cNvSpPr>
              <p:nvPr/>
            </p:nvSpPr>
            <p:spPr bwMode="auto">
              <a:xfrm>
                <a:off x="3115" y="77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19" name="Freeform 404"/>
              <p:cNvSpPr>
                <a:spLocks/>
              </p:cNvSpPr>
              <p:nvPr/>
            </p:nvSpPr>
            <p:spPr bwMode="auto">
              <a:xfrm>
                <a:off x="3115" y="772"/>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320" name="Line 405"/>
              <p:cNvSpPr>
                <a:spLocks noChangeShapeType="1"/>
              </p:cNvSpPr>
              <p:nvPr/>
            </p:nvSpPr>
            <p:spPr bwMode="auto">
              <a:xfrm>
                <a:off x="3120" y="77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21" name="Freeform 406"/>
              <p:cNvSpPr>
                <a:spLocks/>
              </p:cNvSpPr>
              <p:nvPr/>
            </p:nvSpPr>
            <p:spPr bwMode="auto">
              <a:xfrm>
                <a:off x="3120" y="767"/>
                <a:ext cx="4" cy="5"/>
              </a:xfrm>
              <a:custGeom>
                <a:avLst/>
                <a:gdLst>
                  <a:gd name="T0" fmla="*/ 0 w 4"/>
                  <a:gd name="T1" fmla="*/ 5 h 5"/>
                  <a:gd name="T2" fmla="*/ 0 w 4"/>
                  <a:gd name="T3" fmla="*/ 0 h 5"/>
                  <a:gd name="T4" fmla="*/ 4 w 4"/>
                  <a:gd name="T5" fmla="*/ 0 h 5"/>
                  <a:gd name="T6" fmla="*/ 0 60000 65536"/>
                  <a:gd name="T7" fmla="*/ 0 60000 65536"/>
                  <a:gd name="T8" fmla="*/ 0 60000 65536"/>
                </a:gdLst>
                <a:ahLst/>
                <a:cxnLst>
                  <a:cxn ang="T6">
                    <a:pos x="T0" y="T1"/>
                  </a:cxn>
                  <a:cxn ang="T7">
                    <a:pos x="T2" y="T3"/>
                  </a:cxn>
                  <a:cxn ang="T8">
                    <a:pos x="T4" y="T5"/>
                  </a:cxn>
                </a:cxnLst>
                <a:rect l="0" t="0" r="r" b="b"/>
                <a:pathLst>
                  <a:path w="4" h="5">
                    <a:moveTo>
                      <a:pt x="0" y="5"/>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322" name="Line 407"/>
              <p:cNvSpPr>
                <a:spLocks noChangeShapeType="1"/>
              </p:cNvSpPr>
              <p:nvPr/>
            </p:nvSpPr>
            <p:spPr bwMode="auto">
              <a:xfrm>
                <a:off x="3124" y="76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23" name="Line 408"/>
              <p:cNvSpPr>
                <a:spLocks noChangeShapeType="1"/>
              </p:cNvSpPr>
              <p:nvPr/>
            </p:nvSpPr>
            <p:spPr bwMode="auto">
              <a:xfrm>
                <a:off x="3128" y="76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324" name="Freeform 409"/>
              <p:cNvSpPr>
                <a:spLocks/>
              </p:cNvSpPr>
              <p:nvPr/>
            </p:nvSpPr>
            <p:spPr bwMode="auto">
              <a:xfrm>
                <a:off x="3128" y="763"/>
                <a:ext cx="5" cy="4"/>
              </a:xfrm>
              <a:custGeom>
                <a:avLst/>
                <a:gdLst>
                  <a:gd name="T0" fmla="*/ 0 w 5"/>
                  <a:gd name="T1" fmla="*/ 4 h 4"/>
                  <a:gd name="T2" fmla="*/ 0 w 5"/>
                  <a:gd name="T3" fmla="*/ 0 h 4"/>
                  <a:gd name="T4" fmla="*/ 5 w 5"/>
                  <a:gd name="T5" fmla="*/ 0 h 4"/>
                  <a:gd name="T6" fmla="*/ 0 60000 65536"/>
                  <a:gd name="T7" fmla="*/ 0 60000 65536"/>
                  <a:gd name="T8" fmla="*/ 0 60000 65536"/>
                </a:gdLst>
                <a:ahLst/>
                <a:cxnLst>
                  <a:cxn ang="T6">
                    <a:pos x="T0" y="T1"/>
                  </a:cxn>
                  <a:cxn ang="T7">
                    <a:pos x="T2" y="T3"/>
                  </a:cxn>
                  <a:cxn ang="T8">
                    <a:pos x="T4" y="T5"/>
                  </a:cxn>
                </a:cxnLst>
                <a:rect l="0" t="0" r="r" b="b"/>
                <a:pathLst>
                  <a:path w="5" h="4">
                    <a:moveTo>
                      <a:pt x="0" y="4"/>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325" name="Line 410"/>
              <p:cNvSpPr>
                <a:spLocks noChangeShapeType="1"/>
              </p:cNvSpPr>
              <p:nvPr/>
            </p:nvSpPr>
            <p:spPr bwMode="auto">
              <a:xfrm>
                <a:off x="3133" y="76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5712" name="Group 411"/>
            <p:cNvGrpSpPr>
              <a:grpSpLocks/>
            </p:cNvGrpSpPr>
            <p:nvPr/>
          </p:nvGrpSpPr>
          <p:grpSpPr bwMode="auto">
            <a:xfrm>
              <a:off x="2855" y="1784"/>
              <a:ext cx="730" cy="1728"/>
              <a:chOff x="3133" y="754"/>
              <a:chExt cx="508" cy="851"/>
            </a:xfrm>
          </p:grpSpPr>
          <p:sp>
            <p:nvSpPr>
              <p:cNvPr id="15926" name="Line 412"/>
              <p:cNvSpPr>
                <a:spLocks noChangeShapeType="1"/>
              </p:cNvSpPr>
              <p:nvPr/>
            </p:nvSpPr>
            <p:spPr bwMode="auto">
              <a:xfrm>
                <a:off x="3133" y="76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27" name="Freeform 413"/>
              <p:cNvSpPr>
                <a:spLocks/>
              </p:cNvSpPr>
              <p:nvPr/>
            </p:nvSpPr>
            <p:spPr bwMode="auto">
              <a:xfrm>
                <a:off x="3137" y="759"/>
                <a:ext cx="4" cy="4"/>
              </a:xfrm>
              <a:custGeom>
                <a:avLst/>
                <a:gdLst>
                  <a:gd name="T0" fmla="*/ 0 w 4"/>
                  <a:gd name="T1" fmla="*/ 4 h 4"/>
                  <a:gd name="T2" fmla="*/ 4 w 4"/>
                  <a:gd name="T3" fmla="*/ 0 h 4"/>
                  <a:gd name="T4" fmla="*/ 4 w 4"/>
                  <a:gd name="T5" fmla="*/ 0 h 4"/>
                  <a:gd name="T6" fmla="*/ 0 60000 65536"/>
                  <a:gd name="T7" fmla="*/ 0 60000 65536"/>
                  <a:gd name="T8" fmla="*/ 0 60000 65536"/>
                </a:gdLst>
                <a:ahLst/>
                <a:cxnLst>
                  <a:cxn ang="T6">
                    <a:pos x="T0" y="T1"/>
                  </a:cxn>
                  <a:cxn ang="T7">
                    <a:pos x="T2" y="T3"/>
                  </a:cxn>
                  <a:cxn ang="T8">
                    <a:pos x="T4" y="T5"/>
                  </a:cxn>
                </a:cxnLst>
                <a:rect l="0" t="0" r="r" b="b"/>
                <a:pathLst>
                  <a:path w="4" h="4">
                    <a:moveTo>
                      <a:pt x="0" y="4"/>
                    </a:move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28" name="Line 414"/>
              <p:cNvSpPr>
                <a:spLocks noChangeShapeType="1"/>
              </p:cNvSpPr>
              <p:nvPr/>
            </p:nvSpPr>
            <p:spPr bwMode="auto">
              <a:xfrm>
                <a:off x="3141"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29" name="Freeform 415"/>
              <p:cNvSpPr>
                <a:spLocks/>
              </p:cNvSpPr>
              <p:nvPr/>
            </p:nvSpPr>
            <p:spPr bwMode="auto">
              <a:xfrm>
                <a:off x="3141" y="75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30" name="Line 416"/>
              <p:cNvSpPr>
                <a:spLocks noChangeShapeType="1"/>
              </p:cNvSpPr>
              <p:nvPr/>
            </p:nvSpPr>
            <p:spPr bwMode="auto">
              <a:xfrm>
                <a:off x="3146"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31" name="Freeform 417"/>
              <p:cNvSpPr>
                <a:spLocks/>
              </p:cNvSpPr>
              <p:nvPr/>
            </p:nvSpPr>
            <p:spPr bwMode="auto">
              <a:xfrm>
                <a:off x="3146" y="75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32" name="Freeform 418"/>
              <p:cNvSpPr>
                <a:spLocks/>
              </p:cNvSpPr>
              <p:nvPr/>
            </p:nvSpPr>
            <p:spPr bwMode="auto">
              <a:xfrm>
                <a:off x="3150" y="754"/>
                <a:ext cx="0" cy="5"/>
              </a:xfrm>
              <a:custGeom>
                <a:avLst/>
                <a:gdLst>
                  <a:gd name="T0" fmla="*/ 5 h 5"/>
                  <a:gd name="T1" fmla="*/ 0 h 5"/>
                  <a:gd name="T2" fmla="*/ 0 h 5"/>
                  <a:gd name="T3" fmla="*/ 0 60000 65536"/>
                  <a:gd name="T4" fmla="*/ 0 60000 65536"/>
                  <a:gd name="T5" fmla="*/ 0 60000 65536"/>
                </a:gdLst>
                <a:ahLst/>
                <a:cxnLst>
                  <a:cxn ang="T3">
                    <a:pos x="0" y="T0"/>
                  </a:cxn>
                  <a:cxn ang="T4">
                    <a:pos x="0" y="T1"/>
                  </a:cxn>
                  <a:cxn ang="T5">
                    <a:pos x="0" y="T2"/>
                  </a:cxn>
                </a:cxnLst>
                <a:rect l="0" t="0" r="r" b="b"/>
                <a:pathLst>
                  <a:path h="5">
                    <a:moveTo>
                      <a:pt x="0" y="5"/>
                    </a:moveTo>
                    <a:lnTo>
                      <a:pt x="0"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33" name="Line 419"/>
              <p:cNvSpPr>
                <a:spLocks noChangeShapeType="1"/>
              </p:cNvSpPr>
              <p:nvPr/>
            </p:nvSpPr>
            <p:spPr bwMode="auto">
              <a:xfrm>
                <a:off x="3150" y="75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34" name="Line 420"/>
              <p:cNvSpPr>
                <a:spLocks noChangeShapeType="1"/>
              </p:cNvSpPr>
              <p:nvPr/>
            </p:nvSpPr>
            <p:spPr bwMode="auto">
              <a:xfrm>
                <a:off x="3154" y="75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35" name="Line 421"/>
              <p:cNvSpPr>
                <a:spLocks noChangeShapeType="1"/>
              </p:cNvSpPr>
              <p:nvPr/>
            </p:nvSpPr>
            <p:spPr bwMode="auto">
              <a:xfrm>
                <a:off x="3159"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36" name="Freeform 422"/>
              <p:cNvSpPr>
                <a:spLocks/>
              </p:cNvSpPr>
              <p:nvPr/>
            </p:nvSpPr>
            <p:spPr bwMode="auto">
              <a:xfrm>
                <a:off x="3159" y="75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37" name="Line 423"/>
              <p:cNvSpPr>
                <a:spLocks noChangeShapeType="1"/>
              </p:cNvSpPr>
              <p:nvPr/>
            </p:nvSpPr>
            <p:spPr bwMode="auto">
              <a:xfrm>
                <a:off x="3163"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38" name="Line 424"/>
              <p:cNvSpPr>
                <a:spLocks noChangeShapeType="1"/>
              </p:cNvSpPr>
              <p:nvPr/>
            </p:nvSpPr>
            <p:spPr bwMode="auto">
              <a:xfrm>
                <a:off x="3163" y="75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39" name="Line 425"/>
              <p:cNvSpPr>
                <a:spLocks noChangeShapeType="1"/>
              </p:cNvSpPr>
              <p:nvPr/>
            </p:nvSpPr>
            <p:spPr bwMode="auto">
              <a:xfrm>
                <a:off x="3168" y="75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40" name="Line 426"/>
              <p:cNvSpPr>
                <a:spLocks noChangeShapeType="1"/>
              </p:cNvSpPr>
              <p:nvPr/>
            </p:nvSpPr>
            <p:spPr bwMode="auto">
              <a:xfrm>
                <a:off x="3172"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41" name="Freeform 427"/>
              <p:cNvSpPr>
                <a:spLocks/>
              </p:cNvSpPr>
              <p:nvPr/>
            </p:nvSpPr>
            <p:spPr bwMode="auto">
              <a:xfrm>
                <a:off x="3172" y="75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42" name="Line 428"/>
              <p:cNvSpPr>
                <a:spLocks noChangeShapeType="1"/>
              </p:cNvSpPr>
              <p:nvPr/>
            </p:nvSpPr>
            <p:spPr bwMode="auto">
              <a:xfrm>
                <a:off x="3176" y="75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43" name="Line 429"/>
              <p:cNvSpPr>
                <a:spLocks noChangeShapeType="1"/>
              </p:cNvSpPr>
              <p:nvPr/>
            </p:nvSpPr>
            <p:spPr bwMode="auto">
              <a:xfrm>
                <a:off x="3176" y="75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44" name="Line 430"/>
              <p:cNvSpPr>
                <a:spLocks noChangeShapeType="1"/>
              </p:cNvSpPr>
              <p:nvPr/>
            </p:nvSpPr>
            <p:spPr bwMode="auto">
              <a:xfrm>
                <a:off x="3181" y="75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45" name="Freeform 431"/>
              <p:cNvSpPr>
                <a:spLocks/>
              </p:cNvSpPr>
              <p:nvPr/>
            </p:nvSpPr>
            <p:spPr bwMode="auto">
              <a:xfrm>
                <a:off x="3185" y="754"/>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46" name="Freeform 432"/>
              <p:cNvSpPr>
                <a:spLocks/>
              </p:cNvSpPr>
              <p:nvPr/>
            </p:nvSpPr>
            <p:spPr bwMode="auto">
              <a:xfrm>
                <a:off x="3185" y="75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47" name="Line 433"/>
              <p:cNvSpPr>
                <a:spLocks noChangeShapeType="1"/>
              </p:cNvSpPr>
              <p:nvPr/>
            </p:nvSpPr>
            <p:spPr bwMode="auto">
              <a:xfrm>
                <a:off x="3189"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48" name="Freeform 434"/>
              <p:cNvSpPr>
                <a:spLocks/>
              </p:cNvSpPr>
              <p:nvPr/>
            </p:nvSpPr>
            <p:spPr bwMode="auto">
              <a:xfrm>
                <a:off x="3189" y="75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49" name="Line 435"/>
              <p:cNvSpPr>
                <a:spLocks noChangeShapeType="1"/>
              </p:cNvSpPr>
              <p:nvPr/>
            </p:nvSpPr>
            <p:spPr bwMode="auto">
              <a:xfrm>
                <a:off x="3194" y="75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50" name="Freeform 436"/>
              <p:cNvSpPr>
                <a:spLocks/>
              </p:cNvSpPr>
              <p:nvPr/>
            </p:nvSpPr>
            <p:spPr bwMode="auto">
              <a:xfrm>
                <a:off x="3194" y="759"/>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51" name="Line 437"/>
              <p:cNvSpPr>
                <a:spLocks noChangeShapeType="1"/>
              </p:cNvSpPr>
              <p:nvPr/>
            </p:nvSpPr>
            <p:spPr bwMode="auto">
              <a:xfrm>
                <a:off x="3198" y="76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52" name="Line 438"/>
              <p:cNvSpPr>
                <a:spLocks noChangeShapeType="1"/>
              </p:cNvSpPr>
              <p:nvPr/>
            </p:nvSpPr>
            <p:spPr bwMode="auto">
              <a:xfrm>
                <a:off x="3202" y="76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53" name="Freeform 439"/>
              <p:cNvSpPr>
                <a:spLocks/>
              </p:cNvSpPr>
              <p:nvPr/>
            </p:nvSpPr>
            <p:spPr bwMode="auto">
              <a:xfrm>
                <a:off x="3202" y="763"/>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54" name="Line 440"/>
              <p:cNvSpPr>
                <a:spLocks noChangeShapeType="1"/>
              </p:cNvSpPr>
              <p:nvPr/>
            </p:nvSpPr>
            <p:spPr bwMode="auto">
              <a:xfrm>
                <a:off x="3207" y="76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55" name="Line 441"/>
              <p:cNvSpPr>
                <a:spLocks noChangeShapeType="1"/>
              </p:cNvSpPr>
              <p:nvPr/>
            </p:nvSpPr>
            <p:spPr bwMode="auto">
              <a:xfrm>
                <a:off x="3207" y="76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56" name="Freeform 442"/>
              <p:cNvSpPr>
                <a:spLocks/>
              </p:cNvSpPr>
              <p:nvPr/>
            </p:nvSpPr>
            <p:spPr bwMode="auto">
              <a:xfrm>
                <a:off x="3211" y="767"/>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57" name="Line 443"/>
              <p:cNvSpPr>
                <a:spLocks noChangeShapeType="1"/>
              </p:cNvSpPr>
              <p:nvPr/>
            </p:nvSpPr>
            <p:spPr bwMode="auto">
              <a:xfrm>
                <a:off x="3215" y="77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58" name="Freeform 444"/>
              <p:cNvSpPr>
                <a:spLocks/>
              </p:cNvSpPr>
              <p:nvPr/>
            </p:nvSpPr>
            <p:spPr bwMode="auto">
              <a:xfrm>
                <a:off x="3215" y="772"/>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59" name="Line 445"/>
              <p:cNvSpPr>
                <a:spLocks noChangeShapeType="1"/>
              </p:cNvSpPr>
              <p:nvPr/>
            </p:nvSpPr>
            <p:spPr bwMode="auto">
              <a:xfrm>
                <a:off x="3220" y="77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60" name="Freeform 446"/>
              <p:cNvSpPr>
                <a:spLocks/>
              </p:cNvSpPr>
              <p:nvPr/>
            </p:nvSpPr>
            <p:spPr bwMode="auto">
              <a:xfrm>
                <a:off x="3220" y="776"/>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61" name="Line 447"/>
              <p:cNvSpPr>
                <a:spLocks noChangeShapeType="1"/>
              </p:cNvSpPr>
              <p:nvPr/>
            </p:nvSpPr>
            <p:spPr bwMode="auto">
              <a:xfrm>
                <a:off x="3224" y="78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62" name="Freeform 448"/>
              <p:cNvSpPr>
                <a:spLocks/>
              </p:cNvSpPr>
              <p:nvPr/>
            </p:nvSpPr>
            <p:spPr bwMode="auto">
              <a:xfrm>
                <a:off x="3224" y="780"/>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63" name="Line 449"/>
              <p:cNvSpPr>
                <a:spLocks noChangeShapeType="1"/>
              </p:cNvSpPr>
              <p:nvPr/>
            </p:nvSpPr>
            <p:spPr bwMode="auto">
              <a:xfrm>
                <a:off x="3228" y="785"/>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64" name="Line 450"/>
              <p:cNvSpPr>
                <a:spLocks noChangeShapeType="1"/>
              </p:cNvSpPr>
              <p:nvPr/>
            </p:nvSpPr>
            <p:spPr bwMode="auto">
              <a:xfrm>
                <a:off x="3233" y="78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65" name="Freeform 451"/>
              <p:cNvSpPr>
                <a:spLocks/>
              </p:cNvSpPr>
              <p:nvPr/>
            </p:nvSpPr>
            <p:spPr bwMode="auto">
              <a:xfrm>
                <a:off x="3233" y="789"/>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66" name="Line 452"/>
              <p:cNvSpPr>
                <a:spLocks noChangeShapeType="1"/>
              </p:cNvSpPr>
              <p:nvPr/>
            </p:nvSpPr>
            <p:spPr bwMode="auto">
              <a:xfrm>
                <a:off x="3237" y="79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67" name="Freeform 453"/>
              <p:cNvSpPr>
                <a:spLocks/>
              </p:cNvSpPr>
              <p:nvPr/>
            </p:nvSpPr>
            <p:spPr bwMode="auto">
              <a:xfrm>
                <a:off x="3237" y="793"/>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68" name="Line 454"/>
              <p:cNvSpPr>
                <a:spLocks noChangeShapeType="1"/>
              </p:cNvSpPr>
              <p:nvPr/>
            </p:nvSpPr>
            <p:spPr bwMode="auto">
              <a:xfrm>
                <a:off x="3241" y="79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69" name="Line 455"/>
              <p:cNvSpPr>
                <a:spLocks noChangeShapeType="1"/>
              </p:cNvSpPr>
              <p:nvPr/>
            </p:nvSpPr>
            <p:spPr bwMode="auto">
              <a:xfrm>
                <a:off x="3246" y="79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70" name="Freeform 456"/>
              <p:cNvSpPr>
                <a:spLocks/>
              </p:cNvSpPr>
              <p:nvPr/>
            </p:nvSpPr>
            <p:spPr bwMode="auto">
              <a:xfrm>
                <a:off x="3246" y="802"/>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71" name="Line 457"/>
              <p:cNvSpPr>
                <a:spLocks noChangeShapeType="1"/>
              </p:cNvSpPr>
              <p:nvPr/>
            </p:nvSpPr>
            <p:spPr bwMode="auto">
              <a:xfrm>
                <a:off x="3250" y="80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72" name="Freeform 458"/>
              <p:cNvSpPr>
                <a:spLocks/>
              </p:cNvSpPr>
              <p:nvPr/>
            </p:nvSpPr>
            <p:spPr bwMode="auto">
              <a:xfrm>
                <a:off x="3250" y="811"/>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73" name="Line 459"/>
              <p:cNvSpPr>
                <a:spLocks noChangeShapeType="1"/>
              </p:cNvSpPr>
              <p:nvPr/>
            </p:nvSpPr>
            <p:spPr bwMode="auto">
              <a:xfrm>
                <a:off x="3254" y="81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74" name="Line 460"/>
              <p:cNvSpPr>
                <a:spLocks noChangeShapeType="1"/>
              </p:cNvSpPr>
              <p:nvPr/>
            </p:nvSpPr>
            <p:spPr bwMode="auto">
              <a:xfrm>
                <a:off x="3254" y="81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75" name="Line 461"/>
              <p:cNvSpPr>
                <a:spLocks noChangeShapeType="1"/>
              </p:cNvSpPr>
              <p:nvPr/>
            </p:nvSpPr>
            <p:spPr bwMode="auto">
              <a:xfrm>
                <a:off x="3259" y="8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76" name="Line 462"/>
              <p:cNvSpPr>
                <a:spLocks noChangeShapeType="1"/>
              </p:cNvSpPr>
              <p:nvPr/>
            </p:nvSpPr>
            <p:spPr bwMode="auto">
              <a:xfrm>
                <a:off x="3263" y="82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77" name="Freeform 463"/>
              <p:cNvSpPr>
                <a:spLocks/>
              </p:cNvSpPr>
              <p:nvPr/>
            </p:nvSpPr>
            <p:spPr bwMode="auto">
              <a:xfrm>
                <a:off x="3263" y="82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78" name="Line 464"/>
              <p:cNvSpPr>
                <a:spLocks noChangeShapeType="1"/>
              </p:cNvSpPr>
              <p:nvPr/>
            </p:nvSpPr>
            <p:spPr bwMode="auto">
              <a:xfrm>
                <a:off x="3267" y="8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79" name="Line 465"/>
              <p:cNvSpPr>
                <a:spLocks noChangeShapeType="1"/>
              </p:cNvSpPr>
              <p:nvPr/>
            </p:nvSpPr>
            <p:spPr bwMode="auto">
              <a:xfrm>
                <a:off x="3267" y="832"/>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80" name="Line 466"/>
              <p:cNvSpPr>
                <a:spLocks noChangeShapeType="1"/>
              </p:cNvSpPr>
              <p:nvPr/>
            </p:nvSpPr>
            <p:spPr bwMode="auto">
              <a:xfrm>
                <a:off x="3272" y="83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81" name="Line 467"/>
              <p:cNvSpPr>
                <a:spLocks noChangeShapeType="1"/>
              </p:cNvSpPr>
              <p:nvPr/>
            </p:nvSpPr>
            <p:spPr bwMode="auto">
              <a:xfrm>
                <a:off x="3276" y="8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82" name="Freeform 468"/>
              <p:cNvSpPr>
                <a:spLocks/>
              </p:cNvSpPr>
              <p:nvPr/>
            </p:nvSpPr>
            <p:spPr bwMode="auto">
              <a:xfrm>
                <a:off x="3276" y="845"/>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83" name="Line 469"/>
              <p:cNvSpPr>
                <a:spLocks noChangeShapeType="1"/>
              </p:cNvSpPr>
              <p:nvPr/>
            </p:nvSpPr>
            <p:spPr bwMode="auto">
              <a:xfrm>
                <a:off x="3280" y="85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84" name="Freeform 470"/>
              <p:cNvSpPr>
                <a:spLocks/>
              </p:cNvSpPr>
              <p:nvPr/>
            </p:nvSpPr>
            <p:spPr bwMode="auto">
              <a:xfrm>
                <a:off x="3280" y="854"/>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85" name="Line 471"/>
              <p:cNvSpPr>
                <a:spLocks noChangeShapeType="1"/>
              </p:cNvSpPr>
              <p:nvPr/>
            </p:nvSpPr>
            <p:spPr bwMode="auto">
              <a:xfrm>
                <a:off x="3285" y="858"/>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86" name="Line 472"/>
              <p:cNvSpPr>
                <a:spLocks noChangeShapeType="1"/>
              </p:cNvSpPr>
              <p:nvPr/>
            </p:nvSpPr>
            <p:spPr bwMode="auto">
              <a:xfrm>
                <a:off x="3285" y="86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87" name="Line 473"/>
              <p:cNvSpPr>
                <a:spLocks noChangeShapeType="1"/>
              </p:cNvSpPr>
              <p:nvPr/>
            </p:nvSpPr>
            <p:spPr bwMode="auto">
              <a:xfrm>
                <a:off x="3289" y="8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88" name="Line 474"/>
              <p:cNvSpPr>
                <a:spLocks noChangeShapeType="1"/>
              </p:cNvSpPr>
              <p:nvPr/>
            </p:nvSpPr>
            <p:spPr bwMode="auto">
              <a:xfrm>
                <a:off x="3293" y="87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89" name="Freeform 475"/>
              <p:cNvSpPr>
                <a:spLocks/>
              </p:cNvSpPr>
              <p:nvPr/>
            </p:nvSpPr>
            <p:spPr bwMode="auto">
              <a:xfrm>
                <a:off x="3293" y="876"/>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90" name="Line 476"/>
              <p:cNvSpPr>
                <a:spLocks noChangeShapeType="1"/>
              </p:cNvSpPr>
              <p:nvPr/>
            </p:nvSpPr>
            <p:spPr bwMode="auto">
              <a:xfrm>
                <a:off x="3298" y="8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91" name="Line 477"/>
              <p:cNvSpPr>
                <a:spLocks noChangeShapeType="1"/>
              </p:cNvSpPr>
              <p:nvPr/>
            </p:nvSpPr>
            <p:spPr bwMode="auto">
              <a:xfrm>
                <a:off x="3298" y="884"/>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92" name="Line 478"/>
              <p:cNvSpPr>
                <a:spLocks noChangeShapeType="1"/>
              </p:cNvSpPr>
              <p:nvPr/>
            </p:nvSpPr>
            <p:spPr bwMode="auto">
              <a:xfrm>
                <a:off x="3302" y="8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93" name="Line 479"/>
              <p:cNvSpPr>
                <a:spLocks noChangeShapeType="1"/>
              </p:cNvSpPr>
              <p:nvPr/>
            </p:nvSpPr>
            <p:spPr bwMode="auto">
              <a:xfrm>
                <a:off x="3306" y="89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94" name="Freeform 480"/>
              <p:cNvSpPr>
                <a:spLocks/>
              </p:cNvSpPr>
              <p:nvPr/>
            </p:nvSpPr>
            <p:spPr bwMode="auto">
              <a:xfrm>
                <a:off x="3306" y="897"/>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95" name="Line 481"/>
              <p:cNvSpPr>
                <a:spLocks noChangeShapeType="1"/>
              </p:cNvSpPr>
              <p:nvPr/>
            </p:nvSpPr>
            <p:spPr bwMode="auto">
              <a:xfrm>
                <a:off x="3311" y="902"/>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96" name="Freeform 482"/>
              <p:cNvSpPr>
                <a:spLocks/>
              </p:cNvSpPr>
              <p:nvPr/>
            </p:nvSpPr>
            <p:spPr bwMode="auto">
              <a:xfrm>
                <a:off x="3311" y="910"/>
                <a:ext cx="4" cy="5"/>
              </a:xfrm>
              <a:custGeom>
                <a:avLst/>
                <a:gdLst>
                  <a:gd name="T0" fmla="*/ 0 w 4"/>
                  <a:gd name="T1" fmla="*/ 0 h 5"/>
                  <a:gd name="T2" fmla="*/ 0 w 4"/>
                  <a:gd name="T3" fmla="*/ 5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5"/>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97" name="Line 483"/>
              <p:cNvSpPr>
                <a:spLocks noChangeShapeType="1"/>
              </p:cNvSpPr>
              <p:nvPr/>
            </p:nvSpPr>
            <p:spPr bwMode="auto">
              <a:xfrm>
                <a:off x="3315" y="91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98" name="Line 484"/>
              <p:cNvSpPr>
                <a:spLocks noChangeShapeType="1"/>
              </p:cNvSpPr>
              <p:nvPr/>
            </p:nvSpPr>
            <p:spPr bwMode="auto">
              <a:xfrm>
                <a:off x="3315" y="91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99" name="Line 485"/>
              <p:cNvSpPr>
                <a:spLocks noChangeShapeType="1"/>
              </p:cNvSpPr>
              <p:nvPr/>
            </p:nvSpPr>
            <p:spPr bwMode="auto">
              <a:xfrm>
                <a:off x="3319" y="92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00" name="Line 486"/>
              <p:cNvSpPr>
                <a:spLocks noChangeShapeType="1"/>
              </p:cNvSpPr>
              <p:nvPr/>
            </p:nvSpPr>
            <p:spPr bwMode="auto">
              <a:xfrm>
                <a:off x="3324" y="92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01" name="Freeform 487"/>
              <p:cNvSpPr>
                <a:spLocks/>
              </p:cNvSpPr>
              <p:nvPr/>
            </p:nvSpPr>
            <p:spPr bwMode="auto">
              <a:xfrm>
                <a:off x="3324" y="932"/>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02" name="Line 488"/>
              <p:cNvSpPr>
                <a:spLocks noChangeShapeType="1"/>
              </p:cNvSpPr>
              <p:nvPr/>
            </p:nvSpPr>
            <p:spPr bwMode="auto">
              <a:xfrm>
                <a:off x="3328" y="9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03" name="Line 489"/>
              <p:cNvSpPr>
                <a:spLocks noChangeShapeType="1"/>
              </p:cNvSpPr>
              <p:nvPr/>
            </p:nvSpPr>
            <p:spPr bwMode="auto">
              <a:xfrm>
                <a:off x="3328" y="94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04" name="Line 490"/>
              <p:cNvSpPr>
                <a:spLocks noChangeShapeType="1"/>
              </p:cNvSpPr>
              <p:nvPr/>
            </p:nvSpPr>
            <p:spPr bwMode="auto">
              <a:xfrm>
                <a:off x="3332" y="950"/>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05" name="Line 491"/>
              <p:cNvSpPr>
                <a:spLocks noChangeShapeType="1"/>
              </p:cNvSpPr>
              <p:nvPr/>
            </p:nvSpPr>
            <p:spPr bwMode="auto">
              <a:xfrm>
                <a:off x="3337" y="95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06" name="Freeform 492"/>
              <p:cNvSpPr>
                <a:spLocks/>
              </p:cNvSpPr>
              <p:nvPr/>
            </p:nvSpPr>
            <p:spPr bwMode="auto">
              <a:xfrm>
                <a:off x="3337" y="963"/>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07" name="Line 493"/>
              <p:cNvSpPr>
                <a:spLocks noChangeShapeType="1"/>
              </p:cNvSpPr>
              <p:nvPr/>
            </p:nvSpPr>
            <p:spPr bwMode="auto">
              <a:xfrm>
                <a:off x="3341" y="9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08" name="Freeform 494"/>
              <p:cNvSpPr>
                <a:spLocks/>
              </p:cNvSpPr>
              <p:nvPr/>
            </p:nvSpPr>
            <p:spPr bwMode="auto">
              <a:xfrm>
                <a:off x="3341" y="971"/>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09" name="Line 495"/>
              <p:cNvSpPr>
                <a:spLocks noChangeShapeType="1"/>
              </p:cNvSpPr>
              <p:nvPr/>
            </p:nvSpPr>
            <p:spPr bwMode="auto">
              <a:xfrm>
                <a:off x="3345" y="9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10" name="Line 496"/>
              <p:cNvSpPr>
                <a:spLocks noChangeShapeType="1"/>
              </p:cNvSpPr>
              <p:nvPr/>
            </p:nvSpPr>
            <p:spPr bwMode="auto">
              <a:xfrm>
                <a:off x="3345" y="98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11" name="Line 497"/>
              <p:cNvSpPr>
                <a:spLocks noChangeShapeType="1"/>
              </p:cNvSpPr>
              <p:nvPr/>
            </p:nvSpPr>
            <p:spPr bwMode="auto">
              <a:xfrm>
                <a:off x="3350" y="98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12" name="Line 498"/>
              <p:cNvSpPr>
                <a:spLocks noChangeShapeType="1"/>
              </p:cNvSpPr>
              <p:nvPr/>
            </p:nvSpPr>
            <p:spPr bwMode="auto">
              <a:xfrm>
                <a:off x="3354" y="99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13" name="Freeform 499"/>
              <p:cNvSpPr>
                <a:spLocks/>
              </p:cNvSpPr>
              <p:nvPr/>
            </p:nvSpPr>
            <p:spPr bwMode="auto">
              <a:xfrm>
                <a:off x="3354" y="1002"/>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14" name="Line 500"/>
              <p:cNvSpPr>
                <a:spLocks noChangeShapeType="1"/>
              </p:cNvSpPr>
              <p:nvPr/>
            </p:nvSpPr>
            <p:spPr bwMode="auto">
              <a:xfrm>
                <a:off x="3359" y="100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15" name="Line 501"/>
              <p:cNvSpPr>
                <a:spLocks noChangeShapeType="1"/>
              </p:cNvSpPr>
              <p:nvPr/>
            </p:nvSpPr>
            <p:spPr bwMode="auto">
              <a:xfrm>
                <a:off x="3359" y="1010"/>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16" name="Line 502"/>
              <p:cNvSpPr>
                <a:spLocks noChangeShapeType="1"/>
              </p:cNvSpPr>
              <p:nvPr/>
            </p:nvSpPr>
            <p:spPr bwMode="auto">
              <a:xfrm>
                <a:off x="3363" y="101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17" name="Line 503"/>
              <p:cNvSpPr>
                <a:spLocks noChangeShapeType="1"/>
              </p:cNvSpPr>
              <p:nvPr/>
            </p:nvSpPr>
            <p:spPr bwMode="auto">
              <a:xfrm>
                <a:off x="3367" y="1023"/>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18" name="Freeform 504"/>
              <p:cNvSpPr>
                <a:spLocks/>
              </p:cNvSpPr>
              <p:nvPr/>
            </p:nvSpPr>
            <p:spPr bwMode="auto">
              <a:xfrm>
                <a:off x="3367" y="1032"/>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19" name="Line 505"/>
              <p:cNvSpPr>
                <a:spLocks noChangeShapeType="1"/>
              </p:cNvSpPr>
              <p:nvPr/>
            </p:nvSpPr>
            <p:spPr bwMode="auto">
              <a:xfrm>
                <a:off x="3372" y="1036"/>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20" name="Freeform 506"/>
              <p:cNvSpPr>
                <a:spLocks/>
              </p:cNvSpPr>
              <p:nvPr/>
            </p:nvSpPr>
            <p:spPr bwMode="auto">
              <a:xfrm>
                <a:off x="3372" y="1041"/>
                <a:ext cx="4" cy="8"/>
              </a:xfrm>
              <a:custGeom>
                <a:avLst/>
                <a:gdLst>
                  <a:gd name="T0" fmla="*/ 0 w 4"/>
                  <a:gd name="T1" fmla="*/ 0 h 8"/>
                  <a:gd name="T2" fmla="*/ 0 w 4"/>
                  <a:gd name="T3" fmla="*/ 4 h 8"/>
                  <a:gd name="T4" fmla="*/ 4 w 4"/>
                  <a:gd name="T5" fmla="*/ 8 h 8"/>
                  <a:gd name="T6" fmla="*/ 0 60000 65536"/>
                  <a:gd name="T7" fmla="*/ 0 60000 65536"/>
                  <a:gd name="T8" fmla="*/ 0 60000 65536"/>
                </a:gdLst>
                <a:ahLst/>
                <a:cxnLst>
                  <a:cxn ang="T6">
                    <a:pos x="T0" y="T1"/>
                  </a:cxn>
                  <a:cxn ang="T7">
                    <a:pos x="T2" y="T3"/>
                  </a:cxn>
                  <a:cxn ang="T8">
                    <a:pos x="T4" y="T5"/>
                  </a:cxn>
                </a:cxnLst>
                <a:rect l="0" t="0" r="r" b="b"/>
                <a:pathLst>
                  <a:path w="4" h="8">
                    <a:moveTo>
                      <a:pt x="0" y="0"/>
                    </a:moveTo>
                    <a:lnTo>
                      <a:pt x="0" y="4"/>
                    </a:lnTo>
                    <a:lnTo>
                      <a:pt x="4" y="8"/>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21" name="Line 507"/>
              <p:cNvSpPr>
                <a:spLocks noChangeShapeType="1"/>
              </p:cNvSpPr>
              <p:nvPr/>
            </p:nvSpPr>
            <p:spPr bwMode="auto">
              <a:xfrm>
                <a:off x="3376" y="1049"/>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22" name="Line 508"/>
              <p:cNvSpPr>
                <a:spLocks noChangeShapeType="1"/>
              </p:cNvSpPr>
              <p:nvPr/>
            </p:nvSpPr>
            <p:spPr bwMode="auto">
              <a:xfrm>
                <a:off x="3376" y="1054"/>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23" name="Line 509"/>
              <p:cNvSpPr>
                <a:spLocks noChangeShapeType="1"/>
              </p:cNvSpPr>
              <p:nvPr/>
            </p:nvSpPr>
            <p:spPr bwMode="auto">
              <a:xfrm>
                <a:off x="3380" y="10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24" name="Line 510"/>
              <p:cNvSpPr>
                <a:spLocks noChangeShapeType="1"/>
              </p:cNvSpPr>
              <p:nvPr/>
            </p:nvSpPr>
            <p:spPr bwMode="auto">
              <a:xfrm>
                <a:off x="3385" y="106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25" name="Freeform 511"/>
              <p:cNvSpPr>
                <a:spLocks/>
              </p:cNvSpPr>
              <p:nvPr/>
            </p:nvSpPr>
            <p:spPr bwMode="auto">
              <a:xfrm>
                <a:off x="3385" y="1071"/>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26" name="Line 512"/>
              <p:cNvSpPr>
                <a:spLocks noChangeShapeType="1"/>
              </p:cNvSpPr>
              <p:nvPr/>
            </p:nvSpPr>
            <p:spPr bwMode="auto">
              <a:xfrm>
                <a:off x="3389" y="1080"/>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27" name="Line 513"/>
              <p:cNvSpPr>
                <a:spLocks noChangeShapeType="1"/>
              </p:cNvSpPr>
              <p:nvPr/>
            </p:nvSpPr>
            <p:spPr bwMode="auto">
              <a:xfrm>
                <a:off x="3389" y="1084"/>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28" name="Line 514"/>
              <p:cNvSpPr>
                <a:spLocks noChangeShapeType="1"/>
              </p:cNvSpPr>
              <p:nvPr/>
            </p:nvSpPr>
            <p:spPr bwMode="auto">
              <a:xfrm>
                <a:off x="3393" y="1093"/>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29" name="Line 515"/>
              <p:cNvSpPr>
                <a:spLocks noChangeShapeType="1"/>
              </p:cNvSpPr>
              <p:nvPr/>
            </p:nvSpPr>
            <p:spPr bwMode="auto">
              <a:xfrm>
                <a:off x="3398" y="10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30" name="Freeform 516"/>
              <p:cNvSpPr>
                <a:spLocks/>
              </p:cNvSpPr>
              <p:nvPr/>
            </p:nvSpPr>
            <p:spPr bwMode="auto">
              <a:xfrm>
                <a:off x="3398" y="1101"/>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31" name="Line 517"/>
              <p:cNvSpPr>
                <a:spLocks noChangeShapeType="1"/>
              </p:cNvSpPr>
              <p:nvPr/>
            </p:nvSpPr>
            <p:spPr bwMode="auto">
              <a:xfrm>
                <a:off x="3402" y="1110"/>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32" name="Freeform 518"/>
              <p:cNvSpPr>
                <a:spLocks/>
              </p:cNvSpPr>
              <p:nvPr/>
            </p:nvSpPr>
            <p:spPr bwMode="auto">
              <a:xfrm>
                <a:off x="3402" y="1115"/>
                <a:ext cx="4" cy="8"/>
              </a:xfrm>
              <a:custGeom>
                <a:avLst/>
                <a:gdLst>
                  <a:gd name="T0" fmla="*/ 0 w 4"/>
                  <a:gd name="T1" fmla="*/ 0 h 8"/>
                  <a:gd name="T2" fmla="*/ 0 w 4"/>
                  <a:gd name="T3" fmla="*/ 4 h 8"/>
                  <a:gd name="T4" fmla="*/ 4 w 4"/>
                  <a:gd name="T5" fmla="*/ 8 h 8"/>
                  <a:gd name="T6" fmla="*/ 0 60000 65536"/>
                  <a:gd name="T7" fmla="*/ 0 60000 65536"/>
                  <a:gd name="T8" fmla="*/ 0 60000 65536"/>
                </a:gdLst>
                <a:ahLst/>
                <a:cxnLst>
                  <a:cxn ang="T6">
                    <a:pos x="T0" y="T1"/>
                  </a:cxn>
                  <a:cxn ang="T7">
                    <a:pos x="T2" y="T3"/>
                  </a:cxn>
                  <a:cxn ang="T8">
                    <a:pos x="T4" y="T5"/>
                  </a:cxn>
                </a:cxnLst>
                <a:rect l="0" t="0" r="r" b="b"/>
                <a:pathLst>
                  <a:path w="4" h="8">
                    <a:moveTo>
                      <a:pt x="0" y="0"/>
                    </a:moveTo>
                    <a:lnTo>
                      <a:pt x="0" y="4"/>
                    </a:lnTo>
                    <a:lnTo>
                      <a:pt x="4" y="8"/>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33" name="Line 519"/>
              <p:cNvSpPr>
                <a:spLocks noChangeShapeType="1"/>
              </p:cNvSpPr>
              <p:nvPr/>
            </p:nvSpPr>
            <p:spPr bwMode="auto">
              <a:xfrm>
                <a:off x="3406" y="112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34" name="Line 520"/>
              <p:cNvSpPr>
                <a:spLocks noChangeShapeType="1"/>
              </p:cNvSpPr>
              <p:nvPr/>
            </p:nvSpPr>
            <p:spPr bwMode="auto">
              <a:xfrm>
                <a:off x="3406" y="1128"/>
                <a:ext cx="5"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35" name="Line 521"/>
              <p:cNvSpPr>
                <a:spLocks noChangeShapeType="1"/>
              </p:cNvSpPr>
              <p:nvPr/>
            </p:nvSpPr>
            <p:spPr bwMode="auto">
              <a:xfrm>
                <a:off x="3411" y="1136"/>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36" name="Line 522"/>
              <p:cNvSpPr>
                <a:spLocks noChangeShapeType="1"/>
              </p:cNvSpPr>
              <p:nvPr/>
            </p:nvSpPr>
            <p:spPr bwMode="auto">
              <a:xfrm>
                <a:off x="3415" y="114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37" name="Freeform 523"/>
              <p:cNvSpPr>
                <a:spLocks/>
              </p:cNvSpPr>
              <p:nvPr/>
            </p:nvSpPr>
            <p:spPr bwMode="auto">
              <a:xfrm>
                <a:off x="3415" y="1145"/>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38" name="Line 524"/>
              <p:cNvSpPr>
                <a:spLocks noChangeShapeType="1"/>
              </p:cNvSpPr>
              <p:nvPr/>
            </p:nvSpPr>
            <p:spPr bwMode="auto">
              <a:xfrm>
                <a:off x="3419" y="115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39" name="Line 525"/>
              <p:cNvSpPr>
                <a:spLocks noChangeShapeType="1"/>
              </p:cNvSpPr>
              <p:nvPr/>
            </p:nvSpPr>
            <p:spPr bwMode="auto">
              <a:xfrm>
                <a:off x="3419" y="1158"/>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40" name="Line 526"/>
              <p:cNvSpPr>
                <a:spLocks noChangeShapeType="1"/>
              </p:cNvSpPr>
              <p:nvPr/>
            </p:nvSpPr>
            <p:spPr bwMode="auto">
              <a:xfrm>
                <a:off x="3424" y="1167"/>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41" name="Line 527"/>
              <p:cNvSpPr>
                <a:spLocks noChangeShapeType="1"/>
              </p:cNvSpPr>
              <p:nvPr/>
            </p:nvSpPr>
            <p:spPr bwMode="auto">
              <a:xfrm>
                <a:off x="3428" y="1171"/>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42" name="Freeform 528"/>
              <p:cNvSpPr>
                <a:spLocks/>
              </p:cNvSpPr>
              <p:nvPr/>
            </p:nvSpPr>
            <p:spPr bwMode="auto">
              <a:xfrm>
                <a:off x="3428" y="1180"/>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43" name="Line 529"/>
              <p:cNvSpPr>
                <a:spLocks noChangeShapeType="1"/>
              </p:cNvSpPr>
              <p:nvPr/>
            </p:nvSpPr>
            <p:spPr bwMode="auto">
              <a:xfrm>
                <a:off x="3432" y="118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44" name="Freeform 530"/>
              <p:cNvSpPr>
                <a:spLocks/>
              </p:cNvSpPr>
              <p:nvPr/>
            </p:nvSpPr>
            <p:spPr bwMode="auto">
              <a:xfrm>
                <a:off x="3432" y="1188"/>
                <a:ext cx="5" cy="9"/>
              </a:xfrm>
              <a:custGeom>
                <a:avLst/>
                <a:gdLst>
                  <a:gd name="T0" fmla="*/ 0 w 5"/>
                  <a:gd name="T1" fmla="*/ 0 h 9"/>
                  <a:gd name="T2" fmla="*/ 0 w 5"/>
                  <a:gd name="T3" fmla="*/ 5 h 9"/>
                  <a:gd name="T4" fmla="*/ 5 w 5"/>
                  <a:gd name="T5" fmla="*/ 9 h 9"/>
                  <a:gd name="T6" fmla="*/ 0 60000 65536"/>
                  <a:gd name="T7" fmla="*/ 0 60000 65536"/>
                  <a:gd name="T8" fmla="*/ 0 60000 65536"/>
                </a:gdLst>
                <a:ahLst/>
                <a:cxnLst>
                  <a:cxn ang="T6">
                    <a:pos x="T0" y="T1"/>
                  </a:cxn>
                  <a:cxn ang="T7">
                    <a:pos x="T2" y="T3"/>
                  </a:cxn>
                  <a:cxn ang="T8">
                    <a:pos x="T4" y="T5"/>
                  </a:cxn>
                </a:cxnLst>
                <a:rect l="0" t="0" r="r" b="b"/>
                <a:pathLst>
                  <a:path w="5" h="9">
                    <a:moveTo>
                      <a:pt x="0" y="0"/>
                    </a:moveTo>
                    <a:lnTo>
                      <a:pt x="0" y="5"/>
                    </a:lnTo>
                    <a:lnTo>
                      <a:pt x="5"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45" name="Line 531"/>
              <p:cNvSpPr>
                <a:spLocks noChangeShapeType="1"/>
              </p:cNvSpPr>
              <p:nvPr/>
            </p:nvSpPr>
            <p:spPr bwMode="auto">
              <a:xfrm>
                <a:off x="3437" y="11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46" name="Line 532"/>
              <p:cNvSpPr>
                <a:spLocks noChangeShapeType="1"/>
              </p:cNvSpPr>
              <p:nvPr/>
            </p:nvSpPr>
            <p:spPr bwMode="auto">
              <a:xfrm>
                <a:off x="3437" y="1201"/>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47" name="Line 533"/>
              <p:cNvSpPr>
                <a:spLocks noChangeShapeType="1"/>
              </p:cNvSpPr>
              <p:nvPr/>
            </p:nvSpPr>
            <p:spPr bwMode="auto">
              <a:xfrm>
                <a:off x="3441" y="12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48" name="Line 534"/>
              <p:cNvSpPr>
                <a:spLocks noChangeShapeType="1"/>
              </p:cNvSpPr>
              <p:nvPr/>
            </p:nvSpPr>
            <p:spPr bwMode="auto">
              <a:xfrm>
                <a:off x="3445" y="1214"/>
                <a:ext cx="0"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49" name="Freeform 535"/>
              <p:cNvSpPr>
                <a:spLocks/>
              </p:cNvSpPr>
              <p:nvPr/>
            </p:nvSpPr>
            <p:spPr bwMode="auto">
              <a:xfrm>
                <a:off x="3445" y="1223"/>
                <a:ext cx="5" cy="4"/>
              </a:xfrm>
              <a:custGeom>
                <a:avLst/>
                <a:gdLst>
                  <a:gd name="T0" fmla="*/ 0 w 5"/>
                  <a:gd name="T1" fmla="*/ 0 h 4"/>
                  <a:gd name="T2" fmla="*/ 0 w 5"/>
                  <a:gd name="T3" fmla="*/ 4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4"/>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50" name="Line 536"/>
              <p:cNvSpPr>
                <a:spLocks noChangeShapeType="1"/>
              </p:cNvSpPr>
              <p:nvPr/>
            </p:nvSpPr>
            <p:spPr bwMode="auto">
              <a:xfrm>
                <a:off x="3450" y="122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51" name="Line 537"/>
              <p:cNvSpPr>
                <a:spLocks noChangeShapeType="1"/>
              </p:cNvSpPr>
              <p:nvPr/>
            </p:nvSpPr>
            <p:spPr bwMode="auto">
              <a:xfrm>
                <a:off x="3450" y="123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52" name="Line 538"/>
              <p:cNvSpPr>
                <a:spLocks noChangeShapeType="1"/>
              </p:cNvSpPr>
              <p:nvPr/>
            </p:nvSpPr>
            <p:spPr bwMode="auto">
              <a:xfrm>
                <a:off x="3454" y="124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53" name="Line 539"/>
              <p:cNvSpPr>
                <a:spLocks noChangeShapeType="1"/>
              </p:cNvSpPr>
              <p:nvPr/>
            </p:nvSpPr>
            <p:spPr bwMode="auto">
              <a:xfrm>
                <a:off x="3458" y="1245"/>
                <a:ext cx="0"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54" name="Freeform 540"/>
              <p:cNvSpPr>
                <a:spLocks/>
              </p:cNvSpPr>
              <p:nvPr/>
            </p:nvSpPr>
            <p:spPr bwMode="auto">
              <a:xfrm>
                <a:off x="3458" y="1253"/>
                <a:ext cx="5" cy="5"/>
              </a:xfrm>
              <a:custGeom>
                <a:avLst/>
                <a:gdLst>
                  <a:gd name="T0" fmla="*/ 0 w 5"/>
                  <a:gd name="T1" fmla="*/ 0 h 5"/>
                  <a:gd name="T2" fmla="*/ 0 w 5"/>
                  <a:gd name="T3" fmla="*/ 5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5"/>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55" name="Line 541"/>
              <p:cNvSpPr>
                <a:spLocks noChangeShapeType="1"/>
              </p:cNvSpPr>
              <p:nvPr/>
            </p:nvSpPr>
            <p:spPr bwMode="auto">
              <a:xfrm>
                <a:off x="3463" y="12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56" name="Freeform 542"/>
              <p:cNvSpPr>
                <a:spLocks/>
              </p:cNvSpPr>
              <p:nvPr/>
            </p:nvSpPr>
            <p:spPr bwMode="auto">
              <a:xfrm>
                <a:off x="3463" y="1262"/>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57" name="Line 543"/>
              <p:cNvSpPr>
                <a:spLocks noChangeShapeType="1"/>
              </p:cNvSpPr>
              <p:nvPr/>
            </p:nvSpPr>
            <p:spPr bwMode="auto">
              <a:xfrm>
                <a:off x="3467" y="12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58" name="Line 544"/>
              <p:cNvSpPr>
                <a:spLocks noChangeShapeType="1"/>
              </p:cNvSpPr>
              <p:nvPr/>
            </p:nvSpPr>
            <p:spPr bwMode="auto">
              <a:xfrm>
                <a:off x="3467" y="1275"/>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59" name="Line 545"/>
              <p:cNvSpPr>
                <a:spLocks noChangeShapeType="1"/>
              </p:cNvSpPr>
              <p:nvPr/>
            </p:nvSpPr>
            <p:spPr bwMode="auto">
              <a:xfrm>
                <a:off x="3471" y="128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60" name="Line 546"/>
              <p:cNvSpPr>
                <a:spLocks noChangeShapeType="1"/>
              </p:cNvSpPr>
              <p:nvPr/>
            </p:nvSpPr>
            <p:spPr bwMode="auto">
              <a:xfrm>
                <a:off x="3476" y="12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61" name="Freeform 547"/>
              <p:cNvSpPr>
                <a:spLocks/>
              </p:cNvSpPr>
              <p:nvPr/>
            </p:nvSpPr>
            <p:spPr bwMode="auto">
              <a:xfrm>
                <a:off x="3476" y="1292"/>
                <a:ext cx="4" cy="9"/>
              </a:xfrm>
              <a:custGeom>
                <a:avLst/>
                <a:gdLst>
                  <a:gd name="T0" fmla="*/ 0 w 4"/>
                  <a:gd name="T1" fmla="*/ 0 h 9"/>
                  <a:gd name="T2" fmla="*/ 0 w 4"/>
                  <a:gd name="T3" fmla="*/ 5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5"/>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62" name="Line 548"/>
              <p:cNvSpPr>
                <a:spLocks noChangeShapeType="1"/>
              </p:cNvSpPr>
              <p:nvPr/>
            </p:nvSpPr>
            <p:spPr bwMode="auto">
              <a:xfrm>
                <a:off x="3480" y="1301"/>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63" name="Line 549"/>
              <p:cNvSpPr>
                <a:spLocks noChangeShapeType="1"/>
              </p:cNvSpPr>
              <p:nvPr/>
            </p:nvSpPr>
            <p:spPr bwMode="auto">
              <a:xfrm>
                <a:off x="3480" y="1306"/>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64" name="Line 550"/>
              <p:cNvSpPr>
                <a:spLocks noChangeShapeType="1"/>
              </p:cNvSpPr>
              <p:nvPr/>
            </p:nvSpPr>
            <p:spPr bwMode="auto">
              <a:xfrm>
                <a:off x="3484" y="131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65" name="Line 551"/>
              <p:cNvSpPr>
                <a:spLocks noChangeShapeType="1"/>
              </p:cNvSpPr>
              <p:nvPr/>
            </p:nvSpPr>
            <p:spPr bwMode="auto">
              <a:xfrm>
                <a:off x="3489" y="131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66" name="Freeform 552"/>
              <p:cNvSpPr>
                <a:spLocks/>
              </p:cNvSpPr>
              <p:nvPr/>
            </p:nvSpPr>
            <p:spPr bwMode="auto">
              <a:xfrm>
                <a:off x="3489" y="1323"/>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67" name="Line 553"/>
              <p:cNvSpPr>
                <a:spLocks noChangeShapeType="1"/>
              </p:cNvSpPr>
              <p:nvPr/>
            </p:nvSpPr>
            <p:spPr bwMode="auto">
              <a:xfrm>
                <a:off x="3493" y="1332"/>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68" name="Line 554"/>
              <p:cNvSpPr>
                <a:spLocks noChangeShapeType="1"/>
              </p:cNvSpPr>
              <p:nvPr/>
            </p:nvSpPr>
            <p:spPr bwMode="auto">
              <a:xfrm>
                <a:off x="3493" y="1336"/>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69" name="Line 555"/>
              <p:cNvSpPr>
                <a:spLocks noChangeShapeType="1"/>
              </p:cNvSpPr>
              <p:nvPr/>
            </p:nvSpPr>
            <p:spPr bwMode="auto">
              <a:xfrm>
                <a:off x="3497" y="1340"/>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70" name="Line 556"/>
              <p:cNvSpPr>
                <a:spLocks noChangeShapeType="1"/>
              </p:cNvSpPr>
              <p:nvPr/>
            </p:nvSpPr>
            <p:spPr bwMode="auto">
              <a:xfrm>
                <a:off x="3502" y="13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71" name="Freeform 557"/>
              <p:cNvSpPr>
                <a:spLocks/>
              </p:cNvSpPr>
              <p:nvPr/>
            </p:nvSpPr>
            <p:spPr bwMode="auto">
              <a:xfrm>
                <a:off x="3502" y="1353"/>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72" name="Line 558"/>
              <p:cNvSpPr>
                <a:spLocks noChangeShapeType="1"/>
              </p:cNvSpPr>
              <p:nvPr/>
            </p:nvSpPr>
            <p:spPr bwMode="auto">
              <a:xfrm>
                <a:off x="3506" y="135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73" name="Freeform 559"/>
              <p:cNvSpPr>
                <a:spLocks/>
              </p:cNvSpPr>
              <p:nvPr/>
            </p:nvSpPr>
            <p:spPr bwMode="auto">
              <a:xfrm>
                <a:off x="3506" y="1362"/>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74" name="Line 560"/>
              <p:cNvSpPr>
                <a:spLocks noChangeShapeType="1"/>
              </p:cNvSpPr>
              <p:nvPr/>
            </p:nvSpPr>
            <p:spPr bwMode="auto">
              <a:xfrm>
                <a:off x="3510" y="137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75" name="Line 561"/>
              <p:cNvSpPr>
                <a:spLocks noChangeShapeType="1"/>
              </p:cNvSpPr>
              <p:nvPr/>
            </p:nvSpPr>
            <p:spPr bwMode="auto">
              <a:xfrm>
                <a:off x="3510" y="1375"/>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76" name="Line 562"/>
              <p:cNvSpPr>
                <a:spLocks noChangeShapeType="1"/>
              </p:cNvSpPr>
              <p:nvPr/>
            </p:nvSpPr>
            <p:spPr bwMode="auto">
              <a:xfrm>
                <a:off x="3515" y="1379"/>
                <a:ext cx="4"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77" name="Line 563"/>
              <p:cNvSpPr>
                <a:spLocks noChangeShapeType="1"/>
              </p:cNvSpPr>
              <p:nvPr/>
            </p:nvSpPr>
            <p:spPr bwMode="auto">
              <a:xfrm>
                <a:off x="3519" y="1388"/>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78" name="Freeform 564"/>
              <p:cNvSpPr>
                <a:spLocks/>
              </p:cNvSpPr>
              <p:nvPr/>
            </p:nvSpPr>
            <p:spPr bwMode="auto">
              <a:xfrm>
                <a:off x="3519" y="1392"/>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79" name="Line 565"/>
              <p:cNvSpPr>
                <a:spLocks noChangeShapeType="1"/>
              </p:cNvSpPr>
              <p:nvPr/>
            </p:nvSpPr>
            <p:spPr bwMode="auto">
              <a:xfrm>
                <a:off x="3523" y="139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80" name="Line 566"/>
              <p:cNvSpPr>
                <a:spLocks noChangeShapeType="1"/>
              </p:cNvSpPr>
              <p:nvPr/>
            </p:nvSpPr>
            <p:spPr bwMode="auto">
              <a:xfrm>
                <a:off x="3523" y="1401"/>
                <a:ext cx="5" cy="9"/>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81" name="Line 567"/>
              <p:cNvSpPr>
                <a:spLocks noChangeShapeType="1"/>
              </p:cNvSpPr>
              <p:nvPr/>
            </p:nvSpPr>
            <p:spPr bwMode="auto">
              <a:xfrm>
                <a:off x="3528" y="141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82" name="Line 568"/>
              <p:cNvSpPr>
                <a:spLocks noChangeShapeType="1"/>
              </p:cNvSpPr>
              <p:nvPr/>
            </p:nvSpPr>
            <p:spPr bwMode="auto">
              <a:xfrm>
                <a:off x="3532" y="14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83" name="Freeform 569"/>
              <p:cNvSpPr>
                <a:spLocks/>
              </p:cNvSpPr>
              <p:nvPr/>
            </p:nvSpPr>
            <p:spPr bwMode="auto">
              <a:xfrm>
                <a:off x="3532" y="1418"/>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84" name="Line 570"/>
              <p:cNvSpPr>
                <a:spLocks noChangeShapeType="1"/>
              </p:cNvSpPr>
              <p:nvPr/>
            </p:nvSpPr>
            <p:spPr bwMode="auto">
              <a:xfrm>
                <a:off x="3537" y="1423"/>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85" name="Freeform 571"/>
              <p:cNvSpPr>
                <a:spLocks/>
              </p:cNvSpPr>
              <p:nvPr/>
            </p:nvSpPr>
            <p:spPr bwMode="auto">
              <a:xfrm>
                <a:off x="3537" y="1427"/>
                <a:ext cx="4" cy="9"/>
              </a:xfrm>
              <a:custGeom>
                <a:avLst/>
                <a:gdLst>
                  <a:gd name="T0" fmla="*/ 0 w 4"/>
                  <a:gd name="T1" fmla="*/ 0 h 9"/>
                  <a:gd name="T2" fmla="*/ 0 w 4"/>
                  <a:gd name="T3" fmla="*/ 4 h 9"/>
                  <a:gd name="T4" fmla="*/ 4 w 4"/>
                  <a:gd name="T5" fmla="*/ 9 h 9"/>
                  <a:gd name="T6" fmla="*/ 0 60000 65536"/>
                  <a:gd name="T7" fmla="*/ 0 60000 65536"/>
                  <a:gd name="T8" fmla="*/ 0 60000 65536"/>
                </a:gdLst>
                <a:ahLst/>
                <a:cxnLst>
                  <a:cxn ang="T6">
                    <a:pos x="T0" y="T1"/>
                  </a:cxn>
                  <a:cxn ang="T7">
                    <a:pos x="T2" y="T3"/>
                  </a:cxn>
                  <a:cxn ang="T8">
                    <a:pos x="T4" y="T5"/>
                  </a:cxn>
                </a:cxnLst>
                <a:rect l="0" t="0" r="r" b="b"/>
                <a:pathLst>
                  <a:path w="4" h="9">
                    <a:moveTo>
                      <a:pt x="0" y="0"/>
                    </a:moveTo>
                    <a:lnTo>
                      <a:pt x="0" y="4"/>
                    </a:lnTo>
                    <a:lnTo>
                      <a:pt x="4" y="9"/>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86" name="Line 572"/>
              <p:cNvSpPr>
                <a:spLocks noChangeShapeType="1"/>
              </p:cNvSpPr>
              <p:nvPr/>
            </p:nvSpPr>
            <p:spPr bwMode="auto">
              <a:xfrm>
                <a:off x="3541" y="14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87" name="Line 573"/>
              <p:cNvSpPr>
                <a:spLocks noChangeShapeType="1"/>
              </p:cNvSpPr>
              <p:nvPr/>
            </p:nvSpPr>
            <p:spPr bwMode="auto">
              <a:xfrm>
                <a:off x="3541" y="1440"/>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88" name="Line 574"/>
              <p:cNvSpPr>
                <a:spLocks noChangeShapeType="1"/>
              </p:cNvSpPr>
              <p:nvPr/>
            </p:nvSpPr>
            <p:spPr bwMode="auto">
              <a:xfrm>
                <a:off x="3545" y="1444"/>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89" name="Line 575"/>
              <p:cNvSpPr>
                <a:spLocks noChangeShapeType="1"/>
              </p:cNvSpPr>
              <p:nvPr/>
            </p:nvSpPr>
            <p:spPr bwMode="auto">
              <a:xfrm>
                <a:off x="3550" y="1449"/>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90" name="Freeform 576"/>
              <p:cNvSpPr>
                <a:spLocks/>
              </p:cNvSpPr>
              <p:nvPr/>
            </p:nvSpPr>
            <p:spPr bwMode="auto">
              <a:xfrm>
                <a:off x="3550" y="145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91" name="Line 577"/>
              <p:cNvSpPr>
                <a:spLocks noChangeShapeType="1"/>
              </p:cNvSpPr>
              <p:nvPr/>
            </p:nvSpPr>
            <p:spPr bwMode="auto">
              <a:xfrm>
                <a:off x="3554" y="14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92" name="Line 578"/>
              <p:cNvSpPr>
                <a:spLocks noChangeShapeType="1"/>
              </p:cNvSpPr>
              <p:nvPr/>
            </p:nvSpPr>
            <p:spPr bwMode="auto">
              <a:xfrm>
                <a:off x="3554" y="1462"/>
                <a:ext cx="4" cy="8"/>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93" name="Line 579"/>
              <p:cNvSpPr>
                <a:spLocks noChangeShapeType="1"/>
              </p:cNvSpPr>
              <p:nvPr/>
            </p:nvSpPr>
            <p:spPr bwMode="auto">
              <a:xfrm>
                <a:off x="3558" y="1470"/>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94" name="Line 580"/>
              <p:cNvSpPr>
                <a:spLocks noChangeShapeType="1"/>
              </p:cNvSpPr>
              <p:nvPr/>
            </p:nvSpPr>
            <p:spPr bwMode="auto">
              <a:xfrm>
                <a:off x="3563" y="14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95" name="Freeform 581"/>
              <p:cNvSpPr>
                <a:spLocks/>
              </p:cNvSpPr>
              <p:nvPr/>
            </p:nvSpPr>
            <p:spPr bwMode="auto">
              <a:xfrm>
                <a:off x="3563" y="1479"/>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96" name="Line 582"/>
              <p:cNvSpPr>
                <a:spLocks noChangeShapeType="1"/>
              </p:cNvSpPr>
              <p:nvPr/>
            </p:nvSpPr>
            <p:spPr bwMode="auto">
              <a:xfrm>
                <a:off x="3567" y="14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97" name="Freeform 583"/>
              <p:cNvSpPr>
                <a:spLocks/>
              </p:cNvSpPr>
              <p:nvPr/>
            </p:nvSpPr>
            <p:spPr bwMode="auto">
              <a:xfrm>
                <a:off x="3567" y="1488"/>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098" name="Line 584"/>
              <p:cNvSpPr>
                <a:spLocks noChangeShapeType="1"/>
              </p:cNvSpPr>
              <p:nvPr/>
            </p:nvSpPr>
            <p:spPr bwMode="auto">
              <a:xfrm>
                <a:off x="3571" y="149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099" name="Line 585"/>
              <p:cNvSpPr>
                <a:spLocks noChangeShapeType="1"/>
              </p:cNvSpPr>
              <p:nvPr/>
            </p:nvSpPr>
            <p:spPr bwMode="auto">
              <a:xfrm>
                <a:off x="3571" y="1497"/>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00" name="Line 586"/>
              <p:cNvSpPr>
                <a:spLocks noChangeShapeType="1"/>
              </p:cNvSpPr>
              <p:nvPr/>
            </p:nvSpPr>
            <p:spPr bwMode="auto">
              <a:xfrm>
                <a:off x="3576" y="1501"/>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01" name="Line 587"/>
              <p:cNvSpPr>
                <a:spLocks noChangeShapeType="1"/>
              </p:cNvSpPr>
              <p:nvPr/>
            </p:nvSpPr>
            <p:spPr bwMode="auto">
              <a:xfrm>
                <a:off x="3580" y="1505"/>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02" name="Freeform 588"/>
              <p:cNvSpPr>
                <a:spLocks/>
              </p:cNvSpPr>
              <p:nvPr/>
            </p:nvSpPr>
            <p:spPr bwMode="auto">
              <a:xfrm>
                <a:off x="3580" y="1510"/>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03" name="Line 589"/>
              <p:cNvSpPr>
                <a:spLocks noChangeShapeType="1"/>
              </p:cNvSpPr>
              <p:nvPr/>
            </p:nvSpPr>
            <p:spPr bwMode="auto">
              <a:xfrm>
                <a:off x="3584" y="151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04" name="Line 590"/>
              <p:cNvSpPr>
                <a:spLocks noChangeShapeType="1"/>
              </p:cNvSpPr>
              <p:nvPr/>
            </p:nvSpPr>
            <p:spPr bwMode="auto">
              <a:xfrm>
                <a:off x="3584" y="1518"/>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05" name="Line 591"/>
              <p:cNvSpPr>
                <a:spLocks noChangeShapeType="1"/>
              </p:cNvSpPr>
              <p:nvPr/>
            </p:nvSpPr>
            <p:spPr bwMode="auto">
              <a:xfrm>
                <a:off x="3589" y="152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06" name="Line 592"/>
              <p:cNvSpPr>
                <a:spLocks noChangeShapeType="1"/>
              </p:cNvSpPr>
              <p:nvPr/>
            </p:nvSpPr>
            <p:spPr bwMode="auto">
              <a:xfrm>
                <a:off x="3593" y="152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07" name="Freeform 593"/>
              <p:cNvSpPr>
                <a:spLocks/>
              </p:cNvSpPr>
              <p:nvPr/>
            </p:nvSpPr>
            <p:spPr bwMode="auto">
              <a:xfrm>
                <a:off x="3593" y="1531"/>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08" name="Line 594"/>
              <p:cNvSpPr>
                <a:spLocks noChangeShapeType="1"/>
              </p:cNvSpPr>
              <p:nvPr/>
            </p:nvSpPr>
            <p:spPr bwMode="auto">
              <a:xfrm>
                <a:off x="3597" y="153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09" name="Freeform 595"/>
              <p:cNvSpPr>
                <a:spLocks/>
              </p:cNvSpPr>
              <p:nvPr/>
            </p:nvSpPr>
            <p:spPr bwMode="auto">
              <a:xfrm>
                <a:off x="3597" y="1540"/>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10" name="Line 596"/>
              <p:cNvSpPr>
                <a:spLocks noChangeShapeType="1"/>
              </p:cNvSpPr>
              <p:nvPr/>
            </p:nvSpPr>
            <p:spPr bwMode="auto">
              <a:xfrm>
                <a:off x="3602" y="1544"/>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11" name="Line 597"/>
              <p:cNvSpPr>
                <a:spLocks noChangeShapeType="1"/>
              </p:cNvSpPr>
              <p:nvPr/>
            </p:nvSpPr>
            <p:spPr bwMode="auto">
              <a:xfrm>
                <a:off x="3602" y="1549"/>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12" name="Line 598"/>
              <p:cNvSpPr>
                <a:spLocks noChangeShapeType="1"/>
              </p:cNvSpPr>
              <p:nvPr/>
            </p:nvSpPr>
            <p:spPr bwMode="auto">
              <a:xfrm>
                <a:off x="3606" y="1553"/>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13" name="Line 599"/>
              <p:cNvSpPr>
                <a:spLocks noChangeShapeType="1"/>
              </p:cNvSpPr>
              <p:nvPr/>
            </p:nvSpPr>
            <p:spPr bwMode="auto">
              <a:xfrm>
                <a:off x="3610" y="1557"/>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14" name="Freeform 600"/>
              <p:cNvSpPr>
                <a:spLocks/>
              </p:cNvSpPr>
              <p:nvPr/>
            </p:nvSpPr>
            <p:spPr bwMode="auto">
              <a:xfrm>
                <a:off x="3610" y="1562"/>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15" name="Line 601"/>
              <p:cNvSpPr>
                <a:spLocks noChangeShapeType="1"/>
              </p:cNvSpPr>
              <p:nvPr/>
            </p:nvSpPr>
            <p:spPr bwMode="auto">
              <a:xfrm>
                <a:off x="3615" y="1566"/>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16" name="Line 602"/>
              <p:cNvSpPr>
                <a:spLocks noChangeShapeType="1"/>
              </p:cNvSpPr>
              <p:nvPr/>
            </p:nvSpPr>
            <p:spPr bwMode="auto">
              <a:xfrm>
                <a:off x="3615" y="15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17" name="Line 603"/>
              <p:cNvSpPr>
                <a:spLocks noChangeShapeType="1"/>
              </p:cNvSpPr>
              <p:nvPr/>
            </p:nvSpPr>
            <p:spPr bwMode="auto">
              <a:xfrm>
                <a:off x="3619" y="1570"/>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18" name="Line 604"/>
              <p:cNvSpPr>
                <a:spLocks noChangeShapeType="1"/>
              </p:cNvSpPr>
              <p:nvPr/>
            </p:nvSpPr>
            <p:spPr bwMode="auto">
              <a:xfrm>
                <a:off x="3623" y="1575"/>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19" name="Freeform 605"/>
              <p:cNvSpPr>
                <a:spLocks/>
              </p:cNvSpPr>
              <p:nvPr/>
            </p:nvSpPr>
            <p:spPr bwMode="auto">
              <a:xfrm>
                <a:off x="3623" y="1579"/>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20" name="Line 606"/>
              <p:cNvSpPr>
                <a:spLocks noChangeShapeType="1"/>
              </p:cNvSpPr>
              <p:nvPr/>
            </p:nvSpPr>
            <p:spPr bwMode="auto">
              <a:xfrm>
                <a:off x="3628" y="1583"/>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21" name="Freeform 607"/>
              <p:cNvSpPr>
                <a:spLocks/>
              </p:cNvSpPr>
              <p:nvPr/>
            </p:nvSpPr>
            <p:spPr bwMode="auto">
              <a:xfrm>
                <a:off x="3628" y="1588"/>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6122" name="Line 608"/>
              <p:cNvSpPr>
                <a:spLocks noChangeShapeType="1"/>
              </p:cNvSpPr>
              <p:nvPr/>
            </p:nvSpPr>
            <p:spPr bwMode="auto">
              <a:xfrm>
                <a:off x="3632" y="1592"/>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23" name="Line 609"/>
              <p:cNvSpPr>
                <a:spLocks noChangeShapeType="1"/>
              </p:cNvSpPr>
              <p:nvPr/>
            </p:nvSpPr>
            <p:spPr bwMode="auto">
              <a:xfrm>
                <a:off x="3632" y="1592"/>
                <a:ext cx="4"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24" name="Line 610"/>
              <p:cNvSpPr>
                <a:spLocks noChangeShapeType="1"/>
              </p:cNvSpPr>
              <p:nvPr/>
            </p:nvSpPr>
            <p:spPr bwMode="auto">
              <a:xfrm>
                <a:off x="3636" y="1596"/>
                <a:ext cx="5"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125" name="Line 611"/>
              <p:cNvSpPr>
                <a:spLocks noChangeShapeType="1"/>
              </p:cNvSpPr>
              <p:nvPr/>
            </p:nvSpPr>
            <p:spPr bwMode="auto">
              <a:xfrm>
                <a:off x="3641" y="1601"/>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5713" name="Group 612"/>
            <p:cNvGrpSpPr>
              <a:grpSpLocks/>
            </p:cNvGrpSpPr>
            <p:nvPr/>
          </p:nvGrpSpPr>
          <p:grpSpPr bwMode="auto">
            <a:xfrm>
              <a:off x="3585" y="3512"/>
              <a:ext cx="730" cy="362"/>
              <a:chOff x="3641" y="1605"/>
              <a:chExt cx="508" cy="178"/>
            </a:xfrm>
          </p:grpSpPr>
          <p:sp>
            <p:nvSpPr>
              <p:cNvPr id="15726" name="Freeform 613"/>
              <p:cNvSpPr>
                <a:spLocks/>
              </p:cNvSpPr>
              <p:nvPr/>
            </p:nvSpPr>
            <p:spPr bwMode="auto">
              <a:xfrm>
                <a:off x="3641" y="1605"/>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27" name="Line 614"/>
              <p:cNvSpPr>
                <a:spLocks noChangeShapeType="1"/>
              </p:cNvSpPr>
              <p:nvPr/>
            </p:nvSpPr>
            <p:spPr bwMode="auto">
              <a:xfrm>
                <a:off x="3645" y="160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28" name="Line 615"/>
              <p:cNvSpPr>
                <a:spLocks noChangeShapeType="1"/>
              </p:cNvSpPr>
              <p:nvPr/>
            </p:nvSpPr>
            <p:spPr bwMode="auto">
              <a:xfrm>
                <a:off x="3645" y="1609"/>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29" name="Line 616"/>
              <p:cNvSpPr>
                <a:spLocks noChangeShapeType="1"/>
              </p:cNvSpPr>
              <p:nvPr/>
            </p:nvSpPr>
            <p:spPr bwMode="auto">
              <a:xfrm>
                <a:off x="3649" y="1614"/>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30" name="Line 617"/>
              <p:cNvSpPr>
                <a:spLocks noChangeShapeType="1"/>
              </p:cNvSpPr>
              <p:nvPr/>
            </p:nvSpPr>
            <p:spPr bwMode="auto">
              <a:xfrm>
                <a:off x="3654" y="161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31" name="Freeform 618"/>
              <p:cNvSpPr>
                <a:spLocks/>
              </p:cNvSpPr>
              <p:nvPr/>
            </p:nvSpPr>
            <p:spPr bwMode="auto">
              <a:xfrm>
                <a:off x="3654" y="1618"/>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32" name="Line 619"/>
              <p:cNvSpPr>
                <a:spLocks noChangeShapeType="1"/>
              </p:cNvSpPr>
              <p:nvPr/>
            </p:nvSpPr>
            <p:spPr bwMode="auto">
              <a:xfrm>
                <a:off x="3658" y="1622"/>
                <a:ext cx="0"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33" name="Freeform 620"/>
              <p:cNvSpPr>
                <a:spLocks/>
              </p:cNvSpPr>
              <p:nvPr/>
            </p:nvSpPr>
            <p:spPr bwMode="auto">
              <a:xfrm>
                <a:off x="3658" y="1627"/>
                <a:ext cx="4" cy="4"/>
              </a:xfrm>
              <a:custGeom>
                <a:avLst/>
                <a:gdLst>
                  <a:gd name="T0" fmla="*/ 0 w 4"/>
                  <a:gd name="T1" fmla="*/ 0 h 4"/>
                  <a:gd name="T2" fmla="*/ 0 w 4"/>
                  <a:gd name="T3" fmla="*/ 4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4"/>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34" name="Line 621"/>
              <p:cNvSpPr>
                <a:spLocks noChangeShapeType="1"/>
              </p:cNvSpPr>
              <p:nvPr/>
            </p:nvSpPr>
            <p:spPr bwMode="auto">
              <a:xfrm>
                <a:off x="3662" y="163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35" name="Line 622"/>
              <p:cNvSpPr>
                <a:spLocks noChangeShapeType="1"/>
              </p:cNvSpPr>
              <p:nvPr/>
            </p:nvSpPr>
            <p:spPr bwMode="auto">
              <a:xfrm>
                <a:off x="3662" y="1631"/>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36" name="Line 623"/>
              <p:cNvSpPr>
                <a:spLocks noChangeShapeType="1"/>
              </p:cNvSpPr>
              <p:nvPr/>
            </p:nvSpPr>
            <p:spPr bwMode="auto">
              <a:xfrm>
                <a:off x="3667" y="1635"/>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37" name="Line 624"/>
              <p:cNvSpPr>
                <a:spLocks noChangeShapeType="1"/>
              </p:cNvSpPr>
              <p:nvPr/>
            </p:nvSpPr>
            <p:spPr bwMode="auto">
              <a:xfrm>
                <a:off x="3671" y="164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38" name="Freeform 625"/>
              <p:cNvSpPr>
                <a:spLocks/>
              </p:cNvSpPr>
              <p:nvPr/>
            </p:nvSpPr>
            <p:spPr bwMode="auto">
              <a:xfrm>
                <a:off x="3671" y="1640"/>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39" name="Line 626"/>
              <p:cNvSpPr>
                <a:spLocks noChangeShapeType="1"/>
              </p:cNvSpPr>
              <p:nvPr/>
            </p:nvSpPr>
            <p:spPr bwMode="auto">
              <a:xfrm>
                <a:off x="3675" y="1644"/>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40" name="Line 627"/>
              <p:cNvSpPr>
                <a:spLocks noChangeShapeType="1"/>
              </p:cNvSpPr>
              <p:nvPr/>
            </p:nvSpPr>
            <p:spPr bwMode="auto">
              <a:xfrm>
                <a:off x="3675" y="16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41" name="Freeform 628"/>
              <p:cNvSpPr>
                <a:spLocks/>
              </p:cNvSpPr>
              <p:nvPr/>
            </p:nvSpPr>
            <p:spPr bwMode="auto">
              <a:xfrm>
                <a:off x="3680" y="1648"/>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42" name="Line 629"/>
              <p:cNvSpPr>
                <a:spLocks noChangeShapeType="1"/>
              </p:cNvSpPr>
              <p:nvPr/>
            </p:nvSpPr>
            <p:spPr bwMode="auto">
              <a:xfrm>
                <a:off x="3684" y="16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43" name="Freeform 630"/>
              <p:cNvSpPr>
                <a:spLocks/>
              </p:cNvSpPr>
              <p:nvPr/>
            </p:nvSpPr>
            <p:spPr bwMode="auto">
              <a:xfrm>
                <a:off x="3684" y="165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44" name="Line 631"/>
              <p:cNvSpPr>
                <a:spLocks noChangeShapeType="1"/>
              </p:cNvSpPr>
              <p:nvPr/>
            </p:nvSpPr>
            <p:spPr bwMode="auto">
              <a:xfrm>
                <a:off x="3688" y="1657"/>
                <a:ext cx="0"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45" name="Freeform 632"/>
              <p:cNvSpPr>
                <a:spLocks/>
              </p:cNvSpPr>
              <p:nvPr/>
            </p:nvSpPr>
            <p:spPr bwMode="auto">
              <a:xfrm>
                <a:off x="3688" y="16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46" name="Freeform 633"/>
              <p:cNvSpPr>
                <a:spLocks/>
              </p:cNvSpPr>
              <p:nvPr/>
            </p:nvSpPr>
            <p:spPr bwMode="auto">
              <a:xfrm>
                <a:off x="3693" y="1661"/>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47" name="Line 634"/>
              <p:cNvSpPr>
                <a:spLocks noChangeShapeType="1"/>
              </p:cNvSpPr>
              <p:nvPr/>
            </p:nvSpPr>
            <p:spPr bwMode="auto">
              <a:xfrm>
                <a:off x="3693" y="166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48" name="Freeform 635"/>
              <p:cNvSpPr>
                <a:spLocks/>
              </p:cNvSpPr>
              <p:nvPr/>
            </p:nvSpPr>
            <p:spPr bwMode="auto">
              <a:xfrm>
                <a:off x="3697" y="1666"/>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49" name="Line 636"/>
              <p:cNvSpPr>
                <a:spLocks noChangeShapeType="1"/>
              </p:cNvSpPr>
              <p:nvPr/>
            </p:nvSpPr>
            <p:spPr bwMode="auto">
              <a:xfrm>
                <a:off x="3701" y="16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50" name="Freeform 637"/>
              <p:cNvSpPr>
                <a:spLocks/>
              </p:cNvSpPr>
              <p:nvPr/>
            </p:nvSpPr>
            <p:spPr bwMode="auto">
              <a:xfrm>
                <a:off x="3701" y="1670"/>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51" name="Line 638"/>
              <p:cNvSpPr>
                <a:spLocks noChangeShapeType="1"/>
              </p:cNvSpPr>
              <p:nvPr/>
            </p:nvSpPr>
            <p:spPr bwMode="auto">
              <a:xfrm>
                <a:off x="3706" y="16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52" name="Line 639"/>
              <p:cNvSpPr>
                <a:spLocks noChangeShapeType="1"/>
              </p:cNvSpPr>
              <p:nvPr/>
            </p:nvSpPr>
            <p:spPr bwMode="auto">
              <a:xfrm>
                <a:off x="3706" y="1674"/>
                <a:ext cx="4" cy="5"/>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53" name="Line 640"/>
              <p:cNvSpPr>
                <a:spLocks noChangeShapeType="1"/>
              </p:cNvSpPr>
              <p:nvPr/>
            </p:nvSpPr>
            <p:spPr bwMode="auto">
              <a:xfrm>
                <a:off x="3710" y="1679"/>
                <a:ext cx="5" cy="4"/>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54" name="Line 641"/>
              <p:cNvSpPr>
                <a:spLocks noChangeShapeType="1"/>
              </p:cNvSpPr>
              <p:nvPr/>
            </p:nvSpPr>
            <p:spPr bwMode="auto">
              <a:xfrm>
                <a:off x="3715" y="16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55" name="Freeform 642"/>
              <p:cNvSpPr>
                <a:spLocks/>
              </p:cNvSpPr>
              <p:nvPr/>
            </p:nvSpPr>
            <p:spPr bwMode="auto">
              <a:xfrm>
                <a:off x="3715" y="1683"/>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56" name="Line 643"/>
              <p:cNvSpPr>
                <a:spLocks noChangeShapeType="1"/>
              </p:cNvSpPr>
              <p:nvPr/>
            </p:nvSpPr>
            <p:spPr bwMode="auto">
              <a:xfrm>
                <a:off x="3719" y="168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57" name="Freeform 644"/>
              <p:cNvSpPr>
                <a:spLocks/>
              </p:cNvSpPr>
              <p:nvPr/>
            </p:nvSpPr>
            <p:spPr bwMode="auto">
              <a:xfrm>
                <a:off x="3719" y="168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58" name="Freeform 645"/>
              <p:cNvSpPr>
                <a:spLocks/>
              </p:cNvSpPr>
              <p:nvPr/>
            </p:nvSpPr>
            <p:spPr bwMode="auto">
              <a:xfrm>
                <a:off x="3723" y="1687"/>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59" name="Line 646"/>
              <p:cNvSpPr>
                <a:spLocks noChangeShapeType="1"/>
              </p:cNvSpPr>
              <p:nvPr/>
            </p:nvSpPr>
            <p:spPr bwMode="auto">
              <a:xfrm>
                <a:off x="3723" y="1692"/>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60" name="Freeform 647"/>
              <p:cNvSpPr>
                <a:spLocks/>
              </p:cNvSpPr>
              <p:nvPr/>
            </p:nvSpPr>
            <p:spPr bwMode="auto">
              <a:xfrm>
                <a:off x="3728" y="1692"/>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61" name="Line 648"/>
              <p:cNvSpPr>
                <a:spLocks noChangeShapeType="1"/>
              </p:cNvSpPr>
              <p:nvPr/>
            </p:nvSpPr>
            <p:spPr bwMode="auto">
              <a:xfrm>
                <a:off x="3732" y="169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62" name="Freeform 649"/>
              <p:cNvSpPr>
                <a:spLocks/>
              </p:cNvSpPr>
              <p:nvPr/>
            </p:nvSpPr>
            <p:spPr bwMode="auto">
              <a:xfrm>
                <a:off x="3732" y="1696"/>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63" name="Line 650"/>
              <p:cNvSpPr>
                <a:spLocks noChangeShapeType="1"/>
              </p:cNvSpPr>
              <p:nvPr/>
            </p:nvSpPr>
            <p:spPr bwMode="auto">
              <a:xfrm>
                <a:off x="3736" y="170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64" name="Freeform 651"/>
              <p:cNvSpPr>
                <a:spLocks/>
              </p:cNvSpPr>
              <p:nvPr/>
            </p:nvSpPr>
            <p:spPr bwMode="auto">
              <a:xfrm>
                <a:off x="3736" y="1701"/>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65" name="Line 652"/>
              <p:cNvSpPr>
                <a:spLocks noChangeShapeType="1"/>
              </p:cNvSpPr>
              <p:nvPr/>
            </p:nvSpPr>
            <p:spPr bwMode="auto">
              <a:xfrm>
                <a:off x="3741" y="1705"/>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66" name="Line 653"/>
              <p:cNvSpPr>
                <a:spLocks noChangeShapeType="1"/>
              </p:cNvSpPr>
              <p:nvPr/>
            </p:nvSpPr>
            <p:spPr bwMode="auto">
              <a:xfrm>
                <a:off x="3745" y="170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67" name="Freeform 654"/>
              <p:cNvSpPr>
                <a:spLocks/>
              </p:cNvSpPr>
              <p:nvPr/>
            </p:nvSpPr>
            <p:spPr bwMode="auto">
              <a:xfrm>
                <a:off x="3745" y="1705"/>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68" name="Line 655"/>
              <p:cNvSpPr>
                <a:spLocks noChangeShapeType="1"/>
              </p:cNvSpPr>
              <p:nvPr/>
            </p:nvSpPr>
            <p:spPr bwMode="auto">
              <a:xfrm>
                <a:off x="3749" y="170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69" name="Freeform 656"/>
              <p:cNvSpPr>
                <a:spLocks/>
              </p:cNvSpPr>
              <p:nvPr/>
            </p:nvSpPr>
            <p:spPr bwMode="auto">
              <a:xfrm>
                <a:off x="3749" y="1709"/>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70" name="Line 657"/>
              <p:cNvSpPr>
                <a:spLocks noChangeShapeType="1"/>
              </p:cNvSpPr>
              <p:nvPr/>
            </p:nvSpPr>
            <p:spPr bwMode="auto">
              <a:xfrm>
                <a:off x="3754" y="171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71" name="Line 658"/>
              <p:cNvSpPr>
                <a:spLocks noChangeShapeType="1"/>
              </p:cNvSpPr>
              <p:nvPr/>
            </p:nvSpPr>
            <p:spPr bwMode="auto">
              <a:xfrm>
                <a:off x="3754" y="171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72" name="Freeform 659"/>
              <p:cNvSpPr>
                <a:spLocks/>
              </p:cNvSpPr>
              <p:nvPr/>
            </p:nvSpPr>
            <p:spPr bwMode="auto">
              <a:xfrm>
                <a:off x="3758" y="1714"/>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73" name="Line 660"/>
              <p:cNvSpPr>
                <a:spLocks noChangeShapeType="1"/>
              </p:cNvSpPr>
              <p:nvPr/>
            </p:nvSpPr>
            <p:spPr bwMode="auto">
              <a:xfrm>
                <a:off x="3762" y="171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74" name="Freeform 661"/>
              <p:cNvSpPr>
                <a:spLocks/>
              </p:cNvSpPr>
              <p:nvPr/>
            </p:nvSpPr>
            <p:spPr bwMode="auto">
              <a:xfrm>
                <a:off x="3762" y="1718"/>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75" name="Freeform 662"/>
              <p:cNvSpPr>
                <a:spLocks/>
              </p:cNvSpPr>
              <p:nvPr/>
            </p:nvSpPr>
            <p:spPr bwMode="auto">
              <a:xfrm>
                <a:off x="3767" y="1718"/>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76" name="Line 663"/>
              <p:cNvSpPr>
                <a:spLocks noChangeShapeType="1"/>
              </p:cNvSpPr>
              <p:nvPr/>
            </p:nvSpPr>
            <p:spPr bwMode="auto">
              <a:xfrm>
                <a:off x="3767" y="1722"/>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77" name="Line 664"/>
              <p:cNvSpPr>
                <a:spLocks noChangeShapeType="1"/>
              </p:cNvSpPr>
              <p:nvPr/>
            </p:nvSpPr>
            <p:spPr bwMode="auto">
              <a:xfrm>
                <a:off x="3771" y="1722"/>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78" name="Freeform 665"/>
              <p:cNvSpPr>
                <a:spLocks/>
              </p:cNvSpPr>
              <p:nvPr/>
            </p:nvSpPr>
            <p:spPr bwMode="auto">
              <a:xfrm>
                <a:off x="3775" y="1722"/>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79" name="Freeform 666"/>
              <p:cNvSpPr>
                <a:spLocks/>
              </p:cNvSpPr>
              <p:nvPr/>
            </p:nvSpPr>
            <p:spPr bwMode="auto">
              <a:xfrm>
                <a:off x="3775" y="172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80" name="Line 667"/>
              <p:cNvSpPr>
                <a:spLocks noChangeShapeType="1"/>
              </p:cNvSpPr>
              <p:nvPr/>
            </p:nvSpPr>
            <p:spPr bwMode="auto">
              <a:xfrm>
                <a:off x="3780" y="172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81" name="Freeform 668"/>
              <p:cNvSpPr>
                <a:spLocks/>
              </p:cNvSpPr>
              <p:nvPr/>
            </p:nvSpPr>
            <p:spPr bwMode="auto">
              <a:xfrm>
                <a:off x="3780" y="1727"/>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82" name="Line 669"/>
              <p:cNvSpPr>
                <a:spLocks noChangeShapeType="1"/>
              </p:cNvSpPr>
              <p:nvPr/>
            </p:nvSpPr>
            <p:spPr bwMode="auto">
              <a:xfrm>
                <a:off x="3784" y="173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83" name="Line 670"/>
              <p:cNvSpPr>
                <a:spLocks noChangeShapeType="1"/>
              </p:cNvSpPr>
              <p:nvPr/>
            </p:nvSpPr>
            <p:spPr bwMode="auto">
              <a:xfrm>
                <a:off x="3784" y="1731"/>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84" name="Freeform 671"/>
              <p:cNvSpPr>
                <a:spLocks/>
              </p:cNvSpPr>
              <p:nvPr/>
            </p:nvSpPr>
            <p:spPr bwMode="auto">
              <a:xfrm>
                <a:off x="3788" y="1731"/>
                <a:ext cx="5" cy="4"/>
              </a:xfrm>
              <a:custGeom>
                <a:avLst/>
                <a:gdLst>
                  <a:gd name="T0" fmla="*/ 0 w 5"/>
                  <a:gd name="T1" fmla="*/ 0 h 4"/>
                  <a:gd name="T2" fmla="*/ 5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5"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85" name="Line 672"/>
              <p:cNvSpPr>
                <a:spLocks noChangeShapeType="1"/>
              </p:cNvSpPr>
              <p:nvPr/>
            </p:nvSpPr>
            <p:spPr bwMode="auto">
              <a:xfrm>
                <a:off x="3793" y="173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86" name="Freeform 673"/>
              <p:cNvSpPr>
                <a:spLocks/>
              </p:cNvSpPr>
              <p:nvPr/>
            </p:nvSpPr>
            <p:spPr bwMode="auto">
              <a:xfrm>
                <a:off x="3793" y="1735"/>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87" name="Line 674"/>
              <p:cNvSpPr>
                <a:spLocks noChangeShapeType="1"/>
              </p:cNvSpPr>
              <p:nvPr/>
            </p:nvSpPr>
            <p:spPr bwMode="auto">
              <a:xfrm>
                <a:off x="3797" y="1735"/>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88" name="Freeform 675"/>
              <p:cNvSpPr>
                <a:spLocks/>
              </p:cNvSpPr>
              <p:nvPr/>
            </p:nvSpPr>
            <p:spPr bwMode="auto">
              <a:xfrm>
                <a:off x="3797" y="1735"/>
                <a:ext cx="4" cy="5"/>
              </a:xfrm>
              <a:custGeom>
                <a:avLst/>
                <a:gdLst>
                  <a:gd name="T0" fmla="*/ 0 w 4"/>
                  <a:gd name="T1" fmla="*/ 0 h 5"/>
                  <a:gd name="T2" fmla="*/ 0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0"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89" name="Line 676"/>
              <p:cNvSpPr>
                <a:spLocks noChangeShapeType="1"/>
              </p:cNvSpPr>
              <p:nvPr/>
            </p:nvSpPr>
            <p:spPr bwMode="auto">
              <a:xfrm>
                <a:off x="3801" y="1740"/>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90" name="Line 677"/>
              <p:cNvSpPr>
                <a:spLocks noChangeShapeType="1"/>
              </p:cNvSpPr>
              <p:nvPr/>
            </p:nvSpPr>
            <p:spPr bwMode="auto">
              <a:xfrm>
                <a:off x="3806" y="174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91" name="Freeform 678"/>
              <p:cNvSpPr>
                <a:spLocks/>
              </p:cNvSpPr>
              <p:nvPr/>
            </p:nvSpPr>
            <p:spPr bwMode="auto">
              <a:xfrm>
                <a:off x="3806" y="174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92" name="Freeform 679"/>
              <p:cNvSpPr>
                <a:spLocks/>
              </p:cNvSpPr>
              <p:nvPr/>
            </p:nvSpPr>
            <p:spPr bwMode="auto">
              <a:xfrm>
                <a:off x="3810" y="1740"/>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93" name="Line 680"/>
              <p:cNvSpPr>
                <a:spLocks noChangeShapeType="1"/>
              </p:cNvSpPr>
              <p:nvPr/>
            </p:nvSpPr>
            <p:spPr bwMode="auto">
              <a:xfrm>
                <a:off x="3810" y="174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94" name="Line 681"/>
              <p:cNvSpPr>
                <a:spLocks noChangeShapeType="1"/>
              </p:cNvSpPr>
              <p:nvPr/>
            </p:nvSpPr>
            <p:spPr bwMode="auto">
              <a:xfrm>
                <a:off x="3814" y="174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95" name="Line 682"/>
              <p:cNvSpPr>
                <a:spLocks noChangeShapeType="1"/>
              </p:cNvSpPr>
              <p:nvPr/>
            </p:nvSpPr>
            <p:spPr bwMode="auto">
              <a:xfrm>
                <a:off x="3819" y="174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96" name="Freeform 683"/>
              <p:cNvSpPr>
                <a:spLocks/>
              </p:cNvSpPr>
              <p:nvPr/>
            </p:nvSpPr>
            <p:spPr bwMode="auto">
              <a:xfrm>
                <a:off x="3819" y="1744"/>
                <a:ext cx="4" cy="4"/>
              </a:xfrm>
              <a:custGeom>
                <a:avLst/>
                <a:gdLst>
                  <a:gd name="T0" fmla="*/ 0 w 4"/>
                  <a:gd name="T1" fmla="*/ 0 h 4"/>
                  <a:gd name="T2" fmla="*/ 0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0"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97" name="Line 684"/>
              <p:cNvSpPr>
                <a:spLocks noChangeShapeType="1"/>
              </p:cNvSpPr>
              <p:nvPr/>
            </p:nvSpPr>
            <p:spPr bwMode="auto">
              <a:xfrm>
                <a:off x="3823" y="17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98" name="Freeform 685"/>
              <p:cNvSpPr>
                <a:spLocks/>
              </p:cNvSpPr>
              <p:nvPr/>
            </p:nvSpPr>
            <p:spPr bwMode="auto">
              <a:xfrm>
                <a:off x="3823" y="1748"/>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99" name="Line 686"/>
              <p:cNvSpPr>
                <a:spLocks noChangeShapeType="1"/>
              </p:cNvSpPr>
              <p:nvPr/>
            </p:nvSpPr>
            <p:spPr bwMode="auto">
              <a:xfrm>
                <a:off x="3827" y="1748"/>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00" name="Line 687"/>
              <p:cNvSpPr>
                <a:spLocks noChangeShapeType="1"/>
              </p:cNvSpPr>
              <p:nvPr/>
            </p:nvSpPr>
            <p:spPr bwMode="auto">
              <a:xfrm>
                <a:off x="3827" y="1748"/>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01" name="Freeform 688"/>
              <p:cNvSpPr>
                <a:spLocks/>
              </p:cNvSpPr>
              <p:nvPr/>
            </p:nvSpPr>
            <p:spPr bwMode="auto">
              <a:xfrm>
                <a:off x="3832" y="1748"/>
                <a:ext cx="4" cy="5"/>
              </a:xfrm>
              <a:custGeom>
                <a:avLst/>
                <a:gdLst>
                  <a:gd name="T0" fmla="*/ 0 w 4"/>
                  <a:gd name="T1" fmla="*/ 0 h 5"/>
                  <a:gd name="T2" fmla="*/ 4 w 4"/>
                  <a:gd name="T3" fmla="*/ 0 h 5"/>
                  <a:gd name="T4" fmla="*/ 4 w 4"/>
                  <a:gd name="T5" fmla="*/ 5 h 5"/>
                  <a:gd name="T6" fmla="*/ 0 60000 65536"/>
                  <a:gd name="T7" fmla="*/ 0 60000 65536"/>
                  <a:gd name="T8" fmla="*/ 0 60000 65536"/>
                </a:gdLst>
                <a:ahLst/>
                <a:cxnLst>
                  <a:cxn ang="T6">
                    <a:pos x="T0" y="T1"/>
                  </a:cxn>
                  <a:cxn ang="T7">
                    <a:pos x="T2" y="T3"/>
                  </a:cxn>
                  <a:cxn ang="T8">
                    <a:pos x="T4" y="T5"/>
                  </a:cxn>
                </a:cxnLst>
                <a:rect l="0" t="0" r="r" b="b"/>
                <a:pathLst>
                  <a:path w="4" h="5">
                    <a:moveTo>
                      <a:pt x="0" y="0"/>
                    </a:moveTo>
                    <a:lnTo>
                      <a:pt x="4" y="0"/>
                    </a:lnTo>
                    <a:lnTo>
                      <a:pt x="4"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02" name="Line 689"/>
              <p:cNvSpPr>
                <a:spLocks noChangeShapeType="1"/>
              </p:cNvSpPr>
              <p:nvPr/>
            </p:nvSpPr>
            <p:spPr bwMode="auto">
              <a:xfrm>
                <a:off x="3836" y="17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03" name="Freeform 690"/>
              <p:cNvSpPr>
                <a:spLocks/>
              </p:cNvSpPr>
              <p:nvPr/>
            </p:nvSpPr>
            <p:spPr bwMode="auto">
              <a:xfrm>
                <a:off x="3836" y="175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04" name="Line 691"/>
              <p:cNvSpPr>
                <a:spLocks noChangeShapeType="1"/>
              </p:cNvSpPr>
              <p:nvPr/>
            </p:nvSpPr>
            <p:spPr bwMode="auto">
              <a:xfrm>
                <a:off x="3840" y="175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05" name="Line 692"/>
              <p:cNvSpPr>
                <a:spLocks noChangeShapeType="1"/>
              </p:cNvSpPr>
              <p:nvPr/>
            </p:nvSpPr>
            <p:spPr bwMode="auto">
              <a:xfrm>
                <a:off x="3840" y="175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06" name="Line 693"/>
              <p:cNvSpPr>
                <a:spLocks noChangeShapeType="1"/>
              </p:cNvSpPr>
              <p:nvPr/>
            </p:nvSpPr>
            <p:spPr bwMode="auto">
              <a:xfrm>
                <a:off x="3845" y="175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07" name="Freeform 694"/>
              <p:cNvSpPr>
                <a:spLocks/>
              </p:cNvSpPr>
              <p:nvPr/>
            </p:nvSpPr>
            <p:spPr bwMode="auto">
              <a:xfrm>
                <a:off x="3849" y="1753"/>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08" name="Freeform 695"/>
              <p:cNvSpPr>
                <a:spLocks/>
              </p:cNvSpPr>
              <p:nvPr/>
            </p:nvSpPr>
            <p:spPr bwMode="auto">
              <a:xfrm>
                <a:off x="3849" y="1757"/>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09" name="Line 696"/>
              <p:cNvSpPr>
                <a:spLocks noChangeShapeType="1"/>
              </p:cNvSpPr>
              <p:nvPr/>
            </p:nvSpPr>
            <p:spPr bwMode="auto">
              <a:xfrm>
                <a:off x="3853" y="175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10" name="Freeform 697"/>
              <p:cNvSpPr>
                <a:spLocks/>
              </p:cNvSpPr>
              <p:nvPr/>
            </p:nvSpPr>
            <p:spPr bwMode="auto">
              <a:xfrm>
                <a:off x="3853" y="1757"/>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11" name="Line 698"/>
              <p:cNvSpPr>
                <a:spLocks noChangeShapeType="1"/>
              </p:cNvSpPr>
              <p:nvPr/>
            </p:nvSpPr>
            <p:spPr bwMode="auto">
              <a:xfrm>
                <a:off x="3858" y="1757"/>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12" name="Line 699"/>
              <p:cNvSpPr>
                <a:spLocks noChangeShapeType="1"/>
              </p:cNvSpPr>
              <p:nvPr/>
            </p:nvSpPr>
            <p:spPr bwMode="auto">
              <a:xfrm>
                <a:off x="3858" y="1757"/>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13" name="Freeform 700"/>
              <p:cNvSpPr>
                <a:spLocks/>
              </p:cNvSpPr>
              <p:nvPr/>
            </p:nvSpPr>
            <p:spPr bwMode="auto">
              <a:xfrm>
                <a:off x="3862" y="1757"/>
                <a:ext cx="4" cy="4"/>
              </a:xfrm>
              <a:custGeom>
                <a:avLst/>
                <a:gdLst>
                  <a:gd name="T0" fmla="*/ 0 w 4"/>
                  <a:gd name="T1" fmla="*/ 0 h 4"/>
                  <a:gd name="T2" fmla="*/ 4 w 4"/>
                  <a:gd name="T3" fmla="*/ 0 h 4"/>
                  <a:gd name="T4" fmla="*/ 4 w 4"/>
                  <a:gd name="T5" fmla="*/ 4 h 4"/>
                  <a:gd name="T6" fmla="*/ 0 60000 65536"/>
                  <a:gd name="T7" fmla="*/ 0 60000 65536"/>
                  <a:gd name="T8" fmla="*/ 0 60000 65536"/>
                </a:gdLst>
                <a:ahLst/>
                <a:cxnLst>
                  <a:cxn ang="T6">
                    <a:pos x="T0" y="T1"/>
                  </a:cxn>
                  <a:cxn ang="T7">
                    <a:pos x="T2" y="T3"/>
                  </a:cxn>
                  <a:cxn ang="T8">
                    <a:pos x="T4" y="T5"/>
                  </a:cxn>
                </a:cxnLst>
                <a:rect l="0" t="0" r="r" b="b"/>
                <a:pathLst>
                  <a:path w="4" h="4">
                    <a:moveTo>
                      <a:pt x="0" y="0"/>
                    </a:moveTo>
                    <a:lnTo>
                      <a:pt x="4" y="0"/>
                    </a:lnTo>
                    <a:lnTo>
                      <a:pt x="4"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14" name="Line 701"/>
              <p:cNvSpPr>
                <a:spLocks noChangeShapeType="1"/>
              </p:cNvSpPr>
              <p:nvPr/>
            </p:nvSpPr>
            <p:spPr bwMode="auto">
              <a:xfrm>
                <a:off x="3866"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15" name="Freeform 702"/>
              <p:cNvSpPr>
                <a:spLocks/>
              </p:cNvSpPr>
              <p:nvPr/>
            </p:nvSpPr>
            <p:spPr bwMode="auto">
              <a:xfrm>
                <a:off x="3866" y="1761"/>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16" name="Line 703"/>
              <p:cNvSpPr>
                <a:spLocks noChangeShapeType="1"/>
              </p:cNvSpPr>
              <p:nvPr/>
            </p:nvSpPr>
            <p:spPr bwMode="auto">
              <a:xfrm>
                <a:off x="3871"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17" name="Line 704"/>
              <p:cNvSpPr>
                <a:spLocks noChangeShapeType="1"/>
              </p:cNvSpPr>
              <p:nvPr/>
            </p:nvSpPr>
            <p:spPr bwMode="auto">
              <a:xfrm>
                <a:off x="3871" y="1761"/>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18" name="Line 705"/>
              <p:cNvSpPr>
                <a:spLocks noChangeShapeType="1"/>
              </p:cNvSpPr>
              <p:nvPr/>
            </p:nvSpPr>
            <p:spPr bwMode="auto">
              <a:xfrm>
                <a:off x="3875" y="1761"/>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19" name="Line 706"/>
              <p:cNvSpPr>
                <a:spLocks noChangeShapeType="1"/>
              </p:cNvSpPr>
              <p:nvPr/>
            </p:nvSpPr>
            <p:spPr bwMode="auto">
              <a:xfrm>
                <a:off x="3879" y="1761"/>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20" name="Freeform 707"/>
              <p:cNvSpPr>
                <a:spLocks/>
              </p:cNvSpPr>
              <p:nvPr/>
            </p:nvSpPr>
            <p:spPr bwMode="auto">
              <a:xfrm>
                <a:off x="3879" y="1761"/>
                <a:ext cx="5" cy="5"/>
              </a:xfrm>
              <a:custGeom>
                <a:avLst/>
                <a:gdLst>
                  <a:gd name="T0" fmla="*/ 0 w 5"/>
                  <a:gd name="T1" fmla="*/ 0 h 5"/>
                  <a:gd name="T2" fmla="*/ 0 w 5"/>
                  <a:gd name="T3" fmla="*/ 0 h 5"/>
                  <a:gd name="T4" fmla="*/ 5 w 5"/>
                  <a:gd name="T5" fmla="*/ 5 h 5"/>
                  <a:gd name="T6" fmla="*/ 0 60000 65536"/>
                  <a:gd name="T7" fmla="*/ 0 60000 65536"/>
                  <a:gd name="T8" fmla="*/ 0 60000 65536"/>
                </a:gdLst>
                <a:ahLst/>
                <a:cxnLst>
                  <a:cxn ang="T6">
                    <a:pos x="T0" y="T1"/>
                  </a:cxn>
                  <a:cxn ang="T7">
                    <a:pos x="T2" y="T3"/>
                  </a:cxn>
                  <a:cxn ang="T8">
                    <a:pos x="T4" y="T5"/>
                  </a:cxn>
                </a:cxnLst>
                <a:rect l="0" t="0" r="r" b="b"/>
                <a:pathLst>
                  <a:path w="5" h="5">
                    <a:moveTo>
                      <a:pt x="0" y="0"/>
                    </a:moveTo>
                    <a:lnTo>
                      <a:pt x="0" y="0"/>
                    </a:lnTo>
                    <a:lnTo>
                      <a:pt x="5"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21" name="Line 708"/>
              <p:cNvSpPr>
                <a:spLocks noChangeShapeType="1"/>
              </p:cNvSpPr>
              <p:nvPr/>
            </p:nvSpPr>
            <p:spPr bwMode="auto">
              <a:xfrm>
                <a:off x="3884"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22" name="Freeform 709"/>
              <p:cNvSpPr>
                <a:spLocks/>
              </p:cNvSpPr>
              <p:nvPr/>
            </p:nvSpPr>
            <p:spPr bwMode="auto">
              <a:xfrm>
                <a:off x="3884" y="1766"/>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23" name="Line 710"/>
              <p:cNvSpPr>
                <a:spLocks noChangeShapeType="1"/>
              </p:cNvSpPr>
              <p:nvPr/>
            </p:nvSpPr>
            <p:spPr bwMode="auto">
              <a:xfrm>
                <a:off x="3888"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24" name="Line 711"/>
              <p:cNvSpPr>
                <a:spLocks noChangeShapeType="1"/>
              </p:cNvSpPr>
              <p:nvPr/>
            </p:nvSpPr>
            <p:spPr bwMode="auto">
              <a:xfrm>
                <a:off x="3888" y="1766"/>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25" name="Line 712"/>
              <p:cNvSpPr>
                <a:spLocks noChangeShapeType="1"/>
              </p:cNvSpPr>
              <p:nvPr/>
            </p:nvSpPr>
            <p:spPr bwMode="auto">
              <a:xfrm>
                <a:off x="3892" y="1766"/>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26" name="Line 713"/>
              <p:cNvSpPr>
                <a:spLocks noChangeShapeType="1"/>
              </p:cNvSpPr>
              <p:nvPr/>
            </p:nvSpPr>
            <p:spPr bwMode="auto">
              <a:xfrm>
                <a:off x="3897"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27" name="Freeform 714"/>
              <p:cNvSpPr>
                <a:spLocks/>
              </p:cNvSpPr>
              <p:nvPr/>
            </p:nvSpPr>
            <p:spPr bwMode="auto">
              <a:xfrm>
                <a:off x="3897" y="1766"/>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28" name="Line 715"/>
              <p:cNvSpPr>
                <a:spLocks noChangeShapeType="1"/>
              </p:cNvSpPr>
              <p:nvPr/>
            </p:nvSpPr>
            <p:spPr bwMode="auto">
              <a:xfrm>
                <a:off x="3901" y="1766"/>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29" name="Freeform 716"/>
              <p:cNvSpPr>
                <a:spLocks/>
              </p:cNvSpPr>
              <p:nvPr/>
            </p:nvSpPr>
            <p:spPr bwMode="auto">
              <a:xfrm>
                <a:off x="3901" y="1766"/>
                <a:ext cx="5" cy="4"/>
              </a:xfrm>
              <a:custGeom>
                <a:avLst/>
                <a:gdLst>
                  <a:gd name="T0" fmla="*/ 0 w 5"/>
                  <a:gd name="T1" fmla="*/ 0 h 4"/>
                  <a:gd name="T2" fmla="*/ 0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0"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30" name="Line 717"/>
              <p:cNvSpPr>
                <a:spLocks noChangeShapeType="1"/>
              </p:cNvSpPr>
              <p:nvPr/>
            </p:nvSpPr>
            <p:spPr bwMode="auto">
              <a:xfrm>
                <a:off x="3906" y="17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31" name="Line 718"/>
              <p:cNvSpPr>
                <a:spLocks noChangeShapeType="1"/>
              </p:cNvSpPr>
              <p:nvPr/>
            </p:nvSpPr>
            <p:spPr bwMode="auto">
              <a:xfrm>
                <a:off x="3910"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32" name="Freeform 719"/>
              <p:cNvSpPr>
                <a:spLocks/>
              </p:cNvSpPr>
              <p:nvPr/>
            </p:nvSpPr>
            <p:spPr bwMode="auto">
              <a:xfrm>
                <a:off x="3910" y="1770"/>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33" name="Line 720"/>
              <p:cNvSpPr>
                <a:spLocks noChangeShapeType="1"/>
              </p:cNvSpPr>
              <p:nvPr/>
            </p:nvSpPr>
            <p:spPr bwMode="auto">
              <a:xfrm>
                <a:off x="3914"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34" name="Freeform 721"/>
              <p:cNvSpPr>
                <a:spLocks/>
              </p:cNvSpPr>
              <p:nvPr/>
            </p:nvSpPr>
            <p:spPr bwMode="auto">
              <a:xfrm>
                <a:off x="3914" y="1770"/>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35" name="Line 722"/>
              <p:cNvSpPr>
                <a:spLocks noChangeShapeType="1"/>
              </p:cNvSpPr>
              <p:nvPr/>
            </p:nvSpPr>
            <p:spPr bwMode="auto">
              <a:xfrm>
                <a:off x="3919"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36" name="Line 723"/>
              <p:cNvSpPr>
                <a:spLocks noChangeShapeType="1"/>
              </p:cNvSpPr>
              <p:nvPr/>
            </p:nvSpPr>
            <p:spPr bwMode="auto">
              <a:xfrm>
                <a:off x="3919" y="17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37" name="Line 724"/>
              <p:cNvSpPr>
                <a:spLocks noChangeShapeType="1"/>
              </p:cNvSpPr>
              <p:nvPr/>
            </p:nvSpPr>
            <p:spPr bwMode="auto">
              <a:xfrm>
                <a:off x="3923" y="1770"/>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38" name="Line 725"/>
              <p:cNvSpPr>
                <a:spLocks noChangeShapeType="1"/>
              </p:cNvSpPr>
              <p:nvPr/>
            </p:nvSpPr>
            <p:spPr bwMode="auto">
              <a:xfrm>
                <a:off x="3927" y="1770"/>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39" name="Freeform 726"/>
              <p:cNvSpPr>
                <a:spLocks/>
              </p:cNvSpPr>
              <p:nvPr/>
            </p:nvSpPr>
            <p:spPr bwMode="auto">
              <a:xfrm>
                <a:off x="3927" y="1770"/>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40" name="Freeform 727"/>
              <p:cNvSpPr>
                <a:spLocks/>
              </p:cNvSpPr>
              <p:nvPr/>
            </p:nvSpPr>
            <p:spPr bwMode="auto">
              <a:xfrm>
                <a:off x="3932" y="1770"/>
                <a:ext cx="0" cy="4"/>
              </a:xfrm>
              <a:custGeom>
                <a:avLst/>
                <a:gdLst>
                  <a:gd name="T0" fmla="*/ 0 h 4"/>
                  <a:gd name="T1" fmla="*/ 0 h 4"/>
                  <a:gd name="T2" fmla="*/ 4 h 4"/>
                  <a:gd name="T3" fmla="*/ 0 60000 65536"/>
                  <a:gd name="T4" fmla="*/ 0 60000 65536"/>
                  <a:gd name="T5" fmla="*/ 0 60000 65536"/>
                </a:gdLst>
                <a:ahLst/>
                <a:cxnLst>
                  <a:cxn ang="T3">
                    <a:pos x="0" y="T0"/>
                  </a:cxn>
                  <a:cxn ang="T4">
                    <a:pos x="0" y="T1"/>
                  </a:cxn>
                  <a:cxn ang="T5">
                    <a:pos x="0" y="T2"/>
                  </a:cxn>
                </a:cxnLst>
                <a:rect l="0" t="0" r="r" b="b"/>
                <a:pathLst>
                  <a:path h="4">
                    <a:moveTo>
                      <a:pt x="0" y="0"/>
                    </a:moveTo>
                    <a:lnTo>
                      <a:pt x="0" y="0"/>
                    </a:lnTo>
                    <a:lnTo>
                      <a:pt x="0"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41" name="Line 728"/>
              <p:cNvSpPr>
                <a:spLocks noChangeShapeType="1"/>
              </p:cNvSpPr>
              <p:nvPr/>
            </p:nvSpPr>
            <p:spPr bwMode="auto">
              <a:xfrm>
                <a:off x="3932"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42" name="Line 729"/>
              <p:cNvSpPr>
                <a:spLocks noChangeShapeType="1"/>
              </p:cNvSpPr>
              <p:nvPr/>
            </p:nvSpPr>
            <p:spPr bwMode="auto">
              <a:xfrm>
                <a:off x="3936"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43" name="Line 730"/>
              <p:cNvSpPr>
                <a:spLocks noChangeShapeType="1"/>
              </p:cNvSpPr>
              <p:nvPr/>
            </p:nvSpPr>
            <p:spPr bwMode="auto">
              <a:xfrm>
                <a:off x="3940"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44" name="Freeform 731"/>
              <p:cNvSpPr>
                <a:spLocks/>
              </p:cNvSpPr>
              <p:nvPr/>
            </p:nvSpPr>
            <p:spPr bwMode="auto">
              <a:xfrm>
                <a:off x="3940" y="1774"/>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45" name="Line 732"/>
              <p:cNvSpPr>
                <a:spLocks noChangeShapeType="1"/>
              </p:cNvSpPr>
              <p:nvPr/>
            </p:nvSpPr>
            <p:spPr bwMode="auto">
              <a:xfrm>
                <a:off x="3945"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46" name="Freeform 733"/>
              <p:cNvSpPr>
                <a:spLocks/>
              </p:cNvSpPr>
              <p:nvPr/>
            </p:nvSpPr>
            <p:spPr bwMode="auto">
              <a:xfrm>
                <a:off x="3945"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47" name="Line 734"/>
              <p:cNvSpPr>
                <a:spLocks noChangeShapeType="1"/>
              </p:cNvSpPr>
              <p:nvPr/>
            </p:nvSpPr>
            <p:spPr bwMode="auto">
              <a:xfrm>
                <a:off x="3949"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48" name="Line 735"/>
              <p:cNvSpPr>
                <a:spLocks noChangeShapeType="1"/>
              </p:cNvSpPr>
              <p:nvPr/>
            </p:nvSpPr>
            <p:spPr bwMode="auto">
              <a:xfrm>
                <a:off x="3949"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49" name="Line 736"/>
              <p:cNvSpPr>
                <a:spLocks noChangeShapeType="1"/>
              </p:cNvSpPr>
              <p:nvPr/>
            </p:nvSpPr>
            <p:spPr bwMode="auto">
              <a:xfrm>
                <a:off x="3953" y="17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50" name="Line 737"/>
              <p:cNvSpPr>
                <a:spLocks noChangeShapeType="1"/>
              </p:cNvSpPr>
              <p:nvPr/>
            </p:nvSpPr>
            <p:spPr bwMode="auto">
              <a:xfrm>
                <a:off x="3958"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51" name="Freeform 738"/>
              <p:cNvSpPr>
                <a:spLocks/>
              </p:cNvSpPr>
              <p:nvPr/>
            </p:nvSpPr>
            <p:spPr bwMode="auto">
              <a:xfrm>
                <a:off x="3958"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52" name="Line 739"/>
              <p:cNvSpPr>
                <a:spLocks noChangeShapeType="1"/>
              </p:cNvSpPr>
              <p:nvPr/>
            </p:nvSpPr>
            <p:spPr bwMode="auto">
              <a:xfrm>
                <a:off x="3962"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53" name="Line 740"/>
              <p:cNvSpPr>
                <a:spLocks noChangeShapeType="1"/>
              </p:cNvSpPr>
              <p:nvPr/>
            </p:nvSpPr>
            <p:spPr bwMode="auto">
              <a:xfrm>
                <a:off x="3962" y="1774"/>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54" name="Line 741"/>
              <p:cNvSpPr>
                <a:spLocks noChangeShapeType="1"/>
              </p:cNvSpPr>
              <p:nvPr/>
            </p:nvSpPr>
            <p:spPr bwMode="auto">
              <a:xfrm>
                <a:off x="3966" y="17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55" name="Line 742"/>
              <p:cNvSpPr>
                <a:spLocks noChangeShapeType="1"/>
              </p:cNvSpPr>
              <p:nvPr/>
            </p:nvSpPr>
            <p:spPr bwMode="auto">
              <a:xfrm>
                <a:off x="3971" y="17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56" name="Freeform 743"/>
              <p:cNvSpPr>
                <a:spLocks/>
              </p:cNvSpPr>
              <p:nvPr/>
            </p:nvSpPr>
            <p:spPr bwMode="auto">
              <a:xfrm>
                <a:off x="3971" y="1774"/>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57" name="Freeform 744"/>
              <p:cNvSpPr>
                <a:spLocks/>
              </p:cNvSpPr>
              <p:nvPr/>
            </p:nvSpPr>
            <p:spPr bwMode="auto">
              <a:xfrm>
                <a:off x="3975" y="1774"/>
                <a:ext cx="0" cy="5"/>
              </a:xfrm>
              <a:custGeom>
                <a:avLst/>
                <a:gdLst>
                  <a:gd name="T0" fmla="*/ 0 h 5"/>
                  <a:gd name="T1" fmla="*/ 0 h 5"/>
                  <a:gd name="T2" fmla="*/ 5 h 5"/>
                  <a:gd name="T3" fmla="*/ 0 60000 65536"/>
                  <a:gd name="T4" fmla="*/ 0 60000 65536"/>
                  <a:gd name="T5" fmla="*/ 0 60000 65536"/>
                </a:gdLst>
                <a:ahLst/>
                <a:cxnLst>
                  <a:cxn ang="T3">
                    <a:pos x="0" y="T0"/>
                  </a:cxn>
                  <a:cxn ang="T4">
                    <a:pos x="0" y="T1"/>
                  </a:cxn>
                  <a:cxn ang="T5">
                    <a:pos x="0" y="T2"/>
                  </a:cxn>
                </a:cxnLst>
                <a:rect l="0" t="0" r="r" b="b"/>
                <a:pathLst>
                  <a:path h="5">
                    <a:moveTo>
                      <a:pt x="0" y="0"/>
                    </a:moveTo>
                    <a:lnTo>
                      <a:pt x="0" y="0"/>
                    </a:lnTo>
                    <a:lnTo>
                      <a:pt x="0" y="5"/>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58" name="Freeform 745"/>
              <p:cNvSpPr>
                <a:spLocks/>
              </p:cNvSpPr>
              <p:nvPr/>
            </p:nvSpPr>
            <p:spPr bwMode="auto">
              <a:xfrm>
                <a:off x="3975"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59" name="Line 746"/>
              <p:cNvSpPr>
                <a:spLocks noChangeShapeType="1"/>
              </p:cNvSpPr>
              <p:nvPr/>
            </p:nvSpPr>
            <p:spPr bwMode="auto">
              <a:xfrm>
                <a:off x="3979"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60" name="Line 747"/>
              <p:cNvSpPr>
                <a:spLocks noChangeShapeType="1"/>
              </p:cNvSpPr>
              <p:nvPr/>
            </p:nvSpPr>
            <p:spPr bwMode="auto">
              <a:xfrm>
                <a:off x="3979" y="177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61" name="Line 748"/>
              <p:cNvSpPr>
                <a:spLocks noChangeShapeType="1"/>
              </p:cNvSpPr>
              <p:nvPr/>
            </p:nvSpPr>
            <p:spPr bwMode="auto">
              <a:xfrm>
                <a:off x="3984"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62" name="Line 749"/>
              <p:cNvSpPr>
                <a:spLocks noChangeShapeType="1"/>
              </p:cNvSpPr>
              <p:nvPr/>
            </p:nvSpPr>
            <p:spPr bwMode="auto">
              <a:xfrm>
                <a:off x="3988"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63" name="Freeform 750"/>
              <p:cNvSpPr>
                <a:spLocks/>
              </p:cNvSpPr>
              <p:nvPr/>
            </p:nvSpPr>
            <p:spPr bwMode="auto">
              <a:xfrm>
                <a:off x="3988"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64" name="Line 751"/>
              <p:cNvSpPr>
                <a:spLocks noChangeShapeType="1"/>
              </p:cNvSpPr>
              <p:nvPr/>
            </p:nvSpPr>
            <p:spPr bwMode="auto">
              <a:xfrm>
                <a:off x="3992"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65" name="Line 752"/>
              <p:cNvSpPr>
                <a:spLocks noChangeShapeType="1"/>
              </p:cNvSpPr>
              <p:nvPr/>
            </p:nvSpPr>
            <p:spPr bwMode="auto">
              <a:xfrm>
                <a:off x="3992" y="177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66" name="Line 753"/>
              <p:cNvSpPr>
                <a:spLocks noChangeShapeType="1"/>
              </p:cNvSpPr>
              <p:nvPr/>
            </p:nvSpPr>
            <p:spPr bwMode="auto">
              <a:xfrm>
                <a:off x="3997"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67" name="Line 754"/>
              <p:cNvSpPr>
                <a:spLocks noChangeShapeType="1"/>
              </p:cNvSpPr>
              <p:nvPr/>
            </p:nvSpPr>
            <p:spPr bwMode="auto">
              <a:xfrm>
                <a:off x="4001"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68" name="Freeform 755"/>
              <p:cNvSpPr>
                <a:spLocks/>
              </p:cNvSpPr>
              <p:nvPr/>
            </p:nvSpPr>
            <p:spPr bwMode="auto">
              <a:xfrm>
                <a:off x="4001"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69" name="Line 756"/>
              <p:cNvSpPr>
                <a:spLocks noChangeShapeType="1"/>
              </p:cNvSpPr>
              <p:nvPr/>
            </p:nvSpPr>
            <p:spPr bwMode="auto">
              <a:xfrm>
                <a:off x="4005"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70" name="Freeform 757"/>
              <p:cNvSpPr>
                <a:spLocks/>
              </p:cNvSpPr>
              <p:nvPr/>
            </p:nvSpPr>
            <p:spPr bwMode="auto">
              <a:xfrm>
                <a:off x="4005"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71" name="Line 758"/>
              <p:cNvSpPr>
                <a:spLocks noChangeShapeType="1"/>
              </p:cNvSpPr>
              <p:nvPr/>
            </p:nvSpPr>
            <p:spPr bwMode="auto">
              <a:xfrm>
                <a:off x="4010"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72" name="Line 759"/>
              <p:cNvSpPr>
                <a:spLocks noChangeShapeType="1"/>
              </p:cNvSpPr>
              <p:nvPr/>
            </p:nvSpPr>
            <p:spPr bwMode="auto">
              <a:xfrm>
                <a:off x="4010"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73" name="Line 760"/>
              <p:cNvSpPr>
                <a:spLocks noChangeShapeType="1"/>
              </p:cNvSpPr>
              <p:nvPr/>
            </p:nvSpPr>
            <p:spPr bwMode="auto">
              <a:xfrm>
                <a:off x="4014"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74" name="Line 761"/>
              <p:cNvSpPr>
                <a:spLocks noChangeShapeType="1"/>
              </p:cNvSpPr>
              <p:nvPr/>
            </p:nvSpPr>
            <p:spPr bwMode="auto">
              <a:xfrm>
                <a:off x="4018"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75" name="Freeform 762"/>
              <p:cNvSpPr>
                <a:spLocks/>
              </p:cNvSpPr>
              <p:nvPr/>
            </p:nvSpPr>
            <p:spPr bwMode="auto">
              <a:xfrm>
                <a:off x="4018"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76" name="Line 763"/>
              <p:cNvSpPr>
                <a:spLocks noChangeShapeType="1"/>
              </p:cNvSpPr>
              <p:nvPr/>
            </p:nvSpPr>
            <p:spPr bwMode="auto">
              <a:xfrm>
                <a:off x="4023"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77" name="Line 764"/>
              <p:cNvSpPr>
                <a:spLocks noChangeShapeType="1"/>
              </p:cNvSpPr>
              <p:nvPr/>
            </p:nvSpPr>
            <p:spPr bwMode="auto">
              <a:xfrm>
                <a:off x="4023"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78" name="Line 765"/>
              <p:cNvSpPr>
                <a:spLocks noChangeShapeType="1"/>
              </p:cNvSpPr>
              <p:nvPr/>
            </p:nvSpPr>
            <p:spPr bwMode="auto">
              <a:xfrm>
                <a:off x="4027"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79" name="Line 766"/>
              <p:cNvSpPr>
                <a:spLocks noChangeShapeType="1"/>
              </p:cNvSpPr>
              <p:nvPr/>
            </p:nvSpPr>
            <p:spPr bwMode="auto">
              <a:xfrm>
                <a:off x="4031"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80" name="Freeform 767"/>
              <p:cNvSpPr>
                <a:spLocks/>
              </p:cNvSpPr>
              <p:nvPr/>
            </p:nvSpPr>
            <p:spPr bwMode="auto">
              <a:xfrm>
                <a:off x="4031" y="1779"/>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81" name="Line 768"/>
              <p:cNvSpPr>
                <a:spLocks noChangeShapeType="1"/>
              </p:cNvSpPr>
              <p:nvPr/>
            </p:nvSpPr>
            <p:spPr bwMode="auto">
              <a:xfrm>
                <a:off x="4036"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82" name="Freeform 769"/>
              <p:cNvSpPr>
                <a:spLocks/>
              </p:cNvSpPr>
              <p:nvPr/>
            </p:nvSpPr>
            <p:spPr bwMode="auto">
              <a:xfrm>
                <a:off x="4036"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83" name="Line 770"/>
              <p:cNvSpPr>
                <a:spLocks noChangeShapeType="1"/>
              </p:cNvSpPr>
              <p:nvPr/>
            </p:nvSpPr>
            <p:spPr bwMode="auto">
              <a:xfrm>
                <a:off x="4040"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84" name="Line 771"/>
              <p:cNvSpPr>
                <a:spLocks noChangeShapeType="1"/>
              </p:cNvSpPr>
              <p:nvPr/>
            </p:nvSpPr>
            <p:spPr bwMode="auto">
              <a:xfrm>
                <a:off x="4040"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85" name="Line 772"/>
              <p:cNvSpPr>
                <a:spLocks noChangeShapeType="1"/>
              </p:cNvSpPr>
              <p:nvPr/>
            </p:nvSpPr>
            <p:spPr bwMode="auto">
              <a:xfrm>
                <a:off x="4044" y="1779"/>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86" name="Line 773"/>
              <p:cNvSpPr>
                <a:spLocks noChangeShapeType="1"/>
              </p:cNvSpPr>
              <p:nvPr/>
            </p:nvSpPr>
            <p:spPr bwMode="auto">
              <a:xfrm>
                <a:off x="4049"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87" name="Freeform 774"/>
              <p:cNvSpPr>
                <a:spLocks/>
              </p:cNvSpPr>
              <p:nvPr/>
            </p:nvSpPr>
            <p:spPr bwMode="auto">
              <a:xfrm>
                <a:off x="4049" y="1779"/>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88" name="Line 775"/>
              <p:cNvSpPr>
                <a:spLocks noChangeShapeType="1"/>
              </p:cNvSpPr>
              <p:nvPr/>
            </p:nvSpPr>
            <p:spPr bwMode="auto">
              <a:xfrm>
                <a:off x="4053" y="1779"/>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89" name="Line 776"/>
              <p:cNvSpPr>
                <a:spLocks noChangeShapeType="1"/>
              </p:cNvSpPr>
              <p:nvPr/>
            </p:nvSpPr>
            <p:spPr bwMode="auto">
              <a:xfrm>
                <a:off x="4053" y="1779"/>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90" name="Freeform 777"/>
              <p:cNvSpPr>
                <a:spLocks/>
              </p:cNvSpPr>
              <p:nvPr/>
            </p:nvSpPr>
            <p:spPr bwMode="auto">
              <a:xfrm>
                <a:off x="4057" y="1779"/>
                <a:ext cx="5" cy="4"/>
              </a:xfrm>
              <a:custGeom>
                <a:avLst/>
                <a:gdLst>
                  <a:gd name="T0" fmla="*/ 0 w 5"/>
                  <a:gd name="T1" fmla="*/ 0 h 4"/>
                  <a:gd name="T2" fmla="*/ 5 w 5"/>
                  <a:gd name="T3" fmla="*/ 0 h 4"/>
                  <a:gd name="T4" fmla="*/ 5 w 5"/>
                  <a:gd name="T5" fmla="*/ 4 h 4"/>
                  <a:gd name="T6" fmla="*/ 0 60000 65536"/>
                  <a:gd name="T7" fmla="*/ 0 60000 65536"/>
                  <a:gd name="T8" fmla="*/ 0 60000 65536"/>
                </a:gdLst>
                <a:ahLst/>
                <a:cxnLst>
                  <a:cxn ang="T6">
                    <a:pos x="T0" y="T1"/>
                  </a:cxn>
                  <a:cxn ang="T7">
                    <a:pos x="T2" y="T3"/>
                  </a:cxn>
                  <a:cxn ang="T8">
                    <a:pos x="T4" y="T5"/>
                  </a:cxn>
                </a:cxnLst>
                <a:rect l="0" t="0" r="r" b="b"/>
                <a:pathLst>
                  <a:path w="5" h="4">
                    <a:moveTo>
                      <a:pt x="0" y="0"/>
                    </a:moveTo>
                    <a:lnTo>
                      <a:pt x="5" y="0"/>
                    </a:lnTo>
                    <a:lnTo>
                      <a:pt x="5" y="4"/>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91" name="Line 778"/>
              <p:cNvSpPr>
                <a:spLocks noChangeShapeType="1"/>
              </p:cNvSpPr>
              <p:nvPr/>
            </p:nvSpPr>
            <p:spPr bwMode="auto">
              <a:xfrm>
                <a:off x="4062"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92" name="Freeform 779"/>
              <p:cNvSpPr>
                <a:spLocks/>
              </p:cNvSpPr>
              <p:nvPr/>
            </p:nvSpPr>
            <p:spPr bwMode="auto">
              <a:xfrm>
                <a:off x="4062"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93" name="Line 780"/>
              <p:cNvSpPr>
                <a:spLocks noChangeShapeType="1"/>
              </p:cNvSpPr>
              <p:nvPr/>
            </p:nvSpPr>
            <p:spPr bwMode="auto">
              <a:xfrm>
                <a:off x="4066"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94" name="Freeform 781"/>
              <p:cNvSpPr>
                <a:spLocks/>
              </p:cNvSpPr>
              <p:nvPr/>
            </p:nvSpPr>
            <p:spPr bwMode="auto">
              <a:xfrm>
                <a:off x="4066"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895" name="Line 782"/>
              <p:cNvSpPr>
                <a:spLocks noChangeShapeType="1"/>
              </p:cNvSpPr>
              <p:nvPr/>
            </p:nvSpPr>
            <p:spPr bwMode="auto">
              <a:xfrm>
                <a:off x="4070"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96" name="Line 783"/>
              <p:cNvSpPr>
                <a:spLocks noChangeShapeType="1"/>
              </p:cNvSpPr>
              <p:nvPr/>
            </p:nvSpPr>
            <p:spPr bwMode="auto">
              <a:xfrm>
                <a:off x="4070"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97" name="Line 784"/>
              <p:cNvSpPr>
                <a:spLocks noChangeShapeType="1"/>
              </p:cNvSpPr>
              <p:nvPr/>
            </p:nvSpPr>
            <p:spPr bwMode="auto">
              <a:xfrm>
                <a:off x="4075"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98" name="Line 785"/>
              <p:cNvSpPr>
                <a:spLocks noChangeShapeType="1"/>
              </p:cNvSpPr>
              <p:nvPr/>
            </p:nvSpPr>
            <p:spPr bwMode="auto">
              <a:xfrm>
                <a:off x="4079"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899" name="Freeform 786"/>
              <p:cNvSpPr>
                <a:spLocks/>
              </p:cNvSpPr>
              <p:nvPr/>
            </p:nvSpPr>
            <p:spPr bwMode="auto">
              <a:xfrm>
                <a:off x="4079"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00" name="Line 787"/>
              <p:cNvSpPr>
                <a:spLocks noChangeShapeType="1"/>
              </p:cNvSpPr>
              <p:nvPr/>
            </p:nvSpPr>
            <p:spPr bwMode="auto">
              <a:xfrm>
                <a:off x="408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01" name="Line 788"/>
              <p:cNvSpPr>
                <a:spLocks noChangeShapeType="1"/>
              </p:cNvSpPr>
              <p:nvPr/>
            </p:nvSpPr>
            <p:spPr bwMode="auto">
              <a:xfrm>
                <a:off x="4084"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02" name="Line 789"/>
              <p:cNvSpPr>
                <a:spLocks noChangeShapeType="1"/>
              </p:cNvSpPr>
              <p:nvPr/>
            </p:nvSpPr>
            <p:spPr bwMode="auto">
              <a:xfrm>
                <a:off x="4088"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03" name="Line 790"/>
              <p:cNvSpPr>
                <a:spLocks noChangeShapeType="1"/>
              </p:cNvSpPr>
              <p:nvPr/>
            </p:nvSpPr>
            <p:spPr bwMode="auto">
              <a:xfrm>
                <a:off x="4092"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04" name="Freeform 791"/>
              <p:cNvSpPr>
                <a:spLocks/>
              </p:cNvSpPr>
              <p:nvPr/>
            </p:nvSpPr>
            <p:spPr bwMode="auto">
              <a:xfrm>
                <a:off x="4092" y="1783"/>
                <a:ext cx="5" cy="0"/>
              </a:xfrm>
              <a:custGeom>
                <a:avLst/>
                <a:gdLst>
                  <a:gd name="T0" fmla="*/ 0 w 5"/>
                  <a:gd name="T1" fmla="*/ 0 w 5"/>
                  <a:gd name="T2" fmla="*/ 5 w 5"/>
                  <a:gd name="T3" fmla="*/ 0 60000 65536"/>
                  <a:gd name="T4" fmla="*/ 0 60000 65536"/>
                  <a:gd name="T5" fmla="*/ 0 60000 65536"/>
                </a:gdLst>
                <a:ahLst/>
                <a:cxnLst>
                  <a:cxn ang="T3">
                    <a:pos x="T0" y="0"/>
                  </a:cxn>
                  <a:cxn ang="T4">
                    <a:pos x="T1" y="0"/>
                  </a:cxn>
                  <a:cxn ang="T5">
                    <a:pos x="T2" y="0"/>
                  </a:cxn>
                </a:cxnLst>
                <a:rect l="0" t="0" r="r" b="b"/>
                <a:pathLst>
                  <a:path w="5">
                    <a:moveTo>
                      <a:pt x="0" y="0"/>
                    </a:moveTo>
                    <a:lnTo>
                      <a:pt x="0" y="0"/>
                    </a:lnTo>
                    <a:lnTo>
                      <a:pt x="5"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05" name="Line 792"/>
              <p:cNvSpPr>
                <a:spLocks noChangeShapeType="1"/>
              </p:cNvSpPr>
              <p:nvPr/>
            </p:nvSpPr>
            <p:spPr bwMode="auto">
              <a:xfrm>
                <a:off x="4097"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06" name="Freeform 793"/>
              <p:cNvSpPr>
                <a:spLocks/>
              </p:cNvSpPr>
              <p:nvPr/>
            </p:nvSpPr>
            <p:spPr bwMode="auto">
              <a:xfrm>
                <a:off x="4097"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07" name="Line 794"/>
              <p:cNvSpPr>
                <a:spLocks noChangeShapeType="1"/>
              </p:cNvSpPr>
              <p:nvPr/>
            </p:nvSpPr>
            <p:spPr bwMode="auto">
              <a:xfrm>
                <a:off x="4101"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08" name="Line 795"/>
              <p:cNvSpPr>
                <a:spLocks noChangeShapeType="1"/>
              </p:cNvSpPr>
              <p:nvPr/>
            </p:nvSpPr>
            <p:spPr bwMode="auto">
              <a:xfrm>
                <a:off x="4101"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09" name="Line 796"/>
              <p:cNvSpPr>
                <a:spLocks noChangeShapeType="1"/>
              </p:cNvSpPr>
              <p:nvPr/>
            </p:nvSpPr>
            <p:spPr bwMode="auto">
              <a:xfrm>
                <a:off x="4105"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10" name="Line 797"/>
              <p:cNvSpPr>
                <a:spLocks noChangeShapeType="1"/>
              </p:cNvSpPr>
              <p:nvPr/>
            </p:nvSpPr>
            <p:spPr bwMode="auto">
              <a:xfrm>
                <a:off x="4110"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11" name="Freeform 798"/>
              <p:cNvSpPr>
                <a:spLocks/>
              </p:cNvSpPr>
              <p:nvPr/>
            </p:nvSpPr>
            <p:spPr bwMode="auto">
              <a:xfrm>
                <a:off x="4110"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12" name="Line 799"/>
              <p:cNvSpPr>
                <a:spLocks noChangeShapeType="1"/>
              </p:cNvSpPr>
              <p:nvPr/>
            </p:nvSpPr>
            <p:spPr bwMode="auto">
              <a:xfrm>
                <a:off x="411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13" name="Line 800"/>
              <p:cNvSpPr>
                <a:spLocks noChangeShapeType="1"/>
              </p:cNvSpPr>
              <p:nvPr/>
            </p:nvSpPr>
            <p:spPr bwMode="auto">
              <a:xfrm>
                <a:off x="4114"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14" name="Line 801"/>
              <p:cNvSpPr>
                <a:spLocks noChangeShapeType="1"/>
              </p:cNvSpPr>
              <p:nvPr/>
            </p:nvSpPr>
            <p:spPr bwMode="auto">
              <a:xfrm>
                <a:off x="4118"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15" name="Line 802"/>
              <p:cNvSpPr>
                <a:spLocks noChangeShapeType="1"/>
              </p:cNvSpPr>
              <p:nvPr/>
            </p:nvSpPr>
            <p:spPr bwMode="auto">
              <a:xfrm>
                <a:off x="4123"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16" name="Freeform 803"/>
              <p:cNvSpPr>
                <a:spLocks/>
              </p:cNvSpPr>
              <p:nvPr/>
            </p:nvSpPr>
            <p:spPr bwMode="auto">
              <a:xfrm>
                <a:off x="4123"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17" name="Line 804"/>
              <p:cNvSpPr>
                <a:spLocks noChangeShapeType="1"/>
              </p:cNvSpPr>
              <p:nvPr/>
            </p:nvSpPr>
            <p:spPr bwMode="auto">
              <a:xfrm>
                <a:off x="4127"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18" name="Line 805"/>
              <p:cNvSpPr>
                <a:spLocks noChangeShapeType="1"/>
              </p:cNvSpPr>
              <p:nvPr/>
            </p:nvSpPr>
            <p:spPr bwMode="auto">
              <a:xfrm>
                <a:off x="4127" y="1783"/>
                <a:ext cx="4"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19" name="Line 806"/>
              <p:cNvSpPr>
                <a:spLocks noChangeShapeType="1"/>
              </p:cNvSpPr>
              <p:nvPr/>
            </p:nvSpPr>
            <p:spPr bwMode="auto">
              <a:xfrm>
                <a:off x="4131"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20" name="Line 807"/>
              <p:cNvSpPr>
                <a:spLocks noChangeShapeType="1"/>
              </p:cNvSpPr>
              <p:nvPr/>
            </p:nvSpPr>
            <p:spPr bwMode="auto">
              <a:xfrm>
                <a:off x="4136"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21" name="Freeform 808"/>
              <p:cNvSpPr>
                <a:spLocks/>
              </p:cNvSpPr>
              <p:nvPr/>
            </p:nvSpPr>
            <p:spPr bwMode="auto">
              <a:xfrm>
                <a:off x="4136"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22" name="Line 809"/>
              <p:cNvSpPr>
                <a:spLocks noChangeShapeType="1"/>
              </p:cNvSpPr>
              <p:nvPr/>
            </p:nvSpPr>
            <p:spPr bwMode="auto">
              <a:xfrm>
                <a:off x="4140"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23" name="Freeform 810"/>
              <p:cNvSpPr>
                <a:spLocks/>
              </p:cNvSpPr>
              <p:nvPr/>
            </p:nvSpPr>
            <p:spPr bwMode="auto">
              <a:xfrm>
                <a:off x="4140" y="1783"/>
                <a:ext cx="4" cy="0"/>
              </a:xfrm>
              <a:custGeom>
                <a:avLst/>
                <a:gdLst>
                  <a:gd name="T0" fmla="*/ 0 w 4"/>
                  <a:gd name="T1" fmla="*/ 0 w 4"/>
                  <a:gd name="T2" fmla="*/ 4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924" name="Line 811"/>
              <p:cNvSpPr>
                <a:spLocks noChangeShapeType="1"/>
              </p:cNvSpPr>
              <p:nvPr/>
            </p:nvSpPr>
            <p:spPr bwMode="auto">
              <a:xfrm>
                <a:off x="4144" y="1783"/>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925" name="Line 812"/>
              <p:cNvSpPr>
                <a:spLocks noChangeShapeType="1"/>
              </p:cNvSpPr>
              <p:nvPr/>
            </p:nvSpPr>
            <p:spPr bwMode="auto">
              <a:xfrm>
                <a:off x="4144" y="1783"/>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15714" name="Line 813"/>
            <p:cNvSpPr>
              <a:spLocks noChangeShapeType="1"/>
            </p:cNvSpPr>
            <p:nvPr/>
          </p:nvSpPr>
          <p:spPr bwMode="auto">
            <a:xfrm>
              <a:off x="4315"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15" name="Line 814"/>
            <p:cNvSpPr>
              <a:spLocks noChangeShapeType="1"/>
            </p:cNvSpPr>
            <p:nvPr/>
          </p:nvSpPr>
          <p:spPr bwMode="auto">
            <a:xfrm>
              <a:off x="4321"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16" name="Freeform 815"/>
            <p:cNvSpPr>
              <a:spLocks/>
            </p:cNvSpPr>
            <p:nvPr/>
          </p:nvSpPr>
          <p:spPr bwMode="auto">
            <a:xfrm>
              <a:off x="4321" y="3874"/>
              <a:ext cx="6" cy="0"/>
            </a:xfrm>
            <a:custGeom>
              <a:avLst/>
              <a:gdLst>
                <a:gd name="T0" fmla="*/ 0 w 4"/>
                <a:gd name="T1" fmla="*/ 0 w 4"/>
                <a:gd name="T2" fmla="*/ 48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17" name="Line 816"/>
            <p:cNvSpPr>
              <a:spLocks noChangeShapeType="1"/>
            </p:cNvSpPr>
            <p:nvPr/>
          </p:nvSpPr>
          <p:spPr bwMode="auto">
            <a:xfrm>
              <a:off x="4327"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18" name="Line 817"/>
            <p:cNvSpPr>
              <a:spLocks noChangeShapeType="1"/>
            </p:cNvSpPr>
            <p:nvPr/>
          </p:nvSpPr>
          <p:spPr bwMode="auto">
            <a:xfrm>
              <a:off x="4327" y="3874"/>
              <a:ext cx="7"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19" name="Line 818"/>
            <p:cNvSpPr>
              <a:spLocks noChangeShapeType="1"/>
            </p:cNvSpPr>
            <p:nvPr/>
          </p:nvSpPr>
          <p:spPr bwMode="auto">
            <a:xfrm>
              <a:off x="4334"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20" name="Line 819"/>
            <p:cNvSpPr>
              <a:spLocks noChangeShapeType="1"/>
            </p:cNvSpPr>
            <p:nvPr/>
          </p:nvSpPr>
          <p:spPr bwMode="auto">
            <a:xfrm>
              <a:off x="4340"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21" name="Freeform 820"/>
            <p:cNvSpPr>
              <a:spLocks/>
            </p:cNvSpPr>
            <p:nvPr/>
          </p:nvSpPr>
          <p:spPr bwMode="auto">
            <a:xfrm>
              <a:off x="4340" y="3874"/>
              <a:ext cx="5" cy="0"/>
            </a:xfrm>
            <a:custGeom>
              <a:avLst/>
              <a:gdLst>
                <a:gd name="T0" fmla="*/ 0 w 4"/>
                <a:gd name="T1" fmla="*/ 0 w 4"/>
                <a:gd name="T2" fmla="*/ 16 w 4"/>
                <a:gd name="T3" fmla="*/ 0 60000 65536"/>
                <a:gd name="T4" fmla="*/ 0 60000 65536"/>
                <a:gd name="T5" fmla="*/ 0 60000 65536"/>
              </a:gdLst>
              <a:ahLst/>
              <a:cxnLst>
                <a:cxn ang="T3">
                  <a:pos x="T0" y="0"/>
                </a:cxn>
                <a:cxn ang="T4">
                  <a:pos x="T1" y="0"/>
                </a:cxn>
                <a:cxn ang="T5">
                  <a:pos x="T2" y="0"/>
                </a:cxn>
              </a:cxnLst>
              <a:rect l="0" t="0" r="r" b="b"/>
              <a:pathLst>
                <a:path w="4">
                  <a:moveTo>
                    <a:pt x="0" y="0"/>
                  </a:moveTo>
                  <a:lnTo>
                    <a:pt x="0" y="0"/>
                  </a:lnTo>
                  <a:lnTo>
                    <a:pt x="4" y="0"/>
                  </a:lnTo>
                </a:path>
              </a:pathLst>
            </a:custGeom>
            <a:noFill/>
            <a:ln w="20638">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15722" name="Line 821"/>
            <p:cNvSpPr>
              <a:spLocks noChangeShapeType="1"/>
            </p:cNvSpPr>
            <p:nvPr/>
          </p:nvSpPr>
          <p:spPr bwMode="auto">
            <a:xfrm>
              <a:off x="4345"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23" name="Line 822"/>
            <p:cNvSpPr>
              <a:spLocks noChangeShapeType="1"/>
            </p:cNvSpPr>
            <p:nvPr/>
          </p:nvSpPr>
          <p:spPr bwMode="auto">
            <a:xfrm>
              <a:off x="4353" y="3874"/>
              <a:ext cx="0"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24" name="Line 823"/>
            <p:cNvSpPr>
              <a:spLocks noChangeShapeType="1"/>
            </p:cNvSpPr>
            <p:nvPr/>
          </p:nvSpPr>
          <p:spPr bwMode="auto">
            <a:xfrm>
              <a:off x="4353" y="3874"/>
              <a:ext cx="5"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725" name="Line 824"/>
            <p:cNvSpPr>
              <a:spLocks noChangeShapeType="1"/>
            </p:cNvSpPr>
            <p:nvPr/>
          </p:nvSpPr>
          <p:spPr bwMode="auto">
            <a:xfrm>
              <a:off x="4358" y="3874"/>
              <a:ext cx="6" cy="0"/>
            </a:xfrm>
            <a:prstGeom prst="line">
              <a:avLst/>
            </a:prstGeom>
            <a:noFill/>
            <a:ln w="20638">
              <a:solidFill>
                <a:srgbClr val="FF0000"/>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5366" name="Group 829"/>
          <p:cNvGrpSpPr>
            <a:grpSpLocks/>
          </p:cNvGrpSpPr>
          <p:nvPr/>
        </p:nvGrpSpPr>
        <p:grpSpPr bwMode="auto">
          <a:xfrm>
            <a:off x="5041900" y="3844925"/>
            <a:ext cx="311150" cy="117475"/>
            <a:chOff x="3600" y="2784"/>
            <a:chExt cx="528" cy="144"/>
          </a:xfrm>
        </p:grpSpPr>
        <p:sp>
          <p:nvSpPr>
            <p:cNvPr id="15520" name="Line 83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521" name="Group 831"/>
            <p:cNvGrpSpPr>
              <a:grpSpLocks/>
            </p:cNvGrpSpPr>
            <p:nvPr/>
          </p:nvGrpSpPr>
          <p:grpSpPr bwMode="auto">
            <a:xfrm>
              <a:off x="3600" y="2784"/>
              <a:ext cx="528" cy="144"/>
              <a:chOff x="3696" y="2784"/>
              <a:chExt cx="528" cy="144"/>
            </a:xfrm>
          </p:grpSpPr>
          <p:sp>
            <p:nvSpPr>
              <p:cNvPr id="15522" name="Line 83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523" name="Line 83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67" name="Group 834"/>
          <p:cNvGrpSpPr>
            <a:grpSpLocks/>
          </p:cNvGrpSpPr>
          <p:nvPr/>
        </p:nvGrpSpPr>
        <p:grpSpPr bwMode="auto">
          <a:xfrm>
            <a:off x="4364038" y="3690938"/>
            <a:ext cx="1679575" cy="85725"/>
            <a:chOff x="3600" y="2784"/>
            <a:chExt cx="528" cy="144"/>
          </a:xfrm>
        </p:grpSpPr>
        <p:sp>
          <p:nvSpPr>
            <p:cNvPr id="15516" name="Line 83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517" name="Group 836"/>
            <p:cNvGrpSpPr>
              <a:grpSpLocks/>
            </p:cNvGrpSpPr>
            <p:nvPr/>
          </p:nvGrpSpPr>
          <p:grpSpPr bwMode="auto">
            <a:xfrm>
              <a:off x="3600" y="2784"/>
              <a:ext cx="528" cy="144"/>
              <a:chOff x="3696" y="2784"/>
              <a:chExt cx="528" cy="144"/>
            </a:xfrm>
          </p:grpSpPr>
          <p:sp>
            <p:nvSpPr>
              <p:cNvPr id="15518" name="Line 83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519" name="Line 83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68" name="Group 839"/>
          <p:cNvGrpSpPr>
            <a:grpSpLocks/>
          </p:cNvGrpSpPr>
          <p:nvPr/>
        </p:nvGrpSpPr>
        <p:grpSpPr bwMode="auto">
          <a:xfrm>
            <a:off x="4652963" y="3538538"/>
            <a:ext cx="1081087" cy="85725"/>
            <a:chOff x="3600" y="2784"/>
            <a:chExt cx="528" cy="144"/>
          </a:xfrm>
        </p:grpSpPr>
        <p:sp>
          <p:nvSpPr>
            <p:cNvPr id="15512" name="Line 84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513" name="Group 841"/>
            <p:cNvGrpSpPr>
              <a:grpSpLocks/>
            </p:cNvGrpSpPr>
            <p:nvPr/>
          </p:nvGrpSpPr>
          <p:grpSpPr bwMode="auto">
            <a:xfrm>
              <a:off x="3600" y="2784"/>
              <a:ext cx="528" cy="144"/>
              <a:chOff x="3696" y="2784"/>
              <a:chExt cx="528" cy="144"/>
            </a:xfrm>
          </p:grpSpPr>
          <p:sp>
            <p:nvSpPr>
              <p:cNvPr id="15514" name="Line 84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515" name="Line 84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69" name="Group 844"/>
          <p:cNvGrpSpPr>
            <a:grpSpLocks/>
          </p:cNvGrpSpPr>
          <p:nvPr/>
        </p:nvGrpSpPr>
        <p:grpSpPr bwMode="auto">
          <a:xfrm>
            <a:off x="4354513" y="3386138"/>
            <a:ext cx="1535112" cy="84137"/>
            <a:chOff x="3600" y="2784"/>
            <a:chExt cx="528" cy="144"/>
          </a:xfrm>
        </p:grpSpPr>
        <p:sp>
          <p:nvSpPr>
            <p:cNvPr id="15508" name="Line 84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509" name="Group 846"/>
            <p:cNvGrpSpPr>
              <a:grpSpLocks/>
            </p:cNvGrpSpPr>
            <p:nvPr/>
          </p:nvGrpSpPr>
          <p:grpSpPr bwMode="auto">
            <a:xfrm>
              <a:off x="3600" y="2784"/>
              <a:ext cx="528" cy="144"/>
              <a:chOff x="3696" y="2784"/>
              <a:chExt cx="528" cy="144"/>
            </a:xfrm>
          </p:grpSpPr>
          <p:sp>
            <p:nvSpPr>
              <p:cNvPr id="15510" name="Line 84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511" name="Line 84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70" name="Group 849"/>
          <p:cNvGrpSpPr>
            <a:grpSpLocks/>
          </p:cNvGrpSpPr>
          <p:nvPr/>
        </p:nvGrpSpPr>
        <p:grpSpPr bwMode="auto">
          <a:xfrm>
            <a:off x="4799013" y="3235325"/>
            <a:ext cx="935037" cy="84138"/>
            <a:chOff x="3600" y="2784"/>
            <a:chExt cx="528" cy="144"/>
          </a:xfrm>
        </p:grpSpPr>
        <p:sp>
          <p:nvSpPr>
            <p:cNvPr id="15504" name="Line 85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505" name="Group 851"/>
            <p:cNvGrpSpPr>
              <a:grpSpLocks/>
            </p:cNvGrpSpPr>
            <p:nvPr/>
          </p:nvGrpSpPr>
          <p:grpSpPr bwMode="auto">
            <a:xfrm>
              <a:off x="3600" y="2784"/>
              <a:ext cx="528" cy="144"/>
              <a:chOff x="3696" y="2784"/>
              <a:chExt cx="528" cy="144"/>
            </a:xfrm>
          </p:grpSpPr>
          <p:sp>
            <p:nvSpPr>
              <p:cNvPr id="15506" name="Line 85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507" name="Line 85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71" name="Group 854"/>
          <p:cNvGrpSpPr>
            <a:grpSpLocks/>
          </p:cNvGrpSpPr>
          <p:nvPr/>
        </p:nvGrpSpPr>
        <p:grpSpPr bwMode="auto">
          <a:xfrm rot="10800000">
            <a:off x="3968750" y="1873250"/>
            <a:ext cx="1679575" cy="85725"/>
            <a:chOff x="3600" y="2784"/>
            <a:chExt cx="528" cy="144"/>
          </a:xfrm>
        </p:grpSpPr>
        <p:sp>
          <p:nvSpPr>
            <p:cNvPr id="15500" name="Line 85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501" name="Group 856"/>
            <p:cNvGrpSpPr>
              <a:grpSpLocks/>
            </p:cNvGrpSpPr>
            <p:nvPr/>
          </p:nvGrpSpPr>
          <p:grpSpPr bwMode="auto">
            <a:xfrm>
              <a:off x="3600" y="2784"/>
              <a:ext cx="528" cy="144"/>
              <a:chOff x="3696" y="2784"/>
              <a:chExt cx="528" cy="144"/>
            </a:xfrm>
          </p:grpSpPr>
          <p:sp>
            <p:nvSpPr>
              <p:cNvPr id="15502" name="Line 85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503" name="Line 85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72" name="Group 859"/>
          <p:cNvGrpSpPr>
            <a:grpSpLocks/>
          </p:cNvGrpSpPr>
          <p:nvPr/>
        </p:nvGrpSpPr>
        <p:grpSpPr bwMode="auto">
          <a:xfrm rot="10800000">
            <a:off x="4872038" y="2025650"/>
            <a:ext cx="1081087" cy="85725"/>
            <a:chOff x="3600" y="2784"/>
            <a:chExt cx="528" cy="144"/>
          </a:xfrm>
        </p:grpSpPr>
        <p:sp>
          <p:nvSpPr>
            <p:cNvPr id="15496" name="Line 86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97" name="Group 861"/>
            <p:cNvGrpSpPr>
              <a:grpSpLocks/>
            </p:cNvGrpSpPr>
            <p:nvPr/>
          </p:nvGrpSpPr>
          <p:grpSpPr bwMode="auto">
            <a:xfrm>
              <a:off x="3600" y="2784"/>
              <a:ext cx="528" cy="144"/>
              <a:chOff x="3696" y="2784"/>
              <a:chExt cx="528" cy="144"/>
            </a:xfrm>
          </p:grpSpPr>
          <p:sp>
            <p:nvSpPr>
              <p:cNvPr id="15498" name="Line 86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99" name="Line 86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73" name="Group 864"/>
          <p:cNvGrpSpPr>
            <a:grpSpLocks/>
          </p:cNvGrpSpPr>
          <p:nvPr/>
        </p:nvGrpSpPr>
        <p:grpSpPr bwMode="auto">
          <a:xfrm rot="10800000">
            <a:off x="4505325" y="2178050"/>
            <a:ext cx="1535113" cy="84138"/>
            <a:chOff x="3600" y="2784"/>
            <a:chExt cx="528" cy="144"/>
          </a:xfrm>
        </p:grpSpPr>
        <p:sp>
          <p:nvSpPr>
            <p:cNvPr id="15492" name="Line 86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93" name="Group 866"/>
            <p:cNvGrpSpPr>
              <a:grpSpLocks/>
            </p:cNvGrpSpPr>
            <p:nvPr/>
          </p:nvGrpSpPr>
          <p:grpSpPr bwMode="auto">
            <a:xfrm>
              <a:off x="3600" y="2784"/>
              <a:ext cx="528" cy="144"/>
              <a:chOff x="3696" y="2784"/>
              <a:chExt cx="528" cy="144"/>
            </a:xfrm>
          </p:grpSpPr>
          <p:sp>
            <p:nvSpPr>
              <p:cNvPr id="15494" name="Line 86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95" name="Line 86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74" name="Group 869"/>
          <p:cNvGrpSpPr>
            <a:grpSpLocks/>
          </p:cNvGrpSpPr>
          <p:nvPr/>
        </p:nvGrpSpPr>
        <p:grpSpPr bwMode="auto">
          <a:xfrm rot="10800000">
            <a:off x="4662488" y="2328863"/>
            <a:ext cx="935037" cy="84137"/>
            <a:chOff x="3600" y="2784"/>
            <a:chExt cx="528" cy="144"/>
          </a:xfrm>
        </p:grpSpPr>
        <p:sp>
          <p:nvSpPr>
            <p:cNvPr id="15488" name="Line 87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89" name="Group 871"/>
            <p:cNvGrpSpPr>
              <a:grpSpLocks/>
            </p:cNvGrpSpPr>
            <p:nvPr/>
          </p:nvGrpSpPr>
          <p:grpSpPr bwMode="auto">
            <a:xfrm>
              <a:off x="3600" y="2784"/>
              <a:ext cx="528" cy="144"/>
              <a:chOff x="3696" y="2784"/>
              <a:chExt cx="528" cy="144"/>
            </a:xfrm>
          </p:grpSpPr>
          <p:sp>
            <p:nvSpPr>
              <p:cNvPr id="15490" name="Line 87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91" name="Line 87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75" name="Group 874"/>
          <p:cNvGrpSpPr>
            <a:grpSpLocks/>
          </p:cNvGrpSpPr>
          <p:nvPr/>
        </p:nvGrpSpPr>
        <p:grpSpPr bwMode="auto">
          <a:xfrm rot="10800000">
            <a:off x="5267325" y="2478088"/>
            <a:ext cx="463550" cy="84137"/>
            <a:chOff x="3600" y="2784"/>
            <a:chExt cx="528" cy="144"/>
          </a:xfrm>
        </p:grpSpPr>
        <p:sp>
          <p:nvSpPr>
            <p:cNvPr id="15484" name="Line 87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85" name="Group 876"/>
            <p:cNvGrpSpPr>
              <a:grpSpLocks/>
            </p:cNvGrpSpPr>
            <p:nvPr/>
          </p:nvGrpSpPr>
          <p:grpSpPr bwMode="auto">
            <a:xfrm>
              <a:off x="3600" y="2784"/>
              <a:ext cx="528" cy="144"/>
              <a:chOff x="3696" y="2784"/>
              <a:chExt cx="528" cy="144"/>
            </a:xfrm>
          </p:grpSpPr>
          <p:sp>
            <p:nvSpPr>
              <p:cNvPr id="15486" name="Line 87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87" name="Line 87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76" name="Group 879"/>
          <p:cNvGrpSpPr>
            <a:grpSpLocks/>
          </p:cNvGrpSpPr>
          <p:nvPr/>
        </p:nvGrpSpPr>
        <p:grpSpPr bwMode="auto">
          <a:xfrm rot="10800000">
            <a:off x="4276725" y="2628900"/>
            <a:ext cx="1679575" cy="85725"/>
            <a:chOff x="3600" y="2784"/>
            <a:chExt cx="528" cy="144"/>
          </a:xfrm>
        </p:grpSpPr>
        <p:sp>
          <p:nvSpPr>
            <p:cNvPr id="15480" name="Line 88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81" name="Group 881"/>
            <p:cNvGrpSpPr>
              <a:grpSpLocks/>
            </p:cNvGrpSpPr>
            <p:nvPr/>
          </p:nvGrpSpPr>
          <p:grpSpPr bwMode="auto">
            <a:xfrm>
              <a:off x="3600" y="2784"/>
              <a:ext cx="528" cy="144"/>
              <a:chOff x="3696" y="2784"/>
              <a:chExt cx="528" cy="144"/>
            </a:xfrm>
          </p:grpSpPr>
          <p:sp>
            <p:nvSpPr>
              <p:cNvPr id="15482" name="Line 88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83" name="Line 88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77" name="Group 884"/>
          <p:cNvGrpSpPr>
            <a:grpSpLocks/>
          </p:cNvGrpSpPr>
          <p:nvPr/>
        </p:nvGrpSpPr>
        <p:grpSpPr bwMode="auto">
          <a:xfrm rot="10800000">
            <a:off x="4584700" y="2781300"/>
            <a:ext cx="1081088" cy="84138"/>
            <a:chOff x="3600" y="2784"/>
            <a:chExt cx="528" cy="144"/>
          </a:xfrm>
        </p:grpSpPr>
        <p:sp>
          <p:nvSpPr>
            <p:cNvPr id="15476" name="Line 88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77" name="Group 886"/>
            <p:cNvGrpSpPr>
              <a:grpSpLocks/>
            </p:cNvGrpSpPr>
            <p:nvPr/>
          </p:nvGrpSpPr>
          <p:grpSpPr bwMode="auto">
            <a:xfrm>
              <a:off x="3600" y="2784"/>
              <a:ext cx="528" cy="144"/>
              <a:chOff x="3696" y="2784"/>
              <a:chExt cx="528" cy="144"/>
            </a:xfrm>
          </p:grpSpPr>
          <p:sp>
            <p:nvSpPr>
              <p:cNvPr id="15478" name="Line 88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79" name="Line 88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78" name="Group 889"/>
          <p:cNvGrpSpPr>
            <a:grpSpLocks/>
          </p:cNvGrpSpPr>
          <p:nvPr/>
        </p:nvGrpSpPr>
        <p:grpSpPr bwMode="auto">
          <a:xfrm rot="10800000">
            <a:off x="4048125" y="2932113"/>
            <a:ext cx="1535113" cy="85725"/>
            <a:chOff x="3600" y="2784"/>
            <a:chExt cx="528" cy="144"/>
          </a:xfrm>
        </p:grpSpPr>
        <p:sp>
          <p:nvSpPr>
            <p:cNvPr id="15472" name="Line 89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73" name="Group 891"/>
            <p:cNvGrpSpPr>
              <a:grpSpLocks/>
            </p:cNvGrpSpPr>
            <p:nvPr/>
          </p:nvGrpSpPr>
          <p:grpSpPr bwMode="auto">
            <a:xfrm>
              <a:off x="3600" y="2784"/>
              <a:ext cx="528" cy="144"/>
              <a:chOff x="3696" y="2784"/>
              <a:chExt cx="528" cy="144"/>
            </a:xfrm>
          </p:grpSpPr>
          <p:sp>
            <p:nvSpPr>
              <p:cNvPr id="15474" name="Line 89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75" name="Line 89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79" name="Group 894"/>
          <p:cNvGrpSpPr>
            <a:grpSpLocks/>
          </p:cNvGrpSpPr>
          <p:nvPr/>
        </p:nvGrpSpPr>
        <p:grpSpPr bwMode="auto">
          <a:xfrm rot="10800000">
            <a:off x="4584700" y="3084513"/>
            <a:ext cx="935038" cy="84137"/>
            <a:chOff x="3600" y="2784"/>
            <a:chExt cx="528" cy="144"/>
          </a:xfrm>
        </p:grpSpPr>
        <p:sp>
          <p:nvSpPr>
            <p:cNvPr id="15468" name="Line 89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69" name="Group 896"/>
            <p:cNvGrpSpPr>
              <a:grpSpLocks/>
            </p:cNvGrpSpPr>
            <p:nvPr/>
          </p:nvGrpSpPr>
          <p:grpSpPr bwMode="auto">
            <a:xfrm>
              <a:off x="3600" y="2784"/>
              <a:ext cx="528" cy="144"/>
              <a:chOff x="3696" y="2784"/>
              <a:chExt cx="528" cy="144"/>
            </a:xfrm>
          </p:grpSpPr>
          <p:sp>
            <p:nvSpPr>
              <p:cNvPr id="15470" name="Line 89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71" name="Line 89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80" name="Group 899"/>
          <p:cNvGrpSpPr>
            <a:grpSpLocks/>
          </p:cNvGrpSpPr>
          <p:nvPr/>
        </p:nvGrpSpPr>
        <p:grpSpPr bwMode="auto">
          <a:xfrm>
            <a:off x="4211638" y="5902325"/>
            <a:ext cx="1679575" cy="85725"/>
            <a:chOff x="3600" y="2784"/>
            <a:chExt cx="528" cy="144"/>
          </a:xfrm>
        </p:grpSpPr>
        <p:sp>
          <p:nvSpPr>
            <p:cNvPr id="15464" name="Line 90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65" name="Group 901"/>
            <p:cNvGrpSpPr>
              <a:grpSpLocks/>
            </p:cNvGrpSpPr>
            <p:nvPr/>
          </p:nvGrpSpPr>
          <p:grpSpPr bwMode="auto">
            <a:xfrm>
              <a:off x="3600" y="2784"/>
              <a:ext cx="528" cy="144"/>
              <a:chOff x="3696" y="2784"/>
              <a:chExt cx="528" cy="144"/>
            </a:xfrm>
          </p:grpSpPr>
          <p:sp>
            <p:nvSpPr>
              <p:cNvPr id="15466" name="Line 90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67" name="Line 90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81" name="Group 904"/>
          <p:cNvGrpSpPr>
            <a:grpSpLocks/>
          </p:cNvGrpSpPr>
          <p:nvPr/>
        </p:nvGrpSpPr>
        <p:grpSpPr bwMode="auto">
          <a:xfrm>
            <a:off x="4500563" y="5748338"/>
            <a:ext cx="1081087" cy="85725"/>
            <a:chOff x="3600" y="2784"/>
            <a:chExt cx="528" cy="144"/>
          </a:xfrm>
        </p:grpSpPr>
        <p:sp>
          <p:nvSpPr>
            <p:cNvPr id="15460" name="Line 90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61" name="Group 906"/>
            <p:cNvGrpSpPr>
              <a:grpSpLocks/>
            </p:cNvGrpSpPr>
            <p:nvPr/>
          </p:nvGrpSpPr>
          <p:grpSpPr bwMode="auto">
            <a:xfrm>
              <a:off x="3600" y="2784"/>
              <a:ext cx="528" cy="144"/>
              <a:chOff x="3696" y="2784"/>
              <a:chExt cx="528" cy="144"/>
            </a:xfrm>
          </p:grpSpPr>
          <p:sp>
            <p:nvSpPr>
              <p:cNvPr id="15462" name="Line 90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63" name="Line 90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82" name="Group 909"/>
          <p:cNvGrpSpPr>
            <a:grpSpLocks/>
          </p:cNvGrpSpPr>
          <p:nvPr/>
        </p:nvGrpSpPr>
        <p:grpSpPr bwMode="auto">
          <a:xfrm>
            <a:off x="4810125" y="5589588"/>
            <a:ext cx="457200" cy="92075"/>
            <a:chOff x="3600" y="2784"/>
            <a:chExt cx="528" cy="144"/>
          </a:xfrm>
        </p:grpSpPr>
        <p:sp>
          <p:nvSpPr>
            <p:cNvPr id="15456" name="Line 91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57" name="Group 911"/>
            <p:cNvGrpSpPr>
              <a:grpSpLocks/>
            </p:cNvGrpSpPr>
            <p:nvPr/>
          </p:nvGrpSpPr>
          <p:grpSpPr bwMode="auto">
            <a:xfrm>
              <a:off x="3600" y="2784"/>
              <a:ext cx="528" cy="144"/>
              <a:chOff x="3696" y="2784"/>
              <a:chExt cx="528" cy="144"/>
            </a:xfrm>
          </p:grpSpPr>
          <p:sp>
            <p:nvSpPr>
              <p:cNvPr id="15458" name="Line 91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59" name="Line 91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83" name="Group 914"/>
          <p:cNvGrpSpPr>
            <a:grpSpLocks/>
          </p:cNvGrpSpPr>
          <p:nvPr/>
        </p:nvGrpSpPr>
        <p:grpSpPr bwMode="auto">
          <a:xfrm>
            <a:off x="4276725" y="5438775"/>
            <a:ext cx="935038" cy="82550"/>
            <a:chOff x="3600" y="2784"/>
            <a:chExt cx="528" cy="144"/>
          </a:xfrm>
        </p:grpSpPr>
        <p:sp>
          <p:nvSpPr>
            <p:cNvPr id="15452" name="Line 91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53" name="Group 916"/>
            <p:cNvGrpSpPr>
              <a:grpSpLocks/>
            </p:cNvGrpSpPr>
            <p:nvPr/>
          </p:nvGrpSpPr>
          <p:grpSpPr bwMode="auto">
            <a:xfrm>
              <a:off x="3600" y="2784"/>
              <a:ext cx="528" cy="144"/>
              <a:chOff x="3696" y="2784"/>
              <a:chExt cx="528" cy="144"/>
            </a:xfrm>
          </p:grpSpPr>
          <p:sp>
            <p:nvSpPr>
              <p:cNvPr id="15454" name="Line 91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55" name="Line 91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84" name="Group 919"/>
          <p:cNvGrpSpPr>
            <a:grpSpLocks/>
          </p:cNvGrpSpPr>
          <p:nvPr/>
        </p:nvGrpSpPr>
        <p:grpSpPr bwMode="auto">
          <a:xfrm rot="10800000">
            <a:off x="4349750" y="4029075"/>
            <a:ext cx="2441575" cy="111125"/>
            <a:chOff x="3600" y="2784"/>
            <a:chExt cx="528" cy="144"/>
          </a:xfrm>
        </p:grpSpPr>
        <p:sp>
          <p:nvSpPr>
            <p:cNvPr id="15448" name="Line 92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49" name="Group 921"/>
            <p:cNvGrpSpPr>
              <a:grpSpLocks/>
            </p:cNvGrpSpPr>
            <p:nvPr/>
          </p:nvGrpSpPr>
          <p:grpSpPr bwMode="auto">
            <a:xfrm>
              <a:off x="3600" y="2784"/>
              <a:ext cx="528" cy="144"/>
              <a:chOff x="3696" y="2784"/>
              <a:chExt cx="528" cy="144"/>
            </a:xfrm>
          </p:grpSpPr>
          <p:sp>
            <p:nvSpPr>
              <p:cNvPr id="15450" name="Line 92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51" name="Line 92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85" name="Group 929"/>
          <p:cNvGrpSpPr>
            <a:grpSpLocks/>
          </p:cNvGrpSpPr>
          <p:nvPr/>
        </p:nvGrpSpPr>
        <p:grpSpPr bwMode="auto">
          <a:xfrm rot="10800000">
            <a:off x="4352925" y="4357688"/>
            <a:ext cx="1535113" cy="85725"/>
            <a:chOff x="3600" y="2784"/>
            <a:chExt cx="528" cy="144"/>
          </a:xfrm>
        </p:grpSpPr>
        <p:sp>
          <p:nvSpPr>
            <p:cNvPr id="15444" name="Line 93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45" name="Group 931"/>
            <p:cNvGrpSpPr>
              <a:grpSpLocks/>
            </p:cNvGrpSpPr>
            <p:nvPr/>
          </p:nvGrpSpPr>
          <p:grpSpPr bwMode="auto">
            <a:xfrm>
              <a:off x="3600" y="2784"/>
              <a:ext cx="528" cy="144"/>
              <a:chOff x="3696" y="2784"/>
              <a:chExt cx="528" cy="144"/>
            </a:xfrm>
          </p:grpSpPr>
          <p:sp>
            <p:nvSpPr>
              <p:cNvPr id="15446" name="Line 93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47" name="Line 93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86" name="Group 934"/>
          <p:cNvGrpSpPr>
            <a:grpSpLocks/>
          </p:cNvGrpSpPr>
          <p:nvPr/>
        </p:nvGrpSpPr>
        <p:grpSpPr bwMode="auto">
          <a:xfrm rot="10800000">
            <a:off x="4505325" y="4527550"/>
            <a:ext cx="935038" cy="82550"/>
            <a:chOff x="3600" y="2784"/>
            <a:chExt cx="528" cy="144"/>
          </a:xfrm>
        </p:grpSpPr>
        <p:sp>
          <p:nvSpPr>
            <p:cNvPr id="15440" name="Line 93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41" name="Group 936"/>
            <p:cNvGrpSpPr>
              <a:grpSpLocks/>
            </p:cNvGrpSpPr>
            <p:nvPr/>
          </p:nvGrpSpPr>
          <p:grpSpPr bwMode="auto">
            <a:xfrm>
              <a:off x="3600" y="2784"/>
              <a:ext cx="528" cy="144"/>
              <a:chOff x="3696" y="2784"/>
              <a:chExt cx="528" cy="144"/>
            </a:xfrm>
          </p:grpSpPr>
          <p:sp>
            <p:nvSpPr>
              <p:cNvPr id="15442" name="Line 93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43" name="Line 93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87" name="Group 939"/>
          <p:cNvGrpSpPr>
            <a:grpSpLocks/>
          </p:cNvGrpSpPr>
          <p:nvPr/>
        </p:nvGrpSpPr>
        <p:grpSpPr bwMode="auto">
          <a:xfrm rot="10800000">
            <a:off x="4930775" y="4660900"/>
            <a:ext cx="869950" cy="106363"/>
            <a:chOff x="3600" y="2784"/>
            <a:chExt cx="528" cy="144"/>
          </a:xfrm>
        </p:grpSpPr>
        <p:sp>
          <p:nvSpPr>
            <p:cNvPr id="15436" name="Line 94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37" name="Group 941"/>
            <p:cNvGrpSpPr>
              <a:grpSpLocks/>
            </p:cNvGrpSpPr>
            <p:nvPr/>
          </p:nvGrpSpPr>
          <p:grpSpPr bwMode="auto">
            <a:xfrm>
              <a:off x="3600" y="2784"/>
              <a:ext cx="528" cy="144"/>
              <a:chOff x="3696" y="2784"/>
              <a:chExt cx="528" cy="144"/>
            </a:xfrm>
          </p:grpSpPr>
          <p:sp>
            <p:nvSpPr>
              <p:cNvPr id="15438" name="Line 94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39" name="Line 94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88" name="Group 944"/>
          <p:cNvGrpSpPr>
            <a:grpSpLocks/>
          </p:cNvGrpSpPr>
          <p:nvPr/>
        </p:nvGrpSpPr>
        <p:grpSpPr bwMode="auto">
          <a:xfrm rot="10800000">
            <a:off x="3971925" y="4832350"/>
            <a:ext cx="1679575" cy="84138"/>
            <a:chOff x="3600" y="2784"/>
            <a:chExt cx="528" cy="144"/>
          </a:xfrm>
        </p:grpSpPr>
        <p:sp>
          <p:nvSpPr>
            <p:cNvPr id="15432" name="Line 94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33" name="Group 946"/>
            <p:cNvGrpSpPr>
              <a:grpSpLocks/>
            </p:cNvGrpSpPr>
            <p:nvPr/>
          </p:nvGrpSpPr>
          <p:grpSpPr bwMode="auto">
            <a:xfrm>
              <a:off x="3600" y="2784"/>
              <a:ext cx="528" cy="144"/>
              <a:chOff x="3696" y="2784"/>
              <a:chExt cx="528" cy="144"/>
            </a:xfrm>
          </p:grpSpPr>
          <p:sp>
            <p:nvSpPr>
              <p:cNvPr id="15434" name="Line 94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35" name="Line 94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89" name="Group 949"/>
          <p:cNvGrpSpPr>
            <a:grpSpLocks/>
          </p:cNvGrpSpPr>
          <p:nvPr/>
        </p:nvGrpSpPr>
        <p:grpSpPr bwMode="auto">
          <a:xfrm rot="10800000">
            <a:off x="4432300" y="4983163"/>
            <a:ext cx="1081088" cy="85725"/>
            <a:chOff x="3600" y="2784"/>
            <a:chExt cx="528" cy="144"/>
          </a:xfrm>
        </p:grpSpPr>
        <p:sp>
          <p:nvSpPr>
            <p:cNvPr id="15428" name="Line 95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29" name="Group 951"/>
            <p:cNvGrpSpPr>
              <a:grpSpLocks/>
            </p:cNvGrpSpPr>
            <p:nvPr/>
          </p:nvGrpSpPr>
          <p:grpSpPr bwMode="auto">
            <a:xfrm>
              <a:off x="3600" y="2784"/>
              <a:ext cx="528" cy="144"/>
              <a:chOff x="3696" y="2784"/>
              <a:chExt cx="528" cy="144"/>
            </a:xfrm>
          </p:grpSpPr>
          <p:sp>
            <p:nvSpPr>
              <p:cNvPr id="15430" name="Line 95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31" name="Line 95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90" name="Group 954"/>
          <p:cNvGrpSpPr>
            <a:grpSpLocks/>
          </p:cNvGrpSpPr>
          <p:nvPr/>
        </p:nvGrpSpPr>
        <p:grpSpPr bwMode="auto">
          <a:xfrm rot="10800000">
            <a:off x="4276725" y="5135563"/>
            <a:ext cx="1535113" cy="84137"/>
            <a:chOff x="3600" y="2784"/>
            <a:chExt cx="528" cy="144"/>
          </a:xfrm>
        </p:grpSpPr>
        <p:sp>
          <p:nvSpPr>
            <p:cNvPr id="15424" name="Line 95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25" name="Group 956"/>
            <p:cNvGrpSpPr>
              <a:grpSpLocks/>
            </p:cNvGrpSpPr>
            <p:nvPr/>
          </p:nvGrpSpPr>
          <p:grpSpPr bwMode="auto">
            <a:xfrm>
              <a:off x="3600" y="2784"/>
              <a:ext cx="528" cy="144"/>
              <a:chOff x="3696" y="2784"/>
              <a:chExt cx="528" cy="144"/>
            </a:xfrm>
          </p:grpSpPr>
          <p:sp>
            <p:nvSpPr>
              <p:cNvPr id="15426" name="Line 95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27" name="Line 95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91" name="Group 959"/>
          <p:cNvGrpSpPr>
            <a:grpSpLocks/>
          </p:cNvGrpSpPr>
          <p:nvPr/>
        </p:nvGrpSpPr>
        <p:grpSpPr bwMode="auto">
          <a:xfrm rot="10800000">
            <a:off x="4432300" y="5286375"/>
            <a:ext cx="935038" cy="85725"/>
            <a:chOff x="3600" y="2784"/>
            <a:chExt cx="528" cy="144"/>
          </a:xfrm>
        </p:grpSpPr>
        <p:sp>
          <p:nvSpPr>
            <p:cNvPr id="15420" name="Line 960"/>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21" name="Group 961"/>
            <p:cNvGrpSpPr>
              <a:grpSpLocks/>
            </p:cNvGrpSpPr>
            <p:nvPr/>
          </p:nvGrpSpPr>
          <p:grpSpPr bwMode="auto">
            <a:xfrm>
              <a:off x="3600" y="2784"/>
              <a:ext cx="528" cy="144"/>
              <a:chOff x="3696" y="2784"/>
              <a:chExt cx="528" cy="144"/>
            </a:xfrm>
          </p:grpSpPr>
          <p:sp>
            <p:nvSpPr>
              <p:cNvPr id="15422" name="Line 962"/>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23" name="Line 963"/>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grpSp>
        <p:nvGrpSpPr>
          <p:cNvPr id="15392" name="Group 964"/>
          <p:cNvGrpSpPr>
            <a:grpSpLocks noChangeAspect="1"/>
          </p:cNvGrpSpPr>
          <p:nvPr/>
        </p:nvGrpSpPr>
        <p:grpSpPr bwMode="auto">
          <a:xfrm>
            <a:off x="5010150" y="6183313"/>
            <a:ext cx="161925" cy="274637"/>
            <a:chOff x="2862" y="3943"/>
            <a:chExt cx="102" cy="173"/>
          </a:xfrm>
        </p:grpSpPr>
        <p:sp>
          <p:nvSpPr>
            <p:cNvPr id="15418" name="AutoShape 965"/>
            <p:cNvSpPr>
              <a:spLocks noChangeAspect="1" noChangeArrowheads="1" noTextEdit="1"/>
            </p:cNvSpPr>
            <p:nvPr/>
          </p:nvSpPr>
          <p:spPr bwMode="auto">
            <a:xfrm>
              <a:off x="2862" y="3984"/>
              <a:ext cx="10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15419" name="Rectangle 966"/>
            <p:cNvSpPr>
              <a:spLocks noChangeArrowheads="1"/>
            </p:cNvSpPr>
            <p:nvPr/>
          </p:nvSpPr>
          <p:spPr bwMode="auto">
            <a:xfrm>
              <a:off x="2877" y="3943"/>
              <a:ext cx="6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500">
                  <a:solidFill>
                    <a:srgbClr val="000000"/>
                  </a:solidFill>
                  <a:latin typeface="Symbol" pitchFamily="18" charset="2"/>
                </a:rPr>
                <a:t>m</a:t>
              </a:r>
              <a:endParaRPr lang="es-ES" altLang="es-ES"/>
            </a:p>
          </p:txBody>
        </p:sp>
      </p:grpSp>
      <p:sp>
        <p:nvSpPr>
          <p:cNvPr id="15393" name="Line 826"/>
          <p:cNvSpPr>
            <a:spLocks noChangeShapeType="1"/>
          </p:cNvSpPr>
          <p:nvPr/>
        </p:nvSpPr>
        <p:spPr bwMode="auto">
          <a:xfrm>
            <a:off x="2297113" y="6088063"/>
            <a:ext cx="5561012"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394" name="Rectangle 825"/>
          <p:cNvSpPr>
            <a:spLocks noChangeArrowheads="1"/>
          </p:cNvSpPr>
          <p:nvPr/>
        </p:nvSpPr>
        <p:spPr bwMode="auto">
          <a:xfrm>
            <a:off x="2514600" y="1428750"/>
            <a:ext cx="5715000" cy="4648200"/>
          </a:xfrm>
          <a:prstGeom prst="rect">
            <a:avLst/>
          </a:prstGeom>
          <a:solidFill>
            <a:schemeClr val="bg1">
              <a:alpha val="76862"/>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nvGrpSpPr>
          <p:cNvPr id="15395" name="Group 924"/>
          <p:cNvGrpSpPr>
            <a:grpSpLocks/>
          </p:cNvGrpSpPr>
          <p:nvPr/>
        </p:nvGrpSpPr>
        <p:grpSpPr bwMode="auto">
          <a:xfrm rot="10800000">
            <a:off x="4267200" y="4159250"/>
            <a:ext cx="1081088" cy="165100"/>
            <a:chOff x="3600" y="2784"/>
            <a:chExt cx="528" cy="144"/>
          </a:xfrm>
        </p:grpSpPr>
        <p:sp>
          <p:nvSpPr>
            <p:cNvPr id="15414" name="Line 925"/>
            <p:cNvSpPr>
              <a:spLocks noChangeShapeType="1"/>
            </p:cNvSpPr>
            <p:nvPr/>
          </p:nvSpPr>
          <p:spPr bwMode="auto">
            <a:xfrm>
              <a:off x="3600"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15" name="Group 926"/>
            <p:cNvGrpSpPr>
              <a:grpSpLocks/>
            </p:cNvGrpSpPr>
            <p:nvPr/>
          </p:nvGrpSpPr>
          <p:grpSpPr bwMode="auto">
            <a:xfrm>
              <a:off x="3600" y="2784"/>
              <a:ext cx="528" cy="144"/>
              <a:chOff x="3696" y="2784"/>
              <a:chExt cx="528" cy="144"/>
            </a:xfrm>
          </p:grpSpPr>
          <p:sp>
            <p:nvSpPr>
              <p:cNvPr id="15416" name="Line 927"/>
              <p:cNvSpPr>
                <a:spLocks noChangeShapeType="1"/>
              </p:cNvSpPr>
              <p:nvPr/>
            </p:nvSpPr>
            <p:spPr bwMode="auto">
              <a:xfrm>
                <a:off x="3696" y="2856"/>
                <a:ext cx="528"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17" name="Line 928"/>
              <p:cNvSpPr>
                <a:spLocks noChangeShapeType="1"/>
              </p:cNvSpPr>
              <p:nvPr/>
            </p:nvSpPr>
            <p:spPr bwMode="auto">
              <a:xfrm>
                <a:off x="4224" y="2784"/>
                <a:ext cx="0" cy="144"/>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sp>
        <p:nvSpPr>
          <p:cNvPr id="15396" name="Line 827"/>
          <p:cNvSpPr>
            <a:spLocks noChangeShapeType="1"/>
          </p:cNvSpPr>
          <p:nvPr/>
        </p:nvSpPr>
        <p:spPr bwMode="auto">
          <a:xfrm rot="-5400000">
            <a:off x="2793206" y="3885407"/>
            <a:ext cx="4570413" cy="0"/>
          </a:xfrm>
          <a:prstGeom prst="line">
            <a:avLst/>
          </a:prstGeom>
          <a:noFill/>
          <a:ln w="15875">
            <a:solidFill>
              <a:srgbClr val="8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397" name="Text Box 990"/>
          <p:cNvSpPr txBox="1">
            <a:spLocks noChangeArrowheads="1"/>
          </p:cNvSpPr>
          <p:nvPr/>
        </p:nvSpPr>
        <p:spPr bwMode="auto">
          <a:xfrm>
            <a:off x="533400" y="3505200"/>
            <a:ext cx="3124200" cy="200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Se espera, con un 95% de probabilidad (=</a:t>
            </a:r>
            <a:r>
              <a:rPr lang="es-ES_tradnl" altLang="es-ES" sz="1400" i="1"/>
              <a:t>confianza</a:t>
            </a:r>
            <a:r>
              <a:rPr lang="es-ES_tradnl" altLang="es-ES" sz="1400"/>
              <a:t>) que el intervalo obtenido contenga a </a:t>
            </a:r>
            <a:r>
              <a:rPr lang="es-ES_tradnl" altLang="es-ES" sz="1600">
                <a:latin typeface="Symbol" pitchFamily="18" charset="2"/>
              </a:rPr>
              <a:t>m</a:t>
            </a:r>
          </a:p>
          <a:p>
            <a:pPr eaLnBrk="1" hangingPunct="1"/>
            <a:endParaRPr lang="es-ES_tradnl" altLang="es-ES" sz="1400"/>
          </a:p>
          <a:p>
            <a:pPr eaLnBrk="1" hangingPunct="1"/>
            <a:r>
              <a:rPr lang="es-ES_tradnl" altLang="es-ES" sz="1400"/>
              <a:t>Es decir, que sea uno de los 95 de cada 100 intervalos que contienen al verdadero valor del parámetro poblacional</a:t>
            </a:r>
          </a:p>
          <a:p>
            <a:pPr eaLnBrk="1" hangingPunct="1"/>
            <a:endParaRPr lang="es-ES" altLang="es-ES" sz="1200"/>
          </a:p>
        </p:txBody>
      </p:sp>
      <p:sp>
        <p:nvSpPr>
          <p:cNvPr id="15398" name="Line 991"/>
          <p:cNvSpPr>
            <a:spLocks noChangeShapeType="1"/>
          </p:cNvSpPr>
          <p:nvPr/>
        </p:nvSpPr>
        <p:spPr bwMode="auto">
          <a:xfrm>
            <a:off x="3581400" y="4257675"/>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399" name="Group 6"/>
          <p:cNvGrpSpPr>
            <a:grpSpLocks/>
          </p:cNvGrpSpPr>
          <p:nvPr/>
        </p:nvGrpSpPr>
        <p:grpSpPr bwMode="auto">
          <a:xfrm>
            <a:off x="838200" y="1676400"/>
            <a:ext cx="2444750" cy="1219200"/>
            <a:chOff x="620" y="1392"/>
            <a:chExt cx="1540" cy="768"/>
          </a:xfrm>
        </p:grpSpPr>
        <p:graphicFrame>
          <p:nvGraphicFramePr>
            <p:cNvPr id="15403" name="Object 7"/>
            <p:cNvGraphicFramePr>
              <a:graphicFrameLocks noChangeAspect="1"/>
            </p:cNvGraphicFramePr>
            <p:nvPr/>
          </p:nvGraphicFramePr>
          <p:xfrm>
            <a:off x="1440" y="1728"/>
            <a:ext cx="720" cy="383"/>
          </p:xfrm>
          <a:graphic>
            <a:graphicData uri="http://schemas.openxmlformats.org/presentationml/2006/ole">
              <mc:AlternateContent xmlns:mc="http://schemas.openxmlformats.org/markup-compatibility/2006">
                <mc:Choice xmlns:v="urn:schemas-microsoft-com:vml" Requires="v">
                  <p:oleObj name="Equation" r:id="rId4" imgW="787400" imgH="419100" progId="Equation.DSMT4">
                    <p:embed/>
                  </p:oleObj>
                </mc:Choice>
                <mc:Fallback>
                  <p:oleObj name="Equation" r:id="rId4" imgW="787400" imgH="419100" progId="Equation.DSMT4">
                    <p:embed/>
                    <p:pic>
                      <p:nvPicPr>
                        <p:cNvPr id="15403"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0" y="1728"/>
                          <a:ext cx="720" cy="3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404" name="Object 8"/>
            <p:cNvGraphicFramePr>
              <a:graphicFrameLocks noChangeAspect="1"/>
            </p:cNvGraphicFramePr>
            <p:nvPr/>
          </p:nvGraphicFramePr>
          <p:xfrm>
            <a:off x="620" y="1800"/>
            <a:ext cx="676" cy="360"/>
          </p:xfrm>
          <a:graphic>
            <a:graphicData uri="http://schemas.openxmlformats.org/presentationml/2006/ole">
              <mc:AlternateContent xmlns:mc="http://schemas.openxmlformats.org/markup-compatibility/2006">
                <mc:Choice xmlns:v="urn:schemas-microsoft-com:vml" Requires="v">
                  <p:oleObj name="Equation" r:id="rId6" imgW="787400" imgH="419100" progId="Equation.DSMT4">
                    <p:embed/>
                  </p:oleObj>
                </mc:Choice>
                <mc:Fallback>
                  <p:oleObj name="Equation" r:id="rId6" imgW="787400" imgH="419100" progId="Equation.DSMT4">
                    <p:embed/>
                    <p:pic>
                      <p:nvPicPr>
                        <p:cNvPr id="1540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0" y="1800"/>
                          <a:ext cx="67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405" name="Object 9"/>
            <p:cNvGraphicFramePr>
              <a:graphicFrameLocks noChangeAspect="1"/>
            </p:cNvGraphicFramePr>
            <p:nvPr/>
          </p:nvGraphicFramePr>
          <p:xfrm>
            <a:off x="1242" y="1392"/>
            <a:ext cx="128" cy="151"/>
          </p:xfrm>
          <a:graphic>
            <a:graphicData uri="http://schemas.openxmlformats.org/presentationml/2006/ole">
              <mc:AlternateContent xmlns:mc="http://schemas.openxmlformats.org/markup-compatibility/2006">
                <mc:Choice xmlns:v="urn:schemas-microsoft-com:vml" Requires="v">
                  <p:oleObj name="Equation" r:id="rId8" imgW="139579" imgH="164957" progId="Equation.DSMT4">
                    <p:embed/>
                  </p:oleObj>
                </mc:Choice>
                <mc:Fallback>
                  <p:oleObj name="Equation" r:id="rId8" imgW="139579" imgH="164957" progId="Equation.DSMT4">
                    <p:embed/>
                    <p:pic>
                      <p:nvPicPr>
                        <p:cNvPr id="15405"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2" y="1392"/>
                          <a:ext cx="128"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5406" name="Group 10"/>
            <p:cNvGrpSpPr>
              <a:grpSpLocks/>
            </p:cNvGrpSpPr>
            <p:nvPr/>
          </p:nvGrpSpPr>
          <p:grpSpPr bwMode="auto">
            <a:xfrm>
              <a:off x="959" y="1536"/>
              <a:ext cx="673" cy="345"/>
              <a:chOff x="863" y="1440"/>
              <a:chExt cx="673" cy="345"/>
            </a:xfrm>
          </p:grpSpPr>
          <p:sp>
            <p:nvSpPr>
              <p:cNvPr id="15407" name="Line 11"/>
              <p:cNvSpPr>
                <a:spLocks noChangeShapeType="1"/>
              </p:cNvSpPr>
              <p:nvPr/>
            </p:nvSpPr>
            <p:spPr bwMode="auto">
              <a:xfrm rot="10800000">
                <a:off x="864" y="1512"/>
                <a:ext cx="672" cy="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15408" name="Group 12"/>
              <p:cNvGrpSpPr>
                <a:grpSpLocks/>
              </p:cNvGrpSpPr>
              <p:nvPr/>
            </p:nvGrpSpPr>
            <p:grpSpPr bwMode="auto">
              <a:xfrm>
                <a:off x="863" y="1440"/>
                <a:ext cx="672" cy="144"/>
                <a:chOff x="863" y="1392"/>
                <a:chExt cx="672" cy="240"/>
              </a:xfrm>
            </p:grpSpPr>
            <p:sp>
              <p:nvSpPr>
                <p:cNvPr id="15412" name="Line 13"/>
                <p:cNvSpPr>
                  <a:spLocks noChangeShapeType="1"/>
                </p:cNvSpPr>
                <p:nvPr/>
              </p:nvSpPr>
              <p:spPr bwMode="auto">
                <a:xfrm rot="10800000">
                  <a:off x="1535" y="1392"/>
                  <a:ext cx="0" cy="24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13" name="Line 14"/>
                <p:cNvSpPr>
                  <a:spLocks noChangeShapeType="1"/>
                </p:cNvSpPr>
                <p:nvPr/>
              </p:nvSpPr>
              <p:spPr bwMode="auto">
                <a:xfrm rot="10800000">
                  <a:off x="863" y="1392"/>
                  <a:ext cx="0" cy="240"/>
                </a:xfrm>
                <a:prstGeom prst="line">
                  <a:avLst/>
                </a:prstGeom>
                <a:noFill/>
                <a:ln w="158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sp>
            <p:nvSpPr>
              <p:cNvPr id="15409" name="Line 15"/>
              <p:cNvSpPr>
                <a:spLocks noChangeShapeType="1"/>
              </p:cNvSpPr>
              <p:nvPr/>
            </p:nvSpPr>
            <p:spPr bwMode="auto">
              <a:xfrm rot="10800000">
                <a:off x="864" y="1545"/>
                <a:ext cx="0" cy="240"/>
              </a:xfrm>
              <a:prstGeom prst="line">
                <a:avLst/>
              </a:prstGeom>
              <a:noFill/>
              <a:ln w="1270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10" name="Line 16"/>
              <p:cNvSpPr>
                <a:spLocks noChangeShapeType="1"/>
              </p:cNvSpPr>
              <p:nvPr/>
            </p:nvSpPr>
            <p:spPr bwMode="auto">
              <a:xfrm rot="10800000">
                <a:off x="1536" y="1488"/>
                <a:ext cx="0" cy="240"/>
              </a:xfrm>
              <a:prstGeom prst="line">
                <a:avLst/>
              </a:prstGeom>
              <a:noFill/>
              <a:ln w="1270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5411" name="Line 17"/>
              <p:cNvSpPr>
                <a:spLocks noChangeShapeType="1"/>
              </p:cNvSpPr>
              <p:nvPr/>
            </p:nvSpPr>
            <p:spPr bwMode="auto">
              <a:xfrm rot="10800000">
                <a:off x="1200" y="1440"/>
                <a:ext cx="0" cy="105"/>
              </a:xfrm>
              <a:prstGeom prst="line">
                <a:avLst/>
              </a:prstGeom>
              <a:noFill/>
              <a:ln w="12700">
                <a:solidFill>
                  <a:srgbClr val="0000FF"/>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sp>
        <p:nvSpPr>
          <p:cNvPr id="15400" name="AutoShape 989"/>
          <p:cNvSpPr>
            <a:spLocks noChangeArrowheads="1"/>
          </p:cNvSpPr>
          <p:nvPr/>
        </p:nvSpPr>
        <p:spPr bwMode="auto">
          <a:xfrm>
            <a:off x="541338" y="1447800"/>
            <a:ext cx="3040062" cy="1905000"/>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15401" name="Text Box 990"/>
          <p:cNvSpPr txBox="1">
            <a:spLocks noChangeArrowheads="1"/>
          </p:cNvSpPr>
          <p:nvPr/>
        </p:nvSpPr>
        <p:spPr bwMode="auto">
          <a:xfrm>
            <a:off x="6400800" y="1604962"/>
            <a:ext cx="24384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dirty="0"/>
              <a:t>Observaciones:</a:t>
            </a:r>
          </a:p>
          <a:p>
            <a:pPr eaLnBrk="1" hangingPunct="1">
              <a:buFontTx/>
              <a:buChar char="•"/>
            </a:pPr>
            <a:r>
              <a:rPr lang="es-ES_tradnl" altLang="es-ES" sz="1400" dirty="0"/>
              <a:t>Nunca decimos que la media poblacional </a:t>
            </a:r>
            <a:r>
              <a:rPr lang="es-ES" altLang="es-ES" sz="1400" dirty="0"/>
              <a:t>“</a:t>
            </a:r>
            <a:r>
              <a:rPr lang="es-ES" altLang="es-ES" sz="1400" i="1" dirty="0"/>
              <a:t>cae</a:t>
            </a:r>
            <a:r>
              <a:rPr lang="es-ES" altLang="es-ES" sz="1400" dirty="0"/>
              <a:t>” en el intervalo (es el intervalo el que pretende recoger al valor de la media)</a:t>
            </a:r>
          </a:p>
          <a:p>
            <a:pPr eaLnBrk="1" hangingPunct="1"/>
            <a:endParaRPr lang="es-ES_tradnl" altLang="es-ES" sz="1400" dirty="0"/>
          </a:p>
          <a:p>
            <a:pPr eaLnBrk="1" hangingPunct="1">
              <a:buFontTx/>
              <a:buChar char="•"/>
            </a:pPr>
            <a:r>
              <a:rPr lang="es-ES_tradnl" altLang="es-ES" sz="1400" dirty="0"/>
              <a:t>Una </a:t>
            </a:r>
            <a:r>
              <a:rPr lang="es-ES_tradnl" altLang="es-ES" sz="1400" b="1" dirty="0"/>
              <a:t>precisión</a:t>
            </a:r>
            <a:r>
              <a:rPr lang="es-ES_tradnl" altLang="es-ES" sz="1400" dirty="0"/>
              <a:t> grande es un </a:t>
            </a:r>
            <a:r>
              <a:rPr lang="es-ES_tradnl" altLang="es-ES" sz="1600" dirty="0">
                <a:latin typeface="Symbol" pitchFamily="18" charset="2"/>
              </a:rPr>
              <a:t>d</a:t>
            </a:r>
            <a:r>
              <a:rPr lang="es-ES_tradnl" altLang="es-ES" sz="1400" dirty="0"/>
              <a:t> pequeño</a:t>
            </a:r>
            <a:r>
              <a:rPr lang="es-ES" altLang="es-ES" sz="1400" dirty="0"/>
              <a:t>, es decir, un intervalo estrecho</a:t>
            </a:r>
            <a:endParaRPr lang="es-ES_tradnl" altLang="es-ES" sz="1400" dirty="0"/>
          </a:p>
          <a:p>
            <a:pPr eaLnBrk="1" hangingPunct="1"/>
            <a:endParaRPr lang="es-ES" altLang="es-ES" sz="1200" dirty="0"/>
          </a:p>
        </p:txBody>
      </p:sp>
      <p:sp>
        <p:nvSpPr>
          <p:cNvPr id="966" name="Rectangle 24"/>
          <p:cNvSpPr>
            <a:spLocks noChangeArrowheads="1"/>
          </p:cNvSpPr>
          <p:nvPr/>
        </p:nvSpPr>
        <p:spPr bwMode="auto">
          <a:xfrm>
            <a:off x="161925" y="409575"/>
            <a:ext cx="6510338"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dirty="0">
                <a:solidFill>
                  <a:srgbClr val="000000"/>
                </a:solidFill>
              </a:rPr>
              <a:t>Intervalos de confianza para la media de una variable cuantitativa</a:t>
            </a:r>
            <a:endParaRPr lang="es-ES" altLang="es-ES" sz="1600" b="1" dirty="0">
              <a:solidFill>
                <a:srgbClr val="000000"/>
              </a:solidFill>
            </a:endParaRPr>
          </a:p>
        </p:txBody>
      </p:sp>
      <p:sp>
        <p:nvSpPr>
          <p:cNvPr id="967"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2288123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4"/>
          <p:cNvSpPr txBox="1">
            <a:spLocks noChangeArrowheads="1"/>
          </p:cNvSpPr>
          <p:nvPr/>
        </p:nvSpPr>
        <p:spPr bwMode="auto">
          <a:xfrm>
            <a:off x="114550" y="812222"/>
            <a:ext cx="8839200" cy="1031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Lst>
        </p:spPr>
        <p:txBody>
          <a:bodyPr wrap="square" anchor="ctr">
            <a:spAutoFit/>
          </a:bodyPr>
          <a:lstStyle>
            <a:lvl1pPr eaLnBrk="0" hangingPunct="0">
              <a:tabLst>
                <a:tab pos="4194175" algn="ctr"/>
              </a:tabLst>
              <a:defRPr>
                <a:solidFill>
                  <a:schemeClr val="tx1"/>
                </a:solidFill>
                <a:latin typeface="Arial" charset="0"/>
              </a:defRPr>
            </a:lvl1pPr>
            <a:lvl2pPr marL="742950" indent="-285750" eaLnBrk="0" hangingPunct="0">
              <a:tabLst>
                <a:tab pos="4194175" algn="ctr"/>
              </a:tabLst>
              <a:defRPr>
                <a:solidFill>
                  <a:schemeClr val="tx1"/>
                </a:solidFill>
                <a:latin typeface="Arial" charset="0"/>
              </a:defRPr>
            </a:lvl2pPr>
            <a:lvl3pPr marL="1143000" indent="-228600" eaLnBrk="0" hangingPunct="0">
              <a:tabLst>
                <a:tab pos="4194175" algn="ctr"/>
              </a:tabLst>
              <a:defRPr>
                <a:solidFill>
                  <a:schemeClr val="tx1"/>
                </a:solidFill>
                <a:latin typeface="Arial" charset="0"/>
              </a:defRPr>
            </a:lvl3pPr>
            <a:lvl4pPr marL="1600200" indent="-228600" eaLnBrk="0" hangingPunct="0">
              <a:tabLst>
                <a:tab pos="4194175" algn="ctr"/>
              </a:tabLst>
              <a:defRPr>
                <a:solidFill>
                  <a:schemeClr val="tx1"/>
                </a:solidFill>
                <a:latin typeface="Arial" charset="0"/>
              </a:defRPr>
            </a:lvl4pPr>
            <a:lvl5pPr marL="2057400" indent="-228600" eaLnBrk="0" hangingPunct="0">
              <a:tabLst>
                <a:tab pos="4194175" algn="ctr"/>
              </a:tabLst>
              <a:defRPr>
                <a:solidFill>
                  <a:schemeClr val="tx1"/>
                </a:solidFill>
                <a:latin typeface="Arial" charset="0"/>
              </a:defRPr>
            </a:lvl5pPr>
            <a:lvl6pPr marL="2514600" indent="-228600" eaLnBrk="0" fontAlgn="base" hangingPunct="0">
              <a:spcBef>
                <a:spcPct val="0"/>
              </a:spcBef>
              <a:spcAft>
                <a:spcPct val="0"/>
              </a:spcAft>
              <a:tabLst>
                <a:tab pos="4194175" algn="ctr"/>
              </a:tabLst>
              <a:defRPr>
                <a:solidFill>
                  <a:schemeClr val="tx1"/>
                </a:solidFill>
                <a:latin typeface="Arial" charset="0"/>
              </a:defRPr>
            </a:lvl6pPr>
            <a:lvl7pPr marL="2971800" indent="-228600" eaLnBrk="0" fontAlgn="base" hangingPunct="0">
              <a:spcBef>
                <a:spcPct val="0"/>
              </a:spcBef>
              <a:spcAft>
                <a:spcPct val="0"/>
              </a:spcAft>
              <a:tabLst>
                <a:tab pos="4194175" algn="ctr"/>
              </a:tabLst>
              <a:defRPr>
                <a:solidFill>
                  <a:schemeClr val="tx1"/>
                </a:solidFill>
                <a:latin typeface="Arial" charset="0"/>
              </a:defRPr>
            </a:lvl7pPr>
            <a:lvl8pPr marL="3429000" indent="-228600" eaLnBrk="0" fontAlgn="base" hangingPunct="0">
              <a:spcBef>
                <a:spcPct val="0"/>
              </a:spcBef>
              <a:spcAft>
                <a:spcPct val="0"/>
              </a:spcAft>
              <a:tabLst>
                <a:tab pos="4194175" algn="ctr"/>
              </a:tabLst>
              <a:defRPr>
                <a:solidFill>
                  <a:schemeClr val="tx1"/>
                </a:solidFill>
                <a:latin typeface="Arial" charset="0"/>
              </a:defRPr>
            </a:lvl8pPr>
            <a:lvl9pPr marL="3886200" indent="-228600" eaLnBrk="0" fontAlgn="base" hangingPunct="0">
              <a:spcBef>
                <a:spcPct val="0"/>
              </a:spcBef>
              <a:spcAft>
                <a:spcPct val="0"/>
              </a:spcAft>
              <a:tabLst>
                <a:tab pos="4194175" algn="ctr"/>
              </a:tabLst>
              <a:defRPr>
                <a:solidFill>
                  <a:schemeClr val="tx1"/>
                </a:solidFill>
                <a:latin typeface="Arial" charset="0"/>
              </a:defRPr>
            </a:lvl9pPr>
          </a:lstStyle>
          <a:p>
            <a:pPr algn="just" eaLnBrk="1" hangingPunct="1">
              <a:defRPr/>
            </a:pPr>
            <a:r>
              <a:rPr lang="es-ES_tradnl" altLang="es-ES" sz="1400" b="1" dirty="0">
                <a:solidFill>
                  <a:srgbClr val="006666"/>
                </a:solidFill>
                <a:latin typeface="+mn-lt"/>
              </a:rPr>
              <a:t>Ejemplo:</a:t>
            </a:r>
            <a:r>
              <a:rPr lang="es-ES_tradnl" altLang="es-ES" sz="1400" dirty="0">
                <a:solidFill>
                  <a:srgbClr val="006666"/>
                </a:solidFill>
                <a:latin typeface="+mn-lt"/>
              </a:rPr>
              <a:t> </a:t>
            </a:r>
          </a:p>
          <a:p>
            <a:pPr algn="just" eaLnBrk="1" hangingPunct="1">
              <a:defRPr/>
            </a:pPr>
            <a:r>
              <a:rPr lang="es-ES_tradnl" altLang="es-ES" sz="1400" dirty="0">
                <a:solidFill>
                  <a:srgbClr val="006666"/>
                </a:solidFill>
                <a:latin typeface="+mn-lt"/>
              </a:rPr>
              <a:t>Para determinar el nivel medio de colesterol en la población de estudiantes universitarios de primer año en la UGR se tomó una muestra al azar de 10 de ellos, en la que se obtuvieron los  valores siguientes (en mg/dl):</a:t>
            </a:r>
          </a:p>
          <a:p>
            <a:pPr algn="just" eaLnBrk="1" hangingPunct="1">
              <a:spcBef>
                <a:spcPts val="600"/>
              </a:spcBef>
              <a:defRPr/>
            </a:pPr>
            <a:r>
              <a:rPr lang="es-ES_tradnl" altLang="es-ES" sz="1400" dirty="0">
                <a:solidFill>
                  <a:srgbClr val="006666"/>
                </a:solidFill>
                <a:latin typeface="+mn-lt"/>
              </a:rPr>
              <a:t>	162, 176, 169, 165, 171, 169, 172, 168, 167, 175 </a:t>
            </a:r>
          </a:p>
        </p:txBody>
      </p:sp>
      <p:sp>
        <p:nvSpPr>
          <p:cNvPr id="16388" name="Text Box 32"/>
          <p:cNvSpPr txBox="1">
            <a:spLocks noChangeArrowheads="1"/>
          </p:cNvSpPr>
          <p:nvPr/>
        </p:nvSpPr>
        <p:spPr bwMode="auto">
          <a:xfrm>
            <a:off x="703263" y="2389188"/>
            <a:ext cx="1901825" cy="31115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s-ES_tradnl" altLang="es-ES" sz="1400" dirty="0">
                <a:latin typeface="+mn-lt"/>
              </a:rPr>
              <a:t>Información muestral:</a:t>
            </a:r>
            <a:endParaRPr lang="es-ES" altLang="es-ES" sz="1400" dirty="0">
              <a:latin typeface="+mn-lt"/>
            </a:endParaRPr>
          </a:p>
        </p:txBody>
      </p:sp>
      <p:sp>
        <p:nvSpPr>
          <p:cNvPr id="16389" name="Text Box 33"/>
          <p:cNvSpPr txBox="1">
            <a:spLocks noChangeArrowheads="1"/>
          </p:cNvSpPr>
          <p:nvPr/>
        </p:nvSpPr>
        <p:spPr bwMode="auto">
          <a:xfrm>
            <a:off x="703263" y="2762250"/>
            <a:ext cx="2670175" cy="30956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s-ES_tradnl" altLang="es-ES" sz="1400">
                <a:latin typeface="+mn-lt"/>
              </a:rPr>
              <a:t>Fijamos una confianza del 95%</a:t>
            </a:r>
            <a:endParaRPr lang="es-ES" altLang="es-ES" sz="1400">
              <a:latin typeface="+mn-lt"/>
            </a:endParaRPr>
          </a:p>
        </p:txBody>
      </p:sp>
      <p:sp>
        <p:nvSpPr>
          <p:cNvPr id="16390" name="Text Box 34"/>
          <p:cNvSpPr txBox="1">
            <a:spLocks noChangeArrowheads="1"/>
          </p:cNvSpPr>
          <p:nvPr/>
        </p:nvSpPr>
        <p:spPr bwMode="auto">
          <a:xfrm>
            <a:off x="703263" y="3163888"/>
            <a:ext cx="3227387" cy="31115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s-ES_tradnl" altLang="es-ES" sz="1400" dirty="0">
                <a:latin typeface="+mn-lt"/>
              </a:rPr>
              <a:t>Entonces, con una confianza del 95%</a:t>
            </a:r>
            <a:endParaRPr lang="es-ES" altLang="es-ES" sz="1400" dirty="0">
              <a:latin typeface="+mn-lt"/>
            </a:endParaRPr>
          </a:p>
        </p:txBody>
      </p:sp>
      <p:graphicFrame>
        <p:nvGraphicFramePr>
          <p:cNvPr id="2" name="Object 36"/>
          <p:cNvGraphicFramePr>
            <a:graphicFrameLocks noChangeAspect="1"/>
          </p:cNvGraphicFramePr>
          <p:nvPr>
            <p:extLst>
              <p:ext uri="{D42A27DB-BD31-4B8C-83A1-F6EECF244321}">
                <p14:modId xmlns:p14="http://schemas.microsoft.com/office/powerpoint/2010/main" val="1651453759"/>
              </p:ext>
            </p:extLst>
          </p:nvPr>
        </p:nvGraphicFramePr>
        <p:xfrm>
          <a:off x="2743200" y="2405063"/>
          <a:ext cx="2619375" cy="280987"/>
        </p:xfrm>
        <a:graphic>
          <a:graphicData uri="http://schemas.openxmlformats.org/presentationml/2006/ole">
            <mc:AlternateContent xmlns:mc="http://schemas.openxmlformats.org/markup-compatibility/2006">
              <mc:Choice xmlns:v="urn:schemas-microsoft-com:vml" Requires="v">
                <p:oleObj name="Equation" r:id="rId2" imgW="1905000" imgH="203200" progId="Equation.DSMT4">
                  <p:embed/>
                </p:oleObj>
              </mc:Choice>
              <mc:Fallback>
                <p:oleObj name="Equation" r:id="rId2" imgW="1905000" imgH="203200" progId="Equation.DSMT4">
                  <p:embed/>
                  <p:pic>
                    <p:nvPicPr>
                      <p:cNvPr id="2" name="Object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405063"/>
                        <a:ext cx="2619375" cy="28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1" name="Object 37"/>
          <p:cNvGraphicFramePr>
            <a:graphicFrameLocks noChangeAspect="1"/>
          </p:cNvGraphicFramePr>
          <p:nvPr>
            <p:extLst>
              <p:ext uri="{D42A27DB-BD31-4B8C-83A1-F6EECF244321}">
                <p14:modId xmlns:p14="http://schemas.microsoft.com/office/powerpoint/2010/main" val="1850557157"/>
              </p:ext>
            </p:extLst>
          </p:nvPr>
        </p:nvGraphicFramePr>
        <p:xfrm>
          <a:off x="3352800" y="2789238"/>
          <a:ext cx="2513013" cy="309562"/>
        </p:xfrm>
        <a:graphic>
          <a:graphicData uri="http://schemas.openxmlformats.org/presentationml/2006/ole">
            <mc:AlternateContent xmlns:mc="http://schemas.openxmlformats.org/markup-compatibility/2006">
              <mc:Choice xmlns:v="urn:schemas-microsoft-com:vml" Requires="v">
                <p:oleObj name="Equation" r:id="rId4" imgW="1968500" imgH="241300" progId="Equation.DSMT4">
                  <p:embed/>
                </p:oleObj>
              </mc:Choice>
              <mc:Fallback>
                <p:oleObj name="Equation" r:id="rId4" imgW="1968500" imgH="241300" progId="Equation.DSMT4">
                  <p:embed/>
                  <p:pic>
                    <p:nvPicPr>
                      <p:cNvPr id="16391"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2789238"/>
                        <a:ext cx="2513013"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392" name="Group 38"/>
          <p:cNvGrpSpPr>
            <a:grpSpLocks/>
          </p:cNvGrpSpPr>
          <p:nvPr/>
        </p:nvGrpSpPr>
        <p:grpSpPr bwMode="auto">
          <a:xfrm>
            <a:off x="3867150" y="3013075"/>
            <a:ext cx="3829050" cy="584200"/>
            <a:chOff x="1440" y="2129"/>
            <a:chExt cx="2546" cy="365"/>
          </a:xfrm>
        </p:grpSpPr>
        <p:graphicFrame>
          <p:nvGraphicFramePr>
            <p:cNvPr id="16409" name="Object 39"/>
            <p:cNvGraphicFramePr>
              <a:graphicFrameLocks noChangeAspect="1"/>
            </p:cNvGraphicFramePr>
            <p:nvPr/>
          </p:nvGraphicFramePr>
          <p:xfrm>
            <a:off x="1440" y="2129"/>
            <a:ext cx="887" cy="365"/>
          </p:xfrm>
          <a:graphic>
            <a:graphicData uri="http://schemas.openxmlformats.org/presentationml/2006/ole">
              <mc:AlternateContent xmlns:mc="http://schemas.openxmlformats.org/markup-compatibility/2006">
                <mc:Choice xmlns:v="urn:schemas-microsoft-com:vml" Requires="v">
                  <p:oleObj name="Equation" r:id="rId6" imgW="1016000" imgH="419100" progId="Equation.DSMT4">
                    <p:embed/>
                  </p:oleObj>
                </mc:Choice>
                <mc:Fallback>
                  <p:oleObj name="Equation" r:id="rId6" imgW="1016000" imgH="419100" progId="Equation.DSMT4">
                    <p:embed/>
                    <p:pic>
                      <p:nvPicPr>
                        <p:cNvPr id="16409" name="Object 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40" y="2129"/>
                          <a:ext cx="8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410" name="Object 40"/>
            <p:cNvGraphicFramePr>
              <a:graphicFrameLocks noChangeAspect="1"/>
            </p:cNvGraphicFramePr>
            <p:nvPr/>
          </p:nvGraphicFramePr>
          <p:xfrm>
            <a:off x="2592" y="2141"/>
            <a:ext cx="1394" cy="330"/>
          </p:xfrm>
          <a:graphic>
            <a:graphicData uri="http://schemas.openxmlformats.org/presentationml/2006/ole">
              <mc:AlternateContent xmlns:mc="http://schemas.openxmlformats.org/markup-compatibility/2006">
                <mc:Choice xmlns:v="urn:schemas-microsoft-com:vml" Requires="v">
                  <p:oleObj name="Equation" r:id="rId8" imgW="1765300" imgH="419100" progId="Equation.DSMT4">
                    <p:embed/>
                  </p:oleObj>
                </mc:Choice>
                <mc:Fallback>
                  <p:oleObj name="Equation" r:id="rId8" imgW="1765300" imgH="419100" progId="Equation.DSMT4">
                    <p:embed/>
                    <p:pic>
                      <p:nvPicPr>
                        <p:cNvPr id="16410"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2" y="2141"/>
                          <a:ext cx="139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6395" name="Rectangle 42"/>
          <p:cNvSpPr>
            <a:spLocks noChangeArrowheads="1"/>
          </p:cNvSpPr>
          <p:nvPr/>
        </p:nvSpPr>
        <p:spPr bwMode="auto">
          <a:xfrm>
            <a:off x="703263" y="4057650"/>
            <a:ext cx="8105775" cy="74136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defRPr/>
            </a:pPr>
            <a:r>
              <a:rPr lang="es-ES_tradnl" altLang="es-ES" sz="1400" dirty="0">
                <a:latin typeface="+mn-lt"/>
              </a:rPr>
              <a:t>lo que </a:t>
            </a:r>
            <a:r>
              <a:rPr lang="es-ES_tradnl" altLang="es-ES" sz="1400" b="1" dirty="0">
                <a:latin typeface="+mn-lt"/>
              </a:rPr>
              <a:t>se interpreta</a:t>
            </a:r>
            <a:r>
              <a:rPr lang="es-ES_tradnl" altLang="es-ES" sz="1400" dirty="0">
                <a:latin typeface="+mn-lt"/>
              </a:rPr>
              <a:t> diciendo que el nivel medio de colesterol en los estudiantes de primer curso de la UGR </a:t>
            </a:r>
            <a:r>
              <a:rPr lang="es-ES_tradnl" altLang="es-ES" sz="1400" dirty="0" err="1">
                <a:latin typeface="+mn-lt"/>
              </a:rPr>
              <a:t>deb</a:t>
            </a:r>
            <a:r>
              <a:rPr lang="es-ES" altLang="es-ES" sz="1400" dirty="0">
                <a:latin typeface="+mn-lt"/>
              </a:rPr>
              <a:t>e de ser un valor comprendido entre </a:t>
            </a:r>
            <a:r>
              <a:rPr lang="es-ES_tradnl" altLang="es-ES" sz="1400" dirty="0">
                <a:latin typeface="+mn-lt"/>
              </a:rPr>
              <a:t>166.32 y 172.48 mg/dl con una probabilidad o nivel de confianza del 95%. La precisión de la estimación es de 3.08 mg/dl</a:t>
            </a:r>
          </a:p>
        </p:txBody>
      </p:sp>
      <p:sp>
        <p:nvSpPr>
          <p:cNvPr id="16396" name="Text Box 43"/>
          <p:cNvSpPr txBox="1">
            <a:spLocks noChangeArrowheads="1"/>
          </p:cNvSpPr>
          <p:nvPr/>
        </p:nvSpPr>
        <p:spPr bwMode="auto">
          <a:xfrm>
            <a:off x="381000" y="3163888"/>
            <a:ext cx="381000" cy="31115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defRPr/>
            </a:pPr>
            <a:r>
              <a:rPr lang="es-ES_tradnl" altLang="es-ES" sz="1400">
                <a:latin typeface="+mn-lt"/>
              </a:rPr>
              <a:t>4)</a:t>
            </a:r>
            <a:endParaRPr lang="es-ES" altLang="es-ES" sz="1400">
              <a:latin typeface="+mn-lt"/>
            </a:endParaRPr>
          </a:p>
        </p:txBody>
      </p:sp>
      <p:sp>
        <p:nvSpPr>
          <p:cNvPr id="16397" name="Rectangle 44"/>
          <p:cNvSpPr>
            <a:spLocks noChangeArrowheads="1"/>
          </p:cNvSpPr>
          <p:nvPr/>
        </p:nvSpPr>
        <p:spPr bwMode="auto">
          <a:xfrm>
            <a:off x="381000" y="2389188"/>
            <a:ext cx="339725" cy="31115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s-ES_tradnl" altLang="es-ES" sz="1400" dirty="0">
                <a:latin typeface="+mn-lt"/>
              </a:rPr>
              <a:t>2)</a:t>
            </a:r>
            <a:endParaRPr lang="es-ES" altLang="es-ES" sz="1400" dirty="0">
              <a:latin typeface="+mn-lt"/>
            </a:endParaRPr>
          </a:p>
        </p:txBody>
      </p:sp>
      <p:sp>
        <p:nvSpPr>
          <p:cNvPr id="16398" name="Rectangle 45"/>
          <p:cNvSpPr>
            <a:spLocks noChangeArrowheads="1"/>
          </p:cNvSpPr>
          <p:nvPr/>
        </p:nvSpPr>
        <p:spPr bwMode="auto">
          <a:xfrm>
            <a:off x="381000" y="2762250"/>
            <a:ext cx="339725" cy="30956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defRPr/>
            </a:pPr>
            <a:r>
              <a:rPr lang="es-ES_tradnl" altLang="es-ES" sz="1400">
                <a:latin typeface="+mn-lt"/>
              </a:rPr>
              <a:t>3)</a:t>
            </a:r>
          </a:p>
        </p:txBody>
      </p:sp>
      <p:sp>
        <p:nvSpPr>
          <p:cNvPr id="16400" name="Text Box 43"/>
          <p:cNvSpPr txBox="1">
            <a:spLocks noChangeArrowheads="1"/>
          </p:cNvSpPr>
          <p:nvPr/>
        </p:nvSpPr>
        <p:spPr bwMode="auto">
          <a:xfrm>
            <a:off x="398463" y="4057650"/>
            <a:ext cx="381000" cy="30956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defRPr/>
            </a:pPr>
            <a:r>
              <a:rPr lang="es-ES_tradnl" altLang="es-ES" sz="1400" dirty="0">
                <a:latin typeface="+mn-lt"/>
              </a:rPr>
              <a:t>5)</a:t>
            </a:r>
            <a:endParaRPr lang="es-ES" altLang="es-ES" sz="1400" dirty="0">
              <a:latin typeface="+mn-lt"/>
            </a:endParaRPr>
          </a:p>
        </p:txBody>
      </p:sp>
      <p:sp>
        <p:nvSpPr>
          <p:cNvPr id="16401" name="Text Box 25"/>
          <p:cNvSpPr txBox="1">
            <a:spLocks noChangeArrowheads="1"/>
          </p:cNvSpPr>
          <p:nvPr/>
        </p:nvSpPr>
        <p:spPr bwMode="auto">
          <a:xfrm>
            <a:off x="458788" y="2152650"/>
            <a:ext cx="185737"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es-ES" altLang="es-ES" sz="1400">
              <a:latin typeface="+mn-lt"/>
            </a:endParaRPr>
          </a:p>
        </p:txBody>
      </p:sp>
      <p:sp>
        <p:nvSpPr>
          <p:cNvPr id="16402" name="Rectangle 44"/>
          <p:cNvSpPr>
            <a:spLocks noChangeArrowheads="1"/>
          </p:cNvSpPr>
          <p:nvPr/>
        </p:nvSpPr>
        <p:spPr bwMode="auto">
          <a:xfrm>
            <a:off x="381000" y="2000250"/>
            <a:ext cx="339725" cy="30956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s-ES_tradnl" altLang="es-ES" sz="1400" dirty="0">
                <a:latin typeface="+mn-lt"/>
              </a:rPr>
              <a:t>1)</a:t>
            </a:r>
            <a:endParaRPr lang="es-ES" altLang="es-ES" sz="1400" dirty="0">
              <a:latin typeface="+mn-lt"/>
            </a:endParaRPr>
          </a:p>
        </p:txBody>
      </p:sp>
      <p:sp>
        <p:nvSpPr>
          <p:cNvPr id="16403" name="Rectangle 27"/>
          <p:cNvSpPr>
            <a:spLocks noChangeArrowheads="1"/>
          </p:cNvSpPr>
          <p:nvPr/>
        </p:nvSpPr>
        <p:spPr bwMode="auto">
          <a:xfrm>
            <a:off x="703263" y="2001838"/>
            <a:ext cx="604361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r>
              <a:rPr lang="es-ES_tradnl" altLang="es-ES" sz="1400" dirty="0">
                <a:latin typeface="+mn-lt"/>
              </a:rPr>
              <a:t>Suponemos que el nivel de colesterol es </a:t>
            </a:r>
            <a:r>
              <a:rPr lang="es-ES" altLang="es-ES" sz="1400" dirty="0">
                <a:latin typeface="+mn-lt"/>
              </a:rPr>
              <a:t>una VAC con distribución normal</a:t>
            </a:r>
          </a:p>
        </p:txBody>
      </p:sp>
      <p:sp>
        <p:nvSpPr>
          <p:cNvPr id="16399" name="Rectangle 46"/>
          <p:cNvSpPr>
            <a:spLocks noChangeArrowheads="1"/>
          </p:cNvSpPr>
          <p:nvPr/>
        </p:nvSpPr>
        <p:spPr bwMode="auto">
          <a:xfrm>
            <a:off x="425450" y="4895850"/>
            <a:ext cx="5443538" cy="30956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50000"/>
              </a:spcBef>
              <a:defRPr/>
            </a:pPr>
            <a:r>
              <a:rPr lang="es-ES_tradnl" altLang="es-ES" sz="1400" dirty="0">
                <a:latin typeface="+mn-lt"/>
              </a:rPr>
              <a:t>¿Qué hay que hacer para tener una precisión de 5 mg/dl? →</a:t>
            </a:r>
            <a:endParaRPr lang="es-ES" altLang="es-ES" sz="1400" dirty="0">
              <a:latin typeface="+mn-lt"/>
            </a:endParaRPr>
          </a:p>
        </p:txBody>
      </p:sp>
      <p:sp>
        <p:nvSpPr>
          <p:cNvPr id="23" name="Rectangle 46"/>
          <p:cNvSpPr>
            <a:spLocks noChangeArrowheads="1"/>
          </p:cNvSpPr>
          <p:nvPr/>
        </p:nvSpPr>
        <p:spPr bwMode="auto">
          <a:xfrm>
            <a:off x="5334000" y="4895850"/>
            <a:ext cx="3416300" cy="52546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50000"/>
              </a:spcBef>
              <a:defRPr/>
            </a:pPr>
            <a:r>
              <a:rPr lang="es-ES_tradnl" altLang="es-ES" sz="1400" dirty="0">
                <a:latin typeface="+mn-lt"/>
              </a:rPr>
              <a:t>¡Nada! La precisión obtenida es mejor (mayor)</a:t>
            </a:r>
            <a:endParaRPr lang="es-ES" altLang="es-ES" sz="1400" dirty="0">
              <a:latin typeface="+mn-lt"/>
            </a:endParaRPr>
          </a:p>
        </p:txBody>
      </p:sp>
      <p:sp>
        <p:nvSpPr>
          <p:cNvPr id="26" name="Rectangle 46"/>
          <p:cNvSpPr>
            <a:spLocks noChangeArrowheads="1"/>
          </p:cNvSpPr>
          <p:nvPr/>
        </p:nvSpPr>
        <p:spPr bwMode="auto">
          <a:xfrm>
            <a:off x="422275" y="5429250"/>
            <a:ext cx="8328025" cy="52546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50000"/>
              </a:spcBef>
              <a:defRPr/>
            </a:pPr>
            <a:r>
              <a:rPr lang="es-ES_tradnl" altLang="es-ES" sz="1400" dirty="0">
                <a:latin typeface="+mn-lt"/>
              </a:rPr>
              <a:t>¿Qué hay que hacer para tener una precisión de 1 mg/dl? → Aumentar el tamaño de muestra. Veamos a cuanto:</a:t>
            </a:r>
            <a:endParaRPr lang="es-ES" altLang="es-ES" sz="1400" dirty="0">
              <a:latin typeface="+mn-lt"/>
            </a:endParaRPr>
          </a:p>
        </p:txBody>
      </p:sp>
      <p:graphicFrame>
        <p:nvGraphicFramePr>
          <p:cNvPr id="16405" name="2 Objeto"/>
          <p:cNvGraphicFramePr>
            <a:graphicFrameLocks noChangeAspect="1"/>
          </p:cNvGraphicFramePr>
          <p:nvPr>
            <p:extLst>
              <p:ext uri="{D42A27DB-BD31-4B8C-83A1-F6EECF244321}">
                <p14:modId xmlns:p14="http://schemas.microsoft.com/office/powerpoint/2010/main" val="168444165"/>
              </p:ext>
            </p:extLst>
          </p:nvPr>
        </p:nvGraphicFramePr>
        <p:xfrm>
          <a:off x="1219200" y="5721350"/>
          <a:ext cx="3479800" cy="690563"/>
        </p:xfrm>
        <a:graphic>
          <a:graphicData uri="http://schemas.openxmlformats.org/presentationml/2006/ole">
            <mc:AlternateContent xmlns:mc="http://schemas.openxmlformats.org/markup-compatibility/2006">
              <mc:Choice xmlns:v="urn:schemas-microsoft-com:vml" Requires="v">
                <p:oleObj name="Equation" r:id="rId10" imgW="2679700" imgH="533400" progId="Equation.DSMT4">
                  <p:embed/>
                </p:oleObj>
              </mc:Choice>
              <mc:Fallback>
                <p:oleObj name="Equation" r:id="rId10" imgW="2679700" imgH="533400" progId="Equation.DSMT4">
                  <p:embed/>
                  <p:pic>
                    <p:nvPicPr>
                      <p:cNvPr id="16405" name="2 Objeto"/>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19200" y="5721350"/>
                        <a:ext cx="34798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Rectangle 46"/>
          <p:cNvSpPr>
            <a:spLocks noChangeArrowheads="1"/>
          </p:cNvSpPr>
          <p:nvPr/>
        </p:nvSpPr>
        <p:spPr bwMode="auto">
          <a:xfrm>
            <a:off x="4953000" y="5810250"/>
            <a:ext cx="3797300" cy="895350"/>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spcBef>
                <a:spcPct val="50000"/>
              </a:spcBef>
              <a:defRPr/>
            </a:pPr>
            <a:r>
              <a:rPr lang="es-ES_tradnl" altLang="es-ES" sz="1300" dirty="0">
                <a:latin typeface="+mn-lt"/>
              </a:rPr>
              <a:t>Se necesitarían 85 individuos más. Esta fórmula es aproximada. Una vez aumentada la muestra habría que comprobar que la precisión es la deseada</a:t>
            </a:r>
            <a:endParaRPr lang="es-ES" altLang="es-ES" sz="1300" dirty="0">
              <a:latin typeface="+mn-lt"/>
            </a:endParaRPr>
          </a:p>
        </p:txBody>
      </p:sp>
      <p:cxnSp>
        <p:nvCxnSpPr>
          <p:cNvPr id="16407" name="4 Conector recto"/>
          <p:cNvCxnSpPr>
            <a:cxnSpLocks noChangeShapeType="1"/>
          </p:cNvCxnSpPr>
          <p:nvPr/>
        </p:nvCxnSpPr>
        <p:spPr bwMode="auto">
          <a:xfrm>
            <a:off x="228600" y="4819650"/>
            <a:ext cx="8763000" cy="0"/>
          </a:xfrm>
          <a:prstGeom prst="line">
            <a:avLst/>
          </a:prstGeom>
          <a:noFill/>
          <a:ln w="9525" algn="ctr">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3" name="2 Objeto"/>
          <p:cNvGraphicFramePr>
            <a:graphicFrameLocks noChangeAspect="1"/>
          </p:cNvGraphicFramePr>
          <p:nvPr>
            <p:extLst>
              <p:ext uri="{D42A27DB-BD31-4B8C-83A1-F6EECF244321}">
                <p14:modId xmlns:p14="http://schemas.microsoft.com/office/powerpoint/2010/main" val="593498850"/>
              </p:ext>
            </p:extLst>
          </p:nvPr>
        </p:nvGraphicFramePr>
        <p:xfrm>
          <a:off x="1859076" y="3652405"/>
          <a:ext cx="5172684" cy="366857"/>
        </p:xfrm>
        <a:graphic>
          <a:graphicData uri="http://schemas.openxmlformats.org/presentationml/2006/ole">
            <mc:AlternateContent xmlns:mc="http://schemas.openxmlformats.org/markup-compatibility/2006">
              <mc:Choice xmlns:v="urn:schemas-microsoft-com:vml" Requires="v">
                <p:oleObj name="Equation" r:id="rId12" imgW="3581280" imgH="253800" progId="Equation.DSMT4">
                  <p:embed/>
                </p:oleObj>
              </mc:Choice>
              <mc:Fallback>
                <p:oleObj name="Equation" r:id="rId12" imgW="3581280" imgH="253800" progId="Equation.DSMT4">
                  <p:embed/>
                  <p:pic>
                    <p:nvPicPr>
                      <p:cNvPr id="3" name="2 Objeto"/>
                      <p:cNvPicPr/>
                      <p:nvPr/>
                    </p:nvPicPr>
                    <p:blipFill>
                      <a:blip r:embed="rId13"/>
                      <a:stretch>
                        <a:fillRect/>
                      </a:stretch>
                    </p:blipFill>
                    <p:spPr>
                      <a:xfrm>
                        <a:off x="1859076" y="3652405"/>
                        <a:ext cx="5172684" cy="366857"/>
                      </a:xfrm>
                      <a:prstGeom prst="rect">
                        <a:avLst/>
                      </a:prstGeom>
                    </p:spPr>
                  </p:pic>
                </p:oleObj>
              </mc:Fallback>
            </mc:AlternateContent>
          </a:graphicData>
        </a:graphic>
      </p:graphicFrame>
      <p:sp>
        <p:nvSpPr>
          <p:cNvPr id="27" name="Rectangle 24"/>
          <p:cNvSpPr>
            <a:spLocks noChangeArrowheads="1"/>
          </p:cNvSpPr>
          <p:nvPr/>
        </p:nvSpPr>
        <p:spPr bwMode="auto">
          <a:xfrm>
            <a:off x="161925" y="409575"/>
            <a:ext cx="6572931" cy="3407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dirty="0">
                <a:solidFill>
                  <a:srgbClr val="000000"/>
                </a:solidFill>
              </a:rPr>
              <a:t>Intervalos de confianza para la media de una </a:t>
            </a:r>
            <a:r>
              <a:rPr lang="es-ES_tradnl" altLang="es-ES" sz="1600" b="1" dirty="0">
                <a:solidFill>
                  <a:srgbClr val="FF0000"/>
                </a:solidFill>
              </a:rPr>
              <a:t>variable cuantitativa</a:t>
            </a:r>
            <a:endParaRPr lang="es-ES" altLang="es-ES" sz="1600" b="1" dirty="0">
              <a:solidFill>
                <a:srgbClr val="FF0000"/>
              </a:solidFill>
            </a:endParaRPr>
          </a:p>
        </p:txBody>
      </p:sp>
      <p:sp>
        <p:nvSpPr>
          <p:cNvPr id="28"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2127538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3"/>
          <p:cNvSpPr txBox="1">
            <a:spLocks noChangeArrowheads="1"/>
          </p:cNvSpPr>
          <p:nvPr/>
        </p:nvSpPr>
        <p:spPr bwMode="auto">
          <a:xfrm>
            <a:off x="431955" y="1052513"/>
            <a:ext cx="5943600" cy="5449826"/>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600" dirty="0" err="1"/>
              <a:t>Inform</a:t>
            </a:r>
            <a:r>
              <a:rPr lang="es-ES" altLang="es-ES" sz="1600" dirty="0" err="1"/>
              <a:t>ación</a:t>
            </a:r>
            <a:r>
              <a:rPr lang="es-ES" altLang="es-ES" sz="1600" dirty="0"/>
              <a:t> muestral:</a:t>
            </a:r>
            <a:r>
              <a:rPr lang="es-ES_tradnl" altLang="es-ES" sz="1600" dirty="0"/>
              <a:t>                                   </a:t>
            </a:r>
          </a:p>
          <a:p>
            <a:pPr algn="just" eaLnBrk="1" hangingPunct="1"/>
            <a:endParaRPr lang="es-ES_tradnl" altLang="es-ES" sz="1600" dirty="0"/>
          </a:p>
          <a:p>
            <a:pPr algn="just" eaLnBrk="1" hangingPunct="1"/>
            <a:endParaRPr lang="es-ES_tradnl" altLang="es-ES" sz="1600" dirty="0"/>
          </a:p>
          <a:p>
            <a:pPr algn="just" eaLnBrk="1" hangingPunct="1"/>
            <a:endParaRPr lang="es-ES_tradnl" altLang="es-ES" sz="1600" dirty="0"/>
          </a:p>
          <a:p>
            <a:pPr algn="just" eaLnBrk="1" hangingPunct="1"/>
            <a:endParaRPr lang="es-ES_tradnl" altLang="es-ES" sz="1600" dirty="0"/>
          </a:p>
          <a:p>
            <a:pPr algn="just" eaLnBrk="1" hangingPunct="1"/>
            <a:endParaRPr lang="es-ES_tradnl" altLang="es-ES" sz="1600" dirty="0"/>
          </a:p>
          <a:p>
            <a:pPr algn="just" eaLnBrk="1" hangingPunct="1"/>
            <a:r>
              <a:rPr lang="es-ES_tradnl" altLang="es-ES" sz="1600" dirty="0"/>
              <a:t>el </a:t>
            </a:r>
            <a:r>
              <a:rPr lang="es-ES_tradnl" altLang="es-ES" sz="1600" b="1" dirty="0"/>
              <a:t>estimador puntual </a:t>
            </a:r>
            <a:r>
              <a:rPr lang="es-ES_tradnl" altLang="es-ES" sz="1600" dirty="0"/>
              <a:t>de la proporción de casos que verifican la característica de interés es</a:t>
            </a:r>
          </a:p>
          <a:p>
            <a:pPr algn="just" eaLnBrk="1" hangingPunct="1"/>
            <a:endParaRPr lang="es-ES" altLang="es-ES" sz="1600" dirty="0"/>
          </a:p>
          <a:p>
            <a:pPr algn="just" eaLnBrk="1" hangingPunct="1"/>
            <a:endParaRPr lang="es-ES_tradnl" altLang="es-ES" sz="1600" dirty="0"/>
          </a:p>
          <a:p>
            <a:pPr algn="just" eaLnBrk="1" hangingPunct="1"/>
            <a:endParaRPr lang="es-ES_tradnl" altLang="es-ES" sz="1600" dirty="0"/>
          </a:p>
          <a:p>
            <a:pPr algn="just" eaLnBrk="1" hangingPunct="1"/>
            <a:endParaRPr lang="es-ES_tradnl" altLang="es-ES" sz="1600" dirty="0"/>
          </a:p>
          <a:p>
            <a:pPr algn="just" eaLnBrk="1" hangingPunct="1">
              <a:lnSpc>
                <a:spcPts val="2400"/>
              </a:lnSpc>
            </a:pPr>
            <a:r>
              <a:rPr lang="es-ES_tradnl" altLang="es-ES" sz="1600" dirty="0"/>
              <a:t>Obviamente                             </a:t>
            </a:r>
            <a:r>
              <a:rPr lang="es-ES" altLang="es-ES" sz="1600" dirty="0"/>
              <a:t>estima puntualmente a la proporción complementaria. </a:t>
            </a:r>
          </a:p>
          <a:p>
            <a:pPr algn="just" eaLnBrk="1" hangingPunct="1"/>
            <a:endParaRPr lang="es-ES" altLang="es-ES" sz="1600" dirty="0"/>
          </a:p>
          <a:p>
            <a:pPr algn="just" eaLnBrk="1" hangingPunct="1"/>
            <a:r>
              <a:rPr lang="es-ES" altLang="es-ES" sz="1600" dirty="0"/>
              <a:t>En estos problemas, el</a:t>
            </a:r>
            <a:r>
              <a:rPr lang="es-ES_tradnl" altLang="es-ES" sz="1600" dirty="0"/>
              <a:t> uso de la distribución binomial puede resultar complicado (se habla de </a:t>
            </a:r>
            <a:r>
              <a:rPr lang="es-ES_tradnl" altLang="es-ES" sz="1600" b="1" dirty="0"/>
              <a:t>métodos exactos</a:t>
            </a:r>
            <a:r>
              <a:rPr lang="es-ES_tradnl" altLang="es-ES" sz="1600" dirty="0"/>
              <a:t>)</a:t>
            </a:r>
            <a:r>
              <a:rPr lang="es-ES" altLang="es-ES" sz="1600" dirty="0"/>
              <a:t>. Lo habitual es que </a:t>
            </a:r>
            <a:r>
              <a:rPr lang="es-ES_tradnl" altLang="es-ES" sz="1600" dirty="0"/>
              <a:t>si </a:t>
            </a:r>
            <a:r>
              <a:rPr lang="es-ES_tradnl" altLang="es-ES" sz="2000" i="1" dirty="0">
                <a:latin typeface="Times New Roman" pitchFamily="18" charset="0"/>
              </a:rPr>
              <a:t>x</a:t>
            </a:r>
            <a:r>
              <a:rPr lang="es-ES_tradnl" altLang="es-ES" sz="2000" i="1" dirty="0"/>
              <a:t> </a:t>
            </a:r>
            <a:r>
              <a:rPr lang="es-ES_tradnl" altLang="es-ES" sz="2000" dirty="0"/>
              <a:t>y </a:t>
            </a:r>
            <a:r>
              <a:rPr lang="es-ES_tradnl" altLang="es-ES" sz="2000" i="1" dirty="0">
                <a:latin typeface="Times New Roman" pitchFamily="18" charset="0"/>
              </a:rPr>
              <a:t>n-x</a:t>
            </a:r>
            <a:r>
              <a:rPr lang="es-ES_tradnl" altLang="es-ES" sz="2000" b="1" dirty="0"/>
              <a:t> </a:t>
            </a:r>
            <a:r>
              <a:rPr lang="es-ES_tradnl" altLang="es-ES" sz="1600" dirty="0"/>
              <a:t>son valores suficientemente grandes se </a:t>
            </a:r>
            <a:r>
              <a:rPr lang="es-ES" altLang="es-ES" sz="1600" dirty="0"/>
              <a:t>construya el</a:t>
            </a:r>
            <a:r>
              <a:rPr lang="es-ES_tradnl" altLang="es-ES" sz="1600" dirty="0"/>
              <a:t> intervalo de confianza para </a:t>
            </a:r>
            <a:r>
              <a:rPr lang="es-ES_tradnl" altLang="es-ES" i="1" dirty="0">
                <a:latin typeface="Times New Roman" pitchFamily="18" charset="0"/>
              </a:rPr>
              <a:t>p</a:t>
            </a:r>
            <a:r>
              <a:rPr lang="es-ES_tradnl" altLang="es-ES" sz="1600" b="1" i="1" dirty="0"/>
              <a:t> </a:t>
            </a:r>
            <a:r>
              <a:rPr lang="es-ES" altLang="es-ES" sz="1600" dirty="0"/>
              <a:t>utilizando la distribución normal (se habla de </a:t>
            </a:r>
            <a:r>
              <a:rPr lang="es-ES" altLang="es-ES" sz="1600" b="1" dirty="0"/>
              <a:t>métodos aproximados</a:t>
            </a:r>
            <a:r>
              <a:rPr lang="es-ES" altLang="es-ES" sz="1600" dirty="0"/>
              <a:t> o </a:t>
            </a:r>
            <a:r>
              <a:rPr lang="es-ES" altLang="es-ES" sz="1600" b="1" dirty="0"/>
              <a:t>asintóticos</a:t>
            </a:r>
            <a:r>
              <a:rPr lang="es-ES" altLang="es-ES" sz="1600" dirty="0"/>
              <a:t>)</a:t>
            </a:r>
            <a:endParaRPr lang="es-ES" altLang="es-ES" sz="1600" b="1" dirty="0"/>
          </a:p>
        </p:txBody>
      </p:sp>
      <p:graphicFrame>
        <p:nvGraphicFramePr>
          <p:cNvPr id="17411" name="Object 4"/>
          <p:cNvGraphicFramePr>
            <a:graphicFrameLocks noChangeAspect="1"/>
          </p:cNvGraphicFramePr>
          <p:nvPr>
            <p:extLst>
              <p:ext uri="{D42A27DB-BD31-4B8C-83A1-F6EECF244321}">
                <p14:modId xmlns:p14="http://schemas.microsoft.com/office/powerpoint/2010/main" val="2128168655"/>
              </p:ext>
            </p:extLst>
          </p:nvPr>
        </p:nvGraphicFramePr>
        <p:xfrm>
          <a:off x="804398" y="1395413"/>
          <a:ext cx="4946650" cy="1108075"/>
        </p:xfrm>
        <a:graphic>
          <a:graphicData uri="http://schemas.openxmlformats.org/presentationml/2006/ole">
            <mc:AlternateContent xmlns:mc="http://schemas.openxmlformats.org/markup-compatibility/2006">
              <mc:Choice xmlns:v="urn:schemas-microsoft-com:vml" Requires="v">
                <p:oleObj name="Equation" r:id="rId2" imgW="3175000" imgH="711200" progId="Equation.DSMT4">
                  <p:embed/>
                </p:oleObj>
              </mc:Choice>
              <mc:Fallback>
                <p:oleObj name="Equation" r:id="rId2" imgW="3175000" imgH="711200" progId="Equation.DSMT4">
                  <p:embed/>
                  <p:pic>
                    <p:nvPicPr>
                      <p:cNvPr id="17411"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398" y="1395413"/>
                        <a:ext cx="4946650" cy="1108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2" name="Object 5"/>
          <p:cNvGraphicFramePr>
            <a:graphicFrameLocks noChangeAspect="1"/>
          </p:cNvGraphicFramePr>
          <p:nvPr>
            <p:extLst>
              <p:ext uri="{D42A27DB-BD31-4B8C-83A1-F6EECF244321}">
                <p14:modId xmlns:p14="http://schemas.microsoft.com/office/powerpoint/2010/main" val="301018879"/>
              </p:ext>
            </p:extLst>
          </p:nvPr>
        </p:nvGraphicFramePr>
        <p:xfrm>
          <a:off x="3085410" y="3073594"/>
          <a:ext cx="838200" cy="311150"/>
        </p:xfrm>
        <a:graphic>
          <a:graphicData uri="http://schemas.openxmlformats.org/presentationml/2006/ole">
            <mc:AlternateContent xmlns:mc="http://schemas.openxmlformats.org/markup-compatibility/2006">
              <mc:Choice xmlns:v="urn:schemas-microsoft-com:vml" Requires="v">
                <p:oleObj name="Equation" r:id="rId4" imgW="545626" imgH="203024" progId="Equation.DSMT4">
                  <p:embed/>
                </p:oleObj>
              </mc:Choice>
              <mc:Fallback>
                <p:oleObj name="Equation" r:id="rId4" imgW="545626" imgH="203024" progId="Equation.DSMT4">
                  <p:embed/>
                  <p:pic>
                    <p:nvPicPr>
                      <p:cNvPr id="17412"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5410" y="3073594"/>
                        <a:ext cx="83820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3" name="Rectangle 10"/>
          <p:cNvSpPr>
            <a:spLocks noChangeArrowheads="1"/>
          </p:cNvSpPr>
          <p:nvPr/>
        </p:nvSpPr>
        <p:spPr bwMode="auto">
          <a:xfrm>
            <a:off x="161925" y="381000"/>
            <a:ext cx="5562600" cy="3407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dirty="0">
                <a:solidFill>
                  <a:srgbClr val="000000"/>
                </a:solidFill>
              </a:rPr>
              <a:t>Intervalo de confianza para la </a:t>
            </a:r>
            <a:r>
              <a:rPr lang="es-ES_tradnl" altLang="es-ES" sz="1600" b="1" dirty="0">
                <a:solidFill>
                  <a:srgbClr val="FF0000"/>
                </a:solidFill>
              </a:rPr>
              <a:t>proporción binomial</a:t>
            </a:r>
            <a:endParaRPr lang="es-ES" altLang="es-ES" sz="1600" b="1" dirty="0">
              <a:solidFill>
                <a:srgbClr val="FF0000"/>
              </a:solidFill>
            </a:endParaRPr>
          </a:p>
        </p:txBody>
      </p:sp>
      <p:graphicFrame>
        <p:nvGraphicFramePr>
          <p:cNvPr id="17414" name="Object 19"/>
          <p:cNvGraphicFramePr>
            <a:graphicFrameLocks noChangeAspect="1"/>
          </p:cNvGraphicFramePr>
          <p:nvPr>
            <p:extLst>
              <p:ext uri="{D42A27DB-BD31-4B8C-83A1-F6EECF244321}">
                <p14:modId xmlns:p14="http://schemas.microsoft.com/office/powerpoint/2010/main" val="2634017814"/>
              </p:ext>
            </p:extLst>
          </p:nvPr>
        </p:nvGraphicFramePr>
        <p:xfrm>
          <a:off x="1743722" y="4020118"/>
          <a:ext cx="2133600" cy="336550"/>
        </p:xfrm>
        <a:graphic>
          <a:graphicData uri="http://schemas.openxmlformats.org/presentationml/2006/ole">
            <mc:AlternateContent xmlns:mc="http://schemas.openxmlformats.org/markup-compatibility/2006">
              <mc:Choice xmlns:v="urn:schemas-microsoft-com:vml" Requires="v">
                <p:oleObj name="Equation" r:id="rId6" imgW="1282700" imgH="203200" progId="Equation.DSMT4">
                  <p:embed/>
                </p:oleObj>
              </mc:Choice>
              <mc:Fallback>
                <p:oleObj name="Equation" r:id="rId6" imgW="1282700" imgH="203200" progId="Equation.DSMT4">
                  <p:embed/>
                  <p:pic>
                    <p:nvPicPr>
                      <p:cNvPr id="17414" name="Object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43722" y="4020118"/>
                        <a:ext cx="213360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5" name="AutoShape 44"/>
          <p:cNvSpPr>
            <a:spLocks noChangeArrowheads="1"/>
          </p:cNvSpPr>
          <p:nvPr/>
        </p:nvSpPr>
        <p:spPr bwMode="auto">
          <a:xfrm>
            <a:off x="6629400" y="914400"/>
            <a:ext cx="2428875" cy="4572000"/>
          </a:xfrm>
          <a:prstGeom prst="roundRect">
            <a:avLst>
              <a:gd name="adj" fmla="val 4019"/>
            </a:avLst>
          </a:prstGeom>
          <a:noFill/>
          <a:ln w="9525">
            <a:solidFill>
              <a:srgbClr val="FFC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sz="1400"/>
          </a:p>
        </p:txBody>
      </p:sp>
      <p:pic>
        <p:nvPicPr>
          <p:cNvPr id="17416" name="Picture 44" descr="SNAGHTMLb4ee0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7838" y="1117600"/>
            <a:ext cx="1966912" cy="1244600"/>
          </a:xfrm>
          <a:prstGeom prst="rect">
            <a:avLst/>
          </a:prstGeom>
          <a:noFill/>
          <a:ln w="6350">
            <a:solidFill>
              <a:srgbClr val="800000"/>
            </a:solidFill>
            <a:miter lim="800000"/>
            <a:headEnd/>
            <a:tailEnd/>
          </a:ln>
          <a:extLst>
            <a:ext uri="{909E8E84-426E-40DD-AFC4-6F175D3DCCD1}">
              <a14:hiddenFill xmlns:a14="http://schemas.microsoft.com/office/drawing/2010/main">
                <a:solidFill>
                  <a:srgbClr val="FFFFFF"/>
                </a:solidFill>
              </a14:hiddenFill>
            </a:ext>
          </a:extLst>
        </p:spPr>
      </p:pic>
      <p:sp>
        <p:nvSpPr>
          <p:cNvPr id="17417" name="Rectangle 35"/>
          <p:cNvSpPr>
            <a:spLocks noChangeArrowheads="1"/>
          </p:cNvSpPr>
          <p:nvPr/>
        </p:nvSpPr>
        <p:spPr bwMode="auto">
          <a:xfrm>
            <a:off x="7240588" y="1166813"/>
            <a:ext cx="1143000" cy="29051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s-ES_tradnl" altLang="es-ES" sz="1300" b="1">
                <a:cs typeface="Times New Roman" pitchFamily="18" charset="0"/>
              </a:rPr>
              <a:t>Población</a:t>
            </a:r>
            <a:endParaRPr lang="es-ES_tradnl" altLang="es-ES" sz="1300" b="1" i="1">
              <a:latin typeface="Times New Roman" pitchFamily="18" charset="0"/>
              <a:cs typeface="Times New Roman" pitchFamily="18" charset="0"/>
              <a:sym typeface="Euclid" pitchFamily="18" charset="0"/>
            </a:endParaRPr>
          </a:p>
        </p:txBody>
      </p:sp>
      <p:graphicFrame>
        <p:nvGraphicFramePr>
          <p:cNvPr id="17418" name="1 Objeto"/>
          <p:cNvGraphicFramePr>
            <a:graphicFrameLocks noChangeAspect="1"/>
          </p:cNvGraphicFramePr>
          <p:nvPr/>
        </p:nvGraphicFramePr>
        <p:xfrm>
          <a:off x="7496175" y="1395413"/>
          <a:ext cx="631825" cy="228600"/>
        </p:xfrm>
        <a:graphic>
          <a:graphicData uri="http://schemas.openxmlformats.org/presentationml/2006/ole">
            <mc:AlternateContent xmlns:mc="http://schemas.openxmlformats.org/markup-compatibility/2006">
              <mc:Choice xmlns:v="urn:schemas-microsoft-com:vml" Requires="v">
                <p:oleObj name="Equation" r:id="rId9" imgW="494870" imgH="177646" progId="Equation.DSMT4">
                  <p:embed/>
                </p:oleObj>
              </mc:Choice>
              <mc:Fallback>
                <p:oleObj name="Equation" r:id="rId9" imgW="494870" imgH="177646" progId="Equation.DSMT4">
                  <p:embed/>
                  <p:pic>
                    <p:nvPicPr>
                      <p:cNvPr id="17418" name="1 Objeto"/>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96175" y="1395413"/>
                        <a:ext cx="631825" cy="228600"/>
                      </a:xfrm>
                      <a:prstGeom prst="rect">
                        <a:avLst/>
                      </a:prstGeom>
                      <a:noFill/>
                      <a:ln>
                        <a:noFill/>
                      </a:ln>
                      <a:effectLst/>
                      <a:extLst>
                        <a:ext uri="{909E8E84-426E-40DD-AFC4-6F175D3DCCD1}">
                          <a14:hiddenFill xmlns:a14="http://schemas.microsoft.com/office/drawing/2010/main">
                            <a:solidFill>
                              <a:srgbClr val="BFDAEB">
                                <a:alpha val="52940"/>
                              </a:srgbClr>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9" name="Line 32"/>
          <p:cNvSpPr>
            <a:spLocks noChangeShapeType="1"/>
          </p:cNvSpPr>
          <p:nvPr/>
        </p:nvSpPr>
        <p:spPr bwMode="auto">
          <a:xfrm flipH="1">
            <a:off x="7848600" y="2265363"/>
            <a:ext cx="66675" cy="381000"/>
          </a:xfrm>
          <a:prstGeom prst="line">
            <a:avLst/>
          </a:prstGeom>
          <a:noFill/>
          <a:ln w="317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aphicFrame>
        <p:nvGraphicFramePr>
          <p:cNvPr id="17420" name="1 Objeto"/>
          <p:cNvGraphicFramePr>
            <a:graphicFrameLocks noChangeAspect="1"/>
          </p:cNvGraphicFramePr>
          <p:nvPr/>
        </p:nvGraphicFramePr>
        <p:xfrm>
          <a:off x="7331075" y="3562350"/>
          <a:ext cx="973138" cy="295275"/>
        </p:xfrm>
        <a:graphic>
          <a:graphicData uri="http://schemas.openxmlformats.org/presentationml/2006/ole">
            <mc:AlternateContent xmlns:mc="http://schemas.openxmlformats.org/markup-compatibility/2006">
              <mc:Choice xmlns:v="urn:schemas-microsoft-com:vml" Requires="v">
                <p:oleObj name="Equation" r:id="rId11" imgW="761669" imgH="228501" progId="Equation.DSMT4">
                  <p:embed/>
                </p:oleObj>
              </mc:Choice>
              <mc:Fallback>
                <p:oleObj name="Equation" r:id="rId11" imgW="761669" imgH="228501" progId="Equation.DSMT4">
                  <p:embed/>
                  <p:pic>
                    <p:nvPicPr>
                      <p:cNvPr id="17420" name="1 Objeto"/>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31075" y="3562350"/>
                        <a:ext cx="973138" cy="295275"/>
                      </a:xfrm>
                      <a:prstGeom prst="rect">
                        <a:avLst/>
                      </a:prstGeom>
                      <a:noFill/>
                      <a:ln>
                        <a:noFill/>
                      </a:ln>
                      <a:effectLst/>
                      <a:extLst>
                        <a:ext uri="{909E8E84-426E-40DD-AFC4-6F175D3DCCD1}">
                          <a14:hiddenFill xmlns:a14="http://schemas.microsoft.com/office/drawing/2010/main">
                            <a:solidFill>
                              <a:srgbClr val="BFDAEB">
                                <a:alpha val="52940"/>
                              </a:srgbClr>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21" name="1 Objeto"/>
          <p:cNvGraphicFramePr>
            <a:graphicFrameLocks noChangeAspect="1"/>
          </p:cNvGraphicFramePr>
          <p:nvPr/>
        </p:nvGraphicFramePr>
        <p:xfrm>
          <a:off x="8105775" y="2330450"/>
          <a:ext cx="714375" cy="260350"/>
        </p:xfrm>
        <a:graphic>
          <a:graphicData uri="http://schemas.openxmlformats.org/presentationml/2006/ole">
            <mc:AlternateContent xmlns:mc="http://schemas.openxmlformats.org/markup-compatibility/2006">
              <mc:Choice xmlns:v="urn:schemas-microsoft-com:vml" Requires="v">
                <p:oleObj name="Equation" r:id="rId13" imgW="558558" imgH="203112" progId="Equation.DSMT4">
                  <p:embed/>
                </p:oleObj>
              </mc:Choice>
              <mc:Fallback>
                <p:oleObj name="Equation" r:id="rId13" imgW="558558" imgH="203112" progId="Equation.DSMT4">
                  <p:embed/>
                  <p:pic>
                    <p:nvPicPr>
                      <p:cNvPr id="17421" name="1 Objet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105775" y="2330450"/>
                        <a:ext cx="714375" cy="260350"/>
                      </a:xfrm>
                      <a:prstGeom prst="rect">
                        <a:avLst/>
                      </a:prstGeom>
                      <a:noFill/>
                      <a:ln>
                        <a:noFill/>
                      </a:ln>
                      <a:effectLst/>
                      <a:extLst>
                        <a:ext uri="{909E8E84-426E-40DD-AFC4-6F175D3DCCD1}">
                          <a14:hiddenFill xmlns:a14="http://schemas.microsoft.com/office/drawing/2010/main">
                            <a:solidFill>
                              <a:srgbClr val="FFCC99">
                                <a:alpha val="52940"/>
                              </a:srgbClr>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7422" name="Group 39"/>
          <p:cNvGrpSpPr>
            <a:grpSpLocks/>
          </p:cNvGrpSpPr>
          <p:nvPr/>
        </p:nvGrpSpPr>
        <p:grpSpPr bwMode="auto">
          <a:xfrm>
            <a:off x="6846888" y="1700213"/>
            <a:ext cx="1928812" cy="585787"/>
            <a:chOff x="4152" y="960"/>
            <a:chExt cx="1215" cy="369"/>
          </a:xfrm>
        </p:grpSpPr>
        <p:graphicFrame>
          <p:nvGraphicFramePr>
            <p:cNvPr id="17438" name="1 Objeto"/>
            <p:cNvGraphicFramePr>
              <a:graphicFrameLocks noChangeAspect="1"/>
            </p:cNvGraphicFramePr>
            <p:nvPr/>
          </p:nvGraphicFramePr>
          <p:xfrm>
            <a:off x="4152" y="960"/>
            <a:ext cx="592" cy="369"/>
          </p:xfrm>
          <a:graphic>
            <a:graphicData uri="http://schemas.openxmlformats.org/presentationml/2006/ole">
              <mc:AlternateContent xmlns:mc="http://schemas.openxmlformats.org/markup-compatibility/2006">
                <mc:Choice xmlns:v="urn:schemas-microsoft-com:vml" Requires="v">
                  <p:oleObj name="Equation" r:id="rId15" imgW="736600" imgH="457200" progId="Equation.DSMT4">
                    <p:embed/>
                  </p:oleObj>
                </mc:Choice>
                <mc:Fallback>
                  <p:oleObj name="Equation" r:id="rId15" imgW="736600" imgH="457200" progId="Equation.DSMT4">
                    <p:embed/>
                    <p:pic>
                      <p:nvPicPr>
                        <p:cNvPr id="17438" name="1 Objeto"/>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52" y="960"/>
                          <a:ext cx="592" cy="369"/>
                        </a:xfrm>
                        <a:prstGeom prst="rect">
                          <a:avLst/>
                        </a:prstGeom>
                        <a:solidFill>
                          <a:srgbClr val="FFCC99">
                            <a:alpha val="52940"/>
                          </a:srgbClr>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9" name="1 Objeto"/>
            <p:cNvGraphicFramePr>
              <a:graphicFrameLocks noChangeAspect="1"/>
            </p:cNvGraphicFramePr>
            <p:nvPr/>
          </p:nvGraphicFramePr>
          <p:xfrm>
            <a:off x="4795" y="960"/>
            <a:ext cx="572" cy="369"/>
          </p:xfrm>
          <a:graphic>
            <a:graphicData uri="http://schemas.openxmlformats.org/presentationml/2006/ole">
              <mc:AlternateContent xmlns:mc="http://schemas.openxmlformats.org/markup-compatibility/2006">
                <mc:Choice xmlns:v="urn:schemas-microsoft-com:vml" Requires="v">
                  <p:oleObj name="Equation" r:id="rId17" imgW="711200" imgH="457200" progId="Equation.DSMT4">
                    <p:embed/>
                  </p:oleObj>
                </mc:Choice>
                <mc:Fallback>
                  <p:oleObj name="Equation" r:id="rId17" imgW="711200" imgH="457200" progId="Equation.DSMT4">
                    <p:embed/>
                    <p:pic>
                      <p:nvPicPr>
                        <p:cNvPr id="17439" name="1 Objeto"/>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95" y="960"/>
                          <a:ext cx="572" cy="369"/>
                        </a:xfrm>
                        <a:prstGeom prst="rect">
                          <a:avLst/>
                        </a:prstGeom>
                        <a:solidFill>
                          <a:srgbClr val="BFDAEB">
                            <a:alpha val="52940"/>
                          </a:srgbClr>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7423" name="Group 42"/>
          <p:cNvGrpSpPr>
            <a:grpSpLocks/>
          </p:cNvGrpSpPr>
          <p:nvPr/>
        </p:nvGrpSpPr>
        <p:grpSpPr bwMode="auto">
          <a:xfrm>
            <a:off x="7240588" y="2693988"/>
            <a:ext cx="1143000" cy="938212"/>
            <a:chOff x="4272" y="1680"/>
            <a:chExt cx="720" cy="591"/>
          </a:xfrm>
        </p:grpSpPr>
        <p:grpSp>
          <p:nvGrpSpPr>
            <p:cNvPr id="17429" name="Group 14"/>
            <p:cNvGrpSpPr>
              <a:grpSpLocks/>
            </p:cNvGrpSpPr>
            <p:nvPr/>
          </p:nvGrpSpPr>
          <p:grpSpPr bwMode="auto">
            <a:xfrm>
              <a:off x="4512" y="1680"/>
              <a:ext cx="236" cy="245"/>
              <a:chOff x="2094" y="1243"/>
              <a:chExt cx="236" cy="245"/>
            </a:xfrm>
          </p:grpSpPr>
          <p:sp>
            <p:nvSpPr>
              <p:cNvPr id="17431" name="Rectangle 15"/>
              <p:cNvSpPr>
                <a:spLocks noChangeArrowheads="1"/>
              </p:cNvSpPr>
              <p:nvPr/>
            </p:nvSpPr>
            <p:spPr bwMode="auto">
              <a:xfrm>
                <a:off x="2094" y="1243"/>
                <a:ext cx="236" cy="245"/>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17432" name="Line 16"/>
              <p:cNvSpPr>
                <a:spLocks noChangeShapeType="1"/>
              </p:cNvSpPr>
              <p:nvPr/>
            </p:nvSpPr>
            <p:spPr bwMode="auto">
              <a:xfrm>
                <a:off x="2152" y="1278"/>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7433" name="Line 17"/>
              <p:cNvSpPr>
                <a:spLocks noChangeShapeType="1"/>
              </p:cNvSpPr>
              <p:nvPr/>
            </p:nvSpPr>
            <p:spPr bwMode="auto">
              <a:xfrm>
                <a:off x="2152" y="1313"/>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7434" name="Line 18"/>
              <p:cNvSpPr>
                <a:spLocks noChangeShapeType="1"/>
              </p:cNvSpPr>
              <p:nvPr/>
            </p:nvSpPr>
            <p:spPr bwMode="auto">
              <a:xfrm>
                <a:off x="2152" y="1348"/>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7435" name="Line 19"/>
              <p:cNvSpPr>
                <a:spLocks noChangeShapeType="1"/>
              </p:cNvSpPr>
              <p:nvPr/>
            </p:nvSpPr>
            <p:spPr bwMode="auto">
              <a:xfrm>
                <a:off x="2152" y="1383"/>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7436" name="Line 20"/>
              <p:cNvSpPr>
                <a:spLocks noChangeShapeType="1"/>
              </p:cNvSpPr>
              <p:nvPr/>
            </p:nvSpPr>
            <p:spPr bwMode="auto">
              <a:xfrm>
                <a:off x="2152" y="1418"/>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sp>
            <p:nvSpPr>
              <p:cNvPr id="17437" name="Line 21"/>
              <p:cNvSpPr>
                <a:spLocks noChangeShapeType="1"/>
              </p:cNvSpPr>
              <p:nvPr/>
            </p:nvSpPr>
            <p:spPr bwMode="auto">
              <a:xfrm>
                <a:off x="2152" y="1453"/>
                <a:ext cx="1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ES"/>
              </a:p>
            </p:txBody>
          </p:sp>
        </p:grpSp>
        <p:sp>
          <p:nvSpPr>
            <p:cNvPr id="17430" name="Rectangle 35"/>
            <p:cNvSpPr>
              <a:spLocks noChangeArrowheads="1"/>
            </p:cNvSpPr>
            <p:nvPr/>
          </p:nvSpPr>
          <p:spPr bwMode="auto">
            <a:xfrm>
              <a:off x="4272" y="1944"/>
              <a:ext cx="720" cy="327"/>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s-ES_tradnl" altLang="es-ES" sz="1300">
                  <a:cs typeface="Times New Roman" pitchFamily="18" charset="0"/>
                </a:rPr>
                <a:t>Muestra</a:t>
              </a:r>
            </a:p>
            <a:p>
              <a:pPr algn="ctr"/>
              <a:r>
                <a:rPr lang="es-ES" altLang="es-ES" sz="1300">
                  <a:cs typeface="Times New Roman" pitchFamily="18" charset="0"/>
                </a:rPr>
                <a:t>de tamaño </a:t>
              </a:r>
              <a:r>
                <a:rPr lang="es-ES" altLang="es-ES" sz="1500" i="1">
                  <a:latin typeface="Times New Roman" pitchFamily="18" charset="0"/>
                  <a:cs typeface="Times New Roman" pitchFamily="18" charset="0"/>
                </a:rPr>
                <a:t>n</a:t>
              </a:r>
              <a:endParaRPr lang="es-ES_tradnl" altLang="es-ES" sz="1500" i="1">
                <a:latin typeface="Times New Roman" pitchFamily="18" charset="0"/>
                <a:cs typeface="Times New Roman" pitchFamily="18" charset="0"/>
                <a:sym typeface="Euclid" pitchFamily="18" charset="0"/>
              </a:endParaRPr>
            </a:p>
          </p:txBody>
        </p:sp>
      </p:grpSp>
      <p:sp>
        <p:nvSpPr>
          <p:cNvPr id="17424" name="40 Rectángulo"/>
          <p:cNvSpPr>
            <a:spLocks noChangeArrowheads="1"/>
          </p:cNvSpPr>
          <p:nvPr/>
        </p:nvSpPr>
        <p:spPr bwMode="auto">
          <a:xfrm>
            <a:off x="6629400" y="3865563"/>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500" i="1">
                <a:latin typeface="Times New Roman" pitchFamily="18" charset="0"/>
                <a:cs typeface="Times New Roman" pitchFamily="18" charset="0"/>
              </a:rPr>
              <a:t>X</a:t>
            </a:r>
            <a:r>
              <a:rPr lang="es-ES_tradnl" altLang="es-ES" sz="1300">
                <a:cs typeface="Times New Roman" pitchFamily="18" charset="0"/>
              </a:rPr>
              <a:t> = nº de observaciones en la muestra con A presente</a:t>
            </a:r>
            <a:endParaRPr lang="es-ES_tradnl" altLang="es-ES" sz="1300" i="1">
              <a:latin typeface="Times New Roman" pitchFamily="18" charset="0"/>
              <a:cs typeface="Times New Roman" pitchFamily="18" charset="0"/>
              <a:sym typeface="Euclid" pitchFamily="18" charset="0"/>
            </a:endParaRPr>
          </a:p>
        </p:txBody>
      </p:sp>
      <p:graphicFrame>
        <p:nvGraphicFramePr>
          <p:cNvPr id="17425" name="2 Objeto"/>
          <p:cNvGraphicFramePr>
            <a:graphicFrameLocks noChangeAspect="1"/>
          </p:cNvGraphicFramePr>
          <p:nvPr/>
        </p:nvGraphicFramePr>
        <p:xfrm>
          <a:off x="7721600" y="4398963"/>
          <a:ext cx="179388" cy="249237"/>
        </p:xfrm>
        <a:graphic>
          <a:graphicData uri="http://schemas.openxmlformats.org/presentationml/2006/ole">
            <mc:AlternateContent xmlns:mc="http://schemas.openxmlformats.org/markup-compatibility/2006">
              <mc:Choice xmlns:v="urn:schemas-microsoft-com:vml" Requires="v">
                <p:oleObj name="Equation" r:id="rId19" imgW="139639" imgH="203112" progId="Equation.DSMT4">
                  <p:embed/>
                </p:oleObj>
              </mc:Choice>
              <mc:Fallback>
                <p:oleObj name="Equation" r:id="rId19" imgW="139639" imgH="203112" progId="Equation.DSMT4">
                  <p:embed/>
                  <p:pic>
                    <p:nvPicPr>
                      <p:cNvPr id="17425" name="2 Objeto"/>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721600" y="4398963"/>
                        <a:ext cx="179388"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6" name="2 Objeto"/>
          <p:cNvGraphicFramePr>
            <a:graphicFrameLocks noChangeAspect="1"/>
          </p:cNvGraphicFramePr>
          <p:nvPr/>
        </p:nvGraphicFramePr>
        <p:xfrm>
          <a:off x="7273925" y="4627563"/>
          <a:ext cx="1073150" cy="249237"/>
        </p:xfrm>
        <a:graphic>
          <a:graphicData uri="http://schemas.openxmlformats.org/presentationml/2006/ole">
            <mc:AlternateContent xmlns:mc="http://schemas.openxmlformats.org/markup-compatibility/2006">
              <mc:Choice xmlns:v="urn:schemas-microsoft-com:vml" Requires="v">
                <p:oleObj name="Equation" r:id="rId21" imgW="837836" imgH="203112" progId="Equation.DSMT4">
                  <p:embed/>
                </p:oleObj>
              </mc:Choice>
              <mc:Fallback>
                <p:oleObj name="Equation" r:id="rId21" imgW="837836" imgH="203112" progId="Equation.DSMT4">
                  <p:embed/>
                  <p:pic>
                    <p:nvPicPr>
                      <p:cNvPr id="17426" name="2 Objeto"/>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273925" y="4627563"/>
                        <a:ext cx="1073150" cy="24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27" name="40 Rectángulo"/>
          <p:cNvSpPr>
            <a:spLocks noChangeArrowheads="1"/>
          </p:cNvSpPr>
          <p:nvPr/>
        </p:nvSpPr>
        <p:spPr bwMode="auto">
          <a:xfrm>
            <a:off x="6786562" y="569215"/>
            <a:ext cx="1676400" cy="4924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300" dirty="0">
                <a:solidFill>
                  <a:schemeClr val="bg1">
                    <a:lumMod val="50000"/>
                  </a:schemeClr>
                </a:solidFill>
                <a:cs typeface="Times New Roman" pitchFamily="18" charset="0"/>
              </a:rPr>
              <a:t>Recordemos: </a:t>
            </a:r>
            <a:r>
              <a:rPr lang="es-ES_tradnl" altLang="es-ES" sz="1300" b="1" dirty="0">
                <a:cs typeface="Times New Roman" pitchFamily="18" charset="0"/>
              </a:rPr>
              <a:t>Modelo Binomial</a:t>
            </a:r>
            <a:endParaRPr lang="es-ES_tradnl" altLang="es-ES" sz="1300" b="1" i="1" dirty="0">
              <a:latin typeface="Times New Roman" pitchFamily="18" charset="0"/>
              <a:cs typeface="Times New Roman" pitchFamily="18" charset="0"/>
              <a:sym typeface="Euclid" pitchFamily="18" charset="0"/>
            </a:endParaRPr>
          </a:p>
        </p:txBody>
      </p:sp>
      <p:sp>
        <p:nvSpPr>
          <p:cNvPr id="17428" name="40 Rectángulo"/>
          <p:cNvSpPr>
            <a:spLocks noChangeArrowheads="1"/>
          </p:cNvSpPr>
          <p:nvPr/>
        </p:nvSpPr>
        <p:spPr bwMode="auto">
          <a:xfrm>
            <a:off x="6662737" y="5010150"/>
            <a:ext cx="23622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500" dirty="0">
                <a:cs typeface="Times New Roman" pitchFamily="18" charset="0"/>
              </a:rPr>
              <a:t>Pero, ¿cuánto vale </a:t>
            </a:r>
            <a:r>
              <a:rPr lang="es-ES_tradnl" altLang="es-ES" sz="1700" i="1" dirty="0">
                <a:latin typeface="Times New Roman" pitchFamily="18" charset="0"/>
                <a:cs typeface="Times New Roman" pitchFamily="18" charset="0"/>
              </a:rPr>
              <a:t>p</a:t>
            </a:r>
            <a:r>
              <a:rPr lang="es-ES_tradnl" altLang="es-ES" sz="1500" dirty="0">
                <a:cs typeface="Times New Roman" pitchFamily="18" charset="0"/>
              </a:rPr>
              <a:t>?</a:t>
            </a:r>
            <a:endParaRPr lang="es-ES_tradnl" altLang="es-ES" sz="1300" dirty="0">
              <a:cs typeface="Times New Roman" pitchFamily="18" charset="0"/>
              <a:sym typeface="Euclid" pitchFamily="18" charset="0"/>
            </a:endParaRPr>
          </a:p>
        </p:txBody>
      </p:sp>
      <p:sp>
        <p:nvSpPr>
          <p:cNvPr id="33"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
        <p:nvSpPr>
          <p:cNvPr id="2" name="CuadroTexto 1">
            <a:extLst>
              <a:ext uri="{FF2B5EF4-FFF2-40B4-BE49-F238E27FC236}">
                <a16:creationId xmlns:a16="http://schemas.microsoft.com/office/drawing/2014/main" id="{268058F6-66C3-4865-A09D-8043A54B2FBD}"/>
              </a:ext>
            </a:extLst>
          </p:cNvPr>
          <p:cNvSpPr txBox="1"/>
          <p:nvPr/>
        </p:nvSpPr>
        <p:spPr>
          <a:xfrm>
            <a:off x="1570672" y="3456801"/>
            <a:ext cx="4384041" cy="276999"/>
          </a:xfrm>
          <a:prstGeom prst="rect">
            <a:avLst/>
          </a:prstGeom>
          <a:noFill/>
        </p:spPr>
        <p:txBody>
          <a:bodyPr wrap="square" rtlCol="0">
            <a:spAutoFit/>
          </a:bodyPr>
          <a:lstStyle/>
          <a:p>
            <a:r>
              <a:rPr lang="es-ES" dirty="0"/>
              <a:t>¿Qué relación tiene esta expresión con la frecuencia relativa?</a:t>
            </a:r>
            <a:endParaRPr lang="en-GB" dirty="0"/>
          </a:p>
        </p:txBody>
      </p:sp>
      <p:sp>
        <p:nvSpPr>
          <p:cNvPr id="3" name="Rectángulo: esquinas redondeadas 2">
            <a:extLst>
              <a:ext uri="{FF2B5EF4-FFF2-40B4-BE49-F238E27FC236}">
                <a16:creationId xmlns:a16="http://schemas.microsoft.com/office/drawing/2014/main" id="{C4AF0D14-09AC-4F36-9657-E231A5FB1D31}"/>
              </a:ext>
            </a:extLst>
          </p:cNvPr>
          <p:cNvSpPr/>
          <p:nvPr/>
        </p:nvSpPr>
        <p:spPr>
          <a:xfrm>
            <a:off x="1570672" y="3456801"/>
            <a:ext cx="4384041" cy="276999"/>
          </a:xfrm>
          <a:prstGeom prst="roundRect">
            <a:avLst/>
          </a:prstGeom>
          <a:noFill/>
          <a:ln w="127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829490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
          <p:cNvSpPr txBox="1">
            <a:spLocks noChangeArrowheads="1"/>
          </p:cNvSpPr>
          <p:nvPr/>
        </p:nvSpPr>
        <p:spPr bwMode="auto">
          <a:xfrm>
            <a:off x="292100" y="5379720"/>
            <a:ext cx="8153400" cy="593177"/>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dirty="0"/>
              <a:t>Si hay </a:t>
            </a:r>
            <a:r>
              <a:rPr lang="es-ES_tradnl" altLang="es-ES" sz="1400" b="1" dirty="0">
                <a:solidFill>
                  <a:srgbClr val="6A1700"/>
                </a:solidFill>
              </a:rPr>
              <a:t>condiciones de validez</a:t>
            </a:r>
            <a:r>
              <a:rPr lang="es-ES_tradnl" altLang="es-ES" sz="1400" b="1" dirty="0"/>
              <a:t> </a:t>
            </a:r>
            <a:r>
              <a:rPr lang="es-ES_tradnl" altLang="es-ES" sz="1400" dirty="0"/>
              <a:t>deben ser comprobarlas </a:t>
            </a:r>
            <a:r>
              <a:rPr lang="es-ES_tradnl" altLang="es-ES" sz="1400" b="1" dirty="0"/>
              <a:t>siempre</a:t>
            </a:r>
          </a:p>
          <a:p>
            <a:pPr algn="just" eaLnBrk="1" hangingPunct="1">
              <a:lnSpc>
                <a:spcPct val="150000"/>
              </a:lnSpc>
            </a:pPr>
            <a:r>
              <a:rPr lang="es-ES_tradnl" altLang="es-ES" sz="1400" dirty="0"/>
              <a:t>Siempre se debe indicar cuál ha sido el método utilizado</a:t>
            </a:r>
          </a:p>
        </p:txBody>
      </p:sp>
      <p:graphicFrame>
        <p:nvGraphicFramePr>
          <p:cNvPr id="18435" name="Object 7"/>
          <p:cNvGraphicFramePr>
            <a:graphicFrameLocks noChangeAspect="1"/>
          </p:cNvGraphicFramePr>
          <p:nvPr/>
        </p:nvGraphicFramePr>
        <p:xfrm>
          <a:off x="1676400" y="1752600"/>
          <a:ext cx="5345113" cy="785813"/>
        </p:xfrm>
        <a:graphic>
          <a:graphicData uri="http://schemas.openxmlformats.org/presentationml/2006/ole">
            <mc:AlternateContent xmlns:mc="http://schemas.openxmlformats.org/markup-compatibility/2006">
              <mc:Choice xmlns:v="urn:schemas-microsoft-com:vml" Requires="v">
                <p:oleObj name="Equation" r:id="rId2" imgW="3619500" imgH="533400" progId="Equation.DSMT4">
                  <p:embed/>
                </p:oleObj>
              </mc:Choice>
              <mc:Fallback>
                <p:oleObj name="Equation" r:id="rId2" imgW="3619500" imgH="533400" progId="Equation.DSMT4">
                  <p:embed/>
                  <p:pic>
                    <p:nvPicPr>
                      <p:cNvPr id="18435"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752600"/>
                        <a:ext cx="5345113" cy="785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6" name="Rectangle 9"/>
          <p:cNvSpPr>
            <a:spLocks noChangeArrowheads="1"/>
          </p:cNvSpPr>
          <p:nvPr/>
        </p:nvSpPr>
        <p:spPr bwMode="auto">
          <a:xfrm>
            <a:off x="292100" y="914400"/>
            <a:ext cx="6175375"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Fijado </a:t>
            </a:r>
            <a:r>
              <a:rPr lang="es-ES_tradnl" altLang="es-ES" sz="1400">
                <a:latin typeface="Symbol" pitchFamily="18" charset="2"/>
              </a:rPr>
              <a:t>a</a:t>
            </a:r>
            <a:r>
              <a:rPr lang="es-ES_tradnl" altLang="es-ES" sz="1400">
                <a:latin typeface="Times New Roman" pitchFamily="18" charset="0"/>
              </a:rPr>
              <a:t> </a:t>
            </a:r>
            <a:r>
              <a:rPr lang="es-ES_tradnl" altLang="es-ES" sz="1400"/>
              <a:t>de antemano consideramos tres métodos (en orden de </a:t>
            </a:r>
            <a:r>
              <a:rPr lang="es-ES" altLang="es-ES" sz="1400"/>
              <a:t>preferencia)</a:t>
            </a:r>
          </a:p>
        </p:txBody>
      </p:sp>
      <p:graphicFrame>
        <p:nvGraphicFramePr>
          <p:cNvPr id="18437" name="Object 15"/>
          <p:cNvGraphicFramePr>
            <a:graphicFrameLocks noChangeAspect="1"/>
          </p:cNvGraphicFramePr>
          <p:nvPr/>
        </p:nvGraphicFramePr>
        <p:xfrm>
          <a:off x="2286000" y="1323975"/>
          <a:ext cx="1968500" cy="373063"/>
        </p:xfrm>
        <a:graphic>
          <a:graphicData uri="http://schemas.openxmlformats.org/presentationml/2006/ole">
            <mc:AlternateContent xmlns:mc="http://schemas.openxmlformats.org/markup-compatibility/2006">
              <mc:Choice xmlns:v="urn:schemas-microsoft-com:vml" Requires="v">
                <p:oleObj name="Equation" r:id="rId4" imgW="1333500" imgH="254000" progId="Equation.DSMT4">
                  <p:embed/>
                </p:oleObj>
              </mc:Choice>
              <mc:Fallback>
                <p:oleObj name="Equation" r:id="rId4" imgW="1333500" imgH="254000" progId="Equation.DSMT4">
                  <p:embed/>
                  <p:pic>
                    <p:nvPicPr>
                      <p:cNvPr id="18437"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1323975"/>
                        <a:ext cx="1968500" cy="373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8" name="Text Box 17"/>
          <p:cNvSpPr txBox="1">
            <a:spLocks noChangeArrowheads="1"/>
          </p:cNvSpPr>
          <p:nvPr/>
        </p:nvSpPr>
        <p:spPr bwMode="auto">
          <a:xfrm>
            <a:off x="292100" y="5959475"/>
            <a:ext cx="8470900" cy="59372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lnSpc>
                <a:spcPct val="110000"/>
              </a:lnSpc>
            </a:pPr>
            <a:r>
              <a:rPr lang="es-ES_tradnl" altLang="es-ES" sz="1400" dirty="0"/>
              <a:t>En estas expresiones </a:t>
            </a:r>
            <a:r>
              <a:rPr lang="es-ES_tradnl" altLang="es-ES" sz="1600" i="1" dirty="0" err="1">
                <a:latin typeface="Times New Roman" pitchFamily="18" charset="0"/>
              </a:rPr>
              <a:t>z</a:t>
            </a:r>
            <a:r>
              <a:rPr lang="es-ES_tradnl" altLang="es-ES" sz="1600" baseline="-25000" dirty="0" err="1">
                <a:latin typeface="Symbol" pitchFamily="18" charset="2"/>
              </a:rPr>
              <a:t>a</a:t>
            </a:r>
            <a:r>
              <a:rPr lang="es-ES_tradnl" altLang="es-ES" sz="1600" baseline="-25000" dirty="0">
                <a:latin typeface="Times New Roman" pitchFamily="18" charset="0"/>
              </a:rPr>
              <a:t> </a:t>
            </a:r>
            <a:r>
              <a:rPr lang="es-ES_tradnl" altLang="es-ES" sz="1400" dirty="0"/>
              <a:t>es el valor de la distribución normal correspondiente al (1-</a:t>
            </a:r>
            <a:r>
              <a:rPr lang="es-ES_tradnl" altLang="es-ES" sz="1400" dirty="0">
                <a:latin typeface="Symbol" pitchFamily="18" charset="2"/>
              </a:rPr>
              <a:t>a</a:t>
            </a:r>
            <a:r>
              <a:rPr lang="es-ES_tradnl" altLang="es-ES" sz="1400" dirty="0"/>
              <a:t>)% de confianza (observe que ahora no hablamos de grados de libertad).</a:t>
            </a:r>
            <a:endParaRPr lang="es-ES" altLang="es-ES" sz="1400" dirty="0"/>
          </a:p>
        </p:txBody>
      </p:sp>
      <p:sp>
        <p:nvSpPr>
          <p:cNvPr id="18439" name="Text Box 18"/>
          <p:cNvSpPr txBox="1">
            <a:spLocks noChangeArrowheads="1"/>
          </p:cNvSpPr>
          <p:nvPr/>
        </p:nvSpPr>
        <p:spPr bwMode="auto">
          <a:xfrm>
            <a:off x="393700" y="1308100"/>
            <a:ext cx="1968500" cy="3131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10000"/>
              </a:lnSpc>
              <a:buFontTx/>
              <a:buChar char="•"/>
            </a:pPr>
            <a:r>
              <a:rPr lang="es-ES_tradnl" altLang="es-ES" sz="1400" b="1" dirty="0"/>
              <a:t> </a:t>
            </a:r>
            <a:r>
              <a:rPr lang="es-ES_tradnl" altLang="es-ES" sz="1400" b="1" dirty="0" err="1"/>
              <a:t>Mé</a:t>
            </a:r>
            <a:r>
              <a:rPr lang="es-ES" altLang="es-ES" sz="1400" b="1" dirty="0"/>
              <a:t>todo de </a:t>
            </a:r>
            <a:r>
              <a:rPr lang="es-ES_tradnl" altLang="es-ES" sz="1400" b="1" dirty="0"/>
              <a:t>Wilson</a:t>
            </a:r>
            <a:r>
              <a:rPr lang="es-ES" altLang="es-ES" sz="1400" dirty="0"/>
              <a:t>:</a:t>
            </a:r>
          </a:p>
        </p:txBody>
      </p:sp>
      <p:sp>
        <p:nvSpPr>
          <p:cNvPr id="18440" name="Text Box 18"/>
          <p:cNvSpPr txBox="1">
            <a:spLocks noChangeArrowheads="1"/>
          </p:cNvSpPr>
          <p:nvPr/>
        </p:nvSpPr>
        <p:spPr bwMode="auto">
          <a:xfrm>
            <a:off x="4800600" y="1308100"/>
            <a:ext cx="3962400" cy="32543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es-ES_tradnl" altLang="es-ES" sz="1400" dirty="0"/>
              <a:t>← </a:t>
            </a:r>
            <a:r>
              <a:rPr lang="es-ES_tradnl" altLang="es-ES" sz="1400" b="1" dirty="0"/>
              <a:t>Cuando se pueda usar e</a:t>
            </a:r>
            <a:r>
              <a:rPr lang="es-ES" altLang="es-ES" sz="1400" b="1" dirty="0"/>
              <a:t>s el mejor</a:t>
            </a:r>
          </a:p>
        </p:txBody>
      </p:sp>
      <p:grpSp>
        <p:nvGrpSpPr>
          <p:cNvPr id="18441" name="Group 23"/>
          <p:cNvGrpSpPr>
            <a:grpSpLocks/>
          </p:cNvGrpSpPr>
          <p:nvPr/>
        </p:nvGrpSpPr>
        <p:grpSpPr bwMode="auto">
          <a:xfrm>
            <a:off x="406400" y="3944939"/>
            <a:ext cx="8432800" cy="1312863"/>
            <a:chOff x="304" y="1860"/>
            <a:chExt cx="5312" cy="827"/>
          </a:xfrm>
        </p:grpSpPr>
        <p:graphicFrame>
          <p:nvGraphicFramePr>
            <p:cNvPr id="18447" name="Object 6"/>
            <p:cNvGraphicFramePr>
              <a:graphicFrameLocks noChangeAspect="1"/>
            </p:cNvGraphicFramePr>
            <p:nvPr/>
          </p:nvGraphicFramePr>
          <p:xfrm>
            <a:off x="1056" y="2122"/>
            <a:ext cx="1802" cy="518"/>
          </p:xfrm>
          <a:graphic>
            <a:graphicData uri="http://schemas.openxmlformats.org/presentationml/2006/ole">
              <mc:AlternateContent xmlns:mc="http://schemas.openxmlformats.org/markup-compatibility/2006">
                <mc:Choice xmlns:v="urn:schemas-microsoft-com:vml" Requires="v">
                  <p:oleObj name="Equation" r:id="rId6" imgW="1765300" imgH="508000" progId="Equation.DSMT4">
                    <p:embed/>
                  </p:oleObj>
                </mc:Choice>
                <mc:Fallback>
                  <p:oleObj name="Equation" r:id="rId6" imgW="1765300" imgH="508000" progId="Equation.DSMT4">
                    <p:embed/>
                    <p:pic>
                      <p:nvPicPr>
                        <p:cNvPr id="18447"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6" y="2122"/>
                          <a:ext cx="1802" cy="5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8" name="Object 16"/>
            <p:cNvGraphicFramePr>
              <a:graphicFrameLocks noChangeAspect="1"/>
            </p:cNvGraphicFramePr>
            <p:nvPr/>
          </p:nvGraphicFramePr>
          <p:xfrm>
            <a:off x="1440" y="1860"/>
            <a:ext cx="1393" cy="235"/>
          </p:xfrm>
          <a:graphic>
            <a:graphicData uri="http://schemas.openxmlformats.org/presentationml/2006/ole">
              <mc:AlternateContent xmlns:mc="http://schemas.openxmlformats.org/markup-compatibility/2006">
                <mc:Choice xmlns:v="urn:schemas-microsoft-com:vml" Requires="v">
                  <p:oleObj name="Equation" r:id="rId8" imgW="1497950" imgH="253890" progId="Equation.DSMT4">
                    <p:embed/>
                  </p:oleObj>
                </mc:Choice>
                <mc:Fallback>
                  <p:oleObj name="Equation" r:id="rId8" imgW="1497950" imgH="253890" progId="Equation.DSMT4">
                    <p:embed/>
                    <p:pic>
                      <p:nvPicPr>
                        <p:cNvPr id="18448"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40" y="1860"/>
                          <a:ext cx="1393"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9" name="Text Box 18"/>
            <p:cNvSpPr txBox="1">
              <a:spLocks noChangeArrowheads="1"/>
            </p:cNvSpPr>
            <p:nvPr/>
          </p:nvSpPr>
          <p:spPr bwMode="auto">
            <a:xfrm>
              <a:off x="3024" y="1872"/>
              <a:ext cx="2592" cy="81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228600" indent="-228600" eaLnBrk="0" hangingPunct="0">
                <a:tabLst>
                  <a:tab pos="228600" algn="l"/>
                </a:tabLst>
                <a:defRPr>
                  <a:solidFill>
                    <a:schemeClr val="tx1"/>
                  </a:solidFill>
                  <a:latin typeface="Arial" charset="0"/>
                </a:defRPr>
              </a:lvl1pPr>
              <a:lvl2pPr marL="742950" indent="-285750" eaLnBrk="0" hangingPunct="0">
                <a:tabLst>
                  <a:tab pos="228600" algn="l"/>
                </a:tabLst>
                <a:defRPr>
                  <a:solidFill>
                    <a:schemeClr val="tx1"/>
                  </a:solidFill>
                  <a:latin typeface="Arial" charset="0"/>
                </a:defRPr>
              </a:lvl2pPr>
              <a:lvl3pPr marL="1143000" indent="-228600" eaLnBrk="0" hangingPunct="0">
                <a:tabLst>
                  <a:tab pos="228600" algn="l"/>
                </a:tabLst>
                <a:defRPr>
                  <a:solidFill>
                    <a:schemeClr val="tx1"/>
                  </a:solidFill>
                  <a:latin typeface="Arial" charset="0"/>
                </a:defRPr>
              </a:lvl3pPr>
              <a:lvl4pPr marL="1600200" indent="-228600" eaLnBrk="0" hangingPunct="0">
                <a:tabLst>
                  <a:tab pos="228600" algn="l"/>
                </a:tabLst>
                <a:defRPr>
                  <a:solidFill>
                    <a:schemeClr val="tx1"/>
                  </a:solidFill>
                  <a:latin typeface="Arial" charset="0"/>
                </a:defRPr>
              </a:lvl4pPr>
              <a:lvl5pPr marL="2057400" indent="-228600" eaLnBrk="0" hangingPunct="0">
                <a:tabLst>
                  <a:tab pos="228600" algn="l"/>
                </a:tabLst>
                <a:defRPr>
                  <a:solidFill>
                    <a:schemeClr val="tx1"/>
                  </a:solidFill>
                  <a:latin typeface="Arial" charset="0"/>
                </a:defRPr>
              </a:lvl5pPr>
              <a:lvl6pPr marL="2514600" indent="-228600" eaLnBrk="0" fontAlgn="base" hangingPunct="0">
                <a:spcBef>
                  <a:spcPct val="0"/>
                </a:spcBef>
                <a:spcAft>
                  <a:spcPct val="0"/>
                </a:spcAft>
                <a:tabLst>
                  <a:tab pos="228600" algn="l"/>
                </a:tabLst>
                <a:defRPr>
                  <a:solidFill>
                    <a:schemeClr val="tx1"/>
                  </a:solidFill>
                  <a:latin typeface="Arial" charset="0"/>
                </a:defRPr>
              </a:lvl6pPr>
              <a:lvl7pPr marL="2971800" indent="-228600" eaLnBrk="0" fontAlgn="base" hangingPunct="0">
                <a:spcBef>
                  <a:spcPct val="0"/>
                </a:spcBef>
                <a:spcAft>
                  <a:spcPct val="0"/>
                </a:spcAft>
                <a:tabLst>
                  <a:tab pos="228600" algn="l"/>
                </a:tabLst>
                <a:defRPr>
                  <a:solidFill>
                    <a:schemeClr val="tx1"/>
                  </a:solidFill>
                  <a:latin typeface="Arial" charset="0"/>
                </a:defRPr>
              </a:lvl7pPr>
              <a:lvl8pPr marL="3429000" indent="-228600" eaLnBrk="0" fontAlgn="base" hangingPunct="0">
                <a:spcBef>
                  <a:spcPct val="0"/>
                </a:spcBef>
                <a:spcAft>
                  <a:spcPct val="0"/>
                </a:spcAft>
                <a:tabLst>
                  <a:tab pos="228600" algn="l"/>
                </a:tabLst>
                <a:defRPr>
                  <a:solidFill>
                    <a:schemeClr val="tx1"/>
                  </a:solidFill>
                  <a:latin typeface="Arial" charset="0"/>
                </a:defRPr>
              </a:lvl8pPr>
              <a:lvl9pPr marL="3886200" indent="-228600" eaLnBrk="0" fontAlgn="base" hangingPunct="0">
                <a:spcBef>
                  <a:spcPct val="0"/>
                </a:spcBef>
                <a:spcAft>
                  <a:spcPct val="0"/>
                </a:spcAft>
                <a:tabLst>
                  <a:tab pos="228600" algn="l"/>
                </a:tabLst>
                <a:defRPr>
                  <a:solidFill>
                    <a:schemeClr val="tx1"/>
                  </a:solidFill>
                  <a:latin typeface="Arial" charset="0"/>
                </a:defRPr>
              </a:lvl9pPr>
            </a:lstStyle>
            <a:p>
              <a:pPr algn="just" eaLnBrk="1" hangingPunct="1">
                <a:lnSpc>
                  <a:spcPct val="110000"/>
                </a:lnSpc>
              </a:pPr>
              <a:r>
                <a:rPr lang="es-ES_tradnl" altLang="es-ES" sz="1400" dirty="0"/>
                <a:t>←	Cuando se dan estas condiciones es una aproximación que funciona tanto mejor cuanto mayores sean </a:t>
              </a:r>
              <a:r>
                <a:rPr lang="es-ES_tradnl" altLang="es-ES" sz="1600" i="1" dirty="0">
                  <a:latin typeface="Times New Roman" pitchFamily="18" charset="0"/>
                </a:rPr>
                <a:t>x</a:t>
              </a:r>
              <a:r>
                <a:rPr lang="es-ES_tradnl" altLang="es-ES" sz="1400" dirty="0"/>
                <a:t> y </a:t>
              </a:r>
              <a:r>
                <a:rPr lang="es-ES_tradnl" altLang="es-ES" sz="1600" i="1" dirty="0">
                  <a:latin typeface="Times New Roman" pitchFamily="18" charset="0"/>
                </a:rPr>
                <a:t>n-</a:t>
              </a:r>
              <a:r>
                <a:rPr lang="es-ES" altLang="es-ES" sz="1600" i="1" dirty="0">
                  <a:latin typeface="Times New Roman" pitchFamily="18" charset="0"/>
                </a:rPr>
                <a:t>x. </a:t>
              </a:r>
              <a:r>
                <a:rPr lang="es-ES" altLang="es-ES" sz="1400" dirty="0"/>
                <a:t>Es el </a:t>
              </a:r>
              <a:r>
                <a:rPr lang="es-ES" altLang="es-ES" sz="1400" u="sng" dirty="0"/>
                <a:t>peor</a:t>
              </a:r>
              <a:r>
                <a:rPr lang="es-ES" altLang="es-ES" sz="1400" dirty="0"/>
                <a:t> de los tres expuestos y uno de los que más se usan tradicionalmente</a:t>
              </a:r>
            </a:p>
          </p:txBody>
        </p:sp>
        <p:sp>
          <p:nvSpPr>
            <p:cNvPr id="18450" name="Text Box 18"/>
            <p:cNvSpPr txBox="1">
              <a:spLocks noChangeArrowheads="1"/>
            </p:cNvSpPr>
            <p:nvPr/>
          </p:nvSpPr>
          <p:spPr bwMode="auto">
            <a:xfrm>
              <a:off x="304" y="1860"/>
              <a:ext cx="1152" cy="20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10000"/>
                </a:lnSpc>
                <a:buFontTx/>
                <a:buChar char="•"/>
              </a:pPr>
              <a:r>
                <a:rPr lang="es-ES_tradnl" altLang="es-ES" sz="1400" b="1" dirty="0"/>
                <a:t> </a:t>
              </a:r>
              <a:r>
                <a:rPr lang="es-ES_tradnl" altLang="es-ES" sz="1400" b="1" dirty="0" err="1"/>
                <a:t>Mé</a:t>
              </a:r>
              <a:r>
                <a:rPr lang="es-ES" altLang="es-ES" sz="1400" b="1" dirty="0"/>
                <a:t>todo de </a:t>
              </a:r>
              <a:r>
                <a:rPr lang="es-ES_tradnl" altLang="es-ES" sz="1400" b="1" dirty="0"/>
                <a:t>Wald:</a:t>
              </a:r>
              <a:endParaRPr lang="es-ES" altLang="es-ES" sz="1400" b="1" dirty="0"/>
            </a:p>
          </p:txBody>
        </p:sp>
      </p:grpSp>
      <p:grpSp>
        <p:nvGrpSpPr>
          <p:cNvPr id="18442" name="Group 24"/>
          <p:cNvGrpSpPr>
            <a:grpSpLocks/>
          </p:cNvGrpSpPr>
          <p:nvPr/>
        </p:nvGrpSpPr>
        <p:grpSpPr bwMode="auto">
          <a:xfrm>
            <a:off x="393700" y="2601913"/>
            <a:ext cx="7988300" cy="1208087"/>
            <a:chOff x="248" y="1735"/>
            <a:chExt cx="5032" cy="761"/>
          </a:xfrm>
        </p:grpSpPr>
        <p:graphicFrame>
          <p:nvGraphicFramePr>
            <p:cNvPr id="18444" name="Object 14"/>
            <p:cNvGraphicFramePr>
              <a:graphicFrameLocks noChangeAspect="1"/>
            </p:cNvGraphicFramePr>
            <p:nvPr/>
          </p:nvGraphicFramePr>
          <p:xfrm>
            <a:off x="1008" y="2023"/>
            <a:ext cx="2400" cy="473"/>
          </p:xfrm>
          <a:graphic>
            <a:graphicData uri="http://schemas.openxmlformats.org/presentationml/2006/ole">
              <mc:AlternateContent xmlns:mc="http://schemas.openxmlformats.org/markup-compatibility/2006">
                <mc:Choice xmlns:v="urn:schemas-microsoft-com:vml" Requires="v">
                  <p:oleObj name="Equation" r:id="rId10" imgW="2705100" imgH="533400" progId="Equation.DSMT4">
                    <p:embed/>
                  </p:oleObj>
                </mc:Choice>
                <mc:Fallback>
                  <p:oleObj name="Equation" r:id="rId10" imgW="2705100" imgH="533400" progId="Equation.DSMT4">
                    <p:embed/>
                    <p:pic>
                      <p:nvPicPr>
                        <p:cNvPr id="18444"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8" y="2023"/>
                          <a:ext cx="2400" cy="4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5" name="Text Box 20"/>
            <p:cNvSpPr txBox="1">
              <a:spLocks noChangeArrowheads="1"/>
            </p:cNvSpPr>
            <p:nvPr/>
          </p:nvSpPr>
          <p:spPr bwMode="auto">
            <a:xfrm>
              <a:off x="248" y="1735"/>
              <a:ext cx="1144" cy="20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10000"/>
                </a:lnSpc>
                <a:buFontTx/>
                <a:buChar char="•"/>
              </a:pPr>
              <a:r>
                <a:rPr lang="es-ES_tradnl" altLang="es-ES" sz="1400" b="1" dirty="0"/>
                <a:t> Wald ajustado:   </a:t>
              </a:r>
              <a:endParaRPr lang="es-ES" altLang="es-ES" sz="1400" b="1" dirty="0"/>
            </a:p>
          </p:txBody>
        </p:sp>
        <p:sp>
          <p:nvSpPr>
            <p:cNvPr id="18446" name="Text Box 20"/>
            <p:cNvSpPr txBox="1">
              <a:spLocks noChangeArrowheads="1"/>
            </p:cNvSpPr>
            <p:nvPr/>
          </p:nvSpPr>
          <p:spPr bwMode="auto">
            <a:xfrm>
              <a:off x="1200" y="1735"/>
              <a:ext cx="4080" cy="20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10000"/>
                </a:lnSpc>
              </a:pPr>
              <a:r>
                <a:rPr lang="es-ES_tradnl" altLang="es-ES" sz="1400"/>
                <a:t>Válido siempre, pero es p</a:t>
              </a:r>
              <a:r>
                <a:rPr lang="es-ES" altLang="es-ES" sz="1400"/>
                <a:t>referible el de Wilson cuando se puede aplicar</a:t>
              </a:r>
            </a:p>
          </p:txBody>
        </p:sp>
      </p:grpSp>
      <p:sp>
        <p:nvSpPr>
          <p:cNvPr id="19" name="Rectangle 10"/>
          <p:cNvSpPr>
            <a:spLocks noChangeArrowheads="1"/>
          </p:cNvSpPr>
          <p:nvPr/>
        </p:nvSpPr>
        <p:spPr bwMode="auto">
          <a:xfrm>
            <a:off x="161925" y="381000"/>
            <a:ext cx="5562600" cy="3407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dirty="0">
                <a:solidFill>
                  <a:srgbClr val="000000"/>
                </a:solidFill>
              </a:rPr>
              <a:t>Intervalo de confianza para la </a:t>
            </a:r>
            <a:r>
              <a:rPr lang="es-ES_tradnl" altLang="es-ES" sz="1600" b="1" dirty="0">
                <a:solidFill>
                  <a:srgbClr val="FF0000"/>
                </a:solidFill>
              </a:rPr>
              <a:t>proporción binomial</a:t>
            </a:r>
            <a:endParaRPr lang="es-ES" altLang="es-ES" sz="1600" b="1" dirty="0">
              <a:solidFill>
                <a:srgbClr val="FF0000"/>
              </a:solidFill>
            </a:endParaRPr>
          </a:p>
        </p:txBody>
      </p:sp>
      <p:sp>
        <p:nvSpPr>
          <p:cNvPr id="20"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934670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9"/>
          <p:cNvGrpSpPr>
            <a:grpSpLocks/>
          </p:cNvGrpSpPr>
          <p:nvPr/>
        </p:nvGrpSpPr>
        <p:grpSpPr bwMode="auto">
          <a:xfrm>
            <a:off x="4572000" y="5029200"/>
            <a:ext cx="4038600" cy="514350"/>
            <a:chOff x="2832" y="3168"/>
            <a:chExt cx="2544" cy="324"/>
          </a:xfrm>
        </p:grpSpPr>
        <p:graphicFrame>
          <p:nvGraphicFramePr>
            <p:cNvPr id="19492" name="Object 10"/>
            <p:cNvGraphicFramePr>
              <a:graphicFrameLocks noChangeAspect="1"/>
            </p:cNvGraphicFramePr>
            <p:nvPr/>
          </p:nvGraphicFramePr>
          <p:xfrm>
            <a:off x="2832" y="3236"/>
            <a:ext cx="2536" cy="248"/>
          </p:xfrm>
          <a:graphic>
            <a:graphicData uri="http://schemas.openxmlformats.org/presentationml/2006/ole">
              <mc:AlternateContent xmlns:mc="http://schemas.openxmlformats.org/markup-compatibility/2006">
                <mc:Choice xmlns:v="urn:schemas-microsoft-com:vml" Requires="v">
                  <p:oleObj name="Equation" r:id="rId2" imgW="2336800" imgH="228600" progId="Equation.DSMT4">
                    <p:embed/>
                  </p:oleObj>
                </mc:Choice>
                <mc:Fallback>
                  <p:oleObj name="Equation" r:id="rId2" imgW="2336800" imgH="228600" progId="Equation.DSMT4">
                    <p:embed/>
                    <p:pic>
                      <p:nvPicPr>
                        <p:cNvPr id="19492"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2" y="3236"/>
                          <a:ext cx="2536"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93" name="Freeform 11"/>
            <p:cNvSpPr>
              <a:spLocks/>
            </p:cNvSpPr>
            <p:nvPr/>
          </p:nvSpPr>
          <p:spPr bwMode="auto">
            <a:xfrm>
              <a:off x="4992" y="3168"/>
              <a:ext cx="384" cy="317"/>
            </a:xfrm>
            <a:custGeom>
              <a:avLst/>
              <a:gdLst>
                <a:gd name="T0" fmla="*/ 132 w 409"/>
                <a:gd name="T1" fmla="*/ 14 h 423"/>
                <a:gd name="T2" fmla="*/ 28 w 409"/>
                <a:gd name="T3" fmla="*/ 19 h 423"/>
                <a:gd name="T4" fmla="*/ 16 w 409"/>
                <a:gd name="T5" fmla="*/ 32 h 423"/>
                <a:gd name="T6" fmla="*/ 89 w 409"/>
                <a:gd name="T7" fmla="*/ 69 h 423"/>
                <a:gd name="T8" fmla="*/ 255 w 409"/>
                <a:gd name="T9" fmla="*/ 66 h 423"/>
                <a:gd name="T10" fmla="*/ 281 w 409"/>
                <a:gd name="T11" fmla="*/ 51 h 423"/>
                <a:gd name="T12" fmla="*/ 274 w 409"/>
                <a:gd name="T13" fmla="*/ 23 h 423"/>
                <a:gd name="T14" fmla="*/ 262 w 409"/>
                <a:gd name="T15" fmla="*/ 13 h 423"/>
                <a:gd name="T16" fmla="*/ 140 w 409"/>
                <a:gd name="T17" fmla="*/ 0 h 4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9" h="423">
                  <a:moveTo>
                    <a:pt x="193" y="84"/>
                  </a:moveTo>
                  <a:cubicBezTo>
                    <a:pt x="174" y="85"/>
                    <a:pt x="57" y="77"/>
                    <a:pt x="40" y="111"/>
                  </a:cubicBezTo>
                  <a:cubicBezTo>
                    <a:pt x="29" y="133"/>
                    <a:pt x="22" y="183"/>
                    <a:pt x="22" y="183"/>
                  </a:cubicBezTo>
                  <a:cubicBezTo>
                    <a:pt x="31" y="322"/>
                    <a:pt x="0" y="364"/>
                    <a:pt x="130" y="390"/>
                  </a:cubicBezTo>
                  <a:cubicBezTo>
                    <a:pt x="211" y="387"/>
                    <a:pt x="310" y="423"/>
                    <a:pt x="373" y="372"/>
                  </a:cubicBezTo>
                  <a:cubicBezTo>
                    <a:pt x="396" y="354"/>
                    <a:pt x="409" y="291"/>
                    <a:pt x="409" y="291"/>
                  </a:cubicBezTo>
                  <a:cubicBezTo>
                    <a:pt x="406" y="237"/>
                    <a:pt x="407" y="183"/>
                    <a:pt x="400" y="129"/>
                  </a:cubicBezTo>
                  <a:cubicBezTo>
                    <a:pt x="398" y="110"/>
                    <a:pt x="382" y="75"/>
                    <a:pt x="382" y="75"/>
                  </a:cubicBezTo>
                  <a:lnTo>
                    <a:pt x="205" y="0"/>
                  </a:lnTo>
                </a:path>
              </a:pathLst>
            </a:custGeom>
            <a:noFill/>
            <a:ln w="25400" cap="flat" cmpd="sng">
              <a:solidFill>
                <a:srgbClr val="FF0000"/>
              </a:solidFill>
              <a:prstDash val="lgDash"/>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sp>
          <p:nvSpPr>
            <p:cNvPr id="19494" name="Freeform 12"/>
            <p:cNvSpPr>
              <a:spLocks/>
            </p:cNvSpPr>
            <p:nvPr/>
          </p:nvSpPr>
          <p:spPr bwMode="auto">
            <a:xfrm rot="10800000" flipV="1">
              <a:off x="3888" y="3228"/>
              <a:ext cx="432" cy="264"/>
            </a:xfrm>
            <a:custGeom>
              <a:avLst/>
              <a:gdLst>
                <a:gd name="T0" fmla="*/ 267 w 409"/>
                <a:gd name="T1" fmla="*/ 4 h 423"/>
                <a:gd name="T2" fmla="*/ 55 w 409"/>
                <a:gd name="T3" fmla="*/ 7 h 423"/>
                <a:gd name="T4" fmla="*/ 29 w 409"/>
                <a:gd name="T5" fmla="*/ 11 h 423"/>
                <a:gd name="T6" fmla="*/ 181 w 409"/>
                <a:gd name="T7" fmla="*/ 23 h 423"/>
                <a:gd name="T8" fmla="*/ 518 w 409"/>
                <a:gd name="T9" fmla="*/ 22 h 423"/>
                <a:gd name="T10" fmla="*/ 568 w 409"/>
                <a:gd name="T11" fmla="*/ 17 h 423"/>
                <a:gd name="T12" fmla="*/ 555 w 409"/>
                <a:gd name="T13" fmla="*/ 7 h 423"/>
                <a:gd name="T14" fmla="*/ 530 w 409"/>
                <a:gd name="T15" fmla="*/ 4 h 423"/>
                <a:gd name="T16" fmla="*/ 285 w 409"/>
                <a:gd name="T17" fmla="*/ 0 h 4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9" h="423">
                  <a:moveTo>
                    <a:pt x="193" y="84"/>
                  </a:moveTo>
                  <a:cubicBezTo>
                    <a:pt x="174" y="85"/>
                    <a:pt x="57" y="77"/>
                    <a:pt x="40" y="111"/>
                  </a:cubicBezTo>
                  <a:cubicBezTo>
                    <a:pt x="29" y="133"/>
                    <a:pt x="22" y="183"/>
                    <a:pt x="22" y="183"/>
                  </a:cubicBezTo>
                  <a:cubicBezTo>
                    <a:pt x="31" y="322"/>
                    <a:pt x="0" y="364"/>
                    <a:pt x="130" y="390"/>
                  </a:cubicBezTo>
                  <a:cubicBezTo>
                    <a:pt x="211" y="387"/>
                    <a:pt x="310" y="423"/>
                    <a:pt x="373" y="372"/>
                  </a:cubicBezTo>
                  <a:cubicBezTo>
                    <a:pt x="396" y="354"/>
                    <a:pt x="409" y="291"/>
                    <a:pt x="409" y="291"/>
                  </a:cubicBezTo>
                  <a:cubicBezTo>
                    <a:pt x="406" y="237"/>
                    <a:pt x="407" y="183"/>
                    <a:pt x="400" y="129"/>
                  </a:cubicBezTo>
                  <a:cubicBezTo>
                    <a:pt x="398" y="110"/>
                    <a:pt x="382" y="75"/>
                    <a:pt x="382" y="75"/>
                  </a:cubicBezTo>
                  <a:lnTo>
                    <a:pt x="205" y="0"/>
                  </a:lnTo>
                </a:path>
              </a:pathLst>
            </a:custGeom>
            <a:noFill/>
            <a:ln w="28575" cap="rnd" cmpd="sng">
              <a:solidFill>
                <a:srgbClr val="008000"/>
              </a:solidFill>
              <a:prstDash val="sysDot"/>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sp>
          <p:nvSpPr>
            <p:cNvPr id="19495" name="Freeform 13"/>
            <p:cNvSpPr>
              <a:spLocks/>
            </p:cNvSpPr>
            <p:nvPr/>
          </p:nvSpPr>
          <p:spPr bwMode="auto">
            <a:xfrm rot="-5400000" flipH="1" flipV="1">
              <a:off x="3552" y="3168"/>
              <a:ext cx="240" cy="336"/>
            </a:xfrm>
            <a:custGeom>
              <a:avLst/>
              <a:gdLst>
                <a:gd name="T0" fmla="*/ 8 w 409"/>
                <a:gd name="T1" fmla="*/ 21 h 423"/>
                <a:gd name="T2" fmla="*/ 2 w 409"/>
                <a:gd name="T3" fmla="*/ 28 h 423"/>
                <a:gd name="T4" fmla="*/ 1 w 409"/>
                <a:gd name="T5" fmla="*/ 45 h 423"/>
                <a:gd name="T6" fmla="*/ 5 w 409"/>
                <a:gd name="T7" fmla="*/ 98 h 423"/>
                <a:gd name="T8" fmla="*/ 15 w 409"/>
                <a:gd name="T9" fmla="*/ 94 h 423"/>
                <a:gd name="T10" fmla="*/ 17 w 409"/>
                <a:gd name="T11" fmla="*/ 72 h 423"/>
                <a:gd name="T12" fmla="*/ 16 w 409"/>
                <a:gd name="T13" fmla="*/ 33 h 423"/>
                <a:gd name="T14" fmla="*/ 15 w 409"/>
                <a:gd name="T15" fmla="*/ 19 h 423"/>
                <a:gd name="T16" fmla="*/ 8 w 409"/>
                <a:gd name="T17" fmla="*/ 0 h 4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9" h="423">
                  <a:moveTo>
                    <a:pt x="193" y="84"/>
                  </a:moveTo>
                  <a:cubicBezTo>
                    <a:pt x="174" y="85"/>
                    <a:pt x="57" y="77"/>
                    <a:pt x="40" y="111"/>
                  </a:cubicBezTo>
                  <a:cubicBezTo>
                    <a:pt x="29" y="133"/>
                    <a:pt x="22" y="183"/>
                    <a:pt x="22" y="183"/>
                  </a:cubicBezTo>
                  <a:cubicBezTo>
                    <a:pt x="31" y="322"/>
                    <a:pt x="0" y="364"/>
                    <a:pt x="130" y="390"/>
                  </a:cubicBezTo>
                  <a:cubicBezTo>
                    <a:pt x="211" y="387"/>
                    <a:pt x="310" y="423"/>
                    <a:pt x="373" y="372"/>
                  </a:cubicBezTo>
                  <a:cubicBezTo>
                    <a:pt x="396" y="354"/>
                    <a:pt x="409" y="291"/>
                    <a:pt x="409" y="291"/>
                  </a:cubicBezTo>
                  <a:cubicBezTo>
                    <a:pt x="406" y="237"/>
                    <a:pt x="407" y="183"/>
                    <a:pt x="400" y="129"/>
                  </a:cubicBezTo>
                  <a:cubicBezTo>
                    <a:pt x="398" y="110"/>
                    <a:pt x="382" y="75"/>
                    <a:pt x="382" y="75"/>
                  </a:cubicBezTo>
                  <a:lnTo>
                    <a:pt x="205" y="0"/>
                  </a:lnTo>
                </a:path>
              </a:pathLst>
            </a:custGeom>
            <a:noFill/>
            <a:ln w="28575" cap="rnd" cmpd="sng">
              <a:solidFill>
                <a:srgbClr val="008000"/>
              </a:solidFill>
              <a:prstDash val="sysDot"/>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grpSp>
      <p:pic>
        <p:nvPicPr>
          <p:cNvPr id="19459"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52850" y="666750"/>
            <a:ext cx="5187950" cy="315277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60" name="Freeform 19"/>
          <p:cNvSpPr>
            <a:spLocks/>
          </p:cNvSpPr>
          <p:nvPr/>
        </p:nvSpPr>
        <p:spPr bwMode="auto">
          <a:xfrm>
            <a:off x="6650038" y="1143000"/>
            <a:ext cx="485775" cy="274638"/>
          </a:xfrm>
          <a:custGeom>
            <a:avLst/>
            <a:gdLst>
              <a:gd name="T0" fmla="*/ 2147483647 w 409"/>
              <a:gd name="T1" fmla="*/ 2147483647 h 423"/>
              <a:gd name="T2" fmla="*/ 2147483647 w 409"/>
              <a:gd name="T3" fmla="*/ 2147483647 h 423"/>
              <a:gd name="T4" fmla="*/ 2147483647 w 409"/>
              <a:gd name="T5" fmla="*/ 2147483647 h 423"/>
              <a:gd name="T6" fmla="*/ 2147483647 w 409"/>
              <a:gd name="T7" fmla="*/ 2147483647 h 423"/>
              <a:gd name="T8" fmla="*/ 2147483647 w 409"/>
              <a:gd name="T9" fmla="*/ 2147483647 h 423"/>
              <a:gd name="T10" fmla="*/ 2147483647 w 409"/>
              <a:gd name="T11" fmla="*/ 2147483647 h 423"/>
              <a:gd name="T12" fmla="*/ 2147483647 w 409"/>
              <a:gd name="T13" fmla="*/ 2147483647 h 423"/>
              <a:gd name="T14" fmla="*/ 2147483647 w 409"/>
              <a:gd name="T15" fmla="*/ 2147483647 h 423"/>
              <a:gd name="T16" fmla="*/ 2147483647 w 409"/>
              <a:gd name="T17" fmla="*/ 0 h 4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9" h="423">
                <a:moveTo>
                  <a:pt x="193" y="84"/>
                </a:moveTo>
                <a:cubicBezTo>
                  <a:pt x="174" y="85"/>
                  <a:pt x="57" y="77"/>
                  <a:pt x="40" y="111"/>
                </a:cubicBezTo>
                <a:cubicBezTo>
                  <a:pt x="29" y="133"/>
                  <a:pt x="22" y="183"/>
                  <a:pt x="22" y="183"/>
                </a:cubicBezTo>
                <a:cubicBezTo>
                  <a:pt x="31" y="322"/>
                  <a:pt x="0" y="364"/>
                  <a:pt x="130" y="390"/>
                </a:cubicBezTo>
                <a:cubicBezTo>
                  <a:pt x="211" y="387"/>
                  <a:pt x="310" y="423"/>
                  <a:pt x="373" y="372"/>
                </a:cubicBezTo>
                <a:cubicBezTo>
                  <a:pt x="396" y="354"/>
                  <a:pt x="409" y="291"/>
                  <a:pt x="409" y="291"/>
                </a:cubicBezTo>
                <a:cubicBezTo>
                  <a:pt x="406" y="237"/>
                  <a:pt x="407" y="183"/>
                  <a:pt x="400" y="129"/>
                </a:cubicBezTo>
                <a:cubicBezTo>
                  <a:pt x="398" y="110"/>
                  <a:pt x="382" y="75"/>
                  <a:pt x="382" y="75"/>
                </a:cubicBezTo>
                <a:lnTo>
                  <a:pt x="205" y="0"/>
                </a:lnTo>
              </a:path>
            </a:pathLst>
          </a:custGeom>
          <a:noFill/>
          <a:ln w="25400" cap="flat" cmpd="sng">
            <a:solidFill>
              <a:srgbClr val="FF0000"/>
            </a:solidFill>
            <a:prstDash val="lgDash"/>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sp>
        <p:nvSpPr>
          <p:cNvPr id="19461" name="Freeform 20"/>
          <p:cNvSpPr>
            <a:spLocks/>
          </p:cNvSpPr>
          <p:nvPr/>
        </p:nvSpPr>
        <p:spPr bwMode="auto">
          <a:xfrm rot="10800000" flipV="1">
            <a:off x="3733800" y="1143000"/>
            <a:ext cx="457200" cy="274638"/>
          </a:xfrm>
          <a:custGeom>
            <a:avLst/>
            <a:gdLst>
              <a:gd name="T0" fmla="*/ 2147483647 w 409"/>
              <a:gd name="T1" fmla="*/ 2147483647 h 423"/>
              <a:gd name="T2" fmla="*/ 2147483647 w 409"/>
              <a:gd name="T3" fmla="*/ 2147483647 h 423"/>
              <a:gd name="T4" fmla="*/ 2147483647 w 409"/>
              <a:gd name="T5" fmla="*/ 2147483647 h 423"/>
              <a:gd name="T6" fmla="*/ 2147483647 w 409"/>
              <a:gd name="T7" fmla="*/ 2147483647 h 423"/>
              <a:gd name="T8" fmla="*/ 2147483647 w 409"/>
              <a:gd name="T9" fmla="*/ 2147483647 h 423"/>
              <a:gd name="T10" fmla="*/ 2147483647 w 409"/>
              <a:gd name="T11" fmla="*/ 2147483647 h 423"/>
              <a:gd name="T12" fmla="*/ 2147483647 w 409"/>
              <a:gd name="T13" fmla="*/ 2147483647 h 423"/>
              <a:gd name="T14" fmla="*/ 2147483647 w 409"/>
              <a:gd name="T15" fmla="*/ 2147483647 h 423"/>
              <a:gd name="T16" fmla="*/ 2147483647 w 409"/>
              <a:gd name="T17" fmla="*/ 0 h 4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9" h="423">
                <a:moveTo>
                  <a:pt x="193" y="84"/>
                </a:moveTo>
                <a:cubicBezTo>
                  <a:pt x="174" y="85"/>
                  <a:pt x="57" y="77"/>
                  <a:pt x="40" y="111"/>
                </a:cubicBezTo>
                <a:cubicBezTo>
                  <a:pt x="29" y="133"/>
                  <a:pt x="22" y="183"/>
                  <a:pt x="22" y="183"/>
                </a:cubicBezTo>
                <a:cubicBezTo>
                  <a:pt x="31" y="322"/>
                  <a:pt x="0" y="364"/>
                  <a:pt x="130" y="390"/>
                </a:cubicBezTo>
                <a:cubicBezTo>
                  <a:pt x="211" y="387"/>
                  <a:pt x="310" y="423"/>
                  <a:pt x="373" y="372"/>
                </a:cubicBezTo>
                <a:cubicBezTo>
                  <a:pt x="396" y="354"/>
                  <a:pt x="409" y="291"/>
                  <a:pt x="409" y="291"/>
                </a:cubicBezTo>
                <a:cubicBezTo>
                  <a:pt x="406" y="237"/>
                  <a:pt x="407" y="183"/>
                  <a:pt x="400" y="129"/>
                </a:cubicBezTo>
                <a:cubicBezTo>
                  <a:pt x="398" y="110"/>
                  <a:pt x="382" y="75"/>
                  <a:pt x="382" y="75"/>
                </a:cubicBezTo>
                <a:lnTo>
                  <a:pt x="205" y="0"/>
                </a:lnTo>
              </a:path>
            </a:pathLst>
          </a:custGeom>
          <a:noFill/>
          <a:ln w="28575" cap="rnd" cmpd="sng">
            <a:solidFill>
              <a:srgbClr val="008000"/>
            </a:solidFill>
            <a:prstDash val="sysDot"/>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sp>
        <p:nvSpPr>
          <p:cNvPr id="19462" name="Freeform 21"/>
          <p:cNvSpPr>
            <a:spLocks/>
          </p:cNvSpPr>
          <p:nvPr/>
        </p:nvSpPr>
        <p:spPr bwMode="auto">
          <a:xfrm rot="10800000">
            <a:off x="6629400" y="685800"/>
            <a:ext cx="381000" cy="304800"/>
          </a:xfrm>
          <a:custGeom>
            <a:avLst/>
            <a:gdLst>
              <a:gd name="T0" fmla="*/ 2147483647 w 409"/>
              <a:gd name="T1" fmla="*/ 2147483647 h 423"/>
              <a:gd name="T2" fmla="*/ 2147483647 w 409"/>
              <a:gd name="T3" fmla="*/ 2147483647 h 423"/>
              <a:gd name="T4" fmla="*/ 2147483647 w 409"/>
              <a:gd name="T5" fmla="*/ 2147483647 h 423"/>
              <a:gd name="T6" fmla="*/ 2147483647 w 409"/>
              <a:gd name="T7" fmla="*/ 2147483647 h 423"/>
              <a:gd name="T8" fmla="*/ 2147483647 w 409"/>
              <a:gd name="T9" fmla="*/ 2147483647 h 423"/>
              <a:gd name="T10" fmla="*/ 2147483647 w 409"/>
              <a:gd name="T11" fmla="*/ 2147483647 h 423"/>
              <a:gd name="T12" fmla="*/ 2147483647 w 409"/>
              <a:gd name="T13" fmla="*/ 2147483647 h 423"/>
              <a:gd name="T14" fmla="*/ 2147483647 w 409"/>
              <a:gd name="T15" fmla="*/ 2147483647 h 423"/>
              <a:gd name="T16" fmla="*/ 2147483647 w 409"/>
              <a:gd name="T17" fmla="*/ 0 h 4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9" h="423">
                <a:moveTo>
                  <a:pt x="193" y="84"/>
                </a:moveTo>
                <a:cubicBezTo>
                  <a:pt x="174" y="85"/>
                  <a:pt x="57" y="77"/>
                  <a:pt x="40" y="111"/>
                </a:cubicBezTo>
                <a:cubicBezTo>
                  <a:pt x="29" y="133"/>
                  <a:pt x="22" y="183"/>
                  <a:pt x="22" y="183"/>
                </a:cubicBezTo>
                <a:cubicBezTo>
                  <a:pt x="31" y="322"/>
                  <a:pt x="0" y="364"/>
                  <a:pt x="130" y="390"/>
                </a:cubicBezTo>
                <a:cubicBezTo>
                  <a:pt x="211" y="387"/>
                  <a:pt x="310" y="423"/>
                  <a:pt x="373" y="372"/>
                </a:cubicBezTo>
                <a:cubicBezTo>
                  <a:pt x="396" y="354"/>
                  <a:pt x="409" y="291"/>
                  <a:pt x="409" y="291"/>
                </a:cubicBezTo>
                <a:cubicBezTo>
                  <a:pt x="406" y="237"/>
                  <a:pt x="407" y="183"/>
                  <a:pt x="400" y="129"/>
                </a:cubicBezTo>
                <a:cubicBezTo>
                  <a:pt x="398" y="110"/>
                  <a:pt x="382" y="75"/>
                  <a:pt x="382" y="75"/>
                </a:cubicBezTo>
                <a:lnTo>
                  <a:pt x="205" y="0"/>
                </a:lnTo>
              </a:path>
            </a:pathLst>
          </a:custGeom>
          <a:noFill/>
          <a:ln w="28575" cap="rnd" cmpd="sng">
            <a:solidFill>
              <a:srgbClr val="008000"/>
            </a:solidFill>
            <a:prstDash val="sysDot"/>
            <a:round/>
            <a:headEnd/>
            <a:tailEnd/>
          </a:ln>
          <a:effectLst/>
          <a:extLst>
            <a:ext uri="{909E8E84-426E-40DD-AFC4-6F175D3DCCD1}">
              <a14:hiddenFill xmlns:a14="http://schemas.microsoft.com/office/drawing/2010/main">
                <a:solidFill>
                  <a:srgbClr val="C0C0C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sp>
        <p:nvSpPr>
          <p:cNvPr id="19463" name="Line 49"/>
          <p:cNvSpPr>
            <a:spLocks noChangeShapeType="1"/>
          </p:cNvSpPr>
          <p:nvPr/>
        </p:nvSpPr>
        <p:spPr bwMode="auto">
          <a:xfrm flipH="1" flipV="1">
            <a:off x="4114800" y="1371600"/>
            <a:ext cx="1600200" cy="3733800"/>
          </a:xfrm>
          <a:prstGeom prst="line">
            <a:avLst/>
          </a:prstGeom>
          <a:noFill/>
          <a:ln w="9525">
            <a:solidFill>
              <a:srgbClr val="0033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sp>
        <p:nvSpPr>
          <p:cNvPr id="19464" name="Line 50"/>
          <p:cNvSpPr>
            <a:spLocks noChangeShapeType="1"/>
          </p:cNvSpPr>
          <p:nvPr/>
        </p:nvSpPr>
        <p:spPr bwMode="auto">
          <a:xfrm flipV="1">
            <a:off x="6477000" y="914400"/>
            <a:ext cx="152400" cy="4191000"/>
          </a:xfrm>
          <a:prstGeom prst="line">
            <a:avLst/>
          </a:prstGeom>
          <a:noFill/>
          <a:ln w="9525">
            <a:solidFill>
              <a:srgbClr val="0033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sp>
        <p:nvSpPr>
          <p:cNvPr id="19465" name="Line 51"/>
          <p:cNvSpPr>
            <a:spLocks noChangeShapeType="1"/>
          </p:cNvSpPr>
          <p:nvPr/>
        </p:nvSpPr>
        <p:spPr bwMode="auto">
          <a:xfrm flipH="1" flipV="1">
            <a:off x="7010400" y="1447800"/>
            <a:ext cx="1066800" cy="3657600"/>
          </a:xfrm>
          <a:prstGeom prst="line">
            <a:avLst/>
          </a:prstGeom>
          <a:noFill/>
          <a:ln w="9525">
            <a:solidFill>
              <a:srgbClr val="80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sp>
        <p:nvSpPr>
          <p:cNvPr id="19466" name="Text Box 55"/>
          <p:cNvSpPr txBox="1">
            <a:spLocks noChangeArrowheads="1"/>
          </p:cNvSpPr>
          <p:nvPr/>
        </p:nvSpPr>
        <p:spPr bwMode="auto">
          <a:xfrm>
            <a:off x="4495800" y="5715000"/>
            <a:ext cx="4191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a:t>Para buscar un valor de </a:t>
            </a:r>
            <a:r>
              <a:rPr lang="es-ES_tradnl" altLang="es-ES" sz="1600">
                <a:latin typeface="Symbol" pitchFamily="18" charset="2"/>
              </a:rPr>
              <a:t>a</a:t>
            </a:r>
            <a:r>
              <a:rPr lang="es-ES_tradnl" altLang="es-ES" sz="1400"/>
              <a:t> con dos decimales se debe sumar la primera columna (primer decimal) y la primera fila (segundo decimal)</a:t>
            </a:r>
            <a:endParaRPr lang="es-ES" altLang="es-ES" sz="1400"/>
          </a:p>
        </p:txBody>
      </p:sp>
      <p:sp>
        <p:nvSpPr>
          <p:cNvPr id="19467" name="Text Box 13"/>
          <p:cNvSpPr txBox="1">
            <a:spLocks noChangeArrowheads="1"/>
          </p:cNvSpPr>
          <p:nvPr/>
        </p:nvSpPr>
        <p:spPr bwMode="auto">
          <a:xfrm>
            <a:off x="161925" y="397729"/>
            <a:ext cx="3028950"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600" b="1" dirty="0"/>
              <a:t>Distribución normal estándar</a:t>
            </a:r>
            <a:endParaRPr lang="es-ES" altLang="es-ES" sz="1600" b="1" dirty="0"/>
          </a:p>
        </p:txBody>
      </p:sp>
      <p:sp>
        <p:nvSpPr>
          <p:cNvPr id="19468" name="AutoShape 51"/>
          <p:cNvSpPr>
            <a:spLocks noChangeArrowheads="1"/>
          </p:cNvSpPr>
          <p:nvPr/>
        </p:nvSpPr>
        <p:spPr bwMode="auto">
          <a:xfrm>
            <a:off x="533400" y="1244600"/>
            <a:ext cx="2971800" cy="2489200"/>
          </a:xfrm>
          <a:prstGeom prst="roundRect">
            <a:avLst>
              <a:gd name="adj" fmla="val 5449"/>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nvGrpSpPr>
          <p:cNvPr id="19469" name="Group 72"/>
          <p:cNvGrpSpPr>
            <a:grpSpLocks/>
          </p:cNvGrpSpPr>
          <p:nvPr/>
        </p:nvGrpSpPr>
        <p:grpSpPr bwMode="auto">
          <a:xfrm>
            <a:off x="755650" y="1417638"/>
            <a:ext cx="2520950" cy="2095500"/>
            <a:chOff x="384" y="1040"/>
            <a:chExt cx="1588" cy="1320"/>
          </a:xfrm>
        </p:grpSpPr>
        <p:sp>
          <p:nvSpPr>
            <p:cNvPr id="19488" name="Text Box 42"/>
            <p:cNvSpPr txBox="1">
              <a:spLocks noChangeArrowheads="1"/>
            </p:cNvSpPr>
            <p:nvPr/>
          </p:nvSpPr>
          <p:spPr bwMode="auto">
            <a:xfrm>
              <a:off x="384" y="1040"/>
              <a:ext cx="1588" cy="101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Para una confianza del 95% :</a:t>
              </a:r>
            </a:p>
            <a:p>
              <a:pPr eaLnBrk="1" hangingPunct="1"/>
              <a:endParaRPr lang="es-ES_tradnl" altLang="es-ES" sz="1400"/>
            </a:p>
            <a:p>
              <a:pPr eaLnBrk="1" hangingPunct="1"/>
              <a:endParaRPr lang="es-ES_tradnl" altLang="es-ES" sz="1400"/>
            </a:p>
            <a:p>
              <a:pPr eaLnBrk="1" hangingPunct="1"/>
              <a:r>
                <a:rPr lang="es-ES_tradnl" altLang="es-ES" sz="1400"/>
                <a:t>Entonces</a:t>
              </a:r>
            </a:p>
            <a:p>
              <a:pPr eaLnBrk="1" hangingPunct="1"/>
              <a:endParaRPr lang="es-ES_tradnl" altLang="es-ES" sz="1400"/>
            </a:p>
            <a:p>
              <a:pPr eaLnBrk="1" hangingPunct="1"/>
              <a:endParaRPr lang="es-ES" altLang="es-ES" sz="1400"/>
            </a:p>
            <a:p>
              <a:pPr eaLnBrk="1" hangingPunct="1"/>
              <a:r>
                <a:rPr lang="es-ES_tradnl" altLang="es-ES" sz="1400"/>
                <a:t>Así que tenemos que</a:t>
              </a:r>
              <a:endParaRPr lang="es-ES" altLang="es-ES" sz="1400"/>
            </a:p>
          </p:txBody>
        </p:sp>
        <p:graphicFrame>
          <p:nvGraphicFramePr>
            <p:cNvPr id="19489" name="Object 43"/>
            <p:cNvGraphicFramePr>
              <a:graphicFrameLocks noChangeAspect="1"/>
            </p:cNvGraphicFramePr>
            <p:nvPr/>
          </p:nvGraphicFramePr>
          <p:xfrm>
            <a:off x="916" y="2168"/>
            <a:ext cx="538" cy="192"/>
          </p:xfrm>
          <a:graphic>
            <a:graphicData uri="http://schemas.openxmlformats.org/presentationml/2006/ole">
              <mc:AlternateContent xmlns:mc="http://schemas.openxmlformats.org/markup-compatibility/2006">
                <mc:Choice xmlns:v="urn:schemas-microsoft-com:vml" Requires="v">
                  <p:oleObj name="Equation" r:id="rId5" imgW="685800" imgH="228600" progId="Equation.DSMT4">
                    <p:embed/>
                  </p:oleObj>
                </mc:Choice>
                <mc:Fallback>
                  <p:oleObj name="Equation" r:id="rId5" imgW="685800" imgH="228600" progId="Equation.DSMT4">
                    <p:embed/>
                    <p:pic>
                      <p:nvPicPr>
                        <p:cNvPr id="19489" name="Object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6" y="2168"/>
                          <a:ext cx="5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90" name="Object 44"/>
            <p:cNvGraphicFramePr>
              <a:graphicFrameLocks noChangeAspect="1"/>
            </p:cNvGraphicFramePr>
            <p:nvPr/>
          </p:nvGraphicFramePr>
          <p:xfrm>
            <a:off x="935" y="1638"/>
            <a:ext cx="485" cy="154"/>
          </p:xfrm>
          <a:graphic>
            <a:graphicData uri="http://schemas.openxmlformats.org/presentationml/2006/ole">
              <mc:AlternateContent xmlns:mc="http://schemas.openxmlformats.org/markup-compatibility/2006">
                <mc:Choice xmlns:v="urn:schemas-microsoft-com:vml" Requires="v">
                  <p:oleObj name="Equation" r:id="rId7" imgW="558558" imgH="177723" progId="Equation.DSMT4">
                    <p:embed/>
                  </p:oleObj>
                </mc:Choice>
                <mc:Fallback>
                  <p:oleObj name="Equation" r:id="rId7" imgW="558558" imgH="177723" progId="Equation.DSMT4">
                    <p:embed/>
                    <p:pic>
                      <p:nvPicPr>
                        <p:cNvPr id="19490" name="Object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5" y="1638"/>
                          <a:ext cx="4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491" name="Object 45"/>
            <p:cNvGraphicFramePr>
              <a:graphicFrameLocks noChangeAspect="1"/>
            </p:cNvGraphicFramePr>
            <p:nvPr/>
          </p:nvGraphicFramePr>
          <p:xfrm>
            <a:off x="874" y="1280"/>
            <a:ext cx="671" cy="160"/>
          </p:xfrm>
          <a:graphic>
            <a:graphicData uri="http://schemas.openxmlformats.org/presentationml/2006/ole">
              <mc:AlternateContent xmlns:mc="http://schemas.openxmlformats.org/markup-compatibility/2006">
                <mc:Choice xmlns:v="urn:schemas-microsoft-com:vml" Requires="v">
                  <p:oleObj name="Equation" r:id="rId9" imgW="850531" imgH="203112" progId="Equation.DSMT4">
                    <p:embed/>
                  </p:oleObj>
                </mc:Choice>
                <mc:Fallback>
                  <p:oleObj name="Equation" r:id="rId9" imgW="850531" imgH="203112" progId="Equation.DSMT4">
                    <p:embed/>
                    <p:pic>
                      <p:nvPicPr>
                        <p:cNvPr id="19491" name="Object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4" y="1280"/>
                          <a:ext cx="671"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9470" name="Rectangle 46"/>
          <p:cNvSpPr>
            <a:spLocks noChangeArrowheads="1"/>
          </p:cNvSpPr>
          <p:nvPr/>
        </p:nvSpPr>
        <p:spPr bwMode="auto">
          <a:xfrm>
            <a:off x="625475" y="1041400"/>
            <a:ext cx="2805113"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600"/>
              <a:t>¿Cómo buscar un valor       ?</a:t>
            </a:r>
          </a:p>
        </p:txBody>
      </p:sp>
      <p:graphicFrame>
        <p:nvGraphicFramePr>
          <p:cNvPr id="19471" name="Object 47"/>
          <p:cNvGraphicFramePr>
            <a:graphicFrameLocks noChangeAspect="1"/>
          </p:cNvGraphicFramePr>
          <p:nvPr/>
        </p:nvGraphicFramePr>
        <p:xfrm>
          <a:off x="2916238" y="990600"/>
          <a:ext cx="355600" cy="457200"/>
        </p:xfrm>
        <a:graphic>
          <a:graphicData uri="http://schemas.openxmlformats.org/presentationml/2006/ole">
            <mc:AlternateContent xmlns:mc="http://schemas.openxmlformats.org/markup-compatibility/2006">
              <mc:Choice xmlns:v="urn:schemas-microsoft-com:vml" Requires="v">
                <p:oleObj name="Equation" r:id="rId11" imgW="177646" imgH="228402" progId="Equation.DSMT4">
                  <p:embed/>
                </p:oleObj>
              </mc:Choice>
              <mc:Fallback>
                <p:oleObj name="Equation" r:id="rId11" imgW="177646" imgH="228402" progId="Equation.DSMT4">
                  <p:embed/>
                  <p:pic>
                    <p:nvPicPr>
                      <p:cNvPr id="19471" name="Object 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16238" y="990600"/>
                        <a:ext cx="355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9472" name="Group 69"/>
          <p:cNvGrpSpPr>
            <a:grpSpLocks/>
          </p:cNvGrpSpPr>
          <p:nvPr/>
        </p:nvGrpSpPr>
        <p:grpSpPr bwMode="auto">
          <a:xfrm>
            <a:off x="533400" y="4495800"/>
            <a:ext cx="2819400" cy="2286000"/>
            <a:chOff x="432" y="2928"/>
            <a:chExt cx="1548" cy="1124"/>
          </a:xfrm>
        </p:grpSpPr>
        <p:grpSp>
          <p:nvGrpSpPr>
            <p:cNvPr id="19475" name="Group 55"/>
            <p:cNvGrpSpPr>
              <a:grpSpLocks/>
            </p:cNvGrpSpPr>
            <p:nvPr/>
          </p:nvGrpSpPr>
          <p:grpSpPr bwMode="auto">
            <a:xfrm>
              <a:off x="432" y="2928"/>
              <a:ext cx="1548" cy="849"/>
              <a:chOff x="432" y="2928"/>
              <a:chExt cx="1548" cy="849"/>
            </a:xfrm>
          </p:grpSpPr>
          <p:pic>
            <p:nvPicPr>
              <p:cNvPr id="19486" name="Picture 5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2" y="2928"/>
                <a:ext cx="1536" cy="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87" name="Line 54"/>
              <p:cNvSpPr>
                <a:spLocks noChangeShapeType="1"/>
              </p:cNvSpPr>
              <p:nvPr/>
            </p:nvSpPr>
            <p:spPr bwMode="auto">
              <a:xfrm>
                <a:off x="444" y="3777"/>
                <a:ext cx="153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19476" name="Group 61"/>
            <p:cNvGrpSpPr>
              <a:grpSpLocks/>
            </p:cNvGrpSpPr>
            <p:nvPr/>
          </p:nvGrpSpPr>
          <p:grpSpPr bwMode="auto">
            <a:xfrm>
              <a:off x="854" y="3600"/>
              <a:ext cx="712" cy="240"/>
              <a:chOff x="854" y="3600"/>
              <a:chExt cx="712" cy="240"/>
            </a:xfrm>
          </p:grpSpPr>
          <p:sp>
            <p:nvSpPr>
              <p:cNvPr id="19484" name="Line 59"/>
              <p:cNvSpPr>
                <a:spLocks noChangeShapeType="1"/>
              </p:cNvSpPr>
              <p:nvPr/>
            </p:nvSpPr>
            <p:spPr bwMode="auto">
              <a:xfrm>
                <a:off x="1566" y="3600"/>
                <a:ext cx="0" cy="24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9485" name="Line 60"/>
              <p:cNvSpPr>
                <a:spLocks noChangeShapeType="1"/>
              </p:cNvSpPr>
              <p:nvPr/>
            </p:nvSpPr>
            <p:spPr bwMode="auto">
              <a:xfrm>
                <a:off x="854" y="3600"/>
                <a:ext cx="0" cy="24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aphicFrame>
          <p:nvGraphicFramePr>
            <p:cNvPr id="19477" name="Object 62"/>
            <p:cNvGraphicFramePr>
              <a:graphicFrameLocks noChangeAspect="1"/>
            </p:cNvGraphicFramePr>
            <p:nvPr/>
          </p:nvGraphicFramePr>
          <p:xfrm>
            <a:off x="1538" y="3828"/>
            <a:ext cx="336" cy="224"/>
          </p:xfrm>
          <a:graphic>
            <a:graphicData uri="http://schemas.openxmlformats.org/presentationml/2006/ole">
              <mc:AlternateContent xmlns:mc="http://schemas.openxmlformats.org/markup-compatibility/2006">
                <mc:Choice xmlns:v="urn:schemas-microsoft-com:vml" Requires="v">
                  <p:oleObj name="Equation" r:id="rId14" imgW="685800" imgH="457200" progId="Equation.DSMT4">
                    <p:embed/>
                  </p:oleObj>
                </mc:Choice>
                <mc:Fallback>
                  <p:oleObj name="Equation" r:id="rId14" imgW="685800" imgH="457200" progId="Equation.DSMT4">
                    <p:embed/>
                    <p:pic>
                      <p:nvPicPr>
                        <p:cNvPr id="19477" name="Object 6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38" y="3828"/>
                          <a:ext cx="336"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78" name="Object 63"/>
            <p:cNvGraphicFramePr>
              <a:graphicFrameLocks noChangeAspect="1"/>
            </p:cNvGraphicFramePr>
            <p:nvPr/>
          </p:nvGraphicFramePr>
          <p:xfrm>
            <a:off x="770" y="3828"/>
            <a:ext cx="429" cy="224"/>
          </p:xfrm>
          <a:graphic>
            <a:graphicData uri="http://schemas.openxmlformats.org/presentationml/2006/ole">
              <mc:AlternateContent xmlns:mc="http://schemas.openxmlformats.org/markup-compatibility/2006">
                <mc:Choice xmlns:v="urn:schemas-microsoft-com:vml" Requires="v">
                  <p:oleObj name="Equation" r:id="rId16" imgW="876300" imgH="457200" progId="Equation.DSMT4">
                    <p:embed/>
                  </p:oleObj>
                </mc:Choice>
                <mc:Fallback>
                  <p:oleObj name="Equation" r:id="rId16" imgW="876300" imgH="457200" progId="Equation.DSMT4">
                    <p:embed/>
                    <p:pic>
                      <p:nvPicPr>
                        <p:cNvPr id="19478" name="Object 6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70" y="3828"/>
                          <a:ext cx="429"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79" name="Object 64"/>
            <p:cNvGraphicFramePr>
              <a:graphicFrameLocks noChangeAspect="1"/>
            </p:cNvGraphicFramePr>
            <p:nvPr/>
          </p:nvGraphicFramePr>
          <p:xfrm>
            <a:off x="480" y="3456"/>
            <a:ext cx="299" cy="198"/>
          </p:xfrm>
          <a:graphic>
            <a:graphicData uri="http://schemas.openxmlformats.org/presentationml/2006/ole">
              <mc:AlternateContent xmlns:mc="http://schemas.openxmlformats.org/markup-compatibility/2006">
                <mc:Choice xmlns:v="urn:schemas-microsoft-com:vml" Requires="v">
                  <p:oleObj name="Equation" r:id="rId18" imgW="609336" imgH="406224" progId="Equation.DSMT4">
                    <p:embed/>
                  </p:oleObj>
                </mc:Choice>
                <mc:Fallback>
                  <p:oleObj name="Equation" r:id="rId18" imgW="609336" imgH="406224" progId="Equation.DSMT4">
                    <p:embed/>
                    <p:pic>
                      <p:nvPicPr>
                        <p:cNvPr id="19479" name="Object 6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0" y="3456"/>
                          <a:ext cx="299"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480" name="Object 65"/>
            <p:cNvGraphicFramePr>
              <a:graphicFrameLocks noChangeAspect="1"/>
            </p:cNvGraphicFramePr>
            <p:nvPr/>
          </p:nvGraphicFramePr>
          <p:xfrm>
            <a:off x="1621" y="3456"/>
            <a:ext cx="299" cy="198"/>
          </p:xfrm>
          <a:graphic>
            <a:graphicData uri="http://schemas.openxmlformats.org/presentationml/2006/ole">
              <mc:AlternateContent xmlns:mc="http://schemas.openxmlformats.org/markup-compatibility/2006">
                <mc:Choice xmlns:v="urn:schemas-microsoft-com:vml" Requires="v">
                  <p:oleObj name="Equation" r:id="rId20" imgW="609336" imgH="406224" progId="Equation.DSMT4">
                    <p:embed/>
                  </p:oleObj>
                </mc:Choice>
                <mc:Fallback>
                  <p:oleObj name="Equation" r:id="rId20" imgW="609336" imgH="406224" progId="Equation.DSMT4">
                    <p:embed/>
                    <p:pic>
                      <p:nvPicPr>
                        <p:cNvPr id="19480" name="Object 6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621" y="3456"/>
                          <a:ext cx="299"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81" name="Line 66"/>
            <p:cNvSpPr>
              <a:spLocks noChangeShapeType="1"/>
            </p:cNvSpPr>
            <p:nvPr/>
          </p:nvSpPr>
          <p:spPr bwMode="auto">
            <a:xfrm flipH="1" flipV="1">
              <a:off x="672" y="3648"/>
              <a:ext cx="96" cy="96"/>
            </a:xfrm>
            <a:prstGeom prst="line">
              <a:avLst/>
            </a:prstGeom>
            <a:noFill/>
            <a:ln w="9525">
              <a:solidFill>
                <a:srgbClr val="99CCFF"/>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19482" name="Line 67"/>
            <p:cNvSpPr>
              <a:spLocks noChangeShapeType="1"/>
            </p:cNvSpPr>
            <p:nvPr/>
          </p:nvSpPr>
          <p:spPr bwMode="auto">
            <a:xfrm flipV="1">
              <a:off x="1680" y="3648"/>
              <a:ext cx="48" cy="96"/>
            </a:xfrm>
            <a:prstGeom prst="line">
              <a:avLst/>
            </a:prstGeom>
            <a:noFill/>
            <a:ln w="9525">
              <a:solidFill>
                <a:srgbClr val="99CCFF"/>
              </a:solidFill>
              <a:round/>
              <a:headEnd type="oval"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aphicFrame>
          <p:nvGraphicFramePr>
            <p:cNvPr id="19483" name="Object 68"/>
            <p:cNvGraphicFramePr>
              <a:graphicFrameLocks noChangeAspect="1"/>
            </p:cNvGraphicFramePr>
            <p:nvPr/>
          </p:nvGraphicFramePr>
          <p:xfrm>
            <a:off x="1092" y="3312"/>
            <a:ext cx="212" cy="199"/>
          </p:xfrm>
          <a:graphic>
            <a:graphicData uri="http://schemas.openxmlformats.org/presentationml/2006/ole">
              <mc:AlternateContent xmlns:mc="http://schemas.openxmlformats.org/markup-compatibility/2006">
                <mc:Choice xmlns:v="urn:schemas-microsoft-com:vml" Requires="v">
                  <p:oleObj name="Equation" r:id="rId22" imgW="431613" imgH="406224" progId="Equation.DSMT4">
                    <p:embed/>
                  </p:oleObj>
                </mc:Choice>
                <mc:Fallback>
                  <p:oleObj name="Equation" r:id="rId22" imgW="431613" imgH="406224" progId="Equation.DSMT4">
                    <p:embed/>
                    <p:pic>
                      <p:nvPicPr>
                        <p:cNvPr id="19483" name="Object 68"/>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92" y="3312"/>
                          <a:ext cx="212"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9473" name="Text Box 55"/>
          <p:cNvSpPr txBox="1">
            <a:spLocks noChangeArrowheads="1"/>
          </p:cNvSpPr>
          <p:nvPr/>
        </p:nvSpPr>
        <p:spPr bwMode="auto">
          <a:xfrm>
            <a:off x="539750" y="3886200"/>
            <a:ext cx="311785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 altLang="es-ES" sz="1400"/>
              <a:t>Observe que </a:t>
            </a:r>
            <a:r>
              <a:rPr lang="es-ES" altLang="es-ES" sz="1600" i="1">
                <a:latin typeface="Times New Roman" pitchFamily="18" charset="0"/>
              </a:rPr>
              <a:t>z</a:t>
            </a:r>
            <a:r>
              <a:rPr lang="es-ES" altLang="es-ES" sz="1400" baseline="-25000">
                <a:latin typeface="Symbol" pitchFamily="18" charset="2"/>
              </a:rPr>
              <a:t>a</a:t>
            </a:r>
            <a:r>
              <a:rPr lang="es-ES" altLang="es-ES" sz="1400"/>
              <a:t> es el percentil 1-</a:t>
            </a:r>
            <a:r>
              <a:rPr lang="es-ES" altLang="es-ES" sz="1600">
                <a:latin typeface="Symbol" pitchFamily="18" charset="2"/>
              </a:rPr>
              <a:t>a</a:t>
            </a:r>
            <a:r>
              <a:rPr lang="es-ES" altLang="es-ES" sz="1400"/>
              <a:t>/2 de la distribución:</a:t>
            </a:r>
          </a:p>
        </p:txBody>
      </p:sp>
      <p:sp>
        <p:nvSpPr>
          <p:cNvPr id="41"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
        <p:nvSpPr>
          <p:cNvPr id="3" name="TextBox 2">
            <a:extLst>
              <a:ext uri="{FF2B5EF4-FFF2-40B4-BE49-F238E27FC236}">
                <a16:creationId xmlns:a16="http://schemas.microsoft.com/office/drawing/2014/main" id="{FCF05404-276E-440A-F8A8-3DBEB69F7BBE}"/>
              </a:ext>
            </a:extLst>
          </p:cNvPr>
          <p:cNvSpPr txBox="1"/>
          <p:nvPr/>
        </p:nvSpPr>
        <p:spPr>
          <a:xfrm>
            <a:off x="2282825" y="4444495"/>
            <a:ext cx="4578350" cy="461665"/>
          </a:xfrm>
          <a:prstGeom prst="rect">
            <a:avLst/>
          </a:prstGeom>
          <a:noFill/>
        </p:spPr>
        <p:txBody>
          <a:bodyPr wrap="square">
            <a:spAutoFit/>
          </a:bodyPr>
          <a:lstStyle/>
          <a:p>
            <a:r>
              <a:rPr lang="en-US" dirty="0">
                <a:hlinkClick r:id="rId24"/>
              </a:rPr>
              <a:t>https://www.geogebra.org/m/upke9x5y</a:t>
            </a:r>
            <a:endParaRPr lang="en-US" dirty="0"/>
          </a:p>
          <a:p>
            <a:endParaRPr lang="en-US" dirty="0"/>
          </a:p>
        </p:txBody>
      </p:sp>
    </p:spTree>
    <p:extLst>
      <p:ext uri="{BB962C8B-B14F-4D97-AF65-F5344CB8AC3E}">
        <p14:creationId xmlns:p14="http://schemas.microsoft.com/office/powerpoint/2010/main" val="4208669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05C2BD-F05E-B440-A143-F71ED98A4AAD}"/>
              </a:ext>
            </a:extLst>
          </p:cNvPr>
          <p:cNvSpPr txBox="1"/>
          <p:nvPr/>
        </p:nvSpPr>
        <p:spPr>
          <a:xfrm>
            <a:off x="457200" y="152400"/>
            <a:ext cx="7239000" cy="5262979"/>
          </a:xfrm>
          <a:prstGeom prst="rect">
            <a:avLst/>
          </a:prstGeom>
          <a:noFill/>
        </p:spPr>
        <p:txBody>
          <a:bodyPr wrap="square">
            <a:spAutoFit/>
          </a:bodyPr>
          <a:lstStyle/>
          <a:p>
            <a:r>
              <a:rPr lang="en-US" sz="2400" dirty="0"/>
              <a:t># CUANTILES DISTRIBUCION NORMAL</a:t>
            </a:r>
          </a:p>
          <a:p>
            <a:endParaRPr lang="en-US" sz="2400" dirty="0"/>
          </a:p>
          <a:p>
            <a:r>
              <a:rPr lang="en-US" sz="2400" dirty="0"/>
              <a:t># NC 90%</a:t>
            </a:r>
          </a:p>
          <a:p>
            <a:r>
              <a:rPr lang="en-US" sz="2400" dirty="0" err="1"/>
              <a:t>qnorm</a:t>
            </a:r>
            <a:r>
              <a:rPr lang="en-US" sz="2400" dirty="0"/>
              <a:t>(0.95)</a:t>
            </a:r>
          </a:p>
          <a:p>
            <a:r>
              <a:rPr lang="en-US" sz="2400" dirty="0"/>
              <a:t>[1] 1.644854</a:t>
            </a:r>
          </a:p>
          <a:p>
            <a:r>
              <a:rPr lang="en-US" sz="2400" dirty="0"/>
              <a:t># NC 95% </a:t>
            </a:r>
          </a:p>
          <a:p>
            <a:r>
              <a:rPr lang="en-US" sz="2400" dirty="0" err="1"/>
              <a:t>qnorm</a:t>
            </a:r>
            <a:r>
              <a:rPr lang="en-US" sz="2400" dirty="0"/>
              <a:t>(0.975)</a:t>
            </a:r>
          </a:p>
          <a:p>
            <a:r>
              <a:rPr lang="en-US" sz="2400" dirty="0"/>
              <a:t>[1] 1.959964</a:t>
            </a:r>
          </a:p>
          <a:p>
            <a:r>
              <a:rPr lang="en-US" sz="2400" dirty="0"/>
              <a:t># NC 98%</a:t>
            </a:r>
          </a:p>
          <a:p>
            <a:r>
              <a:rPr lang="en-US" sz="2400" dirty="0" err="1"/>
              <a:t>qnorm</a:t>
            </a:r>
            <a:r>
              <a:rPr lang="en-US" sz="2400" dirty="0"/>
              <a:t>(0.99)</a:t>
            </a:r>
          </a:p>
          <a:p>
            <a:r>
              <a:rPr lang="en-US" sz="2400" dirty="0"/>
              <a:t>[1] 2.326348</a:t>
            </a:r>
          </a:p>
          <a:p>
            <a:r>
              <a:rPr lang="en-US" sz="2400" dirty="0"/>
              <a:t># NC 99%</a:t>
            </a:r>
          </a:p>
          <a:p>
            <a:r>
              <a:rPr lang="en-US" sz="2400" dirty="0"/>
              <a:t> </a:t>
            </a:r>
            <a:r>
              <a:rPr lang="en-US" sz="2400" dirty="0" err="1"/>
              <a:t>qnorm</a:t>
            </a:r>
            <a:r>
              <a:rPr lang="en-US" sz="2400" dirty="0"/>
              <a:t>(0.995)</a:t>
            </a:r>
          </a:p>
          <a:p>
            <a:r>
              <a:rPr lang="en-US" sz="2400" dirty="0"/>
              <a:t>[1] 2.575829</a:t>
            </a:r>
          </a:p>
        </p:txBody>
      </p:sp>
      <p:sp>
        <p:nvSpPr>
          <p:cNvPr id="5" name="TextBox 4">
            <a:extLst>
              <a:ext uri="{FF2B5EF4-FFF2-40B4-BE49-F238E27FC236}">
                <a16:creationId xmlns:a16="http://schemas.microsoft.com/office/drawing/2014/main" id="{EC0459B9-186F-6D94-7D15-93E9168203EA}"/>
              </a:ext>
            </a:extLst>
          </p:cNvPr>
          <p:cNvSpPr txBox="1"/>
          <p:nvPr/>
        </p:nvSpPr>
        <p:spPr>
          <a:xfrm>
            <a:off x="3352800" y="2137558"/>
            <a:ext cx="4578350" cy="646331"/>
          </a:xfrm>
          <a:prstGeom prst="rect">
            <a:avLst/>
          </a:prstGeom>
          <a:noFill/>
        </p:spPr>
        <p:txBody>
          <a:bodyPr wrap="square">
            <a:spAutoFit/>
          </a:bodyPr>
          <a:lstStyle/>
          <a:p>
            <a:r>
              <a:rPr lang="en-US" sz="1200" dirty="0"/>
              <a:t># NC 95%</a:t>
            </a:r>
          </a:p>
          <a:p>
            <a:r>
              <a:rPr lang="en-US" sz="1200" dirty="0" err="1"/>
              <a:t>qnorm</a:t>
            </a:r>
            <a:r>
              <a:rPr lang="en-US" sz="1200" dirty="0"/>
              <a:t>(c(0.975), mean=0, </a:t>
            </a:r>
            <a:r>
              <a:rPr lang="en-US" sz="1200" dirty="0" err="1"/>
              <a:t>sd</a:t>
            </a:r>
            <a:r>
              <a:rPr lang="en-US" sz="1200" dirty="0"/>
              <a:t>=1, </a:t>
            </a:r>
            <a:r>
              <a:rPr lang="en-US" sz="1200" dirty="0" err="1"/>
              <a:t>lower.tail</a:t>
            </a:r>
            <a:r>
              <a:rPr lang="en-US" sz="1200" dirty="0"/>
              <a:t>=TRUE)</a:t>
            </a:r>
          </a:p>
          <a:p>
            <a:r>
              <a:rPr lang="en-US" sz="1200" dirty="0"/>
              <a:t>[1] 1.959964</a:t>
            </a:r>
          </a:p>
        </p:txBody>
      </p:sp>
    </p:spTree>
    <p:extLst>
      <p:ext uri="{BB962C8B-B14F-4D97-AF65-F5344CB8AC3E}">
        <p14:creationId xmlns:p14="http://schemas.microsoft.com/office/powerpoint/2010/main" val="3657401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5"/>
          <p:cNvGraphicFramePr>
            <a:graphicFrameLocks noChangeAspect="1"/>
          </p:cNvGraphicFramePr>
          <p:nvPr>
            <p:extLst>
              <p:ext uri="{D42A27DB-BD31-4B8C-83A1-F6EECF244321}">
                <p14:modId xmlns:p14="http://schemas.microsoft.com/office/powerpoint/2010/main" val="3925966900"/>
              </p:ext>
            </p:extLst>
          </p:nvPr>
        </p:nvGraphicFramePr>
        <p:xfrm>
          <a:off x="6331294" y="3960862"/>
          <a:ext cx="1219200" cy="671513"/>
        </p:xfrm>
        <a:graphic>
          <a:graphicData uri="http://schemas.openxmlformats.org/presentationml/2006/ole">
            <mc:AlternateContent xmlns:mc="http://schemas.openxmlformats.org/markup-compatibility/2006">
              <mc:Choice xmlns:v="urn:schemas-microsoft-com:vml" Requires="v">
                <p:oleObj name="Equation" r:id="rId2" imgW="825500" imgH="457200" progId="Equation.DSMT4">
                  <p:embed/>
                </p:oleObj>
              </mc:Choice>
              <mc:Fallback>
                <p:oleObj name="Equation" r:id="rId2" imgW="825500" imgH="457200" progId="Equation.DSMT4">
                  <p:embed/>
                  <p:pic>
                    <p:nvPicPr>
                      <p:cNvPr id="20482"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1294" y="3960862"/>
                        <a:ext cx="1219200" cy="67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3" name="Rectangle 6"/>
          <p:cNvSpPr>
            <a:spLocks noChangeArrowheads="1"/>
          </p:cNvSpPr>
          <p:nvPr/>
        </p:nvSpPr>
        <p:spPr bwMode="auto">
          <a:xfrm>
            <a:off x="609600" y="1097153"/>
            <a:ext cx="7939088" cy="2941447"/>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r>
              <a:rPr lang="es-ES_tradnl" altLang="es-ES" sz="1400" dirty="0"/>
              <a:t>Obtenido el intervalo, que tendrá la forma (</a:t>
            </a:r>
            <a:r>
              <a:rPr lang="es-ES_tradnl" altLang="es-ES" sz="1400" i="1" dirty="0"/>
              <a:t>a, b</a:t>
            </a:r>
            <a:r>
              <a:rPr lang="es-ES_tradnl" altLang="es-ES" sz="1400" dirty="0"/>
              <a:t>), la precisión de la estimación puede obtenerse como sigue si el </a:t>
            </a:r>
            <a:r>
              <a:rPr lang="es-ES_tradnl" altLang="es-ES" sz="1400" dirty="0">
                <a:solidFill>
                  <a:srgbClr val="FF0000"/>
                </a:solidFill>
              </a:rPr>
              <a:t>intervalo es simétrico</a:t>
            </a:r>
            <a:r>
              <a:rPr lang="es-ES_tradnl" altLang="es-ES" sz="1400" dirty="0"/>
              <a:t> (métodos de</a:t>
            </a:r>
          </a:p>
          <a:p>
            <a:pPr algn="just" eaLnBrk="1" hangingPunct="1"/>
            <a:r>
              <a:rPr lang="es-ES_tradnl" altLang="es-ES" sz="1400" dirty="0" err="1"/>
              <a:t>Wald</a:t>
            </a:r>
            <a:r>
              <a:rPr lang="es-ES_tradnl" altLang="es-ES" sz="1400" dirty="0"/>
              <a:t> y </a:t>
            </a:r>
            <a:r>
              <a:rPr lang="es-ES_tradnl" altLang="es-ES" sz="1400" dirty="0" err="1"/>
              <a:t>Wald</a:t>
            </a:r>
            <a:r>
              <a:rPr lang="es-ES_tradnl" altLang="es-ES" sz="1400" dirty="0"/>
              <a:t> ajustado):</a:t>
            </a:r>
          </a:p>
          <a:p>
            <a:pPr algn="just" eaLnBrk="1" hangingPunct="1"/>
            <a:endParaRPr lang="es-ES_tradnl" altLang="es-ES" sz="1400" dirty="0"/>
          </a:p>
          <a:p>
            <a:pPr algn="just" eaLnBrk="1" hangingPunct="1"/>
            <a:endParaRPr lang="es-ES_tradnl" altLang="es-ES" sz="1400" dirty="0"/>
          </a:p>
          <a:p>
            <a:pPr algn="just" eaLnBrk="1" hangingPunct="1"/>
            <a:endParaRPr lang="es-ES_tradnl" altLang="es-ES" sz="1400" dirty="0"/>
          </a:p>
          <a:p>
            <a:pPr algn="just" eaLnBrk="1" hangingPunct="1"/>
            <a:r>
              <a:rPr lang="es-ES_tradnl" altLang="es-ES" sz="1400" i="1" dirty="0"/>
              <a:t>Observación</a:t>
            </a:r>
            <a:r>
              <a:rPr lang="es-ES_tradnl" altLang="es-ES" sz="1400" dirty="0"/>
              <a:t>: El IC de Wilson no es simétrico y el valor anterior es una </a:t>
            </a:r>
          </a:p>
          <a:p>
            <a:pPr algn="just" eaLnBrk="1" hangingPunct="1"/>
            <a:r>
              <a:rPr lang="es-ES_tradnl" altLang="es-ES" sz="1400" dirty="0"/>
              <a:t>aproximación. En cualquier caso, </a:t>
            </a:r>
            <a:r>
              <a:rPr lang="es-ES_tradnl" altLang="es-ES" sz="1400" dirty="0">
                <a:solidFill>
                  <a:srgbClr val="FF0000"/>
                </a:solidFill>
              </a:rPr>
              <a:t>la precisión es un valor expresable porcentualmente.</a:t>
            </a:r>
          </a:p>
          <a:p>
            <a:pPr algn="just" eaLnBrk="1" hangingPunct="1"/>
            <a:endParaRPr lang="es-ES_tradnl" altLang="es-ES" sz="1400" dirty="0">
              <a:solidFill>
                <a:srgbClr val="FF0000"/>
              </a:solidFill>
            </a:endParaRPr>
          </a:p>
          <a:p>
            <a:pPr algn="just" eaLnBrk="1" hangingPunct="1"/>
            <a:endParaRPr lang="es-ES_tradnl" altLang="es-ES" sz="1400" dirty="0"/>
          </a:p>
          <a:p>
            <a:pPr algn="just" eaLnBrk="1" hangingPunct="1">
              <a:lnSpc>
                <a:spcPct val="150000"/>
              </a:lnSpc>
            </a:pPr>
            <a:r>
              <a:rPr lang="es-ES_tradnl" altLang="es-ES" sz="1400" dirty="0"/>
              <a:t>El </a:t>
            </a:r>
            <a:r>
              <a:rPr lang="es-ES_tradnl" altLang="es-ES" sz="1400" b="1" dirty="0"/>
              <a:t>tamaño mínimo de muestra </a:t>
            </a:r>
            <a:r>
              <a:rPr lang="es-ES_tradnl" altLang="es-ES" sz="1400" dirty="0"/>
              <a:t>para obtener una precisión deseada </a:t>
            </a:r>
            <a:r>
              <a:rPr lang="es-ES_tradnl" altLang="es-ES" sz="1600" dirty="0">
                <a:latin typeface="Symbol" pitchFamily="18" charset="2"/>
              </a:rPr>
              <a:t>d</a:t>
            </a:r>
            <a:r>
              <a:rPr lang="es-ES_tradnl" altLang="es-ES" sz="1400" dirty="0"/>
              <a:t>, para </a:t>
            </a:r>
            <a:r>
              <a:rPr lang="es-ES_tradnl" altLang="es-ES" sz="1600" dirty="0">
                <a:latin typeface="Symbol" pitchFamily="18" charset="2"/>
              </a:rPr>
              <a:t>a </a:t>
            </a:r>
            <a:r>
              <a:rPr lang="es-ES_tradnl" altLang="es-ES" sz="1400" dirty="0"/>
              <a:t>prefijado, puede determinarse de forma general o considerando la información dada por una muestra piloto: </a:t>
            </a:r>
          </a:p>
        </p:txBody>
      </p:sp>
      <p:graphicFrame>
        <p:nvGraphicFramePr>
          <p:cNvPr id="20484" name="Object 7"/>
          <p:cNvGraphicFramePr>
            <a:graphicFrameLocks noChangeAspect="1"/>
          </p:cNvGraphicFramePr>
          <p:nvPr>
            <p:extLst>
              <p:ext uri="{D42A27DB-BD31-4B8C-83A1-F6EECF244321}">
                <p14:modId xmlns:p14="http://schemas.microsoft.com/office/powerpoint/2010/main" val="2359053108"/>
              </p:ext>
            </p:extLst>
          </p:nvPr>
        </p:nvGraphicFramePr>
        <p:xfrm>
          <a:off x="3035949" y="1737360"/>
          <a:ext cx="876300" cy="503237"/>
        </p:xfrm>
        <a:graphic>
          <a:graphicData uri="http://schemas.openxmlformats.org/presentationml/2006/ole">
            <mc:AlternateContent xmlns:mc="http://schemas.openxmlformats.org/markup-compatibility/2006">
              <mc:Choice xmlns:v="urn:schemas-microsoft-com:vml" Requires="v">
                <p:oleObj name="Equation" r:id="rId4" imgW="685800" imgH="393700" progId="Equation.DSMT4">
                  <p:embed/>
                </p:oleObj>
              </mc:Choice>
              <mc:Fallback>
                <p:oleObj name="Equation" r:id="rId4" imgW="685800" imgH="393700" progId="Equation.DSMT4">
                  <p:embed/>
                  <p:pic>
                    <p:nvPicPr>
                      <p:cNvPr id="20484"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5949" y="1737360"/>
                        <a:ext cx="876300"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5" name="Text Box 25"/>
          <p:cNvSpPr txBox="1">
            <a:spLocks noChangeArrowheads="1"/>
          </p:cNvSpPr>
          <p:nvPr/>
        </p:nvSpPr>
        <p:spPr bwMode="auto">
          <a:xfrm>
            <a:off x="619371" y="4131765"/>
            <a:ext cx="577433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285750" indent="-285750"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Arial" pitchFamily="34" charset="0"/>
              <a:buChar char="•"/>
            </a:pPr>
            <a:r>
              <a:rPr lang="es-ES" altLang="es-ES" sz="1400" dirty="0"/>
              <a:t>Sin información previa (tamaño necesario en el </a:t>
            </a:r>
            <a:r>
              <a:rPr lang="es-ES" altLang="es-ES" sz="1400" i="1" dirty="0"/>
              <a:t>peor</a:t>
            </a:r>
            <a:r>
              <a:rPr lang="es-ES" altLang="es-ES" sz="1400" dirty="0"/>
              <a:t> de los casos):</a:t>
            </a:r>
          </a:p>
        </p:txBody>
      </p:sp>
      <p:sp>
        <p:nvSpPr>
          <p:cNvPr id="20486" name="Text Box 26"/>
          <p:cNvSpPr txBox="1">
            <a:spLocks noChangeArrowheads="1"/>
          </p:cNvSpPr>
          <p:nvPr/>
        </p:nvSpPr>
        <p:spPr bwMode="auto">
          <a:xfrm>
            <a:off x="609600" y="4625975"/>
            <a:ext cx="36544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285750" indent="-285750"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buFont typeface="Arial" pitchFamily="34" charset="0"/>
              <a:buChar char="•"/>
            </a:pPr>
            <a:r>
              <a:rPr lang="es-ES" altLang="es-ES" sz="1400"/>
              <a:t>Con información previa (muestra piloto):</a:t>
            </a:r>
          </a:p>
        </p:txBody>
      </p:sp>
      <p:graphicFrame>
        <p:nvGraphicFramePr>
          <p:cNvPr id="20487" name="Object 27"/>
          <p:cNvGraphicFramePr>
            <a:graphicFrameLocks noChangeAspect="1"/>
          </p:cNvGraphicFramePr>
          <p:nvPr>
            <p:extLst>
              <p:ext uri="{D42A27DB-BD31-4B8C-83A1-F6EECF244321}">
                <p14:modId xmlns:p14="http://schemas.microsoft.com/office/powerpoint/2010/main" val="1475562933"/>
              </p:ext>
            </p:extLst>
          </p:nvPr>
        </p:nvGraphicFramePr>
        <p:xfrm>
          <a:off x="4267200" y="4495800"/>
          <a:ext cx="1447800" cy="633413"/>
        </p:xfrm>
        <a:graphic>
          <a:graphicData uri="http://schemas.openxmlformats.org/presentationml/2006/ole">
            <mc:AlternateContent xmlns:mc="http://schemas.openxmlformats.org/markup-compatibility/2006">
              <mc:Choice xmlns:v="urn:schemas-microsoft-com:vml" Requires="v">
                <p:oleObj name="Equation" r:id="rId6" imgW="1041400" imgH="457200" progId="Equation.DSMT4">
                  <p:embed/>
                </p:oleObj>
              </mc:Choice>
              <mc:Fallback>
                <p:oleObj name="Equation" r:id="rId6" imgW="1041400" imgH="457200" progId="Equation.DSMT4">
                  <p:embed/>
                  <p:pic>
                    <p:nvPicPr>
                      <p:cNvPr id="20487"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7200" y="4495800"/>
                        <a:ext cx="14478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8" name="Text Box 30"/>
          <p:cNvSpPr txBox="1">
            <a:spLocks noChangeArrowheads="1"/>
          </p:cNvSpPr>
          <p:nvPr/>
        </p:nvSpPr>
        <p:spPr bwMode="auto">
          <a:xfrm>
            <a:off x="615950" y="5191125"/>
            <a:ext cx="5181600" cy="153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lnSpc>
                <a:spcPct val="120000"/>
              </a:lnSpc>
            </a:pPr>
            <a:r>
              <a:rPr lang="es-ES_tradnl" altLang="es-ES" dirty="0"/>
              <a:t>La expresión sin información es exacta por no depender de ninguna muestra. El precio a pagar es que normalmente da lugar a un </a:t>
            </a:r>
            <a:r>
              <a:rPr lang="es-ES_tradnl" altLang="es-ES" sz="1400" i="1" dirty="0">
                <a:latin typeface="Times New Roman" pitchFamily="18" charset="0"/>
                <a:cs typeface="Times New Roman" pitchFamily="18" charset="0"/>
              </a:rPr>
              <a:t>n</a:t>
            </a:r>
            <a:r>
              <a:rPr lang="es-ES_tradnl" altLang="es-ES" dirty="0"/>
              <a:t> muy grande. Si se usa la información de una muestra piloto, la estimación de </a:t>
            </a:r>
            <a:r>
              <a:rPr lang="es-ES_tradnl" altLang="es-ES" sz="1400" i="1" dirty="0">
                <a:latin typeface="Times New Roman" pitchFamily="18" charset="0"/>
                <a:cs typeface="Times New Roman" pitchFamily="18" charset="0"/>
              </a:rPr>
              <a:t>n</a:t>
            </a:r>
            <a:r>
              <a:rPr lang="es-ES_tradnl" altLang="es-ES" dirty="0"/>
              <a:t> no es exacta y hay que comprobar que se obtiene la precisión deseada. </a:t>
            </a:r>
            <a:r>
              <a:rPr lang="es-ES_tradnl" altLang="es-ES" b="1" dirty="0"/>
              <a:t>Si el IC contiene a 0.5, las dos expresiones coinciden, </a:t>
            </a:r>
            <a:r>
              <a:rPr lang="es-ES_tradnl" altLang="es-ES" dirty="0"/>
              <a:t>y la información no aporta ninguna ventaja para reducir </a:t>
            </a:r>
            <a:r>
              <a:rPr lang="es-ES_tradnl" altLang="es-ES" sz="1400" i="1" dirty="0">
                <a:latin typeface="Times New Roman" pitchFamily="18" charset="0"/>
                <a:cs typeface="Times New Roman" pitchFamily="18" charset="0"/>
              </a:rPr>
              <a:t>n</a:t>
            </a:r>
            <a:endParaRPr lang="es-ES" altLang="es-ES" dirty="0"/>
          </a:p>
        </p:txBody>
      </p:sp>
      <p:sp>
        <p:nvSpPr>
          <p:cNvPr id="20489" name="AutoShape 31"/>
          <p:cNvSpPr>
            <a:spLocks noChangeArrowheads="1"/>
          </p:cNvSpPr>
          <p:nvPr/>
        </p:nvSpPr>
        <p:spPr bwMode="auto">
          <a:xfrm>
            <a:off x="533400" y="5148262"/>
            <a:ext cx="5286375" cy="1557338"/>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s-ES" altLang="es-ES" dirty="0"/>
          </a:p>
        </p:txBody>
      </p:sp>
      <p:sp>
        <p:nvSpPr>
          <p:cNvPr id="20490" name="Text Box 25"/>
          <p:cNvSpPr txBox="1">
            <a:spLocks noChangeArrowheads="1"/>
          </p:cNvSpPr>
          <p:nvPr/>
        </p:nvSpPr>
        <p:spPr bwMode="auto">
          <a:xfrm>
            <a:off x="152400" y="804446"/>
            <a:ext cx="237597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s-ES" altLang="es-ES" sz="1600" b="1" dirty="0"/>
              <a:t>Precisión del intervalo</a:t>
            </a:r>
          </a:p>
        </p:txBody>
      </p:sp>
      <p:grpSp>
        <p:nvGrpSpPr>
          <p:cNvPr id="20491" name="2 Grupo"/>
          <p:cNvGrpSpPr>
            <a:grpSpLocks/>
          </p:cNvGrpSpPr>
          <p:nvPr/>
        </p:nvGrpSpPr>
        <p:grpSpPr bwMode="auto">
          <a:xfrm>
            <a:off x="5863502" y="4687287"/>
            <a:ext cx="3013075" cy="1943042"/>
            <a:chOff x="5064125" y="5073629"/>
            <a:chExt cx="2708275" cy="1631971"/>
          </a:xfrm>
        </p:grpSpPr>
        <p:grpSp>
          <p:nvGrpSpPr>
            <p:cNvPr id="20510" name="18 Grupo"/>
            <p:cNvGrpSpPr>
              <a:grpSpLocks/>
            </p:cNvGrpSpPr>
            <p:nvPr/>
          </p:nvGrpSpPr>
          <p:grpSpPr bwMode="auto">
            <a:xfrm>
              <a:off x="5251450" y="5073629"/>
              <a:ext cx="2520950" cy="1631971"/>
              <a:chOff x="5251444" y="5073629"/>
              <a:chExt cx="2520956" cy="1631971"/>
            </a:xfrm>
          </p:grpSpPr>
          <p:grpSp>
            <p:nvGrpSpPr>
              <p:cNvPr id="20514" name="6 Grupo"/>
              <p:cNvGrpSpPr>
                <a:grpSpLocks/>
              </p:cNvGrpSpPr>
              <p:nvPr/>
            </p:nvGrpSpPr>
            <p:grpSpPr bwMode="auto">
              <a:xfrm>
                <a:off x="5251444" y="5253361"/>
                <a:ext cx="2520956" cy="1452239"/>
                <a:chOff x="5067514" y="5298483"/>
                <a:chExt cx="2520956" cy="1106756"/>
              </a:xfrm>
            </p:grpSpPr>
            <p:sp>
              <p:nvSpPr>
                <p:cNvPr id="20521" name="Line 24"/>
                <p:cNvSpPr>
                  <a:spLocks noChangeShapeType="1"/>
                </p:cNvSpPr>
                <p:nvPr/>
              </p:nvSpPr>
              <p:spPr bwMode="auto">
                <a:xfrm>
                  <a:off x="5157788" y="5409504"/>
                  <a:ext cx="23860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0522" name="Group 29"/>
                <p:cNvGrpSpPr>
                  <a:grpSpLocks/>
                </p:cNvGrpSpPr>
                <p:nvPr/>
              </p:nvGrpSpPr>
              <p:grpSpPr bwMode="auto">
                <a:xfrm>
                  <a:off x="5409774" y="5334000"/>
                  <a:ext cx="507447" cy="182603"/>
                  <a:chOff x="1777" y="2304"/>
                  <a:chExt cx="479" cy="288"/>
                </a:xfrm>
              </p:grpSpPr>
              <p:sp>
                <p:nvSpPr>
                  <p:cNvPr id="20539" name="AutoShape 30"/>
                  <p:cNvSpPr>
                    <a:spLocks/>
                  </p:cNvSpPr>
                  <p:nvPr/>
                </p:nvSpPr>
                <p:spPr bwMode="auto">
                  <a:xfrm>
                    <a:off x="1777" y="2304"/>
                    <a:ext cx="47" cy="288"/>
                  </a:xfrm>
                  <a:prstGeom prst="leftBracket">
                    <a:avLst>
                      <a:gd name="adj" fmla="val 51064"/>
                    </a:avLst>
                  </a:prstGeom>
                  <a:noFill/>
                  <a:ln w="952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s-ES" altLang="es-ES"/>
                  </a:p>
                </p:txBody>
              </p:sp>
              <p:sp>
                <p:nvSpPr>
                  <p:cNvPr id="20540" name="AutoShape 31"/>
                  <p:cNvSpPr>
                    <a:spLocks/>
                  </p:cNvSpPr>
                  <p:nvPr/>
                </p:nvSpPr>
                <p:spPr bwMode="auto">
                  <a:xfrm flipH="1">
                    <a:off x="2208" y="2304"/>
                    <a:ext cx="48" cy="288"/>
                  </a:xfrm>
                  <a:prstGeom prst="leftBracket">
                    <a:avLst>
                      <a:gd name="adj" fmla="val 50000"/>
                    </a:avLst>
                  </a:prstGeom>
                  <a:noFill/>
                  <a:ln w="952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s-ES" altLang="es-ES"/>
                  </a:p>
                </p:txBody>
              </p:sp>
            </p:grpSp>
            <p:grpSp>
              <p:nvGrpSpPr>
                <p:cNvPr id="20523" name="5 Grupo"/>
                <p:cNvGrpSpPr>
                  <a:grpSpLocks/>
                </p:cNvGrpSpPr>
                <p:nvPr/>
              </p:nvGrpSpPr>
              <p:grpSpPr bwMode="auto">
                <a:xfrm>
                  <a:off x="5067514" y="5298483"/>
                  <a:ext cx="2520956" cy="1106756"/>
                  <a:chOff x="5067514" y="5298483"/>
                  <a:chExt cx="2520956" cy="1106756"/>
                </a:xfrm>
              </p:grpSpPr>
              <p:sp>
                <p:nvSpPr>
                  <p:cNvPr id="20532" name="Text Box 37"/>
                  <p:cNvSpPr txBox="1">
                    <a:spLocks noChangeArrowheads="1"/>
                  </p:cNvSpPr>
                  <p:nvPr/>
                </p:nvSpPr>
                <p:spPr bwMode="auto">
                  <a:xfrm>
                    <a:off x="6151960" y="6127530"/>
                    <a:ext cx="397669" cy="277709"/>
                  </a:xfrm>
                  <a:prstGeom prst="rect">
                    <a:avLst/>
                  </a:prstGeom>
                  <a:solidFill>
                    <a:schemeClr val="bg1"/>
                  </a:solidFill>
                  <a:ln>
                    <a:noFill/>
                  </a:ln>
                  <a:effectLst/>
                  <a:extLst>
                    <a:ext uri="{91240B29-F687-4F45-9708-019B960494DF}">
                      <a14:hiddenLine xmlns:a14="http://schemas.microsoft.com/office/drawing/2010/main" w="9525" algn="ctr">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s-ES_tradnl" altLang="es-ES" sz="1200"/>
                      <a:t>0.5</a:t>
                    </a:r>
                    <a:endParaRPr lang="es-ES" altLang="es-ES" sz="1200"/>
                  </a:p>
                </p:txBody>
              </p:sp>
              <p:grpSp>
                <p:nvGrpSpPr>
                  <p:cNvPr id="20533" name="4 Grupo"/>
                  <p:cNvGrpSpPr>
                    <a:grpSpLocks/>
                  </p:cNvGrpSpPr>
                  <p:nvPr/>
                </p:nvGrpSpPr>
                <p:grpSpPr bwMode="auto">
                  <a:xfrm>
                    <a:off x="5265765" y="5298483"/>
                    <a:ext cx="2125635" cy="873717"/>
                    <a:chOff x="5157788" y="5361091"/>
                    <a:chExt cx="2125635" cy="873717"/>
                  </a:xfrm>
                </p:grpSpPr>
                <p:cxnSp>
                  <p:nvCxnSpPr>
                    <p:cNvPr id="20536" name="2 Conector recto"/>
                    <p:cNvCxnSpPr>
                      <a:cxnSpLocks noChangeShapeType="1"/>
                    </p:cNvCxnSpPr>
                    <p:nvPr/>
                  </p:nvCxnSpPr>
                  <p:spPr bwMode="auto">
                    <a:xfrm>
                      <a:off x="6220605" y="5375077"/>
                      <a:ext cx="0" cy="823912"/>
                    </a:xfrm>
                    <a:prstGeom prst="line">
                      <a:avLst/>
                    </a:prstGeom>
                    <a:noFill/>
                    <a:ln w="9525" algn="ctr">
                      <a:solidFill>
                        <a:srgbClr val="C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37" name="51 Conector recto"/>
                    <p:cNvCxnSpPr>
                      <a:cxnSpLocks noChangeShapeType="1"/>
                    </p:cNvCxnSpPr>
                    <p:nvPr/>
                  </p:nvCxnSpPr>
                  <p:spPr bwMode="auto">
                    <a:xfrm>
                      <a:off x="5157788" y="5361091"/>
                      <a:ext cx="0" cy="823912"/>
                    </a:xfrm>
                    <a:prstGeom prst="line">
                      <a:avLst/>
                    </a:prstGeom>
                    <a:noFill/>
                    <a:ln w="9525" algn="ctr">
                      <a:solidFill>
                        <a:srgbClr val="C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38" name="52 Conector recto"/>
                    <p:cNvCxnSpPr>
                      <a:cxnSpLocks noChangeShapeType="1"/>
                    </p:cNvCxnSpPr>
                    <p:nvPr/>
                  </p:nvCxnSpPr>
                  <p:spPr bwMode="auto">
                    <a:xfrm>
                      <a:off x="7283423" y="5410896"/>
                      <a:ext cx="0" cy="823912"/>
                    </a:xfrm>
                    <a:prstGeom prst="line">
                      <a:avLst/>
                    </a:prstGeom>
                    <a:noFill/>
                    <a:ln w="9525" algn="ctr">
                      <a:solidFill>
                        <a:srgbClr val="C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0534" name="Text Box 37"/>
                  <p:cNvSpPr txBox="1">
                    <a:spLocks noChangeArrowheads="1"/>
                  </p:cNvSpPr>
                  <p:nvPr/>
                </p:nvSpPr>
                <p:spPr bwMode="auto">
                  <a:xfrm>
                    <a:off x="5067514" y="6127530"/>
                    <a:ext cx="397866" cy="276999"/>
                  </a:xfrm>
                  <a:prstGeom prst="rect">
                    <a:avLst/>
                  </a:prstGeom>
                  <a:solidFill>
                    <a:schemeClr val="bg1"/>
                  </a:solidFill>
                  <a:ln>
                    <a:noFill/>
                  </a:ln>
                  <a:effectLst/>
                  <a:extLst>
                    <a:ext uri="{91240B29-F687-4F45-9708-019B960494DF}">
                      <a14:hiddenLine xmlns:a14="http://schemas.microsoft.com/office/drawing/2010/main" w="9525" algn="ctr">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s-ES_tradnl" altLang="es-ES" sz="1200"/>
                      <a:t>0.0</a:t>
                    </a:r>
                    <a:endParaRPr lang="es-ES" altLang="es-ES" sz="1200"/>
                  </a:p>
                </p:txBody>
              </p:sp>
              <p:sp>
                <p:nvSpPr>
                  <p:cNvPr id="20535" name="Text Box 37"/>
                  <p:cNvSpPr txBox="1">
                    <a:spLocks noChangeArrowheads="1"/>
                  </p:cNvSpPr>
                  <p:nvPr/>
                </p:nvSpPr>
                <p:spPr bwMode="auto">
                  <a:xfrm>
                    <a:off x="7190604" y="6127530"/>
                    <a:ext cx="397866" cy="276999"/>
                  </a:xfrm>
                  <a:prstGeom prst="rect">
                    <a:avLst/>
                  </a:prstGeom>
                  <a:solidFill>
                    <a:schemeClr val="bg1"/>
                  </a:solidFill>
                  <a:ln>
                    <a:noFill/>
                  </a:ln>
                  <a:effectLst/>
                  <a:extLst>
                    <a:ext uri="{91240B29-F687-4F45-9708-019B960494DF}">
                      <a14:hiddenLine xmlns:a14="http://schemas.microsoft.com/office/drawing/2010/main" w="9525" algn="ctr">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s-ES_tradnl" altLang="es-ES" sz="1200"/>
                      <a:t>1.0</a:t>
                    </a:r>
                    <a:endParaRPr lang="es-ES" altLang="es-ES" sz="1200"/>
                  </a:p>
                </p:txBody>
              </p:sp>
            </p:grpSp>
            <p:sp>
              <p:nvSpPr>
                <p:cNvPr id="20524" name="Line 24"/>
                <p:cNvSpPr>
                  <a:spLocks noChangeShapeType="1"/>
                </p:cNvSpPr>
                <p:nvPr/>
              </p:nvSpPr>
              <p:spPr bwMode="auto">
                <a:xfrm flipH="1">
                  <a:off x="5181600" y="5684101"/>
                  <a:ext cx="23860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0525" name="Group 29"/>
                <p:cNvGrpSpPr>
                  <a:grpSpLocks/>
                </p:cNvGrpSpPr>
                <p:nvPr/>
              </p:nvGrpSpPr>
              <p:grpSpPr bwMode="auto">
                <a:xfrm flipH="1">
                  <a:off x="6629400" y="5608597"/>
                  <a:ext cx="507447" cy="182603"/>
                  <a:chOff x="1777" y="2304"/>
                  <a:chExt cx="479" cy="288"/>
                </a:xfrm>
              </p:grpSpPr>
              <p:sp>
                <p:nvSpPr>
                  <p:cNvPr id="20530" name="AutoShape 30"/>
                  <p:cNvSpPr>
                    <a:spLocks/>
                  </p:cNvSpPr>
                  <p:nvPr/>
                </p:nvSpPr>
                <p:spPr bwMode="auto">
                  <a:xfrm>
                    <a:off x="1777" y="2304"/>
                    <a:ext cx="47" cy="288"/>
                  </a:xfrm>
                  <a:prstGeom prst="leftBracket">
                    <a:avLst>
                      <a:gd name="adj" fmla="val 51064"/>
                    </a:avLst>
                  </a:prstGeom>
                  <a:noFill/>
                  <a:ln w="952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s-ES" altLang="es-ES"/>
                  </a:p>
                </p:txBody>
              </p:sp>
              <p:sp>
                <p:nvSpPr>
                  <p:cNvPr id="20531" name="AutoShape 31"/>
                  <p:cNvSpPr>
                    <a:spLocks/>
                  </p:cNvSpPr>
                  <p:nvPr/>
                </p:nvSpPr>
                <p:spPr bwMode="auto">
                  <a:xfrm flipH="1">
                    <a:off x="2208" y="2304"/>
                    <a:ext cx="48" cy="288"/>
                  </a:xfrm>
                  <a:prstGeom prst="leftBracket">
                    <a:avLst>
                      <a:gd name="adj" fmla="val 50000"/>
                    </a:avLst>
                  </a:prstGeom>
                  <a:noFill/>
                  <a:ln w="952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s-ES" altLang="es-ES"/>
                  </a:p>
                </p:txBody>
              </p:sp>
            </p:grpSp>
            <p:sp>
              <p:nvSpPr>
                <p:cNvPr id="20526" name="Line 24"/>
                <p:cNvSpPr>
                  <a:spLocks noChangeShapeType="1"/>
                </p:cNvSpPr>
                <p:nvPr/>
              </p:nvSpPr>
              <p:spPr bwMode="auto">
                <a:xfrm flipH="1">
                  <a:off x="5181600" y="5988901"/>
                  <a:ext cx="23860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aphicFrame>
            <p:nvGraphicFramePr>
              <p:cNvPr id="20515" name="Object 28"/>
              <p:cNvGraphicFramePr>
                <a:graphicFrameLocks noChangeAspect="1"/>
              </p:cNvGraphicFramePr>
              <p:nvPr/>
            </p:nvGraphicFramePr>
            <p:xfrm>
              <a:off x="6570443" y="5391150"/>
              <a:ext cx="541536" cy="228600"/>
            </p:xfrm>
            <a:graphic>
              <a:graphicData uri="http://schemas.openxmlformats.org/presentationml/2006/ole">
                <mc:AlternateContent xmlns:mc="http://schemas.openxmlformats.org/markup-compatibility/2006">
                  <mc:Choice xmlns:v="urn:schemas-microsoft-com:vml" Requires="v">
                    <p:oleObj name="Equation" r:id="rId8" imgW="482391" imgH="203112" progId="Equation.DSMT4">
                      <p:embed/>
                    </p:oleObj>
                  </mc:Choice>
                  <mc:Fallback>
                    <p:oleObj name="Equation" r:id="rId8" imgW="482391" imgH="203112" progId="Equation.DSMT4">
                      <p:embed/>
                      <p:pic>
                        <p:nvPicPr>
                          <p:cNvPr id="20515" name="Object 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70443" y="5391150"/>
                            <a:ext cx="541536"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516" name="Object 28"/>
              <p:cNvGraphicFramePr>
                <a:graphicFrameLocks noChangeAspect="1"/>
              </p:cNvGraphicFramePr>
              <p:nvPr/>
            </p:nvGraphicFramePr>
            <p:xfrm>
              <a:off x="5985232" y="5826068"/>
              <a:ext cx="517097" cy="218282"/>
            </p:xfrm>
            <a:graphic>
              <a:graphicData uri="http://schemas.openxmlformats.org/presentationml/2006/ole">
                <mc:AlternateContent xmlns:mc="http://schemas.openxmlformats.org/markup-compatibility/2006">
                  <mc:Choice xmlns:v="urn:schemas-microsoft-com:vml" Requires="v">
                    <p:oleObj name="Equation" r:id="rId10" imgW="482391" imgH="203112" progId="Equation.DSMT4">
                      <p:embed/>
                    </p:oleObj>
                  </mc:Choice>
                  <mc:Fallback>
                    <p:oleObj name="Equation" r:id="rId10" imgW="482391" imgH="203112" progId="Equation.DSMT4">
                      <p:embed/>
                      <p:pic>
                        <p:nvPicPr>
                          <p:cNvPr id="20516"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85232" y="5826068"/>
                            <a:ext cx="517097" cy="218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0517" name="76 Conector recto de flecha"/>
              <p:cNvCxnSpPr>
                <a:cxnSpLocks noChangeShapeType="1"/>
              </p:cNvCxnSpPr>
              <p:nvPr/>
            </p:nvCxnSpPr>
            <p:spPr bwMode="auto">
              <a:xfrm>
                <a:off x="6733559" y="5562600"/>
                <a:ext cx="80831" cy="201612"/>
              </a:xfrm>
              <a:prstGeom prst="straightConnector1">
                <a:avLst/>
              </a:prstGeom>
              <a:noFill/>
              <a:ln w="9525" algn="ctr">
                <a:solidFill>
                  <a:srgbClr val="FF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18" name="81 Conector recto de flecha"/>
              <p:cNvCxnSpPr>
                <a:cxnSpLocks noChangeShapeType="1"/>
              </p:cNvCxnSpPr>
              <p:nvPr/>
            </p:nvCxnSpPr>
            <p:spPr bwMode="auto">
              <a:xfrm flipH="1">
                <a:off x="6092817" y="5224462"/>
                <a:ext cx="150854" cy="169069"/>
              </a:xfrm>
              <a:prstGeom prst="straightConnector1">
                <a:avLst/>
              </a:prstGeom>
              <a:noFill/>
              <a:ln w="9525" algn="ctr">
                <a:solidFill>
                  <a:srgbClr val="FF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19" name="83 Conector recto de flecha"/>
              <p:cNvCxnSpPr>
                <a:cxnSpLocks noChangeShapeType="1"/>
              </p:cNvCxnSpPr>
              <p:nvPr/>
            </p:nvCxnSpPr>
            <p:spPr bwMode="auto">
              <a:xfrm>
                <a:off x="6243671" y="5985216"/>
                <a:ext cx="267464" cy="169069"/>
              </a:xfrm>
              <a:prstGeom prst="straightConnector1">
                <a:avLst/>
              </a:prstGeom>
              <a:noFill/>
              <a:ln w="9525" algn="ctr">
                <a:solidFill>
                  <a:srgbClr val="FF0000"/>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0520" name="Object 28"/>
              <p:cNvGraphicFramePr>
                <a:graphicFrameLocks noChangeAspect="1"/>
              </p:cNvGraphicFramePr>
              <p:nvPr>
                <p:extLst>
                  <p:ext uri="{D42A27DB-BD31-4B8C-83A1-F6EECF244321}">
                    <p14:modId xmlns:p14="http://schemas.microsoft.com/office/powerpoint/2010/main" val="2794801670"/>
                  </p:ext>
                </p:extLst>
              </p:nvPr>
            </p:nvGraphicFramePr>
            <p:xfrm>
              <a:off x="6259785" y="5073629"/>
              <a:ext cx="641350" cy="228600"/>
            </p:xfrm>
            <a:graphic>
              <a:graphicData uri="http://schemas.openxmlformats.org/presentationml/2006/ole">
                <mc:AlternateContent xmlns:mc="http://schemas.openxmlformats.org/markup-compatibility/2006">
                  <mc:Choice xmlns:v="urn:schemas-microsoft-com:vml" Requires="v">
                    <p:oleObj name="Equation" r:id="rId12" imgW="571252" imgH="203112" progId="Equation.DSMT4">
                      <p:embed/>
                    </p:oleObj>
                  </mc:Choice>
                  <mc:Fallback>
                    <p:oleObj name="Equation" r:id="rId12" imgW="571252" imgH="203112" progId="Equation.DSMT4">
                      <p:embed/>
                      <p:pic>
                        <p:nvPicPr>
                          <p:cNvPr id="20520" name="Object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59785" y="5073629"/>
                            <a:ext cx="641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0" name="19 CuadroTexto"/>
            <p:cNvSpPr txBox="1"/>
            <p:nvPr/>
          </p:nvSpPr>
          <p:spPr>
            <a:xfrm>
              <a:off x="5064125" y="5261583"/>
              <a:ext cx="269686" cy="276003"/>
            </a:xfrm>
            <a:prstGeom prst="rect">
              <a:avLst/>
            </a:prstGeom>
            <a:noFill/>
          </p:spPr>
          <p:txBody>
            <a:bodyPr wrap="none">
              <a:spAutoFit/>
            </a:bodyPr>
            <a:lstStyle/>
            <a:p>
              <a:pPr>
                <a:defRPr/>
              </a:pPr>
              <a:r>
                <a:rPr lang="es-ES" sz="1200" dirty="0">
                  <a:solidFill>
                    <a:schemeClr val="bg1">
                      <a:lumMod val="50000"/>
                    </a:schemeClr>
                  </a:solidFill>
                  <a:latin typeface="Arial" charset="0"/>
                </a:rPr>
                <a:t>a</a:t>
              </a:r>
            </a:p>
          </p:txBody>
        </p:sp>
        <p:sp>
          <p:nvSpPr>
            <p:cNvPr id="92" name="91 CuadroTexto"/>
            <p:cNvSpPr txBox="1"/>
            <p:nvPr/>
          </p:nvSpPr>
          <p:spPr>
            <a:xfrm>
              <a:off x="5064125" y="5616254"/>
              <a:ext cx="269686" cy="278670"/>
            </a:xfrm>
            <a:prstGeom prst="rect">
              <a:avLst/>
            </a:prstGeom>
            <a:noFill/>
          </p:spPr>
          <p:txBody>
            <a:bodyPr wrap="none">
              <a:spAutoFit/>
            </a:bodyPr>
            <a:lstStyle/>
            <a:p>
              <a:pPr>
                <a:defRPr/>
              </a:pPr>
              <a:r>
                <a:rPr lang="es-ES" sz="1200" dirty="0">
                  <a:solidFill>
                    <a:schemeClr val="bg1">
                      <a:lumMod val="50000"/>
                    </a:schemeClr>
                  </a:solidFill>
                  <a:latin typeface="Arial" charset="0"/>
                </a:rPr>
                <a:t>b</a:t>
              </a:r>
            </a:p>
          </p:txBody>
        </p:sp>
        <p:sp>
          <p:nvSpPr>
            <p:cNvPr id="93" name="92 CuadroTexto"/>
            <p:cNvSpPr txBox="1"/>
            <p:nvPr/>
          </p:nvSpPr>
          <p:spPr>
            <a:xfrm>
              <a:off x="5069833" y="6012258"/>
              <a:ext cx="262551" cy="276004"/>
            </a:xfrm>
            <a:prstGeom prst="rect">
              <a:avLst/>
            </a:prstGeom>
            <a:noFill/>
          </p:spPr>
          <p:txBody>
            <a:bodyPr wrap="none">
              <a:spAutoFit/>
            </a:bodyPr>
            <a:lstStyle/>
            <a:p>
              <a:pPr>
                <a:defRPr/>
              </a:pPr>
              <a:r>
                <a:rPr lang="es-ES" sz="1200" dirty="0">
                  <a:solidFill>
                    <a:schemeClr val="bg1">
                      <a:lumMod val="50000"/>
                    </a:schemeClr>
                  </a:solidFill>
                  <a:latin typeface="Arial" charset="0"/>
                </a:rPr>
                <a:t>c</a:t>
              </a:r>
            </a:p>
          </p:txBody>
        </p:sp>
      </p:grpSp>
      <p:grpSp>
        <p:nvGrpSpPr>
          <p:cNvPr id="20492" name="1 Grupo"/>
          <p:cNvGrpSpPr>
            <a:grpSpLocks/>
          </p:cNvGrpSpPr>
          <p:nvPr/>
        </p:nvGrpSpPr>
        <p:grpSpPr bwMode="auto">
          <a:xfrm>
            <a:off x="5467873" y="1428901"/>
            <a:ext cx="3248025" cy="1195670"/>
            <a:chOff x="5168004" y="1676400"/>
            <a:chExt cx="3248269" cy="1195670"/>
          </a:xfrm>
        </p:grpSpPr>
        <p:graphicFrame>
          <p:nvGraphicFramePr>
            <p:cNvPr id="20498" name="Object 23"/>
            <p:cNvGraphicFramePr>
              <a:graphicFrameLocks noChangeAspect="1"/>
            </p:cNvGraphicFramePr>
            <p:nvPr/>
          </p:nvGraphicFramePr>
          <p:xfrm>
            <a:off x="5459413" y="1944687"/>
            <a:ext cx="266700" cy="646113"/>
          </p:xfrm>
          <a:graphic>
            <a:graphicData uri="http://schemas.openxmlformats.org/presentationml/2006/ole">
              <mc:AlternateContent xmlns:mc="http://schemas.openxmlformats.org/markup-compatibility/2006">
                <mc:Choice xmlns:v="urn:schemas-microsoft-com:vml" Requires="v">
                  <p:oleObj name="Equation" r:id="rId14" imgW="114250" imgH="279279" progId="Equation.DSMT4">
                    <p:embed/>
                  </p:oleObj>
                </mc:Choice>
                <mc:Fallback>
                  <p:oleObj name="Equation" r:id="rId14" imgW="114250" imgH="279279" progId="Equation.DSMT4">
                    <p:embed/>
                    <p:pic>
                      <p:nvPicPr>
                        <p:cNvPr id="20498" name="Object 2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59413" y="1944687"/>
                          <a:ext cx="266700" cy="646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9" name="Line 26"/>
            <p:cNvSpPr>
              <a:spLocks noChangeShapeType="1"/>
            </p:cNvSpPr>
            <p:nvPr/>
          </p:nvSpPr>
          <p:spPr bwMode="auto">
            <a:xfrm>
              <a:off x="5168004" y="2057400"/>
              <a:ext cx="324826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es-ES"/>
            </a:p>
          </p:txBody>
        </p:sp>
        <p:graphicFrame>
          <p:nvGraphicFramePr>
            <p:cNvPr id="20500" name="Object 28"/>
            <p:cNvGraphicFramePr>
              <a:graphicFrameLocks noChangeAspect="1"/>
            </p:cNvGraphicFramePr>
            <p:nvPr>
              <p:extLst>
                <p:ext uri="{D42A27DB-BD31-4B8C-83A1-F6EECF244321}">
                  <p14:modId xmlns:p14="http://schemas.microsoft.com/office/powerpoint/2010/main" val="1420542584"/>
                </p:ext>
              </p:extLst>
            </p:nvPr>
          </p:nvGraphicFramePr>
          <p:xfrm>
            <a:off x="6430381" y="2167220"/>
            <a:ext cx="681037" cy="704850"/>
          </p:xfrm>
          <a:graphic>
            <a:graphicData uri="http://schemas.openxmlformats.org/presentationml/2006/ole">
              <mc:AlternateContent xmlns:mc="http://schemas.openxmlformats.org/markup-compatibility/2006">
                <mc:Choice xmlns:v="urn:schemas-microsoft-com:vml" Requires="v">
                  <p:oleObj name="Equation" r:id="rId16" imgW="291973" imgH="304668" progId="Equation.DSMT4">
                    <p:embed/>
                  </p:oleObj>
                </mc:Choice>
                <mc:Fallback>
                  <p:oleObj name="Equation" r:id="rId16" imgW="291973" imgH="304668" progId="Equation.DSMT4">
                    <p:embed/>
                    <p:pic>
                      <p:nvPicPr>
                        <p:cNvPr id="20500" name="Object 2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430381" y="2167220"/>
                          <a:ext cx="681037"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1" name="Object 31"/>
            <p:cNvGraphicFramePr>
              <a:graphicFrameLocks noChangeAspect="1"/>
            </p:cNvGraphicFramePr>
            <p:nvPr/>
          </p:nvGraphicFramePr>
          <p:xfrm>
            <a:off x="6090925" y="1676400"/>
            <a:ext cx="157257" cy="223345"/>
          </p:xfrm>
          <a:graphic>
            <a:graphicData uri="http://schemas.openxmlformats.org/presentationml/2006/ole">
              <mc:AlternateContent xmlns:mc="http://schemas.openxmlformats.org/markup-compatibility/2006">
                <mc:Choice xmlns:v="urn:schemas-microsoft-com:vml" Requires="v">
                  <p:oleObj name="Equation" r:id="rId18" imgW="126725" imgH="177415" progId="Equation.DSMT4">
                    <p:embed/>
                  </p:oleObj>
                </mc:Choice>
                <mc:Fallback>
                  <p:oleObj name="Equation" r:id="rId18" imgW="126725" imgH="177415" progId="Equation.DSMT4">
                    <p:embed/>
                    <p:pic>
                      <p:nvPicPr>
                        <p:cNvPr id="20501" name="Object 3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090925" y="1676400"/>
                          <a:ext cx="157257" cy="223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2" name="Object 32"/>
            <p:cNvGraphicFramePr>
              <a:graphicFrameLocks noChangeAspect="1"/>
            </p:cNvGraphicFramePr>
            <p:nvPr/>
          </p:nvGraphicFramePr>
          <p:xfrm>
            <a:off x="7272935" y="1676400"/>
            <a:ext cx="157257" cy="223345"/>
          </p:xfrm>
          <a:graphic>
            <a:graphicData uri="http://schemas.openxmlformats.org/presentationml/2006/ole">
              <mc:AlternateContent xmlns:mc="http://schemas.openxmlformats.org/markup-compatibility/2006">
                <mc:Choice xmlns:v="urn:schemas-microsoft-com:vml" Requires="v">
                  <p:oleObj name="Equation" r:id="rId20" imgW="126725" imgH="177415" progId="Equation.DSMT4">
                    <p:embed/>
                  </p:oleObj>
                </mc:Choice>
                <mc:Fallback>
                  <p:oleObj name="Equation" r:id="rId20" imgW="126725" imgH="177415" progId="Equation.DSMT4">
                    <p:embed/>
                    <p:pic>
                      <p:nvPicPr>
                        <p:cNvPr id="20502" name="Object 3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272935" y="1676400"/>
                          <a:ext cx="157257" cy="2233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503" name="1 Grupo"/>
            <p:cNvGrpSpPr>
              <a:grpSpLocks/>
            </p:cNvGrpSpPr>
            <p:nvPr/>
          </p:nvGrpSpPr>
          <p:grpSpPr bwMode="auto">
            <a:xfrm>
              <a:off x="5584825" y="1836420"/>
              <a:ext cx="2356874" cy="449579"/>
              <a:chOff x="5829300" y="2514600"/>
              <a:chExt cx="2356874" cy="457695"/>
            </a:xfrm>
          </p:grpSpPr>
          <p:sp>
            <p:nvSpPr>
              <p:cNvPr id="20508" name="AutoShape 30"/>
              <p:cNvSpPr>
                <a:spLocks/>
              </p:cNvSpPr>
              <p:nvPr/>
            </p:nvSpPr>
            <p:spPr bwMode="auto">
              <a:xfrm flipH="1">
                <a:off x="8136383" y="2514600"/>
                <a:ext cx="49791" cy="443364"/>
              </a:xfrm>
              <a:prstGeom prst="leftBracket">
                <a:avLst>
                  <a:gd name="adj" fmla="val 51077"/>
                </a:avLst>
              </a:prstGeom>
              <a:noFill/>
              <a:ln w="1587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s-ES" altLang="es-ES"/>
              </a:p>
            </p:txBody>
          </p:sp>
          <p:sp>
            <p:nvSpPr>
              <p:cNvPr id="20509" name="AutoShape 31"/>
              <p:cNvSpPr>
                <a:spLocks/>
              </p:cNvSpPr>
              <p:nvPr/>
            </p:nvSpPr>
            <p:spPr bwMode="auto">
              <a:xfrm>
                <a:off x="5829300" y="2528931"/>
                <a:ext cx="50851" cy="443364"/>
              </a:xfrm>
              <a:prstGeom prst="leftBracket">
                <a:avLst>
                  <a:gd name="adj" fmla="val 50012"/>
                </a:avLst>
              </a:prstGeom>
              <a:noFill/>
              <a:ln w="1587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s-ES" altLang="es-ES"/>
              </a:p>
            </p:txBody>
          </p:sp>
        </p:grpSp>
        <p:cxnSp>
          <p:nvCxnSpPr>
            <p:cNvPr id="67" name="66 Conector recto"/>
            <p:cNvCxnSpPr/>
            <p:nvPr/>
          </p:nvCxnSpPr>
          <p:spPr bwMode="auto">
            <a:xfrm>
              <a:off x="6763562" y="1935163"/>
              <a:ext cx="0" cy="228600"/>
            </a:xfrm>
            <a:prstGeom prst="line">
              <a:avLst/>
            </a:prstGeom>
            <a:noFill/>
            <a:ln w="1270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5" name="7 Conector recto"/>
            <p:cNvCxnSpPr>
              <a:cxnSpLocks noChangeShapeType="1"/>
            </p:cNvCxnSpPr>
            <p:nvPr/>
          </p:nvCxnSpPr>
          <p:spPr bwMode="auto">
            <a:xfrm>
              <a:off x="5584825" y="1966433"/>
              <a:ext cx="1178719" cy="0"/>
            </a:xfrm>
            <a:prstGeom prst="line">
              <a:avLst/>
            </a:prstGeom>
            <a:noFill/>
            <a:ln w="12700" algn="ctr">
              <a:solidFill>
                <a:srgbClr val="C0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06" name="43 Conector recto"/>
            <p:cNvCxnSpPr>
              <a:cxnSpLocks noChangeShapeType="1"/>
            </p:cNvCxnSpPr>
            <p:nvPr/>
          </p:nvCxnSpPr>
          <p:spPr bwMode="auto">
            <a:xfrm>
              <a:off x="6775926" y="1965960"/>
              <a:ext cx="1178719" cy="0"/>
            </a:xfrm>
            <a:prstGeom prst="line">
              <a:avLst/>
            </a:prstGeom>
            <a:noFill/>
            <a:ln w="12700" algn="ctr">
              <a:solidFill>
                <a:srgbClr val="C00000"/>
              </a:solidFill>
              <a:prstDash val="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20507" name="Object 23"/>
            <p:cNvGraphicFramePr>
              <a:graphicFrameLocks noChangeAspect="1"/>
            </p:cNvGraphicFramePr>
            <p:nvPr/>
          </p:nvGraphicFramePr>
          <p:xfrm>
            <a:off x="7808349" y="1944687"/>
            <a:ext cx="266700" cy="646113"/>
          </p:xfrm>
          <a:graphic>
            <a:graphicData uri="http://schemas.openxmlformats.org/presentationml/2006/ole">
              <mc:AlternateContent xmlns:mc="http://schemas.openxmlformats.org/markup-compatibility/2006">
                <mc:Choice xmlns:v="urn:schemas-microsoft-com:vml" Requires="v">
                  <p:oleObj name="Equation" r:id="rId21" imgW="114250" imgH="279279" progId="Equation.DSMT4">
                    <p:embed/>
                  </p:oleObj>
                </mc:Choice>
                <mc:Fallback>
                  <p:oleObj name="Equation" r:id="rId21" imgW="114250" imgH="279279" progId="Equation.DSMT4">
                    <p:embed/>
                    <p:pic>
                      <p:nvPicPr>
                        <p:cNvPr id="20507" name="Object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808349" y="1944687"/>
                          <a:ext cx="266700" cy="646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0493" name="Text Box 25"/>
          <p:cNvSpPr txBox="1">
            <a:spLocks noChangeArrowheads="1"/>
          </p:cNvSpPr>
          <p:nvPr/>
        </p:nvSpPr>
        <p:spPr bwMode="auto">
          <a:xfrm>
            <a:off x="161925" y="2985671"/>
            <a:ext cx="21074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s-ES" altLang="es-ES" sz="1600" b="1" dirty="0"/>
              <a:t>Tamaño de muestra</a:t>
            </a:r>
          </a:p>
        </p:txBody>
      </p:sp>
      <p:grpSp>
        <p:nvGrpSpPr>
          <p:cNvPr id="20494" name="3 Grupo"/>
          <p:cNvGrpSpPr>
            <a:grpSpLocks/>
          </p:cNvGrpSpPr>
          <p:nvPr/>
        </p:nvGrpSpPr>
        <p:grpSpPr bwMode="auto">
          <a:xfrm>
            <a:off x="6010275" y="6400800"/>
            <a:ext cx="3057525" cy="304800"/>
            <a:chOff x="5606977" y="5728356"/>
            <a:chExt cx="3057129" cy="304799"/>
          </a:xfrm>
        </p:grpSpPr>
        <p:graphicFrame>
          <p:nvGraphicFramePr>
            <p:cNvPr id="20496" name="Object 28"/>
            <p:cNvGraphicFramePr>
              <a:graphicFrameLocks noChangeAspect="1"/>
            </p:cNvGraphicFramePr>
            <p:nvPr/>
          </p:nvGraphicFramePr>
          <p:xfrm>
            <a:off x="5606977" y="5728356"/>
            <a:ext cx="228600" cy="304799"/>
          </p:xfrm>
          <a:graphic>
            <a:graphicData uri="http://schemas.openxmlformats.org/presentationml/2006/ole">
              <mc:AlternateContent xmlns:mc="http://schemas.openxmlformats.org/markup-compatibility/2006">
                <mc:Choice xmlns:v="urn:schemas-microsoft-com:vml" Requires="v">
                  <p:oleObj name="Equation" r:id="rId23" imgW="152268" imgH="203024" progId="Equation.DSMT4">
                    <p:embed/>
                  </p:oleObj>
                </mc:Choice>
                <mc:Fallback>
                  <p:oleObj name="Equation" r:id="rId23" imgW="152268" imgH="203024" progId="Equation.DSMT4">
                    <p:embed/>
                    <p:pic>
                      <p:nvPicPr>
                        <p:cNvPr id="20496" name="Object 2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606977" y="5728356"/>
                          <a:ext cx="228600" cy="304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97" name="Text Box 29"/>
            <p:cNvSpPr txBox="1">
              <a:spLocks noChangeArrowheads="1"/>
            </p:cNvSpPr>
            <p:nvPr/>
          </p:nvSpPr>
          <p:spPr bwMode="auto">
            <a:xfrm>
              <a:off x="5813646" y="5729287"/>
              <a:ext cx="2850460"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s-ES" altLang="es-ES" sz="1300" dirty="0"/>
                <a:t>es el valor del IC </a:t>
              </a:r>
              <a:r>
                <a:rPr lang="es-ES" altLang="es-ES" sz="1300" i="1" dirty="0"/>
                <a:t>mas próximo </a:t>
              </a:r>
              <a:r>
                <a:rPr lang="es-ES" altLang="es-ES" sz="1300" dirty="0"/>
                <a:t>a 0.5</a:t>
              </a:r>
            </a:p>
          </p:txBody>
        </p:sp>
      </p:grpSp>
      <p:sp>
        <p:nvSpPr>
          <p:cNvPr id="61" name="Rectangle 10"/>
          <p:cNvSpPr>
            <a:spLocks noChangeArrowheads="1"/>
          </p:cNvSpPr>
          <p:nvPr/>
        </p:nvSpPr>
        <p:spPr bwMode="auto">
          <a:xfrm>
            <a:off x="161925" y="381000"/>
            <a:ext cx="5562600" cy="3407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dirty="0">
                <a:solidFill>
                  <a:srgbClr val="000000"/>
                </a:solidFill>
              </a:rPr>
              <a:t>Intervalo de confianza para la </a:t>
            </a:r>
            <a:r>
              <a:rPr lang="es-ES_tradnl" altLang="es-ES" sz="1600" b="1" dirty="0">
                <a:solidFill>
                  <a:srgbClr val="FF0000"/>
                </a:solidFill>
              </a:rPr>
              <a:t>proporción binomial</a:t>
            </a:r>
            <a:endParaRPr lang="es-ES" altLang="es-ES" sz="1600" b="1" dirty="0">
              <a:solidFill>
                <a:srgbClr val="FF0000"/>
              </a:solidFill>
            </a:endParaRPr>
          </a:p>
        </p:txBody>
      </p:sp>
      <p:sp>
        <p:nvSpPr>
          <p:cNvPr id="62"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530405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4"/>
          <p:cNvSpPr txBox="1">
            <a:spLocks noChangeArrowheads="1"/>
          </p:cNvSpPr>
          <p:nvPr/>
        </p:nvSpPr>
        <p:spPr bwMode="auto">
          <a:xfrm>
            <a:off x="304800" y="733425"/>
            <a:ext cx="8610600"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tabLst>
                <a:tab pos="4194175" algn="ctr"/>
              </a:tabLst>
              <a:defRPr>
                <a:solidFill>
                  <a:schemeClr val="tx1"/>
                </a:solidFill>
                <a:latin typeface="Arial" charset="0"/>
              </a:defRPr>
            </a:lvl1pPr>
            <a:lvl2pPr marL="742950" indent="-285750" eaLnBrk="0" hangingPunct="0">
              <a:tabLst>
                <a:tab pos="4194175" algn="ctr"/>
              </a:tabLst>
              <a:defRPr>
                <a:solidFill>
                  <a:schemeClr val="tx1"/>
                </a:solidFill>
                <a:latin typeface="Arial" charset="0"/>
              </a:defRPr>
            </a:lvl2pPr>
            <a:lvl3pPr marL="1143000" indent="-228600" eaLnBrk="0" hangingPunct="0">
              <a:tabLst>
                <a:tab pos="4194175" algn="ctr"/>
              </a:tabLst>
              <a:defRPr>
                <a:solidFill>
                  <a:schemeClr val="tx1"/>
                </a:solidFill>
                <a:latin typeface="Arial" charset="0"/>
              </a:defRPr>
            </a:lvl3pPr>
            <a:lvl4pPr marL="1600200" indent="-228600" eaLnBrk="0" hangingPunct="0">
              <a:tabLst>
                <a:tab pos="4194175" algn="ctr"/>
              </a:tabLst>
              <a:defRPr>
                <a:solidFill>
                  <a:schemeClr val="tx1"/>
                </a:solidFill>
                <a:latin typeface="Arial" charset="0"/>
              </a:defRPr>
            </a:lvl4pPr>
            <a:lvl5pPr marL="2057400" indent="-228600" eaLnBrk="0" hangingPunct="0">
              <a:tabLst>
                <a:tab pos="4194175" algn="ctr"/>
              </a:tabLst>
              <a:defRPr>
                <a:solidFill>
                  <a:schemeClr val="tx1"/>
                </a:solidFill>
                <a:latin typeface="Arial" charset="0"/>
              </a:defRPr>
            </a:lvl5pPr>
            <a:lvl6pPr marL="2514600" indent="-228600" eaLnBrk="0" fontAlgn="base" hangingPunct="0">
              <a:spcBef>
                <a:spcPct val="0"/>
              </a:spcBef>
              <a:spcAft>
                <a:spcPct val="0"/>
              </a:spcAft>
              <a:tabLst>
                <a:tab pos="4194175" algn="ctr"/>
              </a:tabLst>
              <a:defRPr>
                <a:solidFill>
                  <a:schemeClr val="tx1"/>
                </a:solidFill>
                <a:latin typeface="Arial" charset="0"/>
              </a:defRPr>
            </a:lvl6pPr>
            <a:lvl7pPr marL="2971800" indent="-228600" eaLnBrk="0" fontAlgn="base" hangingPunct="0">
              <a:spcBef>
                <a:spcPct val="0"/>
              </a:spcBef>
              <a:spcAft>
                <a:spcPct val="0"/>
              </a:spcAft>
              <a:tabLst>
                <a:tab pos="4194175" algn="ctr"/>
              </a:tabLst>
              <a:defRPr>
                <a:solidFill>
                  <a:schemeClr val="tx1"/>
                </a:solidFill>
                <a:latin typeface="Arial" charset="0"/>
              </a:defRPr>
            </a:lvl7pPr>
            <a:lvl8pPr marL="3429000" indent="-228600" eaLnBrk="0" fontAlgn="base" hangingPunct="0">
              <a:spcBef>
                <a:spcPct val="0"/>
              </a:spcBef>
              <a:spcAft>
                <a:spcPct val="0"/>
              </a:spcAft>
              <a:tabLst>
                <a:tab pos="4194175" algn="ctr"/>
              </a:tabLst>
              <a:defRPr>
                <a:solidFill>
                  <a:schemeClr val="tx1"/>
                </a:solidFill>
                <a:latin typeface="Arial" charset="0"/>
              </a:defRPr>
            </a:lvl8pPr>
            <a:lvl9pPr marL="3886200" indent="-228600" eaLnBrk="0" fontAlgn="base" hangingPunct="0">
              <a:spcBef>
                <a:spcPct val="0"/>
              </a:spcBef>
              <a:spcAft>
                <a:spcPct val="0"/>
              </a:spcAft>
              <a:tabLst>
                <a:tab pos="4194175" algn="ctr"/>
              </a:tabLst>
              <a:defRPr>
                <a:solidFill>
                  <a:schemeClr val="tx1"/>
                </a:solidFill>
                <a:latin typeface="Arial" charset="0"/>
              </a:defRPr>
            </a:lvl9pPr>
          </a:lstStyle>
          <a:p>
            <a:pPr algn="just" eaLnBrk="1" hangingPunct="1"/>
            <a:r>
              <a:rPr lang="es-ES_tradnl" altLang="es-ES" sz="1400" b="1" dirty="0">
                <a:solidFill>
                  <a:srgbClr val="006666"/>
                </a:solidFill>
              </a:rPr>
              <a:t>Ejemplo:</a:t>
            </a:r>
            <a:r>
              <a:rPr lang="es-ES_tradnl" altLang="es-ES" sz="1400" dirty="0">
                <a:solidFill>
                  <a:srgbClr val="006666"/>
                </a:solidFill>
              </a:rPr>
              <a:t> </a:t>
            </a:r>
          </a:p>
          <a:p>
            <a:pPr algn="just" eaLnBrk="1" hangingPunct="1"/>
            <a:r>
              <a:rPr lang="es-ES_tradnl" altLang="es-ES" sz="1400" dirty="0">
                <a:solidFill>
                  <a:srgbClr val="006666"/>
                </a:solidFill>
              </a:rPr>
              <a:t>De 150 estudiantes de primer curso de grado universitario que </a:t>
            </a:r>
            <a:r>
              <a:rPr lang="es-ES" altLang="es-ES" sz="1400" dirty="0">
                <a:solidFill>
                  <a:srgbClr val="006666"/>
                </a:solidFill>
              </a:rPr>
              <a:t>se han encuestado, </a:t>
            </a:r>
            <a:r>
              <a:rPr lang="es-ES_tradnl" altLang="es-ES" sz="1400" dirty="0">
                <a:solidFill>
                  <a:srgbClr val="006666"/>
                </a:solidFill>
              </a:rPr>
              <a:t> 33 fuman habitualmente. ¿Cuál es </a:t>
            </a:r>
            <a:r>
              <a:rPr lang="es-ES" altLang="es-ES" sz="1400" dirty="0">
                <a:solidFill>
                  <a:srgbClr val="006666"/>
                </a:solidFill>
              </a:rPr>
              <a:t>la prevalencia del tabaquismo en este colectivo?. Se desea obtener la estimación con una precisión del 10%</a:t>
            </a:r>
            <a:endParaRPr lang="es-ES_tradnl" altLang="es-ES" sz="1400" dirty="0">
              <a:solidFill>
                <a:srgbClr val="006666"/>
              </a:solidFill>
            </a:endParaRPr>
          </a:p>
        </p:txBody>
      </p:sp>
      <p:sp>
        <p:nvSpPr>
          <p:cNvPr id="21507" name="Text Box 8"/>
          <p:cNvSpPr txBox="1">
            <a:spLocks noChangeArrowheads="1"/>
          </p:cNvSpPr>
          <p:nvPr/>
        </p:nvSpPr>
        <p:spPr bwMode="auto">
          <a:xfrm>
            <a:off x="609600" y="1676400"/>
            <a:ext cx="7315200" cy="130099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_tradnl" altLang="es-ES" sz="1400" dirty="0"/>
              <a:t>Valores muestrales:</a:t>
            </a:r>
          </a:p>
          <a:p>
            <a:pPr algn="just" eaLnBrk="1" hangingPunct="1">
              <a:lnSpc>
                <a:spcPct val="140000"/>
              </a:lnSpc>
            </a:pPr>
            <a:r>
              <a:rPr lang="es-ES_tradnl" altLang="es-ES" sz="1400" dirty="0"/>
              <a:t>La estimación puntual </a:t>
            </a:r>
            <a:r>
              <a:rPr lang="es-ES" altLang="es-ES" sz="1400" dirty="0"/>
              <a:t>la prevalencia del tabaquismo vendrá dada por </a:t>
            </a:r>
            <a:r>
              <a:rPr lang="es-ES_tradnl" altLang="es-ES" sz="1400" dirty="0"/>
              <a:t> </a:t>
            </a:r>
            <a:r>
              <a:rPr lang="es-ES_tradnl" altLang="es-ES" sz="1600" i="1" dirty="0">
                <a:latin typeface="Times New Roman" pitchFamily="18" charset="0"/>
              </a:rPr>
              <a:t>p</a:t>
            </a:r>
            <a:endParaRPr lang="es-ES_tradnl" altLang="es-ES" sz="1400" dirty="0"/>
          </a:p>
          <a:p>
            <a:pPr algn="just" eaLnBrk="1" hangingPunct="1"/>
            <a:endParaRPr lang="es-ES_tradnl" altLang="es-ES" sz="1400" dirty="0"/>
          </a:p>
          <a:p>
            <a:pPr algn="just" eaLnBrk="1" hangingPunct="1"/>
            <a:endParaRPr lang="es-ES_tradnl" altLang="es-ES" sz="1400" dirty="0"/>
          </a:p>
          <a:p>
            <a:pPr algn="just" eaLnBrk="1" hangingPunct="1"/>
            <a:r>
              <a:rPr lang="es-ES" altLang="es-ES" sz="1400" dirty="0"/>
              <a:t>De modo que el porcentaje de no fumadores está estimado por</a:t>
            </a:r>
            <a:endParaRPr lang="es-ES_tradnl" altLang="es-ES" sz="1400" b="1" dirty="0"/>
          </a:p>
        </p:txBody>
      </p:sp>
      <p:graphicFrame>
        <p:nvGraphicFramePr>
          <p:cNvPr id="21508" name="Object 9"/>
          <p:cNvGraphicFramePr>
            <a:graphicFrameLocks noChangeAspect="1"/>
          </p:cNvGraphicFramePr>
          <p:nvPr/>
        </p:nvGraphicFramePr>
        <p:xfrm>
          <a:off x="2438400" y="1708150"/>
          <a:ext cx="3505200" cy="284163"/>
        </p:xfrm>
        <a:graphic>
          <a:graphicData uri="http://schemas.openxmlformats.org/presentationml/2006/ole">
            <mc:AlternateContent xmlns:mc="http://schemas.openxmlformats.org/markup-compatibility/2006">
              <mc:Choice xmlns:v="urn:schemas-microsoft-com:vml" Requires="v">
                <p:oleObj name="Equation" r:id="rId2" imgW="2514600" imgH="203200" progId="Equation.DSMT4">
                  <p:embed/>
                </p:oleObj>
              </mc:Choice>
              <mc:Fallback>
                <p:oleObj name="Equation" r:id="rId2" imgW="2514600" imgH="203200" progId="Equation.DSMT4">
                  <p:embed/>
                  <p:pic>
                    <p:nvPicPr>
                      <p:cNvPr id="21508"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708150"/>
                        <a:ext cx="3505200"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9" name="Text Box 11"/>
          <p:cNvSpPr txBox="1">
            <a:spLocks noChangeArrowheads="1"/>
          </p:cNvSpPr>
          <p:nvPr/>
        </p:nvSpPr>
        <p:spPr bwMode="auto">
          <a:xfrm>
            <a:off x="609600" y="3246438"/>
            <a:ext cx="3074988" cy="36671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Fijamos el nivel de confianza al</a:t>
            </a:r>
            <a:r>
              <a:rPr lang="es-ES_tradnl" altLang="es-ES">
                <a:latin typeface="Times New Roman" pitchFamily="18" charset="0"/>
              </a:rPr>
              <a:t> </a:t>
            </a:r>
            <a:r>
              <a:rPr lang="es-ES_tradnl" altLang="es-ES" sz="1600">
                <a:latin typeface="Times New Roman" pitchFamily="18" charset="0"/>
              </a:rPr>
              <a:t>95%</a:t>
            </a:r>
            <a:endParaRPr lang="es-ES" altLang="es-ES" sz="1600">
              <a:latin typeface="Times New Roman" pitchFamily="18" charset="0"/>
            </a:endParaRPr>
          </a:p>
        </p:txBody>
      </p:sp>
      <p:graphicFrame>
        <p:nvGraphicFramePr>
          <p:cNvPr id="21510" name="Object 12"/>
          <p:cNvGraphicFramePr>
            <a:graphicFrameLocks noChangeAspect="1"/>
          </p:cNvGraphicFramePr>
          <p:nvPr/>
        </p:nvGraphicFramePr>
        <p:xfrm>
          <a:off x="3684588" y="3322638"/>
          <a:ext cx="2459037" cy="301625"/>
        </p:xfrm>
        <a:graphic>
          <a:graphicData uri="http://schemas.openxmlformats.org/presentationml/2006/ole">
            <mc:AlternateContent xmlns:mc="http://schemas.openxmlformats.org/markup-compatibility/2006">
              <mc:Choice xmlns:v="urn:schemas-microsoft-com:vml" Requires="v">
                <p:oleObj name="Equation" r:id="rId4" imgW="1854200" imgH="228600" progId="Equation.DSMT4">
                  <p:embed/>
                </p:oleObj>
              </mc:Choice>
              <mc:Fallback>
                <p:oleObj name="Equation" r:id="rId4" imgW="1854200" imgH="228600" progId="Equation.DSMT4">
                  <p:embed/>
                  <p:pic>
                    <p:nvPicPr>
                      <p:cNvPr id="2151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4588" y="3322638"/>
                        <a:ext cx="2459037"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1" name="Rectangle 14"/>
          <p:cNvSpPr>
            <a:spLocks noChangeArrowheads="1"/>
          </p:cNvSpPr>
          <p:nvPr/>
        </p:nvSpPr>
        <p:spPr bwMode="auto">
          <a:xfrm>
            <a:off x="344169" y="1647825"/>
            <a:ext cx="330837"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400" dirty="0">
                <a:latin typeface="Times New Roman" pitchFamily="18" charset="0"/>
              </a:rPr>
              <a:t>1)</a:t>
            </a:r>
            <a:endParaRPr lang="es-ES" altLang="es-ES" sz="1400" dirty="0">
              <a:latin typeface="Times New Roman" pitchFamily="18" charset="0"/>
            </a:endParaRPr>
          </a:p>
        </p:txBody>
      </p:sp>
      <p:sp>
        <p:nvSpPr>
          <p:cNvPr id="21512" name="Rectangle 15"/>
          <p:cNvSpPr>
            <a:spLocks noChangeArrowheads="1"/>
          </p:cNvSpPr>
          <p:nvPr/>
        </p:nvSpPr>
        <p:spPr bwMode="auto">
          <a:xfrm>
            <a:off x="325119" y="3246438"/>
            <a:ext cx="330837"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s-ES_tradnl" altLang="es-ES" sz="1400">
                <a:latin typeface="Times New Roman" pitchFamily="18" charset="0"/>
              </a:rPr>
              <a:t>2)</a:t>
            </a:r>
          </a:p>
        </p:txBody>
      </p:sp>
      <p:graphicFrame>
        <p:nvGraphicFramePr>
          <p:cNvPr id="21513" name="Object 16"/>
          <p:cNvGraphicFramePr>
            <a:graphicFrameLocks noChangeAspect="1"/>
          </p:cNvGraphicFramePr>
          <p:nvPr/>
        </p:nvGraphicFramePr>
        <p:xfrm>
          <a:off x="3195638" y="2362200"/>
          <a:ext cx="2970212" cy="307975"/>
        </p:xfrm>
        <a:graphic>
          <a:graphicData uri="http://schemas.openxmlformats.org/presentationml/2006/ole">
            <mc:AlternateContent xmlns:mc="http://schemas.openxmlformats.org/markup-compatibility/2006">
              <mc:Choice xmlns:v="urn:schemas-microsoft-com:vml" Requires="v">
                <p:oleObj name="Equation" r:id="rId6" imgW="2298700" imgH="203200" progId="Equation.DSMT4">
                  <p:embed/>
                </p:oleObj>
              </mc:Choice>
              <mc:Fallback>
                <p:oleObj name="Equation" r:id="rId6" imgW="2298700" imgH="203200" progId="Equation.DSMT4">
                  <p:embed/>
                  <p:pic>
                    <p:nvPicPr>
                      <p:cNvPr id="21513"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95638" y="2362200"/>
                        <a:ext cx="2970212"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4" name="Object 17"/>
          <p:cNvGraphicFramePr>
            <a:graphicFrameLocks noChangeAspect="1"/>
          </p:cNvGraphicFramePr>
          <p:nvPr/>
        </p:nvGraphicFramePr>
        <p:xfrm>
          <a:off x="3314700" y="2962275"/>
          <a:ext cx="2589213" cy="301625"/>
        </p:xfrm>
        <a:graphic>
          <a:graphicData uri="http://schemas.openxmlformats.org/presentationml/2006/ole">
            <mc:AlternateContent xmlns:mc="http://schemas.openxmlformats.org/markup-compatibility/2006">
              <mc:Choice xmlns:v="urn:schemas-microsoft-com:vml" Requires="v">
                <p:oleObj name="Equation" r:id="rId8" imgW="1739900" imgH="203200" progId="Equation.DSMT4">
                  <p:embed/>
                </p:oleObj>
              </mc:Choice>
              <mc:Fallback>
                <p:oleObj name="Equation" r:id="rId8" imgW="1739900" imgH="203200" progId="Equation.DSMT4">
                  <p:embed/>
                  <p:pic>
                    <p:nvPicPr>
                      <p:cNvPr id="21514"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14700" y="2962275"/>
                        <a:ext cx="258921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15" name="Object 7"/>
          <p:cNvGraphicFramePr>
            <a:graphicFrameLocks noChangeAspect="1"/>
          </p:cNvGraphicFramePr>
          <p:nvPr/>
        </p:nvGraphicFramePr>
        <p:xfrm>
          <a:off x="609600" y="4267200"/>
          <a:ext cx="5643563" cy="657225"/>
        </p:xfrm>
        <a:graphic>
          <a:graphicData uri="http://schemas.openxmlformats.org/presentationml/2006/ole">
            <mc:AlternateContent xmlns:mc="http://schemas.openxmlformats.org/markup-compatibility/2006">
              <mc:Choice xmlns:v="urn:schemas-microsoft-com:vml" Requires="v">
                <p:oleObj name="Equation" r:id="rId10" imgW="4572000" imgH="533400" progId="Equation.DSMT4">
                  <p:embed/>
                </p:oleObj>
              </mc:Choice>
              <mc:Fallback>
                <p:oleObj name="Equation" r:id="rId10" imgW="4572000" imgH="533400" progId="Equation.DSMT4">
                  <p:embed/>
                  <p:pic>
                    <p:nvPicPr>
                      <p:cNvPr id="21515"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 y="4267200"/>
                        <a:ext cx="5643563"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6" name="Object 7"/>
          <p:cNvGraphicFramePr>
            <a:graphicFrameLocks noChangeAspect="1"/>
          </p:cNvGraphicFramePr>
          <p:nvPr/>
        </p:nvGraphicFramePr>
        <p:xfrm>
          <a:off x="2190750" y="5133975"/>
          <a:ext cx="6130925" cy="657225"/>
        </p:xfrm>
        <a:graphic>
          <a:graphicData uri="http://schemas.openxmlformats.org/presentationml/2006/ole">
            <mc:AlternateContent xmlns:mc="http://schemas.openxmlformats.org/markup-compatibility/2006">
              <mc:Choice xmlns:v="urn:schemas-microsoft-com:vml" Requires="v">
                <p:oleObj name="Equation" r:id="rId12" imgW="4965480" imgH="533160" progId="Equation.DSMT4">
                  <p:embed/>
                </p:oleObj>
              </mc:Choice>
              <mc:Fallback>
                <p:oleObj name="Equation" r:id="rId12" imgW="4965480" imgH="533160" progId="Equation.DSMT4">
                  <p:embed/>
                  <p:pic>
                    <p:nvPicPr>
                      <p:cNvPr id="21516" name="Object 7"/>
                      <p:cNvPicPr>
                        <a:picLocks noChangeAspect="1" noChangeArrowheads="1"/>
                      </p:cNvPicPr>
                      <p:nvPr/>
                    </p:nvPicPr>
                    <p:blipFill>
                      <a:blip r:embed="rId13"/>
                      <a:srcRect/>
                      <a:stretch>
                        <a:fillRect/>
                      </a:stretch>
                    </p:blipFill>
                    <p:spPr bwMode="auto">
                      <a:xfrm>
                        <a:off x="2190750" y="5133975"/>
                        <a:ext cx="6130925"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17" name="Object 7"/>
          <p:cNvGraphicFramePr>
            <a:graphicFrameLocks noChangeAspect="1"/>
          </p:cNvGraphicFramePr>
          <p:nvPr/>
        </p:nvGraphicFramePr>
        <p:xfrm>
          <a:off x="2192338" y="5975350"/>
          <a:ext cx="6145212" cy="657225"/>
        </p:xfrm>
        <a:graphic>
          <a:graphicData uri="http://schemas.openxmlformats.org/presentationml/2006/ole">
            <mc:AlternateContent xmlns:mc="http://schemas.openxmlformats.org/markup-compatibility/2006">
              <mc:Choice xmlns:v="urn:schemas-microsoft-com:vml" Requires="v">
                <p:oleObj name="Equation" r:id="rId14" imgW="4978400" imgH="533400" progId="Equation.DSMT4">
                  <p:embed/>
                </p:oleObj>
              </mc:Choice>
              <mc:Fallback>
                <p:oleObj name="Equation" r:id="rId14" imgW="4978400" imgH="533400" progId="Equation.DSMT4">
                  <p:embed/>
                  <p:pic>
                    <p:nvPicPr>
                      <p:cNvPr id="21517"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92338" y="5975350"/>
                        <a:ext cx="6145212"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8" name="Text Box 11"/>
          <p:cNvSpPr txBox="1">
            <a:spLocks noChangeArrowheads="1"/>
          </p:cNvSpPr>
          <p:nvPr/>
        </p:nvSpPr>
        <p:spPr bwMode="auto">
          <a:xfrm>
            <a:off x="609600" y="3733800"/>
            <a:ext cx="7772400" cy="54927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Valide</a:t>
            </a:r>
            <a:r>
              <a:rPr lang="es-ES" altLang="es-ES" sz="1400"/>
              <a:t>z y elección del método: Como </a:t>
            </a:r>
            <a:r>
              <a:rPr lang="es-ES" altLang="es-ES" sz="1600" i="1">
                <a:latin typeface="Times New Roman" pitchFamily="18" charset="0"/>
              </a:rPr>
              <a:t>x</a:t>
            </a:r>
            <a:r>
              <a:rPr lang="es-ES" altLang="es-ES" sz="1400"/>
              <a:t>=33 y </a:t>
            </a:r>
            <a:r>
              <a:rPr lang="es-ES" altLang="es-ES" sz="1600" i="1">
                <a:latin typeface="Times New Roman" pitchFamily="18" charset="0"/>
              </a:rPr>
              <a:t>n-x</a:t>
            </a:r>
            <a:r>
              <a:rPr lang="es-ES" altLang="es-ES" sz="1400"/>
              <a:t> =150 son mayores a 5, se puede utilizar el método de Wilson</a:t>
            </a:r>
            <a:endParaRPr lang="es-ES" altLang="es-ES" sz="1600">
              <a:latin typeface="Times New Roman" pitchFamily="18" charset="0"/>
            </a:endParaRPr>
          </a:p>
        </p:txBody>
      </p:sp>
      <p:sp>
        <p:nvSpPr>
          <p:cNvPr id="21519" name="Rectangle 15"/>
          <p:cNvSpPr>
            <a:spLocks noChangeArrowheads="1"/>
          </p:cNvSpPr>
          <p:nvPr/>
        </p:nvSpPr>
        <p:spPr bwMode="auto">
          <a:xfrm>
            <a:off x="325119" y="3733800"/>
            <a:ext cx="330837"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s-ES_tradnl" altLang="es-ES" sz="1400">
                <a:latin typeface="Times New Roman" pitchFamily="18" charset="0"/>
              </a:rPr>
              <a:t>3)</a:t>
            </a:r>
          </a:p>
        </p:txBody>
      </p:sp>
      <p:sp>
        <p:nvSpPr>
          <p:cNvPr id="21520" name="Text Box 11"/>
          <p:cNvSpPr txBox="1">
            <a:spLocks noChangeArrowheads="1"/>
          </p:cNvSpPr>
          <p:nvPr/>
        </p:nvSpPr>
        <p:spPr bwMode="auto">
          <a:xfrm>
            <a:off x="609600" y="5334000"/>
            <a:ext cx="1303338"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Límite inferior:</a:t>
            </a:r>
            <a:endParaRPr lang="es-ES" altLang="es-ES" sz="1600">
              <a:latin typeface="Times New Roman" pitchFamily="18" charset="0"/>
            </a:endParaRPr>
          </a:p>
        </p:txBody>
      </p:sp>
      <p:sp>
        <p:nvSpPr>
          <p:cNvPr id="21521" name="Text Box 11"/>
          <p:cNvSpPr txBox="1">
            <a:spLocks noChangeArrowheads="1"/>
          </p:cNvSpPr>
          <p:nvPr/>
        </p:nvSpPr>
        <p:spPr bwMode="auto">
          <a:xfrm>
            <a:off x="609600" y="6172200"/>
            <a:ext cx="1401763"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altLang="es-ES" sz="1400"/>
              <a:t>Límite superior:</a:t>
            </a:r>
            <a:endParaRPr lang="es-ES" altLang="es-ES" sz="1600">
              <a:latin typeface="Times New Roman" pitchFamily="18" charset="0"/>
            </a:endParaRPr>
          </a:p>
        </p:txBody>
      </p:sp>
      <p:sp>
        <p:nvSpPr>
          <p:cNvPr id="19" name="Rectangle 10"/>
          <p:cNvSpPr>
            <a:spLocks noChangeArrowheads="1"/>
          </p:cNvSpPr>
          <p:nvPr/>
        </p:nvSpPr>
        <p:spPr bwMode="auto">
          <a:xfrm>
            <a:off x="161925" y="381000"/>
            <a:ext cx="5562600" cy="3407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dirty="0">
                <a:solidFill>
                  <a:srgbClr val="000000"/>
                </a:solidFill>
              </a:rPr>
              <a:t>Intervalo de confianza para la </a:t>
            </a:r>
            <a:r>
              <a:rPr lang="es-ES_tradnl" altLang="es-ES" sz="1600" b="1" dirty="0">
                <a:solidFill>
                  <a:srgbClr val="FF0000"/>
                </a:solidFill>
              </a:rPr>
              <a:t>proporción binomial</a:t>
            </a:r>
            <a:endParaRPr lang="es-ES" altLang="es-ES" sz="1600" b="1" dirty="0">
              <a:solidFill>
                <a:srgbClr val="FF0000"/>
              </a:solidFill>
            </a:endParaRPr>
          </a:p>
        </p:txBody>
      </p:sp>
      <p:sp>
        <p:nvSpPr>
          <p:cNvPr id="20"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2156492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4"/>
          <p:cNvSpPr txBox="1">
            <a:spLocks noChangeArrowheads="1"/>
          </p:cNvSpPr>
          <p:nvPr/>
        </p:nvSpPr>
        <p:spPr bwMode="auto">
          <a:xfrm>
            <a:off x="165100" y="762000"/>
            <a:ext cx="83693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eaLnBrk="0" hangingPunct="0">
              <a:tabLst>
                <a:tab pos="4194175" algn="ctr"/>
              </a:tabLst>
              <a:defRPr>
                <a:solidFill>
                  <a:schemeClr val="tx1"/>
                </a:solidFill>
                <a:latin typeface="Arial" charset="0"/>
              </a:defRPr>
            </a:lvl1pPr>
            <a:lvl2pPr marL="742950" indent="-285750" eaLnBrk="0" hangingPunct="0">
              <a:tabLst>
                <a:tab pos="4194175" algn="ctr"/>
              </a:tabLst>
              <a:defRPr>
                <a:solidFill>
                  <a:schemeClr val="tx1"/>
                </a:solidFill>
                <a:latin typeface="Arial" charset="0"/>
              </a:defRPr>
            </a:lvl2pPr>
            <a:lvl3pPr marL="1143000" indent="-228600" eaLnBrk="0" hangingPunct="0">
              <a:tabLst>
                <a:tab pos="4194175" algn="ctr"/>
              </a:tabLst>
              <a:defRPr>
                <a:solidFill>
                  <a:schemeClr val="tx1"/>
                </a:solidFill>
                <a:latin typeface="Arial" charset="0"/>
              </a:defRPr>
            </a:lvl3pPr>
            <a:lvl4pPr marL="1600200" indent="-228600" eaLnBrk="0" hangingPunct="0">
              <a:tabLst>
                <a:tab pos="4194175" algn="ctr"/>
              </a:tabLst>
              <a:defRPr>
                <a:solidFill>
                  <a:schemeClr val="tx1"/>
                </a:solidFill>
                <a:latin typeface="Arial" charset="0"/>
              </a:defRPr>
            </a:lvl4pPr>
            <a:lvl5pPr marL="2057400" indent="-228600" eaLnBrk="0" hangingPunct="0">
              <a:tabLst>
                <a:tab pos="4194175" algn="ctr"/>
              </a:tabLst>
              <a:defRPr>
                <a:solidFill>
                  <a:schemeClr val="tx1"/>
                </a:solidFill>
                <a:latin typeface="Arial" charset="0"/>
              </a:defRPr>
            </a:lvl5pPr>
            <a:lvl6pPr marL="2514600" indent="-228600" eaLnBrk="0" fontAlgn="base" hangingPunct="0">
              <a:spcBef>
                <a:spcPct val="0"/>
              </a:spcBef>
              <a:spcAft>
                <a:spcPct val="0"/>
              </a:spcAft>
              <a:tabLst>
                <a:tab pos="4194175" algn="ctr"/>
              </a:tabLst>
              <a:defRPr>
                <a:solidFill>
                  <a:schemeClr val="tx1"/>
                </a:solidFill>
                <a:latin typeface="Arial" charset="0"/>
              </a:defRPr>
            </a:lvl6pPr>
            <a:lvl7pPr marL="2971800" indent="-228600" eaLnBrk="0" fontAlgn="base" hangingPunct="0">
              <a:spcBef>
                <a:spcPct val="0"/>
              </a:spcBef>
              <a:spcAft>
                <a:spcPct val="0"/>
              </a:spcAft>
              <a:tabLst>
                <a:tab pos="4194175" algn="ctr"/>
              </a:tabLst>
              <a:defRPr>
                <a:solidFill>
                  <a:schemeClr val="tx1"/>
                </a:solidFill>
                <a:latin typeface="Arial" charset="0"/>
              </a:defRPr>
            </a:lvl7pPr>
            <a:lvl8pPr marL="3429000" indent="-228600" eaLnBrk="0" fontAlgn="base" hangingPunct="0">
              <a:spcBef>
                <a:spcPct val="0"/>
              </a:spcBef>
              <a:spcAft>
                <a:spcPct val="0"/>
              </a:spcAft>
              <a:tabLst>
                <a:tab pos="4194175" algn="ctr"/>
              </a:tabLst>
              <a:defRPr>
                <a:solidFill>
                  <a:schemeClr val="tx1"/>
                </a:solidFill>
                <a:latin typeface="Arial" charset="0"/>
              </a:defRPr>
            </a:lvl8pPr>
            <a:lvl9pPr marL="3886200" indent="-228600" eaLnBrk="0" fontAlgn="base" hangingPunct="0">
              <a:spcBef>
                <a:spcPct val="0"/>
              </a:spcBef>
              <a:spcAft>
                <a:spcPct val="0"/>
              </a:spcAft>
              <a:tabLst>
                <a:tab pos="4194175" algn="ctr"/>
              </a:tabLst>
              <a:defRPr>
                <a:solidFill>
                  <a:schemeClr val="tx1"/>
                </a:solidFill>
                <a:latin typeface="Arial" charset="0"/>
              </a:defRPr>
            </a:lvl9pPr>
          </a:lstStyle>
          <a:p>
            <a:pPr algn="just" eaLnBrk="1" hangingPunct="1"/>
            <a:r>
              <a:rPr lang="es-ES_tradnl" altLang="es-ES" sz="1400" b="1" dirty="0">
                <a:solidFill>
                  <a:srgbClr val="006666"/>
                </a:solidFill>
              </a:rPr>
              <a:t>Ejemplo (continuación):</a:t>
            </a:r>
            <a:r>
              <a:rPr lang="es-ES_tradnl" altLang="es-ES" sz="1400" dirty="0">
                <a:solidFill>
                  <a:srgbClr val="006666"/>
                </a:solidFill>
              </a:rPr>
              <a:t> </a:t>
            </a:r>
          </a:p>
        </p:txBody>
      </p:sp>
      <p:sp>
        <p:nvSpPr>
          <p:cNvPr id="22531" name="Text Box 11"/>
          <p:cNvSpPr txBox="1">
            <a:spLocks noChangeArrowheads="1"/>
          </p:cNvSpPr>
          <p:nvPr/>
        </p:nvSpPr>
        <p:spPr bwMode="auto">
          <a:xfrm>
            <a:off x="609600" y="1524000"/>
            <a:ext cx="7772400" cy="74084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 altLang="es-ES" sz="1400" dirty="0">
                <a:solidFill>
                  <a:srgbClr val="FF0000"/>
                </a:solidFill>
              </a:rPr>
              <a:t>Interpretación</a:t>
            </a:r>
            <a:r>
              <a:rPr lang="es-ES" altLang="es-ES" sz="1400" dirty="0"/>
              <a:t> de los resultados: </a:t>
            </a:r>
            <a:r>
              <a:rPr lang="es-ES_tradnl" altLang="es-ES" sz="1400" dirty="0"/>
              <a:t>La pre</a:t>
            </a:r>
            <a:r>
              <a:rPr lang="es-ES" altLang="es-ES" sz="1400" dirty="0"/>
              <a:t>valencia del tabaquismo entre los estudiantes de primer curso universitario es, con un 95% de probabilidad, un valor que debe estar comprendido entre el 15.8% y el 29.6%. La </a:t>
            </a:r>
            <a:r>
              <a:rPr lang="es-ES" altLang="es-ES" sz="1400" dirty="0">
                <a:solidFill>
                  <a:srgbClr val="FF0000"/>
                </a:solidFill>
              </a:rPr>
              <a:t>precisión</a:t>
            </a:r>
            <a:r>
              <a:rPr lang="es-ES" altLang="es-ES" sz="1400" dirty="0"/>
              <a:t> de la estimación es del 6.9% ← (0.29642-0.15826)/2</a:t>
            </a:r>
            <a:endParaRPr lang="es-ES" altLang="es-ES" sz="1600" dirty="0">
              <a:latin typeface="Times New Roman" pitchFamily="18" charset="0"/>
            </a:endParaRPr>
          </a:p>
        </p:txBody>
      </p:sp>
      <p:sp>
        <p:nvSpPr>
          <p:cNvPr id="22532" name="Rectangle 15"/>
          <p:cNvSpPr>
            <a:spLocks noChangeArrowheads="1"/>
          </p:cNvSpPr>
          <p:nvPr/>
        </p:nvSpPr>
        <p:spPr bwMode="auto">
          <a:xfrm>
            <a:off x="325119" y="1504950"/>
            <a:ext cx="330837"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s-ES_tradnl" altLang="es-ES" sz="1400">
                <a:latin typeface="Times New Roman" pitchFamily="18" charset="0"/>
              </a:rPr>
              <a:t>4)</a:t>
            </a:r>
          </a:p>
        </p:txBody>
      </p:sp>
      <p:sp>
        <p:nvSpPr>
          <p:cNvPr id="22533" name="Text Box 11"/>
          <p:cNvSpPr txBox="1">
            <a:spLocks noChangeArrowheads="1"/>
          </p:cNvSpPr>
          <p:nvPr/>
        </p:nvSpPr>
        <p:spPr bwMode="auto">
          <a:xfrm>
            <a:off x="609600" y="2438400"/>
            <a:ext cx="5410200" cy="120251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 altLang="es-ES" sz="1400" dirty="0"/>
              <a:t>Respecto a la precisión pedida del </a:t>
            </a:r>
            <a:r>
              <a:rPr lang="es-ES" altLang="es-ES" sz="1600" dirty="0">
                <a:latin typeface="Symbol" pitchFamily="18" charset="2"/>
              </a:rPr>
              <a:t>d</a:t>
            </a:r>
            <a:r>
              <a:rPr lang="es-ES" altLang="es-ES" sz="1400" dirty="0"/>
              <a:t>=10%, nuestros resultados tienen una precisión </a:t>
            </a:r>
            <a:r>
              <a:rPr lang="es-ES" altLang="es-ES" sz="1400" b="1" dirty="0"/>
              <a:t>mayor</a:t>
            </a:r>
            <a:r>
              <a:rPr lang="es-ES" altLang="es-ES" sz="1400" dirty="0"/>
              <a:t>, </a:t>
            </a:r>
            <a:r>
              <a:rPr lang="es-ES" altLang="es-ES" sz="1400" dirty="0">
                <a:solidFill>
                  <a:srgbClr val="800000"/>
                </a:solidFill>
              </a:rPr>
              <a:t>(6.9% es mayor precisión que 10%)</a:t>
            </a:r>
            <a:r>
              <a:rPr lang="es-ES" altLang="es-ES" sz="1400" dirty="0"/>
              <a:t> por lo tanto no hay que considerar ningún aumento del tamaño de muestra. Si quisiéramos una precisión del 5%, entonces si que habría que considerar un aumento del tamaño de muestra</a:t>
            </a:r>
            <a:endParaRPr lang="es-ES" altLang="es-ES" sz="1600" b="1" dirty="0">
              <a:latin typeface="Times New Roman" pitchFamily="18" charset="0"/>
            </a:endParaRPr>
          </a:p>
        </p:txBody>
      </p:sp>
      <p:sp>
        <p:nvSpPr>
          <p:cNvPr id="22534" name="Rectangle 15"/>
          <p:cNvSpPr>
            <a:spLocks noChangeArrowheads="1"/>
          </p:cNvSpPr>
          <p:nvPr/>
        </p:nvSpPr>
        <p:spPr bwMode="auto">
          <a:xfrm>
            <a:off x="325119" y="2461314"/>
            <a:ext cx="330837" cy="30995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spcBef>
                <a:spcPct val="50000"/>
              </a:spcBef>
            </a:pPr>
            <a:r>
              <a:rPr lang="es-ES_tradnl" altLang="es-ES" sz="1400" dirty="0">
                <a:latin typeface="Times New Roman" pitchFamily="18" charset="0"/>
              </a:rPr>
              <a:t>5)</a:t>
            </a:r>
          </a:p>
        </p:txBody>
      </p:sp>
      <p:grpSp>
        <p:nvGrpSpPr>
          <p:cNvPr id="22535" name="Group 45"/>
          <p:cNvGrpSpPr>
            <a:grpSpLocks/>
          </p:cNvGrpSpPr>
          <p:nvPr/>
        </p:nvGrpSpPr>
        <p:grpSpPr bwMode="auto">
          <a:xfrm>
            <a:off x="6400800" y="2438400"/>
            <a:ext cx="2133600" cy="1181100"/>
            <a:chOff x="1392" y="2328"/>
            <a:chExt cx="1344" cy="744"/>
          </a:xfrm>
        </p:grpSpPr>
        <p:sp>
          <p:nvSpPr>
            <p:cNvPr id="22546" name="Line 24"/>
            <p:cNvSpPr>
              <a:spLocks noChangeShapeType="1"/>
            </p:cNvSpPr>
            <p:nvPr/>
          </p:nvSpPr>
          <p:spPr bwMode="auto">
            <a:xfrm>
              <a:off x="1392" y="2652"/>
              <a:ext cx="13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nvGrpSpPr>
            <p:cNvPr id="22547" name="Group 43"/>
            <p:cNvGrpSpPr>
              <a:grpSpLocks/>
            </p:cNvGrpSpPr>
            <p:nvPr/>
          </p:nvGrpSpPr>
          <p:grpSpPr bwMode="auto">
            <a:xfrm>
              <a:off x="1824" y="2736"/>
              <a:ext cx="480" cy="173"/>
              <a:chOff x="1824" y="2736"/>
              <a:chExt cx="480" cy="173"/>
            </a:xfrm>
          </p:grpSpPr>
          <p:sp>
            <p:nvSpPr>
              <p:cNvPr id="22564" name="Line 40"/>
              <p:cNvSpPr>
                <a:spLocks noChangeShapeType="1"/>
              </p:cNvSpPr>
              <p:nvPr/>
            </p:nvSpPr>
            <p:spPr bwMode="auto">
              <a:xfrm>
                <a:off x="1824" y="2826"/>
                <a:ext cx="480" cy="0"/>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65" name="Text Box 36"/>
              <p:cNvSpPr txBox="1">
                <a:spLocks noChangeArrowheads="1"/>
              </p:cNvSpPr>
              <p:nvPr/>
            </p:nvSpPr>
            <p:spPr bwMode="auto">
              <a:xfrm>
                <a:off x="1897" y="2736"/>
                <a:ext cx="334" cy="173"/>
              </a:xfrm>
              <a:prstGeom prst="rect">
                <a:avLst/>
              </a:prstGeom>
              <a:solidFill>
                <a:schemeClr val="bg1"/>
              </a:solidFill>
              <a:ln>
                <a:noFill/>
              </a:ln>
              <a:effectLst/>
              <a:extLs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200"/>
                  <a:t>6.9%</a:t>
                </a:r>
                <a:endParaRPr lang="es-ES" altLang="es-ES" sz="1200"/>
              </a:p>
            </p:txBody>
          </p:sp>
        </p:grpSp>
        <p:grpSp>
          <p:nvGrpSpPr>
            <p:cNvPr id="22548" name="Group 42"/>
            <p:cNvGrpSpPr>
              <a:grpSpLocks/>
            </p:cNvGrpSpPr>
            <p:nvPr/>
          </p:nvGrpSpPr>
          <p:grpSpPr bwMode="auto">
            <a:xfrm>
              <a:off x="1608" y="2899"/>
              <a:ext cx="912" cy="173"/>
              <a:chOff x="1608" y="2928"/>
              <a:chExt cx="912" cy="173"/>
            </a:xfrm>
          </p:grpSpPr>
          <p:sp>
            <p:nvSpPr>
              <p:cNvPr id="22562" name="Line 25"/>
              <p:cNvSpPr>
                <a:spLocks noChangeShapeType="1"/>
              </p:cNvSpPr>
              <p:nvPr/>
            </p:nvSpPr>
            <p:spPr bwMode="auto">
              <a:xfrm>
                <a:off x="1608" y="3015"/>
                <a:ext cx="912" cy="0"/>
              </a:xfrm>
              <a:prstGeom prst="line">
                <a:avLst/>
              </a:prstGeom>
              <a:noFill/>
              <a:ln w="9525">
                <a:solidFill>
                  <a:srgbClr val="3366FF"/>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sp>
            <p:nvSpPr>
              <p:cNvPr id="22563" name="Text Box 38"/>
              <p:cNvSpPr txBox="1">
                <a:spLocks noChangeArrowheads="1"/>
              </p:cNvSpPr>
              <p:nvPr/>
            </p:nvSpPr>
            <p:spPr bwMode="auto">
              <a:xfrm>
                <a:off x="1911" y="2928"/>
                <a:ext cx="307" cy="173"/>
              </a:xfrm>
              <a:prstGeom prst="rect">
                <a:avLst/>
              </a:prstGeom>
              <a:solidFill>
                <a:schemeClr val="bg1"/>
              </a:solidFill>
              <a:ln>
                <a:noFill/>
              </a:ln>
              <a:effectLst/>
              <a:extLs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200"/>
                  <a:t>10%</a:t>
                </a:r>
                <a:endParaRPr lang="es-ES" altLang="es-ES" sz="1200"/>
              </a:p>
            </p:txBody>
          </p:sp>
        </p:grpSp>
        <p:grpSp>
          <p:nvGrpSpPr>
            <p:cNvPr id="22549" name="Group 44"/>
            <p:cNvGrpSpPr>
              <a:grpSpLocks/>
            </p:cNvGrpSpPr>
            <p:nvPr/>
          </p:nvGrpSpPr>
          <p:grpSpPr bwMode="auto">
            <a:xfrm>
              <a:off x="1937" y="2328"/>
              <a:ext cx="254" cy="173"/>
              <a:chOff x="1937" y="2304"/>
              <a:chExt cx="254" cy="173"/>
            </a:xfrm>
          </p:grpSpPr>
          <p:sp>
            <p:nvSpPr>
              <p:cNvPr id="22560" name="Text Box 37"/>
              <p:cNvSpPr txBox="1">
                <a:spLocks noChangeArrowheads="1"/>
              </p:cNvSpPr>
              <p:nvPr/>
            </p:nvSpPr>
            <p:spPr bwMode="auto">
              <a:xfrm>
                <a:off x="1937" y="2304"/>
                <a:ext cx="254" cy="173"/>
              </a:xfrm>
              <a:prstGeom prst="rect">
                <a:avLst/>
              </a:prstGeom>
              <a:solidFill>
                <a:schemeClr val="bg1"/>
              </a:solidFill>
              <a:ln>
                <a:noFill/>
              </a:ln>
              <a:effectLst/>
              <a:extLst>
                <a:ext uri="{91240B29-F687-4F45-9708-019B960494DF}">
                  <a14:hiddenLine xmlns:a14="http://schemas.microsoft.com/office/drawing/2010/main" w="9525" algn="ctr">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s-ES_tradnl" altLang="es-ES" sz="1200"/>
                  <a:t>5%</a:t>
                </a:r>
                <a:endParaRPr lang="es-ES" altLang="es-ES" sz="1200"/>
              </a:p>
            </p:txBody>
          </p:sp>
          <p:sp>
            <p:nvSpPr>
              <p:cNvPr id="22561" name="Line 41"/>
              <p:cNvSpPr>
                <a:spLocks noChangeShapeType="1"/>
              </p:cNvSpPr>
              <p:nvPr/>
            </p:nvSpPr>
            <p:spPr bwMode="auto">
              <a:xfrm>
                <a:off x="1944" y="2472"/>
                <a:ext cx="240" cy="0"/>
              </a:xfrm>
              <a:prstGeom prst="line">
                <a:avLst/>
              </a:prstGeom>
              <a:noFill/>
              <a:ln w="9525">
                <a:solidFill>
                  <a:srgbClr val="FF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ES"/>
              </a:p>
            </p:txBody>
          </p:sp>
        </p:grpSp>
        <p:grpSp>
          <p:nvGrpSpPr>
            <p:cNvPr id="22550" name="Group 35"/>
            <p:cNvGrpSpPr>
              <a:grpSpLocks/>
            </p:cNvGrpSpPr>
            <p:nvPr/>
          </p:nvGrpSpPr>
          <p:grpSpPr bwMode="auto">
            <a:xfrm>
              <a:off x="1632" y="2556"/>
              <a:ext cx="864" cy="192"/>
              <a:chOff x="1632" y="2556"/>
              <a:chExt cx="864" cy="192"/>
            </a:xfrm>
          </p:grpSpPr>
          <p:grpSp>
            <p:nvGrpSpPr>
              <p:cNvPr id="22551" name="Group 28"/>
              <p:cNvGrpSpPr>
                <a:grpSpLocks/>
              </p:cNvGrpSpPr>
              <p:nvPr/>
            </p:nvGrpSpPr>
            <p:grpSpPr bwMode="auto">
              <a:xfrm>
                <a:off x="1824" y="2556"/>
                <a:ext cx="479" cy="192"/>
                <a:chOff x="1777" y="2304"/>
                <a:chExt cx="479" cy="288"/>
              </a:xfrm>
            </p:grpSpPr>
            <p:sp>
              <p:nvSpPr>
                <p:cNvPr id="22558" name="AutoShape 26"/>
                <p:cNvSpPr>
                  <a:spLocks/>
                </p:cNvSpPr>
                <p:nvPr/>
              </p:nvSpPr>
              <p:spPr bwMode="auto">
                <a:xfrm>
                  <a:off x="1777" y="2304"/>
                  <a:ext cx="47" cy="288"/>
                </a:xfrm>
                <a:prstGeom prst="leftBracket">
                  <a:avLst>
                    <a:gd name="adj" fmla="val 51064"/>
                  </a:avLst>
                </a:pr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22559" name="AutoShape 27"/>
                <p:cNvSpPr>
                  <a:spLocks/>
                </p:cNvSpPr>
                <p:nvPr/>
              </p:nvSpPr>
              <p:spPr bwMode="auto">
                <a:xfrm flipH="1">
                  <a:off x="2208" y="2304"/>
                  <a:ext cx="48" cy="288"/>
                </a:xfrm>
                <a:prstGeom prst="leftBracket">
                  <a:avLst>
                    <a:gd name="adj" fmla="val 50000"/>
                  </a:avLst>
                </a:pr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grpSp>
            <p:nvGrpSpPr>
              <p:cNvPr id="22552" name="Group 29"/>
              <p:cNvGrpSpPr>
                <a:grpSpLocks/>
              </p:cNvGrpSpPr>
              <p:nvPr/>
            </p:nvGrpSpPr>
            <p:grpSpPr bwMode="auto">
              <a:xfrm>
                <a:off x="1632" y="2556"/>
                <a:ext cx="864" cy="192"/>
                <a:chOff x="1777" y="2304"/>
                <a:chExt cx="479" cy="288"/>
              </a:xfrm>
            </p:grpSpPr>
            <p:sp>
              <p:nvSpPr>
                <p:cNvPr id="22556" name="AutoShape 30"/>
                <p:cNvSpPr>
                  <a:spLocks/>
                </p:cNvSpPr>
                <p:nvPr/>
              </p:nvSpPr>
              <p:spPr bwMode="auto">
                <a:xfrm>
                  <a:off x="1777" y="2304"/>
                  <a:ext cx="47" cy="288"/>
                </a:xfrm>
                <a:prstGeom prst="leftBracket">
                  <a:avLst>
                    <a:gd name="adj" fmla="val 51064"/>
                  </a:avLst>
                </a:prstGeom>
                <a:noFill/>
                <a:ln w="952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22557" name="AutoShape 31"/>
                <p:cNvSpPr>
                  <a:spLocks/>
                </p:cNvSpPr>
                <p:nvPr/>
              </p:nvSpPr>
              <p:spPr bwMode="auto">
                <a:xfrm flipH="1">
                  <a:off x="2208" y="2304"/>
                  <a:ext cx="48" cy="288"/>
                </a:xfrm>
                <a:prstGeom prst="leftBracket">
                  <a:avLst>
                    <a:gd name="adj" fmla="val 50000"/>
                  </a:avLst>
                </a:prstGeom>
                <a:noFill/>
                <a:ln w="9525">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grpSp>
            <p:nvGrpSpPr>
              <p:cNvPr id="22553" name="Group 32"/>
              <p:cNvGrpSpPr>
                <a:grpSpLocks/>
              </p:cNvGrpSpPr>
              <p:nvPr/>
            </p:nvGrpSpPr>
            <p:grpSpPr bwMode="auto">
              <a:xfrm>
                <a:off x="1908" y="2556"/>
                <a:ext cx="312" cy="192"/>
                <a:chOff x="1777" y="2304"/>
                <a:chExt cx="479" cy="288"/>
              </a:xfrm>
            </p:grpSpPr>
            <p:sp>
              <p:nvSpPr>
                <p:cNvPr id="22554" name="AutoShape 33"/>
                <p:cNvSpPr>
                  <a:spLocks/>
                </p:cNvSpPr>
                <p:nvPr/>
              </p:nvSpPr>
              <p:spPr bwMode="auto">
                <a:xfrm>
                  <a:off x="1777" y="2304"/>
                  <a:ext cx="47" cy="288"/>
                </a:xfrm>
                <a:prstGeom prst="leftBracket">
                  <a:avLst>
                    <a:gd name="adj" fmla="val 51064"/>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22555" name="AutoShape 34"/>
                <p:cNvSpPr>
                  <a:spLocks/>
                </p:cNvSpPr>
                <p:nvPr/>
              </p:nvSpPr>
              <p:spPr bwMode="auto">
                <a:xfrm flipH="1">
                  <a:off x="2208" y="2304"/>
                  <a:ext cx="48" cy="288"/>
                </a:xfrm>
                <a:prstGeom prst="leftBracket">
                  <a:avLst>
                    <a:gd name="adj" fmla="val 50000"/>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grpSp>
        </p:grpSp>
      </p:grpSp>
      <p:sp>
        <p:nvSpPr>
          <p:cNvPr id="22536" name="Text Box 11"/>
          <p:cNvSpPr txBox="1">
            <a:spLocks noChangeArrowheads="1"/>
          </p:cNvSpPr>
          <p:nvPr/>
        </p:nvSpPr>
        <p:spPr bwMode="auto">
          <a:xfrm>
            <a:off x="533400" y="3810000"/>
            <a:ext cx="3200400"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 altLang="es-ES" sz="1400"/>
              <a:t>Sin considerar la información previa:</a:t>
            </a:r>
            <a:endParaRPr lang="es-ES" altLang="es-ES" sz="1600" b="1">
              <a:latin typeface="Times New Roman" pitchFamily="18" charset="0"/>
            </a:endParaRPr>
          </a:p>
        </p:txBody>
      </p:sp>
      <p:graphicFrame>
        <p:nvGraphicFramePr>
          <p:cNvPr id="22537" name="Object 5"/>
          <p:cNvGraphicFramePr>
            <a:graphicFrameLocks noChangeAspect="1"/>
          </p:cNvGraphicFramePr>
          <p:nvPr>
            <p:extLst>
              <p:ext uri="{D42A27DB-BD31-4B8C-83A1-F6EECF244321}">
                <p14:modId xmlns:p14="http://schemas.microsoft.com/office/powerpoint/2010/main" val="1671773100"/>
              </p:ext>
            </p:extLst>
          </p:nvPr>
        </p:nvGraphicFramePr>
        <p:xfrm>
          <a:off x="3200400" y="4038600"/>
          <a:ext cx="2895600" cy="617538"/>
        </p:xfrm>
        <a:graphic>
          <a:graphicData uri="http://schemas.openxmlformats.org/presentationml/2006/ole">
            <mc:AlternateContent xmlns:mc="http://schemas.openxmlformats.org/markup-compatibility/2006">
              <mc:Choice xmlns:v="urn:schemas-microsoft-com:vml" Requires="v">
                <p:oleObj name="Equation" r:id="rId2" imgW="2133600" imgH="457200" progId="Equation.DSMT4">
                  <p:embed/>
                </p:oleObj>
              </mc:Choice>
              <mc:Fallback>
                <p:oleObj name="Equation" r:id="rId2" imgW="2133600" imgH="457200" progId="Equation.DSMT4">
                  <p:embed/>
                  <p:pic>
                    <p:nvPicPr>
                      <p:cNvPr id="2253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4038600"/>
                        <a:ext cx="2895600" cy="617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8" name="Object 27"/>
          <p:cNvGraphicFramePr>
            <a:graphicFrameLocks noChangeAspect="1"/>
          </p:cNvGraphicFramePr>
          <p:nvPr>
            <p:extLst>
              <p:ext uri="{D42A27DB-BD31-4B8C-83A1-F6EECF244321}">
                <p14:modId xmlns:p14="http://schemas.microsoft.com/office/powerpoint/2010/main" val="334647913"/>
              </p:ext>
            </p:extLst>
          </p:nvPr>
        </p:nvGraphicFramePr>
        <p:xfrm>
          <a:off x="3200400" y="5494338"/>
          <a:ext cx="3798888" cy="600075"/>
        </p:xfrm>
        <a:graphic>
          <a:graphicData uri="http://schemas.openxmlformats.org/presentationml/2006/ole">
            <mc:AlternateContent xmlns:mc="http://schemas.openxmlformats.org/markup-compatibility/2006">
              <mc:Choice xmlns:v="urn:schemas-microsoft-com:vml" Requires="v">
                <p:oleObj name="Equation" r:id="rId4" imgW="2882900" imgH="457200" progId="Equation.DSMT4">
                  <p:embed/>
                </p:oleObj>
              </mc:Choice>
              <mc:Fallback>
                <p:oleObj name="Equation" r:id="rId4" imgW="2882900" imgH="457200" progId="Equation.DSMT4">
                  <p:embed/>
                  <p:pic>
                    <p:nvPicPr>
                      <p:cNvPr id="22538"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5494338"/>
                        <a:ext cx="3798888" cy="60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9" name="Object 27"/>
          <p:cNvGraphicFramePr>
            <a:graphicFrameLocks noChangeAspect="1"/>
          </p:cNvGraphicFramePr>
          <p:nvPr>
            <p:extLst>
              <p:ext uri="{D42A27DB-BD31-4B8C-83A1-F6EECF244321}">
                <p14:modId xmlns:p14="http://schemas.microsoft.com/office/powerpoint/2010/main" val="3298542318"/>
              </p:ext>
            </p:extLst>
          </p:nvPr>
        </p:nvGraphicFramePr>
        <p:xfrm>
          <a:off x="3657600" y="4810125"/>
          <a:ext cx="1187450" cy="600075"/>
        </p:xfrm>
        <a:graphic>
          <a:graphicData uri="http://schemas.openxmlformats.org/presentationml/2006/ole">
            <mc:AlternateContent xmlns:mc="http://schemas.openxmlformats.org/markup-compatibility/2006">
              <mc:Choice xmlns:v="urn:schemas-microsoft-com:vml" Requires="v">
                <p:oleObj name="Equation" r:id="rId6" imgW="901700" imgH="457200" progId="Equation.DSMT4">
                  <p:embed/>
                </p:oleObj>
              </mc:Choice>
              <mc:Fallback>
                <p:oleObj name="Equation" r:id="rId6" imgW="901700" imgH="457200" progId="Equation.DSMT4">
                  <p:embed/>
                  <p:pic>
                    <p:nvPicPr>
                      <p:cNvPr id="22539"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57600" y="4810125"/>
                        <a:ext cx="1187450" cy="600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0" name="Text Box 11"/>
          <p:cNvSpPr txBox="1">
            <a:spLocks noChangeArrowheads="1"/>
          </p:cNvSpPr>
          <p:nvPr/>
        </p:nvSpPr>
        <p:spPr bwMode="auto">
          <a:xfrm>
            <a:off x="533400" y="4957763"/>
            <a:ext cx="3200400" cy="304800"/>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 altLang="es-ES" sz="1400"/>
              <a:t>Considerando la información previa:</a:t>
            </a:r>
            <a:endParaRPr lang="es-ES" altLang="es-ES" sz="1600" b="1">
              <a:latin typeface="Times New Roman" pitchFamily="18" charset="0"/>
            </a:endParaRPr>
          </a:p>
        </p:txBody>
      </p:sp>
      <p:grpSp>
        <p:nvGrpSpPr>
          <p:cNvPr id="22541" name="Group 55"/>
          <p:cNvGrpSpPr>
            <a:grpSpLocks/>
          </p:cNvGrpSpPr>
          <p:nvPr/>
        </p:nvGrpSpPr>
        <p:grpSpPr bwMode="auto">
          <a:xfrm>
            <a:off x="5410200" y="4886325"/>
            <a:ext cx="2819400" cy="457200"/>
            <a:chOff x="3504" y="2653"/>
            <a:chExt cx="1776" cy="288"/>
          </a:xfrm>
        </p:grpSpPr>
        <p:graphicFrame>
          <p:nvGraphicFramePr>
            <p:cNvPr id="22544" name="Object 27"/>
            <p:cNvGraphicFramePr>
              <a:graphicFrameLocks noChangeAspect="1"/>
            </p:cNvGraphicFramePr>
            <p:nvPr/>
          </p:nvGraphicFramePr>
          <p:xfrm>
            <a:off x="3542" y="2660"/>
            <a:ext cx="106" cy="158"/>
          </p:xfrm>
          <a:graphic>
            <a:graphicData uri="http://schemas.openxmlformats.org/presentationml/2006/ole">
              <mc:AlternateContent xmlns:mc="http://schemas.openxmlformats.org/markup-compatibility/2006">
                <mc:Choice xmlns:v="urn:schemas-microsoft-com:vml" Requires="v">
                  <p:oleObj name="Equation" r:id="rId8" imgW="126890" imgH="190335" progId="Equation.DSMT4">
                    <p:embed/>
                  </p:oleObj>
                </mc:Choice>
                <mc:Fallback>
                  <p:oleObj name="Equation" r:id="rId8" imgW="126890" imgH="190335" progId="Equation.DSMT4">
                    <p:embed/>
                    <p:pic>
                      <p:nvPicPr>
                        <p:cNvPr id="22544"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2" y="2660"/>
                          <a:ext cx="106"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5" name="Text Box 11"/>
            <p:cNvSpPr txBox="1">
              <a:spLocks noChangeArrowheads="1"/>
            </p:cNvSpPr>
            <p:nvPr/>
          </p:nvSpPr>
          <p:spPr bwMode="auto">
            <a:xfrm>
              <a:off x="3504" y="2653"/>
              <a:ext cx="1776" cy="288"/>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 altLang="es-ES" sz="1200"/>
                <a:t>     Es el valor del IC=(0.158; 0.296) más próximo a 0.5</a:t>
              </a:r>
              <a:endParaRPr lang="es-ES" altLang="es-ES" sz="1400" b="1">
                <a:latin typeface="Times New Roman" pitchFamily="18" charset="0"/>
              </a:endParaRPr>
            </a:p>
          </p:txBody>
        </p:sp>
      </p:grpSp>
      <p:sp>
        <p:nvSpPr>
          <p:cNvPr id="22542" name="Text Box 11"/>
          <p:cNvSpPr txBox="1">
            <a:spLocks noChangeArrowheads="1"/>
          </p:cNvSpPr>
          <p:nvPr/>
        </p:nvSpPr>
        <p:spPr bwMode="auto">
          <a:xfrm>
            <a:off x="609600" y="6243638"/>
            <a:ext cx="5410200" cy="309562"/>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r>
              <a:rPr lang="es-ES" altLang="es-ES" sz="1400"/>
              <a:t>Sin aprovechar la información dada por la muestra piloto</a:t>
            </a:r>
            <a:endParaRPr lang="es-ES" altLang="es-ES" sz="1600" b="1">
              <a:latin typeface="Times New Roman" pitchFamily="18" charset="0"/>
            </a:endParaRPr>
          </a:p>
        </p:txBody>
      </p:sp>
      <p:sp>
        <p:nvSpPr>
          <p:cNvPr id="38" name="Rectangle 10"/>
          <p:cNvSpPr>
            <a:spLocks noChangeArrowheads="1"/>
          </p:cNvSpPr>
          <p:nvPr/>
        </p:nvSpPr>
        <p:spPr bwMode="auto">
          <a:xfrm>
            <a:off x="161925" y="381000"/>
            <a:ext cx="5562600" cy="3365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_tradnl" altLang="es-ES" sz="1600" b="1" dirty="0">
                <a:solidFill>
                  <a:srgbClr val="000000"/>
                </a:solidFill>
              </a:rPr>
              <a:t>Intervalo de confianza para la proporción binomial</a:t>
            </a:r>
            <a:endParaRPr lang="es-ES" altLang="es-ES" sz="1600" b="1" dirty="0">
              <a:solidFill>
                <a:srgbClr val="000000"/>
              </a:solidFill>
            </a:endParaRPr>
          </a:p>
        </p:txBody>
      </p:sp>
      <p:sp>
        <p:nvSpPr>
          <p:cNvPr id="39" name="Text Box 32"/>
          <p:cNvSpPr txBox="1">
            <a:spLocks noChangeArrowheads="1"/>
          </p:cNvSpPr>
          <p:nvPr/>
        </p:nvSpPr>
        <p:spPr bwMode="auto">
          <a:xfrm>
            <a:off x="161925" y="36008"/>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graphicFrame>
        <p:nvGraphicFramePr>
          <p:cNvPr id="2" name="Objeto 1"/>
          <p:cNvGraphicFramePr>
            <a:graphicFrameLocks noChangeAspect="1"/>
          </p:cNvGraphicFramePr>
          <p:nvPr>
            <p:extLst>
              <p:ext uri="{D42A27DB-BD31-4B8C-83A1-F6EECF244321}">
                <p14:modId xmlns:p14="http://schemas.microsoft.com/office/powerpoint/2010/main" val="719852693"/>
              </p:ext>
            </p:extLst>
          </p:nvPr>
        </p:nvGraphicFramePr>
        <p:xfrm>
          <a:off x="705803" y="1167824"/>
          <a:ext cx="2768600" cy="279400"/>
        </p:xfrm>
        <a:graphic>
          <a:graphicData uri="http://schemas.openxmlformats.org/presentationml/2006/ole">
            <mc:AlternateContent xmlns:mc="http://schemas.openxmlformats.org/markup-compatibility/2006">
              <mc:Choice xmlns:v="urn:schemas-microsoft-com:vml" Requires="v">
                <p:oleObj name="Equation" r:id="rId10" imgW="2768400" imgH="279360" progId="Equation.DSMT4">
                  <p:embed/>
                </p:oleObj>
              </mc:Choice>
              <mc:Fallback>
                <p:oleObj name="Equation" r:id="rId10" imgW="2768400" imgH="279360" progId="Equation.DSMT4">
                  <p:embed/>
                  <p:pic>
                    <p:nvPicPr>
                      <p:cNvPr id="0" name=""/>
                      <p:cNvPicPr/>
                      <p:nvPr/>
                    </p:nvPicPr>
                    <p:blipFill>
                      <a:blip r:embed="rId11"/>
                      <a:stretch>
                        <a:fillRect/>
                      </a:stretch>
                    </p:blipFill>
                    <p:spPr>
                      <a:xfrm>
                        <a:off x="705803" y="1167824"/>
                        <a:ext cx="2768600" cy="279400"/>
                      </a:xfrm>
                      <a:prstGeom prst="rect">
                        <a:avLst/>
                      </a:prstGeom>
                    </p:spPr>
                  </p:pic>
                </p:oleObj>
              </mc:Fallback>
            </mc:AlternateContent>
          </a:graphicData>
        </a:graphic>
      </p:graphicFrame>
      <p:grpSp>
        <p:nvGrpSpPr>
          <p:cNvPr id="6" name="Grupo 5"/>
          <p:cNvGrpSpPr/>
          <p:nvPr/>
        </p:nvGrpSpPr>
        <p:grpSpPr>
          <a:xfrm>
            <a:off x="6074002" y="349433"/>
            <a:ext cx="2821342" cy="1055585"/>
            <a:chOff x="6074002" y="469753"/>
            <a:chExt cx="2821342" cy="1055585"/>
          </a:xfrm>
        </p:grpSpPr>
        <p:graphicFrame>
          <p:nvGraphicFramePr>
            <p:cNvPr id="40" name="Objeto 39"/>
            <p:cNvGraphicFramePr>
              <a:graphicFrameLocks noChangeAspect="1"/>
            </p:cNvGraphicFramePr>
            <p:nvPr>
              <p:extLst>
                <p:ext uri="{D42A27DB-BD31-4B8C-83A1-F6EECF244321}">
                  <p14:modId xmlns:p14="http://schemas.microsoft.com/office/powerpoint/2010/main" val="3179198404"/>
                </p:ext>
              </p:extLst>
            </p:nvPr>
          </p:nvGraphicFramePr>
          <p:xfrm>
            <a:off x="6243951" y="867067"/>
            <a:ext cx="2590800" cy="266700"/>
          </p:xfrm>
          <a:graphic>
            <a:graphicData uri="http://schemas.openxmlformats.org/presentationml/2006/ole">
              <mc:AlternateContent xmlns:mc="http://schemas.openxmlformats.org/markup-compatibility/2006">
                <mc:Choice xmlns:v="urn:schemas-microsoft-com:vml" Requires="v">
                  <p:oleObj name="Equation" r:id="rId12" imgW="2590560" imgH="266400" progId="Equation.DSMT4">
                    <p:embed/>
                  </p:oleObj>
                </mc:Choice>
                <mc:Fallback>
                  <p:oleObj name="Equation" r:id="rId12" imgW="2590560" imgH="266400" progId="Equation.DSMT4">
                    <p:embed/>
                    <p:pic>
                      <p:nvPicPr>
                        <p:cNvPr id="2" name="Objeto 1"/>
                        <p:cNvPicPr/>
                        <p:nvPr/>
                      </p:nvPicPr>
                      <p:blipFill>
                        <a:blip r:embed="rId13"/>
                        <a:stretch>
                          <a:fillRect/>
                        </a:stretch>
                      </p:blipFill>
                      <p:spPr>
                        <a:xfrm>
                          <a:off x="6243951" y="867067"/>
                          <a:ext cx="2590800" cy="266700"/>
                        </a:xfrm>
                        <a:prstGeom prst="rect">
                          <a:avLst/>
                        </a:prstGeom>
                      </p:spPr>
                    </p:pic>
                  </p:oleObj>
                </mc:Fallback>
              </mc:AlternateContent>
            </a:graphicData>
          </a:graphic>
        </p:graphicFrame>
        <p:graphicFrame>
          <p:nvGraphicFramePr>
            <p:cNvPr id="41" name="Objeto 40"/>
            <p:cNvGraphicFramePr>
              <a:graphicFrameLocks noChangeAspect="1"/>
            </p:cNvGraphicFramePr>
            <p:nvPr>
              <p:extLst>
                <p:ext uri="{D42A27DB-BD31-4B8C-83A1-F6EECF244321}">
                  <p14:modId xmlns:p14="http://schemas.microsoft.com/office/powerpoint/2010/main" val="2091973305"/>
                </p:ext>
              </p:extLst>
            </p:nvPr>
          </p:nvGraphicFramePr>
          <p:xfrm>
            <a:off x="6243951" y="1221079"/>
            <a:ext cx="2349500" cy="241300"/>
          </p:xfrm>
          <a:graphic>
            <a:graphicData uri="http://schemas.openxmlformats.org/presentationml/2006/ole">
              <mc:AlternateContent xmlns:mc="http://schemas.openxmlformats.org/markup-compatibility/2006">
                <mc:Choice xmlns:v="urn:schemas-microsoft-com:vml" Requires="v">
                  <p:oleObj name="Equation" r:id="rId14" imgW="2349360" imgH="241200" progId="Equation.DSMT4">
                    <p:embed/>
                  </p:oleObj>
                </mc:Choice>
                <mc:Fallback>
                  <p:oleObj name="Equation" r:id="rId14" imgW="2349360" imgH="241200" progId="Equation.DSMT4">
                    <p:embed/>
                    <p:pic>
                      <p:nvPicPr>
                        <p:cNvPr id="40" name="Objeto 39"/>
                        <p:cNvPicPr/>
                        <p:nvPr/>
                      </p:nvPicPr>
                      <p:blipFill>
                        <a:blip r:embed="rId15"/>
                        <a:stretch>
                          <a:fillRect/>
                        </a:stretch>
                      </p:blipFill>
                      <p:spPr>
                        <a:xfrm>
                          <a:off x="6243951" y="1221079"/>
                          <a:ext cx="2349500" cy="241300"/>
                        </a:xfrm>
                        <a:prstGeom prst="rect">
                          <a:avLst/>
                        </a:prstGeom>
                      </p:spPr>
                    </p:pic>
                  </p:oleObj>
                </mc:Fallback>
              </mc:AlternateContent>
            </a:graphicData>
          </a:graphic>
        </p:graphicFrame>
        <p:sp>
          <p:nvSpPr>
            <p:cNvPr id="44" name="AutoShape 31"/>
            <p:cNvSpPr>
              <a:spLocks noChangeArrowheads="1"/>
            </p:cNvSpPr>
            <p:nvPr/>
          </p:nvSpPr>
          <p:spPr bwMode="auto">
            <a:xfrm>
              <a:off x="6074002" y="613608"/>
              <a:ext cx="2821342" cy="911730"/>
            </a:xfrm>
            <a:prstGeom prst="roundRect">
              <a:avLst>
                <a:gd name="adj" fmla="val 9028"/>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s-ES" altLang="es-ES" dirty="0"/>
            </a:p>
          </p:txBody>
        </p:sp>
        <p:sp>
          <p:nvSpPr>
            <p:cNvPr id="3" name="CuadroTexto 2"/>
            <p:cNvSpPr txBox="1"/>
            <p:nvPr/>
          </p:nvSpPr>
          <p:spPr>
            <a:xfrm>
              <a:off x="6158226" y="469753"/>
              <a:ext cx="2291012" cy="276999"/>
            </a:xfrm>
            <a:prstGeom prst="rect">
              <a:avLst/>
            </a:prstGeom>
            <a:solidFill>
              <a:schemeClr val="bg1"/>
            </a:solidFill>
          </p:spPr>
          <p:txBody>
            <a:bodyPr wrap="none" rtlCol="0">
              <a:spAutoFit/>
            </a:bodyPr>
            <a:lstStyle/>
            <a:p>
              <a:r>
                <a:rPr lang="es-ES" dirty="0"/>
                <a:t>Solución por los otros métodos</a:t>
              </a:r>
            </a:p>
          </p:txBody>
        </p:sp>
      </p:grpSp>
    </p:spTree>
    <p:extLst>
      <p:ext uri="{BB962C8B-B14F-4D97-AF65-F5344CB8AC3E}">
        <p14:creationId xmlns:p14="http://schemas.microsoft.com/office/powerpoint/2010/main" val="2009482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ext Box 35"/>
          <p:cNvSpPr txBox="1">
            <a:spLocks noChangeArrowheads="1"/>
          </p:cNvSpPr>
          <p:nvPr/>
        </p:nvSpPr>
        <p:spPr bwMode="auto">
          <a:xfrm>
            <a:off x="473075" y="1330325"/>
            <a:ext cx="8382000" cy="4926013"/>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tabLst>
                <a:tab pos="685800" algn="l"/>
              </a:tabLst>
              <a:defRPr>
                <a:solidFill>
                  <a:schemeClr val="tx1"/>
                </a:solidFill>
                <a:latin typeface="Arial" charset="0"/>
              </a:defRPr>
            </a:lvl1pPr>
            <a:lvl2pPr eaLnBrk="0" hangingPunct="0">
              <a:tabLst>
                <a:tab pos="685800" algn="l"/>
              </a:tabLst>
              <a:defRPr>
                <a:solidFill>
                  <a:schemeClr val="tx1"/>
                </a:solidFill>
                <a:latin typeface="Arial" charset="0"/>
              </a:defRPr>
            </a:lvl2pPr>
            <a:lvl3pPr marL="1143000" indent="-228600" eaLnBrk="0" hangingPunct="0">
              <a:tabLst>
                <a:tab pos="685800" algn="l"/>
              </a:tabLst>
              <a:defRPr>
                <a:solidFill>
                  <a:schemeClr val="tx1"/>
                </a:solidFill>
                <a:latin typeface="Arial" charset="0"/>
              </a:defRPr>
            </a:lvl3pPr>
            <a:lvl4pPr marL="1600200" indent="-228600" eaLnBrk="0" hangingPunct="0">
              <a:tabLst>
                <a:tab pos="685800" algn="l"/>
              </a:tabLst>
              <a:defRPr>
                <a:solidFill>
                  <a:schemeClr val="tx1"/>
                </a:solidFill>
                <a:latin typeface="Arial" charset="0"/>
              </a:defRPr>
            </a:lvl4pPr>
            <a:lvl5pPr marL="2057400" indent="-228600" eaLnBrk="0" hangingPunct="0">
              <a:tabLst>
                <a:tab pos="685800" algn="l"/>
              </a:tabLst>
              <a:defRPr>
                <a:solidFill>
                  <a:schemeClr val="tx1"/>
                </a:solidFill>
                <a:latin typeface="Arial" charset="0"/>
              </a:defRPr>
            </a:lvl5pPr>
            <a:lvl6pPr marL="2514600" indent="-228600" eaLnBrk="0" fontAlgn="base" hangingPunct="0">
              <a:spcBef>
                <a:spcPct val="0"/>
              </a:spcBef>
              <a:spcAft>
                <a:spcPct val="0"/>
              </a:spcAft>
              <a:tabLst>
                <a:tab pos="685800" algn="l"/>
              </a:tabLst>
              <a:defRPr>
                <a:solidFill>
                  <a:schemeClr val="tx1"/>
                </a:solidFill>
                <a:latin typeface="Arial" charset="0"/>
              </a:defRPr>
            </a:lvl6pPr>
            <a:lvl7pPr marL="2971800" indent="-228600" eaLnBrk="0" fontAlgn="base" hangingPunct="0">
              <a:spcBef>
                <a:spcPct val="0"/>
              </a:spcBef>
              <a:spcAft>
                <a:spcPct val="0"/>
              </a:spcAft>
              <a:tabLst>
                <a:tab pos="685800" algn="l"/>
              </a:tabLst>
              <a:defRPr>
                <a:solidFill>
                  <a:schemeClr val="tx1"/>
                </a:solidFill>
                <a:latin typeface="Arial" charset="0"/>
              </a:defRPr>
            </a:lvl7pPr>
            <a:lvl8pPr marL="3429000" indent="-228600" eaLnBrk="0" fontAlgn="base" hangingPunct="0">
              <a:spcBef>
                <a:spcPct val="0"/>
              </a:spcBef>
              <a:spcAft>
                <a:spcPct val="0"/>
              </a:spcAft>
              <a:tabLst>
                <a:tab pos="685800" algn="l"/>
              </a:tabLst>
              <a:defRPr>
                <a:solidFill>
                  <a:schemeClr val="tx1"/>
                </a:solidFill>
                <a:latin typeface="Arial" charset="0"/>
              </a:defRPr>
            </a:lvl8pPr>
            <a:lvl9pPr marL="3886200" indent="-228600" eaLnBrk="0" fontAlgn="base" hangingPunct="0">
              <a:spcBef>
                <a:spcPct val="0"/>
              </a:spcBef>
              <a:spcAft>
                <a:spcPct val="0"/>
              </a:spcAft>
              <a:tabLst>
                <a:tab pos="685800" algn="l"/>
              </a:tabLst>
              <a:defRPr>
                <a:solidFill>
                  <a:schemeClr val="tx1"/>
                </a:solidFill>
                <a:latin typeface="Arial" charset="0"/>
              </a:defRPr>
            </a:lvl9pPr>
          </a:lstStyle>
          <a:p>
            <a:pPr algn="just" eaLnBrk="1" hangingPunct="1">
              <a:defRPr/>
            </a:pPr>
            <a:r>
              <a:rPr lang="es-ES_tradnl" altLang="es-ES" sz="1400" dirty="0"/>
              <a:t>Identifique claramente </a:t>
            </a:r>
            <a:r>
              <a:rPr lang="es-ES_tradnl" altLang="es-ES" sz="1400" b="1" dirty="0"/>
              <a:t>qué parámetro </a:t>
            </a:r>
            <a:r>
              <a:rPr lang="es-ES_tradnl" altLang="es-ES" sz="1400" dirty="0"/>
              <a:t>se trata de estimar.</a:t>
            </a:r>
          </a:p>
          <a:p>
            <a:pPr algn="just" eaLnBrk="1" hangingPunct="1">
              <a:defRPr/>
            </a:pPr>
            <a:endParaRPr lang="es-ES_tradnl" altLang="es-ES" sz="1400" dirty="0"/>
          </a:p>
          <a:p>
            <a:pPr algn="just" eaLnBrk="1" hangingPunct="1">
              <a:defRPr/>
            </a:pPr>
            <a:r>
              <a:rPr lang="es-ES_tradnl" altLang="es-ES" sz="1400" dirty="0"/>
              <a:t>Identifique claramente la </a:t>
            </a:r>
            <a:r>
              <a:rPr lang="es-ES_tradnl" altLang="es-ES" sz="1400" b="1" dirty="0"/>
              <a:t>información muestral</a:t>
            </a:r>
            <a:r>
              <a:rPr lang="es-ES_tradnl" altLang="es-ES" sz="1400" dirty="0"/>
              <a:t> y el </a:t>
            </a:r>
            <a:r>
              <a:rPr lang="es-ES_tradnl" altLang="es-ES" sz="1400" b="1" dirty="0"/>
              <a:t>estimador puntual</a:t>
            </a:r>
            <a:r>
              <a:rPr lang="es-ES_tradnl" altLang="es-ES" sz="1400" dirty="0"/>
              <a:t> correspondiente. Proporcione la estimación puntual (e interprétela).</a:t>
            </a:r>
          </a:p>
          <a:p>
            <a:pPr algn="just" eaLnBrk="1" hangingPunct="1">
              <a:defRPr/>
            </a:pPr>
            <a:endParaRPr lang="es-ES_tradnl" altLang="es-ES" sz="1400" dirty="0"/>
          </a:p>
          <a:p>
            <a:pPr algn="just" eaLnBrk="1" hangingPunct="1">
              <a:defRPr/>
            </a:pPr>
            <a:r>
              <a:rPr lang="es-ES_tradnl" altLang="es-ES" sz="1400" dirty="0"/>
              <a:t>Establezca el </a:t>
            </a:r>
            <a:r>
              <a:rPr lang="es-ES_tradnl" altLang="es-ES" sz="1400" b="1" dirty="0"/>
              <a:t>nivel de confianza</a:t>
            </a:r>
            <a:r>
              <a:rPr lang="es-ES_tradnl" altLang="es-ES" sz="1400" dirty="0"/>
              <a:t> </a:t>
            </a:r>
            <a:r>
              <a:rPr lang="es-ES_tradnl" altLang="es-ES" sz="1400" b="1" dirty="0">
                <a:latin typeface="Symbol" pitchFamily="18" charset="2"/>
              </a:rPr>
              <a:t>(1-a) </a:t>
            </a:r>
            <a:r>
              <a:rPr lang="es-ES_tradnl" altLang="es-ES" sz="1400" dirty="0">
                <a:latin typeface="Symbol" pitchFamily="18" charset="2"/>
              </a:rPr>
              <a:t>(</a:t>
            </a:r>
            <a:r>
              <a:rPr lang="es-ES_tradnl" altLang="es-ES" sz="1400" dirty="0">
                <a:latin typeface="+mj-lt"/>
              </a:rPr>
              <a:t>si no hay motivos para hacer otra cosa consideramos el 95%)</a:t>
            </a:r>
            <a:endParaRPr lang="es-ES_tradnl" altLang="es-ES" sz="1400" dirty="0">
              <a:latin typeface="Symbol" pitchFamily="18" charset="2"/>
            </a:endParaRPr>
          </a:p>
          <a:p>
            <a:pPr algn="just" eaLnBrk="1" hangingPunct="1">
              <a:defRPr/>
            </a:pPr>
            <a:endParaRPr lang="es-ES_tradnl" altLang="es-ES" sz="1400" dirty="0">
              <a:latin typeface="Symbol" pitchFamily="18" charset="2"/>
            </a:endParaRPr>
          </a:p>
          <a:p>
            <a:pPr algn="just" eaLnBrk="1" hangingPunct="1">
              <a:defRPr/>
            </a:pPr>
            <a:r>
              <a:rPr lang="es-ES_tradnl" altLang="es-ES" sz="1400" dirty="0"/>
              <a:t>Compruebe si se cumplen las </a:t>
            </a:r>
            <a:r>
              <a:rPr lang="es-ES_tradnl" altLang="es-ES" sz="1400" b="1" dirty="0"/>
              <a:t>condiciones de validez</a:t>
            </a:r>
            <a:r>
              <a:rPr lang="es-ES_tradnl" altLang="es-ES" sz="1400" dirty="0"/>
              <a:t> que pudiera haber, por ejemplo, al estimar una media, la normalidad de la variable o si no es normal que </a:t>
            </a:r>
            <a:r>
              <a:rPr lang="es-ES_tradnl" altLang="es-ES" sz="1600" i="1" dirty="0">
                <a:latin typeface="Times New Roman" panose="02020603050405020304" pitchFamily="18" charset="0"/>
                <a:cs typeface="Times New Roman" panose="02020603050405020304" pitchFamily="18" charset="0"/>
              </a:rPr>
              <a:t>n</a:t>
            </a:r>
            <a:r>
              <a:rPr lang="es-ES_tradnl" altLang="es-ES" sz="1400" dirty="0"/>
              <a:t>&gt;60. Al estimar una proporción que </a:t>
            </a:r>
            <a:r>
              <a:rPr lang="es-ES_tradnl" altLang="es-ES" sz="1600" i="1" dirty="0">
                <a:latin typeface="Times New Roman" panose="02020603050405020304" pitchFamily="18" charset="0"/>
                <a:cs typeface="Times New Roman" panose="02020603050405020304" pitchFamily="18" charset="0"/>
              </a:rPr>
              <a:t>x</a:t>
            </a:r>
            <a:r>
              <a:rPr lang="es-ES_tradnl" altLang="es-ES" sz="1400" dirty="0"/>
              <a:t> y </a:t>
            </a:r>
            <a:r>
              <a:rPr lang="es-ES_tradnl" altLang="es-ES" sz="1600" i="1" dirty="0">
                <a:latin typeface="Times New Roman" panose="02020603050405020304" pitchFamily="18" charset="0"/>
                <a:cs typeface="Times New Roman" panose="02020603050405020304" pitchFamily="18" charset="0"/>
              </a:rPr>
              <a:t>n-x</a:t>
            </a:r>
            <a:r>
              <a:rPr lang="es-ES_tradnl" altLang="es-ES" sz="1400" i="1" dirty="0">
                <a:latin typeface="Times New Roman" panose="02020603050405020304" pitchFamily="18" charset="0"/>
                <a:cs typeface="Times New Roman" panose="02020603050405020304" pitchFamily="18" charset="0"/>
              </a:rPr>
              <a:t> </a:t>
            </a:r>
            <a:r>
              <a:rPr lang="es-ES_tradnl" altLang="es-ES" sz="1400" dirty="0"/>
              <a:t>son mayores al valor que es requisito de la fórmula que se vaya a utilizar</a:t>
            </a:r>
          </a:p>
          <a:p>
            <a:pPr algn="just" eaLnBrk="1" hangingPunct="1">
              <a:defRPr/>
            </a:pPr>
            <a:endParaRPr lang="es-ES_tradnl" altLang="es-ES" sz="1400" dirty="0"/>
          </a:p>
          <a:p>
            <a:pPr algn="just" eaLnBrk="1" hangingPunct="1">
              <a:defRPr/>
            </a:pPr>
            <a:r>
              <a:rPr lang="es-ES_tradnl" altLang="es-ES" sz="1400" dirty="0"/>
              <a:t>Escriba la expresión del intervalo de confianza y </a:t>
            </a:r>
            <a:r>
              <a:rPr lang="es-ES_tradnl" altLang="es-ES" sz="1400" b="1" dirty="0"/>
              <a:t>realice los</a:t>
            </a:r>
            <a:r>
              <a:rPr lang="es-ES_tradnl" altLang="es-ES" sz="1400" dirty="0"/>
              <a:t> </a:t>
            </a:r>
            <a:r>
              <a:rPr lang="es-ES_tradnl" altLang="es-ES" sz="1400" b="1" dirty="0"/>
              <a:t>cálculos </a:t>
            </a:r>
            <a:r>
              <a:rPr lang="es-ES_tradnl" altLang="es-ES" sz="1400" dirty="0"/>
              <a:t>necesarios para obtenerlo.</a:t>
            </a:r>
          </a:p>
          <a:p>
            <a:pPr algn="just" eaLnBrk="1" hangingPunct="1">
              <a:defRPr/>
            </a:pPr>
            <a:endParaRPr lang="es-ES_tradnl" altLang="es-ES" sz="1400" dirty="0"/>
          </a:p>
          <a:p>
            <a:pPr algn="just" eaLnBrk="1" hangingPunct="1">
              <a:defRPr/>
            </a:pPr>
            <a:r>
              <a:rPr lang="es-ES_tradnl" altLang="es-ES" sz="1400" b="1" dirty="0"/>
              <a:t>Interprete los resultados obtenidos</a:t>
            </a:r>
            <a:r>
              <a:rPr lang="es-ES_tradnl" altLang="es-ES" sz="1400" dirty="0"/>
              <a:t>, indicando claramente</a:t>
            </a:r>
          </a:p>
          <a:p>
            <a:pPr lvl="1" algn="just" eaLnBrk="1" hangingPunct="1">
              <a:buFontTx/>
              <a:buChar char="-"/>
              <a:defRPr/>
            </a:pPr>
            <a:r>
              <a:rPr lang="es-ES_tradnl" altLang="es-ES" sz="1400" b="1" dirty="0"/>
              <a:t> </a:t>
            </a:r>
            <a:r>
              <a:rPr lang="es-ES_tradnl" altLang="es-ES" sz="1400" dirty="0"/>
              <a:t>cuál es el </a:t>
            </a:r>
            <a:r>
              <a:rPr lang="es-ES_tradnl" altLang="es-ES" sz="1400" b="1" dirty="0"/>
              <a:t>intervalo </a:t>
            </a:r>
            <a:r>
              <a:rPr lang="es-ES_tradnl" altLang="es-ES" sz="1400" dirty="0"/>
              <a:t>(no olvide las</a:t>
            </a:r>
            <a:r>
              <a:rPr lang="es-ES_tradnl" altLang="es-ES" sz="1400" b="1" dirty="0"/>
              <a:t> unidades de medida</a:t>
            </a:r>
            <a:r>
              <a:rPr lang="es-ES_tradnl" altLang="es-ES" sz="1400" dirty="0"/>
              <a:t>)</a:t>
            </a:r>
          </a:p>
          <a:p>
            <a:pPr lvl="1" algn="just" eaLnBrk="1" hangingPunct="1">
              <a:buFontTx/>
              <a:buChar char="-"/>
              <a:defRPr/>
            </a:pPr>
            <a:r>
              <a:rPr lang="es-ES_tradnl" altLang="es-ES" sz="1400" b="1" dirty="0"/>
              <a:t> </a:t>
            </a:r>
            <a:r>
              <a:rPr lang="es-ES_tradnl" altLang="es-ES" sz="1400" dirty="0"/>
              <a:t>cuál es la </a:t>
            </a:r>
            <a:r>
              <a:rPr lang="es-ES_tradnl" altLang="es-ES" sz="1400" b="1" dirty="0"/>
              <a:t>precisión</a:t>
            </a:r>
            <a:r>
              <a:rPr lang="es-ES_tradnl" altLang="es-ES" sz="1400" dirty="0"/>
              <a:t> obtenida (también tiene unidades de medida)</a:t>
            </a:r>
          </a:p>
          <a:p>
            <a:pPr lvl="1" algn="just" eaLnBrk="1" hangingPunct="1">
              <a:buFontTx/>
              <a:buChar char="-"/>
              <a:defRPr/>
            </a:pPr>
            <a:r>
              <a:rPr lang="es-ES_tradnl" altLang="es-ES" sz="1400" dirty="0"/>
              <a:t> el nivel de </a:t>
            </a:r>
            <a:r>
              <a:rPr lang="es-ES_tradnl" altLang="es-ES" sz="1400" b="1" dirty="0"/>
              <a:t>confianza</a:t>
            </a:r>
            <a:r>
              <a:rPr lang="es-ES_tradnl" altLang="es-ES" sz="1400" dirty="0"/>
              <a:t> con que se ha construido. </a:t>
            </a:r>
          </a:p>
          <a:p>
            <a:pPr algn="just" eaLnBrk="1" hangingPunct="1">
              <a:defRPr/>
            </a:pPr>
            <a:endParaRPr lang="es-ES_tradnl" altLang="es-ES" sz="1400" dirty="0"/>
          </a:p>
          <a:p>
            <a:pPr algn="just" eaLnBrk="1" hangingPunct="1">
              <a:defRPr/>
            </a:pPr>
            <a:r>
              <a:rPr lang="es-ES_tradnl" altLang="es-ES" sz="1400" dirty="0"/>
              <a:t>Si se trata de obtener una precisión dada de antemano </a:t>
            </a:r>
            <a:r>
              <a:rPr lang="es-ES_tradnl" altLang="es-ES" sz="1400" dirty="0" err="1">
                <a:latin typeface="Symbol" panose="05050102010706020507" pitchFamily="18" charset="2"/>
              </a:rPr>
              <a:t>d</a:t>
            </a:r>
            <a:r>
              <a:rPr lang="es-ES_tradnl" altLang="es-ES" sz="1400" baseline="-25000" dirty="0" err="1"/>
              <a:t>deseada</a:t>
            </a:r>
            <a:r>
              <a:rPr lang="es-ES_tradnl" altLang="es-ES" sz="1400" baseline="-25000" dirty="0"/>
              <a:t> </a:t>
            </a:r>
            <a:r>
              <a:rPr lang="es-ES_tradnl" altLang="es-ES" sz="1400" dirty="0"/>
              <a:t>compruebe si la precisión obtenida es mayor: </a:t>
            </a:r>
            <a:r>
              <a:rPr lang="es-ES_tradnl" altLang="es-ES" sz="1600" i="1" dirty="0">
                <a:latin typeface="Times New Roman" panose="02020603050405020304" pitchFamily="18" charset="0"/>
                <a:cs typeface="Times New Roman" panose="02020603050405020304" pitchFamily="18" charset="0"/>
              </a:rPr>
              <a:t>d&lt;</a:t>
            </a:r>
            <a:r>
              <a:rPr lang="es-ES_tradnl" altLang="es-ES" sz="1400" dirty="0" err="1">
                <a:latin typeface="Symbol" panose="05050102010706020507" pitchFamily="18" charset="2"/>
              </a:rPr>
              <a:t>d</a:t>
            </a:r>
            <a:r>
              <a:rPr lang="es-ES_tradnl" altLang="es-ES" sz="1400" baseline="-25000" dirty="0" err="1"/>
              <a:t>deseada</a:t>
            </a:r>
            <a:r>
              <a:rPr lang="es-ES_tradnl" altLang="es-ES" sz="1400" baseline="-25000" dirty="0"/>
              <a:t> </a:t>
            </a:r>
            <a:r>
              <a:rPr lang="es-ES_tradnl" altLang="es-ES" sz="1400" dirty="0"/>
              <a:t>de ser así, no hay que hacer nada más (la muestra actual es suficiente). En caso contrario (si </a:t>
            </a:r>
            <a:r>
              <a:rPr lang="es-ES_tradnl" altLang="es-ES" sz="1600" i="1" dirty="0">
                <a:latin typeface="Times New Roman" panose="02020603050405020304" pitchFamily="18" charset="0"/>
                <a:cs typeface="Times New Roman" panose="02020603050405020304" pitchFamily="18" charset="0"/>
              </a:rPr>
              <a:t>d ≥ </a:t>
            </a:r>
            <a:r>
              <a:rPr lang="es-ES_tradnl" altLang="es-ES" sz="1400" dirty="0" err="1">
                <a:latin typeface="Symbol" panose="05050102010706020507" pitchFamily="18" charset="2"/>
              </a:rPr>
              <a:t>d</a:t>
            </a:r>
            <a:r>
              <a:rPr lang="es-ES_tradnl" altLang="es-ES" sz="1400" baseline="-25000" dirty="0" err="1"/>
              <a:t>deseada</a:t>
            </a:r>
            <a:r>
              <a:rPr lang="es-ES_tradnl" altLang="es-ES" sz="1400" dirty="0"/>
              <a:t>) se debe determinar el tamaño de muestra necesario para cumplir con esta especificación </a:t>
            </a:r>
            <a:endParaRPr lang="es-ES_tradnl" altLang="es-ES" sz="1400" baseline="-25000" dirty="0"/>
          </a:p>
        </p:txBody>
      </p:sp>
      <p:sp>
        <p:nvSpPr>
          <p:cNvPr id="2" name="AutoShape 40"/>
          <p:cNvSpPr>
            <a:spLocks noChangeArrowheads="1"/>
          </p:cNvSpPr>
          <p:nvPr/>
        </p:nvSpPr>
        <p:spPr bwMode="auto">
          <a:xfrm>
            <a:off x="252413" y="1068388"/>
            <a:ext cx="8686800" cy="5519737"/>
          </a:xfrm>
          <a:prstGeom prst="roundRect">
            <a:avLst>
              <a:gd name="adj" fmla="val 2981"/>
            </a:avLst>
          </a:prstGeom>
          <a:noFill/>
          <a:ln w="9525">
            <a:solidFill>
              <a:srgbClr val="FF99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s-ES" altLang="es-ES"/>
          </a:p>
        </p:txBody>
      </p:sp>
      <p:sp>
        <p:nvSpPr>
          <p:cNvPr id="23556" name="Text Box 35"/>
          <p:cNvSpPr txBox="1">
            <a:spLocks noChangeArrowheads="1"/>
          </p:cNvSpPr>
          <p:nvPr/>
        </p:nvSpPr>
        <p:spPr bwMode="auto">
          <a:xfrm>
            <a:off x="473075" y="895350"/>
            <a:ext cx="3565525" cy="3407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eaLnBrk="0" hangingPunct="0">
              <a:tabLst>
                <a:tab pos="685800" algn="l"/>
              </a:tabLst>
              <a:defRPr>
                <a:solidFill>
                  <a:schemeClr val="tx1"/>
                </a:solidFill>
                <a:latin typeface="Arial" charset="0"/>
              </a:defRPr>
            </a:lvl1pPr>
            <a:lvl2pPr marL="742950" indent="-285750" eaLnBrk="0" hangingPunct="0">
              <a:tabLst>
                <a:tab pos="685800" algn="l"/>
              </a:tabLst>
              <a:defRPr>
                <a:solidFill>
                  <a:schemeClr val="tx1"/>
                </a:solidFill>
                <a:latin typeface="Arial" charset="0"/>
              </a:defRPr>
            </a:lvl2pPr>
            <a:lvl3pPr marL="1143000" indent="-228600" eaLnBrk="0" hangingPunct="0">
              <a:tabLst>
                <a:tab pos="685800" algn="l"/>
              </a:tabLst>
              <a:defRPr>
                <a:solidFill>
                  <a:schemeClr val="tx1"/>
                </a:solidFill>
                <a:latin typeface="Arial" charset="0"/>
              </a:defRPr>
            </a:lvl3pPr>
            <a:lvl4pPr marL="1600200" indent="-228600" eaLnBrk="0" hangingPunct="0">
              <a:tabLst>
                <a:tab pos="685800" algn="l"/>
              </a:tabLst>
              <a:defRPr>
                <a:solidFill>
                  <a:schemeClr val="tx1"/>
                </a:solidFill>
                <a:latin typeface="Arial" charset="0"/>
              </a:defRPr>
            </a:lvl4pPr>
            <a:lvl5pPr marL="2057400" indent="-228600" eaLnBrk="0" hangingPunct="0">
              <a:tabLst>
                <a:tab pos="685800" algn="l"/>
              </a:tabLst>
              <a:defRPr>
                <a:solidFill>
                  <a:schemeClr val="tx1"/>
                </a:solidFill>
                <a:latin typeface="Arial" charset="0"/>
              </a:defRPr>
            </a:lvl5pPr>
            <a:lvl6pPr marL="2514600" indent="-228600" eaLnBrk="0" fontAlgn="base" hangingPunct="0">
              <a:spcBef>
                <a:spcPct val="0"/>
              </a:spcBef>
              <a:spcAft>
                <a:spcPct val="0"/>
              </a:spcAft>
              <a:tabLst>
                <a:tab pos="685800" algn="l"/>
              </a:tabLst>
              <a:defRPr>
                <a:solidFill>
                  <a:schemeClr val="tx1"/>
                </a:solidFill>
                <a:latin typeface="Arial" charset="0"/>
              </a:defRPr>
            </a:lvl6pPr>
            <a:lvl7pPr marL="2971800" indent="-228600" eaLnBrk="0" fontAlgn="base" hangingPunct="0">
              <a:spcBef>
                <a:spcPct val="0"/>
              </a:spcBef>
              <a:spcAft>
                <a:spcPct val="0"/>
              </a:spcAft>
              <a:tabLst>
                <a:tab pos="685800" algn="l"/>
              </a:tabLst>
              <a:defRPr>
                <a:solidFill>
                  <a:schemeClr val="tx1"/>
                </a:solidFill>
                <a:latin typeface="Arial" charset="0"/>
              </a:defRPr>
            </a:lvl7pPr>
            <a:lvl8pPr marL="3429000" indent="-228600" eaLnBrk="0" fontAlgn="base" hangingPunct="0">
              <a:spcBef>
                <a:spcPct val="0"/>
              </a:spcBef>
              <a:spcAft>
                <a:spcPct val="0"/>
              </a:spcAft>
              <a:tabLst>
                <a:tab pos="685800" algn="l"/>
              </a:tabLst>
              <a:defRPr>
                <a:solidFill>
                  <a:schemeClr val="tx1"/>
                </a:solidFill>
                <a:latin typeface="Arial" charset="0"/>
              </a:defRPr>
            </a:lvl8pPr>
            <a:lvl9pPr marL="3886200" indent="-228600" eaLnBrk="0" fontAlgn="base" hangingPunct="0">
              <a:spcBef>
                <a:spcPct val="0"/>
              </a:spcBef>
              <a:spcAft>
                <a:spcPct val="0"/>
              </a:spcAft>
              <a:tabLst>
                <a:tab pos="685800" algn="l"/>
              </a:tabLst>
              <a:defRPr>
                <a:solidFill>
                  <a:schemeClr val="tx1"/>
                </a:solidFill>
                <a:latin typeface="Arial" charset="0"/>
              </a:defRPr>
            </a:lvl9pPr>
          </a:lstStyle>
          <a:p>
            <a:pPr algn="just" eaLnBrk="1" hangingPunct="1"/>
            <a:r>
              <a:rPr lang="es-ES_tradnl" altLang="es-ES" sz="1600" b="1" dirty="0"/>
              <a:t>Un posible esquema de trabajo</a:t>
            </a:r>
          </a:p>
        </p:txBody>
      </p:sp>
      <p:sp>
        <p:nvSpPr>
          <p:cNvPr id="5" name="Text Box 32"/>
          <p:cNvSpPr txBox="1">
            <a:spLocks noChangeArrowheads="1"/>
          </p:cNvSpPr>
          <p:nvPr/>
        </p:nvSpPr>
        <p:spPr bwMode="auto">
          <a:xfrm>
            <a:off x="171450" y="213303"/>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Tree>
    <p:extLst>
      <p:ext uri="{BB962C8B-B14F-4D97-AF65-F5344CB8AC3E}">
        <p14:creationId xmlns:p14="http://schemas.microsoft.com/office/powerpoint/2010/main" val="21153427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7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66800"/>
            <a:ext cx="8924925"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79" name="Text Box 732"/>
          <p:cNvSpPr txBox="1">
            <a:spLocks noChangeArrowheads="1"/>
          </p:cNvSpPr>
          <p:nvPr/>
        </p:nvSpPr>
        <p:spPr bwMode="auto">
          <a:xfrm>
            <a:off x="0" y="152400"/>
            <a:ext cx="1123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a:solidFill>
                  <a:schemeClr val="bg1"/>
                </a:solidFill>
              </a:rPr>
              <a:t>Ejemplos</a:t>
            </a:r>
          </a:p>
        </p:txBody>
      </p:sp>
      <p:sp>
        <p:nvSpPr>
          <p:cNvPr id="24580" name="Text Box 733"/>
          <p:cNvSpPr txBox="1">
            <a:spLocks noChangeArrowheads="1"/>
          </p:cNvSpPr>
          <p:nvPr/>
        </p:nvSpPr>
        <p:spPr bwMode="auto">
          <a:xfrm>
            <a:off x="152400" y="868362"/>
            <a:ext cx="444814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400" dirty="0"/>
              <a:t>Estimación de medias (suponer que la </a:t>
            </a:r>
            <a:r>
              <a:rPr lang="es-ES" altLang="es-ES" sz="1400" dirty="0" err="1"/>
              <a:t>v.a.</a:t>
            </a:r>
            <a:r>
              <a:rPr lang="es-ES" altLang="es-ES" sz="1400" dirty="0"/>
              <a:t> es normal)</a:t>
            </a:r>
          </a:p>
        </p:txBody>
      </p:sp>
      <p:sp>
        <p:nvSpPr>
          <p:cNvPr id="5" name="Text Box 733"/>
          <p:cNvSpPr txBox="1">
            <a:spLocks noChangeArrowheads="1"/>
          </p:cNvSpPr>
          <p:nvPr/>
        </p:nvSpPr>
        <p:spPr bwMode="auto">
          <a:xfrm>
            <a:off x="152400" y="423446"/>
            <a:ext cx="115448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600" b="1" dirty="0"/>
              <a:t>Ejercicios</a:t>
            </a:r>
          </a:p>
        </p:txBody>
      </p:sp>
      <p:sp>
        <p:nvSpPr>
          <p:cNvPr id="6" name="Text Box 32"/>
          <p:cNvSpPr txBox="1">
            <a:spLocks noChangeArrowheads="1"/>
          </p:cNvSpPr>
          <p:nvPr/>
        </p:nvSpPr>
        <p:spPr bwMode="auto">
          <a:xfrm>
            <a:off x="152400" y="40265"/>
            <a:ext cx="4522787" cy="340735"/>
          </a:xfrm>
          <a:prstGeom prst="rect">
            <a:avLst/>
          </a:prstGeom>
          <a:noFill/>
          <a:ln>
            <a:noFill/>
          </a:ln>
          <a:effectLst/>
          <a:extLst>
            <a:ext uri="{909E8E84-426E-40DD-AFC4-6F175D3DCCD1}">
              <a14:hiddenFill xmlns:a14="http://schemas.microsoft.com/office/drawing/2010/main">
                <a:solidFill>
                  <a:srgbClr val="C0C0C0">
                    <a:alpha val="50195"/>
                  </a:srgbClr>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s-ES" altLang="es-ES" sz="1600" b="1" dirty="0">
                <a:solidFill>
                  <a:srgbClr val="000000"/>
                </a:solidFill>
              </a:rPr>
              <a:t>Estimación por intervalo de confianza (IC)</a:t>
            </a:r>
          </a:p>
        </p:txBody>
      </p:sp>
      <p:sp>
        <p:nvSpPr>
          <p:cNvPr id="7" name="Text Box 733"/>
          <p:cNvSpPr txBox="1">
            <a:spLocks noChangeArrowheads="1"/>
          </p:cNvSpPr>
          <p:nvPr/>
        </p:nvSpPr>
        <p:spPr bwMode="auto">
          <a:xfrm>
            <a:off x="159096" y="3608388"/>
            <a:ext cx="23936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 altLang="es-ES" sz="1400" dirty="0"/>
              <a:t>Estimación de proporciones</a:t>
            </a:r>
          </a:p>
        </p:txBody>
      </p:sp>
      <p:pic>
        <p:nvPicPr>
          <p:cNvPr id="4" name="Imagen 3"/>
          <p:cNvPicPr>
            <a:picLocks noChangeAspect="1"/>
          </p:cNvPicPr>
          <p:nvPr/>
        </p:nvPicPr>
        <p:blipFill>
          <a:blip r:embed="rId3"/>
          <a:stretch>
            <a:fillRect/>
          </a:stretch>
        </p:blipFill>
        <p:spPr>
          <a:xfrm>
            <a:off x="159096" y="3962400"/>
            <a:ext cx="8821371" cy="2788764"/>
          </a:xfrm>
          <a:prstGeom prst="rect">
            <a:avLst/>
          </a:prstGeom>
        </p:spPr>
      </p:pic>
    </p:spTree>
    <p:extLst>
      <p:ext uri="{BB962C8B-B14F-4D97-AF65-F5344CB8AC3E}">
        <p14:creationId xmlns:p14="http://schemas.microsoft.com/office/powerpoint/2010/main" val="1725643483"/>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15206</TotalTime>
  <Words>3696</Words>
  <Application>Microsoft Macintosh PowerPoint</Application>
  <PresentationFormat>On-screen Show (4:3)</PresentationFormat>
  <Paragraphs>341</Paragraphs>
  <Slides>25</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2</vt:i4>
      </vt:variant>
      <vt:variant>
        <vt:lpstr>Slide Titles</vt:lpstr>
      </vt:variant>
      <vt:variant>
        <vt:i4>25</vt:i4>
      </vt:variant>
    </vt:vector>
  </HeadingPairs>
  <TitlesOfParts>
    <vt:vector size="31" baseType="lpstr">
      <vt:lpstr>Arial</vt:lpstr>
      <vt:lpstr>Symbol</vt:lpstr>
      <vt:lpstr>Times New Roman</vt:lpstr>
      <vt:lpstr>Diseño predeterminado</vt:lpstr>
      <vt:lpstr>Equation</vt:lpstr>
      <vt:lpstr>Gráfico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Porto Alegre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Pedro Femia</dc:creator>
  <cp:lastModifiedBy>MIGUEL ÁNGEL LUQUE FERNÁNDEZ</cp:lastModifiedBy>
  <cp:revision>332</cp:revision>
  <cp:lastPrinted>2018-10-10T17:15:58Z</cp:lastPrinted>
  <dcterms:created xsi:type="dcterms:W3CDTF">2012-06-20T17:39:24Z</dcterms:created>
  <dcterms:modified xsi:type="dcterms:W3CDTF">2023-10-04T10:38:51Z</dcterms:modified>
</cp:coreProperties>
</file>