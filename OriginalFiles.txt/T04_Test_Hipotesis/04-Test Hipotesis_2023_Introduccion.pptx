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3"/>
  </p:notesMasterIdLst>
  <p:handoutMasterIdLst>
    <p:handoutMasterId r:id="rId34"/>
  </p:handoutMasterIdLst>
  <p:sldIdLst>
    <p:sldId id="258" r:id="rId2"/>
    <p:sldId id="259" r:id="rId3"/>
    <p:sldId id="260" r:id="rId4"/>
    <p:sldId id="278" r:id="rId5"/>
    <p:sldId id="261" r:id="rId6"/>
    <p:sldId id="289" r:id="rId7"/>
    <p:sldId id="290" r:id="rId8"/>
    <p:sldId id="262" r:id="rId9"/>
    <p:sldId id="263" r:id="rId10"/>
    <p:sldId id="264" r:id="rId11"/>
    <p:sldId id="265" r:id="rId12"/>
    <p:sldId id="266" r:id="rId13"/>
    <p:sldId id="285" r:id="rId14"/>
    <p:sldId id="286" r:id="rId15"/>
    <p:sldId id="287" r:id="rId16"/>
    <p:sldId id="288" r:id="rId17"/>
    <p:sldId id="267" r:id="rId18"/>
    <p:sldId id="268" r:id="rId19"/>
    <p:sldId id="282" r:id="rId20"/>
    <p:sldId id="270" r:id="rId21"/>
    <p:sldId id="257" r:id="rId22"/>
    <p:sldId id="271" r:id="rId23"/>
    <p:sldId id="292" r:id="rId24"/>
    <p:sldId id="291" r:id="rId25"/>
    <p:sldId id="272" r:id="rId26"/>
    <p:sldId id="273" r:id="rId27"/>
    <p:sldId id="275" r:id="rId28"/>
    <p:sldId id="276" r:id="rId29"/>
    <p:sldId id="279" r:id="rId30"/>
    <p:sldId id="280" r:id="rId31"/>
    <p:sldId id="283" r:id="rId32"/>
  </p:sldIdLst>
  <p:sldSz cx="9144000" cy="6858000" type="screen4x3"/>
  <p:notesSz cx="7099300" cy="10234613"/>
  <p:defaultTextStyle>
    <a:defPPr>
      <a:defRPr lang="es-ES"/>
    </a:defPPr>
    <a:lvl1pPr algn="l" rtl="0" fontAlgn="base">
      <a:spcBef>
        <a:spcPct val="0"/>
      </a:spcBef>
      <a:spcAft>
        <a:spcPct val="0"/>
      </a:spcAft>
      <a:defRPr sz="1200" kern="120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432" userDrawn="1">
          <p15:clr>
            <a:srgbClr val="A4A3A4"/>
          </p15:clr>
        </p15:guide>
        <p15:guide id="2" pos="24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5654"/>
    <a:srgbClr val="023D6E"/>
    <a:srgbClr val="003399"/>
    <a:srgbClr val="FF9900"/>
    <a:srgbClr val="0033CC"/>
    <a:srgbClr val="336699"/>
    <a:srgbClr val="2F676F"/>
    <a:srgbClr val="360000"/>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02" autoAdjust="0"/>
    <p:restoredTop sz="91429" autoAdjust="0"/>
  </p:normalViewPr>
  <p:slideViewPr>
    <p:cSldViewPr showGuides="1">
      <p:cViewPr varScale="1">
        <p:scale>
          <a:sx n="117" d="100"/>
          <a:sy n="117" d="100"/>
        </p:scale>
        <p:origin x="2216" y="168"/>
      </p:cViewPr>
      <p:guideLst>
        <p:guide orient="horz" pos="432"/>
        <p:guide pos="240"/>
      </p:guideLst>
    </p:cSldViewPr>
  </p:slid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73" d="100"/>
          <a:sy n="73" d="100"/>
        </p:scale>
        <p:origin x="3090" y="12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154940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smtClean="0"/>
            </a:lvl1pPr>
          </a:lstStyle>
          <a:p>
            <a:pPr>
              <a:defRPr/>
            </a:pPr>
            <a:r>
              <a:rPr lang="es-ES_tradnl" altLang="es-ES" sz="1100" dirty="0"/>
              <a:t>Pedro Fe</a:t>
            </a:r>
            <a:r>
              <a:rPr lang="es-ES" altLang="es-ES" sz="1100" dirty="0" err="1"/>
              <a:t>mia</a:t>
            </a:r>
            <a:r>
              <a:rPr lang="es-ES" altLang="es-ES" sz="1100" dirty="0"/>
              <a:t> (</a:t>
            </a:r>
            <a:r>
              <a:rPr lang="es-ES" altLang="es-ES" sz="1100" i="1" dirty="0"/>
              <a:t>pfemia@ugr.es</a:t>
            </a:r>
            <a:r>
              <a:rPr lang="es-ES" altLang="es-ES" sz="1100" dirty="0"/>
              <a:t>)  </a:t>
            </a:r>
          </a:p>
          <a:p>
            <a:pPr>
              <a:defRPr/>
            </a:pPr>
            <a:r>
              <a:rPr lang="es-ES_tradnl" altLang="es-ES" sz="1100" dirty="0"/>
              <a:t>Bioestadística. Universidad de Granada</a:t>
            </a:r>
            <a:endParaRPr lang="es-ES" altLang="es-ES" sz="1100" dirty="0"/>
          </a:p>
        </p:txBody>
      </p:sp>
      <p:sp>
        <p:nvSpPr>
          <p:cNvPr id="12293" name="Rectangle 5"/>
          <p:cNvSpPr>
            <a:spLocks noGrp="1" noChangeArrowheads="1"/>
          </p:cNvSpPr>
          <p:nvPr>
            <p:ph type="sldNum" sz="quarter" idx="3"/>
          </p:nvPr>
        </p:nvSpPr>
        <p:spPr bwMode="auto">
          <a:xfrm>
            <a:off x="0" y="9776391"/>
            <a:ext cx="7099300" cy="392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lgn="ctr">
              <a:defRPr/>
            </a:pPr>
            <a:fld id="{9C4F1793-6012-4E53-BF38-A80459238650}" type="slidenum">
              <a:rPr lang="es-ES" altLang="es-ES"/>
              <a:pPr algn="ctr">
                <a:defRPr/>
              </a:pPr>
              <a:t>‹#›</a:t>
            </a:fld>
            <a:endParaRPr lang="es-ES" altLang="es-ES"/>
          </a:p>
        </p:txBody>
      </p:sp>
      <p:pic>
        <p:nvPicPr>
          <p:cNvPr id="6" name="Picture 2" descr="http://es.creativecommons.org/blog/wp-content/uploads/2013/04/by-nc-nd.eu_peti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88106"/>
            <a:ext cx="1123950" cy="3905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p:cNvSpPr txBox="1">
            <a:spLocks noChangeArrowheads="1"/>
          </p:cNvSpPr>
          <p:nvPr/>
        </p:nvSpPr>
        <p:spPr bwMode="auto">
          <a:xfrm>
            <a:off x="385445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defPPr>
              <a:defRPr lang="es-ES"/>
            </a:defPPr>
            <a:lvl1pPr algn="l" rtl="0" fontAlgn="base">
              <a:spcBef>
                <a:spcPct val="0"/>
              </a:spcBef>
              <a:spcAft>
                <a:spcPct val="0"/>
              </a:spcAft>
              <a:defRPr sz="1200" kern="1200" smtClean="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algn="r">
              <a:defRPr/>
            </a:pPr>
            <a:r>
              <a:rPr lang="es-ES" altLang="es-ES" dirty="0"/>
              <a:t>Grado en Enfermería</a:t>
            </a:r>
          </a:p>
          <a:p>
            <a:pPr algn="r">
              <a:defRPr/>
            </a:pPr>
            <a:r>
              <a:rPr lang="es-ES" altLang="es-ES" dirty="0"/>
              <a:t>2018</a:t>
            </a:r>
          </a:p>
        </p:txBody>
      </p:sp>
    </p:spTree>
    <p:extLst>
      <p:ext uri="{BB962C8B-B14F-4D97-AF65-F5344CB8AC3E}">
        <p14:creationId xmlns:p14="http://schemas.microsoft.com/office/powerpoint/2010/main" val="41851753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a:lvl1pPr>
          </a:lstStyle>
          <a:p>
            <a:pPr>
              <a:defRPr/>
            </a:pPr>
            <a:endParaRPr lang="es-ES" altLang="es-ES"/>
          </a:p>
        </p:txBody>
      </p:sp>
      <p:sp>
        <p:nvSpPr>
          <p:cNvPr id="4403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a:defRPr/>
            </a:lvl1pPr>
          </a:lstStyle>
          <a:p>
            <a:pPr>
              <a:defRPr/>
            </a:pPr>
            <a:endParaRPr lang="es-ES" altLang="es-ES"/>
          </a:p>
        </p:txBody>
      </p:sp>
      <p:sp>
        <p:nvSpPr>
          <p:cNvPr id="40964"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403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s-ES" altLang="es-ES" noProof="0"/>
              <a:t>Haga clic para modificar el estilo de texto del patrón</a:t>
            </a:r>
          </a:p>
          <a:p>
            <a:pPr lvl="1"/>
            <a:r>
              <a:rPr lang="es-ES" altLang="es-ES" noProof="0"/>
              <a:t>Segundo nivel</a:t>
            </a:r>
          </a:p>
          <a:p>
            <a:pPr lvl="2"/>
            <a:r>
              <a:rPr lang="es-ES" altLang="es-ES" noProof="0"/>
              <a:t>Tercer nivel</a:t>
            </a:r>
          </a:p>
          <a:p>
            <a:pPr lvl="3"/>
            <a:r>
              <a:rPr lang="es-ES" altLang="es-ES" noProof="0"/>
              <a:t>Cuarto nivel</a:t>
            </a:r>
          </a:p>
          <a:p>
            <a:pPr lvl="4"/>
            <a:r>
              <a:rPr lang="es-ES" altLang="es-ES" noProof="0"/>
              <a:t>Quinto nivel</a:t>
            </a:r>
          </a:p>
        </p:txBody>
      </p:sp>
      <p:sp>
        <p:nvSpPr>
          <p:cNvPr id="4403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defRPr/>
            </a:lvl1pPr>
          </a:lstStyle>
          <a:p>
            <a:pPr>
              <a:defRPr/>
            </a:pPr>
            <a:endParaRPr lang="es-ES" altLang="es-ES"/>
          </a:p>
        </p:txBody>
      </p:sp>
      <p:sp>
        <p:nvSpPr>
          <p:cNvPr id="4403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defRPr/>
            </a:pPr>
            <a:fld id="{58445C5D-153B-4697-9968-7F13084BEFAB}" type="slidenum">
              <a:rPr lang="es-ES" altLang="es-ES"/>
              <a:pPr>
                <a:defRPr/>
              </a:pPr>
              <a:t>‹#›</a:t>
            </a:fld>
            <a:endParaRPr lang="es-ES" altLang="es-ES"/>
          </a:p>
        </p:txBody>
      </p:sp>
    </p:spTree>
    <p:extLst>
      <p:ext uri="{BB962C8B-B14F-4D97-AF65-F5344CB8AC3E}">
        <p14:creationId xmlns:p14="http://schemas.microsoft.com/office/powerpoint/2010/main" val="98882395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58445C5D-153B-4697-9968-7F13084BEFAB}" type="slidenum">
              <a:rPr lang="es-ES" altLang="es-ES" smtClean="0"/>
              <a:pPr>
                <a:defRPr/>
              </a:pPr>
              <a:t>29</a:t>
            </a:fld>
            <a:endParaRPr lang="es-ES" altLang="es-ES"/>
          </a:p>
        </p:txBody>
      </p:sp>
    </p:spTree>
    <p:extLst>
      <p:ext uri="{BB962C8B-B14F-4D97-AF65-F5344CB8AC3E}">
        <p14:creationId xmlns:p14="http://schemas.microsoft.com/office/powerpoint/2010/main" val="1497914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a:defRPr/>
            </a:pPr>
            <a:fld id="{58445C5D-153B-4697-9968-7F13084BEFAB}" type="slidenum">
              <a:rPr lang="es-ES" altLang="es-ES" smtClean="0"/>
              <a:pPr>
                <a:defRPr/>
              </a:pPr>
              <a:t>31</a:t>
            </a:fld>
            <a:endParaRPr lang="es-ES" altLang="es-ES"/>
          </a:p>
        </p:txBody>
      </p:sp>
    </p:spTree>
    <p:extLst>
      <p:ext uri="{BB962C8B-B14F-4D97-AF65-F5344CB8AC3E}">
        <p14:creationId xmlns:p14="http://schemas.microsoft.com/office/powerpoint/2010/main" val="535042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Tree>
    <p:extLst>
      <p:ext uri="{BB962C8B-B14F-4D97-AF65-F5344CB8AC3E}">
        <p14:creationId xmlns:p14="http://schemas.microsoft.com/office/powerpoint/2010/main" val="2571519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45499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176838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832165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92105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Tree>
    <p:extLst>
      <p:ext uri="{BB962C8B-B14F-4D97-AF65-F5344CB8AC3E}">
        <p14:creationId xmlns:p14="http://schemas.microsoft.com/office/powerpoint/2010/main" val="2165570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631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804485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70032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099339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825035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Text Box 9"/>
          <p:cNvSpPr txBox="1">
            <a:spLocks noChangeArrowheads="1"/>
          </p:cNvSpPr>
          <p:nvPr userDrawn="1"/>
        </p:nvSpPr>
        <p:spPr bwMode="auto">
          <a:xfrm>
            <a:off x="8001000" y="90488"/>
            <a:ext cx="9667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defRPr/>
            </a:pPr>
            <a:fld id="{7FAF1F29-B240-471F-9E53-AB9CCE719600}" type="slidenum">
              <a:rPr lang="es-ES" altLang="es-ES" b="1" smtClean="0">
                <a:solidFill>
                  <a:schemeClr val="tx1">
                    <a:lumMod val="85000"/>
                    <a:lumOff val="15000"/>
                  </a:schemeClr>
                </a:solidFill>
              </a:rPr>
              <a:pPr algn="r" eaLnBrk="1" hangingPunct="1">
                <a:defRPr/>
              </a:pPr>
              <a:t>‹#›</a:t>
            </a:fld>
            <a:endParaRPr lang="es-ES" altLang="es-ES" b="1" dirty="0">
              <a:solidFill>
                <a:schemeClr val="tx1">
                  <a:lumMod val="85000"/>
                  <a:lumOff val="15000"/>
                </a:schemeClr>
              </a:solidFill>
            </a:endParaRPr>
          </a:p>
        </p:txBody>
      </p:sp>
      <p:cxnSp>
        <p:nvCxnSpPr>
          <p:cNvPr id="5" name="Conector recto 4"/>
          <p:cNvCxnSpPr/>
          <p:nvPr userDrawn="1"/>
        </p:nvCxnSpPr>
        <p:spPr>
          <a:xfrm>
            <a:off x="0" y="762000"/>
            <a:ext cx="9144000" cy="0"/>
          </a:xfrm>
          <a:prstGeom prst="line">
            <a:avLst/>
          </a:prstGeom>
          <a:ln>
            <a:gradFill flip="none" rotWithShape="1">
              <a:gsLst>
                <a:gs pos="34000">
                  <a:schemeClr val="bg1"/>
                </a:gs>
                <a:gs pos="55000">
                  <a:schemeClr val="accent4">
                    <a:lumMod val="89000"/>
                  </a:schemeClr>
                </a:gs>
                <a:gs pos="81000">
                  <a:schemeClr val="accent4">
                    <a:lumMod val="75000"/>
                  </a:schemeClr>
                </a:gs>
                <a:gs pos="100000">
                  <a:schemeClr val="accent4">
                    <a:lumMod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5.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3.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6.wmf"/></Relationships>
</file>

<file path=ppt/slides/_rels/slide3.xml.rels><?xml version="1.0" encoding="UTF-8" standalone="yes"?>
<Relationships xmlns="http://schemas.openxmlformats.org/package/2006/relationships"><Relationship Id="rId13" Type="http://schemas.openxmlformats.org/officeDocument/2006/relationships/image" Target="../media/image14.wmf"/><Relationship Id="rId18" Type="http://schemas.openxmlformats.org/officeDocument/2006/relationships/oleObject" Target="../embeddings/oleObject15.bin"/><Relationship Id="rId26" Type="http://schemas.openxmlformats.org/officeDocument/2006/relationships/oleObject" Target="../embeddings/oleObject19.bin"/><Relationship Id="rId3" Type="http://schemas.openxmlformats.org/officeDocument/2006/relationships/image" Target="../media/image9.wmf"/><Relationship Id="rId21" Type="http://schemas.openxmlformats.org/officeDocument/2006/relationships/image" Target="../media/image18.wmf"/><Relationship Id="rId34" Type="http://schemas.openxmlformats.org/officeDocument/2006/relationships/image" Target="../media/image24.wmf"/><Relationship Id="rId7" Type="http://schemas.openxmlformats.org/officeDocument/2006/relationships/image" Target="../media/image11.wmf"/><Relationship Id="rId12" Type="http://schemas.openxmlformats.org/officeDocument/2006/relationships/oleObject" Target="../embeddings/oleObject12.bin"/><Relationship Id="rId17" Type="http://schemas.openxmlformats.org/officeDocument/2006/relationships/image" Target="../media/image16.wmf"/><Relationship Id="rId25" Type="http://schemas.openxmlformats.org/officeDocument/2006/relationships/image" Target="../media/image20.wmf"/><Relationship Id="rId33" Type="http://schemas.openxmlformats.org/officeDocument/2006/relationships/oleObject" Target="../embeddings/oleObject22.bin"/><Relationship Id="rId2" Type="http://schemas.openxmlformats.org/officeDocument/2006/relationships/oleObject" Target="../embeddings/oleObject7.bin"/><Relationship Id="rId16" Type="http://schemas.openxmlformats.org/officeDocument/2006/relationships/oleObject" Target="../embeddings/oleObject14.bin"/><Relationship Id="rId20" Type="http://schemas.openxmlformats.org/officeDocument/2006/relationships/oleObject" Target="../embeddings/oleObject16.bin"/><Relationship Id="rId29" Type="http://schemas.openxmlformats.org/officeDocument/2006/relationships/image" Target="../media/image22.wmf"/><Relationship Id="rId1" Type="http://schemas.openxmlformats.org/officeDocument/2006/relationships/slideLayout" Target="../slideLayouts/slideLayout7.xml"/><Relationship Id="rId6" Type="http://schemas.openxmlformats.org/officeDocument/2006/relationships/oleObject" Target="../embeddings/oleObject9.bin"/><Relationship Id="rId11" Type="http://schemas.openxmlformats.org/officeDocument/2006/relationships/image" Target="../media/image13.wmf"/><Relationship Id="rId24" Type="http://schemas.openxmlformats.org/officeDocument/2006/relationships/oleObject" Target="../embeddings/oleObject18.bin"/><Relationship Id="rId32" Type="http://schemas.openxmlformats.org/officeDocument/2006/relationships/slide" Target="slide5.xml"/><Relationship Id="rId5" Type="http://schemas.openxmlformats.org/officeDocument/2006/relationships/image" Target="../media/image10.wmf"/><Relationship Id="rId15" Type="http://schemas.openxmlformats.org/officeDocument/2006/relationships/image" Target="../media/image15.wmf"/><Relationship Id="rId23" Type="http://schemas.openxmlformats.org/officeDocument/2006/relationships/image" Target="../media/image19.wmf"/><Relationship Id="rId28" Type="http://schemas.openxmlformats.org/officeDocument/2006/relationships/oleObject" Target="../embeddings/oleObject20.bin"/><Relationship Id="rId10" Type="http://schemas.openxmlformats.org/officeDocument/2006/relationships/oleObject" Target="../embeddings/oleObject11.bin"/><Relationship Id="rId19" Type="http://schemas.openxmlformats.org/officeDocument/2006/relationships/image" Target="../media/image17.wmf"/><Relationship Id="rId31" Type="http://schemas.openxmlformats.org/officeDocument/2006/relationships/image" Target="../media/image23.wmf"/><Relationship Id="rId4" Type="http://schemas.openxmlformats.org/officeDocument/2006/relationships/oleObject" Target="../embeddings/oleObject8.bin"/><Relationship Id="rId9" Type="http://schemas.openxmlformats.org/officeDocument/2006/relationships/image" Target="../media/image12.wmf"/><Relationship Id="rId14" Type="http://schemas.openxmlformats.org/officeDocument/2006/relationships/oleObject" Target="../embeddings/oleObject13.bin"/><Relationship Id="rId22" Type="http://schemas.openxmlformats.org/officeDocument/2006/relationships/oleObject" Target="../embeddings/oleObject17.bin"/><Relationship Id="rId27" Type="http://schemas.openxmlformats.org/officeDocument/2006/relationships/image" Target="../media/image21.wmf"/><Relationship Id="rId30" Type="http://schemas.openxmlformats.org/officeDocument/2006/relationships/oleObject" Target="../embeddings/oleObject21.bin"/><Relationship Id="rId8" Type="http://schemas.openxmlformats.org/officeDocument/2006/relationships/oleObject" Target="../embeddings/oleObject10.bin"/></Relationships>
</file>

<file path=ppt/slides/_rels/slide4.xml.rels><?xml version="1.0" encoding="UTF-8" standalone="yes"?>
<Relationships xmlns="http://schemas.openxmlformats.org/package/2006/relationships"><Relationship Id="rId13" Type="http://schemas.openxmlformats.org/officeDocument/2006/relationships/oleObject" Target="../embeddings/oleObject27.bin"/><Relationship Id="rId18" Type="http://schemas.openxmlformats.org/officeDocument/2006/relationships/image" Target="../media/image32.wmf"/><Relationship Id="rId26" Type="http://schemas.openxmlformats.org/officeDocument/2006/relationships/image" Target="../media/image36.wmf"/><Relationship Id="rId39" Type="http://schemas.openxmlformats.org/officeDocument/2006/relationships/image" Target="../media/image43.wmf"/><Relationship Id="rId21" Type="http://schemas.openxmlformats.org/officeDocument/2006/relationships/oleObject" Target="../embeddings/oleObject31.bin"/><Relationship Id="rId34" Type="http://schemas.openxmlformats.org/officeDocument/2006/relationships/oleObject" Target="../embeddings/oleObject37.bin"/><Relationship Id="rId7" Type="http://schemas.openxmlformats.org/officeDocument/2006/relationships/image" Target="../media/image26.wmf"/><Relationship Id="rId12" Type="http://schemas.openxmlformats.org/officeDocument/2006/relationships/image" Target="../media/image29.wmf"/><Relationship Id="rId17" Type="http://schemas.openxmlformats.org/officeDocument/2006/relationships/oleObject" Target="../embeddings/oleObject29.bin"/><Relationship Id="rId25" Type="http://schemas.openxmlformats.org/officeDocument/2006/relationships/oleObject" Target="../embeddings/oleObject33.bin"/><Relationship Id="rId33" Type="http://schemas.openxmlformats.org/officeDocument/2006/relationships/image" Target="../media/image40.wmf"/><Relationship Id="rId38" Type="http://schemas.openxmlformats.org/officeDocument/2006/relationships/oleObject" Target="../embeddings/oleObject39.bin"/><Relationship Id="rId2" Type="http://schemas.openxmlformats.org/officeDocument/2006/relationships/oleObject" Target="../embeddings/oleObject23.bin"/><Relationship Id="rId16" Type="http://schemas.openxmlformats.org/officeDocument/2006/relationships/image" Target="../media/image31.wmf"/><Relationship Id="rId20" Type="http://schemas.openxmlformats.org/officeDocument/2006/relationships/image" Target="../media/image33.wmf"/><Relationship Id="rId29"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oleObject" Target="../embeddings/oleObject24.bin"/><Relationship Id="rId11" Type="http://schemas.openxmlformats.org/officeDocument/2006/relationships/oleObject" Target="../embeddings/oleObject26.bin"/><Relationship Id="rId24" Type="http://schemas.openxmlformats.org/officeDocument/2006/relationships/image" Target="../media/image35.wmf"/><Relationship Id="rId32" Type="http://schemas.openxmlformats.org/officeDocument/2006/relationships/oleObject" Target="../embeddings/oleObject36.bin"/><Relationship Id="rId37" Type="http://schemas.openxmlformats.org/officeDocument/2006/relationships/image" Target="../media/image42.wmf"/><Relationship Id="rId5" Type="http://schemas.openxmlformats.org/officeDocument/2006/relationships/image" Target="../media/image12.wmf"/><Relationship Id="rId15" Type="http://schemas.openxmlformats.org/officeDocument/2006/relationships/oleObject" Target="../embeddings/oleObject28.bin"/><Relationship Id="rId23" Type="http://schemas.openxmlformats.org/officeDocument/2006/relationships/oleObject" Target="../embeddings/oleObject32.bin"/><Relationship Id="rId28" Type="http://schemas.openxmlformats.org/officeDocument/2006/relationships/image" Target="../media/image37.wmf"/><Relationship Id="rId36" Type="http://schemas.openxmlformats.org/officeDocument/2006/relationships/oleObject" Target="../embeddings/oleObject38.bin"/><Relationship Id="rId10" Type="http://schemas.openxmlformats.org/officeDocument/2006/relationships/image" Target="../media/image28.png"/><Relationship Id="rId19" Type="http://schemas.openxmlformats.org/officeDocument/2006/relationships/oleObject" Target="../embeddings/oleObject30.bin"/><Relationship Id="rId31" Type="http://schemas.openxmlformats.org/officeDocument/2006/relationships/image" Target="../media/image39.wmf"/><Relationship Id="rId4" Type="http://schemas.openxmlformats.org/officeDocument/2006/relationships/oleObject" Target="../embeddings/oleObject10.bin"/><Relationship Id="rId9" Type="http://schemas.openxmlformats.org/officeDocument/2006/relationships/image" Target="../media/image27.wmf"/><Relationship Id="rId14" Type="http://schemas.openxmlformats.org/officeDocument/2006/relationships/image" Target="../media/image30.wmf"/><Relationship Id="rId22" Type="http://schemas.openxmlformats.org/officeDocument/2006/relationships/image" Target="../media/image34.wmf"/><Relationship Id="rId27" Type="http://schemas.openxmlformats.org/officeDocument/2006/relationships/oleObject" Target="../embeddings/oleObject34.bin"/><Relationship Id="rId30" Type="http://schemas.openxmlformats.org/officeDocument/2006/relationships/oleObject" Target="../embeddings/oleObject35.bin"/><Relationship Id="rId35" Type="http://schemas.openxmlformats.org/officeDocument/2006/relationships/image" Target="../media/image41.wmf"/><Relationship Id="rId8" Type="http://schemas.openxmlformats.org/officeDocument/2006/relationships/oleObject" Target="../embeddings/oleObject25.bin"/><Relationship Id="rId3" Type="http://schemas.openxmlformats.org/officeDocument/2006/relationships/image" Target="../media/image25.wmf"/></Relationships>
</file>

<file path=ppt/slides/_rels/slide5.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oleObject" Target="../embeddings/oleObject45.bin"/><Relationship Id="rId18" Type="http://schemas.openxmlformats.org/officeDocument/2006/relationships/image" Target="../media/image52.wmf"/><Relationship Id="rId3" Type="http://schemas.openxmlformats.org/officeDocument/2006/relationships/image" Target="../media/image44.wmf"/><Relationship Id="rId7" Type="http://schemas.openxmlformats.org/officeDocument/2006/relationships/image" Target="../media/image46.wmf"/><Relationship Id="rId12" Type="http://schemas.openxmlformats.org/officeDocument/2006/relationships/image" Target="../media/image49.wmf"/><Relationship Id="rId17" Type="http://schemas.openxmlformats.org/officeDocument/2006/relationships/oleObject" Target="../embeddings/oleObject47.bin"/><Relationship Id="rId2" Type="http://schemas.openxmlformats.org/officeDocument/2006/relationships/oleObject" Target="../embeddings/oleObject40.bin"/><Relationship Id="rId16" Type="http://schemas.openxmlformats.org/officeDocument/2006/relationships/image" Target="../media/image51.wmf"/><Relationship Id="rId20"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oleObject" Target="../embeddings/oleObject42.bin"/><Relationship Id="rId11" Type="http://schemas.openxmlformats.org/officeDocument/2006/relationships/oleObject" Target="../embeddings/oleObject44.bin"/><Relationship Id="rId5" Type="http://schemas.openxmlformats.org/officeDocument/2006/relationships/image" Target="../media/image45.wmf"/><Relationship Id="rId15" Type="http://schemas.openxmlformats.org/officeDocument/2006/relationships/oleObject" Target="../embeddings/oleObject46.bin"/><Relationship Id="rId10" Type="http://schemas.openxmlformats.org/officeDocument/2006/relationships/image" Target="../media/image48.wmf"/><Relationship Id="rId19" Type="http://schemas.openxmlformats.org/officeDocument/2006/relationships/image" Target="../media/image53.png"/><Relationship Id="rId4" Type="http://schemas.openxmlformats.org/officeDocument/2006/relationships/oleObject" Target="../embeddings/oleObject41.bin"/><Relationship Id="rId9" Type="http://schemas.openxmlformats.org/officeDocument/2006/relationships/oleObject" Target="../embeddings/oleObject43.bin"/><Relationship Id="rId14" Type="http://schemas.openxmlformats.org/officeDocument/2006/relationships/image" Target="../media/image50.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image" Target="../media/image55.wmf"/><Relationship Id="rId7" Type="http://schemas.openxmlformats.org/officeDocument/2006/relationships/image" Target="../media/image57.wmf"/><Relationship Id="rId2" Type="http://schemas.openxmlformats.org/officeDocument/2006/relationships/oleObject" Target="../embeddings/oleObject48.bin"/><Relationship Id="rId1" Type="http://schemas.openxmlformats.org/officeDocument/2006/relationships/slideLayout" Target="../slideLayouts/slideLayout7.xml"/><Relationship Id="rId6" Type="http://schemas.openxmlformats.org/officeDocument/2006/relationships/oleObject" Target="../embeddings/oleObject50.bin"/><Relationship Id="rId5" Type="http://schemas.openxmlformats.org/officeDocument/2006/relationships/image" Target="../media/image56.wmf"/><Relationship Id="rId4" Type="http://schemas.openxmlformats.org/officeDocument/2006/relationships/oleObject" Target="../embeddings/oleObject49.bin"/><Relationship Id="rId9" Type="http://schemas.openxmlformats.org/officeDocument/2006/relationships/image" Target="../media/image58.wmf"/></Relationships>
</file>

<file path=ppt/slides/_rels/slide9.xml.rels><?xml version="1.0" encoding="UTF-8" standalone="yes"?>
<Relationships xmlns="http://schemas.openxmlformats.org/package/2006/relationships"><Relationship Id="rId3" Type="http://schemas.openxmlformats.org/officeDocument/2006/relationships/image" Target="../media/image59.wmf"/><Relationship Id="rId7" Type="http://schemas.openxmlformats.org/officeDocument/2006/relationships/image" Target="../media/image61.wmf"/><Relationship Id="rId2" Type="http://schemas.openxmlformats.org/officeDocument/2006/relationships/oleObject" Target="../embeddings/oleObject52.bin"/><Relationship Id="rId1" Type="http://schemas.openxmlformats.org/officeDocument/2006/relationships/slideLayout" Target="../slideLayouts/slideLayout7.xml"/><Relationship Id="rId6" Type="http://schemas.openxmlformats.org/officeDocument/2006/relationships/oleObject" Target="../embeddings/oleObject54.bin"/><Relationship Id="rId5" Type="http://schemas.openxmlformats.org/officeDocument/2006/relationships/image" Target="../media/image60.wmf"/><Relationship Id="rId4" Type="http://schemas.openxmlformats.org/officeDocument/2006/relationships/oleObject" Target="../embeddings/oleObject53.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67.wmf"/><Relationship Id="rId3" Type="http://schemas.openxmlformats.org/officeDocument/2006/relationships/image" Target="../media/image62.wmf"/><Relationship Id="rId7" Type="http://schemas.openxmlformats.org/officeDocument/2006/relationships/oleObject" Target="../embeddings/oleObject57.bin"/><Relationship Id="rId12" Type="http://schemas.openxmlformats.org/officeDocument/2006/relationships/oleObject" Target="../embeddings/oleObject60.bin"/><Relationship Id="rId2"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image" Target="../media/image64.png"/><Relationship Id="rId11" Type="http://schemas.openxmlformats.org/officeDocument/2006/relationships/image" Target="../media/image66.wmf"/><Relationship Id="rId5" Type="http://schemas.openxmlformats.org/officeDocument/2006/relationships/image" Target="../media/image63.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65.wmf"/></Relationships>
</file>

<file path=ppt/slides/_rels/slide11.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66.bin"/><Relationship Id="rId3" Type="http://schemas.openxmlformats.org/officeDocument/2006/relationships/oleObject" Target="../embeddings/oleObject61.bin"/><Relationship Id="rId7" Type="http://schemas.openxmlformats.org/officeDocument/2006/relationships/oleObject" Target="../embeddings/oleObject63.bin"/><Relationship Id="rId12" Type="http://schemas.openxmlformats.org/officeDocument/2006/relationships/image" Target="../media/image70.wmf"/><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65.wmf"/><Relationship Id="rId11" Type="http://schemas.openxmlformats.org/officeDocument/2006/relationships/oleObject" Target="../embeddings/oleObject65.bin"/><Relationship Id="rId5" Type="http://schemas.openxmlformats.org/officeDocument/2006/relationships/oleObject" Target="../embeddings/oleObject62.bin"/><Relationship Id="rId10" Type="http://schemas.openxmlformats.org/officeDocument/2006/relationships/image" Target="../media/image69.wmf"/><Relationship Id="rId4" Type="http://schemas.openxmlformats.org/officeDocument/2006/relationships/image" Target="../media/image63.wmf"/><Relationship Id="rId9" Type="http://schemas.openxmlformats.org/officeDocument/2006/relationships/oleObject" Target="../embeddings/oleObject64.bin"/><Relationship Id="rId14" Type="http://schemas.openxmlformats.org/officeDocument/2006/relationships/image" Target="../media/image71.wmf"/></Relationships>
</file>

<file path=ppt/slides/_rels/slide12.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67.bin"/><Relationship Id="rId7" Type="http://schemas.openxmlformats.org/officeDocument/2006/relationships/oleObject" Target="../embeddings/oleObject69.bin"/><Relationship Id="rId12" Type="http://schemas.openxmlformats.org/officeDocument/2006/relationships/image" Target="../media/image77.wmf"/><Relationship Id="rId2"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74.wmf"/><Relationship Id="rId11" Type="http://schemas.openxmlformats.org/officeDocument/2006/relationships/oleObject" Target="../embeddings/oleObject71.bin"/><Relationship Id="rId5" Type="http://schemas.openxmlformats.org/officeDocument/2006/relationships/oleObject" Target="../embeddings/oleObject68.bin"/><Relationship Id="rId10" Type="http://schemas.openxmlformats.org/officeDocument/2006/relationships/image" Target="../media/image76.wmf"/><Relationship Id="rId4" Type="http://schemas.openxmlformats.org/officeDocument/2006/relationships/image" Target="../media/image73.wmf"/><Relationship Id="rId9" Type="http://schemas.openxmlformats.org/officeDocument/2006/relationships/oleObject" Target="../embeddings/oleObject70.bin"/></Relationships>
</file>

<file path=ppt/slides/_rels/slide1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0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85.wmf"/><Relationship Id="rId13" Type="http://schemas.openxmlformats.org/officeDocument/2006/relationships/oleObject" Target="../embeddings/oleObject77.bin"/><Relationship Id="rId3" Type="http://schemas.openxmlformats.org/officeDocument/2006/relationships/oleObject" Target="../embeddings/oleObject72.bin"/><Relationship Id="rId7" Type="http://schemas.openxmlformats.org/officeDocument/2006/relationships/oleObject" Target="../embeddings/oleObject74.bin"/><Relationship Id="rId12" Type="http://schemas.openxmlformats.org/officeDocument/2006/relationships/image" Target="../media/image87.wmf"/><Relationship Id="rId2" Type="http://schemas.openxmlformats.org/officeDocument/2006/relationships/image" Target="../media/image82.png"/><Relationship Id="rId16" Type="http://schemas.openxmlformats.org/officeDocument/2006/relationships/image" Target="../media/image89.wmf"/><Relationship Id="rId1" Type="http://schemas.openxmlformats.org/officeDocument/2006/relationships/slideLayout" Target="../slideLayouts/slideLayout1.xml"/><Relationship Id="rId6" Type="http://schemas.openxmlformats.org/officeDocument/2006/relationships/image" Target="../media/image84.wmf"/><Relationship Id="rId11" Type="http://schemas.openxmlformats.org/officeDocument/2006/relationships/oleObject" Target="../embeddings/oleObject76.bin"/><Relationship Id="rId5" Type="http://schemas.openxmlformats.org/officeDocument/2006/relationships/oleObject" Target="../embeddings/oleObject73.bin"/><Relationship Id="rId15" Type="http://schemas.openxmlformats.org/officeDocument/2006/relationships/oleObject" Target="../embeddings/oleObject78.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75.bin"/><Relationship Id="rId14" Type="http://schemas.openxmlformats.org/officeDocument/2006/relationships/image" Target="../media/image88.wmf"/></Relationships>
</file>

<file path=ppt/slides/_rels/slide18.x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oleObject" Target="../embeddings/oleObject84.bin"/><Relationship Id="rId18" Type="http://schemas.openxmlformats.org/officeDocument/2006/relationships/image" Target="../media/image96.wmf"/><Relationship Id="rId3" Type="http://schemas.openxmlformats.org/officeDocument/2006/relationships/oleObject" Target="../embeddings/oleObject79.bin"/><Relationship Id="rId21" Type="http://schemas.openxmlformats.org/officeDocument/2006/relationships/image" Target="../media/image98.wmf"/><Relationship Id="rId7" Type="http://schemas.openxmlformats.org/officeDocument/2006/relationships/oleObject" Target="../embeddings/oleObject81.bin"/><Relationship Id="rId12" Type="http://schemas.openxmlformats.org/officeDocument/2006/relationships/image" Target="../media/image67.wmf"/><Relationship Id="rId17" Type="http://schemas.openxmlformats.org/officeDocument/2006/relationships/oleObject" Target="../embeddings/oleObject86.bin"/><Relationship Id="rId2" Type="http://schemas.openxmlformats.org/officeDocument/2006/relationships/image" Target="../media/image90.png"/><Relationship Id="rId16" Type="http://schemas.openxmlformats.org/officeDocument/2006/relationships/image" Target="../media/image95.wmf"/><Relationship Id="rId20" Type="http://schemas.openxmlformats.org/officeDocument/2006/relationships/oleObject" Target="../embeddings/oleObject87.bin"/><Relationship Id="rId1" Type="http://schemas.openxmlformats.org/officeDocument/2006/relationships/slideLayout" Target="../slideLayouts/slideLayout1.xml"/><Relationship Id="rId6" Type="http://schemas.openxmlformats.org/officeDocument/2006/relationships/image" Target="../media/image91.wmf"/><Relationship Id="rId11" Type="http://schemas.openxmlformats.org/officeDocument/2006/relationships/oleObject" Target="../embeddings/oleObject83.bin"/><Relationship Id="rId5" Type="http://schemas.openxmlformats.org/officeDocument/2006/relationships/oleObject" Target="../embeddings/oleObject80.bin"/><Relationship Id="rId15" Type="http://schemas.openxmlformats.org/officeDocument/2006/relationships/oleObject" Target="../embeddings/oleObject85.bin"/><Relationship Id="rId23" Type="http://schemas.openxmlformats.org/officeDocument/2006/relationships/image" Target="../media/image79.png"/><Relationship Id="rId10" Type="http://schemas.openxmlformats.org/officeDocument/2006/relationships/image" Target="../media/image93.wmf"/><Relationship Id="rId19" Type="http://schemas.openxmlformats.org/officeDocument/2006/relationships/image" Target="../media/image97.png"/><Relationship Id="rId4" Type="http://schemas.openxmlformats.org/officeDocument/2006/relationships/image" Target="../media/image86.wmf"/><Relationship Id="rId9" Type="http://schemas.openxmlformats.org/officeDocument/2006/relationships/oleObject" Target="../embeddings/oleObject82.bin"/><Relationship Id="rId14" Type="http://schemas.openxmlformats.org/officeDocument/2006/relationships/image" Target="../media/image94.wmf"/><Relationship Id="rId22" Type="http://schemas.openxmlformats.org/officeDocument/2006/relationships/image" Target="../media/image80.png"/></Relationships>
</file>

<file path=ppt/slides/_rels/slide19.xml.rels><?xml version="1.0" encoding="UTF-8" standalone="yes"?>
<Relationships xmlns="http://schemas.openxmlformats.org/package/2006/relationships"><Relationship Id="rId13" Type="http://schemas.openxmlformats.org/officeDocument/2006/relationships/image" Target="../media/image104.wmf"/><Relationship Id="rId18" Type="http://schemas.openxmlformats.org/officeDocument/2006/relationships/image" Target="../media/image108.wmf"/><Relationship Id="rId26" Type="http://schemas.openxmlformats.org/officeDocument/2006/relationships/oleObject" Target="../embeddings/oleObject99.bin"/><Relationship Id="rId39" Type="http://schemas.openxmlformats.org/officeDocument/2006/relationships/image" Target="../media/image118.wmf"/><Relationship Id="rId21" Type="http://schemas.openxmlformats.org/officeDocument/2006/relationships/oleObject" Target="../embeddings/oleObject96.bin"/><Relationship Id="rId34" Type="http://schemas.openxmlformats.org/officeDocument/2006/relationships/oleObject" Target="../embeddings/oleObject103.bin"/><Relationship Id="rId42" Type="http://schemas.openxmlformats.org/officeDocument/2006/relationships/oleObject" Target="../embeddings/oleObject107.bin"/><Relationship Id="rId7" Type="http://schemas.openxmlformats.org/officeDocument/2006/relationships/image" Target="../media/image101.wmf"/><Relationship Id="rId2" Type="http://schemas.openxmlformats.org/officeDocument/2006/relationships/oleObject" Target="../embeddings/oleObject88.bin"/><Relationship Id="rId16" Type="http://schemas.openxmlformats.org/officeDocument/2006/relationships/image" Target="../media/image107.png"/><Relationship Id="rId29" Type="http://schemas.openxmlformats.org/officeDocument/2006/relationships/image" Target="../media/image113.wmf"/><Relationship Id="rId1" Type="http://schemas.openxmlformats.org/officeDocument/2006/relationships/slideLayout" Target="../slideLayouts/slideLayout1.xml"/><Relationship Id="rId6" Type="http://schemas.openxmlformats.org/officeDocument/2006/relationships/oleObject" Target="../embeddings/oleObject90.bin"/><Relationship Id="rId11" Type="http://schemas.openxmlformats.org/officeDocument/2006/relationships/image" Target="../media/image103.wmf"/><Relationship Id="rId24" Type="http://schemas.openxmlformats.org/officeDocument/2006/relationships/image" Target="../media/image111.emf"/><Relationship Id="rId32" Type="http://schemas.openxmlformats.org/officeDocument/2006/relationships/oleObject" Target="../embeddings/oleObject102.bin"/><Relationship Id="rId37" Type="http://schemas.openxmlformats.org/officeDocument/2006/relationships/image" Target="../media/image117.emf"/><Relationship Id="rId40" Type="http://schemas.openxmlformats.org/officeDocument/2006/relationships/oleObject" Target="../embeddings/oleObject106.bin"/><Relationship Id="rId45" Type="http://schemas.openxmlformats.org/officeDocument/2006/relationships/image" Target="../media/image121.wmf"/><Relationship Id="rId5" Type="http://schemas.openxmlformats.org/officeDocument/2006/relationships/image" Target="../media/image100.wmf"/><Relationship Id="rId15" Type="http://schemas.openxmlformats.org/officeDocument/2006/relationships/image" Target="../media/image106.png"/><Relationship Id="rId23" Type="http://schemas.openxmlformats.org/officeDocument/2006/relationships/oleObject" Target="../embeddings/oleObject97.bin"/><Relationship Id="rId28" Type="http://schemas.openxmlformats.org/officeDocument/2006/relationships/oleObject" Target="../embeddings/oleObject100.bin"/><Relationship Id="rId36" Type="http://schemas.openxmlformats.org/officeDocument/2006/relationships/oleObject" Target="../embeddings/oleObject104.bin"/><Relationship Id="rId10" Type="http://schemas.openxmlformats.org/officeDocument/2006/relationships/oleObject" Target="../embeddings/oleObject92.bin"/><Relationship Id="rId19" Type="http://schemas.openxmlformats.org/officeDocument/2006/relationships/oleObject" Target="../embeddings/oleObject95.bin"/><Relationship Id="rId31" Type="http://schemas.openxmlformats.org/officeDocument/2006/relationships/image" Target="../media/image114.wmf"/><Relationship Id="rId44" Type="http://schemas.openxmlformats.org/officeDocument/2006/relationships/oleObject" Target="../embeddings/oleObject108.bin"/><Relationship Id="rId4" Type="http://schemas.openxmlformats.org/officeDocument/2006/relationships/oleObject" Target="../embeddings/oleObject89.bin"/><Relationship Id="rId9" Type="http://schemas.openxmlformats.org/officeDocument/2006/relationships/oleObject" Target="../embeddings/oleObject91.bin"/><Relationship Id="rId14" Type="http://schemas.openxmlformats.org/officeDocument/2006/relationships/image" Target="../media/image105.png"/><Relationship Id="rId22" Type="http://schemas.openxmlformats.org/officeDocument/2006/relationships/image" Target="../media/image110.emf"/><Relationship Id="rId27" Type="http://schemas.openxmlformats.org/officeDocument/2006/relationships/image" Target="../media/image112.wmf"/><Relationship Id="rId30" Type="http://schemas.openxmlformats.org/officeDocument/2006/relationships/oleObject" Target="../embeddings/oleObject101.bin"/><Relationship Id="rId35" Type="http://schemas.openxmlformats.org/officeDocument/2006/relationships/image" Target="../media/image116.wmf"/><Relationship Id="rId43" Type="http://schemas.openxmlformats.org/officeDocument/2006/relationships/image" Target="../media/image120.wmf"/><Relationship Id="rId8" Type="http://schemas.openxmlformats.org/officeDocument/2006/relationships/image" Target="../media/image102.png"/><Relationship Id="rId3" Type="http://schemas.openxmlformats.org/officeDocument/2006/relationships/image" Target="../media/image99.wmf"/><Relationship Id="rId12" Type="http://schemas.openxmlformats.org/officeDocument/2006/relationships/oleObject" Target="../embeddings/oleObject93.bin"/><Relationship Id="rId17" Type="http://schemas.openxmlformats.org/officeDocument/2006/relationships/oleObject" Target="../embeddings/oleObject94.bin"/><Relationship Id="rId25" Type="http://schemas.openxmlformats.org/officeDocument/2006/relationships/oleObject" Target="../embeddings/oleObject98.bin"/><Relationship Id="rId33" Type="http://schemas.openxmlformats.org/officeDocument/2006/relationships/image" Target="../media/image115.wmf"/><Relationship Id="rId38" Type="http://schemas.openxmlformats.org/officeDocument/2006/relationships/oleObject" Target="../embeddings/oleObject105.bin"/><Relationship Id="rId20" Type="http://schemas.openxmlformats.org/officeDocument/2006/relationships/image" Target="../media/image109.wmf"/><Relationship Id="rId41" Type="http://schemas.openxmlformats.org/officeDocument/2006/relationships/image" Target="../media/image119.wmf"/></Relationships>
</file>

<file path=ppt/slides/_rels/slide20.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113.bin"/><Relationship Id="rId18" Type="http://schemas.openxmlformats.org/officeDocument/2006/relationships/oleObject" Target="../embeddings/oleObject116.bin"/><Relationship Id="rId26" Type="http://schemas.openxmlformats.org/officeDocument/2006/relationships/image" Target="../media/image133.png"/><Relationship Id="rId3" Type="http://schemas.openxmlformats.org/officeDocument/2006/relationships/image" Target="../media/image123.png"/><Relationship Id="rId21" Type="http://schemas.openxmlformats.org/officeDocument/2006/relationships/image" Target="../media/image131.wmf"/><Relationship Id="rId7" Type="http://schemas.openxmlformats.org/officeDocument/2006/relationships/oleObject" Target="../embeddings/oleObject110.bin"/><Relationship Id="rId12" Type="http://schemas.openxmlformats.org/officeDocument/2006/relationships/image" Target="../media/image127.wmf"/><Relationship Id="rId17" Type="http://schemas.openxmlformats.org/officeDocument/2006/relationships/image" Target="../media/image129.wmf"/><Relationship Id="rId25" Type="http://schemas.openxmlformats.org/officeDocument/2006/relationships/image" Target="../media/image132.wmf"/><Relationship Id="rId2" Type="http://schemas.openxmlformats.org/officeDocument/2006/relationships/image" Target="../media/image122.png"/><Relationship Id="rId16" Type="http://schemas.openxmlformats.org/officeDocument/2006/relationships/oleObject" Target="../embeddings/oleObject115.bin"/><Relationship Id="rId20" Type="http://schemas.openxmlformats.org/officeDocument/2006/relationships/oleObject" Target="../embeddings/oleObject117.bin"/><Relationship Id="rId29" Type="http://schemas.openxmlformats.org/officeDocument/2006/relationships/oleObject" Target="../embeddings/oleObject122.bin"/><Relationship Id="rId1" Type="http://schemas.openxmlformats.org/officeDocument/2006/relationships/slideLayout" Target="../slideLayouts/slideLayout7.xml"/><Relationship Id="rId6" Type="http://schemas.openxmlformats.org/officeDocument/2006/relationships/image" Target="../media/image125.wmf"/><Relationship Id="rId11" Type="http://schemas.openxmlformats.org/officeDocument/2006/relationships/oleObject" Target="../embeddings/oleObject112.bin"/><Relationship Id="rId24" Type="http://schemas.openxmlformats.org/officeDocument/2006/relationships/oleObject" Target="../embeddings/oleObject120.bin"/><Relationship Id="rId5" Type="http://schemas.openxmlformats.org/officeDocument/2006/relationships/oleObject" Target="../embeddings/oleObject109.bin"/><Relationship Id="rId15" Type="http://schemas.openxmlformats.org/officeDocument/2006/relationships/image" Target="../media/image128.wmf"/><Relationship Id="rId23" Type="http://schemas.openxmlformats.org/officeDocument/2006/relationships/oleObject" Target="../embeddings/oleObject119.bin"/><Relationship Id="rId28" Type="http://schemas.openxmlformats.org/officeDocument/2006/relationships/image" Target="../media/image134.wmf"/><Relationship Id="rId10" Type="http://schemas.openxmlformats.org/officeDocument/2006/relationships/image" Target="../media/image126.wmf"/><Relationship Id="rId19" Type="http://schemas.openxmlformats.org/officeDocument/2006/relationships/image" Target="../media/image130.wmf"/><Relationship Id="rId4" Type="http://schemas.openxmlformats.org/officeDocument/2006/relationships/image" Target="../media/image124.png"/><Relationship Id="rId9" Type="http://schemas.openxmlformats.org/officeDocument/2006/relationships/oleObject" Target="../embeddings/oleObject111.bin"/><Relationship Id="rId14" Type="http://schemas.openxmlformats.org/officeDocument/2006/relationships/oleObject" Target="../embeddings/oleObject114.bin"/><Relationship Id="rId22" Type="http://schemas.openxmlformats.org/officeDocument/2006/relationships/oleObject" Target="../embeddings/oleObject118.bin"/><Relationship Id="rId27" Type="http://schemas.openxmlformats.org/officeDocument/2006/relationships/oleObject" Target="../embeddings/oleObject121.bin"/><Relationship Id="rId30" Type="http://schemas.openxmlformats.org/officeDocument/2006/relationships/image" Target="../media/image135.wmf"/></Relationships>
</file>

<file path=ppt/slides/_rels/slide21.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25.bin"/><Relationship Id="rId13" Type="http://schemas.openxmlformats.org/officeDocument/2006/relationships/oleObject" Target="../embeddings/oleObject128.bin"/><Relationship Id="rId18" Type="http://schemas.openxmlformats.org/officeDocument/2006/relationships/image" Target="../media/image48.wmf"/><Relationship Id="rId26" Type="http://schemas.openxmlformats.org/officeDocument/2006/relationships/image" Target="../media/image129.wmf"/><Relationship Id="rId3" Type="http://schemas.openxmlformats.org/officeDocument/2006/relationships/image" Target="../media/image137.png"/><Relationship Id="rId21" Type="http://schemas.openxmlformats.org/officeDocument/2006/relationships/oleObject" Target="../embeddings/oleObject132.bin"/><Relationship Id="rId7" Type="http://schemas.openxmlformats.org/officeDocument/2006/relationships/image" Target="../media/image139.wmf"/><Relationship Id="rId12" Type="http://schemas.openxmlformats.org/officeDocument/2006/relationships/image" Target="../media/image141.wmf"/><Relationship Id="rId17" Type="http://schemas.openxmlformats.org/officeDocument/2006/relationships/oleObject" Target="../embeddings/oleObject130.bin"/><Relationship Id="rId25" Type="http://schemas.openxmlformats.org/officeDocument/2006/relationships/oleObject" Target="../embeddings/oleObject134.bin"/><Relationship Id="rId2" Type="http://schemas.openxmlformats.org/officeDocument/2006/relationships/image" Target="../media/image123.png"/><Relationship Id="rId16" Type="http://schemas.openxmlformats.org/officeDocument/2006/relationships/image" Target="../media/image143.wmf"/><Relationship Id="rId20" Type="http://schemas.openxmlformats.org/officeDocument/2006/relationships/image" Target="../media/image49.wmf"/><Relationship Id="rId29" Type="http://schemas.openxmlformats.org/officeDocument/2006/relationships/oleObject" Target="../embeddings/oleObject136.bin"/><Relationship Id="rId1" Type="http://schemas.openxmlformats.org/officeDocument/2006/relationships/slideLayout" Target="../slideLayouts/slideLayout7.xml"/><Relationship Id="rId6" Type="http://schemas.openxmlformats.org/officeDocument/2006/relationships/oleObject" Target="../embeddings/oleObject124.bin"/><Relationship Id="rId11" Type="http://schemas.openxmlformats.org/officeDocument/2006/relationships/oleObject" Target="../embeddings/oleObject127.bin"/><Relationship Id="rId24" Type="http://schemas.openxmlformats.org/officeDocument/2006/relationships/image" Target="../media/image144.wmf"/><Relationship Id="rId5" Type="http://schemas.openxmlformats.org/officeDocument/2006/relationships/image" Target="../media/image138.wmf"/><Relationship Id="rId15" Type="http://schemas.openxmlformats.org/officeDocument/2006/relationships/oleObject" Target="../embeddings/oleObject129.bin"/><Relationship Id="rId23" Type="http://schemas.openxmlformats.org/officeDocument/2006/relationships/oleObject" Target="../embeddings/oleObject133.bin"/><Relationship Id="rId28" Type="http://schemas.openxmlformats.org/officeDocument/2006/relationships/image" Target="../media/image131.wmf"/><Relationship Id="rId10" Type="http://schemas.openxmlformats.org/officeDocument/2006/relationships/oleObject" Target="../embeddings/oleObject126.bin"/><Relationship Id="rId19" Type="http://schemas.openxmlformats.org/officeDocument/2006/relationships/oleObject" Target="../embeddings/oleObject131.bin"/><Relationship Id="rId4" Type="http://schemas.openxmlformats.org/officeDocument/2006/relationships/oleObject" Target="../embeddings/oleObject123.bin"/><Relationship Id="rId9" Type="http://schemas.openxmlformats.org/officeDocument/2006/relationships/image" Target="../media/image140.wmf"/><Relationship Id="rId14" Type="http://schemas.openxmlformats.org/officeDocument/2006/relationships/image" Target="../media/image142.wmf"/><Relationship Id="rId22" Type="http://schemas.openxmlformats.org/officeDocument/2006/relationships/image" Target="../media/image130.wmf"/><Relationship Id="rId27" Type="http://schemas.openxmlformats.org/officeDocument/2006/relationships/oleObject" Target="../embeddings/oleObject13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40.bin"/><Relationship Id="rId3" Type="http://schemas.openxmlformats.org/officeDocument/2006/relationships/image" Target="../media/image145.wmf"/><Relationship Id="rId7" Type="http://schemas.openxmlformats.org/officeDocument/2006/relationships/image" Target="../media/image147.wmf"/><Relationship Id="rId2" Type="http://schemas.openxmlformats.org/officeDocument/2006/relationships/oleObject" Target="../embeddings/oleObject137.bin"/><Relationship Id="rId1" Type="http://schemas.openxmlformats.org/officeDocument/2006/relationships/slideLayout" Target="../slideLayouts/slideLayout7.xml"/><Relationship Id="rId6" Type="http://schemas.openxmlformats.org/officeDocument/2006/relationships/oleObject" Target="../embeddings/oleObject139.bin"/><Relationship Id="rId11" Type="http://schemas.openxmlformats.org/officeDocument/2006/relationships/image" Target="../media/image149.wmf"/><Relationship Id="rId5" Type="http://schemas.openxmlformats.org/officeDocument/2006/relationships/image" Target="../media/image146.wmf"/><Relationship Id="rId10" Type="http://schemas.openxmlformats.org/officeDocument/2006/relationships/oleObject" Target="../embeddings/oleObject141.bin"/><Relationship Id="rId4" Type="http://schemas.openxmlformats.org/officeDocument/2006/relationships/oleObject" Target="../embeddings/oleObject138.bin"/><Relationship Id="rId9" Type="http://schemas.openxmlformats.org/officeDocument/2006/relationships/image" Target="../media/image148.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42.bin"/><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154.wmf"/><Relationship Id="rId13" Type="http://schemas.openxmlformats.org/officeDocument/2006/relationships/oleObject" Target="../embeddings/oleObject146.bin"/><Relationship Id="rId18" Type="http://schemas.openxmlformats.org/officeDocument/2006/relationships/image" Target="../media/image160.wmf"/><Relationship Id="rId26" Type="http://schemas.openxmlformats.org/officeDocument/2006/relationships/image" Target="../media/image164.wmf"/><Relationship Id="rId3" Type="http://schemas.openxmlformats.org/officeDocument/2006/relationships/oleObject" Target="../embeddings/oleObject142.bin"/><Relationship Id="rId21" Type="http://schemas.openxmlformats.org/officeDocument/2006/relationships/oleObject" Target="../embeddings/oleObject150.bin"/><Relationship Id="rId7" Type="http://schemas.openxmlformats.org/officeDocument/2006/relationships/oleObject" Target="../embeddings/oleObject144.bin"/><Relationship Id="rId12" Type="http://schemas.openxmlformats.org/officeDocument/2006/relationships/image" Target="../media/image157.wmf"/><Relationship Id="rId17" Type="http://schemas.openxmlformats.org/officeDocument/2006/relationships/oleObject" Target="../embeddings/oleObject148.bin"/><Relationship Id="rId25" Type="http://schemas.openxmlformats.org/officeDocument/2006/relationships/oleObject" Target="../embeddings/oleObject152.bin"/><Relationship Id="rId2" Type="http://schemas.openxmlformats.org/officeDocument/2006/relationships/notesSlide" Target="../notesSlides/notesSlide1.xml"/><Relationship Id="rId16" Type="http://schemas.openxmlformats.org/officeDocument/2006/relationships/image" Target="../media/image159.wmf"/><Relationship Id="rId20" Type="http://schemas.openxmlformats.org/officeDocument/2006/relationships/image" Target="../media/image161.wmf"/><Relationship Id="rId1" Type="http://schemas.openxmlformats.org/officeDocument/2006/relationships/slideLayout" Target="../slideLayouts/slideLayout7.xml"/><Relationship Id="rId6" Type="http://schemas.openxmlformats.org/officeDocument/2006/relationships/image" Target="../media/image153.wmf"/><Relationship Id="rId11" Type="http://schemas.openxmlformats.org/officeDocument/2006/relationships/oleObject" Target="../embeddings/oleObject145.bin"/><Relationship Id="rId24" Type="http://schemas.openxmlformats.org/officeDocument/2006/relationships/image" Target="../media/image163.wmf"/><Relationship Id="rId5" Type="http://schemas.openxmlformats.org/officeDocument/2006/relationships/oleObject" Target="../embeddings/oleObject143.bin"/><Relationship Id="rId15" Type="http://schemas.openxmlformats.org/officeDocument/2006/relationships/oleObject" Target="../embeddings/oleObject147.bin"/><Relationship Id="rId23" Type="http://schemas.openxmlformats.org/officeDocument/2006/relationships/oleObject" Target="../embeddings/oleObject151.bin"/><Relationship Id="rId28" Type="http://schemas.openxmlformats.org/officeDocument/2006/relationships/image" Target="../media/image165.wmf"/><Relationship Id="rId10" Type="http://schemas.openxmlformats.org/officeDocument/2006/relationships/image" Target="../media/image156.png"/><Relationship Id="rId19" Type="http://schemas.openxmlformats.org/officeDocument/2006/relationships/oleObject" Target="../embeddings/oleObject149.bin"/><Relationship Id="rId4" Type="http://schemas.openxmlformats.org/officeDocument/2006/relationships/image" Target="../media/image152.wmf"/><Relationship Id="rId9" Type="http://schemas.openxmlformats.org/officeDocument/2006/relationships/image" Target="../media/image155.png"/><Relationship Id="rId14" Type="http://schemas.openxmlformats.org/officeDocument/2006/relationships/image" Target="../media/image158.wmf"/><Relationship Id="rId22" Type="http://schemas.openxmlformats.org/officeDocument/2006/relationships/image" Target="../media/image162.wmf"/><Relationship Id="rId27" Type="http://schemas.openxmlformats.org/officeDocument/2006/relationships/oleObject" Target="../embeddings/oleObject153.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168.wmf"/><Relationship Id="rId13" Type="http://schemas.openxmlformats.org/officeDocument/2006/relationships/oleObject" Target="../embeddings/oleObject159.bin"/><Relationship Id="rId18" Type="http://schemas.openxmlformats.org/officeDocument/2006/relationships/image" Target="../media/image173.wmf"/><Relationship Id="rId26" Type="http://schemas.openxmlformats.org/officeDocument/2006/relationships/image" Target="../media/image177.emf"/><Relationship Id="rId3" Type="http://schemas.openxmlformats.org/officeDocument/2006/relationships/oleObject" Target="../embeddings/oleObject154.bin"/><Relationship Id="rId21" Type="http://schemas.openxmlformats.org/officeDocument/2006/relationships/oleObject" Target="../embeddings/oleObject163.bin"/><Relationship Id="rId7" Type="http://schemas.openxmlformats.org/officeDocument/2006/relationships/oleObject" Target="../embeddings/oleObject156.bin"/><Relationship Id="rId12" Type="http://schemas.openxmlformats.org/officeDocument/2006/relationships/image" Target="../media/image170.wmf"/><Relationship Id="rId17" Type="http://schemas.openxmlformats.org/officeDocument/2006/relationships/oleObject" Target="../embeddings/oleObject161.bin"/><Relationship Id="rId25" Type="http://schemas.openxmlformats.org/officeDocument/2006/relationships/oleObject" Target="../embeddings/oleObject165.bin"/><Relationship Id="rId2" Type="http://schemas.openxmlformats.org/officeDocument/2006/relationships/notesSlide" Target="../notesSlides/notesSlide2.xml"/><Relationship Id="rId16" Type="http://schemas.openxmlformats.org/officeDocument/2006/relationships/image" Target="../media/image172.wmf"/><Relationship Id="rId20" Type="http://schemas.openxmlformats.org/officeDocument/2006/relationships/image" Target="../media/image174.wmf"/><Relationship Id="rId29" Type="http://schemas.openxmlformats.org/officeDocument/2006/relationships/oleObject" Target="../embeddings/oleObject167.bin"/><Relationship Id="rId1" Type="http://schemas.openxmlformats.org/officeDocument/2006/relationships/slideLayout" Target="../slideLayouts/slideLayout7.xml"/><Relationship Id="rId6" Type="http://schemas.openxmlformats.org/officeDocument/2006/relationships/image" Target="../media/image167.wmf"/><Relationship Id="rId11" Type="http://schemas.openxmlformats.org/officeDocument/2006/relationships/oleObject" Target="../embeddings/oleObject158.bin"/><Relationship Id="rId24" Type="http://schemas.openxmlformats.org/officeDocument/2006/relationships/image" Target="../media/image176.wmf"/><Relationship Id="rId5" Type="http://schemas.openxmlformats.org/officeDocument/2006/relationships/oleObject" Target="../embeddings/oleObject155.bin"/><Relationship Id="rId15" Type="http://schemas.openxmlformats.org/officeDocument/2006/relationships/oleObject" Target="../embeddings/oleObject160.bin"/><Relationship Id="rId23" Type="http://schemas.openxmlformats.org/officeDocument/2006/relationships/oleObject" Target="../embeddings/oleObject164.bin"/><Relationship Id="rId28" Type="http://schemas.openxmlformats.org/officeDocument/2006/relationships/image" Target="../media/image178.wmf"/><Relationship Id="rId10" Type="http://schemas.openxmlformats.org/officeDocument/2006/relationships/image" Target="../media/image169.wmf"/><Relationship Id="rId19" Type="http://schemas.openxmlformats.org/officeDocument/2006/relationships/oleObject" Target="../embeddings/oleObject162.bin"/><Relationship Id="rId4" Type="http://schemas.openxmlformats.org/officeDocument/2006/relationships/image" Target="../media/image166.wmf"/><Relationship Id="rId9" Type="http://schemas.openxmlformats.org/officeDocument/2006/relationships/oleObject" Target="../embeddings/oleObject157.bin"/><Relationship Id="rId14" Type="http://schemas.openxmlformats.org/officeDocument/2006/relationships/image" Target="../media/image171.wmf"/><Relationship Id="rId22" Type="http://schemas.openxmlformats.org/officeDocument/2006/relationships/image" Target="../media/image175.emf"/><Relationship Id="rId27" Type="http://schemas.openxmlformats.org/officeDocument/2006/relationships/oleObject" Target="../embeddings/oleObject166.bin"/><Relationship Id="rId30" Type="http://schemas.openxmlformats.org/officeDocument/2006/relationships/image" Target="../media/image17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1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000" cy="708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1" name="AutoShape 120"/>
          <p:cNvSpPr>
            <a:spLocks noChangeArrowheads="1"/>
          </p:cNvSpPr>
          <p:nvPr/>
        </p:nvSpPr>
        <p:spPr bwMode="auto">
          <a:xfrm>
            <a:off x="1685925" y="2514600"/>
            <a:ext cx="5791200" cy="1676400"/>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sz="1200"/>
          </a:p>
        </p:txBody>
      </p:sp>
      <p:sp>
        <p:nvSpPr>
          <p:cNvPr id="2052" name="Text Box 115"/>
          <p:cNvSpPr txBox="1">
            <a:spLocks noChangeArrowheads="1"/>
          </p:cNvSpPr>
          <p:nvPr/>
        </p:nvSpPr>
        <p:spPr bwMode="auto">
          <a:xfrm>
            <a:off x="1900238" y="1720850"/>
            <a:ext cx="5362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600" b="1" dirty="0"/>
              <a:t>Grado en Fisioterapia</a:t>
            </a:r>
            <a:endParaRPr lang="es-ES" altLang="es-ES" sz="1600" b="1" dirty="0"/>
          </a:p>
        </p:txBody>
      </p:sp>
      <p:sp>
        <p:nvSpPr>
          <p:cNvPr id="2053" name="Text Box 117"/>
          <p:cNvSpPr txBox="1">
            <a:spLocks noChangeArrowheads="1"/>
          </p:cNvSpPr>
          <p:nvPr/>
        </p:nvSpPr>
        <p:spPr bwMode="auto">
          <a:xfrm>
            <a:off x="4098925" y="2819400"/>
            <a:ext cx="9556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600" b="1"/>
              <a:t>Tema IV</a:t>
            </a:r>
            <a:endParaRPr lang="es-ES" altLang="es-ES" sz="1600" b="1"/>
          </a:p>
        </p:txBody>
      </p:sp>
      <p:sp>
        <p:nvSpPr>
          <p:cNvPr id="2054" name="Rectangle 118"/>
          <p:cNvSpPr>
            <a:spLocks noChangeArrowheads="1"/>
          </p:cNvSpPr>
          <p:nvPr/>
        </p:nvSpPr>
        <p:spPr bwMode="auto">
          <a:xfrm>
            <a:off x="2295525" y="3327400"/>
            <a:ext cx="45942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900" b="1" dirty="0"/>
              <a:t>Introducción al contraste de hipótesis</a:t>
            </a:r>
          </a:p>
        </p:txBody>
      </p:sp>
      <p:sp>
        <p:nvSpPr>
          <p:cNvPr id="2055" name="Text Box 119"/>
          <p:cNvSpPr txBox="1">
            <a:spLocks noChangeArrowheads="1"/>
          </p:cNvSpPr>
          <p:nvPr/>
        </p:nvSpPr>
        <p:spPr bwMode="auto">
          <a:xfrm>
            <a:off x="3727450" y="1339850"/>
            <a:ext cx="170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b="1"/>
              <a:t>ESTADÍSTICA</a:t>
            </a:r>
            <a:endParaRPr lang="es-ES" altLang="es-ES" b="1"/>
          </a:p>
        </p:txBody>
      </p:sp>
      <p:sp>
        <p:nvSpPr>
          <p:cNvPr id="10" name="Text Box 127"/>
          <p:cNvSpPr txBox="1">
            <a:spLocks noChangeArrowheads="1"/>
          </p:cNvSpPr>
          <p:nvPr/>
        </p:nvSpPr>
        <p:spPr bwMode="auto">
          <a:xfrm>
            <a:off x="3276600" y="6521450"/>
            <a:ext cx="2520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a:solidFill>
                  <a:srgbClr val="002060"/>
                </a:solidFill>
              </a:rPr>
              <a:t>Universidad de Granada</a:t>
            </a:r>
            <a:endParaRPr lang="es-ES" altLang="es-ES" sz="1600" b="1">
              <a:solidFill>
                <a:srgbClr val="002060"/>
              </a:solidFill>
            </a:endParaRPr>
          </a:p>
        </p:txBody>
      </p:sp>
      <p:sp>
        <p:nvSpPr>
          <p:cNvPr id="11" name="Text Box 129"/>
          <p:cNvSpPr txBox="1">
            <a:spLocks noChangeArrowheads="1"/>
          </p:cNvSpPr>
          <p:nvPr/>
        </p:nvSpPr>
        <p:spPr bwMode="auto">
          <a:xfrm>
            <a:off x="1079508" y="5972175"/>
            <a:ext cx="698499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dirty="0">
                <a:solidFill>
                  <a:srgbClr val="002060"/>
                </a:solidFill>
              </a:rPr>
              <a:t>Pedro </a:t>
            </a:r>
            <a:r>
              <a:rPr lang="es-ES_tradnl" altLang="es-ES" sz="1600" b="1" dirty="0" err="1">
                <a:solidFill>
                  <a:srgbClr val="002060"/>
                </a:solidFill>
              </a:rPr>
              <a:t>Femia</a:t>
            </a:r>
            <a:r>
              <a:rPr lang="es-ES_tradnl" altLang="es-ES" sz="1600" b="1" dirty="0">
                <a:solidFill>
                  <a:srgbClr val="002060"/>
                </a:solidFill>
              </a:rPr>
              <a:t> Marzo (Autor) &amp; Miguel Angel Luque Fernandez (</a:t>
            </a:r>
            <a:r>
              <a:rPr lang="es-ES_tradnl" altLang="es-ES" sz="1600" b="1" dirty="0" err="1">
                <a:solidFill>
                  <a:srgbClr val="002060"/>
                </a:solidFill>
              </a:rPr>
              <a:t>Update</a:t>
            </a:r>
            <a:r>
              <a:rPr lang="es-ES_tradnl" altLang="es-ES" sz="1600" b="1" dirty="0">
                <a:solidFill>
                  <a:srgbClr val="002060"/>
                </a:solidFill>
              </a:rPr>
              <a:t>)</a:t>
            </a:r>
          </a:p>
          <a:p>
            <a:pPr algn="ctr" eaLnBrk="1" hangingPunct="1"/>
            <a:r>
              <a:rPr lang="es-ES_tradnl" altLang="es-ES" sz="1600" b="1" dirty="0">
                <a:solidFill>
                  <a:srgbClr val="002060"/>
                </a:solidFill>
              </a:rPr>
              <a:t>Unidad de Bioestadística – Facultad de Medicina</a:t>
            </a:r>
          </a:p>
        </p:txBody>
      </p:sp>
      <p:pic>
        <p:nvPicPr>
          <p:cNvPr id="12" name="Picture 2" descr="http://es.creativecommons.org/blog/wp-content/uploads/2013/04/by-nc-nd.eu_peti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50" y="6442075"/>
            <a:ext cx="1123950" cy="390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7180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33"/>
          <p:cNvSpPr txBox="1">
            <a:spLocks noChangeArrowheads="1"/>
          </p:cNvSpPr>
          <p:nvPr/>
        </p:nvSpPr>
        <p:spPr bwMode="auto">
          <a:xfrm>
            <a:off x="358775" y="762000"/>
            <a:ext cx="8356600" cy="7408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t>Un </a:t>
            </a:r>
            <a:r>
              <a:rPr lang="es-ES_tradnl" altLang="es-ES" b="1" dirty="0" err="1">
                <a:solidFill>
                  <a:srgbClr val="8A0000"/>
                </a:solidFill>
              </a:rPr>
              <a:t>cont</a:t>
            </a:r>
            <a:r>
              <a:rPr lang="es-ES" altLang="es-ES" b="1" dirty="0" err="1">
                <a:solidFill>
                  <a:srgbClr val="8A0000"/>
                </a:solidFill>
              </a:rPr>
              <a:t>raste</a:t>
            </a:r>
            <a:r>
              <a:rPr lang="es-ES" altLang="es-ES" dirty="0">
                <a:solidFill>
                  <a:srgbClr val="8A0000"/>
                </a:solidFill>
              </a:rPr>
              <a:t> </a:t>
            </a:r>
            <a:r>
              <a:rPr lang="es-ES" altLang="es-ES" dirty="0"/>
              <a:t>o </a:t>
            </a:r>
            <a:r>
              <a:rPr lang="es-ES" altLang="es-ES" b="1" dirty="0">
                <a:solidFill>
                  <a:srgbClr val="8A0000"/>
                </a:solidFill>
              </a:rPr>
              <a:t>test de hipótesis </a:t>
            </a:r>
            <a:r>
              <a:rPr lang="es-ES" altLang="es-ES" dirty="0"/>
              <a:t>es un procedimiento propio de la </a:t>
            </a:r>
            <a:r>
              <a:rPr lang="es-ES" altLang="es-ES" b="1" dirty="0"/>
              <a:t>Inferencia</a:t>
            </a:r>
            <a:r>
              <a:rPr lang="es-ES" altLang="es-ES" dirty="0"/>
              <a:t> </a:t>
            </a:r>
            <a:r>
              <a:rPr lang="es-ES" altLang="es-ES" b="1" dirty="0"/>
              <a:t>Estadística</a:t>
            </a:r>
            <a:r>
              <a:rPr lang="es-ES" altLang="es-ES" dirty="0"/>
              <a:t> encaminado a tomar una </a:t>
            </a:r>
            <a:r>
              <a:rPr lang="es-ES" altLang="es-ES" b="1" dirty="0"/>
              <a:t>decisión</a:t>
            </a:r>
            <a:r>
              <a:rPr lang="es-ES" altLang="es-ES" dirty="0"/>
              <a:t> a favor o en contra de una determinada </a:t>
            </a:r>
            <a:r>
              <a:rPr lang="es-ES" altLang="es-ES" b="1" dirty="0"/>
              <a:t>hipótesis estadística </a:t>
            </a:r>
            <a:r>
              <a:rPr lang="es-ES" altLang="es-ES" dirty="0"/>
              <a:t>que afecta a la población bajo estudio en términos de la información muestral.</a:t>
            </a:r>
            <a:r>
              <a:rPr lang="es-ES" altLang="es-ES" b="1" dirty="0"/>
              <a:t> </a:t>
            </a:r>
            <a:endParaRPr lang="es-ES_tradnl" altLang="es-ES" b="1" dirty="0"/>
          </a:p>
        </p:txBody>
      </p:sp>
      <p:sp>
        <p:nvSpPr>
          <p:cNvPr id="3075" name="Text Box 30"/>
          <p:cNvSpPr txBox="1">
            <a:spLocks noChangeArrowheads="1"/>
          </p:cNvSpPr>
          <p:nvPr/>
        </p:nvSpPr>
        <p:spPr bwMode="auto">
          <a:xfrm>
            <a:off x="358775" y="1531736"/>
            <a:ext cx="8350250" cy="956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t>Las </a:t>
            </a:r>
            <a:r>
              <a:rPr lang="es-ES_tradnl" altLang="es-ES" b="1" dirty="0">
                <a:solidFill>
                  <a:srgbClr val="8A0000"/>
                </a:solidFill>
              </a:rPr>
              <a:t>hipótesis estadísticas</a:t>
            </a:r>
            <a:r>
              <a:rPr lang="es-ES" altLang="es-ES" b="1" dirty="0">
                <a:solidFill>
                  <a:srgbClr val="8A0000"/>
                </a:solidFill>
              </a:rPr>
              <a:t> </a:t>
            </a:r>
            <a:r>
              <a:rPr lang="es-ES" altLang="es-ES" dirty="0"/>
              <a:t>son enunciados que se construyen en términos de los </a:t>
            </a:r>
            <a:r>
              <a:rPr lang="es-ES" altLang="es-ES" b="1" dirty="0"/>
              <a:t>parámetros</a:t>
            </a:r>
            <a:r>
              <a:rPr lang="es-ES_tradnl" altLang="es-ES" b="1" dirty="0"/>
              <a:t> que caracterizan a la población</a:t>
            </a:r>
            <a:r>
              <a:rPr lang="es-ES_tradnl" altLang="es-ES" dirty="0"/>
              <a:t>. Se tratará de comprobar si el supuesto considerado por la </a:t>
            </a:r>
            <a:r>
              <a:rPr lang="es-ES_tradnl" altLang="es-ES" dirty="0" err="1"/>
              <a:t>hipótes</a:t>
            </a:r>
            <a:r>
              <a:rPr lang="es-ES" altLang="es-ES" dirty="0" err="1"/>
              <a:t>is</a:t>
            </a:r>
            <a:r>
              <a:rPr lang="es-ES" altLang="es-ES" dirty="0"/>
              <a:t> acerca de esos parámetros es </a:t>
            </a:r>
            <a:r>
              <a:rPr lang="es-ES" altLang="es-ES" b="1" dirty="0"/>
              <a:t>compatible</a:t>
            </a:r>
            <a:r>
              <a:rPr lang="es-ES" altLang="es-ES" dirty="0"/>
              <a:t> con la </a:t>
            </a:r>
            <a:r>
              <a:rPr lang="es-ES" altLang="es-ES" b="1" dirty="0"/>
              <a:t>información empírica </a:t>
            </a:r>
            <a:r>
              <a:rPr lang="es-ES" altLang="es-ES" dirty="0"/>
              <a:t>(la dada por la o las muestras tomadas a tal efecto) </a:t>
            </a:r>
            <a:endParaRPr lang="es-ES_tradnl" altLang="es-ES" dirty="0"/>
          </a:p>
        </p:txBody>
      </p:sp>
      <p:sp>
        <p:nvSpPr>
          <p:cNvPr id="3076" name="Text Box 30"/>
          <p:cNvSpPr txBox="1">
            <a:spLocks noChangeArrowheads="1"/>
          </p:cNvSpPr>
          <p:nvPr/>
        </p:nvSpPr>
        <p:spPr bwMode="auto">
          <a:xfrm>
            <a:off x="358775" y="2567565"/>
            <a:ext cx="8350250" cy="22920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t>Las </a:t>
            </a:r>
            <a:r>
              <a:rPr lang="es-ES" altLang="es-ES" dirty="0"/>
              <a:t>hipótesis estadísticas son siempre dos: la </a:t>
            </a:r>
            <a:r>
              <a:rPr lang="es-ES" altLang="es-ES" b="1" dirty="0"/>
              <a:t>hipótesis nula (H</a:t>
            </a:r>
            <a:r>
              <a:rPr lang="es-ES" altLang="es-ES" b="1" baseline="-25000" dirty="0"/>
              <a:t>0</a:t>
            </a:r>
            <a:r>
              <a:rPr lang="es-ES" altLang="es-ES" b="1" dirty="0"/>
              <a:t>) </a:t>
            </a:r>
            <a:r>
              <a:rPr lang="es-ES" altLang="es-ES" dirty="0"/>
              <a:t>y su </a:t>
            </a:r>
            <a:r>
              <a:rPr lang="es-ES" altLang="es-ES" b="1" dirty="0"/>
              <a:t>alternativa (H</a:t>
            </a:r>
            <a:r>
              <a:rPr lang="es-ES" altLang="es-ES" b="1" baseline="-25000" dirty="0"/>
              <a:t>1</a:t>
            </a:r>
            <a:r>
              <a:rPr lang="es-ES" altLang="es-ES" b="1" dirty="0"/>
              <a:t>)</a:t>
            </a:r>
            <a:r>
              <a:rPr lang="es-ES" altLang="es-ES" dirty="0"/>
              <a:t>. La forma que toma cada una no depende del interés particular del investigador.</a:t>
            </a:r>
          </a:p>
          <a:p>
            <a:pPr algn="just" eaLnBrk="1" hangingPunct="1">
              <a:lnSpc>
                <a:spcPct val="50000"/>
              </a:lnSpc>
            </a:pPr>
            <a:endParaRPr lang="es-ES_tradnl" altLang="es-ES" dirty="0"/>
          </a:p>
          <a:p>
            <a:pPr algn="just" eaLnBrk="1" hangingPunct="1">
              <a:lnSpc>
                <a:spcPct val="110000"/>
              </a:lnSpc>
            </a:pPr>
            <a:r>
              <a:rPr lang="es-ES_tradnl" altLang="es-ES" b="1" dirty="0"/>
              <a:t>La hipótesis nula H</a:t>
            </a:r>
            <a:r>
              <a:rPr lang="es-ES_tradnl" altLang="es-ES" b="1" baseline="-25000" dirty="0"/>
              <a:t>0</a:t>
            </a:r>
          </a:p>
          <a:p>
            <a:pPr algn="just" eaLnBrk="1" hangingPunct="1">
              <a:buFontTx/>
              <a:buChar char="•"/>
            </a:pPr>
            <a:r>
              <a:rPr lang="es-ES_tradnl" altLang="es-ES" dirty="0"/>
              <a:t> Es lo que asumimos como cierto hasta que se demuestre lo contrario</a:t>
            </a:r>
          </a:p>
          <a:p>
            <a:pPr algn="just" eaLnBrk="1" hangingPunct="1">
              <a:buFontTx/>
              <a:buChar char="•"/>
            </a:pPr>
            <a:r>
              <a:rPr lang="es-ES" altLang="es-ES" dirty="0"/>
              <a:t> Su elaboración siempre se hace sobre la idea de </a:t>
            </a:r>
            <a:r>
              <a:rPr lang="es-ES" altLang="es-ES" i="1" dirty="0"/>
              <a:t>homogeneidad</a:t>
            </a:r>
            <a:r>
              <a:rPr lang="es-ES" altLang="es-ES" dirty="0"/>
              <a:t>, </a:t>
            </a:r>
            <a:r>
              <a:rPr lang="es-ES" altLang="es-ES" i="1" dirty="0"/>
              <a:t>igualdad</a:t>
            </a:r>
            <a:r>
              <a:rPr lang="es-ES" altLang="es-ES" dirty="0"/>
              <a:t>, </a:t>
            </a:r>
            <a:r>
              <a:rPr lang="es-ES" altLang="es-ES" i="1" dirty="0"/>
              <a:t>independencia</a:t>
            </a:r>
          </a:p>
          <a:p>
            <a:pPr algn="just" eaLnBrk="1" hangingPunct="1">
              <a:lnSpc>
                <a:spcPct val="50000"/>
              </a:lnSpc>
              <a:buFontTx/>
              <a:buChar char="•"/>
            </a:pPr>
            <a:endParaRPr lang="es-ES_tradnl" altLang="es-ES" dirty="0"/>
          </a:p>
          <a:p>
            <a:pPr algn="just" eaLnBrk="1" hangingPunct="1">
              <a:lnSpc>
                <a:spcPct val="110000"/>
              </a:lnSpc>
            </a:pPr>
            <a:r>
              <a:rPr lang="es-ES_tradnl" altLang="es-ES" b="1" dirty="0"/>
              <a:t>La hipótesis alternativa H</a:t>
            </a:r>
            <a:r>
              <a:rPr lang="es-ES_tradnl" altLang="es-ES" b="1" baseline="-25000" dirty="0"/>
              <a:t>1</a:t>
            </a:r>
          </a:p>
          <a:p>
            <a:pPr algn="just" eaLnBrk="1" hangingPunct="1">
              <a:buFontTx/>
              <a:buChar char="•"/>
            </a:pPr>
            <a:r>
              <a:rPr lang="es-ES_tradnl" altLang="es-ES" dirty="0"/>
              <a:t> Es la negación de la hipótesis nula</a:t>
            </a:r>
          </a:p>
          <a:p>
            <a:pPr algn="just" eaLnBrk="1" hangingPunct="1">
              <a:buFontTx/>
              <a:buChar char="•"/>
            </a:pPr>
            <a:r>
              <a:rPr lang="es-ES" altLang="es-ES" dirty="0"/>
              <a:t> Es la hipótesis que aceptamos si la evidencia experimental nos lleva a rechazar la hipótesis nula</a:t>
            </a:r>
          </a:p>
          <a:p>
            <a:pPr algn="just" eaLnBrk="1" hangingPunct="1">
              <a:buFontTx/>
              <a:buChar char="•"/>
            </a:pPr>
            <a:r>
              <a:rPr lang="es-ES_tradnl" altLang="es-ES" dirty="0"/>
              <a:t> Su elaboración </a:t>
            </a:r>
            <a:r>
              <a:rPr lang="es-ES_tradnl" altLang="es-ES" dirty="0" err="1"/>
              <a:t>sie</a:t>
            </a:r>
            <a:r>
              <a:rPr lang="es-ES" altLang="es-ES" dirty="0" err="1"/>
              <a:t>mpre</a:t>
            </a:r>
            <a:r>
              <a:rPr lang="es-ES" altLang="es-ES" dirty="0"/>
              <a:t> se hace bajo la idea de </a:t>
            </a:r>
            <a:r>
              <a:rPr lang="es-ES" altLang="es-ES" i="1" dirty="0"/>
              <a:t>heterogeneidad</a:t>
            </a:r>
            <a:r>
              <a:rPr lang="es-ES" altLang="es-ES" dirty="0"/>
              <a:t>, </a:t>
            </a:r>
            <a:r>
              <a:rPr lang="es-ES" altLang="es-ES" i="1" dirty="0"/>
              <a:t>diferencia</a:t>
            </a:r>
            <a:r>
              <a:rPr lang="es-ES" altLang="es-ES" dirty="0"/>
              <a:t>, </a:t>
            </a:r>
            <a:r>
              <a:rPr lang="es-ES" altLang="es-ES" i="1" dirty="0"/>
              <a:t>asociación</a:t>
            </a:r>
          </a:p>
        </p:txBody>
      </p:sp>
      <p:sp>
        <p:nvSpPr>
          <p:cNvPr id="3079" name="Rectangle 75"/>
          <p:cNvSpPr>
            <a:spLocks noChangeArrowheads="1"/>
          </p:cNvSpPr>
          <p:nvPr/>
        </p:nvSpPr>
        <p:spPr bwMode="auto">
          <a:xfrm>
            <a:off x="358775" y="4876800"/>
            <a:ext cx="1630363"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t>Algunos ejemplos:</a:t>
            </a:r>
            <a:endParaRPr lang="es-ES" altLang="es-ES" dirty="0"/>
          </a:p>
        </p:txBody>
      </p:sp>
      <p:grpSp>
        <p:nvGrpSpPr>
          <p:cNvPr id="3080" name="Group 81"/>
          <p:cNvGrpSpPr>
            <a:grpSpLocks/>
          </p:cNvGrpSpPr>
          <p:nvPr/>
        </p:nvGrpSpPr>
        <p:grpSpPr bwMode="auto">
          <a:xfrm>
            <a:off x="609600" y="5170488"/>
            <a:ext cx="3987800" cy="755650"/>
            <a:chOff x="366" y="3421"/>
            <a:chExt cx="2512" cy="476"/>
          </a:xfrm>
        </p:grpSpPr>
        <p:graphicFrame>
          <p:nvGraphicFramePr>
            <p:cNvPr id="3090" name="Object 29"/>
            <p:cNvGraphicFramePr>
              <a:graphicFrameLocks noChangeAspect="1"/>
            </p:cNvGraphicFramePr>
            <p:nvPr/>
          </p:nvGraphicFramePr>
          <p:xfrm>
            <a:off x="1431" y="3446"/>
            <a:ext cx="556" cy="393"/>
          </p:xfrm>
          <a:graphic>
            <a:graphicData uri="http://schemas.openxmlformats.org/presentationml/2006/ole">
              <mc:AlternateContent xmlns:mc="http://schemas.openxmlformats.org/markup-compatibility/2006">
                <mc:Choice xmlns:v="urn:schemas-microsoft-com:vml" Requires="v">
                  <p:oleObj name="Equation" r:id="rId2" imgW="736600" imgH="520700" progId="Equation.DSMT4">
                    <p:embed/>
                  </p:oleObj>
                </mc:Choice>
                <mc:Fallback>
                  <p:oleObj name="Equation" r:id="rId2" imgW="736600" imgH="520700" progId="Equation.DSMT4">
                    <p:embed/>
                    <p:pic>
                      <p:nvPicPr>
                        <p:cNvPr id="3090" name="Object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1" y="3446"/>
                          <a:ext cx="556"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91" name="Object 29"/>
            <p:cNvGraphicFramePr>
              <a:graphicFrameLocks noChangeAspect="1"/>
            </p:cNvGraphicFramePr>
            <p:nvPr/>
          </p:nvGraphicFramePr>
          <p:xfrm>
            <a:off x="2204" y="3446"/>
            <a:ext cx="549" cy="374"/>
          </p:xfrm>
          <a:graphic>
            <a:graphicData uri="http://schemas.openxmlformats.org/presentationml/2006/ole">
              <mc:AlternateContent xmlns:mc="http://schemas.openxmlformats.org/markup-compatibility/2006">
                <mc:Choice xmlns:v="urn:schemas-microsoft-com:vml" Requires="v">
                  <p:oleObj name="Equation" r:id="rId4" imgW="761669" imgH="520474" progId="Equation.DSMT4">
                    <p:embed/>
                  </p:oleObj>
                </mc:Choice>
                <mc:Fallback>
                  <p:oleObj name="Equation" r:id="rId4" imgW="761669" imgH="520474" progId="Equation.DSMT4">
                    <p:embed/>
                    <p:pic>
                      <p:nvPicPr>
                        <p:cNvPr id="3091"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4" y="3446"/>
                          <a:ext cx="54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92" name="AutoShape 67"/>
            <p:cNvSpPr>
              <a:spLocks noChangeArrowheads="1"/>
            </p:cNvSpPr>
            <p:nvPr/>
          </p:nvSpPr>
          <p:spPr bwMode="auto">
            <a:xfrm>
              <a:off x="366" y="3433"/>
              <a:ext cx="955" cy="457"/>
            </a:xfrm>
            <a:prstGeom prst="roundRect">
              <a:avLst>
                <a:gd name="adj" fmla="val 5708"/>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aphicFrame>
          <p:nvGraphicFramePr>
            <p:cNvPr id="3093" name="Object 29"/>
            <p:cNvGraphicFramePr>
              <a:graphicFrameLocks noChangeAspect="1"/>
            </p:cNvGraphicFramePr>
            <p:nvPr/>
          </p:nvGraphicFramePr>
          <p:xfrm>
            <a:off x="408" y="3446"/>
            <a:ext cx="870" cy="408"/>
          </p:xfrm>
          <a:graphic>
            <a:graphicData uri="http://schemas.openxmlformats.org/presentationml/2006/ole">
              <mc:AlternateContent xmlns:mc="http://schemas.openxmlformats.org/markup-compatibility/2006">
                <mc:Choice xmlns:v="urn:schemas-microsoft-com:vml" Requires="v">
                  <p:oleObj name="Equation" r:id="rId6" imgW="1270000" imgH="596900" progId="Equation.DSMT4">
                    <p:embed/>
                  </p:oleObj>
                </mc:Choice>
                <mc:Fallback>
                  <p:oleObj name="Equation" r:id="rId6" imgW="1270000" imgH="596900" progId="Equation.DSMT4">
                    <p:embed/>
                    <p:pic>
                      <p:nvPicPr>
                        <p:cNvPr id="3093"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 y="3446"/>
                          <a:ext cx="870"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94" name="AutoShape 76"/>
            <p:cNvSpPr>
              <a:spLocks noChangeArrowheads="1"/>
            </p:cNvSpPr>
            <p:nvPr/>
          </p:nvSpPr>
          <p:spPr bwMode="auto">
            <a:xfrm>
              <a:off x="1338" y="3421"/>
              <a:ext cx="726" cy="470"/>
            </a:xfrm>
            <a:prstGeom prst="roundRect">
              <a:avLst>
                <a:gd name="adj" fmla="val 5708"/>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3095" name="AutoShape 77"/>
            <p:cNvSpPr>
              <a:spLocks noChangeArrowheads="1"/>
            </p:cNvSpPr>
            <p:nvPr/>
          </p:nvSpPr>
          <p:spPr bwMode="auto">
            <a:xfrm>
              <a:off x="2078" y="3427"/>
              <a:ext cx="800" cy="470"/>
            </a:xfrm>
            <a:prstGeom prst="roundRect">
              <a:avLst>
                <a:gd name="adj" fmla="val 5708"/>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grpSp>
        <p:nvGrpSpPr>
          <p:cNvPr id="3081" name="Group 82"/>
          <p:cNvGrpSpPr>
            <a:grpSpLocks/>
          </p:cNvGrpSpPr>
          <p:nvPr/>
        </p:nvGrpSpPr>
        <p:grpSpPr bwMode="auto">
          <a:xfrm>
            <a:off x="4976812" y="5170488"/>
            <a:ext cx="3633788" cy="755650"/>
            <a:chOff x="3113" y="3417"/>
            <a:chExt cx="2289" cy="476"/>
          </a:xfrm>
        </p:grpSpPr>
        <p:graphicFrame>
          <p:nvGraphicFramePr>
            <p:cNvPr id="3083" name="Object 29"/>
            <p:cNvGraphicFramePr>
              <a:graphicFrameLocks noChangeAspect="1"/>
            </p:cNvGraphicFramePr>
            <p:nvPr/>
          </p:nvGraphicFramePr>
          <p:xfrm>
            <a:off x="3194" y="3446"/>
            <a:ext cx="595" cy="393"/>
          </p:xfrm>
          <a:graphic>
            <a:graphicData uri="http://schemas.openxmlformats.org/presentationml/2006/ole">
              <mc:AlternateContent xmlns:mc="http://schemas.openxmlformats.org/markup-compatibility/2006">
                <mc:Choice xmlns:v="urn:schemas-microsoft-com:vml" Requires="v">
                  <p:oleObj name="Equation" r:id="rId8" imgW="787400" imgH="520700" progId="Equation.DSMT4">
                    <p:embed/>
                  </p:oleObj>
                </mc:Choice>
                <mc:Fallback>
                  <p:oleObj name="Equation" r:id="rId8" imgW="787400" imgH="520700" progId="Equation.DSMT4">
                    <p:embed/>
                    <p:pic>
                      <p:nvPicPr>
                        <p:cNvPr id="3083"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94" y="3446"/>
                          <a:ext cx="595"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84" name="AutoShape 68"/>
            <p:cNvSpPr>
              <a:spLocks noChangeArrowheads="1"/>
            </p:cNvSpPr>
            <p:nvPr/>
          </p:nvSpPr>
          <p:spPr bwMode="auto">
            <a:xfrm>
              <a:off x="3113" y="3423"/>
              <a:ext cx="756" cy="470"/>
            </a:xfrm>
            <a:prstGeom prst="roundRect">
              <a:avLst>
                <a:gd name="adj" fmla="val 5708"/>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aphicFrame>
          <p:nvGraphicFramePr>
            <p:cNvPr id="3085" name="Object 29"/>
            <p:cNvGraphicFramePr>
              <a:graphicFrameLocks noChangeAspect="1"/>
            </p:cNvGraphicFramePr>
            <p:nvPr/>
          </p:nvGraphicFramePr>
          <p:xfrm>
            <a:off x="3948" y="3446"/>
            <a:ext cx="624" cy="431"/>
          </p:xfrm>
          <a:graphic>
            <a:graphicData uri="http://schemas.openxmlformats.org/presentationml/2006/ole">
              <mc:AlternateContent xmlns:mc="http://schemas.openxmlformats.org/markup-compatibility/2006">
                <mc:Choice xmlns:v="urn:schemas-microsoft-com:vml" Requires="v">
                  <p:oleObj name="Equation" r:id="rId10" imgW="825500" imgH="571500" progId="Equation.DSMT4">
                    <p:embed/>
                  </p:oleObj>
                </mc:Choice>
                <mc:Fallback>
                  <p:oleObj name="Equation" r:id="rId10" imgW="825500" imgH="571500" progId="Equation.DSMT4">
                    <p:embed/>
                    <p:pic>
                      <p:nvPicPr>
                        <p:cNvPr id="3085"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48" y="3446"/>
                          <a:ext cx="624"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86" name="AutoShape 78"/>
            <p:cNvSpPr>
              <a:spLocks noChangeArrowheads="1"/>
            </p:cNvSpPr>
            <p:nvPr/>
          </p:nvSpPr>
          <p:spPr bwMode="auto">
            <a:xfrm>
              <a:off x="3882" y="3423"/>
              <a:ext cx="756" cy="470"/>
            </a:xfrm>
            <a:prstGeom prst="roundRect">
              <a:avLst>
                <a:gd name="adj" fmla="val 5708"/>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nvGrpSpPr>
            <p:cNvPr id="3087" name="Group 80"/>
            <p:cNvGrpSpPr>
              <a:grpSpLocks/>
            </p:cNvGrpSpPr>
            <p:nvPr/>
          </p:nvGrpSpPr>
          <p:grpSpPr bwMode="auto">
            <a:xfrm>
              <a:off x="4646" y="3417"/>
              <a:ext cx="756" cy="470"/>
              <a:chOff x="4604" y="3417"/>
              <a:chExt cx="756" cy="470"/>
            </a:xfrm>
          </p:grpSpPr>
          <p:graphicFrame>
            <p:nvGraphicFramePr>
              <p:cNvPr id="3088" name="Object 29"/>
              <p:cNvGraphicFramePr>
                <a:graphicFrameLocks noChangeAspect="1"/>
              </p:cNvGraphicFramePr>
              <p:nvPr/>
            </p:nvGraphicFramePr>
            <p:xfrm>
              <a:off x="4686" y="3446"/>
              <a:ext cx="593" cy="385"/>
            </p:xfrm>
            <a:graphic>
              <a:graphicData uri="http://schemas.openxmlformats.org/presentationml/2006/ole">
                <mc:AlternateContent xmlns:mc="http://schemas.openxmlformats.org/markup-compatibility/2006">
                  <mc:Choice xmlns:v="urn:schemas-microsoft-com:vml" Requires="v">
                    <p:oleObj name="Equation" r:id="rId12" imgW="799753" imgH="520474" progId="Equation.DSMT4">
                      <p:embed/>
                    </p:oleObj>
                  </mc:Choice>
                  <mc:Fallback>
                    <p:oleObj name="Equation" r:id="rId12" imgW="799753" imgH="520474" progId="Equation.DSMT4">
                      <p:embed/>
                      <p:pic>
                        <p:nvPicPr>
                          <p:cNvPr id="3088" name="Object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86" y="3446"/>
                            <a:ext cx="593"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89" name="AutoShape 79"/>
              <p:cNvSpPr>
                <a:spLocks noChangeArrowheads="1"/>
              </p:cNvSpPr>
              <p:nvPr/>
            </p:nvSpPr>
            <p:spPr bwMode="auto">
              <a:xfrm>
                <a:off x="4604" y="3417"/>
                <a:ext cx="756" cy="470"/>
              </a:xfrm>
              <a:prstGeom prst="roundRect">
                <a:avLst>
                  <a:gd name="adj" fmla="val 5708"/>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grpSp>
      <p:sp>
        <p:nvSpPr>
          <p:cNvPr id="3082" name="Text Box 33"/>
          <p:cNvSpPr txBox="1">
            <a:spLocks noChangeArrowheads="1"/>
          </p:cNvSpPr>
          <p:nvPr/>
        </p:nvSpPr>
        <p:spPr bwMode="auto">
          <a:xfrm>
            <a:off x="238125" y="43124"/>
            <a:ext cx="3633787" cy="3407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sz="1600" b="1" dirty="0"/>
              <a:t>Fundamentos</a:t>
            </a:r>
            <a:r>
              <a:rPr lang="es-ES_tradnl" altLang="es-ES" b="1" dirty="0"/>
              <a:t> de los test de hipótesis</a:t>
            </a:r>
          </a:p>
        </p:txBody>
      </p:sp>
      <p:sp>
        <p:nvSpPr>
          <p:cNvPr id="3097" name="Text Box 70"/>
          <p:cNvSpPr txBox="1">
            <a:spLocks noChangeArrowheads="1"/>
          </p:cNvSpPr>
          <p:nvPr/>
        </p:nvSpPr>
        <p:spPr bwMode="auto">
          <a:xfrm>
            <a:off x="655638" y="5918200"/>
            <a:ext cx="1406525"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a:t>Prueba de normalidad</a:t>
            </a:r>
            <a:endParaRPr lang="es-ES" altLang="es-ES" sz="1200"/>
          </a:p>
        </p:txBody>
      </p:sp>
      <p:sp>
        <p:nvSpPr>
          <p:cNvPr id="3098" name="Text Box 70"/>
          <p:cNvSpPr txBox="1">
            <a:spLocks noChangeArrowheads="1"/>
          </p:cNvSpPr>
          <p:nvPr/>
        </p:nvSpPr>
        <p:spPr bwMode="auto">
          <a:xfrm>
            <a:off x="2170113" y="6010275"/>
            <a:ext cx="2359025"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a:t>Tests para un parámetro</a:t>
            </a:r>
          </a:p>
        </p:txBody>
      </p:sp>
      <p:sp>
        <p:nvSpPr>
          <p:cNvPr id="3099" name="Text Box 70"/>
          <p:cNvSpPr txBox="1">
            <a:spLocks noChangeArrowheads="1"/>
          </p:cNvSpPr>
          <p:nvPr/>
        </p:nvSpPr>
        <p:spPr bwMode="auto">
          <a:xfrm>
            <a:off x="4940300" y="5919788"/>
            <a:ext cx="36639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a:t>Tests de homogeneidad entre dos muestras (estudios comparativos)</a:t>
            </a:r>
          </a:p>
        </p:txBody>
      </p:sp>
      <p:sp>
        <p:nvSpPr>
          <p:cNvPr id="2" name="Abrir llave 1"/>
          <p:cNvSpPr/>
          <p:nvPr/>
        </p:nvSpPr>
        <p:spPr>
          <a:xfrm rot="16200000">
            <a:off x="2464514" y="4485084"/>
            <a:ext cx="247017" cy="4056858"/>
          </a:xfrm>
          <a:prstGeom prst="leftBrace">
            <a:avLst/>
          </a:prstGeom>
          <a:ln>
            <a:solidFill>
              <a:srgbClr val="FF99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8" name="Abrir llave 27"/>
          <p:cNvSpPr/>
          <p:nvPr/>
        </p:nvSpPr>
        <p:spPr>
          <a:xfrm rot="16200000">
            <a:off x="6669404" y="4567834"/>
            <a:ext cx="247017" cy="3908425"/>
          </a:xfrm>
          <a:prstGeom prst="leftBrace">
            <a:avLst/>
          </a:prstGeom>
          <a:ln>
            <a:solidFill>
              <a:srgbClr val="FF99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3078" name="Text Box 71"/>
          <p:cNvSpPr txBox="1">
            <a:spLocks noChangeArrowheads="1"/>
          </p:cNvSpPr>
          <p:nvPr/>
        </p:nvSpPr>
        <p:spPr bwMode="auto">
          <a:xfrm>
            <a:off x="5537200" y="6367067"/>
            <a:ext cx="2511425" cy="309958"/>
          </a:xfrm>
          <a:prstGeom prst="rect">
            <a:avLst/>
          </a:prstGeom>
          <a:solidFill>
            <a:schemeClr val="bg1"/>
          </a:solidFill>
          <a:ln>
            <a:noFill/>
          </a:ln>
          <a:effec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dirty="0"/>
              <a:t>Estudios con dos muestras </a:t>
            </a:r>
            <a:endParaRPr lang="es-ES" altLang="es-ES" dirty="0"/>
          </a:p>
        </p:txBody>
      </p:sp>
      <p:sp>
        <p:nvSpPr>
          <p:cNvPr id="30" name="Text Box 33"/>
          <p:cNvSpPr txBox="1">
            <a:spLocks noChangeArrowheads="1"/>
          </p:cNvSpPr>
          <p:nvPr/>
        </p:nvSpPr>
        <p:spPr bwMode="auto">
          <a:xfrm>
            <a:off x="245269" y="381000"/>
            <a:ext cx="3633787"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Hipótesis estadísticas</a:t>
            </a:r>
            <a:endParaRPr lang="es-ES_tradnl" altLang="es-ES" sz="1200" b="1" dirty="0"/>
          </a:p>
        </p:txBody>
      </p:sp>
      <p:sp>
        <p:nvSpPr>
          <p:cNvPr id="3077" name="Text Box 70"/>
          <p:cNvSpPr txBox="1">
            <a:spLocks noChangeArrowheads="1"/>
          </p:cNvSpPr>
          <p:nvPr/>
        </p:nvSpPr>
        <p:spPr bwMode="auto">
          <a:xfrm>
            <a:off x="1541462" y="6361113"/>
            <a:ext cx="2230438" cy="304800"/>
          </a:xfrm>
          <a:prstGeom prst="rect">
            <a:avLst/>
          </a:prstGeom>
          <a:solidFill>
            <a:schemeClr val="bg1"/>
          </a:solidFill>
          <a:ln>
            <a:noFill/>
          </a:ln>
          <a:effec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dirty="0"/>
              <a:t>Estudios con una muestra</a:t>
            </a:r>
            <a:endParaRPr lang="es-ES" altLang="es-ES" dirty="0"/>
          </a:p>
        </p:txBody>
      </p:sp>
    </p:spTree>
    <p:extLst>
      <p:ext uri="{BB962C8B-B14F-4D97-AF65-F5344CB8AC3E}">
        <p14:creationId xmlns:p14="http://schemas.microsoft.com/office/powerpoint/2010/main" val="2005380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9" name="Object 29"/>
          <p:cNvGraphicFramePr>
            <a:graphicFrameLocks noChangeAspect="1"/>
          </p:cNvGraphicFramePr>
          <p:nvPr>
            <p:extLst>
              <p:ext uri="{D42A27DB-BD31-4B8C-83A1-F6EECF244321}">
                <p14:modId xmlns:p14="http://schemas.microsoft.com/office/powerpoint/2010/main" val="1048387453"/>
              </p:ext>
            </p:extLst>
          </p:nvPr>
        </p:nvGraphicFramePr>
        <p:xfrm>
          <a:off x="608012" y="2666850"/>
          <a:ext cx="2287588" cy="427037"/>
        </p:xfrm>
        <a:graphic>
          <a:graphicData uri="http://schemas.openxmlformats.org/presentationml/2006/ole">
            <mc:AlternateContent xmlns:mc="http://schemas.openxmlformats.org/markup-compatibility/2006">
              <mc:Choice xmlns:v="urn:schemas-microsoft-com:vml" Requires="v">
                <p:oleObj name="Equation" r:id="rId2" imgW="1981080" imgH="368280" progId="Equation.DSMT4">
                  <p:embed/>
                </p:oleObj>
              </mc:Choice>
              <mc:Fallback>
                <p:oleObj name="Equation" r:id="rId2" imgW="1981080" imgH="368280" progId="Equation.DSMT4">
                  <p:embed/>
                  <p:pic>
                    <p:nvPicPr>
                      <p:cNvPr id="4099" name="Object 29"/>
                      <p:cNvPicPr>
                        <a:picLocks noChangeAspect="1" noChangeArrowheads="1"/>
                      </p:cNvPicPr>
                      <p:nvPr/>
                    </p:nvPicPr>
                    <p:blipFill>
                      <a:blip r:embed="rId3"/>
                      <a:srcRect/>
                      <a:stretch>
                        <a:fillRect/>
                      </a:stretch>
                    </p:blipFill>
                    <p:spPr bwMode="auto">
                      <a:xfrm>
                        <a:off x="608012" y="2666850"/>
                        <a:ext cx="228758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Grupo 7">
            <a:extLst>
              <a:ext uri="{FF2B5EF4-FFF2-40B4-BE49-F238E27FC236}">
                <a16:creationId xmlns:a16="http://schemas.microsoft.com/office/drawing/2014/main" id="{EF7FE686-03D0-430B-95DB-93B6050526C9}"/>
              </a:ext>
            </a:extLst>
          </p:cNvPr>
          <p:cNvGrpSpPr/>
          <p:nvPr/>
        </p:nvGrpSpPr>
        <p:grpSpPr>
          <a:xfrm>
            <a:off x="7045922" y="1529248"/>
            <a:ext cx="1935049" cy="872334"/>
            <a:chOff x="7045922" y="1529248"/>
            <a:chExt cx="1935049" cy="872334"/>
          </a:xfrm>
        </p:grpSpPr>
        <p:sp>
          <p:nvSpPr>
            <p:cNvPr id="4103" name="Text Box 70"/>
            <p:cNvSpPr txBox="1">
              <a:spLocks noChangeArrowheads="1"/>
            </p:cNvSpPr>
            <p:nvPr/>
          </p:nvSpPr>
          <p:spPr bwMode="auto">
            <a:xfrm>
              <a:off x="7060946" y="1630496"/>
              <a:ext cx="1905000" cy="6698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sz="1100" dirty="0"/>
                <a:t>La hipótesis nula </a:t>
              </a:r>
              <a:r>
                <a:rPr lang="es-ES_tradnl" altLang="es-ES" sz="1100" b="1" dirty="0"/>
                <a:t>se asume como cierta</a:t>
              </a:r>
              <a:r>
                <a:rPr lang="es-ES_tradnl" altLang="es-ES" sz="1100" dirty="0"/>
                <a:t> mientras que no se pueda demostrar lo contrario</a:t>
              </a:r>
            </a:p>
          </p:txBody>
        </p:sp>
        <p:sp>
          <p:nvSpPr>
            <p:cNvPr id="4105" name="AutoShape 77"/>
            <p:cNvSpPr>
              <a:spLocks noChangeArrowheads="1"/>
            </p:cNvSpPr>
            <p:nvPr/>
          </p:nvSpPr>
          <p:spPr bwMode="auto">
            <a:xfrm>
              <a:off x="7045922" y="1529248"/>
              <a:ext cx="1935049" cy="872334"/>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sz="1200"/>
            </a:p>
          </p:txBody>
        </p:sp>
      </p:grpSp>
      <p:grpSp>
        <p:nvGrpSpPr>
          <p:cNvPr id="9" name="Grupo 8">
            <a:extLst>
              <a:ext uri="{FF2B5EF4-FFF2-40B4-BE49-F238E27FC236}">
                <a16:creationId xmlns:a16="http://schemas.microsoft.com/office/drawing/2014/main" id="{496057F2-A28B-4F90-BFB7-9BE971FAC697}"/>
              </a:ext>
            </a:extLst>
          </p:cNvPr>
          <p:cNvGrpSpPr/>
          <p:nvPr/>
        </p:nvGrpSpPr>
        <p:grpSpPr>
          <a:xfrm>
            <a:off x="7168478" y="3229299"/>
            <a:ext cx="1834234" cy="941063"/>
            <a:chOff x="7168478" y="3229299"/>
            <a:chExt cx="1834234" cy="941063"/>
          </a:xfrm>
        </p:grpSpPr>
        <p:sp>
          <p:nvSpPr>
            <p:cNvPr id="4104" name="Text Box 71"/>
            <p:cNvSpPr txBox="1">
              <a:spLocks noChangeArrowheads="1"/>
            </p:cNvSpPr>
            <p:nvPr/>
          </p:nvSpPr>
          <p:spPr bwMode="auto">
            <a:xfrm>
              <a:off x="7168478" y="3314019"/>
              <a:ext cx="1834234" cy="7716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sz="1100" dirty="0"/>
                <a:t>Para </a:t>
              </a:r>
              <a:r>
                <a:rPr lang="es-ES_tradnl" altLang="es-ES" sz="1100" b="1" dirty="0"/>
                <a:t>rechazar a la hipótesis nula</a:t>
              </a:r>
              <a:r>
                <a:rPr lang="es-ES_tradnl" altLang="es-ES" sz="1100" dirty="0"/>
                <a:t>, es preciso que la evidencia empírica vaya en su contra</a:t>
              </a:r>
            </a:p>
          </p:txBody>
        </p:sp>
        <p:sp>
          <p:nvSpPr>
            <p:cNvPr id="4106" name="AutoShape 79"/>
            <p:cNvSpPr>
              <a:spLocks noChangeArrowheads="1"/>
            </p:cNvSpPr>
            <p:nvPr/>
          </p:nvSpPr>
          <p:spPr bwMode="auto">
            <a:xfrm>
              <a:off x="7168478" y="3229299"/>
              <a:ext cx="1834234" cy="941063"/>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sp>
        <p:nvSpPr>
          <p:cNvPr id="4108" name="Text Box 81"/>
          <p:cNvSpPr txBox="1">
            <a:spLocks noChangeArrowheads="1"/>
          </p:cNvSpPr>
          <p:nvPr/>
        </p:nvSpPr>
        <p:spPr bwMode="auto">
          <a:xfrm>
            <a:off x="206015" y="5221400"/>
            <a:ext cx="5061984" cy="10947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sz="1300" dirty="0"/>
              <a:t>Obsérvese que </a:t>
            </a:r>
            <a:r>
              <a:rPr lang="es-ES_tradnl" altLang="es-ES" sz="1300" b="1" dirty="0"/>
              <a:t>H</a:t>
            </a:r>
            <a:r>
              <a:rPr lang="es-ES_tradnl" altLang="es-ES" sz="1300" b="1" baseline="-25000" dirty="0"/>
              <a:t>0</a:t>
            </a:r>
            <a:r>
              <a:rPr lang="es-ES_tradnl" altLang="es-ES" sz="1300" dirty="0"/>
              <a:t> </a:t>
            </a:r>
            <a:r>
              <a:rPr lang="es-ES_tradnl" altLang="es-ES" sz="1300" i="1" dirty="0"/>
              <a:t>concreta algo</a:t>
            </a:r>
            <a:r>
              <a:rPr lang="es-ES_tradnl" altLang="es-ES" sz="1300" dirty="0"/>
              <a:t> (la diferencia “vale cero”), pero </a:t>
            </a:r>
            <a:r>
              <a:rPr lang="es-ES_tradnl" altLang="es-ES" sz="1300" b="1" dirty="0"/>
              <a:t>H</a:t>
            </a:r>
            <a:r>
              <a:rPr lang="es-ES_tradnl" altLang="es-ES" sz="1300" b="1" baseline="-25000" dirty="0"/>
              <a:t>1 </a:t>
            </a:r>
            <a:r>
              <a:rPr lang="es-ES_tradnl" altLang="es-ES" sz="1300" b="1" dirty="0"/>
              <a:t>no</a:t>
            </a:r>
            <a:r>
              <a:rPr lang="es-ES_tradnl" altLang="es-ES" sz="1300" dirty="0"/>
              <a:t> (solo dice que la diferencia “no vale cero”, pero nada más), no sabemos en qué punto se centra la distribución dada por H</a:t>
            </a:r>
            <a:r>
              <a:rPr lang="es-ES_tradnl" altLang="es-ES" sz="1300" baseline="-25000" dirty="0"/>
              <a:t>1</a:t>
            </a:r>
            <a:r>
              <a:rPr lang="es-ES_tradnl" altLang="es-ES" sz="1300" dirty="0"/>
              <a:t> (solo que no es en el valor cero). Se trata de decidir cuál es la hipótesis a la que apoyan los datos empíricos</a:t>
            </a:r>
          </a:p>
        </p:txBody>
      </p:sp>
      <p:grpSp>
        <p:nvGrpSpPr>
          <p:cNvPr id="4110" name="4 Grupo"/>
          <p:cNvGrpSpPr>
            <a:grpSpLocks/>
          </p:cNvGrpSpPr>
          <p:nvPr/>
        </p:nvGrpSpPr>
        <p:grpSpPr bwMode="auto">
          <a:xfrm>
            <a:off x="196414" y="814607"/>
            <a:ext cx="3135908" cy="323697"/>
            <a:chOff x="235347" y="960563"/>
            <a:chExt cx="3135908" cy="324034"/>
          </a:xfrm>
        </p:grpSpPr>
        <p:sp>
          <p:nvSpPr>
            <p:cNvPr id="4137" name="Text Box 33"/>
            <p:cNvSpPr txBox="1">
              <a:spLocks noChangeArrowheads="1"/>
            </p:cNvSpPr>
            <p:nvPr/>
          </p:nvSpPr>
          <p:spPr bwMode="auto">
            <a:xfrm>
              <a:off x="235347" y="960563"/>
              <a:ext cx="2584450" cy="3102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u="sng" dirty="0"/>
                <a:t>Premisa:</a:t>
              </a:r>
              <a:r>
                <a:rPr lang="es-ES_tradnl" altLang="es-ES" dirty="0"/>
                <a:t> asumimos que </a:t>
              </a:r>
            </a:p>
          </p:txBody>
        </p:sp>
        <p:graphicFrame>
          <p:nvGraphicFramePr>
            <p:cNvPr id="4138" name="Object 29"/>
            <p:cNvGraphicFramePr>
              <a:graphicFrameLocks noChangeAspect="1"/>
            </p:cNvGraphicFramePr>
            <p:nvPr>
              <p:extLst>
                <p:ext uri="{D42A27DB-BD31-4B8C-83A1-F6EECF244321}">
                  <p14:modId xmlns:p14="http://schemas.microsoft.com/office/powerpoint/2010/main" val="3560077510"/>
                </p:ext>
              </p:extLst>
            </p:nvPr>
          </p:nvGraphicFramePr>
          <p:xfrm>
            <a:off x="2325347" y="1006316"/>
            <a:ext cx="1045908" cy="278281"/>
          </p:xfrm>
          <a:graphic>
            <a:graphicData uri="http://schemas.openxmlformats.org/presentationml/2006/ole">
              <mc:AlternateContent xmlns:mc="http://schemas.openxmlformats.org/markup-compatibility/2006">
                <mc:Choice xmlns:v="urn:schemas-microsoft-com:vml" Requires="v">
                  <p:oleObj name="Equation" r:id="rId4" imgW="1002865" imgH="266584" progId="Equation.DSMT4">
                    <p:embed/>
                  </p:oleObj>
                </mc:Choice>
                <mc:Fallback>
                  <p:oleObj name="Equation" r:id="rId4" imgW="1002865" imgH="266584" progId="Equation.DSMT4">
                    <p:embed/>
                    <p:pic>
                      <p:nvPicPr>
                        <p:cNvPr id="4138"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5347" y="1006316"/>
                          <a:ext cx="1045908" cy="278281"/>
                        </a:xfrm>
                        <a:prstGeom prst="rect">
                          <a:avLst/>
                        </a:prstGeom>
                        <a:noFill/>
                        <a:ln>
                          <a:noFill/>
                        </a:ln>
                      </p:spPr>
                    </p:pic>
                  </p:oleObj>
                </mc:Fallback>
              </mc:AlternateContent>
            </a:graphicData>
          </a:graphic>
        </p:graphicFrame>
      </p:grpSp>
      <p:sp>
        <p:nvSpPr>
          <p:cNvPr id="4134" name="Text Box 33"/>
          <p:cNvSpPr txBox="1">
            <a:spLocks noChangeArrowheads="1"/>
          </p:cNvSpPr>
          <p:nvPr/>
        </p:nvSpPr>
        <p:spPr bwMode="auto">
          <a:xfrm>
            <a:off x="194469" y="1486547"/>
            <a:ext cx="4345779" cy="5254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t>Se trata de decidir si la media poblacional adopta un valor concreto      :  ¿es asumible que sea             ?</a:t>
            </a:r>
          </a:p>
        </p:txBody>
      </p:sp>
      <p:graphicFrame>
        <p:nvGraphicFramePr>
          <p:cNvPr id="4135" name="Object 29"/>
          <p:cNvGraphicFramePr>
            <a:graphicFrameLocks noChangeAspect="1"/>
          </p:cNvGraphicFramePr>
          <p:nvPr>
            <p:extLst>
              <p:ext uri="{D42A27DB-BD31-4B8C-83A1-F6EECF244321}">
                <p14:modId xmlns:p14="http://schemas.microsoft.com/office/powerpoint/2010/main" val="4040751979"/>
              </p:ext>
            </p:extLst>
          </p:nvPr>
        </p:nvGraphicFramePr>
        <p:xfrm>
          <a:off x="1437934" y="1703409"/>
          <a:ext cx="250876" cy="296898"/>
        </p:xfrm>
        <a:graphic>
          <a:graphicData uri="http://schemas.openxmlformats.org/presentationml/2006/ole">
            <mc:AlternateContent xmlns:mc="http://schemas.openxmlformats.org/markup-compatibility/2006">
              <mc:Choice xmlns:v="urn:schemas-microsoft-com:vml" Requires="v">
                <p:oleObj name="Equation" r:id="rId6" imgW="203112" imgH="241195" progId="Equation.DSMT4">
                  <p:embed/>
                </p:oleObj>
              </mc:Choice>
              <mc:Fallback>
                <p:oleObj name="Equation" r:id="rId6" imgW="203112" imgH="241195" progId="Equation.DSMT4">
                  <p:embed/>
                  <p:pic>
                    <p:nvPicPr>
                      <p:cNvPr id="4135"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7934" y="1703409"/>
                        <a:ext cx="250876" cy="296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36" name="Object 29"/>
          <p:cNvGraphicFramePr>
            <a:graphicFrameLocks noChangeAspect="1"/>
          </p:cNvGraphicFramePr>
          <p:nvPr>
            <p:extLst>
              <p:ext uri="{D42A27DB-BD31-4B8C-83A1-F6EECF244321}">
                <p14:modId xmlns:p14="http://schemas.microsoft.com/office/powerpoint/2010/main" val="1846846126"/>
              </p:ext>
            </p:extLst>
          </p:nvPr>
        </p:nvGraphicFramePr>
        <p:xfrm>
          <a:off x="3638090" y="1720799"/>
          <a:ext cx="579556" cy="296897"/>
        </p:xfrm>
        <a:graphic>
          <a:graphicData uri="http://schemas.openxmlformats.org/presentationml/2006/ole">
            <mc:AlternateContent xmlns:mc="http://schemas.openxmlformats.org/markup-compatibility/2006">
              <mc:Choice xmlns:v="urn:schemas-microsoft-com:vml" Requires="v">
                <p:oleObj name="Equation" r:id="rId8" imgW="469696" imgH="241195" progId="Equation.DSMT4">
                  <p:embed/>
                </p:oleObj>
              </mc:Choice>
              <mc:Fallback>
                <p:oleObj name="Equation" r:id="rId8" imgW="469696" imgH="241195" progId="Equation.DSMT4">
                  <p:embed/>
                  <p:pic>
                    <p:nvPicPr>
                      <p:cNvPr id="4136"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38090" y="1720799"/>
                        <a:ext cx="579556" cy="296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30" name="AutoShape 58"/>
          <p:cNvSpPr>
            <a:spLocks noChangeArrowheads="1"/>
          </p:cNvSpPr>
          <p:nvPr/>
        </p:nvSpPr>
        <p:spPr bwMode="auto">
          <a:xfrm>
            <a:off x="304408" y="3176535"/>
            <a:ext cx="3400820" cy="423862"/>
          </a:xfrm>
          <a:prstGeom prst="roundRect">
            <a:avLst>
              <a:gd name="adj" fmla="val 9028"/>
            </a:avLst>
          </a:prstGeom>
          <a:noFill/>
          <a:ln w="9525">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nvGrpSpPr>
          <p:cNvPr id="4131" name="5 Grupo"/>
          <p:cNvGrpSpPr>
            <a:grpSpLocks/>
          </p:cNvGrpSpPr>
          <p:nvPr/>
        </p:nvGrpSpPr>
        <p:grpSpPr bwMode="auto">
          <a:xfrm>
            <a:off x="304800" y="3243112"/>
            <a:ext cx="3294062" cy="304800"/>
            <a:chOff x="423863" y="2668588"/>
            <a:chExt cx="3294061" cy="305189"/>
          </a:xfrm>
        </p:grpSpPr>
        <p:sp>
          <p:nvSpPr>
            <p:cNvPr id="4132" name="Text Box 60"/>
            <p:cNvSpPr txBox="1">
              <a:spLocks noChangeArrowheads="1"/>
            </p:cNvSpPr>
            <p:nvPr/>
          </p:nvSpPr>
          <p:spPr bwMode="auto">
            <a:xfrm>
              <a:off x="423863" y="2668588"/>
              <a:ext cx="2176462" cy="305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t>Hipótesis nula H</a:t>
              </a:r>
              <a:r>
                <a:rPr lang="es-ES_tradnl" altLang="es-ES" baseline="-25000" dirty="0"/>
                <a:t>0</a:t>
              </a:r>
              <a:r>
                <a:rPr lang="es-ES_tradnl" altLang="es-ES" dirty="0"/>
                <a:t>:</a:t>
              </a:r>
            </a:p>
          </p:txBody>
        </p:sp>
        <p:graphicFrame>
          <p:nvGraphicFramePr>
            <p:cNvPr id="4133" name="Object 29"/>
            <p:cNvGraphicFramePr>
              <a:graphicFrameLocks noChangeAspect="1"/>
            </p:cNvGraphicFramePr>
            <p:nvPr>
              <p:extLst>
                <p:ext uri="{D42A27DB-BD31-4B8C-83A1-F6EECF244321}">
                  <p14:modId xmlns:p14="http://schemas.microsoft.com/office/powerpoint/2010/main" val="497417179"/>
                </p:ext>
              </p:extLst>
            </p:nvPr>
          </p:nvGraphicFramePr>
          <p:xfrm>
            <a:off x="1947863" y="2673408"/>
            <a:ext cx="1770061" cy="297242"/>
          </p:xfrm>
          <a:graphic>
            <a:graphicData uri="http://schemas.openxmlformats.org/presentationml/2006/ole">
              <mc:AlternateContent xmlns:mc="http://schemas.openxmlformats.org/markup-compatibility/2006">
                <mc:Choice xmlns:v="urn:schemas-microsoft-com:vml" Requires="v">
                  <p:oleObj name="Equation" r:id="rId10" imgW="1434960" imgH="241200" progId="Equation.DSMT4">
                    <p:embed/>
                  </p:oleObj>
                </mc:Choice>
                <mc:Fallback>
                  <p:oleObj name="Equation" r:id="rId10" imgW="1434960" imgH="241200" progId="Equation.DSMT4">
                    <p:embed/>
                    <p:pic>
                      <p:nvPicPr>
                        <p:cNvPr id="4133" name="Object 29"/>
                        <p:cNvPicPr>
                          <a:picLocks noChangeAspect="1" noChangeArrowheads="1"/>
                        </p:cNvPicPr>
                        <p:nvPr/>
                      </p:nvPicPr>
                      <p:blipFill>
                        <a:blip r:embed="rId11"/>
                        <a:srcRect/>
                        <a:stretch>
                          <a:fillRect/>
                        </a:stretch>
                      </p:blipFill>
                      <p:spPr bwMode="auto">
                        <a:xfrm>
                          <a:off x="1947863" y="2673408"/>
                          <a:ext cx="1770061" cy="297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113" name="Text Box 30"/>
          <p:cNvSpPr txBox="1">
            <a:spLocks noChangeArrowheads="1"/>
          </p:cNvSpPr>
          <p:nvPr/>
        </p:nvSpPr>
        <p:spPr bwMode="auto">
          <a:xfrm>
            <a:off x="206014" y="2029692"/>
            <a:ext cx="2235200"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t>Hay </a:t>
            </a:r>
            <a:r>
              <a:rPr lang="es-ES_tradnl" altLang="es-ES" b="1" dirty="0"/>
              <a:t>dos posibilidades</a:t>
            </a:r>
            <a:r>
              <a:rPr lang="es-ES_tradnl" altLang="es-ES" dirty="0"/>
              <a:t>: </a:t>
            </a:r>
          </a:p>
        </p:txBody>
      </p:sp>
      <p:grpSp>
        <p:nvGrpSpPr>
          <p:cNvPr id="4114" name="7 Grupo"/>
          <p:cNvGrpSpPr>
            <a:grpSpLocks/>
          </p:cNvGrpSpPr>
          <p:nvPr/>
        </p:nvGrpSpPr>
        <p:grpSpPr bwMode="auto">
          <a:xfrm>
            <a:off x="200025" y="2325688"/>
            <a:ext cx="3376613" cy="341312"/>
            <a:chOff x="199798" y="1809122"/>
            <a:chExt cx="3376585" cy="340802"/>
          </a:xfrm>
        </p:grpSpPr>
        <p:sp>
          <p:nvSpPr>
            <p:cNvPr id="4127" name="Text Box 30"/>
            <p:cNvSpPr txBox="1">
              <a:spLocks noChangeArrowheads="1"/>
            </p:cNvSpPr>
            <p:nvPr/>
          </p:nvSpPr>
          <p:spPr bwMode="auto">
            <a:xfrm>
              <a:off x="558954" y="1811701"/>
              <a:ext cx="442913"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a:t>Si </a:t>
              </a:r>
            </a:p>
          </p:txBody>
        </p:sp>
        <p:graphicFrame>
          <p:nvGraphicFramePr>
            <p:cNvPr id="4128" name="Object 31"/>
            <p:cNvGraphicFramePr>
              <a:graphicFrameLocks noChangeAspect="1"/>
            </p:cNvGraphicFramePr>
            <p:nvPr/>
          </p:nvGraphicFramePr>
          <p:xfrm>
            <a:off x="898270" y="1821311"/>
            <a:ext cx="2678113" cy="328613"/>
          </p:xfrm>
          <a:graphic>
            <a:graphicData uri="http://schemas.openxmlformats.org/presentationml/2006/ole">
              <mc:AlternateContent xmlns:mc="http://schemas.openxmlformats.org/markup-compatibility/2006">
                <mc:Choice xmlns:v="urn:schemas-microsoft-com:vml" Requires="v">
                  <p:oleObj name="Equation" r:id="rId12" imgW="2171700" imgH="266700" progId="Equation.DSMT4">
                    <p:embed/>
                  </p:oleObj>
                </mc:Choice>
                <mc:Fallback>
                  <p:oleObj name="Equation" r:id="rId12" imgW="2171700" imgH="266700" progId="Equation.DSMT4">
                    <p:embed/>
                    <p:pic>
                      <p:nvPicPr>
                        <p:cNvPr id="4128" name="Object 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8270" y="1821311"/>
                          <a:ext cx="2678113" cy="328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29" name="Text Box 30"/>
            <p:cNvSpPr txBox="1">
              <a:spLocks noChangeArrowheads="1"/>
            </p:cNvSpPr>
            <p:nvPr/>
          </p:nvSpPr>
          <p:spPr bwMode="auto">
            <a:xfrm>
              <a:off x="199798" y="1809122"/>
              <a:ext cx="465134" cy="3094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(1)</a:t>
              </a:r>
            </a:p>
          </p:txBody>
        </p:sp>
      </p:grpSp>
      <p:graphicFrame>
        <p:nvGraphicFramePr>
          <p:cNvPr id="4115" name="Object 44"/>
          <p:cNvGraphicFramePr>
            <a:graphicFrameLocks noChangeAspect="1"/>
          </p:cNvGraphicFramePr>
          <p:nvPr>
            <p:extLst>
              <p:ext uri="{D42A27DB-BD31-4B8C-83A1-F6EECF244321}">
                <p14:modId xmlns:p14="http://schemas.microsoft.com/office/powerpoint/2010/main" val="858923380"/>
              </p:ext>
            </p:extLst>
          </p:nvPr>
        </p:nvGraphicFramePr>
        <p:xfrm>
          <a:off x="571500" y="4081312"/>
          <a:ext cx="2952750" cy="442912"/>
        </p:xfrm>
        <a:graphic>
          <a:graphicData uri="http://schemas.openxmlformats.org/presentationml/2006/ole">
            <mc:AlternateContent xmlns:mc="http://schemas.openxmlformats.org/markup-compatibility/2006">
              <mc:Choice xmlns:v="urn:schemas-microsoft-com:vml" Requires="v">
                <p:oleObj name="Equation" r:id="rId14" imgW="2463800" imgH="368300" progId="Equation.DSMT4">
                  <p:embed/>
                </p:oleObj>
              </mc:Choice>
              <mc:Fallback>
                <p:oleObj name="Equation" r:id="rId14" imgW="2463800" imgH="368300" progId="Equation.DSMT4">
                  <p:embed/>
                  <p:pic>
                    <p:nvPicPr>
                      <p:cNvPr id="4115" name="Object 4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1500" y="4081312"/>
                        <a:ext cx="295275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116" name="Group 63"/>
          <p:cNvGrpSpPr>
            <a:grpSpLocks/>
          </p:cNvGrpSpPr>
          <p:nvPr/>
        </p:nvGrpSpPr>
        <p:grpSpPr bwMode="auto">
          <a:xfrm>
            <a:off x="498475" y="3719362"/>
            <a:ext cx="3074988" cy="328612"/>
            <a:chOff x="244" y="2286"/>
            <a:chExt cx="1937" cy="207"/>
          </a:xfrm>
        </p:grpSpPr>
        <p:sp>
          <p:nvSpPr>
            <p:cNvPr id="4125" name="Text Box 45"/>
            <p:cNvSpPr txBox="1">
              <a:spLocks noChangeArrowheads="1"/>
            </p:cNvSpPr>
            <p:nvPr/>
          </p:nvSpPr>
          <p:spPr bwMode="auto">
            <a:xfrm>
              <a:off x="244" y="2288"/>
              <a:ext cx="279"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a:t>Si </a:t>
              </a:r>
            </a:p>
          </p:txBody>
        </p:sp>
        <p:graphicFrame>
          <p:nvGraphicFramePr>
            <p:cNvPr id="4126" name="Object 46"/>
            <p:cNvGraphicFramePr>
              <a:graphicFrameLocks noChangeAspect="1"/>
            </p:cNvGraphicFramePr>
            <p:nvPr/>
          </p:nvGraphicFramePr>
          <p:xfrm>
            <a:off x="513" y="2286"/>
            <a:ext cx="1668" cy="207"/>
          </p:xfrm>
          <a:graphic>
            <a:graphicData uri="http://schemas.openxmlformats.org/presentationml/2006/ole">
              <mc:AlternateContent xmlns:mc="http://schemas.openxmlformats.org/markup-compatibility/2006">
                <mc:Choice xmlns:v="urn:schemas-microsoft-com:vml" Requires="v">
                  <p:oleObj name="Equation" r:id="rId16" imgW="2145369" imgH="266584" progId="Equation.DSMT4">
                    <p:embed/>
                  </p:oleObj>
                </mc:Choice>
                <mc:Fallback>
                  <p:oleObj name="Equation" r:id="rId16" imgW="2145369" imgH="266584" progId="Equation.DSMT4">
                    <p:embed/>
                    <p:pic>
                      <p:nvPicPr>
                        <p:cNvPr id="4126" name="Object 4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3" y="2286"/>
                          <a:ext cx="1668"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117" name="Text Box 30"/>
          <p:cNvSpPr txBox="1">
            <a:spLocks noChangeArrowheads="1"/>
          </p:cNvSpPr>
          <p:nvPr/>
        </p:nvSpPr>
        <p:spPr bwMode="auto">
          <a:xfrm>
            <a:off x="149225" y="3722537"/>
            <a:ext cx="465138"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(2)</a:t>
            </a:r>
          </a:p>
        </p:txBody>
      </p:sp>
      <p:sp>
        <p:nvSpPr>
          <p:cNvPr id="4119" name="Text Box 30"/>
          <p:cNvSpPr txBox="1">
            <a:spLocks noChangeArrowheads="1"/>
          </p:cNvSpPr>
          <p:nvPr/>
        </p:nvSpPr>
        <p:spPr bwMode="auto">
          <a:xfrm>
            <a:off x="238125" y="205821"/>
            <a:ext cx="8764587" cy="556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solidFill>
                  <a:srgbClr val="005654"/>
                </a:solidFill>
              </a:rPr>
              <a:t>Desarrollaremos la teoría de los t</a:t>
            </a:r>
            <a:r>
              <a:rPr lang="es-ES" altLang="es-ES" dirty="0" err="1">
                <a:solidFill>
                  <a:srgbClr val="005654"/>
                </a:solidFill>
              </a:rPr>
              <a:t>est</a:t>
            </a:r>
            <a:r>
              <a:rPr lang="es-ES" altLang="es-ES" dirty="0">
                <a:solidFill>
                  <a:srgbClr val="005654"/>
                </a:solidFill>
              </a:rPr>
              <a:t> de hipótesis sobre un caso concreto: </a:t>
            </a:r>
          </a:p>
          <a:p>
            <a:pPr algn="just" eaLnBrk="1" hangingPunct="1"/>
            <a:r>
              <a:rPr lang="es-ES" altLang="es-ES" b="1" dirty="0">
                <a:solidFill>
                  <a:srgbClr val="005654"/>
                </a:solidFill>
              </a:rPr>
              <a:t>Test para una media </a:t>
            </a:r>
            <a:r>
              <a:rPr lang="es-ES" altLang="es-ES" sz="1600" b="1" dirty="0">
                <a:solidFill>
                  <a:srgbClr val="005654"/>
                </a:solidFill>
                <a:latin typeface="Symbol" pitchFamily="18" charset="2"/>
              </a:rPr>
              <a:t>m</a:t>
            </a:r>
            <a:r>
              <a:rPr lang="es-ES" altLang="es-ES" b="1" dirty="0">
                <a:solidFill>
                  <a:srgbClr val="005654"/>
                </a:solidFill>
              </a:rPr>
              <a:t> de una VA normal</a:t>
            </a:r>
            <a:endParaRPr lang="es-ES_tradnl" altLang="es-ES" sz="1200" b="1" dirty="0">
              <a:solidFill>
                <a:srgbClr val="005654"/>
              </a:solidFill>
            </a:endParaRPr>
          </a:p>
        </p:txBody>
      </p:sp>
      <p:sp>
        <p:nvSpPr>
          <p:cNvPr id="59" name="Text Box 33"/>
          <p:cNvSpPr txBox="1">
            <a:spLocks noChangeArrowheads="1"/>
          </p:cNvSpPr>
          <p:nvPr/>
        </p:nvSpPr>
        <p:spPr bwMode="auto">
          <a:xfrm>
            <a:off x="245269" y="0"/>
            <a:ext cx="3633787"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Hipótesis estadísticas</a:t>
            </a:r>
            <a:endParaRPr lang="es-ES_tradnl" altLang="es-ES" sz="1200" b="1" dirty="0"/>
          </a:p>
        </p:txBody>
      </p:sp>
      <p:grpSp>
        <p:nvGrpSpPr>
          <p:cNvPr id="7" name="Grupo 6">
            <a:extLst>
              <a:ext uri="{FF2B5EF4-FFF2-40B4-BE49-F238E27FC236}">
                <a16:creationId xmlns:a16="http://schemas.microsoft.com/office/drawing/2014/main" id="{85A06AE6-382B-44CD-8128-9FB7C57C8D6B}"/>
              </a:ext>
            </a:extLst>
          </p:cNvPr>
          <p:cNvGrpSpPr/>
          <p:nvPr/>
        </p:nvGrpSpPr>
        <p:grpSpPr>
          <a:xfrm>
            <a:off x="3733800" y="786492"/>
            <a:ext cx="4667250" cy="4996771"/>
            <a:chOff x="3276600" y="786492"/>
            <a:chExt cx="4667250" cy="4996771"/>
          </a:xfrm>
        </p:grpSpPr>
        <p:sp>
          <p:nvSpPr>
            <p:cNvPr id="4098" name="Line 24"/>
            <p:cNvSpPr>
              <a:spLocks noChangeShapeType="1"/>
            </p:cNvSpPr>
            <p:nvPr/>
          </p:nvSpPr>
          <p:spPr bwMode="auto">
            <a:xfrm>
              <a:off x="5405438" y="842963"/>
              <a:ext cx="9525" cy="182880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4101" name="Group 60"/>
            <p:cNvGrpSpPr>
              <a:grpSpLocks/>
            </p:cNvGrpSpPr>
            <p:nvPr/>
          </p:nvGrpSpPr>
          <p:grpSpPr bwMode="auto">
            <a:xfrm>
              <a:off x="3298825" y="1028700"/>
              <a:ext cx="4627563" cy="2035175"/>
              <a:chOff x="2072" y="624"/>
              <a:chExt cx="2915" cy="1282"/>
            </a:xfrm>
          </p:grpSpPr>
          <p:sp>
            <p:nvSpPr>
              <p:cNvPr id="4150" name="Freeform 23"/>
              <p:cNvSpPr>
                <a:spLocks/>
              </p:cNvSpPr>
              <p:nvPr/>
            </p:nvSpPr>
            <p:spPr bwMode="auto">
              <a:xfrm>
                <a:off x="2434" y="624"/>
                <a:ext cx="1949" cy="1023"/>
              </a:xfrm>
              <a:custGeom>
                <a:avLst/>
                <a:gdLst>
                  <a:gd name="T0" fmla="*/ 0 w 9513"/>
                  <a:gd name="T1" fmla="*/ 67820 h 5006"/>
                  <a:gd name="T2" fmla="*/ 10840 w 9513"/>
                  <a:gd name="T3" fmla="*/ 65734 h 5006"/>
                  <a:gd name="T4" fmla="*/ 12969 w 9513"/>
                  <a:gd name="T5" fmla="*/ 64948 h 5006"/>
                  <a:gd name="T6" fmla="*/ 15331 w 9513"/>
                  <a:gd name="T7" fmla="*/ 63620 h 5006"/>
                  <a:gd name="T8" fmla="*/ 17202 w 9513"/>
                  <a:gd name="T9" fmla="*/ 62591 h 5006"/>
                  <a:gd name="T10" fmla="*/ 19577 w 9513"/>
                  <a:gd name="T11" fmla="*/ 61006 h 5006"/>
                  <a:gd name="T12" fmla="*/ 21679 w 9513"/>
                  <a:gd name="T13" fmla="*/ 59448 h 5006"/>
                  <a:gd name="T14" fmla="*/ 23809 w 9513"/>
                  <a:gd name="T15" fmla="*/ 57361 h 5006"/>
                  <a:gd name="T16" fmla="*/ 25911 w 9513"/>
                  <a:gd name="T17" fmla="*/ 54990 h 5006"/>
                  <a:gd name="T18" fmla="*/ 28041 w 9513"/>
                  <a:gd name="T19" fmla="*/ 52362 h 5006"/>
                  <a:gd name="T20" fmla="*/ 30403 w 9513"/>
                  <a:gd name="T21" fmla="*/ 49490 h 5006"/>
                  <a:gd name="T22" fmla="*/ 32533 w 9513"/>
                  <a:gd name="T23" fmla="*/ 46347 h 5006"/>
                  <a:gd name="T24" fmla="*/ 34649 w 9513"/>
                  <a:gd name="T25" fmla="*/ 42946 h 5006"/>
                  <a:gd name="T26" fmla="*/ 36765 w 9513"/>
                  <a:gd name="T27" fmla="*/ 39275 h 5006"/>
                  <a:gd name="T28" fmla="*/ 39140 w 9513"/>
                  <a:gd name="T29" fmla="*/ 35346 h 5006"/>
                  <a:gd name="T30" fmla="*/ 40997 w 9513"/>
                  <a:gd name="T31" fmla="*/ 31160 h 5006"/>
                  <a:gd name="T32" fmla="*/ 43372 w 9513"/>
                  <a:gd name="T33" fmla="*/ 26960 h 5006"/>
                  <a:gd name="T34" fmla="*/ 45502 w 9513"/>
                  <a:gd name="T35" fmla="*/ 23045 h 5006"/>
                  <a:gd name="T36" fmla="*/ 47605 w 9513"/>
                  <a:gd name="T37" fmla="*/ 18845 h 5006"/>
                  <a:gd name="T38" fmla="*/ 49734 w 9513"/>
                  <a:gd name="T39" fmla="*/ 14930 h 5006"/>
                  <a:gd name="T40" fmla="*/ 51837 w 9513"/>
                  <a:gd name="T41" fmla="*/ 11258 h 5006"/>
                  <a:gd name="T42" fmla="*/ 54212 w 9513"/>
                  <a:gd name="T43" fmla="*/ 8115 h 5006"/>
                  <a:gd name="T44" fmla="*/ 56342 w 9513"/>
                  <a:gd name="T45" fmla="*/ 5229 h 5006"/>
                  <a:gd name="T46" fmla="*/ 58444 w 9513"/>
                  <a:gd name="T47" fmla="*/ 3143 h 5006"/>
                  <a:gd name="T48" fmla="*/ 60574 w 9513"/>
                  <a:gd name="T49" fmla="*/ 1301 h 5006"/>
                  <a:gd name="T50" fmla="*/ 62949 w 9513"/>
                  <a:gd name="T51" fmla="*/ 528 h 5006"/>
                  <a:gd name="T52" fmla="*/ 65066 w 9513"/>
                  <a:gd name="T53" fmla="*/ 0 h 5006"/>
                  <a:gd name="T54" fmla="*/ 67182 w 9513"/>
                  <a:gd name="T55" fmla="*/ 528 h 5006"/>
                  <a:gd name="T56" fmla="*/ 69298 w 9513"/>
                  <a:gd name="T57" fmla="*/ 1301 h 5006"/>
                  <a:gd name="T58" fmla="*/ 71414 w 9513"/>
                  <a:gd name="T59" fmla="*/ 3143 h 5006"/>
                  <a:gd name="T60" fmla="*/ 73530 w 9513"/>
                  <a:gd name="T61" fmla="*/ 5229 h 5006"/>
                  <a:gd name="T62" fmla="*/ 75905 w 9513"/>
                  <a:gd name="T63" fmla="*/ 8115 h 5006"/>
                  <a:gd name="T64" fmla="*/ 78035 w 9513"/>
                  <a:gd name="T65" fmla="*/ 11258 h 5006"/>
                  <a:gd name="T66" fmla="*/ 80137 w 9513"/>
                  <a:gd name="T67" fmla="*/ 14930 h 5006"/>
                  <a:gd name="T68" fmla="*/ 82267 w 9513"/>
                  <a:gd name="T69" fmla="*/ 18845 h 5006"/>
                  <a:gd name="T70" fmla="*/ 84369 w 9513"/>
                  <a:gd name="T71" fmla="*/ 23045 h 5006"/>
                  <a:gd name="T72" fmla="*/ 86758 w 9513"/>
                  <a:gd name="T73" fmla="*/ 26960 h 5006"/>
                  <a:gd name="T74" fmla="*/ 88875 w 9513"/>
                  <a:gd name="T75" fmla="*/ 31160 h 5006"/>
                  <a:gd name="T76" fmla="*/ 90977 w 9513"/>
                  <a:gd name="T77" fmla="*/ 35346 h 5006"/>
                  <a:gd name="T78" fmla="*/ 93107 w 9513"/>
                  <a:gd name="T79" fmla="*/ 39275 h 5006"/>
                  <a:gd name="T80" fmla="*/ 95209 w 9513"/>
                  <a:gd name="T81" fmla="*/ 42946 h 5006"/>
                  <a:gd name="T82" fmla="*/ 97339 w 9513"/>
                  <a:gd name="T83" fmla="*/ 46347 h 5006"/>
                  <a:gd name="T84" fmla="*/ 99714 w 9513"/>
                  <a:gd name="T85" fmla="*/ 49490 h 5006"/>
                  <a:gd name="T86" fmla="*/ 101830 w 9513"/>
                  <a:gd name="T87" fmla="*/ 52362 h 5006"/>
                  <a:gd name="T88" fmla="*/ 103946 w 9513"/>
                  <a:gd name="T89" fmla="*/ 54990 h 5006"/>
                  <a:gd name="T90" fmla="*/ 106062 w 9513"/>
                  <a:gd name="T91" fmla="*/ 57361 h 5006"/>
                  <a:gd name="T92" fmla="*/ 108179 w 9513"/>
                  <a:gd name="T93" fmla="*/ 59448 h 5006"/>
                  <a:gd name="T94" fmla="*/ 110568 w 9513"/>
                  <a:gd name="T95" fmla="*/ 61006 h 5006"/>
                  <a:gd name="T96" fmla="*/ 112670 w 9513"/>
                  <a:gd name="T97" fmla="*/ 62591 h 5006"/>
                  <a:gd name="T98" fmla="*/ 114800 w 9513"/>
                  <a:gd name="T99" fmla="*/ 63620 h 5006"/>
                  <a:gd name="T100" fmla="*/ 116902 w 9513"/>
                  <a:gd name="T101" fmla="*/ 64948 h 5006"/>
                  <a:gd name="T102" fmla="*/ 119032 w 9513"/>
                  <a:gd name="T103" fmla="*/ 65734 h 5006"/>
                  <a:gd name="T104" fmla="*/ 121134 w 9513"/>
                  <a:gd name="T105" fmla="*/ 66262 h 5006"/>
                  <a:gd name="T106" fmla="*/ 123537 w 9513"/>
                  <a:gd name="T107" fmla="*/ 66777 h 5006"/>
                  <a:gd name="T108" fmla="*/ 125640 w 9513"/>
                  <a:gd name="T109" fmla="*/ 67292 h 5006"/>
                  <a:gd name="T110" fmla="*/ 127742 w 9513"/>
                  <a:gd name="T111" fmla="*/ 67563 h 5006"/>
                  <a:gd name="T112" fmla="*/ 129872 w 9513"/>
                  <a:gd name="T113" fmla="*/ 67820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23921"/>
                </a:srgbClr>
              </a:solidFill>
              <a:ln w="19050">
                <a:solidFill>
                  <a:srgbClr val="000000"/>
                </a:solidFill>
                <a:prstDash val="solid"/>
                <a:round/>
                <a:headEnd/>
                <a:tailEnd/>
              </a:ln>
            </p:spPr>
            <p:txBody>
              <a:bodyPr/>
              <a:lstStyle/>
              <a:p>
                <a:endParaRPr lang="es-ES" dirty="0"/>
              </a:p>
            </p:txBody>
          </p:sp>
          <p:grpSp>
            <p:nvGrpSpPr>
              <p:cNvPr id="4151" name="Group 59"/>
              <p:cNvGrpSpPr>
                <a:grpSpLocks/>
              </p:cNvGrpSpPr>
              <p:nvPr/>
            </p:nvGrpSpPr>
            <p:grpSpPr bwMode="auto">
              <a:xfrm>
                <a:off x="2072" y="1654"/>
                <a:ext cx="2915" cy="252"/>
                <a:chOff x="2072" y="1660"/>
                <a:chExt cx="2915" cy="252"/>
              </a:xfrm>
            </p:grpSpPr>
            <p:sp>
              <p:nvSpPr>
                <p:cNvPr id="4152" name="Line 25"/>
                <p:cNvSpPr>
                  <a:spLocks noChangeShapeType="1"/>
                </p:cNvSpPr>
                <p:nvPr/>
              </p:nvSpPr>
              <p:spPr bwMode="auto">
                <a:xfrm>
                  <a:off x="2072" y="1660"/>
                  <a:ext cx="2915" cy="15"/>
                </a:xfrm>
                <a:prstGeom prst="line">
                  <a:avLst/>
                </a:prstGeom>
                <a:noFill/>
                <a:ln w="254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4153" name="Text Box 26"/>
                <p:cNvSpPr txBox="1">
                  <a:spLocks noChangeArrowheads="1"/>
                </p:cNvSpPr>
                <p:nvPr/>
              </p:nvSpPr>
              <p:spPr bwMode="auto">
                <a:xfrm>
                  <a:off x="3321" y="1699"/>
                  <a:ext cx="176"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a:t>0</a:t>
                  </a:r>
                </a:p>
              </p:txBody>
            </p:sp>
            <p:graphicFrame>
              <p:nvGraphicFramePr>
                <p:cNvPr id="4154" name="Object 67"/>
                <p:cNvGraphicFramePr>
                  <a:graphicFrameLocks noChangeAspect="1"/>
                </p:cNvGraphicFramePr>
                <p:nvPr/>
              </p:nvGraphicFramePr>
              <p:xfrm>
                <a:off x="3485" y="1705"/>
                <a:ext cx="572" cy="207"/>
              </p:xfrm>
              <a:graphic>
                <a:graphicData uri="http://schemas.openxmlformats.org/presentationml/2006/ole">
                  <mc:AlternateContent xmlns:mc="http://schemas.openxmlformats.org/markup-compatibility/2006">
                    <mc:Choice xmlns:v="urn:schemas-microsoft-com:vml" Requires="v">
                      <p:oleObj name="Equation" r:id="rId18" imgW="736280" imgH="266584" progId="Equation.DSMT4">
                        <p:embed/>
                      </p:oleObj>
                    </mc:Choice>
                    <mc:Fallback>
                      <p:oleObj name="Equation" r:id="rId18" imgW="736280" imgH="266584" progId="Equation.DSMT4">
                        <p:embed/>
                        <p:pic>
                          <p:nvPicPr>
                            <p:cNvPr id="4154" name="Object 6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85" y="1705"/>
                              <a:ext cx="572"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4102" name="11 Grupo"/>
            <p:cNvGrpSpPr>
              <a:grpSpLocks/>
            </p:cNvGrpSpPr>
            <p:nvPr/>
          </p:nvGrpSpPr>
          <p:grpSpPr bwMode="auto">
            <a:xfrm>
              <a:off x="3276600" y="3254375"/>
              <a:ext cx="4649788" cy="2528888"/>
              <a:chOff x="3267075" y="3359150"/>
              <a:chExt cx="4649788" cy="2528888"/>
            </a:xfrm>
          </p:grpSpPr>
          <p:sp>
            <p:nvSpPr>
              <p:cNvPr id="4139" name="Text Box 41"/>
              <p:cNvSpPr txBox="1">
                <a:spLocks noChangeArrowheads="1"/>
              </p:cNvSpPr>
              <p:nvPr/>
            </p:nvSpPr>
            <p:spPr bwMode="auto">
              <a:xfrm>
                <a:off x="5249863" y="5449888"/>
                <a:ext cx="279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a:t>0</a:t>
                </a:r>
              </a:p>
            </p:txBody>
          </p:sp>
          <p:graphicFrame>
            <p:nvGraphicFramePr>
              <p:cNvPr id="4140" name="Object 43"/>
              <p:cNvGraphicFramePr>
                <a:graphicFrameLocks noChangeAspect="1"/>
              </p:cNvGraphicFramePr>
              <p:nvPr>
                <p:extLst>
                  <p:ext uri="{D42A27DB-BD31-4B8C-83A1-F6EECF244321}">
                    <p14:modId xmlns:p14="http://schemas.microsoft.com/office/powerpoint/2010/main" val="444890671"/>
                  </p:ext>
                </p:extLst>
              </p:nvPr>
            </p:nvGraphicFramePr>
            <p:xfrm>
              <a:off x="5741988" y="5559425"/>
              <a:ext cx="1831975" cy="328613"/>
            </p:xfrm>
            <a:graphic>
              <a:graphicData uri="http://schemas.openxmlformats.org/presentationml/2006/ole">
                <mc:AlternateContent xmlns:mc="http://schemas.openxmlformats.org/markup-compatibility/2006">
                  <mc:Choice xmlns:v="urn:schemas-microsoft-com:vml" Requires="v">
                    <p:oleObj name="Equation" r:id="rId20" imgW="1485255" imgH="266584" progId="Equation.DSMT4">
                      <p:embed/>
                    </p:oleObj>
                  </mc:Choice>
                  <mc:Fallback>
                    <p:oleObj name="Equation" r:id="rId20" imgW="1485255" imgH="266584" progId="Equation.DSMT4">
                      <p:embed/>
                      <p:pic>
                        <p:nvPicPr>
                          <p:cNvPr id="4140" name="Object 4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41988" y="5559425"/>
                            <a:ext cx="1831975" cy="328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141" name="10 Grupo"/>
              <p:cNvGrpSpPr>
                <a:grpSpLocks/>
              </p:cNvGrpSpPr>
              <p:nvPr/>
            </p:nvGrpSpPr>
            <p:grpSpPr bwMode="auto">
              <a:xfrm>
                <a:off x="3267075" y="3359150"/>
                <a:ext cx="4649788" cy="2147888"/>
                <a:chOff x="3267075" y="3359150"/>
                <a:chExt cx="4649788" cy="2147888"/>
              </a:xfrm>
            </p:grpSpPr>
            <p:sp>
              <p:nvSpPr>
                <p:cNvPr id="4142" name="Freeform 34"/>
                <p:cNvSpPr>
                  <a:spLocks/>
                </p:cNvSpPr>
                <p:nvPr/>
              </p:nvSpPr>
              <p:spPr bwMode="auto">
                <a:xfrm>
                  <a:off x="3841750" y="3563938"/>
                  <a:ext cx="3094038" cy="1624012"/>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31545476 h 5006"/>
                    <a:gd name="T52" fmla="*/ 2147483647 w 9513"/>
                    <a:gd name="T53" fmla="*/ 0 h 5006"/>
                    <a:gd name="T54" fmla="*/ 2147483647 w 9513"/>
                    <a:gd name="T55" fmla="*/ 1331545476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941"/>
                  </a:srgbClr>
                </a:solidFill>
                <a:ln w="11176">
                  <a:solidFill>
                    <a:srgbClr val="000000"/>
                  </a:solidFill>
                  <a:prstDash val="solid"/>
                  <a:round/>
                  <a:headEnd/>
                  <a:tailEnd/>
                </a:ln>
              </p:spPr>
              <p:txBody>
                <a:bodyPr/>
                <a:lstStyle/>
                <a:p>
                  <a:endParaRPr lang="es-ES"/>
                </a:p>
              </p:txBody>
            </p:sp>
            <p:sp>
              <p:nvSpPr>
                <p:cNvPr id="4143" name="Line 36"/>
                <p:cNvSpPr>
                  <a:spLocks noChangeShapeType="1"/>
                </p:cNvSpPr>
                <p:nvPr/>
              </p:nvSpPr>
              <p:spPr bwMode="auto">
                <a:xfrm>
                  <a:off x="3267075" y="5187950"/>
                  <a:ext cx="4649788" cy="0"/>
                </a:xfrm>
                <a:prstGeom prst="line">
                  <a:avLst/>
                </a:prstGeom>
                <a:noFill/>
                <a:ln w="254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4144" name="Freeform 37"/>
                <p:cNvSpPr>
                  <a:spLocks/>
                </p:cNvSpPr>
                <p:nvPr/>
              </p:nvSpPr>
              <p:spPr bwMode="auto">
                <a:xfrm>
                  <a:off x="4549775" y="3563938"/>
                  <a:ext cx="3094038" cy="1624012"/>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31545476 h 5006"/>
                    <a:gd name="T52" fmla="*/ 2147483647 w 9513"/>
                    <a:gd name="T53" fmla="*/ 0 h 5006"/>
                    <a:gd name="T54" fmla="*/ 2147483647 w 9513"/>
                    <a:gd name="T55" fmla="*/ 1331545476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24001"/>
                  </a:srgbClr>
                </a:solidFill>
                <a:ln w="12700">
                  <a:solidFill>
                    <a:srgbClr val="FF0000"/>
                  </a:solidFill>
                  <a:prstDash val="solid"/>
                  <a:round/>
                  <a:headEnd/>
                  <a:tailEnd/>
                </a:ln>
              </p:spPr>
              <p:txBody>
                <a:bodyPr/>
                <a:lstStyle/>
                <a:p>
                  <a:endParaRPr lang="es-ES"/>
                </a:p>
              </p:txBody>
            </p:sp>
            <p:grpSp>
              <p:nvGrpSpPr>
                <p:cNvPr id="4145" name="Group 39"/>
                <p:cNvGrpSpPr>
                  <a:grpSpLocks/>
                </p:cNvGrpSpPr>
                <p:nvPr/>
              </p:nvGrpSpPr>
              <p:grpSpPr bwMode="auto">
                <a:xfrm>
                  <a:off x="5383213" y="3359150"/>
                  <a:ext cx="717550" cy="2147888"/>
                  <a:chOff x="3391" y="2116"/>
                  <a:chExt cx="452" cy="1152"/>
                </a:xfrm>
              </p:grpSpPr>
              <p:sp>
                <p:nvSpPr>
                  <p:cNvPr id="4148" name="Line 35"/>
                  <p:cNvSpPr>
                    <a:spLocks noChangeShapeType="1"/>
                  </p:cNvSpPr>
                  <p:nvPr/>
                </p:nvSpPr>
                <p:spPr bwMode="auto">
                  <a:xfrm>
                    <a:off x="3391" y="2116"/>
                    <a:ext cx="6" cy="1152"/>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4149" name="Line 38"/>
                  <p:cNvSpPr>
                    <a:spLocks noChangeShapeType="1"/>
                  </p:cNvSpPr>
                  <p:nvPr/>
                </p:nvSpPr>
                <p:spPr bwMode="auto">
                  <a:xfrm>
                    <a:off x="3837" y="2116"/>
                    <a:ext cx="6" cy="115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4146" name="Line 40"/>
                <p:cNvSpPr>
                  <a:spLocks noChangeShapeType="1"/>
                </p:cNvSpPr>
                <p:nvPr/>
              </p:nvSpPr>
              <p:spPr bwMode="auto">
                <a:xfrm>
                  <a:off x="5402263" y="5465763"/>
                  <a:ext cx="668337" cy="0"/>
                </a:xfrm>
                <a:prstGeom prst="line">
                  <a:avLst/>
                </a:prstGeom>
                <a:noFill/>
                <a:ln w="9525">
                  <a:solidFill>
                    <a:srgbClr val="808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4147" name="Line 68"/>
                <p:cNvSpPr>
                  <a:spLocks noChangeShapeType="1"/>
                </p:cNvSpPr>
                <p:nvPr/>
              </p:nvSpPr>
              <p:spPr bwMode="auto">
                <a:xfrm>
                  <a:off x="5402263" y="3430588"/>
                  <a:ext cx="668337" cy="0"/>
                </a:xfrm>
                <a:prstGeom prst="line">
                  <a:avLst/>
                </a:prstGeom>
                <a:noFill/>
                <a:ln w="9525">
                  <a:solidFill>
                    <a:srgbClr val="808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graphicFrame>
          <p:nvGraphicFramePr>
            <p:cNvPr id="2" name="Objeto 1"/>
            <p:cNvGraphicFramePr>
              <a:graphicFrameLocks noChangeAspect="1"/>
            </p:cNvGraphicFramePr>
            <p:nvPr>
              <p:extLst>
                <p:ext uri="{D42A27DB-BD31-4B8C-83A1-F6EECF244321}">
                  <p14:modId xmlns:p14="http://schemas.microsoft.com/office/powerpoint/2010/main" val="721492122"/>
                </p:ext>
              </p:extLst>
            </p:nvPr>
          </p:nvGraphicFramePr>
          <p:xfrm>
            <a:off x="7499350" y="5162550"/>
            <a:ext cx="444500" cy="241300"/>
          </p:xfrm>
          <a:graphic>
            <a:graphicData uri="http://schemas.openxmlformats.org/presentationml/2006/ole">
              <mc:AlternateContent xmlns:mc="http://schemas.openxmlformats.org/markup-compatibility/2006">
                <mc:Choice xmlns:v="urn:schemas-microsoft-com:vml" Requires="v">
                  <p:oleObj name="Equation" r:id="rId22" imgW="444240" imgH="241200" progId="Equation.DSMT4">
                    <p:embed/>
                  </p:oleObj>
                </mc:Choice>
                <mc:Fallback>
                  <p:oleObj name="Equation" r:id="rId22" imgW="444240" imgH="241200" progId="Equation.DSMT4">
                    <p:embed/>
                    <p:pic>
                      <p:nvPicPr>
                        <p:cNvPr id="0" name=""/>
                        <p:cNvPicPr/>
                        <p:nvPr/>
                      </p:nvPicPr>
                      <p:blipFill>
                        <a:blip r:embed="rId23"/>
                        <a:stretch>
                          <a:fillRect/>
                        </a:stretch>
                      </p:blipFill>
                      <p:spPr>
                        <a:xfrm>
                          <a:off x="7499350" y="5162550"/>
                          <a:ext cx="444500" cy="241300"/>
                        </a:xfrm>
                        <a:prstGeom prst="rect">
                          <a:avLst/>
                        </a:prstGeom>
                      </p:spPr>
                    </p:pic>
                  </p:oleObj>
                </mc:Fallback>
              </mc:AlternateContent>
            </a:graphicData>
          </a:graphic>
        </p:graphicFrame>
        <p:graphicFrame>
          <p:nvGraphicFramePr>
            <p:cNvPr id="61" name="Objeto 60"/>
            <p:cNvGraphicFramePr>
              <a:graphicFrameLocks noChangeAspect="1"/>
            </p:cNvGraphicFramePr>
            <p:nvPr>
              <p:extLst>
                <p:ext uri="{D42A27DB-BD31-4B8C-83A1-F6EECF244321}">
                  <p14:modId xmlns:p14="http://schemas.microsoft.com/office/powerpoint/2010/main" val="1499565766"/>
                </p:ext>
              </p:extLst>
            </p:nvPr>
          </p:nvGraphicFramePr>
          <p:xfrm>
            <a:off x="7499350" y="2733675"/>
            <a:ext cx="444500" cy="241300"/>
          </p:xfrm>
          <a:graphic>
            <a:graphicData uri="http://schemas.openxmlformats.org/presentationml/2006/ole">
              <mc:AlternateContent xmlns:mc="http://schemas.openxmlformats.org/markup-compatibility/2006">
                <mc:Choice xmlns:v="urn:schemas-microsoft-com:vml" Requires="v">
                  <p:oleObj name="Equation" r:id="rId24" imgW="444240" imgH="241200" progId="Equation.DSMT4">
                    <p:embed/>
                  </p:oleObj>
                </mc:Choice>
                <mc:Fallback>
                  <p:oleObj name="Equation" r:id="rId24" imgW="444240" imgH="241200" progId="Equation.DSMT4">
                    <p:embed/>
                    <p:pic>
                      <p:nvPicPr>
                        <p:cNvPr id="2" name="Objeto 1"/>
                        <p:cNvPicPr/>
                        <p:nvPr/>
                      </p:nvPicPr>
                      <p:blipFill>
                        <a:blip r:embed="rId25"/>
                        <a:stretch>
                          <a:fillRect/>
                        </a:stretch>
                      </p:blipFill>
                      <p:spPr>
                        <a:xfrm>
                          <a:off x="7499350" y="2733675"/>
                          <a:ext cx="444500" cy="241300"/>
                        </a:xfrm>
                        <a:prstGeom prst="rect">
                          <a:avLst/>
                        </a:prstGeom>
                      </p:spPr>
                    </p:pic>
                  </p:oleObj>
                </mc:Fallback>
              </mc:AlternateContent>
            </a:graphicData>
          </a:graphic>
        </p:graphicFrame>
        <p:grpSp>
          <p:nvGrpSpPr>
            <p:cNvPr id="6" name="Grupo 5">
              <a:extLst>
                <a:ext uri="{FF2B5EF4-FFF2-40B4-BE49-F238E27FC236}">
                  <a16:creationId xmlns:a16="http://schemas.microsoft.com/office/drawing/2014/main" id="{3F4105B3-DDE2-4431-8C30-C8AEB6E28FF7}"/>
                </a:ext>
              </a:extLst>
            </p:cNvPr>
            <p:cNvGrpSpPr/>
            <p:nvPr/>
          </p:nvGrpSpPr>
          <p:grpSpPr>
            <a:xfrm>
              <a:off x="5764373" y="786492"/>
              <a:ext cx="1214563" cy="738664"/>
              <a:chOff x="5567040" y="795763"/>
              <a:chExt cx="1214563" cy="738664"/>
            </a:xfrm>
          </p:grpSpPr>
          <p:sp>
            <p:nvSpPr>
              <p:cNvPr id="3" name="CuadroTexto 2">
                <a:extLst>
                  <a:ext uri="{FF2B5EF4-FFF2-40B4-BE49-F238E27FC236}">
                    <a16:creationId xmlns:a16="http://schemas.microsoft.com/office/drawing/2014/main" id="{555D3DA2-3DCD-4E38-BABC-70CA17814D44}"/>
                  </a:ext>
                </a:extLst>
              </p:cNvPr>
              <p:cNvSpPr txBox="1"/>
              <p:nvPr/>
            </p:nvSpPr>
            <p:spPr>
              <a:xfrm>
                <a:off x="5567040" y="795763"/>
                <a:ext cx="1214563" cy="738664"/>
              </a:xfrm>
              <a:prstGeom prst="rect">
                <a:avLst/>
              </a:prstGeom>
              <a:noFill/>
            </p:spPr>
            <p:txBody>
              <a:bodyPr wrap="none" rtlCol="0">
                <a:spAutoFit/>
              </a:bodyPr>
              <a:lstStyle/>
              <a:p>
                <a:pPr algn="ctr">
                  <a:lnSpc>
                    <a:spcPct val="150000"/>
                  </a:lnSpc>
                </a:pPr>
                <a:r>
                  <a:rPr lang="es-ES" dirty="0">
                    <a:solidFill>
                      <a:srgbClr val="336699"/>
                    </a:solidFill>
                  </a:rPr>
                  <a:t>Distribución de</a:t>
                </a:r>
              </a:p>
              <a:p>
                <a:endParaRPr lang="es-ES" dirty="0">
                  <a:solidFill>
                    <a:srgbClr val="336699"/>
                  </a:solidFill>
                </a:endParaRPr>
              </a:p>
              <a:p>
                <a:pPr algn="ctr"/>
                <a:r>
                  <a:rPr lang="es-ES" dirty="0">
                    <a:solidFill>
                      <a:srgbClr val="336699"/>
                    </a:solidFill>
                  </a:rPr>
                  <a:t>si H</a:t>
                </a:r>
                <a:r>
                  <a:rPr lang="es-ES" baseline="-25000" dirty="0">
                    <a:solidFill>
                      <a:srgbClr val="336699"/>
                    </a:solidFill>
                  </a:rPr>
                  <a:t>0</a:t>
                </a:r>
                <a:r>
                  <a:rPr lang="es-ES" dirty="0">
                    <a:solidFill>
                      <a:srgbClr val="336699"/>
                    </a:solidFill>
                  </a:rPr>
                  <a:t> es cierta </a:t>
                </a:r>
                <a:endParaRPr lang="en-GB" dirty="0">
                  <a:solidFill>
                    <a:srgbClr val="336699"/>
                  </a:solidFill>
                </a:endParaRPr>
              </a:p>
            </p:txBody>
          </p:sp>
          <p:graphicFrame>
            <p:nvGraphicFramePr>
              <p:cNvPr id="62" name="Object 29">
                <a:extLst>
                  <a:ext uri="{FF2B5EF4-FFF2-40B4-BE49-F238E27FC236}">
                    <a16:creationId xmlns:a16="http://schemas.microsoft.com/office/drawing/2014/main" id="{234D94DC-1EB3-4F56-987D-3E88860076FE}"/>
                  </a:ext>
                </a:extLst>
              </p:cNvPr>
              <p:cNvGraphicFramePr>
                <a:graphicFrameLocks noChangeAspect="1"/>
              </p:cNvGraphicFramePr>
              <p:nvPr>
                <p:extLst>
                  <p:ext uri="{D42A27DB-BD31-4B8C-83A1-F6EECF244321}">
                    <p14:modId xmlns:p14="http://schemas.microsoft.com/office/powerpoint/2010/main" val="814354289"/>
                  </p:ext>
                </p:extLst>
              </p:nvPr>
            </p:nvGraphicFramePr>
            <p:xfrm>
              <a:off x="5865330" y="1071309"/>
              <a:ext cx="601662" cy="257175"/>
            </p:xfrm>
            <a:graphic>
              <a:graphicData uri="http://schemas.openxmlformats.org/presentationml/2006/ole">
                <mc:AlternateContent xmlns:mc="http://schemas.openxmlformats.org/markup-compatibility/2006">
                  <mc:Choice xmlns:v="urn:schemas-microsoft-com:vml" Requires="v">
                    <p:oleObj name="Equation" r:id="rId26" imgW="622080" imgH="266400" progId="Equation.DSMT4">
                      <p:embed/>
                    </p:oleObj>
                  </mc:Choice>
                  <mc:Fallback>
                    <p:oleObj name="Equation" r:id="rId26" imgW="622080" imgH="266400" progId="Equation.DSMT4">
                      <p:embed/>
                      <p:pic>
                        <p:nvPicPr>
                          <p:cNvPr id="4099" name="Object 29"/>
                          <p:cNvPicPr>
                            <a:picLocks noChangeAspect="1" noChangeArrowheads="1"/>
                          </p:cNvPicPr>
                          <p:nvPr/>
                        </p:nvPicPr>
                        <p:blipFill>
                          <a:blip r:embed="rId27"/>
                          <a:srcRect/>
                          <a:stretch>
                            <a:fillRect/>
                          </a:stretch>
                        </p:blipFill>
                        <p:spPr bwMode="auto">
                          <a:xfrm>
                            <a:off x="5865330" y="1071309"/>
                            <a:ext cx="601662" cy="257175"/>
                          </a:xfrm>
                          <a:prstGeom prst="rect">
                            <a:avLst/>
                          </a:prstGeom>
                          <a:noFill/>
                          <a:ln>
                            <a:noFill/>
                          </a:ln>
                        </p:spPr>
                      </p:pic>
                    </p:oleObj>
                  </mc:Fallback>
                </mc:AlternateContent>
              </a:graphicData>
            </a:graphic>
          </p:graphicFrame>
        </p:grpSp>
        <p:sp>
          <p:nvSpPr>
            <p:cNvPr id="64" name="CuadroTexto 63">
              <a:extLst>
                <a:ext uri="{FF2B5EF4-FFF2-40B4-BE49-F238E27FC236}">
                  <a16:creationId xmlns:a16="http://schemas.microsoft.com/office/drawing/2014/main" id="{BB06EBB5-4144-4944-BD53-6C73A5DB6542}"/>
                </a:ext>
              </a:extLst>
            </p:cNvPr>
            <p:cNvSpPr txBox="1"/>
            <p:nvPr/>
          </p:nvSpPr>
          <p:spPr>
            <a:xfrm>
              <a:off x="4676219" y="3488918"/>
              <a:ext cx="352982" cy="276999"/>
            </a:xfrm>
            <a:prstGeom prst="rect">
              <a:avLst/>
            </a:prstGeom>
            <a:noFill/>
          </p:spPr>
          <p:txBody>
            <a:bodyPr wrap="none" rtlCol="0">
              <a:spAutoFit/>
            </a:bodyPr>
            <a:lstStyle/>
            <a:p>
              <a:r>
                <a:rPr lang="es-ES" dirty="0">
                  <a:solidFill>
                    <a:srgbClr val="336699"/>
                  </a:solidFill>
                </a:rPr>
                <a:t>H</a:t>
              </a:r>
              <a:r>
                <a:rPr lang="es-ES" baseline="-25000" dirty="0">
                  <a:solidFill>
                    <a:srgbClr val="336699"/>
                  </a:solidFill>
                </a:rPr>
                <a:t>0</a:t>
              </a:r>
              <a:endParaRPr lang="en-GB" baseline="-25000" dirty="0">
                <a:solidFill>
                  <a:srgbClr val="336699"/>
                </a:solidFill>
              </a:endParaRPr>
            </a:p>
          </p:txBody>
        </p:sp>
        <p:sp>
          <p:nvSpPr>
            <p:cNvPr id="65" name="CuadroTexto 64">
              <a:extLst>
                <a:ext uri="{FF2B5EF4-FFF2-40B4-BE49-F238E27FC236}">
                  <a16:creationId xmlns:a16="http://schemas.microsoft.com/office/drawing/2014/main" id="{6A1D86BA-6924-46AF-BE7B-A8567103D743}"/>
                </a:ext>
              </a:extLst>
            </p:cNvPr>
            <p:cNvSpPr txBox="1"/>
            <p:nvPr/>
          </p:nvSpPr>
          <p:spPr>
            <a:xfrm>
              <a:off x="6394173" y="3544500"/>
              <a:ext cx="352982" cy="276999"/>
            </a:xfrm>
            <a:prstGeom prst="rect">
              <a:avLst/>
            </a:prstGeom>
            <a:noFill/>
          </p:spPr>
          <p:txBody>
            <a:bodyPr wrap="none" rtlCol="0">
              <a:spAutoFit/>
            </a:bodyPr>
            <a:lstStyle/>
            <a:p>
              <a:r>
                <a:rPr lang="es-ES" dirty="0">
                  <a:solidFill>
                    <a:srgbClr val="C00000"/>
                  </a:solidFill>
                </a:rPr>
                <a:t>H</a:t>
              </a:r>
              <a:r>
                <a:rPr lang="es-ES" baseline="-25000" dirty="0">
                  <a:solidFill>
                    <a:srgbClr val="C00000"/>
                  </a:solidFill>
                </a:rPr>
                <a:t>1</a:t>
              </a:r>
              <a:endParaRPr lang="en-GB" baseline="-25000" dirty="0">
                <a:solidFill>
                  <a:srgbClr val="C00000"/>
                </a:solidFill>
              </a:endParaRPr>
            </a:p>
          </p:txBody>
        </p:sp>
      </p:grpSp>
      <p:grpSp>
        <p:nvGrpSpPr>
          <p:cNvPr id="66" name="4 Grupo">
            <a:extLst>
              <a:ext uri="{FF2B5EF4-FFF2-40B4-BE49-F238E27FC236}">
                <a16:creationId xmlns:a16="http://schemas.microsoft.com/office/drawing/2014/main" id="{718F54D1-F701-41D6-A770-62D8311BC9D3}"/>
              </a:ext>
            </a:extLst>
          </p:cNvPr>
          <p:cNvGrpSpPr>
            <a:grpSpLocks/>
          </p:cNvGrpSpPr>
          <p:nvPr/>
        </p:nvGrpSpPr>
        <p:grpSpPr bwMode="auto">
          <a:xfrm>
            <a:off x="194469" y="1147551"/>
            <a:ext cx="3109119" cy="362162"/>
            <a:chOff x="235347" y="960563"/>
            <a:chExt cx="3109119" cy="362540"/>
          </a:xfrm>
        </p:grpSpPr>
        <p:sp>
          <p:nvSpPr>
            <p:cNvPr id="67" name="Text Box 33">
              <a:extLst>
                <a:ext uri="{FF2B5EF4-FFF2-40B4-BE49-F238E27FC236}">
                  <a16:creationId xmlns:a16="http://schemas.microsoft.com/office/drawing/2014/main" id="{30494B6E-DE0F-4995-B4E7-7DE2BD74A23D}"/>
                </a:ext>
              </a:extLst>
            </p:cNvPr>
            <p:cNvSpPr txBox="1">
              <a:spLocks noChangeArrowheads="1"/>
            </p:cNvSpPr>
            <p:nvPr/>
          </p:nvSpPr>
          <p:spPr bwMode="auto">
            <a:xfrm>
              <a:off x="235347" y="960563"/>
              <a:ext cx="2584450" cy="3102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t>como consecuencia</a:t>
              </a:r>
            </a:p>
          </p:txBody>
        </p:sp>
        <p:graphicFrame>
          <p:nvGraphicFramePr>
            <p:cNvPr id="68" name="Object 29">
              <a:extLst>
                <a:ext uri="{FF2B5EF4-FFF2-40B4-BE49-F238E27FC236}">
                  <a16:creationId xmlns:a16="http://schemas.microsoft.com/office/drawing/2014/main" id="{31A858EC-73E9-4D72-8FB8-2A784B700EDD}"/>
                </a:ext>
              </a:extLst>
            </p:cNvPr>
            <p:cNvGraphicFramePr>
              <a:graphicFrameLocks noChangeAspect="1"/>
            </p:cNvGraphicFramePr>
            <p:nvPr>
              <p:extLst>
                <p:ext uri="{D42A27DB-BD31-4B8C-83A1-F6EECF244321}">
                  <p14:modId xmlns:p14="http://schemas.microsoft.com/office/powerpoint/2010/main" val="2862235338"/>
                </p:ext>
              </p:extLst>
            </p:nvPr>
          </p:nvGraphicFramePr>
          <p:xfrm>
            <a:off x="2022078" y="965542"/>
            <a:ext cx="1322388" cy="357561"/>
          </p:xfrm>
          <a:graphic>
            <a:graphicData uri="http://schemas.openxmlformats.org/presentationml/2006/ole">
              <mc:AlternateContent xmlns:mc="http://schemas.openxmlformats.org/markup-compatibility/2006">
                <mc:Choice xmlns:v="urn:schemas-microsoft-com:vml" Requires="v">
                  <p:oleObj name="Equation" r:id="rId28" imgW="1358640" imgH="368280" progId="Equation.DSMT4">
                    <p:embed/>
                  </p:oleObj>
                </mc:Choice>
                <mc:Fallback>
                  <p:oleObj name="Equation" r:id="rId28" imgW="1358640" imgH="368280" progId="Equation.DSMT4">
                    <p:embed/>
                    <p:pic>
                      <p:nvPicPr>
                        <p:cNvPr id="4138" name="Object 29"/>
                        <p:cNvPicPr>
                          <a:picLocks noChangeAspect="1" noChangeArrowheads="1"/>
                        </p:cNvPicPr>
                        <p:nvPr/>
                      </p:nvPicPr>
                      <p:blipFill>
                        <a:blip r:embed="rId29"/>
                        <a:srcRect/>
                        <a:stretch>
                          <a:fillRect/>
                        </a:stretch>
                      </p:blipFill>
                      <p:spPr bwMode="auto">
                        <a:xfrm>
                          <a:off x="2022078" y="965542"/>
                          <a:ext cx="1322388" cy="357561"/>
                        </a:xfrm>
                        <a:prstGeom prst="rect">
                          <a:avLst/>
                        </a:prstGeom>
                        <a:noFill/>
                        <a:ln>
                          <a:noFill/>
                        </a:ln>
                      </p:spPr>
                    </p:pic>
                  </p:oleObj>
                </mc:Fallback>
              </mc:AlternateContent>
            </a:graphicData>
          </a:graphic>
        </p:graphicFrame>
      </p:grpSp>
      <p:sp>
        <p:nvSpPr>
          <p:cNvPr id="4" name="CuadroTexto 3">
            <a:extLst>
              <a:ext uri="{FF2B5EF4-FFF2-40B4-BE49-F238E27FC236}">
                <a16:creationId xmlns:a16="http://schemas.microsoft.com/office/drawing/2014/main" id="{4B838B03-7927-426B-B69F-E262B088B58D}"/>
              </a:ext>
            </a:extLst>
          </p:cNvPr>
          <p:cNvSpPr txBox="1"/>
          <p:nvPr/>
        </p:nvSpPr>
        <p:spPr>
          <a:xfrm>
            <a:off x="7340709" y="6133571"/>
            <a:ext cx="1662003" cy="600164"/>
          </a:xfrm>
          <a:prstGeom prst="rect">
            <a:avLst/>
          </a:prstGeom>
          <a:noFill/>
          <a:ln>
            <a:solidFill>
              <a:srgbClr val="C00000"/>
            </a:solidFill>
          </a:ln>
        </p:spPr>
        <p:txBody>
          <a:bodyPr wrap="square" rtlCol="0">
            <a:spAutoFit/>
          </a:bodyPr>
          <a:lstStyle/>
          <a:p>
            <a:pPr algn="ctr"/>
            <a:r>
              <a:rPr lang="es-ES" sz="1100" dirty="0">
                <a:solidFill>
                  <a:srgbClr val="C00000"/>
                </a:solidFill>
              </a:rPr>
              <a:t>¡repasar la tipificación y la distribución de la media muestral!</a:t>
            </a:r>
            <a:endParaRPr lang="en-GB" sz="1100" dirty="0">
              <a:solidFill>
                <a:srgbClr val="C00000"/>
              </a:solidFill>
            </a:endParaRPr>
          </a:p>
        </p:txBody>
      </p:sp>
      <p:sp>
        <p:nvSpPr>
          <p:cNvPr id="71" name="Text Box 81">
            <a:extLst>
              <a:ext uri="{FF2B5EF4-FFF2-40B4-BE49-F238E27FC236}">
                <a16:creationId xmlns:a16="http://schemas.microsoft.com/office/drawing/2014/main" id="{FC60B964-8900-4D4B-8460-2269869EE562}"/>
              </a:ext>
            </a:extLst>
          </p:cNvPr>
          <p:cNvSpPr txBox="1">
            <a:spLocks noChangeArrowheads="1"/>
          </p:cNvSpPr>
          <p:nvPr/>
        </p:nvSpPr>
        <p:spPr bwMode="auto">
          <a:xfrm>
            <a:off x="219271" y="6402625"/>
            <a:ext cx="7908131" cy="2945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sz="1300" dirty="0"/>
              <a:t>Para poder cuantificar la magnitud de la diferencia será necesario </a:t>
            </a:r>
            <a:r>
              <a:rPr lang="es-ES_tradnl" altLang="es-ES" sz="1300" i="1" dirty="0"/>
              <a:t>estandarizarla</a:t>
            </a:r>
            <a:r>
              <a:rPr lang="es-ES_tradnl" altLang="es-ES" sz="1300" dirty="0"/>
              <a:t> → </a:t>
            </a:r>
            <a:r>
              <a:rPr lang="es-ES_tradnl" altLang="es-ES" sz="1300" i="1" dirty="0"/>
              <a:t>tipificarla</a:t>
            </a:r>
          </a:p>
        </p:txBody>
      </p:sp>
      <p:graphicFrame>
        <p:nvGraphicFramePr>
          <p:cNvPr id="88" name="Object 43">
            <a:extLst>
              <a:ext uri="{FF2B5EF4-FFF2-40B4-BE49-F238E27FC236}">
                <a16:creationId xmlns:a16="http://schemas.microsoft.com/office/drawing/2014/main" id="{6CBDF6D4-D20B-478C-92F3-2A5E725E643F}"/>
              </a:ext>
            </a:extLst>
          </p:cNvPr>
          <p:cNvGraphicFramePr>
            <a:graphicFrameLocks noChangeAspect="1"/>
          </p:cNvGraphicFramePr>
          <p:nvPr>
            <p:extLst>
              <p:ext uri="{D42A27DB-BD31-4B8C-83A1-F6EECF244321}">
                <p14:modId xmlns:p14="http://schemas.microsoft.com/office/powerpoint/2010/main" val="194698835"/>
              </p:ext>
            </p:extLst>
          </p:nvPr>
        </p:nvGraphicFramePr>
        <p:xfrm>
          <a:off x="6209105" y="5737725"/>
          <a:ext cx="1800225" cy="328613"/>
        </p:xfrm>
        <a:graphic>
          <a:graphicData uri="http://schemas.openxmlformats.org/presentationml/2006/ole">
            <mc:AlternateContent xmlns:mc="http://schemas.openxmlformats.org/markup-compatibility/2006">
              <mc:Choice xmlns:v="urn:schemas-microsoft-com:vml" Requires="v">
                <p:oleObj name="Equation" r:id="rId30" imgW="1460160" imgH="266400" progId="Equation.DSMT4">
                  <p:embed/>
                </p:oleObj>
              </mc:Choice>
              <mc:Fallback>
                <p:oleObj name="Equation" r:id="rId30" imgW="1460160" imgH="266400" progId="Equation.DSMT4">
                  <p:embed/>
                  <p:pic>
                    <p:nvPicPr>
                      <p:cNvPr id="4140" name="Object 43"/>
                      <p:cNvPicPr>
                        <a:picLocks noChangeAspect="1" noChangeArrowheads="1"/>
                      </p:cNvPicPr>
                      <p:nvPr/>
                    </p:nvPicPr>
                    <p:blipFill>
                      <a:blip r:embed="rId31"/>
                      <a:srcRect/>
                      <a:stretch>
                        <a:fillRect/>
                      </a:stretch>
                    </p:blipFill>
                    <p:spPr bwMode="auto">
                      <a:xfrm>
                        <a:off x="6209105" y="5737725"/>
                        <a:ext cx="1800225" cy="328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 name="CuadroTexto 89">
            <a:extLst>
              <a:ext uri="{FF2B5EF4-FFF2-40B4-BE49-F238E27FC236}">
                <a16:creationId xmlns:a16="http://schemas.microsoft.com/office/drawing/2014/main" id="{79C840D8-4B58-4CCE-A5DF-5E33932F69F1}"/>
              </a:ext>
            </a:extLst>
          </p:cNvPr>
          <p:cNvSpPr txBox="1"/>
          <p:nvPr/>
        </p:nvSpPr>
        <p:spPr>
          <a:xfrm>
            <a:off x="5133419" y="935719"/>
            <a:ext cx="352982" cy="276999"/>
          </a:xfrm>
          <a:prstGeom prst="rect">
            <a:avLst/>
          </a:prstGeom>
          <a:noFill/>
        </p:spPr>
        <p:txBody>
          <a:bodyPr wrap="none" rtlCol="0">
            <a:spAutoFit/>
          </a:bodyPr>
          <a:lstStyle/>
          <a:p>
            <a:r>
              <a:rPr lang="es-ES" dirty="0">
                <a:solidFill>
                  <a:srgbClr val="336699"/>
                </a:solidFill>
              </a:rPr>
              <a:t>H</a:t>
            </a:r>
            <a:r>
              <a:rPr lang="es-ES" baseline="-25000" dirty="0">
                <a:solidFill>
                  <a:srgbClr val="336699"/>
                </a:solidFill>
              </a:rPr>
              <a:t>0</a:t>
            </a:r>
            <a:endParaRPr lang="en-GB" baseline="-25000" dirty="0">
              <a:solidFill>
                <a:srgbClr val="336699"/>
              </a:solidFill>
            </a:endParaRPr>
          </a:p>
        </p:txBody>
      </p:sp>
      <p:sp>
        <p:nvSpPr>
          <p:cNvPr id="5" name="Flecha: a la derecha 4">
            <a:hlinkClick r:id="rId32" action="ppaction://hlinksldjump"/>
            <a:extLst>
              <a:ext uri="{FF2B5EF4-FFF2-40B4-BE49-F238E27FC236}">
                <a16:creationId xmlns:a16="http://schemas.microsoft.com/office/drawing/2014/main" id="{3BF49A20-BD26-4B6A-ADEF-2237624637EA}"/>
              </a:ext>
            </a:extLst>
          </p:cNvPr>
          <p:cNvSpPr/>
          <p:nvPr/>
        </p:nvSpPr>
        <p:spPr>
          <a:xfrm>
            <a:off x="4503118" y="1494082"/>
            <a:ext cx="326475" cy="543362"/>
          </a:xfrm>
          <a:prstGeom prst="rightArrow">
            <a:avLst/>
          </a:prstGeom>
          <a:noFill/>
          <a:ln w="12700">
            <a:solidFill>
              <a:schemeClr val="bg1">
                <a:lumMod val="9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98DB7A88-C892-4FD1-847D-4531885ABBA8}"/>
              </a:ext>
            </a:extLst>
          </p:cNvPr>
          <p:cNvSpPr/>
          <p:nvPr/>
        </p:nvSpPr>
        <p:spPr>
          <a:xfrm>
            <a:off x="3733800" y="2401582"/>
            <a:ext cx="547688" cy="278327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4118" name="9 Grupo"/>
          <p:cNvGrpSpPr>
            <a:grpSpLocks/>
          </p:cNvGrpSpPr>
          <p:nvPr/>
        </p:nvGrpSpPr>
        <p:grpSpPr bwMode="auto">
          <a:xfrm>
            <a:off x="285948" y="4587724"/>
            <a:ext cx="3838379" cy="423863"/>
            <a:chOff x="540101" y="4209788"/>
            <a:chExt cx="3838163" cy="423392"/>
          </a:xfrm>
        </p:grpSpPr>
        <p:sp>
          <p:nvSpPr>
            <p:cNvPr id="4121" name="AutoShape 58"/>
            <p:cNvSpPr>
              <a:spLocks noChangeArrowheads="1"/>
            </p:cNvSpPr>
            <p:nvPr/>
          </p:nvSpPr>
          <p:spPr bwMode="auto">
            <a:xfrm>
              <a:off x="558953" y="4209788"/>
              <a:ext cx="3819311" cy="423392"/>
            </a:xfrm>
            <a:prstGeom prst="roundRect">
              <a:avLst>
                <a:gd name="adj" fmla="val 9028"/>
              </a:avLst>
            </a:prstGeom>
            <a:noFill/>
            <a:ln w="9525">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nvGrpSpPr>
            <p:cNvPr id="4122" name="8 Grupo"/>
            <p:cNvGrpSpPr>
              <a:grpSpLocks/>
            </p:cNvGrpSpPr>
            <p:nvPr/>
          </p:nvGrpSpPr>
          <p:grpSpPr bwMode="auto">
            <a:xfrm>
              <a:off x="540101" y="4288021"/>
              <a:ext cx="3780212" cy="304081"/>
              <a:chOff x="589215" y="4288021"/>
              <a:chExt cx="3780212" cy="304081"/>
            </a:xfrm>
          </p:grpSpPr>
          <p:sp>
            <p:nvSpPr>
              <p:cNvPr id="4123" name="Text Box 60"/>
              <p:cNvSpPr txBox="1">
                <a:spLocks noChangeArrowheads="1"/>
              </p:cNvSpPr>
              <p:nvPr/>
            </p:nvSpPr>
            <p:spPr bwMode="auto">
              <a:xfrm>
                <a:off x="589215" y="4288021"/>
                <a:ext cx="2177092" cy="3036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t>Hipótesis alternativa H</a:t>
                </a:r>
                <a:r>
                  <a:rPr lang="es-ES_tradnl" altLang="es-ES" baseline="-25000" dirty="0"/>
                  <a:t>1</a:t>
                </a:r>
                <a:r>
                  <a:rPr lang="es-ES_tradnl" altLang="es-ES" dirty="0"/>
                  <a:t>:</a:t>
                </a:r>
              </a:p>
            </p:txBody>
          </p:sp>
          <p:graphicFrame>
            <p:nvGraphicFramePr>
              <p:cNvPr id="4124" name="Object 29"/>
              <p:cNvGraphicFramePr>
                <a:graphicFrameLocks noChangeAspect="1"/>
              </p:cNvGraphicFramePr>
              <p:nvPr>
                <p:extLst>
                  <p:ext uri="{D42A27DB-BD31-4B8C-83A1-F6EECF244321}">
                    <p14:modId xmlns:p14="http://schemas.microsoft.com/office/powerpoint/2010/main" val="647753788"/>
                  </p:ext>
                </p:extLst>
              </p:nvPr>
            </p:nvGraphicFramePr>
            <p:xfrm>
              <a:off x="2604226" y="4293983"/>
              <a:ext cx="1765201" cy="298119"/>
            </p:xfrm>
            <a:graphic>
              <a:graphicData uri="http://schemas.openxmlformats.org/presentationml/2006/ole">
                <mc:AlternateContent xmlns:mc="http://schemas.openxmlformats.org/markup-compatibility/2006">
                  <mc:Choice xmlns:v="urn:schemas-microsoft-com:vml" Requires="v">
                    <p:oleObj name="Equation" r:id="rId33" imgW="1434960" imgH="241200" progId="Equation.DSMT4">
                      <p:embed/>
                    </p:oleObj>
                  </mc:Choice>
                  <mc:Fallback>
                    <p:oleObj name="Equation" r:id="rId33" imgW="1434960" imgH="241200" progId="Equation.DSMT4">
                      <p:embed/>
                      <p:pic>
                        <p:nvPicPr>
                          <p:cNvPr id="4124" name="Object 29"/>
                          <p:cNvPicPr>
                            <a:picLocks noChangeAspect="1" noChangeArrowheads="1"/>
                          </p:cNvPicPr>
                          <p:nvPr/>
                        </p:nvPicPr>
                        <p:blipFill>
                          <a:blip r:embed="rId34"/>
                          <a:srcRect/>
                          <a:stretch>
                            <a:fillRect/>
                          </a:stretch>
                        </p:blipFill>
                        <p:spPr bwMode="auto">
                          <a:xfrm>
                            <a:off x="2604226" y="4293983"/>
                            <a:ext cx="1765201" cy="29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extLst>
      <p:ext uri="{BB962C8B-B14F-4D97-AF65-F5344CB8AC3E}">
        <p14:creationId xmlns:p14="http://schemas.microsoft.com/office/powerpoint/2010/main" val="102974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rupo 69">
            <a:extLst>
              <a:ext uri="{FF2B5EF4-FFF2-40B4-BE49-F238E27FC236}">
                <a16:creationId xmlns:a16="http://schemas.microsoft.com/office/drawing/2014/main" id="{97D3B78E-0D9D-4101-92B4-64B9E3E200B8}"/>
              </a:ext>
            </a:extLst>
          </p:cNvPr>
          <p:cNvGrpSpPr/>
          <p:nvPr/>
        </p:nvGrpSpPr>
        <p:grpSpPr>
          <a:xfrm>
            <a:off x="504622" y="3589993"/>
            <a:ext cx="8018241" cy="523220"/>
            <a:chOff x="744758" y="4697293"/>
            <a:chExt cx="8018241" cy="523220"/>
          </a:xfrm>
        </p:grpSpPr>
        <p:sp>
          <p:nvSpPr>
            <p:cNvPr id="69" name="CuadroTexto 68">
              <a:extLst>
                <a:ext uri="{FF2B5EF4-FFF2-40B4-BE49-F238E27FC236}">
                  <a16:creationId xmlns:a16="http://schemas.microsoft.com/office/drawing/2014/main" id="{A1D59A5C-A431-4163-A218-3E9277598EE2}"/>
                </a:ext>
              </a:extLst>
            </p:cNvPr>
            <p:cNvSpPr txBox="1"/>
            <p:nvPr/>
          </p:nvSpPr>
          <p:spPr>
            <a:xfrm>
              <a:off x="744758" y="4697293"/>
              <a:ext cx="8018241" cy="523220"/>
            </a:xfrm>
            <a:prstGeom prst="rect">
              <a:avLst/>
            </a:prstGeom>
            <a:noFill/>
          </p:spPr>
          <p:txBody>
            <a:bodyPr wrap="square" rtlCol="0">
              <a:spAutoFit/>
            </a:bodyPr>
            <a:lstStyle/>
            <a:p>
              <a:r>
                <a:rPr lang="es-ES" sz="1400" dirty="0"/>
                <a:t>la diferencia entre la información muestral (   ) y la propuesta de la hipótesis nula (           ) son muy discrepantes o no (un valor tipificado es “</a:t>
              </a:r>
              <a:r>
                <a:rPr lang="es-ES" sz="1400" i="1" dirty="0"/>
                <a:t>auto informativo”</a:t>
              </a:r>
              <a:r>
                <a:rPr lang="es-ES" sz="1400" dirty="0"/>
                <a:t>)</a:t>
              </a:r>
            </a:p>
          </p:txBody>
        </p:sp>
        <p:graphicFrame>
          <p:nvGraphicFramePr>
            <p:cNvPr id="61" name="Object 29">
              <a:extLst>
                <a:ext uri="{FF2B5EF4-FFF2-40B4-BE49-F238E27FC236}">
                  <a16:creationId xmlns:a16="http://schemas.microsoft.com/office/drawing/2014/main" id="{9DDD8256-B93C-4311-ABDF-13992AA4AA00}"/>
                </a:ext>
              </a:extLst>
            </p:cNvPr>
            <p:cNvGraphicFramePr>
              <a:graphicFrameLocks noChangeAspect="1"/>
            </p:cNvGraphicFramePr>
            <p:nvPr>
              <p:extLst>
                <p:ext uri="{D42A27DB-BD31-4B8C-83A1-F6EECF244321}">
                  <p14:modId xmlns:p14="http://schemas.microsoft.com/office/powerpoint/2010/main" val="385463614"/>
                </p:ext>
              </p:extLst>
            </p:nvPr>
          </p:nvGraphicFramePr>
          <p:xfrm>
            <a:off x="4227219" y="4753533"/>
            <a:ext cx="174625" cy="200025"/>
          </p:xfrm>
          <a:graphic>
            <a:graphicData uri="http://schemas.openxmlformats.org/presentationml/2006/ole">
              <mc:AlternateContent xmlns:mc="http://schemas.openxmlformats.org/markup-compatibility/2006">
                <mc:Choice xmlns:v="urn:schemas-microsoft-com:vml" Requires="v">
                  <p:oleObj name="Equation" r:id="rId2" imgW="164880" imgH="190440" progId="Equation.DSMT4">
                    <p:embed/>
                  </p:oleObj>
                </mc:Choice>
                <mc:Fallback>
                  <p:oleObj name="Equation" r:id="rId2" imgW="164880" imgH="190440" progId="Equation.DSMT4">
                    <p:embed/>
                    <p:pic>
                      <p:nvPicPr>
                        <p:cNvPr id="58" name="Object 29">
                          <a:extLst>
                            <a:ext uri="{FF2B5EF4-FFF2-40B4-BE49-F238E27FC236}">
                              <a16:creationId xmlns:a16="http://schemas.microsoft.com/office/drawing/2014/main" id="{BA50F3F3-9D61-432E-B2A4-057944F0598A}"/>
                            </a:ext>
                          </a:extLst>
                        </p:cNvPr>
                        <p:cNvPicPr>
                          <a:picLocks noChangeAspect="1" noChangeArrowheads="1"/>
                        </p:cNvPicPr>
                        <p:nvPr/>
                      </p:nvPicPr>
                      <p:blipFill>
                        <a:blip r:embed="rId3"/>
                        <a:srcRect/>
                        <a:stretch>
                          <a:fillRect/>
                        </a:stretch>
                      </p:blipFill>
                      <p:spPr bwMode="auto">
                        <a:xfrm>
                          <a:off x="4227219" y="4753533"/>
                          <a:ext cx="17462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 name="Object 29">
              <a:extLst>
                <a:ext uri="{FF2B5EF4-FFF2-40B4-BE49-F238E27FC236}">
                  <a16:creationId xmlns:a16="http://schemas.microsoft.com/office/drawing/2014/main" id="{67CE84C5-DE1B-4FEE-B36A-5287032E8F1E}"/>
                </a:ext>
              </a:extLst>
            </p:cNvPr>
            <p:cNvGraphicFramePr>
              <a:graphicFrameLocks noChangeAspect="1"/>
            </p:cNvGraphicFramePr>
            <p:nvPr>
              <p:extLst>
                <p:ext uri="{D42A27DB-BD31-4B8C-83A1-F6EECF244321}">
                  <p14:modId xmlns:p14="http://schemas.microsoft.com/office/powerpoint/2010/main" val="758118592"/>
                </p:ext>
              </p:extLst>
            </p:nvPr>
          </p:nvGraphicFramePr>
          <p:xfrm>
            <a:off x="7261129" y="4706332"/>
            <a:ext cx="579556" cy="296897"/>
          </p:xfrm>
          <a:graphic>
            <a:graphicData uri="http://schemas.openxmlformats.org/presentationml/2006/ole">
              <mc:AlternateContent xmlns:mc="http://schemas.openxmlformats.org/markup-compatibility/2006">
                <mc:Choice xmlns:v="urn:schemas-microsoft-com:vml" Requires="v">
                  <p:oleObj name="Equation" r:id="rId4" imgW="469696" imgH="241195" progId="Equation.DSMT4">
                    <p:embed/>
                  </p:oleObj>
                </mc:Choice>
                <mc:Fallback>
                  <p:oleObj name="Equation" r:id="rId4" imgW="469696" imgH="241195" progId="Equation.DSMT4">
                    <p:embed/>
                    <p:pic>
                      <p:nvPicPr>
                        <p:cNvPr id="57" name="Object 29">
                          <a:extLst>
                            <a:ext uri="{FF2B5EF4-FFF2-40B4-BE49-F238E27FC236}">
                              <a16:creationId xmlns:a16="http://schemas.microsoft.com/office/drawing/2014/main" id="{0B6E6B4B-8E9F-4C5E-91B4-711B41761D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1129" y="4706332"/>
                          <a:ext cx="579556" cy="296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4" name="Objeto 13">
            <a:extLst>
              <a:ext uri="{FF2B5EF4-FFF2-40B4-BE49-F238E27FC236}">
                <a16:creationId xmlns:a16="http://schemas.microsoft.com/office/drawing/2014/main" id="{8AE83830-8A94-41B3-9255-D975137C0C55}"/>
              </a:ext>
            </a:extLst>
          </p:cNvPr>
          <p:cNvGraphicFramePr>
            <a:graphicFrameLocks noChangeAspect="1"/>
          </p:cNvGraphicFramePr>
          <p:nvPr>
            <p:extLst>
              <p:ext uri="{D42A27DB-BD31-4B8C-83A1-F6EECF244321}">
                <p14:modId xmlns:p14="http://schemas.microsoft.com/office/powerpoint/2010/main" val="213366885"/>
              </p:ext>
            </p:extLst>
          </p:nvPr>
        </p:nvGraphicFramePr>
        <p:xfrm>
          <a:off x="4805995" y="1154548"/>
          <a:ext cx="139700" cy="272752"/>
        </p:xfrm>
        <a:graphic>
          <a:graphicData uri="http://schemas.openxmlformats.org/presentationml/2006/ole">
            <mc:AlternateContent xmlns:mc="http://schemas.openxmlformats.org/markup-compatibility/2006">
              <mc:Choice xmlns:v="urn:schemas-microsoft-com:vml" Requires="v">
                <p:oleObj name="Equation" r:id="rId6" imgW="139680" imgH="203040" progId="Equation.DSMT4">
                  <p:embed/>
                </p:oleObj>
              </mc:Choice>
              <mc:Fallback>
                <p:oleObj name="Equation" r:id="rId6" imgW="139680" imgH="203040" progId="Equation.DSMT4">
                  <p:embed/>
                  <p:pic>
                    <p:nvPicPr>
                      <p:cNvPr id="60" name="Objeto 59"/>
                      <p:cNvPicPr/>
                      <p:nvPr/>
                    </p:nvPicPr>
                    <p:blipFill>
                      <a:blip r:embed="rId7"/>
                      <a:stretch>
                        <a:fillRect/>
                      </a:stretch>
                    </p:blipFill>
                    <p:spPr>
                      <a:xfrm>
                        <a:off x="4805995" y="1154548"/>
                        <a:ext cx="139700" cy="272752"/>
                      </a:xfrm>
                      <a:prstGeom prst="rect">
                        <a:avLst/>
                      </a:prstGeom>
                    </p:spPr>
                  </p:pic>
                </p:oleObj>
              </mc:Fallback>
            </mc:AlternateContent>
          </a:graphicData>
        </a:graphic>
      </p:graphicFrame>
      <p:sp>
        <p:nvSpPr>
          <p:cNvPr id="16" name="CuadroTexto 15">
            <a:extLst>
              <a:ext uri="{FF2B5EF4-FFF2-40B4-BE49-F238E27FC236}">
                <a16:creationId xmlns:a16="http://schemas.microsoft.com/office/drawing/2014/main" id="{0F20CE26-986B-48FC-812B-F385C7DC47A0}"/>
              </a:ext>
            </a:extLst>
          </p:cNvPr>
          <p:cNvSpPr txBox="1"/>
          <p:nvPr/>
        </p:nvSpPr>
        <p:spPr>
          <a:xfrm>
            <a:off x="4194711" y="1175508"/>
            <a:ext cx="652743" cy="230832"/>
          </a:xfrm>
          <a:prstGeom prst="rect">
            <a:avLst/>
          </a:prstGeom>
          <a:noFill/>
        </p:spPr>
        <p:txBody>
          <a:bodyPr wrap="none" rtlCol="0">
            <a:spAutoFit/>
          </a:bodyPr>
          <a:lstStyle/>
          <a:p>
            <a:r>
              <a:rPr lang="es-ES" sz="900" dirty="0">
                <a:solidFill>
                  <a:schemeClr val="bg1">
                    <a:lumMod val="65000"/>
                  </a:schemeClr>
                </a:solidFill>
              </a:rPr>
              <a:t>entonces</a:t>
            </a:r>
            <a:endParaRPr lang="en-GB" sz="900" dirty="0">
              <a:solidFill>
                <a:schemeClr val="bg1">
                  <a:lumMod val="65000"/>
                </a:schemeClr>
              </a:solidFill>
            </a:endParaRPr>
          </a:p>
        </p:txBody>
      </p:sp>
      <p:grpSp>
        <p:nvGrpSpPr>
          <p:cNvPr id="87" name="Grupo 86">
            <a:extLst>
              <a:ext uri="{FF2B5EF4-FFF2-40B4-BE49-F238E27FC236}">
                <a16:creationId xmlns:a16="http://schemas.microsoft.com/office/drawing/2014/main" id="{34CFF719-D3F2-48BD-A620-A434CD3E1046}"/>
              </a:ext>
            </a:extLst>
          </p:cNvPr>
          <p:cNvGrpSpPr/>
          <p:nvPr/>
        </p:nvGrpSpPr>
        <p:grpSpPr>
          <a:xfrm>
            <a:off x="279117" y="858984"/>
            <a:ext cx="5353197" cy="324991"/>
            <a:chOff x="519253" y="990600"/>
            <a:chExt cx="5353197" cy="324991"/>
          </a:xfrm>
        </p:grpSpPr>
        <p:sp>
          <p:nvSpPr>
            <p:cNvPr id="18" name="CuadroTexto 17">
              <a:extLst>
                <a:ext uri="{FF2B5EF4-FFF2-40B4-BE49-F238E27FC236}">
                  <a16:creationId xmlns:a16="http://schemas.microsoft.com/office/drawing/2014/main" id="{B5D1D37F-C7F3-4CA0-9E83-F893DB1EE177}"/>
                </a:ext>
              </a:extLst>
            </p:cNvPr>
            <p:cNvSpPr txBox="1"/>
            <p:nvPr/>
          </p:nvSpPr>
          <p:spPr>
            <a:xfrm>
              <a:off x="519253" y="993912"/>
              <a:ext cx="3597460" cy="307777"/>
            </a:xfrm>
            <a:prstGeom prst="rect">
              <a:avLst/>
            </a:prstGeom>
            <a:noFill/>
          </p:spPr>
          <p:txBody>
            <a:bodyPr wrap="none" rtlCol="0">
              <a:spAutoFit/>
            </a:bodyPr>
            <a:lstStyle/>
            <a:p>
              <a:r>
                <a:rPr lang="es-ES" sz="1400" dirty="0"/>
                <a:t>1. Si la variable </a:t>
              </a:r>
              <a:r>
                <a:rPr lang="es-ES" sz="1400" i="1" dirty="0">
                  <a:latin typeface="Times New Roman" panose="02020603050405020304" pitchFamily="18" charset="0"/>
                  <a:cs typeface="Times New Roman" panose="02020603050405020304" pitchFamily="18" charset="0"/>
                </a:rPr>
                <a:t>X</a:t>
              </a:r>
              <a:r>
                <a:rPr lang="es-ES" sz="1400" dirty="0">
                  <a:latin typeface="Times New Roman" panose="02020603050405020304" pitchFamily="18" charset="0"/>
                  <a:cs typeface="Times New Roman" panose="02020603050405020304" pitchFamily="18" charset="0"/>
                </a:rPr>
                <a:t>  </a:t>
              </a:r>
              <a:r>
                <a:rPr lang="es-ES" sz="1400" dirty="0"/>
                <a:t>tiene distribución normal</a:t>
              </a:r>
            </a:p>
          </p:txBody>
        </p:sp>
        <p:grpSp>
          <p:nvGrpSpPr>
            <p:cNvPr id="46" name="Grupo 45">
              <a:extLst>
                <a:ext uri="{FF2B5EF4-FFF2-40B4-BE49-F238E27FC236}">
                  <a16:creationId xmlns:a16="http://schemas.microsoft.com/office/drawing/2014/main" id="{206E8E78-3124-45EB-9E8F-1D9F630CDE59}"/>
                </a:ext>
              </a:extLst>
            </p:cNvPr>
            <p:cNvGrpSpPr/>
            <p:nvPr/>
          </p:nvGrpSpPr>
          <p:grpSpPr>
            <a:xfrm>
              <a:off x="4359513" y="990600"/>
              <a:ext cx="1512937" cy="324991"/>
              <a:chOff x="4165204" y="1293739"/>
              <a:chExt cx="1512937" cy="324991"/>
            </a:xfrm>
          </p:grpSpPr>
          <p:graphicFrame>
            <p:nvGraphicFramePr>
              <p:cNvPr id="12" name="Object 29">
                <a:extLst>
                  <a:ext uri="{FF2B5EF4-FFF2-40B4-BE49-F238E27FC236}">
                    <a16:creationId xmlns:a16="http://schemas.microsoft.com/office/drawing/2014/main" id="{C22CC5F2-52D7-4628-8618-0C3D22A87196}"/>
                  </a:ext>
                </a:extLst>
              </p:cNvPr>
              <p:cNvGraphicFramePr>
                <a:graphicFrameLocks noChangeAspect="1"/>
              </p:cNvGraphicFramePr>
              <p:nvPr>
                <p:extLst>
                  <p:ext uri="{D42A27DB-BD31-4B8C-83A1-F6EECF244321}">
                    <p14:modId xmlns:p14="http://schemas.microsoft.com/office/powerpoint/2010/main" val="2102192922"/>
                  </p:ext>
                </p:extLst>
              </p:nvPr>
            </p:nvGraphicFramePr>
            <p:xfrm>
              <a:off x="4487516" y="1313930"/>
              <a:ext cx="1190625" cy="304800"/>
            </p:xfrm>
            <a:graphic>
              <a:graphicData uri="http://schemas.openxmlformats.org/presentationml/2006/ole">
                <mc:AlternateContent xmlns:mc="http://schemas.openxmlformats.org/markup-compatibility/2006">
                  <mc:Choice xmlns:v="urn:schemas-microsoft-com:vml" Requires="v">
                    <p:oleObj name="Equation" r:id="rId8" imgW="1130040" imgH="291960" progId="Equation.DSMT4">
                      <p:embed/>
                    </p:oleObj>
                  </mc:Choice>
                  <mc:Fallback>
                    <p:oleObj name="Equation" r:id="rId8" imgW="1130040" imgH="291960" progId="Equation.DSMT4">
                      <p:embed/>
                      <p:pic>
                        <p:nvPicPr>
                          <p:cNvPr id="57" name="Object 29"/>
                          <p:cNvPicPr>
                            <a:picLocks noChangeAspect="1" noChangeArrowheads="1"/>
                          </p:cNvPicPr>
                          <p:nvPr/>
                        </p:nvPicPr>
                        <p:blipFill>
                          <a:blip r:embed="rId9"/>
                          <a:srcRect/>
                          <a:stretch>
                            <a:fillRect/>
                          </a:stretch>
                        </p:blipFill>
                        <p:spPr bwMode="auto">
                          <a:xfrm>
                            <a:off x="4487516" y="1313930"/>
                            <a:ext cx="1190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CuadroTexto 21">
                <a:extLst>
                  <a:ext uri="{FF2B5EF4-FFF2-40B4-BE49-F238E27FC236}">
                    <a16:creationId xmlns:a16="http://schemas.microsoft.com/office/drawing/2014/main" id="{989A7577-4CBB-4E6A-A938-CDF65A16E335}"/>
                  </a:ext>
                </a:extLst>
              </p:cNvPr>
              <p:cNvSpPr txBox="1"/>
              <p:nvPr/>
            </p:nvSpPr>
            <p:spPr>
              <a:xfrm>
                <a:off x="4165204" y="1293739"/>
                <a:ext cx="344966" cy="307777"/>
              </a:xfrm>
              <a:prstGeom prst="rect">
                <a:avLst/>
              </a:prstGeom>
              <a:noFill/>
            </p:spPr>
            <p:txBody>
              <a:bodyPr wrap="none" rtlCol="0">
                <a:spAutoFit/>
              </a:bodyPr>
              <a:lstStyle/>
              <a:p>
                <a:r>
                  <a:rPr lang="es-ES" sz="1400" dirty="0"/>
                  <a:t>Si</a:t>
                </a:r>
              </a:p>
            </p:txBody>
          </p:sp>
        </p:grpSp>
      </p:grpSp>
      <p:grpSp>
        <p:nvGrpSpPr>
          <p:cNvPr id="51" name="Grupo 50">
            <a:extLst>
              <a:ext uri="{FF2B5EF4-FFF2-40B4-BE49-F238E27FC236}">
                <a16:creationId xmlns:a16="http://schemas.microsoft.com/office/drawing/2014/main" id="{FCDAFD5F-F3B8-4E24-A109-82EFF6F79156}"/>
              </a:ext>
            </a:extLst>
          </p:cNvPr>
          <p:cNvGrpSpPr/>
          <p:nvPr/>
        </p:nvGrpSpPr>
        <p:grpSpPr>
          <a:xfrm>
            <a:off x="6411260" y="157805"/>
            <a:ext cx="1752600" cy="1565574"/>
            <a:chOff x="5883165" y="268411"/>
            <a:chExt cx="1752600" cy="1565574"/>
          </a:xfrm>
        </p:grpSpPr>
        <p:pic>
          <p:nvPicPr>
            <p:cNvPr id="21" name="Snagit_PPT473F">
              <a:extLst>
                <a:ext uri="{FF2B5EF4-FFF2-40B4-BE49-F238E27FC236}">
                  <a16:creationId xmlns:a16="http://schemas.microsoft.com/office/drawing/2014/main" id="{628B6042-3498-46C4-B8C2-8626848794D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83165" y="268411"/>
              <a:ext cx="1752600" cy="1323694"/>
            </a:xfrm>
            <a:prstGeom prst="rect">
              <a:avLst/>
            </a:prstGeom>
          </p:spPr>
        </p:pic>
        <p:sp>
          <p:nvSpPr>
            <p:cNvPr id="23" name="CuadroTexto 22">
              <a:extLst>
                <a:ext uri="{FF2B5EF4-FFF2-40B4-BE49-F238E27FC236}">
                  <a16:creationId xmlns:a16="http://schemas.microsoft.com/office/drawing/2014/main" id="{B50E26B9-DC62-41FF-BF35-A1968103ED5E}"/>
                </a:ext>
              </a:extLst>
            </p:cNvPr>
            <p:cNvSpPr txBox="1"/>
            <p:nvPr/>
          </p:nvSpPr>
          <p:spPr>
            <a:xfrm>
              <a:off x="6615836" y="1556986"/>
              <a:ext cx="287258" cy="276999"/>
            </a:xfrm>
            <a:prstGeom prst="rect">
              <a:avLst/>
            </a:prstGeom>
            <a:noFill/>
          </p:spPr>
          <p:txBody>
            <a:bodyPr wrap="none" rtlCol="0">
              <a:spAutoFit/>
            </a:bodyPr>
            <a:lstStyle/>
            <a:p>
              <a:r>
                <a:rPr lang="es-ES" i="1" dirty="0">
                  <a:latin typeface="Times New Roman" panose="02020603050405020304" pitchFamily="18" charset="0"/>
                  <a:cs typeface="Times New Roman" panose="02020603050405020304" pitchFamily="18" charset="0"/>
                </a:rPr>
                <a:t>X</a:t>
              </a:r>
            </a:p>
          </p:txBody>
        </p:sp>
      </p:grpSp>
      <p:sp>
        <p:nvSpPr>
          <p:cNvPr id="28" name="CuadroTexto 27">
            <a:extLst>
              <a:ext uri="{FF2B5EF4-FFF2-40B4-BE49-F238E27FC236}">
                <a16:creationId xmlns:a16="http://schemas.microsoft.com/office/drawing/2014/main" id="{907E3A72-53EB-4389-B939-E35EA8A891AC}"/>
              </a:ext>
            </a:extLst>
          </p:cNvPr>
          <p:cNvSpPr txBox="1"/>
          <p:nvPr/>
        </p:nvSpPr>
        <p:spPr>
          <a:xfrm>
            <a:off x="6787845" y="2762029"/>
            <a:ext cx="287258" cy="276999"/>
          </a:xfrm>
          <a:prstGeom prst="rect">
            <a:avLst/>
          </a:prstGeom>
          <a:noFill/>
        </p:spPr>
        <p:txBody>
          <a:bodyPr wrap="none" rtlCol="0">
            <a:spAutoFit/>
          </a:bodyPr>
          <a:lstStyle/>
          <a:p>
            <a:r>
              <a:rPr lang="es-ES" i="1" dirty="0">
                <a:latin typeface="Times New Roman" panose="02020603050405020304" pitchFamily="18" charset="0"/>
                <a:cs typeface="Times New Roman" panose="02020603050405020304" pitchFamily="18" charset="0"/>
              </a:rPr>
              <a:t>X</a:t>
            </a:r>
          </a:p>
        </p:txBody>
      </p:sp>
      <p:grpSp>
        <p:nvGrpSpPr>
          <p:cNvPr id="73" name="Grupo 72">
            <a:extLst>
              <a:ext uri="{FF2B5EF4-FFF2-40B4-BE49-F238E27FC236}">
                <a16:creationId xmlns:a16="http://schemas.microsoft.com/office/drawing/2014/main" id="{D3C88003-DE25-45B0-AC98-850D59498D2B}"/>
              </a:ext>
            </a:extLst>
          </p:cNvPr>
          <p:cNvGrpSpPr/>
          <p:nvPr/>
        </p:nvGrpSpPr>
        <p:grpSpPr>
          <a:xfrm>
            <a:off x="279117" y="1380836"/>
            <a:ext cx="5326978" cy="382588"/>
            <a:chOff x="519253" y="1910440"/>
            <a:chExt cx="5326978" cy="382588"/>
          </a:xfrm>
        </p:grpSpPr>
        <p:graphicFrame>
          <p:nvGraphicFramePr>
            <p:cNvPr id="13" name="Object 29">
              <a:extLst>
                <a:ext uri="{FF2B5EF4-FFF2-40B4-BE49-F238E27FC236}">
                  <a16:creationId xmlns:a16="http://schemas.microsoft.com/office/drawing/2014/main" id="{93452DAF-3C41-4CB8-BD6B-23AC7006D53A}"/>
                </a:ext>
              </a:extLst>
            </p:cNvPr>
            <p:cNvGraphicFramePr>
              <a:graphicFrameLocks noChangeAspect="1"/>
            </p:cNvGraphicFramePr>
            <p:nvPr>
              <p:extLst>
                <p:ext uri="{D42A27DB-BD31-4B8C-83A1-F6EECF244321}">
                  <p14:modId xmlns:p14="http://schemas.microsoft.com/office/powerpoint/2010/main" val="2515127230"/>
                </p:ext>
              </p:extLst>
            </p:nvPr>
          </p:nvGraphicFramePr>
          <p:xfrm>
            <a:off x="4385731" y="1910440"/>
            <a:ext cx="1460500" cy="382588"/>
          </p:xfrm>
          <a:graphic>
            <a:graphicData uri="http://schemas.openxmlformats.org/presentationml/2006/ole">
              <mc:AlternateContent xmlns:mc="http://schemas.openxmlformats.org/markup-compatibility/2006">
                <mc:Choice xmlns:v="urn:schemas-microsoft-com:vml" Requires="v">
                  <p:oleObj name="Equation" r:id="rId11" imgW="1384200" imgH="368280" progId="Equation.DSMT4">
                    <p:embed/>
                  </p:oleObj>
                </mc:Choice>
                <mc:Fallback>
                  <p:oleObj name="Equation" r:id="rId11" imgW="1384200" imgH="368280" progId="Equation.DSMT4">
                    <p:embed/>
                    <p:pic>
                      <p:nvPicPr>
                        <p:cNvPr id="59" name="Object 29"/>
                        <p:cNvPicPr>
                          <a:picLocks noChangeAspect="1" noChangeArrowheads="1"/>
                        </p:cNvPicPr>
                        <p:nvPr/>
                      </p:nvPicPr>
                      <p:blipFill>
                        <a:blip r:embed="rId12"/>
                        <a:srcRect/>
                        <a:stretch>
                          <a:fillRect/>
                        </a:stretch>
                      </p:blipFill>
                      <p:spPr bwMode="auto">
                        <a:xfrm>
                          <a:off x="4385731" y="1910440"/>
                          <a:ext cx="14605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CuadroTexto 24">
              <a:extLst>
                <a:ext uri="{FF2B5EF4-FFF2-40B4-BE49-F238E27FC236}">
                  <a16:creationId xmlns:a16="http://schemas.microsoft.com/office/drawing/2014/main" id="{2024581C-204E-4DBD-9F88-FA6F311470DD}"/>
                </a:ext>
              </a:extLst>
            </p:cNvPr>
            <p:cNvSpPr txBox="1"/>
            <p:nvPr/>
          </p:nvSpPr>
          <p:spPr>
            <a:xfrm>
              <a:off x="519253" y="1920138"/>
              <a:ext cx="3815468" cy="307777"/>
            </a:xfrm>
            <a:prstGeom prst="rect">
              <a:avLst/>
            </a:prstGeom>
            <a:noFill/>
          </p:spPr>
          <p:txBody>
            <a:bodyPr wrap="none" rtlCol="0">
              <a:spAutoFit/>
            </a:bodyPr>
            <a:lstStyle/>
            <a:p>
              <a:r>
                <a:rPr lang="es-ES" sz="1400" dirty="0"/>
                <a:t>2. Su media también tiene distribución normal</a:t>
              </a:r>
            </a:p>
          </p:txBody>
        </p:sp>
      </p:grpSp>
      <p:grpSp>
        <p:nvGrpSpPr>
          <p:cNvPr id="45" name="Grupo 44">
            <a:extLst>
              <a:ext uri="{FF2B5EF4-FFF2-40B4-BE49-F238E27FC236}">
                <a16:creationId xmlns:a16="http://schemas.microsoft.com/office/drawing/2014/main" id="{349D5E39-9ABD-477C-811D-10C716BDF9DA}"/>
              </a:ext>
            </a:extLst>
          </p:cNvPr>
          <p:cNvGrpSpPr/>
          <p:nvPr/>
        </p:nvGrpSpPr>
        <p:grpSpPr>
          <a:xfrm>
            <a:off x="6615591" y="1609206"/>
            <a:ext cx="2015237" cy="1443884"/>
            <a:chOff x="1143000" y="4189903"/>
            <a:chExt cx="2853437" cy="2189233"/>
          </a:xfrm>
        </p:grpSpPr>
        <p:sp>
          <p:nvSpPr>
            <p:cNvPr id="32" name="Line 36">
              <a:extLst>
                <a:ext uri="{FF2B5EF4-FFF2-40B4-BE49-F238E27FC236}">
                  <a16:creationId xmlns:a16="http://schemas.microsoft.com/office/drawing/2014/main" id="{42FFA51F-DEAA-4642-B633-9B0B156FCAB6}"/>
                </a:ext>
              </a:extLst>
            </p:cNvPr>
            <p:cNvSpPr>
              <a:spLocks noChangeShapeType="1"/>
            </p:cNvSpPr>
            <p:nvPr/>
          </p:nvSpPr>
          <p:spPr bwMode="auto">
            <a:xfrm flipV="1">
              <a:off x="1143000" y="6373051"/>
              <a:ext cx="2853437" cy="6085"/>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40" name="Freeform 34">
              <a:extLst>
                <a:ext uri="{FF2B5EF4-FFF2-40B4-BE49-F238E27FC236}">
                  <a16:creationId xmlns:a16="http://schemas.microsoft.com/office/drawing/2014/main" id="{B7AEB1CA-338A-4B91-9962-404CD04E8ED5}"/>
                </a:ext>
              </a:extLst>
            </p:cNvPr>
            <p:cNvSpPr>
              <a:spLocks/>
            </p:cNvSpPr>
            <p:nvPr/>
          </p:nvSpPr>
          <p:spPr bwMode="auto">
            <a:xfrm>
              <a:off x="1293368" y="5769465"/>
              <a:ext cx="2552701" cy="602390"/>
            </a:xfrm>
            <a:custGeom>
              <a:avLst/>
              <a:gdLst>
                <a:gd name="T0" fmla="*/ 0 w 9513"/>
                <a:gd name="T1" fmla="*/ 67820 h 5006"/>
                <a:gd name="T2" fmla="*/ 10840 w 9513"/>
                <a:gd name="T3" fmla="*/ 65734 h 5006"/>
                <a:gd name="T4" fmla="*/ 12969 w 9513"/>
                <a:gd name="T5" fmla="*/ 64948 h 5006"/>
                <a:gd name="T6" fmla="*/ 15331 w 9513"/>
                <a:gd name="T7" fmla="*/ 63620 h 5006"/>
                <a:gd name="T8" fmla="*/ 17202 w 9513"/>
                <a:gd name="T9" fmla="*/ 62591 h 5006"/>
                <a:gd name="T10" fmla="*/ 19577 w 9513"/>
                <a:gd name="T11" fmla="*/ 61006 h 5006"/>
                <a:gd name="T12" fmla="*/ 21679 w 9513"/>
                <a:gd name="T13" fmla="*/ 59448 h 5006"/>
                <a:gd name="T14" fmla="*/ 23809 w 9513"/>
                <a:gd name="T15" fmla="*/ 57361 h 5006"/>
                <a:gd name="T16" fmla="*/ 25911 w 9513"/>
                <a:gd name="T17" fmla="*/ 54990 h 5006"/>
                <a:gd name="T18" fmla="*/ 28041 w 9513"/>
                <a:gd name="T19" fmla="*/ 52362 h 5006"/>
                <a:gd name="T20" fmla="*/ 30403 w 9513"/>
                <a:gd name="T21" fmla="*/ 49490 h 5006"/>
                <a:gd name="T22" fmla="*/ 32533 w 9513"/>
                <a:gd name="T23" fmla="*/ 46347 h 5006"/>
                <a:gd name="T24" fmla="*/ 34649 w 9513"/>
                <a:gd name="T25" fmla="*/ 42946 h 5006"/>
                <a:gd name="T26" fmla="*/ 36765 w 9513"/>
                <a:gd name="T27" fmla="*/ 39275 h 5006"/>
                <a:gd name="T28" fmla="*/ 39140 w 9513"/>
                <a:gd name="T29" fmla="*/ 35346 h 5006"/>
                <a:gd name="T30" fmla="*/ 40997 w 9513"/>
                <a:gd name="T31" fmla="*/ 31160 h 5006"/>
                <a:gd name="T32" fmla="*/ 43372 w 9513"/>
                <a:gd name="T33" fmla="*/ 26960 h 5006"/>
                <a:gd name="T34" fmla="*/ 45502 w 9513"/>
                <a:gd name="T35" fmla="*/ 23045 h 5006"/>
                <a:gd name="T36" fmla="*/ 47605 w 9513"/>
                <a:gd name="T37" fmla="*/ 18845 h 5006"/>
                <a:gd name="T38" fmla="*/ 49734 w 9513"/>
                <a:gd name="T39" fmla="*/ 14930 h 5006"/>
                <a:gd name="T40" fmla="*/ 51837 w 9513"/>
                <a:gd name="T41" fmla="*/ 11258 h 5006"/>
                <a:gd name="T42" fmla="*/ 54212 w 9513"/>
                <a:gd name="T43" fmla="*/ 8115 h 5006"/>
                <a:gd name="T44" fmla="*/ 56342 w 9513"/>
                <a:gd name="T45" fmla="*/ 5229 h 5006"/>
                <a:gd name="T46" fmla="*/ 58444 w 9513"/>
                <a:gd name="T47" fmla="*/ 3143 h 5006"/>
                <a:gd name="T48" fmla="*/ 60574 w 9513"/>
                <a:gd name="T49" fmla="*/ 1301 h 5006"/>
                <a:gd name="T50" fmla="*/ 62949 w 9513"/>
                <a:gd name="T51" fmla="*/ 528 h 5006"/>
                <a:gd name="T52" fmla="*/ 65066 w 9513"/>
                <a:gd name="T53" fmla="*/ 0 h 5006"/>
                <a:gd name="T54" fmla="*/ 67182 w 9513"/>
                <a:gd name="T55" fmla="*/ 528 h 5006"/>
                <a:gd name="T56" fmla="*/ 69298 w 9513"/>
                <a:gd name="T57" fmla="*/ 1301 h 5006"/>
                <a:gd name="T58" fmla="*/ 71414 w 9513"/>
                <a:gd name="T59" fmla="*/ 3143 h 5006"/>
                <a:gd name="T60" fmla="*/ 73530 w 9513"/>
                <a:gd name="T61" fmla="*/ 5229 h 5006"/>
                <a:gd name="T62" fmla="*/ 75905 w 9513"/>
                <a:gd name="T63" fmla="*/ 8115 h 5006"/>
                <a:gd name="T64" fmla="*/ 78035 w 9513"/>
                <a:gd name="T65" fmla="*/ 11258 h 5006"/>
                <a:gd name="T66" fmla="*/ 80137 w 9513"/>
                <a:gd name="T67" fmla="*/ 14930 h 5006"/>
                <a:gd name="T68" fmla="*/ 82267 w 9513"/>
                <a:gd name="T69" fmla="*/ 18845 h 5006"/>
                <a:gd name="T70" fmla="*/ 84369 w 9513"/>
                <a:gd name="T71" fmla="*/ 23045 h 5006"/>
                <a:gd name="T72" fmla="*/ 86758 w 9513"/>
                <a:gd name="T73" fmla="*/ 26960 h 5006"/>
                <a:gd name="T74" fmla="*/ 88875 w 9513"/>
                <a:gd name="T75" fmla="*/ 31160 h 5006"/>
                <a:gd name="T76" fmla="*/ 90977 w 9513"/>
                <a:gd name="T77" fmla="*/ 35346 h 5006"/>
                <a:gd name="T78" fmla="*/ 93107 w 9513"/>
                <a:gd name="T79" fmla="*/ 39275 h 5006"/>
                <a:gd name="T80" fmla="*/ 95209 w 9513"/>
                <a:gd name="T81" fmla="*/ 42946 h 5006"/>
                <a:gd name="T82" fmla="*/ 97339 w 9513"/>
                <a:gd name="T83" fmla="*/ 46347 h 5006"/>
                <a:gd name="T84" fmla="*/ 99714 w 9513"/>
                <a:gd name="T85" fmla="*/ 49490 h 5006"/>
                <a:gd name="T86" fmla="*/ 101830 w 9513"/>
                <a:gd name="T87" fmla="*/ 52362 h 5006"/>
                <a:gd name="T88" fmla="*/ 103946 w 9513"/>
                <a:gd name="T89" fmla="*/ 54990 h 5006"/>
                <a:gd name="T90" fmla="*/ 106062 w 9513"/>
                <a:gd name="T91" fmla="*/ 57361 h 5006"/>
                <a:gd name="T92" fmla="*/ 108179 w 9513"/>
                <a:gd name="T93" fmla="*/ 59448 h 5006"/>
                <a:gd name="T94" fmla="*/ 110568 w 9513"/>
                <a:gd name="T95" fmla="*/ 61006 h 5006"/>
                <a:gd name="T96" fmla="*/ 112670 w 9513"/>
                <a:gd name="T97" fmla="*/ 62591 h 5006"/>
                <a:gd name="T98" fmla="*/ 114800 w 9513"/>
                <a:gd name="T99" fmla="*/ 63620 h 5006"/>
                <a:gd name="T100" fmla="*/ 116902 w 9513"/>
                <a:gd name="T101" fmla="*/ 64948 h 5006"/>
                <a:gd name="T102" fmla="*/ 119032 w 9513"/>
                <a:gd name="T103" fmla="*/ 65734 h 5006"/>
                <a:gd name="T104" fmla="*/ 121134 w 9513"/>
                <a:gd name="T105" fmla="*/ 66262 h 5006"/>
                <a:gd name="T106" fmla="*/ 123537 w 9513"/>
                <a:gd name="T107" fmla="*/ 66777 h 5006"/>
                <a:gd name="T108" fmla="*/ 125640 w 9513"/>
                <a:gd name="T109" fmla="*/ 67292 h 5006"/>
                <a:gd name="T110" fmla="*/ 127742 w 9513"/>
                <a:gd name="T111" fmla="*/ 67563 h 5006"/>
                <a:gd name="T112" fmla="*/ 129872 w 9513"/>
                <a:gd name="T113" fmla="*/ 67820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941"/>
              </a:srgbClr>
            </a:solidFill>
            <a:ln w="11176">
              <a:solidFill>
                <a:srgbClr val="C00000"/>
              </a:solidFill>
              <a:prstDash val="solid"/>
              <a:round/>
              <a:headEnd/>
              <a:tailEnd/>
            </a:ln>
          </p:spPr>
          <p:txBody>
            <a:bodyPr/>
            <a:lstStyle/>
            <a:p>
              <a:endParaRPr lang="es-ES" dirty="0"/>
            </a:p>
          </p:txBody>
        </p:sp>
        <p:sp>
          <p:nvSpPr>
            <p:cNvPr id="44" name="Freeform 34">
              <a:extLst>
                <a:ext uri="{FF2B5EF4-FFF2-40B4-BE49-F238E27FC236}">
                  <a16:creationId xmlns:a16="http://schemas.microsoft.com/office/drawing/2014/main" id="{620A5317-5FB4-4F29-BA57-CEC0527C4416}"/>
                </a:ext>
              </a:extLst>
            </p:cNvPr>
            <p:cNvSpPr>
              <a:spLocks/>
            </p:cNvSpPr>
            <p:nvPr/>
          </p:nvSpPr>
          <p:spPr bwMode="auto">
            <a:xfrm>
              <a:off x="2311483" y="4189903"/>
              <a:ext cx="516471" cy="2181952"/>
            </a:xfrm>
            <a:custGeom>
              <a:avLst/>
              <a:gdLst>
                <a:gd name="T0" fmla="*/ 0 w 9513"/>
                <a:gd name="T1" fmla="*/ 67820 h 5006"/>
                <a:gd name="T2" fmla="*/ 10840 w 9513"/>
                <a:gd name="T3" fmla="*/ 65734 h 5006"/>
                <a:gd name="T4" fmla="*/ 12969 w 9513"/>
                <a:gd name="T5" fmla="*/ 64948 h 5006"/>
                <a:gd name="T6" fmla="*/ 15331 w 9513"/>
                <a:gd name="T7" fmla="*/ 63620 h 5006"/>
                <a:gd name="T8" fmla="*/ 17202 w 9513"/>
                <a:gd name="T9" fmla="*/ 62591 h 5006"/>
                <a:gd name="T10" fmla="*/ 19577 w 9513"/>
                <a:gd name="T11" fmla="*/ 61006 h 5006"/>
                <a:gd name="T12" fmla="*/ 21679 w 9513"/>
                <a:gd name="T13" fmla="*/ 59448 h 5006"/>
                <a:gd name="T14" fmla="*/ 23809 w 9513"/>
                <a:gd name="T15" fmla="*/ 57361 h 5006"/>
                <a:gd name="T16" fmla="*/ 25911 w 9513"/>
                <a:gd name="T17" fmla="*/ 54990 h 5006"/>
                <a:gd name="T18" fmla="*/ 28041 w 9513"/>
                <a:gd name="T19" fmla="*/ 52362 h 5006"/>
                <a:gd name="T20" fmla="*/ 30403 w 9513"/>
                <a:gd name="T21" fmla="*/ 49490 h 5006"/>
                <a:gd name="T22" fmla="*/ 32533 w 9513"/>
                <a:gd name="T23" fmla="*/ 46347 h 5006"/>
                <a:gd name="T24" fmla="*/ 34649 w 9513"/>
                <a:gd name="T25" fmla="*/ 42946 h 5006"/>
                <a:gd name="T26" fmla="*/ 36765 w 9513"/>
                <a:gd name="T27" fmla="*/ 39275 h 5006"/>
                <a:gd name="T28" fmla="*/ 39140 w 9513"/>
                <a:gd name="T29" fmla="*/ 35346 h 5006"/>
                <a:gd name="T30" fmla="*/ 40997 w 9513"/>
                <a:gd name="T31" fmla="*/ 31160 h 5006"/>
                <a:gd name="T32" fmla="*/ 43372 w 9513"/>
                <a:gd name="T33" fmla="*/ 26960 h 5006"/>
                <a:gd name="T34" fmla="*/ 45502 w 9513"/>
                <a:gd name="T35" fmla="*/ 23045 h 5006"/>
                <a:gd name="T36" fmla="*/ 47605 w 9513"/>
                <a:gd name="T37" fmla="*/ 18845 h 5006"/>
                <a:gd name="T38" fmla="*/ 49734 w 9513"/>
                <a:gd name="T39" fmla="*/ 14930 h 5006"/>
                <a:gd name="T40" fmla="*/ 51837 w 9513"/>
                <a:gd name="T41" fmla="*/ 11258 h 5006"/>
                <a:gd name="T42" fmla="*/ 54212 w 9513"/>
                <a:gd name="T43" fmla="*/ 8115 h 5006"/>
                <a:gd name="T44" fmla="*/ 56342 w 9513"/>
                <a:gd name="T45" fmla="*/ 5229 h 5006"/>
                <a:gd name="T46" fmla="*/ 58444 w 9513"/>
                <a:gd name="T47" fmla="*/ 3143 h 5006"/>
                <a:gd name="T48" fmla="*/ 60574 w 9513"/>
                <a:gd name="T49" fmla="*/ 1301 h 5006"/>
                <a:gd name="T50" fmla="*/ 62949 w 9513"/>
                <a:gd name="T51" fmla="*/ 528 h 5006"/>
                <a:gd name="T52" fmla="*/ 65066 w 9513"/>
                <a:gd name="T53" fmla="*/ 0 h 5006"/>
                <a:gd name="T54" fmla="*/ 67182 w 9513"/>
                <a:gd name="T55" fmla="*/ 528 h 5006"/>
                <a:gd name="T56" fmla="*/ 69298 w 9513"/>
                <a:gd name="T57" fmla="*/ 1301 h 5006"/>
                <a:gd name="T58" fmla="*/ 71414 w 9513"/>
                <a:gd name="T59" fmla="*/ 3143 h 5006"/>
                <a:gd name="T60" fmla="*/ 73530 w 9513"/>
                <a:gd name="T61" fmla="*/ 5229 h 5006"/>
                <a:gd name="T62" fmla="*/ 75905 w 9513"/>
                <a:gd name="T63" fmla="*/ 8115 h 5006"/>
                <a:gd name="T64" fmla="*/ 78035 w 9513"/>
                <a:gd name="T65" fmla="*/ 11258 h 5006"/>
                <a:gd name="T66" fmla="*/ 80137 w 9513"/>
                <a:gd name="T67" fmla="*/ 14930 h 5006"/>
                <a:gd name="T68" fmla="*/ 82267 w 9513"/>
                <a:gd name="T69" fmla="*/ 18845 h 5006"/>
                <a:gd name="T70" fmla="*/ 84369 w 9513"/>
                <a:gd name="T71" fmla="*/ 23045 h 5006"/>
                <a:gd name="T72" fmla="*/ 86758 w 9513"/>
                <a:gd name="T73" fmla="*/ 26960 h 5006"/>
                <a:gd name="T74" fmla="*/ 88875 w 9513"/>
                <a:gd name="T75" fmla="*/ 31160 h 5006"/>
                <a:gd name="T76" fmla="*/ 90977 w 9513"/>
                <a:gd name="T77" fmla="*/ 35346 h 5006"/>
                <a:gd name="T78" fmla="*/ 93107 w 9513"/>
                <a:gd name="T79" fmla="*/ 39275 h 5006"/>
                <a:gd name="T80" fmla="*/ 95209 w 9513"/>
                <a:gd name="T81" fmla="*/ 42946 h 5006"/>
                <a:gd name="T82" fmla="*/ 97339 w 9513"/>
                <a:gd name="T83" fmla="*/ 46347 h 5006"/>
                <a:gd name="T84" fmla="*/ 99714 w 9513"/>
                <a:gd name="T85" fmla="*/ 49490 h 5006"/>
                <a:gd name="T86" fmla="*/ 101830 w 9513"/>
                <a:gd name="T87" fmla="*/ 52362 h 5006"/>
                <a:gd name="T88" fmla="*/ 103946 w 9513"/>
                <a:gd name="T89" fmla="*/ 54990 h 5006"/>
                <a:gd name="T90" fmla="*/ 106062 w 9513"/>
                <a:gd name="T91" fmla="*/ 57361 h 5006"/>
                <a:gd name="T92" fmla="*/ 108179 w 9513"/>
                <a:gd name="T93" fmla="*/ 59448 h 5006"/>
                <a:gd name="T94" fmla="*/ 110568 w 9513"/>
                <a:gd name="T95" fmla="*/ 61006 h 5006"/>
                <a:gd name="T96" fmla="*/ 112670 w 9513"/>
                <a:gd name="T97" fmla="*/ 62591 h 5006"/>
                <a:gd name="T98" fmla="*/ 114800 w 9513"/>
                <a:gd name="T99" fmla="*/ 63620 h 5006"/>
                <a:gd name="T100" fmla="*/ 116902 w 9513"/>
                <a:gd name="T101" fmla="*/ 64948 h 5006"/>
                <a:gd name="T102" fmla="*/ 119032 w 9513"/>
                <a:gd name="T103" fmla="*/ 65734 h 5006"/>
                <a:gd name="T104" fmla="*/ 121134 w 9513"/>
                <a:gd name="T105" fmla="*/ 66262 h 5006"/>
                <a:gd name="T106" fmla="*/ 123537 w 9513"/>
                <a:gd name="T107" fmla="*/ 66777 h 5006"/>
                <a:gd name="T108" fmla="*/ 125640 w 9513"/>
                <a:gd name="T109" fmla="*/ 67292 h 5006"/>
                <a:gd name="T110" fmla="*/ 127742 w 9513"/>
                <a:gd name="T111" fmla="*/ 67563 h 5006"/>
                <a:gd name="T112" fmla="*/ 129872 w 9513"/>
                <a:gd name="T113" fmla="*/ 67820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941"/>
              </a:srgbClr>
            </a:solidFill>
            <a:ln w="11176">
              <a:solidFill>
                <a:schemeClr val="accent1">
                  <a:lumMod val="25000"/>
                </a:schemeClr>
              </a:solidFill>
              <a:prstDash val="solid"/>
              <a:round/>
              <a:headEnd/>
              <a:tailEnd/>
            </a:ln>
          </p:spPr>
          <p:txBody>
            <a:bodyPr/>
            <a:lstStyle/>
            <a:p>
              <a:endParaRPr lang="es-ES" dirty="0"/>
            </a:p>
          </p:txBody>
        </p:sp>
      </p:grpSp>
      <p:graphicFrame>
        <p:nvGraphicFramePr>
          <p:cNvPr id="48" name="Objeto 47">
            <a:extLst>
              <a:ext uri="{FF2B5EF4-FFF2-40B4-BE49-F238E27FC236}">
                <a16:creationId xmlns:a16="http://schemas.microsoft.com/office/drawing/2014/main" id="{DC8BBBF2-2193-4242-A418-D815A3C9B59D}"/>
              </a:ext>
            </a:extLst>
          </p:cNvPr>
          <p:cNvGraphicFramePr>
            <a:graphicFrameLocks noChangeAspect="1"/>
          </p:cNvGraphicFramePr>
          <p:nvPr>
            <p:extLst>
              <p:ext uri="{D42A27DB-BD31-4B8C-83A1-F6EECF244321}">
                <p14:modId xmlns:p14="http://schemas.microsoft.com/office/powerpoint/2010/main" val="999141246"/>
              </p:ext>
            </p:extLst>
          </p:nvPr>
        </p:nvGraphicFramePr>
        <p:xfrm>
          <a:off x="7861005" y="2197100"/>
          <a:ext cx="139700" cy="165100"/>
        </p:xfrm>
        <a:graphic>
          <a:graphicData uri="http://schemas.openxmlformats.org/presentationml/2006/ole">
            <mc:AlternateContent xmlns:mc="http://schemas.openxmlformats.org/markup-compatibility/2006">
              <mc:Choice xmlns:v="urn:schemas-microsoft-com:vml" Requires="v">
                <p:oleObj name="Equation" r:id="rId13" imgW="139680" imgH="164880" progId="Equation.DSMT4">
                  <p:embed/>
                </p:oleObj>
              </mc:Choice>
              <mc:Fallback>
                <p:oleObj name="Equation" r:id="rId13" imgW="139680" imgH="164880" progId="Equation.DSMT4">
                  <p:embed/>
                  <p:pic>
                    <p:nvPicPr>
                      <p:cNvPr id="0" name=""/>
                      <p:cNvPicPr/>
                      <p:nvPr/>
                    </p:nvPicPr>
                    <p:blipFill>
                      <a:blip r:embed="rId14"/>
                      <a:stretch>
                        <a:fillRect/>
                      </a:stretch>
                    </p:blipFill>
                    <p:spPr>
                      <a:xfrm>
                        <a:off x="7861005" y="2197100"/>
                        <a:ext cx="139700" cy="165100"/>
                      </a:xfrm>
                      <a:prstGeom prst="rect">
                        <a:avLst/>
                      </a:prstGeom>
                    </p:spPr>
                  </p:pic>
                </p:oleObj>
              </mc:Fallback>
            </mc:AlternateContent>
          </a:graphicData>
        </a:graphic>
      </p:graphicFrame>
      <p:sp>
        <p:nvSpPr>
          <p:cNvPr id="49" name="CuadroTexto 48">
            <a:extLst>
              <a:ext uri="{FF2B5EF4-FFF2-40B4-BE49-F238E27FC236}">
                <a16:creationId xmlns:a16="http://schemas.microsoft.com/office/drawing/2014/main" id="{7C3511AA-5B20-4231-BC61-80E7C2D3ED78}"/>
              </a:ext>
            </a:extLst>
          </p:cNvPr>
          <p:cNvSpPr txBox="1"/>
          <p:nvPr/>
        </p:nvSpPr>
        <p:spPr>
          <a:xfrm>
            <a:off x="6353933" y="2374552"/>
            <a:ext cx="735710" cy="461665"/>
          </a:xfrm>
          <a:prstGeom prst="rect">
            <a:avLst/>
          </a:prstGeom>
          <a:noFill/>
        </p:spPr>
        <p:txBody>
          <a:bodyPr wrap="square" rtlCol="0">
            <a:spAutoFit/>
          </a:bodyPr>
          <a:lstStyle/>
          <a:p>
            <a:pPr algn="r"/>
            <a:r>
              <a:rPr lang="es-ES" sz="800" dirty="0"/>
              <a:t>Distribución de la variable</a:t>
            </a:r>
          </a:p>
        </p:txBody>
      </p:sp>
      <p:sp>
        <p:nvSpPr>
          <p:cNvPr id="50" name="CuadroTexto 49">
            <a:extLst>
              <a:ext uri="{FF2B5EF4-FFF2-40B4-BE49-F238E27FC236}">
                <a16:creationId xmlns:a16="http://schemas.microsoft.com/office/drawing/2014/main" id="{665305B1-81FC-4A50-8B62-648CA3F829D9}"/>
              </a:ext>
            </a:extLst>
          </p:cNvPr>
          <p:cNvSpPr txBox="1"/>
          <p:nvPr/>
        </p:nvSpPr>
        <p:spPr>
          <a:xfrm>
            <a:off x="7785502" y="1628803"/>
            <a:ext cx="735710" cy="584775"/>
          </a:xfrm>
          <a:prstGeom prst="rect">
            <a:avLst/>
          </a:prstGeom>
          <a:noFill/>
        </p:spPr>
        <p:txBody>
          <a:bodyPr wrap="square" rtlCol="0">
            <a:spAutoFit/>
          </a:bodyPr>
          <a:lstStyle/>
          <a:p>
            <a:r>
              <a:rPr lang="es-ES" sz="800" dirty="0"/>
              <a:t>Distribución de la media de la variable</a:t>
            </a:r>
          </a:p>
        </p:txBody>
      </p:sp>
      <p:graphicFrame>
        <p:nvGraphicFramePr>
          <p:cNvPr id="54" name="Objeto 53">
            <a:extLst>
              <a:ext uri="{FF2B5EF4-FFF2-40B4-BE49-F238E27FC236}">
                <a16:creationId xmlns:a16="http://schemas.microsoft.com/office/drawing/2014/main" id="{7C0CEC23-E2A5-40DB-BE8B-C6212B1F5AD6}"/>
              </a:ext>
            </a:extLst>
          </p:cNvPr>
          <p:cNvGraphicFramePr>
            <a:graphicFrameLocks noChangeAspect="1"/>
          </p:cNvGraphicFramePr>
          <p:nvPr>
            <p:extLst>
              <p:ext uri="{D42A27DB-BD31-4B8C-83A1-F6EECF244321}">
                <p14:modId xmlns:p14="http://schemas.microsoft.com/office/powerpoint/2010/main" val="2720397123"/>
              </p:ext>
            </p:extLst>
          </p:nvPr>
        </p:nvGraphicFramePr>
        <p:xfrm>
          <a:off x="4805995" y="1717684"/>
          <a:ext cx="139700" cy="272752"/>
        </p:xfrm>
        <a:graphic>
          <a:graphicData uri="http://schemas.openxmlformats.org/presentationml/2006/ole">
            <mc:AlternateContent xmlns:mc="http://schemas.openxmlformats.org/markup-compatibility/2006">
              <mc:Choice xmlns:v="urn:schemas-microsoft-com:vml" Requires="v">
                <p:oleObj name="Equation" r:id="rId6" imgW="139680" imgH="203040" progId="Equation.DSMT4">
                  <p:embed/>
                </p:oleObj>
              </mc:Choice>
              <mc:Fallback>
                <p:oleObj name="Equation" r:id="rId6" imgW="139680" imgH="203040" progId="Equation.DSMT4">
                  <p:embed/>
                  <p:pic>
                    <p:nvPicPr>
                      <p:cNvPr id="14" name="Objeto 13">
                        <a:extLst>
                          <a:ext uri="{FF2B5EF4-FFF2-40B4-BE49-F238E27FC236}">
                            <a16:creationId xmlns:a16="http://schemas.microsoft.com/office/drawing/2014/main" id="{8AE83830-8A94-41B3-9255-D975137C0C55}"/>
                          </a:ext>
                        </a:extLst>
                      </p:cNvPr>
                      <p:cNvPicPr/>
                      <p:nvPr/>
                    </p:nvPicPr>
                    <p:blipFill>
                      <a:blip r:embed="rId7"/>
                      <a:stretch>
                        <a:fillRect/>
                      </a:stretch>
                    </p:blipFill>
                    <p:spPr>
                      <a:xfrm>
                        <a:off x="4805995" y="1717684"/>
                        <a:ext cx="139700" cy="272752"/>
                      </a:xfrm>
                      <a:prstGeom prst="rect">
                        <a:avLst/>
                      </a:prstGeom>
                    </p:spPr>
                  </p:pic>
                </p:oleObj>
              </mc:Fallback>
            </mc:AlternateContent>
          </a:graphicData>
        </a:graphic>
      </p:graphicFrame>
      <p:sp>
        <p:nvSpPr>
          <p:cNvPr id="55" name="CuadroTexto 54">
            <a:extLst>
              <a:ext uri="{FF2B5EF4-FFF2-40B4-BE49-F238E27FC236}">
                <a16:creationId xmlns:a16="http://schemas.microsoft.com/office/drawing/2014/main" id="{FB3C0D27-E223-4582-93AC-78E6D84AA2F9}"/>
              </a:ext>
            </a:extLst>
          </p:cNvPr>
          <p:cNvSpPr txBox="1"/>
          <p:nvPr/>
        </p:nvSpPr>
        <p:spPr>
          <a:xfrm>
            <a:off x="237040" y="2819400"/>
            <a:ext cx="4544834" cy="276999"/>
          </a:xfrm>
          <a:prstGeom prst="rect">
            <a:avLst/>
          </a:prstGeom>
          <a:noFill/>
        </p:spPr>
        <p:txBody>
          <a:bodyPr wrap="none" rtlCol="0">
            <a:spAutoFit/>
          </a:bodyPr>
          <a:lstStyle/>
          <a:p>
            <a:r>
              <a:rPr lang="es-ES" dirty="0">
                <a:solidFill>
                  <a:schemeClr val="tx1">
                    <a:lumMod val="50000"/>
                    <a:lumOff val="50000"/>
                  </a:schemeClr>
                </a:solidFill>
              </a:rPr>
              <a:t>Ahora interviene la </a:t>
            </a:r>
            <a:r>
              <a:rPr lang="es-ES" b="1" dirty="0">
                <a:solidFill>
                  <a:schemeClr val="tx1">
                    <a:lumMod val="50000"/>
                    <a:lumOff val="50000"/>
                  </a:schemeClr>
                </a:solidFill>
              </a:rPr>
              <a:t>información dada por la hipótesis nula H</a:t>
            </a:r>
            <a:r>
              <a:rPr lang="es-ES" b="1" baseline="-25000" dirty="0">
                <a:solidFill>
                  <a:schemeClr val="tx1">
                    <a:lumMod val="50000"/>
                    <a:lumOff val="50000"/>
                  </a:schemeClr>
                </a:solidFill>
              </a:rPr>
              <a:t>0</a:t>
            </a:r>
          </a:p>
        </p:txBody>
      </p:sp>
      <p:grpSp>
        <p:nvGrpSpPr>
          <p:cNvPr id="75" name="Grupo 74">
            <a:extLst>
              <a:ext uri="{FF2B5EF4-FFF2-40B4-BE49-F238E27FC236}">
                <a16:creationId xmlns:a16="http://schemas.microsoft.com/office/drawing/2014/main" id="{93134F4D-6B9B-4E19-A94D-CB0575D09D90}"/>
              </a:ext>
            </a:extLst>
          </p:cNvPr>
          <p:cNvGrpSpPr/>
          <p:nvPr/>
        </p:nvGrpSpPr>
        <p:grpSpPr>
          <a:xfrm>
            <a:off x="293264" y="3048000"/>
            <a:ext cx="8221171" cy="608013"/>
            <a:chOff x="541828" y="3948392"/>
            <a:chExt cx="8221171" cy="608013"/>
          </a:xfrm>
        </p:grpSpPr>
        <p:grpSp>
          <p:nvGrpSpPr>
            <p:cNvPr id="59" name="Grupo 58">
              <a:extLst>
                <a:ext uri="{FF2B5EF4-FFF2-40B4-BE49-F238E27FC236}">
                  <a16:creationId xmlns:a16="http://schemas.microsoft.com/office/drawing/2014/main" id="{8FED3464-C03A-47FF-AE90-72C48C037410}"/>
                </a:ext>
              </a:extLst>
            </p:cNvPr>
            <p:cNvGrpSpPr/>
            <p:nvPr/>
          </p:nvGrpSpPr>
          <p:grpSpPr>
            <a:xfrm>
              <a:off x="541828" y="4085115"/>
              <a:ext cx="2065933" cy="307777"/>
              <a:chOff x="541828" y="4038479"/>
              <a:chExt cx="2065933" cy="307777"/>
            </a:xfrm>
          </p:grpSpPr>
          <p:sp>
            <p:nvSpPr>
              <p:cNvPr id="56" name="CuadroTexto 55">
                <a:extLst>
                  <a:ext uri="{FF2B5EF4-FFF2-40B4-BE49-F238E27FC236}">
                    <a16:creationId xmlns:a16="http://schemas.microsoft.com/office/drawing/2014/main" id="{C421A6F5-25AB-4A98-8A5C-62A6AD79F3BE}"/>
                  </a:ext>
                </a:extLst>
              </p:cNvPr>
              <p:cNvSpPr txBox="1"/>
              <p:nvPr/>
            </p:nvSpPr>
            <p:spPr>
              <a:xfrm>
                <a:off x="541828" y="4038479"/>
                <a:ext cx="1500732" cy="307777"/>
              </a:xfrm>
              <a:prstGeom prst="rect">
                <a:avLst/>
              </a:prstGeom>
              <a:noFill/>
            </p:spPr>
            <p:txBody>
              <a:bodyPr wrap="none" rtlCol="0">
                <a:spAutoFit/>
              </a:bodyPr>
              <a:lstStyle/>
              <a:p>
                <a:r>
                  <a:rPr lang="es-ES" sz="1400" dirty="0"/>
                  <a:t>4. Si H</a:t>
                </a:r>
                <a:r>
                  <a:rPr lang="es-ES" sz="1400" baseline="-25000" dirty="0"/>
                  <a:t>0 </a:t>
                </a:r>
                <a:r>
                  <a:rPr lang="es-ES" sz="1400" dirty="0"/>
                  <a:t>es cierta</a:t>
                </a:r>
              </a:p>
            </p:txBody>
          </p:sp>
          <p:graphicFrame>
            <p:nvGraphicFramePr>
              <p:cNvPr id="57" name="Object 29">
                <a:extLst>
                  <a:ext uri="{FF2B5EF4-FFF2-40B4-BE49-F238E27FC236}">
                    <a16:creationId xmlns:a16="http://schemas.microsoft.com/office/drawing/2014/main" id="{0B6E6B4B-8E9F-4C5E-91B4-711B41761D77}"/>
                  </a:ext>
                </a:extLst>
              </p:cNvPr>
              <p:cNvGraphicFramePr>
                <a:graphicFrameLocks noChangeAspect="1"/>
              </p:cNvGraphicFramePr>
              <p:nvPr>
                <p:extLst>
                  <p:ext uri="{D42A27DB-BD31-4B8C-83A1-F6EECF244321}">
                    <p14:modId xmlns:p14="http://schemas.microsoft.com/office/powerpoint/2010/main" val="3536512382"/>
                  </p:ext>
                </p:extLst>
              </p:nvPr>
            </p:nvGraphicFramePr>
            <p:xfrm>
              <a:off x="2028205" y="4043919"/>
              <a:ext cx="579556" cy="296897"/>
            </p:xfrm>
            <a:graphic>
              <a:graphicData uri="http://schemas.openxmlformats.org/presentationml/2006/ole">
                <mc:AlternateContent xmlns:mc="http://schemas.openxmlformats.org/markup-compatibility/2006">
                  <mc:Choice xmlns:v="urn:schemas-microsoft-com:vml" Requires="v">
                    <p:oleObj name="Equation" r:id="rId4" imgW="469696" imgH="241195" progId="Equation.DSMT4">
                      <p:embed/>
                    </p:oleObj>
                  </mc:Choice>
                  <mc:Fallback>
                    <p:oleObj name="Equation" r:id="rId4" imgW="469696" imgH="241195" progId="Equation.DSMT4">
                      <p:embed/>
                      <p:pic>
                        <p:nvPicPr>
                          <p:cNvPr id="4136"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8205" y="4043919"/>
                            <a:ext cx="579556" cy="296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8" name="Object 29">
              <a:extLst>
                <a:ext uri="{FF2B5EF4-FFF2-40B4-BE49-F238E27FC236}">
                  <a16:creationId xmlns:a16="http://schemas.microsoft.com/office/drawing/2014/main" id="{BA50F3F3-9D61-432E-B2A4-057944F0598A}"/>
                </a:ext>
              </a:extLst>
            </p:cNvPr>
            <p:cNvGraphicFramePr>
              <a:graphicFrameLocks noChangeAspect="1"/>
            </p:cNvGraphicFramePr>
            <p:nvPr>
              <p:extLst>
                <p:ext uri="{D42A27DB-BD31-4B8C-83A1-F6EECF244321}">
                  <p14:modId xmlns:p14="http://schemas.microsoft.com/office/powerpoint/2010/main" val="948337747"/>
                </p:ext>
              </p:extLst>
            </p:nvPr>
          </p:nvGraphicFramePr>
          <p:xfrm>
            <a:off x="2681288" y="3948392"/>
            <a:ext cx="1990725" cy="608013"/>
          </p:xfrm>
          <a:graphic>
            <a:graphicData uri="http://schemas.openxmlformats.org/presentationml/2006/ole">
              <mc:AlternateContent xmlns:mc="http://schemas.openxmlformats.org/markup-compatibility/2006">
                <mc:Choice xmlns:v="urn:schemas-microsoft-com:vml" Requires="v">
                  <p:oleObj name="Equation" r:id="rId15" imgW="1892160" imgH="583920" progId="Equation.DSMT4">
                    <p:embed/>
                  </p:oleObj>
                </mc:Choice>
                <mc:Fallback>
                  <p:oleObj name="Equation" r:id="rId15" imgW="1892160" imgH="583920" progId="Equation.DSMT4">
                    <p:embed/>
                    <p:pic>
                      <p:nvPicPr>
                        <p:cNvPr id="8" name="Object 29">
                          <a:extLst>
                            <a:ext uri="{FF2B5EF4-FFF2-40B4-BE49-F238E27FC236}">
                              <a16:creationId xmlns:a16="http://schemas.microsoft.com/office/drawing/2014/main" id="{5EFEE4B7-A188-417B-A7D7-A5FB7B61FBF4}"/>
                            </a:ext>
                          </a:extLst>
                        </p:cNvPr>
                        <p:cNvPicPr>
                          <a:picLocks noChangeAspect="1" noChangeArrowheads="1"/>
                        </p:cNvPicPr>
                        <p:nvPr/>
                      </p:nvPicPr>
                      <p:blipFill>
                        <a:blip r:embed="rId16"/>
                        <a:srcRect/>
                        <a:stretch>
                          <a:fillRect/>
                        </a:stretch>
                      </p:blipFill>
                      <p:spPr bwMode="auto">
                        <a:xfrm>
                          <a:off x="2681288" y="3948392"/>
                          <a:ext cx="1990725"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 name="CuadroTexto 59">
              <a:extLst>
                <a:ext uri="{FF2B5EF4-FFF2-40B4-BE49-F238E27FC236}">
                  <a16:creationId xmlns:a16="http://schemas.microsoft.com/office/drawing/2014/main" id="{7BE59E0A-7EE9-4870-993E-0F8B4E7FC532}"/>
                </a:ext>
              </a:extLst>
            </p:cNvPr>
            <p:cNvSpPr txBox="1"/>
            <p:nvPr/>
          </p:nvSpPr>
          <p:spPr>
            <a:xfrm>
              <a:off x="4745540" y="4114800"/>
              <a:ext cx="4017459" cy="307777"/>
            </a:xfrm>
            <a:prstGeom prst="rect">
              <a:avLst/>
            </a:prstGeom>
            <a:noFill/>
          </p:spPr>
          <p:txBody>
            <a:bodyPr wrap="square" rtlCol="0">
              <a:spAutoFit/>
            </a:bodyPr>
            <a:lstStyle/>
            <a:p>
              <a:r>
                <a:rPr lang="es-ES" sz="1400" dirty="0"/>
                <a:t>de este modo tenemos un criterio para decidir si </a:t>
              </a:r>
            </a:p>
          </p:txBody>
        </p:sp>
      </p:grpSp>
      <p:grpSp>
        <p:nvGrpSpPr>
          <p:cNvPr id="72" name="Grupo 71">
            <a:extLst>
              <a:ext uri="{FF2B5EF4-FFF2-40B4-BE49-F238E27FC236}">
                <a16:creationId xmlns:a16="http://schemas.microsoft.com/office/drawing/2014/main" id="{F06B2C87-C318-42F7-A2F1-F6E43C2FE883}"/>
              </a:ext>
            </a:extLst>
          </p:cNvPr>
          <p:cNvGrpSpPr/>
          <p:nvPr/>
        </p:nvGrpSpPr>
        <p:grpSpPr>
          <a:xfrm>
            <a:off x="293264" y="4087092"/>
            <a:ext cx="5257800" cy="523220"/>
            <a:chOff x="559900" y="5820326"/>
            <a:chExt cx="5257800" cy="523220"/>
          </a:xfrm>
        </p:grpSpPr>
        <p:sp>
          <p:nvSpPr>
            <p:cNvPr id="64" name="CuadroTexto 63">
              <a:extLst>
                <a:ext uri="{FF2B5EF4-FFF2-40B4-BE49-F238E27FC236}">
                  <a16:creationId xmlns:a16="http://schemas.microsoft.com/office/drawing/2014/main" id="{68C13CEC-3108-406D-B492-80D9BB93423A}"/>
                </a:ext>
              </a:extLst>
            </p:cNvPr>
            <p:cNvSpPr txBox="1"/>
            <p:nvPr/>
          </p:nvSpPr>
          <p:spPr>
            <a:xfrm>
              <a:off x="559900" y="5820326"/>
              <a:ext cx="5257800" cy="523220"/>
            </a:xfrm>
            <a:prstGeom prst="rect">
              <a:avLst/>
            </a:prstGeom>
            <a:noFill/>
          </p:spPr>
          <p:txBody>
            <a:bodyPr wrap="square" rtlCol="0">
              <a:spAutoFit/>
            </a:bodyPr>
            <a:lstStyle/>
            <a:p>
              <a:pPr marL="176213" indent="-176213">
                <a:tabLst>
                  <a:tab pos="268288" algn="l"/>
                </a:tabLst>
              </a:pPr>
              <a:r>
                <a:rPr lang="es-ES" sz="1400" dirty="0"/>
                <a:t>5. Solo falta eliminar al </a:t>
              </a:r>
              <a:r>
                <a:rPr lang="es-ES" sz="1400" i="1" dirty="0"/>
                <a:t>parámetro</a:t>
              </a:r>
              <a:r>
                <a:rPr lang="es-ES" sz="1400" dirty="0"/>
                <a:t> </a:t>
              </a:r>
              <a:r>
                <a:rPr lang="es-ES" sz="1400" i="1" dirty="0"/>
                <a:t>perturbador</a:t>
              </a:r>
              <a:r>
                <a:rPr lang="es-ES" sz="1400" dirty="0"/>
                <a:t>      (la desviación</a:t>
              </a:r>
            </a:p>
            <a:p>
              <a:pPr marL="176213" indent="-176213">
                <a:tabLst>
                  <a:tab pos="268288" algn="l"/>
                </a:tabLst>
              </a:pPr>
              <a:r>
                <a:rPr lang="es-ES" sz="1400" dirty="0"/>
                <a:t>    típica poblacional, que es desconocida)</a:t>
              </a:r>
              <a:endParaRPr lang="es-ES" sz="1400" baseline="-25000" dirty="0"/>
            </a:p>
          </p:txBody>
        </p:sp>
        <p:graphicFrame>
          <p:nvGraphicFramePr>
            <p:cNvPr id="71" name="Object 29">
              <a:extLst>
                <a:ext uri="{FF2B5EF4-FFF2-40B4-BE49-F238E27FC236}">
                  <a16:creationId xmlns:a16="http://schemas.microsoft.com/office/drawing/2014/main" id="{25C1DA22-A277-4E8A-A186-6EBEF8903F51}"/>
                </a:ext>
              </a:extLst>
            </p:cNvPr>
            <p:cNvGraphicFramePr>
              <a:graphicFrameLocks noChangeAspect="1"/>
            </p:cNvGraphicFramePr>
            <p:nvPr>
              <p:extLst>
                <p:ext uri="{D42A27DB-BD31-4B8C-83A1-F6EECF244321}">
                  <p14:modId xmlns:p14="http://schemas.microsoft.com/office/powerpoint/2010/main" val="582837703"/>
                </p:ext>
              </p:extLst>
            </p:nvPr>
          </p:nvGraphicFramePr>
          <p:xfrm>
            <a:off x="4349081" y="5908019"/>
            <a:ext cx="173038" cy="171450"/>
          </p:xfrm>
          <a:graphic>
            <a:graphicData uri="http://schemas.openxmlformats.org/presentationml/2006/ole">
              <mc:AlternateContent xmlns:mc="http://schemas.openxmlformats.org/markup-compatibility/2006">
                <mc:Choice xmlns:v="urn:schemas-microsoft-com:vml" Requires="v">
                  <p:oleObj name="Equation" r:id="rId17" imgW="164880" imgH="164880" progId="Equation.DSMT4">
                    <p:embed/>
                  </p:oleObj>
                </mc:Choice>
                <mc:Fallback>
                  <p:oleObj name="Equation" r:id="rId17" imgW="164880" imgH="164880" progId="Equation.DSMT4">
                    <p:embed/>
                    <p:pic>
                      <p:nvPicPr>
                        <p:cNvPr id="65" name="Object 29">
                          <a:extLst>
                            <a:ext uri="{FF2B5EF4-FFF2-40B4-BE49-F238E27FC236}">
                              <a16:creationId xmlns:a16="http://schemas.microsoft.com/office/drawing/2014/main" id="{A174B5D4-2AD9-48A0-84F3-4AE2EC5C6E37}"/>
                            </a:ext>
                          </a:extLst>
                        </p:cNvPr>
                        <p:cNvPicPr>
                          <a:picLocks noChangeAspect="1" noChangeArrowheads="1"/>
                        </p:cNvPicPr>
                        <p:nvPr/>
                      </p:nvPicPr>
                      <p:blipFill>
                        <a:blip r:embed="rId18"/>
                        <a:srcRect/>
                        <a:stretch>
                          <a:fillRect/>
                        </a:stretch>
                      </p:blipFill>
                      <p:spPr bwMode="auto">
                        <a:xfrm>
                          <a:off x="4349081" y="5908019"/>
                          <a:ext cx="173038"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7" name="Grupo 96">
            <a:extLst>
              <a:ext uri="{FF2B5EF4-FFF2-40B4-BE49-F238E27FC236}">
                <a16:creationId xmlns:a16="http://schemas.microsoft.com/office/drawing/2014/main" id="{51AFFD33-D552-41B9-AAC7-9AF9B2C59C13}"/>
              </a:ext>
            </a:extLst>
          </p:cNvPr>
          <p:cNvGrpSpPr/>
          <p:nvPr/>
        </p:nvGrpSpPr>
        <p:grpSpPr>
          <a:xfrm>
            <a:off x="481101" y="4590472"/>
            <a:ext cx="5210535" cy="307777"/>
            <a:chOff x="721237" y="4754420"/>
            <a:chExt cx="5210535" cy="307777"/>
          </a:xfrm>
        </p:grpSpPr>
        <p:sp>
          <p:nvSpPr>
            <p:cNvPr id="76" name="CuadroTexto 75">
              <a:extLst>
                <a:ext uri="{FF2B5EF4-FFF2-40B4-BE49-F238E27FC236}">
                  <a16:creationId xmlns:a16="http://schemas.microsoft.com/office/drawing/2014/main" id="{02790FE6-69AF-4490-9C1D-EE2413B01FA1}"/>
                </a:ext>
              </a:extLst>
            </p:cNvPr>
            <p:cNvSpPr txBox="1"/>
            <p:nvPr/>
          </p:nvSpPr>
          <p:spPr>
            <a:xfrm>
              <a:off x="721237" y="4754420"/>
              <a:ext cx="5210535" cy="307777"/>
            </a:xfrm>
            <a:prstGeom prst="rect">
              <a:avLst/>
            </a:prstGeom>
            <a:noFill/>
          </p:spPr>
          <p:txBody>
            <a:bodyPr wrap="square" rtlCol="0">
              <a:spAutoFit/>
            </a:bodyPr>
            <a:lstStyle/>
            <a:p>
              <a:r>
                <a:rPr lang="es-ES" sz="1400" dirty="0"/>
                <a:t>Si sustituimos       por su estimador puntual            obtenemos</a:t>
              </a:r>
              <a:r>
                <a:rPr lang="es-ES" sz="1400" baseline="30000" dirty="0"/>
                <a:t>*</a:t>
              </a:r>
              <a:r>
                <a:rPr lang="es-ES" sz="1400" dirty="0"/>
                <a:t> </a:t>
              </a:r>
              <a:endParaRPr lang="es-ES" sz="1400" baseline="-25000" dirty="0"/>
            </a:p>
          </p:txBody>
        </p:sp>
        <p:graphicFrame>
          <p:nvGraphicFramePr>
            <p:cNvPr id="77" name="Object 29">
              <a:extLst>
                <a:ext uri="{FF2B5EF4-FFF2-40B4-BE49-F238E27FC236}">
                  <a16:creationId xmlns:a16="http://schemas.microsoft.com/office/drawing/2014/main" id="{46DC63BA-A0B3-45BC-A481-46C945FF504D}"/>
                </a:ext>
              </a:extLst>
            </p:cNvPr>
            <p:cNvGraphicFramePr>
              <a:graphicFrameLocks noChangeAspect="1"/>
            </p:cNvGraphicFramePr>
            <p:nvPr>
              <p:extLst>
                <p:ext uri="{D42A27DB-BD31-4B8C-83A1-F6EECF244321}">
                  <p14:modId xmlns:p14="http://schemas.microsoft.com/office/powerpoint/2010/main" val="1291927845"/>
                </p:ext>
              </p:extLst>
            </p:nvPr>
          </p:nvGraphicFramePr>
          <p:xfrm>
            <a:off x="1965914" y="4848777"/>
            <a:ext cx="173038" cy="171450"/>
          </p:xfrm>
          <a:graphic>
            <a:graphicData uri="http://schemas.openxmlformats.org/presentationml/2006/ole">
              <mc:AlternateContent xmlns:mc="http://schemas.openxmlformats.org/markup-compatibility/2006">
                <mc:Choice xmlns:v="urn:schemas-microsoft-com:vml" Requires="v">
                  <p:oleObj name="Equation" r:id="rId19" imgW="164880" imgH="164880" progId="Equation.DSMT4">
                    <p:embed/>
                  </p:oleObj>
                </mc:Choice>
                <mc:Fallback>
                  <p:oleObj name="Equation" r:id="rId19" imgW="164880" imgH="164880" progId="Equation.DSMT4">
                    <p:embed/>
                    <p:pic>
                      <p:nvPicPr>
                        <p:cNvPr id="71" name="Object 29">
                          <a:extLst>
                            <a:ext uri="{FF2B5EF4-FFF2-40B4-BE49-F238E27FC236}">
                              <a16:creationId xmlns:a16="http://schemas.microsoft.com/office/drawing/2014/main" id="{25C1DA22-A277-4E8A-A186-6EBEF8903F51}"/>
                            </a:ext>
                          </a:extLst>
                        </p:cNvPr>
                        <p:cNvPicPr>
                          <a:picLocks noChangeAspect="1" noChangeArrowheads="1"/>
                        </p:cNvPicPr>
                        <p:nvPr/>
                      </p:nvPicPr>
                      <p:blipFill>
                        <a:blip r:embed="rId20"/>
                        <a:srcRect/>
                        <a:stretch>
                          <a:fillRect/>
                        </a:stretch>
                      </p:blipFill>
                      <p:spPr bwMode="auto">
                        <a:xfrm>
                          <a:off x="1965914" y="4848777"/>
                          <a:ext cx="173038"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 name="Object 29">
              <a:extLst>
                <a:ext uri="{FF2B5EF4-FFF2-40B4-BE49-F238E27FC236}">
                  <a16:creationId xmlns:a16="http://schemas.microsoft.com/office/drawing/2014/main" id="{C292B3E6-B045-4F28-B568-093FF1694AF5}"/>
                </a:ext>
              </a:extLst>
            </p:cNvPr>
            <p:cNvGraphicFramePr>
              <a:graphicFrameLocks noChangeAspect="1"/>
            </p:cNvGraphicFramePr>
            <p:nvPr>
              <p:extLst>
                <p:ext uri="{D42A27DB-BD31-4B8C-83A1-F6EECF244321}">
                  <p14:modId xmlns:p14="http://schemas.microsoft.com/office/powerpoint/2010/main" val="4191430178"/>
                </p:ext>
              </p:extLst>
            </p:nvPr>
          </p:nvGraphicFramePr>
          <p:xfrm>
            <a:off x="4282256" y="4796389"/>
            <a:ext cx="452438" cy="223838"/>
          </p:xfrm>
          <a:graphic>
            <a:graphicData uri="http://schemas.openxmlformats.org/presentationml/2006/ole">
              <mc:AlternateContent xmlns:mc="http://schemas.openxmlformats.org/markup-compatibility/2006">
                <mc:Choice xmlns:v="urn:schemas-microsoft-com:vml" Requires="v">
                  <p:oleObj name="Equation" r:id="rId21" imgW="431640" imgH="215640" progId="Equation.DSMT4">
                    <p:embed/>
                  </p:oleObj>
                </mc:Choice>
                <mc:Fallback>
                  <p:oleObj name="Equation" r:id="rId21" imgW="431640" imgH="215640" progId="Equation.DSMT4">
                    <p:embed/>
                    <p:pic>
                      <p:nvPicPr>
                        <p:cNvPr id="77" name="Object 29">
                          <a:extLst>
                            <a:ext uri="{FF2B5EF4-FFF2-40B4-BE49-F238E27FC236}">
                              <a16:creationId xmlns:a16="http://schemas.microsoft.com/office/drawing/2014/main" id="{46DC63BA-A0B3-45BC-A481-46C945FF504D}"/>
                            </a:ext>
                          </a:extLst>
                        </p:cNvPr>
                        <p:cNvPicPr>
                          <a:picLocks noChangeAspect="1" noChangeArrowheads="1"/>
                        </p:cNvPicPr>
                        <p:nvPr/>
                      </p:nvPicPr>
                      <p:blipFill>
                        <a:blip r:embed="rId22"/>
                        <a:srcRect/>
                        <a:stretch>
                          <a:fillRect/>
                        </a:stretch>
                      </p:blipFill>
                      <p:spPr bwMode="auto">
                        <a:xfrm>
                          <a:off x="4282256" y="4796389"/>
                          <a:ext cx="452438" cy="22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 name="Object 29">
            <a:extLst>
              <a:ext uri="{FF2B5EF4-FFF2-40B4-BE49-F238E27FC236}">
                <a16:creationId xmlns:a16="http://schemas.microsoft.com/office/drawing/2014/main" id="{556D42AC-F005-402B-AB26-B56C92687220}"/>
              </a:ext>
            </a:extLst>
          </p:cNvPr>
          <p:cNvGraphicFramePr>
            <a:graphicFrameLocks noChangeAspect="1"/>
          </p:cNvGraphicFramePr>
          <p:nvPr>
            <p:extLst>
              <p:ext uri="{D42A27DB-BD31-4B8C-83A1-F6EECF244321}">
                <p14:modId xmlns:p14="http://schemas.microsoft.com/office/powerpoint/2010/main" val="1935027147"/>
              </p:ext>
            </p:extLst>
          </p:nvPr>
        </p:nvGraphicFramePr>
        <p:xfrm>
          <a:off x="3976196" y="1933018"/>
          <a:ext cx="1617662" cy="542925"/>
        </p:xfrm>
        <a:graphic>
          <a:graphicData uri="http://schemas.openxmlformats.org/presentationml/2006/ole">
            <mc:AlternateContent xmlns:mc="http://schemas.openxmlformats.org/markup-compatibility/2006">
              <mc:Choice xmlns:v="urn:schemas-microsoft-com:vml" Requires="v">
                <p:oleObj name="Equation" r:id="rId23" imgW="1536480" imgH="520560" progId="Equation.DSMT4">
                  <p:embed/>
                </p:oleObj>
              </mc:Choice>
              <mc:Fallback>
                <p:oleObj name="Equation" r:id="rId23" imgW="1536480" imgH="520560" progId="Equation.DSMT4">
                  <p:embed/>
                  <p:pic>
                    <p:nvPicPr>
                      <p:cNvPr id="6167" name="Object 29"/>
                      <p:cNvPicPr>
                        <a:picLocks noChangeAspect="1" noChangeArrowheads="1"/>
                      </p:cNvPicPr>
                      <p:nvPr/>
                    </p:nvPicPr>
                    <p:blipFill>
                      <a:blip r:embed="rId24"/>
                      <a:srcRect/>
                      <a:stretch>
                        <a:fillRect/>
                      </a:stretch>
                    </p:blipFill>
                    <p:spPr bwMode="auto">
                      <a:xfrm>
                        <a:off x="3976196" y="1933018"/>
                        <a:ext cx="1617662"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to 9">
            <a:extLst>
              <a:ext uri="{FF2B5EF4-FFF2-40B4-BE49-F238E27FC236}">
                <a16:creationId xmlns:a16="http://schemas.microsoft.com/office/drawing/2014/main" id="{C78491CC-E48F-4035-9053-776FB9D4008A}"/>
              </a:ext>
            </a:extLst>
          </p:cNvPr>
          <p:cNvGraphicFramePr>
            <a:graphicFrameLocks noChangeAspect="1"/>
          </p:cNvGraphicFramePr>
          <p:nvPr>
            <p:extLst>
              <p:ext uri="{D42A27DB-BD31-4B8C-83A1-F6EECF244321}">
                <p14:modId xmlns:p14="http://schemas.microsoft.com/office/powerpoint/2010/main" val="3276046610"/>
              </p:ext>
            </p:extLst>
          </p:nvPr>
        </p:nvGraphicFramePr>
        <p:xfrm>
          <a:off x="3590391" y="2090305"/>
          <a:ext cx="218036" cy="232572"/>
        </p:xfrm>
        <a:graphic>
          <a:graphicData uri="http://schemas.openxmlformats.org/presentationml/2006/ole">
            <mc:AlternateContent xmlns:mc="http://schemas.openxmlformats.org/markup-compatibility/2006">
              <mc:Choice xmlns:v="urn:schemas-microsoft-com:vml" Requires="v">
                <p:oleObj name="Equation" r:id="rId25" imgW="190440" imgH="152280" progId="Equation.DSMT4">
                  <p:embed/>
                </p:oleObj>
              </mc:Choice>
              <mc:Fallback>
                <p:oleObj name="Equation" r:id="rId25" imgW="190440" imgH="152280" progId="Equation.DSMT4">
                  <p:embed/>
                  <p:pic>
                    <p:nvPicPr>
                      <p:cNvPr id="54" name="Objeto 53"/>
                      <p:cNvPicPr/>
                      <p:nvPr/>
                    </p:nvPicPr>
                    <p:blipFill>
                      <a:blip r:embed="rId26"/>
                      <a:stretch>
                        <a:fillRect/>
                      </a:stretch>
                    </p:blipFill>
                    <p:spPr>
                      <a:xfrm>
                        <a:off x="3590391" y="2090305"/>
                        <a:ext cx="218036" cy="232572"/>
                      </a:xfrm>
                      <a:prstGeom prst="rect">
                        <a:avLst/>
                      </a:prstGeom>
                    </p:spPr>
                  </p:pic>
                </p:oleObj>
              </mc:Fallback>
            </mc:AlternateContent>
          </a:graphicData>
        </a:graphic>
      </p:graphicFrame>
      <p:sp>
        <p:nvSpPr>
          <p:cNvPr id="53" name="CuadroTexto 52">
            <a:extLst>
              <a:ext uri="{FF2B5EF4-FFF2-40B4-BE49-F238E27FC236}">
                <a16:creationId xmlns:a16="http://schemas.microsoft.com/office/drawing/2014/main" id="{AC6F7936-77F9-4AB6-933D-B15DD3BC07EF}"/>
              </a:ext>
            </a:extLst>
          </p:cNvPr>
          <p:cNvSpPr txBox="1"/>
          <p:nvPr/>
        </p:nvSpPr>
        <p:spPr>
          <a:xfrm>
            <a:off x="294671" y="2041800"/>
            <a:ext cx="1288814" cy="307777"/>
          </a:xfrm>
          <a:prstGeom prst="rect">
            <a:avLst/>
          </a:prstGeom>
          <a:noFill/>
        </p:spPr>
        <p:txBody>
          <a:bodyPr wrap="none" rtlCol="0">
            <a:spAutoFit/>
          </a:bodyPr>
          <a:lstStyle/>
          <a:p>
            <a:r>
              <a:rPr lang="es-ES" sz="1400" dirty="0"/>
              <a:t>3. Tipificando:</a:t>
            </a:r>
          </a:p>
        </p:txBody>
      </p:sp>
      <p:grpSp>
        <p:nvGrpSpPr>
          <p:cNvPr id="3" name="Grupo 2">
            <a:extLst>
              <a:ext uri="{FF2B5EF4-FFF2-40B4-BE49-F238E27FC236}">
                <a16:creationId xmlns:a16="http://schemas.microsoft.com/office/drawing/2014/main" id="{EDD24F7D-8DD2-4C64-9DEF-4895B3C7A780}"/>
              </a:ext>
            </a:extLst>
          </p:cNvPr>
          <p:cNvGrpSpPr/>
          <p:nvPr/>
        </p:nvGrpSpPr>
        <p:grpSpPr>
          <a:xfrm>
            <a:off x="1725778" y="1839694"/>
            <a:ext cx="1864613" cy="879495"/>
            <a:chOff x="3952097" y="1966409"/>
            <a:chExt cx="1864613" cy="879495"/>
          </a:xfrm>
        </p:grpSpPr>
        <p:sp>
          <p:nvSpPr>
            <p:cNvPr id="6" name="CuadroTexto 5">
              <a:extLst>
                <a:ext uri="{FF2B5EF4-FFF2-40B4-BE49-F238E27FC236}">
                  <a16:creationId xmlns:a16="http://schemas.microsoft.com/office/drawing/2014/main" id="{6F90338F-833E-4908-90A5-024F9FB1113B}"/>
                </a:ext>
              </a:extLst>
            </p:cNvPr>
            <p:cNvSpPr txBox="1"/>
            <p:nvPr/>
          </p:nvSpPr>
          <p:spPr>
            <a:xfrm>
              <a:off x="3952097" y="2615072"/>
              <a:ext cx="1864613" cy="230832"/>
            </a:xfrm>
            <a:prstGeom prst="rect">
              <a:avLst/>
            </a:prstGeom>
            <a:noFill/>
          </p:spPr>
          <p:txBody>
            <a:bodyPr wrap="none" rtlCol="0">
              <a:spAutoFit/>
            </a:bodyPr>
            <a:lstStyle/>
            <a:p>
              <a:r>
                <a:rPr lang="es-ES" sz="900" dirty="0">
                  <a:solidFill>
                    <a:schemeClr val="tx1">
                      <a:lumMod val="65000"/>
                      <a:lumOff val="35000"/>
                    </a:schemeClr>
                  </a:solidFill>
                </a:rPr>
                <a:t>Tipificación de la media muestral</a:t>
              </a:r>
            </a:p>
          </p:txBody>
        </p:sp>
        <p:grpSp>
          <p:nvGrpSpPr>
            <p:cNvPr id="2" name="Grupo 1">
              <a:extLst>
                <a:ext uri="{FF2B5EF4-FFF2-40B4-BE49-F238E27FC236}">
                  <a16:creationId xmlns:a16="http://schemas.microsoft.com/office/drawing/2014/main" id="{4A2FEE46-12F8-4F43-9709-6CA13C17985D}"/>
                </a:ext>
              </a:extLst>
            </p:cNvPr>
            <p:cNvGrpSpPr/>
            <p:nvPr/>
          </p:nvGrpSpPr>
          <p:grpSpPr>
            <a:xfrm>
              <a:off x="4051356" y="1966409"/>
              <a:ext cx="1617662" cy="653425"/>
              <a:chOff x="4051356" y="1966409"/>
              <a:chExt cx="1617662" cy="653425"/>
            </a:xfrm>
          </p:grpSpPr>
          <p:graphicFrame>
            <p:nvGraphicFramePr>
              <p:cNvPr id="8" name="Object 29">
                <a:extLst>
                  <a:ext uri="{FF2B5EF4-FFF2-40B4-BE49-F238E27FC236}">
                    <a16:creationId xmlns:a16="http://schemas.microsoft.com/office/drawing/2014/main" id="{5EFEE4B7-A188-417B-A7D7-A5FB7B61FBF4}"/>
                  </a:ext>
                </a:extLst>
              </p:cNvPr>
              <p:cNvGraphicFramePr>
                <a:graphicFrameLocks noChangeAspect="1"/>
              </p:cNvGraphicFramePr>
              <p:nvPr>
                <p:extLst>
                  <p:ext uri="{D42A27DB-BD31-4B8C-83A1-F6EECF244321}">
                    <p14:modId xmlns:p14="http://schemas.microsoft.com/office/powerpoint/2010/main" val="2888857364"/>
                  </p:ext>
                </p:extLst>
              </p:nvPr>
            </p:nvGraphicFramePr>
            <p:xfrm>
              <a:off x="4129548" y="2020048"/>
              <a:ext cx="1509713" cy="582612"/>
            </p:xfrm>
            <a:graphic>
              <a:graphicData uri="http://schemas.openxmlformats.org/presentationml/2006/ole">
                <mc:AlternateContent xmlns:mc="http://schemas.openxmlformats.org/markup-compatibility/2006">
                  <mc:Choice xmlns:v="urn:schemas-microsoft-com:vml" Requires="v">
                    <p:oleObj name="Equation" r:id="rId27" imgW="1434960" imgH="558720" progId="Equation.DSMT4">
                      <p:embed/>
                    </p:oleObj>
                  </mc:Choice>
                  <mc:Fallback>
                    <p:oleObj name="Equation" r:id="rId27" imgW="1434960" imgH="558720" progId="Equation.DSMT4">
                      <p:embed/>
                      <p:pic>
                        <p:nvPicPr>
                          <p:cNvPr id="42" name="Object 29"/>
                          <p:cNvPicPr>
                            <a:picLocks noChangeAspect="1" noChangeArrowheads="1"/>
                          </p:cNvPicPr>
                          <p:nvPr/>
                        </p:nvPicPr>
                        <p:blipFill>
                          <a:blip r:embed="rId28"/>
                          <a:srcRect/>
                          <a:stretch>
                            <a:fillRect/>
                          </a:stretch>
                        </p:blipFill>
                        <p:spPr bwMode="auto">
                          <a:xfrm>
                            <a:off x="4129548" y="2020048"/>
                            <a:ext cx="1509713"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8" name="AutoShape 79">
                <a:extLst>
                  <a:ext uri="{FF2B5EF4-FFF2-40B4-BE49-F238E27FC236}">
                    <a16:creationId xmlns:a16="http://schemas.microsoft.com/office/drawing/2014/main" id="{02FB29D7-B9DA-49FA-9508-03FBF76DEEB4}"/>
                  </a:ext>
                </a:extLst>
              </p:cNvPr>
              <p:cNvSpPr>
                <a:spLocks noChangeArrowheads="1"/>
              </p:cNvSpPr>
              <p:nvPr/>
            </p:nvSpPr>
            <p:spPr bwMode="auto">
              <a:xfrm>
                <a:off x="4051356" y="1966409"/>
                <a:ext cx="1617662" cy="653425"/>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grpSp>
      <p:sp>
        <p:nvSpPr>
          <p:cNvPr id="89" name="AutoShape 79">
            <a:extLst>
              <a:ext uri="{FF2B5EF4-FFF2-40B4-BE49-F238E27FC236}">
                <a16:creationId xmlns:a16="http://schemas.microsoft.com/office/drawing/2014/main" id="{1CA2CD5E-BEE5-4C22-A573-B1F7305C77AE}"/>
              </a:ext>
            </a:extLst>
          </p:cNvPr>
          <p:cNvSpPr>
            <a:spLocks noChangeArrowheads="1"/>
          </p:cNvSpPr>
          <p:nvPr/>
        </p:nvSpPr>
        <p:spPr bwMode="auto">
          <a:xfrm>
            <a:off x="5696874" y="3904672"/>
            <a:ext cx="2933954" cy="1697973"/>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nvGrpSpPr>
          <p:cNvPr id="91" name="Grupo 90">
            <a:extLst>
              <a:ext uri="{FF2B5EF4-FFF2-40B4-BE49-F238E27FC236}">
                <a16:creationId xmlns:a16="http://schemas.microsoft.com/office/drawing/2014/main" id="{FA71E7D0-1FBC-4D62-8E2A-09AA52C4827B}"/>
              </a:ext>
            </a:extLst>
          </p:cNvPr>
          <p:cNvGrpSpPr/>
          <p:nvPr/>
        </p:nvGrpSpPr>
        <p:grpSpPr>
          <a:xfrm>
            <a:off x="5747843" y="3980460"/>
            <a:ext cx="2791229" cy="1607640"/>
            <a:chOff x="5987979" y="4270021"/>
            <a:chExt cx="2791229" cy="1607640"/>
          </a:xfrm>
        </p:grpSpPr>
        <p:pic>
          <p:nvPicPr>
            <p:cNvPr id="81" name="Snagit_PPTA7D5">
              <a:extLst>
                <a:ext uri="{FF2B5EF4-FFF2-40B4-BE49-F238E27FC236}">
                  <a16:creationId xmlns:a16="http://schemas.microsoft.com/office/drawing/2014/main" id="{91CEF09E-F485-494E-A41B-312A1E6C4EF7}"/>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7467600" y="4270021"/>
              <a:ext cx="1311608" cy="1593095"/>
            </a:xfrm>
            <a:prstGeom prst="rect">
              <a:avLst/>
            </a:prstGeom>
          </p:spPr>
        </p:pic>
        <p:graphicFrame>
          <p:nvGraphicFramePr>
            <p:cNvPr id="65" name="Object 29">
              <a:extLst>
                <a:ext uri="{FF2B5EF4-FFF2-40B4-BE49-F238E27FC236}">
                  <a16:creationId xmlns:a16="http://schemas.microsoft.com/office/drawing/2014/main" id="{A174B5D4-2AD9-48A0-84F3-4AE2EC5C6E37}"/>
                </a:ext>
              </a:extLst>
            </p:cNvPr>
            <p:cNvGraphicFramePr>
              <a:graphicFrameLocks noChangeAspect="1"/>
            </p:cNvGraphicFramePr>
            <p:nvPr>
              <p:extLst>
                <p:ext uri="{D42A27DB-BD31-4B8C-83A1-F6EECF244321}">
                  <p14:modId xmlns:p14="http://schemas.microsoft.com/office/powerpoint/2010/main" val="3545111791"/>
                </p:ext>
              </p:extLst>
            </p:nvPr>
          </p:nvGraphicFramePr>
          <p:xfrm>
            <a:off x="5987979" y="4706090"/>
            <a:ext cx="1591411" cy="503192"/>
          </p:xfrm>
          <a:graphic>
            <a:graphicData uri="http://schemas.openxmlformats.org/presentationml/2006/ole">
              <mc:AlternateContent xmlns:mc="http://schemas.openxmlformats.org/markup-compatibility/2006">
                <mc:Choice xmlns:v="urn:schemas-microsoft-com:vml" Requires="v">
                  <p:oleObj name="Equation" r:id="rId30" imgW="1828800" imgH="583920" progId="Equation.DSMT4">
                    <p:embed/>
                  </p:oleObj>
                </mc:Choice>
                <mc:Fallback>
                  <p:oleObj name="Equation" r:id="rId30" imgW="1828800" imgH="583920" progId="Equation.DSMT4">
                    <p:embed/>
                    <p:pic>
                      <p:nvPicPr>
                        <p:cNvPr id="58" name="Object 29">
                          <a:extLst>
                            <a:ext uri="{FF2B5EF4-FFF2-40B4-BE49-F238E27FC236}">
                              <a16:creationId xmlns:a16="http://schemas.microsoft.com/office/drawing/2014/main" id="{BA50F3F3-9D61-432E-B2A4-057944F0598A}"/>
                            </a:ext>
                          </a:extLst>
                        </p:cNvPr>
                        <p:cNvPicPr>
                          <a:picLocks noChangeAspect="1" noChangeArrowheads="1"/>
                        </p:cNvPicPr>
                        <p:nvPr/>
                      </p:nvPicPr>
                      <p:blipFill>
                        <a:blip r:embed="rId31"/>
                        <a:srcRect/>
                        <a:stretch>
                          <a:fillRect/>
                        </a:stretch>
                      </p:blipFill>
                      <p:spPr bwMode="auto">
                        <a:xfrm>
                          <a:off x="5987979" y="4706090"/>
                          <a:ext cx="1591411" cy="503192"/>
                        </a:xfrm>
                        <a:prstGeom prst="rect">
                          <a:avLst/>
                        </a:prstGeom>
                        <a:noFill/>
                        <a:ln>
                          <a:noFill/>
                        </a:ln>
                      </p:spPr>
                    </p:pic>
                  </p:oleObj>
                </mc:Fallback>
              </mc:AlternateContent>
            </a:graphicData>
          </a:graphic>
        </p:graphicFrame>
        <p:graphicFrame>
          <p:nvGraphicFramePr>
            <p:cNvPr id="90" name="Object 29">
              <a:extLst>
                <a:ext uri="{FF2B5EF4-FFF2-40B4-BE49-F238E27FC236}">
                  <a16:creationId xmlns:a16="http://schemas.microsoft.com/office/drawing/2014/main" id="{24E670A5-0E55-4280-B8A0-91C0377CCC43}"/>
                </a:ext>
              </a:extLst>
            </p:cNvPr>
            <p:cNvGraphicFramePr>
              <a:graphicFrameLocks noChangeAspect="1"/>
            </p:cNvGraphicFramePr>
            <p:nvPr>
              <p:extLst>
                <p:ext uri="{D42A27DB-BD31-4B8C-83A1-F6EECF244321}">
                  <p14:modId xmlns:p14="http://schemas.microsoft.com/office/powerpoint/2010/main" val="2002398197"/>
                </p:ext>
              </p:extLst>
            </p:nvPr>
          </p:nvGraphicFramePr>
          <p:xfrm>
            <a:off x="8116222" y="5757011"/>
            <a:ext cx="109538" cy="120650"/>
          </p:xfrm>
          <a:graphic>
            <a:graphicData uri="http://schemas.openxmlformats.org/presentationml/2006/ole">
              <mc:AlternateContent xmlns:mc="http://schemas.openxmlformats.org/markup-compatibility/2006">
                <mc:Choice xmlns:v="urn:schemas-microsoft-com:vml" Requires="v">
                  <p:oleObj name="Equation" r:id="rId32" imgW="126720" imgH="139680" progId="Equation.DSMT4">
                    <p:embed/>
                  </p:oleObj>
                </mc:Choice>
                <mc:Fallback>
                  <p:oleObj name="Equation" r:id="rId32" imgW="126720" imgH="139680" progId="Equation.DSMT4">
                    <p:embed/>
                    <p:pic>
                      <p:nvPicPr>
                        <p:cNvPr id="65" name="Object 29">
                          <a:extLst>
                            <a:ext uri="{FF2B5EF4-FFF2-40B4-BE49-F238E27FC236}">
                              <a16:creationId xmlns:a16="http://schemas.microsoft.com/office/drawing/2014/main" id="{A174B5D4-2AD9-48A0-84F3-4AE2EC5C6E37}"/>
                            </a:ext>
                          </a:extLst>
                        </p:cNvPr>
                        <p:cNvPicPr>
                          <a:picLocks noChangeAspect="1" noChangeArrowheads="1"/>
                        </p:cNvPicPr>
                        <p:nvPr/>
                      </p:nvPicPr>
                      <p:blipFill>
                        <a:blip r:embed="rId33"/>
                        <a:srcRect/>
                        <a:stretch>
                          <a:fillRect/>
                        </a:stretch>
                      </p:blipFill>
                      <p:spPr bwMode="auto">
                        <a:xfrm>
                          <a:off x="8116222" y="5757011"/>
                          <a:ext cx="109538" cy="120650"/>
                        </a:xfrm>
                        <a:prstGeom prst="rect">
                          <a:avLst/>
                        </a:prstGeom>
                        <a:noFill/>
                        <a:ln>
                          <a:noFill/>
                        </a:ln>
                      </p:spPr>
                    </p:pic>
                  </p:oleObj>
                </mc:Fallback>
              </mc:AlternateContent>
            </a:graphicData>
          </a:graphic>
        </p:graphicFrame>
      </p:grpSp>
      <p:grpSp>
        <p:nvGrpSpPr>
          <p:cNvPr id="98" name="Grupo 97">
            <a:extLst>
              <a:ext uri="{FF2B5EF4-FFF2-40B4-BE49-F238E27FC236}">
                <a16:creationId xmlns:a16="http://schemas.microsoft.com/office/drawing/2014/main" id="{7E18ED30-0556-4D7F-BD9B-4BB88AB9DF86}"/>
              </a:ext>
            </a:extLst>
          </p:cNvPr>
          <p:cNvGrpSpPr/>
          <p:nvPr/>
        </p:nvGrpSpPr>
        <p:grpSpPr>
          <a:xfrm>
            <a:off x="1828669" y="4913744"/>
            <a:ext cx="2283831" cy="686276"/>
            <a:chOff x="1943388" y="5104924"/>
            <a:chExt cx="2283831" cy="686276"/>
          </a:xfrm>
        </p:grpSpPr>
        <p:graphicFrame>
          <p:nvGraphicFramePr>
            <p:cNvPr id="17" name="Object 29">
              <a:extLst>
                <a:ext uri="{FF2B5EF4-FFF2-40B4-BE49-F238E27FC236}">
                  <a16:creationId xmlns:a16="http://schemas.microsoft.com/office/drawing/2014/main" id="{D3759EB7-CF49-4717-BD7C-4ED08D0E8123}"/>
                </a:ext>
              </a:extLst>
            </p:cNvPr>
            <p:cNvGraphicFramePr>
              <a:graphicFrameLocks noChangeAspect="1"/>
            </p:cNvGraphicFramePr>
            <p:nvPr>
              <p:extLst>
                <p:ext uri="{D42A27DB-BD31-4B8C-83A1-F6EECF244321}">
                  <p14:modId xmlns:p14="http://schemas.microsoft.com/office/powerpoint/2010/main" val="1771220154"/>
                </p:ext>
              </p:extLst>
            </p:nvPr>
          </p:nvGraphicFramePr>
          <p:xfrm>
            <a:off x="2050993" y="5144373"/>
            <a:ext cx="2058987" cy="611187"/>
          </p:xfrm>
          <a:graphic>
            <a:graphicData uri="http://schemas.openxmlformats.org/presentationml/2006/ole">
              <mc:AlternateContent xmlns:mc="http://schemas.openxmlformats.org/markup-compatibility/2006">
                <mc:Choice xmlns:v="urn:schemas-microsoft-com:vml" Requires="v">
                  <p:oleObj name="Equation" r:id="rId34" imgW="1955520" imgH="583920" progId="Equation.DSMT4">
                    <p:embed/>
                  </p:oleObj>
                </mc:Choice>
                <mc:Fallback>
                  <p:oleObj name="Equation" r:id="rId34" imgW="1955520" imgH="583920" progId="Equation.DSMT4">
                    <p:embed/>
                    <p:pic>
                      <p:nvPicPr>
                        <p:cNvPr id="56" name="Object 29">
                          <a:extLst>
                            <a:ext uri="{FF2B5EF4-FFF2-40B4-BE49-F238E27FC236}">
                              <a16:creationId xmlns:a16="http://schemas.microsoft.com/office/drawing/2014/main" id="{808E71CF-8907-4EB1-A895-9D1953036EBE}"/>
                            </a:ext>
                          </a:extLst>
                        </p:cNvPr>
                        <p:cNvPicPr>
                          <a:picLocks noChangeAspect="1" noChangeArrowheads="1"/>
                        </p:cNvPicPr>
                        <p:nvPr/>
                      </p:nvPicPr>
                      <p:blipFill>
                        <a:blip r:embed="rId35"/>
                        <a:srcRect/>
                        <a:stretch>
                          <a:fillRect/>
                        </a:stretch>
                      </p:blipFill>
                      <p:spPr bwMode="auto">
                        <a:xfrm>
                          <a:off x="2050993" y="5144373"/>
                          <a:ext cx="2058987" cy="611187"/>
                        </a:xfrm>
                        <a:prstGeom prst="rect">
                          <a:avLst/>
                        </a:prstGeom>
                        <a:noFill/>
                        <a:ln>
                          <a:noFill/>
                        </a:ln>
                      </p:spPr>
                    </p:pic>
                  </p:oleObj>
                </mc:Fallback>
              </mc:AlternateContent>
            </a:graphicData>
          </a:graphic>
        </p:graphicFrame>
        <p:sp>
          <p:nvSpPr>
            <p:cNvPr id="92" name="AutoShape 58">
              <a:extLst>
                <a:ext uri="{FF2B5EF4-FFF2-40B4-BE49-F238E27FC236}">
                  <a16:creationId xmlns:a16="http://schemas.microsoft.com/office/drawing/2014/main" id="{781E97F8-F4D4-40C6-8DEC-001AADD25324}"/>
                </a:ext>
              </a:extLst>
            </p:cNvPr>
            <p:cNvSpPr>
              <a:spLocks noChangeArrowheads="1"/>
            </p:cNvSpPr>
            <p:nvPr/>
          </p:nvSpPr>
          <p:spPr bwMode="auto">
            <a:xfrm>
              <a:off x="1943388" y="5104924"/>
              <a:ext cx="2283831" cy="686276"/>
            </a:xfrm>
            <a:prstGeom prst="roundRect">
              <a:avLst>
                <a:gd name="adj" fmla="val 9028"/>
              </a:avLst>
            </a:prstGeom>
            <a:noFill/>
            <a:ln w="9525">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grpSp>
        <p:nvGrpSpPr>
          <p:cNvPr id="95" name="Grupo 94">
            <a:extLst>
              <a:ext uri="{FF2B5EF4-FFF2-40B4-BE49-F238E27FC236}">
                <a16:creationId xmlns:a16="http://schemas.microsoft.com/office/drawing/2014/main" id="{BB9CC55F-2FAA-4435-B4B2-17F65C7478E2}"/>
              </a:ext>
            </a:extLst>
          </p:cNvPr>
          <p:cNvGrpSpPr/>
          <p:nvPr/>
        </p:nvGrpSpPr>
        <p:grpSpPr>
          <a:xfrm>
            <a:off x="506274" y="5581072"/>
            <a:ext cx="8016590" cy="745870"/>
            <a:chOff x="744758" y="5814536"/>
            <a:chExt cx="8016590" cy="745870"/>
          </a:xfrm>
        </p:grpSpPr>
        <p:sp>
          <p:nvSpPr>
            <p:cNvPr id="86" name="CuadroTexto 85">
              <a:extLst>
                <a:ext uri="{FF2B5EF4-FFF2-40B4-BE49-F238E27FC236}">
                  <a16:creationId xmlns:a16="http://schemas.microsoft.com/office/drawing/2014/main" id="{C9609B49-8340-4C2B-8736-8EB650F628D2}"/>
                </a:ext>
              </a:extLst>
            </p:cNvPr>
            <p:cNvSpPr txBox="1"/>
            <p:nvPr/>
          </p:nvSpPr>
          <p:spPr>
            <a:xfrm>
              <a:off x="744758" y="5814536"/>
              <a:ext cx="8016590" cy="738664"/>
            </a:xfrm>
            <a:prstGeom prst="rect">
              <a:avLst/>
            </a:prstGeom>
            <a:noFill/>
          </p:spPr>
          <p:txBody>
            <a:bodyPr wrap="square" rtlCol="0">
              <a:spAutoFit/>
            </a:bodyPr>
            <a:lstStyle/>
            <a:p>
              <a:pPr algn="just"/>
              <a:r>
                <a:rPr lang="es-ES" sz="1400" dirty="0"/>
                <a:t>Esta cantidad es una función de los valores muestrales que nos permite decidir en favor o en contra de la hipótesis nula a raíz de la evidencia muestral. Se denomina </a:t>
              </a:r>
              <a:r>
                <a:rPr lang="es-ES" sz="1400" b="1" dirty="0">
                  <a:solidFill>
                    <a:srgbClr val="8A0000"/>
                  </a:solidFill>
                </a:rPr>
                <a:t>estadístico de contraste </a:t>
              </a:r>
              <a:r>
                <a:rPr lang="es-ES" sz="1400" dirty="0"/>
                <a:t>o </a:t>
              </a:r>
              <a:r>
                <a:rPr lang="es-ES" sz="1400" b="1" dirty="0">
                  <a:solidFill>
                    <a:srgbClr val="8A0000"/>
                  </a:solidFill>
                </a:rPr>
                <a:t>cantidad experimental</a:t>
              </a:r>
              <a:r>
                <a:rPr lang="es-ES" sz="1400" b="1" dirty="0"/>
                <a:t>.</a:t>
              </a:r>
              <a:r>
                <a:rPr lang="es-ES" sz="1400" dirty="0"/>
                <a:t> Habitualmente se indica       (o                     según la distribución usada)</a:t>
              </a:r>
            </a:p>
          </p:txBody>
        </p:sp>
        <p:graphicFrame>
          <p:nvGraphicFramePr>
            <p:cNvPr id="93" name="Object 29">
              <a:extLst>
                <a:ext uri="{FF2B5EF4-FFF2-40B4-BE49-F238E27FC236}">
                  <a16:creationId xmlns:a16="http://schemas.microsoft.com/office/drawing/2014/main" id="{FD3D4DA4-3C98-44F1-A1FD-F06BE1E7AFEC}"/>
                </a:ext>
              </a:extLst>
            </p:cNvPr>
            <p:cNvGraphicFramePr>
              <a:graphicFrameLocks noChangeAspect="1"/>
            </p:cNvGraphicFramePr>
            <p:nvPr>
              <p:extLst>
                <p:ext uri="{D42A27DB-BD31-4B8C-83A1-F6EECF244321}">
                  <p14:modId xmlns:p14="http://schemas.microsoft.com/office/powerpoint/2010/main" val="217786615"/>
                </p:ext>
              </p:extLst>
            </p:nvPr>
          </p:nvGraphicFramePr>
          <p:xfrm>
            <a:off x="4861981" y="6267512"/>
            <a:ext cx="254000" cy="279400"/>
          </p:xfrm>
          <a:graphic>
            <a:graphicData uri="http://schemas.openxmlformats.org/presentationml/2006/ole">
              <mc:AlternateContent xmlns:mc="http://schemas.openxmlformats.org/markup-compatibility/2006">
                <mc:Choice xmlns:v="urn:schemas-microsoft-com:vml" Requires="v">
                  <p:oleObj name="Equation" r:id="rId36" imgW="241200" imgH="266400" progId="Equation.DSMT4">
                    <p:embed/>
                  </p:oleObj>
                </mc:Choice>
                <mc:Fallback>
                  <p:oleObj name="Equation" r:id="rId36" imgW="241200" imgH="266400" progId="Equation.DSMT4">
                    <p:embed/>
                    <p:pic>
                      <p:nvPicPr>
                        <p:cNvPr id="17" name="Object 29">
                          <a:extLst>
                            <a:ext uri="{FF2B5EF4-FFF2-40B4-BE49-F238E27FC236}">
                              <a16:creationId xmlns:a16="http://schemas.microsoft.com/office/drawing/2014/main" id="{D3759EB7-CF49-4717-BD7C-4ED08D0E8123}"/>
                            </a:ext>
                          </a:extLst>
                        </p:cNvPr>
                        <p:cNvPicPr>
                          <a:picLocks noChangeAspect="1" noChangeArrowheads="1"/>
                        </p:cNvPicPr>
                        <p:nvPr/>
                      </p:nvPicPr>
                      <p:blipFill>
                        <a:blip r:embed="rId37"/>
                        <a:srcRect/>
                        <a:stretch>
                          <a:fillRect/>
                        </a:stretch>
                      </p:blipFill>
                      <p:spPr bwMode="auto">
                        <a:xfrm>
                          <a:off x="4861981" y="6267512"/>
                          <a:ext cx="254000" cy="279400"/>
                        </a:xfrm>
                        <a:prstGeom prst="rect">
                          <a:avLst/>
                        </a:prstGeom>
                        <a:noFill/>
                        <a:ln>
                          <a:noFill/>
                        </a:ln>
                      </p:spPr>
                    </p:pic>
                  </p:oleObj>
                </mc:Fallback>
              </mc:AlternateContent>
            </a:graphicData>
          </a:graphic>
        </p:graphicFrame>
        <p:graphicFrame>
          <p:nvGraphicFramePr>
            <p:cNvPr id="96" name="Object 29">
              <a:extLst>
                <a:ext uri="{FF2B5EF4-FFF2-40B4-BE49-F238E27FC236}">
                  <a16:creationId xmlns:a16="http://schemas.microsoft.com/office/drawing/2014/main" id="{6C7DEFEB-E068-4E98-B9F9-877B2A6ECB3D}"/>
                </a:ext>
              </a:extLst>
            </p:cNvPr>
            <p:cNvGraphicFramePr>
              <a:graphicFrameLocks noChangeAspect="1"/>
            </p:cNvGraphicFramePr>
            <p:nvPr>
              <p:extLst>
                <p:ext uri="{D42A27DB-BD31-4B8C-83A1-F6EECF244321}">
                  <p14:modId xmlns:p14="http://schemas.microsoft.com/office/powerpoint/2010/main" val="2784208969"/>
                </p:ext>
              </p:extLst>
            </p:nvPr>
          </p:nvGraphicFramePr>
          <p:xfrm>
            <a:off x="5411281" y="6254018"/>
            <a:ext cx="922337" cy="306388"/>
          </p:xfrm>
          <a:graphic>
            <a:graphicData uri="http://schemas.openxmlformats.org/presentationml/2006/ole">
              <mc:AlternateContent xmlns:mc="http://schemas.openxmlformats.org/markup-compatibility/2006">
                <mc:Choice xmlns:v="urn:schemas-microsoft-com:vml" Requires="v">
                  <p:oleObj name="Equation" r:id="rId38" imgW="876240" imgH="291960" progId="Equation.DSMT4">
                    <p:embed/>
                  </p:oleObj>
                </mc:Choice>
                <mc:Fallback>
                  <p:oleObj name="Equation" r:id="rId38" imgW="876240" imgH="291960" progId="Equation.DSMT4">
                    <p:embed/>
                    <p:pic>
                      <p:nvPicPr>
                        <p:cNvPr id="93" name="Object 29">
                          <a:extLst>
                            <a:ext uri="{FF2B5EF4-FFF2-40B4-BE49-F238E27FC236}">
                              <a16:creationId xmlns:a16="http://schemas.microsoft.com/office/drawing/2014/main" id="{FD3D4DA4-3C98-44F1-A1FD-F06BE1E7AFEC}"/>
                            </a:ext>
                          </a:extLst>
                        </p:cNvPr>
                        <p:cNvPicPr>
                          <a:picLocks noChangeAspect="1" noChangeArrowheads="1"/>
                        </p:cNvPicPr>
                        <p:nvPr/>
                      </p:nvPicPr>
                      <p:blipFill>
                        <a:blip r:embed="rId39"/>
                        <a:srcRect/>
                        <a:stretch>
                          <a:fillRect/>
                        </a:stretch>
                      </p:blipFill>
                      <p:spPr bwMode="auto">
                        <a:xfrm>
                          <a:off x="5411281" y="6254018"/>
                          <a:ext cx="922337" cy="306388"/>
                        </a:xfrm>
                        <a:prstGeom prst="rect">
                          <a:avLst/>
                        </a:prstGeom>
                        <a:noFill/>
                        <a:ln>
                          <a:noFill/>
                        </a:ln>
                      </p:spPr>
                    </p:pic>
                  </p:oleObj>
                </mc:Fallback>
              </mc:AlternateContent>
            </a:graphicData>
          </a:graphic>
        </p:graphicFrame>
      </p:grpSp>
      <p:sp>
        <p:nvSpPr>
          <p:cNvPr id="99" name="Flecha: a la derecha 98">
            <a:extLst>
              <a:ext uri="{FF2B5EF4-FFF2-40B4-BE49-F238E27FC236}">
                <a16:creationId xmlns:a16="http://schemas.microsoft.com/office/drawing/2014/main" id="{4A028671-CB7E-43ED-9169-7CF55D0352EB}"/>
              </a:ext>
            </a:extLst>
          </p:cNvPr>
          <p:cNvSpPr/>
          <p:nvPr/>
        </p:nvSpPr>
        <p:spPr>
          <a:xfrm>
            <a:off x="5852552" y="881821"/>
            <a:ext cx="354497" cy="304800"/>
          </a:xfrm>
          <a:prstGeom prst="rightArrow">
            <a:avLst/>
          </a:prstGeom>
          <a:noFill/>
          <a:ln w="127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0" name="Flecha: a la derecha 99">
            <a:extLst>
              <a:ext uri="{FF2B5EF4-FFF2-40B4-BE49-F238E27FC236}">
                <a16:creationId xmlns:a16="http://schemas.microsoft.com/office/drawing/2014/main" id="{6FCD4D71-CEEE-45CA-81DE-5120DC1D93BE}"/>
              </a:ext>
            </a:extLst>
          </p:cNvPr>
          <p:cNvSpPr/>
          <p:nvPr/>
        </p:nvSpPr>
        <p:spPr>
          <a:xfrm rot="1788959">
            <a:off x="5809062" y="1705081"/>
            <a:ext cx="656269" cy="304800"/>
          </a:xfrm>
          <a:prstGeom prst="rightArrow">
            <a:avLst/>
          </a:prstGeom>
          <a:noFill/>
          <a:ln w="127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1" name="Text Box 33">
            <a:extLst>
              <a:ext uri="{FF2B5EF4-FFF2-40B4-BE49-F238E27FC236}">
                <a16:creationId xmlns:a16="http://schemas.microsoft.com/office/drawing/2014/main" id="{FA36FB01-4E02-46FC-A1FB-83203712B0C9}"/>
              </a:ext>
            </a:extLst>
          </p:cNvPr>
          <p:cNvSpPr txBox="1">
            <a:spLocks noChangeArrowheads="1"/>
          </p:cNvSpPr>
          <p:nvPr/>
        </p:nvSpPr>
        <p:spPr bwMode="auto">
          <a:xfrm>
            <a:off x="245269" y="71042"/>
            <a:ext cx="3633787"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Hipótesis estadísticas</a:t>
            </a:r>
          </a:p>
        </p:txBody>
      </p:sp>
      <p:sp>
        <p:nvSpPr>
          <p:cNvPr id="102" name="Text Box 33">
            <a:extLst>
              <a:ext uri="{FF2B5EF4-FFF2-40B4-BE49-F238E27FC236}">
                <a16:creationId xmlns:a16="http://schemas.microsoft.com/office/drawing/2014/main" id="{1D4FB56B-EEB6-4754-BF22-38B5A71E5B40}"/>
              </a:ext>
            </a:extLst>
          </p:cNvPr>
          <p:cNvSpPr txBox="1">
            <a:spLocks noChangeArrowheads="1"/>
          </p:cNvSpPr>
          <p:nvPr/>
        </p:nvSpPr>
        <p:spPr bwMode="auto">
          <a:xfrm>
            <a:off x="228600" y="381000"/>
            <a:ext cx="6553200"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Evidencia muestral para tomar una decisión: el estadístico de contraste</a:t>
            </a:r>
          </a:p>
        </p:txBody>
      </p:sp>
      <p:sp>
        <p:nvSpPr>
          <p:cNvPr id="103" name="Flecha: a la derecha 102">
            <a:extLst>
              <a:ext uri="{FF2B5EF4-FFF2-40B4-BE49-F238E27FC236}">
                <a16:creationId xmlns:a16="http://schemas.microsoft.com/office/drawing/2014/main" id="{2702E940-3705-4DE8-806E-C47D4475E7A1}"/>
              </a:ext>
            </a:extLst>
          </p:cNvPr>
          <p:cNvSpPr/>
          <p:nvPr/>
        </p:nvSpPr>
        <p:spPr>
          <a:xfrm rot="722947">
            <a:off x="5289534" y="3864952"/>
            <a:ext cx="381673" cy="304800"/>
          </a:xfrm>
          <a:prstGeom prst="rightArrow">
            <a:avLst/>
          </a:prstGeom>
          <a:noFill/>
          <a:ln w="127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 name="CuadroTexto 3">
            <a:extLst>
              <a:ext uri="{FF2B5EF4-FFF2-40B4-BE49-F238E27FC236}">
                <a16:creationId xmlns:a16="http://schemas.microsoft.com/office/drawing/2014/main" id="{4C8372F7-F34B-4DF2-A26B-A2FD7DB293D7}"/>
              </a:ext>
            </a:extLst>
          </p:cNvPr>
          <p:cNvSpPr txBox="1"/>
          <p:nvPr/>
        </p:nvSpPr>
        <p:spPr>
          <a:xfrm>
            <a:off x="228600" y="6398888"/>
            <a:ext cx="8763000" cy="430887"/>
          </a:xfrm>
          <a:prstGeom prst="rect">
            <a:avLst/>
          </a:prstGeom>
          <a:noFill/>
        </p:spPr>
        <p:txBody>
          <a:bodyPr wrap="square" rtlCol="0">
            <a:spAutoFit/>
          </a:bodyPr>
          <a:lstStyle/>
          <a:p>
            <a:pPr marL="92075" indent="-92075"/>
            <a:r>
              <a:rPr lang="es-ES" sz="1050" dirty="0"/>
              <a:t>* 	Recordar que la distribución </a:t>
            </a:r>
            <a:r>
              <a:rPr lang="es-ES" sz="1050" i="1" dirty="0"/>
              <a:t>t-Student</a:t>
            </a:r>
            <a:r>
              <a:rPr lang="es-ES" sz="1050" dirty="0"/>
              <a:t> constituye una “corrección” de la distribución normal necesaria para muestras pequeñas (</a:t>
            </a:r>
            <a:r>
              <a:rPr lang="es-ES" sz="1100" i="1" dirty="0">
                <a:latin typeface="Times New Roman" panose="02020603050405020304" pitchFamily="18" charset="0"/>
                <a:cs typeface="Times New Roman" panose="02020603050405020304" pitchFamily="18" charset="0"/>
              </a:rPr>
              <a:t>n</a:t>
            </a:r>
            <a:r>
              <a:rPr lang="es-ES" sz="1050" dirty="0"/>
              <a:t>&lt;100) cuando </a:t>
            </a:r>
            <a:r>
              <a:rPr lang="es-ES" sz="1100" dirty="0">
                <a:latin typeface="Symbol" panose="05050102010706020507" pitchFamily="18" charset="2"/>
              </a:rPr>
              <a:t>s</a:t>
            </a:r>
            <a:r>
              <a:rPr lang="es-ES" sz="1050" dirty="0"/>
              <a:t> es desconocido (siempre, en </a:t>
            </a:r>
            <a:r>
              <a:rPr lang="es-ES" sz="1050" dirty="0" err="1"/>
              <a:t>gral.</a:t>
            </a:r>
            <a:r>
              <a:rPr lang="es-ES" sz="1050" dirty="0"/>
              <a:t>)</a:t>
            </a:r>
          </a:p>
        </p:txBody>
      </p:sp>
      <p:cxnSp>
        <p:nvCxnSpPr>
          <p:cNvPr id="9" name="Conector recto 8">
            <a:extLst>
              <a:ext uri="{FF2B5EF4-FFF2-40B4-BE49-F238E27FC236}">
                <a16:creationId xmlns:a16="http://schemas.microsoft.com/office/drawing/2014/main" id="{2B3AD017-C5A9-48D9-BF15-93633E6A1836}"/>
              </a:ext>
            </a:extLst>
          </p:cNvPr>
          <p:cNvCxnSpPr/>
          <p:nvPr/>
        </p:nvCxnSpPr>
        <p:spPr>
          <a:xfrm>
            <a:off x="228600" y="6398888"/>
            <a:ext cx="7104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728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162"/>
          <p:cNvGrpSpPr>
            <a:grpSpLocks/>
          </p:cNvGrpSpPr>
          <p:nvPr/>
        </p:nvGrpSpPr>
        <p:grpSpPr bwMode="auto">
          <a:xfrm>
            <a:off x="245269" y="2467957"/>
            <a:ext cx="5135207" cy="331788"/>
            <a:chOff x="204" y="1590"/>
            <a:chExt cx="2973" cy="209"/>
          </a:xfrm>
        </p:grpSpPr>
        <p:sp>
          <p:nvSpPr>
            <p:cNvPr id="6179" name="Text Box 33"/>
            <p:cNvSpPr txBox="1">
              <a:spLocks noChangeArrowheads="1"/>
            </p:cNvSpPr>
            <p:nvPr/>
          </p:nvSpPr>
          <p:spPr bwMode="auto">
            <a:xfrm>
              <a:off x="204" y="1590"/>
              <a:ext cx="1628" cy="1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t>2. </a:t>
              </a:r>
              <a:r>
                <a:rPr lang="es-ES_tradnl" altLang="es-ES" b="1" dirty="0"/>
                <a:t>Supuestos</a:t>
              </a:r>
              <a:r>
                <a:rPr lang="es-ES_tradnl" altLang="es-ES" dirty="0"/>
                <a:t>: asumimos que  </a:t>
              </a:r>
            </a:p>
          </p:txBody>
        </p:sp>
        <p:graphicFrame>
          <p:nvGraphicFramePr>
            <p:cNvPr id="6180" name="Object 29"/>
            <p:cNvGraphicFramePr>
              <a:graphicFrameLocks noChangeAspect="1"/>
            </p:cNvGraphicFramePr>
            <p:nvPr>
              <p:extLst>
                <p:ext uri="{D42A27DB-BD31-4B8C-83A1-F6EECF244321}">
                  <p14:modId xmlns:p14="http://schemas.microsoft.com/office/powerpoint/2010/main" val="598587777"/>
                </p:ext>
              </p:extLst>
            </p:nvPr>
          </p:nvGraphicFramePr>
          <p:xfrm>
            <a:off x="1646" y="1619"/>
            <a:ext cx="1531" cy="180"/>
          </p:xfrm>
          <a:graphic>
            <a:graphicData uri="http://schemas.openxmlformats.org/presentationml/2006/ole">
              <mc:AlternateContent xmlns:mc="http://schemas.openxmlformats.org/markup-compatibility/2006">
                <mc:Choice xmlns:v="urn:schemas-microsoft-com:vml" Requires="v">
                  <p:oleObj name="Equation" r:id="rId2" imgW="2489040" imgH="291960" progId="Equation.DSMT4">
                    <p:embed/>
                  </p:oleObj>
                </mc:Choice>
                <mc:Fallback>
                  <p:oleObj name="Equation" r:id="rId2" imgW="2489040" imgH="291960" progId="Equation.DSMT4">
                    <p:embed/>
                    <p:pic>
                      <p:nvPicPr>
                        <p:cNvPr id="6180" name="Object 29"/>
                        <p:cNvPicPr>
                          <a:picLocks noChangeAspect="1" noChangeArrowheads="1"/>
                        </p:cNvPicPr>
                        <p:nvPr/>
                      </p:nvPicPr>
                      <p:blipFill>
                        <a:blip r:embed="rId3"/>
                        <a:srcRect/>
                        <a:stretch>
                          <a:fillRect/>
                        </a:stretch>
                      </p:blipFill>
                      <p:spPr bwMode="auto">
                        <a:xfrm>
                          <a:off x="1646" y="1619"/>
                          <a:ext cx="1531" cy="180"/>
                        </a:xfrm>
                        <a:prstGeom prst="rect">
                          <a:avLst/>
                        </a:prstGeom>
                        <a:noFill/>
                        <a:ln>
                          <a:noFill/>
                        </a:ln>
                      </p:spPr>
                    </p:pic>
                  </p:oleObj>
                </mc:Fallback>
              </mc:AlternateContent>
            </a:graphicData>
          </a:graphic>
        </p:graphicFrame>
      </p:grpSp>
      <p:graphicFrame>
        <p:nvGraphicFramePr>
          <p:cNvPr id="6147" name="Object 29"/>
          <p:cNvGraphicFramePr>
            <a:graphicFrameLocks noChangeAspect="1"/>
          </p:cNvGraphicFramePr>
          <p:nvPr>
            <p:extLst>
              <p:ext uri="{D42A27DB-BD31-4B8C-83A1-F6EECF244321}">
                <p14:modId xmlns:p14="http://schemas.microsoft.com/office/powerpoint/2010/main" val="3429030931"/>
              </p:ext>
            </p:extLst>
          </p:nvPr>
        </p:nvGraphicFramePr>
        <p:xfrm>
          <a:off x="7240587" y="1859844"/>
          <a:ext cx="1446213" cy="577850"/>
        </p:xfrm>
        <a:graphic>
          <a:graphicData uri="http://schemas.openxmlformats.org/presentationml/2006/ole">
            <mc:AlternateContent xmlns:mc="http://schemas.openxmlformats.org/markup-compatibility/2006">
              <mc:Choice xmlns:v="urn:schemas-microsoft-com:vml" Requires="v">
                <p:oleObj name="Equation" r:id="rId4" imgW="1498320" imgH="596880" progId="Equation.DSMT4">
                  <p:embed/>
                </p:oleObj>
              </mc:Choice>
              <mc:Fallback>
                <p:oleObj name="Equation" r:id="rId4" imgW="1498320" imgH="596880" progId="Equation.DSMT4">
                  <p:embed/>
                  <p:pic>
                    <p:nvPicPr>
                      <p:cNvPr id="6147" name="Object 29"/>
                      <p:cNvPicPr>
                        <a:picLocks noChangeAspect="1" noChangeArrowheads="1"/>
                      </p:cNvPicPr>
                      <p:nvPr/>
                    </p:nvPicPr>
                    <p:blipFill>
                      <a:blip r:embed="rId5"/>
                      <a:srcRect/>
                      <a:stretch>
                        <a:fillRect/>
                      </a:stretch>
                    </p:blipFill>
                    <p:spPr bwMode="auto">
                      <a:xfrm>
                        <a:off x="7240587" y="1859844"/>
                        <a:ext cx="14462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0" name="Object 29"/>
          <p:cNvGraphicFramePr>
            <a:graphicFrameLocks noChangeAspect="1"/>
          </p:cNvGraphicFramePr>
          <p:nvPr>
            <p:extLst>
              <p:ext uri="{D42A27DB-BD31-4B8C-83A1-F6EECF244321}">
                <p14:modId xmlns:p14="http://schemas.microsoft.com/office/powerpoint/2010/main" val="3092031708"/>
              </p:ext>
            </p:extLst>
          </p:nvPr>
        </p:nvGraphicFramePr>
        <p:xfrm>
          <a:off x="1587500" y="2895600"/>
          <a:ext cx="1017588" cy="671512"/>
        </p:xfrm>
        <a:graphic>
          <a:graphicData uri="http://schemas.openxmlformats.org/presentationml/2006/ole">
            <mc:AlternateContent xmlns:mc="http://schemas.openxmlformats.org/markup-compatibility/2006">
              <mc:Choice xmlns:v="urn:schemas-microsoft-com:vml" Requires="v">
                <p:oleObj name="Equation" r:id="rId6" imgW="825142" imgH="545863" progId="Equation.DSMT4">
                  <p:embed/>
                </p:oleObj>
              </mc:Choice>
              <mc:Fallback>
                <p:oleObj name="Equation" r:id="rId6" imgW="825142" imgH="545863" progId="Equation.DSMT4">
                  <p:embed/>
                  <p:pic>
                    <p:nvPicPr>
                      <p:cNvPr id="6150"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7500" y="2895600"/>
                        <a:ext cx="1017588"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1" name="Text Box 156"/>
          <p:cNvSpPr txBox="1">
            <a:spLocks noChangeArrowheads="1"/>
          </p:cNvSpPr>
          <p:nvPr/>
        </p:nvSpPr>
        <p:spPr bwMode="auto">
          <a:xfrm>
            <a:off x="228600" y="855339"/>
            <a:ext cx="8658225" cy="7254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sz="1300" b="1" dirty="0">
                <a:solidFill>
                  <a:srgbClr val="2F676F"/>
                </a:solidFill>
              </a:rPr>
              <a:t>Ejemplo: </a:t>
            </a:r>
            <a:r>
              <a:rPr lang="es-ES_tradnl" altLang="es-ES" sz="1300" dirty="0">
                <a:solidFill>
                  <a:srgbClr val="2F676F"/>
                </a:solidFill>
              </a:rPr>
              <a:t>Se desea comprobar si el nivel medio de actividad física semanal (medido en </a:t>
            </a:r>
            <a:r>
              <a:rPr lang="es-ES_tradnl" altLang="es-ES" sz="1300" dirty="0" err="1">
                <a:solidFill>
                  <a:srgbClr val="2F676F"/>
                </a:solidFill>
              </a:rPr>
              <a:t>METs</a:t>
            </a:r>
            <a:r>
              <a:rPr lang="es-ES_tradnl" altLang="es-ES" sz="1300" dirty="0">
                <a:solidFill>
                  <a:srgbClr val="2F676F"/>
                </a:solidFill>
              </a:rPr>
              <a:t>/semana) en la población de estudiantes de primer curso de la UGR puede asumirse que toma un valor concreto </a:t>
            </a:r>
            <a:r>
              <a:rPr lang="es-ES_tradnl" altLang="es-ES" dirty="0">
                <a:solidFill>
                  <a:srgbClr val="2F676F"/>
                </a:solidFill>
                <a:latin typeface="Symbol" pitchFamily="18" charset="2"/>
              </a:rPr>
              <a:t>m</a:t>
            </a:r>
            <a:r>
              <a:rPr lang="es-ES_tradnl" altLang="es-ES" baseline="-25000" dirty="0">
                <a:solidFill>
                  <a:srgbClr val="2F676F"/>
                </a:solidFill>
              </a:rPr>
              <a:t>0</a:t>
            </a:r>
            <a:r>
              <a:rPr lang="es-ES_tradnl" altLang="es-ES" sz="1300" baseline="-25000" dirty="0">
                <a:solidFill>
                  <a:srgbClr val="2F676F"/>
                </a:solidFill>
              </a:rPr>
              <a:t>. </a:t>
            </a:r>
            <a:r>
              <a:rPr lang="es-ES_tradnl" altLang="es-ES" sz="1300" b="1" dirty="0">
                <a:solidFill>
                  <a:srgbClr val="2F676F"/>
                </a:solidFill>
              </a:rPr>
              <a:t>Vamos a ilustrarlo estudiando dos casos:  a)</a:t>
            </a:r>
            <a:r>
              <a:rPr lang="es-ES_tradnl" altLang="es-ES" sz="1300" dirty="0">
                <a:solidFill>
                  <a:srgbClr val="2F676F"/>
                </a:solidFill>
              </a:rPr>
              <a:t> considerando </a:t>
            </a:r>
            <a:r>
              <a:rPr lang="es-ES_tradnl" altLang="es-ES" dirty="0">
                <a:solidFill>
                  <a:srgbClr val="2F676F"/>
                </a:solidFill>
                <a:latin typeface="Symbol" pitchFamily="18" charset="2"/>
              </a:rPr>
              <a:t>m</a:t>
            </a:r>
            <a:r>
              <a:rPr lang="es-ES_tradnl" altLang="es-ES" baseline="-25000" dirty="0">
                <a:solidFill>
                  <a:srgbClr val="2F676F"/>
                </a:solidFill>
              </a:rPr>
              <a:t>0</a:t>
            </a:r>
            <a:r>
              <a:rPr lang="es-ES_tradnl" altLang="es-ES" sz="1300" dirty="0">
                <a:solidFill>
                  <a:srgbClr val="2F676F"/>
                </a:solidFill>
              </a:rPr>
              <a:t>=200;  y  </a:t>
            </a:r>
            <a:r>
              <a:rPr lang="es-ES_tradnl" altLang="es-ES" sz="1300" b="1" dirty="0">
                <a:solidFill>
                  <a:srgbClr val="2F676F"/>
                </a:solidFill>
              </a:rPr>
              <a:t>b)</a:t>
            </a:r>
            <a:r>
              <a:rPr lang="es-ES_tradnl" altLang="es-ES" sz="1300" dirty="0">
                <a:solidFill>
                  <a:srgbClr val="2F676F"/>
                </a:solidFill>
              </a:rPr>
              <a:t> considerando </a:t>
            </a:r>
            <a:r>
              <a:rPr lang="es-ES_tradnl" altLang="es-ES" dirty="0">
                <a:solidFill>
                  <a:srgbClr val="2F676F"/>
                </a:solidFill>
                <a:latin typeface="Symbol" pitchFamily="18" charset="2"/>
              </a:rPr>
              <a:t>m</a:t>
            </a:r>
            <a:r>
              <a:rPr lang="es-ES_tradnl" altLang="es-ES" baseline="-25000" dirty="0">
                <a:solidFill>
                  <a:srgbClr val="2F676F"/>
                </a:solidFill>
              </a:rPr>
              <a:t>0</a:t>
            </a:r>
            <a:r>
              <a:rPr lang="es-ES_tradnl" altLang="es-ES" sz="1300" dirty="0">
                <a:solidFill>
                  <a:srgbClr val="2F676F"/>
                </a:solidFill>
              </a:rPr>
              <a:t>=230 </a:t>
            </a:r>
            <a:endParaRPr lang="es-ES" altLang="es-ES" sz="1300" dirty="0">
              <a:solidFill>
                <a:srgbClr val="2F676F"/>
              </a:solidFill>
            </a:endParaRPr>
          </a:p>
        </p:txBody>
      </p:sp>
      <p:sp>
        <p:nvSpPr>
          <p:cNvPr id="6152" name="Text Box 158"/>
          <p:cNvSpPr txBox="1">
            <a:spLocks noChangeArrowheads="1"/>
          </p:cNvSpPr>
          <p:nvPr/>
        </p:nvSpPr>
        <p:spPr bwMode="auto">
          <a:xfrm>
            <a:off x="228600" y="1637461"/>
            <a:ext cx="2677634"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sz="1200" dirty="0"/>
              <a:t>1. </a:t>
            </a:r>
            <a:r>
              <a:rPr lang="es-ES_tradnl" altLang="es-ES" sz="1200" b="1" dirty="0"/>
              <a:t>Muestra</a:t>
            </a:r>
            <a:r>
              <a:rPr lang="es-ES_tradnl" altLang="es-ES" sz="1200" dirty="0"/>
              <a:t> e </a:t>
            </a:r>
            <a:r>
              <a:rPr lang="es-ES_tradnl" altLang="es-ES" sz="1200" b="1" dirty="0"/>
              <a:t>información</a:t>
            </a:r>
            <a:r>
              <a:rPr lang="es-ES_tradnl" altLang="es-ES" sz="1200" dirty="0"/>
              <a:t> </a:t>
            </a:r>
            <a:r>
              <a:rPr lang="es-ES_tradnl" altLang="es-ES" sz="1200" b="1" dirty="0"/>
              <a:t>muestral</a:t>
            </a:r>
            <a:endParaRPr lang="es-ES" altLang="es-ES" sz="1200" b="1" dirty="0"/>
          </a:p>
        </p:txBody>
      </p:sp>
      <p:pic>
        <p:nvPicPr>
          <p:cNvPr id="6153" name="Picture 1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3000" y="1913920"/>
            <a:ext cx="6419850" cy="460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55" name="Text Box 161"/>
          <p:cNvSpPr txBox="1">
            <a:spLocks noChangeArrowheads="1"/>
          </p:cNvSpPr>
          <p:nvPr/>
        </p:nvSpPr>
        <p:spPr bwMode="auto">
          <a:xfrm>
            <a:off x="234950" y="3078956"/>
            <a:ext cx="1185238"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t>3. </a:t>
            </a:r>
            <a:r>
              <a:rPr lang="es-ES_tradnl" altLang="es-ES" b="1" dirty="0"/>
              <a:t>Hipótesis</a:t>
            </a:r>
            <a:endParaRPr lang="es-ES" altLang="es-ES" b="1" dirty="0"/>
          </a:p>
        </p:txBody>
      </p:sp>
      <p:graphicFrame>
        <p:nvGraphicFramePr>
          <p:cNvPr id="6156" name="Object 29"/>
          <p:cNvGraphicFramePr>
            <a:graphicFrameLocks noChangeAspect="1"/>
          </p:cNvGraphicFramePr>
          <p:nvPr>
            <p:extLst>
              <p:ext uri="{D42A27DB-BD31-4B8C-83A1-F6EECF244321}">
                <p14:modId xmlns:p14="http://schemas.microsoft.com/office/powerpoint/2010/main" val="217268557"/>
              </p:ext>
            </p:extLst>
          </p:nvPr>
        </p:nvGraphicFramePr>
        <p:xfrm>
          <a:off x="3843337" y="2914650"/>
          <a:ext cx="1062038" cy="633412"/>
        </p:xfrm>
        <a:graphic>
          <a:graphicData uri="http://schemas.openxmlformats.org/presentationml/2006/ole">
            <mc:AlternateContent xmlns:mc="http://schemas.openxmlformats.org/markup-compatibility/2006">
              <mc:Choice xmlns:v="urn:schemas-microsoft-com:vml" Requires="v">
                <p:oleObj name="Equation" r:id="rId9" imgW="914003" imgH="545863" progId="Equation.DSMT4">
                  <p:embed/>
                </p:oleObj>
              </mc:Choice>
              <mc:Fallback>
                <p:oleObj name="Equation" r:id="rId9" imgW="914003" imgH="545863" progId="Equation.DSMT4">
                  <p:embed/>
                  <p:pic>
                    <p:nvPicPr>
                      <p:cNvPr id="6156"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3337" y="2914650"/>
                        <a:ext cx="1062038"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7" name="Text Box 164"/>
          <p:cNvSpPr txBox="1">
            <a:spLocks noChangeArrowheads="1"/>
          </p:cNvSpPr>
          <p:nvPr/>
        </p:nvSpPr>
        <p:spPr bwMode="auto">
          <a:xfrm>
            <a:off x="2971800" y="3078956"/>
            <a:ext cx="808532"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solidFill>
                  <a:srgbClr val="2F676F"/>
                </a:solidFill>
              </a:rPr>
              <a:t>Caso a)</a:t>
            </a:r>
            <a:endParaRPr lang="es-ES" altLang="es-ES" dirty="0">
              <a:solidFill>
                <a:srgbClr val="2F676F"/>
              </a:solidFill>
            </a:endParaRPr>
          </a:p>
        </p:txBody>
      </p:sp>
      <p:graphicFrame>
        <p:nvGraphicFramePr>
          <p:cNvPr id="6158" name="Object 29"/>
          <p:cNvGraphicFramePr>
            <a:graphicFrameLocks noChangeAspect="1"/>
          </p:cNvGraphicFramePr>
          <p:nvPr>
            <p:extLst>
              <p:ext uri="{D42A27DB-BD31-4B8C-83A1-F6EECF244321}">
                <p14:modId xmlns:p14="http://schemas.microsoft.com/office/powerpoint/2010/main" val="2953882421"/>
              </p:ext>
            </p:extLst>
          </p:nvPr>
        </p:nvGraphicFramePr>
        <p:xfrm>
          <a:off x="5815012" y="2914650"/>
          <a:ext cx="1062038" cy="633412"/>
        </p:xfrm>
        <a:graphic>
          <a:graphicData uri="http://schemas.openxmlformats.org/presentationml/2006/ole">
            <mc:AlternateContent xmlns:mc="http://schemas.openxmlformats.org/markup-compatibility/2006">
              <mc:Choice xmlns:v="urn:schemas-microsoft-com:vml" Requires="v">
                <p:oleObj name="Equation" r:id="rId11" imgW="914003" imgH="545863" progId="Equation.DSMT4">
                  <p:embed/>
                </p:oleObj>
              </mc:Choice>
              <mc:Fallback>
                <p:oleObj name="Equation" r:id="rId11" imgW="914003" imgH="545863" progId="Equation.DSMT4">
                  <p:embed/>
                  <p:pic>
                    <p:nvPicPr>
                      <p:cNvPr id="6158"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15012" y="2914650"/>
                        <a:ext cx="1062038"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9" name="Text Box 166"/>
          <p:cNvSpPr txBox="1">
            <a:spLocks noChangeArrowheads="1"/>
          </p:cNvSpPr>
          <p:nvPr/>
        </p:nvSpPr>
        <p:spPr bwMode="auto">
          <a:xfrm>
            <a:off x="5029200" y="3078956"/>
            <a:ext cx="808532"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solidFill>
                  <a:srgbClr val="2F676F"/>
                </a:solidFill>
              </a:rPr>
              <a:t>Caso b)</a:t>
            </a:r>
            <a:endParaRPr lang="es-ES" altLang="es-ES" dirty="0">
              <a:solidFill>
                <a:srgbClr val="2F676F"/>
              </a:solidFill>
            </a:endParaRPr>
          </a:p>
        </p:txBody>
      </p:sp>
      <p:grpSp>
        <p:nvGrpSpPr>
          <p:cNvPr id="6" name="Grupo 5"/>
          <p:cNvGrpSpPr/>
          <p:nvPr/>
        </p:nvGrpSpPr>
        <p:grpSpPr>
          <a:xfrm>
            <a:off x="447675" y="4757738"/>
            <a:ext cx="2860675" cy="576262"/>
            <a:chOff x="533400" y="4764088"/>
            <a:chExt cx="2860675" cy="576262"/>
          </a:xfrm>
        </p:grpSpPr>
        <p:graphicFrame>
          <p:nvGraphicFramePr>
            <p:cNvPr id="6149" name="Object 29"/>
            <p:cNvGraphicFramePr>
              <a:graphicFrameLocks noChangeAspect="1"/>
            </p:cNvGraphicFramePr>
            <p:nvPr>
              <p:extLst>
                <p:ext uri="{D42A27DB-BD31-4B8C-83A1-F6EECF244321}">
                  <p14:modId xmlns:p14="http://schemas.microsoft.com/office/powerpoint/2010/main" val="2254092414"/>
                </p:ext>
              </p:extLst>
            </p:nvPr>
          </p:nvGraphicFramePr>
          <p:xfrm>
            <a:off x="1352550" y="4764088"/>
            <a:ext cx="2041525" cy="576262"/>
          </p:xfrm>
          <a:graphic>
            <a:graphicData uri="http://schemas.openxmlformats.org/presentationml/2006/ole">
              <mc:AlternateContent xmlns:mc="http://schemas.openxmlformats.org/markup-compatibility/2006">
                <mc:Choice xmlns:v="urn:schemas-microsoft-com:vml" Requires="v">
                  <p:oleObj name="Equation" r:id="rId13" imgW="1892160" imgH="533160" progId="Equation.DSMT4">
                    <p:embed/>
                  </p:oleObj>
                </mc:Choice>
                <mc:Fallback>
                  <p:oleObj name="Equation" r:id="rId13" imgW="1892160" imgH="533160" progId="Equation.DSMT4">
                    <p:embed/>
                    <p:pic>
                      <p:nvPicPr>
                        <p:cNvPr id="6149" name="Object 29"/>
                        <p:cNvPicPr>
                          <a:picLocks noChangeAspect="1" noChangeArrowheads="1"/>
                        </p:cNvPicPr>
                        <p:nvPr/>
                      </p:nvPicPr>
                      <p:blipFill>
                        <a:blip r:embed="rId14"/>
                        <a:srcRect/>
                        <a:stretch>
                          <a:fillRect/>
                        </a:stretch>
                      </p:blipFill>
                      <p:spPr bwMode="auto">
                        <a:xfrm>
                          <a:off x="1352550" y="4764088"/>
                          <a:ext cx="20415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61" name="Text Box 169"/>
            <p:cNvSpPr txBox="1">
              <a:spLocks noChangeArrowheads="1"/>
            </p:cNvSpPr>
            <p:nvPr/>
          </p:nvSpPr>
          <p:spPr bwMode="auto">
            <a:xfrm>
              <a:off x="533400" y="4889500"/>
              <a:ext cx="808532"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solidFill>
                    <a:schemeClr val="accent5">
                      <a:lumMod val="25000"/>
                    </a:schemeClr>
                  </a:solidFill>
                </a:rPr>
                <a:t>Caso a)</a:t>
              </a:r>
              <a:endParaRPr lang="es-ES" altLang="es-ES" dirty="0">
                <a:solidFill>
                  <a:schemeClr val="accent5">
                    <a:lumMod val="25000"/>
                  </a:schemeClr>
                </a:solidFill>
              </a:endParaRPr>
            </a:p>
          </p:txBody>
        </p:sp>
      </p:grpSp>
      <p:grpSp>
        <p:nvGrpSpPr>
          <p:cNvPr id="7" name="Grupo 6"/>
          <p:cNvGrpSpPr/>
          <p:nvPr/>
        </p:nvGrpSpPr>
        <p:grpSpPr>
          <a:xfrm>
            <a:off x="447675" y="5587939"/>
            <a:ext cx="2859088" cy="576262"/>
            <a:chOff x="533400" y="5649913"/>
            <a:chExt cx="2859088" cy="576262"/>
          </a:xfrm>
        </p:grpSpPr>
        <p:graphicFrame>
          <p:nvGraphicFramePr>
            <p:cNvPr id="6160" name="Object 29"/>
            <p:cNvGraphicFramePr>
              <a:graphicFrameLocks noChangeAspect="1"/>
            </p:cNvGraphicFramePr>
            <p:nvPr>
              <p:extLst>
                <p:ext uri="{D42A27DB-BD31-4B8C-83A1-F6EECF244321}">
                  <p14:modId xmlns:p14="http://schemas.microsoft.com/office/powerpoint/2010/main" val="2362023019"/>
                </p:ext>
              </p:extLst>
            </p:nvPr>
          </p:nvGraphicFramePr>
          <p:xfrm>
            <a:off x="1352550" y="5649913"/>
            <a:ext cx="2039938" cy="576262"/>
          </p:xfrm>
          <a:graphic>
            <a:graphicData uri="http://schemas.openxmlformats.org/presentationml/2006/ole">
              <mc:AlternateContent xmlns:mc="http://schemas.openxmlformats.org/markup-compatibility/2006">
                <mc:Choice xmlns:v="urn:schemas-microsoft-com:vml" Requires="v">
                  <p:oleObj name="Equation" r:id="rId15" imgW="1892160" imgH="533160" progId="Equation.DSMT4">
                    <p:embed/>
                  </p:oleObj>
                </mc:Choice>
                <mc:Fallback>
                  <p:oleObj name="Equation" r:id="rId15" imgW="1892160" imgH="533160" progId="Equation.DSMT4">
                    <p:embed/>
                    <p:pic>
                      <p:nvPicPr>
                        <p:cNvPr id="6160" name="Object 29"/>
                        <p:cNvPicPr>
                          <a:picLocks noChangeAspect="1" noChangeArrowheads="1"/>
                        </p:cNvPicPr>
                        <p:nvPr/>
                      </p:nvPicPr>
                      <p:blipFill>
                        <a:blip r:embed="rId16"/>
                        <a:srcRect/>
                        <a:stretch>
                          <a:fillRect/>
                        </a:stretch>
                      </p:blipFill>
                      <p:spPr bwMode="auto">
                        <a:xfrm>
                          <a:off x="1352550" y="5649913"/>
                          <a:ext cx="20399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62" name="Text Box 170"/>
            <p:cNvSpPr txBox="1">
              <a:spLocks noChangeArrowheads="1"/>
            </p:cNvSpPr>
            <p:nvPr/>
          </p:nvSpPr>
          <p:spPr bwMode="auto">
            <a:xfrm>
              <a:off x="533400" y="5776913"/>
              <a:ext cx="808532"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solidFill>
                    <a:schemeClr val="accent5">
                      <a:lumMod val="25000"/>
                    </a:schemeClr>
                  </a:solidFill>
                </a:rPr>
                <a:t>Caso b)</a:t>
              </a:r>
              <a:endParaRPr lang="es-ES" altLang="es-ES" dirty="0">
                <a:solidFill>
                  <a:schemeClr val="accent5">
                    <a:lumMod val="25000"/>
                  </a:schemeClr>
                </a:solidFill>
              </a:endParaRPr>
            </a:p>
          </p:txBody>
        </p:sp>
      </p:grpSp>
      <p:grpSp>
        <p:nvGrpSpPr>
          <p:cNvPr id="5" name="Grupo 4"/>
          <p:cNvGrpSpPr/>
          <p:nvPr/>
        </p:nvGrpSpPr>
        <p:grpSpPr>
          <a:xfrm>
            <a:off x="4572000" y="4267200"/>
            <a:ext cx="4243388" cy="2038130"/>
            <a:chOff x="3429000" y="4595813"/>
            <a:chExt cx="4243388" cy="2038130"/>
          </a:xfrm>
        </p:grpSpPr>
        <p:sp>
          <p:nvSpPr>
            <p:cNvPr id="6163" name="Text Box 41"/>
            <p:cNvSpPr txBox="1">
              <a:spLocks noChangeArrowheads="1"/>
            </p:cNvSpPr>
            <p:nvPr/>
          </p:nvSpPr>
          <p:spPr bwMode="auto">
            <a:xfrm>
              <a:off x="5421313" y="6323013"/>
              <a:ext cx="265112"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a:t>0</a:t>
              </a:r>
            </a:p>
          </p:txBody>
        </p:sp>
        <p:sp>
          <p:nvSpPr>
            <p:cNvPr id="6164" name="Line 36"/>
            <p:cNvSpPr>
              <a:spLocks noChangeShapeType="1"/>
            </p:cNvSpPr>
            <p:nvPr/>
          </p:nvSpPr>
          <p:spPr bwMode="auto">
            <a:xfrm>
              <a:off x="3429000" y="6321425"/>
              <a:ext cx="4243388" cy="0"/>
            </a:xfrm>
            <a:prstGeom prst="line">
              <a:avLst/>
            </a:prstGeom>
            <a:noFill/>
            <a:ln w="254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6165" name="Group 184"/>
            <p:cNvGrpSpPr>
              <a:grpSpLocks/>
            </p:cNvGrpSpPr>
            <p:nvPr/>
          </p:nvGrpSpPr>
          <p:grpSpPr bwMode="auto">
            <a:xfrm>
              <a:off x="4003675" y="4595813"/>
              <a:ext cx="3094038" cy="1758950"/>
              <a:chOff x="2750" y="2793"/>
              <a:chExt cx="1949" cy="1108"/>
            </a:xfrm>
          </p:grpSpPr>
          <p:sp>
            <p:nvSpPr>
              <p:cNvPr id="6177" name="Freeform 34"/>
              <p:cNvSpPr>
                <a:spLocks/>
              </p:cNvSpPr>
              <p:nvPr/>
            </p:nvSpPr>
            <p:spPr bwMode="auto">
              <a:xfrm>
                <a:off x="2750" y="2857"/>
                <a:ext cx="1949" cy="1023"/>
              </a:xfrm>
              <a:custGeom>
                <a:avLst/>
                <a:gdLst>
                  <a:gd name="T0" fmla="*/ 0 w 9513"/>
                  <a:gd name="T1" fmla="*/ 67820 h 5006"/>
                  <a:gd name="T2" fmla="*/ 10840 w 9513"/>
                  <a:gd name="T3" fmla="*/ 65734 h 5006"/>
                  <a:gd name="T4" fmla="*/ 12969 w 9513"/>
                  <a:gd name="T5" fmla="*/ 64948 h 5006"/>
                  <a:gd name="T6" fmla="*/ 15331 w 9513"/>
                  <a:gd name="T7" fmla="*/ 63620 h 5006"/>
                  <a:gd name="T8" fmla="*/ 17202 w 9513"/>
                  <a:gd name="T9" fmla="*/ 62591 h 5006"/>
                  <a:gd name="T10" fmla="*/ 19577 w 9513"/>
                  <a:gd name="T11" fmla="*/ 61006 h 5006"/>
                  <a:gd name="T12" fmla="*/ 21679 w 9513"/>
                  <a:gd name="T13" fmla="*/ 59448 h 5006"/>
                  <a:gd name="T14" fmla="*/ 23809 w 9513"/>
                  <a:gd name="T15" fmla="*/ 57361 h 5006"/>
                  <a:gd name="T16" fmla="*/ 25911 w 9513"/>
                  <a:gd name="T17" fmla="*/ 54990 h 5006"/>
                  <a:gd name="T18" fmla="*/ 28041 w 9513"/>
                  <a:gd name="T19" fmla="*/ 52362 h 5006"/>
                  <a:gd name="T20" fmla="*/ 30403 w 9513"/>
                  <a:gd name="T21" fmla="*/ 49490 h 5006"/>
                  <a:gd name="T22" fmla="*/ 32533 w 9513"/>
                  <a:gd name="T23" fmla="*/ 46347 h 5006"/>
                  <a:gd name="T24" fmla="*/ 34649 w 9513"/>
                  <a:gd name="T25" fmla="*/ 42946 h 5006"/>
                  <a:gd name="T26" fmla="*/ 36765 w 9513"/>
                  <a:gd name="T27" fmla="*/ 39275 h 5006"/>
                  <a:gd name="T28" fmla="*/ 39140 w 9513"/>
                  <a:gd name="T29" fmla="*/ 35346 h 5006"/>
                  <a:gd name="T30" fmla="*/ 40997 w 9513"/>
                  <a:gd name="T31" fmla="*/ 31160 h 5006"/>
                  <a:gd name="T32" fmla="*/ 43372 w 9513"/>
                  <a:gd name="T33" fmla="*/ 26960 h 5006"/>
                  <a:gd name="T34" fmla="*/ 45502 w 9513"/>
                  <a:gd name="T35" fmla="*/ 23045 h 5006"/>
                  <a:gd name="T36" fmla="*/ 47605 w 9513"/>
                  <a:gd name="T37" fmla="*/ 18845 h 5006"/>
                  <a:gd name="T38" fmla="*/ 49734 w 9513"/>
                  <a:gd name="T39" fmla="*/ 14930 h 5006"/>
                  <a:gd name="T40" fmla="*/ 51837 w 9513"/>
                  <a:gd name="T41" fmla="*/ 11258 h 5006"/>
                  <a:gd name="T42" fmla="*/ 54212 w 9513"/>
                  <a:gd name="T43" fmla="*/ 8115 h 5006"/>
                  <a:gd name="T44" fmla="*/ 56342 w 9513"/>
                  <a:gd name="T45" fmla="*/ 5229 h 5006"/>
                  <a:gd name="T46" fmla="*/ 58444 w 9513"/>
                  <a:gd name="T47" fmla="*/ 3143 h 5006"/>
                  <a:gd name="T48" fmla="*/ 60574 w 9513"/>
                  <a:gd name="T49" fmla="*/ 1301 h 5006"/>
                  <a:gd name="T50" fmla="*/ 62949 w 9513"/>
                  <a:gd name="T51" fmla="*/ 528 h 5006"/>
                  <a:gd name="T52" fmla="*/ 65066 w 9513"/>
                  <a:gd name="T53" fmla="*/ 0 h 5006"/>
                  <a:gd name="T54" fmla="*/ 67182 w 9513"/>
                  <a:gd name="T55" fmla="*/ 528 h 5006"/>
                  <a:gd name="T56" fmla="*/ 69298 w 9513"/>
                  <a:gd name="T57" fmla="*/ 1301 h 5006"/>
                  <a:gd name="T58" fmla="*/ 71414 w 9513"/>
                  <a:gd name="T59" fmla="*/ 3143 h 5006"/>
                  <a:gd name="T60" fmla="*/ 73530 w 9513"/>
                  <a:gd name="T61" fmla="*/ 5229 h 5006"/>
                  <a:gd name="T62" fmla="*/ 75905 w 9513"/>
                  <a:gd name="T63" fmla="*/ 8115 h 5006"/>
                  <a:gd name="T64" fmla="*/ 78035 w 9513"/>
                  <a:gd name="T65" fmla="*/ 11258 h 5006"/>
                  <a:gd name="T66" fmla="*/ 80137 w 9513"/>
                  <a:gd name="T67" fmla="*/ 14930 h 5006"/>
                  <a:gd name="T68" fmla="*/ 82267 w 9513"/>
                  <a:gd name="T69" fmla="*/ 18845 h 5006"/>
                  <a:gd name="T70" fmla="*/ 84369 w 9513"/>
                  <a:gd name="T71" fmla="*/ 23045 h 5006"/>
                  <a:gd name="T72" fmla="*/ 86758 w 9513"/>
                  <a:gd name="T73" fmla="*/ 26960 h 5006"/>
                  <a:gd name="T74" fmla="*/ 88875 w 9513"/>
                  <a:gd name="T75" fmla="*/ 31160 h 5006"/>
                  <a:gd name="T76" fmla="*/ 90977 w 9513"/>
                  <a:gd name="T77" fmla="*/ 35346 h 5006"/>
                  <a:gd name="T78" fmla="*/ 93107 w 9513"/>
                  <a:gd name="T79" fmla="*/ 39275 h 5006"/>
                  <a:gd name="T80" fmla="*/ 95209 w 9513"/>
                  <a:gd name="T81" fmla="*/ 42946 h 5006"/>
                  <a:gd name="T82" fmla="*/ 97339 w 9513"/>
                  <a:gd name="T83" fmla="*/ 46347 h 5006"/>
                  <a:gd name="T84" fmla="*/ 99714 w 9513"/>
                  <a:gd name="T85" fmla="*/ 49490 h 5006"/>
                  <a:gd name="T86" fmla="*/ 101830 w 9513"/>
                  <a:gd name="T87" fmla="*/ 52362 h 5006"/>
                  <a:gd name="T88" fmla="*/ 103946 w 9513"/>
                  <a:gd name="T89" fmla="*/ 54990 h 5006"/>
                  <a:gd name="T90" fmla="*/ 106062 w 9513"/>
                  <a:gd name="T91" fmla="*/ 57361 h 5006"/>
                  <a:gd name="T92" fmla="*/ 108179 w 9513"/>
                  <a:gd name="T93" fmla="*/ 59448 h 5006"/>
                  <a:gd name="T94" fmla="*/ 110568 w 9513"/>
                  <a:gd name="T95" fmla="*/ 61006 h 5006"/>
                  <a:gd name="T96" fmla="*/ 112670 w 9513"/>
                  <a:gd name="T97" fmla="*/ 62591 h 5006"/>
                  <a:gd name="T98" fmla="*/ 114800 w 9513"/>
                  <a:gd name="T99" fmla="*/ 63620 h 5006"/>
                  <a:gd name="T100" fmla="*/ 116902 w 9513"/>
                  <a:gd name="T101" fmla="*/ 64948 h 5006"/>
                  <a:gd name="T102" fmla="*/ 119032 w 9513"/>
                  <a:gd name="T103" fmla="*/ 65734 h 5006"/>
                  <a:gd name="T104" fmla="*/ 121134 w 9513"/>
                  <a:gd name="T105" fmla="*/ 66262 h 5006"/>
                  <a:gd name="T106" fmla="*/ 123537 w 9513"/>
                  <a:gd name="T107" fmla="*/ 66777 h 5006"/>
                  <a:gd name="T108" fmla="*/ 125640 w 9513"/>
                  <a:gd name="T109" fmla="*/ 67292 h 5006"/>
                  <a:gd name="T110" fmla="*/ 127742 w 9513"/>
                  <a:gd name="T111" fmla="*/ 67563 h 5006"/>
                  <a:gd name="T112" fmla="*/ 129872 w 9513"/>
                  <a:gd name="T113" fmla="*/ 67820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941"/>
                </a:srgbClr>
              </a:solidFill>
              <a:ln w="11176">
                <a:solidFill>
                  <a:srgbClr val="000000"/>
                </a:solidFill>
                <a:prstDash val="solid"/>
                <a:round/>
                <a:headEnd/>
                <a:tailEnd/>
              </a:ln>
            </p:spPr>
            <p:txBody>
              <a:bodyPr/>
              <a:lstStyle/>
              <a:p>
                <a:endParaRPr lang="es-ES"/>
              </a:p>
            </p:txBody>
          </p:sp>
          <p:sp>
            <p:nvSpPr>
              <p:cNvPr id="6178" name="Line 35"/>
              <p:cNvSpPr>
                <a:spLocks noChangeShapeType="1"/>
              </p:cNvSpPr>
              <p:nvPr/>
            </p:nvSpPr>
            <p:spPr bwMode="auto">
              <a:xfrm>
                <a:off x="3725" y="2793"/>
                <a:ext cx="0" cy="1108"/>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6168" name="Line 174"/>
            <p:cNvSpPr>
              <a:spLocks noChangeShapeType="1"/>
            </p:cNvSpPr>
            <p:nvPr/>
          </p:nvSpPr>
          <p:spPr bwMode="auto">
            <a:xfrm flipH="1">
              <a:off x="5653088" y="4738688"/>
              <a:ext cx="3175" cy="1639887"/>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6169" name="Line 175"/>
            <p:cNvSpPr>
              <a:spLocks noChangeShapeType="1"/>
            </p:cNvSpPr>
            <p:nvPr/>
          </p:nvSpPr>
          <p:spPr bwMode="auto">
            <a:xfrm>
              <a:off x="6754813" y="6227763"/>
              <a:ext cx="0" cy="185737"/>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6170" name="Text Box 176"/>
            <p:cNvSpPr txBox="1">
              <a:spLocks noChangeArrowheads="1"/>
            </p:cNvSpPr>
            <p:nvPr/>
          </p:nvSpPr>
          <p:spPr bwMode="auto">
            <a:xfrm>
              <a:off x="5616575" y="6354763"/>
              <a:ext cx="4762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0.57</a:t>
              </a:r>
              <a:endParaRPr lang="es-ES" altLang="es-ES" sz="1200" dirty="0">
                <a:solidFill>
                  <a:srgbClr val="005A58"/>
                </a:solidFill>
              </a:endParaRPr>
            </a:p>
          </p:txBody>
        </p:sp>
        <p:sp>
          <p:nvSpPr>
            <p:cNvPr id="6171" name="Text Box 177"/>
            <p:cNvSpPr txBox="1">
              <a:spLocks noChangeArrowheads="1"/>
            </p:cNvSpPr>
            <p:nvPr/>
          </p:nvSpPr>
          <p:spPr bwMode="auto">
            <a:xfrm>
              <a:off x="6837117" y="6354763"/>
              <a:ext cx="479917"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2.25</a:t>
              </a:r>
              <a:endParaRPr lang="es-ES" altLang="es-ES" sz="1200" dirty="0">
                <a:solidFill>
                  <a:srgbClr val="005A58"/>
                </a:solidFill>
              </a:endParaRPr>
            </a:p>
          </p:txBody>
        </p:sp>
        <p:sp>
          <p:nvSpPr>
            <p:cNvPr id="6172" name="Line 178"/>
            <p:cNvSpPr>
              <a:spLocks noChangeShapeType="1"/>
            </p:cNvSpPr>
            <p:nvPr/>
          </p:nvSpPr>
          <p:spPr bwMode="auto">
            <a:xfrm>
              <a:off x="5651500" y="6318250"/>
              <a:ext cx="76200" cy="9525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6173" name="Line 179"/>
            <p:cNvSpPr>
              <a:spLocks noChangeShapeType="1"/>
            </p:cNvSpPr>
            <p:nvPr/>
          </p:nvSpPr>
          <p:spPr bwMode="auto">
            <a:xfrm>
              <a:off x="6754813" y="6318250"/>
              <a:ext cx="76200" cy="9525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6175" name="Line 182"/>
          <p:cNvSpPr>
            <a:spLocks noChangeShapeType="1"/>
          </p:cNvSpPr>
          <p:nvPr/>
        </p:nvSpPr>
        <p:spPr bwMode="auto">
          <a:xfrm>
            <a:off x="2679700" y="3231356"/>
            <a:ext cx="292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40" name="Text Box 33"/>
          <p:cNvSpPr txBox="1">
            <a:spLocks noChangeArrowheads="1"/>
          </p:cNvSpPr>
          <p:nvPr/>
        </p:nvSpPr>
        <p:spPr bwMode="auto">
          <a:xfrm>
            <a:off x="245269" y="71042"/>
            <a:ext cx="3633787"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Hipótesis estadísticas</a:t>
            </a:r>
          </a:p>
        </p:txBody>
      </p:sp>
      <p:sp>
        <p:nvSpPr>
          <p:cNvPr id="41" name="Text Box 33"/>
          <p:cNvSpPr txBox="1">
            <a:spLocks noChangeArrowheads="1"/>
          </p:cNvSpPr>
          <p:nvPr/>
        </p:nvSpPr>
        <p:spPr bwMode="auto">
          <a:xfrm>
            <a:off x="228600" y="381000"/>
            <a:ext cx="6553200"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Evidencia muestral para tomar una decisión: el estadístico de contraste</a:t>
            </a:r>
          </a:p>
        </p:txBody>
      </p:sp>
      <p:grpSp>
        <p:nvGrpSpPr>
          <p:cNvPr id="10" name="Grupo 9">
            <a:extLst>
              <a:ext uri="{FF2B5EF4-FFF2-40B4-BE49-F238E27FC236}">
                <a16:creationId xmlns:a16="http://schemas.microsoft.com/office/drawing/2014/main" id="{F2826CED-5A6E-47ED-AFA6-59D0A3795728}"/>
              </a:ext>
            </a:extLst>
          </p:cNvPr>
          <p:cNvGrpSpPr/>
          <p:nvPr/>
        </p:nvGrpSpPr>
        <p:grpSpPr>
          <a:xfrm>
            <a:off x="228600" y="3773364"/>
            <a:ext cx="6638922" cy="996497"/>
            <a:chOff x="214312" y="3598472"/>
            <a:chExt cx="6638922" cy="996497"/>
          </a:xfrm>
        </p:grpSpPr>
        <p:sp>
          <p:nvSpPr>
            <p:cNvPr id="6174" name="Text Box 167"/>
            <p:cNvSpPr txBox="1">
              <a:spLocks noChangeArrowheads="1"/>
            </p:cNvSpPr>
            <p:nvPr/>
          </p:nvSpPr>
          <p:spPr bwMode="auto">
            <a:xfrm>
              <a:off x="214312" y="3598472"/>
              <a:ext cx="6638922" cy="525401"/>
            </a:xfrm>
            <a:prstGeom prst="rect">
              <a:avLst/>
            </a:prstGeom>
            <a:noFill/>
            <a:ln>
              <a:noFill/>
            </a:ln>
            <a:effec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marL="180975" indent="-180975" eaLnBrk="1" hangingPunct="1"/>
              <a:r>
                <a:rPr lang="es-ES_tradnl" altLang="es-ES" dirty="0"/>
                <a:t>4. Obtenemos una </a:t>
              </a:r>
              <a:r>
                <a:rPr lang="es-ES_tradnl" altLang="es-ES" b="1" dirty="0"/>
                <a:t>medida resumen</a:t>
              </a:r>
              <a:r>
                <a:rPr lang="es-ES_tradnl" altLang="es-ES" dirty="0"/>
                <a:t> de la </a:t>
              </a:r>
              <a:r>
                <a:rPr lang="es-ES_tradnl" altLang="es-ES" b="1" dirty="0"/>
                <a:t>información muestral</a:t>
              </a:r>
              <a:r>
                <a:rPr lang="es-ES_tradnl" altLang="es-ES" dirty="0"/>
                <a:t> que permita </a:t>
              </a:r>
              <a:r>
                <a:rPr lang="es-ES_tradnl" altLang="es-ES" b="1" dirty="0"/>
                <a:t>decidir</a:t>
              </a:r>
              <a:r>
                <a:rPr lang="es-ES_tradnl" altLang="es-ES" dirty="0"/>
                <a:t> por H</a:t>
              </a:r>
              <a:r>
                <a:rPr lang="es-ES_tradnl" altLang="es-ES" baseline="-25000" dirty="0"/>
                <a:t>0</a:t>
              </a:r>
              <a:r>
                <a:rPr lang="es-ES_tradnl" altLang="es-ES" dirty="0"/>
                <a:t> o H</a:t>
              </a:r>
              <a:r>
                <a:rPr lang="es-ES_tradnl" altLang="es-ES" baseline="-25000" dirty="0"/>
                <a:t>1</a:t>
              </a:r>
              <a:r>
                <a:rPr lang="es-ES_tradnl" altLang="es-ES" dirty="0"/>
                <a:t>, </a:t>
              </a:r>
            </a:p>
          </p:txBody>
        </p:sp>
        <p:graphicFrame>
          <p:nvGraphicFramePr>
            <p:cNvPr id="6148" name="Object 29"/>
            <p:cNvGraphicFramePr>
              <a:graphicFrameLocks noChangeAspect="1"/>
            </p:cNvGraphicFramePr>
            <p:nvPr>
              <p:extLst>
                <p:ext uri="{D42A27DB-BD31-4B8C-83A1-F6EECF244321}">
                  <p14:modId xmlns:p14="http://schemas.microsoft.com/office/powerpoint/2010/main" val="1000078252"/>
                </p:ext>
              </p:extLst>
            </p:nvPr>
          </p:nvGraphicFramePr>
          <p:xfrm>
            <a:off x="2915864" y="3980606"/>
            <a:ext cx="1095375" cy="614363"/>
          </p:xfrm>
          <a:graphic>
            <a:graphicData uri="http://schemas.openxmlformats.org/presentationml/2006/ole">
              <mc:AlternateContent xmlns:mc="http://schemas.openxmlformats.org/markup-compatibility/2006">
                <mc:Choice xmlns:v="urn:schemas-microsoft-com:vml" Requires="v">
                  <p:oleObj name="Equation" r:id="rId17" imgW="952200" imgH="533160" progId="Equation.DSMT4">
                    <p:embed/>
                  </p:oleObj>
                </mc:Choice>
                <mc:Fallback>
                  <p:oleObj name="Equation" r:id="rId17" imgW="952200" imgH="533160" progId="Equation.DSMT4">
                    <p:embed/>
                    <p:pic>
                      <p:nvPicPr>
                        <p:cNvPr id="6148" name="Object 29"/>
                        <p:cNvPicPr>
                          <a:picLocks noChangeAspect="1" noChangeArrowheads="1"/>
                        </p:cNvPicPr>
                        <p:nvPr/>
                      </p:nvPicPr>
                      <p:blipFill>
                        <a:blip r:embed="rId18"/>
                        <a:srcRect/>
                        <a:stretch>
                          <a:fillRect/>
                        </a:stretch>
                      </p:blipFill>
                      <p:spPr bwMode="auto">
                        <a:xfrm>
                          <a:off x="2915864" y="3980606"/>
                          <a:ext cx="10953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ángulo 16"/>
            <p:cNvSpPr/>
            <p:nvPr/>
          </p:nvSpPr>
          <p:spPr>
            <a:xfrm>
              <a:off x="366712" y="4110689"/>
              <a:ext cx="2569934" cy="307777"/>
            </a:xfrm>
            <a:prstGeom prst="rect">
              <a:avLst/>
            </a:prstGeom>
          </p:spPr>
          <p:txBody>
            <a:bodyPr wrap="none">
              <a:spAutoFit/>
            </a:bodyPr>
            <a:lstStyle/>
            <a:p>
              <a:r>
                <a:rPr lang="es-ES_tradnl" altLang="es-ES" sz="1400" dirty="0"/>
                <a:t> el  </a:t>
              </a:r>
              <a:r>
                <a:rPr lang="es-ES_tradnl" altLang="es-ES" sz="1400" b="1" dirty="0">
                  <a:solidFill>
                    <a:srgbClr val="8A0000"/>
                  </a:solidFill>
                </a:rPr>
                <a:t>Estadístico de Contraste</a:t>
              </a:r>
              <a:endParaRPr lang="es-ES" sz="1400" dirty="0">
                <a:solidFill>
                  <a:srgbClr val="8A0000"/>
                </a:solidFill>
              </a:endParaRPr>
            </a:p>
          </p:txBody>
        </p:sp>
      </p:grpSp>
      <p:sp>
        <p:nvSpPr>
          <p:cNvPr id="61" name="Text Box 169">
            <a:extLst>
              <a:ext uri="{FF2B5EF4-FFF2-40B4-BE49-F238E27FC236}">
                <a16:creationId xmlns:a16="http://schemas.microsoft.com/office/drawing/2014/main" id="{9E82D543-CF8E-4888-8964-2B7F9830585E}"/>
              </a:ext>
            </a:extLst>
          </p:cNvPr>
          <p:cNvSpPr txBox="1">
            <a:spLocks noChangeArrowheads="1"/>
          </p:cNvSpPr>
          <p:nvPr/>
        </p:nvSpPr>
        <p:spPr bwMode="auto">
          <a:xfrm>
            <a:off x="6628359" y="6254977"/>
            <a:ext cx="689910" cy="2637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100" dirty="0">
                <a:solidFill>
                  <a:schemeClr val="accent5">
                    <a:lumMod val="25000"/>
                  </a:schemeClr>
                </a:solidFill>
              </a:rPr>
              <a:t>(caso a)</a:t>
            </a:r>
            <a:endParaRPr lang="es-ES" altLang="es-ES" sz="1100" dirty="0">
              <a:solidFill>
                <a:schemeClr val="accent5">
                  <a:lumMod val="25000"/>
                </a:schemeClr>
              </a:solidFill>
            </a:endParaRPr>
          </a:p>
        </p:txBody>
      </p:sp>
      <p:sp>
        <p:nvSpPr>
          <p:cNvPr id="62" name="Text Box 169">
            <a:extLst>
              <a:ext uri="{FF2B5EF4-FFF2-40B4-BE49-F238E27FC236}">
                <a16:creationId xmlns:a16="http://schemas.microsoft.com/office/drawing/2014/main" id="{5CB4D0C2-E1F3-4D22-98D0-341C7846792E}"/>
              </a:ext>
            </a:extLst>
          </p:cNvPr>
          <p:cNvSpPr txBox="1">
            <a:spLocks noChangeArrowheads="1"/>
          </p:cNvSpPr>
          <p:nvPr/>
        </p:nvSpPr>
        <p:spPr bwMode="auto">
          <a:xfrm>
            <a:off x="7805270" y="6263264"/>
            <a:ext cx="689910" cy="2637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100" dirty="0">
                <a:solidFill>
                  <a:schemeClr val="accent5">
                    <a:lumMod val="25000"/>
                  </a:schemeClr>
                </a:solidFill>
              </a:rPr>
              <a:t>(caso b)</a:t>
            </a:r>
            <a:endParaRPr lang="es-ES" altLang="es-ES" sz="1100" dirty="0">
              <a:solidFill>
                <a:schemeClr val="accent5">
                  <a:lumMod val="25000"/>
                </a:schemeClr>
              </a:solidFill>
            </a:endParaRPr>
          </a:p>
        </p:txBody>
      </p:sp>
      <p:grpSp>
        <p:nvGrpSpPr>
          <p:cNvPr id="21" name="Grupo 20">
            <a:extLst>
              <a:ext uri="{FF2B5EF4-FFF2-40B4-BE49-F238E27FC236}">
                <a16:creationId xmlns:a16="http://schemas.microsoft.com/office/drawing/2014/main" id="{D61AEF90-96CE-46EF-9BF7-4D56B8AAAC3F}"/>
              </a:ext>
            </a:extLst>
          </p:cNvPr>
          <p:cNvGrpSpPr/>
          <p:nvPr/>
        </p:nvGrpSpPr>
        <p:grpSpPr>
          <a:xfrm>
            <a:off x="4267200" y="4112951"/>
            <a:ext cx="1610507" cy="693546"/>
            <a:chOff x="4267200" y="4112951"/>
            <a:chExt cx="1610507" cy="693546"/>
          </a:xfrm>
        </p:grpSpPr>
        <p:grpSp>
          <p:nvGrpSpPr>
            <p:cNvPr id="15" name="Grupo 14">
              <a:extLst>
                <a:ext uri="{FF2B5EF4-FFF2-40B4-BE49-F238E27FC236}">
                  <a16:creationId xmlns:a16="http://schemas.microsoft.com/office/drawing/2014/main" id="{C1A62137-9299-429F-B932-FC43CD3232AD}"/>
                </a:ext>
              </a:extLst>
            </p:cNvPr>
            <p:cNvGrpSpPr/>
            <p:nvPr/>
          </p:nvGrpSpPr>
          <p:grpSpPr>
            <a:xfrm>
              <a:off x="4455708" y="4112951"/>
              <a:ext cx="1421999" cy="693546"/>
              <a:chOff x="4494155" y="4150735"/>
              <a:chExt cx="1421999" cy="693546"/>
            </a:xfrm>
          </p:grpSpPr>
          <p:sp>
            <p:nvSpPr>
              <p:cNvPr id="14" name="CuadroTexto 13">
                <a:extLst>
                  <a:ext uri="{FF2B5EF4-FFF2-40B4-BE49-F238E27FC236}">
                    <a16:creationId xmlns:a16="http://schemas.microsoft.com/office/drawing/2014/main" id="{C188240C-C554-4C7C-B457-0D61CB001FA9}"/>
                  </a:ext>
                </a:extLst>
              </p:cNvPr>
              <p:cNvSpPr txBox="1"/>
              <p:nvPr/>
            </p:nvSpPr>
            <p:spPr>
              <a:xfrm>
                <a:off x="4524317" y="4267200"/>
                <a:ext cx="1391837" cy="577081"/>
              </a:xfrm>
              <a:prstGeom prst="rect">
                <a:avLst/>
              </a:prstGeom>
              <a:noFill/>
            </p:spPr>
            <p:txBody>
              <a:bodyPr wrap="square" rtlCol="0">
                <a:spAutoFit/>
              </a:bodyPr>
              <a:lstStyle/>
              <a:p>
                <a:pPr algn="ctr"/>
                <a:r>
                  <a:rPr lang="es-ES" sz="1050" dirty="0">
                    <a:solidFill>
                      <a:schemeClr val="accent5">
                        <a:lumMod val="25000"/>
                      </a:schemeClr>
                    </a:solidFill>
                  </a:rPr>
                  <a:t>  ¿Por qué está el numerador en valor absoluto?</a:t>
                </a:r>
              </a:p>
            </p:txBody>
          </p:sp>
          <p:sp>
            <p:nvSpPr>
              <p:cNvPr id="65" name="AutoShape 79">
                <a:extLst>
                  <a:ext uri="{FF2B5EF4-FFF2-40B4-BE49-F238E27FC236}">
                    <a16:creationId xmlns:a16="http://schemas.microsoft.com/office/drawing/2014/main" id="{6BD6BDCF-9639-4AA9-BFB8-CF1A6278459D}"/>
                  </a:ext>
                </a:extLst>
              </p:cNvPr>
              <p:cNvSpPr>
                <a:spLocks noChangeArrowheads="1"/>
              </p:cNvSpPr>
              <p:nvPr/>
            </p:nvSpPr>
            <p:spPr bwMode="auto">
              <a:xfrm>
                <a:off x="4600202" y="4276726"/>
                <a:ext cx="1315952" cy="550100"/>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64" name="CuadroTexto 63">
                <a:extLst>
                  <a:ext uri="{FF2B5EF4-FFF2-40B4-BE49-F238E27FC236}">
                    <a16:creationId xmlns:a16="http://schemas.microsoft.com/office/drawing/2014/main" id="{2DADA4F0-D455-4F84-8D6B-BE589B50EC19}"/>
                  </a:ext>
                </a:extLst>
              </p:cNvPr>
              <p:cNvSpPr txBox="1"/>
              <p:nvPr/>
            </p:nvSpPr>
            <p:spPr>
              <a:xfrm>
                <a:off x="4494155" y="4150735"/>
                <a:ext cx="232191" cy="369332"/>
              </a:xfrm>
              <a:prstGeom prst="rect">
                <a:avLst/>
              </a:prstGeom>
              <a:solidFill>
                <a:schemeClr val="bg1"/>
              </a:solidFill>
            </p:spPr>
            <p:txBody>
              <a:bodyPr wrap="square" rtlCol="0">
                <a:spAutoFit/>
              </a:bodyPr>
              <a:lstStyle/>
              <a:p>
                <a:pPr algn="ctr"/>
                <a:r>
                  <a:rPr lang="es-ES" sz="1800" b="1" dirty="0">
                    <a:solidFill>
                      <a:schemeClr val="accent5">
                        <a:lumMod val="25000"/>
                      </a:schemeClr>
                    </a:solidFill>
                  </a:rPr>
                  <a:t>?</a:t>
                </a:r>
              </a:p>
            </p:txBody>
          </p:sp>
        </p:grpSp>
        <p:cxnSp>
          <p:nvCxnSpPr>
            <p:cNvPr id="18" name="Conector recto de flecha 17">
              <a:extLst>
                <a:ext uri="{FF2B5EF4-FFF2-40B4-BE49-F238E27FC236}">
                  <a16:creationId xmlns:a16="http://schemas.microsoft.com/office/drawing/2014/main" id="{1778C8F2-D893-41C5-B298-8C3DAFE2B895}"/>
                </a:ext>
              </a:extLst>
            </p:cNvPr>
            <p:cNvCxnSpPr>
              <a:cxnSpLocks/>
            </p:cNvCxnSpPr>
            <p:nvPr/>
          </p:nvCxnSpPr>
          <p:spPr>
            <a:xfrm flipH="1">
              <a:off x="4267200" y="4410075"/>
              <a:ext cx="278967" cy="0"/>
            </a:xfrm>
            <a:prstGeom prst="straightConnector1">
              <a:avLst/>
            </a:prstGeom>
            <a:ln>
              <a:solidFill>
                <a:srgbClr val="FF99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CuadroTexto 1">
            <a:extLst>
              <a:ext uri="{FF2B5EF4-FFF2-40B4-BE49-F238E27FC236}">
                <a16:creationId xmlns:a16="http://schemas.microsoft.com/office/drawing/2014/main" id="{349D8658-CBE7-41A1-ADEC-CDA4401F7E96}"/>
              </a:ext>
            </a:extLst>
          </p:cNvPr>
          <p:cNvSpPr txBox="1"/>
          <p:nvPr/>
        </p:nvSpPr>
        <p:spPr>
          <a:xfrm>
            <a:off x="6867522" y="3506974"/>
            <a:ext cx="2264961" cy="507831"/>
          </a:xfrm>
          <a:prstGeom prst="rect">
            <a:avLst/>
          </a:prstGeom>
          <a:noFill/>
        </p:spPr>
        <p:txBody>
          <a:bodyPr wrap="square" rtlCol="0">
            <a:spAutoFit/>
          </a:bodyPr>
          <a:lstStyle/>
          <a:p>
            <a:pPr algn="ctr"/>
            <a:r>
              <a:rPr lang="es-ES" sz="900" dirty="0">
                <a:solidFill>
                  <a:schemeClr val="tx1">
                    <a:lumMod val="65000"/>
                    <a:lumOff val="35000"/>
                  </a:schemeClr>
                </a:solidFill>
              </a:rPr>
              <a:t>Con muestras tan pequeñas, la normalidad de la variable es prácticamente imposible de evaluar</a:t>
            </a:r>
          </a:p>
        </p:txBody>
      </p:sp>
      <p:pic>
        <p:nvPicPr>
          <p:cNvPr id="4" name="Snagit_PPT9A7A">
            <a:extLst>
              <a:ext uri="{FF2B5EF4-FFF2-40B4-BE49-F238E27FC236}">
                <a16:creationId xmlns:a16="http://schemas.microsoft.com/office/drawing/2014/main" id="{CB4B1CF4-9CB3-4973-8F0D-4C1AE6D2E95D}"/>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252909" y="2623778"/>
            <a:ext cx="1633916" cy="881609"/>
          </a:xfrm>
          <a:prstGeom prst="rect">
            <a:avLst/>
          </a:prstGeom>
        </p:spPr>
      </p:pic>
      <p:sp>
        <p:nvSpPr>
          <p:cNvPr id="50" name="Flecha: a la derecha 49">
            <a:hlinkClick r:id="rId20" action="ppaction://hlinksldjump"/>
            <a:extLst>
              <a:ext uri="{FF2B5EF4-FFF2-40B4-BE49-F238E27FC236}">
                <a16:creationId xmlns:a16="http://schemas.microsoft.com/office/drawing/2014/main" id="{75D9A47F-C212-4B2A-87DC-789F634B10C6}"/>
              </a:ext>
            </a:extLst>
          </p:cNvPr>
          <p:cNvSpPr/>
          <p:nvPr/>
        </p:nvSpPr>
        <p:spPr>
          <a:xfrm rot="10800000">
            <a:off x="0" y="2890260"/>
            <a:ext cx="277596" cy="622818"/>
          </a:xfrm>
          <a:prstGeom prst="rightArrow">
            <a:avLst/>
          </a:prstGeom>
          <a:noFill/>
          <a:ln w="12700">
            <a:solidFill>
              <a:schemeClr val="bg1">
                <a:lumMod val="9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Flecha: a la derecha 2">
            <a:extLst>
              <a:ext uri="{FF2B5EF4-FFF2-40B4-BE49-F238E27FC236}">
                <a16:creationId xmlns:a16="http://schemas.microsoft.com/office/drawing/2014/main" id="{99F90CEC-E67D-47B5-9EC3-AE4727ED3079}"/>
              </a:ext>
            </a:extLst>
          </p:cNvPr>
          <p:cNvSpPr/>
          <p:nvPr/>
        </p:nvSpPr>
        <p:spPr>
          <a:xfrm>
            <a:off x="6916304" y="2025375"/>
            <a:ext cx="259418" cy="279180"/>
          </a:xfrm>
          <a:prstGeom prst="rightArrow">
            <a:avLst/>
          </a:prstGeom>
          <a:noFill/>
          <a:ln w="12700">
            <a:solidFill>
              <a:schemeClr val="tx1">
                <a:lumMod val="50000"/>
                <a:lumOff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TextBox 7">
            <a:extLst>
              <a:ext uri="{FF2B5EF4-FFF2-40B4-BE49-F238E27FC236}">
                <a16:creationId xmlns:a16="http://schemas.microsoft.com/office/drawing/2014/main" id="{4FC301F9-3F78-75CA-CBC0-7312E882C713}"/>
              </a:ext>
            </a:extLst>
          </p:cNvPr>
          <p:cNvSpPr txBox="1"/>
          <p:nvPr/>
        </p:nvSpPr>
        <p:spPr>
          <a:xfrm>
            <a:off x="2864890" y="5703992"/>
            <a:ext cx="775065" cy="307777"/>
          </a:xfrm>
          <a:prstGeom prst="rect">
            <a:avLst/>
          </a:prstGeom>
          <a:noFill/>
        </p:spPr>
        <p:txBody>
          <a:bodyPr wrap="square" rtlCol="0">
            <a:spAutoFit/>
          </a:bodyPr>
          <a:lstStyle/>
          <a:p>
            <a:r>
              <a:rPr lang="en-US" sz="1400" dirty="0">
                <a:highlight>
                  <a:srgbClr val="FFFFFF"/>
                </a:highlight>
              </a:rPr>
              <a:t>2.25</a:t>
            </a:r>
          </a:p>
        </p:txBody>
      </p:sp>
    </p:spTree>
    <p:extLst>
      <p:ext uri="{BB962C8B-B14F-4D97-AF65-F5344CB8AC3E}">
        <p14:creationId xmlns:p14="http://schemas.microsoft.com/office/powerpoint/2010/main" val="532366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521781-166D-E264-9152-076D1BFDD84F}"/>
              </a:ext>
            </a:extLst>
          </p:cNvPr>
          <p:cNvSpPr txBox="1"/>
          <p:nvPr/>
        </p:nvSpPr>
        <p:spPr>
          <a:xfrm>
            <a:off x="457200" y="990600"/>
            <a:ext cx="3505200" cy="1015663"/>
          </a:xfrm>
          <a:prstGeom prst="rect">
            <a:avLst/>
          </a:prstGeom>
          <a:noFill/>
        </p:spPr>
        <p:txBody>
          <a:bodyPr wrap="square">
            <a:spAutoFit/>
          </a:bodyPr>
          <a:lstStyle/>
          <a:p>
            <a:r>
              <a:rPr lang="en-US" b="1" dirty="0"/>
              <a:t># Example slides</a:t>
            </a:r>
          </a:p>
          <a:p>
            <a:r>
              <a:rPr lang="en-US" dirty="0"/>
              <a:t>library(BioestadisticaR2)</a:t>
            </a:r>
          </a:p>
          <a:p>
            <a:endParaRPr lang="en-US" dirty="0"/>
          </a:p>
          <a:p>
            <a:r>
              <a:rPr lang="en-US" b="1" dirty="0" err="1"/>
              <a:t>testt</a:t>
            </a:r>
            <a:r>
              <a:rPr lang="en-US" b="1" dirty="0"/>
              <a:t>(m=189.76, s=62.019, n=12, m0=200)</a:t>
            </a:r>
          </a:p>
          <a:p>
            <a:r>
              <a:rPr lang="en-US" dirty="0"/>
              <a:t>(1-pt(0.572,11))*2 ## Bilateral</a:t>
            </a:r>
          </a:p>
        </p:txBody>
      </p:sp>
      <p:sp>
        <p:nvSpPr>
          <p:cNvPr id="5" name="TextBox 4">
            <a:extLst>
              <a:ext uri="{FF2B5EF4-FFF2-40B4-BE49-F238E27FC236}">
                <a16:creationId xmlns:a16="http://schemas.microsoft.com/office/drawing/2014/main" id="{D7C8741F-C3B8-825C-C781-973D26390DA3}"/>
              </a:ext>
            </a:extLst>
          </p:cNvPr>
          <p:cNvSpPr txBox="1"/>
          <p:nvPr/>
        </p:nvSpPr>
        <p:spPr>
          <a:xfrm>
            <a:off x="457200" y="2362200"/>
            <a:ext cx="4267200" cy="3600986"/>
          </a:xfrm>
          <a:prstGeom prst="rect">
            <a:avLst/>
          </a:prstGeom>
          <a:noFill/>
        </p:spPr>
        <p:txBody>
          <a:bodyPr wrap="square">
            <a:spAutoFit/>
          </a:bodyPr>
          <a:lstStyle/>
          <a:p>
            <a:r>
              <a:rPr lang="en-US" b="1" dirty="0"/>
              <a:t># t-Test con </a:t>
            </a:r>
            <a:r>
              <a:rPr lang="en-US" b="1" dirty="0" err="1"/>
              <a:t>una</a:t>
            </a:r>
            <a:r>
              <a:rPr lang="en-US" b="1" dirty="0"/>
              <a:t> </a:t>
            </a:r>
            <a:r>
              <a:rPr lang="en-US" b="1" dirty="0" err="1"/>
              <a:t>muestra</a:t>
            </a:r>
            <a:endParaRPr lang="en-US" b="1" dirty="0"/>
          </a:p>
          <a:p>
            <a:r>
              <a:rPr lang="en-US" dirty="0"/>
              <a:t># ----------------------</a:t>
            </a:r>
          </a:p>
          <a:p>
            <a:endParaRPr lang="en-US" dirty="0"/>
          </a:p>
          <a:p>
            <a:r>
              <a:rPr lang="en-US" dirty="0"/>
              <a:t># </a:t>
            </a:r>
            <a:r>
              <a:rPr lang="en-US" dirty="0" err="1"/>
              <a:t>Resumen</a:t>
            </a:r>
            <a:r>
              <a:rPr lang="en-US" dirty="0"/>
              <a:t> de '</a:t>
            </a:r>
            <a:r>
              <a:rPr lang="en-US" dirty="0" err="1"/>
              <a:t>Muestra</a:t>
            </a:r>
            <a:r>
              <a:rPr lang="en-US" dirty="0"/>
              <a:t>'</a:t>
            </a:r>
          </a:p>
          <a:p>
            <a:r>
              <a:rPr lang="en-US" dirty="0"/>
              <a:t>    n = 12.000 </a:t>
            </a:r>
          </a:p>
          <a:p>
            <a:r>
              <a:rPr lang="en-US" dirty="0"/>
              <a:t>    media = 189.760 </a:t>
            </a:r>
          </a:p>
          <a:p>
            <a:r>
              <a:rPr lang="en-US" dirty="0"/>
              <a:t>    </a:t>
            </a:r>
            <a:r>
              <a:rPr lang="en-US" dirty="0" err="1"/>
              <a:t>d.t.</a:t>
            </a:r>
            <a:r>
              <a:rPr lang="en-US" dirty="0"/>
              <a:t> = 62.019 </a:t>
            </a:r>
          </a:p>
          <a:p>
            <a:r>
              <a:rPr lang="en-US" dirty="0"/>
              <a:t>    </a:t>
            </a:r>
            <a:r>
              <a:rPr lang="en-US" dirty="0" err="1"/>
              <a:t>sem</a:t>
            </a:r>
            <a:r>
              <a:rPr lang="en-US" dirty="0"/>
              <a:t> = 17.903 </a:t>
            </a:r>
          </a:p>
          <a:p>
            <a:endParaRPr lang="en-US" dirty="0"/>
          </a:p>
          <a:p>
            <a:r>
              <a:rPr lang="en-US" dirty="0"/>
              <a:t># </a:t>
            </a:r>
            <a:r>
              <a:rPr lang="en-US" dirty="0" err="1"/>
              <a:t>Estimación</a:t>
            </a:r>
            <a:r>
              <a:rPr lang="en-US" dirty="0"/>
              <a:t> de la media </a:t>
            </a:r>
            <a:r>
              <a:rPr lang="en-US" dirty="0" err="1"/>
              <a:t>μ</a:t>
            </a:r>
            <a:r>
              <a:rPr lang="en-US" dirty="0"/>
              <a:t>:</a:t>
            </a:r>
          </a:p>
          <a:p>
            <a:r>
              <a:rPr lang="en-US" dirty="0"/>
              <a:t>  95%-IC(</a:t>
            </a:r>
            <a:r>
              <a:rPr lang="en-US" dirty="0" err="1"/>
              <a:t>μ</a:t>
            </a:r>
            <a:r>
              <a:rPr lang="en-US" dirty="0"/>
              <a:t>) = (150.355, 229.165) </a:t>
            </a:r>
          </a:p>
          <a:p>
            <a:endParaRPr lang="en-US" dirty="0"/>
          </a:p>
          <a:p>
            <a:r>
              <a:rPr lang="en-US" dirty="0"/>
              <a:t># Test de Student para </a:t>
            </a:r>
            <a:r>
              <a:rPr lang="en-US" dirty="0" err="1"/>
              <a:t>contrastar</a:t>
            </a:r>
            <a:r>
              <a:rPr lang="en-US" dirty="0"/>
              <a:t> H₀:</a:t>
            </a:r>
            <a:r>
              <a:rPr lang="en-US" dirty="0" err="1"/>
              <a:t>μ</a:t>
            </a:r>
            <a:r>
              <a:rPr lang="en-US" dirty="0"/>
              <a:t>=</a:t>
            </a:r>
            <a:r>
              <a:rPr lang="en-US" dirty="0" err="1"/>
              <a:t>μ</a:t>
            </a:r>
            <a:r>
              <a:rPr lang="en-US" dirty="0"/>
              <a:t>₀ con </a:t>
            </a:r>
            <a:r>
              <a:rPr lang="en-US" dirty="0" err="1"/>
              <a:t>μ</a:t>
            </a:r>
            <a:r>
              <a:rPr lang="en-US" dirty="0"/>
              <a:t>₀=200.000</a:t>
            </a:r>
          </a:p>
          <a:p>
            <a:r>
              <a:rPr lang="en-US" dirty="0"/>
              <a:t>  </a:t>
            </a:r>
            <a:r>
              <a:rPr lang="en-US" dirty="0" err="1"/>
              <a:t>texp</a:t>
            </a:r>
            <a:r>
              <a:rPr lang="en-US" dirty="0"/>
              <a:t> = 0.572, </a:t>
            </a:r>
            <a:r>
              <a:rPr lang="en-US" dirty="0" err="1"/>
              <a:t>gl</a:t>
            </a:r>
            <a:r>
              <a:rPr lang="en-US" dirty="0"/>
              <a:t> = 11 </a:t>
            </a:r>
          </a:p>
          <a:p>
            <a:r>
              <a:rPr lang="en-US" dirty="0"/>
              <a:t>    p = 0.579 para la </a:t>
            </a:r>
            <a:r>
              <a:rPr lang="en-US" dirty="0" err="1"/>
              <a:t>alternativa</a:t>
            </a:r>
            <a:r>
              <a:rPr lang="en-US" dirty="0"/>
              <a:t> bilateral H₁:</a:t>
            </a:r>
            <a:r>
              <a:rPr lang="en-US" dirty="0" err="1"/>
              <a:t>μ≠μ</a:t>
            </a:r>
            <a:r>
              <a:rPr lang="en-US" dirty="0"/>
              <a:t>₀ </a:t>
            </a:r>
          </a:p>
          <a:p>
            <a:r>
              <a:rPr lang="en-US" dirty="0"/>
              <a:t>    p = 0.289 para la </a:t>
            </a:r>
            <a:r>
              <a:rPr lang="en-US" dirty="0" err="1"/>
              <a:t>alternativa</a:t>
            </a:r>
            <a:r>
              <a:rPr lang="en-US" dirty="0"/>
              <a:t> unilateral H₁:</a:t>
            </a:r>
            <a:r>
              <a:rPr lang="en-US" dirty="0" err="1"/>
              <a:t>μ</a:t>
            </a:r>
            <a:r>
              <a:rPr lang="en-US" dirty="0"/>
              <a:t>&lt;</a:t>
            </a:r>
            <a:r>
              <a:rPr lang="en-US" dirty="0" err="1"/>
              <a:t>μ</a:t>
            </a:r>
            <a:r>
              <a:rPr lang="en-US" dirty="0"/>
              <a:t>₀ </a:t>
            </a:r>
          </a:p>
          <a:p>
            <a:endParaRPr lang="en-US" dirty="0"/>
          </a:p>
          <a:p>
            <a:r>
              <a:rPr lang="en-US" dirty="0"/>
              <a:t>  </a:t>
            </a:r>
            <a:r>
              <a:rPr lang="en-US" dirty="0" err="1"/>
              <a:t>Estimación</a:t>
            </a:r>
            <a:r>
              <a:rPr lang="en-US" dirty="0"/>
              <a:t> del </a:t>
            </a:r>
            <a:r>
              <a:rPr lang="en-US" dirty="0" err="1"/>
              <a:t>efecto</a:t>
            </a:r>
            <a:r>
              <a:rPr lang="en-US" dirty="0"/>
              <a:t> </a:t>
            </a:r>
            <a:r>
              <a:rPr lang="en-US" dirty="0" err="1"/>
              <a:t>bruto</a:t>
            </a:r>
            <a:r>
              <a:rPr lang="en-US" dirty="0"/>
              <a:t> </a:t>
            </a:r>
          </a:p>
          <a:p>
            <a:r>
              <a:rPr lang="en-US" dirty="0"/>
              <a:t>  95%-IC(</a:t>
            </a:r>
            <a:r>
              <a:rPr lang="en-US" dirty="0" err="1"/>
              <a:t>μ-μ</a:t>
            </a:r>
            <a:r>
              <a:rPr lang="en-US" dirty="0"/>
              <a:t>₀) = (-49.645, 29.165)</a:t>
            </a:r>
          </a:p>
        </p:txBody>
      </p:sp>
      <p:sp>
        <p:nvSpPr>
          <p:cNvPr id="14" name="TextBox 13">
            <a:extLst>
              <a:ext uri="{FF2B5EF4-FFF2-40B4-BE49-F238E27FC236}">
                <a16:creationId xmlns:a16="http://schemas.microsoft.com/office/drawing/2014/main" id="{05442011-4081-6FC3-3973-C8B28FFA7A3C}"/>
              </a:ext>
            </a:extLst>
          </p:cNvPr>
          <p:cNvSpPr txBox="1"/>
          <p:nvPr/>
        </p:nvSpPr>
        <p:spPr>
          <a:xfrm>
            <a:off x="4572000" y="2340429"/>
            <a:ext cx="4577442" cy="3600986"/>
          </a:xfrm>
          <a:prstGeom prst="rect">
            <a:avLst/>
          </a:prstGeom>
          <a:noFill/>
        </p:spPr>
        <p:txBody>
          <a:bodyPr wrap="square">
            <a:spAutoFit/>
          </a:bodyPr>
          <a:lstStyle/>
          <a:p>
            <a:r>
              <a:rPr lang="en-US" b="1" dirty="0"/>
              <a:t># t-Test con </a:t>
            </a:r>
            <a:r>
              <a:rPr lang="en-US" b="1" dirty="0" err="1"/>
              <a:t>una</a:t>
            </a:r>
            <a:r>
              <a:rPr lang="en-US" b="1" dirty="0"/>
              <a:t> </a:t>
            </a:r>
            <a:r>
              <a:rPr lang="en-US" b="1" dirty="0" err="1"/>
              <a:t>muestra</a:t>
            </a:r>
            <a:endParaRPr lang="en-US" b="1" dirty="0"/>
          </a:p>
          <a:p>
            <a:r>
              <a:rPr lang="en-US" dirty="0"/>
              <a:t># ----------------------</a:t>
            </a:r>
          </a:p>
          <a:p>
            <a:endParaRPr lang="en-US" dirty="0"/>
          </a:p>
          <a:p>
            <a:r>
              <a:rPr lang="en-US" dirty="0"/>
              <a:t># </a:t>
            </a:r>
            <a:r>
              <a:rPr lang="en-US" dirty="0" err="1"/>
              <a:t>Resumen</a:t>
            </a:r>
            <a:r>
              <a:rPr lang="en-US" dirty="0"/>
              <a:t> de '</a:t>
            </a:r>
            <a:r>
              <a:rPr lang="en-US" dirty="0" err="1"/>
              <a:t>Muestra</a:t>
            </a:r>
            <a:r>
              <a:rPr lang="en-US" dirty="0"/>
              <a:t>'</a:t>
            </a:r>
          </a:p>
          <a:p>
            <a:r>
              <a:rPr lang="en-US" dirty="0"/>
              <a:t>    n = 12.000 </a:t>
            </a:r>
          </a:p>
          <a:p>
            <a:r>
              <a:rPr lang="en-US" dirty="0"/>
              <a:t>    media = 189.760 </a:t>
            </a:r>
          </a:p>
          <a:p>
            <a:r>
              <a:rPr lang="en-US" dirty="0"/>
              <a:t>    </a:t>
            </a:r>
            <a:r>
              <a:rPr lang="en-US" dirty="0" err="1"/>
              <a:t>d.t.</a:t>
            </a:r>
            <a:r>
              <a:rPr lang="en-US" dirty="0"/>
              <a:t> = 62.019 </a:t>
            </a:r>
          </a:p>
          <a:p>
            <a:r>
              <a:rPr lang="en-US" dirty="0"/>
              <a:t>    </a:t>
            </a:r>
            <a:r>
              <a:rPr lang="en-US" dirty="0" err="1"/>
              <a:t>sem</a:t>
            </a:r>
            <a:r>
              <a:rPr lang="en-US" dirty="0"/>
              <a:t> = 17.903 </a:t>
            </a:r>
          </a:p>
          <a:p>
            <a:endParaRPr lang="en-US" dirty="0"/>
          </a:p>
          <a:p>
            <a:r>
              <a:rPr lang="en-US" dirty="0"/>
              <a:t># </a:t>
            </a:r>
            <a:r>
              <a:rPr lang="en-US" dirty="0" err="1"/>
              <a:t>Estimación</a:t>
            </a:r>
            <a:r>
              <a:rPr lang="en-US" dirty="0"/>
              <a:t> de la media </a:t>
            </a:r>
            <a:r>
              <a:rPr lang="en-US" dirty="0" err="1"/>
              <a:t>μ</a:t>
            </a:r>
            <a:r>
              <a:rPr lang="en-US" dirty="0"/>
              <a:t>:</a:t>
            </a:r>
          </a:p>
          <a:p>
            <a:r>
              <a:rPr lang="en-US" dirty="0"/>
              <a:t>  95%-IC(</a:t>
            </a:r>
            <a:r>
              <a:rPr lang="en-US" dirty="0" err="1"/>
              <a:t>μ</a:t>
            </a:r>
            <a:r>
              <a:rPr lang="en-US" dirty="0"/>
              <a:t>) = (150.355, 229.165) </a:t>
            </a:r>
          </a:p>
          <a:p>
            <a:endParaRPr lang="en-US" dirty="0"/>
          </a:p>
          <a:p>
            <a:r>
              <a:rPr lang="en-US" dirty="0"/>
              <a:t># Test de Student para </a:t>
            </a:r>
            <a:r>
              <a:rPr lang="en-US" dirty="0" err="1"/>
              <a:t>contrastar</a:t>
            </a:r>
            <a:r>
              <a:rPr lang="en-US" dirty="0"/>
              <a:t> H₀:</a:t>
            </a:r>
            <a:r>
              <a:rPr lang="en-US" dirty="0" err="1"/>
              <a:t>μ</a:t>
            </a:r>
            <a:r>
              <a:rPr lang="en-US" dirty="0"/>
              <a:t>=</a:t>
            </a:r>
            <a:r>
              <a:rPr lang="en-US" dirty="0" err="1"/>
              <a:t>μ</a:t>
            </a:r>
            <a:r>
              <a:rPr lang="en-US" dirty="0"/>
              <a:t>₀ con </a:t>
            </a:r>
            <a:r>
              <a:rPr lang="en-US" dirty="0" err="1"/>
              <a:t>μ</a:t>
            </a:r>
            <a:r>
              <a:rPr lang="en-US" dirty="0"/>
              <a:t>₀=230.000</a:t>
            </a:r>
          </a:p>
          <a:p>
            <a:r>
              <a:rPr lang="en-US" dirty="0"/>
              <a:t>  </a:t>
            </a:r>
            <a:r>
              <a:rPr lang="en-US" dirty="0" err="1"/>
              <a:t>texp</a:t>
            </a:r>
            <a:r>
              <a:rPr lang="en-US" dirty="0"/>
              <a:t> = 2.248, </a:t>
            </a:r>
            <a:r>
              <a:rPr lang="en-US" dirty="0" err="1"/>
              <a:t>gl</a:t>
            </a:r>
            <a:r>
              <a:rPr lang="en-US" dirty="0"/>
              <a:t> = 11 </a:t>
            </a:r>
          </a:p>
          <a:p>
            <a:r>
              <a:rPr lang="en-US" dirty="0"/>
              <a:t>    p = 0.046 para la </a:t>
            </a:r>
            <a:r>
              <a:rPr lang="en-US" dirty="0" err="1"/>
              <a:t>alternativa</a:t>
            </a:r>
            <a:r>
              <a:rPr lang="en-US" dirty="0"/>
              <a:t> bilateral H₁:</a:t>
            </a:r>
            <a:r>
              <a:rPr lang="en-US" dirty="0" err="1"/>
              <a:t>μ≠μ</a:t>
            </a:r>
            <a:r>
              <a:rPr lang="en-US" dirty="0"/>
              <a:t>₀ </a:t>
            </a:r>
          </a:p>
          <a:p>
            <a:r>
              <a:rPr lang="en-US" dirty="0"/>
              <a:t>    p = 0.023 para la </a:t>
            </a:r>
            <a:r>
              <a:rPr lang="en-US" dirty="0" err="1"/>
              <a:t>alternativa</a:t>
            </a:r>
            <a:r>
              <a:rPr lang="en-US" dirty="0"/>
              <a:t> unilateral H₁:</a:t>
            </a:r>
            <a:r>
              <a:rPr lang="en-US" dirty="0" err="1"/>
              <a:t>μ</a:t>
            </a:r>
            <a:r>
              <a:rPr lang="en-US" dirty="0"/>
              <a:t>&lt;</a:t>
            </a:r>
            <a:r>
              <a:rPr lang="en-US" dirty="0" err="1"/>
              <a:t>μ</a:t>
            </a:r>
            <a:r>
              <a:rPr lang="en-US" dirty="0"/>
              <a:t>₀ </a:t>
            </a:r>
          </a:p>
          <a:p>
            <a:endParaRPr lang="en-US" dirty="0"/>
          </a:p>
          <a:p>
            <a:r>
              <a:rPr lang="en-US" dirty="0"/>
              <a:t>  </a:t>
            </a:r>
            <a:r>
              <a:rPr lang="en-US" dirty="0" err="1"/>
              <a:t>Estimación</a:t>
            </a:r>
            <a:r>
              <a:rPr lang="en-US" dirty="0"/>
              <a:t> del </a:t>
            </a:r>
            <a:r>
              <a:rPr lang="en-US" dirty="0" err="1"/>
              <a:t>efecto</a:t>
            </a:r>
            <a:r>
              <a:rPr lang="en-US" dirty="0"/>
              <a:t> </a:t>
            </a:r>
            <a:r>
              <a:rPr lang="en-US" dirty="0" err="1"/>
              <a:t>bruto</a:t>
            </a:r>
            <a:r>
              <a:rPr lang="en-US" dirty="0"/>
              <a:t> </a:t>
            </a:r>
          </a:p>
          <a:p>
            <a:r>
              <a:rPr lang="en-US" dirty="0"/>
              <a:t>  95%-IC(</a:t>
            </a:r>
            <a:r>
              <a:rPr lang="en-US" dirty="0" err="1"/>
              <a:t>μ-μ</a:t>
            </a:r>
            <a:r>
              <a:rPr lang="en-US" dirty="0"/>
              <a:t>₀) = (-79.645, -0.835) </a:t>
            </a:r>
          </a:p>
        </p:txBody>
      </p:sp>
      <p:sp>
        <p:nvSpPr>
          <p:cNvPr id="16" name="TextBox 15">
            <a:extLst>
              <a:ext uri="{FF2B5EF4-FFF2-40B4-BE49-F238E27FC236}">
                <a16:creationId xmlns:a16="http://schemas.microsoft.com/office/drawing/2014/main" id="{B5A64CBA-9890-440E-0BA4-71FDB19ECA68}"/>
              </a:ext>
            </a:extLst>
          </p:cNvPr>
          <p:cNvSpPr txBox="1"/>
          <p:nvPr/>
        </p:nvSpPr>
        <p:spPr>
          <a:xfrm>
            <a:off x="4566558" y="1533712"/>
            <a:ext cx="4577442" cy="461665"/>
          </a:xfrm>
          <a:prstGeom prst="rect">
            <a:avLst/>
          </a:prstGeom>
          <a:noFill/>
        </p:spPr>
        <p:txBody>
          <a:bodyPr wrap="square">
            <a:spAutoFit/>
          </a:bodyPr>
          <a:lstStyle/>
          <a:p>
            <a:r>
              <a:rPr lang="en-US" b="1" dirty="0" err="1"/>
              <a:t>testt</a:t>
            </a:r>
            <a:r>
              <a:rPr lang="en-US" b="1" dirty="0"/>
              <a:t>(m=189.76, s=62.019, n=12, m0=230)</a:t>
            </a:r>
          </a:p>
          <a:p>
            <a:r>
              <a:rPr lang="en-US" dirty="0"/>
              <a:t>(1-pt(2.248,11))*2 ## Bilateral</a:t>
            </a:r>
          </a:p>
        </p:txBody>
      </p:sp>
    </p:spTree>
    <p:extLst>
      <p:ext uri="{BB962C8B-B14F-4D97-AF65-F5344CB8AC3E}">
        <p14:creationId xmlns:p14="http://schemas.microsoft.com/office/powerpoint/2010/main" val="1893468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521781-166D-E264-9152-076D1BFDD84F}"/>
              </a:ext>
            </a:extLst>
          </p:cNvPr>
          <p:cNvSpPr txBox="1"/>
          <p:nvPr/>
        </p:nvSpPr>
        <p:spPr>
          <a:xfrm>
            <a:off x="525236" y="1009211"/>
            <a:ext cx="3505200" cy="1015663"/>
          </a:xfrm>
          <a:prstGeom prst="rect">
            <a:avLst/>
          </a:prstGeom>
          <a:noFill/>
        </p:spPr>
        <p:txBody>
          <a:bodyPr wrap="square">
            <a:spAutoFit/>
          </a:bodyPr>
          <a:lstStyle/>
          <a:p>
            <a:r>
              <a:rPr lang="en-US" dirty="0"/>
              <a:t># Example slides</a:t>
            </a:r>
          </a:p>
          <a:p>
            <a:r>
              <a:rPr lang="en-US" dirty="0"/>
              <a:t>library(BioestadisticaR2)</a:t>
            </a:r>
          </a:p>
          <a:p>
            <a:r>
              <a:rPr lang="en-US" dirty="0"/>
              <a:t>attach(osteo)</a:t>
            </a:r>
          </a:p>
          <a:p>
            <a:r>
              <a:rPr lang="en-US" dirty="0" err="1"/>
              <a:t>testt</a:t>
            </a:r>
            <a:r>
              <a:rPr lang="en-US" dirty="0"/>
              <a:t>(</a:t>
            </a:r>
            <a:r>
              <a:rPr lang="en-US" dirty="0" err="1"/>
              <a:t>edad</a:t>
            </a:r>
            <a:r>
              <a:rPr lang="en-US" dirty="0"/>
              <a:t>, m0=55)</a:t>
            </a:r>
          </a:p>
          <a:p>
            <a:endParaRPr lang="en-US" dirty="0"/>
          </a:p>
        </p:txBody>
      </p:sp>
      <p:pic>
        <p:nvPicPr>
          <p:cNvPr id="8" name="Picture 7">
            <a:extLst>
              <a:ext uri="{FF2B5EF4-FFF2-40B4-BE49-F238E27FC236}">
                <a16:creationId xmlns:a16="http://schemas.microsoft.com/office/drawing/2014/main" id="{39C7DBDC-1344-7DC3-8CBF-55C6303CFA61}"/>
              </a:ext>
            </a:extLst>
          </p:cNvPr>
          <p:cNvPicPr>
            <a:picLocks noChangeAspect="1"/>
          </p:cNvPicPr>
          <p:nvPr/>
        </p:nvPicPr>
        <p:blipFill>
          <a:blip r:embed="rId2"/>
          <a:stretch>
            <a:fillRect/>
          </a:stretch>
        </p:blipFill>
        <p:spPr>
          <a:xfrm>
            <a:off x="3581400" y="1009211"/>
            <a:ext cx="5249636" cy="3603510"/>
          </a:xfrm>
          <a:prstGeom prst="rect">
            <a:avLst/>
          </a:prstGeom>
        </p:spPr>
      </p:pic>
      <p:sp>
        <p:nvSpPr>
          <p:cNvPr id="12" name="TextBox 11">
            <a:extLst>
              <a:ext uri="{FF2B5EF4-FFF2-40B4-BE49-F238E27FC236}">
                <a16:creationId xmlns:a16="http://schemas.microsoft.com/office/drawing/2014/main" id="{942B5B73-F728-E415-FC08-B3461DE28D71}"/>
              </a:ext>
            </a:extLst>
          </p:cNvPr>
          <p:cNvSpPr txBox="1"/>
          <p:nvPr/>
        </p:nvSpPr>
        <p:spPr>
          <a:xfrm>
            <a:off x="525236" y="2209800"/>
            <a:ext cx="5342164" cy="4572000"/>
          </a:xfrm>
          <a:prstGeom prst="rect">
            <a:avLst/>
          </a:prstGeom>
          <a:noFill/>
        </p:spPr>
        <p:txBody>
          <a:bodyPr wrap="square">
            <a:spAutoFit/>
          </a:bodyPr>
          <a:lstStyle/>
          <a:p>
            <a:r>
              <a:rPr lang="en-US" b="1" dirty="0"/>
              <a:t>&gt; </a:t>
            </a:r>
            <a:r>
              <a:rPr lang="en-US" b="1" dirty="0" err="1"/>
              <a:t>testt</a:t>
            </a:r>
            <a:r>
              <a:rPr lang="en-US" b="1" dirty="0"/>
              <a:t>(</a:t>
            </a:r>
            <a:r>
              <a:rPr lang="en-US" b="1" dirty="0" err="1"/>
              <a:t>edad</a:t>
            </a:r>
            <a:r>
              <a:rPr lang="en-US" b="1" dirty="0"/>
              <a:t>, m0=55)</a:t>
            </a:r>
          </a:p>
          <a:p>
            <a:endParaRPr lang="en-US" dirty="0"/>
          </a:p>
          <a:p>
            <a:r>
              <a:rPr lang="en-US" dirty="0"/>
              <a:t># t-Test con </a:t>
            </a:r>
            <a:r>
              <a:rPr lang="en-US" dirty="0" err="1"/>
              <a:t>una</a:t>
            </a:r>
            <a:r>
              <a:rPr lang="en-US" dirty="0"/>
              <a:t> </a:t>
            </a:r>
            <a:r>
              <a:rPr lang="en-US" dirty="0" err="1"/>
              <a:t>muestra</a:t>
            </a:r>
            <a:endParaRPr lang="en-US" dirty="0"/>
          </a:p>
          <a:p>
            <a:r>
              <a:rPr lang="en-US" dirty="0"/>
              <a:t># ----------------------</a:t>
            </a:r>
          </a:p>
          <a:p>
            <a:endParaRPr lang="en-US" dirty="0"/>
          </a:p>
          <a:p>
            <a:r>
              <a:rPr lang="en-US" dirty="0"/>
              <a:t># </a:t>
            </a:r>
            <a:r>
              <a:rPr lang="en-US" dirty="0" err="1"/>
              <a:t>Resumen</a:t>
            </a:r>
            <a:r>
              <a:rPr lang="en-US" dirty="0"/>
              <a:t> de '</a:t>
            </a:r>
            <a:r>
              <a:rPr lang="en-US" dirty="0" err="1"/>
              <a:t>edad</a:t>
            </a:r>
            <a:r>
              <a:rPr lang="en-US" dirty="0"/>
              <a:t>'</a:t>
            </a:r>
          </a:p>
          <a:p>
            <a:r>
              <a:rPr lang="en-US" dirty="0"/>
              <a:t>    n = 94.000 </a:t>
            </a:r>
          </a:p>
          <a:p>
            <a:r>
              <a:rPr lang="en-US" dirty="0"/>
              <a:t>    media = 30.191 </a:t>
            </a:r>
          </a:p>
          <a:p>
            <a:r>
              <a:rPr lang="en-US" dirty="0"/>
              <a:t>    </a:t>
            </a:r>
            <a:r>
              <a:rPr lang="en-US" dirty="0" err="1"/>
              <a:t>d.t.</a:t>
            </a:r>
            <a:r>
              <a:rPr lang="en-US" dirty="0"/>
              <a:t> = 9.366 </a:t>
            </a:r>
          </a:p>
          <a:p>
            <a:r>
              <a:rPr lang="en-US" dirty="0"/>
              <a:t>    </a:t>
            </a:r>
            <a:r>
              <a:rPr lang="en-US" dirty="0" err="1"/>
              <a:t>sem</a:t>
            </a:r>
            <a:r>
              <a:rPr lang="en-US" dirty="0"/>
              <a:t> = 0.966 </a:t>
            </a:r>
          </a:p>
          <a:p>
            <a:endParaRPr lang="en-US" dirty="0"/>
          </a:p>
          <a:p>
            <a:r>
              <a:rPr lang="en-US" dirty="0"/>
              <a:t># </a:t>
            </a:r>
            <a:r>
              <a:rPr lang="en-US" dirty="0" err="1"/>
              <a:t>Estimación</a:t>
            </a:r>
            <a:r>
              <a:rPr lang="en-US" dirty="0"/>
              <a:t> de la media </a:t>
            </a:r>
            <a:r>
              <a:rPr lang="en-US" dirty="0" err="1"/>
              <a:t>μ</a:t>
            </a:r>
            <a:r>
              <a:rPr lang="en-US" dirty="0"/>
              <a:t>:</a:t>
            </a:r>
          </a:p>
          <a:p>
            <a:r>
              <a:rPr lang="en-US" dirty="0"/>
              <a:t>  95%-IC(</a:t>
            </a:r>
            <a:r>
              <a:rPr lang="en-US" dirty="0" err="1"/>
              <a:t>μ</a:t>
            </a:r>
            <a:r>
              <a:rPr lang="en-US" dirty="0"/>
              <a:t>) = (28.273, 32.110) </a:t>
            </a:r>
          </a:p>
          <a:p>
            <a:endParaRPr lang="en-US" dirty="0"/>
          </a:p>
          <a:p>
            <a:r>
              <a:rPr lang="en-US" dirty="0"/>
              <a:t># Test de </a:t>
            </a:r>
            <a:r>
              <a:rPr lang="en-US" dirty="0" err="1"/>
              <a:t>normalidad</a:t>
            </a:r>
            <a:r>
              <a:rPr lang="en-US" dirty="0"/>
              <a:t> de Shapiro-Wilk:</a:t>
            </a:r>
          </a:p>
          <a:p>
            <a:r>
              <a:rPr lang="en-US" dirty="0"/>
              <a:t>  W = 0.907, </a:t>
            </a:r>
            <a:r>
              <a:rPr lang="en-US" dirty="0" err="1"/>
              <a:t>gl</a:t>
            </a:r>
            <a:r>
              <a:rPr lang="en-US" dirty="0"/>
              <a:t> = 94, p &lt; 0.001 </a:t>
            </a:r>
          </a:p>
          <a:p>
            <a:endParaRPr lang="en-US" dirty="0"/>
          </a:p>
          <a:p>
            <a:r>
              <a:rPr lang="en-US" dirty="0"/>
              <a:t># Test de Student para </a:t>
            </a:r>
            <a:r>
              <a:rPr lang="en-US" dirty="0" err="1"/>
              <a:t>contrastar</a:t>
            </a:r>
            <a:r>
              <a:rPr lang="en-US" dirty="0"/>
              <a:t> H₀:</a:t>
            </a:r>
            <a:r>
              <a:rPr lang="en-US" dirty="0" err="1"/>
              <a:t>μ</a:t>
            </a:r>
            <a:r>
              <a:rPr lang="en-US" dirty="0"/>
              <a:t>=</a:t>
            </a:r>
            <a:r>
              <a:rPr lang="en-US" dirty="0" err="1"/>
              <a:t>μ</a:t>
            </a:r>
            <a:r>
              <a:rPr lang="en-US" dirty="0"/>
              <a:t>₀ con </a:t>
            </a:r>
            <a:r>
              <a:rPr lang="en-US" dirty="0" err="1"/>
              <a:t>μ</a:t>
            </a:r>
            <a:r>
              <a:rPr lang="en-US" dirty="0"/>
              <a:t>₀=55.000</a:t>
            </a:r>
          </a:p>
          <a:p>
            <a:r>
              <a:rPr lang="en-US" dirty="0"/>
              <a:t>  </a:t>
            </a:r>
            <a:r>
              <a:rPr lang="en-US" dirty="0" err="1"/>
              <a:t>texp</a:t>
            </a:r>
            <a:r>
              <a:rPr lang="en-US" dirty="0"/>
              <a:t> = 25.680, </a:t>
            </a:r>
            <a:r>
              <a:rPr lang="en-US" dirty="0" err="1"/>
              <a:t>gl</a:t>
            </a:r>
            <a:r>
              <a:rPr lang="en-US" dirty="0"/>
              <a:t> = 93 </a:t>
            </a:r>
          </a:p>
          <a:p>
            <a:r>
              <a:rPr lang="en-US" dirty="0"/>
              <a:t>    p &lt; 0.001 para la </a:t>
            </a:r>
            <a:r>
              <a:rPr lang="en-US" dirty="0" err="1"/>
              <a:t>alternativa</a:t>
            </a:r>
            <a:r>
              <a:rPr lang="en-US" dirty="0"/>
              <a:t> bilateral H₁:</a:t>
            </a:r>
            <a:r>
              <a:rPr lang="en-US" dirty="0" err="1"/>
              <a:t>μ≠μ</a:t>
            </a:r>
            <a:r>
              <a:rPr lang="en-US" dirty="0"/>
              <a:t>₀ </a:t>
            </a:r>
          </a:p>
          <a:p>
            <a:r>
              <a:rPr lang="en-US" dirty="0"/>
              <a:t>    p &lt; 0.001 para la </a:t>
            </a:r>
            <a:r>
              <a:rPr lang="en-US" dirty="0" err="1"/>
              <a:t>alternativa</a:t>
            </a:r>
            <a:r>
              <a:rPr lang="en-US" dirty="0"/>
              <a:t> unilateral H₁:</a:t>
            </a:r>
            <a:r>
              <a:rPr lang="en-US" dirty="0" err="1"/>
              <a:t>μ</a:t>
            </a:r>
            <a:r>
              <a:rPr lang="en-US" dirty="0"/>
              <a:t>&lt;</a:t>
            </a:r>
            <a:r>
              <a:rPr lang="en-US" dirty="0" err="1"/>
              <a:t>μ</a:t>
            </a:r>
            <a:r>
              <a:rPr lang="en-US" dirty="0"/>
              <a:t>₀ </a:t>
            </a:r>
          </a:p>
          <a:p>
            <a:endParaRPr lang="en-US" dirty="0"/>
          </a:p>
          <a:p>
            <a:r>
              <a:rPr lang="en-US" dirty="0"/>
              <a:t>  </a:t>
            </a:r>
            <a:r>
              <a:rPr lang="en-US" dirty="0" err="1"/>
              <a:t>Estimación</a:t>
            </a:r>
            <a:r>
              <a:rPr lang="en-US" dirty="0"/>
              <a:t> del </a:t>
            </a:r>
            <a:r>
              <a:rPr lang="en-US" dirty="0" err="1"/>
              <a:t>efecto</a:t>
            </a:r>
            <a:r>
              <a:rPr lang="en-US" dirty="0"/>
              <a:t> </a:t>
            </a:r>
            <a:r>
              <a:rPr lang="en-US" dirty="0" err="1"/>
              <a:t>bruto</a:t>
            </a:r>
            <a:r>
              <a:rPr lang="en-US" dirty="0"/>
              <a:t> </a:t>
            </a:r>
          </a:p>
          <a:p>
            <a:r>
              <a:rPr lang="en-US" dirty="0"/>
              <a:t>  95%-IC(</a:t>
            </a:r>
            <a:r>
              <a:rPr lang="en-US" dirty="0" err="1"/>
              <a:t>μ-μ</a:t>
            </a:r>
            <a:r>
              <a:rPr lang="en-US" dirty="0"/>
              <a:t>₀) = (-26.727, -22.890) </a:t>
            </a:r>
          </a:p>
        </p:txBody>
      </p:sp>
    </p:spTree>
    <p:extLst>
      <p:ext uri="{BB962C8B-B14F-4D97-AF65-F5344CB8AC3E}">
        <p14:creationId xmlns:p14="http://schemas.microsoft.com/office/powerpoint/2010/main" val="272190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3" name="Text Box 36"/>
          <p:cNvSpPr txBox="1">
            <a:spLocks noChangeArrowheads="1"/>
          </p:cNvSpPr>
          <p:nvPr/>
        </p:nvSpPr>
        <p:spPr bwMode="auto">
          <a:xfrm>
            <a:off x="296094" y="2882900"/>
            <a:ext cx="3815869" cy="956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t>Ahora se trata de comprobar si la información observada (el estadístico de contraste) es </a:t>
            </a:r>
            <a:r>
              <a:rPr lang="es-ES_tradnl" altLang="es-ES" b="1" i="1" dirty="0"/>
              <a:t>compatible</a:t>
            </a:r>
            <a:r>
              <a:rPr lang="es-ES_tradnl" altLang="es-ES" b="1" dirty="0"/>
              <a:t> </a:t>
            </a:r>
            <a:r>
              <a:rPr lang="es-ES_tradnl" altLang="es-ES" dirty="0"/>
              <a:t>con ella (en el sentido de </a:t>
            </a:r>
            <a:r>
              <a:rPr lang="es-ES_tradnl" altLang="es-ES" b="1" i="1" dirty="0"/>
              <a:t>probable</a:t>
            </a:r>
            <a:r>
              <a:rPr lang="es-ES_tradnl" altLang="es-ES" b="1" dirty="0"/>
              <a:t> </a:t>
            </a:r>
            <a:r>
              <a:rPr lang="es-ES_tradnl" altLang="es-ES" dirty="0"/>
              <a:t>bajo dicha distribución).</a:t>
            </a:r>
            <a:endParaRPr lang="es-ES" altLang="es-ES" dirty="0"/>
          </a:p>
        </p:txBody>
      </p:sp>
      <p:sp>
        <p:nvSpPr>
          <p:cNvPr id="5159" name="Text Box 39"/>
          <p:cNvSpPr txBox="1">
            <a:spLocks noChangeArrowheads="1"/>
          </p:cNvSpPr>
          <p:nvPr/>
        </p:nvSpPr>
        <p:spPr bwMode="auto">
          <a:xfrm>
            <a:off x="381000" y="4326427"/>
            <a:ext cx="3536951" cy="58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10000"/>
              </a:lnSpc>
            </a:pPr>
            <a:r>
              <a:rPr lang="es-ES_tradnl" altLang="es-ES" dirty="0"/>
              <a:t>¿Es probable el resultado  </a:t>
            </a:r>
            <a:br>
              <a:rPr lang="es-ES_tradnl" altLang="es-ES" dirty="0"/>
            </a:br>
            <a:r>
              <a:rPr lang="es-ES_tradnl" altLang="es-ES" dirty="0"/>
              <a:t>bajo la distribución de </a:t>
            </a:r>
            <a:r>
              <a:rPr lang="es-ES_tradnl" altLang="es-ES" sz="1600" i="1" dirty="0" err="1">
                <a:latin typeface="Times New Roman" panose="02020603050405020304" pitchFamily="18" charset="0"/>
                <a:cs typeface="Times New Roman" panose="02020603050405020304" pitchFamily="18" charset="0"/>
              </a:rPr>
              <a:t>t</a:t>
            </a:r>
            <a:r>
              <a:rPr lang="es-ES_tradnl" altLang="es-ES" sz="1600" i="1" baseline="-25000" dirty="0" err="1">
                <a:latin typeface="Times New Roman" panose="02020603050405020304" pitchFamily="18" charset="0"/>
                <a:cs typeface="Times New Roman" panose="02020603050405020304" pitchFamily="18" charset="0"/>
              </a:rPr>
              <a:t>exp</a:t>
            </a:r>
            <a:r>
              <a:rPr lang="es-ES_tradnl" altLang="es-ES" baseline="-25000" dirty="0"/>
              <a:t> </a:t>
            </a:r>
            <a:r>
              <a:rPr lang="es-ES_tradnl" altLang="es-ES" dirty="0"/>
              <a:t>dada por H</a:t>
            </a:r>
            <a:r>
              <a:rPr lang="es-ES_tradnl" altLang="es-ES" baseline="-25000" dirty="0"/>
              <a:t>0</a:t>
            </a:r>
            <a:r>
              <a:rPr lang="es-ES_tradnl" altLang="es-ES" dirty="0"/>
              <a:t>?</a:t>
            </a:r>
            <a:endParaRPr lang="es-ES" altLang="es-ES" b="1" dirty="0"/>
          </a:p>
        </p:txBody>
      </p:sp>
      <p:graphicFrame>
        <p:nvGraphicFramePr>
          <p:cNvPr id="5158" name="Object 29"/>
          <p:cNvGraphicFramePr>
            <a:graphicFrameLocks noChangeAspect="1"/>
          </p:cNvGraphicFramePr>
          <p:nvPr>
            <p:extLst>
              <p:ext uri="{D42A27DB-BD31-4B8C-83A1-F6EECF244321}">
                <p14:modId xmlns:p14="http://schemas.microsoft.com/office/powerpoint/2010/main" val="3735805048"/>
              </p:ext>
            </p:extLst>
          </p:nvPr>
        </p:nvGraphicFramePr>
        <p:xfrm>
          <a:off x="2563093" y="4358624"/>
          <a:ext cx="824586" cy="297684"/>
        </p:xfrm>
        <a:graphic>
          <a:graphicData uri="http://schemas.openxmlformats.org/presentationml/2006/ole">
            <mc:AlternateContent xmlns:mc="http://schemas.openxmlformats.org/markup-compatibility/2006">
              <mc:Choice xmlns:v="urn:schemas-microsoft-com:vml" Requires="v">
                <p:oleObj name="Equation" r:id="rId2" imgW="736560" imgH="266400" progId="Equation.DSMT4">
                  <p:embed/>
                </p:oleObj>
              </mc:Choice>
              <mc:Fallback>
                <p:oleObj name="Equation" r:id="rId2" imgW="736560" imgH="266400" progId="Equation.DSMT4">
                  <p:embed/>
                  <p:pic>
                    <p:nvPicPr>
                      <p:cNvPr id="5158" name="Object 29"/>
                      <p:cNvPicPr>
                        <a:picLocks noChangeAspect="1" noChangeArrowheads="1"/>
                      </p:cNvPicPr>
                      <p:nvPr/>
                    </p:nvPicPr>
                    <p:blipFill>
                      <a:blip r:embed="rId3"/>
                      <a:srcRect/>
                      <a:stretch>
                        <a:fillRect/>
                      </a:stretch>
                    </p:blipFill>
                    <p:spPr bwMode="auto">
                      <a:xfrm>
                        <a:off x="2563093" y="4358624"/>
                        <a:ext cx="824586" cy="297684"/>
                      </a:xfrm>
                      <a:prstGeom prst="rect">
                        <a:avLst/>
                      </a:prstGeom>
                      <a:noFill/>
                      <a:ln>
                        <a:noFill/>
                      </a:ln>
                    </p:spPr>
                  </p:pic>
                </p:oleObj>
              </mc:Fallback>
            </mc:AlternateContent>
          </a:graphicData>
        </a:graphic>
      </p:graphicFrame>
      <p:sp>
        <p:nvSpPr>
          <p:cNvPr id="5156" name="Text Box 43"/>
          <p:cNvSpPr txBox="1">
            <a:spLocks noChangeArrowheads="1"/>
          </p:cNvSpPr>
          <p:nvPr/>
        </p:nvSpPr>
        <p:spPr bwMode="auto">
          <a:xfrm>
            <a:off x="381001" y="5504791"/>
            <a:ext cx="3557588" cy="58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10000"/>
              </a:lnSpc>
            </a:pPr>
            <a:r>
              <a:rPr lang="es-ES_tradnl" altLang="es-ES" dirty="0"/>
              <a:t>¿Es probable el resultado </a:t>
            </a:r>
            <a:br>
              <a:rPr lang="es-ES_tradnl" altLang="es-ES" dirty="0"/>
            </a:br>
            <a:r>
              <a:rPr lang="es-ES_tradnl" altLang="es-ES" dirty="0"/>
              <a:t>bajo la distribución de </a:t>
            </a:r>
            <a:r>
              <a:rPr lang="es-ES_tradnl" altLang="es-ES" sz="1600" i="1" dirty="0" err="1">
                <a:latin typeface="Times New Roman" panose="02020603050405020304" pitchFamily="18" charset="0"/>
                <a:cs typeface="Times New Roman" panose="02020603050405020304" pitchFamily="18" charset="0"/>
              </a:rPr>
              <a:t>t</a:t>
            </a:r>
            <a:r>
              <a:rPr lang="es-ES_tradnl" altLang="es-ES" sz="1600" i="1" baseline="-25000" dirty="0" err="1">
                <a:latin typeface="Times New Roman" panose="02020603050405020304" pitchFamily="18" charset="0"/>
                <a:cs typeface="Times New Roman" panose="02020603050405020304" pitchFamily="18" charset="0"/>
              </a:rPr>
              <a:t>exp</a:t>
            </a:r>
            <a:r>
              <a:rPr lang="es-ES_tradnl" altLang="es-ES" dirty="0"/>
              <a:t> dada por H</a:t>
            </a:r>
            <a:r>
              <a:rPr lang="es-ES_tradnl" altLang="es-ES" baseline="-25000" dirty="0"/>
              <a:t>0</a:t>
            </a:r>
            <a:r>
              <a:rPr lang="es-ES_tradnl" altLang="es-ES" dirty="0"/>
              <a:t>?</a:t>
            </a:r>
            <a:endParaRPr lang="es-ES" altLang="es-ES" b="1" dirty="0"/>
          </a:p>
        </p:txBody>
      </p:sp>
      <p:graphicFrame>
        <p:nvGraphicFramePr>
          <p:cNvPr id="5157" name="Object 29"/>
          <p:cNvGraphicFramePr>
            <a:graphicFrameLocks noChangeAspect="1"/>
          </p:cNvGraphicFramePr>
          <p:nvPr>
            <p:extLst>
              <p:ext uri="{D42A27DB-BD31-4B8C-83A1-F6EECF244321}">
                <p14:modId xmlns:p14="http://schemas.microsoft.com/office/powerpoint/2010/main" val="2563710673"/>
              </p:ext>
            </p:extLst>
          </p:nvPr>
        </p:nvGraphicFramePr>
        <p:xfrm>
          <a:off x="2563092" y="5543049"/>
          <a:ext cx="879475" cy="297684"/>
        </p:xfrm>
        <a:graphic>
          <a:graphicData uri="http://schemas.openxmlformats.org/presentationml/2006/ole">
            <mc:AlternateContent xmlns:mc="http://schemas.openxmlformats.org/markup-compatibility/2006">
              <mc:Choice xmlns:v="urn:schemas-microsoft-com:vml" Requires="v">
                <p:oleObj name="Equation" r:id="rId4" imgW="736560" imgH="266400" progId="Equation.DSMT4">
                  <p:embed/>
                </p:oleObj>
              </mc:Choice>
              <mc:Fallback>
                <p:oleObj name="Equation" r:id="rId4" imgW="736560" imgH="266400" progId="Equation.DSMT4">
                  <p:embed/>
                  <p:pic>
                    <p:nvPicPr>
                      <p:cNvPr id="5157" name="Object 29"/>
                      <p:cNvPicPr>
                        <a:picLocks noChangeAspect="1" noChangeArrowheads="1"/>
                      </p:cNvPicPr>
                      <p:nvPr/>
                    </p:nvPicPr>
                    <p:blipFill>
                      <a:blip r:embed="rId5"/>
                      <a:srcRect/>
                      <a:stretch>
                        <a:fillRect/>
                      </a:stretch>
                    </p:blipFill>
                    <p:spPr bwMode="auto">
                      <a:xfrm>
                        <a:off x="2563092" y="5543049"/>
                        <a:ext cx="879475" cy="297684"/>
                      </a:xfrm>
                      <a:prstGeom prst="rect">
                        <a:avLst/>
                      </a:prstGeom>
                      <a:noFill/>
                      <a:ln>
                        <a:noFill/>
                      </a:ln>
                    </p:spPr>
                  </p:pic>
                </p:oleObj>
              </mc:Fallback>
            </mc:AlternateContent>
          </a:graphicData>
        </a:graphic>
      </p:graphicFrame>
      <p:sp>
        <p:nvSpPr>
          <p:cNvPr id="5136" name="Text Box 45"/>
          <p:cNvSpPr txBox="1">
            <a:spLocks noChangeArrowheads="1"/>
          </p:cNvSpPr>
          <p:nvPr/>
        </p:nvSpPr>
        <p:spPr bwMode="auto">
          <a:xfrm>
            <a:off x="316394" y="946150"/>
            <a:ext cx="3787688" cy="956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t>La información muestral se ha reducido a un indicador, </a:t>
            </a:r>
            <a:r>
              <a:rPr lang="es-ES_tradnl" altLang="es-ES" b="1" dirty="0">
                <a:solidFill>
                  <a:srgbClr val="800000"/>
                </a:solidFill>
              </a:rPr>
              <a:t>el estadístico de contraste</a:t>
            </a:r>
            <a:r>
              <a:rPr lang="es-ES_tradnl" altLang="es-ES" dirty="0"/>
              <a:t>, construido suponiendo que es cierta la hipótesis nula:</a:t>
            </a:r>
            <a:endParaRPr lang="es-ES" altLang="es-ES" b="1" dirty="0"/>
          </a:p>
        </p:txBody>
      </p:sp>
      <p:grpSp>
        <p:nvGrpSpPr>
          <p:cNvPr id="5162" name="Group 42"/>
          <p:cNvGrpSpPr>
            <a:grpSpLocks/>
          </p:cNvGrpSpPr>
          <p:nvPr/>
        </p:nvGrpSpPr>
        <p:grpSpPr bwMode="auto">
          <a:xfrm>
            <a:off x="1060861" y="2046603"/>
            <a:ext cx="1914525" cy="614363"/>
            <a:chOff x="468" y="1246"/>
            <a:chExt cx="1206" cy="387"/>
          </a:xfrm>
        </p:grpSpPr>
        <p:graphicFrame>
          <p:nvGraphicFramePr>
            <p:cNvPr id="5122" name="Object 29"/>
            <p:cNvGraphicFramePr>
              <a:graphicFrameLocks noChangeAspect="1"/>
            </p:cNvGraphicFramePr>
            <p:nvPr/>
          </p:nvGraphicFramePr>
          <p:xfrm>
            <a:off x="1168" y="1246"/>
            <a:ext cx="506" cy="387"/>
          </p:xfrm>
          <a:graphic>
            <a:graphicData uri="http://schemas.openxmlformats.org/presentationml/2006/ole">
              <mc:AlternateContent xmlns:mc="http://schemas.openxmlformats.org/markup-compatibility/2006">
                <mc:Choice xmlns:v="urn:schemas-microsoft-com:vml" Requires="v">
                  <p:oleObj name="Equation" r:id="rId6" imgW="698400" imgH="533160" progId="Equation.DSMT4">
                    <p:embed/>
                  </p:oleObj>
                </mc:Choice>
                <mc:Fallback>
                  <p:oleObj name="Equation" r:id="rId6" imgW="698400" imgH="533160" progId="Equation.DSMT4">
                    <p:embed/>
                    <p:pic>
                      <p:nvPicPr>
                        <p:cNvPr id="5122"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8" y="1246"/>
                          <a:ext cx="50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61" name="Object 29"/>
            <p:cNvGraphicFramePr>
              <a:graphicFrameLocks noChangeAspect="1"/>
            </p:cNvGraphicFramePr>
            <p:nvPr/>
          </p:nvGraphicFramePr>
          <p:xfrm>
            <a:off x="468" y="1246"/>
            <a:ext cx="690" cy="387"/>
          </p:xfrm>
          <a:graphic>
            <a:graphicData uri="http://schemas.openxmlformats.org/presentationml/2006/ole">
              <mc:AlternateContent xmlns:mc="http://schemas.openxmlformats.org/markup-compatibility/2006">
                <mc:Choice xmlns:v="urn:schemas-microsoft-com:vml" Requires="v">
                  <p:oleObj name="Equation" r:id="rId8" imgW="952200" imgH="533160" progId="Equation.DSMT4">
                    <p:embed/>
                  </p:oleObj>
                </mc:Choice>
                <mc:Fallback>
                  <p:oleObj name="Equation" r:id="rId8" imgW="952200" imgH="533160" progId="Equation.DSMT4">
                    <p:embed/>
                    <p:pic>
                      <p:nvPicPr>
                        <p:cNvPr id="5161"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 y="1246"/>
                          <a:ext cx="690"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2" name="Text Box 33"/>
          <p:cNvSpPr txBox="1">
            <a:spLocks noChangeArrowheads="1"/>
          </p:cNvSpPr>
          <p:nvPr/>
        </p:nvSpPr>
        <p:spPr bwMode="auto">
          <a:xfrm>
            <a:off x="245269" y="71042"/>
            <a:ext cx="3633787"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Hipótesis estadísticas</a:t>
            </a:r>
          </a:p>
        </p:txBody>
      </p:sp>
      <p:sp>
        <p:nvSpPr>
          <p:cNvPr id="43" name="Text Box 33"/>
          <p:cNvSpPr txBox="1">
            <a:spLocks noChangeArrowheads="1"/>
          </p:cNvSpPr>
          <p:nvPr/>
        </p:nvSpPr>
        <p:spPr bwMode="auto">
          <a:xfrm>
            <a:off x="228600" y="381000"/>
            <a:ext cx="6553200"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Evidencia muestral para tomar una decisión: el estadístico de contraste</a:t>
            </a:r>
          </a:p>
        </p:txBody>
      </p:sp>
      <p:sp>
        <p:nvSpPr>
          <p:cNvPr id="45" name="Text Box 39"/>
          <p:cNvSpPr txBox="1">
            <a:spLocks noChangeArrowheads="1"/>
          </p:cNvSpPr>
          <p:nvPr/>
        </p:nvSpPr>
        <p:spPr bwMode="auto">
          <a:xfrm>
            <a:off x="286905" y="4114800"/>
            <a:ext cx="1039813"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solidFill>
                  <a:schemeClr val="accent5">
                    <a:lumMod val="25000"/>
                  </a:schemeClr>
                </a:solidFill>
              </a:rPr>
              <a:t>Caso a)</a:t>
            </a:r>
          </a:p>
        </p:txBody>
      </p:sp>
      <p:sp>
        <p:nvSpPr>
          <p:cNvPr id="46" name="Text Box 39"/>
          <p:cNvSpPr txBox="1">
            <a:spLocks noChangeArrowheads="1"/>
          </p:cNvSpPr>
          <p:nvPr/>
        </p:nvSpPr>
        <p:spPr bwMode="auto">
          <a:xfrm>
            <a:off x="286905" y="5257800"/>
            <a:ext cx="1039813"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solidFill>
                  <a:schemeClr val="accent5">
                    <a:lumMod val="25000"/>
                  </a:schemeClr>
                </a:solidFill>
              </a:rPr>
              <a:t>Caso b)</a:t>
            </a:r>
          </a:p>
        </p:txBody>
      </p:sp>
      <p:grpSp>
        <p:nvGrpSpPr>
          <p:cNvPr id="5" name="Grupo 4">
            <a:extLst>
              <a:ext uri="{FF2B5EF4-FFF2-40B4-BE49-F238E27FC236}">
                <a16:creationId xmlns:a16="http://schemas.microsoft.com/office/drawing/2014/main" id="{6C43AFD0-F52C-4E7D-98B4-48BA092B0A6A}"/>
              </a:ext>
            </a:extLst>
          </p:cNvPr>
          <p:cNvGrpSpPr/>
          <p:nvPr/>
        </p:nvGrpSpPr>
        <p:grpSpPr>
          <a:xfrm>
            <a:off x="4178300" y="762000"/>
            <a:ext cx="4243388" cy="2658664"/>
            <a:chOff x="4178300" y="838200"/>
            <a:chExt cx="4243388" cy="2658664"/>
          </a:xfrm>
        </p:grpSpPr>
        <p:grpSp>
          <p:nvGrpSpPr>
            <p:cNvPr id="3" name="Grupo 2">
              <a:extLst>
                <a:ext uri="{FF2B5EF4-FFF2-40B4-BE49-F238E27FC236}">
                  <a16:creationId xmlns:a16="http://schemas.microsoft.com/office/drawing/2014/main" id="{32769ABA-1676-4DAD-84FC-088F89419DE6}"/>
                </a:ext>
              </a:extLst>
            </p:cNvPr>
            <p:cNvGrpSpPr/>
            <p:nvPr/>
          </p:nvGrpSpPr>
          <p:grpSpPr>
            <a:xfrm>
              <a:off x="4178300" y="838200"/>
              <a:ext cx="4243388" cy="2436592"/>
              <a:chOff x="4178300" y="990600"/>
              <a:chExt cx="4243388" cy="2436592"/>
            </a:xfrm>
          </p:grpSpPr>
          <p:sp>
            <p:nvSpPr>
              <p:cNvPr id="5123" name="Text Box 41"/>
              <p:cNvSpPr txBox="1">
                <a:spLocks noChangeArrowheads="1"/>
              </p:cNvSpPr>
              <p:nvPr/>
            </p:nvSpPr>
            <p:spPr bwMode="auto">
              <a:xfrm>
                <a:off x="6170613" y="3116262"/>
                <a:ext cx="265112"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a:t>0</a:t>
                </a:r>
              </a:p>
            </p:txBody>
          </p:sp>
          <p:sp>
            <p:nvSpPr>
              <p:cNvPr id="5124" name="Freeform 34"/>
              <p:cNvSpPr>
                <a:spLocks/>
              </p:cNvSpPr>
              <p:nvPr/>
            </p:nvSpPr>
            <p:spPr bwMode="auto">
              <a:xfrm>
                <a:off x="4752975" y="1490662"/>
                <a:ext cx="3094038" cy="162401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31546945 h 5006"/>
                  <a:gd name="T52" fmla="*/ 2147483647 w 9513"/>
                  <a:gd name="T53" fmla="*/ 0 h 5006"/>
                  <a:gd name="T54" fmla="*/ 2147483647 w 9513"/>
                  <a:gd name="T55" fmla="*/ 1331546945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941"/>
                </a:srgbClr>
              </a:solidFill>
              <a:ln w="11176">
                <a:solidFill>
                  <a:srgbClr val="000000"/>
                </a:solidFill>
                <a:prstDash val="solid"/>
                <a:round/>
                <a:headEnd/>
                <a:tailEnd/>
              </a:ln>
            </p:spPr>
            <p:txBody>
              <a:bodyPr/>
              <a:lstStyle/>
              <a:p>
                <a:endParaRPr lang="es-ES"/>
              </a:p>
            </p:txBody>
          </p:sp>
          <p:sp>
            <p:nvSpPr>
              <p:cNvPr id="5125" name="Line 36"/>
              <p:cNvSpPr>
                <a:spLocks noChangeShapeType="1"/>
              </p:cNvSpPr>
              <p:nvPr/>
            </p:nvSpPr>
            <p:spPr bwMode="auto">
              <a:xfrm>
                <a:off x="4178300" y="3114675"/>
                <a:ext cx="4243388" cy="0"/>
              </a:xfrm>
              <a:prstGeom prst="line">
                <a:avLst/>
              </a:prstGeom>
              <a:noFill/>
              <a:ln w="254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26" name="Line 35"/>
              <p:cNvSpPr>
                <a:spLocks noChangeShapeType="1"/>
              </p:cNvSpPr>
              <p:nvPr/>
            </p:nvSpPr>
            <p:spPr bwMode="auto">
              <a:xfrm>
                <a:off x="6294438" y="990600"/>
                <a:ext cx="9525" cy="214788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27" name="Line 30"/>
              <p:cNvSpPr>
                <a:spLocks noChangeShapeType="1"/>
              </p:cNvSpPr>
              <p:nvPr/>
            </p:nvSpPr>
            <p:spPr bwMode="auto">
              <a:xfrm flipH="1">
                <a:off x="6402388" y="1531937"/>
                <a:ext cx="3175" cy="1639888"/>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28" name="Line 31"/>
              <p:cNvSpPr>
                <a:spLocks noChangeShapeType="1"/>
              </p:cNvSpPr>
              <p:nvPr/>
            </p:nvSpPr>
            <p:spPr bwMode="auto">
              <a:xfrm>
                <a:off x="7504113" y="3021012"/>
                <a:ext cx="0" cy="185738"/>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29" name="Text Box 32"/>
              <p:cNvSpPr txBox="1">
                <a:spLocks noChangeArrowheads="1"/>
              </p:cNvSpPr>
              <p:nvPr/>
            </p:nvSpPr>
            <p:spPr bwMode="auto">
              <a:xfrm>
                <a:off x="6365875" y="3148012"/>
                <a:ext cx="4762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0.57</a:t>
                </a:r>
                <a:endParaRPr lang="es-ES" altLang="es-ES" sz="1200" dirty="0">
                  <a:solidFill>
                    <a:srgbClr val="005A58"/>
                  </a:solidFill>
                </a:endParaRPr>
              </a:p>
            </p:txBody>
          </p:sp>
          <p:sp>
            <p:nvSpPr>
              <p:cNvPr id="5130" name="Text Box 33"/>
              <p:cNvSpPr txBox="1">
                <a:spLocks noChangeArrowheads="1"/>
              </p:cNvSpPr>
              <p:nvPr/>
            </p:nvSpPr>
            <p:spPr bwMode="auto">
              <a:xfrm>
                <a:off x="7516567" y="3148012"/>
                <a:ext cx="479917"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2.25</a:t>
                </a:r>
                <a:endParaRPr lang="es-ES" altLang="es-ES" sz="1200" dirty="0">
                  <a:solidFill>
                    <a:srgbClr val="005A58"/>
                  </a:solidFill>
                </a:endParaRPr>
              </a:p>
            </p:txBody>
          </p:sp>
          <p:sp>
            <p:nvSpPr>
              <p:cNvPr id="5131" name="Line 34"/>
              <p:cNvSpPr>
                <a:spLocks noChangeShapeType="1"/>
              </p:cNvSpPr>
              <p:nvPr/>
            </p:nvSpPr>
            <p:spPr bwMode="auto">
              <a:xfrm>
                <a:off x="6400800" y="3111500"/>
                <a:ext cx="76200" cy="9525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32" name="Line 35"/>
              <p:cNvSpPr>
                <a:spLocks noChangeShapeType="1"/>
              </p:cNvSpPr>
              <p:nvPr/>
            </p:nvSpPr>
            <p:spPr bwMode="auto">
              <a:xfrm>
                <a:off x="7504113" y="3111500"/>
                <a:ext cx="76200" cy="9525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50" name="Text Box 67"/>
              <p:cNvSpPr txBox="1">
                <a:spLocks noChangeArrowheads="1"/>
              </p:cNvSpPr>
              <p:nvPr/>
            </p:nvSpPr>
            <p:spPr bwMode="auto">
              <a:xfrm>
                <a:off x="4325938" y="1185598"/>
                <a:ext cx="1592268" cy="638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r" eaLnBrk="1" hangingPunct="1">
                  <a:lnSpc>
                    <a:spcPct val="110000"/>
                  </a:lnSpc>
                </a:pPr>
                <a:r>
                  <a:rPr lang="es-ES_tradnl" altLang="es-ES" sz="1100" dirty="0"/>
                  <a:t>Distribución especificada por </a:t>
                </a:r>
                <a:r>
                  <a:rPr lang="es-ES_tradnl" altLang="es-ES" sz="1100" b="1" dirty="0"/>
                  <a:t>H</a:t>
                </a:r>
                <a:r>
                  <a:rPr lang="es-ES_tradnl" altLang="es-ES" sz="1100" b="1" baseline="-25000" dirty="0"/>
                  <a:t>0</a:t>
                </a:r>
                <a:r>
                  <a:rPr lang="es-ES_tradnl" altLang="es-ES" sz="1100" b="1" dirty="0"/>
                  <a:t> </a:t>
                </a:r>
                <a:r>
                  <a:rPr lang="es-ES_tradnl" altLang="es-ES" sz="1100" dirty="0"/>
                  <a:t> </a:t>
                </a:r>
              </a:p>
              <a:p>
                <a:pPr algn="r" eaLnBrk="1" hangingPunct="1">
                  <a:lnSpc>
                    <a:spcPct val="110000"/>
                  </a:lnSpc>
                </a:pPr>
                <a:r>
                  <a:rPr lang="es-ES_tradnl" altLang="es-ES" sz="1100" dirty="0"/>
                  <a:t>y localización de </a:t>
                </a:r>
                <a:r>
                  <a:rPr lang="es-ES_tradnl" altLang="es-ES" sz="1100" i="1" dirty="0" err="1"/>
                  <a:t>t</a:t>
                </a:r>
                <a:r>
                  <a:rPr lang="es-ES_tradnl" altLang="es-ES" sz="1100" i="1" baseline="-25000" dirty="0" err="1"/>
                  <a:t>exp</a:t>
                </a:r>
                <a:endParaRPr lang="es-ES" altLang="es-ES" sz="1100" i="1" baseline="-25000" dirty="0"/>
              </a:p>
            </p:txBody>
          </p:sp>
        </p:grpSp>
        <p:sp>
          <p:nvSpPr>
            <p:cNvPr id="47" name="Text Box 32">
              <a:extLst>
                <a:ext uri="{FF2B5EF4-FFF2-40B4-BE49-F238E27FC236}">
                  <a16:creationId xmlns:a16="http://schemas.microsoft.com/office/drawing/2014/main" id="{27452EDF-A7F6-40B7-8A7D-88E6EAA14096}"/>
                </a:ext>
              </a:extLst>
            </p:cNvPr>
            <p:cNvSpPr txBox="1">
              <a:spLocks noChangeArrowheads="1"/>
            </p:cNvSpPr>
            <p:nvPr/>
          </p:nvSpPr>
          <p:spPr bwMode="auto">
            <a:xfrm>
              <a:off x="6422159" y="3217684"/>
              <a:ext cx="369310"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(a)</a:t>
              </a:r>
              <a:endParaRPr lang="es-ES" altLang="es-ES" sz="1200" dirty="0">
                <a:solidFill>
                  <a:srgbClr val="005A58"/>
                </a:solidFill>
              </a:endParaRPr>
            </a:p>
          </p:txBody>
        </p:sp>
        <p:sp>
          <p:nvSpPr>
            <p:cNvPr id="48" name="Text Box 32">
              <a:extLst>
                <a:ext uri="{FF2B5EF4-FFF2-40B4-BE49-F238E27FC236}">
                  <a16:creationId xmlns:a16="http://schemas.microsoft.com/office/drawing/2014/main" id="{4646A734-D2DC-433D-A32B-47521771E361}"/>
                </a:ext>
              </a:extLst>
            </p:cNvPr>
            <p:cNvSpPr txBox="1">
              <a:spLocks noChangeArrowheads="1"/>
            </p:cNvSpPr>
            <p:nvPr/>
          </p:nvSpPr>
          <p:spPr bwMode="auto">
            <a:xfrm>
              <a:off x="7574432" y="3217684"/>
              <a:ext cx="369310"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(b)</a:t>
              </a:r>
              <a:endParaRPr lang="es-ES" altLang="es-ES" sz="1200" dirty="0">
                <a:solidFill>
                  <a:srgbClr val="005A58"/>
                </a:solidFill>
              </a:endParaRPr>
            </a:p>
          </p:txBody>
        </p:sp>
      </p:grpSp>
      <p:sp>
        <p:nvSpPr>
          <p:cNvPr id="52" name="Text Box 32">
            <a:extLst>
              <a:ext uri="{FF2B5EF4-FFF2-40B4-BE49-F238E27FC236}">
                <a16:creationId xmlns:a16="http://schemas.microsoft.com/office/drawing/2014/main" id="{22041EA3-8328-4BB2-833C-DEB8A95D1C92}"/>
              </a:ext>
            </a:extLst>
          </p:cNvPr>
          <p:cNvSpPr txBox="1">
            <a:spLocks noChangeArrowheads="1"/>
          </p:cNvSpPr>
          <p:nvPr/>
        </p:nvSpPr>
        <p:spPr bwMode="auto">
          <a:xfrm>
            <a:off x="4634776" y="6029036"/>
            <a:ext cx="4025759" cy="648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¿Bajo qué distribución es más probable el resultado (a)?</a:t>
            </a:r>
          </a:p>
          <a:p>
            <a:pPr algn="ctr" eaLnBrk="1" hangingPunct="1"/>
            <a:r>
              <a:rPr lang="es-ES_tradnl" altLang="es-ES" sz="1200" dirty="0">
                <a:solidFill>
                  <a:srgbClr val="005A58"/>
                </a:solidFill>
              </a:rPr>
              <a:t>¿y el resultado (b)?</a:t>
            </a:r>
          </a:p>
          <a:p>
            <a:pPr algn="ctr" eaLnBrk="1" hangingPunct="1"/>
            <a:r>
              <a:rPr lang="es-ES_tradnl" altLang="es-ES" sz="1200" dirty="0">
                <a:solidFill>
                  <a:srgbClr val="005A58"/>
                </a:solidFill>
              </a:rPr>
              <a:t>¿y si el desplazamiento </a:t>
            </a:r>
            <a:r>
              <a:rPr lang="es-ES_tradnl" altLang="es-ES" sz="1200" i="1" dirty="0">
                <a:solidFill>
                  <a:srgbClr val="0033CC"/>
                </a:solidFill>
              </a:rPr>
              <a:t>d</a:t>
            </a:r>
            <a:r>
              <a:rPr lang="es-ES_tradnl" altLang="es-ES" sz="1200" dirty="0">
                <a:solidFill>
                  <a:srgbClr val="005A58"/>
                </a:solidFill>
              </a:rPr>
              <a:t> fuera mayor/menor?</a:t>
            </a:r>
            <a:endParaRPr lang="es-ES" altLang="es-ES" sz="1200" dirty="0">
              <a:solidFill>
                <a:srgbClr val="005A58"/>
              </a:solidFill>
            </a:endParaRPr>
          </a:p>
        </p:txBody>
      </p:sp>
      <p:grpSp>
        <p:nvGrpSpPr>
          <p:cNvPr id="7" name="Grupo 6">
            <a:extLst>
              <a:ext uri="{FF2B5EF4-FFF2-40B4-BE49-F238E27FC236}">
                <a16:creationId xmlns:a16="http://schemas.microsoft.com/office/drawing/2014/main" id="{53B097E7-E8EA-4CAA-A30B-70FF05F08EA6}"/>
              </a:ext>
            </a:extLst>
          </p:cNvPr>
          <p:cNvGrpSpPr/>
          <p:nvPr/>
        </p:nvGrpSpPr>
        <p:grpSpPr>
          <a:xfrm>
            <a:off x="4178300" y="3505200"/>
            <a:ext cx="4616450" cy="2630122"/>
            <a:chOff x="4178300" y="3668713"/>
            <a:chExt cx="4616450" cy="2630122"/>
          </a:xfrm>
        </p:grpSpPr>
        <p:grpSp>
          <p:nvGrpSpPr>
            <p:cNvPr id="6" name="Grupo 5">
              <a:extLst>
                <a:ext uri="{FF2B5EF4-FFF2-40B4-BE49-F238E27FC236}">
                  <a16:creationId xmlns:a16="http://schemas.microsoft.com/office/drawing/2014/main" id="{EDE8F08B-B93E-416B-A1ED-32863AF5C42B}"/>
                </a:ext>
              </a:extLst>
            </p:cNvPr>
            <p:cNvGrpSpPr/>
            <p:nvPr/>
          </p:nvGrpSpPr>
          <p:grpSpPr>
            <a:xfrm>
              <a:off x="4178300" y="3668713"/>
              <a:ext cx="4616450" cy="2427287"/>
              <a:chOff x="4178300" y="3332163"/>
              <a:chExt cx="4616450" cy="2427287"/>
            </a:xfrm>
          </p:grpSpPr>
          <p:sp>
            <p:nvSpPr>
              <p:cNvPr id="5138" name="Line 36"/>
              <p:cNvSpPr>
                <a:spLocks noChangeShapeType="1"/>
              </p:cNvSpPr>
              <p:nvPr/>
            </p:nvSpPr>
            <p:spPr bwMode="auto">
              <a:xfrm>
                <a:off x="4178300" y="5168900"/>
                <a:ext cx="4616450" cy="0"/>
              </a:xfrm>
              <a:prstGeom prst="line">
                <a:avLst/>
              </a:prstGeom>
              <a:noFill/>
              <a:ln w="254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2" name="Grupo 1">
                <a:extLst>
                  <a:ext uri="{FF2B5EF4-FFF2-40B4-BE49-F238E27FC236}">
                    <a16:creationId xmlns:a16="http://schemas.microsoft.com/office/drawing/2014/main" id="{6939CAEB-96A7-4E18-9992-A1710AB05C15}"/>
                  </a:ext>
                </a:extLst>
              </p:cNvPr>
              <p:cNvGrpSpPr/>
              <p:nvPr/>
            </p:nvGrpSpPr>
            <p:grpSpPr>
              <a:xfrm>
                <a:off x="4752975" y="3332163"/>
                <a:ext cx="3968303" cy="2427287"/>
                <a:chOff x="4752975" y="3752850"/>
                <a:chExt cx="3968303" cy="2427287"/>
              </a:xfrm>
            </p:grpSpPr>
            <p:sp>
              <p:nvSpPr>
                <p:cNvPr id="5137" name="Freeform 34"/>
                <p:cNvSpPr>
                  <a:spLocks/>
                </p:cNvSpPr>
                <p:nvPr/>
              </p:nvSpPr>
              <p:spPr bwMode="auto">
                <a:xfrm>
                  <a:off x="4752975" y="3957637"/>
                  <a:ext cx="3094038" cy="162401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31546296 h 5006"/>
                    <a:gd name="T52" fmla="*/ 2147483647 w 9513"/>
                    <a:gd name="T53" fmla="*/ 0 h 5006"/>
                    <a:gd name="T54" fmla="*/ 2147483647 w 9513"/>
                    <a:gd name="T55" fmla="*/ 1331546296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941"/>
                  </a:srgbClr>
                </a:solidFill>
                <a:ln w="11176">
                  <a:solidFill>
                    <a:srgbClr val="000000"/>
                  </a:solidFill>
                  <a:prstDash val="solid"/>
                  <a:round/>
                  <a:headEnd/>
                  <a:tailEnd/>
                </a:ln>
              </p:spPr>
              <p:txBody>
                <a:bodyPr/>
                <a:lstStyle/>
                <a:p>
                  <a:endParaRPr lang="es-ES"/>
                </a:p>
              </p:txBody>
            </p:sp>
            <p:sp>
              <p:nvSpPr>
                <p:cNvPr id="5139" name="Freeform 37"/>
                <p:cNvSpPr>
                  <a:spLocks/>
                </p:cNvSpPr>
                <p:nvPr/>
              </p:nvSpPr>
              <p:spPr bwMode="auto">
                <a:xfrm>
                  <a:off x="5461000" y="3957637"/>
                  <a:ext cx="3094038" cy="162401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31546296 h 5006"/>
                    <a:gd name="T52" fmla="*/ 2147483647 w 9513"/>
                    <a:gd name="T53" fmla="*/ 0 h 5006"/>
                    <a:gd name="T54" fmla="*/ 2147483647 w 9513"/>
                    <a:gd name="T55" fmla="*/ 1331546296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24001"/>
                  </a:srgbClr>
                </a:solidFill>
                <a:ln w="12700">
                  <a:solidFill>
                    <a:srgbClr val="FF0000"/>
                  </a:solidFill>
                  <a:prstDash val="solid"/>
                  <a:round/>
                  <a:headEnd/>
                  <a:tailEnd/>
                </a:ln>
              </p:spPr>
              <p:txBody>
                <a:bodyPr/>
                <a:lstStyle/>
                <a:p>
                  <a:endParaRPr lang="es-ES"/>
                </a:p>
              </p:txBody>
            </p:sp>
            <p:grpSp>
              <p:nvGrpSpPr>
                <p:cNvPr id="5140" name="Group 39"/>
                <p:cNvGrpSpPr>
                  <a:grpSpLocks/>
                </p:cNvGrpSpPr>
                <p:nvPr/>
              </p:nvGrpSpPr>
              <p:grpSpPr bwMode="auto">
                <a:xfrm>
                  <a:off x="6294438" y="3752850"/>
                  <a:ext cx="717550" cy="2427287"/>
                  <a:chOff x="3391" y="2116"/>
                  <a:chExt cx="452" cy="1152"/>
                </a:xfrm>
              </p:grpSpPr>
              <p:sp>
                <p:nvSpPr>
                  <p:cNvPr id="5154" name="Line 35"/>
                  <p:cNvSpPr>
                    <a:spLocks noChangeShapeType="1"/>
                  </p:cNvSpPr>
                  <p:nvPr/>
                </p:nvSpPr>
                <p:spPr bwMode="auto">
                  <a:xfrm>
                    <a:off x="3391" y="2116"/>
                    <a:ext cx="6" cy="1152"/>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55" name="Line 38"/>
                  <p:cNvSpPr>
                    <a:spLocks noChangeShapeType="1"/>
                  </p:cNvSpPr>
                  <p:nvPr/>
                </p:nvSpPr>
                <p:spPr bwMode="auto">
                  <a:xfrm>
                    <a:off x="3837" y="2116"/>
                    <a:ext cx="6" cy="115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5141" name="Line 40"/>
                <p:cNvSpPr>
                  <a:spLocks noChangeShapeType="1"/>
                </p:cNvSpPr>
                <p:nvPr/>
              </p:nvSpPr>
              <p:spPr bwMode="auto">
                <a:xfrm>
                  <a:off x="6313488" y="6113462"/>
                  <a:ext cx="668337" cy="0"/>
                </a:xfrm>
                <a:prstGeom prst="line">
                  <a:avLst/>
                </a:prstGeom>
                <a:noFill/>
                <a:ln w="9525">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42" name="Line 68"/>
                <p:cNvSpPr>
                  <a:spLocks noChangeShapeType="1"/>
                </p:cNvSpPr>
                <p:nvPr/>
              </p:nvSpPr>
              <p:spPr bwMode="auto">
                <a:xfrm>
                  <a:off x="6313488" y="3824287"/>
                  <a:ext cx="668337" cy="0"/>
                </a:xfrm>
                <a:prstGeom prst="line">
                  <a:avLst/>
                </a:prstGeom>
                <a:noFill/>
                <a:ln w="9525">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43" name="Line 59"/>
                <p:cNvSpPr>
                  <a:spLocks noChangeShapeType="1"/>
                </p:cNvSpPr>
                <p:nvPr/>
              </p:nvSpPr>
              <p:spPr bwMode="auto">
                <a:xfrm flipH="1">
                  <a:off x="6411913" y="3998912"/>
                  <a:ext cx="3175" cy="1639888"/>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44" name="Line 60"/>
                <p:cNvSpPr>
                  <a:spLocks noChangeShapeType="1"/>
                </p:cNvSpPr>
                <p:nvPr/>
              </p:nvSpPr>
              <p:spPr bwMode="auto">
                <a:xfrm>
                  <a:off x="7513638" y="5487987"/>
                  <a:ext cx="0" cy="185738"/>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45" name="Text Box 61"/>
                <p:cNvSpPr txBox="1">
                  <a:spLocks noChangeArrowheads="1"/>
                </p:cNvSpPr>
                <p:nvPr/>
              </p:nvSpPr>
              <p:spPr bwMode="auto">
                <a:xfrm>
                  <a:off x="6375400" y="5614987"/>
                  <a:ext cx="4762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a:solidFill>
                        <a:srgbClr val="005A58"/>
                      </a:solidFill>
                    </a:rPr>
                    <a:t>0.57</a:t>
                  </a:r>
                  <a:endParaRPr lang="es-ES" altLang="es-ES" sz="1200">
                    <a:solidFill>
                      <a:srgbClr val="005A58"/>
                    </a:solidFill>
                  </a:endParaRPr>
                </a:p>
              </p:txBody>
            </p:sp>
            <p:sp>
              <p:nvSpPr>
                <p:cNvPr id="5146" name="Text Box 62"/>
                <p:cNvSpPr txBox="1">
                  <a:spLocks noChangeArrowheads="1"/>
                </p:cNvSpPr>
                <p:nvPr/>
              </p:nvSpPr>
              <p:spPr bwMode="auto">
                <a:xfrm>
                  <a:off x="7526092" y="5614987"/>
                  <a:ext cx="479917"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2.25</a:t>
                  </a:r>
                  <a:endParaRPr lang="es-ES" altLang="es-ES" sz="1200" dirty="0">
                    <a:solidFill>
                      <a:srgbClr val="005A58"/>
                    </a:solidFill>
                  </a:endParaRPr>
                </a:p>
              </p:txBody>
            </p:sp>
            <p:sp>
              <p:nvSpPr>
                <p:cNvPr id="5147" name="Line 63"/>
                <p:cNvSpPr>
                  <a:spLocks noChangeShapeType="1"/>
                </p:cNvSpPr>
                <p:nvPr/>
              </p:nvSpPr>
              <p:spPr bwMode="auto">
                <a:xfrm>
                  <a:off x="6410325" y="5578475"/>
                  <a:ext cx="76200" cy="9525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48" name="Line 64"/>
                <p:cNvSpPr>
                  <a:spLocks noChangeShapeType="1"/>
                </p:cNvSpPr>
                <p:nvPr/>
              </p:nvSpPr>
              <p:spPr bwMode="auto">
                <a:xfrm>
                  <a:off x="7513638" y="5578475"/>
                  <a:ext cx="76200" cy="9525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149" name="Text Box 41"/>
                <p:cNvSpPr txBox="1">
                  <a:spLocks noChangeArrowheads="1"/>
                </p:cNvSpPr>
                <p:nvPr/>
              </p:nvSpPr>
              <p:spPr bwMode="auto">
                <a:xfrm>
                  <a:off x="6180138" y="5621337"/>
                  <a:ext cx="265112" cy="274638"/>
                </a:xfrm>
                <a:prstGeom prst="rect">
                  <a:avLst/>
                </a:prstGeom>
                <a:solidFill>
                  <a:schemeClr val="bg1"/>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a:t>0</a:t>
                  </a:r>
                </a:p>
              </p:txBody>
            </p:sp>
            <p:sp>
              <p:nvSpPr>
                <p:cNvPr id="5152" name="Text Box 69"/>
                <p:cNvSpPr txBox="1">
                  <a:spLocks noChangeArrowheads="1"/>
                </p:cNvSpPr>
                <p:nvPr/>
              </p:nvSpPr>
              <p:spPr bwMode="auto">
                <a:xfrm>
                  <a:off x="7587819" y="3845102"/>
                  <a:ext cx="1133459" cy="8249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10000"/>
                    </a:lnSpc>
                  </a:pPr>
                  <a:r>
                    <a:rPr lang="es-ES_tradnl" altLang="es-ES" sz="1100" dirty="0"/>
                    <a:t>Una posible distribución alternativa</a:t>
                  </a:r>
                </a:p>
                <a:p>
                  <a:pPr eaLnBrk="1" hangingPunct="1">
                    <a:lnSpc>
                      <a:spcPct val="110000"/>
                    </a:lnSpc>
                  </a:pPr>
                  <a:r>
                    <a:rPr lang="es-ES_tradnl" altLang="es-ES" sz="1100" b="1" dirty="0"/>
                    <a:t>H</a:t>
                  </a:r>
                  <a:r>
                    <a:rPr lang="es-ES_tradnl" altLang="es-ES" sz="1100" b="1" baseline="-25000" dirty="0"/>
                    <a:t>1</a:t>
                  </a:r>
                  <a:endParaRPr lang="es-ES" altLang="es-ES" sz="1100" dirty="0"/>
                </a:p>
              </p:txBody>
            </p:sp>
          </p:grpSp>
        </p:grpSp>
        <p:sp>
          <p:nvSpPr>
            <p:cNvPr id="49" name="Text Box 32">
              <a:extLst>
                <a:ext uri="{FF2B5EF4-FFF2-40B4-BE49-F238E27FC236}">
                  <a16:creationId xmlns:a16="http://schemas.microsoft.com/office/drawing/2014/main" id="{972F6D7C-A0AB-4739-B3B1-AA7DA653FBD3}"/>
                </a:ext>
              </a:extLst>
            </p:cNvPr>
            <p:cNvSpPr txBox="1">
              <a:spLocks noChangeArrowheads="1"/>
            </p:cNvSpPr>
            <p:nvPr/>
          </p:nvSpPr>
          <p:spPr bwMode="auto">
            <a:xfrm>
              <a:off x="6422159" y="5724490"/>
              <a:ext cx="369310"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(a)</a:t>
              </a:r>
              <a:endParaRPr lang="es-ES" altLang="es-ES" sz="1200" dirty="0">
                <a:solidFill>
                  <a:srgbClr val="005A58"/>
                </a:solidFill>
              </a:endParaRPr>
            </a:p>
          </p:txBody>
        </p:sp>
        <p:sp>
          <p:nvSpPr>
            <p:cNvPr id="50" name="Text Box 32">
              <a:extLst>
                <a:ext uri="{FF2B5EF4-FFF2-40B4-BE49-F238E27FC236}">
                  <a16:creationId xmlns:a16="http://schemas.microsoft.com/office/drawing/2014/main" id="{E56B1B77-84E3-4F06-A5DF-387E760214F8}"/>
                </a:ext>
              </a:extLst>
            </p:cNvPr>
            <p:cNvSpPr txBox="1">
              <a:spLocks noChangeArrowheads="1"/>
            </p:cNvSpPr>
            <p:nvPr/>
          </p:nvSpPr>
          <p:spPr bwMode="auto">
            <a:xfrm>
              <a:off x="7574432" y="5724490"/>
              <a:ext cx="369310"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(b)</a:t>
              </a:r>
              <a:endParaRPr lang="es-ES" altLang="es-ES" sz="1200" dirty="0">
                <a:solidFill>
                  <a:srgbClr val="005A58"/>
                </a:solidFill>
              </a:endParaRPr>
            </a:p>
          </p:txBody>
        </p:sp>
        <p:sp>
          <p:nvSpPr>
            <p:cNvPr id="51" name="Text Box 67">
              <a:extLst>
                <a:ext uri="{FF2B5EF4-FFF2-40B4-BE49-F238E27FC236}">
                  <a16:creationId xmlns:a16="http://schemas.microsoft.com/office/drawing/2014/main" id="{EC4EE5D6-EB1A-4D28-80CB-90F5438557CC}"/>
                </a:ext>
              </a:extLst>
            </p:cNvPr>
            <p:cNvSpPr txBox="1">
              <a:spLocks noChangeArrowheads="1"/>
            </p:cNvSpPr>
            <p:nvPr/>
          </p:nvSpPr>
          <p:spPr bwMode="auto">
            <a:xfrm>
              <a:off x="4320380" y="3707117"/>
              <a:ext cx="1592268" cy="638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r" eaLnBrk="1" hangingPunct="1">
                <a:lnSpc>
                  <a:spcPct val="110000"/>
                </a:lnSpc>
              </a:pPr>
              <a:r>
                <a:rPr lang="es-ES_tradnl" altLang="es-ES" sz="1100" dirty="0"/>
                <a:t>Distribución especificada por </a:t>
              </a:r>
              <a:r>
                <a:rPr lang="es-ES_tradnl" altLang="es-ES" sz="1100" b="1" dirty="0"/>
                <a:t>H</a:t>
              </a:r>
              <a:r>
                <a:rPr lang="es-ES_tradnl" altLang="es-ES" sz="1100" b="1" baseline="-25000" dirty="0"/>
                <a:t>0</a:t>
              </a:r>
              <a:r>
                <a:rPr lang="es-ES_tradnl" altLang="es-ES" sz="1100" b="1" dirty="0"/>
                <a:t> </a:t>
              </a:r>
              <a:r>
                <a:rPr lang="es-ES_tradnl" altLang="es-ES" sz="1100" dirty="0"/>
                <a:t> </a:t>
              </a:r>
            </a:p>
            <a:p>
              <a:pPr algn="r" eaLnBrk="1" hangingPunct="1">
                <a:lnSpc>
                  <a:spcPct val="110000"/>
                </a:lnSpc>
              </a:pPr>
              <a:r>
                <a:rPr lang="es-ES_tradnl" altLang="es-ES" sz="1100" dirty="0"/>
                <a:t>y localización de </a:t>
              </a:r>
              <a:r>
                <a:rPr lang="es-ES_tradnl" altLang="es-ES" sz="1100" i="1" dirty="0" err="1"/>
                <a:t>t</a:t>
              </a:r>
              <a:r>
                <a:rPr lang="es-ES_tradnl" altLang="es-ES" sz="1100" i="1" baseline="-25000" dirty="0" err="1"/>
                <a:t>exp</a:t>
              </a:r>
              <a:endParaRPr lang="es-ES" altLang="es-ES" sz="1100" i="1" baseline="-25000" dirty="0"/>
            </a:p>
          </p:txBody>
        </p:sp>
        <p:sp>
          <p:nvSpPr>
            <p:cNvPr id="53" name="Text Box 32">
              <a:extLst>
                <a:ext uri="{FF2B5EF4-FFF2-40B4-BE49-F238E27FC236}">
                  <a16:creationId xmlns:a16="http://schemas.microsoft.com/office/drawing/2014/main" id="{41D73F23-F9F9-49E4-AA21-C65AB00B154B}"/>
                </a:ext>
              </a:extLst>
            </p:cNvPr>
            <p:cNvSpPr txBox="1">
              <a:spLocks noChangeArrowheads="1"/>
            </p:cNvSpPr>
            <p:nvPr/>
          </p:nvSpPr>
          <p:spPr bwMode="auto">
            <a:xfrm>
              <a:off x="6493500" y="6019655"/>
              <a:ext cx="266716"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i="1" dirty="0">
                  <a:solidFill>
                    <a:srgbClr val="0033CC"/>
                  </a:solidFill>
                </a:rPr>
                <a:t>d</a:t>
              </a:r>
              <a:endParaRPr lang="es-ES" altLang="es-ES" sz="1200" i="1" dirty="0">
                <a:solidFill>
                  <a:srgbClr val="0033CC"/>
                </a:solidFill>
              </a:endParaRPr>
            </a:p>
          </p:txBody>
        </p:sp>
      </p:grpSp>
      <p:sp>
        <p:nvSpPr>
          <p:cNvPr id="9" name="TextBox 8">
            <a:extLst>
              <a:ext uri="{FF2B5EF4-FFF2-40B4-BE49-F238E27FC236}">
                <a16:creationId xmlns:a16="http://schemas.microsoft.com/office/drawing/2014/main" id="{35EA9BDE-AEA7-7DDF-6680-63536F014310}"/>
              </a:ext>
            </a:extLst>
          </p:cNvPr>
          <p:cNvSpPr txBox="1"/>
          <p:nvPr/>
        </p:nvSpPr>
        <p:spPr>
          <a:xfrm>
            <a:off x="2934045" y="5513841"/>
            <a:ext cx="617356" cy="338554"/>
          </a:xfrm>
          <a:prstGeom prst="rect">
            <a:avLst/>
          </a:prstGeom>
          <a:noFill/>
        </p:spPr>
        <p:txBody>
          <a:bodyPr wrap="square" rtlCol="0">
            <a:spAutoFit/>
          </a:bodyPr>
          <a:lstStyle/>
          <a:p>
            <a:r>
              <a:rPr lang="en-US" sz="1600" dirty="0">
                <a:highlight>
                  <a:srgbClr val="FFFFFF"/>
                </a:highlight>
              </a:rPr>
              <a:t>2.25</a:t>
            </a:r>
          </a:p>
        </p:txBody>
      </p:sp>
    </p:spTree>
    <p:extLst>
      <p:ext uri="{BB962C8B-B14F-4D97-AF65-F5344CB8AC3E}">
        <p14:creationId xmlns:p14="http://schemas.microsoft.com/office/powerpoint/2010/main" val="358324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51"/>
          <p:cNvSpPr txBox="1">
            <a:spLocks noChangeArrowheads="1"/>
          </p:cNvSpPr>
          <p:nvPr/>
        </p:nvSpPr>
        <p:spPr bwMode="auto">
          <a:xfrm>
            <a:off x="219241" y="5204665"/>
            <a:ext cx="8612980" cy="8913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185738" indent="-185738"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ct val="110000"/>
              </a:lnSpc>
              <a:buFontTx/>
              <a:buChar char="•"/>
            </a:pPr>
            <a:r>
              <a:rPr lang="es-ES" altLang="es-ES" sz="1200" dirty="0"/>
              <a:t>La decisión a favor o en contra de H</a:t>
            </a:r>
            <a:r>
              <a:rPr lang="es-ES" altLang="es-ES" sz="1200" baseline="-25000" dirty="0"/>
              <a:t>0</a:t>
            </a:r>
            <a:r>
              <a:rPr lang="es-ES" altLang="es-ES" sz="1200" dirty="0"/>
              <a:t> se basará en </a:t>
            </a:r>
            <a:r>
              <a:rPr lang="es-ES_tradnl" altLang="es-ES" sz="1200" dirty="0"/>
              <a:t>determinar </a:t>
            </a:r>
            <a:r>
              <a:rPr lang="es-ES_tradnl" altLang="es-ES" sz="1200" b="1" dirty="0"/>
              <a:t>si la muestra es probable</a:t>
            </a:r>
            <a:r>
              <a:rPr lang="es-ES_tradnl" altLang="es-ES" sz="1200" dirty="0"/>
              <a:t> bajo tal distribución (</a:t>
            </a:r>
            <a:r>
              <a:rPr lang="es-ES" altLang="es-ES" sz="1200" dirty="0"/>
              <a:t>se aceptará entonces</a:t>
            </a:r>
            <a:r>
              <a:rPr lang="es-ES_tradnl" altLang="es-ES" sz="1200" dirty="0"/>
              <a:t> H</a:t>
            </a:r>
            <a:r>
              <a:rPr lang="es-ES_tradnl" altLang="es-ES" sz="1200" baseline="-25000" dirty="0"/>
              <a:t>0</a:t>
            </a:r>
            <a:r>
              <a:rPr lang="es-ES_tradnl" altLang="es-ES" sz="1200" dirty="0"/>
              <a:t>) o si por </a:t>
            </a:r>
            <a:r>
              <a:rPr lang="es-ES" altLang="es-ES" sz="1200" dirty="0"/>
              <a:t>el contrario, constituye algo </a:t>
            </a:r>
            <a:r>
              <a:rPr lang="es-ES" altLang="es-ES" sz="1200" i="1" dirty="0"/>
              <a:t>raro</a:t>
            </a:r>
            <a:r>
              <a:rPr lang="es-ES" altLang="es-ES" sz="1200" dirty="0"/>
              <a:t> </a:t>
            </a:r>
            <a:r>
              <a:rPr lang="es-ES" altLang="es-ES" sz="1200" b="1" dirty="0"/>
              <a:t>o improbable</a:t>
            </a:r>
            <a:r>
              <a:rPr lang="es-ES" altLang="es-ES" sz="1200" dirty="0"/>
              <a:t> bajo la misma</a:t>
            </a:r>
            <a:r>
              <a:rPr lang="es-ES_tradnl" altLang="es-ES" sz="1200" dirty="0"/>
              <a:t> (se rechazará H</a:t>
            </a:r>
            <a:r>
              <a:rPr lang="es-ES_tradnl" altLang="es-ES" sz="1200" baseline="-25000" dirty="0"/>
              <a:t>0</a:t>
            </a:r>
            <a:r>
              <a:rPr lang="es-ES_tradnl" altLang="es-ES" sz="1200" dirty="0"/>
              <a:t> a favor de una H</a:t>
            </a:r>
            <a:r>
              <a:rPr lang="es-ES_tradnl" altLang="es-ES" sz="1200" baseline="-25000" dirty="0"/>
              <a:t>1</a:t>
            </a:r>
            <a:r>
              <a:rPr lang="es-ES_tradnl" altLang="es-ES" sz="1200" dirty="0"/>
              <a:t>)</a:t>
            </a:r>
            <a:r>
              <a:rPr lang="es-ES_tradnl" altLang="es-ES" sz="1200" baseline="-25000" dirty="0"/>
              <a:t>. </a:t>
            </a:r>
            <a:r>
              <a:rPr lang="es-ES_tradnl" altLang="es-ES" sz="1200" dirty="0"/>
              <a:t>Para ello, es necesario resumir la información muestral en una cantidad </a:t>
            </a:r>
            <a:r>
              <a:rPr lang="es-ES_tradnl" altLang="es-ES" sz="1200" b="1" dirty="0">
                <a:solidFill>
                  <a:srgbClr val="C00000"/>
                </a:solidFill>
              </a:rPr>
              <a:t>el estadístico de contraste</a:t>
            </a:r>
            <a:r>
              <a:rPr lang="es-ES_tradnl" altLang="es-ES" sz="1200" b="1" dirty="0"/>
              <a:t>,</a:t>
            </a:r>
            <a:r>
              <a:rPr lang="es-ES_tradnl" altLang="es-ES" sz="1200" dirty="0"/>
              <a:t> cuya distribución de probabilidad está especificada precisamente por </a:t>
            </a:r>
            <a:r>
              <a:rPr lang="es-ES" altLang="es-ES" sz="1200" dirty="0"/>
              <a:t>H</a:t>
            </a:r>
            <a:r>
              <a:rPr lang="es-ES" altLang="es-ES" sz="1200" baseline="-25000" dirty="0"/>
              <a:t>0</a:t>
            </a:r>
            <a:r>
              <a:rPr lang="es-ES" altLang="es-ES" sz="1200" dirty="0"/>
              <a:t>, si es cierta.</a:t>
            </a:r>
            <a:r>
              <a:rPr lang="es-ES_tradnl" altLang="es-ES" sz="1200" dirty="0"/>
              <a:t> </a:t>
            </a:r>
            <a:endParaRPr lang="es-ES_tradnl" altLang="es-ES" sz="1200" baseline="-25000" dirty="0"/>
          </a:p>
        </p:txBody>
      </p:sp>
      <p:sp>
        <p:nvSpPr>
          <p:cNvPr id="7189" name="Text Box 51"/>
          <p:cNvSpPr txBox="1">
            <a:spLocks noChangeArrowheads="1"/>
          </p:cNvSpPr>
          <p:nvPr/>
        </p:nvSpPr>
        <p:spPr bwMode="auto">
          <a:xfrm>
            <a:off x="219241" y="6104573"/>
            <a:ext cx="8612980" cy="5189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185738" indent="-185738"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ct val="110000"/>
              </a:lnSpc>
              <a:buFontTx/>
              <a:buChar char="•"/>
            </a:pPr>
            <a:r>
              <a:rPr lang="es-ES" altLang="es-ES" sz="1200" dirty="0"/>
              <a:t>Como </a:t>
            </a:r>
            <a:r>
              <a:rPr lang="es-ES" altLang="es-ES" sz="1200" dirty="0">
                <a:latin typeface="Symbol" panose="05050102010706020507" pitchFamily="18" charset="2"/>
              </a:rPr>
              <a:t>s </a:t>
            </a:r>
            <a:r>
              <a:rPr lang="es-ES" altLang="es-ES" sz="1200" dirty="0"/>
              <a:t>es desconocido y usamos su estimador puntual, </a:t>
            </a:r>
            <a:r>
              <a:rPr lang="es-ES" altLang="es-ES" i="1" dirty="0">
                <a:latin typeface="Times New Roman" panose="02020603050405020304" pitchFamily="18" charset="0"/>
                <a:cs typeface="Times New Roman" panose="02020603050405020304" pitchFamily="18" charset="0"/>
              </a:rPr>
              <a:t>s</a:t>
            </a:r>
            <a:r>
              <a:rPr lang="es-ES" altLang="es-ES" sz="1200" dirty="0"/>
              <a:t> en su lugar, en vez de la distribución normal hay que considerar la distribución </a:t>
            </a:r>
            <a:r>
              <a:rPr lang="es-ES" altLang="es-ES" sz="1200" i="1" dirty="0"/>
              <a:t>t-Student:</a:t>
            </a:r>
            <a:endParaRPr lang="es-ES_tradnl" altLang="es-ES" sz="1200" i="1" dirty="0"/>
          </a:p>
        </p:txBody>
      </p:sp>
      <p:sp>
        <p:nvSpPr>
          <p:cNvPr id="7190" name="Text Box 51"/>
          <p:cNvSpPr txBox="1">
            <a:spLocks noChangeArrowheads="1"/>
          </p:cNvSpPr>
          <p:nvPr/>
        </p:nvSpPr>
        <p:spPr bwMode="auto">
          <a:xfrm>
            <a:off x="219241" y="3935112"/>
            <a:ext cx="8612980" cy="4850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185738" indent="-185738"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ct val="110000"/>
              </a:lnSpc>
              <a:buFontTx/>
              <a:buChar char="•"/>
            </a:pPr>
            <a:r>
              <a:rPr lang="es-ES_tradnl" altLang="es-ES" sz="1200" dirty="0"/>
              <a:t>La resolución del problema </a:t>
            </a:r>
            <a:r>
              <a:rPr lang="es-ES_tradnl" altLang="es-ES" sz="1200" b="1" dirty="0"/>
              <a:t>comienza suponiendo cierta H</a:t>
            </a:r>
            <a:r>
              <a:rPr lang="es-ES_tradnl" altLang="es-ES" sz="1200" b="1" baseline="-25000" dirty="0"/>
              <a:t>0</a:t>
            </a:r>
            <a:r>
              <a:rPr lang="es-ES" altLang="es-ES" sz="1200" dirty="0"/>
              <a:t>, </a:t>
            </a:r>
            <a:r>
              <a:rPr lang="es-ES_tradnl" altLang="es-ES" sz="1200" dirty="0"/>
              <a:t>es decir, que la muestra obtenida procede de la </a:t>
            </a:r>
            <a:r>
              <a:rPr lang="es-ES_tradnl" altLang="es-ES" sz="1200" dirty="0" err="1"/>
              <a:t>distri</a:t>
            </a:r>
            <a:r>
              <a:rPr lang="es-ES" altLang="es-ES" sz="1200" dirty="0" err="1"/>
              <a:t>bución</a:t>
            </a:r>
            <a:r>
              <a:rPr lang="es-ES" altLang="es-ES" sz="1200" dirty="0"/>
              <a:t> especificada por dicha hipótesis</a:t>
            </a:r>
            <a:endParaRPr lang="es-ES_tradnl" altLang="es-ES" sz="1200" dirty="0"/>
          </a:p>
        </p:txBody>
      </p:sp>
      <p:sp>
        <p:nvSpPr>
          <p:cNvPr id="7191" name="Text Box 51"/>
          <p:cNvSpPr txBox="1">
            <a:spLocks noChangeArrowheads="1"/>
          </p:cNvSpPr>
          <p:nvPr/>
        </p:nvSpPr>
        <p:spPr bwMode="auto">
          <a:xfrm>
            <a:off x="219241" y="4371108"/>
            <a:ext cx="8612980" cy="8331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185738" indent="-185738"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buFontTx/>
              <a:buChar char="•"/>
            </a:pPr>
            <a:r>
              <a:rPr lang="es-ES_tradnl" altLang="es-ES" sz="1200" dirty="0"/>
              <a:t>La </a:t>
            </a:r>
            <a:r>
              <a:rPr lang="es-ES_tradnl" altLang="es-ES" sz="1200" b="1" dirty="0"/>
              <a:t>distribución</a:t>
            </a:r>
            <a:r>
              <a:rPr lang="es-ES_tradnl" altLang="es-ES" sz="1200" dirty="0"/>
              <a:t> asociada a </a:t>
            </a:r>
            <a:r>
              <a:rPr lang="es-ES_tradnl" altLang="es-ES" sz="1200" b="1" dirty="0"/>
              <a:t>H</a:t>
            </a:r>
            <a:r>
              <a:rPr lang="es-ES_tradnl" altLang="es-ES" sz="1200" b="1" baseline="-25000" dirty="0"/>
              <a:t>1</a:t>
            </a:r>
            <a:r>
              <a:rPr lang="es-ES_tradnl" altLang="es-ES" sz="1200" b="1" dirty="0"/>
              <a:t> no se conoce de forma concreta</a:t>
            </a:r>
            <a:r>
              <a:rPr lang="es-ES_tradnl" altLang="es-ES" sz="1200" dirty="0"/>
              <a:t>: ¿cuanto vale su parámetro de posición? (H</a:t>
            </a:r>
            <a:r>
              <a:rPr lang="es-ES_tradnl" altLang="es-ES" sz="1200" baseline="-25000" dirty="0"/>
              <a:t>1</a:t>
            </a:r>
            <a:r>
              <a:rPr lang="es-ES_tradnl" altLang="es-ES" sz="1200" dirty="0"/>
              <a:t> no establece ninguna distribución con la que se pueda trabajar). Por lo tanto, solo es posible manejar la </a:t>
            </a:r>
            <a:r>
              <a:rPr lang="es-ES_tradnl" altLang="es-ES" sz="1200" dirty="0" err="1"/>
              <a:t>dist</a:t>
            </a:r>
            <a:r>
              <a:rPr lang="es-ES" altLang="es-ES" sz="1200" dirty="0" err="1"/>
              <a:t>ribución</a:t>
            </a:r>
            <a:r>
              <a:rPr lang="es-ES" altLang="es-ES" sz="1200" dirty="0"/>
              <a:t> propuesta por H</a:t>
            </a:r>
            <a:r>
              <a:rPr lang="es-ES" altLang="es-ES" sz="1200" baseline="-25000" dirty="0"/>
              <a:t>0</a:t>
            </a:r>
            <a:r>
              <a:rPr lang="es-ES" altLang="es-ES" sz="1200" dirty="0"/>
              <a:t>.</a:t>
            </a:r>
            <a:r>
              <a:rPr lang="es-ES" altLang="es-ES" sz="1200" baseline="-25000" dirty="0"/>
              <a:t> </a:t>
            </a:r>
            <a:r>
              <a:rPr lang="es-ES" altLang="es-ES" sz="1200" dirty="0"/>
              <a:t>Por eso, la identidad de H</a:t>
            </a:r>
            <a:r>
              <a:rPr lang="es-ES" altLang="es-ES" sz="1200" baseline="-25000" dirty="0"/>
              <a:t>0 </a:t>
            </a:r>
            <a:r>
              <a:rPr lang="es-ES" altLang="es-ES" sz="1200" dirty="0"/>
              <a:t>no depende del interés del investigador. </a:t>
            </a:r>
            <a:r>
              <a:rPr lang="es-ES" altLang="es-ES" sz="1200" b="1" dirty="0"/>
              <a:t>H</a:t>
            </a:r>
            <a:r>
              <a:rPr lang="es-ES" altLang="es-ES" sz="1200" b="1" baseline="-25000" dirty="0"/>
              <a:t>0</a:t>
            </a:r>
            <a:r>
              <a:rPr lang="es-ES" altLang="es-ES" sz="1200" b="1" dirty="0"/>
              <a:t> es la hipótesis que proporciona unas condiciones conocidas con las que poder trabajar</a:t>
            </a:r>
            <a:endParaRPr lang="es-ES_tradnl" altLang="es-ES" sz="1200" b="1" baseline="-25000" dirty="0"/>
          </a:p>
        </p:txBody>
      </p:sp>
      <p:grpSp>
        <p:nvGrpSpPr>
          <p:cNvPr id="7199" name="Group 31"/>
          <p:cNvGrpSpPr>
            <a:grpSpLocks/>
          </p:cNvGrpSpPr>
          <p:nvPr/>
        </p:nvGrpSpPr>
        <p:grpSpPr bwMode="auto">
          <a:xfrm>
            <a:off x="168121" y="853495"/>
            <a:ext cx="7481599" cy="2631310"/>
            <a:chOff x="-64" y="686"/>
            <a:chExt cx="5172" cy="1899"/>
          </a:xfrm>
        </p:grpSpPr>
        <p:sp>
          <p:nvSpPr>
            <p:cNvPr id="7196" name="Freeform 34"/>
            <p:cNvSpPr>
              <a:spLocks/>
            </p:cNvSpPr>
            <p:nvPr/>
          </p:nvSpPr>
          <p:spPr bwMode="auto">
            <a:xfrm>
              <a:off x="2400" y="920"/>
              <a:ext cx="2129" cy="1299"/>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2146957610 h 5006"/>
                <a:gd name="T52" fmla="*/ 2147483647 w 9513"/>
                <a:gd name="T53" fmla="*/ 0 h 5006"/>
                <a:gd name="T54" fmla="*/ 2147483647 w 9513"/>
                <a:gd name="T55" fmla="*/ 214695761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5000"/>
              </a:srgbClr>
            </a:solidFill>
            <a:ln w="11176" cap="flat">
              <a:solidFill>
                <a:srgbClr val="800000"/>
              </a:solidFill>
              <a:prstDash val="lgDash"/>
              <a:round/>
              <a:headEnd/>
              <a:tailEnd/>
            </a:ln>
          </p:spPr>
          <p:txBody>
            <a:bodyPr/>
            <a:lstStyle/>
            <a:p>
              <a:endParaRPr lang="es-ES" sz="1100"/>
            </a:p>
          </p:txBody>
        </p:sp>
        <p:sp>
          <p:nvSpPr>
            <p:cNvPr id="7195" name="Freeform 34"/>
            <p:cNvSpPr>
              <a:spLocks/>
            </p:cNvSpPr>
            <p:nvPr/>
          </p:nvSpPr>
          <p:spPr bwMode="auto">
            <a:xfrm>
              <a:off x="2154" y="926"/>
              <a:ext cx="2129" cy="1299"/>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2146957610 h 5006"/>
                <a:gd name="T52" fmla="*/ 2147483647 w 9513"/>
                <a:gd name="T53" fmla="*/ 0 h 5006"/>
                <a:gd name="T54" fmla="*/ 2147483647 w 9513"/>
                <a:gd name="T55" fmla="*/ 214695761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000"/>
              </a:srgbClr>
            </a:solidFill>
            <a:ln w="11176" cap="flat">
              <a:solidFill>
                <a:srgbClr val="800000"/>
              </a:solidFill>
              <a:prstDash val="lgDash"/>
              <a:round/>
              <a:headEnd/>
              <a:tailEnd/>
            </a:ln>
          </p:spPr>
          <p:txBody>
            <a:bodyPr/>
            <a:lstStyle/>
            <a:p>
              <a:endParaRPr lang="es-ES" sz="1100"/>
            </a:p>
          </p:txBody>
        </p:sp>
        <p:sp>
          <p:nvSpPr>
            <p:cNvPr id="7170" name="Freeform 34"/>
            <p:cNvSpPr>
              <a:spLocks/>
            </p:cNvSpPr>
            <p:nvPr/>
          </p:nvSpPr>
          <p:spPr bwMode="auto">
            <a:xfrm>
              <a:off x="756" y="932"/>
              <a:ext cx="2129" cy="1299"/>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2146957610 h 5006"/>
                <a:gd name="T52" fmla="*/ 2147483647 w 9513"/>
                <a:gd name="T53" fmla="*/ 0 h 5006"/>
                <a:gd name="T54" fmla="*/ 2147483647 w 9513"/>
                <a:gd name="T55" fmla="*/ 214695761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941"/>
              </a:srgbClr>
            </a:solidFill>
            <a:ln w="11176">
              <a:solidFill>
                <a:srgbClr val="000000"/>
              </a:solidFill>
              <a:prstDash val="solid"/>
              <a:round/>
              <a:headEnd/>
              <a:tailEnd/>
            </a:ln>
          </p:spPr>
          <p:txBody>
            <a:bodyPr/>
            <a:lstStyle/>
            <a:p>
              <a:endParaRPr lang="es-ES" sz="1100"/>
            </a:p>
          </p:txBody>
        </p:sp>
        <p:sp>
          <p:nvSpPr>
            <p:cNvPr id="7174" name="Line 6"/>
            <p:cNvSpPr>
              <a:spLocks noChangeShapeType="1"/>
            </p:cNvSpPr>
            <p:nvPr/>
          </p:nvSpPr>
          <p:spPr bwMode="auto">
            <a:xfrm>
              <a:off x="1821" y="908"/>
              <a:ext cx="0" cy="1342"/>
            </a:xfrm>
            <a:prstGeom prst="line">
              <a:avLst/>
            </a:prstGeom>
            <a:noFill/>
            <a:ln w="889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sp>
          <p:nvSpPr>
            <p:cNvPr id="7181" name="Line 40"/>
            <p:cNvSpPr>
              <a:spLocks noChangeShapeType="1"/>
            </p:cNvSpPr>
            <p:nvPr/>
          </p:nvSpPr>
          <p:spPr bwMode="auto">
            <a:xfrm>
              <a:off x="577" y="2240"/>
              <a:ext cx="450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sp>
          <p:nvSpPr>
            <p:cNvPr id="7182" name="Text Box 47"/>
            <p:cNvSpPr txBox="1">
              <a:spLocks noChangeArrowheads="1"/>
            </p:cNvSpPr>
            <p:nvPr/>
          </p:nvSpPr>
          <p:spPr bwMode="auto">
            <a:xfrm>
              <a:off x="1544" y="2395"/>
              <a:ext cx="3280"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100" dirty="0">
                  <a:solidFill>
                    <a:srgbClr val="993300"/>
                  </a:solidFill>
                  <a:cs typeface="Times New Roman" pitchFamily="18" charset="0"/>
                </a:rPr>
                <a:t>ignoramos cuál es la distribución real de entre toda</a:t>
              </a:r>
              <a:r>
                <a:rPr lang="es-ES" altLang="es-ES" sz="1100" dirty="0">
                  <a:solidFill>
                    <a:srgbClr val="993300"/>
                  </a:solidFill>
                  <a:cs typeface="Times New Roman" pitchFamily="18" charset="0"/>
                </a:rPr>
                <a:t>s </a:t>
              </a:r>
              <a:r>
                <a:rPr lang="es-ES_tradnl" altLang="es-ES" sz="1100" dirty="0">
                  <a:solidFill>
                    <a:srgbClr val="993300"/>
                  </a:solidFill>
                  <a:cs typeface="Times New Roman" pitchFamily="18" charset="0"/>
                </a:rPr>
                <a:t>las posibles</a:t>
              </a:r>
              <a:r>
                <a:rPr lang="es-ES" altLang="es-ES" sz="1100" dirty="0">
                  <a:solidFill>
                    <a:srgbClr val="993300"/>
                  </a:solidFill>
                  <a:cs typeface="Times New Roman" pitchFamily="18" charset="0"/>
                </a:rPr>
                <a:t> para H</a:t>
              </a:r>
              <a:r>
                <a:rPr lang="es-ES" altLang="es-ES" sz="1100" baseline="-25000" dirty="0">
                  <a:solidFill>
                    <a:srgbClr val="993300"/>
                  </a:solidFill>
                  <a:cs typeface="Times New Roman" pitchFamily="18" charset="0"/>
                </a:rPr>
                <a:t>1</a:t>
              </a:r>
              <a:endParaRPr lang="es-ES_tradnl" altLang="es-ES" sz="1100" baseline="-25000" dirty="0">
                <a:solidFill>
                  <a:srgbClr val="993300"/>
                </a:solidFill>
                <a:cs typeface="Times New Roman" pitchFamily="18" charset="0"/>
              </a:endParaRPr>
            </a:p>
          </p:txBody>
        </p:sp>
        <p:sp>
          <p:nvSpPr>
            <p:cNvPr id="7183" name="Text Box 70"/>
            <p:cNvSpPr txBox="1">
              <a:spLocks noChangeArrowheads="1"/>
            </p:cNvSpPr>
            <p:nvPr/>
          </p:nvSpPr>
          <p:spPr bwMode="auto">
            <a:xfrm>
              <a:off x="1728" y="2215"/>
              <a:ext cx="168" cy="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sz="1200"/>
                <a:t>0</a:t>
              </a:r>
            </a:p>
          </p:txBody>
        </p:sp>
        <p:sp>
          <p:nvSpPr>
            <p:cNvPr id="7184" name="WordArt 82"/>
            <p:cNvSpPr>
              <a:spLocks noChangeArrowheads="1" noChangeShapeType="1" noTextEdit="1"/>
            </p:cNvSpPr>
            <p:nvPr/>
          </p:nvSpPr>
          <p:spPr bwMode="auto">
            <a:xfrm>
              <a:off x="2938" y="796"/>
              <a:ext cx="198" cy="192"/>
            </a:xfrm>
            <a:prstGeom prst="rect">
              <a:avLst/>
            </a:prstGeom>
          </p:spPr>
          <p:txBody>
            <a:bodyPr wrap="none" fromWordArt="1">
              <a:prstTxWarp prst="textPlain">
                <a:avLst>
                  <a:gd name="adj" fmla="val 50000"/>
                </a:avLst>
              </a:prstTxWarp>
            </a:bodyPr>
            <a:lstStyle/>
            <a:p>
              <a:pPr algn="ctr"/>
              <a:r>
                <a:rPr lang="es-ES" sz="3200" kern="10">
                  <a:ln w="9525">
                    <a:solidFill>
                      <a:srgbClr val="800000"/>
                    </a:solidFill>
                    <a:round/>
                    <a:headEnd/>
                    <a:tailEnd/>
                  </a:ln>
                  <a:solidFill>
                    <a:srgbClr val="FFFFFF"/>
                  </a:solidFill>
                  <a:latin typeface="Arial Black"/>
                </a:rPr>
                <a:t>¿?</a:t>
              </a:r>
            </a:p>
          </p:txBody>
        </p:sp>
        <p:sp>
          <p:nvSpPr>
            <p:cNvPr id="7186" name="Rectangle 47"/>
            <p:cNvSpPr>
              <a:spLocks noChangeArrowheads="1"/>
            </p:cNvSpPr>
            <p:nvPr/>
          </p:nvSpPr>
          <p:spPr bwMode="auto">
            <a:xfrm>
              <a:off x="-64" y="2336"/>
              <a:ext cx="831" cy="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30000"/>
                </a:lnSpc>
                <a:spcAft>
                  <a:spcPct val="50000"/>
                </a:spcAft>
              </a:pPr>
              <a:r>
                <a:rPr lang="es-ES_tradnl" altLang="es-ES" sz="1200" b="1" dirty="0"/>
                <a:t>En la práctica:</a:t>
              </a:r>
              <a:r>
                <a:rPr lang="es-ES_tradnl" altLang="es-ES" sz="1200" dirty="0"/>
                <a:t>  </a:t>
              </a:r>
            </a:p>
          </p:txBody>
        </p:sp>
        <p:graphicFrame>
          <p:nvGraphicFramePr>
            <p:cNvPr id="7187" name="Object 29"/>
            <p:cNvGraphicFramePr>
              <a:graphicFrameLocks noChangeAspect="1"/>
            </p:cNvGraphicFramePr>
            <p:nvPr/>
          </p:nvGraphicFramePr>
          <p:xfrm>
            <a:off x="331" y="686"/>
            <a:ext cx="1213" cy="400"/>
          </p:xfrm>
          <a:graphic>
            <a:graphicData uri="http://schemas.openxmlformats.org/presentationml/2006/ole">
              <mc:AlternateContent xmlns:mc="http://schemas.openxmlformats.org/markup-compatibility/2006">
                <mc:Choice xmlns:v="urn:schemas-microsoft-com:vml" Requires="v">
                  <p:oleObj name="Equation" r:id="rId2" imgW="1663560" imgH="545760" progId="Equation.DSMT4">
                    <p:embed/>
                  </p:oleObj>
                </mc:Choice>
                <mc:Fallback>
                  <p:oleObj name="Equation" r:id="rId2" imgW="1663560" imgH="545760" progId="Equation.DSMT4">
                    <p:embed/>
                    <p:pic>
                      <p:nvPicPr>
                        <p:cNvPr id="7187" name="Object 29"/>
                        <p:cNvPicPr>
                          <a:picLocks noChangeAspect="1" noChangeArrowheads="1"/>
                        </p:cNvPicPr>
                        <p:nvPr/>
                      </p:nvPicPr>
                      <p:blipFill>
                        <a:blip r:embed="rId3"/>
                        <a:srcRect/>
                        <a:stretch>
                          <a:fillRect/>
                        </a:stretch>
                      </p:blipFill>
                      <p:spPr bwMode="auto">
                        <a:xfrm>
                          <a:off x="331" y="686"/>
                          <a:ext cx="121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88" name="Object 44"/>
            <p:cNvGraphicFramePr>
              <a:graphicFrameLocks noChangeAspect="1"/>
            </p:cNvGraphicFramePr>
            <p:nvPr>
              <p:extLst>
                <p:ext uri="{D42A27DB-BD31-4B8C-83A1-F6EECF244321}">
                  <p14:modId xmlns:p14="http://schemas.microsoft.com/office/powerpoint/2010/main" val="1841082921"/>
                </p:ext>
              </p:extLst>
            </p:nvPr>
          </p:nvGraphicFramePr>
          <p:xfrm>
            <a:off x="3803" y="905"/>
            <a:ext cx="1305" cy="415"/>
          </p:xfrm>
          <a:graphic>
            <a:graphicData uri="http://schemas.openxmlformats.org/presentationml/2006/ole">
              <mc:AlternateContent xmlns:mc="http://schemas.openxmlformats.org/markup-compatibility/2006">
                <mc:Choice xmlns:v="urn:schemas-microsoft-com:vml" Requires="v">
                  <p:oleObj name="Equation" r:id="rId4" imgW="1726920" imgH="545760" progId="Equation.DSMT4">
                    <p:embed/>
                  </p:oleObj>
                </mc:Choice>
                <mc:Fallback>
                  <p:oleObj name="Equation" r:id="rId4" imgW="1726920" imgH="545760" progId="Equation.DSMT4">
                    <p:embed/>
                    <p:pic>
                      <p:nvPicPr>
                        <p:cNvPr id="7188" name="Object 44"/>
                        <p:cNvPicPr>
                          <a:picLocks noChangeAspect="1" noChangeArrowheads="1"/>
                        </p:cNvPicPr>
                        <p:nvPr/>
                      </p:nvPicPr>
                      <p:blipFill>
                        <a:blip r:embed="rId5"/>
                        <a:srcRect/>
                        <a:stretch>
                          <a:fillRect/>
                        </a:stretch>
                      </p:blipFill>
                      <p:spPr bwMode="auto">
                        <a:xfrm>
                          <a:off x="3803" y="905"/>
                          <a:ext cx="1305" cy="4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4" name="Freeform 34"/>
            <p:cNvSpPr>
              <a:spLocks/>
            </p:cNvSpPr>
            <p:nvPr/>
          </p:nvSpPr>
          <p:spPr bwMode="auto">
            <a:xfrm>
              <a:off x="1662" y="932"/>
              <a:ext cx="2129" cy="1299"/>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2146957610 h 5006"/>
                <a:gd name="T52" fmla="*/ 2147483647 w 9513"/>
                <a:gd name="T53" fmla="*/ 0 h 5006"/>
                <a:gd name="T54" fmla="*/ 2147483647 w 9513"/>
                <a:gd name="T55" fmla="*/ 214695761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3000"/>
              </a:srgbClr>
            </a:solidFill>
            <a:ln w="11176" cap="flat">
              <a:solidFill>
                <a:srgbClr val="800000"/>
              </a:solidFill>
              <a:prstDash val="lgDash"/>
              <a:round/>
              <a:headEnd/>
              <a:tailEnd/>
            </a:ln>
          </p:spPr>
          <p:txBody>
            <a:bodyPr/>
            <a:lstStyle/>
            <a:p>
              <a:endParaRPr lang="es-ES" sz="1100"/>
            </a:p>
          </p:txBody>
        </p:sp>
      </p:grpSp>
      <p:sp>
        <p:nvSpPr>
          <p:cNvPr id="21" name="Text Box 33"/>
          <p:cNvSpPr txBox="1">
            <a:spLocks noChangeArrowheads="1"/>
          </p:cNvSpPr>
          <p:nvPr/>
        </p:nvSpPr>
        <p:spPr bwMode="auto">
          <a:xfrm>
            <a:off x="245269" y="71042"/>
            <a:ext cx="2193131"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Hipótesis estadísticas</a:t>
            </a:r>
          </a:p>
        </p:txBody>
      </p:sp>
      <p:sp>
        <p:nvSpPr>
          <p:cNvPr id="22" name="Text Box 33"/>
          <p:cNvSpPr txBox="1">
            <a:spLocks noChangeArrowheads="1"/>
          </p:cNvSpPr>
          <p:nvPr/>
        </p:nvSpPr>
        <p:spPr bwMode="auto">
          <a:xfrm>
            <a:off x="228600" y="431404"/>
            <a:ext cx="2209800"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solidFill>
                  <a:srgbClr val="336699"/>
                </a:solidFill>
              </a:rPr>
              <a:t>Resumen</a:t>
            </a:r>
            <a:endParaRPr lang="es-ES_tradnl" altLang="es-ES" b="1" dirty="0"/>
          </a:p>
        </p:txBody>
      </p:sp>
      <p:sp>
        <p:nvSpPr>
          <p:cNvPr id="2" name="Abrir llave 1"/>
          <p:cNvSpPr/>
          <p:nvPr/>
        </p:nvSpPr>
        <p:spPr>
          <a:xfrm rot="16200000">
            <a:off x="4774020" y="1026118"/>
            <a:ext cx="153636" cy="4332210"/>
          </a:xfrm>
          <a:prstGeom prst="leftBrace">
            <a:avLst/>
          </a:prstGeom>
          <a:ln>
            <a:solidFill>
              <a:srgbClr val="862D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
        <p:nvSpPr>
          <p:cNvPr id="3" name="CuadroTexto 2">
            <a:extLst>
              <a:ext uri="{FF2B5EF4-FFF2-40B4-BE49-F238E27FC236}">
                <a16:creationId xmlns:a16="http://schemas.microsoft.com/office/drawing/2014/main" id="{200FC377-BC39-40DE-8B20-D4FD96CE8AB5}"/>
              </a:ext>
            </a:extLst>
          </p:cNvPr>
          <p:cNvSpPr txBox="1"/>
          <p:nvPr/>
        </p:nvSpPr>
        <p:spPr>
          <a:xfrm>
            <a:off x="6477000" y="1820961"/>
            <a:ext cx="2485642" cy="1084912"/>
          </a:xfrm>
          <a:prstGeom prst="rect">
            <a:avLst/>
          </a:prstGeom>
          <a:noFill/>
        </p:spPr>
        <p:txBody>
          <a:bodyPr wrap="square" rtlCol="0">
            <a:spAutoFit/>
          </a:bodyPr>
          <a:lstStyle/>
          <a:p>
            <a:pPr algn="just"/>
            <a:r>
              <a:rPr lang="es-ES" sz="1050" dirty="0">
                <a:solidFill>
                  <a:srgbClr val="2F676F"/>
                </a:solidFill>
              </a:rPr>
              <a:t>Teniendo en cuenta, en cualquier caso, que como </a:t>
            </a:r>
            <a:r>
              <a:rPr lang="es-ES" sz="1050" dirty="0">
                <a:solidFill>
                  <a:srgbClr val="2F676F"/>
                </a:solidFill>
                <a:latin typeface="Symbol" panose="05050102010706020507" pitchFamily="18" charset="2"/>
              </a:rPr>
              <a:t>s</a:t>
            </a:r>
            <a:r>
              <a:rPr lang="es-ES" sz="1050" dirty="0">
                <a:solidFill>
                  <a:srgbClr val="2F676F"/>
                </a:solidFill>
              </a:rPr>
              <a:t> es desconocida y en su lugar usamos su estimador puntual </a:t>
            </a:r>
            <a:r>
              <a:rPr lang="es-ES" i="1" dirty="0">
                <a:solidFill>
                  <a:srgbClr val="2F676F"/>
                </a:solidFill>
                <a:latin typeface="Times New Roman" panose="02020603050405020304" pitchFamily="18" charset="0"/>
                <a:cs typeface="Times New Roman" panose="02020603050405020304" pitchFamily="18" charset="0"/>
              </a:rPr>
              <a:t>s</a:t>
            </a:r>
            <a:r>
              <a:rPr lang="es-ES" sz="1050" dirty="0">
                <a:solidFill>
                  <a:srgbClr val="2F676F"/>
                </a:solidFill>
              </a:rPr>
              <a:t>, debemos ‘</a:t>
            </a:r>
            <a:r>
              <a:rPr lang="es-ES" sz="1050" i="1" dirty="0">
                <a:solidFill>
                  <a:srgbClr val="2F676F"/>
                </a:solidFill>
              </a:rPr>
              <a:t>corregir’</a:t>
            </a:r>
            <a:r>
              <a:rPr lang="es-ES" sz="1050" dirty="0">
                <a:solidFill>
                  <a:srgbClr val="2F676F"/>
                </a:solidFill>
              </a:rPr>
              <a:t> a la distribución normal, lo que supone tener que usar la distribución t-Student</a:t>
            </a:r>
            <a:endParaRPr lang="en-GB" sz="1050" dirty="0">
              <a:solidFill>
                <a:srgbClr val="2F676F"/>
              </a:solidFill>
            </a:endParaRPr>
          </a:p>
        </p:txBody>
      </p:sp>
      <p:sp>
        <p:nvSpPr>
          <p:cNvPr id="23" name="CuadroTexto 22">
            <a:extLst>
              <a:ext uri="{FF2B5EF4-FFF2-40B4-BE49-F238E27FC236}">
                <a16:creationId xmlns:a16="http://schemas.microsoft.com/office/drawing/2014/main" id="{DE5C7834-1C13-446F-B198-3D5C02120D47}"/>
              </a:ext>
            </a:extLst>
          </p:cNvPr>
          <p:cNvSpPr txBox="1"/>
          <p:nvPr/>
        </p:nvSpPr>
        <p:spPr>
          <a:xfrm>
            <a:off x="452007" y="1399699"/>
            <a:ext cx="1893888" cy="738664"/>
          </a:xfrm>
          <a:prstGeom prst="rect">
            <a:avLst/>
          </a:prstGeom>
          <a:noFill/>
        </p:spPr>
        <p:txBody>
          <a:bodyPr wrap="square" rtlCol="0">
            <a:spAutoFit/>
          </a:bodyPr>
          <a:lstStyle/>
          <a:p>
            <a:pPr algn="just"/>
            <a:r>
              <a:rPr lang="es-ES" sz="1050" dirty="0">
                <a:solidFill>
                  <a:schemeClr val="tx1">
                    <a:lumMod val="65000"/>
                    <a:lumOff val="35000"/>
                  </a:schemeClr>
                </a:solidFill>
              </a:rPr>
              <a:t>La hipótesis nula da lugar a una única distribución para el estadístico de contraste (la centrada en el valor cero)</a:t>
            </a:r>
            <a:endParaRPr lang="en-GB" sz="1050" dirty="0">
              <a:solidFill>
                <a:schemeClr val="tx1">
                  <a:lumMod val="65000"/>
                  <a:lumOff val="35000"/>
                </a:schemeClr>
              </a:solidFill>
            </a:endParaRPr>
          </a:p>
        </p:txBody>
      </p:sp>
      <p:sp>
        <p:nvSpPr>
          <p:cNvPr id="24" name="CuadroTexto 23">
            <a:extLst>
              <a:ext uri="{FF2B5EF4-FFF2-40B4-BE49-F238E27FC236}">
                <a16:creationId xmlns:a16="http://schemas.microsoft.com/office/drawing/2014/main" id="{F76D73B7-BC9D-4FB4-B3C8-708532809C26}"/>
              </a:ext>
            </a:extLst>
          </p:cNvPr>
          <p:cNvSpPr txBox="1"/>
          <p:nvPr/>
        </p:nvSpPr>
        <p:spPr>
          <a:xfrm>
            <a:off x="5575357" y="586796"/>
            <a:ext cx="2732086" cy="577081"/>
          </a:xfrm>
          <a:prstGeom prst="rect">
            <a:avLst/>
          </a:prstGeom>
          <a:solidFill>
            <a:schemeClr val="bg1"/>
          </a:solidFill>
        </p:spPr>
        <p:txBody>
          <a:bodyPr wrap="square" rtlCol="0">
            <a:spAutoFit/>
          </a:bodyPr>
          <a:lstStyle/>
          <a:p>
            <a:pPr algn="just"/>
            <a:r>
              <a:rPr lang="es-ES" sz="1050" dirty="0">
                <a:solidFill>
                  <a:srgbClr val="862D00"/>
                </a:solidFill>
              </a:rPr>
              <a:t>La hipótesis alternativa no especifica una única distribución para el estadístico de contraste (¿en qué valor está centrada?)</a:t>
            </a:r>
            <a:endParaRPr lang="en-GB" sz="1050" dirty="0">
              <a:solidFill>
                <a:srgbClr val="862D00"/>
              </a:solidFill>
            </a:endParaRPr>
          </a:p>
        </p:txBody>
      </p:sp>
      <p:sp>
        <p:nvSpPr>
          <p:cNvPr id="25" name="Text Box 51">
            <a:extLst>
              <a:ext uri="{FF2B5EF4-FFF2-40B4-BE49-F238E27FC236}">
                <a16:creationId xmlns:a16="http://schemas.microsoft.com/office/drawing/2014/main" id="{B93F5BCA-BC7D-4086-8CB9-FE84BACD7851}"/>
              </a:ext>
            </a:extLst>
          </p:cNvPr>
          <p:cNvSpPr txBox="1">
            <a:spLocks noChangeArrowheads="1"/>
          </p:cNvSpPr>
          <p:nvPr/>
        </p:nvSpPr>
        <p:spPr bwMode="auto">
          <a:xfrm>
            <a:off x="219241" y="3463913"/>
            <a:ext cx="8612980" cy="4850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185738" indent="-185738"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ct val="110000"/>
              </a:lnSpc>
              <a:buFontTx/>
              <a:buChar char="•"/>
            </a:pPr>
            <a:r>
              <a:rPr lang="es-ES_tradnl" altLang="es-ES" sz="1200" dirty="0"/>
              <a:t>La </a:t>
            </a:r>
            <a:r>
              <a:rPr lang="es-ES_tradnl" altLang="es-ES" sz="1200" b="1" dirty="0"/>
              <a:t>hipótesis nula (H</a:t>
            </a:r>
            <a:r>
              <a:rPr lang="es-ES_tradnl" altLang="es-ES" sz="1200" b="1" baseline="-25000" dirty="0">
                <a:latin typeface="Times New Roman" pitchFamily="18" charset="0"/>
                <a:cs typeface="Times New Roman" pitchFamily="18" charset="0"/>
              </a:rPr>
              <a:t>0</a:t>
            </a:r>
            <a:r>
              <a:rPr lang="es-ES_tradnl" altLang="es-ES" sz="1200" b="1" dirty="0">
                <a:latin typeface="+mn-lt"/>
                <a:cs typeface="Times New Roman" pitchFamily="18" charset="0"/>
              </a:rPr>
              <a:t>)</a:t>
            </a:r>
            <a:r>
              <a:rPr lang="es-ES_tradnl" altLang="es-ES" sz="1200" b="1" dirty="0">
                <a:latin typeface="+mn-lt"/>
              </a:rPr>
              <a:t> </a:t>
            </a:r>
            <a:r>
              <a:rPr lang="es-ES_tradnl" altLang="es-ES" sz="1200" dirty="0"/>
              <a:t>se construye de tal manera que especifica de forma precisa una distribución de probabilidad (en este caso, y casi siempre, </a:t>
            </a:r>
            <a:r>
              <a:rPr lang="es-ES" altLang="es-ES" sz="1200" dirty="0"/>
              <a:t>centrada en el valor cero)</a:t>
            </a:r>
            <a:endParaRPr lang="es-ES_tradnl" altLang="es-ES" sz="1200" dirty="0"/>
          </a:p>
        </p:txBody>
      </p:sp>
      <p:graphicFrame>
        <p:nvGraphicFramePr>
          <p:cNvPr id="26" name="Object 29">
            <a:extLst>
              <a:ext uri="{FF2B5EF4-FFF2-40B4-BE49-F238E27FC236}">
                <a16:creationId xmlns:a16="http://schemas.microsoft.com/office/drawing/2014/main" id="{4B5EB2E7-7DC3-490E-AC2E-ACCF338C959A}"/>
              </a:ext>
            </a:extLst>
          </p:cNvPr>
          <p:cNvGraphicFramePr>
            <a:graphicFrameLocks noChangeAspect="1"/>
          </p:cNvGraphicFramePr>
          <p:nvPr/>
        </p:nvGraphicFramePr>
        <p:xfrm>
          <a:off x="3317875" y="6426200"/>
          <a:ext cx="2508250" cy="346075"/>
        </p:xfrm>
        <a:graphic>
          <a:graphicData uri="http://schemas.openxmlformats.org/presentationml/2006/ole">
            <mc:AlternateContent xmlns:mc="http://schemas.openxmlformats.org/markup-compatibility/2006">
              <mc:Choice xmlns:v="urn:schemas-microsoft-com:vml" Requires="v">
                <p:oleObj name="Equation" r:id="rId6" imgW="2565360" imgH="368280" progId="Equation.DSMT4">
                  <p:embed/>
                </p:oleObj>
              </mc:Choice>
              <mc:Fallback>
                <p:oleObj name="Equation" r:id="rId6" imgW="2565360" imgH="368280" progId="Equation.DSMT4">
                  <p:embed/>
                  <p:pic>
                    <p:nvPicPr>
                      <p:cNvPr id="26" name="Object 29">
                        <a:extLst>
                          <a:ext uri="{FF2B5EF4-FFF2-40B4-BE49-F238E27FC236}">
                            <a16:creationId xmlns:a16="http://schemas.microsoft.com/office/drawing/2014/main" id="{4B5EB2E7-7DC3-490E-AC2E-ACCF338C959A}"/>
                          </a:ext>
                        </a:extLst>
                      </p:cNvPr>
                      <p:cNvPicPr>
                        <a:picLocks noChangeAspect="1" noChangeArrowheads="1"/>
                      </p:cNvPicPr>
                      <p:nvPr/>
                    </p:nvPicPr>
                    <p:blipFill>
                      <a:blip r:embed="rId7"/>
                      <a:srcRect/>
                      <a:stretch>
                        <a:fillRect/>
                      </a:stretch>
                    </p:blipFill>
                    <p:spPr bwMode="auto">
                      <a:xfrm>
                        <a:off x="3317875" y="6426200"/>
                        <a:ext cx="2508250" cy="3460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972871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5" name="Group 80"/>
          <p:cNvGrpSpPr>
            <a:grpSpLocks/>
          </p:cNvGrpSpPr>
          <p:nvPr/>
        </p:nvGrpSpPr>
        <p:grpSpPr bwMode="auto">
          <a:xfrm>
            <a:off x="361950" y="5181600"/>
            <a:ext cx="8570913" cy="1214437"/>
            <a:chOff x="228" y="3301"/>
            <a:chExt cx="5399" cy="765"/>
          </a:xfrm>
        </p:grpSpPr>
        <p:sp>
          <p:nvSpPr>
            <p:cNvPr id="8201" name="Text Box 65"/>
            <p:cNvSpPr txBox="1">
              <a:spLocks noChangeArrowheads="1"/>
            </p:cNvSpPr>
            <p:nvPr/>
          </p:nvSpPr>
          <p:spPr bwMode="auto">
            <a:xfrm>
              <a:off x="228" y="3301"/>
              <a:ext cx="5399" cy="3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231775" indent="-231775" eaLnBrk="0" hangingPunct="0">
                <a:defRPr sz="1400">
                  <a:solidFill>
                    <a:schemeClr val="tx1"/>
                  </a:solidFill>
                  <a:latin typeface="Arial" pitchFamily="34" charset="0"/>
                  <a:cs typeface="Arial" pitchFamily="34" charset="0"/>
                </a:defRPr>
              </a:lvl1pPr>
              <a:lvl2pPr marL="723900" indent="-266700" eaLnBrk="0" hangingPunct="0">
                <a:defRPr sz="1400">
                  <a:solidFill>
                    <a:schemeClr val="tx1"/>
                  </a:solidFill>
                  <a:latin typeface="Arial" pitchFamily="34" charset="0"/>
                  <a:cs typeface="Arial" pitchFamily="34" charset="0"/>
                </a:defRPr>
              </a:lvl2pPr>
              <a:lvl3pPr marL="1181100" indent="-266700" eaLnBrk="0" hangingPunct="0">
                <a:defRPr sz="1400">
                  <a:solidFill>
                    <a:schemeClr val="tx1"/>
                  </a:solidFill>
                  <a:latin typeface="Arial" pitchFamily="34" charset="0"/>
                  <a:cs typeface="Arial" pitchFamily="34" charset="0"/>
                </a:defRPr>
              </a:lvl3pPr>
              <a:lvl4pPr marL="1638300" indent="-266700" eaLnBrk="0" hangingPunct="0">
                <a:defRPr sz="1400">
                  <a:solidFill>
                    <a:schemeClr val="tx1"/>
                  </a:solidFill>
                  <a:latin typeface="Arial" pitchFamily="34" charset="0"/>
                  <a:cs typeface="Arial" pitchFamily="34" charset="0"/>
                </a:defRPr>
              </a:lvl4pPr>
              <a:lvl5pPr marL="2095500" indent="-266700" eaLnBrk="0" hangingPunct="0">
                <a:defRPr sz="1400">
                  <a:solidFill>
                    <a:schemeClr val="tx1"/>
                  </a:solidFill>
                  <a:latin typeface="Arial" pitchFamily="34" charset="0"/>
                  <a:cs typeface="Arial" pitchFamily="34" charset="0"/>
                </a:defRPr>
              </a:lvl5pPr>
              <a:lvl6pPr marL="2552700" indent="-266700" eaLnBrk="0" fontAlgn="base" hangingPunct="0">
                <a:spcBef>
                  <a:spcPct val="0"/>
                </a:spcBef>
                <a:spcAft>
                  <a:spcPct val="0"/>
                </a:spcAft>
                <a:defRPr sz="1400">
                  <a:solidFill>
                    <a:schemeClr val="tx1"/>
                  </a:solidFill>
                  <a:latin typeface="Arial" pitchFamily="34" charset="0"/>
                  <a:cs typeface="Arial" pitchFamily="34" charset="0"/>
                </a:defRPr>
              </a:lvl6pPr>
              <a:lvl7pPr marL="3009900" indent="-266700" eaLnBrk="0" fontAlgn="base" hangingPunct="0">
                <a:spcBef>
                  <a:spcPct val="0"/>
                </a:spcBef>
                <a:spcAft>
                  <a:spcPct val="0"/>
                </a:spcAft>
                <a:defRPr sz="1400">
                  <a:solidFill>
                    <a:schemeClr val="tx1"/>
                  </a:solidFill>
                  <a:latin typeface="Arial" pitchFamily="34" charset="0"/>
                  <a:cs typeface="Arial" pitchFamily="34" charset="0"/>
                </a:defRPr>
              </a:lvl7pPr>
              <a:lvl8pPr marL="3467100" indent="-266700" eaLnBrk="0" fontAlgn="base" hangingPunct="0">
                <a:spcBef>
                  <a:spcPct val="0"/>
                </a:spcBef>
                <a:spcAft>
                  <a:spcPct val="0"/>
                </a:spcAft>
                <a:defRPr sz="1400">
                  <a:solidFill>
                    <a:schemeClr val="tx1"/>
                  </a:solidFill>
                  <a:latin typeface="Arial" pitchFamily="34" charset="0"/>
                  <a:cs typeface="Arial" pitchFamily="34" charset="0"/>
                </a:defRPr>
              </a:lvl8pPr>
              <a:lvl9pPr marL="3924300" indent="-2667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b="1" dirty="0"/>
                <a:t>3</a:t>
              </a:r>
              <a:r>
                <a:rPr lang="es-ES_tradnl" altLang="es-ES" dirty="0"/>
                <a:t>. 	El valor </a:t>
              </a:r>
              <a:r>
                <a:rPr lang="es-ES_tradnl" altLang="es-ES" sz="1600" i="1" dirty="0" err="1">
                  <a:latin typeface="Times New Roman" pitchFamily="18" charset="0"/>
                </a:rPr>
                <a:t>t</a:t>
              </a:r>
              <a:r>
                <a:rPr lang="es-ES_tradnl" altLang="es-ES" sz="1600" baseline="-25000" dirty="0" err="1">
                  <a:latin typeface="Symbol" pitchFamily="18" charset="2"/>
                </a:rPr>
                <a:t>a</a:t>
              </a:r>
              <a:r>
                <a:rPr lang="es-ES_tradnl" altLang="es-ES" dirty="0"/>
                <a:t> (a menudo se le llama </a:t>
              </a:r>
              <a:r>
                <a:rPr lang="es-ES_tradnl" altLang="es-ES" b="1" i="1" dirty="0">
                  <a:solidFill>
                    <a:srgbClr val="8A0000"/>
                  </a:solidFill>
                </a:rPr>
                <a:t>cantidad</a:t>
              </a:r>
              <a:r>
                <a:rPr lang="es-ES_tradnl" altLang="es-ES" b="1" dirty="0">
                  <a:solidFill>
                    <a:srgbClr val="8A0000"/>
                  </a:solidFill>
                </a:rPr>
                <a:t> </a:t>
              </a:r>
              <a:r>
                <a:rPr lang="es-ES_tradnl" altLang="es-ES" b="1" i="1" dirty="0">
                  <a:solidFill>
                    <a:srgbClr val="8A0000"/>
                  </a:solidFill>
                </a:rPr>
                <a:t>teórica</a:t>
              </a:r>
              <a:r>
                <a:rPr lang="es-ES_tradnl" altLang="es-ES" dirty="0"/>
                <a:t>) actúa como criterio para aceptar o rechazar H</a:t>
              </a:r>
              <a:r>
                <a:rPr lang="es-ES_tradnl" altLang="es-ES" baseline="-25000" dirty="0"/>
                <a:t>0</a:t>
              </a:r>
              <a:r>
                <a:rPr lang="es-ES_tradnl" altLang="es-ES" dirty="0"/>
                <a:t> al comparar con él el valor de </a:t>
              </a:r>
              <a:r>
                <a:rPr lang="es-ES_tradnl" altLang="es-ES" sz="1600" i="1" dirty="0" err="1">
                  <a:latin typeface="Times New Roman" pitchFamily="18" charset="0"/>
                </a:rPr>
                <a:t>t</a:t>
              </a:r>
              <a:r>
                <a:rPr lang="es-ES_tradnl" altLang="es-ES" baseline="-25000" dirty="0" err="1"/>
                <a:t>exp</a:t>
              </a:r>
              <a:r>
                <a:rPr lang="es-ES_tradnl" altLang="es-ES" baseline="-25000" dirty="0"/>
                <a:t>. </a:t>
              </a:r>
              <a:r>
                <a:rPr lang="es-ES_tradnl" altLang="es-ES" dirty="0"/>
                <a:t>La decisión entonces consiste en:</a:t>
              </a:r>
              <a:endParaRPr lang="es-ES" altLang="es-ES" baseline="-25000" dirty="0"/>
            </a:p>
          </p:txBody>
        </p:sp>
        <p:graphicFrame>
          <p:nvGraphicFramePr>
            <p:cNvPr id="8202" name="Object 29"/>
            <p:cNvGraphicFramePr>
              <a:graphicFrameLocks noChangeAspect="1"/>
            </p:cNvGraphicFramePr>
            <p:nvPr/>
          </p:nvGraphicFramePr>
          <p:xfrm>
            <a:off x="1275" y="3676"/>
            <a:ext cx="3537" cy="390"/>
          </p:xfrm>
          <a:graphic>
            <a:graphicData uri="http://schemas.openxmlformats.org/presentationml/2006/ole">
              <mc:AlternateContent xmlns:mc="http://schemas.openxmlformats.org/markup-compatibility/2006">
                <mc:Choice xmlns:v="urn:schemas-microsoft-com:vml" Requires="v">
                  <p:oleObj name="Equation" r:id="rId2" imgW="5194300" imgH="571500" progId="Equation.DSMT4">
                    <p:embed/>
                  </p:oleObj>
                </mc:Choice>
                <mc:Fallback>
                  <p:oleObj name="Equation" r:id="rId2" imgW="5194300" imgH="571500" progId="Equation.DSMT4">
                    <p:embed/>
                    <p:pic>
                      <p:nvPicPr>
                        <p:cNvPr id="8202" name="Object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5" y="3676"/>
                          <a:ext cx="3537"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248" name="Group 56"/>
          <p:cNvGrpSpPr>
            <a:grpSpLocks/>
          </p:cNvGrpSpPr>
          <p:nvPr/>
        </p:nvGrpSpPr>
        <p:grpSpPr bwMode="auto">
          <a:xfrm>
            <a:off x="4530725" y="4040188"/>
            <a:ext cx="4341813" cy="1049337"/>
            <a:chOff x="2854" y="2545"/>
            <a:chExt cx="2735" cy="661"/>
          </a:xfrm>
        </p:grpSpPr>
        <p:sp>
          <p:nvSpPr>
            <p:cNvPr id="8231" name="Text Box 49"/>
            <p:cNvSpPr txBox="1">
              <a:spLocks noChangeArrowheads="1"/>
            </p:cNvSpPr>
            <p:nvPr/>
          </p:nvSpPr>
          <p:spPr bwMode="auto">
            <a:xfrm>
              <a:off x="2854" y="2545"/>
              <a:ext cx="2735" cy="66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266700" indent="-266700" eaLnBrk="0" hangingPunct="0">
                <a:defRPr sz="1400">
                  <a:solidFill>
                    <a:schemeClr val="tx1"/>
                  </a:solidFill>
                  <a:latin typeface="Arial" pitchFamily="34" charset="0"/>
                  <a:cs typeface="Arial" pitchFamily="34" charset="0"/>
                </a:defRPr>
              </a:lvl1pPr>
              <a:lvl2pPr marL="723900" indent="-266700" eaLnBrk="0" hangingPunct="0">
                <a:defRPr sz="1400">
                  <a:solidFill>
                    <a:schemeClr val="tx1"/>
                  </a:solidFill>
                  <a:latin typeface="Arial" pitchFamily="34" charset="0"/>
                  <a:cs typeface="Arial" pitchFamily="34" charset="0"/>
                </a:defRPr>
              </a:lvl2pPr>
              <a:lvl3pPr marL="1181100" indent="-266700" eaLnBrk="0" hangingPunct="0">
                <a:defRPr sz="1400">
                  <a:solidFill>
                    <a:schemeClr val="tx1"/>
                  </a:solidFill>
                  <a:latin typeface="Arial" pitchFamily="34" charset="0"/>
                  <a:cs typeface="Arial" pitchFamily="34" charset="0"/>
                </a:defRPr>
              </a:lvl3pPr>
              <a:lvl4pPr marL="1638300" indent="-266700" eaLnBrk="0" hangingPunct="0">
                <a:defRPr sz="1400">
                  <a:solidFill>
                    <a:schemeClr val="tx1"/>
                  </a:solidFill>
                  <a:latin typeface="Arial" pitchFamily="34" charset="0"/>
                  <a:cs typeface="Arial" pitchFamily="34" charset="0"/>
                </a:defRPr>
              </a:lvl4pPr>
              <a:lvl5pPr marL="2095500" indent="-266700" eaLnBrk="0" hangingPunct="0">
                <a:defRPr sz="1400">
                  <a:solidFill>
                    <a:schemeClr val="tx1"/>
                  </a:solidFill>
                  <a:latin typeface="Arial" pitchFamily="34" charset="0"/>
                  <a:cs typeface="Arial" pitchFamily="34" charset="0"/>
                </a:defRPr>
              </a:lvl5pPr>
              <a:lvl6pPr marL="2552700" indent="-266700" eaLnBrk="0" fontAlgn="base" hangingPunct="0">
                <a:spcBef>
                  <a:spcPct val="0"/>
                </a:spcBef>
                <a:spcAft>
                  <a:spcPct val="0"/>
                </a:spcAft>
                <a:defRPr sz="1400">
                  <a:solidFill>
                    <a:schemeClr val="tx1"/>
                  </a:solidFill>
                  <a:latin typeface="Arial" pitchFamily="34" charset="0"/>
                  <a:cs typeface="Arial" pitchFamily="34" charset="0"/>
                </a:defRPr>
              </a:lvl6pPr>
              <a:lvl7pPr marL="3009900" indent="-266700" eaLnBrk="0" fontAlgn="base" hangingPunct="0">
                <a:spcBef>
                  <a:spcPct val="0"/>
                </a:spcBef>
                <a:spcAft>
                  <a:spcPct val="0"/>
                </a:spcAft>
                <a:defRPr sz="1400">
                  <a:solidFill>
                    <a:schemeClr val="tx1"/>
                  </a:solidFill>
                  <a:latin typeface="Arial" pitchFamily="34" charset="0"/>
                  <a:cs typeface="Arial" pitchFamily="34" charset="0"/>
                </a:defRPr>
              </a:lvl7pPr>
              <a:lvl8pPr marL="3467100" indent="-266700" eaLnBrk="0" fontAlgn="base" hangingPunct="0">
                <a:spcBef>
                  <a:spcPct val="0"/>
                </a:spcBef>
                <a:spcAft>
                  <a:spcPct val="0"/>
                </a:spcAft>
                <a:defRPr sz="1400">
                  <a:solidFill>
                    <a:schemeClr val="tx1"/>
                  </a:solidFill>
                  <a:latin typeface="Arial" pitchFamily="34" charset="0"/>
                  <a:cs typeface="Arial" pitchFamily="34" charset="0"/>
                </a:defRPr>
              </a:lvl8pPr>
              <a:lvl9pPr marL="3924300" indent="-2667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b="1" dirty="0"/>
                <a:t>2. </a:t>
              </a:r>
              <a:r>
                <a:rPr lang="es-ES_tradnl" altLang="es-ES" dirty="0"/>
                <a:t>	El hecho de fijar </a:t>
              </a:r>
              <a:r>
                <a:rPr lang="es-ES_tradnl" altLang="es-ES" sz="1600" dirty="0">
                  <a:latin typeface="Symbol" pitchFamily="18" charset="2"/>
                </a:rPr>
                <a:t>a</a:t>
              </a:r>
              <a:r>
                <a:rPr lang="es-ES_tradnl" altLang="es-ES" dirty="0"/>
                <a:t> implica obtener un valor de </a:t>
              </a:r>
              <a:r>
                <a:rPr lang="es-ES_tradnl" altLang="es-ES" sz="1600" i="1" dirty="0">
                  <a:latin typeface="Times New Roman" pitchFamily="18" charset="0"/>
                </a:rPr>
                <a:t>t</a:t>
              </a:r>
              <a:r>
                <a:rPr lang="es-ES_tradnl" altLang="es-ES" dirty="0"/>
                <a:t> (el percentil 1–</a:t>
              </a:r>
              <a:r>
                <a:rPr lang="es-ES_tradnl" altLang="es-ES" sz="1600" dirty="0">
                  <a:latin typeface="Symbol" pitchFamily="18" charset="2"/>
                </a:rPr>
                <a:t>a</a:t>
              </a:r>
              <a:r>
                <a:rPr lang="es-ES_tradnl" altLang="es-ES" dirty="0"/>
                <a:t>/2) que deja un área de </a:t>
              </a:r>
              <a:r>
                <a:rPr lang="es-ES_tradnl" altLang="es-ES" sz="1600" dirty="0">
                  <a:latin typeface="Symbol" pitchFamily="18" charset="2"/>
                </a:rPr>
                <a:t>a</a:t>
              </a:r>
              <a:r>
                <a:rPr lang="es-ES_tradnl" altLang="es-ES" dirty="0"/>
                <a:t>/2 hacia las colas de la distribución y 1–</a:t>
              </a:r>
              <a:r>
                <a:rPr lang="es-ES_tradnl" altLang="es-ES" sz="1600" dirty="0">
                  <a:latin typeface="Symbol" pitchFamily="18" charset="2"/>
                </a:rPr>
                <a:t>a</a:t>
              </a:r>
              <a:r>
                <a:rPr lang="es-ES_tradnl" altLang="es-ES" sz="1600" dirty="0">
                  <a:latin typeface="Arial Narrow" pitchFamily="34" charset="0"/>
                </a:rPr>
                <a:t> </a:t>
              </a:r>
              <a:r>
                <a:rPr lang="es-ES_tradnl" altLang="es-ES" dirty="0"/>
                <a:t>central. Se alude a él como       y se busca en las tablas</a:t>
              </a:r>
              <a:r>
                <a:rPr lang="es-ES" altLang="es-ES" dirty="0"/>
                <a:t>.</a:t>
              </a:r>
            </a:p>
          </p:txBody>
        </p:sp>
        <p:graphicFrame>
          <p:nvGraphicFramePr>
            <p:cNvPr id="8232" name="Object 29"/>
            <p:cNvGraphicFramePr>
              <a:graphicFrameLocks noChangeAspect="1"/>
            </p:cNvGraphicFramePr>
            <p:nvPr>
              <p:extLst>
                <p:ext uri="{D42A27DB-BD31-4B8C-83A1-F6EECF244321}">
                  <p14:modId xmlns:p14="http://schemas.microsoft.com/office/powerpoint/2010/main" val="1708348487"/>
                </p:ext>
              </p:extLst>
            </p:nvPr>
          </p:nvGraphicFramePr>
          <p:xfrm>
            <a:off x="4093" y="3002"/>
            <a:ext cx="138" cy="202"/>
          </p:xfrm>
          <a:graphic>
            <a:graphicData uri="http://schemas.openxmlformats.org/presentationml/2006/ole">
              <mc:AlternateContent xmlns:mc="http://schemas.openxmlformats.org/markup-compatibility/2006">
                <mc:Choice xmlns:v="urn:schemas-microsoft-com:vml" Requires="v">
                  <p:oleObj name="Equation" r:id="rId4" imgW="164957" imgH="241091" progId="Equation.DSMT4">
                    <p:embed/>
                  </p:oleObj>
                </mc:Choice>
                <mc:Fallback>
                  <p:oleObj name="Equation" r:id="rId4" imgW="164957" imgH="241091" progId="Equation.DSMT4">
                    <p:embed/>
                    <p:pic>
                      <p:nvPicPr>
                        <p:cNvPr id="8232"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3" y="3002"/>
                          <a:ext cx="13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243" name="Group 51"/>
          <p:cNvGrpSpPr>
            <a:grpSpLocks/>
          </p:cNvGrpSpPr>
          <p:nvPr/>
        </p:nvGrpSpPr>
        <p:grpSpPr bwMode="auto">
          <a:xfrm>
            <a:off x="417512" y="1637669"/>
            <a:ext cx="4718050" cy="3184525"/>
            <a:chOff x="675" y="912"/>
            <a:chExt cx="2972" cy="2006"/>
          </a:xfrm>
        </p:grpSpPr>
        <p:grpSp>
          <p:nvGrpSpPr>
            <p:cNvPr id="8208" name="Group 45"/>
            <p:cNvGrpSpPr>
              <a:grpSpLocks/>
            </p:cNvGrpSpPr>
            <p:nvPr/>
          </p:nvGrpSpPr>
          <p:grpSpPr bwMode="auto">
            <a:xfrm>
              <a:off x="675" y="912"/>
              <a:ext cx="2972" cy="1618"/>
              <a:chOff x="1419" y="732"/>
              <a:chExt cx="2972" cy="1618"/>
            </a:xfrm>
          </p:grpSpPr>
          <p:pic>
            <p:nvPicPr>
              <p:cNvPr id="8221" name="Picture 4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31" y="738"/>
                <a:ext cx="2728" cy="142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222" name="Group 42"/>
              <p:cNvGrpSpPr>
                <a:grpSpLocks/>
              </p:cNvGrpSpPr>
              <p:nvPr/>
            </p:nvGrpSpPr>
            <p:grpSpPr bwMode="auto">
              <a:xfrm>
                <a:off x="1419" y="732"/>
                <a:ext cx="2972" cy="1618"/>
                <a:chOff x="1198" y="757"/>
                <a:chExt cx="3219" cy="1376"/>
              </a:xfrm>
            </p:grpSpPr>
            <p:sp>
              <p:nvSpPr>
                <p:cNvPr id="8223" name="Text Box 41"/>
                <p:cNvSpPr txBox="1">
                  <a:spLocks noChangeArrowheads="1"/>
                </p:cNvSpPr>
                <p:nvPr/>
              </p:nvSpPr>
              <p:spPr bwMode="auto">
                <a:xfrm>
                  <a:off x="2722" y="1986"/>
                  <a:ext cx="181" cy="14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a:t>0</a:t>
                  </a:r>
                </a:p>
              </p:txBody>
            </p:sp>
            <p:sp>
              <p:nvSpPr>
                <p:cNvPr id="8224" name="Freeform 34"/>
                <p:cNvSpPr>
                  <a:spLocks/>
                </p:cNvSpPr>
                <p:nvPr/>
              </p:nvSpPr>
              <p:spPr bwMode="auto">
                <a:xfrm>
                  <a:off x="1634" y="793"/>
                  <a:ext cx="2347" cy="1168"/>
                </a:xfrm>
                <a:custGeom>
                  <a:avLst/>
                  <a:gdLst>
                    <a:gd name="T0" fmla="*/ 0 w 9513"/>
                    <a:gd name="T1" fmla="*/ 88408 h 5006"/>
                    <a:gd name="T2" fmla="*/ 15719 w 9513"/>
                    <a:gd name="T3" fmla="*/ 85689 h 5006"/>
                    <a:gd name="T4" fmla="*/ 18807 w 9513"/>
                    <a:gd name="T5" fmla="*/ 84664 h 5006"/>
                    <a:gd name="T6" fmla="*/ 22232 w 9513"/>
                    <a:gd name="T7" fmla="*/ 82934 h 5006"/>
                    <a:gd name="T8" fmla="*/ 24944 w 9513"/>
                    <a:gd name="T9" fmla="*/ 81591 h 5006"/>
                    <a:gd name="T10" fmla="*/ 28389 w 9513"/>
                    <a:gd name="T11" fmla="*/ 79525 h 5006"/>
                    <a:gd name="T12" fmla="*/ 31438 w 9513"/>
                    <a:gd name="T13" fmla="*/ 77494 h 5006"/>
                    <a:gd name="T14" fmla="*/ 34526 w 9513"/>
                    <a:gd name="T15" fmla="*/ 74774 h 5006"/>
                    <a:gd name="T16" fmla="*/ 37575 w 9513"/>
                    <a:gd name="T17" fmla="*/ 71684 h 5006"/>
                    <a:gd name="T18" fmla="*/ 40663 w 9513"/>
                    <a:gd name="T19" fmla="*/ 68258 h 5006"/>
                    <a:gd name="T20" fmla="*/ 44088 w 9513"/>
                    <a:gd name="T21" fmla="*/ 64514 h 5006"/>
                    <a:gd name="T22" fmla="*/ 47176 w 9513"/>
                    <a:gd name="T23" fmla="*/ 60417 h 5006"/>
                    <a:gd name="T24" fmla="*/ 50245 w 9513"/>
                    <a:gd name="T25" fmla="*/ 55984 h 5006"/>
                    <a:gd name="T26" fmla="*/ 53313 w 9513"/>
                    <a:gd name="T27" fmla="*/ 51198 h 5006"/>
                    <a:gd name="T28" fmla="*/ 56758 w 9513"/>
                    <a:gd name="T29" fmla="*/ 46076 h 5006"/>
                    <a:gd name="T30" fmla="*/ 59450 w 9513"/>
                    <a:gd name="T31" fmla="*/ 40619 h 5006"/>
                    <a:gd name="T32" fmla="*/ 62895 w 9513"/>
                    <a:gd name="T33" fmla="*/ 35144 h 5006"/>
                    <a:gd name="T34" fmla="*/ 65983 w 9513"/>
                    <a:gd name="T35" fmla="*/ 30040 h 5006"/>
                    <a:gd name="T36" fmla="*/ 69032 w 9513"/>
                    <a:gd name="T37" fmla="*/ 24566 h 5006"/>
                    <a:gd name="T38" fmla="*/ 72120 w 9513"/>
                    <a:gd name="T39" fmla="*/ 19462 h 5006"/>
                    <a:gd name="T40" fmla="*/ 75169 w 9513"/>
                    <a:gd name="T41" fmla="*/ 14676 h 5006"/>
                    <a:gd name="T42" fmla="*/ 78614 w 9513"/>
                    <a:gd name="T43" fmla="*/ 10578 h 5006"/>
                    <a:gd name="T44" fmla="*/ 81702 w 9513"/>
                    <a:gd name="T45" fmla="*/ 6817 h 5006"/>
                    <a:gd name="T46" fmla="*/ 84751 w 9513"/>
                    <a:gd name="T47" fmla="*/ 4097 h 5006"/>
                    <a:gd name="T48" fmla="*/ 87839 w 9513"/>
                    <a:gd name="T49" fmla="*/ 1696 h 5006"/>
                    <a:gd name="T50" fmla="*/ 91284 w 9513"/>
                    <a:gd name="T51" fmla="*/ 689 h 5006"/>
                    <a:gd name="T52" fmla="*/ 94352 w 9513"/>
                    <a:gd name="T53" fmla="*/ 0 h 5006"/>
                    <a:gd name="T54" fmla="*/ 97421 w 9513"/>
                    <a:gd name="T55" fmla="*/ 689 h 5006"/>
                    <a:gd name="T56" fmla="*/ 100489 w 9513"/>
                    <a:gd name="T57" fmla="*/ 1696 h 5006"/>
                    <a:gd name="T58" fmla="*/ 103558 w 9513"/>
                    <a:gd name="T59" fmla="*/ 4097 h 5006"/>
                    <a:gd name="T60" fmla="*/ 106627 w 9513"/>
                    <a:gd name="T61" fmla="*/ 6817 h 5006"/>
                    <a:gd name="T62" fmla="*/ 110071 w 9513"/>
                    <a:gd name="T63" fmla="*/ 10578 h 5006"/>
                    <a:gd name="T64" fmla="*/ 113160 w 9513"/>
                    <a:gd name="T65" fmla="*/ 14676 h 5006"/>
                    <a:gd name="T66" fmla="*/ 116208 w 9513"/>
                    <a:gd name="T67" fmla="*/ 19462 h 5006"/>
                    <a:gd name="T68" fmla="*/ 119297 w 9513"/>
                    <a:gd name="T69" fmla="*/ 24566 h 5006"/>
                    <a:gd name="T70" fmla="*/ 122345 w 9513"/>
                    <a:gd name="T71" fmla="*/ 30040 h 5006"/>
                    <a:gd name="T72" fmla="*/ 125810 w 9513"/>
                    <a:gd name="T73" fmla="*/ 35144 h 5006"/>
                    <a:gd name="T74" fmla="*/ 128878 w 9513"/>
                    <a:gd name="T75" fmla="*/ 40619 h 5006"/>
                    <a:gd name="T76" fmla="*/ 131927 w 9513"/>
                    <a:gd name="T77" fmla="*/ 46076 h 5006"/>
                    <a:gd name="T78" fmla="*/ 135016 w 9513"/>
                    <a:gd name="T79" fmla="*/ 51198 h 5006"/>
                    <a:gd name="T80" fmla="*/ 138064 w 9513"/>
                    <a:gd name="T81" fmla="*/ 55984 h 5006"/>
                    <a:gd name="T82" fmla="*/ 141153 w 9513"/>
                    <a:gd name="T83" fmla="*/ 60417 h 5006"/>
                    <a:gd name="T84" fmla="*/ 144597 w 9513"/>
                    <a:gd name="T85" fmla="*/ 64514 h 5006"/>
                    <a:gd name="T86" fmla="*/ 147666 w 9513"/>
                    <a:gd name="T87" fmla="*/ 68258 h 5006"/>
                    <a:gd name="T88" fmla="*/ 150734 w 9513"/>
                    <a:gd name="T89" fmla="*/ 71684 h 5006"/>
                    <a:gd name="T90" fmla="*/ 153803 w 9513"/>
                    <a:gd name="T91" fmla="*/ 74774 h 5006"/>
                    <a:gd name="T92" fmla="*/ 156872 w 9513"/>
                    <a:gd name="T93" fmla="*/ 77494 h 5006"/>
                    <a:gd name="T94" fmla="*/ 160336 w 9513"/>
                    <a:gd name="T95" fmla="*/ 79525 h 5006"/>
                    <a:gd name="T96" fmla="*/ 163385 w 9513"/>
                    <a:gd name="T97" fmla="*/ 81591 h 5006"/>
                    <a:gd name="T98" fmla="*/ 166473 w 9513"/>
                    <a:gd name="T99" fmla="*/ 82934 h 5006"/>
                    <a:gd name="T100" fmla="*/ 169522 w 9513"/>
                    <a:gd name="T101" fmla="*/ 84664 h 5006"/>
                    <a:gd name="T102" fmla="*/ 172610 w 9513"/>
                    <a:gd name="T103" fmla="*/ 85689 h 5006"/>
                    <a:gd name="T104" fmla="*/ 175659 w 9513"/>
                    <a:gd name="T105" fmla="*/ 86377 h 5006"/>
                    <a:gd name="T106" fmla="*/ 179143 w 9513"/>
                    <a:gd name="T107" fmla="*/ 87048 h 5006"/>
                    <a:gd name="T108" fmla="*/ 182192 w 9513"/>
                    <a:gd name="T109" fmla="*/ 87720 h 5006"/>
                    <a:gd name="T110" fmla="*/ 185241 w 9513"/>
                    <a:gd name="T111" fmla="*/ 88073 h 5006"/>
                    <a:gd name="T112" fmla="*/ 188329 w 9513"/>
                    <a:gd name="T113" fmla="*/ 88408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941"/>
                  </a:srgbClr>
                </a:solidFill>
                <a:ln>
                  <a:noFill/>
                </a:ln>
                <a:extLs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s-ES"/>
                </a:p>
              </p:txBody>
            </p:sp>
            <p:sp>
              <p:nvSpPr>
                <p:cNvPr id="8225" name="Line 36"/>
                <p:cNvSpPr>
                  <a:spLocks noChangeShapeType="1"/>
                </p:cNvSpPr>
                <p:nvPr/>
              </p:nvSpPr>
              <p:spPr bwMode="auto">
                <a:xfrm>
                  <a:off x="1198" y="1961"/>
                  <a:ext cx="3219" cy="0"/>
                </a:xfrm>
                <a:prstGeom prst="line">
                  <a:avLst/>
                </a:prstGeom>
                <a:noFill/>
                <a:ln w="254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8226" name="Line 35"/>
                <p:cNvSpPr>
                  <a:spLocks noChangeShapeType="1"/>
                </p:cNvSpPr>
                <p:nvPr/>
              </p:nvSpPr>
              <p:spPr bwMode="auto">
                <a:xfrm flipH="1">
                  <a:off x="2811" y="757"/>
                  <a:ext cx="4" cy="1221"/>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8227" name="Line 8"/>
                <p:cNvSpPr>
                  <a:spLocks noChangeShapeType="1"/>
                </p:cNvSpPr>
                <p:nvPr/>
              </p:nvSpPr>
              <p:spPr bwMode="auto">
                <a:xfrm flipH="1">
                  <a:off x="2885" y="822"/>
                  <a:ext cx="3" cy="1180"/>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8228" name="Line 9"/>
                <p:cNvSpPr>
                  <a:spLocks noChangeShapeType="1"/>
                </p:cNvSpPr>
                <p:nvPr/>
              </p:nvSpPr>
              <p:spPr bwMode="auto">
                <a:xfrm>
                  <a:off x="3721" y="1893"/>
                  <a:ext cx="0" cy="134"/>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8229" name="Line 12"/>
                <p:cNvSpPr>
                  <a:spLocks noChangeShapeType="1"/>
                </p:cNvSpPr>
                <p:nvPr/>
              </p:nvSpPr>
              <p:spPr bwMode="auto">
                <a:xfrm>
                  <a:off x="2884" y="1958"/>
                  <a:ext cx="58" cy="69"/>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8230" name="Line 13"/>
                <p:cNvSpPr>
                  <a:spLocks noChangeShapeType="1"/>
                </p:cNvSpPr>
                <p:nvPr/>
              </p:nvSpPr>
              <p:spPr bwMode="auto">
                <a:xfrm>
                  <a:off x="3721" y="1958"/>
                  <a:ext cx="58" cy="69"/>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grpSp>
          <p:nvGrpSpPr>
            <p:cNvPr id="8242" name="Group 50"/>
            <p:cNvGrpSpPr>
              <a:grpSpLocks/>
            </p:cNvGrpSpPr>
            <p:nvPr/>
          </p:nvGrpSpPr>
          <p:grpSpPr bwMode="auto">
            <a:xfrm>
              <a:off x="979" y="977"/>
              <a:ext cx="2347" cy="1907"/>
              <a:chOff x="979" y="977"/>
              <a:chExt cx="2347" cy="1907"/>
            </a:xfrm>
          </p:grpSpPr>
          <p:sp>
            <p:nvSpPr>
              <p:cNvPr id="8213" name="Text Box 10"/>
              <p:cNvSpPr txBox="1">
                <a:spLocks noChangeArrowheads="1"/>
              </p:cNvSpPr>
              <p:nvPr/>
            </p:nvSpPr>
            <p:spPr bwMode="auto">
              <a:xfrm>
                <a:off x="2279" y="2388"/>
                <a:ext cx="300"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a:solidFill>
                      <a:srgbClr val="005A58"/>
                    </a:solidFill>
                  </a:rPr>
                  <a:t>0.57</a:t>
                </a:r>
                <a:endParaRPr lang="es-ES" altLang="es-ES" sz="1200">
                  <a:solidFill>
                    <a:srgbClr val="005A58"/>
                  </a:solidFill>
                </a:endParaRPr>
              </a:p>
            </p:txBody>
          </p:sp>
          <p:sp>
            <p:nvSpPr>
              <p:cNvPr id="8214" name="Text Box 11"/>
              <p:cNvSpPr txBox="1">
                <a:spLocks noChangeArrowheads="1"/>
              </p:cNvSpPr>
              <p:nvPr/>
            </p:nvSpPr>
            <p:spPr bwMode="auto">
              <a:xfrm>
                <a:off x="3024" y="2388"/>
                <a:ext cx="302" cy="1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2,25</a:t>
                </a:r>
                <a:endParaRPr lang="es-ES" altLang="es-ES" sz="1200" dirty="0">
                  <a:solidFill>
                    <a:srgbClr val="005A58"/>
                  </a:solidFill>
                </a:endParaRPr>
              </a:p>
            </p:txBody>
          </p:sp>
          <p:sp>
            <p:nvSpPr>
              <p:cNvPr id="8215" name="Text Box 38"/>
              <p:cNvSpPr txBox="1">
                <a:spLocks noChangeArrowheads="1"/>
              </p:cNvSpPr>
              <p:nvPr/>
            </p:nvSpPr>
            <p:spPr bwMode="auto">
              <a:xfrm>
                <a:off x="979" y="977"/>
                <a:ext cx="853" cy="3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r" eaLnBrk="1" hangingPunct="1">
                  <a:lnSpc>
                    <a:spcPct val="110000"/>
                  </a:lnSpc>
                </a:pPr>
                <a:r>
                  <a:rPr lang="es-ES_tradnl" altLang="es-ES" sz="1300" dirty="0"/>
                  <a:t>Distribución</a:t>
                </a:r>
              </a:p>
              <a:p>
                <a:pPr algn="r" eaLnBrk="1" hangingPunct="1">
                  <a:lnSpc>
                    <a:spcPct val="110000"/>
                  </a:lnSpc>
                </a:pPr>
                <a:r>
                  <a:rPr lang="es-ES_tradnl" altLang="es-ES" sz="1300" dirty="0"/>
                  <a:t>de </a:t>
                </a:r>
                <a:r>
                  <a:rPr lang="es-ES_tradnl" altLang="es-ES" sz="1300" i="1" dirty="0" err="1"/>
                  <a:t>t</a:t>
                </a:r>
                <a:r>
                  <a:rPr lang="es-ES_tradnl" altLang="es-ES" sz="1300" i="1" baseline="-25000" dirty="0" err="1"/>
                  <a:t>exp</a:t>
                </a:r>
                <a:r>
                  <a:rPr lang="es-ES_tradnl" altLang="es-ES" sz="1300" dirty="0"/>
                  <a:t> “bajo” </a:t>
                </a:r>
                <a:r>
                  <a:rPr lang="es-ES_tradnl" altLang="es-ES" sz="1300" b="1" dirty="0"/>
                  <a:t>H</a:t>
                </a:r>
                <a:r>
                  <a:rPr lang="es-ES_tradnl" altLang="es-ES" sz="1300" b="1" baseline="-25000" dirty="0"/>
                  <a:t>0</a:t>
                </a:r>
                <a:r>
                  <a:rPr lang="es-ES_tradnl" altLang="es-ES" b="1" dirty="0"/>
                  <a:t> </a:t>
                </a:r>
                <a:r>
                  <a:rPr lang="es-ES_tradnl" altLang="es-ES" dirty="0"/>
                  <a:t> </a:t>
                </a:r>
                <a:endParaRPr lang="es-ES" altLang="es-ES" dirty="0"/>
              </a:p>
            </p:txBody>
          </p:sp>
          <p:sp>
            <p:nvSpPr>
              <p:cNvPr id="8216" name="Line 43"/>
              <p:cNvSpPr>
                <a:spLocks noChangeShapeType="1"/>
              </p:cNvSpPr>
              <p:nvPr/>
            </p:nvSpPr>
            <p:spPr bwMode="auto">
              <a:xfrm flipH="1">
                <a:off x="2878" y="1556"/>
                <a:ext cx="413" cy="677"/>
              </a:xfrm>
              <a:prstGeom prst="line">
                <a:avLst/>
              </a:prstGeom>
              <a:noFill/>
              <a:ln w="15875">
                <a:solidFill>
                  <a:srgbClr val="0099CC"/>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8217" name="Line 48"/>
              <p:cNvSpPr>
                <a:spLocks noChangeShapeType="1"/>
              </p:cNvSpPr>
              <p:nvPr/>
            </p:nvSpPr>
            <p:spPr bwMode="auto">
              <a:xfrm flipV="1">
                <a:off x="2755" y="2324"/>
                <a:ext cx="0" cy="29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8218" name="Object 29"/>
              <p:cNvGraphicFramePr>
                <a:graphicFrameLocks noChangeAspect="1"/>
              </p:cNvGraphicFramePr>
              <p:nvPr/>
            </p:nvGraphicFramePr>
            <p:xfrm>
              <a:off x="2686" y="2645"/>
              <a:ext cx="163" cy="239"/>
            </p:xfrm>
            <a:graphic>
              <a:graphicData uri="http://schemas.openxmlformats.org/presentationml/2006/ole">
                <mc:AlternateContent xmlns:mc="http://schemas.openxmlformats.org/markup-compatibility/2006">
                  <mc:Choice xmlns:v="urn:schemas-microsoft-com:vml" Requires="v">
                    <p:oleObj name="Equation" r:id="rId7" imgW="164957" imgH="241091" progId="Equation.DSMT4">
                      <p:embed/>
                    </p:oleObj>
                  </mc:Choice>
                  <mc:Fallback>
                    <p:oleObj name="Equation" r:id="rId7" imgW="164957" imgH="241091" progId="Equation.DSMT4">
                      <p:embed/>
                      <p:pic>
                        <p:nvPicPr>
                          <p:cNvPr id="8218"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6" y="2645"/>
                            <a:ext cx="163"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9" name="Object 29"/>
              <p:cNvGraphicFramePr>
                <a:graphicFrameLocks noChangeAspect="1"/>
              </p:cNvGraphicFramePr>
              <p:nvPr/>
            </p:nvGraphicFramePr>
            <p:xfrm>
              <a:off x="1435" y="2645"/>
              <a:ext cx="263" cy="239"/>
            </p:xfrm>
            <a:graphic>
              <a:graphicData uri="http://schemas.openxmlformats.org/presentationml/2006/ole">
                <mc:AlternateContent xmlns:mc="http://schemas.openxmlformats.org/markup-compatibility/2006">
                  <mc:Choice xmlns:v="urn:schemas-microsoft-com:vml" Requires="v">
                    <p:oleObj name="Equation" r:id="rId8" imgW="266469" imgH="241091" progId="Equation.DSMT4">
                      <p:embed/>
                    </p:oleObj>
                  </mc:Choice>
                  <mc:Fallback>
                    <p:oleObj name="Equation" r:id="rId8" imgW="266469" imgH="241091" progId="Equation.DSMT4">
                      <p:embed/>
                      <p:pic>
                        <p:nvPicPr>
                          <p:cNvPr id="8219"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35" y="2645"/>
                            <a:ext cx="263"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20" name="Line 54"/>
              <p:cNvSpPr>
                <a:spLocks noChangeShapeType="1"/>
              </p:cNvSpPr>
              <p:nvPr/>
            </p:nvSpPr>
            <p:spPr bwMode="auto">
              <a:xfrm flipV="1">
                <a:off x="1572" y="2382"/>
                <a:ext cx="0" cy="29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nvGrpSpPr>
            <p:cNvPr id="8210" name="Group 69"/>
            <p:cNvGrpSpPr>
              <a:grpSpLocks/>
            </p:cNvGrpSpPr>
            <p:nvPr/>
          </p:nvGrpSpPr>
          <p:grpSpPr bwMode="auto">
            <a:xfrm>
              <a:off x="2651" y="2658"/>
              <a:ext cx="670" cy="260"/>
              <a:chOff x="2651" y="2334"/>
              <a:chExt cx="670" cy="260"/>
            </a:xfrm>
          </p:grpSpPr>
          <p:sp>
            <p:nvSpPr>
              <p:cNvPr id="8211" name="Oval 58"/>
              <p:cNvSpPr>
                <a:spLocks noChangeArrowheads="1"/>
              </p:cNvSpPr>
              <p:nvPr/>
            </p:nvSpPr>
            <p:spPr bwMode="auto">
              <a:xfrm>
                <a:off x="2651" y="2334"/>
                <a:ext cx="229" cy="260"/>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8212" name="Line 57"/>
              <p:cNvSpPr>
                <a:spLocks noChangeShapeType="1"/>
              </p:cNvSpPr>
              <p:nvPr/>
            </p:nvSpPr>
            <p:spPr bwMode="auto">
              <a:xfrm flipH="1">
                <a:off x="2846" y="2364"/>
                <a:ext cx="475" cy="89"/>
              </a:xfrm>
              <a:prstGeom prst="line">
                <a:avLst/>
              </a:prstGeom>
              <a:noFill/>
              <a:ln w="15875">
                <a:solidFill>
                  <a:srgbClr val="009999"/>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sp>
        <p:nvSpPr>
          <p:cNvPr id="8206" name="Text Box 46"/>
          <p:cNvSpPr txBox="1">
            <a:spLocks noChangeArrowheads="1"/>
          </p:cNvSpPr>
          <p:nvPr/>
        </p:nvSpPr>
        <p:spPr bwMode="auto">
          <a:xfrm>
            <a:off x="4405312" y="1905000"/>
            <a:ext cx="4314826"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225425" indent="-225425"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10000"/>
              </a:lnSpc>
            </a:pPr>
            <a:r>
              <a:rPr lang="es-ES_tradnl" altLang="es-ES" b="1" dirty="0"/>
              <a:t>1</a:t>
            </a:r>
            <a:r>
              <a:rPr lang="es-ES_tradnl" altLang="es-ES" dirty="0"/>
              <a:t>. 	Fijar la probabilidad (</a:t>
            </a:r>
            <a:r>
              <a:rPr lang="es-ES_tradnl" altLang="es-ES" sz="1600" dirty="0">
                <a:latin typeface="Symbol" panose="05050102010706020507" pitchFamily="18" charset="2"/>
              </a:rPr>
              <a:t>a</a:t>
            </a:r>
            <a:r>
              <a:rPr lang="es-ES_tradnl" altLang="es-ES" dirty="0"/>
              <a:t>) de rechazar por error H</a:t>
            </a:r>
            <a:r>
              <a:rPr lang="es-ES_tradnl" altLang="es-ES" baseline="-25000" dirty="0"/>
              <a:t>0</a:t>
            </a:r>
            <a:endParaRPr lang="es-ES" altLang="es-ES" baseline="-25000" dirty="0"/>
          </a:p>
        </p:txBody>
      </p:sp>
      <p:sp>
        <p:nvSpPr>
          <p:cNvPr id="8207" name="Text Box 47"/>
          <p:cNvSpPr txBox="1">
            <a:spLocks noChangeArrowheads="1"/>
          </p:cNvSpPr>
          <p:nvPr/>
        </p:nvSpPr>
        <p:spPr bwMode="auto">
          <a:xfrm>
            <a:off x="4607646" y="2905940"/>
            <a:ext cx="4236112" cy="7643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ts val="1800"/>
              </a:lnSpc>
            </a:pPr>
            <a:r>
              <a:rPr lang="es-ES_tradnl" altLang="es-ES" sz="1300" dirty="0"/>
              <a:t>Habitualmente </a:t>
            </a:r>
            <a:r>
              <a:rPr lang="es-ES_tradnl" altLang="es-ES" dirty="0">
                <a:latin typeface="Symbol" pitchFamily="18" charset="2"/>
              </a:rPr>
              <a:t>a</a:t>
            </a:r>
            <a:r>
              <a:rPr lang="es-ES_tradnl" altLang="es-ES" sz="1300" dirty="0"/>
              <a:t>=0.05 repartido en las dos colas de la distribución (</a:t>
            </a:r>
            <a:r>
              <a:rPr lang="es-ES_tradnl" altLang="es-ES" dirty="0">
                <a:latin typeface="Symbol" pitchFamily="18" charset="2"/>
              </a:rPr>
              <a:t>a</a:t>
            </a:r>
            <a:r>
              <a:rPr lang="es-ES_tradnl" altLang="es-ES" dirty="0"/>
              <a:t>/</a:t>
            </a:r>
            <a:r>
              <a:rPr lang="es-ES_tradnl" altLang="es-ES" sz="1200" dirty="0"/>
              <a:t>2</a:t>
            </a:r>
            <a:r>
              <a:rPr lang="es-ES" altLang="es-ES" sz="1300" dirty="0"/>
              <a:t>=</a:t>
            </a:r>
            <a:r>
              <a:rPr lang="es-ES_tradnl" altLang="es-ES" sz="1300" dirty="0"/>
              <a:t>0.025 en cada una; </a:t>
            </a:r>
            <a:r>
              <a:rPr lang="es-ES_tradnl" altLang="es-ES" sz="1300" b="1" i="1" dirty="0"/>
              <a:t>test de dos colas</a:t>
            </a:r>
            <a:r>
              <a:rPr lang="es-ES_tradnl" altLang="es-ES" sz="1300" dirty="0"/>
              <a:t>)</a:t>
            </a:r>
            <a:r>
              <a:rPr lang="es-ES_tradnl" altLang="es-ES" sz="1300" b="1" dirty="0"/>
              <a:t>*</a:t>
            </a:r>
            <a:r>
              <a:rPr lang="es-ES_tradnl" altLang="es-ES" sz="1300" dirty="0"/>
              <a:t>  </a:t>
            </a:r>
            <a:endParaRPr lang="es-ES" altLang="es-ES" sz="1300" dirty="0"/>
          </a:p>
        </p:txBody>
      </p:sp>
      <p:grpSp>
        <p:nvGrpSpPr>
          <p:cNvPr id="8246" name="Group 54"/>
          <p:cNvGrpSpPr>
            <a:grpSpLocks/>
          </p:cNvGrpSpPr>
          <p:nvPr/>
        </p:nvGrpSpPr>
        <p:grpSpPr bwMode="auto">
          <a:xfrm>
            <a:off x="1631949" y="2547938"/>
            <a:ext cx="2863850" cy="2633663"/>
            <a:chOff x="1343" y="1484"/>
            <a:chExt cx="1804" cy="1659"/>
          </a:xfrm>
        </p:grpSpPr>
        <p:graphicFrame>
          <p:nvGraphicFramePr>
            <p:cNvPr id="8235" name="Object 29"/>
            <p:cNvGraphicFramePr>
              <a:graphicFrameLocks noChangeAspect="1"/>
            </p:cNvGraphicFramePr>
            <p:nvPr/>
          </p:nvGraphicFramePr>
          <p:xfrm>
            <a:off x="2461" y="2950"/>
            <a:ext cx="595" cy="193"/>
          </p:xfrm>
          <a:graphic>
            <a:graphicData uri="http://schemas.openxmlformats.org/presentationml/2006/ole">
              <mc:AlternateContent xmlns:mc="http://schemas.openxmlformats.org/markup-compatibility/2006">
                <mc:Choice xmlns:v="urn:schemas-microsoft-com:vml" Requires="v">
                  <p:oleObj name="Equation" r:id="rId10" imgW="825480" imgH="266400" progId="Equation.DSMT4">
                    <p:embed/>
                  </p:oleObj>
                </mc:Choice>
                <mc:Fallback>
                  <p:oleObj name="Equation" r:id="rId10" imgW="825480" imgH="266400" progId="Equation.DSMT4">
                    <p:embed/>
                    <p:pic>
                      <p:nvPicPr>
                        <p:cNvPr id="8235"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61" y="2950"/>
                          <a:ext cx="595"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41" name="Line 43"/>
            <p:cNvSpPr>
              <a:spLocks noChangeShapeType="1"/>
            </p:cNvSpPr>
            <p:nvPr/>
          </p:nvSpPr>
          <p:spPr bwMode="auto">
            <a:xfrm flipH="1">
              <a:off x="1343" y="1484"/>
              <a:ext cx="1804" cy="758"/>
            </a:xfrm>
            <a:prstGeom prst="line">
              <a:avLst/>
            </a:prstGeom>
            <a:noFill/>
            <a:ln w="15875">
              <a:solidFill>
                <a:srgbClr val="0099CC"/>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aphicFrame>
        <p:nvGraphicFramePr>
          <p:cNvPr id="8196" name="Object 63"/>
          <p:cNvGraphicFramePr>
            <a:graphicFrameLocks noChangeAspect="1"/>
          </p:cNvGraphicFramePr>
          <p:nvPr>
            <p:extLst>
              <p:ext uri="{D42A27DB-BD31-4B8C-83A1-F6EECF244321}">
                <p14:modId xmlns:p14="http://schemas.microsoft.com/office/powerpoint/2010/main" val="935865762"/>
              </p:ext>
            </p:extLst>
          </p:nvPr>
        </p:nvGraphicFramePr>
        <p:xfrm>
          <a:off x="4694238" y="2286000"/>
          <a:ext cx="2514600" cy="311150"/>
        </p:xfrm>
        <a:graphic>
          <a:graphicData uri="http://schemas.openxmlformats.org/presentationml/2006/ole">
            <mc:AlternateContent xmlns:mc="http://schemas.openxmlformats.org/markup-compatibility/2006">
              <mc:Choice xmlns:v="urn:schemas-microsoft-com:vml" Requires="v">
                <p:oleObj name="Equation" r:id="rId12" imgW="2019300" imgH="228600" progId="Equation.DSMT4">
                  <p:embed/>
                </p:oleObj>
              </mc:Choice>
              <mc:Fallback>
                <p:oleObj name="Equation" r:id="rId12" imgW="2019300" imgH="228600" progId="Equation.DSMT4">
                  <p:embed/>
                  <p:pic>
                    <p:nvPicPr>
                      <p:cNvPr id="8196" name="Object 6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94238" y="2286000"/>
                        <a:ext cx="25146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0" name="Text Box 83"/>
          <p:cNvSpPr txBox="1">
            <a:spLocks noChangeArrowheads="1"/>
          </p:cNvSpPr>
          <p:nvPr/>
        </p:nvSpPr>
        <p:spPr bwMode="auto">
          <a:xfrm>
            <a:off x="7209490" y="2276462"/>
            <a:ext cx="1510648"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solidFill>
                  <a:srgbClr val="8A0000"/>
                </a:solidFill>
              </a:rPr>
              <a:t>= </a:t>
            </a:r>
            <a:r>
              <a:rPr lang="es-ES_tradnl" altLang="es-ES" b="1" dirty="0">
                <a:solidFill>
                  <a:srgbClr val="8A0000"/>
                </a:solidFill>
              </a:rPr>
              <a:t>Error de tipo I</a:t>
            </a:r>
            <a:endParaRPr lang="es-ES" altLang="es-ES" b="1" dirty="0">
              <a:solidFill>
                <a:srgbClr val="8A0000"/>
              </a:solidFill>
            </a:endParaRPr>
          </a:p>
        </p:txBody>
      </p:sp>
      <p:sp>
        <p:nvSpPr>
          <p:cNvPr id="8198" name="Text Box 81"/>
          <p:cNvSpPr txBox="1">
            <a:spLocks noChangeArrowheads="1"/>
          </p:cNvSpPr>
          <p:nvPr/>
        </p:nvSpPr>
        <p:spPr bwMode="auto">
          <a:xfrm>
            <a:off x="4424988" y="1447800"/>
            <a:ext cx="4452938"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t>El procedimiento es asumir un límite de error tolerable y decidir en consecuencia:</a:t>
            </a:r>
            <a:endParaRPr lang="es-ES" altLang="es-ES" baseline="-25000" dirty="0"/>
          </a:p>
        </p:txBody>
      </p:sp>
      <p:sp>
        <p:nvSpPr>
          <p:cNvPr id="43"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 y los dos tipos de error</a:t>
            </a:r>
          </a:p>
        </p:txBody>
      </p:sp>
      <p:sp>
        <p:nvSpPr>
          <p:cNvPr id="45" name="Text Box 33"/>
          <p:cNvSpPr txBox="1">
            <a:spLocks noChangeArrowheads="1"/>
          </p:cNvSpPr>
          <p:nvPr/>
        </p:nvSpPr>
        <p:spPr bwMode="auto">
          <a:xfrm>
            <a:off x="228599" y="3810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El error al rechazar H</a:t>
            </a:r>
            <a:r>
              <a:rPr lang="es-ES_tradnl" altLang="es-ES" b="1" baseline="-25000" dirty="0"/>
              <a:t>0</a:t>
            </a:r>
            <a:r>
              <a:rPr lang="es-ES_tradnl" altLang="es-ES" b="1" dirty="0"/>
              <a:t>: Error de tipo I (</a:t>
            </a:r>
            <a:r>
              <a:rPr lang="es-ES_tradnl" altLang="es-ES" b="1" dirty="0">
                <a:latin typeface="Symbol" panose="05050102010706020507" pitchFamily="18" charset="2"/>
              </a:rPr>
              <a:t>a</a:t>
            </a:r>
            <a:r>
              <a:rPr lang="es-ES_tradnl" altLang="es-ES" b="1" dirty="0"/>
              <a:t>)</a:t>
            </a:r>
          </a:p>
        </p:txBody>
      </p:sp>
      <p:sp>
        <p:nvSpPr>
          <p:cNvPr id="8197" name="Text Box 72"/>
          <p:cNvSpPr txBox="1">
            <a:spLocks noChangeArrowheads="1"/>
          </p:cNvSpPr>
          <p:nvPr/>
        </p:nvSpPr>
        <p:spPr bwMode="auto">
          <a:xfrm>
            <a:off x="191294" y="791543"/>
            <a:ext cx="8643938" cy="8177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spcAft>
                <a:spcPts val="600"/>
              </a:spcAft>
            </a:pPr>
            <a:r>
              <a:rPr lang="es-ES_tradnl" altLang="es-ES" b="1" dirty="0"/>
              <a:t>¿Cómo decidir? </a:t>
            </a:r>
          </a:p>
          <a:p>
            <a:pPr algn="just" eaLnBrk="1" hangingPunct="1"/>
            <a:r>
              <a:rPr lang="es-ES_tradnl" altLang="es-ES" dirty="0"/>
              <a:t>Se debe asumir que no podemos tomar una decisión a favor en contra de H</a:t>
            </a:r>
            <a:r>
              <a:rPr lang="es-ES_tradnl" altLang="es-ES" baseline="-25000" dirty="0"/>
              <a:t>0</a:t>
            </a:r>
            <a:r>
              <a:rPr lang="es-ES_tradnl" altLang="es-ES" dirty="0"/>
              <a:t> de forma infalible: siempre va a haber cierto riesgo de cometer un error</a:t>
            </a:r>
            <a:endParaRPr lang="es-ES" altLang="es-ES" baseline="-25000" dirty="0"/>
          </a:p>
        </p:txBody>
      </p:sp>
      <p:sp>
        <p:nvSpPr>
          <p:cNvPr id="47" name="Text Box 81">
            <a:extLst>
              <a:ext uri="{FF2B5EF4-FFF2-40B4-BE49-F238E27FC236}">
                <a16:creationId xmlns:a16="http://schemas.microsoft.com/office/drawing/2014/main" id="{6BA258AE-7162-4F68-A7AF-C7658E794C35}"/>
              </a:ext>
            </a:extLst>
          </p:cNvPr>
          <p:cNvSpPr txBox="1">
            <a:spLocks noChangeArrowheads="1"/>
          </p:cNvSpPr>
          <p:nvPr/>
        </p:nvSpPr>
        <p:spPr bwMode="auto">
          <a:xfrm>
            <a:off x="228599" y="6540138"/>
            <a:ext cx="8704264" cy="2637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sz="1100" b="1" dirty="0"/>
              <a:t>*</a:t>
            </a:r>
            <a:r>
              <a:rPr lang="es-ES_tradnl" altLang="es-ES" sz="1100" dirty="0"/>
              <a:t> Se habla de test de una cola cuando el error de tipo I se concentra en una sola cola de la distribución. Se verá más adelante</a:t>
            </a:r>
            <a:endParaRPr lang="es-ES" altLang="es-ES" sz="1100" baseline="-25000" dirty="0"/>
          </a:p>
        </p:txBody>
      </p:sp>
      <p:cxnSp>
        <p:nvCxnSpPr>
          <p:cNvPr id="4" name="Conector recto 3">
            <a:extLst>
              <a:ext uri="{FF2B5EF4-FFF2-40B4-BE49-F238E27FC236}">
                <a16:creationId xmlns:a16="http://schemas.microsoft.com/office/drawing/2014/main" id="{6F945E20-D7FE-45B3-840D-B409A7B533EA}"/>
              </a:ext>
            </a:extLst>
          </p:cNvPr>
          <p:cNvCxnSpPr/>
          <p:nvPr/>
        </p:nvCxnSpPr>
        <p:spPr>
          <a:xfrm>
            <a:off x="228599" y="6483635"/>
            <a:ext cx="570706" cy="0"/>
          </a:xfrm>
          <a:prstGeom prst="lin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9" name="Text Box 32">
            <a:extLst>
              <a:ext uri="{FF2B5EF4-FFF2-40B4-BE49-F238E27FC236}">
                <a16:creationId xmlns:a16="http://schemas.microsoft.com/office/drawing/2014/main" id="{E974899E-1876-4074-BEA5-BB0CF94F04CD}"/>
              </a:ext>
            </a:extLst>
          </p:cNvPr>
          <p:cNvSpPr txBox="1">
            <a:spLocks noChangeArrowheads="1"/>
          </p:cNvSpPr>
          <p:nvPr/>
        </p:nvSpPr>
        <p:spPr bwMode="auto">
          <a:xfrm>
            <a:off x="3024294" y="4157142"/>
            <a:ext cx="369310"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(a)</a:t>
            </a:r>
            <a:endParaRPr lang="es-ES" altLang="es-ES" sz="1200" dirty="0">
              <a:solidFill>
                <a:srgbClr val="005A58"/>
              </a:solidFill>
            </a:endParaRPr>
          </a:p>
        </p:txBody>
      </p:sp>
      <p:sp>
        <p:nvSpPr>
          <p:cNvPr id="50" name="Text Box 32">
            <a:extLst>
              <a:ext uri="{FF2B5EF4-FFF2-40B4-BE49-F238E27FC236}">
                <a16:creationId xmlns:a16="http://schemas.microsoft.com/office/drawing/2014/main" id="{423865D2-1E01-4CB8-A14F-52B10BBA170B}"/>
              </a:ext>
            </a:extLst>
          </p:cNvPr>
          <p:cNvSpPr txBox="1">
            <a:spLocks noChangeArrowheads="1"/>
          </p:cNvSpPr>
          <p:nvPr/>
        </p:nvSpPr>
        <p:spPr bwMode="auto">
          <a:xfrm>
            <a:off x="4176567" y="4157142"/>
            <a:ext cx="369310"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(b)</a:t>
            </a:r>
            <a:endParaRPr lang="es-ES" altLang="es-ES" sz="1200" dirty="0">
              <a:solidFill>
                <a:srgbClr val="005A58"/>
              </a:solidFill>
            </a:endParaRPr>
          </a:p>
        </p:txBody>
      </p:sp>
      <p:sp>
        <p:nvSpPr>
          <p:cNvPr id="5" name="CuadroTexto 4">
            <a:extLst>
              <a:ext uri="{FF2B5EF4-FFF2-40B4-BE49-F238E27FC236}">
                <a16:creationId xmlns:a16="http://schemas.microsoft.com/office/drawing/2014/main" id="{896C83E7-2510-4B21-8190-759C496B5D62}"/>
              </a:ext>
            </a:extLst>
          </p:cNvPr>
          <p:cNvSpPr txBox="1"/>
          <p:nvPr/>
        </p:nvSpPr>
        <p:spPr>
          <a:xfrm>
            <a:off x="4607646" y="2623073"/>
            <a:ext cx="3575018" cy="253916"/>
          </a:xfrm>
          <a:prstGeom prst="rect">
            <a:avLst/>
          </a:prstGeom>
          <a:noFill/>
        </p:spPr>
        <p:txBody>
          <a:bodyPr wrap="none" rtlCol="0">
            <a:spAutoFit/>
          </a:bodyPr>
          <a:lstStyle/>
          <a:p>
            <a:r>
              <a:rPr lang="es-ES" sz="1050" dirty="0">
                <a:solidFill>
                  <a:schemeClr val="tx1">
                    <a:lumMod val="75000"/>
                    <a:lumOff val="25000"/>
                  </a:schemeClr>
                </a:solidFill>
              </a:rPr>
              <a:t>Se lee: Probabilidad de rechazar H</a:t>
            </a:r>
            <a:r>
              <a:rPr lang="es-ES" sz="1050" baseline="-25000" dirty="0">
                <a:solidFill>
                  <a:schemeClr val="tx1">
                    <a:lumMod val="75000"/>
                    <a:lumOff val="25000"/>
                  </a:schemeClr>
                </a:solidFill>
              </a:rPr>
              <a:t>0</a:t>
            </a:r>
            <a:r>
              <a:rPr lang="es-ES" sz="1050" dirty="0">
                <a:solidFill>
                  <a:schemeClr val="tx1">
                    <a:lumMod val="75000"/>
                    <a:lumOff val="25000"/>
                  </a:schemeClr>
                </a:solidFill>
              </a:rPr>
              <a:t> </a:t>
            </a:r>
            <a:r>
              <a:rPr lang="es-ES" sz="1050" b="1" i="1" dirty="0">
                <a:solidFill>
                  <a:schemeClr val="tx1">
                    <a:lumMod val="75000"/>
                    <a:lumOff val="25000"/>
                  </a:schemeClr>
                </a:solidFill>
              </a:rPr>
              <a:t>cuando</a:t>
            </a:r>
            <a:r>
              <a:rPr lang="es-ES" sz="1050" dirty="0">
                <a:solidFill>
                  <a:schemeClr val="tx1">
                    <a:lumMod val="75000"/>
                    <a:lumOff val="25000"/>
                  </a:schemeClr>
                </a:solidFill>
              </a:rPr>
              <a:t> es cierta H</a:t>
            </a:r>
            <a:r>
              <a:rPr lang="es-ES" sz="1050" baseline="-25000" dirty="0">
                <a:solidFill>
                  <a:schemeClr val="tx1">
                    <a:lumMod val="75000"/>
                    <a:lumOff val="25000"/>
                  </a:schemeClr>
                </a:solidFill>
              </a:rPr>
              <a:t>0</a:t>
            </a:r>
          </a:p>
        </p:txBody>
      </p:sp>
    </p:spTree>
    <p:extLst>
      <p:ext uri="{BB962C8B-B14F-4D97-AF65-F5344CB8AC3E}">
        <p14:creationId xmlns:p14="http://schemas.microsoft.com/office/powerpoint/2010/main" val="3602422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37"/>
          <p:cNvSpPr txBox="1">
            <a:spLocks noChangeArrowheads="1"/>
          </p:cNvSpPr>
          <p:nvPr/>
        </p:nvSpPr>
        <p:spPr bwMode="auto">
          <a:xfrm>
            <a:off x="228600" y="762000"/>
            <a:ext cx="8727314" cy="6792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sz="1200" dirty="0"/>
              <a:t>Fijado el error de tipo I (</a:t>
            </a:r>
            <a:r>
              <a:rPr lang="es-ES_tradnl" altLang="es-ES" dirty="0">
                <a:latin typeface="Symbol" pitchFamily="18" charset="2"/>
              </a:rPr>
              <a:t>a</a:t>
            </a:r>
            <a:r>
              <a:rPr lang="es-ES_tradnl" altLang="es-ES" sz="1200" dirty="0"/>
              <a:t>) el conjunto de valores posibles para el estadístico de contraste que nos llevan a aceptar H</a:t>
            </a:r>
            <a:r>
              <a:rPr lang="es-ES_tradnl" altLang="es-ES" sz="1200" baseline="-25000" dirty="0"/>
              <a:t>0</a:t>
            </a:r>
            <a:r>
              <a:rPr lang="es-ES_tradnl" altLang="es-ES" sz="1200" dirty="0"/>
              <a:t> se denomina </a:t>
            </a:r>
            <a:r>
              <a:rPr lang="es-ES_tradnl" altLang="es-ES" sz="1200" b="1" dirty="0">
                <a:solidFill>
                  <a:srgbClr val="800000"/>
                </a:solidFill>
              </a:rPr>
              <a:t>región de aceptación del test </a:t>
            </a:r>
            <a:r>
              <a:rPr lang="es-ES_tradnl" altLang="es-ES" sz="1200" dirty="0"/>
              <a:t>(RA)</a:t>
            </a:r>
            <a:r>
              <a:rPr lang="es-ES_tradnl" altLang="es-ES" sz="1200" b="1" dirty="0"/>
              <a:t>.</a:t>
            </a:r>
            <a:r>
              <a:rPr lang="es-ES_tradnl" altLang="es-ES" sz="1200" dirty="0">
                <a:solidFill>
                  <a:srgbClr val="800000"/>
                </a:solidFill>
              </a:rPr>
              <a:t> </a:t>
            </a:r>
            <a:r>
              <a:rPr lang="es-ES_tradnl" altLang="es-ES" sz="1200" dirty="0"/>
              <a:t>El resto de valores constituyen la </a:t>
            </a:r>
            <a:r>
              <a:rPr lang="es-ES_tradnl" altLang="es-ES" sz="1200" b="1" dirty="0">
                <a:solidFill>
                  <a:srgbClr val="800000"/>
                </a:solidFill>
              </a:rPr>
              <a:t>región crítica</a:t>
            </a:r>
            <a:r>
              <a:rPr lang="es-ES_tradnl" altLang="es-ES" sz="1200" dirty="0"/>
              <a:t> (RC) o de </a:t>
            </a:r>
            <a:r>
              <a:rPr lang="es-ES_tradnl" altLang="es-ES" sz="1200" b="1" dirty="0">
                <a:solidFill>
                  <a:srgbClr val="800000"/>
                </a:solidFill>
              </a:rPr>
              <a:t>rechazo</a:t>
            </a:r>
            <a:r>
              <a:rPr lang="es-ES_tradnl" altLang="es-ES" sz="1200" dirty="0"/>
              <a:t>, ya que si el estadístico toma uno de estos valores, la decisión será rechazar H</a:t>
            </a:r>
            <a:r>
              <a:rPr lang="es-ES_tradnl" altLang="es-ES" sz="1200" baseline="-25000" dirty="0"/>
              <a:t>0</a:t>
            </a:r>
            <a:endParaRPr lang="es-ES" altLang="es-ES" sz="1200" b="1" baseline="-25000" dirty="0">
              <a:solidFill>
                <a:srgbClr val="800000"/>
              </a:solidFill>
            </a:endParaRPr>
          </a:p>
        </p:txBody>
      </p:sp>
      <p:grpSp>
        <p:nvGrpSpPr>
          <p:cNvPr id="9220" name="Group 48"/>
          <p:cNvGrpSpPr>
            <a:grpSpLocks/>
          </p:cNvGrpSpPr>
          <p:nvPr/>
        </p:nvGrpSpPr>
        <p:grpSpPr bwMode="auto">
          <a:xfrm>
            <a:off x="4131501" y="2067665"/>
            <a:ext cx="5043488" cy="3683000"/>
            <a:chOff x="1485" y="942"/>
            <a:chExt cx="3177" cy="2320"/>
          </a:xfrm>
        </p:grpSpPr>
        <p:grpSp>
          <p:nvGrpSpPr>
            <p:cNvPr id="9237" name="Group 7"/>
            <p:cNvGrpSpPr>
              <a:grpSpLocks/>
            </p:cNvGrpSpPr>
            <p:nvPr/>
          </p:nvGrpSpPr>
          <p:grpSpPr bwMode="auto">
            <a:xfrm>
              <a:off x="1485" y="942"/>
              <a:ext cx="2972" cy="1618"/>
              <a:chOff x="1419" y="732"/>
              <a:chExt cx="2972" cy="1618"/>
            </a:xfrm>
          </p:grpSpPr>
          <p:pic>
            <p:nvPicPr>
              <p:cNvPr id="9252"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1" y="738"/>
                <a:ext cx="2728" cy="142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253" name="Group 9"/>
              <p:cNvGrpSpPr>
                <a:grpSpLocks/>
              </p:cNvGrpSpPr>
              <p:nvPr/>
            </p:nvGrpSpPr>
            <p:grpSpPr bwMode="auto">
              <a:xfrm>
                <a:off x="1419" y="732"/>
                <a:ext cx="2972" cy="1618"/>
                <a:chOff x="1198" y="757"/>
                <a:chExt cx="3219" cy="1376"/>
              </a:xfrm>
            </p:grpSpPr>
            <p:sp>
              <p:nvSpPr>
                <p:cNvPr id="9254" name="Text Box 41"/>
                <p:cNvSpPr txBox="1">
                  <a:spLocks noChangeArrowheads="1"/>
                </p:cNvSpPr>
                <p:nvPr/>
              </p:nvSpPr>
              <p:spPr bwMode="auto">
                <a:xfrm>
                  <a:off x="2722" y="1986"/>
                  <a:ext cx="181" cy="14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a:t>0</a:t>
                  </a:r>
                </a:p>
              </p:txBody>
            </p:sp>
            <p:sp>
              <p:nvSpPr>
                <p:cNvPr id="9255" name="Freeform 34"/>
                <p:cNvSpPr>
                  <a:spLocks/>
                </p:cNvSpPr>
                <p:nvPr/>
              </p:nvSpPr>
              <p:spPr bwMode="auto">
                <a:xfrm>
                  <a:off x="1634" y="793"/>
                  <a:ext cx="2347" cy="1168"/>
                </a:xfrm>
                <a:custGeom>
                  <a:avLst/>
                  <a:gdLst>
                    <a:gd name="T0" fmla="*/ 0 w 9513"/>
                    <a:gd name="T1" fmla="*/ 88408 h 5006"/>
                    <a:gd name="T2" fmla="*/ 15719 w 9513"/>
                    <a:gd name="T3" fmla="*/ 85689 h 5006"/>
                    <a:gd name="T4" fmla="*/ 18807 w 9513"/>
                    <a:gd name="T5" fmla="*/ 84664 h 5006"/>
                    <a:gd name="T6" fmla="*/ 22232 w 9513"/>
                    <a:gd name="T7" fmla="*/ 82934 h 5006"/>
                    <a:gd name="T8" fmla="*/ 24944 w 9513"/>
                    <a:gd name="T9" fmla="*/ 81591 h 5006"/>
                    <a:gd name="T10" fmla="*/ 28389 w 9513"/>
                    <a:gd name="T11" fmla="*/ 79525 h 5006"/>
                    <a:gd name="T12" fmla="*/ 31438 w 9513"/>
                    <a:gd name="T13" fmla="*/ 77494 h 5006"/>
                    <a:gd name="T14" fmla="*/ 34526 w 9513"/>
                    <a:gd name="T15" fmla="*/ 74774 h 5006"/>
                    <a:gd name="T16" fmla="*/ 37575 w 9513"/>
                    <a:gd name="T17" fmla="*/ 71684 h 5006"/>
                    <a:gd name="T18" fmla="*/ 40663 w 9513"/>
                    <a:gd name="T19" fmla="*/ 68258 h 5006"/>
                    <a:gd name="T20" fmla="*/ 44088 w 9513"/>
                    <a:gd name="T21" fmla="*/ 64514 h 5006"/>
                    <a:gd name="T22" fmla="*/ 47176 w 9513"/>
                    <a:gd name="T23" fmla="*/ 60417 h 5006"/>
                    <a:gd name="T24" fmla="*/ 50245 w 9513"/>
                    <a:gd name="T25" fmla="*/ 55984 h 5006"/>
                    <a:gd name="T26" fmla="*/ 53313 w 9513"/>
                    <a:gd name="T27" fmla="*/ 51198 h 5006"/>
                    <a:gd name="T28" fmla="*/ 56758 w 9513"/>
                    <a:gd name="T29" fmla="*/ 46076 h 5006"/>
                    <a:gd name="T30" fmla="*/ 59450 w 9513"/>
                    <a:gd name="T31" fmla="*/ 40619 h 5006"/>
                    <a:gd name="T32" fmla="*/ 62895 w 9513"/>
                    <a:gd name="T33" fmla="*/ 35144 h 5006"/>
                    <a:gd name="T34" fmla="*/ 65983 w 9513"/>
                    <a:gd name="T35" fmla="*/ 30040 h 5006"/>
                    <a:gd name="T36" fmla="*/ 69032 w 9513"/>
                    <a:gd name="T37" fmla="*/ 24566 h 5006"/>
                    <a:gd name="T38" fmla="*/ 72120 w 9513"/>
                    <a:gd name="T39" fmla="*/ 19462 h 5006"/>
                    <a:gd name="T40" fmla="*/ 75169 w 9513"/>
                    <a:gd name="T41" fmla="*/ 14676 h 5006"/>
                    <a:gd name="T42" fmla="*/ 78614 w 9513"/>
                    <a:gd name="T43" fmla="*/ 10578 h 5006"/>
                    <a:gd name="T44" fmla="*/ 81702 w 9513"/>
                    <a:gd name="T45" fmla="*/ 6817 h 5006"/>
                    <a:gd name="T46" fmla="*/ 84751 w 9513"/>
                    <a:gd name="T47" fmla="*/ 4097 h 5006"/>
                    <a:gd name="T48" fmla="*/ 87839 w 9513"/>
                    <a:gd name="T49" fmla="*/ 1696 h 5006"/>
                    <a:gd name="T50" fmla="*/ 91284 w 9513"/>
                    <a:gd name="T51" fmla="*/ 689 h 5006"/>
                    <a:gd name="T52" fmla="*/ 94352 w 9513"/>
                    <a:gd name="T53" fmla="*/ 0 h 5006"/>
                    <a:gd name="T54" fmla="*/ 97421 w 9513"/>
                    <a:gd name="T55" fmla="*/ 689 h 5006"/>
                    <a:gd name="T56" fmla="*/ 100489 w 9513"/>
                    <a:gd name="T57" fmla="*/ 1696 h 5006"/>
                    <a:gd name="T58" fmla="*/ 103558 w 9513"/>
                    <a:gd name="T59" fmla="*/ 4097 h 5006"/>
                    <a:gd name="T60" fmla="*/ 106627 w 9513"/>
                    <a:gd name="T61" fmla="*/ 6817 h 5006"/>
                    <a:gd name="T62" fmla="*/ 110071 w 9513"/>
                    <a:gd name="T63" fmla="*/ 10578 h 5006"/>
                    <a:gd name="T64" fmla="*/ 113160 w 9513"/>
                    <a:gd name="T65" fmla="*/ 14676 h 5006"/>
                    <a:gd name="T66" fmla="*/ 116208 w 9513"/>
                    <a:gd name="T67" fmla="*/ 19462 h 5006"/>
                    <a:gd name="T68" fmla="*/ 119297 w 9513"/>
                    <a:gd name="T69" fmla="*/ 24566 h 5006"/>
                    <a:gd name="T70" fmla="*/ 122345 w 9513"/>
                    <a:gd name="T71" fmla="*/ 30040 h 5006"/>
                    <a:gd name="T72" fmla="*/ 125810 w 9513"/>
                    <a:gd name="T73" fmla="*/ 35144 h 5006"/>
                    <a:gd name="T74" fmla="*/ 128878 w 9513"/>
                    <a:gd name="T75" fmla="*/ 40619 h 5006"/>
                    <a:gd name="T76" fmla="*/ 131927 w 9513"/>
                    <a:gd name="T77" fmla="*/ 46076 h 5006"/>
                    <a:gd name="T78" fmla="*/ 135016 w 9513"/>
                    <a:gd name="T79" fmla="*/ 51198 h 5006"/>
                    <a:gd name="T80" fmla="*/ 138064 w 9513"/>
                    <a:gd name="T81" fmla="*/ 55984 h 5006"/>
                    <a:gd name="T82" fmla="*/ 141153 w 9513"/>
                    <a:gd name="T83" fmla="*/ 60417 h 5006"/>
                    <a:gd name="T84" fmla="*/ 144597 w 9513"/>
                    <a:gd name="T85" fmla="*/ 64514 h 5006"/>
                    <a:gd name="T86" fmla="*/ 147666 w 9513"/>
                    <a:gd name="T87" fmla="*/ 68258 h 5006"/>
                    <a:gd name="T88" fmla="*/ 150734 w 9513"/>
                    <a:gd name="T89" fmla="*/ 71684 h 5006"/>
                    <a:gd name="T90" fmla="*/ 153803 w 9513"/>
                    <a:gd name="T91" fmla="*/ 74774 h 5006"/>
                    <a:gd name="T92" fmla="*/ 156872 w 9513"/>
                    <a:gd name="T93" fmla="*/ 77494 h 5006"/>
                    <a:gd name="T94" fmla="*/ 160336 w 9513"/>
                    <a:gd name="T95" fmla="*/ 79525 h 5006"/>
                    <a:gd name="T96" fmla="*/ 163385 w 9513"/>
                    <a:gd name="T97" fmla="*/ 81591 h 5006"/>
                    <a:gd name="T98" fmla="*/ 166473 w 9513"/>
                    <a:gd name="T99" fmla="*/ 82934 h 5006"/>
                    <a:gd name="T100" fmla="*/ 169522 w 9513"/>
                    <a:gd name="T101" fmla="*/ 84664 h 5006"/>
                    <a:gd name="T102" fmla="*/ 172610 w 9513"/>
                    <a:gd name="T103" fmla="*/ 85689 h 5006"/>
                    <a:gd name="T104" fmla="*/ 175659 w 9513"/>
                    <a:gd name="T105" fmla="*/ 86377 h 5006"/>
                    <a:gd name="T106" fmla="*/ 179143 w 9513"/>
                    <a:gd name="T107" fmla="*/ 87048 h 5006"/>
                    <a:gd name="T108" fmla="*/ 182192 w 9513"/>
                    <a:gd name="T109" fmla="*/ 87720 h 5006"/>
                    <a:gd name="T110" fmla="*/ 185241 w 9513"/>
                    <a:gd name="T111" fmla="*/ 88073 h 5006"/>
                    <a:gd name="T112" fmla="*/ 188329 w 9513"/>
                    <a:gd name="T113" fmla="*/ 88408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941"/>
                  </a:srgbClr>
                </a:solidFill>
                <a:ln>
                  <a:noFill/>
                </a:ln>
                <a:extLs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s-ES"/>
                </a:p>
              </p:txBody>
            </p:sp>
            <p:sp>
              <p:nvSpPr>
                <p:cNvPr id="9256" name="Line 36"/>
                <p:cNvSpPr>
                  <a:spLocks noChangeShapeType="1"/>
                </p:cNvSpPr>
                <p:nvPr/>
              </p:nvSpPr>
              <p:spPr bwMode="auto">
                <a:xfrm>
                  <a:off x="1198" y="1961"/>
                  <a:ext cx="3219" cy="0"/>
                </a:xfrm>
                <a:prstGeom prst="line">
                  <a:avLst/>
                </a:prstGeom>
                <a:noFill/>
                <a:ln w="254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9257" name="Line 35"/>
                <p:cNvSpPr>
                  <a:spLocks noChangeShapeType="1"/>
                </p:cNvSpPr>
                <p:nvPr/>
              </p:nvSpPr>
              <p:spPr bwMode="auto">
                <a:xfrm flipH="1">
                  <a:off x="2811" y="757"/>
                  <a:ext cx="4" cy="1221"/>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9258" name="Line 14"/>
                <p:cNvSpPr>
                  <a:spLocks noChangeShapeType="1"/>
                </p:cNvSpPr>
                <p:nvPr/>
              </p:nvSpPr>
              <p:spPr bwMode="auto">
                <a:xfrm flipH="1">
                  <a:off x="2885" y="822"/>
                  <a:ext cx="3" cy="1180"/>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9259" name="Line 15"/>
                <p:cNvSpPr>
                  <a:spLocks noChangeShapeType="1"/>
                </p:cNvSpPr>
                <p:nvPr/>
              </p:nvSpPr>
              <p:spPr bwMode="auto">
                <a:xfrm>
                  <a:off x="3721" y="1893"/>
                  <a:ext cx="0" cy="134"/>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9260" name="Line 16"/>
                <p:cNvSpPr>
                  <a:spLocks noChangeShapeType="1"/>
                </p:cNvSpPr>
                <p:nvPr/>
              </p:nvSpPr>
              <p:spPr bwMode="auto">
                <a:xfrm>
                  <a:off x="2884" y="1958"/>
                  <a:ext cx="58" cy="69"/>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9261" name="Line 17"/>
                <p:cNvSpPr>
                  <a:spLocks noChangeShapeType="1"/>
                </p:cNvSpPr>
                <p:nvPr/>
              </p:nvSpPr>
              <p:spPr bwMode="auto">
                <a:xfrm>
                  <a:off x="3721" y="1958"/>
                  <a:ext cx="58" cy="69"/>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sp>
          <p:nvSpPr>
            <p:cNvPr id="9238" name="Text Box 19"/>
            <p:cNvSpPr txBox="1">
              <a:spLocks noChangeArrowheads="1"/>
            </p:cNvSpPr>
            <p:nvPr/>
          </p:nvSpPr>
          <p:spPr bwMode="auto">
            <a:xfrm>
              <a:off x="3089" y="2418"/>
              <a:ext cx="300"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0.57</a:t>
              </a:r>
              <a:endParaRPr lang="es-ES" altLang="es-ES" sz="1200" dirty="0">
                <a:solidFill>
                  <a:srgbClr val="005A58"/>
                </a:solidFill>
              </a:endParaRPr>
            </a:p>
          </p:txBody>
        </p:sp>
        <p:sp>
          <p:nvSpPr>
            <p:cNvPr id="9239" name="Text Box 20"/>
            <p:cNvSpPr txBox="1">
              <a:spLocks noChangeArrowheads="1"/>
            </p:cNvSpPr>
            <p:nvPr/>
          </p:nvSpPr>
          <p:spPr bwMode="auto">
            <a:xfrm>
              <a:off x="3833" y="2418"/>
              <a:ext cx="302" cy="1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2.25</a:t>
              </a:r>
              <a:endParaRPr lang="es-ES" altLang="es-ES" sz="1200" dirty="0">
                <a:solidFill>
                  <a:srgbClr val="005A58"/>
                </a:solidFill>
              </a:endParaRPr>
            </a:p>
          </p:txBody>
        </p:sp>
        <p:sp>
          <p:nvSpPr>
            <p:cNvPr id="9240" name="Text Box 21"/>
            <p:cNvSpPr txBox="1">
              <a:spLocks noChangeArrowheads="1"/>
            </p:cNvSpPr>
            <p:nvPr/>
          </p:nvSpPr>
          <p:spPr bwMode="auto">
            <a:xfrm>
              <a:off x="1559" y="998"/>
              <a:ext cx="1202"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r" eaLnBrk="1" hangingPunct="1">
                <a:lnSpc>
                  <a:spcPct val="110000"/>
                </a:lnSpc>
              </a:pPr>
              <a:r>
                <a:rPr lang="es-ES_tradnl" altLang="es-ES" sz="1100" dirty="0">
                  <a:solidFill>
                    <a:schemeClr val="accent5">
                      <a:lumMod val="25000"/>
                    </a:schemeClr>
                  </a:solidFill>
                </a:rPr>
                <a:t>Distribución de </a:t>
              </a:r>
              <a:r>
                <a:rPr lang="es-ES_tradnl" altLang="es-ES" sz="1100" i="1" dirty="0" err="1">
                  <a:solidFill>
                    <a:schemeClr val="accent5">
                      <a:lumMod val="25000"/>
                    </a:schemeClr>
                  </a:solidFill>
                </a:rPr>
                <a:t>t</a:t>
              </a:r>
              <a:r>
                <a:rPr lang="es-ES_tradnl" altLang="es-ES" sz="1100" i="1" baseline="-25000" dirty="0" err="1">
                  <a:solidFill>
                    <a:schemeClr val="accent5">
                      <a:lumMod val="25000"/>
                    </a:schemeClr>
                  </a:solidFill>
                </a:rPr>
                <a:t>exp</a:t>
              </a:r>
              <a:r>
                <a:rPr lang="es-ES_tradnl" altLang="es-ES" sz="1100" dirty="0">
                  <a:solidFill>
                    <a:schemeClr val="accent5">
                      <a:lumMod val="25000"/>
                    </a:schemeClr>
                  </a:solidFill>
                </a:rPr>
                <a:t> bajo </a:t>
              </a:r>
              <a:r>
                <a:rPr lang="es-ES_tradnl" altLang="es-ES" sz="1100" b="1" dirty="0">
                  <a:solidFill>
                    <a:schemeClr val="accent5">
                      <a:lumMod val="25000"/>
                    </a:schemeClr>
                  </a:solidFill>
                </a:rPr>
                <a:t>H</a:t>
              </a:r>
              <a:r>
                <a:rPr lang="es-ES_tradnl" altLang="es-ES" sz="1100" b="1" baseline="-25000" dirty="0">
                  <a:solidFill>
                    <a:schemeClr val="accent5">
                      <a:lumMod val="25000"/>
                    </a:schemeClr>
                  </a:solidFill>
                </a:rPr>
                <a:t>0</a:t>
              </a:r>
              <a:r>
                <a:rPr lang="es-ES_tradnl" altLang="es-ES" sz="1100" b="1" dirty="0">
                  <a:solidFill>
                    <a:schemeClr val="accent5">
                      <a:lumMod val="25000"/>
                    </a:schemeClr>
                  </a:solidFill>
                </a:rPr>
                <a:t> </a:t>
              </a:r>
              <a:r>
                <a:rPr lang="es-ES_tradnl" altLang="es-ES" sz="1100" dirty="0">
                  <a:solidFill>
                    <a:schemeClr val="accent5">
                      <a:lumMod val="25000"/>
                    </a:schemeClr>
                  </a:solidFill>
                </a:rPr>
                <a:t> </a:t>
              </a:r>
              <a:endParaRPr lang="es-ES" altLang="es-ES" sz="1100" dirty="0">
                <a:solidFill>
                  <a:schemeClr val="accent5">
                    <a:lumMod val="25000"/>
                  </a:schemeClr>
                </a:solidFill>
              </a:endParaRPr>
            </a:p>
          </p:txBody>
        </p:sp>
        <p:graphicFrame>
          <p:nvGraphicFramePr>
            <p:cNvPr id="9241" name="Object 29"/>
            <p:cNvGraphicFramePr>
              <a:graphicFrameLocks noChangeAspect="1"/>
            </p:cNvGraphicFramePr>
            <p:nvPr>
              <p:extLst>
                <p:ext uri="{D42A27DB-BD31-4B8C-83A1-F6EECF244321}">
                  <p14:modId xmlns:p14="http://schemas.microsoft.com/office/powerpoint/2010/main" val="2650155632"/>
                </p:ext>
              </p:extLst>
            </p:nvPr>
          </p:nvGraphicFramePr>
          <p:xfrm>
            <a:off x="3520" y="2547"/>
            <a:ext cx="121" cy="177"/>
          </p:xfrm>
          <a:graphic>
            <a:graphicData uri="http://schemas.openxmlformats.org/presentationml/2006/ole">
              <mc:AlternateContent xmlns:mc="http://schemas.openxmlformats.org/markup-compatibility/2006">
                <mc:Choice xmlns:v="urn:schemas-microsoft-com:vml" Requires="v">
                  <p:oleObj name="Equation" r:id="rId3" imgW="164957" imgH="241091" progId="Equation.DSMT4">
                    <p:embed/>
                  </p:oleObj>
                </mc:Choice>
                <mc:Fallback>
                  <p:oleObj name="Equation" r:id="rId3" imgW="164957" imgH="241091" progId="Equation.DSMT4">
                    <p:embed/>
                    <p:pic>
                      <p:nvPicPr>
                        <p:cNvPr id="9241"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0" y="2547"/>
                          <a:ext cx="12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42" name="Object 29"/>
            <p:cNvGraphicFramePr>
              <a:graphicFrameLocks noChangeAspect="1"/>
            </p:cNvGraphicFramePr>
            <p:nvPr/>
          </p:nvGraphicFramePr>
          <p:xfrm>
            <a:off x="2269" y="2554"/>
            <a:ext cx="195" cy="177"/>
          </p:xfrm>
          <a:graphic>
            <a:graphicData uri="http://schemas.openxmlformats.org/presentationml/2006/ole">
              <mc:AlternateContent xmlns:mc="http://schemas.openxmlformats.org/markup-compatibility/2006">
                <mc:Choice xmlns:v="urn:schemas-microsoft-com:vml" Requires="v">
                  <p:oleObj name="Equation" r:id="rId5" imgW="266469" imgH="241091" progId="Equation.DSMT4">
                    <p:embed/>
                  </p:oleObj>
                </mc:Choice>
                <mc:Fallback>
                  <p:oleObj name="Equation" r:id="rId5" imgW="266469" imgH="241091" progId="Equation.DSMT4">
                    <p:embed/>
                    <p:pic>
                      <p:nvPicPr>
                        <p:cNvPr id="9242"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9" y="2554"/>
                          <a:ext cx="195"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43" name="Text Box 32"/>
            <p:cNvSpPr txBox="1">
              <a:spLocks noChangeArrowheads="1"/>
            </p:cNvSpPr>
            <p:nvPr/>
          </p:nvSpPr>
          <p:spPr bwMode="auto">
            <a:xfrm>
              <a:off x="2490" y="2857"/>
              <a:ext cx="975" cy="1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100">
                  <a:solidFill>
                    <a:schemeClr val="accent5">
                      <a:lumMod val="25000"/>
                    </a:schemeClr>
                  </a:solidFill>
                </a:rPr>
                <a:t>Región de aceptación</a:t>
              </a:r>
              <a:endParaRPr lang="es-ES" altLang="es-ES" sz="1100">
                <a:solidFill>
                  <a:schemeClr val="accent5">
                    <a:lumMod val="25000"/>
                  </a:schemeClr>
                </a:solidFill>
              </a:endParaRPr>
            </a:p>
          </p:txBody>
        </p:sp>
        <p:grpSp>
          <p:nvGrpSpPr>
            <p:cNvPr id="9244" name="Group 42"/>
            <p:cNvGrpSpPr>
              <a:grpSpLocks/>
            </p:cNvGrpSpPr>
            <p:nvPr/>
          </p:nvGrpSpPr>
          <p:grpSpPr bwMode="auto">
            <a:xfrm>
              <a:off x="2382" y="2354"/>
              <a:ext cx="1183" cy="207"/>
              <a:chOff x="1572" y="2354"/>
              <a:chExt cx="1183" cy="291"/>
            </a:xfrm>
          </p:grpSpPr>
          <p:sp>
            <p:nvSpPr>
              <p:cNvPr id="9250" name="Line 23"/>
              <p:cNvSpPr>
                <a:spLocks noChangeShapeType="1"/>
              </p:cNvSpPr>
              <p:nvPr/>
            </p:nvSpPr>
            <p:spPr bwMode="auto">
              <a:xfrm flipV="1">
                <a:off x="2755" y="2354"/>
                <a:ext cx="0" cy="29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9251" name="Line 26"/>
              <p:cNvSpPr>
                <a:spLocks noChangeShapeType="1"/>
              </p:cNvSpPr>
              <p:nvPr/>
            </p:nvSpPr>
            <p:spPr bwMode="auto">
              <a:xfrm flipV="1">
                <a:off x="1572" y="2354"/>
                <a:ext cx="0" cy="29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9245" name="AutoShape 41"/>
            <p:cNvSpPr>
              <a:spLocks/>
            </p:cNvSpPr>
            <p:nvPr/>
          </p:nvSpPr>
          <p:spPr bwMode="auto">
            <a:xfrm rot="-5400000">
              <a:off x="2906" y="2216"/>
              <a:ext cx="133" cy="1183"/>
            </a:xfrm>
            <a:prstGeom prst="leftBrace">
              <a:avLst>
                <a:gd name="adj1" fmla="val 7412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9246" name="AutoShape 44"/>
            <p:cNvSpPr>
              <a:spLocks/>
            </p:cNvSpPr>
            <p:nvPr/>
          </p:nvSpPr>
          <p:spPr bwMode="auto">
            <a:xfrm rot="-5400000">
              <a:off x="3983" y="2339"/>
              <a:ext cx="133" cy="949"/>
            </a:xfrm>
            <a:prstGeom prst="leftBrace">
              <a:avLst>
                <a:gd name="adj1" fmla="val 5946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9247" name="AutoShape 45"/>
            <p:cNvSpPr>
              <a:spLocks/>
            </p:cNvSpPr>
            <p:nvPr/>
          </p:nvSpPr>
          <p:spPr bwMode="auto">
            <a:xfrm rot="-5400000">
              <a:off x="1874" y="2390"/>
              <a:ext cx="133" cy="847"/>
            </a:xfrm>
            <a:prstGeom prst="leftBrace">
              <a:avLst>
                <a:gd name="adj1" fmla="val 5307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9248" name="Text Box 46"/>
            <p:cNvSpPr txBox="1">
              <a:spLocks noChangeArrowheads="1"/>
            </p:cNvSpPr>
            <p:nvPr/>
          </p:nvSpPr>
          <p:spPr bwMode="auto">
            <a:xfrm>
              <a:off x="3467" y="2989"/>
              <a:ext cx="1195" cy="2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100">
                  <a:solidFill>
                    <a:schemeClr val="accent5">
                      <a:lumMod val="25000"/>
                    </a:schemeClr>
                  </a:solidFill>
                </a:rPr>
                <a:t>Región crítica o de rechazo</a:t>
              </a:r>
            </a:p>
            <a:p>
              <a:pPr algn="ctr" eaLnBrk="1" hangingPunct="1"/>
              <a:r>
                <a:rPr lang="es-ES_tradnl" altLang="es-ES" sz="1100">
                  <a:solidFill>
                    <a:schemeClr val="accent5">
                      <a:lumMod val="25000"/>
                    </a:schemeClr>
                  </a:solidFill>
                </a:rPr>
                <a:t>(cola dcha)</a:t>
              </a:r>
              <a:endParaRPr lang="es-ES" altLang="es-ES" sz="1100">
                <a:solidFill>
                  <a:schemeClr val="accent5">
                    <a:lumMod val="25000"/>
                  </a:schemeClr>
                </a:solidFill>
              </a:endParaRPr>
            </a:p>
          </p:txBody>
        </p:sp>
        <p:sp>
          <p:nvSpPr>
            <p:cNvPr id="9249" name="Text Box 47"/>
            <p:cNvSpPr txBox="1">
              <a:spLocks noChangeArrowheads="1"/>
            </p:cNvSpPr>
            <p:nvPr/>
          </p:nvSpPr>
          <p:spPr bwMode="auto">
            <a:xfrm>
              <a:off x="1542" y="2989"/>
              <a:ext cx="885" cy="2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100" dirty="0">
                  <a:solidFill>
                    <a:schemeClr val="accent5">
                      <a:lumMod val="25000"/>
                    </a:schemeClr>
                  </a:solidFill>
                </a:rPr>
                <a:t>Región de rechazo </a:t>
              </a:r>
            </a:p>
            <a:p>
              <a:pPr algn="ctr" eaLnBrk="1" hangingPunct="1"/>
              <a:r>
                <a:rPr lang="es-ES_tradnl" altLang="es-ES" sz="1100" dirty="0">
                  <a:solidFill>
                    <a:schemeClr val="accent5">
                      <a:lumMod val="25000"/>
                    </a:schemeClr>
                  </a:solidFill>
                </a:rPr>
                <a:t>(cola </a:t>
              </a:r>
              <a:r>
                <a:rPr lang="es-ES_tradnl" altLang="es-ES" sz="1100" dirty="0" err="1">
                  <a:solidFill>
                    <a:schemeClr val="accent5">
                      <a:lumMod val="25000"/>
                    </a:schemeClr>
                  </a:solidFill>
                </a:rPr>
                <a:t>izda</a:t>
              </a:r>
              <a:r>
                <a:rPr lang="es-ES_tradnl" altLang="es-ES" sz="1100" dirty="0">
                  <a:solidFill>
                    <a:schemeClr val="accent5">
                      <a:lumMod val="25000"/>
                    </a:schemeClr>
                  </a:solidFill>
                </a:rPr>
                <a:t>)</a:t>
              </a:r>
              <a:endParaRPr lang="es-ES" altLang="es-ES" sz="1100" dirty="0">
                <a:solidFill>
                  <a:schemeClr val="accent5">
                    <a:lumMod val="25000"/>
                  </a:schemeClr>
                </a:solidFill>
              </a:endParaRPr>
            </a:p>
          </p:txBody>
        </p:sp>
      </p:grpSp>
      <p:sp>
        <p:nvSpPr>
          <p:cNvPr id="9221" name="Text Box 49"/>
          <p:cNvSpPr txBox="1">
            <a:spLocks noChangeArrowheads="1"/>
          </p:cNvSpPr>
          <p:nvPr/>
        </p:nvSpPr>
        <p:spPr bwMode="auto">
          <a:xfrm>
            <a:off x="228599" y="1421430"/>
            <a:ext cx="7867650"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sz="1200" dirty="0"/>
              <a:t>Es decir, fijar </a:t>
            </a:r>
            <a:r>
              <a:rPr lang="es-ES_tradnl" altLang="es-ES" dirty="0">
                <a:latin typeface="Symbol" pitchFamily="18" charset="2"/>
              </a:rPr>
              <a:t>a</a:t>
            </a:r>
            <a:r>
              <a:rPr lang="es-ES_tradnl" altLang="es-ES" sz="1200" dirty="0"/>
              <a:t> se traduce en fijar estas dos regiones RA y RC. El valor </a:t>
            </a:r>
            <a:r>
              <a:rPr lang="es-ES_tradnl" altLang="es-ES" i="1" dirty="0" err="1">
                <a:latin typeface="Times New Roman" pitchFamily="18" charset="0"/>
              </a:rPr>
              <a:t>t</a:t>
            </a:r>
            <a:r>
              <a:rPr lang="es-ES_tradnl" altLang="es-ES" baseline="-25000" dirty="0" err="1">
                <a:latin typeface="Symbol" pitchFamily="18" charset="2"/>
              </a:rPr>
              <a:t>a</a:t>
            </a:r>
            <a:r>
              <a:rPr lang="es-ES_tradnl" altLang="es-ES" sz="1200" dirty="0"/>
              <a:t> constituye la </a:t>
            </a:r>
            <a:r>
              <a:rPr lang="es-ES_tradnl" altLang="es-ES" sz="1200" b="1" i="1" dirty="0"/>
              <a:t>frontera</a:t>
            </a:r>
            <a:r>
              <a:rPr lang="es-ES_tradnl" altLang="es-ES" sz="1200" dirty="0"/>
              <a:t> entre ambas</a:t>
            </a:r>
            <a:endParaRPr lang="es-ES" altLang="es-ES" sz="1200" baseline="-25000" dirty="0">
              <a:solidFill>
                <a:srgbClr val="800000"/>
              </a:solidFill>
            </a:endParaRPr>
          </a:p>
        </p:txBody>
      </p:sp>
      <p:sp>
        <p:nvSpPr>
          <p:cNvPr id="9222" name="Text Box 50"/>
          <p:cNvSpPr txBox="1">
            <a:spLocks noChangeArrowheads="1"/>
          </p:cNvSpPr>
          <p:nvPr/>
        </p:nvSpPr>
        <p:spPr bwMode="auto">
          <a:xfrm>
            <a:off x="323034" y="1827407"/>
            <a:ext cx="3587437" cy="8331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sz="1200" dirty="0"/>
              <a:t>Normalmente, de los estadísticos de contraste interesa su magnitud (no su signo) por tanto, por simetría, toda la atención se puede centrar en lo que ocurre en la cola derecha de la distribución.</a:t>
            </a:r>
            <a:endParaRPr lang="es-ES" altLang="es-ES" sz="1200" baseline="-25000" dirty="0">
              <a:solidFill>
                <a:srgbClr val="800000"/>
              </a:solidFill>
            </a:endParaRPr>
          </a:p>
        </p:txBody>
      </p:sp>
      <p:sp>
        <p:nvSpPr>
          <p:cNvPr id="9226" name="Text Box 56"/>
          <p:cNvSpPr txBox="1">
            <a:spLocks noChangeArrowheads="1"/>
          </p:cNvSpPr>
          <p:nvPr/>
        </p:nvSpPr>
        <p:spPr bwMode="auto">
          <a:xfrm>
            <a:off x="416929" y="3218024"/>
            <a:ext cx="3572061" cy="4638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285750" indent="-285750"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buFont typeface="Arial" pitchFamily="34" charset="0"/>
              <a:buChar char="•"/>
            </a:pPr>
            <a:r>
              <a:rPr lang="es-ES_tradnl" altLang="es-ES" sz="1200" dirty="0"/>
              <a:t>El estadístico de contraste toma un valor que pertenece a la región de aceptación</a:t>
            </a:r>
            <a:endParaRPr lang="es-ES" altLang="es-ES" sz="1200" baseline="-25000" dirty="0">
              <a:solidFill>
                <a:srgbClr val="800000"/>
              </a:solidFill>
            </a:endParaRPr>
          </a:p>
        </p:txBody>
      </p:sp>
      <p:sp>
        <p:nvSpPr>
          <p:cNvPr id="9227" name="Text Box 57"/>
          <p:cNvSpPr txBox="1">
            <a:spLocks noChangeArrowheads="1"/>
          </p:cNvSpPr>
          <p:nvPr/>
        </p:nvSpPr>
        <p:spPr bwMode="auto">
          <a:xfrm>
            <a:off x="421546" y="4261145"/>
            <a:ext cx="3976469" cy="3108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285750" indent="-285750"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ct val="110000"/>
              </a:lnSpc>
              <a:buFont typeface="Arial" pitchFamily="34" charset="0"/>
              <a:buChar char="•"/>
            </a:pPr>
            <a:r>
              <a:rPr lang="es-ES_tradnl" altLang="es-ES" sz="1200" dirty="0"/>
              <a:t>La diferencia con </a:t>
            </a:r>
            <a:r>
              <a:rPr lang="es-ES_tradnl" altLang="es-ES" dirty="0">
                <a:latin typeface="Symbol" pitchFamily="18" charset="2"/>
              </a:rPr>
              <a:t>m</a:t>
            </a:r>
            <a:r>
              <a:rPr lang="es-ES_tradnl" altLang="es-ES" baseline="-25000" dirty="0"/>
              <a:t>0</a:t>
            </a:r>
            <a:r>
              <a:rPr lang="es-ES_tradnl" altLang="es-ES" sz="1200" dirty="0"/>
              <a:t> </a:t>
            </a:r>
            <a:r>
              <a:rPr lang="es-ES_tradnl" altLang="es-ES" sz="1200" b="1" dirty="0"/>
              <a:t>no es </a:t>
            </a:r>
            <a:r>
              <a:rPr lang="es-ES_tradnl" altLang="es-ES" sz="1200" b="1" dirty="0">
                <a:solidFill>
                  <a:srgbClr val="700000"/>
                </a:solidFill>
              </a:rPr>
              <a:t>significativa</a:t>
            </a:r>
            <a:r>
              <a:rPr lang="es-ES_tradnl" altLang="es-ES" sz="1200" b="1" dirty="0"/>
              <a:t> </a:t>
            </a:r>
            <a:r>
              <a:rPr lang="es-ES_tradnl" altLang="es-ES" sz="1200" dirty="0"/>
              <a:t>(a nivel </a:t>
            </a:r>
            <a:r>
              <a:rPr lang="es-ES_tradnl" altLang="es-ES" dirty="0">
                <a:latin typeface="Symbol" pitchFamily="18" charset="2"/>
              </a:rPr>
              <a:t>a</a:t>
            </a:r>
            <a:r>
              <a:rPr lang="es-ES_tradnl" altLang="es-ES" sz="1200" dirty="0"/>
              <a:t>)</a:t>
            </a:r>
            <a:endParaRPr lang="es-ES" altLang="es-ES" sz="1200" baseline="-25000" dirty="0">
              <a:solidFill>
                <a:srgbClr val="800000"/>
              </a:solidFill>
            </a:endParaRPr>
          </a:p>
        </p:txBody>
      </p:sp>
      <p:graphicFrame>
        <p:nvGraphicFramePr>
          <p:cNvPr id="9229" name="2 Objeto"/>
          <p:cNvGraphicFramePr>
            <a:graphicFrameLocks noChangeAspect="1"/>
          </p:cNvGraphicFramePr>
          <p:nvPr>
            <p:extLst>
              <p:ext uri="{D42A27DB-BD31-4B8C-83A1-F6EECF244321}">
                <p14:modId xmlns:p14="http://schemas.microsoft.com/office/powerpoint/2010/main" val="4255932744"/>
              </p:ext>
            </p:extLst>
          </p:nvPr>
        </p:nvGraphicFramePr>
        <p:xfrm>
          <a:off x="344244" y="2958441"/>
          <a:ext cx="592138" cy="288925"/>
        </p:xfrm>
        <a:graphic>
          <a:graphicData uri="http://schemas.openxmlformats.org/presentationml/2006/ole">
            <mc:AlternateContent xmlns:mc="http://schemas.openxmlformats.org/markup-compatibility/2006">
              <mc:Choice xmlns:v="urn:schemas-microsoft-com:vml" Requires="v">
                <p:oleObj name="Equation" r:id="rId7" imgW="545760" imgH="266400" progId="Equation.DSMT4">
                  <p:embed/>
                </p:oleObj>
              </mc:Choice>
              <mc:Fallback>
                <p:oleObj name="Equation" r:id="rId7" imgW="545760" imgH="266400" progId="Equation.DSMT4">
                  <p:embed/>
                  <p:pic>
                    <p:nvPicPr>
                      <p:cNvPr id="9229" name="2 Objeto"/>
                      <p:cNvPicPr>
                        <a:picLocks noChangeAspect="1" noChangeArrowheads="1"/>
                      </p:cNvPicPr>
                      <p:nvPr/>
                    </p:nvPicPr>
                    <p:blipFill>
                      <a:blip r:embed="rId8"/>
                      <a:srcRect/>
                      <a:stretch>
                        <a:fillRect/>
                      </a:stretch>
                    </p:blipFill>
                    <p:spPr bwMode="auto">
                      <a:xfrm>
                        <a:off x="344244" y="2958441"/>
                        <a:ext cx="5921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30" name="Text Box 61"/>
          <p:cNvSpPr txBox="1">
            <a:spLocks noChangeArrowheads="1"/>
          </p:cNvSpPr>
          <p:nvPr/>
        </p:nvSpPr>
        <p:spPr bwMode="auto">
          <a:xfrm>
            <a:off x="913291" y="2923582"/>
            <a:ext cx="3117058" cy="3108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ct val="110000"/>
              </a:lnSpc>
            </a:pPr>
            <a:r>
              <a:rPr lang="es-ES_tradnl" altLang="es-ES" sz="1300" dirty="0"/>
              <a:t>→ Aceptación de H</a:t>
            </a:r>
            <a:r>
              <a:rPr lang="es-ES_tradnl" altLang="es-ES" sz="1300" baseline="-25000" dirty="0"/>
              <a:t>0 </a:t>
            </a:r>
            <a:r>
              <a:rPr lang="es-ES_tradnl" altLang="es-ES" sz="1300" dirty="0"/>
              <a:t>a nivel </a:t>
            </a:r>
            <a:r>
              <a:rPr lang="es-ES_tradnl" altLang="es-ES" dirty="0">
                <a:latin typeface="Symbol" panose="05050102010706020507" pitchFamily="18" charset="2"/>
              </a:rPr>
              <a:t>a</a:t>
            </a:r>
            <a:endParaRPr lang="es-ES" altLang="es-ES" sz="1300" b="1" dirty="0">
              <a:solidFill>
                <a:srgbClr val="800000"/>
              </a:solidFill>
              <a:latin typeface="Symbol" panose="05050102010706020507" pitchFamily="18" charset="2"/>
            </a:endParaRPr>
          </a:p>
        </p:txBody>
      </p:sp>
      <p:graphicFrame>
        <p:nvGraphicFramePr>
          <p:cNvPr id="9263" name="Object 29"/>
          <p:cNvGraphicFramePr>
            <a:graphicFrameLocks noChangeAspect="1"/>
          </p:cNvGraphicFramePr>
          <p:nvPr>
            <p:extLst>
              <p:ext uri="{D42A27DB-BD31-4B8C-83A1-F6EECF244321}">
                <p14:modId xmlns:p14="http://schemas.microsoft.com/office/powerpoint/2010/main" val="3764206297"/>
              </p:ext>
            </p:extLst>
          </p:nvPr>
        </p:nvGraphicFramePr>
        <p:xfrm>
          <a:off x="7523163" y="4687888"/>
          <a:ext cx="479425" cy="169862"/>
        </p:xfrm>
        <a:graphic>
          <a:graphicData uri="http://schemas.openxmlformats.org/presentationml/2006/ole">
            <mc:AlternateContent xmlns:mc="http://schemas.openxmlformats.org/markup-compatibility/2006">
              <mc:Choice xmlns:v="urn:schemas-microsoft-com:vml" Requires="v">
                <p:oleObj name="Equation" r:id="rId9" imgW="469800" imgH="164880" progId="Equation.DSMT4">
                  <p:embed/>
                </p:oleObj>
              </mc:Choice>
              <mc:Fallback>
                <p:oleObj name="Equation" r:id="rId9" imgW="469800" imgH="164880" progId="Equation.DSMT4">
                  <p:embed/>
                  <p:pic>
                    <p:nvPicPr>
                      <p:cNvPr id="9263" name="Object 29"/>
                      <p:cNvPicPr>
                        <a:picLocks noChangeAspect="1" noChangeArrowheads="1"/>
                      </p:cNvPicPr>
                      <p:nvPr/>
                    </p:nvPicPr>
                    <p:blipFill>
                      <a:blip r:embed="rId10"/>
                      <a:srcRect/>
                      <a:stretch>
                        <a:fillRect/>
                      </a:stretch>
                    </p:blipFill>
                    <p:spPr bwMode="auto">
                      <a:xfrm>
                        <a:off x="7523163" y="4687888"/>
                        <a:ext cx="479425" cy="169862"/>
                      </a:xfrm>
                      <a:prstGeom prst="rect">
                        <a:avLst/>
                      </a:prstGeom>
                      <a:noFill/>
                      <a:ln>
                        <a:noFill/>
                      </a:ln>
                      <a:extLst>
                        <a:ext uri="{909E8E84-426E-40DD-AFC4-6F175D3DCCD1}">
                          <a14:hiddenFill xmlns:a14="http://schemas.microsoft.com/office/drawing/2010/main">
                            <a:solidFill>
                              <a:schemeClr val="bg1">
                                <a:alpha val="42000"/>
                              </a:schemeClr>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64" name="AutoShape 48"/>
          <p:cNvSpPr>
            <a:spLocks noChangeArrowheads="1"/>
          </p:cNvSpPr>
          <p:nvPr/>
        </p:nvSpPr>
        <p:spPr bwMode="auto">
          <a:xfrm>
            <a:off x="300555" y="1800225"/>
            <a:ext cx="3604054" cy="866775"/>
          </a:xfrm>
          <a:prstGeom prst="roundRect">
            <a:avLst>
              <a:gd name="adj" fmla="val 7875"/>
            </a:avLst>
          </a:prstGeom>
          <a:noFill/>
          <a:ln w="9525">
            <a:solidFill>
              <a:srgbClr val="FFCC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9265" name="AutoShape 49"/>
          <p:cNvSpPr>
            <a:spLocks noChangeArrowheads="1"/>
          </p:cNvSpPr>
          <p:nvPr/>
        </p:nvSpPr>
        <p:spPr bwMode="auto">
          <a:xfrm>
            <a:off x="281648" y="2967589"/>
            <a:ext cx="3744841" cy="266700"/>
          </a:xfrm>
          <a:prstGeom prst="roundRect">
            <a:avLst>
              <a:gd name="adj" fmla="val 7875"/>
            </a:avLst>
          </a:prstGeom>
          <a:noFill/>
          <a:ln w="9525">
            <a:solidFill>
              <a:srgbClr val="FF66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49"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 y los dos tipos de error</a:t>
            </a:r>
          </a:p>
        </p:txBody>
      </p:sp>
      <p:sp>
        <p:nvSpPr>
          <p:cNvPr id="50" name="Text Box 33"/>
          <p:cNvSpPr txBox="1">
            <a:spLocks noChangeArrowheads="1"/>
          </p:cNvSpPr>
          <p:nvPr/>
        </p:nvSpPr>
        <p:spPr bwMode="auto">
          <a:xfrm>
            <a:off x="228599" y="3810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El error al rechazar H</a:t>
            </a:r>
            <a:r>
              <a:rPr lang="es-ES_tradnl" altLang="es-ES" b="1" baseline="-25000" dirty="0"/>
              <a:t>0</a:t>
            </a:r>
            <a:r>
              <a:rPr lang="es-ES_tradnl" altLang="es-ES" b="1" dirty="0"/>
              <a:t>: Error de tipo I (</a:t>
            </a:r>
            <a:r>
              <a:rPr lang="es-ES_tradnl" altLang="es-ES" b="1" dirty="0">
                <a:latin typeface="Symbol" panose="05050102010706020507" pitchFamily="18" charset="2"/>
              </a:rPr>
              <a:t>a</a:t>
            </a:r>
            <a:r>
              <a:rPr lang="es-ES_tradnl" altLang="es-ES" b="1" dirty="0"/>
              <a:t>)</a:t>
            </a:r>
          </a:p>
        </p:txBody>
      </p:sp>
      <p:grpSp>
        <p:nvGrpSpPr>
          <p:cNvPr id="4" name="Grupo 3"/>
          <p:cNvGrpSpPr/>
          <p:nvPr/>
        </p:nvGrpSpPr>
        <p:grpSpPr>
          <a:xfrm>
            <a:off x="3275444" y="6391732"/>
            <a:ext cx="3173255" cy="306915"/>
            <a:chOff x="5869013" y="6360586"/>
            <a:chExt cx="3173255" cy="306915"/>
          </a:xfrm>
        </p:grpSpPr>
        <p:sp>
          <p:nvSpPr>
            <p:cNvPr id="2" name="CuadroTexto 1"/>
            <p:cNvSpPr txBox="1"/>
            <p:nvPr/>
          </p:nvSpPr>
          <p:spPr>
            <a:xfrm>
              <a:off x="5869605" y="6375544"/>
              <a:ext cx="3172663" cy="276999"/>
            </a:xfrm>
            <a:prstGeom prst="rect">
              <a:avLst/>
            </a:prstGeom>
            <a:noFill/>
          </p:spPr>
          <p:txBody>
            <a:bodyPr wrap="none" rtlCol="0">
              <a:spAutoFit/>
            </a:bodyPr>
            <a:lstStyle/>
            <a:p>
              <a:r>
                <a:rPr lang="es-ES" b="1" dirty="0">
                  <a:solidFill>
                    <a:srgbClr val="700000"/>
                  </a:solidFill>
                </a:rPr>
                <a:t>Significación</a:t>
              </a:r>
              <a:r>
                <a:rPr lang="es-ES" dirty="0">
                  <a:solidFill>
                    <a:srgbClr val="700000"/>
                  </a:solidFill>
                </a:rPr>
                <a:t> </a:t>
              </a:r>
              <a:r>
                <a:rPr lang="es-ES" b="1" dirty="0">
                  <a:solidFill>
                    <a:srgbClr val="700000"/>
                  </a:solidFill>
                </a:rPr>
                <a:t>estadística</a:t>
              </a:r>
              <a:r>
                <a:rPr lang="es-ES" dirty="0">
                  <a:solidFill>
                    <a:srgbClr val="700000"/>
                  </a:solidFill>
                </a:rPr>
                <a:t> </a:t>
              </a:r>
              <a:r>
                <a:rPr lang="es-ES" dirty="0"/>
                <a:t>≡ </a:t>
              </a:r>
              <a:r>
                <a:rPr lang="es-ES" b="1" dirty="0"/>
                <a:t>rechazo de H</a:t>
              </a:r>
              <a:r>
                <a:rPr lang="es-ES" b="1" baseline="-25000" dirty="0"/>
                <a:t>0</a:t>
              </a:r>
            </a:p>
          </p:txBody>
        </p:sp>
        <p:sp>
          <p:nvSpPr>
            <p:cNvPr id="3" name="Rectángulo: esquinas redondeadas 2"/>
            <p:cNvSpPr/>
            <p:nvPr/>
          </p:nvSpPr>
          <p:spPr>
            <a:xfrm>
              <a:off x="5869013" y="6360586"/>
              <a:ext cx="3128962" cy="306915"/>
            </a:xfrm>
            <a:prstGeom prst="roundRect">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5" name="CuadroTexto 4">
            <a:extLst>
              <a:ext uri="{FF2B5EF4-FFF2-40B4-BE49-F238E27FC236}">
                <a16:creationId xmlns:a16="http://schemas.microsoft.com/office/drawing/2014/main" id="{019D3C76-F44A-4EE9-A5CA-4D60CEDB7460}"/>
              </a:ext>
            </a:extLst>
          </p:cNvPr>
          <p:cNvSpPr txBox="1"/>
          <p:nvPr/>
        </p:nvSpPr>
        <p:spPr>
          <a:xfrm>
            <a:off x="416929" y="3672013"/>
            <a:ext cx="3744840" cy="276999"/>
          </a:xfrm>
          <a:prstGeom prst="rect">
            <a:avLst/>
          </a:prstGeom>
          <a:noFill/>
        </p:spPr>
        <p:txBody>
          <a:bodyPr wrap="square" rtlCol="0">
            <a:spAutoFit/>
          </a:bodyPr>
          <a:lstStyle/>
          <a:p>
            <a:pPr marL="268288" indent="-268288">
              <a:buFont typeface="Arial" panose="020B0604020202020204" pitchFamily="34" charset="0"/>
              <a:buChar char="•"/>
            </a:pPr>
            <a:r>
              <a:rPr lang="es-ES" dirty="0"/>
              <a:t>La información muestral es compatible con la H</a:t>
            </a:r>
            <a:r>
              <a:rPr lang="es-ES" baseline="-25000" dirty="0"/>
              <a:t>0</a:t>
            </a:r>
          </a:p>
        </p:txBody>
      </p:sp>
      <p:sp>
        <p:nvSpPr>
          <p:cNvPr id="53" name="CuadroTexto 52">
            <a:extLst>
              <a:ext uri="{FF2B5EF4-FFF2-40B4-BE49-F238E27FC236}">
                <a16:creationId xmlns:a16="http://schemas.microsoft.com/office/drawing/2014/main" id="{0A2D9629-3F1C-45F5-8185-5F9AB9F376D2}"/>
              </a:ext>
            </a:extLst>
          </p:cNvPr>
          <p:cNvSpPr txBox="1"/>
          <p:nvPr/>
        </p:nvSpPr>
        <p:spPr>
          <a:xfrm>
            <a:off x="424865" y="3957627"/>
            <a:ext cx="3736903" cy="276999"/>
          </a:xfrm>
          <a:prstGeom prst="rect">
            <a:avLst/>
          </a:prstGeom>
          <a:noFill/>
        </p:spPr>
        <p:txBody>
          <a:bodyPr wrap="square" rtlCol="0">
            <a:spAutoFit/>
          </a:bodyPr>
          <a:lstStyle/>
          <a:p>
            <a:pPr marL="268288" indent="-268288">
              <a:buFont typeface="Arial" panose="020B0604020202020204" pitchFamily="34" charset="0"/>
              <a:buChar char="•"/>
            </a:pPr>
            <a:r>
              <a:rPr lang="es-ES" dirty="0"/>
              <a:t>La hipótesis nula explica los datos observados </a:t>
            </a:r>
            <a:endParaRPr lang="es-ES" baseline="-25000" dirty="0"/>
          </a:p>
        </p:txBody>
      </p:sp>
      <p:grpSp>
        <p:nvGrpSpPr>
          <p:cNvPr id="6" name="Grupo 5">
            <a:extLst>
              <a:ext uri="{FF2B5EF4-FFF2-40B4-BE49-F238E27FC236}">
                <a16:creationId xmlns:a16="http://schemas.microsoft.com/office/drawing/2014/main" id="{CC0DE5EA-0646-4A36-87BE-6C585E26224A}"/>
              </a:ext>
            </a:extLst>
          </p:cNvPr>
          <p:cNvGrpSpPr/>
          <p:nvPr/>
        </p:nvGrpSpPr>
        <p:grpSpPr>
          <a:xfrm>
            <a:off x="281648" y="4690169"/>
            <a:ext cx="4274188" cy="1405831"/>
            <a:chOff x="281648" y="4495800"/>
            <a:chExt cx="4274188" cy="1405831"/>
          </a:xfrm>
        </p:grpSpPr>
        <p:graphicFrame>
          <p:nvGraphicFramePr>
            <p:cNvPr id="9232" name="Object 29"/>
            <p:cNvGraphicFramePr>
              <a:graphicFrameLocks noChangeAspect="1"/>
            </p:cNvGraphicFramePr>
            <p:nvPr>
              <p:extLst>
                <p:ext uri="{D42A27DB-BD31-4B8C-83A1-F6EECF244321}">
                  <p14:modId xmlns:p14="http://schemas.microsoft.com/office/powerpoint/2010/main" val="1671629030"/>
                </p:ext>
              </p:extLst>
            </p:nvPr>
          </p:nvGraphicFramePr>
          <p:xfrm>
            <a:off x="373783" y="4531755"/>
            <a:ext cx="592137" cy="288925"/>
          </p:xfrm>
          <a:graphic>
            <a:graphicData uri="http://schemas.openxmlformats.org/presentationml/2006/ole">
              <mc:AlternateContent xmlns:mc="http://schemas.openxmlformats.org/markup-compatibility/2006">
                <mc:Choice xmlns:v="urn:schemas-microsoft-com:vml" Requires="v">
                  <p:oleObj name="Equation" r:id="rId11" imgW="545760" imgH="266400" progId="Equation.DSMT4">
                    <p:embed/>
                  </p:oleObj>
                </mc:Choice>
                <mc:Fallback>
                  <p:oleObj name="Equation" r:id="rId11" imgW="545760" imgH="266400" progId="Equation.DSMT4">
                    <p:embed/>
                    <p:pic>
                      <p:nvPicPr>
                        <p:cNvPr id="9232" name="Object 29"/>
                        <p:cNvPicPr>
                          <a:picLocks noChangeAspect="1" noChangeArrowheads="1"/>
                        </p:cNvPicPr>
                        <p:nvPr/>
                      </p:nvPicPr>
                      <p:blipFill>
                        <a:blip r:embed="rId12"/>
                        <a:srcRect/>
                        <a:stretch>
                          <a:fillRect/>
                        </a:stretch>
                      </p:blipFill>
                      <p:spPr bwMode="auto">
                        <a:xfrm>
                          <a:off x="373783" y="4531755"/>
                          <a:ext cx="5921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33" name="Text Box 60"/>
            <p:cNvSpPr txBox="1">
              <a:spLocks noChangeArrowheads="1"/>
            </p:cNvSpPr>
            <p:nvPr/>
          </p:nvSpPr>
          <p:spPr bwMode="auto">
            <a:xfrm>
              <a:off x="431511" y="4876800"/>
              <a:ext cx="4124325"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285750" indent="-285750"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buFont typeface="Arial" pitchFamily="34" charset="0"/>
                <a:buChar char="•"/>
              </a:pPr>
              <a:r>
                <a:rPr lang="es-ES_tradnl" altLang="es-ES" sz="1200" dirty="0"/>
                <a:t>La H</a:t>
              </a:r>
              <a:r>
                <a:rPr lang="es-ES_tradnl" altLang="es-ES" sz="1200" baseline="-25000" dirty="0"/>
                <a:t>0</a:t>
              </a:r>
              <a:r>
                <a:rPr lang="es-ES_tradnl" altLang="es-ES" sz="1200" dirty="0"/>
                <a:t> no explica a los datos observados </a:t>
              </a:r>
              <a:endParaRPr lang="es-ES" altLang="es-ES" sz="1200" baseline="-25000" dirty="0">
                <a:solidFill>
                  <a:srgbClr val="800000"/>
                </a:solidFill>
              </a:endParaRPr>
            </a:p>
          </p:txBody>
        </p:sp>
        <p:sp>
          <p:nvSpPr>
            <p:cNvPr id="9234" name="Text Box 61"/>
            <p:cNvSpPr txBox="1">
              <a:spLocks noChangeArrowheads="1"/>
            </p:cNvSpPr>
            <p:nvPr/>
          </p:nvSpPr>
          <p:spPr bwMode="auto">
            <a:xfrm>
              <a:off x="418733" y="5590776"/>
              <a:ext cx="3828191" cy="3108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285750" indent="-285750"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ct val="110000"/>
                </a:lnSpc>
                <a:buFont typeface="Arial" pitchFamily="34" charset="0"/>
                <a:buChar char="•"/>
              </a:pPr>
              <a:r>
                <a:rPr lang="es-ES_tradnl" altLang="es-ES" sz="1200" dirty="0"/>
                <a:t>La diferencia con </a:t>
              </a:r>
              <a:r>
                <a:rPr lang="es-ES_tradnl" altLang="es-ES" dirty="0">
                  <a:latin typeface="Symbol" pitchFamily="18" charset="2"/>
                </a:rPr>
                <a:t>m</a:t>
              </a:r>
              <a:r>
                <a:rPr lang="es-ES_tradnl" altLang="es-ES" baseline="-25000" dirty="0"/>
                <a:t>0</a:t>
              </a:r>
              <a:r>
                <a:rPr lang="es-ES_tradnl" altLang="es-ES" sz="1200" dirty="0"/>
                <a:t> </a:t>
              </a:r>
              <a:r>
                <a:rPr lang="es-ES_tradnl" altLang="es-ES" sz="1200" b="1" dirty="0"/>
                <a:t>es </a:t>
              </a:r>
              <a:r>
                <a:rPr lang="es-ES_tradnl" altLang="es-ES" sz="1200" b="1" dirty="0">
                  <a:solidFill>
                    <a:srgbClr val="700000"/>
                  </a:solidFill>
                </a:rPr>
                <a:t>significativa</a:t>
              </a:r>
              <a:r>
                <a:rPr lang="es-ES_tradnl" altLang="es-ES" sz="1200" dirty="0"/>
                <a:t> (a nivel </a:t>
              </a:r>
              <a:r>
                <a:rPr lang="es-ES_tradnl" altLang="es-ES" sz="1200" dirty="0">
                  <a:latin typeface="Symbol" pitchFamily="18" charset="2"/>
                </a:rPr>
                <a:t>a</a:t>
              </a:r>
              <a:r>
                <a:rPr lang="es-ES_tradnl" altLang="es-ES" sz="1200" dirty="0"/>
                <a:t>)</a:t>
              </a:r>
              <a:endParaRPr lang="es-ES" altLang="es-ES" sz="1200" baseline="-25000" dirty="0">
                <a:solidFill>
                  <a:srgbClr val="800000"/>
                </a:solidFill>
              </a:endParaRPr>
            </a:p>
          </p:txBody>
        </p:sp>
        <p:sp>
          <p:nvSpPr>
            <p:cNvPr id="54" name="Text Box 61">
              <a:extLst>
                <a:ext uri="{FF2B5EF4-FFF2-40B4-BE49-F238E27FC236}">
                  <a16:creationId xmlns:a16="http://schemas.microsoft.com/office/drawing/2014/main" id="{67782B68-B961-45A7-A7CF-74AD7D1A5D25}"/>
                </a:ext>
              </a:extLst>
            </p:cNvPr>
            <p:cNvSpPr txBox="1">
              <a:spLocks noChangeArrowheads="1"/>
            </p:cNvSpPr>
            <p:nvPr/>
          </p:nvSpPr>
          <p:spPr bwMode="auto">
            <a:xfrm>
              <a:off x="954855" y="4495800"/>
              <a:ext cx="3117058" cy="3108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ct val="110000"/>
                </a:lnSpc>
              </a:pPr>
              <a:r>
                <a:rPr lang="es-ES_tradnl" altLang="es-ES" sz="1300" dirty="0"/>
                <a:t>→ Rechazo de H</a:t>
              </a:r>
              <a:r>
                <a:rPr lang="es-ES_tradnl" altLang="es-ES" sz="1300" baseline="-25000" dirty="0"/>
                <a:t>0 </a:t>
              </a:r>
              <a:r>
                <a:rPr lang="es-ES_tradnl" altLang="es-ES" sz="1300" dirty="0"/>
                <a:t>a nivel </a:t>
              </a:r>
              <a:r>
                <a:rPr lang="es-ES_tradnl" altLang="es-ES" dirty="0">
                  <a:latin typeface="Symbol" panose="05050102010706020507" pitchFamily="18" charset="2"/>
                </a:rPr>
                <a:t>a</a:t>
              </a:r>
              <a:endParaRPr lang="es-ES" altLang="es-ES" sz="1300" b="1" dirty="0">
                <a:solidFill>
                  <a:srgbClr val="800000"/>
                </a:solidFill>
                <a:latin typeface="Symbol" panose="05050102010706020507" pitchFamily="18" charset="2"/>
              </a:endParaRPr>
            </a:p>
          </p:txBody>
        </p:sp>
        <p:sp>
          <p:nvSpPr>
            <p:cNvPr id="55" name="AutoShape 49">
              <a:extLst>
                <a:ext uri="{FF2B5EF4-FFF2-40B4-BE49-F238E27FC236}">
                  <a16:creationId xmlns:a16="http://schemas.microsoft.com/office/drawing/2014/main" id="{A96A7404-121F-410B-BE89-C1F2E59B4466}"/>
                </a:ext>
              </a:extLst>
            </p:cNvPr>
            <p:cNvSpPr>
              <a:spLocks noChangeArrowheads="1"/>
            </p:cNvSpPr>
            <p:nvPr/>
          </p:nvSpPr>
          <p:spPr bwMode="auto">
            <a:xfrm>
              <a:off x="281648" y="4536397"/>
              <a:ext cx="3744841" cy="266700"/>
            </a:xfrm>
            <a:prstGeom prst="roundRect">
              <a:avLst>
                <a:gd name="adj" fmla="val 7875"/>
              </a:avLst>
            </a:prstGeom>
            <a:noFill/>
            <a:ln w="9525">
              <a:solidFill>
                <a:srgbClr val="FF66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56" name="Text Box 60">
              <a:extLst>
                <a:ext uri="{FF2B5EF4-FFF2-40B4-BE49-F238E27FC236}">
                  <a16:creationId xmlns:a16="http://schemas.microsoft.com/office/drawing/2014/main" id="{21ADE67E-107A-4C81-9A16-7A1CF4772A66}"/>
                </a:ext>
              </a:extLst>
            </p:cNvPr>
            <p:cNvSpPr txBox="1">
              <a:spLocks noChangeArrowheads="1"/>
            </p:cNvSpPr>
            <p:nvPr/>
          </p:nvSpPr>
          <p:spPr bwMode="auto">
            <a:xfrm>
              <a:off x="424866" y="5183487"/>
              <a:ext cx="3568265" cy="4638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285750" indent="-285750"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buFont typeface="Arial" pitchFamily="34" charset="0"/>
                <a:buChar char="•"/>
              </a:pPr>
              <a:r>
                <a:rPr lang="es-ES_tradnl" altLang="es-ES" sz="1200" dirty="0"/>
                <a:t>Los datos observados son improbables si es cierta la  H</a:t>
              </a:r>
              <a:r>
                <a:rPr lang="es-ES_tradnl" altLang="es-ES" sz="1200" baseline="-25000" dirty="0"/>
                <a:t>0</a:t>
              </a:r>
              <a:endParaRPr lang="es-ES" altLang="es-ES" sz="1200" baseline="-25000" dirty="0">
                <a:solidFill>
                  <a:srgbClr val="800000"/>
                </a:solidFill>
              </a:endParaRPr>
            </a:p>
          </p:txBody>
        </p:sp>
      </p:grpSp>
      <p:graphicFrame>
        <p:nvGraphicFramePr>
          <p:cNvPr id="57" name="Object 29">
            <a:extLst>
              <a:ext uri="{FF2B5EF4-FFF2-40B4-BE49-F238E27FC236}">
                <a16:creationId xmlns:a16="http://schemas.microsoft.com/office/drawing/2014/main" id="{3AA42A9C-8866-4A86-BB98-2AB470ABBE1E}"/>
              </a:ext>
            </a:extLst>
          </p:cNvPr>
          <p:cNvGraphicFramePr>
            <a:graphicFrameLocks noChangeAspect="1"/>
          </p:cNvGraphicFramePr>
          <p:nvPr>
            <p:extLst>
              <p:ext uri="{D42A27DB-BD31-4B8C-83A1-F6EECF244321}">
                <p14:modId xmlns:p14="http://schemas.microsoft.com/office/powerpoint/2010/main" val="3469241848"/>
              </p:ext>
            </p:extLst>
          </p:nvPr>
        </p:nvGraphicFramePr>
        <p:xfrm>
          <a:off x="5679314" y="4689093"/>
          <a:ext cx="557212" cy="169863"/>
        </p:xfrm>
        <a:graphic>
          <a:graphicData uri="http://schemas.openxmlformats.org/presentationml/2006/ole">
            <mc:AlternateContent xmlns:mc="http://schemas.openxmlformats.org/markup-compatibility/2006">
              <mc:Choice xmlns:v="urn:schemas-microsoft-com:vml" Requires="v">
                <p:oleObj name="Equation" r:id="rId13" imgW="545760" imgH="164880" progId="Equation.DSMT4">
                  <p:embed/>
                </p:oleObj>
              </mc:Choice>
              <mc:Fallback>
                <p:oleObj name="Equation" r:id="rId13" imgW="545760" imgH="164880" progId="Equation.DSMT4">
                  <p:embed/>
                  <p:pic>
                    <p:nvPicPr>
                      <p:cNvPr id="9263" name="Object 29"/>
                      <p:cNvPicPr>
                        <a:picLocks noChangeAspect="1" noChangeArrowheads="1"/>
                      </p:cNvPicPr>
                      <p:nvPr/>
                    </p:nvPicPr>
                    <p:blipFill>
                      <a:blip r:embed="rId14"/>
                      <a:srcRect/>
                      <a:stretch>
                        <a:fillRect/>
                      </a:stretch>
                    </p:blipFill>
                    <p:spPr bwMode="auto">
                      <a:xfrm>
                        <a:off x="5679314" y="4689093"/>
                        <a:ext cx="557212" cy="169863"/>
                      </a:xfrm>
                      <a:prstGeom prst="rect">
                        <a:avLst/>
                      </a:prstGeom>
                      <a:noFill/>
                      <a:ln>
                        <a:noFill/>
                      </a:ln>
                      <a:extLst>
                        <a:ext uri="{909E8E84-426E-40DD-AFC4-6F175D3DCCD1}">
                          <a14:hiddenFill xmlns:a14="http://schemas.microsoft.com/office/drawing/2010/main">
                            <a:solidFill>
                              <a:schemeClr val="bg1">
                                <a:alpha val="42000"/>
                              </a:schemeClr>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 name="Text Box 32">
            <a:extLst>
              <a:ext uri="{FF2B5EF4-FFF2-40B4-BE49-F238E27FC236}">
                <a16:creationId xmlns:a16="http://schemas.microsoft.com/office/drawing/2014/main" id="{202628F8-DACE-4E05-AAAF-F3868DAB4832}"/>
              </a:ext>
            </a:extLst>
          </p:cNvPr>
          <p:cNvSpPr txBox="1">
            <a:spLocks noChangeArrowheads="1"/>
          </p:cNvSpPr>
          <p:nvPr/>
        </p:nvSpPr>
        <p:spPr bwMode="auto">
          <a:xfrm>
            <a:off x="6731417" y="4609896"/>
            <a:ext cx="369310"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(a)</a:t>
            </a:r>
            <a:endParaRPr lang="es-ES" altLang="es-ES" sz="1200" dirty="0">
              <a:solidFill>
                <a:srgbClr val="005A58"/>
              </a:solidFill>
            </a:endParaRPr>
          </a:p>
        </p:txBody>
      </p:sp>
      <p:sp>
        <p:nvSpPr>
          <p:cNvPr id="59" name="Text Box 32">
            <a:extLst>
              <a:ext uri="{FF2B5EF4-FFF2-40B4-BE49-F238E27FC236}">
                <a16:creationId xmlns:a16="http://schemas.microsoft.com/office/drawing/2014/main" id="{CB53DC6B-0EB5-402E-A73A-34CA87000657}"/>
              </a:ext>
            </a:extLst>
          </p:cNvPr>
          <p:cNvSpPr txBox="1">
            <a:spLocks noChangeArrowheads="1"/>
          </p:cNvSpPr>
          <p:nvPr/>
        </p:nvSpPr>
        <p:spPr bwMode="auto">
          <a:xfrm>
            <a:off x="7966814" y="4609896"/>
            <a:ext cx="369310"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5A58"/>
                </a:solidFill>
              </a:rPr>
              <a:t>(b)</a:t>
            </a:r>
            <a:endParaRPr lang="es-ES" altLang="es-ES" sz="1200" dirty="0">
              <a:solidFill>
                <a:srgbClr val="005A58"/>
              </a:solidFill>
            </a:endParaRPr>
          </a:p>
        </p:txBody>
      </p:sp>
    </p:spTree>
    <p:extLst>
      <p:ext uri="{BB962C8B-B14F-4D97-AF65-F5344CB8AC3E}">
        <p14:creationId xmlns:p14="http://schemas.microsoft.com/office/powerpoint/2010/main" val="2890052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1" name="Text Box 88"/>
          <p:cNvSpPr txBox="1">
            <a:spLocks noChangeArrowheads="1"/>
          </p:cNvSpPr>
          <p:nvPr/>
        </p:nvSpPr>
        <p:spPr bwMode="auto">
          <a:xfrm>
            <a:off x="248056" y="865188"/>
            <a:ext cx="8456613" cy="5869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t>El error de tipo I (con probabilidad </a:t>
            </a:r>
            <a:r>
              <a:rPr lang="es-ES_tradnl" altLang="es-ES" sz="1600" dirty="0">
                <a:latin typeface="Symbol" pitchFamily="18" charset="2"/>
              </a:rPr>
              <a:t>a</a:t>
            </a:r>
            <a:r>
              <a:rPr lang="es-ES_tradnl" altLang="es-ES" dirty="0"/>
              <a:t>) no es el único error que se puede cometer. ¿Qué ocurre si H</a:t>
            </a:r>
            <a:r>
              <a:rPr lang="es-ES_tradnl" altLang="es-ES" baseline="-25000" dirty="0"/>
              <a:t>0</a:t>
            </a:r>
            <a:r>
              <a:rPr lang="es-ES_tradnl" altLang="es-ES" dirty="0"/>
              <a:t> no es correcta pero el estadístico de contraste toma un valor en la región de aceptación, es decir, si </a:t>
            </a:r>
            <a:r>
              <a:rPr lang="es-ES_tradnl" altLang="es-ES" sz="1600" i="1" dirty="0" err="1">
                <a:latin typeface="Times New Roman" pitchFamily="18" charset="0"/>
              </a:rPr>
              <a:t>t</a:t>
            </a:r>
            <a:r>
              <a:rPr lang="es-ES_tradnl" altLang="es-ES" baseline="-25000" dirty="0" err="1"/>
              <a:t>exp</a:t>
            </a:r>
            <a:r>
              <a:rPr lang="es-ES_tradnl" altLang="es-ES" dirty="0"/>
              <a:t>&lt; </a:t>
            </a:r>
            <a:r>
              <a:rPr lang="es-ES_tradnl" altLang="es-ES" sz="1600" i="1" dirty="0" err="1">
                <a:latin typeface="Times New Roman" pitchFamily="18" charset="0"/>
              </a:rPr>
              <a:t>t</a:t>
            </a:r>
            <a:r>
              <a:rPr lang="es-ES_tradnl" altLang="es-ES" sz="1600" baseline="-25000" dirty="0" err="1">
                <a:latin typeface="Symbol" panose="05050102010706020507" pitchFamily="18" charset="2"/>
              </a:rPr>
              <a:t>a</a:t>
            </a:r>
            <a:r>
              <a:rPr lang="es-ES_tradnl" altLang="es-ES" dirty="0"/>
              <a:t>? </a:t>
            </a:r>
            <a:endParaRPr lang="es-ES" altLang="es-ES" baseline="-25000" dirty="0">
              <a:solidFill>
                <a:srgbClr val="800000"/>
              </a:solidFill>
            </a:endParaRPr>
          </a:p>
        </p:txBody>
      </p:sp>
      <p:sp>
        <p:nvSpPr>
          <p:cNvPr id="10252" name="Text Box 89"/>
          <p:cNvSpPr txBox="1">
            <a:spLocks noChangeArrowheads="1"/>
          </p:cNvSpPr>
          <p:nvPr/>
        </p:nvSpPr>
        <p:spPr bwMode="auto">
          <a:xfrm>
            <a:off x="248056" y="1445198"/>
            <a:ext cx="8512175" cy="3407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t>El </a:t>
            </a:r>
            <a:r>
              <a:rPr lang="es-ES_tradnl" altLang="es-ES" b="1" dirty="0">
                <a:solidFill>
                  <a:srgbClr val="8A0000"/>
                </a:solidFill>
              </a:rPr>
              <a:t>error de tipo II</a:t>
            </a:r>
            <a:r>
              <a:rPr lang="es-ES_tradnl" altLang="es-ES" dirty="0">
                <a:solidFill>
                  <a:srgbClr val="8A0000"/>
                </a:solidFill>
              </a:rPr>
              <a:t> </a:t>
            </a:r>
            <a:r>
              <a:rPr lang="es-ES_tradnl" altLang="es-ES" dirty="0"/>
              <a:t>o </a:t>
            </a:r>
            <a:r>
              <a:rPr lang="es-ES_tradnl" altLang="es-ES" b="1" dirty="0">
                <a:solidFill>
                  <a:srgbClr val="800000"/>
                </a:solidFill>
              </a:rPr>
              <a:t>error </a:t>
            </a:r>
            <a:r>
              <a:rPr lang="es-ES_tradnl" altLang="es-ES" sz="1600" b="1" dirty="0">
                <a:solidFill>
                  <a:srgbClr val="800000"/>
                </a:solidFill>
                <a:latin typeface="Symbol" pitchFamily="18" charset="2"/>
              </a:rPr>
              <a:t>b</a:t>
            </a:r>
            <a:r>
              <a:rPr lang="es-ES_tradnl" altLang="es-ES" b="1" dirty="0">
                <a:latin typeface="Symbol" pitchFamily="18" charset="2"/>
              </a:rPr>
              <a:t> </a:t>
            </a:r>
            <a:r>
              <a:rPr lang="es-ES_tradnl" altLang="es-ES" dirty="0"/>
              <a:t>es aquel que se comete cuando se decide aceptar de forma incorrecta H</a:t>
            </a:r>
            <a:r>
              <a:rPr lang="es-ES_tradnl" altLang="es-ES" baseline="-25000" dirty="0"/>
              <a:t>0</a:t>
            </a:r>
            <a:endParaRPr lang="es-ES" altLang="es-ES" baseline="-25000" dirty="0">
              <a:solidFill>
                <a:srgbClr val="800000"/>
              </a:solidFill>
            </a:endParaRPr>
          </a:p>
        </p:txBody>
      </p:sp>
      <p:sp>
        <p:nvSpPr>
          <p:cNvPr id="10254" name="Text Box 91"/>
          <p:cNvSpPr txBox="1">
            <a:spLocks noChangeArrowheads="1"/>
          </p:cNvSpPr>
          <p:nvPr/>
        </p:nvSpPr>
        <p:spPr bwMode="auto">
          <a:xfrm>
            <a:off x="248056" y="2301738"/>
            <a:ext cx="2730500" cy="1654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dirty="0"/>
              <a:t>Observe que </a:t>
            </a:r>
            <a:r>
              <a:rPr lang="es-ES_tradnl" altLang="es-ES" sz="1600" dirty="0">
                <a:latin typeface="Symbol" pitchFamily="18" charset="2"/>
              </a:rPr>
              <a:t>b</a:t>
            </a:r>
            <a:r>
              <a:rPr lang="es-ES_tradnl" altLang="es-ES" dirty="0"/>
              <a:t> es un área bajo la distribución dada por H</a:t>
            </a:r>
            <a:r>
              <a:rPr lang="es-ES_tradnl" altLang="es-ES" baseline="-25000" dirty="0"/>
              <a:t>1</a:t>
            </a:r>
            <a:r>
              <a:rPr lang="es-ES_tradnl" altLang="es-ES" dirty="0"/>
              <a:t> no por H</a:t>
            </a:r>
            <a:r>
              <a:rPr lang="es-ES_tradnl" altLang="es-ES" baseline="-25000" dirty="0"/>
              <a:t>0</a:t>
            </a:r>
            <a:endParaRPr lang="es-ES_tradnl" altLang="es-ES" dirty="0"/>
          </a:p>
          <a:p>
            <a:pPr algn="just" eaLnBrk="1" hangingPunct="1">
              <a:lnSpc>
                <a:spcPct val="40000"/>
              </a:lnSpc>
            </a:pPr>
            <a:endParaRPr lang="es-ES_tradnl" altLang="es-ES" dirty="0"/>
          </a:p>
          <a:p>
            <a:pPr algn="just" eaLnBrk="1" hangingPunct="1"/>
            <a:r>
              <a:rPr lang="es-ES_tradnl" altLang="es-ES" dirty="0"/>
              <a:t>Como esa distribución es en principio desconocida, entonces  ¡tampoco conocemos </a:t>
            </a:r>
            <a:r>
              <a:rPr lang="es-ES_tradnl" altLang="es-ES" sz="1600" dirty="0">
                <a:latin typeface="Symbol" pitchFamily="18" charset="2"/>
              </a:rPr>
              <a:t>b</a:t>
            </a:r>
            <a:r>
              <a:rPr lang="es-ES_tradnl" altLang="es-ES" dirty="0"/>
              <a:t>!</a:t>
            </a:r>
          </a:p>
          <a:p>
            <a:pPr algn="just" eaLnBrk="1" hangingPunct="1"/>
            <a:endParaRPr lang="es-ES" altLang="es-ES" baseline="-25000" dirty="0">
              <a:solidFill>
                <a:srgbClr val="800000"/>
              </a:solidFill>
            </a:endParaRPr>
          </a:p>
        </p:txBody>
      </p:sp>
      <p:sp>
        <p:nvSpPr>
          <p:cNvPr id="10255" name="Text Box 92"/>
          <p:cNvSpPr txBox="1">
            <a:spLocks noChangeArrowheads="1"/>
          </p:cNvSpPr>
          <p:nvPr/>
        </p:nvSpPr>
        <p:spPr bwMode="auto">
          <a:xfrm>
            <a:off x="248056" y="3873363"/>
            <a:ext cx="2941638" cy="26798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ct val="150000"/>
              </a:lnSpc>
            </a:pPr>
            <a:r>
              <a:rPr lang="es-ES_tradnl" altLang="es-ES" dirty="0"/>
              <a:t>El área bajo H</a:t>
            </a:r>
            <a:r>
              <a:rPr lang="es-ES_tradnl" altLang="es-ES" baseline="-25000" dirty="0"/>
              <a:t>1</a:t>
            </a:r>
            <a:r>
              <a:rPr lang="es-ES_tradnl" altLang="es-ES" dirty="0"/>
              <a:t> dada por</a:t>
            </a:r>
          </a:p>
          <a:p>
            <a:pPr algn="ctr" eaLnBrk="1" hangingPunct="1">
              <a:spcBef>
                <a:spcPts val="300"/>
              </a:spcBef>
              <a:spcAft>
                <a:spcPts val="300"/>
              </a:spcAft>
            </a:pPr>
            <a:r>
              <a:rPr lang="es-ES_tradnl" altLang="es-ES" dirty="0"/>
              <a:t> </a:t>
            </a:r>
            <a:r>
              <a:rPr lang="es-ES" altLang="es-ES" sz="1600" dirty="0">
                <a:latin typeface="Symbol" pitchFamily="18" charset="2"/>
              </a:rPr>
              <a:t>q</a:t>
            </a:r>
            <a:r>
              <a:rPr lang="es-ES" altLang="es-ES" dirty="0">
                <a:latin typeface="Symbol" pitchFamily="18" charset="2"/>
              </a:rPr>
              <a:t>=</a:t>
            </a:r>
            <a:r>
              <a:rPr lang="es-ES_tradnl" altLang="es-ES" dirty="0"/>
              <a:t>1─</a:t>
            </a:r>
            <a:r>
              <a:rPr lang="es-ES_tradnl" altLang="es-ES" sz="1600" dirty="0">
                <a:latin typeface="Symbol" pitchFamily="18" charset="2"/>
              </a:rPr>
              <a:t>b</a:t>
            </a:r>
            <a:r>
              <a:rPr lang="es-ES_tradnl" altLang="es-ES" dirty="0"/>
              <a:t> </a:t>
            </a:r>
          </a:p>
          <a:p>
            <a:pPr algn="just" eaLnBrk="1" hangingPunct="1"/>
            <a:r>
              <a:rPr lang="es-ES_tradnl" altLang="es-ES" dirty="0"/>
              <a:t>es de gran interés: representa la probabilidad de acertar al rechazar H</a:t>
            </a:r>
            <a:r>
              <a:rPr lang="es-ES_tradnl" altLang="es-ES" baseline="-25000" dirty="0"/>
              <a:t>0</a:t>
            </a:r>
            <a:r>
              <a:rPr lang="es-ES_tradnl" altLang="es-ES" b="1" dirty="0"/>
              <a:t> </a:t>
            </a:r>
            <a:r>
              <a:rPr lang="es-ES_tradnl" altLang="es-ES" dirty="0"/>
              <a:t>y se llama </a:t>
            </a:r>
            <a:r>
              <a:rPr lang="es-ES_tradnl" altLang="es-ES" b="1" dirty="0">
                <a:solidFill>
                  <a:srgbClr val="800000"/>
                </a:solidFill>
              </a:rPr>
              <a:t>potencia del test.</a:t>
            </a:r>
          </a:p>
          <a:p>
            <a:pPr algn="just" eaLnBrk="1" hangingPunct="1"/>
            <a:endParaRPr lang="es-ES_tradnl" altLang="es-ES" b="1" dirty="0">
              <a:solidFill>
                <a:srgbClr val="800000"/>
              </a:solidFill>
            </a:endParaRPr>
          </a:p>
          <a:p>
            <a:pPr algn="just" eaLnBrk="1" hangingPunct="1"/>
            <a:r>
              <a:rPr lang="es-ES_tradnl" altLang="es-ES" dirty="0"/>
              <a:t>Al igual que el error de tipo II, la potencia es un área bajo una distribución desconocida y por tanto tampoco sabemos su magnitud</a:t>
            </a:r>
            <a:endParaRPr lang="es-ES" altLang="es-ES" baseline="-25000" dirty="0"/>
          </a:p>
        </p:txBody>
      </p:sp>
      <p:sp>
        <p:nvSpPr>
          <p:cNvPr id="32"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 y los dos tipos de error</a:t>
            </a:r>
          </a:p>
        </p:txBody>
      </p:sp>
      <p:sp>
        <p:nvSpPr>
          <p:cNvPr id="33" name="Text Box 33"/>
          <p:cNvSpPr txBox="1">
            <a:spLocks noChangeArrowheads="1"/>
          </p:cNvSpPr>
          <p:nvPr/>
        </p:nvSpPr>
        <p:spPr bwMode="auto">
          <a:xfrm>
            <a:off x="250181" y="381000"/>
            <a:ext cx="7588894"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El error al aceptar H</a:t>
            </a:r>
            <a:r>
              <a:rPr lang="es-ES_tradnl" altLang="es-ES" b="1" baseline="-25000" dirty="0"/>
              <a:t>0</a:t>
            </a:r>
            <a:r>
              <a:rPr lang="es-ES_tradnl" altLang="es-ES" b="1" dirty="0"/>
              <a:t>: error de tipo II (</a:t>
            </a:r>
            <a:r>
              <a:rPr lang="es-ES_tradnl" altLang="es-ES" b="1" dirty="0">
                <a:latin typeface="Symbol" panose="05050102010706020507" pitchFamily="18" charset="2"/>
              </a:rPr>
              <a:t>b</a:t>
            </a:r>
            <a:r>
              <a:rPr lang="es-ES_tradnl" altLang="es-ES" b="1" dirty="0"/>
              <a:t>); y el acierto al rechazarla: la potencia (</a:t>
            </a:r>
            <a:r>
              <a:rPr lang="es-ES_tradnl" altLang="es-ES" b="1" dirty="0">
                <a:latin typeface="Symbol" panose="05050102010706020507" pitchFamily="18" charset="2"/>
              </a:rPr>
              <a:t>q</a:t>
            </a:r>
            <a:r>
              <a:rPr lang="es-ES_tradnl" altLang="es-ES" b="1" dirty="0"/>
              <a:t>)</a:t>
            </a:r>
          </a:p>
        </p:txBody>
      </p:sp>
      <p:pic>
        <p:nvPicPr>
          <p:cNvPr id="10275" name="Picture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9825" y="2484438"/>
            <a:ext cx="3911600" cy="2514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64" name="Text Box 41"/>
          <p:cNvSpPr txBox="1">
            <a:spLocks noChangeArrowheads="1"/>
          </p:cNvSpPr>
          <p:nvPr/>
        </p:nvSpPr>
        <p:spPr bwMode="auto">
          <a:xfrm>
            <a:off x="5151438" y="5043488"/>
            <a:ext cx="265112"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a:t>0</a:t>
            </a:r>
          </a:p>
        </p:txBody>
      </p:sp>
      <p:sp>
        <p:nvSpPr>
          <p:cNvPr id="10265" name="Freeform 34"/>
          <p:cNvSpPr>
            <a:spLocks/>
          </p:cNvSpPr>
          <p:nvPr/>
        </p:nvSpPr>
        <p:spPr bwMode="auto">
          <a:xfrm>
            <a:off x="4143375" y="2593975"/>
            <a:ext cx="2208213" cy="2378075"/>
          </a:xfrm>
          <a:custGeom>
            <a:avLst/>
            <a:gdLst>
              <a:gd name="T0" fmla="*/ 0 w 9513"/>
              <a:gd name="T1" fmla="*/ 88408 h 5006"/>
              <a:gd name="T2" fmla="*/ 15719 w 9513"/>
              <a:gd name="T3" fmla="*/ 85689 h 5006"/>
              <a:gd name="T4" fmla="*/ 18807 w 9513"/>
              <a:gd name="T5" fmla="*/ 84664 h 5006"/>
              <a:gd name="T6" fmla="*/ 22232 w 9513"/>
              <a:gd name="T7" fmla="*/ 82934 h 5006"/>
              <a:gd name="T8" fmla="*/ 24944 w 9513"/>
              <a:gd name="T9" fmla="*/ 81591 h 5006"/>
              <a:gd name="T10" fmla="*/ 28389 w 9513"/>
              <a:gd name="T11" fmla="*/ 79525 h 5006"/>
              <a:gd name="T12" fmla="*/ 31438 w 9513"/>
              <a:gd name="T13" fmla="*/ 77494 h 5006"/>
              <a:gd name="T14" fmla="*/ 34526 w 9513"/>
              <a:gd name="T15" fmla="*/ 74774 h 5006"/>
              <a:gd name="T16" fmla="*/ 37575 w 9513"/>
              <a:gd name="T17" fmla="*/ 71684 h 5006"/>
              <a:gd name="T18" fmla="*/ 40663 w 9513"/>
              <a:gd name="T19" fmla="*/ 68258 h 5006"/>
              <a:gd name="T20" fmla="*/ 44088 w 9513"/>
              <a:gd name="T21" fmla="*/ 64514 h 5006"/>
              <a:gd name="T22" fmla="*/ 47176 w 9513"/>
              <a:gd name="T23" fmla="*/ 60417 h 5006"/>
              <a:gd name="T24" fmla="*/ 50245 w 9513"/>
              <a:gd name="T25" fmla="*/ 55984 h 5006"/>
              <a:gd name="T26" fmla="*/ 53313 w 9513"/>
              <a:gd name="T27" fmla="*/ 51198 h 5006"/>
              <a:gd name="T28" fmla="*/ 56758 w 9513"/>
              <a:gd name="T29" fmla="*/ 46076 h 5006"/>
              <a:gd name="T30" fmla="*/ 59450 w 9513"/>
              <a:gd name="T31" fmla="*/ 40619 h 5006"/>
              <a:gd name="T32" fmla="*/ 62895 w 9513"/>
              <a:gd name="T33" fmla="*/ 35144 h 5006"/>
              <a:gd name="T34" fmla="*/ 65983 w 9513"/>
              <a:gd name="T35" fmla="*/ 30040 h 5006"/>
              <a:gd name="T36" fmla="*/ 69032 w 9513"/>
              <a:gd name="T37" fmla="*/ 24566 h 5006"/>
              <a:gd name="T38" fmla="*/ 72120 w 9513"/>
              <a:gd name="T39" fmla="*/ 19462 h 5006"/>
              <a:gd name="T40" fmla="*/ 75169 w 9513"/>
              <a:gd name="T41" fmla="*/ 14676 h 5006"/>
              <a:gd name="T42" fmla="*/ 78614 w 9513"/>
              <a:gd name="T43" fmla="*/ 10578 h 5006"/>
              <a:gd name="T44" fmla="*/ 81702 w 9513"/>
              <a:gd name="T45" fmla="*/ 6817 h 5006"/>
              <a:gd name="T46" fmla="*/ 84751 w 9513"/>
              <a:gd name="T47" fmla="*/ 4097 h 5006"/>
              <a:gd name="T48" fmla="*/ 87839 w 9513"/>
              <a:gd name="T49" fmla="*/ 1696 h 5006"/>
              <a:gd name="T50" fmla="*/ 91284 w 9513"/>
              <a:gd name="T51" fmla="*/ 689 h 5006"/>
              <a:gd name="T52" fmla="*/ 94352 w 9513"/>
              <a:gd name="T53" fmla="*/ 0 h 5006"/>
              <a:gd name="T54" fmla="*/ 97421 w 9513"/>
              <a:gd name="T55" fmla="*/ 689 h 5006"/>
              <a:gd name="T56" fmla="*/ 100489 w 9513"/>
              <a:gd name="T57" fmla="*/ 1696 h 5006"/>
              <a:gd name="T58" fmla="*/ 103558 w 9513"/>
              <a:gd name="T59" fmla="*/ 4097 h 5006"/>
              <a:gd name="T60" fmla="*/ 106627 w 9513"/>
              <a:gd name="T61" fmla="*/ 6817 h 5006"/>
              <a:gd name="T62" fmla="*/ 110071 w 9513"/>
              <a:gd name="T63" fmla="*/ 10578 h 5006"/>
              <a:gd name="T64" fmla="*/ 113160 w 9513"/>
              <a:gd name="T65" fmla="*/ 14676 h 5006"/>
              <a:gd name="T66" fmla="*/ 116208 w 9513"/>
              <a:gd name="T67" fmla="*/ 19462 h 5006"/>
              <a:gd name="T68" fmla="*/ 119297 w 9513"/>
              <a:gd name="T69" fmla="*/ 24566 h 5006"/>
              <a:gd name="T70" fmla="*/ 122345 w 9513"/>
              <a:gd name="T71" fmla="*/ 30040 h 5006"/>
              <a:gd name="T72" fmla="*/ 125810 w 9513"/>
              <a:gd name="T73" fmla="*/ 35144 h 5006"/>
              <a:gd name="T74" fmla="*/ 128878 w 9513"/>
              <a:gd name="T75" fmla="*/ 40619 h 5006"/>
              <a:gd name="T76" fmla="*/ 131927 w 9513"/>
              <a:gd name="T77" fmla="*/ 46076 h 5006"/>
              <a:gd name="T78" fmla="*/ 135016 w 9513"/>
              <a:gd name="T79" fmla="*/ 51198 h 5006"/>
              <a:gd name="T80" fmla="*/ 138064 w 9513"/>
              <a:gd name="T81" fmla="*/ 55984 h 5006"/>
              <a:gd name="T82" fmla="*/ 141153 w 9513"/>
              <a:gd name="T83" fmla="*/ 60417 h 5006"/>
              <a:gd name="T84" fmla="*/ 144597 w 9513"/>
              <a:gd name="T85" fmla="*/ 64514 h 5006"/>
              <a:gd name="T86" fmla="*/ 147666 w 9513"/>
              <a:gd name="T87" fmla="*/ 68258 h 5006"/>
              <a:gd name="T88" fmla="*/ 150734 w 9513"/>
              <a:gd name="T89" fmla="*/ 71684 h 5006"/>
              <a:gd name="T90" fmla="*/ 153803 w 9513"/>
              <a:gd name="T91" fmla="*/ 74774 h 5006"/>
              <a:gd name="T92" fmla="*/ 156872 w 9513"/>
              <a:gd name="T93" fmla="*/ 77494 h 5006"/>
              <a:gd name="T94" fmla="*/ 160336 w 9513"/>
              <a:gd name="T95" fmla="*/ 79525 h 5006"/>
              <a:gd name="T96" fmla="*/ 163385 w 9513"/>
              <a:gd name="T97" fmla="*/ 81591 h 5006"/>
              <a:gd name="T98" fmla="*/ 166473 w 9513"/>
              <a:gd name="T99" fmla="*/ 82934 h 5006"/>
              <a:gd name="T100" fmla="*/ 169522 w 9513"/>
              <a:gd name="T101" fmla="*/ 84664 h 5006"/>
              <a:gd name="T102" fmla="*/ 172610 w 9513"/>
              <a:gd name="T103" fmla="*/ 85689 h 5006"/>
              <a:gd name="T104" fmla="*/ 175659 w 9513"/>
              <a:gd name="T105" fmla="*/ 86377 h 5006"/>
              <a:gd name="T106" fmla="*/ 179143 w 9513"/>
              <a:gd name="T107" fmla="*/ 87048 h 5006"/>
              <a:gd name="T108" fmla="*/ 182192 w 9513"/>
              <a:gd name="T109" fmla="*/ 87720 h 5006"/>
              <a:gd name="T110" fmla="*/ 185241 w 9513"/>
              <a:gd name="T111" fmla="*/ 88073 h 5006"/>
              <a:gd name="T112" fmla="*/ 188329 w 9513"/>
              <a:gd name="T113" fmla="*/ 88408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12941"/>
            </a:srgbClr>
          </a:solidFill>
          <a:ln>
            <a:noFill/>
          </a:ln>
          <a:extLs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s-ES"/>
          </a:p>
        </p:txBody>
      </p:sp>
      <p:sp>
        <p:nvSpPr>
          <p:cNvPr id="10267" name="Line 35"/>
          <p:cNvSpPr>
            <a:spLocks noChangeShapeType="1"/>
          </p:cNvSpPr>
          <p:nvPr/>
        </p:nvSpPr>
        <p:spPr bwMode="auto">
          <a:xfrm flipH="1">
            <a:off x="5283200" y="2519363"/>
            <a:ext cx="3175" cy="2506662"/>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0268" name="Line 66"/>
          <p:cNvSpPr>
            <a:spLocks noChangeShapeType="1"/>
          </p:cNvSpPr>
          <p:nvPr/>
        </p:nvSpPr>
        <p:spPr bwMode="auto">
          <a:xfrm flipH="1">
            <a:off x="5354638" y="4851400"/>
            <a:ext cx="0" cy="223838"/>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0269" name="Line 67"/>
          <p:cNvSpPr>
            <a:spLocks noChangeShapeType="1"/>
          </p:cNvSpPr>
          <p:nvPr/>
        </p:nvSpPr>
        <p:spPr bwMode="auto">
          <a:xfrm>
            <a:off x="6173788" y="4851400"/>
            <a:ext cx="0" cy="276225"/>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0270" name="Line 68"/>
          <p:cNvSpPr>
            <a:spLocks noChangeShapeType="1"/>
          </p:cNvSpPr>
          <p:nvPr/>
        </p:nvSpPr>
        <p:spPr bwMode="auto">
          <a:xfrm>
            <a:off x="5354638" y="4984750"/>
            <a:ext cx="55562" cy="142875"/>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0271" name="Line 69"/>
          <p:cNvSpPr>
            <a:spLocks noChangeShapeType="1"/>
          </p:cNvSpPr>
          <p:nvPr/>
        </p:nvSpPr>
        <p:spPr bwMode="auto">
          <a:xfrm>
            <a:off x="6173788" y="4984750"/>
            <a:ext cx="57150" cy="142875"/>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0245" name="Text Box 70"/>
          <p:cNvSpPr txBox="1">
            <a:spLocks noChangeArrowheads="1"/>
          </p:cNvSpPr>
          <p:nvPr/>
        </p:nvSpPr>
        <p:spPr bwMode="auto">
          <a:xfrm>
            <a:off x="5372296" y="5104401"/>
            <a:ext cx="4762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6666"/>
                </a:solidFill>
              </a:rPr>
              <a:t>0.57</a:t>
            </a:r>
            <a:endParaRPr lang="es-ES" altLang="es-ES" sz="1200" dirty="0">
              <a:solidFill>
                <a:srgbClr val="006666"/>
              </a:solidFill>
            </a:endParaRPr>
          </a:p>
        </p:txBody>
      </p:sp>
      <p:sp>
        <p:nvSpPr>
          <p:cNvPr id="10246" name="Text Box 71"/>
          <p:cNvSpPr txBox="1">
            <a:spLocks noChangeArrowheads="1"/>
          </p:cNvSpPr>
          <p:nvPr/>
        </p:nvSpPr>
        <p:spPr bwMode="auto">
          <a:xfrm>
            <a:off x="6200971" y="5094974"/>
            <a:ext cx="4762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solidFill>
                  <a:srgbClr val="006666"/>
                </a:solidFill>
              </a:rPr>
              <a:t>3.36</a:t>
            </a:r>
            <a:endParaRPr lang="es-ES" altLang="es-ES" sz="1200" dirty="0">
              <a:solidFill>
                <a:srgbClr val="006666"/>
              </a:solidFill>
            </a:endParaRPr>
          </a:p>
        </p:txBody>
      </p:sp>
      <p:sp>
        <p:nvSpPr>
          <p:cNvPr id="10247" name="Line 85"/>
          <p:cNvSpPr>
            <a:spLocks noChangeShapeType="1"/>
          </p:cNvSpPr>
          <p:nvPr/>
        </p:nvSpPr>
        <p:spPr bwMode="auto">
          <a:xfrm flipV="1">
            <a:off x="4930776" y="4851399"/>
            <a:ext cx="266700" cy="714375"/>
          </a:xfrm>
          <a:prstGeom prst="line">
            <a:avLst/>
          </a:prstGeom>
          <a:noFill/>
          <a:ln w="9525">
            <a:solidFill>
              <a:srgbClr val="8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dirty="0"/>
          </a:p>
        </p:txBody>
      </p:sp>
      <p:graphicFrame>
        <p:nvGraphicFramePr>
          <p:cNvPr id="10248" name="Object 63"/>
          <p:cNvGraphicFramePr>
            <a:graphicFrameLocks noChangeAspect="1"/>
          </p:cNvGraphicFramePr>
          <p:nvPr>
            <p:extLst>
              <p:ext uri="{D42A27DB-BD31-4B8C-83A1-F6EECF244321}">
                <p14:modId xmlns:p14="http://schemas.microsoft.com/office/powerpoint/2010/main" val="2231147381"/>
              </p:ext>
            </p:extLst>
          </p:nvPr>
        </p:nvGraphicFramePr>
        <p:xfrm>
          <a:off x="3679825" y="5654675"/>
          <a:ext cx="2498725" cy="288925"/>
        </p:xfrm>
        <a:graphic>
          <a:graphicData uri="http://schemas.openxmlformats.org/presentationml/2006/ole">
            <mc:AlternateContent xmlns:mc="http://schemas.openxmlformats.org/markup-compatibility/2006">
              <mc:Choice xmlns:v="urn:schemas-microsoft-com:vml" Requires="v">
                <p:oleObj name="Equation" r:id="rId3" imgW="2120760" imgH="228600" progId="Equation.DSMT4">
                  <p:embed/>
                </p:oleObj>
              </mc:Choice>
              <mc:Fallback>
                <p:oleObj name="Equation" r:id="rId3" imgW="2120760" imgH="228600" progId="Equation.DSMT4">
                  <p:embed/>
                  <p:pic>
                    <p:nvPicPr>
                      <p:cNvPr id="10248" name="Object 63"/>
                      <p:cNvPicPr>
                        <a:picLocks noChangeAspect="1" noChangeArrowheads="1"/>
                      </p:cNvPicPr>
                      <p:nvPr/>
                    </p:nvPicPr>
                    <p:blipFill>
                      <a:blip r:embed="rId4"/>
                      <a:srcRect/>
                      <a:stretch>
                        <a:fillRect/>
                      </a:stretch>
                    </p:blipFill>
                    <p:spPr bwMode="auto">
                      <a:xfrm>
                        <a:off x="3679825" y="5654675"/>
                        <a:ext cx="2498725" cy="288925"/>
                      </a:xfrm>
                      <a:prstGeom prst="rect">
                        <a:avLst/>
                      </a:prstGeom>
                      <a:noFill/>
                      <a:ln>
                        <a:noFill/>
                      </a:ln>
                    </p:spPr>
                  </p:pic>
                </p:oleObj>
              </mc:Fallback>
            </mc:AlternateContent>
          </a:graphicData>
        </a:graphic>
      </p:graphicFrame>
      <p:sp>
        <p:nvSpPr>
          <p:cNvPr id="10249" name="Text Box 72"/>
          <p:cNvSpPr txBox="1">
            <a:spLocks noChangeArrowheads="1"/>
          </p:cNvSpPr>
          <p:nvPr/>
        </p:nvSpPr>
        <p:spPr bwMode="auto">
          <a:xfrm>
            <a:off x="3486150" y="2687638"/>
            <a:ext cx="1336675" cy="544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r" eaLnBrk="1" hangingPunct="1">
              <a:lnSpc>
                <a:spcPct val="110000"/>
              </a:lnSpc>
            </a:pPr>
            <a:r>
              <a:rPr lang="es-ES_tradnl" altLang="es-ES" sz="1300" dirty="0"/>
              <a:t>Distribución de </a:t>
            </a:r>
            <a:r>
              <a:rPr lang="es-ES_tradnl" altLang="es-ES" sz="1300" i="1" dirty="0" err="1"/>
              <a:t>t</a:t>
            </a:r>
            <a:r>
              <a:rPr lang="es-ES_tradnl" altLang="es-ES" sz="1300" i="1" baseline="-25000" dirty="0" err="1"/>
              <a:t>exp</a:t>
            </a:r>
            <a:r>
              <a:rPr lang="es-ES_tradnl" altLang="es-ES" sz="1300" dirty="0"/>
              <a:t>  bajo </a:t>
            </a:r>
            <a:r>
              <a:rPr lang="es-ES_tradnl" altLang="es-ES" sz="1300" b="1" dirty="0"/>
              <a:t>H</a:t>
            </a:r>
            <a:r>
              <a:rPr lang="es-ES_tradnl" altLang="es-ES" sz="1300" b="1" baseline="-25000" dirty="0"/>
              <a:t>0</a:t>
            </a:r>
            <a:r>
              <a:rPr lang="es-ES_tradnl" altLang="es-ES" b="1" dirty="0"/>
              <a:t> </a:t>
            </a:r>
            <a:r>
              <a:rPr lang="es-ES_tradnl" altLang="es-ES" dirty="0"/>
              <a:t> </a:t>
            </a:r>
            <a:endParaRPr lang="es-ES" altLang="es-ES" dirty="0"/>
          </a:p>
        </p:txBody>
      </p:sp>
      <p:sp>
        <p:nvSpPr>
          <p:cNvPr id="10250" name="Text Box 87"/>
          <p:cNvSpPr txBox="1">
            <a:spLocks noChangeArrowheads="1"/>
          </p:cNvSpPr>
          <p:nvPr/>
        </p:nvSpPr>
        <p:spPr bwMode="auto">
          <a:xfrm>
            <a:off x="6529387" y="2668852"/>
            <a:ext cx="1558926" cy="753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10000"/>
              </a:lnSpc>
            </a:pPr>
            <a:r>
              <a:rPr lang="es-ES_tradnl" altLang="es-ES" sz="1300" dirty="0"/>
              <a:t>Distribución de </a:t>
            </a:r>
            <a:r>
              <a:rPr lang="es-ES_tradnl" altLang="es-ES" sz="1300" i="1" dirty="0" err="1"/>
              <a:t>t</a:t>
            </a:r>
            <a:r>
              <a:rPr lang="es-ES_tradnl" altLang="es-ES" sz="1300" i="1" baseline="-25000" dirty="0" err="1"/>
              <a:t>exp</a:t>
            </a:r>
            <a:r>
              <a:rPr lang="es-ES_tradnl" altLang="es-ES" sz="1300" dirty="0"/>
              <a:t> bajo una posible </a:t>
            </a:r>
            <a:r>
              <a:rPr lang="es-ES_tradnl" altLang="es-ES" sz="1300" b="1" dirty="0"/>
              <a:t>H</a:t>
            </a:r>
            <a:r>
              <a:rPr lang="es-ES_tradnl" altLang="es-ES" sz="1300" b="1" baseline="-25000" dirty="0"/>
              <a:t>1</a:t>
            </a:r>
            <a:r>
              <a:rPr lang="es-ES_tradnl" altLang="es-ES" b="1" dirty="0"/>
              <a:t> </a:t>
            </a:r>
            <a:r>
              <a:rPr lang="es-ES_tradnl" altLang="es-ES" dirty="0"/>
              <a:t> </a:t>
            </a:r>
            <a:endParaRPr lang="es-ES" altLang="es-ES" dirty="0"/>
          </a:p>
        </p:txBody>
      </p:sp>
      <p:graphicFrame>
        <p:nvGraphicFramePr>
          <p:cNvPr id="10253" name="Object 63"/>
          <p:cNvGraphicFramePr>
            <a:graphicFrameLocks noChangeAspect="1"/>
          </p:cNvGraphicFramePr>
          <p:nvPr>
            <p:extLst>
              <p:ext uri="{D42A27DB-BD31-4B8C-83A1-F6EECF244321}">
                <p14:modId xmlns:p14="http://schemas.microsoft.com/office/powerpoint/2010/main" val="539521341"/>
              </p:ext>
            </p:extLst>
          </p:nvPr>
        </p:nvGraphicFramePr>
        <p:xfrm>
          <a:off x="3244934" y="1820837"/>
          <a:ext cx="2641600" cy="311150"/>
        </p:xfrm>
        <a:graphic>
          <a:graphicData uri="http://schemas.openxmlformats.org/presentationml/2006/ole">
            <mc:AlternateContent xmlns:mc="http://schemas.openxmlformats.org/markup-compatibility/2006">
              <mc:Choice xmlns:v="urn:schemas-microsoft-com:vml" Requires="v">
                <p:oleObj name="Equation" r:id="rId5" imgW="2120900" imgH="228600" progId="Equation.DSMT4">
                  <p:embed/>
                </p:oleObj>
              </mc:Choice>
              <mc:Fallback>
                <p:oleObj name="Equation" r:id="rId5" imgW="2120900" imgH="228600" progId="Equation.DSMT4">
                  <p:embed/>
                  <p:pic>
                    <p:nvPicPr>
                      <p:cNvPr id="10253" name="Object 6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4934" y="1820837"/>
                        <a:ext cx="26416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6" name="Object 63"/>
          <p:cNvGraphicFramePr>
            <a:graphicFrameLocks noChangeAspect="1"/>
          </p:cNvGraphicFramePr>
          <p:nvPr>
            <p:extLst>
              <p:ext uri="{D42A27DB-BD31-4B8C-83A1-F6EECF244321}">
                <p14:modId xmlns:p14="http://schemas.microsoft.com/office/powerpoint/2010/main" val="2306099922"/>
              </p:ext>
            </p:extLst>
          </p:nvPr>
        </p:nvGraphicFramePr>
        <p:xfrm>
          <a:off x="5808663" y="6032500"/>
          <a:ext cx="3030537" cy="288925"/>
        </p:xfrm>
        <a:graphic>
          <a:graphicData uri="http://schemas.openxmlformats.org/presentationml/2006/ole">
            <mc:AlternateContent xmlns:mc="http://schemas.openxmlformats.org/markup-compatibility/2006">
              <mc:Choice xmlns:v="urn:schemas-microsoft-com:vml" Requires="v">
                <p:oleObj name="Equation" r:id="rId7" imgW="2603160" imgH="228600" progId="Equation.DSMT4">
                  <p:embed/>
                </p:oleObj>
              </mc:Choice>
              <mc:Fallback>
                <p:oleObj name="Equation" r:id="rId7" imgW="2603160" imgH="228600" progId="Equation.DSMT4">
                  <p:embed/>
                  <p:pic>
                    <p:nvPicPr>
                      <p:cNvPr id="10256" name="Object 63"/>
                      <p:cNvPicPr>
                        <a:picLocks noChangeAspect="1" noChangeArrowheads="1"/>
                      </p:cNvPicPr>
                      <p:nvPr/>
                    </p:nvPicPr>
                    <p:blipFill>
                      <a:blip r:embed="rId8"/>
                      <a:srcRect/>
                      <a:stretch>
                        <a:fillRect/>
                      </a:stretch>
                    </p:blipFill>
                    <p:spPr bwMode="auto">
                      <a:xfrm>
                        <a:off x="5808663" y="6032500"/>
                        <a:ext cx="3030537" cy="288925"/>
                      </a:xfrm>
                      <a:prstGeom prst="rect">
                        <a:avLst/>
                      </a:prstGeom>
                      <a:noFill/>
                      <a:ln>
                        <a:noFill/>
                      </a:ln>
                    </p:spPr>
                  </p:pic>
                </p:oleObj>
              </mc:Fallback>
            </mc:AlternateContent>
          </a:graphicData>
        </a:graphic>
      </p:graphicFrame>
      <p:sp>
        <p:nvSpPr>
          <p:cNvPr id="10257" name="Line 94"/>
          <p:cNvSpPr>
            <a:spLocks noChangeShapeType="1"/>
          </p:cNvSpPr>
          <p:nvPr/>
        </p:nvSpPr>
        <p:spPr bwMode="auto">
          <a:xfrm flipH="1" flipV="1">
            <a:off x="6442076" y="4419599"/>
            <a:ext cx="849309" cy="1602221"/>
          </a:xfrm>
          <a:prstGeom prst="line">
            <a:avLst/>
          </a:prstGeom>
          <a:noFill/>
          <a:ln w="9525">
            <a:solidFill>
              <a:srgbClr val="611F05"/>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dirty="0"/>
          </a:p>
        </p:txBody>
      </p:sp>
      <p:sp>
        <p:nvSpPr>
          <p:cNvPr id="10258" name="Text Box 95"/>
          <p:cNvSpPr txBox="1">
            <a:spLocks noChangeArrowheads="1"/>
          </p:cNvSpPr>
          <p:nvPr/>
        </p:nvSpPr>
        <p:spPr bwMode="auto">
          <a:xfrm>
            <a:off x="6562725" y="6273800"/>
            <a:ext cx="1504950" cy="3095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dirty="0">
                <a:solidFill>
                  <a:srgbClr val="611F05"/>
                </a:solidFill>
              </a:rPr>
              <a:t>Potencia del test</a:t>
            </a:r>
            <a:endParaRPr lang="es-ES" altLang="es-ES" dirty="0">
              <a:solidFill>
                <a:srgbClr val="611F05"/>
              </a:solidFill>
            </a:endParaRPr>
          </a:p>
        </p:txBody>
      </p:sp>
      <p:sp>
        <p:nvSpPr>
          <p:cNvPr id="10259" name="Text Box 96"/>
          <p:cNvSpPr txBox="1">
            <a:spLocks noChangeArrowheads="1"/>
          </p:cNvSpPr>
          <p:nvPr/>
        </p:nvSpPr>
        <p:spPr bwMode="auto">
          <a:xfrm>
            <a:off x="4312129" y="5870477"/>
            <a:ext cx="1315081"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dirty="0">
                <a:solidFill>
                  <a:srgbClr val="700000"/>
                </a:solidFill>
              </a:rPr>
              <a:t>Error de tipo II</a:t>
            </a:r>
            <a:endParaRPr lang="es-ES" altLang="es-ES" dirty="0">
              <a:solidFill>
                <a:srgbClr val="700000"/>
              </a:solidFill>
            </a:endParaRPr>
          </a:p>
        </p:txBody>
      </p:sp>
      <p:grpSp>
        <p:nvGrpSpPr>
          <p:cNvPr id="10260" name="Group 98"/>
          <p:cNvGrpSpPr>
            <a:grpSpLocks/>
          </p:cNvGrpSpPr>
          <p:nvPr/>
        </p:nvGrpSpPr>
        <p:grpSpPr bwMode="auto">
          <a:xfrm>
            <a:off x="5916711" y="3924300"/>
            <a:ext cx="1587" cy="1409700"/>
            <a:chOff x="3581" y="2472"/>
            <a:chExt cx="1" cy="888"/>
          </a:xfrm>
        </p:grpSpPr>
        <p:sp>
          <p:nvSpPr>
            <p:cNvPr id="10262" name="Line 77"/>
            <p:cNvSpPr>
              <a:spLocks noChangeShapeType="1"/>
            </p:cNvSpPr>
            <p:nvPr/>
          </p:nvSpPr>
          <p:spPr bwMode="auto">
            <a:xfrm flipV="1">
              <a:off x="3581" y="3153"/>
              <a:ext cx="0" cy="20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0263" name="Line 97"/>
            <p:cNvSpPr>
              <a:spLocks noChangeShapeType="1"/>
            </p:cNvSpPr>
            <p:nvPr/>
          </p:nvSpPr>
          <p:spPr bwMode="auto">
            <a:xfrm>
              <a:off x="3582" y="2472"/>
              <a:ext cx="0" cy="69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aphicFrame>
        <p:nvGraphicFramePr>
          <p:cNvPr id="10261" name="Object 63"/>
          <p:cNvGraphicFramePr>
            <a:graphicFrameLocks noChangeAspect="1"/>
          </p:cNvGraphicFramePr>
          <p:nvPr>
            <p:extLst>
              <p:ext uri="{D42A27DB-BD31-4B8C-83A1-F6EECF244321}">
                <p14:modId xmlns:p14="http://schemas.microsoft.com/office/powerpoint/2010/main" val="3575240326"/>
              </p:ext>
            </p:extLst>
          </p:nvPr>
        </p:nvGraphicFramePr>
        <p:xfrm>
          <a:off x="5876925" y="5184775"/>
          <a:ext cx="153988" cy="252413"/>
        </p:xfrm>
        <a:graphic>
          <a:graphicData uri="http://schemas.openxmlformats.org/presentationml/2006/ole">
            <mc:AlternateContent xmlns:mc="http://schemas.openxmlformats.org/markup-compatibility/2006">
              <mc:Choice xmlns:v="urn:schemas-microsoft-com:vml" Requires="v">
                <p:oleObj name="Equation" r:id="rId9" imgW="152334" imgH="228501" progId="Equation.DSMT4">
                  <p:embed/>
                </p:oleObj>
              </mc:Choice>
              <mc:Fallback>
                <p:oleObj name="Equation" r:id="rId9" imgW="152334" imgH="228501" progId="Equation.DSMT4">
                  <p:embed/>
                  <p:pic>
                    <p:nvPicPr>
                      <p:cNvPr id="10261" name="Object 6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76925" y="5184775"/>
                        <a:ext cx="153988" cy="252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73" name="Object 29"/>
          <p:cNvGraphicFramePr>
            <a:graphicFrameLocks noChangeAspect="1"/>
          </p:cNvGraphicFramePr>
          <p:nvPr>
            <p:extLst>
              <p:ext uri="{D42A27DB-BD31-4B8C-83A1-F6EECF244321}">
                <p14:modId xmlns:p14="http://schemas.microsoft.com/office/powerpoint/2010/main" val="1835920323"/>
              </p:ext>
            </p:extLst>
          </p:nvPr>
        </p:nvGraphicFramePr>
        <p:xfrm>
          <a:off x="5773738" y="5421313"/>
          <a:ext cx="388937" cy="168275"/>
        </p:xfrm>
        <a:graphic>
          <a:graphicData uri="http://schemas.openxmlformats.org/presentationml/2006/ole">
            <mc:AlternateContent xmlns:mc="http://schemas.openxmlformats.org/markup-compatibility/2006">
              <mc:Choice xmlns:v="urn:schemas-microsoft-com:vml" Requires="v">
                <p:oleObj name="Equation" r:id="rId11" imgW="380880" imgH="164880" progId="Equation.DSMT4">
                  <p:embed/>
                </p:oleObj>
              </mc:Choice>
              <mc:Fallback>
                <p:oleObj name="Equation" r:id="rId11" imgW="380880" imgH="164880" progId="Equation.DSMT4">
                  <p:embed/>
                  <p:pic>
                    <p:nvPicPr>
                      <p:cNvPr id="10273" name="Object 29"/>
                      <p:cNvPicPr>
                        <a:picLocks noChangeAspect="1" noChangeArrowheads="1"/>
                      </p:cNvPicPr>
                      <p:nvPr/>
                    </p:nvPicPr>
                    <p:blipFill>
                      <a:blip r:embed="rId12"/>
                      <a:srcRect/>
                      <a:stretch>
                        <a:fillRect/>
                      </a:stretch>
                    </p:blipFill>
                    <p:spPr bwMode="auto">
                      <a:xfrm>
                        <a:off x="5773738" y="5421313"/>
                        <a:ext cx="388937" cy="168275"/>
                      </a:xfrm>
                      <a:prstGeom prst="rect">
                        <a:avLst/>
                      </a:prstGeom>
                      <a:noFill/>
                      <a:ln>
                        <a:noFill/>
                      </a:ln>
                      <a:extLst>
                        <a:ext uri="{909E8E84-426E-40DD-AFC4-6F175D3DCCD1}">
                          <a14:hiddenFill xmlns:a14="http://schemas.microsoft.com/office/drawing/2010/main">
                            <a:solidFill>
                              <a:schemeClr val="bg1">
                                <a:alpha val="42000"/>
                              </a:schemeClr>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CuadroTexto 33">
            <a:extLst>
              <a:ext uri="{FF2B5EF4-FFF2-40B4-BE49-F238E27FC236}">
                <a16:creationId xmlns:a16="http://schemas.microsoft.com/office/drawing/2014/main" id="{150DE50B-AD87-4C4D-B400-2B9C9166E97D}"/>
              </a:ext>
            </a:extLst>
          </p:cNvPr>
          <p:cNvSpPr txBox="1"/>
          <p:nvPr/>
        </p:nvSpPr>
        <p:spPr>
          <a:xfrm>
            <a:off x="2722120" y="2101909"/>
            <a:ext cx="3687228" cy="253916"/>
          </a:xfrm>
          <a:prstGeom prst="rect">
            <a:avLst/>
          </a:prstGeom>
          <a:noFill/>
        </p:spPr>
        <p:txBody>
          <a:bodyPr wrap="none" rtlCol="0">
            <a:spAutoFit/>
          </a:bodyPr>
          <a:lstStyle/>
          <a:p>
            <a:r>
              <a:rPr lang="es-ES" sz="1050" dirty="0">
                <a:solidFill>
                  <a:schemeClr val="bg1">
                    <a:lumMod val="50000"/>
                  </a:schemeClr>
                </a:solidFill>
              </a:rPr>
              <a:t>Se lee: Probabilidad de aceptar H</a:t>
            </a:r>
            <a:r>
              <a:rPr lang="es-ES" sz="1050" baseline="-25000" dirty="0">
                <a:solidFill>
                  <a:schemeClr val="bg1">
                    <a:lumMod val="50000"/>
                  </a:schemeClr>
                </a:solidFill>
              </a:rPr>
              <a:t>0</a:t>
            </a:r>
            <a:r>
              <a:rPr lang="es-ES" sz="1050" dirty="0">
                <a:solidFill>
                  <a:schemeClr val="bg1">
                    <a:lumMod val="50000"/>
                  </a:schemeClr>
                </a:solidFill>
              </a:rPr>
              <a:t> </a:t>
            </a:r>
            <a:r>
              <a:rPr lang="es-ES" sz="1050" b="1" i="1" dirty="0">
                <a:solidFill>
                  <a:schemeClr val="bg1">
                    <a:lumMod val="50000"/>
                  </a:schemeClr>
                </a:solidFill>
              </a:rPr>
              <a:t>cuando</a:t>
            </a:r>
            <a:r>
              <a:rPr lang="es-ES" sz="1050" dirty="0">
                <a:solidFill>
                  <a:schemeClr val="bg1">
                    <a:lumMod val="50000"/>
                  </a:schemeClr>
                </a:solidFill>
              </a:rPr>
              <a:t> no es cierta H</a:t>
            </a:r>
            <a:r>
              <a:rPr lang="es-ES" sz="1050" baseline="-25000" dirty="0">
                <a:solidFill>
                  <a:schemeClr val="bg1">
                    <a:lumMod val="50000"/>
                  </a:schemeClr>
                </a:solidFill>
              </a:rPr>
              <a:t>0</a:t>
            </a:r>
          </a:p>
        </p:txBody>
      </p:sp>
      <p:sp>
        <p:nvSpPr>
          <p:cNvPr id="3" name="TextBox 2">
            <a:extLst>
              <a:ext uri="{FF2B5EF4-FFF2-40B4-BE49-F238E27FC236}">
                <a16:creationId xmlns:a16="http://schemas.microsoft.com/office/drawing/2014/main" id="{65AA7BDB-3AF2-F85C-CE62-35EE88F4E66C}"/>
              </a:ext>
            </a:extLst>
          </p:cNvPr>
          <p:cNvSpPr txBox="1"/>
          <p:nvPr/>
        </p:nvSpPr>
        <p:spPr>
          <a:xfrm>
            <a:off x="5610421" y="6566325"/>
            <a:ext cx="3732112" cy="276999"/>
          </a:xfrm>
          <a:prstGeom prst="rect">
            <a:avLst/>
          </a:prstGeom>
          <a:noFill/>
        </p:spPr>
        <p:txBody>
          <a:bodyPr wrap="none" rtlCol="0">
            <a:spAutoFit/>
          </a:bodyPr>
          <a:lstStyle/>
          <a:p>
            <a:r>
              <a:rPr lang="en-US" dirty="0"/>
              <a:t> </a:t>
            </a:r>
            <a:r>
              <a:rPr lang="en-US" dirty="0" err="1"/>
              <a:t>probabilidad</a:t>
            </a:r>
            <a:r>
              <a:rPr lang="en-US" dirty="0"/>
              <a:t> de </a:t>
            </a:r>
            <a:r>
              <a:rPr lang="en-US" dirty="0" err="1"/>
              <a:t>aceptar</a:t>
            </a:r>
            <a:r>
              <a:rPr lang="en-US" dirty="0"/>
              <a:t> H1 </a:t>
            </a:r>
            <a:r>
              <a:rPr lang="en-US" dirty="0" err="1"/>
              <a:t>cuando</a:t>
            </a:r>
            <a:r>
              <a:rPr lang="en-US" dirty="0"/>
              <a:t> </a:t>
            </a:r>
            <a:r>
              <a:rPr lang="en-US" dirty="0" err="1"/>
              <a:t>esta</a:t>
            </a:r>
            <a:r>
              <a:rPr lang="en-US" dirty="0"/>
              <a:t> es </a:t>
            </a:r>
            <a:r>
              <a:rPr lang="en-US" dirty="0" err="1"/>
              <a:t>cierta</a:t>
            </a:r>
            <a:r>
              <a:rPr lang="en-US" dirty="0"/>
              <a:t> </a:t>
            </a:r>
          </a:p>
        </p:txBody>
      </p:sp>
    </p:spTree>
    <p:extLst>
      <p:ext uri="{BB962C8B-B14F-4D97-AF65-F5344CB8AC3E}">
        <p14:creationId xmlns:p14="http://schemas.microsoft.com/office/powerpoint/2010/main" val="246887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B86178-4A9F-67BC-747F-7F3B5BB62134}"/>
              </a:ext>
            </a:extLst>
          </p:cNvPr>
          <p:cNvSpPr txBox="1"/>
          <p:nvPr/>
        </p:nvSpPr>
        <p:spPr>
          <a:xfrm>
            <a:off x="304564" y="1090392"/>
            <a:ext cx="3467573" cy="3462486"/>
          </a:xfrm>
          <a:prstGeom prst="rect">
            <a:avLst/>
          </a:prstGeom>
          <a:noFill/>
        </p:spPr>
        <p:txBody>
          <a:bodyPr wrap="square">
            <a:spAutoFit/>
          </a:bodyPr>
          <a:lstStyle/>
          <a:p>
            <a:pPr defTabSz="685800" eaLnBrk="0" hangingPunct="0"/>
            <a:endParaRPr lang="en-US" altLang="en-US" dirty="0">
              <a:latin typeface="Arial" panose="020B0604020202020204" pitchFamily="34" charset="0"/>
              <a:cs typeface="Arial" panose="020B0604020202020204" pitchFamily="34" charset="0"/>
            </a:endParaRPr>
          </a:p>
          <a:p>
            <a:pPr defTabSz="685800" eaLnBrk="0" hangingPunct="0"/>
            <a:r>
              <a:rPr lang="en-US" altLang="en-US" b="1" dirty="0">
                <a:latin typeface="Arial" panose="020B0604020202020204" pitchFamily="34" charset="0"/>
                <a:cs typeface="Arial" panose="020B0604020202020204" pitchFamily="34" charset="0"/>
              </a:rPr>
              <a:t>• </a:t>
            </a:r>
            <a:r>
              <a:rPr lang="en-US" altLang="en-US" b="1" i="1" dirty="0">
                <a:latin typeface="Arial" panose="020B0604020202020204" pitchFamily="34" charset="0"/>
                <a:cs typeface="Arial" panose="020B0604020202020204" pitchFamily="34" charset="0"/>
              </a:rPr>
              <a:t>Error </a:t>
            </a:r>
            <a:r>
              <a:rPr lang="en-US" altLang="en-US" b="1" i="1" dirty="0" err="1">
                <a:latin typeface="Arial" panose="020B0604020202020204" pitchFamily="34" charset="0"/>
                <a:cs typeface="Arial" panose="020B0604020202020204" pitchFamily="34" charset="0"/>
              </a:rPr>
              <a:t>tipo</a:t>
            </a:r>
            <a:r>
              <a:rPr lang="en-US" altLang="en-US" b="1" i="1" dirty="0">
                <a:latin typeface="Arial" panose="020B0604020202020204" pitchFamily="34" charset="0"/>
                <a:cs typeface="Arial" panose="020B0604020202020204" pitchFamily="34" charset="0"/>
              </a:rPr>
              <a:t> 1</a:t>
            </a:r>
            <a:r>
              <a:rPr lang="en-US" altLang="en-US" i="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la </a:t>
            </a:r>
            <a:r>
              <a:rPr lang="en-US" altLang="en-US" dirty="0" err="1">
                <a:latin typeface="Arial" panose="020B0604020202020204" pitchFamily="34" charset="0"/>
                <a:cs typeface="Arial" panose="020B0604020202020204" pitchFamily="34" charset="0"/>
              </a:rPr>
              <a:t>hipótesis</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nula</a:t>
            </a:r>
            <a:r>
              <a:rPr lang="en-US" altLang="en-US" dirty="0">
                <a:latin typeface="Arial" panose="020B0604020202020204" pitchFamily="34" charset="0"/>
                <a:cs typeface="Arial" panose="020B0604020202020204" pitchFamily="34" charset="0"/>
              </a:rPr>
              <a:t> es, </a:t>
            </a:r>
            <a:r>
              <a:rPr lang="en-US" altLang="en-US" dirty="0" err="1">
                <a:latin typeface="Arial" panose="020B0604020202020204" pitchFamily="34" charset="0"/>
                <a:cs typeface="Arial" panose="020B0604020202020204" pitchFamily="34" charset="0"/>
              </a:rPr>
              <a:t>en</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realidad</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cierta</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pero</a:t>
            </a:r>
            <a:r>
              <a:rPr lang="en-US" altLang="en-US" dirty="0">
                <a:latin typeface="Arial" panose="020B0604020202020204" pitchFamily="34" charset="0"/>
                <a:cs typeface="Arial" panose="020B0604020202020204" pitchFamily="34" charset="0"/>
              </a:rPr>
              <a:t>, a </a:t>
            </a:r>
            <a:r>
              <a:rPr lang="en-US" altLang="en-US" dirty="0" err="1">
                <a:latin typeface="Arial" panose="020B0604020202020204" pitchFamily="34" charset="0"/>
                <a:cs typeface="Arial" panose="020B0604020202020204" pitchFamily="34" charset="0"/>
              </a:rPr>
              <a:t>pesar</a:t>
            </a:r>
            <a:r>
              <a:rPr lang="en-US" altLang="en-US" dirty="0">
                <a:latin typeface="Arial" panose="020B0604020202020204" pitchFamily="34" charset="0"/>
                <a:cs typeface="Arial" panose="020B0604020202020204" pitchFamily="34" charset="0"/>
              </a:rPr>
              <a:t> de </a:t>
            </a:r>
            <a:r>
              <a:rPr lang="en-US" altLang="en-US" dirty="0" err="1">
                <a:latin typeface="Arial" panose="020B0604020202020204" pitchFamily="34" charset="0"/>
                <a:cs typeface="Arial" panose="020B0604020202020204" pitchFamily="34" charset="0"/>
              </a:rPr>
              <a:t>todo</a:t>
            </a:r>
            <a:r>
              <a:rPr lang="en-US" altLang="en-US" dirty="0">
                <a:latin typeface="Arial" panose="020B0604020202020204" pitchFamily="34" charset="0"/>
                <a:cs typeface="Arial" panose="020B0604020202020204" pitchFamily="34" charset="0"/>
              </a:rPr>
              <a:t>, se </a:t>
            </a:r>
            <a:r>
              <a:rPr lang="en-US" altLang="en-US" dirty="0" err="1">
                <a:latin typeface="Arial" panose="020B0604020202020204" pitchFamily="34" charset="0"/>
                <a:cs typeface="Arial" panose="020B0604020202020204" pitchFamily="34" charset="0"/>
              </a:rPr>
              <a:t>rechaza</a:t>
            </a:r>
            <a:r>
              <a:rPr lang="en-US" altLang="en-US" dirty="0">
                <a:latin typeface="Arial" panose="020B0604020202020204" pitchFamily="34" charset="0"/>
                <a:cs typeface="Arial" panose="020B0604020202020204" pitchFamily="34" charset="0"/>
              </a:rPr>
              <a:t> (no hay </a:t>
            </a:r>
            <a:r>
              <a:rPr lang="en-US" altLang="en-US" dirty="0" err="1">
                <a:latin typeface="Arial" panose="020B0604020202020204" pitchFamily="34" charset="0"/>
                <a:cs typeface="Arial" panose="020B0604020202020204" pitchFamily="34" charset="0"/>
              </a:rPr>
              <a:t>ningún</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efecto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pero</a:t>
            </a:r>
            <a:r>
              <a:rPr lang="en-US" altLang="en-US" dirty="0">
                <a:latin typeface="Arial" panose="020B0604020202020204" pitchFamily="34" charset="0"/>
                <a:cs typeface="Arial" panose="020B0604020202020204" pitchFamily="34" charset="0"/>
              </a:rPr>
              <a:t> se </a:t>
            </a:r>
            <a:r>
              <a:rPr lang="en-US" altLang="en-US" dirty="0" err="1">
                <a:latin typeface="Arial" panose="020B0604020202020204" pitchFamily="34" charset="0"/>
                <a:cs typeface="Arial" panose="020B0604020202020204" pitchFamily="34" charset="0"/>
              </a:rPr>
              <a:t>concluye</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diciendo</a:t>
            </a:r>
            <a:r>
              <a:rPr lang="en-US" altLang="en-US" dirty="0">
                <a:latin typeface="Arial" panose="020B0604020202020204" pitchFamily="34" charset="0"/>
                <a:cs typeface="Arial" panose="020B0604020202020204" pitchFamily="34" charset="0"/>
              </a:rPr>
              <a:t> que </a:t>
            </a:r>
            <a:r>
              <a:rPr lang="en-US" altLang="en-US" dirty="0" err="1">
                <a:latin typeface="Arial" panose="020B0604020202020204" pitchFamily="34" charset="0"/>
                <a:cs typeface="Arial" panose="020B0604020202020204" pitchFamily="34" charset="0"/>
              </a:rPr>
              <a:t>existen</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diferencias</a:t>
            </a:r>
            <a:r>
              <a:rPr lang="en-US" altLang="en-US" dirty="0">
                <a:latin typeface="Arial" panose="020B0604020202020204" pitchFamily="34" charset="0"/>
                <a:cs typeface="Arial" panose="020B0604020202020204" pitchFamily="34" charset="0"/>
              </a:rPr>
              <a:t> </a:t>
            </a:r>
            <a:r>
              <a:rPr lang="en-US" altLang="en-US" i="1" dirty="0" err="1">
                <a:latin typeface="Arial" panose="020B0604020202020204" pitchFamily="34" charset="0"/>
                <a:cs typeface="Arial" panose="020B0604020202020204" pitchFamily="34" charset="0"/>
              </a:rPr>
              <a:t>significativas</a:t>
            </a:r>
            <a:r>
              <a:rPr lang="en-US" altLang="en-US" dirty="0">
                <a:latin typeface="Arial" panose="020B0604020202020204" pitchFamily="34" charset="0"/>
                <a:cs typeface="Arial" panose="020B0604020202020204" pitchFamily="34" charset="0"/>
              </a:rPr>
              <a:t>). </a:t>
            </a:r>
          </a:p>
          <a:p>
            <a:pPr defTabSz="685800" eaLnBrk="0" hangingPunct="0"/>
            <a:br>
              <a:rPr lang="en-US" altLang="en-US" dirty="0">
                <a:latin typeface="Arial" panose="020B0604020202020204" pitchFamily="34" charset="0"/>
                <a:cs typeface="Arial" panose="020B0604020202020204" pitchFamily="34" charset="0"/>
              </a:rPr>
            </a:br>
            <a:r>
              <a:rPr lang="en-US" altLang="en-US" b="1" dirty="0">
                <a:latin typeface="Arial" panose="020B0604020202020204" pitchFamily="34" charset="0"/>
                <a:cs typeface="Arial" panose="020B0604020202020204" pitchFamily="34" charset="0"/>
              </a:rPr>
              <a:t>• </a:t>
            </a:r>
            <a:r>
              <a:rPr lang="en-US" altLang="en-US" b="1" i="1" dirty="0" err="1">
                <a:latin typeface="Arial" panose="020B0604020202020204" pitchFamily="34" charset="0"/>
                <a:cs typeface="Arial" panose="020B0604020202020204" pitchFamily="34" charset="0"/>
              </a:rPr>
              <a:t>Riesgo</a:t>
            </a:r>
            <a:r>
              <a:rPr lang="en-US" altLang="en-US" b="1" i="1" dirty="0">
                <a:latin typeface="Arial" panose="020B0604020202020204" pitchFamily="34" charset="0"/>
                <a:cs typeface="Arial" panose="020B0604020202020204" pitchFamily="34" charset="0"/>
              </a:rPr>
              <a:t> </a:t>
            </a:r>
            <a:r>
              <a:rPr lang="en-US" altLang="en-US" b="1" dirty="0">
                <a:latin typeface="Arial" panose="020B0604020202020204" pitchFamily="34" charset="0"/>
                <a:cs typeface="Arial" panose="020B0604020202020204" pitchFamily="34" charset="0"/>
              </a:rPr>
              <a:t>α: </a:t>
            </a:r>
            <a:r>
              <a:rPr lang="en-US" altLang="en-US" dirty="0" err="1">
                <a:latin typeface="Arial" panose="020B0604020202020204" pitchFamily="34" charset="0"/>
                <a:cs typeface="Arial" panose="020B0604020202020204" pitchFamily="34" charset="0"/>
              </a:rPr>
              <a:t>probabilidad</a:t>
            </a:r>
            <a:r>
              <a:rPr lang="en-US" altLang="en-US" dirty="0">
                <a:latin typeface="Arial" panose="020B0604020202020204" pitchFamily="34" charset="0"/>
                <a:cs typeface="Arial" panose="020B0604020202020204" pitchFamily="34" charset="0"/>
              </a:rPr>
              <a:t> de </a:t>
            </a:r>
            <a:r>
              <a:rPr lang="en-US" altLang="en-US" dirty="0" err="1">
                <a:latin typeface="Arial" panose="020B0604020202020204" pitchFamily="34" charset="0"/>
                <a:cs typeface="Arial" panose="020B0604020202020204" pitchFamily="34" charset="0"/>
              </a:rPr>
              <a:t>cometer</a:t>
            </a:r>
            <a:r>
              <a:rPr lang="en-US" altLang="en-US" dirty="0">
                <a:latin typeface="Arial" panose="020B0604020202020204" pitchFamily="34" charset="0"/>
                <a:cs typeface="Arial" panose="020B0604020202020204" pitchFamily="34" charset="0"/>
              </a:rPr>
              <a:t> un error de </a:t>
            </a:r>
            <a:r>
              <a:rPr lang="en-US" altLang="en-US" dirty="0" err="1">
                <a:latin typeface="Arial" panose="020B0604020202020204" pitchFamily="34" charset="0"/>
                <a:cs typeface="Arial" panose="020B0604020202020204" pitchFamily="34" charset="0"/>
              </a:rPr>
              <a:t>tipo</a:t>
            </a:r>
            <a:r>
              <a:rPr lang="en-US" altLang="en-US" dirty="0">
                <a:latin typeface="Arial" panose="020B0604020202020204" pitchFamily="34" charset="0"/>
                <a:cs typeface="Arial" panose="020B0604020202020204" pitchFamily="34" charset="0"/>
              </a:rPr>
              <a:t> 1. Es un umbral de </a:t>
            </a:r>
            <a:r>
              <a:rPr lang="en-US" altLang="en-US" dirty="0" err="1">
                <a:latin typeface="Arial" panose="020B0604020202020204" pitchFamily="34" charset="0"/>
                <a:cs typeface="Arial" panose="020B0604020202020204" pitchFamily="34" charset="0"/>
              </a:rPr>
              <a:t>probabilidad</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establecido</a:t>
            </a:r>
            <a:r>
              <a:rPr lang="en-US" altLang="en-US" dirty="0">
                <a:latin typeface="Arial" panose="020B0604020202020204" pitchFamily="34" charset="0"/>
                <a:cs typeface="Arial" panose="020B0604020202020204" pitchFamily="34" charset="0"/>
              </a:rPr>
              <a:t> </a:t>
            </a:r>
            <a:r>
              <a:rPr lang="en-US" altLang="en-US" i="1" dirty="0">
                <a:latin typeface="Arial" panose="020B0604020202020204" pitchFamily="34" charset="0"/>
                <a:cs typeface="Arial" panose="020B0604020202020204" pitchFamily="34" charset="0"/>
              </a:rPr>
              <a:t>a priori </a:t>
            </a:r>
            <a:r>
              <a:rPr lang="en-US" altLang="en-US" dirty="0" err="1">
                <a:latin typeface="Arial" panose="020B0604020202020204" pitchFamily="34" charset="0"/>
                <a:cs typeface="Arial" panose="020B0604020202020204" pitchFamily="34" charset="0"/>
              </a:rPr>
              <a:t>como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regla</a:t>
            </a:r>
            <a:r>
              <a:rPr lang="en-US" altLang="en-US" dirty="0">
                <a:latin typeface="Arial" panose="020B0604020202020204" pitchFamily="34" charset="0"/>
                <a:cs typeface="Arial" panose="020B0604020202020204" pitchFamily="34" charset="0"/>
              </a:rPr>
              <a:t> de </a:t>
            </a:r>
            <a:r>
              <a:rPr lang="en-US" altLang="en-US" dirty="0" err="1">
                <a:latin typeface="Arial" panose="020B0604020202020204" pitchFamily="34" charset="0"/>
                <a:cs typeface="Arial" panose="020B0604020202020204" pitchFamily="34" charset="0"/>
              </a:rPr>
              <a:t>decisión</a:t>
            </a:r>
            <a:r>
              <a:rPr lang="en-US" altLang="en-US" dirty="0">
                <a:latin typeface="Arial" panose="020B0604020202020204" pitchFamily="34" charset="0"/>
                <a:cs typeface="Arial" panose="020B0604020202020204" pitchFamily="34" charset="0"/>
              </a:rPr>
              <a:t>, de modo que </a:t>
            </a:r>
            <a:r>
              <a:rPr lang="en-US" altLang="en-US" dirty="0" err="1">
                <a:latin typeface="Arial" panose="020B0604020202020204" pitchFamily="34" charset="0"/>
                <a:cs typeface="Arial" panose="020B0604020202020204" pitchFamily="34" charset="0"/>
              </a:rPr>
              <a:t>cuando</a:t>
            </a:r>
            <a:r>
              <a:rPr lang="en-US" altLang="en-US" dirty="0">
                <a:latin typeface="Arial" panose="020B0604020202020204" pitchFamily="34" charset="0"/>
                <a:cs typeface="Arial" panose="020B0604020202020204" pitchFamily="34" charset="0"/>
              </a:rPr>
              <a:t> </a:t>
            </a:r>
            <a:r>
              <a:rPr lang="en-US" altLang="en-US" i="1" dirty="0">
                <a:latin typeface="Arial" panose="020B0604020202020204" pitchFamily="34" charset="0"/>
                <a:cs typeface="Arial" panose="020B0604020202020204" pitchFamily="34" charset="0"/>
              </a:rPr>
              <a:t>p </a:t>
            </a:r>
            <a:r>
              <a:rPr lang="en-US" altLang="en-US" dirty="0">
                <a:latin typeface="Arial" panose="020B0604020202020204" pitchFamily="34" charset="0"/>
                <a:cs typeface="Arial" panose="020B0604020202020204" pitchFamily="34" charset="0"/>
              </a:rPr>
              <a:t>sea inferior a </a:t>
            </a:r>
            <a:r>
              <a:rPr lang="en-US" altLang="en-US" i="1" dirty="0">
                <a:latin typeface="Arial" panose="020B0604020202020204" pitchFamily="34" charset="0"/>
                <a:cs typeface="Arial" panose="020B0604020202020204" pitchFamily="34" charset="0"/>
              </a:rPr>
              <a:t>α, </a:t>
            </a:r>
            <a:r>
              <a:rPr lang="en-US" altLang="en-US" dirty="0">
                <a:latin typeface="Arial" panose="020B0604020202020204" pitchFamily="34" charset="0"/>
                <a:cs typeface="Arial" panose="020B0604020202020204" pitchFamily="34" charset="0"/>
              </a:rPr>
              <a:t>se </a:t>
            </a:r>
            <a:r>
              <a:rPr lang="en-US" altLang="en-US" dirty="0" err="1">
                <a:latin typeface="Arial" panose="020B0604020202020204" pitchFamily="34" charset="0"/>
                <a:cs typeface="Arial" panose="020B0604020202020204" pitchFamily="34" charset="0"/>
              </a:rPr>
              <a:t>rechazara</a:t>
            </a:r>
            <a:r>
              <a:rPr lang="en-US" altLang="en-US" dirty="0">
                <a:latin typeface="Arial" panose="020B0604020202020204" pitchFamily="34" charset="0"/>
                <a:cs typeface="Arial" panose="020B0604020202020204" pitchFamily="34" charset="0"/>
              </a:rPr>
              <a:t>́ la </a:t>
            </a:r>
            <a:r>
              <a:rPr lang="en-US" altLang="en-US" dirty="0" err="1">
                <a:latin typeface="Arial" panose="020B0604020202020204" pitchFamily="34" charset="0"/>
                <a:cs typeface="Arial" panose="020B0604020202020204" pitchFamily="34" charset="0"/>
              </a:rPr>
              <a:t>hipótesis</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nula</a:t>
            </a:r>
            <a:r>
              <a:rPr lang="en-US" altLang="en-US" dirty="0">
                <a:latin typeface="Arial" panose="020B0604020202020204" pitchFamily="34" charset="0"/>
                <a:cs typeface="Arial" panose="020B0604020202020204" pitchFamily="34" charset="0"/>
              </a:rPr>
              <a:t>. </a:t>
            </a:r>
          </a:p>
          <a:p>
            <a:pPr defTabSz="685800" eaLnBrk="0" hangingPunct="0"/>
            <a:endParaRPr lang="en-US" altLang="en-US" dirty="0">
              <a:latin typeface="Arial" panose="020B0604020202020204" pitchFamily="34" charset="0"/>
              <a:cs typeface="Arial" panose="020B0604020202020204" pitchFamily="34" charset="0"/>
            </a:endParaRPr>
          </a:p>
          <a:p>
            <a:pPr defTabSz="685800" eaLnBrk="0" hangingPunct="0"/>
            <a:r>
              <a:rPr lang="en-US" altLang="en-US" dirty="0">
                <a:latin typeface="Arial" panose="020B0604020202020204" pitchFamily="34" charset="0"/>
                <a:cs typeface="Arial" panose="020B0604020202020204" pitchFamily="34" charset="0"/>
              </a:rPr>
              <a:t>Un </a:t>
            </a:r>
            <a:r>
              <a:rPr lang="en-US" altLang="en-US" dirty="0" err="1">
                <a:latin typeface="Arial" panose="020B0604020202020204" pitchFamily="34" charset="0"/>
                <a:cs typeface="Arial" panose="020B0604020202020204" pitchFamily="34" charset="0"/>
              </a:rPr>
              <a:t>riesgo</a:t>
            </a:r>
            <a:r>
              <a:rPr lang="en-US" altLang="en-US" dirty="0">
                <a:latin typeface="Arial" panose="020B0604020202020204" pitchFamily="34" charset="0"/>
                <a:cs typeface="Arial" panose="020B0604020202020204" pitchFamily="34" charset="0"/>
              </a:rPr>
              <a:t> </a:t>
            </a:r>
            <a:r>
              <a:rPr lang="en-US" altLang="en-US" i="1" dirty="0">
                <a:latin typeface="Arial" panose="020B0604020202020204" pitchFamily="34" charset="0"/>
                <a:cs typeface="Arial" panose="020B0604020202020204" pitchFamily="34" charset="0"/>
              </a:rPr>
              <a:t>α </a:t>
            </a:r>
            <a:r>
              <a:rPr lang="en-US" altLang="en-US" dirty="0">
                <a:latin typeface="Arial" panose="020B0604020202020204" pitchFamily="34" charset="0"/>
                <a:cs typeface="Arial" panose="020B0604020202020204" pitchFamily="34" charset="0"/>
              </a:rPr>
              <a:t>del 5% </a:t>
            </a:r>
            <a:r>
              <a:rPr lang="en-US" altLang="en-US" dirty="0" err="1">
                <a:latin typeface="Arial" panose="020B0604020202020204" pitchFamily="34" charset="0"/>
                <a:cs typeface="Arial" panose="020B0604020202020204" pitchFamily="34" charset="0"/>
              </a:rPr>
              <a:t>supone</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aceptar</a:t>
            </a:r>
            <a:r>
              <a:rPr lang="en-US" altLang="en-US" dirty="0">
                <a:latin typeface="Arial" panose="020B0604020202020204" pitchFamily="34" charset="0"/>
                <a:cs typeface="Arial" panose="020B0604020202020204" pitchFamily="34" charset="0"/>
              </a:rPr>
              <a:t> que </a:t>
            </a:r>
            <a:r>
              <a:rPr lang="en-US" altLang="en-US" dirty="0" err="1">
                <a:latin typeface="Arial" panose="020B0604020202020204" pitchFamily="34" charset="0"/>
                <a:cs typeface="Arial" panose="020B0604020202020204" pitchFamily="34" charset="0"/>
              </a:rPr>
              <a:t>en</a:t>
            </a:r>
            <a:r>
              <a:rPr lang="en-US" altLang="en-US" dirty="0">
                <a:latin typeface="Arial" panose="020B0604020202020204" pitchFamily="34" charset="0"/>
                <a:cs typeface="Arial" panose="020B0604020202020204" pitchFamily="34" charset="0"/>
              </a:rPr>
              <a:t> 5 de </a:t>
            </a:r>
            <a:r>
              <a:rPr lang="en-US" altLang="en-US" dirty="0" err="1">
                <a:latin typeface="Arial" panose="020B0604020202020204" pitchFamily="34" charset="0"/>
                <a:cs typeface="Arial" panose="020B0604020202020204" pitchFamily="34" charset="0"/>
              </a:rPr>
              <a:t>cada</a:t>
            </a:r>
            <a:r>
              <a:rPr lang="en-US" altLang="en-US" dirty="0">
                <a:latin typeface="Arial" panose="020B0604020202020204" pitchFamily="34" charset="0"/>
                <a:cs typeface="Arial" panose="020B0604020202020204" pitchFamily="34" charset="0"/>
              </a:rPr>
              <a:t> 100 </a:t>
            </a:r>
            <a:r>
              <a:rPr lang="en-US" altLang="en-US" dirty="0" err="1">
                <a:latin typeface="Arial" panose="020B0604020202020204" pitchFamily="34" charset="0"/>
                <a:cs typeface="Arial" panose="020B0604020202020204" pitchFamily="34" charset="0"/>
              </a:rPr>
              <a:t>muestras</a:t>
            </a:r>
            <a:r>
              <a:rPr lang="en-US" altLang="en-US" dirty="0">
                <a:latin typeface="Arial" panose="020B0604020202020204" pitchFamily="34" charset="0"/>
                <a:cs typeface="Arial" panose="020B0604020202020204" pitchFamily="34" charset="0"/>
              </a:rPr>
              <a:t> que </a:t>
            </a:r>
            <a:r>
              <a:rPr lang="en-US" altLang="en-US" dirty="0" err="1">
                <a:latin typeface="Arial" panose="020B0604020202020204" pitchFamily="34" charset="0"/>
                <a:cs typeface="Arial" panose="020B0604020202020204" pitchFamily="34" charset="0"/>
              </a:rPr>
              <a:t>pudieran</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tomarse</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cuando</a:t>
            </a:r>
            <a:r>
              <a:rPr lang="en-US" altLang="en-US" dirty="0">
                <a:latin typeface="Arial" panose="020B0604020202020204" pitchFamily="34" charset="0"/>
                <a:cs typeface="Arial" panose="020B0604020202020204" pitchFamily="34" charset="0"/>
              </a:rPr>
              <a:t> H</a:t>
            </a:r>
            <a:r>
              <a:rPr lang="en-US" altLang="en-US" baseline="-25000" dirty="0">
                <a:latin typeface="Arial" panose="020B0604020202020204" pitchFamily="34" charset="0"/>
                <a:cs typeface="Arial" panose="020B0604020202020204" pitchFamily="34" charset="0"/>
              </a:rPr>
              <a:t>0</a:t>
            </a:r>
            <a:r>
              <a:rPr lang="en-US" altLang="en-US" dirty="0">
                <a:latin typeface="Arial" panose="020B0604020202020204" pitchFamily="34" charset="0"/>
                <a:cs typeface="Arial" panose="020B0604020202020204" pitchFamily="34" charset="0"/>
              </a:rPr>
              <a:t> sea </a:t>
            </a:r>
            <a:r>
              <a:rPr lang="en-US" altLang="en-US" dirty="0" err="1">
                <a:latin typeface="Arial" panose="020B0604020202020204" pitchFamily="34" charset="0"/>
                <a:cs typeface="Arial" panose="020B0604020202020204" pitchFamily="34" charset="0"/>
              </a:rPr>
              <a:t>cierta</a:t>
            </a:r>
            <a:r>
              <a:rPr lang="en-US" altLang="en-US" dirty="0">
                <a:latin typeface="Arial" panose="020B0604020202020204" pitchFamily="34" charset="0"/>
                <a:cs typeface="Arial" panose="020B0604020202020204" pitchFamily="34" charset="0"/>
              </a:rPr>
              <a:t> se </a:t>
            </a:r>
            <a:r>
              <a:rPr lang="en-US" altLang="en-US" dirty="0" err="1">
                <a:latin typeface="Arial" panose="020B0604020202020204" pitchFamily="34" charset="0"/>
                <a:cs typeface="Arial" panose="020B0604020202020204" pitchFamily="34" charset="0"/>
              </a:rPr>
              <a:t>concluira</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erróneamente</a:t>
            </a:r>
            <a:r>
              <a:rPr lang="en-US" altLang="en-US" dirty="0">
                <a:latin typeface="Arial" panose="020B0604020202020204" pitchFamily="34" charset="0"/>
                <a:cs typeface="Arial" panose="020B0604020202020204" pitchFamily="34" charset="0"/>
              </a:rPr>
              <a:t> que </a:t>
            </a:r>
            <a:r>
              <a:rPr lang="en-US" altLang="en-US" dirty="0" err="1">
                <a:latin typeface="Arial" panose="020B0604020202020204" pitchFamily="34" charset="0"/>
                <a:cs typeface="Arial" panose="020B0604020202020204" pitchFamily="34" charset="0"/>
              </a:rPr>
              <a:t>hubo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diferencias</a:t>
            </a:r>
            <a:r>
              <a:rPr lang="en-US" altLang="en-US" dirty="0">
                <a:latin typeface="Arial" panose="020B0604020202020204" pitchFamily="34" charset="0"/>
                <a:cs typeface="Arial" panose="020B0604020202020204" pitchFamily="34" charset="0"/>
              </a:rPr>
              <a:t> </a:t>
            </a:r>
            <a:r>
              <a:rPr lang="en-US" altLang="en-US" i="1" dirty="0" err="1">
                <a:latin typeface="Arial" panose="020B0604020202020204" pitchFamily="34" charset="0"/>
                <a:cs typeface="Arial" panose="020B0604020202020204" pitchFamily="34" charset="0"/>
              </a:rPr>
              <a:t>significati</a:t>
            </a:r>
            <a:r>
              <a:rPr lang="en-US" altLang="en-US" dirty="0" err="1">
                <a:latin typeface="Arial" panose="020B0604020202020204" pitchFamily="34" charset="0"/>
                <a:cs typeface="Arial" panose="020B0604020202020204" pitchFamily="34" charset="0"/>
              </a:rPr>
              <a:t>vas</a:t>
            </a:r>
            <a:r>
              <a:rPr lang="en-US" altLang="en-US" dirty="0">
                <a:latin typeface="Arial" panose="020B0604020202020204" pitchFamily="34" charset="0"/>
                <a:cs typeface="Arial" panose="020B0604020202020204" pitchFamily="34" charset="0"/>
              </a:rPr>
              <a:t>. </a:t>
            </a:r>
          </a:p>
          <a:p>
            <a:pPr defTabSz="685800" eaLnBrk="0" hangingPunct="0"/>
            <a:endParaRPr lang="en-US" altLang="en-US" dirty="0">
              <a:latin typeface="Arial" panose="020B0604020202020204" pitchFamily="34" charset="0"/>
              <a:cs typeface="Arial" panose="020B0604020202020204" pitchFamily="34" charset="0"/>
            </a:endParaRPr>
          </a:p>
          <a:p>
            <a:pPr eaLnBrk="0" fontAlgn="base" hangingPunct="0">
              <a:spcBef>
                <a:spcPct val="0"/>
              </a:spcBef>
              <a:spcAft>
                <a:spcPct val="0"/>
              </a:spcAft>
            </a:pPr>
            <a:r>
              <a:rPr lang="en-US" altLang="en-US" sz="1350" dirty="0">
                <a:latin typeface="Arial" panose="020B0604020202020204" pitchFamily="34" charset="0"/>
                <a:cs typeface="Arial" panose="020B0604020202020204" pitchFamily="34" charset="0"/>
              </a:rPr>
              <a:t>                               </a:t>
            </a:r>
            <a:r>
              <a:rPr lang="en-US" altLang="en-US" sz="1350" dirty="0">
                <a:latin typeface="Arial" panose="020B0604020202020204" pitchFamily="34" charset="0"/>
              </a:rPr>
              <a:t>                      </a:t>
            </a:r>
            <a:r>
              <a:rPr lang="en-US" altLang="en-US" sz="1500" dirty="0">
                <a:latin typeface="Arial" panose="020B0604020202020204" pitchFamily="34" charset="0"/>
              </a:rPr>
              <a:t>   </a:t>
            </a:r>
            <a:r>
              <a:rPr lang="en-US" altLang="en-US" sz="1350" dirty="0">
                <a:latin typeface="Arial" panose="020B0604020202020204" pitchFamily="34" charset="0"/>
              </a:rPr>
              <a:t>      </a:t>
            </a:r>
            <a:endParaRPr lang="en-US" sz="900" dirty="0"/>
          </a:p>
        </p:txBody>
      </p:sp>
      <p:pic>
        <p:nvPicPr>
          <p:cNvPr id="4" name="Picture 3">
            <a:extLst>
              <a:ext uri="{FF2B5EF4-FFF2-40B4-BE49-F238E27FC236}">
                <a16:creationId xmlns:a16="http://schemas.microsoft.com/office/drawing/2014/main" id="{460680C1-1CC6-8CA0-9203-03097015BEBE}"/>
              </a:ext>
            </a:extLst>
          </p:cNvPr>
          <p:cNvPicPr>
            <a:picLocks noChangeAspect="1"/>
          </p:cNvPicPr>
          <p:nvPr/>
        </p:nvPicPr>
        <p:blipFill>
          <a:blip r:embed="rId2"/>
          <a:stretch>
            <a:fillRect/>
          </a:stretch>
        </p:blipFill>
        <p:spPr>
          <a:xfrm>
            <a:off x="3870107" y="1090391"/>
            <a:ext cx="4871358" cy="3938809"/>
          </a:xfrm>
          <a:prstGeom prst="rect">
            <a:avLst/>
          </a:prstGeom>
        </p:spPr>
      </p:pic>
      <p:pic>
        <p:nvPicPr>
          <p:cNvPr id="2" name="Picture 6" descr="page280image11454288">
            <a:extLst>
              <a:ext uri="{FF2B5EF4-FFF2-40B4-BE49-F238E27FC236}">
                <a16:creationId xmlns:a16="http://schemas.microsoft.com/office/drawing/2014/main" id="{3846CEE0-C1BF-C593-EE07-852946973E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3375" y="228600"/>
            <a:ext cx="5637250" cy="473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786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093E8E-1F01-4310-C70A-7F563C26C3FC}"/>
              </a:ext>
            </a:extLst>
          </p:cNvPr>
          <p:cNvSpPr txBox="1"/>
          <p:nvPr/>
        </p:nvSpPr>
        <p:spPr>
          <a:xfrm>
            <a:off x="279556" y="1904841"/>
            <a:ext cx="2910905" cy="3559196"/>
          </a:xfrm>
          <a:prstGeom prst="rect">
            <a:avLst/>
          </a:prstGeom>
        </p:spPr>
        <p:txBody>
          <a:bodyPr vert="horz" lIns="68580" tIns="34290" rIns="68580" bIns="34290" rtlCol="0">
            <a:normAutofit/>
          </a:bodyPr>
          <a:lstStyle/>
          <a:p>
            <a:pPr>
              <a:lnSpc>
                <a:spcPct val="90000"/>
              </a:lnSpc>
              <a:spcAft>
                <a:spcPts val="450"/>
              </a:spcAft>
            </a:pPr>
            <a:r>
              <a:rPr lang="en-US" altLang="en-US" b="1" dirty="0"/>
              <a:t>• </a:t>
            </a:r>
            <a:r>
              <a:rPr lang="en-US" altLang="en-US" b="1" i="1" dirty="0"/>
              <a:t>Error </a:t>
            </a:r>
            <a:r>
              <a:rPr lang="en-US" altLang="en-US" b="1" i="1" dirty="0" err="1"/>
              <a:t>tipo</a:t>
            </a:r>
            <a:r>
              <a:rPr lang="en-US" altLang="en-US" b="1" i="1" dirty="0"/>
              <a:t> 2: </a:t>
            </a:r>
            <a:r>
              <a:rPr lang="en-US" altLang="en-US" dirty="0"/>
              <a:t>no se </a:t>
            </a:r>
            <a:r>
              <a:rPr lang="en-US" altLang="en-US" dirty="0" err="1"/>
              <a:t>rechaza</a:t>
            </a:r>
            <a:r>
              <a:rPr lang="en-US" altLang="en-US" dirty="0"/>
              <a:t> la </a:t>
            </a:r>
            <a:r>
              <a:rPr lang="en-US" altLang="en-US" dirty="0" err="1"/>
              <a:t>hipótesis</a:t>
            </a:r>
            <a:r>
              <a:rPr lang="en-US" altLang="en-US" dirty="0"/>
              <a:t> </a:t>
            </a:r>
            <a:r>
              <a:rPr lang="en-US" altLang="en-US" dirty="0" err="1"/>
              <a:t>nula</a:t>
            </a:r>
            <a:r>
              <a:rPr lang="en-US" altLang="en-US" dirty="0"/>
              <a:t> </a:t>
            </a:r>
            <a:r>
              <a:rPr lang="en-US" altLang="en-US" dirty="0" err="1"/>
              <a:t>cuando</a:t>
            </a:r>
            <a:r>
              <a:rPr lang="en-US" altLang="en-US" dirty="0"/>
              <a:t> es </a:t>
            </a:r>
            <a:r>
              <a:rPr lang="en-US" altLang="en-US" dirty="0" err="1"/>
              <a:t>en</a:t>
            </a:r>
            <a:r>
              <a:rPr lang="en-US" altLang="en-US" dirty="0"/>
              <a:t> </a:t>
            </a:r>
            <a:r>
              <a:rPr lang="en-US" altLang="en-US" dirty="0" err="1"/>
              <a:t>realidad</a:t>
            </a:r>
            <a:r>
              <a:rPr lang="en-US" altLang="en-US" dirty="0"/>
              <a:t> falsa y se </a:t>
            </a:r>
            <a:r>
              <a:rPr lang="en-US" altLang="en-US" dirty="0" err="1"/>
              <a:t>debería</a:t>
            </a:r>
            <a:r>
              <a:rPr lang="en-US" altLang="en-US" dirty="0"/>
              <a:t> </a:t>
            </a:r>
            <a:r>
              <a:rPr lang="en-US" altLang="en-US" dirty="0" err="1"/>
              <a:t>haber</a:t>
            </a:r>
            <a:r>
              <a:rPr lang="en-US" altLang="en-US" dirty="0"/>
              <a:t> </a:t>
            </a:r>
            <a:r>
              <a:rPr lang="en-US" altLang="en-US" dirty="0" err="1"/>
              <a:t>rechazado</a:t>
            </a:r>
            <a:r>
              <a:rPr lang="en-US" altLang="en-US" dirty="0"/>
              <a:t> (H</a:t>
            </a:r>
            <a:r>
              <a:rPr lang="en-US" altLang="en-US" baseline="-25000" dirty="0"/>
              <a:t>1</a:t>
            </a:r>
            <a:r>
              <a:rPr lang="en-US" altLang="en-US" dirty="0"/>
              <a:t> y </a:t>
            </a:r>
            <a:r>
              <a:rPr lang="en-US" altLang="en-US" dirty="0" err="1"/>
              <a:t>existe</a:t>
            </a:r>
            <a:r>
              <a:rPr lang="en-US" altLang="en-US" dirty="0"/>
              <a:t> un </a:t>
            </a:r>
            <a:r>
              <a:rPr lang="en-US" altLang="en-US" dirty="0" err="1"/>
              <a:t>efecto</a:t>
            </a:r>
            <a:r>
              <a:rPr lang="en-US" altLang="en-US" dirty="0"/>
              <a:t>, </a:t>
            </a:r>
            <a:r>
              <a:rPr lang="en-US" altLang="en-US" dirty="0" err="1"/>
              <a:t>pero</a:t>
            </a:r>
            <a:r>
              <a:rPr lang="en-US" altLang="en-US" dirty="0"/>
              <a:t> se </a:t>
            </a:r>
            <a:r>
              <a:rPr lang="en-US" altLang="en-US" dirty="0" err="1"/>
              <a:t>concluye</a:t>
            </a:r>
            <a:r>
              <a:rPr lang="en-US" altLang="en-US" dirty="0"/>
              <a:t> que no hay </a:t>
            </a:r>
            <a:r>
              <a:rPr lang="en-US" altLang="en-US" dirty="0" err="1"/>
              <a:t>significación</a:t>
            </a:r>
            <a:r>
              <a:rPr lang="en-US" altLang="en-US" dirty="0"/>
              <a:t> </a:t>
            </a:r>
            <a:r>
              <a:rPr lang="en-US" altLang="en-US" dirty="0" err="1"/>
              <a:t>estadística</a:t>
            </a:r>
            <a:r>
              <a:rPr lang="en-US" altLang="en-US" dirty="0"/>
              <a:t>).</a:t>
            </a:r>
          </a:p>
          <a:p>
            <a:pPr indent="-171450">
              <a:lnSpc>
                <a:spcPct val="90000"/>
              </a:lnSpc>
              <a:spcAft>
                <a:spcPts val="450"/>
              </a:spcAft>
              <a:buFont typeface="Arial" panose="020B0604020202020204" pitchFamily="34" charset="0"/>
              <a:buChar char="•"/>
            </a:pPr>
            <a:endParaRPr lang="en-US" altLang="en-US" dirty="0"/>
          </a:p>
          <a:p>
            <a:pPr>
              <a:lnSpc>
                <a:spcPct val="90000"/>
              </a:lnSpc>
              <a:spcAft>
                <a:spcPts val="450"/>
              </a:spcAft>
            </a:pPr>
            <a:r>
              <a:rPr lang="en-US" altLang="en-US" b="1" dirty="0"/>
              <a:t>• </a:t>
            </a:r>
            <a:r>
              <a:rPr lang="en-US" altLang="en-US" b="1" i="1" dirty="0" err="1"/>
              <a:t>Riesgo</a:t>
            </a:r>
            <a:r>
              <a:rPr lang="en-US" altLang="en-US" b="1" i="1" dirty="0"/>
              <a:t> </a:t>
            </a:r>
            <a:r>
              <a:rPr lang="en-US" altLang="en-US" b="1" dirty="0"/>
              <a:t>β</a:t>
            </a:r>
            <a:r>
              <a:rPr lang="en-US" altLang="en-US" dirty="0"/>
              <a:t>: </a:t>
            </a:r>
            <a:r>
              <a:rPr lang="en-US" altLang="en-US" dirty="0" err="1"/>
              <a:t>probabilidad</a:t>
            </a:r>
            <a:r>
              <a:rPr lang="en-US" altLang="en-US" dirty="0"/>
              <a:t> de </a:t>
            </a:r>
            <a:r>
              <a:rPr lang="en-US" altLang="en-US" dirty="0" err="1"/>
              <a:t>cometer</a:t>
            </a:r>
            <a:r>
              <a:rPr lang="en-US" altLang="en-US" dirty="0"/>
              <a:t> un error </a:t>
            </a:r>
            <a:r>
              <a:rPr lang="en-US" altLang="en-US" dirty="0" err="1"/>
              <a:t>tipo</a:t>
            </a:r>
            <a:r>
              <a:rPr lang="en-US" altLang="en-US" dirty="0"/>
              <a:t> 2.  Un </a:t>
            </a:r>
            <a:r>
              <a:rPr lang="en-US" altLang="en-US" dirty="0" err="1"/>
              <a:t>riesgo</a:t>
            </a:r>
            <a:r>
              <a:rPr lang="en-US" altLang="en-US" dirty="0"/>
              <a:t> </a:t>
            </a:r>
            <a:r>
              <a:rPr lang="en-US" altLang="en-US" i="1" dirty="0"/>
              <a:t>β </a:t>
            </a:r>
            <a:r>
              <a:rPr lang="en-US" altLang="en-US" dirty="0"/>
              <a:t>del 20% </a:t>
            </a:r>
            <a:r>
              <a:rPr lang="en-US" altLang="en-US" dirty="0" err="1"/>
              <a:t>supone</a:t>
            </a:r>
            <a:r>
              <a:rPr lang="en-US" altLang="en-US" dirty="0"/>
              <a:t> </a:t>
            </a:r>
            <a:r>
              <a:rPr lang="en-US" altLang="en-US" dirty="0" err="1"/>
              <a:t>aceptar</a:t>
            </a:r>
            <a:r>
              <a:rPr lang="en-US" altLang="en-US" dirty="0"/>
              <a:t> que de </a:t>
            </a:r>
            <a:r>
              <a:rPr lang="en-US" altLang="en-US" dirty="0" err="1"/>
              <a:t>cada</a:t>
            </a:r>
            <a:r>
              <a:rPr lang="en-US" altLang="en-US" dirty="0"/>
              <a:t> 100 </a:t>
            </a:r>
            <a:r>
              <a:rPr lang="en-US" altLang="en-US" dirty="0" err="1"/>
              <a:t>veces</a:t>
            </a:r>
            <a:r>
              <a:rPr lang="en-US" altLang="en-US" dirty="0"/>
              <a:t> que </a:t>
            </a:r>
            <a:r>
              <a:rPr lang="en-US" altLang="en-US" dirty="0" err="1"/>
              <a:t>exista</a:t>
            </a:r>
            <a:r>
              <a:rPr lang="en-US" altLang="en-US" dirty="0"/>
              <a:t> </a:t>
            </a:r>
            <a:r>
              <a:rPr lang="en-US" altLang="en-US" dirty="0" err="1"/>
              <a:t>efecto</a:t>
            </a:r>
            <a:r>
              <a:rPr lang="en-US" altLang="en-US" dirty="0"/>
              <a:t> (H</a:t>
            </a:r>
            <a:r>
              <a:rPr lang="en-US" altLang="en-US" baseline="-25000" dirty="0"/>
              <a:t>1</a:t>
            </a:r>
            <a:r>
              <a:rPr lang="en-US" altLang="en-US" dirty="0"/>
              <a:t> es </a:t>
            </a:r>
            <a:r>
              <a:rPr lang="en-US" altLang="en-US" dirty="0" err="1"/>
              <a:t>cierta</a:t>
            </a:r>
            <a:r>
              <a:rPr lang="en-US" altLang="en-US" dirty="0"/>
              <a:t>), </a:t>
            </a:r>
            <a:r>
              <a:rPr lang="en-US" altLang="en-US" dirty="0" err="1"/>
              <a:t>este</a:t>
            </a:r>
            <a:r>
              <a:rPr lang="en-US" altLang="en-US" dirty="0"/>
              <a:t>  no se </a:t>
            </a:r>
            <a:r>
              <a:rPr lang="en-US" altLang="en-US" dirty="0" err="1"/>
              <a:t>detectara</a:t>
            </a:r>
            <a:r>
              <a:rPr lang="en-US" altLang="en-US" dirty="0"/>
              <a:t>́. </a:t>
            </a:r>
          </a:p>
          <a:p>
            <a:pPr>
              <a:lnSpc>
                <a:spcPct val="90000"/>
              </a:lnSpc>
              <a:spcAft>
                <a:spcPts val="450"/>
              </a:spcAft>
            </a:pPr>
            <a:endParaRPr lang="en-US" altLang="en-US" dirty="0"/>
          </a:p>
          <a:p>
            <a:pPr>
              <a:lnSpc>
                <a:spcPct val="90000"/>
              </a:lnSpc>
              <a:spcAft>
                <a:spcPts val="450"/>
              </a:spcAft>
            </a:pPr>
            <a:r>
              <a:rPr lang="en-US" altLang="en-US" b="1" dirty="0"/>
              <a:t>• </a:t>
            </a:r>
            <a:r>
              <a:rPr lang="en-US" altLang="en-US" b="1" i="1" dirty="0" err="1"/>
              <a:t>Potencia</a:t>
            </a:r>
            <a:r>
              <a:rPr lang="en-US" altLang="en-US" b="1" i="1" dirty="0"/>
              <a:t> </a:t>
            </a:r>
            <a:r>
              <a:rPr lang="en-US" altLang="en-US" b="1" i="1" dirty="0" err="1"/>
              <a:t>estadística</a:t>
            </a:r>
            <a:r>
              <a:rPr lang="en-US" altLang="en-US" b="1" i="1" dirty="0"/>
              <a:t>: </a:t>
            </a:r>
            <a:r>
              <a:rPr lang="en-US" altLang="en-US" dirty="0" err="1"/>
              <a:t>capacidad</a:t>
            </a:r>
            <a:r>
              <a:rPr lang="en-US" altLang="en-US" dirty="0"/>
              <a:t> de </a:t>
            </a:r>
            <a:r>
              <a:rPr lang="en-US" altLang="en-US" dirty="0" err="1"/>
              <a:t>una</a:t>
            </a:r>
            <a:r>
              <a:rPr lang="en-US" altLang="en-US" dirty="0"/>
              <a:t> </a:t>
            </a:r>
            <a:r>
              <a:rPr lang="en-US" altLang="en-US" dirty="0" err="1"/>
              <a:t>prueba</a:t>
            </a:r>
            <a:r>
              <a:rPr lang="en-US" altLang="en-US" dirty="0"/>
              <a:t> para </a:t>
            </a:r>
            <a:r>
              <a:rPr lang="en-US" altLang="en-US" dirty="0" err="1"/>
              <a:t>detectar</a:t>
            </a:r>
            <a:r>
              <a:rPr lang="en-US" altLang="en-US" dirty="0"/>
              <a:t> </a:t>
            </a:r>
            <a:r>
              <a:rPr lang="en-US" altLang="en-US" dirty="0" err="1"/>
              <a:t>una</a:t>
            </a:r>
            <a:r>
              <a:rPr lang="en-US" altLang="en-US" dirty="0"/>
              <a:t> </a:t>
            </a:r>
            <a:r>
              <a:rPr lang="en-US" altLang="en-US" dirty="0" err="1"/>
              <a:t>diferencia</a:t>
            </a:r>
            <a:r>
              <a:rPr lang="en-US" altLang="en-US" dirty="0"/>
              <a:t> </a:t>
            </a:r>
            <a:r>
              <a:rPr lang="en-US" altLang="en-US" dirty="0" err="1"/>
              <a:t>cuando</a:t>
            </a:r>
            <a:r>
              <a:rPr lang="en-US" altLang="en-US" dirty="0"/>
              <a:t> </a:t>
            </a:r>
            <a:r>
              <a:rPr lang="en-US" altLang="en-US" dirty="0" err="1"/>
              <a:t>esta</a:t>
            </a:r>
            <a:r>
              <a:rPr lang="en-US" altLang="en-US" dirty="0"/>
              <a:t> </a:t>
            </a:r>
            <a:r>
              <a:rPr lang="en-US" altLang="en-US" dirty="0" err="1"/>
              <a:t>existe</a:t>
            </a:r>
            <a:r>
              <a:rPr lang="en-US" altLang="en-US" dirty="0"/>
              <a:t> </a:t>
            </a:r>
            <a:r>
              <a:rPr lang="en-US" altLang="en-US" dirty="0" err="1"/>
              <a:t>realmente</a:t>
            </a:r>
            <a:r>
              <a:rPr lang="en-US" altLang="en-US" dirty="0"/>
              <a:t> (H</a:t>
            </a:r>
            <a:r>
              <a:rPr lang="en-US" altLang="en-US" baseline="-25000" dirty="0"/>
              <a:t>1</a:t>
            </a:r>
            <a:r>
              <a:rPr lang="en-US" altLang="en-US" dirty="0"/>
              <a:t> es </a:t>
            </a:r>
            <a:r>
              <a:rPr lang="en-US" altLang="en-US" dirty="0" err="1"/>
              <a:t>cierta</a:t>
            </a:r>
            <a:r>
              <a:rPr lang="en-US" altLang="en-US" dirty="0"/>
              <a:t>). La </a:t>
            </a:r>
            <a:r>
              <a:rPr lang="en-US" altLang="en-US" dirty="0" err="1"/>
              <a:t>potencia</a:t>
            </a:r>
            <a:r>
              <a:rPr lang="en-US" altLang="en-US" dirty="0"/>
              <a:t> es </a:t>
            </a:r>
            <a:r>
              <a:rPr lang="en-US" altLang="en-US" dirty="0" err="1"/>
              <a:t>el</a:t>
            </a:r>
            <a:r>
              <a:rPr lang="en-US" altLang="en-US" dirty="0"/>
              <a:t>  </a:t>
            </a:r>
            <a:r>
              <a:rPr lang="en-US" altLang="en-US" dirty="0" err="1"/>
              <a:t>complementario</a:t>
            </a:r>
            <a:r>
              <a:rPr lang="en-US" altLang="en-US" dirty="0"/>
              <a:t> de </a:t>
            </a:r>
            <a:r>
              <a:rPr lang="en-US" altLang="en-US" i="1" dirty="0"/>
              <a:t>β </a:t>
            </a:r>
            <a:endParaRPr lang="en-US" altLang="en-US" dirty="0"/>
          </a:p>
        </p:txBody>
      </p:sp>
      <p:pic>
        <p:nvPicPr>
          <p:cNvPr id="6" name="Picture 5">
            <a:extLst>
              <a:ext uri="{FF2B5EF4-FFF2-40B4-BE49-F238E27FC236}">
                <a16:creationId xmlns:a16="http://schemas.microsoft.com/office/drawing/2014/main" id="{E86C0AAA-5D8D-8A1D-33EE-042203CF33D3}"/>
              </a:ext>
            </a:extLst>
          </p:cNvPr>
          <p:cNvPicPr>
            <a:picLocks noChangeAspect="1"/>
          </p:cNvPicPr>
          <p:nvPr/>
        </p:nvPicPr>
        <p:blipFill>
          <a:blip r:embed="rId2"/>
          <a:stretch>
            <a:fillRect/>
          </a:stretch>
        </p:blipFill>
        <p:spPr>
          <a:xfrm>
            <a:off x="3429000" y="1887780"/>
            <a:ext cx="5314553" cy="3082440"/>
          </a:xfrm>
          <a:prstGeom prst="rect">
            <a:avLst/>
          </a:prstGeom>
        </p:spPr>
      </p:pic>
      <p:pic>
        <p:nvPicPr>
          <p:cNvPr id="2" name="Picture 7" descr="page280image11454496">
            <a:extLst>
              <a:ext uri="{FF2B5EF4-FFF2-40B4-BE49-F238E27FC236}">
                <a16:creationId xmlns:a16="http://schemas.microsoft.com/office/drawing/2014/main" id="{504F33BC-69D0-3ABF-B2B7-9D7292E2A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914400"/>
            <a:ext cx="6823320" cy="573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115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DAA422D-D856-58C2-BEAD-DC34FD8B457F}"/>
                  </a:ext>
                </a:extLst>
              </p:cNvPr>
              <p:cNvSpPr>
                <a:spLocks noGrp="1"/>
              </p:cNvSpPr>
              <p:nvPr>
                <p:ph type="title"/>
              </p:nvPr>
            </p:nvSpPr>
            <p:spPr/>
            <p:txBody>
              <a:bodyPr>
                <a:normAutofit/>
              </a:bodyPr>
              <a:lstStyle/>
              <a:p>
                <a:r>
                  <a:rPr lang="en-US" sz="3600" b="1" dirty="0" err="1">
                    <a:latin typeface="Arial" panose="020B0604020202020204" pitchFamily="34" charset="0"/>
                    <a:cs typeface="Arial" panose="020B0604020202020204" pitchFamily="34" charset="0"/>
                  </a:rPr>
                  <a:t>Región</a:t>
                </a:r>
                <a:r>
                  <a:rPr lang="en-US" sz="3600" b="1" dirty="0">
                    <a:latin typeface="Arial" panose="020B0604020202020204" pitchFamily="34" charset="0"/>
                    <a:cs typeface="Arial" panose="020B0604020202020204" pitchFamily="34" charset="0"/>
                  </a:rPr>
                  <a:t> </a:t>
                </a:r>
                <a:r>
                  <a:rPr lang="en-US" sz="3600" b="1" dirty="0" err="1">
                    <a:latin typeface="Arial" panose="020B0604020202020204" pitchFamily="34" charset="0"/>
                    <a:cs typeface="Arial" panose="020B0604020202020204" pitchFamily="34" charset="0"/>
                  </a:rPr>
                  <a:t>crítica</a:t>
                </a:r>
                <a:r>
                  <a:rPr lang="en-US" sz="3600" b="1" dirty="0">
                    <a:latin typeface="Arial" panose="020B0604020202020204" pitchFamily="34" charset="0"/>
                    <a:cs typeface="Arial" panose="020B0604020202020204" pitchFamily="34" charset="0"/>
                  </a:rPr>
                  <a:t> de </a:t>
                </a:r>
                <a:r>
                  <a:rPr lang="en-US" sz="3600" b="1" dirty="0" err="1">
                    <a:latin typeface="Arial" panose="020B0604020202020204" pitchFamily="34" charset="0"/>
                    <a:cs typeface="Arial" panose="020B0604020202020204" pitchFamily="34" charset="0"/>
                  </a:rPr>
                  <a:t>rechazo</a:t>
                </a:r>
                <a:r>
                  <a:rPr lang="en-US" sz="3600" b="1" dirty="0">
                    <a:latin typeface="Arial" panose="020B0604020202020204" pitchFamily="34" charset="0"/>
                    <a:cs typeface="Arial" panose="020B0604020202020204" pitchFamily="34" charset="0"/>
                  </a:rPr>
                  <a:t> </a:t>
                </a:r>
                <a14:m>
                  <m:oMath xmlns:m="http://schemas.openxmlformats.org/officeDocument/2006/math">
                    <m:r>
                      <a:rPr lang="en-US" sz="3600" b="1" i="1" smtClean="0">
                        <a:latin typeface="Cambria Math" panose="02040503050406030204" pitchFamily="18" charset="0"/>
                        <a:ea typeface="Cambria Math" panose="02040503050406030204" pitchFamily="18" charset="0"/>
                        <a:cs typeface="Arial" panose="020B0604020202020204" pitchFamily="34" charset="0"/>
                      </a:rPr>
                      <m:t>𝜶</m:t>
                    </m:r>
                  </m:oMath>
                </a14:m>
                <a:endParaRPr lang="en-US" sz="3600" b="1" dirty="0">
                  <a:latin typeface="Arial" panose="020B0604020202020204" pitchFamily="34" charset="0"/>
                  <a:cs typeface="Arial" panose="020B0604020202020204" pitchFamily="34" charset="0"/>
                </a:endParaRPr>
              </a:p>
            </p:txBody>
          </p:sp>
        </mc:Choice>
        <mc:Fallback xmlns="">
          <p:sp>
            <p:nvSpPr>
              <p:cNvPr id="2" name="Title 1">
                <a:extLst>
                  <a:ext uri="{FF2B5EF4-FFF2-40B4-BE49-F238E27FC236}">
                    <a16:creationId xmlns:a16="http://schemas.microsoft.com/office/drawing/2014/main" id="{EDAA422D-D856-58C2-BEAD-DC34FD8B457F}"/>
                  </a:ext>
                </a:extLst>
              </p:cNvPr>
              <p:cNvSpPr>
                <a:spLocks noGrp="1" noRot="1" noChangeAspect="1" noMove="1" noResize="1" noEditPoints="1" noAdjustHandles="1" noChangeArrowheads="1" noChangeShapeType="1" noTextEdit="1"/>
              </p:cNvSpPr>
              <p:nvPr>
                <p:ph type="title"/>
              </p:nvPr>
            </p:nvSpPr>
            <p:spPr>
              <a:blipFill>
                <a:blip r:embed="rId2"/>
                <a:stretch>
                  <a:fillRect t="-7692"/>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421FEF34-990A-0D8F-C8AC-8588BB4FE372}"/>
              </a:ext>
            </a:extLst>
          </p:cNvPr>
          <p:cNvSpPr>
            <a:spLocks noGrp="1"/>
          </p:cNvSpPr>
          <p:nvPr>
            <p:ph idx="1"/>
          </p:nvPr>
        </p:nvSpPr>
        <p:spPr>
          <a:xfrm>
            <a:off x="457200" y="990600"/>
            <a:ext cx="8229600" cy="4525963"/>
          </a:xfrm>
        </p:spPr>
        <p:txBody>
          <a:bodyPr/>
          <a:lstStyle/>
          <a:p>
            <a:pPr marL="0" indent="0">
              <a:buNone/>
            </a:pPr>
            <a:r>
              <a:rPr lang="es-ES" sz="3000" kern="100" dirty="0">
                <a:latin typeface="+mj-lt"/>
                <a:ea typeface="Calibri" panose="020F0502020204030204" pitchFamily="34" charset="0"/>
              </a:rPr>
              <a:t>Conjunto de valores del estadístico de contraste que, por </a:t>
            </a:r>
            <a:r>
              <a:rPr lang="es-ES" sz="3000" b="1" kern="100" dirty="0">
                <a:latin typeface="+mj-lt"/>
                <a:ea typeface="Calibri" panose="020F0502020204030204" pitchFamily="34" charset="0"/>
              </a:rPr>
              <a:t>improbables</a:t>
            </a:r>
            <a:r>
              <a:rPr lang="es-ES" sz="3000" kern="100" dirty="0">
                <a:latin typeface="+mj-lt"/>
                <a:ea typeface="Calibri" panose="020F0502020204030204" pitchFamily="34" charset="0"/>
              </a:rPr>
              <a:t> cuando la </a:t>
            </a:r>
            <a:r>
              <a:rPr lang="es-ES" sz="3000" b="1" kern="100" dirty="0">
                <a:latin typeface="+mj-lt"/>
                <a:ea typeface="Calibri" panose="020F0502020204030204" pitchFamily="34" charset="0"/>
              </a:rPr>
              <a:t>hipótesis nula sea cierta</a:t>
            </a:r>
            <a:r>
              <a:rPr lang="es-ES" sz="3000" kern="100" dirty="0">
                <a:latin typeface="+mj-lt"/>
                <a:ea typeface="Calibri" panose="020F0502020204030204" pitchFamily="34" charset="0"/>
              </a:rPr>
              <a:t>, nos llevarían a rechazar la hipótesis nula si es que el estadístico de contraste tomara uno de esos valores.</a:t>
            </a:r>
            <a:endParaRPr lang="en-US" sz="3000" kern="100" dirty="0">
              <a:latin typeface="+mj-lt"/>
              <a:ea typeface="Calibri" panose="020F0502020204030204" pitchFamily="34" charset="0"/>
            </a:endParaRPr>
          </a:p>
          <a:p>
            <a:endParaRPr lang="en-US" dirty="0"/>
          </a:p>
        </p:txBody>
      </p:sp>
    </p:spTree>
    <p:extLst>
      <p:ext uri="{BB962C8B-B14F-4D97-AF65-F5344CB8AC3E}">
        <p14:creationId xmlns:p14="http://schemas.microsoft.com/office/powerpoint/2010/main" val="3140421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DAA422D-D856-58C2-BEAD-DC34FD8B457F}"/>
                  </a:ext>
                </a:extLst>
              </p:cNvPr>
              <p:cNvSpPr>
                <a:spLocks noGrp="1"/>
              </p:cNvSpPr>
              <p:nvPr>
                <p:ph type="title"/>
              </p:nvPr>
            </p:nvSpPr>
            <p:spPr>
              <a:xfrm>
                <a:off x="457199" y="228600"/>
                <a:ext cx="8229600" cy="1143000"/>
              </a:xfrm>
            </p:spPr>
            <p:txBody>
              <a:bodyPr>
                <a:normAutofit/>
              </a:bodyPr>
              <a:lstStyle/>
              <a:p>
                <a:r>
                  <a:rPr lang="en-US" sz="3600" b="1" dirty="0" err="1">
                    <a:latin typeface="Arial" panose="020B0604020202020204" pitchFamily="34" charset="0"/>
                    <a:cs typeface="Arial" panose="020B0604020202020204" pitchFamily="34" charset="0"/>
                  </a:rPr>
                  <a:t>Región</a:t>
                </a:r>
                <a:r>
                  <a:rPr lang="en-US" sz="3600" b="1" dirty="0">
                    <a:latin typeface="Arial" panose="020B0604020202020204" pitchFamily="34" charset="0"/>
                    <a:cs typeface="Arial" panose="020B0604020202020204" pitchFamily="34" charset="0"/>
                  </a:rPr>
                  <a:t> de </a:t>
                </a:r>
                <a:r>
                  <a:rPr lang="en-US" sz="3600" b="1" dirty="0" err="1">
                    <a:latin typeface="Arial" panose="020B0604020202020204" pitchFamily="34" charset="0"/>
                    <a:cs typeface="Arial" panose="020B0604020202020204" pitchFamily="34" charset="0"/>
                  </a:rPr>
                  <a:t>aceptación</a:t>
                </a:r>
                <a:r>
                  <a:rPr lang="en-US" sz="3600" b="1" dirty="0">
                    <a:latin typeface="Arial" panose="020B0604020202020204" pitchFamily="34" charset="0"/>
                    <a:cs typeface="Arial" panose="020B0604020202020204" pitchFamily="34" charset="0"/>
                  </a:rPr>
                  <a:t> (1- </a:t>
                </a:r>
                <a14:m>
                  <m:oMath xmlns:m="http://schemas.openxmlformats.org/officeDocument/2006/math">
                    <m:r>
                      <a:rPr lang="en-US" sz="3600" b="1" i="1">
                        <a:latin typeface="Cambria Math" panose="02040503050406030204" pitchFamily="18" charset="0"/>
                        <a:ea typeface="Cambria Math" panose="02040503050406030204" pitchFamily="18" charset="0"/>
                        <a:cs typeface="Arial" panose="020B0604020202020204" pitchFamily="34" charset="0"/>
                      </a:rPr>
                      <m:t>∝</m:t>
                    </m:r>
                  </m:oMath>
                </a14:m>
                <a:r>
                  <a:rPr lang="en-US" sz="3600" b="1" dirty="0">
                    <a:latin typeface="Arial" panose="020B0604020202020204" pitchFamily="34" charset="0"/>
                    <a:cs typeface="Arial" panose="020B0604020202020204" pitchFamily="34" charset="0"/>
                  </a:rPr>
                  <a:t>)</a:t>
                </a:r>
              </a:p>
            </p:txBody>
          </p:sp>
        </mc:Choice>
        <mc:Fallback xmlns="">
          <p:sp>
            <p:nvSpPr>
              <p:cNvPr id="2" name="Title 1">
                <a:extLst>
                  <a:ext uri="{FF2B5EF4-FFF2-40B4-BE49-F238E27FC236}">
                    <a16:creationId xmlns:a16="http://schemas.microsoft.com/office/drawing/2014/main" id="{EDAA422D-D856-58C2-BEAD-DC34FD8B457F}"/>
                  </a:ext>
                </a:extLst>
              </p:cNvPr>
              <p:cNvSpPr>
                <a:spLocks noGrp="1" noRot="1" noChangeAspect="1" noMove="1" noResize="1" noEditPoints="1" noAdjustHandles="1" noChangeArrowheads="1" noChangeShapeType="1" noTextEdit="1"/>
              </p:cNvSpPr>
              <p:nvPr>
                <p:ph type="title"/>
              </p:nvPr>
            </p:nvSpPr>
            <p:spPr>
              <a:xfrm>
                <a:off x="457199" y="228600"/>
                <a:ext cx="8229600" cy="1143000"/>
              </a:xfrm>
              <a:blipFill>
                <a:blip r:embed="rId2"/>
                <a:stretch>
                  <a:fillRect t="-8791"/>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24DDF69-C2F2-6999-F789-D190FE6A65CA}"/>
              </a:ext>
            </a:extLst>
          </p:cNvPr>
          <p:cNvSpPr txBox="1"/>
          <p:nvPr/>
        </p:nvSpPr>
        <p:spPr>
          <a:xfrm>
            <a:off x="779499" y="990600"/>
            <a:ext cx="7585001" cy="2862322"/>
          </a:xfrm>
          <a:prstGeom prst="rect">
            <a:avLst/>
          </a:prstGeom>
          <a:noFill/>
        </p:spPr>
        <p:txBody>
          <a:bodyPr wrap="square">
            <a:spAutoFit/>
          </a:bodyPr>
          <a:lstStyle/>
          <a:p>
            <a:r>
              <a:rPr lang="es-ES" sz="3000" kern="100" dirty="0">
                <a:latin typeface="+mj-lt"/>
              </a:rPr>
              <a:t>Conjunto de valores del estadístico de contraste que, por </a:t>
            </a:r>
            <a:r>
              <a:rPr lang="es-ES" sz="3000" b="1" kern="100" dirty="0">
                <a:latin typeface="+mj-lt"/>
              </a:rPr>
              <a:t>no improbables </a:t>
            </a:r>
            <a:r>
              <a:rPr lang="es-ES" sz="3000" kern="100" dirty="0">
                <a:latin typeface="+mj-lt"/>
              </a:rPr>
              <a:t>cuando la </a:t>
            </a:r>
            <a:r>
              <a:rPr lang="es-ES" sz="3000" b="1" kern="100" dirty="0">
                <a:latin typeface="+mj-lt"/>
              </a:rPr>
              <a:t>hipótesis nula sea cierta</a:t>
            </a:r>
            <a:r>
              <a:rPr lang="es-ES" sz="3000" kern="100" dirty="0">
                <a:latin typeface="+mj-lt"/>
              </a:rPr>
              <a:t>, nos llevarían a aceptar la hipótesis nula si es que el estadístico de contraste tomara uno de esos valores.</a:t>
            </a:r>
            <a:r>
              <a:rPr lang="en-US" sz="3000" kern="100" dirty="0">
                <a:latin typeface="+mj-lt"/>
              </a:rPr>
              <a:t> </a:t>
            </a:r>
          </a:p>
        </p:txBody>
      </p:sp>
    </p:spTree>
    <p:extLst>
      <p:ext uri="{BB962C8B-B14F-4D97-AF65-F5344CB8AC3E}">
        <p14:creationId xmlns:p14="http://schemas.microsoft.com/office/powerpoint/2010/main" val="2722743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esquinas redondeadas 10"/>
          <p:cNvSpPr/>
          <p:nvPr/>
        </p:nvSpPr>
        <p:spPr>
          <a:xfrm>
            <a:off x="6258070" y="1219200"/>
            <a:ext cx="2721267" cy="1533094"/>
          </a:xfrm>
          <a:prstGeom prst="roundRect">
            <a:avLst>
              <a:gd name="adj" fmla="val 7996"/>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pic>
        <p:nvPicPr>
          <p:cNvPr id="2" name="Imagen 1"/>
          <p:cNvPicPr>
            <a:picLocks noChangeAspect="1"/>
          </p:cNvPicPr>
          <p:nvPr/>
        </p:nvPicPr>
        <p:blipFill>
          <a:blip r:embed="rId2"/>
          <a:stretch>
            <a:fillRect/>
          </a:stretch>
        </p:blipFill>
        <p:spPr>
          <a:xfrm>
            <a:off x="780615" y="1461242"/>
            <a:ext cx="4596605" cy="1379753"/>
          </a:xfrm>
          <a:prstGeom prst="rect">
            <a:avLst/>
          </a:prstGeom>
        </p:spPr>
      </p:pic>
      <p:graphicFrame>
        <p:nvGraphicFramePr>
          <p:cNvPr id="11266" name="Object 107"/>
          <p:cNvGraphicFramePr>
            <a:graphicFrameLocks noChangeAspect="1"/>
          </p:cNvGraphicFramePr>
          <p:nvPr>
            <p:extLst>
              <p:ext uri="{D42A27DB-BD31-4B8C-83A1-F6EECF244321}">
                <p14:modId xmlns:p14="http://schemas.microsoft.com/office/powerpoint/2010/main" val="1254680044"/>
              </p:ext>
            </p:extLst>
          </p:nvPr>
        </p:nvGraphicFramePr>
        <p:xfrm>
          <a:off x="3140075" y="3044825"/>
          <a:ext cx="139700" cy="215900"/>
        </p:xfrm>
        <a:graphic>
          <a:graphicData uri="http://schemas.openxmlformats.org/presentationml/2006/ole">
            <mc:AlternateContent xmlns:mc="http://schemas.openxmlformats.org/markup-compatibility/2006">
              <mc:Choice xmlns:v="urn:schemas-microsoft-com:vml" Requires="v">
                <p:oleObj name="Equation" r:id="rId3" imgW="139579" imgH="215713" progId="Equation.DSMT4">
                  <p:embed/>
                </p:oleObj>
              </mc:Choice>
              <mc:Fallback>
                <p:oleObj name="Equation" r:id="rId3" imgW="139579" imgH="215713" progId="Equation.DSMT4">
                  <p:embed/>
                  <p:pic>
                    <p:nvPicPr>
                      <p:cNvPr id="11266" name="Object 10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0075" y="3044825"/>
                        <a:ext cx="1397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67" name="Text Box 108"/>
          <p:cNvSpPr txBox="1">
            <a:spLocks noChangeArrowheads="1"/>
          </p:cNvSpPr>
          <p:nvPr/>
        </p:nvSpPr>
        <p:spPr bwMode="auto">
          <a:xfrm>
            <a:off x="2619375" y="3215015"/>
            <a:ext cx="114486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sz="1100" b="1" dirty="0">
                <a:solidFill>
                  <a:srgbClr val="800000"/>
                </a:solidFill>
              </a:rPr>
              <a:t>Error de tipo II</a:t>
            </a:r>
          </a:p>
        </p:txBody>
      </p:sp>
      <p:graphicFrame>
        <p:nvGraphicFramePr>
          <p:cNvPr id="11268" name="Object 110"/>
          <p:cNvGraphicFramePr>
            <a:graphicFrameLocks noChangeAspect="1"/>
          </p:cNvGraphicFramePr>
          <p:nvPr>
            <p:extLst>
              <p:ext uri="{D42A27DB-BD31-4B8C-83A1-F6EECF244321}">
                <p14:modId xmlns:p14="http://schemas.microsoft.com/office/powerpoint/2010/main" val="3638155374"/>
              </p:ext>
            </p:extLst>
          </p:nvPr>
        </p:nvGraphicFramePr>
        <p:xfrm>
          <a:off x="4148138" y="3116263"/>
          <a:ext cx="165100" cy="152400"/>
        </p:xfrm>
        <a:graphic>
          <a:graphicData uri="http://schemas.openxmlformats.org/presentationml/2006/ole">
            <mc:AlternateContent xmlns:mc="http://schemas.openxmlformats.org/markup-compatibility/2006">
              <mc:Choice xmlns:v="urn:schemas-microsoft-com:vml" Requires="v">
                <p:oleObj name="Equation" r:id="rId5" imgW="164957" imgH="152268" progId="Equation.DSMT4">
                  <p:embed/>
                </p:oleObj>
              </mc:Choice>
              <mc:Fallback>
                <p:oleObj name="Equation" r:id="rId5" imgW="164957" imgH="152268" progId="Equation.DSMT4">
                  <p:embed/>
                  <p:pic>
                    <p:nvPicPr>
                      <p:cNvPr id="11268" name="Object 1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8138" y="3116263"/>
                        <a:ext cx="16510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9" name="Rectangle 111"/>
          <p:cNvSpPr>
            <a:spLocks noChangeArrowheads="1"/>
          </p:cNvSpPr>
          <p:nvPr/>
        </p:nvSpPr>
        <p:spPr bwMode="auto">
          <a:xfrm>
            <a:off x="4273550" y="3051176"/>
            <a:ext cx="118814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sz="1100" b="1" dirty="0">
                <a:solidFill>
                  <a:srgbClr val="336699"/>
                </a:solidFill>
              </a:rPr>
              <a:t>=Error de tipo I</a:t>
            </a:r>
          </a:p>
        </p:txBody>
      </p:sp>
      <p:sp>
        <p:nvSpPr>
          <p:cNvPr id="11270" name="Line 114"/>
          <p:cNvSpPr>
            <a:spLocks noChangeShapeType="1"/>
          </p:cNvSpPr>
          <p:nvPr/>
        </p:nvSpPr>
        <p:spPr bwMode="auto">
          <a:xfrm>
            <a:off x="3873500" y="2862263"/>
            <a:ext cx="0" cy="863600"/>
          </a:xfrm>
          <a:prstGeom prst="line">
            <a:avLst/>
          </a:prstGeom>
          <a:noFill/>
          <a:ln w="12700">
            <a:solidFill>
              <a:schemeClr val="tx1"/>
            </a:solidFill>
            <a:round/>
            <a:headEnd type="triangle" w="lg"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1271" name="Line 115"/>
          <p:cNvSpPr>
            <a:spLocks noChangeShapeType="1"/>
          </p:cNvSpPr>
          <p:nvPr/>
        </p:nvSpPr>
        <p:spPr bwMode="auto">
          <a:xfrm>
            <a:off x="1800225" y="2871788"/>
            <a:ext cx="0" cy="863600"/>
          </a:xfrm>
          <a:prstGeom prst="line">
            <a:avLst/>
          </a:prstGeom>
          <a:noFill/>
          <a:ln w="12700">
            <a:solidFill>
              <a:schemeClr val="tx1"/>
            </a:solidFill>
            <a:prstDash val="sysDot"/>
            <a:round/>
            <a:headEnd type="triangle" w="lg"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1272" name="AutoShape 117"/>
          <p:cNvSpPr>
            <a:spLocks/>
          </p:cNvSpPr>
          <p:nvPr/>
        </p:nvSpPr>
        <p:spPr bwMode="auto">
          <a:xfrm rot="5400000">
            <a:off x="2759075" y="2792413"/>
            <a:ext cx="153987" cy="2014538"/>
          </a:xfrm>
          <a:prstGeom prst="rightBrace">
            <a:avLst>
              <a:gd name="adj1" fmla="val 109021"/>
              <a:gd name="adj2" fmla="val 50000"/>
            </a:avLst>
          </a:prstGeom>
          <a:noFill/>
          <a:ln w="9525">
            <a:solidFill>
              <a:srgbClr val="0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1274" name="AutoShape 119"/>
          <p:cNvSpPr>
            <a:spLocks/>
          </p:cNvSpPr>
          <p:nvPr/>
        </p:nvSpPr>
        <p:spPr bwMode="auto">
          <a:xfrm rot="5400000">
            <a:off x="1158875" y="3263900"/>
            <a:ext cx="150813" cy="1077913"/>
          </a:xfrm>
          <a:prstGeom prst="rightBrace">
            <a:avLst>
              <a:gd name="adj1" fmla="val 59561"/>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1275" name="Rectangle 120"/>
          <p:cNvSpPr>
            <a:spLocks noChangeArrowheads="1"/>
          </p:cNvSpPr>
          <p:nvPr/>
        </p:nvSpPr>
        <p:spPr bwMode="auto">
          <a:xfrm>
            <a:off x="531813" y="3582988"/>
            <a:ext cx="360362" cy="4333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1277" name="AutoShape 122"/>
          <p:cNvSpPr>
            <a:spLocks noChangeArrowheads="1"/>
          </p:cNvSpPr>
          <p:nvPr/>
        </p:nvSpPr>
        <p:spPr bwMode="auto">
          <a:xfrm rot="16200000">
            <a:off x="820738" y="3763963"/>
            <a:ext cx="73025" cy="73025"/>
          </a:xfrm>
          <a:prstGeom prst="triangle">
            <a:avLst>
              <a:gd name="adj" fmla="val 50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nvGrpSpPr>
          <p:cNvPr id="6" name="Grupo 5"/>
          <p:cNvGrpSpPr/>
          <p:nvPr/>
        </p:nvGrpSpPr>
        <p:grpSpPr>
          <a:xfrm>
            <a:off x="3916361" y="3601082"/>
            <a:ext cx="1817689" cy="287338"/>
            <a:chOff x="3916361" y="3696332"/>
            <a:chExt cx="1817689" cy="287338"/>
          </a:xfrm>
        </p:grpSpPr>
        <p:sp>
          <p:nvSpPr>
            <p:cNvPr id="11273" name="AutoShape 118"/>
            <p:cNvSpPr>
              <a:spLocks/>
            </p:cNvSpPr>
            <p:nvPr/>
          </p:nvSpPr>
          <p:spPr bwMode="auto">
            <a:xfrm rot="5400000">
              <a:off x="4771389" y="2974126"/>
              <a:ext cx="45719" cy="1755776"/>
            </a:xfrm>
            <a:prstGeom prst="rightBrace">
              <a:avLst>
                <a:gd name="adj1" fmla="val 205589"/>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nvGrpSpPr>
            <p:cNvPr id="5" name="Grupo 4"/>
            <p:cNvGrpSpPr/>
            <p:nvPr/>
          </p:nvGrpSpPr>
          <p:grpSpPr>
            <a:xfrm>
              <a:off x="5599113" y="3696332"/>
              <a:ext cx="134937" cy="287338"/>
              <a:chOff x="5599113" y="3696332"/>
              <a:chExt cx="134937" cy="287338"/>
            </a:xfrm>
          </p:grpSpPr>
          <p:sp>
            <p:nvSpPr>
              <p:cNvPr id="11276" name="Rectangle 121"/>
              <p:cNvSpPr>
                <a:spLocks noChangeArrowheads="1"/>
              </p:cNvSpPr>
              <p:nvPr/>
            </p:nvSpPr>
            <p:spPr bwMode="auto">
              <a:xfrm>
                <a:off x="5618065" y="3696332"/>
                <a:ext cx="115985" cy="2873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1278" name="AutoShape 123"/>
              <p:cNvSpPr>
                <a:spLocks noChangeArrowheads="1"/>
              </p:cNvSpPr>
              <p:nvPr/>
            </p:nvSpPr>
            <p:spPr bwMode="auto">
              <a:xfrm rot="5400000" flipH="1">
                <a:off x="5599113" y="3816350"/>
                <a:ext cx="73025" cy="73025"/>
              </a:xfrm>
              <a:prstGeom prst="triangle">
                <a:avLst>
                  <a:gd name="adj" fmla="val 50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grpSp>
      <p:sp>
        <p:nvSpPr>
          <p:cNvPr id="11279" name="Text Box 124"/>
          <p:cNvSpPr txBox="1">
            <a:spLocks noChangeArrowheads="1"/>
          </p:cNvSpPr>
          <p:nvPr/>
        </p:nvSpPr>
        <p:spPr bwMode="auto">
          <a:xfrm>
            <a:off x="3998913" y="3889051"/>
            <a:ext cx="14605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b="1" dirty="0">
                <a:solidFill>
                  <a:srgbClr val="C00000"/>
                </a:solidFill>
              </a:rPr>
              <a:t>Región crítica o de rechazo</a:t>
            </a:r>
          </a:p>
          <a:p>
            <a:pPr algn="ctr" eaLnBrk="1" hangingPunct="1"/>
            <a:r>
              <a:rPr lang="es-ES" altLang="es-ES" sz="1050" dirty="0">
                <a:solidFill>
                  <a:srgbClr val="C00000"/>
                </a:solidFill>
              </a:rPr>
              <a:t>(por la </a:t>
            </a:r>
            <a:r>
              <a:rPr lang="es-ES" altLang="es-ES" sz="1050" dirty="0" err="1">
                <a:solidFill>
                  <a:srgbClr val="C00000"/>
                </a:solidFill>
              </a:rPr>
              <a:t>dcha</a:t>
            </a:r>
            <a:r>
              <a:rPr lang="es-ES" altLang="es-ES" sz="1050" dirty="0">
                <a:solidFill>
                  <a:srgbClr val="C00000"/>
                </a:solidFill>
              </a:rPr>
              <a:t>)</a:t>
            </a:r>
          </a:p>
        </p:txBody>
      </p:sp>
      <p:sp>
        <p:nvSpPr>
          <p:cNvPr id="11280" name="Text Box 125"/>
          <p:cNvSpPr txBox="1">
            <a:spLocks noChangeArrowheads="1"/>
          </p:cNvSpPr>
          <p:nvPr/>
        </p:nvSpPr>
        <p:spPr bwMode="auto">
          <a:xfrm>
            <a:off x="479425" y="3867150"/>
            <a:ext cx="14605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b="1" dirty="0">
                <a:solidFill>
                  <a:srgbClr val="C00000"/>
                </a:solidFill>
              </a:rPr>
              <a:t>Región crítica o de rechazo</a:t>
            </a:r>
          </a:p>
          <a:p>
            <a:pPr algn="ctr" eaLnBrk="1" hangingPunct="1"/>
            <a:r>
              <a:rPr lang="es-ES" altLang="es-ES" sz="1050" dirty="0">
                <a:solidFill>
                  <a:srgbClr val="C00000"/>
                </a:solidFill>
              </a:rPr>
              <a:t>(por la </a:t>
            </a:r>
            <a:r>
              <a:rPr lang="es-ES" altLang="es-ES" sz="1050" dirty="0" err="1">
                <a:solidFill>
                  <a:srgbClr val="C00000"/>
                </a:solidFill>
              </a:rPr>
              <a:t>izda</a:t>
            </a:r>
            <a:r>
              <a:rPr lang="es-ES" altLang="es-ES" sz="1050" dirty="0">
                <a:solidFill>
                  <a:srgbClr val="C00000"/>
                </a:solidFill>
              </a:rPr>
              <a:t>)</a:t>
            </a:r>
          </a:p>
        </p:txBody>
      </p:sp>
      <p:sp>
        <p:nvSpPr>
          <p:cNvPr id="11282" name="Text Box 128"/>
          <p:cNvSpPr txBox="1">
            <a:spLocks noChangeArrowheads="1"/>
          </p:cNvSpPr>
          <p:nvPr/>
        </p:nvSpPr>
        <p:spPr bwMode="auto">
          <a:xfrm>
            <a:off x="2116138" y="3867150"/>
            <a:ext cx="1460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b="1">
                <a:solidFill>
                  <a:srgbClr val="000099"/>
                </a:solidFill>
              </a:rPr>
              <a:t>Región de aceptación</a:t>
            </a:r>
          </a:p>
        </p:txBody>
      </p:sp>
      <p:sp>
        <p:nvSpPr>
          <p:cNvPr id="11283" name="Rectangle 129"/>
          <p:cNvSpPr>
            <a:spLocks noChangeArrowheads="1"/>
          </p:cNvSpPr>
          <p:nvPr/>
        </p:nvSpPr>
        <p:spPr bwMode="auto">
          <a:xfrm>
            <a:off x="3749675" y="3362325"/>
            <a:ext cx="287338" cy="2159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aphicFrame>
        <p:nvGraphicFramePr>
          <p:cNvPr id="11284" name="Object 130"/>
          <p:cNvGraphicFramePr>
            <a:graphicFrameLocks noChangeAspect="1"/>
          </p:cNvGraphicFramePr>
          <p:nvPr>
            <p:extLst>
              <p:ext uri="{D42A27DB-BD31-4B8C-83A1-F6EECF244321}">
                <p14:modId xmlns:p14="http://schemas.microsoft.com/office/powerpoint/2010/main" val="3337829232"/>
              </p:ext>
            </p:extLst>
          </p:nvPr>
        </p:nvGraphicFramePr>
        <p:xfrm>
          <a:off x="3768725" y="3257550"/>
          <a:ext cx="230188" cy="336550"/>
        </p:xfrm>
        <a:graphic>
          <a:graphicData uri="http://schemas.openxmlformats.org/presentationml/2006/ole">
            <mc:AlternateContent xmlns:mc="http://schemas.openxmlformats.org/markup-compatibility/2006">
              <mc:Choice xmlns:v="urn:schemas-microsoft-com:vml" Requires="v">
                <p:oleObj name="Equation" r:id="rId7" imgW="164957" imgH="241091" progId="Equation.DSMT4">
                  <p:embed/>
                </p:oleObj>
              </mc:Choice>
              <mc:Fallback>
                <p:oleObj name="Equation" r:id="rId7" imgW="164957" imgH="241091" progId="Equation.DSMT4">
                  <p:embed/>
                  <p:pic>
                    <p:nvPicPr>
                      <p:cNvPr id="11284" name="Object 1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68725" y="3257550"/>
                        <a:ext cx="230188" cy="3365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5" name="Rectangle 180"/>
          <p:cNvSpPr>
            <a:spLocks noChangeArrowheads="1"/>
          </p:cNvSpPr>
          <p:nvPr/>
        </p:nvSpPr>
        <p:spPr bwMode="auto">
          <a:xfrm rot="17317204">
            <a:off x="6202213" y="6186487"/>
            <a:ext cx="57150" cy="58737"/>
          </a:xfrm>
          <a:prstGeom prst="rect">
            <a:avLst/>
          </a:prstGeom>
          <a:solidFill>
            <a:schemeClr val="bg1"/>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1286" name="Text Box 186"/>
          <p:cNvSpPr txBox="1">
            <a:spLocks noChangeArrowheads="1"/>
          </p:cNvSpPr>
          <p:nvPr/>
        </p:nvSpPr>
        <p:spPr bwMode="auto">
          <a:xfrm>
            <a:off x="284012" y="4495800"/>
            <a:ext cx="8555187" cy="21196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174625" indent="-174625"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20000"/>
              </a:lnSpc>
            </a:pPr>
            <a:r>
              <a:rPr lang="es-ES" altLang="es-ES" sz="1300" b="1" dirty="0"/>
              <a:t>Conceptos fundamentales:</a:t>
            </a:r>
          </a:p>
          <a:p>
            <a:pPr algn="just" eaLnBrk="1" hangingPunct="1">
              <a:spcBef>
                <a:spcPts val="600"/>
              </a:spcBef>
              <a:buFontTx/>
              <a:buChar char="-"/>
            </a:pPr>
            <a:r>
              <a:rPr lang="es-ES" altLang="es-ES" sz="1300" b="1" dirty="0">
                <a:solidFill>
                  <a:srgbClr val="C00000"/>
                </a:solidFill>
              </a:rPr>
              <a:t>Estadístico de contraste</a:t>
            </a:r>
            <a:r>
              <a:rPr lang="es-ES" altLang="es-ES" sz="1300" dirty="0">
                <a:solidFill>
                  <a:srgbClr val="C00000"/>
                </a:solidFill>
              </a:rPr>
              <a:t> </a:t>
            </a:r>
            <a:r>
              <a:rPr lang="es-ES" altLang="es-ES" sz="1300" dirty="0"/>
              <a:t>o </a:t>
            </a:r>
            <a:r>
              <a:rPr lang="es-ES" altLang="es-ES" sz="1300" b="1" dirty="0"/>
              <a:t>cantidad</a:t>
            </a:r>
            <a:r>
              <a:rPr lang="es-ES" altLang="es-ES" sz="1300" dirty="0"/>
              <a:t> </a:t>
            </a:r>
            <a:r>
              <a:rPr lang="es-ES" altLang="es-ES" sz="1300" b="1" dirty="0"/>
              <a:t>experimental:</a:t>
            </a:r>
            <a:r>
              <a:rPr lang="es-ES" altLang="es-ES" sz="1300" dirty="0"/>
              <a:t> </a:t>
            </a:r>
            <a:r>
              <a:rPr lang="es-ES" altLang="es-ES" sz="1300" i="1" dirty="0" err="1"/>
              <a:t>t</a:t>
            </a:r>
            <a:r>
              <a:rPr lang="es-ES" altLang="es-ES" sz="1300" baseline="-25000" dirty="0" err="1"/>
              <a:t>exp</a:t>
            </a:r>
            <a:r>
              <a:rPr lang="es-ES" altLang="es-ES" sz="1300" baseline="-25000" dirty="0"/>
              <a:t>  </a:t>
            </a:r>
            <a:r>
              <a:rPr lang="es-ES" altLang="es-ES" sz="1300" dirty="0"/>
              <a:t>= resumen de la información muestral que permite tomar la decisión a favor (por tomar un valor </a:t>
            </a:r>
            <a:r>
              <a:rPr lang="es-ES" altLang="es-ES" sz="1300" i="1" dirty="0"/>
              <a:t>probable</a:t>
            </a:r>
            <a:r>
              <a:rPr lang="es-ES" altLang="es-ES" sz="1300" dirty="0"/>
              <a:t>) o en contra (por tomar un valor </a:t>
            </a:r>
            <a:r>
              <a:rPr lang="es-ES" altLang="es-ES" sz="1300" i="1" dirty="0"/>
              <a:t>improbable</a:t>
            </a:r>
            <a:r>
              <a:rPr lang="es-ES" altLang="es-ES" sz="1300" dirty="0"/>
              <a:t>) de H</a:t>
            </a:r>
            <a:r>
              <a:rPr lang="es-ES" altLang="es-ES" sz="1300" baseline="-25000" dirty="0"/>
              <a:t>0</a:t>
            </a:r>
          </a:p>
          <a:p>
            <a:pPr algn="just" eaLnBrk="1" hangingPunct="1">
              <a:spcBef>
                <a:spcPts val="600"/>
              </a:spcBef>
              <a:buFontTx/>
              <a:buChar char="-"/>
            </a:pPr>
            <a:r>
              <a:rPr lang="es-ES" altLang="es-ES" sz="1300" b="1" dirty="0"/>
              <a:t>Región de </a:t>
            </a:r>
            <a:r>
              <a:rPr lang="es-ES" altLang="es-ES" sz="1300" b="1" dirty="0">
                <a:solidFill>
                  <a:srgbClr val="C00000"/>
                </a:solidFill>
              </a:rPr>
              <a:t>aceptación</a:t>
            </a:r>
            <a:r>
              <a:rPr lang="es-ES" altLang="es-ES" sz="1300" dirty="0">
                <a:solidFill>
                  <a:srgbClr val="C00000"/>
                </a:solidFill>
              </a:rPr>
              <a:t> </a:t>
            </a:r>
            <a:r>
              <a:rPr lang="es-ES" altLang="es-ES" sz="1300" dirty="0"/>
              <a:t>y </a:t>
            </a:r>
            <a:r>
              <a:rPr lang="es-ES" altLang="es-ES" sz="1300" b="1" dirty="0"/>
              <a:t>región </a:t>
            </a:r>
            <a:r>
              <a:rPr lang="es-ES" altLang="es-ES" sz="1300" b="1" dirty="0">
                <a:solidFill>
                  <a:srgbClr val="C00000"/>
                </a:solidFill>
              </a:rPr>
              <a:t>crítica</a:t>
            </a:r>
            <a:r>
              <a:rPr lang="es-ES" altLang="es-ES" sz="1300" b="1" dirty="0"/>
              <a:t> o de </a:t>
            </a:r>
            <a:r>
              <a:rPr lang="es-ES" altLang="es-ES" sz="1300" b="1" dirty="0">
                <a:solidFill>
                  <a:srgbClr val="C00000"/>
                </a:solidFill>
              </a:rPr>
              <a:t>rechazo</a:t>
            </a:r>
            <a:r>
              <a:rPr lang="es-ES" altLang="es-ES" sz="1300" dirty="0"/>
              <a:t> = conjunto de valores del estadístico de contraste que nos llevan a aceptar y rechazar respectivamente H</a:t>
            </a:r>
            <a:r>
              <a:rPr lang="es-ES" altLang="es-ES" sz="1300" baseline="-25000" dirty="0"/>
              <a:t>0</a:t>
            </a:r>
          </a:p>
          <a:p>
            <a:pPr eaLnBrk="1" hangingPunct="1">
              <a:spcBef>
                <a:spcPts val="600"/>
              </a:spcBef>
              <a:buFontTx/>
              <a:buChar char="-"/>
            </a:pPr>
            <a:r>
              <a:rPr lang="es-ES" altLang="es-ES" sz="1300" b="1" dirty="0"/>
              <a:t>Error de </a:t>
            </a:r>
            <a:r>
              <a:rPr lang="es-ES" altLang="es-ES" sz="1300" b="1" dirty="0">
                <a:solidFill>
                  <a:srgbClr val="C00000"/>
                </a:solidFill>
              </a:rPr>
              <a:t>tipo I</a:t>
            </a:r>
            <a:r>
              <a:rPr lang="es-ES" altLang="es-ES" sz="1300" b="1" dirty="0"/>
              <a:t>:  </a:t>
            </a:r>
            <a:r>
              <a:rPr lang="es-ES" altLang="es-ES" b="1" dirty="0">
                <a:solidFill>
                  <a:srgbClr val="C00000"/>
                </a:solidFill>
                <a:latin typeface="Symbol" pitchFamily="18" charset="2"/>
              </a:rPr>
              <a:t>a</a:t>
            </a:r>
            <a:r>
              <a:rPr lang="es-ES" altLang="es-ES" sz="1300" dirty="0"/>
              <a:t> = probabilidad de equivocarse al </a:t>
            </a:r>
            <a:r>
              <a:rPr lang="es-ES" altLang="es-ES" sz="1300" b="1" u="sng" dirty="0"/>
              <a:t>rechazar</a:t>
            </a:r>
            <a:r>
              <a:rPr lang="es-ES" altLang="es-ES" sz="1300" dirty="0"/>
              <a:t> H</a:t>
            </a:r>
            <a:r>
              <a:rPr lang="es-ES" altLang="es-ES" sz="1300" baseline="-25000" dirty="0"/>
              <a:t>0 </a:t>
            </a:r>
          </a:p>
          <a:p>
            <a:pPr eaLnBrk="1" hangingPunct="1">
              <a:spcBef>
                <a:spcPts val="600"/>
              </a:spcBef>
              <a:buFontTx/>
              <a:buChar char="-"/>
            </a:pPr>
            <a:r>
              <a:rPr lang="es-ES" altLang="es-ES" sz="1300" b="1" dirty="0"/>
              <a:t>Error de </a:t>
            </a:r>
            <a:r>
              <a:rPr lang="es-ES" altLang="es-ES" sz="1300" b="1" dirty="0">
                <a:solidFill>
                  <a:srgbClr val="C00000"/>
                </a:solidFill>
              </a:rPr>
              <a:t>tipo II</a:t>
            </a:r>
            <a:r>
              <a:rPr lang="es-ES" altLang="es-ES" sz="1300" b="1" dirty="0"/>
              <a:t>:</a:t>
            </a:r>
            <a:r>
              <a:rPr lang="es-ES" altLang="es-ES" sz="1300" b="1" dirty="0">
                <a:solidFill>
                  <a:srgbClr val="C00000"/>
                </a:solidFill>
              </a:rPr>
              <a:t> </a:t>
            </a:r>
            <a:r>
              <a:rPr lang="es-ES" altLang="es-ES" sz="1300" b="1" dirty="0"/>
              <a:t> </a:t>
            </a:r>
            <a:r>
              <a:rPr lang="es-ES" altLang="es-ES" sz="1300" b="1" dirty="0">
                <a:solidFill>
                  <a:srgbClr val="C00000"/>
                </a:solidFill>
                <a:latin typeface="Symbol" pitchFamily="18" charset="2"/>
              </a:rPr>
              <a:t>b</a:t>
            </a:r>
            <a:r>
              <a:rPr lang="es-ES" altLang="es-ES" sz="1300" dirty="0"/>
              <a:t> = probabilidad de equivocarse al </a:t>
            </a:r>
            <a:r>
              <a:rPr lang="es-ES" altLang="es-ES" sz="1300" b="1" u="sng" dirty="0"/>
              <a:t>aceptar</a:t>
            </a:r>
            <a:r>
              <a:rPr lang="es-ES" altLang="es-ES" sz="1300" dirty="0"/>
              <a:t> H</a:t>
            </a:r>
            <a:r>
              <a:rPr lang="es-ES" altLang="es-ES" sz="1300" baseline="-25000" dirty="0"/>
              <a:t>0</a:t>
            </a:r>
            <a:r>
              <a:rPr lang="es-ES" altLang="es-ES" sz="1300" dirty="0"/>
              <a:t> </a:t>
            </a:r>
          </a:p>
          <a:p>
            <a:pPr eaLnBrk="1" hangingPunct="1">
              <a:spcBef>
                <a:spcPts val="600"/>
              </a:spcBef>
              <a:buFontTx/>
              <a:buChar char="-"/>
            </a:pPr>
            <a:r>
              <a:rPr lang="es-ES" altLang="es-ES" sz="1300" b="1" dirty="0">
                <a:solidFill>
                  <a:srgbClr val="C00000"/>
                </a:solidFill>
              </a:rPr>
              <a:t>Potencia </a:t>
            </a:r>
            <a:r>
              <a:rPr lang="es-ES" altLang="es-ES" sz="1300" b="1" dirty="0">
                <a:solidFill>
                  <a:srgbClr val="C00000"/>
                </a:solidFill>
                <a:latin typeface="Symbol" panose="05050102010706020507" pitchFamily="18" charset="2"/>
              </a:rPr>
              <a:t>q</a:t>
            </a:r>
            <a:r>
              <a:rPr lang="es-ES" altLang="es-ES" sz="1300" dirty="0"/>
              <a:t> (=1-</a:t>
            </a:r>
            <a:r>
              <a:rPr lang="es-ES" altLang="es-ES" sz="1200" dirty="0">
                <a:latin typeface="Symbol" panose="05050102010706020507" pitchFamily="18" charset="2"/>
              </a:rPr>
              <a:t>b</a:t>
            </a:r>
            <a:r>
              <a:rPr lang="es-ES" altLang="es-ES" sz="1300" dirty="0">
                <a:latin typeface="Arial Narrow" pitchFamily="34" charset="0"/>
              </a:rPr>
              <a:t>) </a:t>
            </a:r>
            <a:r>
              <a:rPr lang="es-ES" altLang="es-ES" sz="1300" dirty="0"/>
              <a:t>probabilidad de acertar al </a:t>
            </a:r>
            <a:r>
              <a:rPr lang="es-ES" altLang="es-ES" sz="1300" b="1" u="sng" dirty="0"/>
              <a:t>rechazar</a:t>
            </a:r>
            <a:r>
              <a:rPr lang="es-ES" altLang="es-ES" sz="1300" dirty="0"/>
              <a:t> H</a:t>
            </a:r>
            <a:r>
              <a:rPr lang="es-ES" altLang="es-ES" sz="1300" baseline="-25000" dirty="0"/>
              <a:t>0</a:t>
            </a:r>
            <a:r>
              <a:rPr lang="es-ES" altLang="es-ES" sz="1300" dirty="0"/>
              <a:t> </a:t>
            </a:r>
          </a:p>
        </p:txBody>
      </p:sp>
      <p:grpSp>
        <p:nvGrpSpPr>
          <p:cNvPr id="11287" name="Group 216"/>
          <p:cNvGrpSpPr>
            <a:grpSpLocks/>
          </p:cNvGrpSpPr>
          <p:nvPr/>
        </p:nvGrpSpPr>
        <p:grpSpPr bwMode="auto">
          <a:xfrm>
            <a:off x="5575300" y="5821362"/>
            <a:ext cx="2654296" cy="309563"/>
            <a:chOff x="3747" y="3744"/>
            <a:chExt cx="1672" cy="195"/>
          </a:xfrm>
        </p:grpSpPr>
        <p:sp>
          <p:nvSpPr>
            <p:cNvPr id="11317" name="Line 187"/>
            <p:cNvSpPr>
              <a:spLocks noChangeShapeType="1"/>
            </p:cNvSpPr>
            <p:nvPr/>
          </p:nvSpPr>
          <p:spPr bwMode="auto">
            <a:xfrm flipH="1">
              <a:off x="3747" y="3840"/>
              <a:ext cx="229" cy="0"/>
            </a:xfrm>
            <a:prstGeom prst="line">
              <a:avLst/>
            </a:prstGeom>
            <a:noFill/>
            <a:ln w="9525">
              <a:solidFill>
                <a:srgbClr val="808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318" name="Text Box 188"/>
            <p:cNvSpPr txBox="1">
              <a:spLocks noChangeArrowheads="1"/>
            </p:cNvSpPr>
            <p:nvPr/>
          </p:nvSpPr>
          <p:spPr bwMode="auto">
            <a:xfrm>
              <a:off x="4045" y="3744"/>
              <a:ext cx="1374" cy="1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solidFill>
                    <a:srgbClr val="800000"/>
                  </a:solidFill>
                </a:rPr>
                <a:t>Fijado por el investigador</a:t>
              </a:r>
            </a:p>
          </p:txBody>
        </p:sp>
      </p:grpSp>
      <p:sp>
        <p:nvSpPr>
          <p:cNvPr id="11288" name="AutoShape 189"/>
          <p:cNvSpPr>
            <a:spLocks/>
          </p:cNvSpPr>
          <p:nvPr/>
        </p:nvSpPr>
        <p:spPr bwMode="auto">
          <a:xfrm>
            <a:off x="5400681" y="6106842"/>
            <a:ext cx="105465" cy="571050"/>
          </a:xfrm>
          <a:prstGeom prst="rightBrace">
            <a:avLst>
              <a:gd name="adj1" fmla="val 39583"/>
              <a:gd name="adj2" fmla="val 50000"/>
            </a:avLst>
          </a:prstGeom>
          <a:noFill/>
          <a:ln w="9525">
            <a:solidFill>
              <a:schemeClr val="tx1">
                <a:lumMod val="85000"/>
                <a:lumOff val="15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1289" name="Line 190"/>
          <p:cNvSpPr>
            <a:spLocks noChangeShapeType="1"/>
          </p:cNvSpPr>
          <p:nvPr/>
        </p:nvSpPr>
        <p:spPr bwMode="auto">
          <a:xfrm flipH="1">
            <a:off x="5575300" y="6388948"/>
            <a:ext cx="661987" cy="0"/>
          </a:xfrm>
          <a:prstGeom prst="line">
            <a:avLst/>
          </a:prstGeom>
          <a:noFill/>
          <a:ln w="9525">
            <a:solidFill>
              <a:srgbClr val="808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290" name="Text Box 191"/>
          <p:cNvSpPr txBox="1">
            <a:spLocks noChangeArrowheads="1"/>
          </p:cNvSpPr>
          <p:nvPr/>
        </p:nvSpPr>
        <p:spPr bwMode="auto">
          <a:xfrm>
            <a:off x="6258071" y="6230087"/>
            <a:ext cx="1295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solidFill>
                  <a:srgbClr val="800000"/>
                </a:solidFill>
              </a:rPr>
              <a:t>Desconocidos</a:t>
            </a:r>
          </a:p>
        </p:txBody>
      </p:sp>
      <p:sp>
        <p:nvSpPr>
          <p:cNvPr id="11297" name="Text Box 113"/>
          <p:cNvSpPr txBox="1">
            <a:spLocks noChangeArrowheads="1"/>
          </p:cNvSpPr>
          <p:nvPr/>
        </p:nvSpPr>
        <p:spPr bwMode="auto">
          <a:xfrm>
            <a:off x="3276600" y="1013192"/>
            <a:ext cx="3206752" cy="815608"/>
          </a:xfrm>
          <a:prstGeom prst="rect">
            <a:avLst/>
          </a:prstGeom>
          <a:noFill/>
          <a:ln>
            <a:noFill/>
          </a:ln>
        </p:spPr>
        <p:txBody>
          <a:bodyPr wrap="squar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dirty="0"/>
              <a:t>Una posible </a:t>
            </a:r>
            <a:r>
              <a:rPr lang="es-ES" altLang="es-ES" sz="1200" b="1" dirty="0"/>
              <a:t>distribución bajo H</a:t>
            </a:r>
            <a:r>
              <a:rPr lang="es-ES" altLang="es-ES" sz="1200" b="1" baseline="-25000" dirty="0"/>
              <a:t>1</a:t>
            </a:r>
          </a:p>
          <a:p>
            <a:pPr algn="ctr" eaLnBrk="1" hangingPunct="1"/>
            <a:r>
              <a:rPr lang="es-ES" altLang="es-ES" sz="1100" dirty="0"/>
              <a:t>(la diferencia media es distinta de cero)</a:t>
            </a:r>
          </a:p>
          <a:p>
            <a:pPr algn="ctr" eaLnBrk="1" hangingPunct="1"/>
            <a:r>
              <a:rPr lang="es-ES" altLang="es-ES" sz="1200" dirty="0"/>
              <a:t>Es </a:t>
            </a:r>
            <a:r>
              <a:rPr lang="es-ES" altLang="es-ES" sz="1200" b="1" dirty="0"/>
              <a:t>Desconocida, </a:t>
            </a:r>
            <a:r>
              <a:rPr lang="es-ES" altLang="es-ES" sz="1200" dirty="0"/>
              <a:t>H</a:t>
            </a:r>
            <a:r>
              <a:rPr lang="es-ES" altLang="es-ES" sz="1200" baseline="-25000" dirty="0"/>
              <a:t>1</a:t>
            </a:r>
            <a:r>
              <a:rPr lang="es-ES" altLang="es-ES" sz="1200" dirty="0"/>
              <a:t> solo dice que la diferencia media no es cero</a:t>
            </a:r>
            <a:endParaRPr lang="es-ES" altLang="es-ES" sz="1200" b="1" dirty="0"/>
          </a:p>
        </p:txBody>
      </p:sp>
      <p:sp>
        <p:nvSpPr>
          <p:cNvPr id="11298" name="Text Box 112"/>
          <p:cNvSpPr txBox="1">
            <a:spLocks noChangeArrowheads="1"/>
          </p:cNvSpPr>
          <p:nvPr/>
        </p:nvSpPr>
        <p:spPr bwMode="auto">
          <a:xfrm>
            <a:off x="76200" y="1150203"/>
            <a:ext cx="2379663" cy="830997"/>
          </a:xfrm>
          <a:prstGeom prst="rect">
            <a:avLst/>
          </a:prstGeom>
          <a:noFill/>
          <a:ln>
            <a:noFill/>
          </a:ln>
        </p:spPr>
        <p:txBody>
          <a:bodyPr>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b="1" dirty="0"/>
              <a:t>Distribución bajo H</a:t>
            </a:r>
            <a:r>
              <a:rPr lang="es-ES" altLang="es-ES" sz="1200" b="1" baseline="-25000" dirty="0"/>
              <a:t>0 </a:t>
            </a:r>
          </a:p>
          <a:p>
            <a:pPr algn="ctr" eaLnBrk="1" hangingPunct="1"/>
            <a:r>
              <a:rPr lang="es-ES" altLang="es-ES" sz="1100" dirty="0"/>
              <a:t>(la diferencia media vale cero)</a:t>
            </a:r>
          </a:p>
          <a:p>
            <a:pPr algn="ctr" eaLnBrk="1" hangingPunct="1"/>
            <a:r>
              <a:rPr lang="es-ES" altLang="es-ES" sz="1200" dirty="0"/>
              <a:t>Es </a:t>
            </a:r>
            <a:r>
              <a:rPr lang="es-ES" altLang="es-ES" sz="1200" b="1" dirty="0"/>
              <a:t>conocida</a:t>
            </a:r>
            <a:r>
              <a:rPr lang="es-ES" altLang="es-ES" sz="1200" dirty="0"/>
              <a:t>, H</a:t>
            </a:r>
            <a:r>
              <a:rPr lang="es-ES" altLang="es-ES" sz="1200" baseline="-25000" dirty="0"/>
              <a:t>0</a:t>
            </a:r>
            <a:r>
              <a:rPr lang="es-ES" altLang="es-ES" sz="1200" dirty="0"/>
              <a:t> especifica completamente esta distribución</a:t>
            </a:r>
          </a:p>
        </p:txBody>
      </p:sp>
      <p:graphicFrame>
        <p:nvGraphicFramePr>
          <p:cNvPr id="11281" name="Object 127"/>
          <p:cNvGraphicFramePr>
            <a:graphicFrameLocks noChangeAspect="1"/>
          </p:cNvGraphicFramePr>
          <p:nvPr>
            <p:extLst>
              <p:ext uri="{D42A27DB-BD31-4B8C-83A1-F6EECF244321}">
                <p14:modId xmlns:p14="http://schemas.microsoft.com/office/powerpoint/2010/main" val="3278161919"/>
              </p:ext>
            </p:extLst>
          </p:nvPr>
        </p:nvGraphicFramePr>
        <p:xfrm>
          <a:off x="2778125" y="2989263"/>
          <a:ext cx="127000" cy="190500"/>
        </p:xfrm>
        <a:graphic>
          <a:graphicData uri="http://schemas.openxmlformats.org/presentationml/2006/ole">
            <mc:AlternateContent xmlns:mc="http://schemas.openxmlformats.org/markup-compatibility/2006">
              <mc:Choice xmlns:v="urn:schemas-microsoft-com:vml" Requires="v">
                <p:oleObj name="Equation" r:id="rId9" imgW="126890" imgH="190335" progId="Equation.DSMT4">
                  <p:embed/>
                </p:oleObj>
              </mc:Choice>
              <mc:Fallback>
                <p:oleObj name="Equation" r:id="rId9" imgW="126890" imgH="190335" progId="Equation.DSMT4">
                  <p:embed/>
                  <p:pic>
                    <p:nvPicPr>
                      <p:cNvPr id="11281" name="Object 1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78125" y="2989263"/>
                        <a:ext cx="127000" cy="19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92" name="Line 214"/>
          <p:cNvSpPr>
            <a:spLocks noChangeShapeType="1"/>
          </p:cNvSpPr>
          <p:nvPr/>
        </p:nvSpPr>
        <p:spPr bwMode="auto">
          <a:xfrm rot="10800000">
            <a:off x="3949698" y="2754311"/>
            <a:ext cx="219867" cy="351289"/>
          </a:xfrm>
          <a:prstGeom prst="line">
            <a:avLst/>
          </a:prstGeom>
          <a:noFill/>
          <a:ln w="9525">
            <a:solidFill>
              <a:schemeClr val="tx1"/>
            </a:solidFill>
            <a:round/>
            <a:headEnd w="sm" len="sm"/>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293" name="Line 215"/>
          <p:cNvSpPr>
            <a:spLocks noChangeShapeType="1"/>
          </p:cNvSpPr>
          <p:nvPr/>
        </p:nvSpPr>
        <p:spPr bwMode="auto">
          <a:xfrm rot="10800000" flipH="1">
            <a:off x="3287711" y="2601517"/>
            <a:ext cx="211139" cy="420038"/>
          </a:xfrm>
          <a:prstGeom prst="line">
            <a:avLst/>
          </a:prstGeom>
          <a:noFill/>
          <a:ln w="9525">
            <a:solidFill>
              <a:schemeClr val="tx1"/>
            </a:solidFill>
            <a:round/>
            <a:headEnd w="sm" len="sm"/>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1323" name="Object 107"/>
          <p:cNvGraphicFramePr>
            <a:graphicFrameLocks noChangeAspect="1"/>
          </p:cNvGraphicFramePr>
          <p:nvPr>
            <p:extLst>
              <p:ext uri="{D42A27DB-BD31-4B8C-83A1-F6EECF244321}">
                <p14:modId xmlns:p14="http://schemas.microsoft.com/office/powerpoint/2010/main" val="4039028806"/>
              </p:ext>
            </p:extLst>
          </p:nvPr>
        </p:nvGraphicFramePr>
        <p:xfrm>
          <a:off x="4249738" y="2036762"/>
          <a:ext cx="609600" cy="215900"/>
        </p:xfrm>
        <a:graphic>
          <a:graphicData uri="http://schemas.openxmlformats.org/presentationml/2006/ole">
            <mc:AlternateContent xmlns:mc="http://schemas.openxmlformats.org/markup-compatibility/2006">
              <mc:Choice xmlns:v="urn:schemas-microsoft-com:vml" Requires="v">
                <p:oleObj name="Equation" r:id="rId11" imgW="609480" imgH="215640" progId="Equation.DSMT4">
                  <p:embed/>
                </p:oleObj>
              </mc:Choice>
              <mc:Fallback>
                <p:oleObj name="Equation" r:id="rId11" imgW="609480" imgH="215640" progId="Equation.DSMT4">
                  <p:embed/>
                  <p:pic>
                    <p:nvPicPr>
                      <p:cNvPr id="11323" name="Object 10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49738" y="2036762"/>
                        <a:ext cx="6096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324" name="Text Box 108"/>
          <p:cNvSpPr txBox="1">
            <a:spLocks noChangeArrowheads="1"/>
          </p:cNvSpPr>
          <p:nvPr/>
        </p:nvSpPr>
        <p:spPr bwMode="auto">
          <a:xfrm>
            <a:off x="4169569" y="2185193"/>
            <a:ext cx="8191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sz="1200" b="1" dirty="0"/>
              <a:t>Potencia</a:t>
            </a:r>
          </a:p>
        </p:txBody>
      </p:sp>
      <p:sp>
        <p:nvSpPr>
          <p:cNvPr id="11325" name="Line 61"/>
          <p:cNvSpPr>
            <a:spLocks noChangeShapeType="1"/>
          </p:cNvSpPr>
          <p:nvPr/>
        </p:nvSpPr>
        <p:spPr bwMode="auto">
          <a:xfrm>
            <a:off x="2838450" y="1371600"/>
            <a:ext cx="0" cy="1533525"/>
          </a:xfrm>
          <a:prstGeom prst="line">
            <a:avLst/>
          </a:prstGeom>
          <a:noFill/>
          <a:ln w="9525">
            <a:solidFill>
              <a:srgbClr val="80808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1327" name="Object 107"/>
          <p:cNvGraphicFramePr>
            <a:graphicFrameLocks noChangeAspect="1"/>
          </p:cNvGraphicFramePr>
          <p:nvPr>
            <p:extLst>
              <p:ext uri="{D42A27DB-BD31-4B8C-83A1-F6EECF244321}">
                <p14:modId xmlns:p14="http://schemas.microsoft.com/office/powerpoint/2010/main" val="1847111780"/>
              </p:ext>
            </p:extLst>
          </p:nvPr>
        </p:nvGraphicFramePr>
        <p:xfrm>
          <a:off x="2660650" y="1590675"/>
          <a:ext cx="355600" cy="177800"/>
        </p:xfrm>
        <a:graphic>
          <a:graphicData uri="http://schemas.openxmlformats.org/presentationml/2006/ole">
            <mc:AlternateContent xmlns:mc="http://schemas.openxmlformats.org/markup-compatibility/2006">
              <mc:Choice xmlns:v="urn:schemas-microsoft-com:vml" Requires="v">
                <p:oleObj name="Equation" r:id="rId13" imgW="355320" imgH="177480" progId="Equation.DSMT4">
                  <p:embed/>
                </p:oleObj>
              </mc:Choice>
              <mc:Fallback>
                <p:oleObj name="Equation" r:id="rId13" imgW="355320" imgH="177480" progId="Equation.DSMT4">
                  <p:embed/>
                  <p:pic>
                    <p:nvPicPr>
                      <p:cNvPr id="11327" name="Object 107"/>
                      <p:cNvPicPr>
                        <a:picLocks noChangeAspect="1" noChangeArrowheads="1"/>
                      </p:cNvPicPr>
                      <p:nvPr/>
                    </p:nvPicPr>
                    <p:blipFill>
                      <a:blip r:embed="rId14"/>
                      <a:srcRect/>
                      <a:stretch>
                        <a:fillRect/>
                      </a:stretch>
                    </p:blipFill>
                    <p:spPr bwMode="auto">
                      <a:xfrm>
                        <a:off x="2660650" y="1590675"/>
                        <a:ext cx="355600" cy="177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94" name="Object 165"/>
          <p:cNvGraphicFramePr>
            <a:graphicFrameLocks noChangeAspect="1"/>
          </p:cNvGraphicFramePr>
          <p:nvPr>
            <p:extLst>
              <p:ext uri="{D42A27DB-BD31-4B8C-83A1-F6EECF244321}">
                <p14:modId xmlns:p14="http://schemas.microsoft.com/office/powerpoint/2010/main" val="3689698973"/>
              </p:ext>
            </p:extLst>
          </p:nvPr>
        </p:nvGraphicFramePr>
        <p:xfrm>
          <a:off x="6429378" y="1341042"/>
          <a:ext cx="2268538" cy="1254125"/>
        </p:xfrm>
        <a:graphic>
          <a:graphicData uri="http://schemas.openxmlformats.org/presentationml/2006/ole">
            <mc:AlternateContent xmlns:mc="http://schemas.openxmlformats.org/markup-compatibility/2006">
              <mc:Choice xmlns:v="urn:schemas-microsoft-com:vml" Requires="v">
                <p:oleObj name="Equation" r:id="rId15" imgW="2806700" imgH="1549400" progId="Equation.DSMT4">
                  <p:embed/>
                </p:oleObj>
              </mc:Choice>
              <mc:Fallback>
                <p:oleObj name="Equation" r:id="rId15" imgW="2806700" imgH="1549400" progId="Equation.DSMT4">
                  <p:embed/>
                  <p:pic>
                    <p:nvPicPr>
                      <p:cNvPr id="11294" name="Object 16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29378" y="1341042"/>
                        <a:ext cx="2268538"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 y los dos tipos de error</a:t>
            </a:r>
          </a:p>
        </p:txBody>
      </p:sp>
      <p:sp>
        <p:nvSpPr>
          <p:cNvPr id="43" name="Line 214"/>
          <p:cNvSpPr>
            <a:spLocks noChangeShapeType="1"/>
          </p:cNvSpPr>
          <p:nvPr/>
        </p:nvSpPr>
        <p:spPr bwMode="auto">
          <a:xfrm rot="10800000" flipV="1">
            <a:off x="4079478" y="2239724"/>
            <a:ext cx="111919" cy="237226"/>
          </a:xfrm>
          <a:prstGeom prst="line">
            <a:avLst/>
          </a:prstGeom>
          <a:noFill/>
          <a:ln w="9525">
            <a:solidFill>
              <a:schemeClr val="tx1"/>
            </a:solidFill>
            <a:round/>
            <a:headEnd w="sm" len="sm"/>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cxnSp>
        <p:nvCxnSpPr>
          <p:cNvPr id="4" name="Conector recto 3"/>
          <p:cNvCxnSpPr/>
          <p:nvPr/>
        </p:nvCxnSpPr>
        <p:spPr>
          <a:xfrm flipV="1">
            <a:off x="642144" y="2838450"/>
            <a:ext cx="4933156" cy="12915"/>
          </a:xfrm>
          <a:prstGeom prst="line">
            <a:avLst/>
          </a:prstGeom>
          <a:ln w="158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6" name="Text Box 33"/>
          <p:cNvSpPr txBox="1">
            <a:spLocks noChangeArrowheads="1"/>
          </p:cNvSpPr>
          <p:nvPr/>
        </p:nvSpPr>
        <p:spPr bwMode="auto">
          <a:xfrm>
            <a:off x="228600" y="381000"/>
            <a:ext cx="2209800"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solidFill>
                  <a:srgbClr val="336699"/>
                </a:solidFill>
              </a:rPr>
              <a:t>Resumen</a:t>
            </a:r>
          </a:p>
        </p:txBody>
      </p:sp>
      <p:grpSp>
        <p:nvGrpSpPr>
          <p:cNvPr id="10" name="Grupo 9"/>
          <p:cNvGrpSpPr/>
          <p:nvPr/>
        </p:nvGrpSpPr>
        <p:grpSpPr>
          <a:xfrm>
            <a:off x="5974147" y="2885497"/>
            <a:ext cx="3017453" cy="1667648"/>
            <a:chOff x="6086764" y="2935018"/>
            <a:chExt cx="3017453" cy="1497735"/>
          </a:xfrm>
        </p:grpSpPr>
        <p:sp>
          <p:nvSpPr>
            <p:cNvPr id="8" name="CuadroTexto 7"/>
            <p:cNvSpPr txBox="1"/>
            <p:nvPr/>
          </p:nvSpPr>
          <p:spPr>
            <a:xfrm>
              <a:off x="6154943" y="3145903"/>
              <a:ext cx="2899566" cy="1271522"/>
            </a:xfrm>
            <a:prstGeom prst="rect">
              <a:avLst/>
            </a:prstGeom>
            <a:noFill/>
          </p:spPr>
          <p:txBody>
            <a:bodyPr wrap="square" rtlCol="0">
              <a:spAutoFit/>
            </a:bodyPr>
            <a:lstStyle/>
            <a:p>
              <a:pPr algn="just"/>
              <a:r>
                <a:rPr lang="es-ES" dirty="0">
                  <a:solidFill>
                    <a:schemeClr val="accent5">
                      <a:lumMod val="25000"/>
                    </a:schemeClr>
                  </a:solidFill>
                </a:rPr>
                <a:t>En los test de hipótesis </a:t>
              </a:r>
              <a:r>
                <a:rPr lang="es-ES" b="1" dirty="0">
                  <a:solidFill>
                    <a:schemeClr val="accent5">
                      <a:lumMod val="25000"/>
                    </a:schemeClr>
                  </a:solidFill>
                </a:rPr>
                <a:t>no existe el concepto de confianza</a:t>
              </a:r>
              <a:r>
                <a:rPr lang="es-ES" dirty="0">
                  <a:solidFill>
                    <a:schemeClr val="accent5">
                      <a:lumMod val="25000"/>
                    </a:schemeClr>
                  </a:solidFill>
                </a:rPr>
                <a:t> (característica propia de los de los Intervalos de confianza)</a:t>
              </a:r>
            </a:p>
            <a:p>
              <a:pPr algn="just"/>
              <a:r>
                <a:rPr lang="es-ES" dirty="0">
                  <a:solidFill>
                    <a:schemeClr val="accent5">
                      <a:lumMod val="25000"/>
                    </a:schemeClr>
                  </a:solidFill>
                </a:rPr>
                <a:t>Aquí 1-</a:t>
              </a:r>
              <a:r>
                <a:rPr lang="es-ES" sz="1400" dirty="0">
                  <a:solidFill>
                    <a:schemeClr val="accent5">
                      <a:lumMod val="25000"/>
                    </a:schemeClr>
                  </a:solidFill>
                  <a:latin typeface="Symbol" panose="05050102010706020507" pitchFamily="18" charset="2"/>
                </a:rPr>
                <a:t>a</a:t>
              </a:r>
              <a:r>
                <a:rPr lang="es-ES" dirty="0">
                  <a:solidFill>
                    <a:schemeClr val="accent5">
                      <a:lumMod val="25000"/>
                    </a:schemeClr>
                  </a:solidFill>
                </a:rPr>
                <a:t> no recibe ningún nombre, de hecho no es algo que interese en la práctica</a:t>
              </a:r>
            </a:p>
          </p:txBody>
        </p:sp>
        <p:sp>
          <p:nvSpPr>
            <p:cNvPr id="9" name="Rectángulo: esquinas redondeadas 8"/>
            <p:cNvSpPr/>
            <p:nvPr/>
          </p:nvSpPr>
          <p:spPr>
            <a:xfrm flipH="1" flipV="1">
              <a:off x="6086764" y="3084513"/>
              <a:ext cx="3017453" cy="1348240"/>
            </a:xfrm>
            <a:prstGeom prst="roundRect">
              <a:avLst>
                <a:gd name="adj" fmla="val 7076"/>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7" name="CuadroTexto 6"/>
            <p:cNvSpPr txBox="1"/>
            <p:nvPr/>
          </p:nvSpPr>
          <p:spPr>
            <a:xfrm>
              <a:off x="6278010" y="2935018"/>
              <a:ext cx="904415" cy="276999"/>
            </a:xfrm>
            <a:prstGeom prst="rect">
              <a:avLst/>
            </a:prstGeom>
            <a:solidFill>
              <a:schemeClr val="bg1"/>
            </a:solidFill>
          </p:spPr>
          <p:txBody>
            <a:bodyPr wrap="none" rtlCol="0">
              <a:spAutoFit/>
            </a:bodyPr>
            <a:lstStyle/>
            <a:p>
              <a:r>
                <a:rPr lang="es-ES" b="1" dirty="0">
                  <a:solidFill>
                    <a:schemeClr val="tx1">
                      <a:lumMod val="95000"/>
                      <a:lumOff val="5000"/>
                    </a:schemeClr>
                  </a:solidFill>
                </a:rPr>
                <a:t>¡Cuidado!</a:t>
              </a:r>
            </a:p>
          </p:txBody>
        </p:sp>
      </p:grpSp>
      <p:sp>
        <p:nvSpPr>
          <p:cNvPr id="12" name="CuadroTexto 11"/>
          <p:cNvSpPr txBox="1"/>
          <p:nvPr/>
        </p:nvSpPr>
        <p:spPr>
          <a:xfrm>
            <a:off x="3886200" y="3228108"/>
            <a:ext cx="1845640" cy="461665"/>
          </a:xfrm>
          <a:prstGeom prst="rect">
            <a:avLst/>
          </a:prstGeom>
          <a:noFill/>
        </p:spPr>
        <p:txBody>
          <a:bodyPr wrap="square" rtlCol="0">
            <a:spAutoFit/>
          </a:bodyPr>
          <a:lstStyle/>
          <a:p>
            <a:pPr algn="ctr"/>
            <a:r>
              <a:rPr lang="es-ES" dirty="0">
                <a:solidFill>
                  <a:srgbClr val="336699"/>
                </a:solidFill>
              </a:rPr>
              <a:t>La mitad (</a:t>
            </a:r>
            <a:r>
              <a:rPr lang="es-ES" dirty="0">
                <a:solidFill>
                  <a:srgbClr val="336699"/>
                </a:solidFill>
                <a:latin typeface="Symbol" panose="05050102010706020507" pitchFamily="18" charset="2"/>
              </a:rPr>
              <a:t>a</a:t>
            </a:r>
            <a:r>
              <a:rPr lang="es-ES" dirty="0">
                <a:solidFill>
                  <a:srgbClr val="336699"/>
                </a:solidFill>
              </a:rPr>
              <a:t>/2) en cada cola (en test bilaterales)</a:t>
            </a:r>
          </a:p>
        </p:txBody>
      </p:sp>
      <p:sp>
        <p:nvSpPr>
          <p:cNvPr id="3" name="CuadroTexto 2">
            <a:extLst>
              <a:ext uri="{FF2B5EF4-FFF2-40B4-BE49-F238E27FC236}">
                <a16:creationId xmlns:a16="http://schemas.microsoft.com/office/drawing/2014/main" id="{D4486969-3B5A-4566-AE74-463762370CA9}"/>
              </a:ext>
            </a:extLst>
          </p:cNvPr>
          <p:cNvSpPr txBox="1"/>
          <p:nvPr/>
        </p:nvSpPr>
        <p:spPr>
          <a:xfrm>
            <a:off x="5503374" y="6423880"/>
            <a:ext cx="2862255" cy="430887"/>
          </a:xfrm>
          <a:prstGeom prst="rect">
            <a:avLst/>
          </a:prstGeom>
          <a:noFill/>
        </p:spPr>
        <p:txBody>
          <a:bodyPr wrap="square" rtlCol="0">
            <a:spAutoFit/>
          </a:bodyPr>
          <a:lstStyle/>
          <a:p>
            <a:pPr algn="ctr"/>
            <a:r>
              <a:rPr lang="es-ES" sz="1100" dirty="0">
                <a:solidFill>
                  <a:schemeClr val="tx1">
                    <a:lumMod val="50000"/>
                    <a:lumOff val="50000"/>
                  </a:schemeClr>
                </a:solidFill>
              </a:rPr>
              <a:t>Se trata de áreas bajo la </a:t>
            </a:r>
            <a:r>
              <a:rPr lang="es-ES" sz="1000" dirty="0">
                <a:solidFill>
                  <a:schemeClr val="tx1">
                    <a:lumMod val="50000"/>
                    <a:lumOff val="50000"/>
                  </a:schemeClr>
                </a:solidFill>
              </a:rPr>
              <a:t>distribución</a:t>
            </a:r>
            <a:r>
              <a:rPr lang="es-ES" sz="1100" dirty="0">
                <a:solidFill>
                  <a:schemeClr val="tx1">
                    <a:lumMod val="50000"/>
                    <a:lumOff val="50000"/>
                  </a:schemeClr>
                </a:solidFill>
              </a:rPr>
              <a:t> (desconocida) compatible con H</a:t>
            </a:r>
            <a:r>
              <a:rPr lang="es-ES" sz="1100" baseline="-25000" dirty="0">
                <a:solidFill>
                  <a:schemeClr val="tx1">
                    <a:lumMod val="50000"/>
                    <a:lumOff val="50000"/>
                  </a:schemeClr>
                </a:solidFill>
              </a:rPr>
              <a:t>1</a:t>
            </a:r>
            <a:r>
              <a:rPr lang="es-ES" sz="1100" dirty="0">
                <a:solidFill>
                  <a:schemeClr val="tx1">
                    <a:lumMod val="50000"/>
                    <a:lumOff val="50000"/>
                  </a:schemeClr>
                </a:solidFill>
              </a:rPr>
              <a:t> </a:t>
            </a:r>
          </a:p>
        </p:txBody>
      </p:sp>
      <p:sp>
        <p:nvSpPr>
          <p:cNvPr id="52" name="CuadroTexto 51">
            <a:extLst>
              <a:ext uri="{FF2B5EF4-FFF2-40B4-BE49-F238E27FC236}">
                <a16:creationId xmlns:a16="http://schemas.microsoft.com/office/drawing/2014/main" id="{50341186-B095-4495-9C61-2E2AB5EB7D88}"/>
              </a:ext>
            </a:extLst>
          </p:cNvPr>
          <p:cNvSpPr txBox="1"/>
          <p:nvPr/>
        </p:nvSpPr>
        <p:spPr>
          <a:xfrm>
            <a:off x="5567150" y="6029036"/>
            <a:ext cx="3272050" cy="246221"/>
          </a:xfrm>
          <a:prstGeom prst="rect">
            <a:avLst/>
          </a:prstGeom>
          <a:noFill/>
        </p:spPr>
        <p:txBody>
          <a:bodyPr wrap="none" rtlCol="0">
            <a:spAutoFit/>
          </a:bodyPr>
          <a:lstStyle/>
          <a:p>
            <a:r>
              <a:rPr lang="es-ES" sz="1000" dirty="0">
                <a:solidFill>
                  <a:schemeClr val="tx1">
                    <a:lumMod val="50000"/>
                    <a:lumOff val="50000"/>
                  </a:schemeClr>
                </a:solidFill>
              </a:rPr>
              <a:t>Es un área bajo la distribución (conocida) dada por H</a:t>
            </a:r>
            <a:r>
              <a:rPr lang="es-ES" sz="1000" baseline="-25000" dirty="0">
                <a:solidFill>
                  <a:schemeClr val="tx1">
                    <a:lumMod val="50000"/>
                    <a:lumOff val="50000"/>
                  </a:schemeClr>
                </a:solidFill>
              </a:rPr>
              <a:t>0</a:t>
            </a:r>
            <a:r>
              <a:rPr lang="es-ES" sz="1000" dirty="0">
                <a:solidFill>
                  <a:schemeClr val="tx1">
                    <a:lumMod val="50000"/>
                    <a:lumOff val="50000"/>
                  </a:schemeClr>
                </a:solidFill>
              </a:rPr>
              <a:t> </a:t>
            </a:r>
          </a:p>
        </p:txBody>
      </p:sp>
      <p:grpSp>
        <p:nvGrpSpPr>
          <p:cNvPr id="15" name="Grupo 14">
            <a:extLst>
              <a:ext uri="{FF2B5EF4-FFF2-40B4-BE49-F238E27FC236}">
                <a16:creationId xmlns:a16="http://schemas.microsoft.com/office/drawing/2014/main" id="{10EB0737-6DD3-454D-B160-344B70CF7D3D}"/>
              </a:ext>
            </a:extLst>
          </p:cNvPr>
          <p:cNvGrpSpPr/>
          <p:nvPr/>
        </p:nvGrpSpPr>
        <p:grpSpPr>
          <a:xfrm>
            <a:off x="5800725" y="2809875"/>
            <a:ext cx="304800" cy="461665"/>
            <a:chOff x="6838951" y="741362"/>
            <a:chExt cx="304800" cy="461665"/>
          </a:xfrm>
        </p:grpSpPr>
        <p:sp>
          <p:nvSpPr>
            <p:cNvPr id="14" name="Elipse 13">
              <a:extLst>
                <a:ext uri="{FF2B5EF4-FFF2-40B4-BE49-F238E27FC236}">
                  <a16:creationId xmlns:a16="http://schemas.microsoft.com/office/drawing/2014/main" id="{76B5E9DF-FBC1-4038-ACDB-27B071CC8ECA}"/>
                </a:ext>
              </a:extLst>
            </p:cNvPr>
            <p:cNvSpPr/>
            <p:nvPr/>
          </p:nvSpPr>
          <p:spPr>
            <a:xfrm>
              <a:off x="6838951" y="814885"/>
              <a:ext cx="304800" cy="309958"/>
            </a:xfrm>
            <a:prstGeom prst="ellipse">
              <a:avLst/>
            </a:prstGeom>
            <a:solidFill>
              <a:schemeClr val="bg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0BF886EE-2FAA-4233-BEF0-6B68BEBF5BD8}"/>
                </a:ext>
              </a:extLst>
            </p:cNvPr>
            <p:cNvSpPr txBox="1"/>
            <p:nvPr/>
          </p:nvSpPr>
          <p:spPr>
            <a:xfrm>
              <a:off x="6858000" y="741362"/>
              <a:ext cx="269626" cy="461665"/>
            </a:xfrm>
            <a:prstGeom prst="rect">
              <a:avLst/>
            </a:prstGeom>
            <a:noFill/>
          </p:spPr>
          <p:txBody>
            <a:bodyPr wrap="none" rtlCol="0">
              <a:spAutoFit/>
            </a:bodyPr>
            <a:lstStyle/>
            <a:p>
              <a:r>
                <a:rPr lang="es-ES" sz="2400" dirty="0">
                  <a:solidFill>
                    <a:srgbClr val="FF0000"/>
                  </a:solidFill>
                </a:rPr>
                <a:t>!</a:t>
              </a:r>
              <a:endParaRPr lang="es-ES" dirty="0">
                <a:solidFill>
                  <a:srgbClr val="FF0000"/>
                </a:solidFill>
              </a:endParaRPr>
            </a:p>
          </p:txBody>
        </p:sp>
      </p:grpSp>
    </p:spTree>
    <p:extLst>
      <p:ext uri="{BB962C8B-B14F-4D97-AF65-F5344CB8AC3E}">
        <p14:creationId xmlns:p14="http://schemas.microsoft.com/office/powerpoint/2010/main" val="3925393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52" name="Picture 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759" y="822292"/>
            <a:ext cx="3910806" cy="1318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2353" name="Object 127"/>
          <p:cNvGraphicFramePr>
            <a:graphicFrameLocks noChangeAspect="1"/>
          </p:cNvGraphicFramePr>
          <p:nvPr/>
        </p:nvGraphicFramePr>
        <p:xfrm>
          <a:off x="1629128" y="2251660"/>
          <a:ext cx="83076" cy="171182"/>
        </p:xfrm>
        <a:graphic>
          <a:graphicData uri="http://schemas.openxmlformats.org/presentationml/2006/ole">
            <mc:AlternateContent xmlns:mc="http://schemas.openxmlformats.org/markup-compatibility/2006">
              <mc:Choice xmlns:v="urn:schemas-microsoft-com:vml" Requires="v">
                <p:oleObj name="Equation" r:id="rId3" imgW="126890" imgH="190335" progId="Equation.DSMT4">
                  <p:embed/>
                </p:oleObj>
              </mc:Choice>
              <mc:Fallback>
                <p:oleObj name="Equation" r:id="rId3" imgW="126890" imgH="190335" progId="Equation.DSMT4">
                  <p:embed/>
                  <p:pic>
                    <p:nvPicPr>
                      <p:cNvPr id="12353" name="Object 1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9128" y="2251660"/>
                        <a:ext cx="83076" cy="171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356" name="Object 107"/>
          <p:cNvGraphicFramePr>
            <a:graphicFrameLocks noChangeAspect="1"/>
          </p:cNvGraphicFramePr>
          <p:nvPr>
            <p:extLst>
              <p:ext uri="{D42A27DB-BD31-4B8C-83A1-F6EECF244321}">
                <p14:modId xmlns:p14="http://schemas.microsoft.com/office/powerpoint/2010/main" val="3103166614"/>
              </p:ext>
            </p:extLst>
          </p:nvPr>
        </p:nvGraphicFramePr>
        <p:xfrm>
          <a:off x="2500551" y="1633035"/>
          <a:ext cx="465137" cy="204787"/>
        </p:xfrm>
        <a:graphic>
          <a:graphicData uri="http://schemas.openxmlformats.org/presentationml/2006/ole">
            <mc:AlternateContent xmlns:mc="http://schemas.openxmlformats.org/markup-compatibility/2006">
              <mc:Choice xmlns:v="urn:schemas-microsoft-com:vml" Requires="v">
                <p:oleObj name="Equation" r:id="rId5" imgW="660240" imgH="228600" progId="Equation.DSMT4">
                  <p:embed/>
                </p:oleObj>
              </mc:Choice>
              <mc:Fallback>
                <p:oleObj name="Equation" r:id="rId5" imgW="660240" imgH="228600" progId="Equation.DSMT4">
                  <p:embed/>
                  <p:pic>
                    <p:nvPicPr>
                      <p:cNvPr id="12356" name="Object 107"/>
                      <p:cNvPicPr>
                        <a:picLocks noChangeAspect="1" noChangeArrowheads="1"/>
                      </p:cNvPicPr>
                      <p:nvPr/>
                    </p:nvPicPr>
                    <p:blipFill>
                      <a:blip r:embed="rId6"/>
                      <a:srcRect/>
                      <a:stretch>
                        <a:fillRect/>
                      </a:stretch>
                    </p:blipFill>
                    <p:spPr bwMode="auto">
                      <a:xfrm>
                        <a:off x="2500551" y="1633035"/>
                        <a:ext cx="465137" cy="204787"/>
                      </a:xfrm>
                      <a:prstGeom prst="rect">
                        <a:avLst/>
                      </a:prstGeom>
                      <a:noFill/>
                      <a:ln>
                        <a:noFill/>
                      </a:ln>
                      <a:effectLst/>
                    </p:spPr>
                  </p:pic>
                </p:oleObj>
              </mc:Fallback>
            </mc:AlternateContent>
          </a:graphicData>
        </a:graphic>
      </p:graphicFrame>
      <p:sp>
        <p:nvSpPr>
          <p:cNvPr id="12358" name="Line 70"/>
          <p:cNvSpPr>
            <a:spLocks noChangeShapeType="1"/>
          </p:cNvSpPr>
          <p:nvPr/>
        </p:nvSpPr>
        <p:spPr bwMode="auto">
          <a:xfrm>
            <a:off x="1668589" y="798041"/>
            <a:ext cx="0" cy="1378014"/>
          </a:xfrm>
          <a:prstGeom prst="line">
            <a:avLst/>
          </a:prstGeom>
          <a:noFill/>
          <a:ln w="9525">
            <a:solidFill>
              <a:srgbClr val="80808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2291" name="Rectangle 69"/>
          <p:cNvSpPr>
            <a:spLocks noChangeArrowheads="1"/>
          </p:cNvSpPr>
          <p:nvPr/>
        </p:nvSpPr>
        <p:spPr bwMode="auto">
          <a:xfrm>
            <a:off x="217055" y="3549346"/>
            <a:ext cx="536185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t>La potencia </a:t>
            </a:r>
            <a:r>
              <a:rPr lang="es-ES" altLang="es-ES" dirty="0">
                <a:latin typeface="Symbol" panose="05050102010706020507" pitchFamily="18" charset="2"/>
              </a:rPr>
              <a:t>q</a:t>
            </a:r>
            <a:r>
              <a:rPr lang="es-ES" altLang="es-ES" dirty="0"/>
              <a:t> y, por lo tanto, el error </a:t>
            </a:r>
            <a:r>
              <a:rPr lang="es-ES" altLang="es-ES" dirty="0">
                <a:latin typeface="Symbol" panose="05050102010706020507" pitchFamily="18" charset="2"/>
              </a:rPr>
              <a:t>b</a:t>
            </a:r>
            <a:r>
              <a:rPr lang="es-ES" altLang="es-ES" dirty="0"/>
              <a:t> dependen de tres factores: </a:t>
            </a:r>
          </a:p>
        </p:txBody>
      </p:sp>
      <p:sp>
        <p:nvSpPr>
          <p:cNvPr id="12293" name="Text Box 74"/>
          <p:cNvSpPr txBox="1">
            <a:spLocks noChangeArrowheads="1"/>
          </p:cNvSpPr>
          <p:nvPr/>
        </p:nvSpPr>
        <p:spPr bwMode="auto">
          <a:xfrm>
            <a:off x="177222" y="4015821"/>
            <a:ext cx="4623378" cy="556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285750" indent="-285750"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buFont typeface="Arial" pitchFamily="34" charset="0"/>
              <a:buChar char="•"/>
            </a:pPr>
            <a:r>
              <a:rPr lang="es-ES" altLang="es-ES" dirty="0"/>
              <a:t>Del </a:t>
            </a:r>
            <a:r>
              <a:rPr lang="es-ES" altLang="es-ES" b="1" dirty="0"/>
              <a:t>fenómeno</a:t>
            </a:r>
            <a:r>
              <a:rPr lang="es-ES" altLang="es-ES" dirty="0"/>
              <a:t> en sí, es decir, de la magnitud real de la diferencia entre </a:t>
            </a:r>
            <a:r>
              <a:rPr lang="es-ES" altLang="es-ES" sz="1600" dirty="0">
                <a:latin typeface="Symbol" panose="05050102010706020507" pitchFamily="18" charset="2"/>
              </a:rPr>
              <a:t>m</a:t>
            </a:r>
            <a:r>
              <a:rPr lang="es-ES" altLang="es-ES" dirty="0"/>
              <a:t> y </a:t>
            </a:r>
            <a:r>
              <a:rPr lang="es-ES" altLang="es-ES" sz="1600" dirty="0">
                <a:latin typeface="Symbol" panose="05050102010706020507" pitchFamily="18" charset="2"/>
              </a:rPr>
              <a:t>m</a:t>
            </a:r>
            <a:r>
              <a:rPr lang="es-ES" altLang="es-ES" baseline="-25000" dirty="0"/>
              <a:t>0</a:t>
            </a:r>
            <a:r>
              <a:rPr lang="es-ES" altLang="es-ES" dirty="0"/>
              <a:t> (</a:t>
            </a:r>
            <a:r>
              <a:rPr lang="es-ES" altLang="es-ES" i="1" dirty="0">
                <a:solidFill>
                  <a:srgbClr val="C00000"/>
                </a:solidFill>
              </a:rPr>
              <a:t>tamaño</a:t>
            </a:r>
            <a:r>
              <a:rPr lang="es-ES" altLang="es-ES" dirty="0">
                <a:solidFill>
                  <a:srgbClr val="C00000"/>
                </a:solidFill>
              </a:rPr>
              <a:t> </a:t>
            </a:r>
            <a:r>
              <a:rPr lang="es-ES" altLang="es-ES" i="1" dirty="0">
                <a:solidFill>
                  <a:srgbClr val="C00000"/>
                </a:solidFill>
              </a:rPr>
              <a:t>del</a:t>
            </a:r>
            <a:r>
              <a:rPr lang="es-ES" altLang="es-ES" dirty="0">
                <a:solidFill>
                  <a:srgbClr val="C00000"/>
                </a:solidFill>
              </a:rPr>
              <a:t> </a:t>
            </a:r>
            <a:r>
              <a:rPr lang="es-ES" altLang="es-ES" i="1" dirty="0">
                <a:solidFill>
                  <a:srgbClr val="C00000"/>
                </a:solidFill>
              </a:rPr>
              <a:t>efecto</a:t>
            </a:r>
            <a:r>
              <a:rPr lang="es-ES" altLang="es-ES" dirty="0">
                <a:solidFill>
                  <a:srgbClr val="C00000"/>
                </a:solidFill>
              </a:rPr>
              <a:t> </a:t>
            </a:r>
            <a:r>
              <a:rPr lang="es-ES" altLang="es-ES" dirty="0"/>
              <a:t>real)</a:t>
            </a:r>
          </a:p>
        </p:txBody>
      </p:sp>
      <p:grpSp>
        <p:nvGrpSpPr>
          <p:cNvPr id="7" name="Grupo 6"/>
          <p:cNvGrpSpPr/>
          <p:nvPr/>
        </p:nvGrpSpPr>
        <p:grpSpPr>
          <a:xfrm>
            <a:off x="177222" y="4777077"/>
            <a:ext cx="3592948" cy="598487"/>
            <a:chOff x="177222" y="4583113"/>
            <a:chExt cx="3592948" cy="598487"/>
          </a:xfrm>
        </p:grpSpPr>
        <p:sp>
          <p:nvSpPr>
            <p:cNvPr id="12294" name="Text Box 75"/>
            <p:cNvSpPr txBox="1">
              <a:spLocks noChangeArrowheads="1"/>
            </p:cNvSpPr>
            <p:nvPr/>
          </p:nvSpPr>
          <p:spPr bwMode="auto">
            <a:xfrm>
              <a:off x="177222" y="4583113"/>
              <a:ext cx="3592948" cy="5931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285750" indent="-285750"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buFont typeface="Arial" pitchFamily="34" charset="0"/>
                <a:buChar char="•"/>
              </a:pPr>
              <a:r>
                <a:rPr lang="es-ES" altLang="es-ES" dirty="0"/>
                <a:t>Del </a:t>
              </a:r>
              <a:r>
                <a:rPr lang="es-ES" altLang="es-ES" b="1" dirty="0"/>
                <a:t>nivel del error de tipo I </a:t>
              </a:r>
              <a:r>
                <a:rPr lang="es-ES" altLang="es-ES" dirty="0"/>
                <a:t>prefijado:  </a:t>
              </a:r>
            </a:p>
            <a:p>
              <a:pPr marL="0" indent="0" eaLnBrk="1" hangingPunct="1">
                <a:lnSpc>
                  <a:spcPct val="150000"/>
                </a:lnSpc>
                <a:tabLst>
                  <a:tab pos="268288" algn="l"/>
                </a:tabLst>
              </a:pPr>
              <a:r>
                <a:rPr lang="es-ES" altLang="es-ES" dirty="0"/>
                <a:t>	si </a:t>
              </a:r>
            </a:p>
          </p:txBody>
        </p:sp>
        <p:graphicFrame>
          <p:nvGraphicFramePr>
            <p:cNvPr id="12295" name="Object 77"/>
            <p:cNvGraphicFramePr>
              <a:graphicFrameLocks noChangeAspect="1"/>
            </p:cNvGraphicFramePr>
            <p:nvPr>
              <p:extLst>
                <p:ext uri="{D42A27DB-BD31-4B8C-83A1-F6EECF244321}">
                  <p14:modId xmlns:p14="http://schemas.microsoft.com/office/powerpoint/2010/main" val="2528305789"/>
                </p:ext>
              </p:extLst>
            </p:nvPr>
          </p:nvGraphicFramePr>
          <p:xfrm>
            <a:off x="764312" y="4852987"/>
            <a:ext cx="1739900" cy="328613"/>
          </p:xfrm>
          <a:graphic>
            <a:graphicData uri="http://schemas.openxmlformats.org/presentationml/2006/ole">
              <mc:AlternateContent xmlns:mc="http://schemas.openxmlformats.org/markup-compatibility/2006">
                <mc:Choice xmlns:v="urn:schemas-microsoft-com:vml" Requires="v">
                  <p:oleObj name="Equation" r:id="rId7" imgW="1206500" imgH="228600" progId="Equation.DSMT4">
                    <p:embed/>
                  </p:oleObj>
                </mc:Choice>
                <mc:Fallback>
                  <p:oleObj name="Equation" r:id="rId7" imgW="1206500" imgH="228600" progId="Equation.DSMT4">
                    <p:embed/>
                    <p:pic>
                      <p:nvPicPr>
                        <p:cNvPr id="12295" name="Object 7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4312" y="4852987"/>
                          <a:ext cx="17399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318" name="Text Box 18"/>
          <p:cNvSpPr txBox="1">
            <a:spLocks noChangeArrowheads="1"/>
          </p:cNvSpPr>
          <p:nvPr/>
        </p:nvSpPr>
        <p:spPr bwMode="auto">
          <a:xfrm>
            <a:off x="2863418" y="905164"/>
            <a:ext cx="3762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dirty="0"/>
              <a:t>H</a:t>
            </a:r>
            <a:r>
              <a:rPr lang="es-ES" altLang="es-ES" baseline="-25000" dirty="0"/>
              <a:t>1</a:t>
            </a:r>
          </a:p>
        </p:txBody>
      </p:sp>
      <p:sp>
        <p:nvSpPr>
          <p:cNvPr id="12320" name="Line 108"/>
          <p:cNvSpPr>
            <a:spLocks noChangeShapeType="1"/>
          </p:cNvSpPr>
          <p:nvPr/>
        </p:nvSpPr>
        <p:spPr bwMode="auto">
          <a:xfrm flipV="1">
            <a:off x="2600325" y="1536267"/>
            <a:ext cx="1317466" cy="534403"/>
          </a:xfrm>
          <a:prstGeom prst="line">
            <a:avLst/>
          </a:prstGeom>
          <a:noFill/>
          <a:ln w="9525" cmpd="sng">
            <a:solidFill>
              <a:schemeClr val="bg1">
                <a:lumMod val="50000"/>
              </a:schemeClr>
            </a:solidFill>
            <a:prstDash val="dash"/>
            <a:round/>
            <a:headEnd type="oval"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2321" name="Text Box 17"/>
          <p:cNvSpPr txBox="1">
            <a:spLocks noChangeArrowheads="1"/>
          </p:cNvSpPr>
          <p:nvPr/>
        </p:nvSpPr>
        <p:spPr bwMode="auto">
          <a:xfrm>
            <a:off x="1005755" y="905164"/>
            <a:ext cx="3762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t>H</a:t>
            </a:r>
            <a:r>
              <a:rPr lang="es-ES" altLang="es-ES" baseline="-25000" dirty="0"/>
              <a:t>0</a:t>
            </a:r>
          </a:p>
        </p:txBody>
      </p:sp>
      <p:sp>
        <p:nvSpPr>
          <p:cNvPr id="12299" name="Text Box 17"/>
          <p:cNvSpPr txBox="1">
            <a:spLocks noChangeArrowheads="1"/>
          </p:cNvSpPr>
          <p:nvPr/>
        </p:nvSpPr>
        <p:spPr bwMode="auto">
          <a:xfrm>
            <a:off x="238124" y="381000"/>
            <a:ext cx="657352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b="1" dirty="0"/>
              <a:t>De qué dependen los errores de tipo I y II (y, por extensión, la potencia)</a:t>
            </a:r>
            <a:endParaRPr lang="es-ES" altLang="es-ES" b="1" baseline="-25000" dirty="0"/>
          </a:p>
        </p:txBody>
      </p:sp>
      <p:grpSp>
        <p:nvGrpSpPr>
          <p:cNvPr id="12300" name="5 Grupo"/>
          <p:cNvGrpSpPr>
            <a:grpSpLocks/>
          </p:cNvGrpSpPr>
          <p:nvPr/>
        </p:nvGrpSpPr>
        <p:grpSpPr bwMode="auto">
          <a:xfrm>
            <a:off x="242456" y="2438400"/>
            <a:ext cx="2997200" cy="698500"/>
            <a:chOff x="995681" y="3051274"/>
            <a:chExt cx="2997200" cy="698084"/>
          </a:xfrm>
        </p:grpSpPr>
        <p:sp>
          <p:nvSpPr>
            <p:cNvPr id="12315" name="AutoShape 84"/>
            <p:cNvSpPr>
              <a:spLocks noChangeArrowheads="1"/>
            </p:cNvSpPr>
            <p:nvPr/>
          </p:nvSpPr>
          <p:spPr bwMode="auto">
            <a:xfrm>
              <a:off x="995681" y="3205164"/>
              <a:ext cx="2997200" cy="544194"/>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aphicFrame>
          <p:nvGraphicFramePr>
            <p:cNvPr id="12316" name="1 Objeto"/>
            <p:cNvGraphicFramePr>
              <a:graphicFrameLocks noChangeAspect="1"/>
            </p:cNvGraphicFramePr>
            <p:nvPr>
              <p:extLst>
                <p:ext uri="{D42A27DB-BD31-4B8C-83A1-F6EECF244321}">
                  <p14:modId xmlns:p14="http://schemas.microsoft.com/office/powerpoint/2010/main" val="312221119"/>
                </p:ext>
              </p:extLst>
            </p:nvPr>
          </p:nvGraphicFramePr>
          <p:xfrm>
            <a:off x="1232139" y="3377473"/>
            <a:ext cx="2644615" cy="311332"/>
          </p:xfrm>
          <a:graphic>
            <a:graphicData uri="http://schemas.openxmlformats.org/presentationml/2006/ole">
              <mc:AlternateContent xmlns:mc="http://schemas.openxmlformats.org/markup-compatibility/2006">
                <mc:Choice xmlns:v="urn:schemas-microsoft-com:vml" Requires="v">
                  <p:oleObj name="Equation" r:id="rId9" imgW="2120760" imgH="228600" progId="Equation.DSMT4">
                    <p:embed/>
                  </p:oleObj>
                </mc:Choice>
                <mc:Fallback>
                  <p:oleObj name="Equation" r:id="rId9" imgW="2120760" imgH="228600" progId="Equation.DSMT4">
                    <p:embed/>
                    <p:pic>
                      <p:nvPicPr>
                        <p:cNvPr id="12316" name="1 Objeto"/>
                        <p:cNvPicPr>
                          <a:picLocks noChangeAspect="1" noChangeArrowheads="1"/>
                        </p:cNvPicPr>
                        <p:nvPr/>
                      </p:nvPicPr>
                      <p:blipFill>
                        <a:blip r:embed="rId10"/>
                        <a:srcRect/>
                        <a:stretch>
                          <a:fillRect/>
                        </a:stretch>
                      </p:blipFill>
                      <p:spPr bwMode="auto">
                        <a:xfrm>
                          <a:off x="1232139" y="3377473"/>
                          <a:ext cx="2644615" cy="311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17" name="Text Box 13"/>
            <p:cNvSpPr txBox="1">
              <a:spLocks noChangeArrowheads="1"/>
            </p:cNvSpPr>
            <p:nvPr/>
          </p:nvSpPr>
          <p:spPr bwMode="auto">
            <a:xfrm>
              <a:off x="1135926" y="3051274"/>
              <a:ext cx="1317990"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t>Error de tipo II</a:t>
              </a:r>
            </a:p>
          </p:txBody>
        </p:sp>
      </p:grpSp>
      <p:grpSp>
        <p:nvGrpSpPr>
          <p:cNvPr id="12301" name="6 Grupo"/>
          <p:cNvGrpSpPr>
            <a:grpSpLocks/>
          </p:cNvGrpSpPr>
          <p:nvPr/>
        </p:nvGrpSpPr>
        <p:grpSpPr bwMode="auto">
          <a:xfrm>
            <a:off x="3983038" y="855951"/>
            <a:ext cx="2997200" cy="708025"/>
            <a:chOff x="4627563" y="2922469"/>
            <a:chExt cx="2997200" cy="708679"/>
          </a:xfrm>
        </p:grpSpPr>
        <p:graphicFrame>
          <p:nvGraphicFramePr>
            <p:cNvPr id="12312" name="2 Objeto"/>
            <p:cNvGraphicFramePr>
              <a:graphicFrameLocks noChangeAspect="1"/>
            </p:cNvGraphicFramePr>
            <p:nvPr/>
          </p:nvGraphicFramePr>
          <p:xfrm>
            <a:off x="4816635" y="3240406"/>
            <a:ext cx="2514600" cy="311150"/>
          </p:xfrm>
          <a:graphic>
            <a:graphicData uri="http://schemas.openxmlformats.org/presentationml/2006/ole">
              <mc:AlternateContent xmlns:mc="http://schemas.openxmlformats.org/markup-compatibility/2006">
                <mc:Choice xmlns:v="urn:schemas-microsoft-com:vml" Requires="v">
                  <p:oleObj name="Equation" r:id="rId11" imgW="2019300" imgH="228600" progId="Equation.DSMT4">
                    <p:embed/>
                  </p:oleObj>
                </mc:Choice>
                <mc:Fallback>
                  <p:oleObj name="Equation" r:id="rId11" imgW="2019300" imgH="228600" progId="Equation.DSMT4">
                    <p:embed/>
                    <p:pic>
                      <p:nvPicPr>
                        <p:cNvPr id="12312" name="2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16635" y="3240406"/>
                          <a:ext cx="25146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13" name="AutoShape 84"/>
            <p:cNvSpPr>
              <a:spLocks noChangeArrowheads="1"/>
            </p:cNvSpPr>
            <p:nvPr/>
          </p:nvSpPr>
          <p:spPr bwMode="auto">
            <a:xfrm>
              <a:off x="4627563" y="3086954"/>
              <a:ext cx="2997200" cy="544194"/>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2314" name="Rectangle 16"/>
            <p:cNvSpPr>
              <a:spLocks noChangeArrowheads="1"/>
            </p:cNvSpPr>
            <p:nvPr/>
          </p:nvSpPr>
          <p:spPr bwMode="auto">
            <a:xfrm>
              <a:off x="4747059" y="2922469"/>
              <a:ext cx="1268296"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t>Error de tipo I</a:t>
              </a:r>
            </a:p>
          </p:txBody>
        </p:sp>
      </p:grpSp>
      <p:grpSp>
        <p:nvGrpSpPr>
          <p:cNvPr id="12302" name="4 Grupo"/>
          <p:cNvGrpSpPr>
            <a:grpSpLocks/>
          </p:cNvGrpSpPr>
          <p:nvPr/>
        </p:nvGrpSpPr>
        <p:grpSpPr bwMode="auto">
          <a:xfrm>
            <a:off x="3505200" y="2133600"/>
            <a:ext cx="3457575" cy="698500"/>
            <a:chOff x="985796" y="5876608"/>
            <a:chExt cx="3457618" cy="698400"/>
          </a:xfrm>
        </p:grpSpPr>
        <p:graphicFrame>
          <p:nvGraphicFramePr>
            <p:cNvPr id="12309" name="3 Objeto"/>
            <p:cNvGraphicFramePr>
              <a:graphicFrameLocks noChangeAspect="1"/>
            </p:cNvGraphicFramePr>
            <p:nvPr>
              <p:extLst>
                <p:ext uri="{D42A27DB-BD31-4B8C-83A1-F6EECF244321}">
                  <p14:modId xmlns:p14="http://schemas.microsoft.com/office/powerpoint/2010/main" val="3314183934"/>
                </p:ext>
              </p:extLst>
            </p:nvPr>
          </p:nvGraphicFramePr>
          <p:xfrm>
            <a:off x="1186598" y="6194545"/>
            <a:ext cx="3105685" cy="297805"/>
          </p:xfrm>
          <a:graphic>
            <a:graphicData uri="http://schemas.openxmlformats.org/presentationml/2006/ole">
              <mc:AlternateContent xmlns:mc="http://schemas.openxmlformats.org/markup-compatibility/2006">
                <mc:Choice xmlns:v="urn:schemas-microsoft-com:vml" Requires="v">
                  <p:oleObj name="Equation" r:id="rId13" imgW="2603160" imgH="228600" progId="Equation.DSMT4">
                    <p:embed/>
                  </p:oleObj>
                </mc:Choice>
                <mc:Fallback>
                  <p:oleObj name="Equation" r:id="rId13" imgW="2603160" imgH="228600" progId="Equation.DSMT4">
                    <p:embed/>
                    <p:pic>
                      <p:nvPicPr>
                        <p:cNvPr id="12309" name="3 Objeto"/>
                        <p:cNvPicPr>
                          <a:picLocks noChangeAspect="1" noChangeArrowheads="1"/>
                        </p:cNvPicPr>
                        <p:nvPr/>
                      </p:nvPicPr>
                      <p:blipFill>
                        <a:blip r:embed="rId14"/>
                        <a:srcRect/>
                        <a:stretch>
                          <a:fillRect/>
                        </a:stretch>
                      </p:blipFill>
                      <p:spPr bwMode="auto">
                        <a:xfrm>
                          <a:off x="1186598" y="6194545"/>
                          <a:ext cx="3105685" cy="297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10" name="AutoShape 84"/>
            <p:cNvSpPr>
              <a:spLocks noChangeArrowheads="1"/>
            </p:cNvSpPr>
            <p:nvPr/>
          </p:nvSpPr>
          <p:spPr bwMode="auto">
            <a:xfrm>
              <a:off x="985796" y="6030814"/>
              <a:ext cx="3457618" cy="544194"/>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2311" name="Text Box 13"/>
            <p:cNvSpPr txBox="1">
              <a:spLocks noChangeArrowheads="1"/>
            </p:cNvSpPr>
            <p:nvPr/>
          </p:nvSpPr>
          <p:spPr bwMode="auto">
            <a:xfrm>
              <a:off x="1093153" y="5876608"/>
              <a:ext cx="881973"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t>Potencia</a:t>
              </a:r>
            </a:p>
          </p:txBody>
        </p:sp>
      </p:grpSp>
      <p:sp>
        <p:nvSpPr>
          <p:cNvPr id="12307" name="AutoShape 70"/>
          <p:cNvSpPr>
            <a:spLocks noChangeArrowheads="1"/>
          </p:cNvSpPr>
          <p:nvPr/>
        </p:nvSpPr>
        <p:spPr bwMode="auto">
          <a:xfrm>
            <a:off x="4577088" y="1513331"/>
            <a:ext cx="3885737" cy="553998"/>
          </a:xfrm>
          <a:prstGeom prst="roundRect">
            <a:avLst>
              <a:gd name="adj" fmla="val 9028"/>
            </a:avLst>
          </a:prstGeom>
          <a:solidFill>
            <a:schemeClr val="bg1"/>
          </a:solidFill>
          <a:ln w="9525">
            <a:solidFill>
              <a:srgbClr val="99CCFF"/>
            </a:solidFill>
            <a:round/>
            <a:headEnd/>
            <a:tailEnd/>
          </a:ln>
        </p:spPr>
        <p:txBody>
          <a:bodyPr wrap="none"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2308" name="Rectangle 68"/>
          <p:cNvSpPr>
            <a:spLocks noChangeArrowheads="1"/>
          </p:cNvSpPr>
          <p:nvPr/>
        </p:nvSpPr>
        <p:spPr bwMode="auto">
          <a:xfrm>
            <a:off x="4560491" y="1513331"/>
            <a:ext cx="390233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 altLang="es-ES" dirty="0"/>
              <a:t>Fijado de antemano por el investigador (no depende de ni de </a:t>
            </a:r>
            <a:r>
              <a:rPr lang="es-ES" altLang="es-ES" sz="1600" i="1" dirty="0">
                <a:latin typeface="Times New Roman" pitchFamily="18" charset="0"/>
              </a:rPr>
              <a:t>n</a:t>
            </a:r>
            <a:r>
              <a:rPr lang="es-ES" altLang="es-ES" dirty="0"/>
              <a:t> ni del fenómeno estudiado)</a:t>
            </a:r>
          </a:p>
        </p:txBody>
      </p:sp>
      <p:sp>
        <p:nvSpPr>
          <p:cNvPr id="12306" name="Line 107"/>
          <p:cNvSpPr>
            <a:spLocks noChangeShapeType="1"/>
          </p:cNvSpPr>
          <p:nvPr/>
        </p:nvSpPr>
        <p:spPr bwMode="auto">
          <a:xfrm flipH="1">
            <a:off x="1668588" y="2051845"/>
            <a:ext cx="324740" cy="417864"/>
          </a:xfrm>
          <a:prstGeom prst="line">
            <a:avLst/>
          </a:prstGeom>
          <a:noFill/>
          <a:ln w="9525">
            <a:solidFill>
              <a:schemeClr val="bg2">
                <a:lumMod val="50000"/>
              </a:schemeClr>
            </a:solidFill>
            <a:prstDash val="dash"/>
            <a:round/>
            <a:headEnd type="oval"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40"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 y los dos tipos de error</a:t>
            </a:r>
          </a:p>
        </p:txBody>
      </p:sp>
      <p:graphicFrame>
        <p:nvGraphicFramePr>
          <p:cNvPr id="43" name="Object 107"/>
          <p:cNvGraphicFramePr>
            <a:graphicFrameLocks noChangeAspect="1"/>
          </p:cNvGraphicFramePr>
          <p:nvPr>
            <p:extLst>
              <p:ext uri="{D42A27DB-BD31-4B8C-83A1-F6EECF244321}">
                <p14:modId xmlns:p14="http://schemas.microsoft.com/office/powerpoint/2010/main" val="2766039087"/>
              </p:ext>
            </p:extLst>
          </p:nvPr>
        </p:nvGraphicFramePr>
        <p:xfrm>
          <a:off x="1958975" y="1811338"/>
          <a:ext cx="98425" cy="195262"/>
        </p:xfrm>
        <a:graphic>
          <a:graphicData uri="http://schemas.openxmlformats.org/presentationml/2006/ole">
            <mc:AlternateContent xmlns:mc="http://schemas.openxmlformats.org/markup-compatibility/2006">
              <mc:Choice xmlns:v="urn:schemas-microsoft-com:vml" Requires="v">
                <p:oleObj name="Equation" r:id="rId15" imgW="139680" imgH="215640" progId="Equation.DSMT4">
                  <p:embed/>
                </p:oleObj>
              </mc:Choice>
              <mc:Fallback>
                <p:oleObj name="Equation" r:id="rId15" imgW="139680" imgH="215640" progId="Equation.DSMT4">
                  <p:embed/>
                  <p:pic>
                    <p:nvPicPr>
                      <p:cNvPr id="12356" name="Object 107"/>
                      <p:cNvPicPr>
                        <a:picLocks noChangeAspect="1" noChangeArrowheads="1"/>
                      </p:cNvPicPr>
                      <p:nvPr/>
                    </p:nvPicPr>
                    <p:blipFill>
                      <a:blip r:embed="rId16"/>
                      <a:srcRect/>
                      <a:stretch>
                        <a:fillRect/>
                      </a:stretch>
                    </p:blipFill>
                    <p:spPr bwMode="auto">
                      <a:xfrm>
                        <a:off x="1958975" y="1811338"/>
                        <a:ext cx="98425" cy="195262"/>
                      </a:xfrm>
                      <a:prstGeom prst="rect">
                        <a:avLst/>
                      </a:prstGeom>
                      <a:noFill/>
                      <a:ln>
                        <a:noFill/>
                      </a:ln>
                      <a:effectLst/>
                    </p:spPr>
                  </p:pic>
                </p:oleObj>
              </mc:Fallback>
            </mc:AlternateContent>
          </a:graphicData>
        </a:graphic>
      </p:graphicFrame>
      <p:graphicFrame>
        <p:nvGraphicFramePr>
          <p:cNvPr id="44" name="Object 107"/>
          <p:cNvGraphicFramePr>
            <a:graphicFrameLocks noChangeAspect="1"/>
          </p:cNvGraphicFramePr>
          <p:nvPr>
            <p:extLst>
              <p:ext uri="{D42A27DB-BD31-4B8C-83A1-F6EECF244321}">
                <p14:modId xmlns:p14="http://schemas.microsoft.com/office/powerpoint/2010/main" val="857515940"/>
              </p:ext>
            </p:extLst>
          </p:nvPr>
        </p:nvGraphicFramePr>
        <p:xfrm>
          <a:off x="2398713" y="1982788"/>
          <a:ext cx="115887" cy="138112"/>
        </p:xfrm>
        <a:graphic>
          <a:graphicData uri="http://schemas.openxmlformats.org/presentationml/2006/ole">
            <mc:AlternateContent xmlns:mc="http://schemas.openxmlformats.org/markup-compatibility/2006">
              <mc:Choice xmlns:v="urn:schemas-microsoft-com:vml" Requires="v">
                <p:oleObj name="Equation" r:id="rId17" imgW="164880" imgH="152280" progId="Equation.DSMT4">
                  <p:embed/>
                </p:oleObj>
              </mc:Choice>
              <mc:Fallback>
                <p:oleObj name="Equation" r:id="rId17" imgW="164880" imgH="152280" progId="Equation.DSMT4">
                  <p:embed/>
                  <p:pic>
                    <p:nvPicPr>
                      <p:cNvPr id="43" name="Object 107"/>
                      <p:cNvPicPr>
                        <a:picLocks noChangeAspect="1" noChangeArrowheads="1"/>
                      </p:cNvPicPr>
                      <p:nvPr/>
                    </p:nvPicPr>
                    <p:blipFill>
                      <a:blip r:embed="rId18"/>
                      <a:srcRect/>
                      <a:stretch>
                        <a:fillRect/>
                      </a:stretch>
                    </p:blipFill>
                    <p:spPr bwMode="auto">
                      <a:xfrm>
                        <a:off x="2398713" y="1982788"/>
                        <a:ext cx="115887" cy="138112"/>
                      </a:xfrm>
                      <a:prstGeom prst="rect">
                        <a:avLst/>
                      </a:prstGeom>
                      <a:noFill/>
                      <a:ln>
                        <a:noFill/>
                      </a:ln>
                      <a:effectLst/>
                    </p:spPr>
                  </p:pic>
                </p:oleObj>
              </mc:Fallback>
            </mc:AlternateContent>
          </a:graphicData>
        </a:graphic>
      </p:graphicFrame>
      <p:sp>
        <p:nvSpPr>
          <p:cNvPr id="3" name="Rectángulo: esquinas redondeadas 2"/>
          <p:cNvSpPr/>
          <p:nvPr/>
        </p:nvSpPr>
        <p:spPr>
          <a:xfrm>
            <a:off x="5429250" y="2896082"/>
            <a:ext cx="3457574" cy="3839692"/>
          </a:xfrm>
          <a:prstGeom prst="roundRect">
            <a:avLst>
              <a:gd name="adj" fmla="val 3301"/>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grpSp>
        <p:nvGrpSpPr>
          <p:cNvPr id="2" name="Grupo 1">
            <a:extLst>
              <a:ext uri="{FF2B5EF4-FFF2-40B4-BE49-F238E27FC236}">
                <a16:creationId xmlns:a16="http://schemas.microsoft.com/office/drawing/2014/main" id="{DDB92490-5AE4-4DA7-8B5B-9C2DE25FF99F}"/>
              </a:ext>
            </a:extLst>
          </p:cNvPr>
          <p:cNvGrpSpPr/>
          <p:nvPr/>
        </p:nvGrpSpPr>
        <p:grpSpPr>
          <a:xfrm>
            <a:off x="5710261" y="2952750"/>
            <a:ext cx="2905078" cy="3317011"/>
            <a:chOff x="5710261" y="3164568"/>
            <a:chExt cx="2905078" cy="3317011"/>
          </a:xfrm>
        </p:grpSpPr>
        <p:pic>
          <p:nvPicPr>
            <p:cNvPr id="45" name="Imagen 44"/>
            <p:cNvPicPr>
              <a:picLocks noChangeAspect="1"/>
            </p:cNvPicPr>
            <p:nvPr/>
          </p:nvPicPr>
          <p:blipFill>
            <a:blip r:embed="rId19"/>
            <a:stretch>
              <a:fillRect/>
            </a:stretch>
          </p:blipFill>
          <p:spPr>
            <a:xfrm>
              <a:off x="5710261" y="3164568"/>
              <a:ext cx="2905078" cy="3317011"/>
            </a:xfrm>
            <a:prstGeom prst="rect">
              <a:avLst/>
            </a:prstGeom>
          </p:spPr>
        </p:pic>
        <p:sp>
          <p:nvSpPr>
            <p:cNvPr id="48" name="Text Box 17"/>
            <p:cNvSpPr txBox="1">
              <a:spLocks noChangeArrowheads="1"/>
            </p:cNvSpPr>
            <p:nvPr/>
          </p:nvSpPr>
          <p:spPr bwMode="auto">
            <a:xfrm>
              <a:off x="5865088" y="3309372"/>
              <a:ext cx="381836" cy="312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solidFill>
                    <a:schemeClr val="bg2">
                      <a:lumMod val="75000"/>
                    </a:schemeClr>
                  </a:solidFill>
                </a:rPr>
                <a:t>H</a:t>
              </a:r>
              <a:r>
                <a:rPr lang="es-ES" altLang="es-ES" baseline="-25000" dirty="0">
                  <a:solidFill>
                    <a:schemeClr val="bg2">
                      <a:lumMod val="75000"/>
                    </a:schemeClr>
                  </a:solidFill>
                </a:rPr>
                <a:t>0</a:t>
              </a:r>
            </a:p>
          </p:txBody>
        </p:sp>
        <p:sp>
          <p:nvSpPr>
            <p:cNvPr id="49" name="Text Box 17"/>
            <p:cNvSpPr txBox="1">
              <a:spLocks noChangeArrowheads="1"/>
            </p:cNvSpPr>
            <p:nvPr/>
          </p:nvSpPr>
          <p:spPr bwMode="auto">
            <a:xfrm>
              <a:off x="5865088" y="4520960"/>
              <a:ext cx="381836" cy="312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solidFill>
                    <a:schemeClr val="bg2">
                      <a:lumMod val="75000"/>
                    </a:schemeClr>
                  </a:solidFill>
                </a:rPr>
                <a:t>H</a:t>
              </a:r>
              <a:r>
                <a:rPr lang="es-ES" altLang="es-ES" baseline="-25000" dirty="0">
                  <a:solidFill>
                    <a:schemeClr val="bg2">
                      <a:lumMod val="75000"/>
                    </a:schemeClr>
                  </a:solidFill>
                </a:rPr>
                <a:t>0</a:t>
              </a:r>
            </a:p>
          </p:txBody>
        </p:sp>
        <p:sp>
          <p:nvSpPr>
            <p:cNvPr id="50" name="Text Box 17"/>
            <p:cNvSpPr txBox="1">
              <a:spLocks noChangeArrowheads="1"/>
            </p:cNvSpPr>
            <p:nvPr/>
          </p:nvSpPr>
          <p:spPr bwMode="auto">
            <a:xfrm>
              <a:off x="5865088" y="5608217"/>
              <a:ext cx="381836" cy="312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solidFill>
                    <a:schemeClr val="bg2">
                      <a:lumMod val="75000"/>
                    </a:schemeClr>
                  </a:solidFill>
                </a:rPr>
                <a:t>H</a:t>
              </a:r>
              <a:r>
                <a:rPr lang="es-ES" altLang="es-ES" baseline="-25000" dirty="0">
                  <a:solidFill>
                    <a:schemeClr val="bg2">
                      <a:lumMod val="75000"/>
                    </a:schemeClr>
                  </a:solidFill>
                </a:rPr>
                <a:t>0</a:t>
              </a:r>
            </a:p>
          </p:txBody>
        </p:sp>
        <p:sp>
          <p:nvSpPr>
            <p:cNvPr id="51" name="Text Box 18"/>
            <p:cNvSpPr txBox="1">
              <a:spLocks noChangeArrowheads="1"/>
            </p:cNvSpPr>
            <p:nvPr/>
          </p:nvSpPr>
          <p:spPr bwMode="auto">
            <a:xfrm>
              <a:off x="7233889" y="3309372"/>
              <a:ext cx="381836" cy="312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dirty="0">
                  <a:solidFill>
                    <a:schemeClr val="bg2">
                      <a:lumMod val="75000"/>
                    </a:schemeClr>
                  </a:solidFill>
                </a:rPr>
                <a:t>H</a:t>
              </a:r>
              <a:r>
                <a:rPr lang="es-ES" altLang="es-ES" baseline="-25000" dirty="0">
                  <a:solidFill>
                    <a:schemeClr val="bg2">
                      <a:lumMod val="75000"/>
                    </a:schemeClr>
                  </a:solidFill>
                </a:rPr>
                <a:t>1</a:t>
              </a:r>
            </a:p>
          </p:txBody>
        </p:sp>
        <p:sp>
          <p:nvSpPr>
            <p:cNvPr id="52" name="Text Box 18"/>
            <p:cNvSpPr txBox="1">
              <a:spLocks noChangeArrowheads="1"/>
            </p:cNvSpPr>
            <p:nvPr/>
          </p:nvSpPr>
          <p:spPr bwMode="auto">
            <a:xfrm>
              <a:off x="7691089" y="4520960"/>
              <a:ext cx="381836" cy="312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dirty="0">
                  <a:solidFill>
                    <a:schemeClr val="bg2">
                      <a:lumMod val="75000"/>
                    </a:schemeClr>
                  </a:solidFill>
                </a:rPr>
                <a:t>H</a:t>
              </a:r>
              <a:r>
                <a:rPr lang="es-ES" altLang="es-ES" baseline="-25000" dirty="0">
                  <a:solidFill>
                    <a:schemeClr val="bg2">
                      <a:lumMod val="75000"/>
                    </a:schemeClr>
                  </a:solidFill>
                </a:rPr>
                <a:t>1</a:t>
              </a:r>
            </a:p>
          </p:txBody>
        </p:sp>
        <p:sp>
          <p:nvSpPr>
            <p:cNvPr id="53" name="Text Box 18"/>
            <p:cNvSpPr txBox="1">
              <a:spLocks noChangeArrowheads="1"/>
            </p:cNvSpPr>
            <p:nvPr/>
          </p:nvSpPr>
          <p:spPr bwMode="auto">
            <a:xfrm>
              <a:off x="8153051" y="5608217"/>
              <a:ext cx="381836" cy="312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dirty="0">
                  <a:solidFill>
                    <a:schemeClr val="bg2">
                      <a:lumMod val="75000"/>
                    </a:schemeClr>
                  </a:solidFill>
                </a:rPr>
                <a:t>H</a:t>
              </a:r>
              <a:r>
                <a:rPr lang="es-ES" altLang="es-ES" baseline="-25000" dirty="0">
                  <a:solidFill>
                    <a:schemeClr val="bg2">
                      <a:lumMod val="75000"/>
                    </a:schemeClr>
                  </a:solidFill>
                </a:rPr>
                <a:t>1</a:t>
              </a:r>
            </a:p>
          </p:txBody>
        </p:sp>
      </p:grpSp>
      <p:sp>
        <p:nvSpPr>
          <p:cNvPr id="5" name="Flecha: hacia abajo 4"/>
          <p:cNvSpPr/>
          <p:nvPr/>
        </p:nvSpPr>
        <p:spPr>
          <a:xfrm rot="16200000">
            <a:off x="4950673" y="4054856"/>
            <a:ext cx="270085" cy="570230"/>
          </a:xfrm>
          <a:prstGeom prst="downArrow">
            <a:avLst>
              <a:gd name="adj1" fmla="val 50000"/>
              <a:gd name="adj2" fmla="val 114976"/>
            </a:avLst>
          </a:prstGeom>
          <a:noFill/>
          <a:ln w="12700">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grpSp>
        <p:nvGrpSpPr>
          <p:cNvPr id="8" name="Grupo 7"/>
          <p:cNvGrpSpPr/>
          <p:nvPr/>
        </p:nvGrpSpPr>
        <p:grpSpPr>
          <a:xfrm>
            <a:off x="177222" y="5660186"/>
            <a:ext cx="3394626" cy="664414"/>
            <a:chOff x="177222" y="5375275"/>
            <a:chExt cx="3394626" cy="664414"/>
          </a:xfrm>
        </p:grpSpPr>
        <p:sp>
          <p:nvSpPr>
            <p:cNvPr id="8236" name="Text Box 73"/>
            <p:cNvSpPr txBox="1">
              <a:spLocks noChangeArrowheads="1"/>
            </p:cNvSpPr>
            <p:nvPr/>
          </p:nvSpPr>
          <p:spPr bwMode="auto">
            <a:xfrm>
              <a:off x="177222" y="5375275"/>
              <a:ext cx="2756181" cy="66441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marL="285750" indent="-285750" eaLnBrk="1" hangingPunct="1">
                <a:buFont typeface="Arial" panose="020B0604020202020204" pitchFamily="34" charset="0"/>
                <a:buChar char="•"/>
                <a:defRPr/>
              </a:pPr>
              <a:r>
                <a:rPr lang="es-ES" altLang="es-ES" dirty="0">
                  <a:latin typeface="+mj-lt"/>
                </a:rPr>
                <a:t>Del </a:t>
              </a:r>
              <a:r>
                <a:rPr lang="es-ES" altLang="es-ES" b="1" dirty="0">
                  <a:latin typeface="+mj-lt"/>
                </a:rPr>
                <a:t>tamaño de muestra</a:t>
              </a:r>
              <a:r>
                <a:rPr lang="es-ES" altLang="es-ES" b="1" i="1" dirty="0">
                  <a:latin typeface="+mj-lt"/>
                </a:rPr>
                <a:t> </a:t>
              </a:r>
              <a:r>
                <a:rPr lang="es-ES" altLang="es-ES" sz="1600" i="1" dirty="0">
                  <a:latin typeface="Times New Roman" pitchFamily="18" charset="0"/>
                </a:rPr>
                <a:t>n</a:t>
              </a:r>
              <a:r>
                <a:rPr lang="es-ES" altLang="es-ES" sz="1600" dirty="0"/>
                <a:t>:  </a:t>
              </a:r>
            </a:p>
            <a:p>
              <a:pPr eaLnBrk="1" hangingPunct="1">
                <a:lnSpc>
                  <a:spcPct val="150000"/>
                </a:lnSpc>
                <a:tabLst>
                  <a:tab pos="268288" algn="l"/>
                </a:tabLst>
                <a:defRPr/>
              </a:pPr>
              <a:r>
                <a:rPr lang="es-ES" altLang="es-ES" sz="1600" dirty="0"/>
                <a:t> 	</a:t>
              </a:r>
              <a:r>
                <a:rPr lang="es-ES" altLang="es-ES" dirty="0"/>
                <a:t>si</a:t>
              </a:r>
              <a:endParaRPr lang="es-ES" altLang="es-ES" sz="1600" dirty="0"/>
            </a:p>
          </p:txBody>
        </p:sp>
        <p:graphicFrame>
          <p:nvGraphicFramePr>
            <p:cNvPr id="12297" name="Object 78"/>
            <p:cNvGraphicFramePr>
              <a:graphicFrameLocks noChangeAspect="1"/>
            </p:cNvGraphicFramePr>
            <p:nvPr>
              <p:extLst>
                <p:ext uri="{D42A27DB-BD31-4B8C-83A1-F6EECF244321}">
                  <p14:modId xmlns:p14="http://schemas.microsoft.com/office/powerpoint/2010/main" val="1043111747"/>
                </p:ext>
              </p:extLst>
            </p:nvPr>
          </p:nvGraphicFramePr>
          <p:xfrm>
            <a:off x="762000" y="5703887"/>
            <a:ext cx="1658938" cy="315913"/>
          </p:xfrm>
          <a:graphic>
            <a:graphicData uri="http://schemas.openxmlformats.org/presentationml/2006/ole">
              <mc:AlternateContent xmlns:mc="http://schemas.openxmlformats.org/markup-compatibility/2006">
                <mc:Choice xmlns:v="urn:schemas-microsoft-com:vml" Requires="v">
                  <p:oleObj name="Equation" r:id="rId20" imgW="1193800" imgH="228600" progId="Equation.DSMT4">
                    <p:embed/>
                  </p:oleObj>
                </mc:Choice>
                <mc:Fallback>
                  <p:oleObj name="Equation" r:id="rId20" imgW="1193800" imgH="228600" progId="Equation.DSMT4">
                    <p:embed/>
                    <p:pic>
                      <p:nvPicPr>
                        <p:cNvPr id="12297" name="Object 7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2000" y="5703887"/>
                          <a:ext cx="165893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 name="Text Box 73"/>
            <p:cNvSpPr txBox="1">
              <a:spLocks noChangeArrowheads="1"/>
            </p:cNvSpPr>
            <p:nvPr/>
          </p:nvSpPr>
          <p:spPr bwMode="auto">
            <a:xfrm>
              <a:off x="2575765" y="5703887"/>
              <a:ext cx="996083"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defRPr/>
              </a:pPr>
              <a:r>
                <a:rPr lang="es-ES" altLang="es-ES" dirty="0">
                  <a:latin typeface="+mj-lt"/>
                </a:rPr>
                <a:t>¿por qué?</a:t>
              </a:r>
              <a:endParaRPr lang="es-ES" altLang="es-ES" sz="1600" dirty="0"/>
            </a:p>
          </p:txBody>
        </p:sp>
      </p:grpSp>
      <p:sp>
        <p:nvSpPr>
          <p:cNvPr id="9" name="CuadroTexto 8">
            <a:extLst>
              <a:ext uri="{FF2B5EF4-FFF2-40B4-BE49-F238E27FC236}">
                <a16:creationId xmlns:a16="http://schemas.microsoft.com/office/drawing/2014/main" id="{7B821332-5E16-4CA8-B958-A3B96B4C4F39}"/>
              </a:ext>
            </a:extLst>
          </p:cNvPr>
          <p:cNvSpPr txBox="1"/>
          <p:nvPr/>
        </p:nvSpPr>
        <p:spPr>
          <a:xfrm>
            <a:off x="5399665" y="6232348"/>
            <a:ext cx="3529013" cy="446276"/>
          </a:xfrm>
          <a:prstGeom prst="rect">
            <a:avLst/>
          </a:prstGeom>
          <a:noFill/>
        </p:spPr>
        <p:txBody>
          <a:bodyPr wrap="square" rtlCol="0">
            <a:spAutoFit/>
          </a:bodyPr>
          <a:lstStyle/>
          <a:p>
            <a:pPr algn="ctr"/>
            <a:r>
              <a:rPr lang="es-ES" sz="1100" dirty="0">
                <a:solidFill>
                  <a:schemeClr val="accent5">
                    <a:lumMod val="25000"/>
                  </a:schemeClr>
                </a:solidFill>
              </a:rPr>
              <a:t>Cuanto más distinta sea la verdadera </a:t>
            </a:r>
            <a:r>
              <a:rPr lang="es-ES" dirty="0">
                <a:solidFill>
                  <a:schemeClr val="accent5">
                    <a:lumMod val="25000"/>
                  </a:schemeClr>
                </a:solidFill>
                <a:latin typeface="Symbol" panose="05050102010706020507" pitchFamily="18" charset="2"/>
              </a:rPr>
              <a:t>m</a:t>
            </a:r>
            <a:r>
              <a:rPr lang="es-ES" sz="1100" dirty="0">
                <a:solidFill>
                  <a:schemeClr val="accent5">
                    <a:lumMod val="25000"/>
                  </a:schemeClr>
                </a:solidFill>
              </a:rPr>
              <a:t> de </a:t>
            </a:r>
            <a:r>
              <a:rPr lang="es-ES" dirty="0">
                <a:solidFill>
                  <a:schemeClr val="accent5">
                    <a:lumMod val="25000"/>
                  </a:schemeClr>
                </a:solidFill>
                <a:latin typeface="Symbol" panose="05050102010706020507" pitchFamily="18" charset="2"/>
              </a:rPr>
              <a:t>m</a:t>
            </a:r>
            <a:r>
              <a:rPr lang="es-ES" sz="1100" baseline="-25000" dirty="0">
                <a:solidFill>
                  <a:schemeClr val="accent5">
                    <a:lumMod val="25000"/>
                  </a:schemeClr>
                </a:solidFill>
              </a:rPr>
              <a:t>0</a:t>
            </a:r>
            <a:r>
              <a:rPr lang="es-ES" sz="1100" dirty="0">
                <a:solidFill>
                  <a:schemeClr val="accent5">
                    <a:lumMod val="25000"/>
                  </a:schemeClr>
                </a:solidFill>
              </a:rPr>
              <a:t>, más alejadas estarán las distribuciones</a:t>
            </a:r>
          </a:p>
        </p:txBody>
      </p:sp>
      <p:sp>
        <p:nvSpPr>
          <p:cNvPr id="54" name="Line 108">
            <a:extLst>
              <a:ext uri="{FF2B5EF4-FFF2-40B4-BE49-F238E27FC236}">
                <a16:creationId xmlns:a16="http://schemas.microsoft.com/office/drawing/2014/main" id="{8E2AE0E1-0C11-457A-AB8E-9489AC69A2F2}"/>
              </a:ext>
            </a:extLst>
          </p:cNvPr>
          <p:cNvSpPr>
            <a:spLocks noChangeShapeType="1"/>
          </p:cNvSpPr>
          <p:nvPr/>
        </p:nvSpPr>
        <p:spPr bwMode="auto">
          <a:xfrm>
            <a:off x="3135603" y="1973839"/>
            <a:ext cx="476953" cy="244268"/>
          </a:xfrm>
          <a:prstGeom prst="line">
            <a:avLst/>
          </a:prstGeom>
          <a:noFill/>
          <a:ln w="9525" cmpd="sng">
            <a:solidFill>
              <a:schemeClr val="bg1">
                <a:lumMod val="50000"/>
              </a:schemeClr>
            </a:solidFill>
            <a:prstDash val="dash"/>
            <a:round/>
            <a:headEnd type="oval"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4" name="Rectángulo: esquinas redondeadas 3">
            <a:extLst>
              <a:ext uri="{FF2B5EF4-FFF2-40B4-BE49-F238E27FC236}">
                <a16:creationId xmlns:a16="http://schemas.microsoft.com/office/drawing/2014/main" id="{FA2931DE-F2AC-4855-A788-747DABB02D2B}"/>
              </a:ext>
            </a:extLst>
          </p:cNvPr>
          <p:cNvSpPr/>
          <p:nvPr/>
        </p:nvSpPr>
        <p:spPr>
          <a:xfrm>
            <a:off x="2581302" y="5988798"/>
            <a:ext cx="971523" cy="335802"/>
          </a:xfrm>
          <a:prstGeom prst="round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 name="Picture 7" descr="page280image11454496">
            <a:extLst>
              <a:ext uri="{FF2B5EF4-FFF2-40B4-BE49-F238E27FC236}">
                <a16:creationId xmlns:a16="http://schemas.microsoft.com/office/drawing/2014/main" id="{1FD2CD10-5221-55F0-68EF-C1B94CB88E8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4277" y="3202384"/>
            <a:ext cx="2997200" cy="26122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page280image11454288">
            <a:extLst>
              <a:ext uri="{FF2B5EF4-FFF2-40B4-BE49-F238E27FC236}">
                <a16:creationId xmlns:a16="http://schemas.microsoft.com/office/drawing/2014/main" id="{AA0928B0-EE9B-C348-04F7-B7D0813F6624}"/>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399665" y="749195"/>
            <a:ext cx="2673254" cy="224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2808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1" name="Text Box 17"/>
          <p:cNvSpPr txBox="1">
            <a:spLocks noChangeArrowheads="1"/>
          </p:cNvSpPr>
          <p:nvPr/>
        </p:nvSpPr>
        <p:spPr bwMode="auto">
          <a:xfrm>
            <a:off x="228600" y="381000"/>
            <a:ext cx="3309938"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b="1" dirty="0"/>
              <a:t>En qué influye el tamaño de muestra</a:t>
            </a:r>
            <a:endParaRPr lang="es-ES" altLang="es-ES" b="1" baseline="30000" dirty="0"/>
          </a:p>
        </p:txBody>
      </p:sp>
      <p:grpSp>
        <p:nvGrpSpPr>
          <p:cNvPr id="90" name="Grupo 89">
            <a:extLst>
              <a:ext uri="{FF2B5EF4-FFF2-40B4-BE49-F238E27FC236}">
                <a16:creationId xmlns:a16="http://schemas.microsoft.com/office/drawing/2014/main" id="{7A3F33ED-4BFE-430D-BAD0-7B618EB2DE2E}"/>
              </a:ext>
            </a:extLst>
          </p:cNvPr>
          <p:cNvGrpSpPr/>
          <p:nvPr/>
        </p:nvGrpSpPr>
        <p:grpSpPr>
          <a:xfrm>
            <a:off x="4286845" y="6312412"/>
            <a:ext cx="4724400" cy="498613"/>
            <a:chOff x="4286845" y="6312412"/>
            <a:chExt cx="4724400" cy="498613"/>
          </a:xfrm>
        </p:grpSpPr>
        <p:sp>
          <p:nvSpPr>
            <p:cNvPr id="13316" name="Text Box 26"/>
            <p:cNvSpPr txBox="1">
              <a:spLocks noChangeArrowheads="1"/>
            </p:cNvSpPr>
            <p:nvPr/>
          </p:nvSpPr>
          <p:spPr bwMode="auto">
            <a:xfrm>
              <a:off x="4286845" y="6312412"/>
              <a:ext cx="4724400" cy="479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dirty="0"/>
                <a:t>Recordar que ¡</a:t>
              </a:r>
              <a:r>
                <a:rPr lang="es-ES" altLang="es-ES" dirty="0">
                  <a:latin typeface="Symbol" pitchFamily="18" charset="2"/>
                </a:rPr>
                <a:t>a</a:t>
              </a:r>
              <a:r>
                <a:rPr lang="es-ES" altLang="es-ES" sz="1200" dirty="0"/>
                <a:t> NO cambia al variar </a:t>
              </a:r>
              <a:r>
                <a:rPr lang="es-ES" altLang="es-ES" i="1" dirty="0">
                  <a:latin typeface="Times New Roman" pitchFamily="18" charset="0"/>
                </a:rPr>
                <a:t>n</a:t>
              </a:r>
              <a:r>
                <a:rPr lang="es-ES" altLang="es-ES" sz="1200" dirty="0"/>
                <a:t>! </a:t>
              </a:r>
              <a:br>
                <a:rPr lang="es-ES" altLang="es-ES" dirty="0"/>
              </a:br>
              <a:r>
                <a:rPr lang="es-ES" altLang="es-ES" sz="1100" dirty="0">
                  <a:solidFill>
                    <a:schemeClr val="tx1">
                      <a:lumMod val="50000"/>
                      <a:lumOff val="50000"/>
                    </a:schemeClr>
                  </a:solidFill>
                </a:rPr>
                <a:t>Se fijó de antemano y no depende de la muestra</a:t>
              </a:r>
              <a:endParaRPr lang="es-ES" altLang="es-ES" dirty="0">
                <a:solidFill>
                  <a:schemeClr val="tx1">
                    <a:lumMod val="50000"/>
                    <a:lumOff val="50000"/>
                  </a:schemeClr>
                </a:solidFill>
              </a:endParaRPr>
            </a:p>
          </p:txBody>
        </p:sp>
        <p:sp>
          <p:nvSpPr>
            <p:cNvPr id="42" name="Rectángulo: esquinas redondeadas 41"/>
            <p:cNvSpPr/>
            <p:nvPr/>
          </p:nvSpPr>
          <p:spPr>
            <a:xfrm>
              <a:off x="4855327" y="6339199"/>
              <a:ext cx="3587437" cy="471826"/>
            </a:xfrm>
            <a:prstGeom prst="roundRect">
              <a:avLst>
                <a:gd name="adj" fmla="val 12090"/>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44"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 y los dos tipos de error</a:t>
            </a:r>
          </a:p>
        </p:txBody>
      </p:sp>
      <p:sp>
        <p:nvSpPr>
          <p:cNvPr id="2" name="CuadroTexto 1">
            <a:extLst>
              <a:ext uri="{FF2B5EF4-FFF2-40B4-BE49-F238E27FC236}">
                <a16:creationId xmlns:a16="http://schemas.microsoft.com/office/drawing/2014/main" id="{996924BA-6986-439B-BBAB-72C33A37993B}"/>
              </a:ext>
            </a:extLst>
          </p:cNvPr>
          <p:cNvSpPr txBox="1"/>
          <p:nvPr/>
        </p:nvSpPr>
        <p:spPr>
          <a:xfrm>
            <a:off x="212440" y="805334"/>
            <a:ext cx="1463862" cy="276999"/>
          </a:xfrm>
          <a:prstGeom prst="rect">
            <a:avLst/>
          </a:prstGeom>
          <a:noFill/>
        </p:spPr>
        <p:txBody>
          <a:bodyPr wrap="none" rtlCol="0">
            <a:spAutoFit/>
          </a:bodyPr>
          <a:lstStyle/>
          <a:p>
            <a:r>
              <a:rPr lang="es-ES" dirty="0"/>
              <a:t>Como ya sabemos</a:t>
            </a:r>
          </a:p>
        </p:txBody>
      </p:sp>
      <p:grpSp>
        <p:nvGrpSpPr>
          <p:cNvPr id="13315" name="Grupo 13314">
            <a:extLst>
              <a:ext uri="{FF2B5EF4-FFF2-40B4-BE49-F238E27FC236}">
                <a16:creationId xmlns:a16="http://schemas.microsoft.com/office/drawing/2014/main" id="{48535C81-F573-496D-85E7-D65627EB4D0E}"/>
              </a:ext>
            </a:extLst>
          </p:cNvPr>
          <p:cNvGrpSpPr/>
          <p:nvPr/>
        </p:nvGrpSpPr>
        <p:grpSpPr>
          <a:xfrm>
            <a:off x="2146002" y="1454861"/>
            <a:ext cx="2197438" cy="276999"/>
            <a:chOff x="193581" y="1808469"/>
            <a:chExt cx="2197438" cy="276999"/>
          </a:xfrm>
        </p:grpSpPr>
        <p:graphicFrame>
          <p:nvGraphicFramePr>
            <p:cNvPr id="53" name="Object 29">
              <a:extLst>
                <a:ext uri="{FF2B5EF4-FFF2-40B4-BE49-F238E27FC236}">
                  <a16:creationId xmlns:a16="http://schemas.microsoft.com/office/drawing/2014/main" id="{0276FC49-30A8-4421-8BAD-6B3FD6544A54}"/>
                </a:ext>
              </a:extLst>
            </p:cNvPr>
            <p:cNvGraphicFramePr>
              <a:graphicFrameLocks noChangeAspect="1"/>
            </p:cNvGraphicFramePr>
            <p:nvPr>
              <p:extLst>
                <p:ext uri="{D42A27DB-BD31-4B8C-83A1-F6EECF244321}">
                  <p14:modId xmlns:p14="http://schemas.microsoft.com/office/powerpoint/2010/main" val="682025321"/>
                </p:ext>
              </p:extLst>
            </p:nvPr>
          </p:nvGraphicFramePr>
          <p:xfrm>
            <a:off x="1689723" y="1866376"/>
            <a:ext cx="701296" cy="203478"/>
          </p:xfrm>
          <a:graphic>
            <a:graphicData uri="http://schemas.openxmlformats.org/presentationml/2006/ole">
              <mc:AlternateContent xmlns:mc="http://schemas.openxmlformats.org/markup-compatibility/2006">
                <mc:Choice xmlns:v="urn:schemas-microsoft-com:vml" Requires="v">
                  <p:oleObj name="Equation" r:id="rId2" imgW="825480" imgH="241200" progId="Equation.DSMT4">
                    <p:embed/>
                  </p:oleObj>
                </mc:Choice>
                <mc:Fallback>
                  <p:oleObj name="Equation" r:id="rId2" imgW="825480" imgH="241200" progId="Equation.DSMT4">
                    <p:embed/>
                    <p:pic>
                      <p:nvPicPr>
                        <p:cNvPr id="53" name="Object 29">
                          <a:extLst>
                            <a:ext uri="{FF2B5EF4-FFF2-40B4-BE49-F238E27FC236}">
                              <a16:creationId xmlns:a16="http://schemas.microsoft.com/office/drawing/2014/main" id="{0276FC49-30A8-4421-8BAD-6B3FD6544A54}"/>
                            </a:ext>
                          </a:extLst>
                        </p:cNvPr>
                        <p:cNvPicPr>
                          <a:picLocks noChangeAspect="1" noChangeArrowheads="1"/>
                        </p:cNvPicPr>
                        <p:nvPr/>
                      </p:nvPicPr>
                      <p:blipFill>
                        <a:blip r:embed="rId3"/>
                        <a:srcRect/>
                        <a:stretch>
                          <a:fillRect/>
                        </a:stretch>
                      </p:blipFill>
                      <p:spPr bwMode="auto">
                        <a:xfrm>
                          <a:off x="1689723" y="1866376"/>
                          <a:ext cx="701296" cy="203478"/>
                        </a:xfrm>
                        <a:prstGeom prst="rect">
                          <a:avLst/>
                        </a:prstGeom>
                        <a:noFill/>
                        <a:ln>
                          <a:noFill/>
                        </a:ln>
                      </p:spPr>
                    </p:pic>
                  </p:oleObj>
                </mc:Fallback>
              </mc:AlternateContent>
            </a:graphicData>
          </a:graphic>
        </p:graphicFrame>
        <p:sp>
          <p:nvSpPr>
            <p:cNvPr id="57" name="CuadroTexto 56">
              <a:extLst>
                <a:ext uri="{FF2B5EF4-FFF2-40B4-BE49-F238E27FC236}">
                  <a16:creationId xmlns:a16="http://schemas.microsoft.com/office/drawing/2014/main" id="{CB7CC1EC-F40A-4C0D-B49D-B9BE9DC9C74D}"/>
                </a:ext>
              </a:extLst>
            </p:cNvPr>
            <p:cNvSpPr txBox="1"/>
            <p:nvPr/>
          </p:nvSpPr>
          <p:spPr>
            <a:xfrm>
              <a:off x="193581" y="1808469"/>
              <a:ext cx="1813253" cy="276999"/>
            </a:xfrm>
            <a:prstGeom prst="rect">
              <a:avLst/>
            </a:prstGeom>
            <a:noFill/>
          </p:spPr>
          <p:txBody>
            <a:bodyPr wrap="square" rtlCol="0">
              <a:spAutoFit/>
            </a:bodyPr>
            <a:lstStyle/>
            <a:p>
              <a:r>
                <a:rPr lang="es-ES" dirty="0"/>
                <a:t>y suponiendo cierta </a:t>
              </a:r>
            </a:p>
          </p:txBody>
        </p:sp>
      </p:grpSp>
      <p:graphicFrame>
        <p:nvGraphicFramePr>
          <p:cNvPr id="58" name="Object 29">
            <a:extLst>
              <a:ext uri="{FF2B5EF4-FFF2-40B4-BE49-F238E27FC236}">
                <a16:creationId xmlns:a16="http://schemas.microsoft.com/office/drawing/2014/main" id="{C3315815-0EC7-4BCA-9D3F-EBA5F4903A3F}"/>
              </a:ext>
            </a:extLst>
          </p:cNvPr>
          <p:cNvGraphicFramePr>
            <a:graphicFrameLocks noChangeAspect="1"/>
          </p:cNvGraphicFramePr>
          <p:nvPr>
            <p:extLst>
              <p:ext uri="{D42A27DB-BD31-4B8C-83A1-F6EECF244321}">
                <p14:modId xmlns:p14="http://schemas.microsoft.com/office/powerpoint/2010/main" val="974574120"/>
              </p:ext>
            </p:extLst>
          </p:nvPr>
        </p:nvGraphicFramePr>
        <p:xfrm>
          <a:off x="298045" y="1869062"/>
          <a:ext cx="1789074" cy="492699"/>
        </p:xfrm>
        <a:graphic>
          <a:graphicData uri="http://schemas.openxmlformats.org/presentationml/2006/ole">
            <mc:AlternateContent xmlns:mc="http://schemas.openxmlformats.org/markup-compatibility/2006">
              <mc:Choice xmlns:v="urn:schemas-microsoft-com:vml" Requires="v">
                <p:oleObj name="Equation" r:id="rId4" imgW="2108160" imgH="583920" progId="Equation.DSMT4">
                  <p:embed/>
                </p:oleObj>
              </mc:Choice>
              <mc:Fallback>
                <p:oleObj name="Equation" r:id="rId4" imgW="2108160" imgH="583920" progId="Equation.DSMT4">
                  <p:embed/>
                  <p:pic>
                    <p:nvPicPr>
                      <p:cNvPr id="58" name="Object 29">
                        <a:extLst>
                          <a:ext uri="{FF2B5EF4-FFF2-40B4-BE49-F238E27FC236}">
                            <a16:creationId xmlns:a16="http://schemas.microsoft.com/office/drawing/2014/main" id="{C3315815-0EC7-4BCA-9D3F-EBA5F4903A3F}"/>
                          </a:ext>
                        </a:extLst>
                      </p:cNvPr>
                      <p:cNvPicPr>
                        <a:picLocks noChangeAspect="1" noChangeArrowheads="1"/>
                      </p:cNvPicPr>
                      <p:nvPr/>
                    </p:nvPicPr>
                    <p:blipFill>
                      <a:blip r:embed="rId5"/>
                      <a:srcRect/>
                      <a:stretch>
                        <a:fillRect/>
                      </a:stretch>
                    </p:blipFill>
                    <p:spPr bwMode="auto">
                      <a:xfrm>
                        <a:off x="298045" y="1869062"/>
                        <a:ext cx="1789074" cy="492699"/>
                      </a:xfrm>
                      <a:prstGeom prst="rect">
                        <a:avLst/>
                      </a:prstGeom>
                      <a:noFill/>
                      <a:ln>
                        <a:noFill/>
                      </a:ln>
                    </p:spPr>
                  </p:pic>
                </p:oleObj>
              </mc:Fallback>
            </mc:AlternateContent>
          </a:graphicData>
        </a:graphic>
      </p:graphicFrame>
      <p:graphicFrame>
        <p:nvGraphicFramePr>
          <p:cNvPr id="41" name="Object 77">
            <a:extLst>
              <a:ext uri="{FF2B5EF4-FFF2-40B4-BE49-F238E27FC236}">
                <a16:creationId xmlns:a16="http://schemas.microsoft.com/office/drawing/2014/main" id="{DEC17398-24C2-41B5-B07C-1C5EBFA707C1}"/>
              </a:ext>
            </a:extLst>
          </p:cNvPr>
          <p:cNvGraphicFramePr>
            <a:graphicFrameLocks noChangeAspect="1"/>
          </p:cNvGraphicFramePr>
          <p:nvPr>
            <p:extLst>
              <p:ext uri="{D42A27DB-BD31-4B8C-83A1-F6EECF244321}">
                <p14:modId xmlns:p14="http://schemas.microsoft.com/office/powerpoint/2010/main" val="2087617648"/>
              </p:ext>
            </p:extLst>
          </p:nvPr>
        </p:nvGraphicFramePr>
        <p:xfrm>
          <a:off x="4853833" y="1022979"/>
          <a:ext cx="329252" cy="258134"/>
        </p:xfrm>
        <a:graphic>
          <a:graphicData uri="http://schemas.openxmlformats.org/presentationml/2006/ole">
            <mc:AlternateContent xmlns:mc="http://schemas.openxmlformats.org/markup-compatibility/2006">
              <mc:Choice xmlns:v="urn:schemas-microsoft-com:vml" Requires="v">
                <p:oleObj name="Equation" r:id="rId6" imgW="241200" imgH="190440" progId="Equation.DSMT4">
                  <p:embed/>
                </p:oleObj>
              </mc:Choice>
              <mc:Fallback>
                <p:oleObj name="Equation" r:id="rId6" imgW="241200" imgH="190440" progId="Equation.DSMT4">
                  <p:embed/>
                  <p:pic>
                    <p:nvPicPr>
                      <p:cNvPr id="13336" name="Object 77"/>
                      <p:cNvPicPr>
                        <a:picLocks noChangeAspect="1" noChangeArrowheads="1"/>
                      </p:cNvPicPr>
                      <p:nvPr/>
                    </p:nvPicPr>
                    <p:blipFill>
                      <a:blip r:embed="rId7"/>
                      <a:srcRect/>
                      <a:stretch>
                        <a:fillRect/>
                      </a:stretch>
                    </p:blipFill>
                    <p:spPr bwMode="auto">
                      <a:xfrm>
                        <a:off x="4853833" y="1022979"/>
                        <a:ext cx="329252" cy="258134"/>
                      </a:xfrm>
                      <a:prstGeom prst="rect">
                        <a:avLst/>
                      </a:prstGeom>
                      <a:noFill/>
                      <a:ln>
                        <a:noFill/>
                      </a:ln>
                    </p:spPr>
                  </p:pic>
                </p:oleObj>
              </mc:Fallback>
            </mc:AlternateContent>
          </a:graphicData>
        </a:graphic>
      </p:graphicFrame>
      <p:grpSp>
        <p:nvGrpSpPr>
          <p:cNvPr id="7" name="Grupo 6">
            <a:extLst>
              <a:ext uri="{FF2B5EF4-FFF2-40B4-BE49-F238E27FC236}">
                <a16:creationId xmlns:a16="http://schemas.microsoft.com/office/drawing/2014/main" id="{7D579AA4-03BE-4F28-9210-C7AC15D86D21}"/>
              </a:ext>
            </a:extLst>
          </p:cNvPr>
          <p:cNvGrpSpPr/>
          <p:nvPr/>
        </p:nvGrpSpPr>
        <p:grpSpPr>
          <a:xfrm>
            <a:off x="821203" y="3200400"/>
            <a:ext cx="2046932" cy="2204693"/>
            <a:chOff x="457200" y="4496543"/>
            <a:chExt cx="2046932" cy="2204693"/>
          </a:xfrm>
        </p:grpSpPr>
        <p:sp>
          <p:nvSpPr>
            <p:cNvPr id="46" name="Line 79">
              <a:extLst>
                <a:ext uri="{FF2B5EF4-FFF2-40B4-BE49-F238E27FC236}">
                  <a16:creationId xmlns:a16="http://schemas.microsoft.com/office/drawing/2014/main" id="{D03AB7F0-3F03-44D0-A953-FDCD9D06D891}"/>
                </a:ext>
              </a:extLst>
            </p:cNvPr>
            <p:cNvSpPr>
              <a:spLocks noChangeShapeType="1"/>
            </p:cNvSpPr>
            <p:nvPr/>
          </p:nvSpPr>
          <p:spPr bwMode="auto">
            <a:xfrm flipH="1">
              <a:off x="1471410" y="4522208"/>
              <a:ext cx="3482" cy="2014915"/>
            </a:xfrm>
            <a:prstGeom prst="line">
              <a:avLst/>
            </a:prstGeom>
            <a:noFill/>
            <a:ln w="6350">
              <a:solidFill>
                <a:schemeClr val="tx1">
                  <a:lumMod val="65000"/>
                  <a:lumOff val="3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8" name="Grupo 17">
              <a:extLst>
                <a:ext uri="{FF2B5EF4-FFF2-40B4-BE49-F238E27FC236}">
                  <a16:creationId xmlns:a16="http://schemas.microsoft.com/office/drawing/2014/main" id="{00B978D0-B54F-44F5-A9F9-B83C30DBCEB0}"/>
                </a:ext>
              </a:extLst>
            </p:cNvPr>
            <p:cNvGrpSpPr/>
            <p:nvPr/>
          </p:nvGrpSpPr>
          <p:grpSpPr>
            <a:xfrm>
              <a:off x="457200" y="4496543"/>
              <a:ext cx="2046932" cy="2014915"/>
              <a:chOff x="6400800" y="3992373"/>
              <a:chExt cx="1553950" cy="1708944"/>
            </a:xfrm>
          </p:grpSpPr>
          <p:pic>
            <p:nvPicPr>
              <p:cNvPr id="10" name="Snagit_PPTAA76">
                <a:extLst>
                  <a:ext uri="{FF2B5EF4-FFF2-40B4-BE49-F238E27FC236}">
                    <a16:creationId xmlns:a16="http://schemas.microsoft.com/office/drawing/2014/main" id="{47DD8A5D-182A-4F65-A3C0-9B2F1A0D455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00800" y="3992373"/>
                <a:ext cx="1553950" cy="1708944"/>
              </a:xfrm>
              <a:prstGeom prst="rect">
                <a:avLst/>
              </a:prstGeom>
            </p:spPr>
          </p:pic>
          <p:graphicFrame>
            <p:nvGraphicFramePr>
              <p:cNvPr id="65" name="Object 77">
                <a:extLst>
                  <a:ext uri="{FF2B5EF4-FFF2-40B4-BE49-F238E27FC236}">
                    <a16:creationId xmlns:a16="http://schemas.microsoft.com/office/drawing/2014/main" id="{ED71C6CE-6430-46F9-9668-5BD558F10ACF}"/>
                  </a:ext>
                </a:extLst>
              </p:cNvPr>
              <p:cNvGraphicFramePr>
                <a:graphicFrameLocks noChangeAspect="1"/>
              </p:cNvGraphicFramePr>
              <p:nvPr>
                <p:extLst>
                  <p:ext uri="{D42A27DB-BD31-4B8C-83A1-F6EECF244321}">
                    <p14:modId xmlns:p14="http://schemas.microsoft.com/office/powerpoint/2010/main" val="143923651"/>
                  </p:ext>
                </p:extLst>
              </p:nvPr>
            </p:nvGraphicFramePr>
            <p:xfrm>
              <a:off x="7620662" y="5445557"/>
              <a:ext cx="197092" cy="154520"/>
            </p:xfrm>
            <a:graphic>
              <a:graphicData uri="http://schemas.openxmlformats.org/presentationml/2006/ole">
                <mc:AlternateContent xmlns:mc="http://schemas.openxmlformats.org/markup-compatibility/2006">
                  <mc:Choice xmlns:v="urn:schemas-microsoft-com:vml" Requires="v">
                    <p:oleObj name="Equation" r:id="rId9" imgW="241200" imgH="190440" progId="Equation.DSMT4">
                      <p:embed/>
                    </p:oleObj>
                  </mc:Choice>
                  <mc:Fallback>
                    <p:oleObj name="Equation" r:id="rId9" imgW="241200" imgH="190440" progId="Equation.DSMT4">
                      <p:embed/>
                      <p:pic>
                        <p:nvPicPr>
                          <p:cNvPr id="65" name="Object 77">
                            <a:extLst>
                              <a:ext uri="{FF2B5EF4-FFF2-40B4-BE49-F238E27FC236}">
                                <a16:creationId xmlns:a16="http://schemas.microsoft.com/office/drawing/2014/main" id="{ED71C6CE-6430-46F9-9668-5BD558F10ACF}"/>
                              </a:ext>
                            </a:extLst>
                          </p:cNvPr>
                          <p:cNvPicPr>
                            <a:picLocks noChangeAspect="1" noChangeArrowheads="1"/>
                          </p:cNvPicPr>
                          <p:nvPr/>
                        </p:nvPicPr>
                        <p:blipFill>
                          <a:blip r:embed="rId7"/>
                          <a:srcRect/>
                          <a:stretch>
                            <a:fillRect/>
                          </a:stretch>
                        </p:blipFill>
                        <p:spPr bwMode="auto">
                          <a:xfrm>
                            <a:off x="7620662" y="5445557"/>
                            <a:ext cx="197092" cy="154520"/>
                          </a:xfrm>
                          <a:prstGeom prst="rect">
                            <a:avLst/>
                          </a:prstGeom>
                          <a:solidFill>
                            <a:schemeClr val="bg1"/>
                          </a:solidFill>
                          <a:ln>
                            <a:noFill/>
                          </a:ln>
                        </p:spPr>
                      </p:pic>
                    </p:oleObj>
                  </mc:Fallback>
                </mc:AlternateContent>
              </a:graphicData>
            </a:graphic>
          </p:graphicFrame>
          <p:graphicFrame>
            <p:nvGraphicFramePr>
              <p:cNvPr id="16" name="Objeto 15">
                <a:extLst>
                  <a:ext uri="{FF2B5EF4-FFF2-40B4-BE49-F238E27FC236}">
                    <a16:creationId xmlns:a16="http://schemas.microsoft.com/office/drawing/2014/main" id="{4F1FADDD-7FD9-4493-A867-5CEB1E97CC23}"/>
                  </a:ext>
                </a:extLst>
              </p:cNvPr>
              <p:cNvGraphicFramePr>
                <a:graphicFrameLocks noChangeAspect="1"/>
              </p:cNvGraphicFramePr>
              <p:nvPr>
                <p:extLst>
                  <p:ext uri="{D42A27DB-BD31-4B8C-83A1-F6EECF244321}">
                    <p14:modId xmlns:p14="http://schemas.microsoft.com/office/powerpoint/2010/main" val="3743469608"/>
                  </p:ext>
                </p:extLst>
              </p:nvPr>
            </p:nvGraphicFramePr>
            <p:xfrm>
              <a:off x="7208519" y="4315099"/>
              <a:ext cx="264842" cy="158085"/>
            </p:xfrm>
            <a:graphic>
              <a:graphicData uri="http://schemas.openxmlformats.org/presentationml/2006/ole">
                <mc:AlternateContent xmlns:mc="http://schemas.openxmlformats.org/markup-compatibility/2006">
                  <mc:Choice xmlns:v="urn:schemas-microsoft-com:vml" Requires="v">
                    <p:oleObj name="Equation" r:id="rId10" imgW="317160" imgH="190440" progId="Equation.DSMT4">
                      <p:embed/>
                    </p:oleObj>
                  </mc:Choice>
                  <mc:Fallback>
                    <p:oleObj name="Equation" r:id="rId10" imgW="317160" imgH="190440" progId="Equation.DSMT4">
                      <p:embed/>
                      <p:pic>
                        <p:nvPicPr>
                          <p:cNvPr id="16" name="Objeto 15">
                            <a:extLst>
                              <a:ext uri="{FF2B5EF4-FFF2-40B4-BE49-F238E27FC236}">
                                <a16:creationId xmlns:a16="http://schemas.microsoft.com/office/drawing/2014/main" id="{4F1FADDD-7FD9-4493-A867-5CEB1E97CC23}"/>
                              </a:ext>
                            </a:extLst>
                          </p:cNvPr>
                          <p:cNvPicPr/>
                          <p:nvPr/>
                        </p:nvPicPr>
                        <p:blipFill>
                          <a:blip r:embed="rId11"/>
                          <a:stretch>
                            <a:fillRect/>
                          </a:stretch>
                        </p:blipFill>
                        <p:spPr>
                          <a:xfrm>
                            <a:off x="7208519" y="4315099"/>
                            <a:ext cx="264842" cy="158085"/>
                          </a:xfrm>
                          <a:prstGeom prst="rect">
                            <a:avLst/>
                          </a:prstGeom>
                          <a:solidFill>
                            <a:schemeClr val="bg1"/>
                          </a:solidFill>
                        </p:spPr>
                      </p:pic>
                    </p:oleObj>
                  </mc:Fallback>
                </mc:AlternateContent>
              </a:graphicData>
            </a:graphic>
          </p:graphicFrame>
          <p:sp>
            <p:nvSpPr>
              <p:cNvPr id="17" name="Rectángulo 16">
                <a:extLst>
                  <a:ext uri="{FF2B5EF4-FFF2-40B4-BE49-F238E27FC236}">
                    <a16:creationId xmlns:a16="http://schemas.microsoft.com/office/drawing/2014/main" id="{6892AED4-C05A-45C3-A901-C34C3C4C3237}"/>
                  </a:ext>
                </a:extLst>
              </p:cNvPr>
              <p:cNvSpPr/>
              <p:nvPr/>
            </p:nvSpPr>
            <p:spPr>
              <a:xfrm>
                <a:off x="7346950" y="5049838"/>
                <a:ext cx="76200" cy="46037"/>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72" name="Objeto 71">
                <a:extLst>
                  <a:ext uri="{FF2B5EF4-FFF2-40B4-BE49-F238E27FC236}">
                    <a16:creationId xmlns:a16="http://schemas.microsoft.com/office/drawing/2014/main" id="{4F20E475-EA26-46B4-8D2C-99413C72F2C2}"/>
                  </a:ext>
                </a:extLst>
              </p:cNvPr>
              <p:cNvGraphicFramePr>
                <a:graphicFrameLocks noChangeAspect="1"/>
              </p:cNvGraphicFramePr>
              <p:nvPr>
                <p:extLst>
                  <p:ext uri="{D42A27DB-BD31-4B8C-83A1-F6EECF244321}">
                    <p14:modId xmlns:p14="http://schemas.microsoft.com/office/powerpoint/2010/main" val="3812245208"/>
                  </p:ext>
                </p:extLst>
              </p:nvPr>
            </p:nvGraphicFramePr>
            <p:xfrm>
              <a:off x="7340600" y="4959223"/>
              <a:ext cx="201197" cy="158083"/>
            </p:xfrm>
            <a:graphic>
              <a:graphicData uri="http://schemas.openxmlformats.org/presentationml/2006/ole">
                <mc:AlternateContent xmlns:mc="http://schemas.openxmlformats.org/markup-compatibility/2006">
                  <mc:Choice xmlns:v="urn:schemas-microsoft-com:vml" Requires="v">
                    <p:oleObj name="Equation" r:id="rId12" imgW="241200" imgH="190440" progId="Equation.DSMT4">
                      <p:embed/>
                    </p:oleObj>
                  </mc:Choice>
                  <mc:Fallback>
                    <p:oleObj name="Equation" r:id="rId12" imgW="241200" imgH="190440" progId="Equation.DSMT4">
                      <p:embed/>
                      <p:pic>
                        <p:nvPicPr>
                          <p:cNvPr id="72" name="Objeto 71">
                            <a:extLst>
                              <a:ext uri="{FF2B5EF4-FFF2-40B4-BE49-F238E27FC236}">
                                <a16:creationId xmlns:a16="http://schemas.microsoft.com/office/drawing/2014/main" id="{4F20E475-EA26-46B4-8D2C-99413C72F2C2}"/>
                              </a:ext>
                            </a:extLst>
                          </p:cNvPr>
                          <p:cNvPicPr/>
                          <p:nvPr/>
                        </p:nvPicPr>
                        <p:blipFill>
                          <a:blip r:embed="rId13"/>
                          <a:stretch>
                            <a:fillRect/>
                          </a:stretch>
                        </p:blipFill>
                        <p:spPr>
                          <a:xfrm>
                            <a:off x="7340600" y="4959223"/>
                            <a:ext cx="201197" cy="158083"/>
                          </a:xfrm>
                          <a:prstGeom prst="rect">
                            <a:avLst/>
                          </a:prstGeom>
                          <a:noFill/>
                        </p:spPr>
                      </p:pic>
                    </p:oleObj>
                  </mc:Fallback>
                </mc:AlternateContent>
              </a:graphicData>
            </a:graphic>
          </p:graphicFrame>
        </p:grpSp>
        <p:sp>
          <p:nvSpPr>
            <p:cNvPr id="3" name="CuadroTexto 2">
              <a:extLst>
                <a:ext uri="{FF2B5EF4-FFF2-40B4-BE49-F238E27FC236}">
                  <a16:creationId xmlns:a16="http://schemas.microsoft.com/office/drawing/2014/main" id="{D47557A9-5A4A-4773-871E-6B8B79A142CB}"/>
                </a:ext>
              </a:extLst>
            </p:cNvPr>
            <p:cNvSpPr txBox="1"/>
            <p:nvPr/>
          </p:nvSpPr>
          <p:spPr>
            <a:xfrm>
              <a:off x="1367590" y="6485792"/>
              <a:ext cx="220340" cy="215444"/>
            </a:xfrm>
            <a:prstGeom prst="rect">
              <a:avLst/>
            </a:prstGeom>
            <a:noFill/>
          </p:spPr>
          <p:txBody>
            <a:bodyPr wrap="none" rtlCol="0">
              <a:noAutofit/>
            </a:bodyPr>
            <a:lstStyle/>
            <a:p>
              <a:pPr algn="ctr"/>
              <a:r>
                <a:rPr lang="es-ES" sz="800" dirty="0">
                  <a:solidFill>
                    <a:schemeClr val="bg1">
                      <a:lumMod val="50000"/>
                    </a:schemeClr>
                  </a:solidFill>
                </a:rPr>
                <a:t>0</a:t>
              </a:r>
            </a:p>
          </p:txBody>
        </p:sp>
      </p:grpSp>
      <p:grpSp>
        <p:nvGrpSpPr>
          <p:cNvPr id="89" name="Grupo 88">
            <a:extLst>
              <a:ext uri="{FF2B5EF4-FFF2-40B4-BE49-F238E27FC236}">
                <a16:creationId xmlns:a16="http://schemas.microsoft.com/office/drawing/2014/main" id="{40785CB1-6D86-4370-829D-DDDD12AADADB}"/>
              </a:ext>
            </a:extLst>
          </p:cNvPr>
          <p:cNvGrpSpPr/>
          <p:nvPr/>
        </p:nvGrpSpPr>
        <p:grpSpPr>
          <a:xfrm>
            <a:off x="5178700" y="381000"/>
            <a:ext cx="3392415" cy="5907592"/>
            <a:chOff x="5178700" y="525011"/>
            <a:chExt cx="3392415" cy="5907592"/>
          </a:xfrm>
        </p:grpSpPr>
        <p:grpSp>
          <p:nvGrpSpPr>
            <p:cNvPr id="77" name="Grupo 76">
              <a:extLst>
                <a:ext uri="{FF2B5EF4-FFF2-40B4-BE49-F238E27FC236}">
                  <a16:creationId xmlns:a16="http://schemas.microsoft.com/office/drawing/2014/main" id="{EC01DCFD-5052-4908-9796-D1CB061F60AE}"/>
                </a:ext>
              </a:extLst>
            </p:cNvPr>
            <p:cNvGrpSpPr/>
            <p:nvPr/>
          </p:nvGrpSpPr>
          <p:grpSpPr>
            <a:xfrm>
              <a:off x="5178700" y="525011"/>
              <a:ext cx="3087371" cy="5697040"/>
              <a:chOff x="3830954" y="932360"/>
              <a:chExt cx="3087371" cy="5697040"/>
            </a:xfrm>
          </p:grpSpPr>
          <p:pic>
            <p:nvPicPr>
              <p:cNvPr id="78" name="Snagit_PPTEE27">
                <a:extLst>
                  <a:ext uri="{FF2B5EF4-FFF2-40B4-BE49-F238E27FC236}">
                    <a16:creationId xmlns:a16="http://schemas.microsoft.com/office/drawing/2014/main" id="{997184B9-4871-4F0B-A687-8F3F44A21A32}"/>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850641" y="947601"/>
                <a:ext cx="3057524" cy="1015549"/>
              </a:xfrm>
              <a:prstGeom prst="rect">
                <a:avLst/>
              </a:prstGeom>
            </p:spPr>
          </p:pic>
          <p:pic>
            <p:nvPicPr>
              <p:cNvPr id="79" name="Snagit_PPT78A6">
                <a:extLst>
                  <a:ext uri="{FF2B5EF4-FFF2-40B4-BE49-F238E27FC236}">
                    <a16:creationId xmlns:a16="http://schemas.microsoft.com/office/drawing/2014/main" id="{E5E0A1AD-06D9-484B-9486-2B82BC296EA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830954" y="2298114"/>
                <a:ext cx="3087371" cy="1748539"/>
              </a:xfrm>
              <a:prstGeom prst="rect">
                <a:avLst/>
              </a:prstGeom>
            </p:spPr>
          </p:pic>
          <p:pic>
            <p:nvPicPr>
              <p:cNvPr id="80" name="Snagit_PPTE105">
                <a:extLst>
                  <a:ext uri="{FF2B5EF4-FFF2-40B4-BE49-F238E27FC236}">
                    <a16:creationId xmlns:a16="http://schemas.microsoft.com/office/drawing/2014/main" id="{AB6B0C41-37AE-4073-B82B-EAC142840A2E}"/>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840479" y="4174403"/>
                <a:ext cx="3070859" cy="2350063"/>
              </a:xfrm>
              <a:prstGeom prst="rect">
                <a:avLst/>
              </a:prstGeom>
            </p:spPr>
          </p:pic>
          <p:cxnSp>
            <p:nvCxnSpPr>
              <p:cNvPr id="81" name="Conector recto 80">
                <a:extLst>
                  <a:ext uri="{FF2B5EF4-FFF2-40B4-BE49-F238E27FC236}">
                    <a16:creationId xmlns:a16="http://schemas.microsoft.com/office/drawing/2014/main" id="{0CEF38CB-2CCA-430B-B41B-07A02C624430}"/>
                  </a:ext>
                </a:extLst>
              </p:cNvPr>
              <p:cNvCxnSpPr/>
              <p:nvPr/>
            </p:nvCxnSpPr>
            <p:spPr>
              <a:xfrm>
                <a:off x="5029200" y="932361"/>
                <a:ext cx="0" cy="5697039"/>
              </a:xfrm>
              <a:prstGeom prst="line">
                <a:avLst/>
              </a:prstGeom>
              <a:ln w="6350">
                <a:solidFill>
                  <a:schemeClr val="accent5">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2" name="Conector recto 81">
                <a:extLst>
                  <a:ext uri="{FF2B5EF4-FFF2-40B4-BE49-F238E27FC236}">
                    <a16:creationId xmlns:a16="http://schemas.microsoft.com/office/drawing/2014/main" id="{A80E627C-5DE1-4413-ACE3-6DD19E86DB89}"/>
                  </a:ext>
                </a:extLst>
              </p:cNvPr>
              <p:cNvCxnSpPr/>
              <p:nvPr/>
            </p:nvCxnSpPr>
            <p:spPr>
              <a:xfrm>
                <a:off x="5715000" y="932360"/>
                <a:ext cx="0" cy="5697039"/>
              </a:xfrm>
              <a:prstGeom prst="line">
                <a:avLst/>
              </a:prstGeom>
              <a:ln w="6350">
                <a:solidFill>
                  <a:srgbClr val="FF9966"/>
                </a:solidFill>
                <a:prstDash val="lgDash"/>
              </a:ln>
            </p:spPr>
            <p:style>
              <a:lnRef idx="1">
                <a:schemeClr val="accent1"/>
              </a:lnRef>
              <a:fillRef idx="0">
                <a:schemeClr val="accent1"/>
              </a:fillRef>
              <a:effectRef idx="0">
                <a:schemeClr val="accent1"/>
              </a:effectRef>
              <a:fontRef idx="minor">
                <a:schemeClr val="tx1"/>
              </a:fontRef>
            </p:style>
          </p:cxnSp>
        </p:grpSp>
        <p:sp>
          <p:nvSpPr>
            <p:cNvPr id="62" name="CuadroTexto 61">
              <a:extLst>
                <a:ext uri="{FF2B5EF4-FFF2-40B4-BE49-F238E27FC236}">
                  <a16:creationId xmlns:a16="http://schemas.microsoft.com/office/drawing/2014/main" id="{C68292F2-15D7-4267-80B5-CF6A3E4EADA9}"/>
                </a:ext>
              </a:extLst>
            </p:cNvPr>
            <p:cNvSpPr txBox="1"/>
            <p:nvPr/>
          </p:nvSpPr>
          <p:spPr>
            <a:xfrm>
              <a:off x="6271656" y="6217159"/>
              <a:ext cx="220340" cy="215444"/>
            </a:xfrm>
            <a:prstGeom prst="rect">
              <a:avLst/>
            </a:prstGeom>
            <a:solidFill>
              <a:schemeClr val="bg1"/>
            </a:solidFill>
          </p:spPr>
          <p:txBody>
            <a:bodyPr wrap="none" rtlCol="0">
              <a:noAutofit/>
            </a:bodyPr>
            <a:lstStyle/>
            <a:p>
              <a:pPr algn="ctr"/>
              <a:r>
                <a:rPr lang="es-ES" sz="1000" dirty="0">
                  <a:solidFill>
                    <a:schemeClr val="bg1">
                      <a:lumMod val="50000"/>
                    </a:schemeClr>
                  </a:solidFill>
                </a:rPr>
                <a:t>0</a:t>
              </a:r>
              <a:endParaRPr lang="es-ES" sz="800" dirty="0">
                <a:solidFill>
                  <a:schemeClr val="bg1">
                    <a:lumMod val="50000"/>
                  </a:schemeClr>
                </a:solidFill>
              </a:endParaRPr>
            </a:p>
          </p:txBody>
        </p:sp>
        <p:sp>
          <p:nvSpPr>
            <p:cNvPr id="54" name="Text Box 17">
              <a:extLst>
                <a:ext uri="{FF2B5EF4-FFF2-40B4-BE49-F238E27FC236}">
                  <a16:creationId xmlns:a16="http://schemas.microsoft.com/office/drawing/2014/main" id="{38DDC4E0-1930-4BDB-9881-0A56A742B1A4}"/>
                </a:ext>
              </a:extLst>
            </p:cNvPr>
            <p:cNvSpPr txBox="1">
              <a:spLocks noChangeArrowheads="1"/>
            </p:cNvSpPr>
            <p:nvPr/>
          </p:nvSpPr>
          <p:spPr bwMode="auto">
            <a:xfrm>
              <a:off x="5508076" y="6958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sz="1200" dirty="0">
                  <a:solidFill>
                    <a:srgbClr val="0033CC"/>
                  </a:solidFill>
                </a:rPr>
                <a:t>H</a:t>
              </a:r>
              <a:r>
                <a:rPr lang="es-ES" altLang="es-ES" sz="1200" baseline="-25000" dirty="0">
                  <a:solidFill>
                    <a:srgbClr val="0033CC"/>
                  </a:solidFill>
                </a:rPr>
                <a:t>0</a:t>
              </a:r>
            </a:p>
          </p:txBody>
        </p:sp>
        <p:sp>
          <p:nvSpPr>
            <p:cNvPr id="55" name="Text Box 18">
              <a:extLst>
                <a:ext uri="{FF2B5EF4-FFF2-40B4-BE49-F238E27FC236}">
                  <a16:creationId xmlns:a16="http://schemas.microsoft.com/office/drawing/2014/main" id="{4D8D96C0-B5B2-4D7F-B9F5-03C93E2C03BC}"/>
                </a:ext>
              </a:extLst>
            </p:cNvPr>
            <p:cNvSpPr txBox="1">
              <a:spLocks noChangeArrowheads="1"/>
            </p:cNvSpPr>
            <p:nvPr/>
          </p:nvSpPr>
          <p:spPr bwMode="auto">
            <a:xfrm>
              <a:off x="7536858" y="627175"/>
              <a:ext cx="10342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dirty="0">
                  <a:solidFill>
                    <a:srgbClr val="C00000"/>
                  </a:solidFill>
                </a:rPr>
                <a:t>Una posible</a:t>
              </a:r>
            </a:p>
            <a:p>
              <a:pPr eaLnBrk="1" hangingPunct="1"/>
              <a:r>
                <a:rPr lang="es-ES" altLang="es-ES" sz="1200" dirty="0">
                  <a:solidFill>
                    <a:srgbClr val="C00000"/>
                  </a:solidFill>
                </a:rPr>
                <a:t> H</a:t>
              </a:r>
              <a:r>
                <a:rPr lang="es-ES" altLang="es-ES" sz="1200" baseline="-25000" dirty="0">
                  <a:solidFill>
                    <a:srgbClr val="C00000"/>
                  </a:solidFill>
                </a:rPr>
                <a:t>1</a:t>
              </a:r>
            </a:p>
          </p:txBody>
        </p:sp>
        <p:graphicFrame>
          <p:nvGraphicFramePr>
            <p:cNvPr id="61" name="Object 82">
              <a:extLst>
                <a:ext uri="{FF2B5EF4-FFF2-40B4-BE49-F238E27FC236}">
                  <a16:creationId xmlns:a16="http://schemas.microsoft.com/office/drawing/2014/main" id="{E1363C10-1C5A-4E1F-98C7-73A2E68C0670}"/>
                </a:ext>
              </a:extLst>
            </p:cNvPr>
            <p:cNvGraphicFramePr>
              <a:graphicFrameLocks noChangeAspect="1"/>
            </p:cNvGraphicFramePr>
            <p:nvPr>
              <p:extLst>
                <p:ext uri="{D42A27DB-BD31-4B8C-83A1-F6EECF244321}">
                  <p14:modId xmlns:p14="http://schemas.microsoft.com/office/powerpoint/2010/main" val="348364387"/>
                </p:ext>
              </p:extLst>
            </p:nvPr>
          </p:nvGraphicFramePr>
          <p:xfrm>
            <a:off x="6033007" y="1559112"/>
            <a:ext cx="717783" cy="217510"/>
          </p:xfrm>
          <a:graphic>
            <a:graphicData uri="http://schemas.openxmlformats.org/presentationml/2006/ole">
              <mc:AlternateContent xmlns:mc="http://schemas.openxmlformats.org/markup-compatibility/2006">
                <mc:Choice xmlns:v="urn:schemas-microsoft-com:vml" Requires="v">
                  <p:oleObj name="Equation" r:id="rId17" imgW="1130040" imgH="342720" progId="Equation.DSMT4">
                    <p:embed/>
                  </p:oleObj>
                </mc:Choice>
                <mc:Fallback>
                  <p:oleObj name="Equation" r:id="rId17" imgW="1130040" imgH="342720" progId="Equation.DSMT4">
                    <p:embed/>
                    <p:pic>
                      <p:nvPicPr>
                        <p:cNvPr id="43" name="Object 82">
                          <a:extLst>
                            <a:ext uri="{FF2B5EF4-FFF2-40B4-BE49-F238E27FC236}">
                              <a16:creationId xmlns:a16="http://schemas.microsoft.com/office/drawing/2014/main" id="{189CB239-E589-4F81-93C2-454D7AC1CBB5}"/>
                            </a:ext>
                          </a:extLst>
                        </p:cNvPr>
                        <p:cNvPicPr>
                          <a:picLocks noChangeAspect="1" noChangeArrowheads="1"/>
                        </p:cNvPicPr>
                        <p:nvPr/>
                      </p:nvPicPr>
                      <p:blipFill>
                        <a:blip r:embed="rId18"/>
                        <a:srcRect/>
                        <a:stretch>
                          <a:fillRect/>
                        </a:stretch>
                      </p:blipFill>
                      <p:spPr bwMode="auto">
                        <a:xfrm>
                          <a:off x="6033007" y="1559112"/>
                          <a:ext cx="717783" cy="217510"/>
                        </a:xfrm>
                        <a:prstGeom prst="rect">
                          <a:avLst/>
                        </a:prstGeom>
                        <a:solidFill>
                          <a:schemeClr val="bg1"/>
                        </a:solidFill>
                        <a:ln>
                          <a:noFill/>
                        </a:ln>
                        <a:effectLst/>
                      </p:spPr>
                    </p:pic>
                  </p:oleObj>
                </mc:Fallback>
              </mc:AlternateContent>
            </a:graphicData>
          </a:graphic>
        </p:graphicFrame>
        <p:graphicFrame>
          <p:nvGraphicFramePr>
            <p:cNvPr id="70" name="Object 55">
              <a:extLst>
                <a:ext uri="{FF2B5EF4-FFF2-40B4-BE49-F238E27FC236}">
                  <a16:creationId xmlns:a16="http://schemas.microsoft.com/office/drawing/2014/main" id="{6F50B0E9-EE58-469C-8EAE-9614358B5A36}"/>
                </a:ext>
              </a:extLst>
            </p:cNvPr>
            <p:cNvGraphicFramePr>
              <a:graphicFrameLocks noChangeAspect="1"/>
            </p:cNvGraphicFramePr>
            <p:nvPr>
              <p:extLst>
                <p:ext uri="{D42A27DB-BD31-4B8C-83A1-F6EECF244321}">
                  <p14:modId xmlns:p14="http://schemas.microsoft.com/office/powerpoint/2010/main" val="2084344703"/>
                </p:ext>
              </p:extLst>
            </p:nvPr>
          </p:nvGraphicFramePr>
          <p:xfrm>
            <a:off x="6649045" y="1120276"/>
            <a:ext cx="158401" cy="253171"/>
          </p:xfrm>
          <a:graphic>
            <a:graphicData uri="http://schemas.openxmlformats.org/presentationml/2006/ole">
              <mc:AlternateContent xmlns:mc="http://schemas.openxmlformats.org/markup-compatibility/2006">
                <mc:Choice xmlns:v="urn:schemas-microsoft-com:vml" Requires="v">
                  <p:oleObj name="Equation" r:id="rId19" imgW="126835" imgH="202936" progId="Equation.DSMT4">
                    <p:embed/>
                  </p:oleObj>
                </mc:Choice>
                <mc:Fallback>
                  <p:oleObj name="Equation" r:id="rId19" imgW="126835" imgH="202936" progId="Equation.DSMT4">
                    <p:embed/>
                    <p:pic>
                      <p:nvPicPr>
                        <p:cNvPr id="13322" name="Object 5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49045" y="1120276"/>
                          <a:ext cx="158401" cy="25317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 name="Line 56">
              <a:extLst>
                <a:ext uri="{FF2B5EF4-FFF2-40B4-BE49-F238E27FC236}">
                  <a16:creationId xmlns:a16="http://schemas.microsoft.com/office/drawing/2014/main" id="{E5CDA4D3-1B99-4912-B539-7C4270C82368}"/>
                </a:ext>
              </a:extLst>
            </p:cNvPr>
            <p:cNvSpPr>
              <a:spLocks noChangeShapeType="1"/>
            </p:cNvSpPr>
            <p:nvPr/>
          </p:nvSpPr>
          <p:spPr bwMode="auto">
            <a:xfrm rot="10800000">
              <a:off x="7019636" y="1450108"/>
              <a:ext cx="811481" cy="339173"/>
            </a:xfrm>
            <a:prstGeom prst="line">
              <a:avLst/>
            </a:prstGeom>
            <a:noFill/>
            <a:ln w="635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dirty="0"/>
            </a:p>
          </p:txBody>
        </p:sp>
        <p:graphicFrame>
          <p:nvGraphicFramePr>
            <p:cNvPr id="11" name="Objeto 10">
              <a:extLst>
                <a:ext uri="{FF2B5EF4-FFF2-40B4-BE49-F238E27FC236}">
                  <a16:creationId xmlns:a16="http://schemas.microsoft.com/office/drawing/2014/main" id="{7175460F-6AF5-4A27-86CD-9408E853CF6F}"/>
                </a:ext>
              </a:extLst>
            </p:cNvPr>
            <p:cNvGraphicFramePr>
              <a:graphicFrameLocks noChangeAspect="1"/>
            </p:cNvGraphicFramePr>
            <p:nvPr>
              <p:extLst>
                <p:ext uri="{D42A27DB-BD31-4B8C-83A1-F6EECF244321}">
                  <p14:modId xmlns:p14="http://schemas.microsoft.com/office/powerpoint/2010/main" val="1729309685"/>
                </p:ext>
              </p:extLst>
            </p:nvPr>
          </p:nvGraphicFramePr>
          <p:xfrm>
            <a:off x="7870478" y="1748508"/>
            <a:ext cx="190500" cy="190500"/>
          </p:xfrm>
          <a:graphic>
            <a:graphicData uri="http://schemas.openxmlformats.org/presentationml/2006/ole">
              <mc:AlternateContent xmlns:mc="http://schemas.openxmlformats.org/markup-compatibility/2006">
                <mc:Choice xmlns:v="urn:schemas-microsoft-com:vml" Requires="v">
                  <p:oleObj name="Equation" r:id="rId21" imgW="190538" imgH="190432" progId="Equation.DSMT4">
                    <p:embed/>
                  </p:oleObj>
                </mc:Choice>
                <mc:Fallback>
                  <p:oleObj name="Equation" r:id="rId21" imgW="190538" imgH="190432" progId="Equation.DSMT4">
                    <p:embed/>
                    <p:pic>
                      <p:nvPicPr>
                        <p:cNvPr id="0" name=""/>
                        <p:cNvPicPr/>
                        <p:nvPr/>
                      </p:nvPicPr>
                      <p:blipFill>
                        <a:blip r:embed="rId22"/>
                        <a:stretch>
                          <a:fillRect/>
                        </a:stretch>
                      </p:blipFill>
                      <p:spPr>
                        <a:xfrm>
                          <a:off x="7870478" y="1748508"/>
                          <a:ext cx="190500" cy="190500"/>
                        </a:xfrm>
                        <a:prstGeom prst="rect">
                          <a:avLst/>
                        </a:prstGeom>
                      </p:spPr>
                    </p:pic>
                  </p:oleObj>
                </mc:Fallback>
              </mc:AlternateContent>
            </a:graphicData>
          </a:graphic>
        </p:graphicFrame>
        <p:graphicFrame>
          <p:nvGraphicFramePr>
            <p:cNvPr id="13" name="Objeto 12">
              <a:extLst>
                <a:ext uri="{FF2B5EF4-FFF2-40B4-BE49-F238E27FC236}">
                  <a16:creationId xmlns:a16="http://schemas.microsoft.com/office/drawing/2014/main" id="{797451D3-931A-4C57-A5B2-177B6FDCECC7}"/>
                </a:ext>
              </a:extLst>
            </p:cNvPr>
            <p:cNvGraphicFramePr>
              <a:graphicFrameLocks noChangeAspect="1"/>
            </p:cNvGraphicFramePr>
            <p:nvPr>
              <p:extLst>
                <p:ext uri="{D42A27DB-BD31-4B8C-83A1-F6EECF244321}">
                  <p14:modId xmlns:p14="http://schemas.microsoft.com/office/powerpoint/2010/main" val="2389704883"/>
                </p:ext>
              </p:extLst>
            </p:nvPr>
          </p:nvGraphicFramePr>
          <p:xfrm>
            <a:off x="7131347" y="1138453"/>
            <a:ext cx="171450" cy="247650"/>
          </p:xfrm>
          <a:graphic>
            <a:graphicData uri="http://schemas.openxmlformats.org/presentationml/2006/ole">
              <mc:AlternateContent xmlns:mc="http://schemas.openxmlformats.org/markup-compatibility/2006">
                <mc:Choice xmlns:v="urn:schemas-microsoft-com:vml" Requires="v">
                  <p:oleObj name="Equation" r:id="rId23" imgW="171546" imgH="247684" progId="Equation.DSMT4">
                    <p:embed/>
                  </p:oleObj>
                </mc:Choice>
                <mc:Fallback>
                  <p:oleObj name="Equation" r:id="rId23" imgW="171546" imgH="247684" progId="Equation.DSMT4">
                    <p:embed/>
                    <p:pic>
                      <p:nvPicPr>
                        <p:cNvPr id="0" name=""/>
                        <p:cNvPicPr/>
                        <p:nvPr/>
                      </p:nvPicPr>
                      <p:blipFill>
                        <a:blip r:embed="rId24"/>
                        <a:stretch>
                          <a:fillRect/>
                        </a:stretch>
                      </p:blipFill>
                      <p:spPr>
                        <a:xfrm>
                          <a:off x="7131347" y="1138453"/>
                          <a:ext cx="171450" cy="247650"/>
                        </a:xfrm>
                        <a:prstGeom prst="rect">
                          <a:avLst/>
                        </a:prstGeom>
                      </p:spPr>
                    </p:pic>
                  </p:oleObj>
                </mc:Fallback>
              </mc:AlternateContent>
            </a:graphicData>
          </a:graphic>
        </p:graphicFrame>
        <p:sp>
          <p:nvSpPr>
            <p:cNvPr id="73" name="Line 56">
              <a:extLst>
                <a:ext uri="{FF2B5EF4-FFF2-40B4-BE49-F238E27FC236}">
                  <a16:creationId xmlns:a16="http://schemas.microsoft.com/office/drawing/2014/main" id="{681797E4-75FC-4879-83DF-D149F592A605}"/>
                </a:ext>
              </a:extLst>
            </p:cNvPr>
            <p:cNvSpPr>
              <a:spLocks noChangeShapeType="1"/>
            </p:cNvSpPr>
            <p:nvPr/>
          </p:nvSpPr>
          <p:spPr bwMode="auto">
            <a:xfrm rot="10800000">
              <a:off x="6728245" y="6041927"/>
              <a:ext cx="790136" cy="296863"/>
            </a:xfrm>
            <a:prstGeom prst="line">
              <a:avLst/>
            </a:prstGeom>
            <a:noFill/>
            <a:ln w="635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dirty="0"/>
            </a:p>
          </p:txBody>
        </p:sp>
        <p:graphicFrame>
          <p:nvGraphicFramePr>
            <p:cNvPr id="74" name="Objeto 73">
              <a:extLst>
                <a:ext uri="{FF2B5EF4-FFF2-40B4-BE49-F238E27FC236}">
                  <a16:creationId xmlns:a16="http://schemas.microsoft.com/office/drawing/2014/main" id="{2359544D-E156-428D-BCD1-FF09DE5D1813}"/>
                </a:ext>
              </a:extLst>
            </p:cNvPr>
            <p:cNvGraphicFramePr>
              <a:graphicFrameLocks noChangeAspect="1"/>
            </p:cNvGraphicFramePr>
            <p:nvPr>
              <p:extLst>
                <p:ext uri="{D42A27DB-BD31-4B8C-83A1-F6EECF244321}">
                  <p14:modId xmlns:p14="http://schemas.microsoft.com/office/powerpoint/2010/main" val="2032889613"/>
                </p:ext>
              </p:extLst>
            </p:nvPr>
          </p:nvGraphicFramePr>
          <p:xfrm>
            <a:off x="7521228" y="6230825"/>
            <a:ext cx="190500" cy="190500"/>
          </p:xfrm>
          <a:graphic>
            <a:graphicData uri="http://schemas.openxmlformats.org/presentationml/2006/ole">
              <mc:AlternateContent xmlns:mc="http://schemas.openxmlformats.org/markup-compatibility/2006">
                <mc:Choice xmlns:v="urn:schemas-microsoft-com:vml" Requires="v">
                  <p:oleObj name="Equation" r:id="rId25" imgW="190538" imgH="190432" progId="Equation.DSMT4">
                    <p:embed/>
                  </p:oleObj>
                </mc:Choice>
                <mc:Fallback>
                  <p:oleObj name="Equation" r:id="rId25" imgW="190538" imgH="190432" progId="Equation.DSMT4">
                    <p:embed/>
                    <p:pic>
                      <p:nvPicPr>
                        <p:cNvPr id="11" name="Objeto 10">
                          <a:extLst>
                            <a:ext uri="{FF2B5EF4-FFF2-40B4-BE49-F238E27FC236}">
                              <a16:creationId xmlns:a16="http://schemas.microsoft.com/office/drawing/2014/main" id="{7175460F-6AF5-4A27-86CD-9408E853CF6F}"/>
                            </a:ext>
                          </a:extLst>
                        </p:cNvPr>
                        <p:cNvPicPr/>
                        <p:nvPr/>
                      </p:nvPicPr>
                      <p:blipFill>
                        <a:blip r:embed="rId22"/>
                        <a:stretch>
                          <a:fillRect/>
                        </a:stretch>
                      </p:blipFill>
                      <p:spPr>
                        <a:xfrm>
                          <a:off x="7521228" y="6230825"/>
                          <a:ext cx="190500" cy="190500"/>
                        </a:xfrm>
                        <a:prstGeom prst="rect">
                          <a:avLst/>
                        </a:prstGeom>
                      </p:spPr>
                    </p:pic>
                  </p:oleObj>
                </mc:Fallback>
              </mc:AlternateContent>
            </a:graphicData>
          </a:graphic>
        </p:graphicFrame>
        <p:graphicFrame>
          <p:nvGraphicFramePr>
            <p:cNvPr id="43" name="Object 82">
              <a:extLst>
                <a:ext uri="{FF2B5EF4-FFF2-40B4-BE49-F238E27FC236}">
                  <a16:creationId xmlns:a16="http://schemas.microsoft.com/office/drawing/2014/main" id="{189CB239-E589-4F81-93C2-454D7AC1CBB5}"/>
                </a:ext>
              </a:extLst>
            </p:cNvPr>
            <p:cNvGraphicFramePr>
              <a:graphicFrameLocks noChangeAspect="1"/>
            </p:cNvGraphicFramePr>
            <p:nvPr>
              <p:extLst>
                <p:ext uri="{D42A27DB-BD31-4B8C-83A1-F6EECF244321}">
                  <p14:modId xmlns:p14="http://schemas.microsoft.com/office/powerpoint/2010/main" val="656580151"/>
                </p:ext>
              </p:extLst>
            </p:nvPr>
          </p:nvGraphicFramePr>
          <p:xfrm>
            <a:off x="6749817" y="1658604"/>
            <a:ext cx="717783" cy="217510"/>
          </p:xfrm>
          <a:graphic>
            <a:graphicData uri="http://schemas.openxmlformats.org/presentationml/2006/ole">
              <mc:AlternateContent xmlns:mc="http://schemas.openxmlformats.org/markup-compatibility/2006">
                <mc:Choice xmlns:v="urn:schemas-microsoft-com:vml" Requires="v">
                  <p:oleObj name="Equation" r:id="rId26" imgW="1130040" imgH="342720" progId="Equation.DSMT4">
                    <p:embed/>
                  </p:oleObj>
                </mc:Choice>
                <mc:Fallback>
                  <p:oleObj name="Equation" r:id="rId26" imgW="1130040" imgH="342720" progId="Equation.DSMT4">
                    <p:embed/>
                    <p:pic>
                      <p:nvPicPr>
                        <p:cNvPr id="13339" name="Object 82"/>
                        <p:cNvPicPr>
                          <a:picLocks noChangeAspect="1" noChangeArrowheads="1"/>
                        </p:cNvPicPr>
                        <p:nvPr/>
                      </p:nvPicPr>
                      <p:blipFill>
                        <a:blip r:embed="rId27"/>
                        <a:srcRect/>
                        <a:stretch>
                          <a:fillRect/>
                        </a:stretch>
                      </p:blipFill>
                      <p:spPr bwMode="auto">
                        <a:xfrm>
                          <a:off x="6749817" y="1658604"/>
                          <a:ext cx="717783" cy="217510"/>
                        </a:xfrm>
                        <a:prstGeom prst="rect">
                          <a:avLst/>
                        </a:prstGeom>
                        <a:solidFill>
                          <a:schemeClr val="bg1"/>
                        </a:solidFill>
                        <a:ln>
                          <a:noFill/>
                        </a:ln>
                        <a:effectLst/>
                      </p:spPr>
                    </p:pic>
                  </p:oleObj>
                </mc:Fallback>
              </mc:AlternateContent>
            </a:graphicData>
          </a:graphic>
        </p:graphicFrame>
      </p:grpSp>
      <p:sp>
        <p:nvSpPr>
          <p:cNvPr id="76" name="CuadroTexto 75">
            <a:extLst>
              <a:ext uri="{FF2B5EF4-FFF2-40B4-BE49-F238E27FC236}">
                <a16:creationId xmlns:a16="http://schemas.microsoft.com/office/drawing/2014/main" id="{6A008F45-7ABE-4399-9518-1A715DE166F5}"/>
              </a:ext>
            </a:extLst>
          </p:cNvPr>
          <p:cNvSpPr txBox="1"/>
          <p:nvPr/>
        </p:nvSpPr>
        <p:spPr>
          <a:xfrm>
            <a:off x="3849378" y="3942467"/>
            <a:ext cx="2252109" cy="846386"/>
          </a:xfrm>
          <a:prstGeom prst="rect">
            <a:avLst/>
          </a:prstGeom>
          <a:noFill/>
        </p:spPr>
        <p:txBody>
          <a:bodyPr wrap="square" rtlCol="0">
            <a:spAutoFit/>
          </a:bodyPr>
          <a:lstStyle/>
          <a:p>
            <a:pPr algn="ctr"/>
            <a:r>
              <a:rPr lang="es-ES" dirty="0">
                <a:solidFill>
                  <a:schemeClr val="tx1">
                    <a:lumMod val="50000"/>
                    <a:lumOff val="50000"/>
                  </a:schemeClr>
                </a:solidFill>
              </a:rPr>
              <a:t>Al aumentar </a:t>
            </a:r>
            <a:r>
              <a:rPr lang="es-ES" sz="1300" i="1" dirty="0">
                <a:solidFill>
                  <a:schemeClr val="tx1">
                    <a:lumMod val="50000"/>
                    <a:lumOff val="50000"/>
                  </a:schemeClr>
                </a:solidFill>
                <a:latin typeface="Times New Roman" panose="02020603050405020304" pitchFamily="18" charset="0"/>
                <a:cs typeface="Times New Roman" panose="02020603050405020304" pitchFamily="18" charset="0"/>
              </a:rPr>
              <a:t>n</a:t>
            </a:r>
            <a:r>
              <a:rPr lang="es-ES" dirty="0">
                <a:solidFill>
                  <a:schemeClr val="tx1">
                    <a:lumMod val="50000"/>
                    <a:lumOff val="50000"/>
                  </a:schemeClr>
                </a:solidFill>
              </a:rPr>
              <a:t>, disminuye el solapamiento entre ambas distribuciones (pero no por que se desplacen)</a:t>
            </a:r>
          </a:p>
        </p:txBody>
      </p:sp>
      <p:graphicFrame>
        <p:nvGraphicFramePr>
          <p:cNvPr id="39" name="Object 25">
            <a:extLst>
              <a:ext uri="{FF2B5EF4-FFF2-40B4-BE49-F238E27FC236}">
                <a16:creationId xmlns:a16="http://schemas.microsoft.com/office/drawing/2014/main" id="{65CD025F-C416-4BED-8CC3-47AB6406A76F}"/>
              </a:ext>
            </a:extLst>
          </p:cNvPr>
          <p:cNvGraphicFramePr>
            <a:graphicFrameLocks noChangeAspect="1"/>
          </p:cNvGraphicFramePr>
          <p:nvPr>
            <p:extLst>
              <p:ext uri="{D42A27DB-BD31-4B8C-83A1-F6EECF244321}">
                <p14:modId xmlns:p14="http://schemas.microsoft.com/office/powerpoint/2010/main" val="1127157886"/>
              </p:ext>
            </p:extLst>
          </p:nvPr>
        </p:nvGraphicFramePr>
        <p:xfrm>
          <a:off x="4313475" y="3048528"/>
          <a:ext cx="1241938" cy="309497"/>
        </p:xfrm>
        <a:graphic>
          <a:graphicData uri="http://schemas.openxmlformats.org/presentationml/2006/ole">
            <mc:AlternateContent xmlns:mc="http://schemas.openxmlformats.org/markup-compatibility/2006">
              <mc:Choice xmlns:v="urn:schemas-microsoft-com:vml" Requires="v">
                <p:oleObj name="Equation" r:id="rId28" imgW="914400" imgH="228600" progId="Equation.DSMT4">
                  <p:embed/>
                </p:oleObj>
              </mc:Choice>
              <mc:Fallback>
                <p:oleObj name="Equation" r:id="rId28" imgW="914400" imgH="228600" progId="Equation.DSMT4">
                  <p:embed/>
                  <p:pic>
                    <p:nvPicPr>
                      <p:cNvPr id="13315" name="Object 25"/>
                      <p:cNvPicPr>
                        <a:picLocks noChangeAspect="1" noChangeArrowheads="1"/>
                      </p:cNvPicPr>
                      <p:nvPr/>
                    </p:nvPicPr>
                    <p:blipFill>
                      <a:blip r:embed="rId29"/>
                      <a:srcRect/>
                      <a:stretch>
                        <a:fillRect/>
                      </a:stretch>
                    </p:blipFill>
                    <p:spPr bwMode="auto">
                      <a:xfrm>
                        <a:off x="4313475" y="3048528"/>
                        <a:ext cx="1241938" cy="309497"/>
                      </a:xfrm>
                      <a:prstGeom prst="rect">
                        <a:avLst/>
                      </a:prstGeom>
                      <a:noFill/>
                      <a:ln>
                        <a:noFill/>
                      </a:ln>
                    </p:spPr>
                  </p:pic>
                </p:oleObj>
              </mc:Fallback>
            </mc:AlternateContent>
          </a:graphicData>
        </a:graphic>
      </p:graphicFrame>
      <p:graphicFrame>
        <p:nvGraphicFramePr>
          <p:cNvPr id="40" name="Object 59">
            <a:extLst>
              <a:ext uri="{FF2B5EF4-FFF2-40B4-BE49-F238E27FC236}">
                <a16:creationId xmlns:a16="http://schemas.microsoft.com/office/drawing/2014/main" id="{42BC0942-7BD6-47AA-9CEE-E68A5A6F6E07}"/>
              </a:ext>
            </a:extLst>
          </p:cNvPr>
          <p:cNvGraphicFramePr>
            <a:graphicFrameLocks noChangeAspect="1"/>
          </p:cNvGraphicFramePr>
          <p:nvPr>
            <p:extLst>
              <p:ext uri="{D42A27DB-BD31-4B8C-83A1-F6EECF244321}">
                <p14:modId xmlns:p14="http://schemas.microsoft.com/office/powerpoint/2010/main" val="2261807201"/>
              </p:ext>
            </p:extLst>
          </p:nvPr>
        </p:nvGraphicFramePr>
        <p:xfrm>
          <a:off x="4043600" y="5498246"/>
          <a:ext cx="1689721" cy="309496"/>
        </p:xfrm>
        <a:graphic>
          <a:graphicData uri="http://schemas.openxmlformats.org/presentationml/2006/ole">
            <mc:AlternateContent xmlns:mc="http://schemas.openxmlformats.org/markup-compatibility/2006">
              <mc:Choice xmlns:v="urn:schemas-microsoft-com:vml" Requires="v">
                <p:oleObj name="Equation" r:id="rId30" imgW="1244600" imgH="228600" progId="Equation.DSMT4">
                  <p:embed/>
                </p:oleObj>
              </mc:Choice>
              <mc:Fallback>
                <p:oleObj name="Equation" r:id="rId30" imgW="1244600" imgH="228600" progId="Equation.DSMT4">
                  <p:embed/>
                  <p:pic>
                    <p:nvPicPr>
                      <p:cNvPr id="13324" name="Object 5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043600" y="5498246"/>
                        <a:ext cx="1689721" cy="309496"/>
                      </a:xfrm>
                      <a:prstGeom prst="rect">
                        <a:avLst/>
                      </a:prstGeom>
                      <a:noFill/>
                      <a:ln>
                        <a:noFill/>
                      </a:ln>
                    </p:spPr>
                  </p:pic>
                </p:oleObj>
              </mc:Fallback>
            </mc:AlternateContent>
          </a:graphicData>
        </a:graphic>
      </p:graphicFrame>
      <p:graphicFrame>
        <p:nvGraphicFramePr>
          <p:cNvPr id="93" name="Object 29">
            <a:extLst>
              <a:ext uri="{FF2B5EF4-FFF2-40B4-BE49-F238E27FC236}">
                <a16:creationId xmlns:a16="http://schemas.microsoft.com/office/drawing/2014/main" id="{EE8368DA-A95D-46A5-8526-1CCF30BB7601}"/>
              </a:ext>
            </a:extLst>
          </p:cNvPr>
          <p:cNvGraphicFramePr>
            <a:graphicFrameLocks noChangeAspect="1"/>
          </p:cNvGraphicFramePr>
          <p:nvPr>
            <p:extLst>
              <p:ext uri="{D42A27DB-BD31-4B8C-83A1-F6EECF244321}">
                <p14:modId xmlns:p14="http://schemas.microsoft.com/office/powerpoint/2010/main" val="977987748"/>
              </p:ext>
            </p:extLst>
          </p:nvPr>
        </p:nvGraphicFramePr>
        <p:xfrm>
          <a:off x="1594967" y="781726"/>
          <a:ext cx="1536965" cy="344250"/>
        </p:xfrm>
        <a:graphic>
          <a:graphicData uri="http://schemas.openxmlformats.org/presentationml/2006/ole">
            <mc:AlternateContent xmlns:mc="http://schemas.openxmlformats.org/markup-compatibility/2006">
              <mc:Choice xmlns:v="urn:schemas-microsoft-com:vml" Requires="v">
                <p:oleObj name="Equation" r:id="rId32" imgW="1650960" imgH="368280" progId="Equation.DSMT4">
                  <p:embed/>
                </p:oleObj>
              </mc:Choice>
              <mc:Fallback>
                <p:oleObj name="Equation" r:id="rId32" imgW="1650960" imgH="368280" progId="Equation.DSMT4">
                  <p:embed/>
                  <p:pic>
                    <p:nvPicPr>
                      <p:cNvPr id="4099" name="Object 29"/>
                      <p:cNvPicPr>
                        <a:picLocks noChangeAspect="1" noChangeArrowheads="1"/>
                      </p:cNvPicPr>
                      <p:nvPr/>
                    </p:nvPicPr>
                    <p:blipFill>
                      <a:blip r:embed="rId33"/>
                      <a:srcRect/>
                      <a:stretch>
                        <a:fillRect/>
                      </a:stretch>
                    </p:blipFill>
                    <p:spPr bwMode="auto">
                      <a:xfrm>
                        <a:off x="1594967" y="781726"/>
                        <a:ext cx="1536965" cy="344250"/>
                      </a:xfrm>
                      <a:prstGeom prst="rect">
                        <a:avLst/>
                      </a:prstGeom>
                      <a:noFill/>
                      <a:ln>
                        <a:noFill/>
                      </a:ln>
                    </p:spPr>
                  </p:pic>
                </p:oleObj>
              </mc:Fallback>
            </mc:AlternateContent>
          </a:graphicData>
        </a:graphic>
      </p:graphicFrame>
      <p:graphicFrame>
        <p:nvGraphicFramePr>
          <p:cNvPr id="47" name="Object 29">
            <a:extLst>
              <a:ext uri="{FF2B5EF4-FFF2-40B4-BE49-F238E27FC236}">
                <a16:creationId xmlns:a16="http://schemas.microsoft.com/office/drawing/2014/main" id="{607C4F4C-B903-4C47-B53A-769A0A34E391}"/>
              </a:ext>
            </a:extLst>
          </p:cNvPr>
          <p:cNvGraphicFramePr>
            <a:graphicFrameLocks noChangeAspect="1"/>
          </p:cNvGraphicFramePr>
          <p:nvPr>
            <p:extLst>
              <p:ext uri="{D42A27DB-BD31-4B8C-83A1-F6EECF244321}">
                <p14:modId xmlns:p14="http://schemas.microsoft.com/office/powerpoint/2010/main" val="885719049"/>
              </p:ext>
            </p:extLst>
          </p:nvPr>
        </p:nvGraphicFramePr>
        <p:xfrm>
          <a:off x="320047" y="1366368"/>
          <a:ext cx="1713570" cy="472223"/>
        </p:xfrm>
        <a:graphic>
          <a:graphicData uri="http://schemas.openxmlformats.org/presentationml/2006/ole">
            <mc:AlternateContent xmlns:mc="http://schemas.openxmlformats.org/markup-compatibility/2006">
              <mc:Choice xmlns:v="urn:schemas-microsoft-com:vml" Requires="v">
                <p:oleObj name="Equation" r:id="rId34" imgW="2019240" imgH="558720" progId="Equation.DSMT4">
                  <p:embed/>
                </p:oleObj>
              </mc:Choice>
              <mc:Fallback>
                <p:oleObj name="Equation" r:id="rId34" imgW="2019240" imgH="558720" progId="Equation.DSMT4">
                  <p:embed/>
                  <p:pic>
                    <p:nvPicPr>
                      <p:cNvPr id="47" name="Object 29">
                        <a:extLst>
                          <a:ext uri="{FF2B5EF4-FFF2-40B4-BE49-F238E27FC236}">
                            <a16:creationId xmlns:a16="http://schemas.microsoft.com/office/drawing/2014/main" id="{607C4F4C-B903-4C47-B53A-769A0A34E391}"/>
                          </a:ext>
                        </a:extLst>
                      </p:cNvPr>
                      <p:cNvPicPr>
                        <a:picLocks noChangeAspect="1" noChangeArrowheads="1"/>
                      </p:cNvPicPr>
                      <p:nvPr/>
                    </p:nvPicPr>
                    <p:blipFill>
                      <a:blip r:embed="rId35"/>
                      <a:srcRect/>
                      <a:stretch>
                        <a:fillRect/>
                      </a:stretch>
                    </p:blipFill>
                    <p:spPr bwMode="auto">
                      <a:xfrm>
                        <a:off x="320047" y="1366368"/>
                        <a:ext cx="1713570" cy="472223"/>
                      </a:xfrm>
                      <a:prstGeom prst="rect">
                        <a:avLst/>
                      </a:prstGeom>
                      <a:noFill/>
                      <a:ln>
                        <a:noFill/>
                      </a:ln>
                    </p:spPr>
                  </p:pic>
                </p:oleObj>
              </mc:Fallback>
            </mc:AlternateContent>
          </a:graphicData>
        </a:graphic>
      </p:graphicFrame>
      <p:sp>
        <p:nvSpPr>
          <p:cNvPr id="94" name="CuadroTexto 93">
            <a:extLst>
              <a:ext uri="{FF2B5EF4-FFF2-40B4-BE49-F238E27FC236}">
                <a16:creationId xmlns:a16="http://schemas.microsoft.com/office/drawing/2014/main" id="{245E821F-7871-45F2-B4E4-2DC4233CF6F8}"/>
              </a:ext>
            </a:extLst>
          </p:cNvPr>
          <p:cNvSpPr txBox="1"/>
          <p:nvPr/>
        </p:nvSpPr>
        <p:spPr>
          <a:xfrm>
            <a:off x="221675" y="1110611"/>
            <a:ext cx="3315331" cy="276999"/>
          </a:xfrm>
          <a:prstGeom prst="rect">
            <a:avLst/>
          </a:prstGeom>
          <a:noFill/>
        </p:spPr>
        <p:txBody>
          <a:bodyPr wrap="none" rtlCol="0">
            <a:spAutoFit/>
          </a:bodyPr>
          <a:lstStyle/>
          <a:p>
            <a:r>
              <a:rPr lang="es-ES" dirty="0"/>
              <a:t>tipificando, y por ser </a:t>
            </a:r>
            <a:r>
              <a:rPr lang="es-ES" dirty="0">
                <a:latin typeface="Symbol" panose="05050102010706020507" pitchFamily="18" charset="2"/>
              </a:rPr>
              <a:t>s</a:t>
            </a:r>
            <a:r>
              <a:rPr lang="es-ES" dirty="0"/>
              <a:t> desconocida, teníamos</a:t>
            </a:r>
          </a:p>
        </p:txBody>
      </p:sp>
      <p:sp>
        <p:nvSpPr>
          <p:cNvPr id="59" name="CuadroTexto 58">
            <a:extLst>
              <a:ext uri="{FF2B5EF4-FFF2-40B4-BE49-F238E27FC236}">
                <a16:creationId xmlns:a16="http://schemas.microsoft.com/office/drawing/2014/main" id="{B25DCCE0-F793-4248-9DB4-947D73335022}"/>
              </a:ext>
            </a:extLst>
          </p:cNvPr>
          <p:cNvSpPr txBox="1"/>
          <p:nvPr/>
        </p:nvSpPr>
        <p:spPr>
          <a:xfrm>
            <a:off x="2081253" y="1976149"/>
            <a:ext cx="2411648" cy="276999"/>
          </a:xfrm>
          <a:prstGeom prst="rect">
            <a:avLst/>
          </a:prstGeom>
          <a:noFill/>
        </p:spPr>
        <p:txBody>
          <a:bodyPr wrap="square" rtlCol="0">
            <a:spAutoFit/>
          </a:bodyPr>
          <a:lstStyle/>
          <a:p>
            <a:pPr algn="just"/>
            <a:r>
              <a:rPr lang="es-ES" dirty="0"/>
              <a:t>de modo que la variabilidad de la</a:t>
            </a:r>
          </a:p>
        </p:txBody>
      </p:sp>
      <p:grpSp>
        <p:nvGrpSpPr>
          <p:cNvPr id="13325" name="Grupo 13324">
            <a:extLst>
              <a:ext uri="{FF2B5EF4-FFF2-40B4-BE49-F238E27FC236}">
                <a16:creationId xmlns:a16="http://schemas.microsoft.com/office/drawing/2014/main" id="{C12EE30A-ED18-43DC-8F67-E2946ECF1AE9}"/>
              </a:ext>
            </a:extLst>
          </p:cNvPr>
          <p:cNvGrpSpPr/>
          <p:nvPr/>
        </p:nvGrpSpPr>
        <p:grpSpPr>
          <a:xfrm>
            <a:off x="201851" y="2683090"/>
            <a:ext cx="3492909" cy="646331"/>
            <a:chOff x="212439" y="3063298"/>
            <a:chExt cx="3428759" cy="646331"/>
          </a:xfrm>
        </p:grpSpPr>
        <p:sp>
          <p:nvSpPr>
            <p:cNvPr id="75" name="CuadroTexto 74">
              <a:extLst>
                <a:ext uri="{FF2B5EF4-FFF2-40B4-BE49-F238E27FC236}">
                  <a16:creationId xmlns:a16="http://schemas.microsoft.com/office/drawing/2014/main" id="{D5EC47DE-4C83-4D05-B2F8-4E265302E7C2}"/>
                </a:ext>
              </a:extLst>
            </p:cNvPr>
            <p:cNvSpPr txBox="1"/>
            <p:nvPr/>
          </p:nvSpPr>
          <p:spPr>
            <a:xfrm>
              <a:off x="212439" y="3063298"/>
              <a:ext cx="3428759" cy="646331"/>
            </a:xfrm>
            <a:prstGeom prst="rect">
              <a:avLst/>
            </a:prstGeom>
            <a:noFill/>
          </p:spPr>
          <p:txBody>
            <a:bodyPr wrap="square" rtlCol="0">
              <a:spAutoFit/>
            </a:bodyPr>
            <a:lstStyle/>
            <a:p>
              <a:pPr algn="just"/>
              <a:r>
                <a:rPr lang="es-ES" dirty="0"/>
                <a:t>Por lo tanto, al aumentar el tamaño muestral, la distribución de            se hace más estrecha y apuntada</a:t>
              </a:r>
            </a:p>
          </p:txBody>
        </p:sp>
        <p:graphicFrame>
          <p:nvGraphicFramePr>
            <p:cNvPr id="13313" name="Objeto 13312">
              <a:extLst>
                <a:ext uri="{FF2B5EF4-FFF2-40B4-BE49-F238E27FC236}">
                  <a16:creationId xmlns:a16="http://schemas.microsoft.com/office/drawing/2014/main" id="{11EB6BEB-0D74-485C-A3F0-778A9AC7927F}"/>
                </a:ext>
              </a:extLst>
            </p:cNvPr>
            <p:cNvGraphicFramePr>
              <a:graphicFrameLocks noChangeAspect="1"/>
            </p:cNvGraphicFramePr>
            <p:nvPr>
              <p:extLst>
                <p:ext uri="{D42A27DB-BD31-4B8C-83A1-F6EECF244321}">
                  <p14:modId xmlns:p14="http://schemas.microsoft.com/office/powerpoint/2010/main" val="3388661547"/>
                </p:ext>
              </p:extLst>
            </p:nvPr>
          </p:nvGraphicFramePr>
          <p:xfrm>
            <a:off x="1320416" y="3268155"/>
            <a:ext cx="568204" cy="245710"/>
          </p:xfrm>
          <a:graphic>
            <a:graphicData uri="http://schemas.openxmlformats.org/presentationml/2006/ole">
              <mc:AlternateContent xmlns:mc="http://schemas.openxmlformats.org/markup-compatibility/2006">
                <mc:Choice xmlns:v="urn:schemas-microsoft-com:vml" Requires="v">
                  <p:oleObj name="Equation" r:id="rId36" imgW="704869" imgH="304936" progId="Equation.DSMT4">
                    <p:embed/>
                  </p:oleObj>
                </mc:Choice>
                <mc:Fallback>
                  <p:oleObj name="Equation" r:id="rId36" imgW="704869" imgH="304936" progId="Equation.DSMT4">
                    <p:embed/>
                    <p:pic>
                      <p:nvPicPr>
                        <p:cNvPr id="0" name=""/>
                        <p:cNvPicPr/>
                        <p:nvPr/>
                      </p:nvPicPr>
                      <p:blipFill>
                        <a:blip r:embed="rId37"/>
                        <a:stretch>
                          <a:fillRect/>
                        </a:stretch>
                      </p:blipFill>
                      <p:spPr>
                        <a:xfrm>
                          <a:off x="1320416" y="3268155"/>
                          <a:ext cx="568204" cy="245710"/>
                        </a:xfrm>
                        <a:prstGeom prst="rect">
                          <a:avLst/>
                        </a:prstGeom>
                      </p:spPr>
                    </p:pic>
                  </p:oleObj>
                </mc:Fallback>
              </mc:AlternateContent>
            </a:graphicData>
          </a:graphic>
        </p:graphicFrame>
      </p:grpSp>
      <p:sp>
        <p:nvSpPr>
          <p:cNvPr id="13322" name="CuadroTexto 13321">
            <a:extLst>
              <a:ext uri="{FF2B5EF4-FFF2-40B4-BE49-F238E27FC236}">
                <a16:creationId xmlns:a16="http://schemas.microsoft.com/office/drawing/2014/main" id="{704E6CDF-2E9A-4670-936B-CF5DA0B948D7}"/>
              </a:ext>
            </a:extLst>
          </p:cNvPr>
          <p:cNvSpPr txBox="1"/>
          <p:nvPr/>
        </p:nvSpPr>
        <p:spPr>
          <a:xfrm>
            <a:off x="230231" y="5334000"/>
            <a:ext cx="3698320" cy="661720"/>
          </a:xfrm>
          <a:prstGeom prst="rect">
            <a:avLst/>
          </a:prstGeom>
          <a:noFill/>
        </p:spPr>
        <p:txBody>
          <a:bodyPr wrap="square" rtlCol="0">
            <a:spAutoFit/>
          </a:bodyPr>
          <a:lstStyle/>
          <a:p>
            <a:pPr algn="just"/>
            <a:r>
              <a:rPr lang="es-ES" dirty="0"/>
              <a:t>Esto se traduce en que para una  misma  diferencia         </a:t>
            </a:r>
          </a:p>
          <a:p>
            <a:pPr algn="just"/>
            <a:r>
              <a:rPr lang="es-ES" dirty="0"/>
              <a:t>             si </a:t>
            </a:r>
            <a:r>
              <a:rPr lang="es-ES" sz="1300" i="1" dirty="0">
                <a:latin typeface="Times New Roman" panose="02020603050405020304" pitchFamily="18" charset="0"/>
                <a:cs typeface="Times New Roman" panose="02020603050405020304" pitchFamily="18" charset="0"/>
              </a:rPr>
              <a:t>n </a:t>
            </a:r>
            <a:r>
              <a:rPr lang="es-ES" dirty="0"/>
              <a:t>es mayor, el valor estandarizado </a:t>
            </a:r>
            <a:r>
              <a:rPr lang="es-ES" i="1" dirty="0" err="1"/>
              <a:t>t</a:t>
            </a:r>
            <a:r>
              <a:rPr lang="es-ES" i="1" baseline="-25000" dirty="0" err="1"/>
              <a:t>exp</a:t>
            </a:r>
            <a:r>
              <a:rPr lang="es-ES" dirty="0"/>
              <a:t> será también mayor, permitiendo rechazar antes H</a:t>
            </a:r>
            <a:r>
              <a:rPr lang="es-ES" baseline="-25000" dirty="0"/>
              <a:t>0</a:t>
            </a:r>
            <a:r>
              <a:rPr lang="es-ES" dirty="0"/>
              <a:t>. </a:t>
            </a:r>
          </a:p>
        </p:txBody>
      </p:sp>
      <p:graphicFrame>
        <p:nvGraphicFramePr>
          <p:cNvPr id="110" name="Objeto 109">
            <a:extLst>
              <a:ext uri="{FF2B5EF4-FFF2-40B4-BE49-F238E27FC236}">
                <a16:creationId xmlns:a16="http://schemas.microsoft.com/office/drawing/2014/main" id="{907AC610-3968-4F90-B017-39562061E7B4}"/>
              </a:ext>
            </a:extLst>
          </p:cNvPr>
          <p:cNvGraphicFramePr>
            <a:graphicFrameLocks noChangeAspect="1"/>
          </p:cNvGraphicFramePr>
          <p:nvPr>
            <p:extLst>
              <p:ext uri="{D42A27DB-BD31-4B8C-83A1-F6EECF244321}">
                <p14:modId xmlns:p14="http://schemas.microsoft.com/office/powerpoint/2010/main" val="2218902449"/>
              </p:ext>
            </p:extLst>
          </p:nvPr>
        </p:nvGraphicFramePr>
        <p:xfrm>
          <a:off x="349828" y="5567652"/>
          <a:ext cx="439738" cy="214312"/>
        </p:xfrm>
        <a:graphic>
          <a:graphicData uri="http://schemas.openxmlformats.org/presentationml/2006/ole">
            <mc:AlternateContent xmlns:mc="http://schemas.openxmlformats.org/markup-compatibility/2006">
              <mc:Choice xmlns:v="urn:schemas-microsoft-com:vml" Requires="v">
                <p:oleObj name="Equation" r:id="rId38" imgW="545760" imgH="266400" progId="Equation.DSMT4">
                  <p:embed/>
                </p:oleObj>
              </mc:Choice>
              <mc:Fallback>
                <p:oleObj name="Equation" r:id="rId38" imgW="545760" imgH="266400" progId="Equation.DSMT4">
                  <p:embed/>
                  <p:pic>
                    <p:nvPicPr>
                      <p:cNvPr id="13313" name="Objeto 13312">
                        <a:extLst>
                          <a:ext uri="{FF2B5EF4-FFF2-40B4-BE49-F238E27FC236}">
                            <a16:creationId xmlns:a16="http://schemas.microsoft.com/office/drawing/2014/main" id="{11EB6BEB-0D74-485C-A3F0-778A9AC7927F}"/>
                          </a:ext>
                        </a:extLst>
                      </p:cNvPr>
                      <p:cNvPicPr/>
                      <p:nvPr/>
                    </p:nvPicPr>
                    <p:blipFill>
                      <a:blip r:embed="rId39"/>
                      <a:stretch>
                        <a:fillRect/>
                      </a:stretch>
                    </p:blipFill>
                    <p:spPr>
                      <a:xfrm>
                        <a:off x="349828" y="5567652"/>
                        <a:ext cx="439738" cy="214312"/>
                      </a:xfrm>
                      <a:prstGeom prst="rect">
                        <a:avLst/>
                      </a:prstGeom>
                    </p:spPr>
                  </p:pic>
                </p:oleObj>
              </mc:Fallback>
            </mc:AlternateContent>
          </a:graphicData>
        </a:graphic>
      </p:graphicFrame>
      <p:grpSp>
        <p:nvGrpSpPr>
          <p:cNvPr id="112" name="Grupo 111">
            <a:extLst>
              <a:ext uri="{FF2B5EF4-FFF2-40B4-BE49-F238E27FC236}">
                <a16:creationId xmlns:a16="http://schemas.microsoft.com/office/drawing/2014/main" id="{5FE8B597-E6B6-4D35-B4D9-EBDA080DA914}"/>
              </a:ext>
            </a:extLst>
          </p:cNvPr>
          <p:cNvGrpSpPr/>
          <p:nvPr/>
        </p:nvGrpSpPr>
        <p:grpSpPr>
          <a:xfrm>
            <a:off x="201851" y="2389497"/>
            <a:ext cx="3431388" cy="276999"/>
            <a:chOff x="165100" y="2630785"/>
            <a:chExt cx="3431388" cy="276999"/>
          </a:xfrm>
        </p:grpSpPr>
        <p:sp>
          <p:nvSpPr>
            <p:cNvPr id="113" name="CuadroTexto 112">
              <a:extLst>
                <a:ext uri="{FF2B5EF4-FFF2-40B4-BE49-F238E27FC236}">
                  <a16:creationId xmlns:a16="http://schemas.microsoft.com/office/drawing/2014/main" id="{585554AB-770F-4B41-92DC-BCB27BFA4CA8}"/>
                </a:ext>
              </a:extLst>
            </p:cNvPr>
            <p:cNvSpPr txBox="1"/>
            <p:nvPr/>
          </p:nvSpPr>
          <p:spPr>
            <a:xfrm>
              <a:off x="165100" y="2630785"/>
              <a:ext cx="3316862" cy="276999"/>
            </a:xfrm>
            <a:prstGeom prst="rect">
              <a:avLst/>
            </a:prstGeom>
            <a:noFill/>
          </p:spPr>
          <p:txBody>
            <a:bodyPr wrap="square" rtlCol="0">
              <a:spAutoFit/>
            </a:bodyPr>
            <a:lstStyle/>
            <a:p>
              <a:pPr algn="just"/>
              <a:r>
                <a:rPr lang="es-ES" dirty="0"/>
                <a:t>distribución de               viene estimada por </a:t>
              </a:r>
            </a:p>
          </p:txBody>
        </p:sp>
        <p:graphicFrame>
          <p:nvGraphicFramePr>
            <p:cNvPr id="114" name="Object 29">
              <a:extLst>
                <a:ext uri="{FF2B5EF4-FFF2-40B4-BE49-F238E27FC236}">
                  <a16:creationId xmlns:a16="http://schemas.microsoft.com/office/drawing/2014/main" id="{D5CF6B25-B7EC-46D5-BD4B-DAF7D5DE49DA}"/>
                </a:ext>
              </a:extLst>
            </p:cNvPr>
            <p:cNvGraphicFramePr>
              <a:graphicFrameLocks noChangeAspect="1"/>
            </p:cNvGraphicFramePr>
            <p:nvPr>
              <p:extLst>
                <p:ext uri="{D42A27DB-BD31-4B8C-83A1-F6EECF244321}">
                  <p14:modId xmlns:p14="http://schemas.microsoft.com/office/powerpoint/2010/main" val="2572311961"/>
                </p:ext>
              </p:extLst>
            </p:nvPr>
          </p:nvGraphicFramePr>
          <p:xfrm>
            <a:off x="3207448" y="2660290"/>
            <a:ext cx="389040" cy="235472"/>
          </p:xfrm>
          <a:graphic>
            <a:graphicData uri="http://schemas.openxmlformats.org/presentationml/2006/ole">
              <mc:AlternateContent xmlns:mc="http://schemas.openxmlformats.org/markup-compatibility/2006">
                <mc:Choice xmlns:v="urn:schemas-microsoft-com:vml" Requires="v">
                  <p:oleObj name="Equation" r:id="rId40" imgW="457200" imgH="279360" progId="Equation.DSMT4">
                    <p:embed/>
                  </p:oleObj>
                </mc:Choice>
                <mc:Fallback>
                  <p:oleObj name="Equation" r:id="rId40" imgW="457200" imgH="279360" progId="Equation.DSMT4">
                    <p:embed/>
                    <p:pic>
                      <p:nvPicPr>
                        <p:cNvPr id="60" name="Object 29">
                          <a:extLst>
                            <a:ext uri="{FF2B5EF4-FFF2-40B4-BE49-F238E27FC236}">
                              <a16:creationId xmlns:a16="http://schemas.microsoft.com/office/drawing/2014/main" id="{C583F111-5C3A-4915-B85A-998BB1C9EED0}"/>
                            </a:ext>
                          </a:extLst>
                        </p:cNvPr>
                        <p:cNvPicPr>
                          <a:picLocks noChangeAspect="1" noChangeArrowheads="1"/>
                        </p:cNvPicPr>
                        <p:nvPr/>
                      </p:nvPicPr>
                      <p:blipFill>
                        <a:blip r:embed="rId41"/>
                        <a:srcRect/>
                        <a:stretch>
                          <a:fillRect/>
                        </a:stretch>
                      </p:blipFill>
                      <p:spPr bwMode="auto">
                        <a:xfrm>
                          <a:off x="3207448" y="2660290"/>
                          <a:ext cx="389040" cy="235472"/>
                        </a:xfrm>
                        <a:prstGeom prst="rect">
                          <a:avLst/>
                        </a:prstGeom>
                        <a:noFill/>
                        <a:ln>
                          <a:noFill/>
                        </a:ln>
                      </p:spPr>
                    </p:pic>
                  </p:oleObj>
                </mc:Fallback>
              </mc:AlternateContent>
            </a:graphicData>
          </a:graphic>
        </p:graphicFrame>
        <p:graphicFrame>
          <p:nvGraphicFramePr>
            <p:cNvPr id="115" name="Object 29">
              <a:extLst>
                <a:ext uri="{FF2B5EF4-FFF2-40B4-BE49-F238E27FC236}">
                  <a16:creationId xmlns:a16="http://schemas.microsoft.com/office/drawing/2014/main" id="{4B72596B-C041-4FC1-A277-104C863D9347}"/>
                </a:ext>
              </a:extLst>
            </p:cNvPr>
            <p:cNvGraphicFramePr>
              <a:graphicFrameLocks noChangeAspect="1"/>
            </p:cNvGraphicFramePr>
            <p:nvPr>
              <p:extLst>
                <p:ext uri="{D42A27DB-BD31-4B8C-83A1-F6EECF244321}">
                  <p14:modId xmlns:p14="http://schemas.microsoft.com/office/powerpoint/2010/main" val="665560281"/>
                </p:ext>
              </p:extLst>
            </p:nvPr>
          </p:nvGraphicFramePr>
          <p:xfrm>
            <a:off x="1274306" y="2656980"/>
            <a:ext cx="567819" cy="244966"/>
          </p:xfrm>
          <a:graphic>
            <a:graphicData uri="http://schemas.openxmlformats.org/presentationml/2006/ole">
              <mc:AlternateContent xmlns:mc="http://schemas.openxmlformats.org/markup-compatibility/2006">
                <mc:Choice xmlns:v="urn:schemas-microsoft-com:vml" Requires="v">
                  <p:oleObj name="Equation" r:id="rId42" imgW="622080" imgH="266400" progId="Equation.DSMT4">
                    <p:embed/>
                  </p:oleObj>
                </mc:Choice>
                <mc:Fallback>
                  <p:oleObj name="Equation" r:id="rId42" imgW="622080" imgH="266400" progId="Equation.DSMT4">
                    <p:embed/>
                    <p:pic>
                      <p:nvPicPr>
                        <p:cNvPr id="95" name="Object 29">
                          <a:extLst>
                            <a:ext uri="{FF2B5EF4-FFF2-40B4-BE49-F238E27FC236}">
                              <a16:creationId xmlns:a16="http://schemas.microsoft.com/office/drawing/2014/main" id="{2D7CCF5E-C5A8-4520-955B-22275DB6DE49}"/>
                            </a:ext>
                          </a:extLst>
                        </p:cNvPr>
                        <p:cNvPicPr>
                          <a:picLocks noChangeAspect="1" noChangeArrowheads="1"/>
                        </p:cNvPicPr>
                        <p:nvPr/>
                      </p:nvPicPr>
                      <p:blipFill>
                        <a:blip r:embed="rId43"/>
                        <a:srcRect/>
                        <a:stretch>
                          <a:fillRect/>
                        </a:stretch>
                      </p:blipFill>
                      <p:spPr bwMode="auto">
                        <a:xfrm>
                          <a:off x="1274306" y="2656980"/>
                          <a:ext cx="567819" cy="244966"/>
                        </a:xfrm>
                        <a:prstGeom prst="rect">
                          <a:avLst/>
                        </a:prstGeom>
                        <a:noFill/>
                        <a:ln>
                          <a:noFill/>
                        </a:ln>
                      </p:spPr>
                    </p:pic>
                  </p:oleObj>
                </mc:Fallback>
              </mc:AlternateContent>
            </a:graphicData>
          </a:graphic>
        </p:graphicFrame>
      </p:grpSp>
      <p:grpSp>
        <p:nvGrpSpPr>
          <p:cNvPr id="13328" name="Grupo 13327">
            <a:extLst>
              <a:ext uri="{FF2B5EF4-FFF2-40B4-BE49-F238E27FC236}">
                <a16:creationId xmlns:a16="http://schemas.microsoft.com/office/drawing/2014/main" id="{C159C6B3-8F3A-498C-8C2E-9C27B7F36822}"/>
              </a:ext>
            </a:extLst>
          </p:cNvPr>
          <p:cNvGrpSpPr/>
          <p:nvPr/>
        </p:nvGrpSpPr>
        <p:grpSpPr>
          <a:xfrm>
            <a:off x="500260" y="6080125"/>
            <a:ext cx="2442965" cy="565150"/>
            <a:chOff x="96170" y="6062668"/>
            <a:chExt cx="2220879" cy="513772"/>
          </a:xfrm>
        </p:grpSpPr>
        <p:graphicFrame>
          <p:nvGraphicFramePr>
            <p:cNvPr id="117" name="Object 29">
              <a:extLst>
                <a:ext uri="{FF2B5EF4-FFF2-40B4-BE49-F238E27FC236}">
                  <a16:creationId xmlns:a16="http://schemas.microsoft.com/office/drawing/2014/main" id="{52DAE5DB-2954-4CAA-9A09-37736DF19687}"/>
                </a:ext>
              </a:extLst>
            </p:cNvPr>
            <p:cNvGraphicFramePr>
              <a:graphicFrameLocks noChangeAspect="1"/>
            </p:cNvGraphicFramePr>
            <p:nvPr>
              <p:extLst>
                <p:ext uri="{D42A27DB-BD31-4B8C-83A1-F6EECF244321}">
                  <p14:modId xmlns:p14="http://schemas.microsoft.com/office/powerpoint/2010/main" val="1113411777"/>
                </p:ext>
              </p:extLst>
            </p:nvPr>
          </p:nvGraphicFramePr>
          <p:xfrm>
            <a:off x="432252" y="6062668"/>
            <a:ext cx="1884797" cy="513772"/>
          </p:xfrm>
          <a:graphic>
            <a:graphicData uri="http://schemas.openxmlformats.org/presentationml/2006/ole">
              <mc:AlternateContent xmlns:mc="http://schemas.openxmlformats.org/markup-compatibility/2006">
                <mc:Choice xmlns:v="urn:schemas-microsoft-com:vml" Requires="v">
                  <p:oleObj name="Equation" r:id="rId44" imgW="2222280" imgH="609480" progId="Equation.DSMT4">
                    <p:embed/>
                  </p:oleObj>
                </mc:Choice>
                <mc:Fallback>
                  <p:oleObj name="Equation" r:id="rId44" imgW="2222280" imgH="609480" progId="Equation.DSMT4">
                    <p:embed/>
                    <p:pic>
                      <p:nvPicPr>
                        <p:cNvPr id="58" name="Object 29">
                          <a:extLst>
                            <a:ext uri="{FF2B5EF4-FFF2-40B4-BE49-F238E27FC236}">
                              <a16:creationId xmlns:a16="http://schemas.microsoft.com/office/drawing/2014/main" id="{C3315815-0EC7-4BCA-9D3F-EBA5F4903A3F}"/>
                            </a:ext>
                          </a:extLst>
                        </p:cNvPr>
                        <p:cNvPicPr>
                          <a:picLocks noChangeAspect="1" noChangeArrowheads="1"/>
                        </p:cNvPicPr>
                        <p:nvPr/>
                      </p:nvPicPr>
                      <p:blipFill>
                        <a:blip r:embed="rId45"/>
                        <a:srcRect/>
                        <a:stretch>
                          <a:fillRect/>
                        </a:stretch>
                      </p:blipFill>
                      <p:spPr bwMode="auto">
                        <a:xfrm>
                          <a:off x="432252" y="6062668"/>
                          <a:ext cx="1884797" cy="513772"/>
                        </a:xfrm>
                        <a:prstGeom prst="rect">
                          <a:avLst/>
                        </a:prstGeom>
                        <a:noFill/>
                        <a:ln>
                          <a:noFill/>
                        </a:ln>
                      </p:spPr>
                    </p:pic>
                  </p:oleObj>
                </mc:Fallback>
              </mc:AlternateContent>
            </a:graphicData>
          </a:graphic>
        </p:graphicFrame>
        <p:sp>
          <p:nvSpPr>
            <p:cNvPr id="13327" name="CuadroTexto 13326">
              <a:extLst>
                <a:ext uri="{FF2B5EF4-FFF2-40B4-BE49-F238E27FC236}">
                  <a16:creationId xmlns:a16="http://schemas.microsoft.com/office/drawing/2014/main" id="{1BB612B8-4008-4B84-82E7-44861426B94D}"/>
                </a:ext>
              </a:extLst>
            </p:cNvPr>
            <p:cNvSpPr txBox="1"/>
            <p:nvPr/>
          </p:nvSpPr>
          <p:spPr>
            <a:xfrm>
              <a:off x="96170" y="6175579"/>
              <a:ext cx="285918" cy="279797"/>
            </a:xfrm>
            <a:prstGeom prst="rect">
              <a:avLst/>
            </a:prstGeom>
            <a:noFill/>
          </p:spPr>
          <p:txBody>
            <a:bodyPr wrap="none" rtlCol="0">
              <a:spAutoFit/>
            </a:bodyPr>
            <a:lstStyle/>
            <a:p>
              <a:r>
                <a:rPr lang="es-ES" sz="1400" dirty="0"/>
                <a:t>si</a:t>
              </a:r>
            </a:p>
          </p:txBody>
        </p:sp>
      </p:grpSp>
      <p:sp>
        <p:nvSpPr>
          <p:cNvPr id="60" name="Rectángulo: esquinas redondeadas 59">
            <a:extLst>
              <a:ext uri="{FF2B5EF4-FFF2-40B4-BE49-F238E27FC236}">
                <a16:creationId xmlns:a16="http://schemas.microsoft.com/office/drawing/2014/main" id="{EF1D3E1D-4684-4131-BABD-57B948656F6B}"/>
              </a:ext>
            </a:extLst>
          </p:cNvPr>
          <p:cNvSpPr/>
          <p:nvPr/>
        </p:nvSpPr>
        <p:spPr>
          <a:xfrm>
            <a:off x="388814" y="6000096"/>
            <a:ext cx="3289605" cy="699244"/>
          </a:xfrm>
          <a:prstGeom prst="roundRect">
            <a:avLst>
              <a:gd name="adj" fmla="val 8494"/>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64" name="Grupo 63">
            <a:extLst>
              <a:ext uri="{FF2B5EF4-FFF2-40B4-BE49-F238E27FC236}">
                <a16:creationId xmlns:a16="http://schemas.microsoft.com/office/drawing/2014/main" id="{4049A2E7-AE1C-4429-860D-FBA1071CB67B}"/>
              </a:ext>
            </a:extLst>
          </p:cNvPr>
          <p:cNvGrpSpPr/>
          <p:nvPr/>
        </p:nvGrpSpPr>
        <p:grpSpPr>
          <a:xfrm>
            <a:off x="4713659" y="6157101"/>
            <a:ext cx="304800" cy="461665"/>
            <a:chOff x="6838951" y="741362"/>
            <a:chExt cx="304800" cy="461665"/>
          </a:xfrm>
        </p:grpSpPr>
        <p:sp>
          <p:nvSpPr>
            <p:cNvPr id="66" name="Elipse 65">
              <a:extLst>
                <a:ext uri="{FF2B5EF4-FFF2-40B4-BE49-F238E27FC236}">
                  <a16:creationId xmlns:a16="http://schemas.microsoft.com/office/drawing/2014/main" id="{A701FDF9-0BFA-4DAF-B9A4-2A4FDD4273AD}"/>
                </a:ext>
              </a:extLst>
            </p:cNvPr>
            <p:cNvSpPr/>
            <p:nvPr/>
          </p:nvSpPr>
          <p:spPr>
            <a:xfrm>
              <a:off x="6838951" y="814885"/>
              <a:ext cx="304800" cy="309958"/>
            </a:xfrm>
            <a:prstGeom prst="ellipse">
              <a:avLst/>
            </a:prstGeom>
            <a:solidFill>
              <a:schemeClr val="bg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 name="CuadroTexto 66">
              <a:extLst>
                <a:ext uri="{FF2B5EF4-FFF2-40B4-BE49-F238E27FC236}">
                  <a16:creationId xmlns:a16="http://schemas.microsoft.com/office/drawing/2014/main" id="{309D3CFC-D1FD-4130-B6C4-656CFBC57F94}"/>
                </a:ext>
              </a:extLst>
            </p:cNvPr>
            <p:cNvSpPr txBox="1"/>
            <p:nvPr/>
          </p:nvSpPr>
          <p:spPr>
            <a:xfrm>
              <a:off x="6858000" y="741362"/>
              <a:ext cx="269626" cy="461665"/>
            </a:xfrm>
            <a:prstGeom prst="rect">
              <a:avLst/>
            </a:prstGeom>
            <a:noFill/>
          </p:spPr>
          <p:txBody>
            <a:bodyPr wrap="none" rtlCol="0">
              <a:spAutoFit/>
            </a:bodyPr>
            <a:lstStyle/>
            <a:p>
              <a:r>
                <a:rPr lang="es-ES" sz="2400" dirty="0">
                  <a:solidFill>
                    <a:srgbClr val="FF0000"/>
                  </a:solidFill>
                </a:rPr>
                <a:t>!</a:t>
              </a:r>
              <a:endParaRPr lang="es-ES" dirty="0">
                <a:solidFill>
                  <a:srgbClr val="FF0000"/>
                </a:solidFill>
              </a:endParaRPr>
            </a:p>
          </p:txBody>
        </p:sp>
      </p:grpSp>
    </p:spTree>
    <p:extLst>
      <p:ext uri="{BB962C8B-B14F-4D97-AF65-F5344CB8AC3E}">
        <p14:creationId xmlns:p14="http://schemas.microsoft.com/office/powerpoint/2010/main" val="480429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29" name="Picture 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7025" y="4568825"/>
            <a:ext cx="2451100" cy="15652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428" name="Picture 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1325" y="2578100"/>
            <a:ext cx="2297112" cy="154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427" name="Picture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4499" y="641350"/>
            <a:ext cx="2328863" cy="1489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5366" name="Object 29"/>
          <p:cNvGraphicFramePr>
            <a:graphicFrameLocks noChangeAspect="1"/>
          </p:cNvGraphicFramePr>
          <p:nvPr>
            <p:extLst>
              <p:ext uri="{D42A27DB-BD31-4B8C-83A1-F6EECF244321}">
                <p14:modId xmlns:p14="http://schemas.microsoft.com/office/powerpoint/2010/main" val="2143040648"/>
              </p:ext>
            </p:extLst>
          </p:nvPr>
        </p:nvGraphicFramePr>
        <p:xfrm>
          <a:off x="5771701" y="4219987"/>
          <a:ext cx="289374" cy="304388"/>
        </p:xfrm>
        <a:graphic>
          <a:graphicData uri="http://schemas.openxmlformats.org/presentationml/2006/ole">
            <mc:AlternateContent xmlns:mc="http://schemas.openxmlformats.org/markup-compatibility/2006">
              <mc:Choice xmlns:v="urn:schemas-microsoft-com:vml" Requires="v">
                <p:oleObj name="Equation" r:id="rId5" imgW="253780" imgH="266469" progId="Equation.DSMT4">
                  <p:embed/>
                </p:oleObj>
              </mc:Choice>
              <mc:Fallback>
                <p:oleObj name="Equation" r:id="rId5" imgW="253780" imgH="266469" progId="Equation.DSMT4">
                  <p:embed/>
                  <p:pic>
                    <p:nvPicPr>
                      <p:cNvPr id="15366"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71701" y="4219987"/>
                        <a:ext cx="289374" cy="304388"/>
                      </a:xfrm>
                      <a:prstGeom prst="rect">
                        <a:avLst/>
                      </a:prstGeom>
                      <a:noFill/>
                      <a:ln>
                        <a:noFill/>
                      </a:ln>
                    </p:spPr>
                  </p:pic>
                </p:oleObj>
              </mc:Fallback>
            </mc:AlternateContent>
          </a:graphicData>
        </a:graphic>
      </p:graphicFrame>
      <p:sp>
        <p:nvSpPr>
          <p:cNvPr id="15368" name="Line 9"/>
          <p:cNvSpPr>
            <a:spLocks noChangeShapeType="1"/>
          </p:cNvSpPr>
          <p:nvPr/>
        </p:nvSpPr>
        <p:spPr bwMode="auto">
          <a:xfrm>
            <a:off x="6607175" y="4027488"/>
            <a:ext cx="0" cy="249237"/>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5369" name="Line 48"/>
          <p:cNvSpPr>
            <a:spLocks noChangeShapeType="1"/>
          </p:cNvSpPr>
          <p:nvPr/>
        </p:nvSpPr>
        <p:spPr bwMode="auto">
          <a:xfrm flipH="1" flipV="1">
            <a:off x="7032625" y="6148388"/>
            <a:ext cx="284162" cy="233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5370" name="Object 29"/>
          <p:cNvGraphicFramePr>
            <a:graphicFrameLocks noChangeAspect="1"/>
          </p:cNvGraphicFramePr>
          <p:nvPr>
            <p:extLst>
              <p:ext uri="{D42A27DB-BD31-4B8C-83A1-F6EECF244321}">
                <p14:modId xmlns:p14="http://schemas.microsoft.com/office/powerpoint/2010/main" val="3791999487"/>
              </p:ext>
            </p:extLst>
          </p:nvPr>
        </p:nvGraphicFramePr>
        <p:xfrm>
          <a:off x="6700837" y="6248400"/>
          <a:ext cx="259577" cy="380605"/>
        </p:xfrm>
        <a:graphic>
          <a:graphicData uri="http://schemas.openxmlformats.org/presentationml/2006/ole">
            <mc:AlternateContent xmlns:mc="http://schemas.openxmlformats.org/markup-compatibility/2006">
              <mc:Choice xmlns:v="urn:schemas-microsoft-com:vml" Requires="v">
                <p:oleObj name="Equation" r:id="rId7" imgW="164957" imgH="241091" progId="Equation.DSMT4">
                  <p:embed/>
                </p:oleObj>
              </mc:Choice>
              <mc:Fallback>
                <p:oleObj name="Equation" r:id="rId7" imgW="164957" imgH="241091" progId="Equation.DSMT4">
                  <p:embed/>
                  <p:pic>
                    <p:nvPicPr>
                      <p:cNvPr id="1537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0837" y="6248400"/>
                        <a:ext cx="259577" cy="380605"/>
                      </a:xfrm>
                      <a:prstGeom prst="rect">
                        <a:avLst/>
                      </a:prstGeom>
                      <a:solidFill>
                        <a:schemeClr val="bg1"/>
                      </a:solidFill>
                      <a:ln>
                        <a:noFill/>
                      </a:ln>
                    </p:spPr>
                  </p:pic>
                </p:oleObj>
              </mc:Fallback>
            </mc:AlternateContent>
          </a:graphicData>
        </a:graphic>
      </p:graphicFrame>
      <p:sp>
        <p:nvSpPr>
          <p:cNvPr id="15371" name="Line 54"/>
          <p:cNvSpPr>
            <a:spLocks noChangeShapeType="1"/>
          </p:cNvSpPr>
          <p:nvPr/>
        </p:nvSpPr>
        <p:spPr bwMode="auto">
          <a:xfrm flipH="1">
            <a:off x="6700836" y="2989264"/>
            <a:ext cx="974725" cy="838498"/>
          </a:xfrm>
          <a:prstGeom prst="line">
            <a:avLst/>
          </a:prstGeom>
          <a:noFill/>
          <a:ln w="9525">
            <a:solidFill>
              <a:schemeClr val="tx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5372" name="Object 29"/>
          <p:cNvGraphicFramePr>
            <a:graphicFrameLocks noChangeAspect="1"/>
          </p:cNvGraphicFramePr>
          <p:nvPr>
            <p:extLst>
              <p:ext uri="{D42A27DB-BD31-4B8C-83A1-F6EECF244321}">
                <p14:modId xmlns:p14="http://schemas.microsoft.com/office/powerpoint/2010/main" val="1389028837"/>
              </p:ext>
            </p:extLst>
          </p:nvPr>
        </p:nvGraphicFramePr>
        <p:xfrm>
          <a:off x="7405687" y="2237371"/>
          <a:ext cx="211137" cy="212336"/>
        </p:xfrm>
        <a:graphic>
          <a:graphicData uri="http://schemas.openxmlformats.org/presentationml/2006/ole">
            <mc:AlternateContent xmlns:mc="http://schemas.openxmlformats.org/markup-compatibility/2006">
              <mc:Choice xmlns:v="urn:schemas-microsoft-com:vml" Requires="v">
                <p:oleObj name="Equation" r:id="rId9" imgW="114102" imgH="114102" progId="Equation.DSMT4">
                  <p:embed/>
                </p:oleObj>
              </mc:Choice>
              <mc:Fallback>
                <p:oleObj name="Equation" r:id="rId9" imgW="114102" imgH="114102" progId="Equation.DSMT4">
                  <p:embed/>
                  <p:pic>
                    <p:nvPicPr>
                      <p:cNvPr id="15372"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05687" y="2237371"/>
                        <a:ext cx="211137" cy="212336"/>
                      </a:xfrm>
                      <a:prstGeom prst="rect">
                        <a:avLst/>
                      </a:prstGeom>
                      <a:noFill/>
                      <a:ln>
                        <a:noFill/>
                      </a:ln>
                    </p:spPr>
                  </p:pic>
                </p:oleObj>
              </mc:Fallback>
            </mc:AlternateContent>
          </a:graphicData>
        </a:graphic>
      </p:graphicFrame>
      <p:sp>
        <p:nvSpPr>
          <p:cNvPr id="15373" name="Line 57"/>
          <p:cNvSpPr>
            <a:spLocks noChangeShapeType="1"/>
          </p:cNvSpPr>
          <p:nvPr/>
        </p:nvSpPr>
        <p:spPr bwMode="auto">
          <a:xfrm flipH="1" flipV="1">
            <a:off x="6921500" y="2047204"/>
            <a:ext cx="455612" cy="200695"/>
          </a:xfrm>
          <a:prstGeom prst="line">
            <a:avLst/>
          </a:prstGeom>
          <a:noFill/>
          <a:ln w="15875">
            <a:solidFill>
              <a:srgbClr val="009999"/>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dirty="0"/>
          </a:p>
        </p:txBody>
      </p:sp>
      <p:grpSp>
        <p:nvGrpSpPr>
          <p:cNvPr id="15374" name="Group 61"/>
          <p:cNvGrpSpPr>
            <a:grpSpLocks/>
          </p:cNvGrpSpPr>
          <p:nvPr/>
        </p:nvGrpSpPr>
        <p:grpSpPr bwMode="auto">
          <a:xfrm>
            <a:off x="6911983" y="4009895"/>
            <a:ext cx="585536" cy="422010"/>
            <a:chOff x="4273" y="2495"/>
            <a:chExt cx="353" cy="231"/>
          </a:xfrm>
        </p:grpSpPr>
        <p:graphicFrame>
          <p:nvGraphicFramePr>
            <p:cNvPr id="15416" name="Object 29"/>
            <p:cNvGraphicFramePr>
              <a:graphicFrameLocks noChangeAspect="1"/>
            </p:cNvGraphicFramePr>
            <p:nvPr>
              <p:extLst>
                <p:ext uri="{D42A27DB-BD31-4B8C-83A1-F6EECF244321}">
                  <p14:modId xmlns:p14="http://schemas.microsoft.com/office/powerpoint/2010/main" val="3867042326"/>
                </p:ext>
              </p:extLst>
            </p:nvPr>
          </p:nvGraphicFramePr>
          <p:xfrm>
            <a:off x="4478" y="2578"/>
            <a:ext cx="148" cy="148"/>
          </p:xfrm>
          <a:graphic>
            <a:graphicData uri="http://schemas.openxmlformats.org/presentationml/2006/ole">
              <mc:AlternateContent xmlns:mc="http://schemas.openxmlformats.org/markup-compatibility/2006">
                <mc:Choice xmlns:v="urn:schemas-microsoft-com:vml" Requires="v">
                  <p:oleObj name="Equation" r:id="rId11" imgW="114102" imgH="114102" progId="Equation.DSMT4">
                    <p:embed/>
                  </p:oleObj>
                </mc:Choice>
                <mc:Fallback>
                  <p:oleObj name="Equation" r:id="rId11" imgW="114102" imgH="114102" progId="Equation.DSMT4">
                    <p:embed/>
                    <p:pic>
                      <p:nvPicPr>
                        <p:cNvPr id="15416"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78" y="2578"/>
                          <a:ext cx="148" cy="148"/>
                        </a:xfrm>
                        <a:prstGeom prst="rect">
                          <a:avLst/>
                        </a:prstGeom>
                        <a:noFill/>
                        <a:ln>
                          <a:noFill/>
                        </a:ln>
                      </p:spPr>
                    </p:pic>
                  </p:oleObj>
                </mc:Fallback>
              </mc:AlternateContent>
            </a:graphicData>
          </a:graphic>
        </p:graphicFrame>
        <p:grpSp>
          <p:nvGrpSpPr>
            <p:cNvPr id="15417" name="13 Grupo"/>
            <p:cNvGrpSpPr>
              <a:grpSpLocks/>
            </p:cNvGrpSpPr>
            <p:nvPr/>
          </p:nvGrpSpPr>
          <p:grpSpPr bwMode="auto">
            <a:xfrm>
              <a:off x="4273" y="2495"/>
              <a:ext cx="244" cy="141"/>
              <a:chOff x="2299332" y="4010094"/>
              <a:chExt cx="387350" cy="224448"/>
            </a:xfrm>
          </p:grpSpPr>
          <p:sp>
            <p:nvSpPr>
              <p:cNvPr id="15418" name="Line 57"/>
              <p:cNvSpPr>
                <a:spLocks noChangeShapeType="1"/>
              </p:cNvSpPr>
              <p:nvPr/>
            </p:nvSpPr>
            <p:spPr bwMode="auto">
              <a:xfrm flipH="1" flipV="1">
                <a:off x="2299332" y="4010094"/>
                <a:ext cx="387350" cy="224448"/>
              </a:xfrm>
              <a:prstGeom prst="line">
                <a:avLst/>
              </a:prstGeom>
              <a:noFill/>
              <a:ln w="15875">
                <a:solidFill>
                  <a:schemeClr val="bg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5419" name="Line 57"/>
              <p:cNvSpPr>
                <a:spLocks noChangeShapeType="1"/>
              </p:cNvSpPr>
              <p:nvPr/>
            </p:nvSpPr>
            <p:spPr bwMode="auto">
              <a:xfrm flipH="1" flipV="1">
                <a:off x="2419664" y="4075658"/>
                <a:ext cx="193675" cy="112224"/>
              </a:xfrm>
              <a:prstGeom prst="line">
                <a:avLst/>
              </a:prstGeom>
              <a:noFill/>
              <a:ln w="1587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sp>
        <p:nvSpPr>
          <p:cNvPr id="15375" name="Line 54"/>
          <p:cNvSpPr>
            <a:spLocks noChangeShapeType="1"/>
          </p:cNvSpPr>
          <p:nvPr/>
        </p:nvSpPr>
        <p:spPr bwMode="auto">
          <a:xfrm flipH="1">
            <a:off x="7073900" y="5292725"/>
            <a:ext cx="512762" cy="790575"/>
          </a:xfrm>
          <a:prstGeom prst="line">
            <a:avLst/>
          </a:prstGeom>
          <a:noFill/>
          <a:ln w="9525">
            <a:solidFill>
              <a:schemeClr val="tx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5376" name="Object 29"/>
          <p:cNvGraphicFramePr>
            <a:graphicFrameLocks noChangeAspect="1"/>
          </p:cNvGraphicFramePr>
          <p:nvPr>
            <p:extLst>
              <p:ext uri="{D42A27DB-BD31-4B8C-83A1-F6EECF244321}">
                <p14:modId xmlns:p14="http://schemas.microsoft.com/office/powerpoint/2010/main" val="3241933568"/>
              </p:ext>
            </p:extLst>
          </p:nvPr>
        </p:nvGraphicFramePr>
        <p:xfrm>
          <a:off x="7362825" y="6271020"/>
          <a:ext cx="318064" cy="334568"/>
        </p:xfrm>
        <a:graphic>
          <a:graphicData uri="http://schemas.openxmlformats.org/presentationml/2006/ole">
            <mc:AlternateContent xmlns:mc="http://schemas.openxmlformats.org/markup-compatibility/2006">
              <mc:Choice xmlns:v="urn:schemas-microsoft-com:vml" Requires="v">
                <p:oleObj name="Equation" r:id="rId13" imgW="253780" imgH="266469" progId="Equation.DSMT4">
                  <p:embed/>
                </p:oleObj>
              </mc:Choice>
              <mc:Fallback>
                <p:oleObj name="Equation" r:id="rId13" imgW="253780" imgH="266469" progId="Equation.DSMT4">
                  <p:embed/>
                  <p:pic>
                    <p:nvPicPr>
                      <p:cNvPr id="15376"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62825" y="6271020"/>
                        <a:ext cx="318064" cy="334568"/>
                      </a:xfrm>
                      <a:prstGeom prst="rect">
                        <a:avLst/>
                      </a:prstGeom>
                      <a:noFill/>
                      <a:ln>
                        <a:noFill/>
                      </a:ln>
                    </p:spPr>
                  </p:pic>
                </p:oleObj>
              </mc:Fallback>
            </mc:AlternateContent>
          </a:graphicData>
        </a:graphic>
      </p:graphicFrame>
      <p:sp>
        <p:nvSpPr>
          <p:cNvPr id="15377" name="Line 48"/>
          <p:cNvSpPr>
            <a:spLocks noChangeShapeType="1"/>
          </p:cNvSpPr>
          <p:nvPr/>
        </p:nvSpPr>
        <p:spPr bwMode="auto">
          <a:xfrm flipV="1">
            <a:off x="6019800" y="4125913"/>
            <a:ext cx="596900" cy="2079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5378" name="Line 9"/>
          <p:cNvSpPr>
            <a:spLocks noChangeShapeType="1"/>
          </p:cNvSpPr>
          <p:nvPr/>
        </p:nvSpPr>
        <p:spPr bwMode="auto">
          <a:xfrm>
            <a:off x="7023100" y="5967413"/>
            <a:ext cx="0" cy="249237"/>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5379" name="Object 29"/>
          <p:cNvGraphicFramePr>
            <a:graphicFrameLocks noChangeAspect="1"/>
          </p:cNvGraphicFramePr>
          <p:nvPr>
            <p:extLst>
              <p:ext uri="{D42A27DB-BD31-4B8C-83A1-F6EECF244321}">
                <p14:modId xmlns:p14="http://schemas.microsoft.com/office/powerpoint/2010/main" val="2937668828"/>
              </p:ext>
            </p:extLst>
          </p:nvPr>
        </p:nvGraphicFramePr>
        <p:xfrm>
          <a:off x="7670801" y="2793822"/>
          <a:ext cx="458786" cy="192266"/>
        </p:xfrm>
        <a:graphic>
          <a:graphicData uri="http://schemas.openxmlformats.org/presentationml/2006/ole">
            <mc:AlternateContent xmlns:mc="http://schemas.openxmlformats.org/markup-compatibility/2006">
              <mc:Choice xmlns:v="urn:schemas-microsoft-com:vml" Requires="v">
                <p:oleObj name="Equation" r:id="rId14" imgW="457200" imgH="190500" progId="Equation.DSMT4">
                  <p:embed/>
                </p:oleObj>
              </mc:Choice>
              <mc:Fallback>
                <p:oleObj name="Equation" r:id="rId14" imgW="457200" imgH="190500" progId="Equation.DSMT4">
                  <p:embed/>
                  <p:pic>
                    <p:nvPicPr>
                      <p:cNvPr id="15379" name="Object 2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70801" y="2793822"/>
                        <a:ext cx="458786" cy="192266"/>
                      </a:xfrm>
                      <a:prstGeom prst="rect">
                        <a:avLst/>
                      </a:prstGeom>
                      <a:solidFill>
                        <a:schemeClr val="bg1"/>
                      </a:solidFill>
                      <a:ln>
                        <a:noFill/>
                      </a:ln>
                    </p:spPr>
                  </p:pic>
                </p:oleObj>
              </mc:Fallback>
            </mc:AlternateContent>
          </a:graphicData>
        </a:graphic>
      </p:graphicFrame>
      <p:graphicFrame>
        <p:nvGraphicFramePr>
          <p:cNvPr id="15380" name="Object 29"/>
          <p:cNvGraphicFramePr>
            <a:graphicFrameLocks noChangeAspect="1"/>
          </p:cNvGraphicFramePr>
          <p:nvPr>
            <p:extLst>
              <p:ext uri="{D42A27DB-BD31-4B8C-83A1-F6EECF244321}">
                <p14:modId xmlns:p14="http://schemas.microsoft.com/office/powerpoint/2010/main" val="1354102930"/>
              </p:ext>
            </p:extLst>
          </p:nvPr>
        </p:nvGraphicFramePr>
        <p:xfrm>
          <a:off x="7577137" y="5055073"/>
          <a:ext cx="492124" cy="213840"/>
        </p:xfrm>
        <a:graphic>
          <a:graphicData uri="http://schemas.openxmlformats.org/presentationml/2006/ole">
            <mc:AlternateContent xmlns:mc="http://schemas.openxmlformats.org/markup-compatibility/2006">
              <mc:Choice xmlns:v="urn:schemas-microsoft-com:vml" Requires="v">
                <p:oleObj name="Equation" r:id="rId16" imgW="444307" imgH="190417" progId="Equation.DSMT4">
                  <p:embed/>
                </p:oleObj>
              </mc:Choice>
              <mc:Fallback>
                <p:oleObj name="Equation" r:id="rId16" imgW="444307" imgH="190417" progId="Equation.DSMT4">
                  <p:embed/>
                  <p:pic>
                    <p:nvPicPr>
                      <p:cNvPr id="15380" name="Object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577137" y="5055073"/>
                        <a:ext cx="492124" cy="213840"/>
                      </a:xfrm>
                      <a:prstGeom prst="rect">
                        <a:avLst/>
                      </a:prstGeom>
                      <a:solidFill>
                        <a:schemeClr val="bg1"/>
                      </a:solidFill>
                      <a:ln>
                        <a:noFill/>
                      </a:ln>
                    </p:spPr>
                  </p:pic>
                </p:oleObj>
              </mc:Fallback>
            </mc:AlternateContent>
          </a:graphicData>
        </a:graphic>
      </p:graphicFrame>
      <p:sp>
        <p:nvSpPr>
          <p:cNvPr id="15385" name="Text Box 21"/>
          <p:cNvSpPr txBox="1">
            <a:spLocks noChangeArrowheads="1"/>
          </p:cNvSpPr>
          <p:nvPr/>
        </p:nvSpPr>
        <p:spPr bwMode="auto">
          <a:xfrm>
            <a:off x="5060950" y="876300"/>
            <a:ext cx="1087437" cy="49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10000"/>
              </a:lnSpc>
            </a:pPr>
            <a:r>
              <a:rPr lang="es-ES_tradnl" altLang="es-ES" sz="1200" dirty="0"/>
              <a:t>Distribución bajo H</a:t>
            </a:r>
            <a:r>
              <a:rPr lang="es-ES_tradnl" altLang="es-ES" sz="1200" baseline="-25000" dirty="0"/>
              <a:t>0</a:t>
            </a:r>
            <a:r>
              <a:rPr lang="es-ES_tradnl" altLang="es-ES" sz="1200" dirty="0"/>
              <a:t>  </a:t>
            </a:r>
            <a:endParaRPr lang="es-ES" altLang="es-ES" sz="1200" dirty="0"/>
          </a:p>
        </p:txBody>
      </p:sp>
      <p:sp>
        <p:nvSpPr>
          <p:cNvPr id="15386" name="Text Box 21"/>
          <p:cNvSpPr txBox="1">
            <a:spLocks noChangeArrowheads="1"/>
          </p:cNvSpPr>
          <p:nvPr/>
        </p:nvSpPr>
        <p:spPr bwMode="auto">
          <a:xfrm>
            <a:off x="7310437" y="703263"/>
            <a:ext cx="990600" cy="6969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10000"/>
              </a:lnSpc>
            </a:pPr>
            <a:r>
              <a:rPr lang="es-ES_tradnl" altLang="es-ES" sz="1200" dirty="0"/>
              <a:t>Una posible distribución bajo H</a:t>
            </a:r>
            <a:r>
              <a:rPr lang="es-ES_tradnl" altLang="es-ES" sz="1200" baseline="-25000" dirty="0"/>
              <a:t>1</a:t>
            </a:r>
            <a:r>
              <a:rPr lang="es-ES_tradnl" altLang="es-ES" sz="1200" dirty="0"/>
              <a:t>  </a:t>
            </a:r>
            <a:endParaRPr lang="es-ES" altLang="es-ES" sz="1200" dirty="0"/>
          </a:p>
        </p:txBody>
      </p:sp>
      <p:grpSp>
        <p:nvGrpSpPr>
          <p:cNvPr id="14" name="Grupo 13">
            <a:extLst>
              <a:ext uri="{FF2B5EF4-FFF2-40B4-BE49-F238E27FC236}">
                <a16:creationId xmlns:a16="http://schemas.microsoft.com/office/drawing/2014/main" id="{AE997F46-B022-4034-840F-5B461703E3E9}"/>
              </a:ext>
            </a:extLst>
          </p:cNvPr>
          <p:cNvGrpSpPr/>
          <p:nvPr/>
        </p:nvGrpSpPr>
        <p:grpSpPr>
          <a:xfrm>
            <a:off x="5060950" y="2596857"/>
            <a:ext cx="846137" cy="612775"/>
            <a:chOff x="4611688" y="2832100"/>
            <a:chExt cx="846137" cy="612775"/>
          </a:xfrm>
        </p:grpSpPr>
        <p:graphicFrame>
          <p:nvGraphicFramePr>
            <p:cNvPr id="15383" name="Object 29"/>
            <p:cNvGraphicFramePr>
              <a:graphicFrameLocks noChangeAspect="1"/>
            </p:cNvGraphicFramePr>
            <p:nvPr>
              <p:extLst>
                <p:ext uri="{D42A27DB-BD31-4B8C-83A1-F6EECF244321}">
                  <p14:modId xmlns:p14="http://schemas.microsoft.com/office/powerpoint/2010/main" val="2373734379"/>
                </p:ext>
              </p:extLst>
            </p:nvPr>
          </p:nvGraphicFramePr>
          <p:xfrm>
            <a:off x="4702175" y="3090863"/>
            <a:ext cx="741363" cy="354012"/>
          </p:xfrm>
          <a:graphic>
            <a:graphicData uri="http://schemas.openxmlformats.org/presentationml/2006/ole">
              <mc:AlternateContent xmlns:mc="http://schemas.openxmlformats.org/markup-compatibility/2006">
                <mc:Choice xmlns:v="urn:schemas-microsoft-com:vml" Requires="v">
                  <p:oleObj name="Equation" r:id="rId18" imgW="558558" imgH="266584" progId="Equation.DSMT4">
                    <p:embed/>
                  </p:oleObj>
                </mc:Choice>
                <mc:Fallback>
                  <p:oleObj name="Equation" r:id="rId18" imgW="558558" imgH="266584" progId="Equation.DSMT4">
                    <p:embed/>
                    <p:pic>
                      <p:nvPicPr>
                        <p:cNvPr id="15383" name="Object 2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02175" y="3090863"/>
                          <a:ext cx="741363"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94" name="Text Box 52"/>
            <p:cNvSpPr txBox="1">
              <a:spLocks noChangeArrowheads="1"/>
            </p:cNvSpPr>
            <p:nvPr/>
          </p:nvSpPr>
          <p:spPr bwMode="auto">
            <a:xfrm>
              <a:off x="4611688" y="2832100"/>
              <a:ext cx="84613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t>Caso a</a:t>
              </a:r>
              <a:r>
                <a:rPr lang="es-ES_tradnl" altLang="es-ES" baseline="30000" dirty="0"/>
                <a:t>*</a:t>
              </a:r>
              <a:r>
                <a:rPr lang="es-ES_tradnl" altLang="es-ES" dirty="0"/>
                <a:t>)</a:t>
              </a:r>
              <a:endParaRPr lang="es-ES" altLang="es-ES" dirty="0"/>
            </a:p>
          </p:txBody>
        </p:sp>
      </p:grpSp>
      <p:grpSp>
        <p:nvGrpSpPr>
          <p:cNvPr id="15" name="Grupo 14">
            <a:extLst>
              <a:ext uri="{FF2B5EF4-FFF2-40B4-BE49-F238E27FC236}">
                <a16:creationId xmlns:a16="http://schemas.microsoft.com/office/drawing/2014/main" id="{066B1A13-9C6E-45B6-9BF8-5BFF4F1C47A5}"/>
              </a:ext>
            </a:extLst>
          </p:cNvPr>
          <p:cNvGrpSpPr/>
          <p:nvPr/>
        </p:nvGrpSpPr>
        <p:grpSpPr>
          <a:xfrm>
            <a:off x="5060950" y="4600575"/>
            <a:ext cx="846138" cy="657225"/>
            <a:chOff x="4629150" y="4752975"/>
            <a:chExt cx="846138" cy="657225"/>
          </a:xfrm>
        </p:grpSpPr>
        <p:graphicFrame>
          <p:nvGraphicFramePr>
            <p:cNvPr id="15384" name="Object 29"/>
            <p:cNvGraphicFramePr>
              <a:graphicFrameLocks noChangeAspect="1"/>
            </p:cNvGraphicFramePr>
            <p:nvPr>
              <p:extLst>
                <p:ext uri="{D42A27DB-BD31-4B8C-83A1-F6EECF244321}">
                  <p14:modId xmlns:p14="http://schemas.microsoft.com/office/powerpoint/2010/main" val="2312165536"/>
                </p:ext>
              </p:extLst>
            </p:nvPr>
          </p:nvGraphicFramePr>
          <p:xfrm>
            <a:off x="4729163" y="5056188"/>
            <a:ext cx="741362" cy="354012"/>
          </p:xfrm>
          <a:graphic>
            <a:graphicData uri="http://schemas.openxmlformats.org/presentationml/2006/ole">
              <mc:AlternateContent xmlns:mc="http://schemas.openxmlformats.org/markup-compatibility/2006">
                <mc:Choice xmlns:v="urn:schemas-microsoft-com:vml" Requires="v">
                  <p:oleObj name="Equation" r:id="rId20" imgW="558558" imgH="266584" progId="Equation.DSMT4">
                    <p:embed/>
                  </p:oleObj>
                </mc:Choice>
                <mc:Fallback>
                  <p:oleObj name="Equation" r:id="rId20" imgW="558558" imgH="266584" progId="Equation.DSMT4">
                    <p:embed/>
                    <p:pic>
                      <p:nvPicPr>
                        <p:cNvPr id="15384" name="Object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729163" y="5056188"/>
                          <a:ext cx="741362"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95" name="Text Box 53"/>
            <p:cNvSpPr txBox="1">
              <a:spLocks noChangeArrowheads="1"/>
            </p:cNvSpPr>
            <p:nvPr/>
          </p:nvSpPr>
          <p:spPr bwMode="auto">
            <a:xfrm>
              <a:off x="4629150" y="4752975"/>
              <a:ext cx="846138"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dirty="0"/>
                <a:t>Caso b</a:t>
              </a:r>
              <a:r>
                <a:rPr lang="es-ES_tradnl" altLang="es-ES" baseline="30000" dirty="0"/>
                <a:t>*</a:t>
              </a:r>
              <a:r>
                <a:rPr lang="es-ES_tradnl" altLang="es-ES" dirty="0"/>
                <a:t>)</a:t>
              </a:r>
              <a:endParaRPr lang="es-ES" altLang="es-ES" dirty="0"/>
            </a:p>
          </p:txBody>
        </p:sp>
      </p:grpSp>
      <p:sp>
        <p:nvSpPr>
          <p:cNvPr id="15397" name="Text Box 55"/>
          <p:cNvSpPr txBox="1">
            <a:spLocks noChangeArrowheads="1"/>
          </p:cNvSpPr>
          <p:nvPr/>
        </p:nvSpPr>
        <p:spPr bwMode="auto">
          <a:xfrm>
            <a:off x="7551737" y="3157538"/>
            <a:ext cx="1463675" cy="639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sz="1200"/>
              <a:t>La muestra es suficientemente probable bajo H</a:t>
            </a:r>
            <a:r>
              <a:rPr lang="es-ES_tradnl" altLang="es-ES" sz="1200" baseline="-25000"/>
              <a:t>0</a:t>
            </a:r>
            <a:endParaRPr lang="es-ES" altLang="es-ES" sz="1200" baseline="-25000"/>
          </a:p>
        </p:txBody>
      </p:sp>
      <p:sp>
        <p:nvSpPr>
          <p:cNvPr id="15398" name="Text Box 56"/>
          <p:cNvSpPr txBox="1">
            <a:spLocks noChangeArrowheads="1"/>
          </p:cNvSpPr>
          <p:nvPr/>
        </p:nvSpPr>
        <p:spPr bwMode="auto">
          <a:xfrm>
            <a:off x="7551737" y="5365750"/>
            <a:ext cx="159226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sz="1200"/>
              <a:t>La muestra es improbable bajo H</a:t>
            </a:r>
            <a:r>
              <a:rPr lang="es-ES_tradnl" altLang="es-ES" sz="1200" baseline="-25000"/>
              <a:t>0</a:t>
            </a:r>
            <a:endParaRPr lang="es-ES" altLang="es-ES" sz="1200" baseline="-25000"/>
          </a:p>
        </p:txBody>
      </p:sp>
      <p:graphicFrame>
        <p:nvGraphicFramePr>
          <p:cNvPr id="15399" name="Object 29"/>
          <p:cNvGraphicFramePr>
            <a:graphicFrameLocks noChangeAspect="1"/>
          </p:cNvGraphicFramePr>
          <p:nvPr>
            <p:extLst>
              <p:ext uri="{D42A27DB-BD31-4B8C-83A1-F6EECF244321}">
                <p14:modId xmlns:p14="http://schemas.microsoft.com/office/powerpoint/2010/main" val="982124703"/>
              </p:ext>
            </p:extLst>
          </p:nvPr>
        </p:nvGraphicFramePr>
        <p:xfrm>
          <a:off x="7016750" y="5457825"/>
          <a:ext cx="279400" cy="280988"/>
        </p:xfrm>
        <a:graphic>
          <a:graphicData uri="http://schemas.openxmlformats.org/presentationml/2006/ole">
            <mc:AlternateContent xmlns:mc="http://schemas.openxmlformats.org/markup-compatibility/2006">
              <mc:Choice xmlns:v="urn:schemas-microsoft-com:vml" Requires="v">
                <p:oleObj name="Equation" r:id="rId22" imgW="114102" imgH="114102" progId="Equation.DSMT4">
                  <p:embed/>
                </p:oleObj>
              </mc:Choice>
              <mc:Fallback>
                <p:oleObj name="Equation" r:id="rId22" imgW="114102" imgH="114102" progId="Equation.DSMT4">
                  <p:embed/>
                  <p:pic>
                    <p:nvPicPr>
                      <p:cNvPr id="15399"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16750" y="5457825"/>
                        <a:ext cx="27940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01" name="Line 57"/>
          <p:cNvSpPr>
            <a:spLocks noChangeShapeType="1"/>
          </p:cNvSpPr>
          <p:nvPr/>
        </p:nvSpPr>
        <p:spPr bwMode="auto">
          <a:xfrm rot="15197793" flipH="1" flipV="1">
            <a:off x="6850856" y="5688807"/>
            <a:ext cx="301625" cy="293687"/>
          </a:xfrm>
          <a:prstGeom prst="line">
            <a:avLst/>
          </a:prstGeom>
          <a:noFill/>
          <a:ln w="15875">
            <a:solidFill>
              <a:schemeClr val="bg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5402" name="Line 57"/>
          <p:cNvSpPr>
            <a:spLocks noChangeShapeType="1"/>
          </p:cNvSpPr>
          <p:nvPr/>
        </p:nvSpPr>
        <p:spPr bwMode="auto">
          <a:xfrm rot="15197793" flipH="1" flipV="1">
            <a:off x="6907212" y="5722938"/>
            <a:ext cx="201613" cy="198437"/>
          </a:xfrm>
          <a:prstGeom prst="line">
            <a:avLst/>
          </a:prstGeom>
          <a:noFill/>
          <a:ln w="1587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5421" name="Text Box 17"/>
          <p:cNvSpPr txBox="1">
            <a:spLocks noChangeArrowheads="1"/>
          </p:cNvSpPr>
          <p:nvPr/>
        </p:nvSpPr>
        <p:spPr bwMode="auto">
          <a:xfrm>
            <a:off x="241300" y="356974"/>
            <a:ext cx="5463740"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b="1" dirty="0"/>
              <a:t>La mejor forma de decidir: el nivel mínimo de significación </a:t>
            </a:r>
            <a:r>
              <a:rPr lang="es-ES" altLang="es-ES" sz="1600" b="1" i="1" dirty="0">
                <a:latin typeface="Times New Roman" pitchFamily="18" charset="0"/>
              </a:rPr>
              <a:t>P </a:t>
            </a:r>
            <a:endParaRPr lang="es-ES" altLang="es-ES" b="1" baseline="-25000" dirty="0"/>
          </a:p>
        </p:txBody>
      </p:sp>
      <p:sp>
        <p:nvSpPr>
          <p:cNvPr id="15432" name="Text Box 72"/>
          <p:cNvSpPr txBox="1">
            <a:spLocks noChangeArrowheads="1"/>
          </p:cNvSpPr>
          <p:nvPr/>
        </p:nvSpPr>
        <p:spPr bwMode="auto">
          <a:xfrm>
            <a:off x="4672930" y="6610680"/>
            <a:ext cx="4482615"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sz="1000" dirty="0"/>
              <a:t>*Para simplificar, se ha representado el error </a:t>
            </a:r>
            <a:r>
              <a:rPr lang="es-ES_tradnl" altLang="es-ES" sz="1200" dirty="0">
                <a:latin typeface="Symbol" pitchFamily="18" charset="2"/>
              </a:rPr>
              <a:t>a</a:t>
            </a:r>
            <a:r>
              <a:rPr lang="es-ES_tradnl" altLang="es-ES" sz="1000" dirty="0"/>
              <a:t> solamente en la cola dcha.</a:t>
            </a:r>
            <a:endParaRPr lang="es-ES" altLang="es-ES" sz="1000" dirty="0"/>
          </a:p>
        </p:txBody>
      </p:sp>
      <p:sp>
        <p:nvSpPr>
          <p:cNvPr id="59"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a:t>
            </a:r>
          </a:p>
        </p:txBody>
      </p:sp>
      <p:sp>
        <p:nvSpPr>
          <p:cNvPr id="15367" name="Line 35"/>
          <p:cNvSpPr>
            <a:spLocks noChangeShapeType="1"/>
          </p:cNvSpPr>
          <p:nvPr/>
        </p:nvSpPr>
        <p:spPr bwMode="auto">
          <a:xfrm flipH="1">
            <a:off x="6824662" y="525463"/>
            <a:ext cx="6350" cy="5849937"/>
          </a:xfrm>
          <a:prstGeom prst="line">
            <a:avLst/>
          </a:prstGeom>
          <a:noFill/>
          <a:ln w="12700">
            <a:solidFill>
              <a:schemeClr val="tx1">
                <a:lumMod val="65000"/>
                <a:lumOff val="3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5381" name="Object 29"/>
          <p:cNvGraphicFramePr>
            <a:graphicFrameLocks noChangeAspect="1"/>
          </p:cNvGraphicFramePr>
          <p:nvPr>
            <p:extLst>
              <p:ext uri="{D42A27DB-BD31-4B8C-83A1-F6EECF244321}">
                <p14:modId xmlns:p14="http://schemas.microsoft.com/office/powerpoint/2010/main" val="3787717860"/>
              </p:ext>
            </p:extLst>
          </p:nvPr>
        </p:nvGraphicFramePr>
        <p:xfrm>
          <a:off x="6753652" y="2209800"/>
          <a:ext cx="258763" cy="379413"/>
        </p:xfrm>
        <a:graphic>
          <a:graphicData uri="http://schemas.openxmlformats.org/presentationml/2006/ole">
            <mc:AlternateContent xmlns:mc="http://schemas.openxmlformats.org/markup-compatibility/2006">
              <mc:Choice xmlns:v="urn:schemas-microsoft-com:vml" Requires="v">
                <p:oleObj name="Equation" r:id="rId23" imgW="164957" imgH="241091" progId="Equation.DSMT4">
                  <p:embed/>
                </p:oleObj>
              </mc:Choice>
              <mc:Fallback>
                <p:oleObj name="Equation" r:id="rId23" imgW="164957" imgH="241091" progId="Equation.DSMT4">
                  <p:embed/>
                  <p:pic>
                    <p:nvPicPr>
                      <p:cNvPr id="15381"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53652" y="2209800"/>
                        <a:ext cx="258763"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82" name="Object 29"/>
          <p:cNvGraphicFramePr>
            <a:graphicFrameLocks noChangeAspect="1"/>
          </p:cNvGraphicFramePr>
          <p:nvPr>
            <p:extLst>
              <p:ext uri="{D42A27DB-BD31-4B8C-83A1-F6EECF244321}">
                <p14:modId xmlns:p14="http://schemas.microsoft.com/office/powerpoint/2010/main" val="4181843844"/>
              </p:ext>
            </p:extLst>
          </p:nvPr>
        </p:nvGraphicFramePr>
        <p:xfrm>
          <a:off x="6725077" y="4160838"/>
          <a:ext cx="258763" cy="379412"/>
        </p:xfrm>
        <a:graphic>
          <a:graphicData uri="http://schemas.openxmlformats.org/presentationml/2006/ole">
            <mc:AlternateContent xmlns:mc="http://schemas.openxmlformats.org/markup-compatibility/2006">
              <mc:Choice xmlns:v="urn:schemas-microsoft-com:vml" Requires="v">
                <p:oleObj name="Equation" r:id="rId24" imgW="164880" imgH="241200" progId="Equation.DSMT4">
                  <p:embed/>
                </p:oleObj>
              </mc:Choice>
              <mc:Fallback>
                <p:oleObj name="Equation" r:id="rId24" imgW="164880" imgH="241200" progId="Equation.DSMT4">
                  <p:embed/>
                  <p:pic>
                    <p:nvPicPr>
                      <p:cNvPr id="15382" name="Object 29"/>
                      <p:cNvPicPr>
                        <a:picLocks noChangeAspect="1" noChangeArrowheads="1"/>
                      </p:cNvPicPr>
                      <p:nvPr/>
                    </p:nvPicPr>
                    <p:blipFill>
                      <a:blip r:embed="rId25"/>
                      <a:srcRect/>
                      <a:stretch>
                        <a:fillRect/>
                      </a:stretch>
                    </p:blipFill>
                    <p:spPr bwMode="auto">
                      <a:xfrm>
                        <a:off x="6725077" y="4160838"/>
                        <a:ext cx="258763" cy="379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 name="Grupo 8">
            <a:extLst>
              <a:ext uri="{FF2B5EF4-FFF2-40B4-BE49-F238E27FC236}">
                <a16:creationId xmlns:a16="http://schemas.microsoft.com/office/drawing/2014/main" id="{D1BE9D35-C546-4012-8013-4845E72F114B}"/>
              </a:ext>
            </a:extLst>
          </p:cNvPr>
          <p:cNvGrpSpPr/>
          <p:nvPr/>
        </p:nvGrpSpPr>
        <p:grpSpPr>
          <a:xfrm>
            <a:off x="152400" y="914400"/>
            <a:ext cx="3557537" cy="2572142"/>
            <a:chOff x="304800" y="991946"/>
            <a:chExt cx="3557537" cy="2572142"/>
          </a:xfrm>
        </p:grpSpPr>
        <p:pic>
          <p:nvPicPr>
            <p:cNvPr id="6" name="Snagit_PPT3836">
              <a:extLst>
                <a:ext uri="{FF2B5EF4-FFF2-40B4-BE49-F238E27FC236}">
                  <a16:creationId xmlns:a16="http://schemas.microsoft.com/office/drawing/2014/main" id="{626A596B-7E1B-4E4D-B794-B092294082EB}"/>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304800" y="991946"/>
              <a:ext cx="3432075" cy="1831974"/>
            </a:xfrm>
            <a:prstGeom prst="rect">
              <a:avLst/>
            </a:prstGeom>
          </p:spPr>
        </p:pic>
        <p:sp>
          <p:nvSpPr>
            <p:cNvPr id="15406" name="Text Box 41"/>
            <p:cNvSpPr txBox="1">
              <a:spLocks noChangeArrowheads="1"/>
            </p:cNvSpPr>
            <p:nvPr/>
          </p:nvSpPr>
          <p:spPr bwMode="auto">
            <a:xfrm>
              <a:off x="1384300" y="2873375"/>
              <a:ext cx="266717"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dirty="0">
                  <a:solidFill>
                    <a:schemeClr val="accent3">
                      <a:lumMod val="50000"/>
                    </a:schemeClr>
                  </a:solidFill>
                </a:rPr>
                <a:t>0</a:t>
              </a:r>
            </a:p>
          </p:txBody>
        </p:sp>
        <p:sp>
          <p:nvSpPr>
            <p:cNvPr id="15408" name="Line 35"/>
            <p:cNvSpPr>
              <a:spLocks noChangeShapeType="1"/>
            </p:cNvSpPr>
            <p:nvPr/>
          </p:nvSpPr>
          <p:spPr bwMode="auto">
            <a:xfrm flipH="1">
              <a:off x="1519704" y="1045062"/>
              <a:ext cx="1588" cy="1831975"/>
            </a:xfrm>
            <a:prstGeom prst="line">
              <a:avLst/>
            </a:prstGeom>
            <a:noFill/>
            <a:ln w="6350">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5409" name="Line 14"/>
            <p:cNvSpPr>
              <a:spLocks noChangeShapeType="1"/>
            </p:cNvSpPr>
            <p:nvPr/>
          </p:nvSpPr>
          <p:spPr bwMode="auto">
            <a:xfrm>
              <a:off x="1963995" y="2004009"/>
              <a:ext cx="11212" cy="891395"/>
            </a:xfrm>
            <a:prstGeom prst="line">
              <a:avLst/>
            </a:prstGeom>
            <a:noFill/>
            <a:ln w="9525">
              <a:solidFill>
                <a:schemeClr val="accent1">
                  <a:lumMod val="25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5410" name="Line 15"/>
            <p:cNvSpPr>
              <a:spLocks noChangeShapeType="1"/>
            </p:cNvSpPr>
            <p:nvPr/>
          </p:nvSpPr>
          <p:spPr bwMode="auto">
            <a:xfrm>
              <a:off x="2156610" y="2523871"/>
              <a:ext cx="1587" cy="397293"/>
            </a:xfrm>
            <a:prstGeom prst="line">
              <a:avLst/>
            </a:prstGeom>
            <a:noFill/>
            <a:ln w="9525">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5411" name="Text Box 21"/>
            <p:cNvSpPr txBox="1">
              <a:spLocks noChangeArrowheads="1"/>
            </p:cNvSpPr>
            <p:nvPr/>
          </p:nvSpPr>
          <p:spPr bwMode="auto">
            <a:xfrm>
              <a:off x="419567" y="1019662"/>
              <a:ext cx="1087438" cy="49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10000"/>
                </a:lnSpc>
              </a:pPr>
              <a:r>
                <a:rPr lang="es-ES_tradnl" altLang="es-ES" sz="1200" dirty="0"/>
                <a:t>Distribución bajo H</a:t>
              </a:r>
              <a:r>
                <a:rPr lang="es-ES_tradnl" altLang="es-ES" sz="1200" baseline="-25000" dirty="0"/>
                <a:t>0</a:t>
              </a:r>
              <a:r>
                <a:rPr lang="es-ES_tradnl" altLang="es-ES" sz="1200" dirty="0"/>
                <a:t>  </a:t>
              </a:r>
              <a:endParaRPr lang="es-ES" altLang="es-ES" sz="1200" dirty="0"/>
            </a:p>
          </p:txBody>
        </p:sp>
        <p:graphicFrame>
          <p:nvGraphicFramePr>
            <p:cNvPr id="15412" name="Object 29"/>
            <p:cNvGraphicFramePr>
              <a:graphicFrameLocks noChangeAspect="1"/>
            </p:cNvGraphicFramePr>
            <p:nvPr>
              <p:extLst>
                <p:ext uri="{D42A27DB-BD31-4B8C-83A1-F6EECF244321}">
                  <p14:modId xmlns:p14="http://schemas.microsoft.com/office/powerpoint/2010/main" val="2600723004"/>
                </p:ext>
              </p:extLst>
            </p:nvPr>
          </p:nvGraphicFramePr>
          <p:xfrm>
            <a:off x="2258187" y="3171349"/>
            <a:ext cx="192087" cy="280988"/>
          </p:xfrm>
          <a:graphic>
            <a:graphicData uri="http://schemas.openxmlformats.org/presentationml/2006/ole">
              <mc:AlternateContent xmlns:mc="http://schemas.openxmlformats.org/markup-compatibility/2006">
                <mc:Choice xmlns:v="urn:schemas-microsoft-com:vml" Requires="v">
                  <p:oleObj name="Equation" r:id="rId27" imgW="164880" imgH="241200" progId="Equation.DSMT4">
                    <p:embed/>
                  </p:oleObj>
                </mc:Choice>
                <mc:Fallback>
                  <p:oleObj name="Equation" r:id="rId27" imgW="164880" imgH="241200" progId="Equation.DSMT4">
                    <p:embed/>
                    <p:pic>
                      <p:nvPicPr>
                        <p:cNvPr id="15412" name="Object 29"/>
                        <p:cNvPicPr>
                          <a:picLocks noChangeAspect="1" noChangeArrowheads="1"/>
                        </p:cNvPicPr>
                        <p:nvPr/>
                      </p:nvPicPr>
                      <p:blipFill>
                        <a:blip r:embed="rId28"/>
                        <a:srcRect/>
                        <a:stretch>
                          <a:fillRect/>
                        </a:stretch>
                      </p:blipFill>
                      <p:spPr bwMode="auto">
                        <a:xfrm>
                          <a:off x="2258187" y="3171349"/>
                          <a:ext cx="192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13" name="Object 29"/>
            <p:cNvGraphicFramePr>
              <a:graphicFrameLocks noChangeAspect="1"/>
            </p:cNvGraphicFramePr>
            <p:nvPr>
              <p:extLst>
                <p:ext uri="{D42A27DB-BD31-4B8C-83A1-F6EECF244321}">
                  <p14:modId xmlns:p14="http://schemas.microsoft.com/office/powerpoint/2010/main" val="3935272615"/>
                </p:ext>
              </p:extLst>
            </p:nvPr>
          </p:nvGraphicFramePr>
          <p:xfrm>
            <a:off x="1574829" y="3252938"/>
            <a:ext cx="293688" cy="311150"/>
          </p:xfrm>
          <a:graphic>
            <a:graphicData uri="http://schemas.openxmlformats.org/presentationml/2006/ole">
              <mc:AlternateContent xmlns:mc="http://schemas.openxmlformats.org/markup-compatibility/2006">
                <mc:Choice xmlns:v="urn:schemas-microsoft-com:vml" Requires="v">
                  <p:oleObj name="Equation" r:id="rId29" imgW="253800" imgH="266400" progId="Equation.DSMT4">
                    <p:embed/>
                  </p:oleObj>
                </mc:Choice>
                <mc:Fallback>
                  <p:oleObj name="Equation" r:id="rId29" imgW="253800" imgH="266400" progId="Equation.DSMT4">
                    <p:embed/>
                    <p:pic>
                      <p:nvPicPr>
                        <p:cNvPr id="15413" name="Object 29"/>
                        <p:cNvPicPr>
                          <a:picLocks noChangeAspect="1" noChangeArrowheads="1"/>
                        </p:cNvPicPr>
                        <p:nvPr/>
                      </p:nvPicPr>
                      <p:blipFill>
                        <a:blip r:embed="rId30"/>
                        <a:srcRect/>
                        <a:stretch>
                          <a:fillRect/>
                        </a:stretch>
                      </p:blipFill>
                      <p:spPr bwMode="auto">
                        <a:xfrm>
                          <a:off x="1574829" y="3252938"/>
                          <a:ext cx="293688"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04" name="Text Box 21"/>
            <p:cNvSpPr txBox="1">
              <a:spLocks noChangeArrowheads="1"/>
            </p:cNvSpPr>
            <p:nvPr/>
          </p:nvSpPr>
          <p:spPr bwMode="auto">
            <a:xfrm>
              <a:off x="2871737" y="1058534"/>
              <a:ext cx="990600" cy="6969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lnSpc>
                  <a:spcPct val="110000"/>
                </a:lnSpc>
              </a:pPr>
              <a:r>
                <a:rPr lang="es-ES_tradnl" altLang="es-ES" sz="1200" dirty="0"/>
                <a:t>Una posible distribución bajo H</a:t>
              </a:r>
              <a:r>
                <a:rPr lang="es-ES_tradnl" altLang="es-ES" sz="1200" baseline="-25000" dirty="0"/>
                <a:t>1</a:t>
              </a:r>
              <a:r>
                <a:rPr lang="es-ES_tradnl" altLang="es-ES" sz="1200" dirty="0"/>
                <a:t>  </a:t>
              </a:r>
              <a:endParaRPr lang="es-ES" altLang="es-ES" sz="1200" dirty="0"/>
            </a:p>
          </p:txBody>
        </p:sp>
        <p:sp>
          <p:nvSpPr>
            <p:cNvPr id="64" name="Line 14">
              <a:extLst>
                <a:ext uri="{FF2B5EF4-FFF2-40B4-BE49-F238E27FC236}">
                  <a16:creationId xmlns:a16="http://schemas.microsoft.com/office/drawing/2014/main" id="{B211D769-7ACE-41E9-BCCB-BC12EA71FF87}"/>
                </a:ext>
              </a:extLst>
            </p:cNvPr>
            <p:cNvSpPr>
              <a:spLocks noChangeShapeType="1"/>
            </p:cNvSpPr>
            <p:nvPr/>
          </p:nvSpPr>
          <p:spPr bwMode="auto">
            <a:xfrm flipH="1">
              <a:off x="1757303" y="2908105"/>
              <a:ext cx="208691" cy="434630"/>
            </a:xfrm>
            <a:prstGeom prst="line">
              <a:avLst/>
            </a:prstGeom>
            <a:noFill/>
            <a:ln w="9525">
              <a:solidFill>
                <a:schemeClr val="accent1">
                  <a:lumMod val="25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66" name="Line 15">
              <a:extLst>
                <a:ext uri="{FF2B5EF4-FFF2-40B4-BE49-F238E27FC236}">
                  <a16:creationId xmlns:a16="http://schemas.microsoft.com/office/drawing/2014/main" id="{A0A24AF9-25E4-4C44-8725-EA93CBC6A317}"/>
                </a:ext>
              </a:extLst>
            </p:cNvPr>
            <p:cNvSpPr>
              <a:spLocks noChangeShapeType="1"/>
            </p:cNvSpPr>
            <p:nvPr/>
          </p:nvSpPr>
          <p:spPr bwMode="auto">
            <a:xfrm>
              <a:off x="2170783" y="2927514"/>
              <a:ext cx="88754" cy="338750"/>
            </a:xfrm>
            <a:prstGeom prst="line">
              <a:avLst/>
            </a:prstGeom>
            <a:noFill/>
            <a:ln w="9525">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nvGrpSpPr>
          <p:cNvPr id="7" name="Grupo 6">
            <a:extLst>
              <a:ext uri="{FF2B5EF4-FFF2-40B4-BE49-F238E27FC236}">
                <a16:creationId xmlns:a16="http://schemas.microsoft.com/office/drawing/2014/main" id="{2185FDDC-5ADB-4290-A32A-A09C896C18C5}"/>
              </a:ext>
            </a:extLst>
          </p:cNvPr>
          <p:cNvGrpSpPr/>
          <p:nvPr/>
        </p:nvGrpSpPr>
        <p:grpSpPr>
          <a:xfrm>
            <a:off x="1873299" y="2580164"/>
            <a:ext cx="30439" cy="1389372"/>
            <a:chOff x="2125086" y="2664615"/>
            <a:chExt cx="30439" cy="1389372"/>
          </a:xfrm>
        </p:grpSpPr>
        <p:sp>
          <p:nvSpPr>
            <p:cNvPr id="15388" name="Line 54"/>
            <p:cNvSpPr>
              <a:spLocks noChangeShapeType="1"/>
            </p:cNvSpPr>
            <p:nvPr/>
          </p:nvSpPr>
          <p:spPr bwMode="auto">
            <a:xfrm flipV="1">
              <a:off x="2125086" y="2664615"/>
              <a:ext cx="30439" cy="1389372"/>
            </a:xfrm>
            <a:prstGeom prst="line">
              <a:avLst/>
            </a:prstGeom>
            <a:noFill/>
            <a:ln w="9525">
              <a:solidFill>
                <a:srgbClr val="808080"/>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68" name="Line 54">
              <a:extLst>
                <a:ext uri="{FF2B5EF4-FFF2-40B4-BE49-F238E27FC236}">
                  <a16:creationId xmlns:a16="http://schemas.microsoft.com/office/drawing/2014/main" id="{3F634FB3-786D-453A-8495-D67F98E4B104}"/>
                </a:ext>
              </a:extLst>
            </p:cNvPr>
            <p:cNvSpPr>
              <a:spLocks noChangeShapeType="1"/>
            </p:cNvSpPr>
            <p:nvPr/>
          </p:nvSpPr>
          <p:spPr bwMode="auto">
            <a:xfrm flipV="1">
              <a:off x="2147871" y="2667786"/>
              <a:ext cx="5758" cy="111813"/>
            </a:xfrm>
            <a:prstGeom prst="line">
              <a:avLst/>
            </a:prstGeom>
            <a:noFill/>
            <a:ln w="9525">
              <a:solidFill>
                <a:schemeClr val="bg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nvGrpSpPr>
          <p:cNvPr id="8" name="Grupo 7">
            <a:extLst>
              <a:ext uri="{FF2B5EF4-FFF2-40B4-BE49-F238E27FC236}">
                <a16:creationId xmlns:a16="http://schemas.microsoft.com/office/drawing/2014/main" id="{A5CD3E5A-B54F-4DFD-A926-7EF96248B0D3}"/>
              </a:ext>
            </a:extLst>
          </p:cNvPr>
          <p:cNvGrpSpPr/>
          <p:nvPr/>
        </p:nvGrpSpPr>
        <p:grpSpPr>
          <a:xfrm>
            <a:off x="2139969" y="2678076"/>
            <a:ext cx="1179510" cy="676123"/>
            <a:chOff x="2250412" y="2724149"/>
            <a:chExt cx="564223" cy="849402"/>
          </a:xfrm>
        </p:grpSpPr>
        <p:sp>
          <p:nvSpPr>
            <p:cNvPr id="15389" name="Line 54"/>
            <p:cNvSpPr>
              <a:spLocks noChangeShapeType="1"/>
            </p:cNvSpPr>
            <p:nvPr/>
          </p:nvSpPr>
          <p:spPr bwMode="auto">
            <a:xfrm flipH="1" flipV="1">
              <a:off x="2255836" y="2727324"/>
              <a:ext cx="558799" cy="846227"/>
            </a:xfrm>
            <a:prstGeom prst="line">
              <a:avLst/>
            </a:prstGeom>
            <a:noFill/>
            <a:ln w="9525">
              <a:solidFill>
                <a:srgbClr val="808080"/>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71" name="Line 54">
              <a:extLst>
                <a:ext uri="{FF2B5EF4-FFF2-40B4-BE49-F238E27FC236}">
                  <a16:creationId xmlns:a16="http://schemas.microsoft.com/office/drawing/2014/main" id="{DE504A17-EB27-47B9-990A-5B05933040B3}"/>
                </a:ext>
              </a:extLst>
            </p:cNvPr>
            <p:cNvSpPr>
              <a:spLocks noChangeShapeType="1"/>
            </p:cNvSpPr>
            <p:nvPr/>
          </p:nvSpPr>
          <p:spPr bwMode="auto">
            <a:xfrm flipH="1" flipV="1">
              <a:off x="2250412" y="2724149"/>
              <a:ext cx="58902" cy="81513"/>
            </a:xfrm>
            <a:prstGeom prst="line">
              <a:avLst/>
            </a:prstGeom>
            <a:noFill/>
            <a:ln w="9525">
              <a:solidFill>
                <a:schemeClr val="bg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nvGrpSpPr>
          <p:cNvPr id="16" name="Grupo 15">
            <a:extLst>
              <a:ext uri="{FF2B5EF4-FFF2-40B4-BE49-F238E27FC236}">
                <a16:creationId xmlns:a16="http://schemas.microsoft.com/office/drawing/2014/main" id="{608244CC-8CE6-449F-AEF4-CF1521343289}"/>
              </a:ext>
            </a:extLst>
          </p:cNvPr>
          <p:cNvGrpSpPr/>
          <p:nvPr/>
        </p:nvGrpSpPr>
        <p:grpSpPr>
          <a:xfrm>
            <a:off x="3180497" y="2873082"/>
            <a:ext cx="1475192" cy="1451100"/>
            <a:chOff x="3180497" y="2873082"/>
            <a:chExt cx="1475192" cy="1451100"/>
          </a:xfrm>
        </p:grpSpPr>
        <p:sp>
          <p:nvSpPr>
            <p:cNvPr id="27658" name="27657 Rectángulo redondeado"/>
            <p:cNvSpPr/>
            <p:nvPr/>
          </p:nvSpPr>
          <p:spPr bwMode="auto">
            <a:xfrm>
              <a:off x="3241363" y="2873082"/>
              <a:ext cx="1353460" cy="1451100"/>
            </a:xfrm>
            <a:prstGeom prst="roundRect">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wrap="none" lIns="90000" tIns="46800" rIns="90000" bIns="46800" anchor="ctr"/>
            <a:lstStyle/>
            <a:p>
              <a:pPr>
                <a:defRPr/>
              </a:pPr>
              <a:endParaRPr lang="es-ES"/>
            </a:p>
          </p:txBody>
        </p:sp>
        <p:sp>
          <p:nvSpPr>
            <p:cNvPr id="15390" name="114 CuadroTexto"/>
            <p:cNvSpPr txBox="1">
              <a:spLocks noChangeArrowheads="1"/>
            </p:cNvSpPr>
            <p:nvPr/>
          </p:nvSpPr>
          <p:spPr bwMode="auto">
            <a:xfrm>
              <a:off x="3180497" y="2909982"/>
              <a:ext cx="1475192" cy="1377300"/>
            </a:xfrm>
            <a:prstGeom prst="rect">
              <a:avLst/>
            </a:prstGeom>
            <a:noFill/>
            <a:ln>
              <a:noFill/>
            </a:ln>
          </p:spPr>
          <p:txBody>
            <a:bodyPr wrap="squar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dirty="0">
                  <a:latin typeface="Symbol" pitchFamily="18" charset="2"/>
                </a:rPr>
                <a:t>a</a:t>
              </a:r>
              <a:r>
                <a:rPr lang="es-ES" altLang="es-ES" sz="1200" dirty="0"/>
                <a:t>=Área que deja </a:t>
              </a:r>
              <a:r>
                <a:rPr lang="es-ES" altLang="es-ES" i="1" dirty="0" err="1">
                  <a:latin typeface="Times New Roman" pitchFamily="18" charset="0"/>
                  <a:cs typeface="Times New Roman" pitchFamily="18" charset="0"/>
                </a:rPr>
                <a:t>t</a:t>
              </a:r>
              <a:r>
                <a:rPr lang="es-ES" altLang="es-ES" sz="1200" baseline="-25000" dirty="0" err="1">
                  <a:latin typeface="Symbol" pitchFamily="18" charset="2"/>
                </a:rPr>
                <a:t>a</a:t>
              </a:r>
              <a:r>
                <a:rPr lang="es-ES" altLang="es-ES" sz="1200" dirty="0"/>
                <a:t> hacia la cola de la distribución definida por H</a:t>
              </a:r>
              <a:r>
                <a:rPr lang="es-ES" altLang="es-ES" sz="1200" baseline="-25000" dirty="0"/>
                <a:t>0</a:t>
              </a:r>
            </a:p>
            <a:p>
              <a:pPr algn="ctr" eaLnBrk="1" hangingPunct="1"/>
              <a:r>
                <a:rPr lang="es-ES" altLang="es-ES" sz="1050" dirty="0"/>
                <a:t>(repartida en las dos colas en el test bilateral)</a:t>
              </a:r>
            </a:p>
          </p:txBody>
        </p:sp>
      </p:grpSp>
      <p:grpSp>
        <p:nvGrpSpPr>
          <p:cNvPr id="12" name="Grupo 11">
            <a:extLst>
              <a:ext uri="{FF2B5EF4-FFF2-40B4-BE49-F238E27FC236}">
                <a16:creationId xmlns:a16="http://schemas.microsoft.com/office/drawing/2014/main" id="{F051FE6E-2B9D-465C-BD6E-CADC03653A49}"/>
              </a:ext>
            </a:extLst>
          </p:cNvPr>
          <p:cNvGrpSpPr/>
          <p:nvPr/>
        </p:nvGrpSpPr>
        <p:grpSpPr>
          <a:xfrm>
            <a:off x="252512" y="3694207"/>
            <a:ext cx="2673694" cy="532059"/>
            <a:chOff x="175871" y="4079161"/>
            <a:chExt cx="2673694" cy="532059"/>
          </a:xfrm>
        </p:grpSpPr>
        <p:sp>
          <p:nvSpPr>
            <p:cNvPr id="15362" name="27659 Rectángulo redondeado"/>
            <p:cNvSpPr>
              <a:spLocks noChangeArrowheads="1"/>
            </p:cNvSpPr>
            <p:nvPr/>
          </p:nvSpPr>
          <p:spPr bwMode="auto">
            <a:xfrm>
              <a:off x="175871" y="4079161"/>
              <a:ext cx="2673694" cy="532059"/>
            </a:xfrm>
            <a:prstGeom prst="roundRect">
              <a:avLst>
                <a:gd name="adj" fmla="val 16667"/>
              </a:avLst>
            </a:prstGeom>
            <a:solidFill>
              <a:schemeClr val="bg1"/>
            </a:solidFill>
            <a:ln w="9525" algn="ctr">
              <a:solidFill>
                <a:srgbClr val="808080"/>
              </a:solidFill>
              <a:round/>
              <a:headEnd/>
              <a:tailEnd/>
            </a:ln>
            <a:effec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5392" name="117 CuadroTexto"/>
            <p:cNvSpPr txBox="1">
              <a:spLocks noChangeArrowheads="1"/>
            </p:cNvSpPr>
            <p:nvPr/>
          </p:nvSpPr>
          <p:spPr bwMode="auto">
            <a:xfrm>
              <a:off x="217318" y="4083580"/>
              <a:ext cx="2590800" cy="523220"/>
            </a:xfrm>
            <a:prstGeom prst="rect">
              <a:avLst/>
            </a:prstGeom>
            <a:noFill/>
            <a:ln>
              <a:noFill/>
            </a:ln>
          </p:spPr>
          <p:txBody>
            <a:bodyPr wrap="squar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 altLang="es-ES" sz="1200" dirty="0"/>
                <a:t>Área que deja </a:t>
              </a:r>
              <a:r>
                <a:rPr lang="es-ES" altLang="es-ES" i="1" dirty="0" err="1">
                  <a:latin typeface="Times New Roman" pitchFamily="18" charset="0"/>
                  <a:cs typeface="Times New Roman" pitchFamily="18" charset="0"/>
                </a:rPr>
                <a:t>t</a:t>
              </a:r>
              <a:r>
                <a:rPr lang="es-ES" altLang="es-ES" sz="1200" baseline="-25000" dirty="0" err="1"/>
                <a:t>exp</a:t>
              </a:r>
              <a:r>
                <a:rPr lang="es-ES" altLang="es-ES" sz="1200" dirty="0"/>
                <a:t> hacia </a:t>
              </a:r>
              <a:r>
                <a:rPr lang="es-ES" altLang="es-ES" sz="1100" dirty="0"/>
                <a:t>la</a:t>
              </a:r>
              <a:r>
                <a:rPr lang="es-ES" altLang="es-ES" sz="1200" dirty="0"/>
                <a:t> cola de la distribución definida por H</a:t>
              </a:r>
              <a:r>
                <a:rPr lang="es-ES" altLang="es-ES" sz="1200" baseline="-25000" dirty="0"/>
                <a:t>0.</a:t>
              </a:r>
              <a:r>
                <a:rPr lang="es-ES" altLang="es-ES" sz="1200" dirty="0"/>
                <a:t>=</a:t>
              </a:r>
              <a:r>
                <a:rPr lang="es-ES" altLang="es-ES" i="1" dirty="0">
                  <a:latin typeface="Times New Roman" pitchFamily="18" charset="0"/>
                </a:rPr>
                <a:t>P</a:t>
              </a:r>
            </a:p>
          </p:txBody>
        </p:sp>
      </p:grpSp>
      <p:grpSp>
        <p:nvGrpSpPr>
          <p:cNvPr id="17" name="Grupo 16">
            <a:extLst>
              <a:ext uri="{FF2B5EF4-FFF2-40B4-BE49-F238E27FC236}">
                <a16:creationId xmlns:a16="http://schemas.microsoft.com/office/drawing/2014/main" id="{854946D6-5D48-4F73-93EC-271EEDCC7E3A}"/>
              </a:ext>
            </a:extLst>
          </p:cNvPr>
          <p:cNvGrpSpPr/>
          <p:nvPr/>
        </p:nvGrpSpPr>
        <p:grpSpPr>
          <a:xfrm>
            <a:off x="211073" y="4453860"/>
            <a:ext cx="4482615" cy="2172327"/>
            <a:chOff x="211073" y="4453860"/>
            <a:chExt cx="4482615" cy="2172327"/>
          </a:xfrm>
        </p:grpSpPr>
        <p:sp>
          <p:nvSpPr>
            <p:cNvPr id="15393" name="117 CuadroTexto"/>
            <p:cNvSpPr txBox="1">
              <a:spLocks noChangeArrowheads="1"/>
            </p:cNvSpPr>
            <p:nvPr/>
          </p:nvSpPr>
          <p:spPr bwMode="auto">
            <a:xfrm>
              <a:off x="211073" y="4453860"/>
              <a:ext cx="448261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spcAft>
                  <a:spcPts val="600"/>
                </a:spcAft>
              </a:pPr>
              <a:r>
                <a:rPr lang="es-ES" altLang="es-ES" sz="1300" i="1" dirty="0">
                  <a:latin typeface="Times New Roman" pitchFamily="18" charset="0"/>
                </a:rPr>
                <a:t>P </a:t>
              </a:r>
              <a:r>
                <a:rPr lang="es-ES" altLang="es-ES" sz="1300" dirty="0"/>
                <a:t>es el </a:t>
              </a:r>
              <a:r>
                <a:rPr lang="es-ES" altLang="es-ES" sz="1300" i="1" dirty="0">
                  <a:solidFill>
                    <a:srgbClr val="8A0000"/>
                  </a:solidFill>
                </a:rPr>
                <a:t>nivel mínimo de significación </a:t>
              </a:r>
              <a:r>
                <a:rPr lang="es-ES" altLang="es-ES" sz="1300" dirty="0"/>
                <a:t>y es un área bajo la distribución definida por H</a:t>
              </a:r>
              <a:r>
                <a:rPr lang="es-ES" altLang="es-ES" sz="1300" baseline="-25000" dirty="0"/>
                <a:t>0</a:t>
              </a:r>
              <a:r>
                <a:rPr lang="es-ES" altLang="es-ES" sz="1300" dirty="0"/>
                <a:t> que viene determinada por la información muestral</a:t>
              </a:r>
            </a:p>
            <a:p>
              <a:pPr eaLnBrk="1" hangingPunct="1"/>
              <a:r>
                <a:rPr lang="es-ES_tradnl" altLang="es-ES" sz="1300" dirty="0"/>
                <a:t>Comparar </a:t>
              </a:r>
              <a:r>
                <a:rPr lang="es-ES_tradnl" altLang="es-ES" sz="1300" i="1" dirty="0">
                  <a:latin typeface="Times New Roman" pitchFamily="18" charset="0"/>
                </a:rPr>
                <a:t>P</a:t>
              </a:r>
              <a:r>
                <a:rPr lang="es-ES_tradnl" altLang="es-ES" sz="1300" dirty="0"/>
                <a:t> con </a:t>
              </a:r>
              <a:r>
                <a:rPr lang="es-ES_tradnl" altLang="es-ES" dirty="0">
                  <a:latin typeface="Symbol" pitchFamily="18" charset="2"/>
                </a:rPr>
                <a:t>a</a:t>
              </a:r>
              <a:r>
                <a:rPr lang="es-ES_tradnl" altLang="es-ES" sz="1300" dirty="0"/>
                <a:t> es una alternativa mejor para decidir el resultado del test que comparar </a:t>
              </a:r>
              <a:r>
                <a:rPr lang="es-ES_tradnl" altLang="es-ES" i="1" dirty="0" err="1">
                  <a:latin typeface="Times New Roman" panose="02020603050405020304" pitchFamily="18" charset="0"/>
                  <a:cs typeface="Times New Roman" panose="02020603050405020304" pitchFamily="18" charset="0"/>
                </a:rPr>
                <a:t>t</a:t>
              </a:r>
              <a:r>
                <a:rPr lang="es-ES_tradnl" altLang="es-ES" i="1" baseline="-25000" dirty="0" err="1">
                  <a:latin typeface="Times New Roman" panose="02020603050405020304" pitchFamily="18" charset="0"/>
                  <a:cs typeface="Times New Roman" panose="02020603050405020304" pitchFamily="18" charset="0"/>
                </a:rPr>
                <a:t>exp</a:t>
              </a:r>
              <a:r>
                <a:rPr lang="es-ES_tradnl" altLang="es-ES" sz="1300" i="1" baseline="-25000" dirty="0">
                  <a:latin typeface="Times New Roman" panose="02020603050405020304" pitchFamily="18" charset="0"/>
                  <a:cs typeface="Times New Roman" panose="02020603050405020304" pitchFamily="18" charset="0"/>
                </a:rPr>
                <a:t> </a:t>
              </a:r>
              <a:r>
                <a:rPr lang="es-ES_tradnl" altLang="es-ES" sz="1300" dirty="0">
                  <a:latin typeface="+mn-lt"/>
                  <a:cs typeface="Times New Roman" panose="02020603050405020304" pitchFamily="18" charset="0"/>
                </a:rPr>
                <a:t>con </a:t>
              </a:r>
              <a:r>
                <a:rPr lang="es-ES_tradnl" altLang="es-ES" i="1" dirty="0" err="1">
                  <a:latin typeface="Times New Roman" panose="02020603050405020304" pitchFamily="18" charset="0"/>
                  <a:cs typeface="Times New Roman" panose="02020603050405020304" pitchFamily="18" charset="0"/>
                </a:rPr>
                <a:t>t</a:t>
              </a:r>
              <a:r>
                <a:rPr lang="es-ES_tradnl" altLang="es-ES" baseline="-25000" dirty="0" err="1">
                  <a:latin typeface="Symbol" panose="05050102010706020507" pitchFamily="18" charset="2"/>
                  <a:cs typeface="Times New Roman" panose="02020603050405020304" pitchFamily="18" charset="0"/>
                </a:rPr>
                <a:t>a</a:t>
              </a:r>
              <a:endParaRPr lang="es-ES" altLang="es-ES" sz="1300" i="1" baseline="-25000" dirty="0">
                <a:latin typeface="Symbol" panose="05050102010706020507" pitchFamily="18" charset="2"/>
                <a:cs typeface="Times New Roman" panose="02020603050405020304" pitchFamily="18" charset="0"/>
              </a:endParaRPr>
            </a:p>
          </p:txBody>
        </p:sp>
        <p:sp>
          <p:nvSpPr>
            <p:cNvPr id="82" name="117 CuadroTexto">
              <a:extLst>
                <a:ext uri="{FF2B5EF4-FFF2-40B4-BE49-F238E27FC236}">
                  <a16:creationId xmlns:a16="http://schemas.microsoft.com/office/drawing/2014/main" id="{BA748289-A844-4AFC-AAF4-AF86041A9E3B}"/>
                </a:ext>
              </a:extLst>
            </p:cNvPr>
            <p:cNvSpPr txBox="1">
              <a:spLocks noChangeArrowheads="1"/>
            </p:cNvSpPr>
            <p:nvPr/>
          </p:nvSpPr>
          <p:spPr bwMode="auto">
            <a:xfrm>
              <a:off x="211073" y="5648996"/>
              <a:ext cx="4431916" cy="977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marL="285750" indent="-285750" algn="just" eaLnBrk="1" hangingPunct="1">
                <a:spcAft>
                  <a:spcPts val="0"/>
                </a:spcAft>
                <a:buFont typeface="Arial" panose="020B0604020202020204" pitchFamily="34" charset="0"/>
                <a:buChar char="•"/>
              </a:pPr>
              <a:r>
                <a:rPr lang="es-ES" altLang="es-ES" sz="1300" i="1" dirty="0">
                  <a:latin typeface="Times New Roman" pitchFamily="18" charset="0"/>
                </a:rPr>
                <a:t>P </a:t>
              </a:r>
              <a:r>
                <a:rPr lang="es-ES" altLang="es-ES" sz="1300" dirty="0"/>
                <a:t>depende de la muestra</a:t>
              </a:r>
            </a:p>
            <a:p>
              <a:pPr marL="285750" indent="-285750" algn="just" eaLnBrk="1" hangingPunct="1">
                <a:spcBef>
                  <a:spcPts val="300"/>
                </a:spcBef>
                <a:spcAft>
                  <a:spcPts val="300"/>
                </a:spcAft>
                <a:buFont typeface="Arial" panose="020B0604020202020204" pitchFamily="34" charset="0"/>
                <a:buChar char="•"/>
              </a:pPr>
              <a:r>
                <a:rPr lang="es-ES" altLang="es-ES" sz="1300" i="1" dirty="0">
                  <a:latin typeface="Times New Roman" pitchFamily="18" charset="0"/>
                </a:rPr>
                <a:t>P </a:t>
              </a:r>
              <a:r>
                <a:rPr lang="es-ES" altLang="es-ES" sz="1300" dirty="0">
                  <a:latin typeface="+mn-lt"/>
                </a:rPr>
                <a:t>responde a la misma definición que </a:t>
              </a:r>
              <a:r>
                <a:rPr lang="es-ES" altLang="es-ES" dirty="0">
                  <a:latin typeface="Symbol" panose="05050102010706020507" pitchFamily="18" charset="2"/>
                </a:rPr>
                <a:t>a</a:t>
              </a:r>
              <a:r>
                <a:rPr lang="es-ES" altLang="es-ES" sz="1300" dirty="0">
                  <a:latin typeface="+mn-lt"/>
                </a:rPr>
                <a:t>, es un error de tipo I, solo que </a:t>
              </a:r>
              <a:r>
                <a:rPr lang="es-ES" altLang="es-ES" sz="1300" i="1" dirty="0">
                  <a:latin typeface="Times New Roman" panose="02020603050405020304" pitchFamily="18" charset="0"/>
                  <a:cs typeface="Times New Roman" panose="02020603050405020304" pitchFamily="18" charset="0"/>
                </a:rPr>
                <a:t>P</a:t>
              </a:r>
              <a:r>
                <a:rPr lang="es-ES" altLang="es-ES" sz="1300" dirty="0">
                  <a:latin typeface="+mn-lt"/>
                </a:rPr>
                <a:t> lo da la muestra (</a:t>
              </a:r>
              <a:r>
                <a:rPr lang="es-ES" altLang="es-ES" dirty="0">
                  <a:latin typeface="Symbol" panose="05050102010706020507" pitchFamily="18" charset="2"/>
                </a:rPr>
                <a:t>a</a:t>
              </a:r>
              <a:r>
                <a:rPr lang="es-ES" altLang="es-ES" sz="1300" dirty="0">
                  <a:latin typeface="+mn-lt"/>
                </a:rPr>
                <a:t> lo fija el investigador de antemano) </a:t>
              </a:r>
              <a:r>
                <a:rPr lang="es-ES" altLang="es-ES" sz="1300" dirty="0">
                  <a:latin typeface="Calibri" panose="020F0502020204030204" pitchFamily="34" charset="0"/>
                  <a:cs typeface="Calibri" panose="020F0502020204030204" pitchFamily="34" charset="0"/>
                </a:rPr>
                <a:t>→</a:t>
              </a:r>
              <a:r>
                <a:rPr lang="es-ES" altLang="es-ES" sz="1300" dirty="0">
                  <a:latin typeface="+mn-lt"/>
                </a:rPr>
                <a:t> </a:t>
              </a:r>
              <a:r>
                <a:rPr lang="es-ES" altLang="es-ES" sz="1300" i="1" dirty="0">
                  <a:latin typeface="Times New Roman" panose="02020603050405020304" pitchFamily="18" charset="0"/>
                  <a:cs typeface="Times New Roman" panose="02020603050405020304" pitchFamily="18" charset="0"/>
                </a:rPr>
                <a:t>P</a:t>
              </a:r>
              <a:r>
                <a:rPr lang="es-ES" altLang="es-ES" sz="1300" dirty="0">
                  <a:latin typeface="+mn-lt"/>
                </a:rPr>
                <a:t> viene a ser el “</a:t>
              </a:r>
              <a:r>
                <a:rPr lang="es-ES" altLang="es-ES" dirty="0" err="1">
                  <a:latin typeface="Symbol" panose="05050102010706020507" pitchFamily="18" charset="2"/>
                </a:rPr>
                <a:t>a</a:t>
              </a:r>
              <a:r>
                <a:rPr lang="es-ES" altLang="es-ES" sz="1300" baseline="-25000" dirty="0" err="1">
                  <a:latin typeface="+mn-lt"/>
                </a:rPr>
                <a:t>exp</a:t>
              </a:r>
              <a:r>
                <a:rPr lang="es-ES" altLang="es-ES" sz="1300" dirty="0">
                  <a:latin typeface="+mn-lt"/>
                </a:rPr>
                <a:t>”</a:t>
              </a:r>
              <a:endParaRPr lang="es-ES" altLang="es-ES" sz="1300" dirty="0"/>
            </a:p>
          </p:txBody>
        </p:sp>
      </p:grpSp>
    </p:spTree>
    <p:extLst>
      <p:ext uri="{BB962C8B-B14F-4D97-AF65-F5344CB8AC3E}">
        <p14:creationId xmlns:p14="http://schemas.microsoft.com/office/powerpoint/2010/main" val="3832955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7453C1-3112-7D55-E27E-5F357A02FF3F}"/>
              </a:ext>
            </a:extLst>
          </p:cNvPr>
          <p:cNvSpPr txBox="1"/>
          <p:nvPr/>
        </p:nvSpPr>
        <p:spPr>
          <a:xfrm>
            <a:off x="442529" y="269123"/>
            <a:ext cx="7369628" cy="2031325"/>
          </a:xfrm>
          <a:prstGeom prst="rect">
            <a:avLst/>
          </a:prstGeom>
          <a:noFill/>
        </p:spPr>
        <p:txBody>
          <a:bodyPr wrap="square">
            <a:spAutoFit/>
          </a:bodyPr>
          <a:lstStyle/>
          <a:p>
            <a:r>
              <a:rPr lang="en-US" sz="2700" b="1" dirty="0" err="1">
                <a:latin typeface="Arial" panose="020B0604020202020204" pitchFamily="34" charset="0"/>
                <a:cs typeface="Arial" panose="020B0604020202020204" pitchFamily="34" charset="0"/>
              </a:rPr>
              <a:t>Interpretación</a:t>
            </a:r>
            <a:r>
              <a:rPr lang="en-US" sz="2700" b="1" dirty="0">
                <a:latin typeface="Arial" panose="020B0604020202020204" pitchFamily="34" charset="0"/>
                <a:cs typeface="Arial" panose="020B0604020202020204" pitchFamily="34" charset="0"/>
              </a:rPr>
              <a:t> de un valor p: </a:t>
            </a:r>
          </a:p>
          <a:p>
            <a:endParaRPr lang="en-US" sz="1350" b="1" dirty="0">
              <a:latin typeface="PalatinoLinotype"/>
            </a:endParaRPr>
          </a:p>
          <a:p>
            <a:endParaRPr lang="en-US" sz="1350" dirty="0">
              <a:latin typeface="PalatinoLinotype"/>
            </a:endParaRPr>
          </a:p>
          <a:p>
            <a:r>
              <a:rPr lang="en-US" sz="2100" dirty="0">
                <a:latin typeface="+mj-lt"/>
              </a:rPr>
              <a:t>El valor p es </a:t>
            </a:r>
            <a:r>
              <a:rPr lang="en-US" sz="2100" dirty="0" err="1">
                <a:latin typeface="+mj-lt"/>
              </a:rPr>
              <a:t>una</a:t>
            </a:r>
            <a:r>
              <a:rPr lang="en-US" sz="2100" dirty="0">
                <a:latin typeface="+mj-lt"/>
              </a:rPr>
              <a:t> </a:t>
            </a:r>
            <a:r>
              <a:rPr lang="en-US" sz="2100" dirty="0" err="1">
                <a:latin typeface="+mj-lt"/>
              </a:rPr>
              <a:t>probabilidad</a:t>
            </a:r>
            <a:r>
              <a:rPr lang="en-US" sz="2100" dirty="0">
                <a:latin typeface="+mj-lt"/>
              </a:rPr>
              <a:t> </a:t>
            </a:r>
            <a:r>
              <a:rPr lang="en-US" sz="2100" dirty="0" err="1">
                <a:latin typeface="+mj-lt"/>
              </a:rPr>
              <a:t>condicionada</a:t>
            </a:r>
            <a:r>
              <a:rPr lang="en-US" sz="2100" dirty="0">
                <a:latin typeface="+mj-lt"/>
              </a:rPr>
              <a:t>. </a:t>
            </a:r>
          </a:p>
          <a:p>
            <a:endParaRPr lang="en-US" sz="2100" dirty="0">
              <a:latin typeface="PalatinoLinotype"/>
            </a:endParaRPr>
          </a:p>
          <a:p>
            <a:endParaRPr lang="en-US" sz="2100" dirty="0">
              <a:latin typeface="PalatinoLinotype"/>
            </a:endParaRPr>
          </a:p>
          <a:p>
            <a:endParaRPr lang="en-US" sz="900" dirty="0"/>
          </a:p>
        </p:txBody>
      </p:sp>
      <p:pic>
        <p:nvPicPr>
          <p:cNvPr id="4" name="Picture 3">
            <a:extLst>
              <a:ext uri="{FF2B5EF4-FFF2-40B4-BE49-F238E27FC236}">
                <a16:creationId xmlns:a16="http://schemas.microsoft.com/office/drawing/2014/main" id="{D4FEE18C-9469-3B39-CFD2-8B8CF725005A}"/>
              </a:ext>
            </a:extLst>
          </p:cNvPr>
          <p:cNvPicPr>
            <a:picLocks noChangeAspect="1"/>
          </p:cNvPicPr>
          <p:nvPr/>
        </p:nvPicPr>
        <p:blipFill>
          <a:blip r:embed="rId2"/>
          <a:stretch>
            <a:fillRect/>
          </a:stretch>
        </p:blipFill>
        <p:spPr>
          <a:xfrm>
            <a:off x="1219200" y="1752600"/>
            <a:ext cx="6300859" cy="849554"/>
          </a:xfrm>
          <a:prstGeom prst="rect">
            <a:avLst/>
          </a:prstGeom>
        </p:spPr>
      </p:pic>
      <p:sp>
        <p:nvSpPr>
          <p:cNvPr id="6" name="TextBox 5">
            <a:extLst>
              <a:ext uri="{FF2B5EF4-FFF2-40B4-BE49-F238E27FC236}">
                <a16:creationId xmlns:a16="http://schemas.microsoft.com/office/drawing/2014/main" id="{2E74CF89-FA7C-D60C-6E8C-FE3ADD641911}"/>
              </a:ext>
            </a:extLst>
          </p:cNvPr>
          <p:cNvSpPr txBox="1"/>
          <p:nvPr/>
        </p:nvSpPr>
        <p:spPr>
          <a:xfrm>
            <a:off x="676570" y="4598702"/>
            <a:ext cx="6571186" cy="415498"/>
          </a:xfrm>
          <a:prstGeom prst="rect">
            <a:avLst/>
          </a:prstGeom>
          <a:noFill/>
        </p:spPr>
        <p:txBody>
          <a:bodyPr wrap="square">
            <a:spAutoFit/>
          </a:bodyPr>
          <a:lstStyle/>
          <a:p>
            <a:r>
              <a:rPr lang="en-US" sz="2100" dirty="0">
                <a:latin typeface="+mj-lt"/>
              </a:rPr>
              <a:t>El valor </a:t>
            </a:r>
            <a:r>
              <a:rPr lang="en-US" sz="2100" i="1" dirty="0">
                <a:latin typeface="+mj-lt"/>
              </a:rPr>
              <a:t>p </a:t>
            </a:r>
            <a:r>
              <a:rPr lang="en-US" sz="2100" b="1" i="1" dirty="0">
                <a:latin typeface="+mj-lt"/>
              </a:rPr>
              <a:t>no </a:t>
            </a:r>
            <a:r>
              <a:rPr lang="en-US" sz="2100" b="1" dirty="0">
                <a:latin typeface="+mj-lt"/>
              </a:rPr>
              <a:t>es </a:t>
            </a:r>
            <a:r>
              <a:rPr lang="en-US" sz="2100" dirty="0">
                <a:latin typeface="+mj-lt"/>
              </a:rPr>
              <a:t>la </a:t>
            </a:r>
            <a:r>
              <a:rPr lang="en-US" sz="2100" dirty="0" err="1">
                <a:latin typeface="+mj-lt"/>
              </a:rPr>
              <a:t>probabilidad</a:t>
            </a:r>
            <a:r>
              <a:rPr lang="en-US" sz="2100" dirty="0">
                <a:latin typeface="+mj-lt"/>
              </a:rPr>
              <a:t> de que H</a:t>
            </a:r>
            <a:r>
              <a:rPr lang="en-US" sz="2100" baseline="-25000" dirty="0">
                <a:latin typeface="+mj-lt"/>
              </a:rPr>
              <a:t>0</a:t>
            </a:r>
            <a:r>
              <a:rPr lang="en-US" sz="2100" dirty="0">
                <a:latin typeface="+mj-lt"/>
              </a:rPr>
              <a:t>  sea </a:t>
            </a:r>
            <a:r>
              <a:rPr lang="en-US" sz="2100" dirty="0" err="1">
                <a:latin typeface="+mj-lt"/>
              </a:rPr>
              <a:t>cierta</a:t>
            </a:r>
            <a:r>
              <a:rPr lang="en-US" sz="2100" dirty="0">
                <a:latin typeface="+mj-lt"/>
              </a:rPr>
              <a:t>. </a:t>
            </a:r>
          </a:p>
        </p:txBody>
      </p:sp>
      <p:sp>
        <p:nvSpPr>
          <p:cNvPr id="8" name="TextBox 7">
            <a:extLst>
              <a:ext uri="{FF2B5EF4-FFF2-40B4-BE49-F238E27FC236}">
                <a16:creationId xmlns:a16="http://schemas.microsoft.com/office/drawing/2014/main" id="{F25E354D-0FEE-6860-C96E-0907D26A3B56}"/>
              </a:ext>
            </a:extLst>
          </p:cNvPr>
          <p:cNvSpPr txBox="1"/>
          <p:nvPr/>
        </p:nvSpPr>
        <p:spPr>
          <a:xfrm>
            <a:off x="676570" y="2954904"/>
            <a:ext cx="7836809" cy="1754326"/>
          </a:xfrm>
          <a:prstGeom prst="rect">
            <a:avLst/>
          </a:prstGeom>
          <a:noFill/>
        </p:spPr>
        <p:txBody>
          <a:bodyPr wrap="square">
            <a:spAutoFit/>
          </a:bodyPr>
          <a:lstStyle/>
          <a:p>
            <a:pPr defTabSz="685800" eaLnBrk="0" hangingPunct="0"/>
            <a:r>
              <a:rPr lang="en-US" altLang="en-US" sz="1800" b="1" i="1" dirty="0">
                <a:latin typeface="Arial" panose="020B0604020202020204" pitchFamily="34" charset="0"/>
                <a:cs typeface="Arial" panose="020B0604020202020204" pitchFamily="34" charset="0"/>
              </a:rPr>
              <a:t>Valor </a:t>
            </a:r>
            <a:r>
              <a:rPr lang="en-US" altLang="en-US" sz="1800" b="1" dirty="0">
                <a:latin typeface="Arial" panose="020B0604020202020204" pitchFamily="34" charset="0"/>
                <a:cs typeface="Arial" panose="020B0604020202020204" pitchFamily="34" charset="0"/>
              </a:rPr>
              <a:t>p </a:t>
            </a:r>
            <a:r>
              <a:rPr lang="en-US" altLang="en-US" sz="1800" i="1" dirty="0">
                <a:latin typeface="Arial" panose="020B0604020202020204" pitchFamily="34" charset="0"/>
                <a:cs typeface="Arial" panose="020B0604020202020204" pitchFamily="34" charset="0"/>
              </a:rPr>
              <a:t>(</a:t>
            </a:r>
            <a:r>
              <a:rPr lang="en-US" altLang="en-US" sz="1800" i="1" dirty="0" err="1">
                <a:latin typeface="Arial" panose="020B0604020202020204" pitchFamily="34" charset="0"/>
                <a:cs typeface="Arial" panose="020B0604020202020204" pitchFamily="34" charset="0"/>
              </a:rPr>
              <a:t>significación</a:t>
            </a:r>
            <a:r>
              <a:rPr lang="en-US" altLang="en-US" sz="1800" i="1" dirty="0">
                <a:latin typeface="Arial" panose="020B0604020202020204" pitchFamily="34" charset="0"/>
                <a:cs typeface="Arial" panose="020B0604020202020204" pitchFamily="34" charset="0"/>
              </a:rPr>
              <a:t> </a:t>
            </a:r>
            <a:r>
              <a:rPr lang="en-US" altLang="en-US" sz="1800" i="1" dirty="0" err="1">
                <a:latin typeface="Arial" panose="020B0604020202020204" pitchFamily="34" charset="0"/>
                <a:cs typeface="Arial" panose="020B0604020202020204" pitchFamily="34" charset="0"/>
              </a:rPr>
              <a:t>estadística</a:t>
            </a:r>
            <a:r>
              <a:rPr lang="en-US" altLang="en-US" sz="1800" i="1" dirty="0">
                <a:latin typeface="Arial" panose="020B0604020202020204" pitchFamily="34" charset="0"/>
                <a:cs typeface="Arial" panose="020B0604020202020204" pitchFamily="34" charset="0"/>
              </a:rPr>
              <a:t>): </a:t>
            </a:r>
          </a:p>
          <a:p>
            <a:pPr defTabSz="685800" eaLnBrk="0" hangingPunct="0"/>
            <a:endParaRPr lang="en-US" altLang="en-US" sz="1800" i="1" dirty="0">
              <a:latin typeface="Arial" panose="020B0604020202020204" pitchFamily="34" charset="0"/>
              <a:cs typeface="Arial" panose="020B0604020202020204" pitchFamily="34" charset="0"/>
            </a:endParaRPr>
          </a:p>
          <a:p>
            <a:pPr defTabSz="685800" eaLnBrk="0" hangingPunct="0"/>
            <a:r>
              <a:rPr lang="en-US" altLang="en-US" sz="1800" dirty="0">
                <a:highlight>
                  <a:srgbClr val="FFFF00"/>
                </a:highlight>
                <a:latin typeface="Arial" panose="020B0604020202020204" pitchFamily="34" charset="0"/>
                <a:cs typeface="Arial" panose="020B0604020202020204" pitchFamily="34" charset="0"/>
              </a:rPr>
              <a:t>La </a:t>
            </a:r>
            <a:r>
              <a:rPr lang="en-US" altLang="en-US" sz="1800" dirty="0" err="1">
                <a:highlight>
                  <a:srgbClr val="FFFF00"/>
                </a:highlight>
                <a:latin typeface="Arial" panose="020B0604020202020204" pitchFamily="34" charset="0"/>
                <a:cs typeface="Arial" panose="020B0604020202020204" pitchFamily="34" charset="0"/>
              </a:rPr>
              <a:t>probabilidad</a:t>
            </a:r>
            <a:r>
              <a:rPr lang="en-US" altLang="en-US" sz="1800" dirty="0">
                <a:highlight>
                  <a:srgbClr val="FFFF00"/>
                </a:highlight>
                <a:latin typeface="Arial" panose="020B0604020202020204" pitchFamily="34" charset="0"/>
                <a:cs typeface="Arial" panose="020B0604020202020204" pitchFamily="34" charset="0"/>
              </a:rPr>
              <a:t> de </a:t>
            </a:r>
            <a:r>
              <a:rPr lang="en-US" altLang="en-US" sz="1800" dirty="0" err="1">
                <a:highlight>
                  <a:srgbClr val="FFFF00"/>
                </a:highlight>
                <a:latin typeface="Arial" panose="020B0604020202020204" pitchFamily="34" charset="0"/>
                <a:cs typeface="Arial" panose="020B0604020202020204" pitchFamily="34" charset="0"/>
              </a:rPr>
              <a:t>observar</a:t>
            </a:r>
            <a:r>
              <a:rPr lang="en-US" altLang="en-US" sz="1800" dirty="0">
                <a:highlight>
                  <a:srgbClr val="FFFF00"/>
                </a:highlight>
                <a:latin typeface="Arial" panose="020B0604020202020204" pitchFamily="34" charset="0"/>
                <a:cs typeface="Arial" panose="020B0604020202020204" pitchFamily="34" charset="0"/>
              </a:rPr>
              <a:t> las </a:t>
            </a:r>
            <a:r>
              <a:rPr lang="en-US" altLang="en-US" sz="1800" dirty="0" err="1">
                <a:highlight>
                  <a:srgbClr val="FFFF00"/>
                </a:highlight>
                <a:latin typeface="Arial" panose="020B0604020202020204" pitchFamily="34" charset="0"/>
                <a:cs typeface="Arial" panose="020B0604020202020204" pitchFamily="34" charset="0"/>
              </a:rPr>
              <a:t>diferencias</a:t>
            </a:r>
            <a:r>
              <a:rPr lang="en-US" altLang="en-US" sz="1800" dirty="0">
                <a:highlight>
                  <a:srgbClr val="FFFF00"/>
                </a:highlight>
                <a:latin typeface="Arial" panose="020B0604020202020204" pitchFamily="34" charset="0"/>
                <a:cs typeface="Arial" panose="020B0604020202020204" pitchFamily="34" charset="0"/>
              </a:rPr>
              <a:t> de la </a:t>
            </a:r>
            <a:r>
              <a:rPr lang="en-US" altLang="en-US" sz="1800" dirty="0" err="1">
                <a:highlight>
                  <a:srgbClr val="FFFF00"/>
                </a:highlight>
                <a:latin typeface="Arial" panose="020B0604020202020204" pitchFamily="34" charset="0"/>
                <a:cs typeface="Arial" panose="020B0604020202020204" pitchFamily="34" charset="0"/>
              </a:rPr>
              <a:t>muestra</a:t>
            </a:r>
            <a:r>
              <a:rPr lang="en-US" altLang="en-US" sz="1800" dirty="0">
                <a:highlight>
                  <a:srgbClr val="FFFF00"/>
                </a:highlight>
                <a:latin typeface="Arial" panose="020B0604020202020204" pitchFamily="34" charset="0"/>
                <a:cs typeface="Arial" panose="020B0604020202020204" pitchFamily="34" charset="0"/>
              </a:rPr>
              <a:t> u </a:t>
            </a:r>
            <a:r>
              <a:rPr lang="en-US" altLang="en-US" sz="1800" dirty="0" err="1">
                <a:highlight>
                  <a:srgbClr val="FFFF00"/>
                </a:highlight>
                <a:latin typeface="Arial" panose="020B0604020202020204" pitchFamily="34" charset="0"/>
                <a:cs typeface="Arial" panose="020B0604020202020204" pitchFamily="34" charset="0"/>
              </a:rPr>
              <a:t>otras</a:t>
            </a:r>
            <a:r>
              <a:rPr lang="en-US" altLang="en-US" sz="1800" dirty="0">
                <a:highlight>
                  <a:srgbClr val="FFFF00"/>
                </a:highlight>
                <a:latin typeface="Arial" panose="020B0604020202020204" pitchFamily="34" charset="0"/>
                <a:cs typeface="Arial" panose="020B0604020202020204" pitchFamily="34" charset="0"/>
              </a:rPr>
              <a:t> </a:t>
            </a:r>
            <a:r>
              <a:rPr lang="en-US" altLang="en-US" sz="1800" dirty="0" err="1">
                <a:highlight>
                  <a:srgbClr val="FFFF00"/>
                </a:highlight>
                <a:latin typeface="Arial" panose="020B0604020202020204" pitchFamily="34" charset="0"/>
                <a:cs typeface="Arial" panose="020B0604020202020204" pitchFamily="34" charset="0"/>
              </a:rPr>
              <a:t>mayores</a:t>
            </a:r>
            <a:r>
              <a:rPr lang="en-US" altLang="en-US" sz="1800" dirty="0">
                <a:highlight>
                  <a:srgbClr val="FFFF00"/>
                </a:highlight>
                <a:latin typeface="Arial" panose="020B0604020202020204" pitchFamily="34" charset="0"/>
                <a:cs typeface="Arial" panose="020B0604020202020204" pitchFamily="34" charset="0"/>
              </a:rPr>
              <a:t>, </a:t>
            </a:r>
            <a:r>
              <a:rPr lang="en-US" altLang="en-US" sz="1800" dirty="0" err="1">
                <a:highlight>
                  <a:srgbClr val="FFFF00"/>
                </a:highlight>
                <a:latin typeface="Arial" panose="020B0604020202020204" pitchFamily="34" charset="0"/>
                <a:cs typeface="Arial" panose="020B0604020202020204" pitchFamily="34" charset="0"/>
              </a:rPr>
              <a:t>condicionalmente</a:t>
            </a:r>
            <a:r>
              <a:rPr lang="en-US" altLang="en-US" sz="1800" dirty="0">
                <a:highlight>
                  <a:srgbClr val="FFFF00"/>
                </a:highlight>
                <a:latin typeface="Arial" panose="020B0604020202020204" pitchFamily="34" charset="0"/>
                <a:cs typeface="Arial" panose="020B0604020202020204" pitchFamily="34" charset="0"/>
              </a:rPr>
              <a:t> a que H</a:t>
            </a:r>
            <a:r>
              <a:rPr lang="en-US" altLang="en-US" sz="1800" baseline="-25000" dirty="0">
                <a:highlight>
                  <a:srgbClr val="FFFF00"/>
                </a:highlight>
                <a:latin typeface="Arial" panose="020B0604020202020204" pitchFamily="34" charset="0"/>
                <a:cs typeface="Arial" panose="020B0604020202020204" pitchFamily="34" charset="0"/>
              </a:rPr>
              <a:t>0</a:t>
            </a:r>
            <a:r>
              <a:rPr lang="en-US" altLang="en-US" sz="1800" dirty="0">
                <a:highlight>
                  <a:srgbClr val="FFFF00"/>
                </a:highlight>
                <a:latin typeface="Arial" panose="020B0604020202020204" pitchFamily="34" charset="0"/>
                <a:cs typeface="Arial" panose="020B0604020202020204" pitchFamily="34" charset="0"/>
              </a:rPr>
              <a:t> sea </a:t>
            </a:r>
            <a:r>
              <a:rPr lang="en-US" altLang="en-US" sz="1800" dirty="0" err="1">
                <a:highlight>
                  <a:srgbClr val="FFFF00"/>
                </a:highlight>
                <a:latin typeface="Arial" panose="020B0604020202020204" pitchFamily="34" charset="0"/>
                <a:cs typeface="Arial" panose="020B0604020202020204" pitchFamily="34" charset="0"/>
              </a:rPr>
              <a:t>cierta</a:t>
            </a:r>
            <a:r>
              <a:rPr lang="en-US" altLang="en-US" sz="1800" dirty="0">
                <a:highlight>
                  <a:srgbClr val="FFFF00"/>
                </a:highlight>
                <a:latin typeface="Arial" panose="020B0604020202020204" pitchFamily="34" charset="0"/>
                <a:cs typeface="Arial" panose="020B0604020202020204" pitchFamily="34" charset="0"/>
              </a:rPr>
              <a:t>. </a:t>
            </a:r>
          </a:p>
          <a:p>
            <a:pPr defTabSz="685800" eaLnBrk="0" hangingPunct="0"/>
            <a:endParaRPr lang="en-US" altLang="en-US" sz="1800" dirty="0">
              <a:highlight>
                <a:srgbClr val="FFFF00"/>
              </a:highlight>
              <a:latin typeface="Arial" panose="020B0604020202020204" pitchFamily="34" charset="0"/>
              <a:cs typeface="Arial" panose="020B0604020202020204" pitchFamily="34" charset="0"/>
            </a:endParaRPr>
          </a:p>
          <a:p>
            <a:pPr defTabSz="685800" eaLnBrk="0" hangingPunct="0"/>
            <a:endParaRPr lang="en-US" altLang="en-US" sz="1800"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0117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18" name="Picture 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4613" y="1239838"/>
            <a:ext cx="2201862" cy="1562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17" name="Picture 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8413" y="4117975"/>
            <a:ext cx="2298700" cy="1625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31" name="Line 35"/>
          <p:cNvSpPr>
            <a:spLocks noChangeShapeType="1"/>
          </p:cNvSpPr>
          <p:nvPr/>
        </p:nvSpPr>
        <p:spPr bwMode="auto">
          <a:xfrm flipH="1">
            <a:off x="2190750" y="1038225"/>
            <a:ext cx="6350" cy="4964113"/>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26630" name="Object 29"/>
          <p:cNvGraphicFramePr>
            <a:graphicFrameLocks noChangeAspect="1"/>
          </p:cNvGraphicFramePr>
          <p:nvPr>
            <p:extLst>
              <p:ext uri="{D42A27DB-BD31-4B8C-83A1-F6EECF244321}">
                <p14:modId xmlns:p14="http://schemas.microsoft.com/office/powerpoint/2010/main" val="2454942987"/>
              </p:ext>
            </p:extLst>
          </p:nvPr>
        </p:nvGraphicFramePr>
        <p:xfrm>
          <a:off x="1304925" y="3146425"/>
          <a:ext cx="790575" cy="354013"/>
        </p:xfrm>
        <a:graphic>
          <a:graphicData uri="http://schemas.openxmlformats.org/presentationml/2006/ole">
            <mc:AlternateContent xmlns:mc="http://schemas.openxmlformats.org/markup-compatibility/2006">
              <mc:Choice xmlns:v="urn:schemas-microsoft-com:vml" Requires="v">
                <p:oleObj name="Equation" r:id="rId4" imgW="596880" imgH="266400" progId="Equation.DSMT4">
                  <p:embed/>
                </p:oleObj>
              </mc:Choice>
              <mc:Fallback>
                <p:oleObj name="Equation" r:id="rId4" imgW="596880" imgH="266400" progId="Equation.DSMT4">
                  <p:embed/>
                  <p:pic>
                    <p:nvPicPr>
                      <p:cNvPr id="26630" name="Object 29"/>
                      <p:cNvPicPr>
                        <a:picLocks noChangeAspect="1" noChangeArrowheads="1"/>
                      </p:cNvPicPr>
                      <p:nvPr/>
                    </p:nvPicPr>
                    <p:blipFill>
                      <a:blip r:embed="rId5"/>
                      <a:srcRect/>
                      <a:stretch>
                        <a:fillRect/>
                      </a:stretch>
                    </p:blipFill>
                    <p:spPr bwMode="auto">
                      <a:xfrm>
                        <a:off x="1304925" y="3146425"/>
                        <a:ext cx="79057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2" name="Line 9"/>
          <p:cNvSpPr>
            <a:spLocks noChangeShapeType="1"/>
          </p:cNvSpPr>
          <p:nvPr/>
        </p:nvSpPr>
        <p:spPr bwMode="auto">
          <a:xfrm>
            <a:off x="2381250" y="1689100"/>
            <a:ext cx="0" cy="1265238"/>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26640" name="13 Grupo"/>
          <p:cNvGrpSpPr>
            <a:grpSpLocks/>
          </p:cNvGrpSpPr>
          <p:nvPr/>
        </p:nvGrpSpPr>
        <p:grpSpPr bwMode="auto">
          <a:xfrm flipV="1">
            <a:off x="2662238" y="2543175"/>
            <a:ext cx="265112" cy="173038"/>
            <a:chOff x="2299332" y="3968956"/>
            <a:chExt cx="387350" cy="224448"/>
          </a:xfrm>
        </p:grpSpPr>
        <p:sp>
          <p:nvSpPr>
            <p:cNvPr id="26641" name="Line 57"/>
            <p:cNvSpPr>
              <a:spLocks noChangeShapeType="1"/>
            </p:cNvSpPr>
            <p:nvPr/>
          </p:nvSpPr>
          <p:spPr bwMode="auto">
            <a:xfrm flipH="1" flipV="1">
              <a:off x="2299332" y="3968956"/>
              <a:ext cx="387350" cy="224448"/>
            </a:xfrm>
            <a:prstGeom prst="line">
              <a:avLst/>
            </a:prstGeom>
            <a:noFill/>
            <a:ln w="15875">
              <a:solidFill>
                <a:schemeClr val="bg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6642" name="Line 57"/>
            <p:cNvSpPr>
              <a:spLocks noChangeShapeType="1"/>
            </p:cNvSpPr>
            <p:nvPr/>
          </p:nvSpPr>
          <p:spPr bwMode="auto">
            <a:xfrm flipH="1" flipV="1">
              <a:off x="2419664" y="4034520"/>
              <a:ext cx="193675" cy="112224"/>
            </a:xfrm>
            <a:prstGeom prst="line">
              <a:avLst/>
            </a:prstGeom>
            <a:noFill/>
            <a:ln w="1587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26645" name="Line 48"/>
          <p:cNvSpPr>
            <a:spLocks noChangeShapeType="1"/>
          </p:cNvSpPr>
          <p:nvPr/>
        </p:nvSpPr>
        <p:spPr bwMode="auto">
          <a:xfrm flipV="1">
            <a:off x="1784350" y="2828925"/>
            <a:ext cx="571500" cy="2841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6675" name="Text Box 52"/>
          <p:cNvSpPr txBox="1">
            <a:spLocks noChangeArrowheads="1"/>
          </p:cNvSpPr>
          <p:nvPr/>
        </p:nvSpPr>
        <p:spPr bwMode="auto">
          <a:xfrm>
            <a:off x="256587" y="1187450"/>
            <a:ext cx="879065"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defPPr>
              <a:defRPr lang="es-ES"/>
            </a:defPPr>
            <a:lvl1pPr algn="just" eaLnBrk="1" hangingPunct="1">
              <a:defRPr sz="1400">
                <a:solidFill>
                  <a:srgbClr val="006666"/>
                </a:solidFill>
                <a:latin typeface="Arial" pitchFamily="34" charset="0"/>
                <a:cs typeface="Arial" pitchFamily="34" charset="0"/>
              </a:defRPr>
            </a:lvl1pPr>
            <a:lvl2pPr marL="742950" indent="-285750" eaLnBrk="0" hangingPunct="0">
              <a:defRPr sz="1400">
                <a:latin typeface="Arial" pitchFamily="34" charset="0"/>
                <a:cs typeface="Arial" pitchFamily="34" charset="0"/>
              </a:defRPr>
            </a:lvl2pPr>
            <a:lvl3pPr marL="1143000" indent="-228600" eaLnBrk="0" hangingPunct="0">
              <a:defRPr sz="1400">
                <a:latin typeface="Arial" pitchFamily="34" charset="0"/>
                <a:cs typeface="Arial" pitchFamily="34" charset="0"/>
              </a:defRPr>
            </a:lvl3pPr>
            <a:lvl4pPr marL="1600200" indent="-228600" eaLnBrk="0" hangingPunct="0">
              <a:defRPr sz="1400">
                <a:latin typeface="Arial" pitchFamily="34" charset="0"/>
                <a:cs typeface="Arial" pitchFamily="34" charset="0"/>
              </a:defRPr>
            </a:lvl4pPr>
            <a:lvl5pPr marL="2057400" indent="-228600" eaLnBrk="0" hangingPunct="0">
              <a:defRPr sz="1400">
                <a:latin typeface="Arial" pitchFamily="34" charset="0"/>
                <a:cs typeface="Arial" pitchFamily="34" charset="0"/>
              </a:defRPr>
            </a:lvl5pPr>
            <a:lvl6pPr marL="2514600" indent="-228600" eaLnBrk="0" fontAlgn="base" hangingPunct="0">
              <a:spcBef>
                <a:spcPct val="0"/>
              </a:spcBef>
              <a:spcAft>
                <a:spcPct val="0"/>
              </a:spcAft>
              <a:defRPr sz="1400">
                <a:latin typeface="Arial" pitchFamily="34" charset="0"/>
                <a:cs typeface="Arial" pitchFamily="34" charset="0"/>
              </a:defRPr>
            </a:lvl6pPr>
            <a:lvl7pPr marL="2971800" indent="-228600" eaLnBrk="0" fontAlgn="base" hangingPunct="0">
              <a:spcBef>
                <a:spcPct val="0"/>
              </a:spcBef>
              <a:spcAft>
                <a:spcPct val="0"/>
              </a:spcAft>
              <a:defRPr sz="1400">
                <a:latin typeface="Arial" pitchFamily="34" charset="0"/>
                <a:cs typeface="Arial" pitchFamily="34" charset="0"/>
              </a:defRPr>
            </a:lvl7pPr>
            <a:lvl8pPr marL="3429000" indent="-228600" eaLnBrk="0" fontAlgn="base" hangingPunct="0">
              <a:spcBef>
                <a:spcPct val="0"/>
              </a:spcBef>
              <a:spcAft>
                <a:spcPct val="0"/>
              </a:spcAft>
              <a:defRPr sz="1400">
                <a:latin typeface="Arial" pitchFamily="34" charset="0"/>
                <a:cs typeface="Arial" pitchFamily="34" charset="0"/>
              </a:defRPr>
            </a:lvl8pPr>
            <a:lvl9pPr marL="3886200" indent="-228600" eaLnBrk="0" fontAlgn="base" hangingPunct="0">
              <a:spcBef>
                <a:spcPct val="0"/>
              </a:spcBef>
              <a:spcAft>
                <a:spcPct val="0"/>
              </a:spcAft>
              <a:defRPr sz="1400">
                <a:latin typeface="Arial" pitchFamily="34" charset="0"/>
                <a:cs typeface="Arial" pitchFamily="34" charset="0"/>
              </a:defRPr>
            </a:lvl9pPr>
          </a:lstStyle>
          <a:p>
            <a:r>
              <a:rPr lang="es-ES_tradnl" altLang="es-ES" dirty="0"/>
              <a:t>Caso a*)</a:t>
            </a:r>
            <a:endParaRPr lang="es-ES" altLang="es-ES" dirty="0"/>
          </a:p>
        </p:txBody>
      </p:sp>
      <p:sp>
        <p:nvSpPr>
          <p:cNvPr id="26633" name="Line 48"/>
          <p:cNvSpPr>
            <a:spLocks noChangeShapeType="1"/>
          </p:cNvSpPr>
          <p:nvPr/>
        </p:nvSpPr>
        <p:spPr bwMode="auto">
          <a:xfrm flipH="1" flipV="1">
            <a:off x="2800350" y="5775325"/>
            <a:ext cx="284163" cy="233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6643" name="Line 54"/>
          <p:cNvSpPr>
            <a:spLocks noChangeShapeType="1"/>
          </p:cNvSpPr>
          <p:nvPr/>
        </p:nvSpPr>
        <p:spPr bwMode="auto">
          <a:xfrm flipH="1">
            <a:off x="2814638" y="5100638"/>
            <a:ext cx="1109662" cy="592137"/>
          </a:xfrm>
          <a:prstGeom prst="line">
            <a:avLst/>
          </a:prstGeom>
          <a:noFill/>
          <a:ln w="9525">
            <a:solidFill>
              <a:schemeClr val="tx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26644" name="Object 29"/>
          <p:cNvGraphicFramePr>
            <a:graphicFrameLocks noChangeAspect="1"/>
          </p:cNvGraphicFramePr>
          <p:nvPr>
            <p:extLst>
              <p:ext uri="{D42A27DB-BD31-4B8C-83A1-F6EECF244321}">
                <p14:modId xmlns:p14="http://schemas.microsoft.com/office/powerpoint/2010/main" val="1897337247"/>
              </p:ext>
            </p:extLst>
          </p:nvPr>
        </p:nvGraphicFramePr>
        <p:xfrm>
          <a:off x="3054350" y="6053830"/>
          <a:ext cx="790575" cy="354012"/>
        </p:xfrm>
        <a:graphic>
          <a:graphicData uri="http://schemas.openxmlformats.org/presentationml/2006/ole">
            <mc:AlternateContent xmlns:mc="http://schemas.openxmlformats.org/markup-compatibility/2006">
              <mc:Choice xmlns:v="urn:schemas-microsoft-com:vml" Requires="v">
                <p:oleObj name="Equation" r:id="rId6" imgW="596880" imgH="266400" progId="Equation.DSMT4">
                  <p:embed/>
                </p:oleObj>
              </mc:Choice>
              <mc:Fallback>
                <p:oleObj name="Equation" r:id="rId6" imgW="596880" imgH="266400" progId="Equation.DSMT4">
                  <p:embed/>
                  <p:pic>
                    <p:nvPicPr>
                      <p:cNvPr id="26644" name="Object 29"/>
                      <p:cNvPicPr>
                        <a:picLocks noChangeAspect="1" noChangeArrowheads="1"/>
                      </p:cNvPicPr>
                      <p:nvPr/>
                    </p:nvPicPr>
                    <p:blipFill>
                      <a:blip r:embed="rId7"/>
                      <a:srcRect/>
                      <a:stretch>
                        <a:fillRect/>
                      </a:stretch>
                    </p:blipFill>
                    <p:spPr bwMode="auto">
                      <a:xfrm>
                        <a:off x="3054350" y="6053830"/>
                        <a:ext cx="79057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46" name="Line 9"/>
          <p:cNvSpPr>
            <a:spLocks noChangeShapeType="1"/>
          </p:cNvSpPr>
          <p:nvPr/>
        </p:nvSpPr>
        <p:spPr bwMode="auto">
          <a:xfrm flipH="1">
            <a:off x="2774950" y="5638800"/>
            <a:ext cx="3175" cy="304800"/>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6676" name="Text Box 53"/>
          <p:cNvSpPr txBox="1">
            <a:spLocks noChangeArrowheads="1"/>
          </p:cNvSpPr>
          <p:nvPr/>
        </p:nvSpPr>
        <p:spPr bwMode="auto">
          <a:xfrm>
            <a:off x="256587" y="3924300"/>
            <a:ext cx="879065"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defPPr>
              <a:defRPr lang="es-ES"/>
            </a:defPPr>
            <a:lvl1pPr algn="just" eaLnBrk="1" hangingPunct="1">
              <a:defRPr sz="1400">
                <a:solidFill>
                  <a:srgbClr val="006666"/>
                </a:solidFill>
                <a:latin typeface="Arial" pitchFamily="34" charset="0"/>
                <a:cs typeface="Arial" pitchFamily="34" charset="0"/>
              </a:defRPr>
            </a:lvl1pPr>
            <a:lvl2pPr marL="742950" indent="-285750" eaLnBrk="0" hangingPunct="0">
              <a:defRPr sz="1400">
                <a:latin typeface="Arial" pitchFamily="34" charset="0"/>
                <a:cs typeface="Arial" pitchFamily="34" charset="0"/>
              </a:defRPr>
            </a:lvl2pPr>
            <a:lvl3pPr marL="1143000" indent="-228600" eaLnBrk="0" hangingPunct="0">
              <a:defRPr sz="1400">
                <a:latin typeface="Arial" pitchFamily="34" charset="0"/>
                <a:cs typeface="Arial" pitchFamily="34" charset="0"/>
              </a:defRPr>
            </a:lvl3pPr>
            <a:lvl4pPr marL="1600200" indent="-228600" eaLnBrk="0" hangingPunct="0">
              <a:defRPr sz="1400">
                <a:latin typeface="Arial" pitchFamily="34" charset="0"/>
                <a:cs typeface="Arial" pitchFamily="34" charset="0"/>
              </a:defRPr>
            </a:lvl4pPr>
            <a:lvl5pPr marL="2057400" indent="-228600" eaLnBrk="0" hangingPunct="0">
              <a:defRPr sz="1400">
                <a:latin typeface="Arial" pitchFamily="34" charset="0"/>
                <a:cs typeface="Arial" pitchFamily="34" charset="0"/>
              </a:defRPr>
            </a:lvl5pPr>
            <a:lvl6pPr marL="2514600" indent="-228600" eaLnBrk="0" fontAlgn="base" hangingPunct="0">
              <a:spcBef>
                <a:spcPct val="0"/>
              </a:spcBef>
              <a:spcAft>
                <a:spcPct val="0"/>
              </a:spcAft>
              <a:defRPr sz="1400">
                <a:latin typeface="Arial" pitchFamily="34" charset="0"/>
                <a:cs typeface="Arial" pitchFamily="34" charset="0"/>
              </a:defRPr>
            </a:lvl6pPr>
            <a:lvl7pPr marL="2971800" indent="-228600" eaLnBrk="0" fontAlgn="base" hangingPunct="0">
              <a:spcBef>
                <a:spcPct val="0"/>
              </a:spcBef>
              <a:spcAft>
                <a:spcPct val="0"/>
              </a:spcAft>
              <a:defRPr sz="1400">
                <a:latin typeface="Arial" pitchFamily="34" charset="0"/>
                <a:cs typeface="Arial" pitchFamily="34" charset="0"/>
              </a:defRPr>
            </a:lvl7pPr>
            <a:lvl8pPr marL="3429000" indent="-228600" eaLnBrk="0" fontAlgn="base" hangingPunct="0">
              <a:spcBef>
                <a:spcPct val="0"/>
              </a:spcBef>
              <a:spcAft>
                <a:spcPct val="0"/>
              </a:spcAft>
              <a:defRPr sz="1400">
                <a:latin typeface="Arial" pitchFamily="34" charset="0"/>
                <a:cs typeface="Arial" pitchFamily="34" charset="0"/>
              </a:defRPr>
            </a:lvl8pPr>
            <a:lvl9pPr marL="3886200" indent="-228600" eaLnBrk="0" fontAlgn="base" hangingPunct="0">
              <a:spcBef>
                <a:spcPct val="0"/>
              </a:spcBef>
              <a:spcAft>
                <a:spcPct val="0"/>
              </a:spcAft>
              <a:defRPr sz="1400">
                <a:latin typeface="Arial" pitchFamily="34" charset="0"/>
                <a:cs typeface="Arial" pitchFamily="34" charset="0"/>
              </a:defRPr>
            </a:lvl9pPr>
          </a:lstStyle>
          <a:p>
            <a:r>
              <a:rPr lang="es-ES_tradnl" altLang="es-ES" dirty="0"/>
              <a:t>Caso b*)</a:t>
            </a:r>
            <a:endParaRPr lang="es-ES" altLang="es-ES" dirty="0"/>
          </a:p>
        </p:txBody>
      </p:sp>
      <p:sp>
        <p:nvSpPr>
          <p:cNvPr id="26682" name="Line 57"/>
          <p:cNvSpPr>
            <a:spLocks noChangeShapeType="1"/>
          </p:cNvSpPr>
          <p:nvPr/>
        </p:nvSpPr>
        <p:spPr bwMode="auto">
          <a:xfrm rot="-6402207" flipH="1" flipV="1">
            <a:off x="2605881" y="5496720"/>
            <a:ext cx="193675" cy="119062"/>
          </a:xfrm>
          <a:prstGeom prst="line">
            <a:avLst/>
          </a:prstGeom>
          <a:noFill/>
          <a:ln w="15875">
            <a:solidFill>
              <a:schemeClr val="bg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6683" name="Line 57"/>
          <p:cNvSpPr>
            <a:spLocks noChangeShapeType="1"/>
          </p:cNvSpPr>
          <p:nvPr/>
        </p:nvSpPr>
        <p:spPr bwMode="auto">
          <a:xfrm rot="-6402207" flipH="1" flipV="1">
            <a:off x="2593182" y="5272881"/>
            <a:ext cx="322262" cy="200025"/>
          </a:xfrm>
          <a:prstGeom prst="line">
            <a:avLst/>
          </a:prstGeom>
          <a:noFill/>
          <a:ln w="1587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6688" name="Line 9"/>
          <p:cNvSpPr>
            <a:spLocks noChangeShapeType="1"/>
          </p:cNvSpPr>
          <p:nvPr/>
        </p:nvSpPr>
        <p:spPr bwMode="auto">
          <a:xfrm flipH="1">
            <a:off x="2590800" y="2419350"/>
            <a:ext cx="9525" cy="3646488"/>
          </a:xfrm>
          <a:prstGeom prst="line">
            <a:avLst/>
          </a:prstGeom>
          <a:noFill/>
          <a:ln w="158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26692" name="Object 29"/>
          <p:cNvGraphicFramePr>
            <a:graphicFrameLocks noChangeAspect="1"/>
          </p:cNvGraphicFramePr>
          <p:nvPr/>
        </p:nvGraphicFramePr>
        <p:xfrm>
          <a:off x="2916238" y="2378075"/>
          <a:ext cx="679450" cy="204788"/>
        </p:xfrm>
        <a:graphic>
          <a:graphicData uri="http://schemas.openxmlformats.org/presentationml/2006/ole">
            <mc:AlternateContent xmlns:mc="http://schemas.openxmlformats.org/markup-compatibility/2006">
              <mc:Choice xmlns:v="urn:schemas-microsoft-com:vml" Requires="v">
                <p:oleObj name="Equation" r:id="rId8" imgW="634680" imgH="190440" progId="Equation.DSMT4">
                  <p:embed/>
                </p:oleObj>
              </mc:Choice>
              <mc:Fallback>
                <p:oleObj name="Equation" r:id="rId8" imgW="634680" imgH="190440" progId="Equation.DSMT4">
                  <p:embed/>
                  <p:pic>
                    <p:nvPicPr>
                      <p:cNvPr id="26692"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6238" y="2378075"/>
                        <a:ext cx="679450" cy="204788"/>
                      </a:xfrm>
                      <a:prstGeom prst="rect">
                        <a:avLst/>
                      </a:prstGeom>
                      <a:solidFill>
                        <a:schemeClr val="bg1">
                          <a:alpha val="67999"/>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93" name="Object 29"/>
          <p:cNvGraphicFramePr>
            <a:graphicFrameLocks noChangeAspect="1"/>
          </p:cNvGraphicFramePr>
          <p:nvPr/>
        </p:nvGraphicFramePr>
        <p:xfrm>
          <a:off x="2805113" y="4953000"/>
          <a:ext cx="679450" cy="204788"/>
        </p:xfrm>
        <a:graphic>
          <a:graphicData uri="http://schemas.openxmlformats.org/presentationml/2006/ole">
            <mc:AlternateContent xmlns:mc="http://schemas.openxmlformats.org/markup-compatibility/2006">
              <mc:Choice xmlns:v="urn:schemas-microsoft-com:vml" Requires="v">
                <p:oleObj name="Equation" r:id="rId10" imgW="634680" imgH="190440" progId="Equation.DSMT4">
                  <p:embed/>
                </p:oleObj>
              </mc:Choice>
              <mc:Fallback>
                <p:oleObj name="Equation" r:id="rId10" imgW="634680" imgH="190440" progId="Equation.DSMT4">
                  <p:embed/>
                  <p:pic>
                    <p:nvPicPr>
                      <p:cNvPr id="26693"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05113" y="4953000"/>
                        <a:ext cx="679450" cy="204788"/>
                      </a:xfrm>
                      <a:prstGeom prst="rect">
                        <a:avLst/>
                      </a:prstGeom>
                      <a:solidFill>
                        <a:schemeClr val="bg1">
                          <a:alpha val="67999"/>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94" name="Object 29"/>
          <p:cNvGraphicFramePr>
            <a:graphicFrameLocks noChangeAspect="1"/>
          </p:cNvGraphicFramePr>
          <p:nvPr>
            <p:extLst>
              <p:ext uri="{D42A27DB-BD31-4B8C-83A1-F6EECF244321}">
                <p14:modId xmlns:p14="http://schemas.microsoft.com/office/powerpoint/2010/main" val="120266829"/>
              </p:ext>
            </p:extLst>
          </p:nvPr>
        </p:nvGraphicFramePr>
        <p:xfrm>
          <a:off x="2239168" y="6001494"/>
          <a:ext cx="715963" cy="379412"/>
        </p:xfrm>
        <a:graphic>
          <a:graphicData uri="http://schemas.openxmlformats.org/presentationml/2006/ole">
            <mc:AlternateContent xmlns:mc="http://schemas.openxmlformats.org/markup-compatibility/2006">
              <mc:Choice xmlns:v="urn:schemas-microsoft-com:vml" Requires="v">
                <p:oleObj name="Equation" r:id="rId11" imgW="457200" imgH="241200" progId="Equation.DSMT4">
                  <p:embed/>
                </p:oleObj>
              </mc:Choice>
              <mc:Fallback>
                <p:oleObj name="Equation" r:id="rId11" imgW="457200" imgH="241200" progId="Equation.DSMT4">
                  <p:embed/>
                  <p:pic>
                    <p:nvPicPr>
                      <p:cNvPr id="26694"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39168" y="6001494"/>
                        <a:ext cx="715963" cy="379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96" name="Object 29"/>
          <p:cNvGraphicFramePr>
            <a:graphicFrameLocks noChangeAspect="1"/>
          </p:cNvGraphicFramePr>
          <p:nvPr>
            <p:extLst>
              <p:ext uri="{D42A27DB-BD31-4B8C-83A1-F6EECF244321}">
                <p14:modId xmlns:p14="http://schemas.microsoft.com/office/powerpoint/2010/main" val="1292458262"/>
              </p:ext>
            </p:extLst>
          </p:nvPr>
        </p:nvGraphicFramePr>
        <p:xfrm>
          <a:off x="3975100" y="1447800"/>
          <a:ext cx="777875" cy="231775"/>
        </p:xfrm>
        <a:graphic>
          <a:graphicData uri="http://schemas.openxmlformats.org/presentationml/2006/ole">
            <mc:AlternateContent xmlns:mc="http://schemas.openxmlformats.org/markup-compatibility/2006">
              <mc:Choice xmlns:v="urn:schemas-microsoft-com:vml" Requires="v">
                <p:oleObj name="Equation" r:id="rId13" imgW="647640" imgH="190440" progId="Equation.DSMT4">
                  <p:embed/>
                </p:oleObj>
              </mc:Choice>
              <mc:Fallback>
                <p:oleObj name="Equation" r:id="rId13" imgW="647640" imgH="190440" progId="Equation.DSMT4">
                  <p:embed/>
                  <p:pic>
                    <p:nvPicPr>
                      <p:cNvPr id="26696" name="Object 29"/>
                      <p:cNvPicPr>
                        <a:picLocks noChangeAspect="1" noChangeArrowheads="1"/>
                      </p:cNvPicPr>
                      <p:nvPr/>
                    </p:nvPicPr>
                    <p:blipFill>
                      <a:blip r:embed="rId14"/>
                      <a:srcRect/>
                      <a:stretch>
                        <a:fillRect/>
                      </a:stretch>
                    </p:blipFill>
                    <p:spPr bwMode="auto">
                      <a:xfrm>
                        <a:off x="3975100" y="1447800"/>
                        <a:ext cx="777875" cy="231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97" name="Object 29"/>
          <p:cNvGraphicFramePr>
            <a:graphicFrameLocks noChangeAspect="1"/>
          </p:cNvGraphicFramePr>
          <p:nvPr>
            <p:extLst>
              <p:ext uri="{D42A27DB-BD31-4B8C-83A1-F6EECF244321}">
                <p14:modId xmlns:p14="http://schemas.microsoft.com/office/powerpoint/2010/main" val="1727328958"/>
              </p:ext>
            </p:extLst>
          </p:nvPr>
        </p:nvGraphicFramePr>
        <p:xfrm>
          <a:off x="3554413" y="4837113"/>
          <a:ext cx="1538287" cy="231775"/>
        </p:xfrm>
        <a:graphic>
          <a:graphicData uri="http://schemas.openxmlformats.org/presentationml/2006/ole">
            <mc:AlternateContent xmlns:mc="http://schemas.openxmlformats.org/markup-compatibility/2006">
              <mc:Choice xmlns:v="urn:schemas-microsoft-com:vml" Requires="v">
                <p:oleObj name="Equation" r:id="rId15" imgW="1282680" imgH="190440" progId="Equation.DSMT4">
                  <p:embed/>
                </p:oleObj>
              </mc:Choice>
              <mc:Fallback>
                <p:oleObj name="Equation" r:id="rId15" imgW="1282680" imgH="190440" progId="Equation.DSMT4">
                  <p:embed/>
                  <p:pic>
                    <p:nvPicPr>
                      <p:cNvPr id="26697" name="Object 29"/>
                      <p:cNvPicPr>
                        <a:picLocks noChangeAspect="1" noChangeArrowheads="1"/>
                      </p:cNvPicPr>
                      <p:nvPr/>
                    </p:nvPicPr>
                    <p:blipFill>
                      <a:blip r:embed="rId16"/>
                      <a:srcRect/>
                      <a:stretch>
                        <a:fillRect/>
                      </a:stretch>
                    </p:blipFill>
                    <p:spPr bwMode="auto">
                      <a:xfrm>
                        <a:off x="3554413" y="4837113"/>
                        <a:ext cx="1538287" cy="231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703" name="Text Box 156"/>
          <p:cNvSpPr txBox="1">
            <a:spLocks noChangeArrowheads="1"/>
          </p:cNvSpPr>
          <p:nvPr/>
        </p:nvSpPr>
        <p:spPr bwMode="auto">
          <a:xfrm>
            <a:off x="237836" y="381000"/>
            <a:ext cx="3608677"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b="1" dirty="0">
                <a:solidFill>
                  <a:srgbClr val="006666"/>
                </a:solidFill>
              </a:rPr>
              <a:t>Volviendo al ejemplo del principio</a:t>
            </a:r>
          </a:p>
        </p:txBody>
      </p:sp>
      <p:graphicFrame>
        <p:nvGraphicFramePr>
          <p:cNvPr id="26704" name="Object 29"/>
          <p:cNvGraphicFramePr>
            <a:graphicFrameLocks noChangeAspect="1"/>
          </p:cNvGraphicFramePr>
          <p:nvPr/>
        </p:nvGraphicFramePr>
        <p:xfrm>
          <a:off x="396875" y="1476375"/>
          <a:ext cx="1062038" cy="633413"/>
        </p:xfrm>
        <a:graphic>
          <a:graphicData uri="http://schemas.openxmlformats.org/presentationml/2006/ole">
            <mc:AlternateContent xmlns:mc="http://schemas.openxmlformats.org/markup-compatibility/2006">
              <mc:Choice xmlns:v="urn:schemas-microsoft-com:vml" Requires="v">
                <p:oleObj name="Equation" r:id="rId17" imgW="914003" imgH="545863" progId="Equation.DSMT4">
                  <p:embed/>
                </p:oleObj>
              </mc:Choice>
              <mc:Fallback>
                <p:oleObj name="Equation" r:id="rId17" imgW="914003" imgH="545863" progId="Equation.DSMT4">
                  <p:embed/>
                  <p:pic>
                    <p:nvPicPr>
                      <p:cNvPr id="26704" name="Object 2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6875" y="1476375"/>
                        <a:ext cx="1062038"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706" name="Object 29"/>
          <p:cNvGraphicFramePr>
            <a:graphicFrameLocks noChangeAspect="1"/>
          </p:cNvGraphicFramePr>
          <p:nvPr/>
        </p:nvGraphicFramePr>
        <p:xfrm>
          <a:off x="396875" y="4230688"/>
          <a:ext cx="1062038" cy="633412"/>
        </p:xfrm>
        <a:graphic>
          <a:graphicData uri="http://schemas.openxmlformats.org/presentationml/2006/ole">
            <mc:AlternateContent xmlns:mc="http://schemas.openxmlformats.org/markup-compatibility/2006">
              <mc:Choice xmlns:v="urn:schemas-microsoft-com:vml" Requires="v">
                <p:oleObj name="Equation" r:id="rId19" imgW="914003" imgH="545863" progId="Equation.DSMT4">
                  <p:embed/>
                </p:oleObj>
              </mc:Choice>
              <mc:Fallback>
                <p:oleObj name="Equation" r:id="rId19" imgW="914003" imgH="545863" progId="Equation.DSMT4">
                  <p:embed/>
                  <p:pic>
                    <p:nvPicPr>
                      <p:cNvPr id="26706" name="Object 2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6875" y="4230688"/>
                        <a:ext cx="1062038"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708" name="Text Box 84"/>
          <p:cNvSpPr txBox="1">
            <a:spLocks noChangeArrowheads="1"/>
          </p:cNvSpPr>
          <p:nvPr/>
        </p:nvSpPr>
        <p:spPr bwMode="auto">
          <a:xfrm>
            <a:off x="5170488" y="1081088"/>
            <a:ext cx="3732212" cy="1679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a:r>
              <a:rPr lang="es-ES_tradnl" altLang="es-ES" sz="1300" dirty="0"/>
              <a:t>Suponiendo cierta la hipótesis (nula) </a:t>
            </a:r>
            <a:r>
              <a:rPr lang="es-ES_tradnl" altLang="es-ES" sz="1300" dirty="0">
                <a:solidFill>
                  <a:srgbClr val="006666"/>
                </a:solidFill>
              </a:rPr>
              <a:t>de que la media poblacional es de 200</a:t>
            </a:r>
            <a:r>
              <a:rPr lang="es-ES_tradnl" altLang="es-ES" sz="1300" dirty="0"/>
              <a:t>, la probabilidad de encontrar una muestra tan discrepante (o más) con dicha hipótesis como la actual es </a:t>
            </a:r>
            <a:r>
              <a:rPr lang="es-ES_tradnl" altLang="es-ES" sz="1300" dirty="0">
                <a:solidFill>
                  <a:srgbClr val="006666"/>
                </a:solidFill>
              </a:rPr>
              <a:t>P&gt;50%</a:t>
            </a:r>
            <a:r>
              <a:rPr lang="es-ES_tradnl" altLang="es-ES" sz="1300" dirty="0"/>
              <a:t>. Como esta probabilidad es alta, concluimos que nuestra muestra es algo que puede ocurrir con frecuencia si la H</a:t>
            </a:r>
            <a:r>
              <a:rPr lang="es-ES_tradnl" altLang="es-ES" sz="1300" baseline="-25000" dirty="0"/>
              <a:t>0</a:t>
            </a:r>
            <a:r>
              <a:rPr lang="es-ES_tradnl" altLang="es-ES" sz="1300" dirty="0"/>
              <a:t> es cierta, de manera que no podemos rechazarla</a:t>
            </a:r>
            <a:endParaRPr lang="es-ES" altLang="es-ES" sz="1300" dirty="0"/>
          </a:p>
        </p:txBody>
      </p:sp>
      <p:grpSp>
        <p:nvGrpSpPr>
          <p:cNvPr id="26712" name="Group 88"/>
          <p:cNvGrpSpPr>
            <a:grpSpLocks/>
          </p:cNvGrpSpPr>
          <p:nvPr/>
        </p:nvGrpSpPr>
        <p:grpSpPr bwMode="auto">
          <a:xfrm>
            <a:off x="4083050" y="2354263"/>
            <a:ext cx="884238" cy="792162"/>
            <a:chOff x="2572" y="1483"/>
            <a:chExt cx="557" cy="499"/>
          </a:xfrm>
        </p:grpSpPr>
        <p:graphicFrame>
          <p:nvGraphicFramePr>
            <p:cNvPr id="26651" name="Object 29"/>
            <p:cNvGraphicFramePr>
              <a:graphicFrameLocks noChangeAspect="1"/>
            </p:cNvGraphicFramePr>
            <p:nvPr/>
          </p:nvGraphicFramePr>
          <p:xfrm>
            <a:off x="2617" y="1759"/>
            <a:ext cx="467" cy="223"/>
          </p:xfrm>
          <a:graphic>
            <a:graphicData uri="http://schemas.openxmlformats.org/presentationml/2006/ole">
              <mc:AlternateContent xmlns:mc="http://schemas.openxmlformats.org/markup-compatibility/2006">
                <mc:Choice xmlns:v="urn:schemas-microsoft-com:vml" Requires="v">
                  <p:oleObj name="Equation" r:id="rId21" imgW="558558" imgH="266584" progId="Equation.DSMT4">
                    <p:embed/>
                  </p:oleObj>
                </mc:Choice>
                <mc:Fallback>
                  <p:oleObj name="Equation" r:id="rId21" imgW="558558" imgH="266584" progId="Equation.DSMT4">
                    <p:embed/>
                    <p:pic>
                      <p:nvPicPr>
                        <p:cNvPr id="26651" name="Object 2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617" y="1759"/>
                          <a:ext cx="46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95" name="Object 29"/>
            <p:cNvGraphicFramePr>
              <a:graphicFrameLocks noChangeAspect="1"/>
            </p:cNvGraphicFramePr>
            <p:nvPr/>
          </p:nvGraphicFramePr>
          <p:xfrm>
            <a:off x="2678" y="1518"/>
            <a:ext cx="346" cy="146"/>
          </p:xfrm>
          <a:graphic>
            <a:graphicData uri="http://schemas.openxmlformats.org/presentationml/2006/ole">
              <mc:AlternateContent xmlns:mc="http://schemas.openxmlformats.org/markup-compatibility/2006">
                <mc:Choice xmlns:v="urn:schemas-microsoft-com:vml" Requires="v">
                  <p:oleObj name="Equation" r:id="rId23" imgW="457200" imgH="190440" progId="Equation.DSMT4">
                    <p:embed/>
                  </p:oleObj>
                </mc:Choice>
                <mc:Fallback>
                  <p:oleObj name="Equation" r:id="rId23" imgW="457200" imgH="190440" progId="Equation.DSMT4">
                    <p:embed/>
                    <p:pic>
                      <p:nvPicPr>
                        <p:cNvPr id="26695" name="Object 2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678" y="1518"/>
                          <a:ext cx="346" cy="14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99" name="AutoShape 75"/>
            <p:cNvSpPr>
              <a:spLocks noChangeArrowheads="1"/>
            </p:cNvSpPr>
            <p:nvPr/>
          </p:nvSpPr>
          <p:spPr bwMode="auto">
            <a:xfrm>
              <a:off x="2572" y="1483"/>
              <a:ext cx="557" cy="490"/>
            </a:xfrm>
            <a:prstGeom prst="roundRect">
              <a:avLst>
                <a:gd name="adj" fmla="val 16667"/>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6709" name="Line 85"/>
            <p:cNvSpPr>
              <a:spLocks noChangeShapeType="1"/>
            </p:cNvSpPr>
            <p:nvPr/>
          </p:nvSpPr>
          <p:spPr bwMode="auto">
            <a:xfrm flipH="1" flipV="1">
              <a:off x="2854" y="1684"/>
              <a:ext cx="0" cy="11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nvGrpSpPr>
          <p:cNvPr id="26711" name="Group 87"/>
          <p:cNvGrpSpPr>
            <a:grpSpLocks/>
          </p:cNvGrpSpPr>
          <p:nvPr/>
        </p:nvGrpSpPr>
        <p:grpSpPr bwMode="auto">
          <a:xfrm>
            <a:off x="4083050" y="5545138"/>
            <a:ext cx="884238" cy="806450"/>
            <a:chOff x="2945" y="3493"/>
            <a:chExt cx="557" cy="508"/>
          </a:xfrm>
        </p:grpSpPr>
        <p:graphicFrame>
          <p:nvGraphicFramePr>
            <p:cNvPr id="26648" name="Object 29"/>
            <p:cNvGraphicFramePr>
              <a:graphicFrameLocks noChangeAspect="1"/>
            </p:cNvGraphicFramePr>
            <p:nvPr/>
          </p:nvGraphicFramePr>
          <p:xfrm>
            <a:off x="3055" y="3537"/>
            <a:ext cx="336" cy="146"/>
          </p:xfrm>
          <a:graphic>
            <a:graphicData uri="http://schemas.openxmlformats.org/presentationml/2006/ole">
              <mc:AlternateContent xmlns:mc="http://schemas.openxmlformats.org/markup-compatibility/2006">
                <mc:Choice xmlns:v="urn:schemas-microsoft-com:vml" Requires="v">
                  <p:oleObj name="Equation" r:id="rId25" imgW="444307" imgH="190417" progId="Equation.DSMT4">
                    <p:embed/>
                  </p:oleObj>
                </mc:Choice>
                <mc:Fallback>
                  <p:oleObj name="Equation" r:id="rId25" imgW="444307" imgH="190417" progId="Equation.DSMT4">
                    <p:embed/>
                    <p:pic>
                      <p:nvPicPr>
                        <p:cNvPr id="26648" name="Object 2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055" y="3537"/>
                          <a:ext cx="336" cy="14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52" name="Object 29"/>
            <p:cNvGraphicFramePr>
              <a:graphicFrameLocks noChangeAspect="1"/>
            </p:cNvGraphicFramePr>
            <p:nvPr/>
          </p:nvGraphicFramePr>
          <p:xfrm>
            <a:off x="2990" y="3777"/>
            <a:ext cx="467" cy="223"/>
          </p:xfrm>
          <a:graphic>
            <a:graphicData uri="http://schemas.openxmlformats.org/presentationml/2006/ole">
              <mc:AlternateContent xmlns:mc="http://schemas.openxmlformats.org/markup-compatibility/2006">
                <mc:Choice xmlns:v="urn:schemas-microsoft-com:vml" Requires="v">
                  <p:oleObj name="Equation" r:id="rId27" imgW="558558" imgH="266584" progId="Equation.DSMT4">
                    <p:embed/>
                  </p:oleObj>
                </mc:Choice>
                <mc:Fallback>
                  <p:oleObj name="Equation" r:id="rId27" imgW="558558" imgH="266584" progId="Equation.DSMT4">
                    <p:embed/>
                    <p:pic>
                      <p:nvPicPr>
                        <p:cNvPr id="26652" name="Object 2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90" y="3777"/>
                          <a:ext cx="46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98" name="AutoShape 74"/>
            <p:cNvSpPr>
              <a:spLocks noChangeArrowheads="1"/>
            </p:cNvSpPr>
            <p:nvPr/>
          </p:nvSpPr>
          <p:spPr bwMode="auto">
            <a:xfrm>
              <a:off x="2945" y="3493"/>
              <a:ext cx="557" cy="508"/>
            </a:xfrm>
            <a:prstGeom prst="roundRect">
              <a:avLst>
                <a:gd name="adj" fmla="val 16667"/>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6710" name="Line 86"/>
            <p:cNvSpPr>
              <a:spLocks noChangeShapeType="1"/>
            </p:cNvSpPr>
            <p:nvPr/>
          </p:nvSpPr>
          <p:spPr bwMode="auto">
            <a:xfrm flipH="1" flipV="1">
              <a:off x="3223" y="3676"/>
              <a:ext cx="0" cy="11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26713" name="Text Box 89"/>
          <p:cNvSpPr txBox="1">
            <a:spLocks noChangeArrowheads="1"/>
          </p:cNvSpPr>
          <p:nvPr/>
        </p:nvSpPr>
        <p:spPr bwMode="auto">
          <a:xfrm>
            <a:off x="5170488" y="3495675"/>
            <a:ext cx="3732212" cy="287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a:r>
              <a:rPr lang="es-ES_tradnl" altLang="es-ES" sz="1300" dirty="0"/>
              <a:t>Suponiendo cierta la hipótesis (nula) </a:t>
            </a:r>
            <a:r>
              <a:rPr lang="es-ES_tradnl" altLang="es-ES" sz="1300" dirty="0">
                <a:solidFill>
                  <a:srgbClr val="006666"/>
                </a:solidFill>
              </a:rPr>
              <a:t>de que la media poblacional es de 230</a:t>
            </a:r>
            <a:r>
              <a:rPr lang="es-ES_tradnl" altLang="es-ES" sz="1300" dirty="0"/>
              <a:t>, la probabilidad de encontrar una muestra tan discrepante (o más) con dicha hipótesis como la muestra actual es </a:t>
            </a:r>
            <a:r>
              <a:rPr lang="es-ES_tradnl" altLang="es-ES" sz="1300" dirty="0">
                <a:solidFill>
                  <a:srgbClr val="006666"/>
                </a:solidFill>
              </a:rPr>
              <a:t>P&lt;1%</a:t>
            </a:r>
            <a:r>
              <a:rPr lang="es-ES_tradnl" altLang="es-ES" sz="1300" dirty="0"/>
              <a:t>. Como esta probabilidad es muy baja, concluimos que si la hipótesis nula fuera cierta, entonces la observación de una muestra como la actual es un fenómeno raro (improbable). Si la muestra está bien tomada es improbable observar “cosas extrañas” por tanto la evidencia experimental apunta a que la H</a:t>
            </a:r>
            <a:r>
              <a:rPr lang="es-ES_tradnl" altLang="es-ES" sz="1300" baseline="-25000" dirty="0"/>
              <a:t>0</a:t>
            </a:r>
            <a:r>
              <a:rPr lang="es-ES_tradnl" altLang="es-ES" sz="1300" dirty="0"/>
              <a:t> no debe ser cierta y en consecuencia la rechazamos, a favor de una hipótesis alternativa que dice que </a:t>
            </a:r>
            <a:r>
              <a:rPr lang="es-ES_tradnl" altLang="es-ES" sz="1300" dirty="0">
                <a:solidFill>
                  <a:srgbClr val="006666"/>
                </a:solidFill>
              </a:rPr>
              <a:t>la media poblacional no es 230</a:t>
            </a:r>
            <a:r>
              <a:rPr lang="es-ES_tradnl" altLang="es-ES" sz="1300" dirty="0"/>
              <a:t>.</a:t>
            </a:r>
            <a:endParaRPr lang="es-ES" altLang="es-ES" sz="1300" dirty="0"/>
          </a:p>
        </p:txBody>
      </p:sp>
      <p:sp>
        <p:nvSpPr>
          <p:cNvPr id="26714" name="Text Box 156"/>
          <p:cNvSpPr txBox="1">
            <a:spLocks noChangeArrowheads="1"/>
          </p:cNvSpPr>
          <p:nvPr/>
        </p:nvSpPr>
        <p:spPr bwMode="auto">
          <a:xfrm>
            <a:off x="5105400" y="809625"/>
            <a:ext cx="2936875"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b="1" dirty="0">
                <a:solidFill>
                  <a:srgbClr val="006666"/>
                </a:solidFill>
              </a:rPr>
              <a:t>Interpretación del caso (a)</a:t>
            </a:r>
          </a:p>
        </p:txBody>
      </p:sp>
      <p:sp>
        <p:nvSpPr>
          <p:cNvPr id="26715" name="Text Box 156"/>
          <p:cNvSpPr txBox="1">
            <a:spLocks noChangeArrowheads="1"/>
          </p:cNvSpPr>
          <p:nvPr/>
        </p:nvSpPr>
        <p:spPr bwMode="auto">
          <a:xfrm>
            <a:off x="5105400" y="3236913"/>
            <a:ext cx="2936875"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_tradnl" altLang="es-ES" b="1" dirty="0">
                <a:solidFill>
                  <a:srgbClr val="006666"/>
                </a:solidFill>
              </a:rPr>
              <a:t>Interpretación  del caso (b)</a:t>
            </a:r>
          </a:p>
        </p:txBody>
      </p:sp>
      <p:sp>
        <p:nvSpPr>
          <p:cNvPr id="26635" name="Line 54"/>
          <p:cNvSpPr>
            <a:spLocks noChangeShapeType="1"/>
          </p:cNvSpPr>
          <p:nvPr/>
        </p:nvSpPr>
        <p:spPr bwMode="auto">
          <a:xfrm flipH="1">
            <a:off x="2549526" y="1662114"/>
            <a:ext cx="1528762" cy="917034"/>
          </a:xfrm>
          <a:prstGeom prst="line">
            <a:avLst/>
          </a:prstGeom>
          <a:noFill/>
          <a:ln w="9525">
            <a:solidFill>
              <a:schemeClr val="tx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26650" name="Object 29"/>
          <p:cNvGraphicFramePr>
            <a:graphicFrameLocks noChangeAspect="1"/>
          </p:cNvGraphicFramePr>
          <p:nvPr/>
        </p:nvGraphicFramePr>
        <p:xfrm>
          <a:off x="2409825" y="3124200"/>
          <a:ext cx="715963" cy="379413"/>
        </p:xfrm>
        <a:graphic>
          <a:graphicData uri="http://schemas.openxmlformats.org/presentationml/2006/ole">
            <mc:AlternateContent xmlns:mc="http://schemas.openxmlformats.org/markup-compatibility/2006">
              <mc:Choice xmlns:v="urn:schemas-microsoft-com:vml" Requires="v">
                <p:oleObj name="Equation" r:id="rId29" imgW="457200" imgH="241200" progId="Equation.DSMT4">
                  <p:embed/>
                </p:oleObj>
              </mc:Choice>
              <mc:Fallback>
                <p:oleObj name="Equation" r:id="rId29" imgW="457200" imgH="241200" progId="Equation.DSMT4">
                  <p:embed/>
                  <p:pic>
                    <p:nvPicPr>
                      <p:cNvPr id="26650"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09825" y="3124200"/>
                        <a:ext cx="715963"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 name="Text Box 17"/>
          <p:cNvSpPr txBox="1">
            <a:spLocks noChangeArrowheads="1"/>
          </p:cNvSpPr>
          <p:nvPr/>
        </p:nvSpPr>
        <p:spPr bwMode="auto">
          <a:xfrm>
            <a:off x="241300" y="120650"/>
            <a:ext cx="6453883"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b="1" dirty="0"/>
              <a:t>Toma de decisiones. El nivel de significación </a:t>
            </a:r>
            <a:r>
              <a:rPr lang="es-ES" altLang="es-ES" sz="1600" b="1" i="1" dirty="0">
                <a:latin typeface="Times New Roman" pitchFamily="18" charset="0"/>
              </a:rPr>
              <a:t>P </a:t>
            </a:r>
            <a:r>
              <a:rPr lang="es-ES" altLang="es-ES" b="1" dirty="0"/>
              <a:t>, la mejor forma de decidir</a:t>
            </a:r>
            <a:endParaRPr lang="es-ES" altLang="es-ES" b="1" baseline="-25000" dirty="0"/>
          </a:p>
        </p:txBody>
      </p:sp>
      <p:sp>
        <p:nvSpPr>
          <p:cNvPr id="48" name="Text Box 72"/>
          <p:cNvSpPr txBox="1">
            <a:spLocks noChangeArrowheads="1"/>
          </p:cNvSpPr>
          <p:nvPr/>
        </p:nvSpPr>
        <p:spPr bwMode="auto">
          <a:xfrm>
            <a:off x="85436" y="6573736"/>
            <a:ext cx="4482615"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sz="1000" dirty="0"/>
              <a:t>*Para simplificar, se ha representado el error </a:t>
            </a:r>
            <a:r>
              <a:rPr lang="es-ES_tradnl" altLang="es-ES" sz="1200" dirty="0">
                <a:latin typeface="Symbol" pitchFamily="18" charset="2"/>
              </a:rPr>
              <a:t>a</a:t>
            </a:r>
            <a:r>
              <a:rPr lang="es-ES_tradnl" altLang="es-ES" sz="1000" dirty="0"/>
              <a:t> solamente en la cola dcha.</a:t>
            </a:r>
            <a:endParaRPr lang="es-ES" altLang="es-ES" sz="1000" dirty="0"/>
          </a:p>
        </p:txBody>
      </p:sp>
    </p:spTree>
    <p:extLst>
      <p:ext uri="{BB962C8B-B14F-4D97-AF65-F5344CB8AC3E}">
        <p14:creationId xmlns:p14="http://schemas.microsoft.com/office/powerpoint/2010/main" val="3131457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55A523-5CAA-AA8B-FB2C-4F4DD849A3A6}"/>
              </a:ext>
            </a:extLst>
          </p:cNvPr>
          <p:cNvSpPr txBox="1"/>
          <p:nvPr/>
        </p:nvSpPr>
        <p:spPr>
          <a:xfrm>
            <a:off x="609600" y="762000"/>
            <a:ext cx="7772400" cy="5632311"/>
          </a:xfrm>
          <a:prstGeom prst="rect">
            <a:avLst/>
          </a:prstGeom>
          <a:noFill/>
        </p:spPr>
        <p:txBody>
          <a:bodyPr wrap="square">
            <a:spAutoFit/>
          </a:bodyPr>
          <a:lstStyle/>
          <a:p>
            <a:r>
              <a:rPr lang="en-US" sz="2400" dirty="0"/>
              <a:t># </a:t>
            </a:r>
            <a:r>
              <a:rPr lang="en-US" sz="2400" dirty="0" err="1"/>
              <a:t>Ejemplo</a:t>
            </a:r>
            <a:r>
              <a:rPr lang="en-US" sz="2400" dirty="0"/>
              <a:t> </a:t>
            </a:r>
            <a:r>
              <a:rPr lang="en-US" sz="2400" dirty="0" err="1"/>
              <a:t>presentacion</a:t>
            </a:r>
            <a:r>
              <a:rPr lang="en-US" sz="2400" dirty="0"/>
              <a:t> </a:t>
            </a:r>
            <a:r>
              <a:rPr lang="en-US" sz="2400" dirty="0" err="1"/>
              <a:t>en</a:t>
            </a:r>
            <a:r>
              <a:rPr lang="en-US" sz="2400" dirty="0"/>
              <a:t> R</a:t>
            </a:r>
          </a:p>
          <a:p>
            <a:r>
              <a:rPr lang="en-US" sz="2400" dirty="0"/>
              <a:t>library(BioestadisticaR2)</a:t>
            </a:r>
          </a:p>
          <a:p>
            <a:endParaRPr lang="en-US" sz="2400" dirty="0"/>
          </a:p>
          <a:p>
            <a:r>
              <a:rPr lang="en-US" sz="2400" dirty="0"/>
              <a:t># Nivel </a:t>
            </a:r>
            <a:r>
              <a:rPr lang="en-US" sz="2400" dirty="0" err="1"/>
              <a:t>Critico</a:t>
            </a:r>
            <a:endParaRPr lang="en-US" sz="2400" dirty="0"/>
          </a:p>
          <a:p>
            <a:r>
              <a:rPr lang="en-US" sz="2400" dirty="0"/>
              <a:t>qt(0.975, 11) #2.01</a:t>
            </a:r>
          </a:p>
          <a:p>
            <a:endParaRPr lang="en-US" sz="2400" dirty="0"/>
          </a:p>
          <a:p>
            <a:r>
              <a:rPr lang="en-US" sz="2400" dirty="0"/>
              <a:t># Test experimental (T-Student) </a:t>
            </a:r>
            <a:r>
              <a:rPr lang="en-US" sz="2400" dirty="0" err="1"/>
              <a:t>una</a:t>
            </a:r>
            <a:r>
              <a:rPr lang="en-US" sz="2400" dirty="0"/>
              <a:t> </a:t>
            </a:r>
            <a:r>
              <a:rPr lang="en-US" sz="2400" dirty="0" err="1"/>
              <a:t>muestra</a:t>
            </a:r>
            <a:endParaRPr lang="en-US" sz="2400" dirty="0"/>
          </a:p>
          <a:p>
            <a:r>
              <a:rPr lang="en-US" sz="2400" dirty="0"/>
              <a:t> </a:t>
            </a:r>
          </a:p>
          <a:p>
            <a:r>
              <a:rPr lang="en-US" sz="2400" dirty="0"/>
              <a:t># Scenario A</a:t>
            </a:r>
          </a:p>
          <a:p>
            <a:r>
              <a:rPr lang="en-US" sz="2400" dirty="0" err="1"/>
              <a:t>testt</a:t>
            </a:r>
            <a:r>
              <a:rPr lang="en-US" sz="2400" dirty="0"/>
              <a:t>(m=189.76, s=62.019, n=12, m0=200)</a:t>
            </a:r>
          </a:p>
          <a:p>
            <a:r>
              <a:rPr lang="en-US" sz="2400" dirty="0"/>
              <a:t>(1-pt(0.572,11))*2 ## Bilateral</a:t>
            </a:r>
          </a:p>
          <a:p>
            <a:endParaRPr lang="en-US" sz="2400" dirty="0"/>
          </a:p>
          <a:p>
            <a:r>
              <a:rPr lang="en-US" sz="2400" dirty="0"/>
              <a:t># Scenario B</a:t>
            </a:r>
          </a:p>
          <a:p>
            <a:r>
              <a:rPr lang="en-US" sz="2400" dirty="0" err="1"/>
              <a:t>testt</a:t>
            </a:r>
            <a:r>
              <a:rPr lang="en-US" sz="2400" dirty="0"/>
              <a:t>(m=189.76, s=62.019, n=12, m0=230)</a:t>
            </a:r>
          </a:p>
          <a:p>
            <a:r>
              <a:rPr lang="en-US" sz="2400" dirty="0"/>
              <a:t>(1-pt(2.248,11))*2 ## Bilateral</a:t>
            </a:r>
          </a:p>
        </p:txBody>
      </p:sp>
    </p:spTree>
    <p:extLst>
      <p:ext uri="{BB962C8B-B14F-4D97-AF65-F5344CB8AC3E}">
        <p14:creationId xmlns:p14="http://schemas.microsoft.com/office/powerpoint/2010/main" val="720261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521781-166D-E264-9152-076D1BFDD84F}"/>
              </a:ext>
            </a:extLst>
          </p:cNvPr>
          <p:cNvSpPr txBox="1"/>
          <p:nvPr/>
        </p:nvSpPr>
        <p:spPr>
          <a:xfrm>
            <a:off x="457200" y="990600"/>
            <a:ext cx="3505200" cy="1015663"/>
          </a:xfrm>
          <a:prstGeom prst="rect">
            <a:avLst/>
          </a:prstGeom>
          <a:noFill/>
        </p:spPr>
        <p:txBody>
          <a:bodyPr wrap="square">
            <a:spAutoFit/>
          </a:bodyPr>
          <a:lstStyle/>
          <a:p>
            <a:r>
              <a:rPr lang="en-US" b="1" dirty="0"/>
              <a:t># Example slides</a:t>
            </a:r>
          </a:p>
          <a:p>
            <a:r>
              <a:rPr lang="en-US" dirty="0"/>
              <a:t>library(BioestadisticaR2)</a:t>
            </a:r>
          </a:p>
          <a:p>
            <a:endParaRPr lang="en-US" dirty="0"/>
          </a:p>
          <a:p>
            <a:r>
              <a:rPr lang="en-US" b="1" dirty="0" err="1"/>
              <a:t>testt</a:t>
            </a:r>
            <a:r>
              <a:rPr lang="en-US" b="1" dirty="0"/>
              <a:t>(m=189.76, s=62.019, n=12, m0=200)</a:t>
            </a:r>
          </a:p>
          <a:p>
            <a:r>
              <a:rPr lang="en-US" dirty="0"/>
              <a:t>(1-pt(0.572,11))*2 ## Bilateral</a:t>
            </a:r>
          </a:p>
        </p:txBody>
      </p:sp>
      <p:sp>
        <p:nvSpPr>
          <p:cNvPr id="5" name="TextBox 4">
            <a:extLst>
              <a:ext uri="{FF2B5EF4-FFF2-40B4-BE49-F238E27FC236}">
                <a16:creationId xmlns:a16="http://schemas.microsoft.com/office/drawing/2014/main" id="{D7C8741F-C3B8-825C-C781-973D26390DA3}"/>
              </a:ext>
            </a:extLst>
          </p:cNvPr>
          <p:cNvSpPr txBox="1"/>
          <p:nvPr/>
        </p:nvSpPr>
        <p:spPr>
          <a:xfrm>
            <a:off x="457200" y="2362200"/>
            <a:ext cx="4267200" cy="3600986"/>
          </a:xfrm>
          <a:prstGeom prst="rect">
            <a:avLst/>
          </a:prstGeom>
          <a:noFill/>
        </p:spPr>
        <p:txBody>
          <a:bodyPr wrap="square">
            <a:spAutoFit/>
          </a:bodyPr>
          <a:lstStyle/>
          <a:p>
            <a:r>
              <a:rPr lang="en-US" b="1" dirty="0"/>
              <a:t># t-Test con </a:t>
            </a:r>
            <a:r>
              <a:rPr lang="en-US" b="1" dirty="0" err="1"/>
              <a:t>una</a:t>
            </a:r>
            <a:r>
              <a:rPr lang="en-US" b="1" dirty="0"/>
              <a:t> </a:t>
            </a:r>
            <a:r>
              <a:rPr lang="en-US" b="1" dirty="0" err="1"/>
              <a:t>muestra</a:t>
            </a:r>
            <a:endParaRPr lang="en-US" b="1" dirty="0"/>
          </a:p>
          <a:p>
            <a:r>
              <a:rPr lang="en-US" dirty="0"/>
              <a:t># ----------------------</a:t>
            </a:r>
          </a:p>
          <a:p>
            <a:endParaRPr lang="en-US" dirty="0"/>
          </a:p>
          <a:p>
            <a:r>
              <a:rPr lang="en-US" dirty="0"/>
              <a:t># </a:t>
            </a:r>
            <a:r>
              <a:rPr lang="en-US" dirty="0" err="1"/>
              <a:t>Resumen</a:t>
            </a:r>
            <a:r>
              <a:rPr lang="en-US" dirty="0"/>
              <a:t> de '</a:t>
            </a:r>
            <a:r>
              <a:rPr lang="en-US" dirty="0" err="1"/>
              <a:t>Muestra</a:t>
            </a:r>
            <a:r>
              <a:rPr lang="en-US" dirty="0"/>
              <a:t>'</a:t>
            </a:r>
          </a:p>
          <a:p>
            <a:r>
              <a:rPr lang="en-US" dirty="0"/>
              <a:t>    n = 12.000 </a:t>
            </a:r>
          </a:p>
          <a:p>
            <a:r>
              <a:rPr lang="en-US" dirty="0"/>
              <a:t>    media = 189.760 </a:t>
            </a:r>
          </a:p>
          <a:p>
            <a:r>
              <a:rPr lang="en-US" dirty="0"/>
              <a:t>    </a:t>
            </a:r>
            <a:r>
              <a:rPr lang="en-US" dirty="0" err="1"/>
              <a:t>d.t.</a:t>
            </a:r>
            <a:r>
              <a:rPr lang="en-US" dirty="0"/>
              <a:t> = 62.019 </a:t>
            </a:r>
          </a:p>
          <a:p>
            <a:r>
              <a:rPr lang="en-US" dirty="0"/>
              <a:t>    </a:t>
            </a:r>
            <a:r>
              <a:rPr lang="en-US" dirty="0" err="1"/>
              <a:t>sem</a:t>
            </a:r>
            <a:r>
              <a:rPr lang="en-US" dirty="0"/>
              <a:t> = 17.903 </a:t>
            </a:r>
          </a:p>
          <a:p>
            <a:endParaRPr lang="en-US" dirty="0"/>
          </a:p>
          <a:p>
            <a:r>
              <a:rPr lang="en-US" dirty="0"/>
              <a:t># </a:t>
            </a:r>
            <a:r>
              <a:rPr lang="en-US" dirty="0" err="1"/>
              <a:t>Estimación</a:t>
            </a:r>
            <a:r>
              <a:rPr lang="en-US" dirty="0"/>
              <a:t> de la media </a:t>
            </a:r>
            <a:r>
              <a:rPr lang="en-US" dirty="0" err="1"/>
              <a:t>μ</a:t>
            </a:r>
            <a:r>
              <a:rPr lang="en-US" dirty="0"/>
              <a:t>:</a:t>
            </a:r>
          </a:p>
          <a:p>
            <a:r>
              <a:rPr lang="en-US" dirty="0"/>
              <a:t>  95%-IC(</a:t>
            </a:r>
            <a:r>
              <a:rPr lang="en-US" dirty="0" err="1"/>
              <a:t>μ</a:t>
            </a:r>
            <a:r>
              <a:rPr lang="en-US" dirty="0"/>
              <a:t>) = (150.355, 229.165) </a:t>
            </a:r>
          </a:p>
          <a:p>
            <a:endParaRPr lang="en-US" dirty="0"/>
          </a:p>
          <a:p>
            <a:r>
              <a:rPr lang="en-US" dirty="0"/>
              <a:t># Test de Student para </a:t>
            </a:r>
            <a:r>
              <a:rPr lang="en-US" dirty="0" err="1"/>
              <a:t>contrastar</a:t>
            </a:r>
            <a:r>
              <a:rPr lang="en-US" dirty="0"/>
              <a:t> H₀:</a:t>
            </a:r>
            <a:r>
              <a:rPr lang="en-US" dirty="0" err="1"/>
              <a:t>μ</a:t>
            </a:r>
            <a:r>
              <a:rPr lang="en-US" dirty="0"/>
              <a:t>=</a:t>
            </a:r>
            <a:r>
              <a:rPr lang="en-US" dirty="0" err="1"/>
              <a:t>μ</a:t>
            </a:r>
            <a:r>
              <a:rPr lang="en-US" dirty="0"/>
              <a:t>₀ con </a:t>
            </a:r>
            <a:r>
              <a:rPr lang="en-US" dirty="0" err="1"/>
              <a:t>μ</a:t>
            </a:r>
            <a:r>
              <a:rPr lang="en-US" dirty="0"/>
              <a:t>₀=200.000</a:t>
            </a:r>
          </a:p>
          <a:p>
            <a:r>
              <a:rPr lang="en-US" dirty="0"/>
              <a:t>  </a:t>
            </a:r>
            <a:r>
              <a:rPr lang="en-US" dirty="0" err="1"/>
              <a:t>texp</a:t>
            </a:r>
            <a:r>
              <a:rPr lang="en-US" dirty="0"/>
              <a:t> = 0.572, </a:t>
            </a:r>
            <a:r>
              <a:rPr lang="en-US" dirty="0" err="1"/>
              <a:t>gl</a:t>
            </a:r>
            <a:r>
              <a:rPr lang="en-US" dirty="0"/>
              <a:t> = 11 </a:t>
            </a:r>
          </a:p>
          <a:p>
            <a:r>
              <a:rPr lang="en-US" dirty="0"/>
              <a:t>    p = 0.579 para la </a:t>
            </a:r>
            <a:r>
              <a:rPr lang="en-US" dirty="0" err="1"/>
              <a:t>alternativa</a:t>
            </a:r>
            <a:r>
              <a:rPr lang="en-US" dirty="0"/>
              <a:t> bilateral H₁:</a:t>
            </a:r>
            <a:r>
              <a:rPr lang="en-US" dirty="0" err="1"/>
              <a:t>μ≠μ</a:t>
            </a:r>
            <a:r>
              <a:rPr lang="en-US" dirty="0"/>
              <a:t>₀ </a:t>
            </a:r>
          </a:p>
          <a:p>
            <a:r>
              <a:rPr lang="en-US" dirty="0"/>
              <a:t>    p = 0.289 para la </a:t>
            </a:r>
            <a:r>
              <a:rPr lang="en-US" dirty="0" err="1"/>
              <a:t>alternativa</a:t>
            </a:r>
            <a:r>
              <a:rPr lang="en-US" dirty="0"/>
              <a:t> unilateral H₁:</a:t>
            </a:r>
            <a:r>
              <a:rPr lang="en-US" dirty="0" err="1"/>
              <a:t>μ</a:t>
            </a:r>
            <a:r>
              <a:rPr lang="en-US" dirty="0"/>
              <a:t>&lt;</a:t>
            </a:r>
            <a:r>
              <a:rPr lang="en-US" dirty="0" err="1"/>
              <a:t>μ</a:t>
            </a:r>
            <a:r>
              <a:rPr lang="en-US" dirty="0"/>
              <a:t>₀ </a:t>
            </a:r>
          </a:p>
          <a:p>
            <a:endParaRPr lang="en-US" dirty="0"/>
          </a:p>
          <a:p>
            <a:r>
              <a:rPr lang="en-US" dirty="0"/>
              <a:t>  </a:t>
            </a:r>
            <a:r>
              <a:rPr lang="en-US" dirty="0" err="1"/>
              <a:t>Estimación</a:t>
            </a:r>
            <a:r>
              <a:rPr lang="en-US" dirty="0"/>
              <a:t> del </a:t>
            </a:r>
            <a:r>
              <a:rPr lang="en-US" dirty="0" err="1"/>
              <a:t>efecto</a:t>
            </a:r>
            <a:r>
              <a:rPr lang="en-US" dirty="0"/>
              <a:t> </a:t>
            </a:r>
            <a:r>
              <a:rPr lang="en-US" dirty="0" err="1"/>
              <a:t>bruto</a:t>
            </a:r>
            <a:r>
              <a:rPr lang="en-US" dirty="0"/>
              <a:t> </a:t>
            </a:r>
          </a:p>
          <a:p>
            <a:r>
              <a:rPr lang="en-US" dirty="0"/>
              <a:t>  95%-IC(</a:t>
            </a:r>
            <a:r>
              <a:rPr lang="en-US" dirty="0" err="1"/>
              <a:t>μ-μ</a:t>
            </a:r>
            <a:r>
              <a:rPr lang="en-US" dirty="0"/>
              <a:t>₀) = (-49.645, 29.165)</a:t>
            </a:r>
          </a:p>
        </p:txBody>
      </p:sp>
      <p:sp>
        <p:nvSpPr>
          <p:cNvPr id="14" name="TextBox 13">
            <a:extLst>
              <a:ext uri="{FF2B5EF4-FFF2-40B4-BE49-F238E27FC236}">
                <a16:creationId xmlns:a16="http://schemas.microsoft.com/office/drawing/2014/main" id="{05442011-4081-6FC3-3973-C8B28FFA7A3C}"/>
              </a:ext>
            </a:extLst>
          </p:cNvPr>
          <p:cNvSpPr txBox="1"/>
          <p:nvPr/>
        </p:nvSpPr>
        <p:spPr>
          <a:xfrm>
            <a:off x="4572000" y="2340429"/>
            <a:ext cx="4577442" cy="3600986"/>
          </a:xfrm>
          <a:prstGeom prst="rect">
            <a:avLst/>
          </a:prstGeom>
          <a:noFill/>
        </p:spPr>
        <p:txBody>
          <a:bodyPr wrap="square">
            <a:spAutoFit/>
          </a:bodyPr>
          <a:lstStyle/>
          <a:p>
            <a:r>
              <a:rPr lang="en-US" b="1" dirty="0"/>
              <a:t># t-Test con </a:t>
            </a:r>
            <a:r>
              <a:rPr lang="en-US" b="1" dirty="0" err="1"/>
              <a:t>una</a:t>
            </a:r>
            <a:r>
              <a:rPr lang="en-US" b="1" dirty="0"/>
              <a:t> </a:t>
            </a:r>
            <a:r>
              <a:rPr lang="en-US" b="1" dirty="0" err="1"/>
              <a:t>muestra</a:t>
            </a:r>
            <a:endParaRPr lang="en-US" b="1" dirty="0"/>
          </a:p>
          <a:p>
            <a:r>
              <a:rPr lang="en-US" dirty="0"/>
              <a:t># ----------------------</a:t>
            </a:r>
          </a:p>
          <a:p>
            <a:endParaRPr lang="en-US" dirty="0"/>
          </a:p>
          <a:p>
            <a:r>
              <a:rPr lang="en-US" dirty="0"/>
              <a:t># </a:t>
            </a:r>
            <a:r>
              <a:rPr lang="en-US" dirty="0" err="1"/>
              <a:t>Resumen</a:t>
            </a:r>
            <a:r>
              <a:rPr lang="en-US" dirty="0"/>
              <a:t> de '</a:t>
            </a:r>
            <a:r>
              <a:rPr lang="en-US" dirty="0" err="1"/>
              <a:t>Muestra</a:t>
            </a:r>
            <a:r>
              <a:rPr lang="en-US" dirty="0"/>
              <a:t>'</a:t>
            </a:r>
          </a:p>
          <a:p>
            <a:r>
              <a:rPr lang="en-US" dirty="0"/>
              <a:t>    n = 12.000 </a:t>
            </a:r>
          </a:p>
          <a:p>
            <a:r>
              <a:rPr lang="en-US" dirty="0"/>
              <a:t>    media = 189.760 </a:t>
            </a:r>
          </a:p>
          <a:p>
            <a:r>
              <a:rPr lang="en-US" dirty="0"/>
              <a:t>    </a:t>
            </a:r>
            <a:r>
              <a:rPr lang="en-US" dirty="0" err="1"/>
              <a:t>d.t.</a:t>
            </a:r>
            <a:r>
              <a:rPr lang="en-US" dirty="0"/>
              <a:t> = 62.019 </a:t>
            </a:r>
          </a:p>
          <a:p>
            <a:r>
              <a:rPr lang="en-US" dirty="0"/>
              <a:t>    </a:t>
            </a:r>
            <a:r>
              <a:rPr lang="en-US" dirty="0" err="1"/>
              <a:t>sem</a:t>
            </a:r>
            <a:r>
              <a:rPr lang="en-US" dirty="0"/>
              <a:t> = 17.903 </a:t>
            </a:r>
          </a:p>
          <a:p>
            <a:endParaRPr lang="en-US" dirty="0"/>
          </a:p>
          <a:p>
            <a:r>
              <a:rPr lang="en-US" dirty="0"/>
              <a:t># </a:t>
            </a:r>
            <a:r>
              <a:rPr lang="en-US" dirty="0" err="1"/>
              <a:t>Estimación</a:t>
            </a:r>
            <a:r>
              <a:rPr lang="en-US" dirty="0"/>
              <a:t> de la media </a:t>
            </a:r>
            <a:r>
              <a:rPr lang="en-US" dirty="0" err="1"/>
              <a:t>μ</a:t>
            </a:r>
            <a:r>
              <a:rPr lang="en-US" dirty="0"/>
              <a:t>:</a:t>
            </a:r>
          </a:p>
          <a:p>
            <a:r>
              <a:rPr lang="en-US" dirty="0"/>
              <a:t>  95%-IC(</a:t>
            </a:r>
            <a:r>
              <a:rPr lang="en-US" dirty="0" err="1"/>
              <a:t>μ</a:t>
            </a:r>
            <a:r>
              <a:rPr lang="en-US" dirty="0"/>
              <a:t>) = (150.355, 229.165) </a:t>
            </a:r>
          </a:p>
          <a:p>
            <a:endParaRPr lang="en-US" dirty="0"/>
          </a:p>
          <a:p>
            <a:r>
              <a:rPr lang="en-US" dirty="0"/>
              <a:t># Test de Student para </a:t>
            </a:r>
            <a:r>
              <a:rPr lang="en-US" dirty="0" err="1"/>
              <a:t>contrastar</a:t>
            </a:r>
            <a:r>
              <a:rPr lang="en-US" dirty="0"/>
              <a:t> H₀:</a:t>
            </a:r>
            <a:r>
              <a:rPr lang="en-US" dirty="0" err="1"/>
              <a:t>μ</a:t>
            </a:r>
            <a:r>
              <a:rPr lang="en-US" dirty="0"/>
              <a:t>=</a:t>
            </a:r>
            <a:r>
              <a:rPr lang="en-US" dirty="0" err="1"/>
              <a:t>μ</a:t>
            </a:r>
            <a:r>
              <a:rPr lang="en-US" dirty="0"/>
              <a:t>₀ con </a:t>
            </a:r>
            <a:r>
              <a:rPr lang="en-US" dirty="0" err="1"/>
              <a:t>μ</a:t>
            </a:r>
            <a:r>
              <a:rPr lang="en-US" dirty="0"/>
              <a:t>₀=230.000</a:t>
            </a:r>
          </a:p>
          <a:p>
            <a:r>
              <a:rPr lang="en-US" dirty="0"/>
              <a:t>  </a:t>
            </a:r>
            <a:r>
              <a:rPr lang="en-US" dirty="0" err="1"/>
              <a:t>texp</a:t>
            </a:r>
            <a:r>
              <a:rPr lang="en-US" dirty="0"/>
              <a:t> = 2.248, </a:t>
            </a:r>
            <a:r>
              <a:rPr lang="en-US" dirty="0" err="1"/>
              <a:t>gl</a:t>
            </a:r>
            <a:r>
              <a:rPr lang="en-US" dirty="0"/>
              <a:t> = 11 </a:t>
            </a:r>
          </a:p>
          <a:p>
            <a:r>
              <a:rPr lang="en-US" dirty="0"/>
              <a:t>    p = 0.046 para la </a:t>
            </a:r>
            <a:r>
              <a:rPr lang="en-US" dirty="0" err="1"/>
              <a:t>alternativa</a:t>
            </a:r>
            <a:r>
              <a:rPr lang="en-US" dirty="0"/>
              <a:t> bilateral H₁:</a:t>
            </a:r>
            <a:r>
              <a:rPr lang="en-US" dirty="0" err="1"/>
              <a:t>μ≠μ</a:t>
            </a:r>
            <a:r>
              <a:rPr lang="en-US" dirty="0"/>
              <a:t>₀ </a:t>
            </a:r>
          </a:p>
          <a:p>
            <a:r>
              <a:rPr lang="en-US" dirty="0"/>
              <a:t>    p = 0.023 para la </a:t>
            </a:r>
            <a:r>
              <a:rPr lang="en-US" dirty="0" err="1"/>
              <a:t>alternativa</a:t>
            </a:r>
            <a:r>
              <a:rPr lang="en-US" dirty="0"/>
              <a:t> unilateral H₁:</a:t>
            </a:r>
            <a:r>
              <a:rPr lang="en-US" dirty="0" err="1"/>
              <a:t>μ</a:t>
            </a:r>
            <a:r>
              <a:rPr lang="en-US" dirty="0"/>
              <a:t>&lt;</a:t>
            </a:r>
            <a:r>
              <a:rPr lang="en-US" dirty="0" err="1"/>
              <a:t>μ</a:t>
            </a:r>
            <a:r>
              <a:rPr lang="en-US" dirty="0"/>
              <a:t>₀ </a:t>
            </a:r>
          </a:p>
          <a:p>
            <a:endParaRPr lang="en-US" dirty="0"/>
          </a:p>
          <a:p>
            <a:r>
              <a:rPr lang="en-US" dirty="0"/>
              <a:t>  </a:t>
            </a:r>
            <a:r>
              <a:rPr lang="en-US" dirty="0" err="1"/>
              <a:t>Estimación</a:t>
            </a:r>
            <a:r>
              <a:rPr lang="en-US" dirty="0"/>
              <a:t> del </a:t>
            </a:r>
            <a:r>
              <a:rPr lang="en-US" dirty="0" err="1"/>
              <a:t>efecto</a:t>
            </a:r>
            <a:r>
              <a:rPr lang="en-US" dirty="0"/>
              <a:t> </a:t>
            </a:r>
            <a:r>
              <a:rPr lang="en-US" dirty="0" err="1"/>
              <a:t>bruto</a:t>
            </a:r>
            <a:r>
              <a:rPr lang="en-US" dirty="0"/>
              <a:t> </a:t>
            </a:r>
          </a:p>
          <a:p>
            <a:r>
              <a:rPr lang="en-US" dirty="0"/>
              <a:t>  95%-IC(</a:t>
            </a:r>
            <a:r>
              <a:rPr lang="en-US" dirty="0" err="1"/>
              <a:t>μ-μ</a:t>
            </a:r>
            <a:r>
              <a:rPr lang="en-US" dirty="0"/>
              <a:t>₀) = (-79.645, -0.835) </a:t>
            </a:r>
          </a:p>
        </p:txBody>
      </p:sp>
      <p:sp>
        <p:nvSpPr>
          <p:cNvPr id="16" name="TextBox 15">
            <a:extLst>
              <a:ext uri="{FF2B5EF4-FFF2-40B4-BE49-F238E27FC236}">
                <a16:creationId xmlns:a16="http://schemas.microsoft.com/office/drawing/2014/main" id="{B5A64CBA-9890-440E-0BA4-71FDB19ECA68}"/>
              </a:ext>
            </a:extLst>
          </p:cNvPr>
          <p:cNvSpPr txBox="1"/>
          <p:nvPr/>
        </p:nvSpPr>
        <p:spPr>
          <a:xfrm>
            <a:off x="4566558" y="1533712"/>
            <a:ext cx="4577442" cy="461665"/>
          </a:xfrm>
          <a:prstGeom prst="rect">
            <a:avLst/>
          </a:prstGeom>
          <a:noFill/>
        </p:spPr>
        <p:txBody>
          <a:bodyPr wrap="square">
            <a:spAutoFit/>
          </a:bodyPr>
          <a:lstStyle/>
          <a:p>
            <a:r>
              <a:rPr lang="en-US" b="1" dirty="0" err="1"/>
              <a:t>testt</a:t>
            </a:r>
            <a:r>
              <a:rPr lang="en-US" b="1" dirty="0"/>
              <a:t>(m=189.76, s=62.019, n=12, m0=230)</a:t>
            </a:r>
          </a:p>
          <a:p>
            <a:r>
              <a:rPr lang="en-US" dirty="0"/>
              <a:t>(1-pt(2.248,11))*2 ## Bilateral</a:t>
            </a:r>
          </a:p>
        </p:txBody>
      </p:sp>
    </p:spTree>
    <p:extLst>
      <p:ext uri="{BB962C8B-B14F-4D97-AF65-F5344CB8AC3E}">
        <p14:creationId xmlns:p14="http://schemas.microsoft.com/office/powerpoint/2010/main" val="2437773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764" name="Group 92"/>
          <p:cNvGrpSpPr>
            <a:grpSpLocks/>
          </p:cNvGrpSpPr>
          <p:nvPr/>
        </p:nvGrpSpPr>
        <p:grpSpPr bwMode="auto">
          <a:xfrm>
            <a:off x="398463" y="1066800"/>
            <a:ext cx="5983287" cy="4972050"/>
            <a:chOff x="251" y="636"/>
            <a:chExt cx="3769" cy="3132"/>
          </a:xfrm>
        </p:grpSpPr>
        <p:sp>
          <p:nvSpPr>
            <p:cNvPr id="28723" name="Text Box 51"/>
            <p:cNvSpPr txBox="1">
              <a:spLocks noChangeArrowheads="1"/>
            </p:cNvSpPr>
            <p:nvPr/>
          </p:nvSpPr>
          <p:spPr bwMode="auto">
            <a:xfrm>
              <a:off x="251" y="636"/>
              <a:ext cx="1003" cy="42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266700" indent="-266700" eaLnBrk="0" hangingPunct="0">
                <a:defRPr sz="1400">
                  <a:solidFill>
                    <a:schemeClr val="tx1"/>
                  </a:solidFill>
                  <a:latin typeface="Arial" pitchFamily="34" charset="0"/>
                  <a:cs typeface="Arial" pitchFamily="34" charset="0"/>
                </a:defRPr>
              </a:lvl1pPr>
              <a:lvl2pPr marL="723900" indent="-266700" eaLnBrk="0" hangingPunct="0">
                <a:defRPr sz="1400">
                  <a:solidFill>
                    <a:schemeClr val="tx1"/>
                  </a:solidFill>
                  <a:latin typeface="Arial" pitchFamily="34" charset="0"/>
                  <a:cs typeface="Arial" pitchFamily="34" charset="0"/>
                </a:defRPr>
              </a:lvl2pPr>
              <a:lvl3pPr marL="1181100" indent="-266700" eaLnBrk="0" hangingPunct="0">
                <a:defRPr sz="1400">
                  <a:solidFill>
                    <a:schemeClr val="tx1"/>
                  </a:solidFill>
                  <a:latin typeface="Arial" pitchFamily="34" charset="0"/>
                  <a:cs typeface="Arial" pitchFamily="34" charset="0"/>
                </a:defRPr>
              </a:lvl3pPr>
              <a:lvl4pPr marL="1638300" indent="-266700" eaLnBrk="0" hangingPunct="0">
                <a:defRPr sz="1400">
                  <a:solidFill>
                    <a:schemeClr val="tx1"/>
                  </a:solidFill>
                  <a:latin typeface="Arial" pitchFamily="34" charset="0"/>
                  <a:cs typeface="Arial" pitchFamily="34" charset="0"/>
                </a:defRPr>
              </a:lvl4pPr>
              <a:lvl5pPr marL="2095500" indent="-266700" eaLnBrk="0" hangingPunct="0">
                <a:defRPr sz="1400">
                  <a:solidFill>
                    <a:schemeClr val="tx1"/>
                  </a:solidFill>
                  <a:latin typeface="Arial" pitchFamily="34" charset="0"/>
                  <a:cs typeface="Arial" pitchFamily="34" charset="0"/>
                </a:defRPr>
              </a:lvl5pPr>
              <a:lvl6pPr marL="2552700" indent="-266700" eaLnBrk="0" fontAlgn="base" hangingPunct="0">
                <a:spcBef>
                  <a:spcPct val="0"/>
                </a:spcBef>
                <a:spcAft>
                  <a:spcPct val="0"/>
                </a:spcAft>
                <a:defRPr sz="1400">
                  <a:solidFill>
                    <a:schemeClr val="tx1"/>
                  </a:solidFill>
                  <a:latin typeface="Arial" pitchFamily="34" charset="0"/>
                  <a:cs typeface="Arial" pitchFamily="34" charset="0"/>
                </a:defRPr>
              </a:lvl6pPr>
              <a:lvl7pPr marL="3009900" indent="-266700" eaLnBrk="0" fontAlgn="base" hangingPunct="0">
                <a:spcBef>
                  <a:spcPct val="0"/>
                </a:spcBef>
                <a:spcAft>
                  <a:spcPct val="0"/>
                </a:spcAft>
                <a:defRPr sz="1400">
                  <a:solidFill>
                    <a:schemeClr val="tx1"/>
                  </a:solidFill>
                  <a:latin typeface="Arial" pitchFamily="34" charset="0"/>
                  <a:cs typeface="Arial" pitchFamily="34" charset="0"/>
                </a:defRPr>
              </a:lvl7pPr>
              <a:lvl8pPr marL="3467100" indent="-266700" eaLnBrk="0" fontAlgn="base" hangingPunct="0">
                <a:spcBef>
                  <a:spcPct val="0"/>
                </a:spcBef>
                <a:spcAft>
                  <a:spcPct val="0"/>
                </a:spcAft>
                <a:defRPr sz="1400">
                  <a:solidFill>
                    <a:schemeClr val="tx1"/>
                  </a:solidFill>
                  <a:latin typeface="Arial" pitchFamily="34" charset="0"/>
                  <a:cs typeface="Arial" pitchFamily="34" charset="0"/>
                </a:defRPr>
              </a:lvl8pPr>
              <a:lvl9pPr marL="3924300" indent="-2667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buFontTx/>
                <a:buAutoNum type="arabicPeriod"/>
              </a:pPr>
              <a:r>
                <a:rPr lang="es-ES_tradnl" altLang="es-ES" b="1" dirty="0"/>
                <a:t>Fijar </a:t>
              </a:r>
              <a:r>
                <a:rPr lang="es-ES_tradnl" altLang="es-ES" b="1" dirty="0">
                  <a:latin typeface="Symbol" pitchFamily="18" charset="2"/>
                </a:rPr>
                <a:t>a</a:t>
              </a:r>
            </a:p>
            <a:p>
              <a:pPr eaLnBrk="1" hangingPunct="1"/>
              <a:r>
                <a:rPr lang="es-ES_tradnl" altLang="es-ES" sz="1200" dirty="0"/>
                <a:t>(no depende de la </a:t>
              </a:r>
            </a:p>
            <a:p>
              <a:pPr eaLnBrk="1" hangingPunct="1"/>
              <a:r>
                <a:rPr lang="es-ES_tradnl" altLang="es-ES" sz="1200" dirty="0"/>
                <a:t>muestra)</a:t>
              </a:r>
              <a:endParaRPr lang="es-ES" altLang="es-ES" sz="1200" dirty="0"/>
            </a:p>
          </p:txBody>
        </p:sp>
        <p:sp>
          <p:nvSpPr>
            <p:cNvPr id="28724" name="Text Box 52"/>
            <p:cNvSpPr txBox="1">
              <a:spLocks noChangeArrowheads="1"/>
            </p:cNvSpPr>
            <p:nvPr/>
          </p:nvSpPr>
          <p:spPr bwMode="auto">
            <a:xfrm>
              <a:off x="251" y="1075"/>
              <a:ext cx="866" cy="3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sz="1400" b="1" dirty="0"/>
                <a:t>2. Obtener </a:t>
              </a:r>
              <a:r>
                <a:rPr lang="es-ES_tradnl" altLang="es-ES" sz="1400" b="1" i="1" dirty="0" err="1">
                  <a:latin typeface="Times New Roman" pitchFamily="18" charset="0"/>
                </a:rPr>
                <a:t>t</a:t>
              </a:r>
              <a:r>
                <a:rPr lang="es-ES_tradnl" altLang="es-ES" sz="1400" b="1" baseline="-25000" dirty="0" err="1"/>
                <a:t>exp</a:t>
              </a:r>
              <a:endParaRPr lang="es-ES_tradnl" altLang="es-ES" sz="1400" b="1" baseline="-25000" dirty="0"/>
            </a:p>
            <a:p>
              <a:r>
                <a:rPr lang="es-ES_tradnl" altLang="es-ES" sz="1200" dirty="0"/>
                <a:t>(de la muestra)</a:t>
              </a:r>
              <a:endParaRPr lang="es-ES" altLang="es-ES" sz="1200" dirty="0"/>
            </a:p>
          </p:txBody>
        </p:sp>
        <p:sp>
          <p:nvSpPr>
            <p:cNvPr id="28725" name="Text Box 53"/>
            <p:cNvSpPr txBox="1">
              <a:spLocks noChangeArrowheads="1"/>
            </p:cNvSpPr>
            <p:nvPr/>
          </p:nvSpPr>
          <p:spPr bwMode="auto">
            <a:xfrm>
              <a:off x="275" y="1998"/>
              <a:ext cx="647" cy="3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a:r>
                <a:rPr lang="es-ES_tradnl" altLang="es-ES" sz="1400" b="1" dirty="0"/>
                <a:t>Obtener </a:t>
              </a:r>
              <a:r>
                <a:rPr lang="es-ES_tradnl" altLang="es-ES" sz="1400" b="1" i="1" dirty="0">
                  <a:latin typeface="Times New Roman" pitchFamily="18" charset="0"/>
                </a:rPr>
                <a:t>P</a:t>
              </a:r>
            </a:p>
            <a:p>
              <a:pPr algn="ctr"/>
              <a:r>
                <a:rPr lang="es-ES_tradnl" altLang="es-ES" sz="1200" dirty="0"/>
                <a:t>(tablas)</a:t>
              </a:r>
              <a:endParaRPr lang="es-ES" altLang="es-ES" sz="1200" baseline="-25000" dirty="0"/>
            </a:p>
          </p:txBody>
        </p:sp>
        <p:sp>
          <p:nvSpPr>
            <p:cNvPr id="28734" name="Text Box 62"/>
            <p:cNvSpPr txBox="1">
              <a:spLocks noChangeArrowheads="1"/>
            </p:cNvSpPr>
            <p:nvPr/>
          </p:nvSpPr>
          <p:spPr bwMode="auto">
            <a:xfrm>
              <a:off x="1566" y="638"/>
              <a:ext cx="2417" cy="3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s-ES_tradnl" altLang="es-ES" dirty="0"/>
                <a:t>Esto permite </a:t>
              </a:r>
              <a:r>
                <a:rPr lang="es-ES_tradnl" altLang="es-ES" b="1" dirty="0"/>
                <a:t>determinar </a:t>
              </a:r>
              <a:r>
                <a:rPr lang="es-ES_tradnl" altLang="es-ES" sz="1600" b="1" i="1" dirty="0" err="1">
                  <a:latin typeface="Times New Roman" pitchFamily="18" charset="0"/>
                </a:rPr>
                <a:t>t</a:t>
              </a:r>
              <a:r>
                <a:rPr lang="es-ES_tradnl" altLang="es-ES" sz="1600" b="1" baseline="-25000" dirty="0" err="1">
                  <a:latin typeface="Symbol" pitchFamily="18" charset="2"/>
                </a:rPr>
                <a:t>a</a:t>
              </a:r>
              <a:r>
                <a:rPr lang="es-ES_tradnl" altLang="es-ES" sz="1600" b="1" baseline="-25000" dirty="0">
                  <a:latin typeface="Symbol" pitchFamily="18" charset="2"/>
                </a:rPr>
                <a:t> </a:t>
              </a:r>
            </a:p>
            <a:p>
              <a:r>
                <a:rPr lang="es-ES_tradnl" altLang="es-ES" sz="1200" dirty="0"/>
                <a:t>(de las tablas de distribuciones de probabilidad)</a:t>
              </a:r>
              <a:endParaRPr lang="es-ES" altLang="es-ES" sz="1200" dirty="0"/>
            </a:p>
          </p:txBody>
        </p:sp>
        <p:grpSp>
          <p:nvGrpSpPr>
            <p:cNvPr id="28738" name="Group 66"/>
            <p:cNvGrpSpPr>
              <a:grpSpLocks/>
            </p:cNvGrpSpPr>
            <p:nvPr/>
          </p:nvGrpSpPr>
          <p:grpSpPr bwMode="auto">
            <a:xfrm>
              <a:off x="1307" y="1560"/>
              <a:ext cx="2629" cy="413"/>
              <a:chOff x="3131" y="1136"/>
              <a:chExt cx="2629" cy="413"/>
            </a:xfrm>
          </p:grpSpPr>
          <p:sp>
            <p:nvSpPr>
              <p:cNvPr id="28735" name="Text Box 63"/>
              <p:cNvSpPr txBox="1">
                <a:spLocks noChangeArrowheads="1"/>
              </p:cNvSpPr>
              <p:nvPr/>
            </p:nvSpPr>
            <p:spPr bwMode="auto">
              <a:xfrm>
                <a:off x="3131" y="1136"/>
                <a:ext cx="2629"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089025" indent="-1089025" eaLnBrk="0" hangingPunct="0">
                  <a:defRPr sz="1400">
                    <a:solidFill>
                      <a:schemeClr val="tx1"/>
                    </a:solidFill>
                    <a:latin typeface="Arial" pitchFamily="34" charset="0"/>
                    <a:cs typeface="Arial" pitchFamily="34" charset="0"/>
                  </a:defRPr>
                </a:lvl1pPr>
                <a:lvl2pPr marL="1203325" eaLnBrk="0" hangingPunct="0">
                  <a:defRPr sz="1400">
                    <a:solidFill>
                      <a:schemeClr val="tx1"/>
                    </a:solidFill>
                    <a:latin typeface="Arial" pitchFamily="34" charset="0"/>
                    <a:cs typeface="Arial" pitchFamily="34" charset="0"/>
                  </a:defRPr>
                </a:lvl2pPr>
                <a:lvl3pPr marL="1317625" eaLnBrk="0" hangingPunct="0">
                  <a:defRPr sz="1400">
                    <a:solidFill>
                      <a:schemeClr val="tx1"/>
                    </a:solidFill>
                    <a:latin typeface="Arial" pitchFamily="34" charset="0"/>
                    <a:cs typeface="Arial" pitchFamily="34" charset="0"/>
                  </a:defRPr>
                </a:lvl3pPr>
                <a:lvl4pPr marL="1431925" eaLnBrk="0" hangingPunct="0">
                  <a:defRPr sz="1400">
                    <a:solidFill>
                      <a:schemeClr val="tx1"/>
                    </a:solidFill>
                    <a:latin typeface="Arial" pitchFamily="34" charset="0"/>
                    <a:cs typeface="Arial" pitchFamily="34" charset="0"/>
                  </a:defRPr>
                </a:lvl4pPr>
                <a:lvl5pPr eaLnBrk="0" hangingPunct="0">
                  <a:defRPr sz="1400">
                    <a:solidFill>
                      <a:schemeClr val="tx1"/>
                    </a:solidFill>
                    <a:latin typeface="Arial" pitchFamily="34" charset="0"/>
                    <a:cs typeface="Arial" pitchFamily="34" charset="0"/>
                  </a:defRPr>
                </a:lvl5pPr>
                <a:lvl6pPr eaLnBrk="0" fontAlgn="base" hangingPunct="0">
                  <a:spcBef>
                    <a:spcPct val="0"/>
                  </a:spcBef>
                  <a:spcAft>
                    <a:spcPct val="0"/>
                  </a:spcAft>
                  <a:defRPr sz="1400">
                    <a:solidFill>
                      <a:schemeClr val="tx1"/>
                    </a:solidFill>
                    <a:latin typeface="Arial" pitchFamily="34" charset="0"/>
                    <a:cs typeface="Arial" pitchFamily="34" charset="0"/>
                  </a:defRPr>
                </a:lvl6pPr>
                <a:lvl7pPr eaLnBrk="0" fontAlgn="base" hangingPunct="0">
                  <a:spcBef>
                    <a:spcPct val="0"/>
                  </a:spcBef>
                  <a:spcAft>
                    <a:spcPct val="0"/>
                  </a:spcAft>
                  <a:defRPr sz="1400">
                    <a:solidFill>
                      <a:schemeClr val="tx1"/>
                    </a:solidFill>
                    <a:latin typeface="Arial" pitchFamily="34" charset="0"/>
                    <a:cs typeface="Arial" pitchFamily="34" charset="0"/>
                  </a:defRPr>
                </a:lvl7pPr>
                <a:lvl8pPr eaLnBrk="0" fontAlgn="base" hangingPunct="0">
                  <a:spcBef>
                    <a:spcPct val="0"/>
                  </a:spcBef>
                  <a:spcAft>
                    <a:spcPct val="0"/>
                  </a:spcAft>
                  <a:defRPr sz="1400">
                    <a:solidFill>
                      <a:schemeClr val="tx1"/>
                    </a:solidFill>
                    <a:latin typeface="Arial" pitchFamily="34" charset="0"/>
                    <a:cs typeface="Arial" pitchFamily="34" charset="0"/>
                  </a:defRPr>
                </a:lvl8pPr>
                <a:lvl9pPr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a:t>Si </a:t>
                </a:r>
                <a:r>
                  <a:rPr lang="es-ES_tradnl" altLang="es-ES" i="1">
                    <a:latin typeface="Times New Roman" pitchFamily="18" charset="0"/>
                  </a:rPr>
                  <a:t>t</a:t>
                </a:r>
                <a:r>
                  <a:rPr lang="es-ES_tradnl" altLang="es-ES" baseline="-25000">
                    <a:latin typeface="Times New Roman" pitchFamily="18" charset="0"/>
                  </a:rPr>
                  <a:t>exp</a:t>
                </a:r>
                <a:r>
                  <a:rPr lang="es-ES_tradnl" altLang="es-ES">
                    <a:latin typeface="Times New Roman" pitchFamily="18" charset="0"/>
                  </a:rPr>
                  <a:t>≥</a:t>
                </a:r>
                <a:r>
                  <a:rPr lang="es-ES_tradnl" altLang="es-ES"/>
                  <a:t> </a:t>
                </a:r>
                <a:r>
                  <a:rPr lang="es-ES_tradnl" altLang="es-ES" i="1">
                    <a:latin typeface="Times New Roman" pitchFamily="18" charset="0"/>
                  </a:rPr>
                  <a:t>t</a:t>
                </a:r>
                <a:r>
                  <a:rPr lang="es-ES_tradnl" altLang="es-ES" baseline="-25000">
                    <a:latin typeface="Symbol" pitchFamily="18" charset="2"/>
                  </a:rPr>
                  <a:t>a </a:t>
                </a:r>
                <a:r>
                  <a:rPr lang="es-ES_tradnl" altLang="es-ES"/>
                  <a:t>→ 	Rechazar H</a:t>
                </a:r>
                <a:r>
                  <a:rPr lang="es-ES_tradnl" altLang="es-ES" baseline="-25000"/>
                  <a:t>0</a:t>
                </a:r>
                <a:r>
                  <a:rPr lang="es-ES_tradnl" altLang="es-ES"/>
                  <a:t> para el nivel </a:t>
                </a:r>
                <a:r>
                  <a:rPr lang="es-ES_tradnl" altLang="es-ES">
                    <a:latin typeface="Symbol" pitchFamily="18" charset="2"/>
                  </a:rPr>
                  <a:t>a</a:t>
                </a:r>
                <a:r>
                  <a:rPr lang="es-ES_tradnl" altLang="es-ES"/>
                  <a:t> prefijado</a:t>
                </a:r>
                <a:endParaRPr lang="es-ES" altLang="es-ES" baseline="-25000">
                  <a:latin typeface="Symbol" pitchFamily="18" charset="2"/>
                </a:endParaRPr>
              </a:p>
            </p:txBody>
          </p:sp>
          <p:sp>
            <p:nvSpPr>
              <p:cNvPr id="28736" name="Text Box 64"/>
              <p:cNvSpPr txBox="1">
                <a:spLocks noChangeArrowheads="1"/>
              </p:cNvSpPr>
              <p:nvPr/>
            </p:nvSpPr>
            <p:spPr bwMode="auto">
              <a:xfrm>
                <a:off x="3131" y="1357"/>
                <a:ext cx="2569"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089025" indent="-1089025" eaLnBrk="0" hangingPunct="0">
                  <a:defRPr sz="1400">
                    <a:solidFill>
                      <a:schemeClr val="tx1"/>
                    </a:solidFill>
                    <a:latin typeface="Arial" pitchFamily="34" charset="0"/>
                    <a:cs typeface="Arial" pitchFamily="34" charset="0"/>
                  </a:defRPr>
                </a:lvl1pPr>
                <a:lvl2pPr marL="1203325" eaLnBrk="0" hangingPunct="0">
                  <a:defRPr sz="1400">
                    <a:solidFill>
                      <a:schemeClr val="tx1"/>
                    </a:solidFill>
                    <a:latin typeface="Arial" pitchFamily="34" charset="0"/>
                    <a:cs typeface="Arial" pitchFamily="34" charset="0"/>
                  </a:defRPr>
                </a:lvl2pPr>
                <a:lvl3pPr marL="1317625" eaLnBrk="0" hangingPunct="0">
                  <a:defRPr sz="1400">
                    <a:solidFill>
                      <a:schemeClr val="tx1"/>
                    </a:solidFill>
                    <a:latin typeface="Arial" pitchFamily="34" charset="0"/>
                    <a:cs typeface="Arial" pitchFamily="34" charset="0"/>
                  </a:defRPr>
                </a:lvl3pPr>
                <a:lvl4pPr marL="1431925" eaLnBrk="0" hangingPunct="0">
                  <a:defRPr sz="1400">
                    <a:solidFill>
                      <a:schemeClr val="tx1"/>
                    </a:solidFill>
                    <a:latin typeface="Arial" pitchFamily="34" charset="0"/>
                    <a:cs typeface="Arial" pitchFamily="34" charset="0"/>
                  </a:defRPr>
                </a:lvl4pPr>
                <a:lvl5pPr eaLnBrk="0" hangingPunct="0">
                  <a:defRPr sz="1400">
                    <a:solidFill>
                      <a:schemeClr val="tx1"/>
                    </a:solidFill>
                    <a:latin typeface="Arial" pitchFamily="34" charset="0"/>
                    <a:cs typeface="Arial" pitchFamily="34" charset="0"/>
                  </a:defRPr>
                </a:lvl5pPr>
                <a:lvl6pPr eaLnBrk="0" fontAlgn="base" hangingPunct="0">
                  <a:spcBef>
                    <a:spcPct val="0"/>
                  </a:spcBef>
                  <a:spcAft>
                    <a:spcPct val="0"/>
                  </a:spcAft>
                  <a:defRPr sz="1400">
                    <a:solidFill>
                      <a:schemeClr val="tx1"/>
                    </a:solidFill>
                    <a:latin typeface="Arial" pitchFamily="34" charset="0"/>
                    <a:cs typeface="Arial" pitchFamily="34" charset="0"/>
                  </a:defRPr>
                </a:lvl6pPr>
                <a:lvl7pPr eaLnBrk="0" fontAlgn="base" hangingPunct="0">
                  <a:spcBef>
                    <a:spcPct val="0"/>
                  </a:spcBef>
                  <a:spcAft>
                    <a:spcPct val="0"/>
                  </a:spcAft>
                  <a:defRPr sz="1400">
                    <a:solidFill>
                      <a:schemeClr val="tx1"/>
                    </a:solidFill>
                    <a:latin typeface="Arial" pitchFamily="34" charset="0"/>
                    <a:cs typeface="Arial" pitchFamily="34" charset="0"/>
                  </a:defRPr>
                </a:lvl7pPr>
                <a:lvl8pPr eaLnBrk="0" fontAlgn="base" hangingPunct="0">
                  <a:spcBef>
                    <a:spcPct val="0"/>
                  </a:spcBef>
                  <a:spcAft>
                    <a:spcPct val="0"/>
                  </a:spcAft>
                  <a:defRPr sz="1400">
                    <a:solidFill>
                      <a:schemeClr val="tx1"/>
                    </a:solidFill>
                    <a:latin typeface="Arial" pitchFamily="34" charset="0"/>
                    <a:cs typeface="Arial" pitchFamily="34" charset="0"/>
                  </a:defRPr>
                </a:lvl8pPr>
                <a:lvl9pPr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a:t>Si</a:t>
                </a:r>
                <a:r>
                  <a:rPr lang="es-ES_tradnl" altLang="es-ES">
                    <a:latin typeface="Times New Roman" pitchFamily="18" charset="0"/>
                  </a:rPr>
                  <a:t> </a:t>
                </a:r>
                <a:r>
                  <a:rPr lang="es-ES_tradnl" altLang="es-ES" i="1">
                    <a:latin typeface="Times New Roman" pitchFamily="18" charset="0"/>
                  </a:rPr>
                  <a:t>t</a:t>
                </a:r>
                <a:r>
                  <a:rPr lang="es-ES_tradnl" altLang="es-ES" baseline="-25000"/>
                  <a:t>exp</a:t>
                </a:r>
                <a:r>
                  <a:rPr lang="es-ES_tradnl" altLang="es-ES"/>
                  <a:t>&lt; </a:t>
                </a:r>
                <a:r>
                  <a:rPr lang="es-ES_tradnl" altLang="es-ES" i="1">
                    <a:latin typeface="Times New Roman" pitchFamily="18" charset="0"/>
                  </a:rPr>
                  <a:t>t</a:t>
                </a:r>
                <a:r>
                  <a:rPr lang="es-ES_tradnl" altLang="es-ES" baseline="-25000">
                    <a:latin typeface="Symbol" pitchFamily="18" charset="2"/>
                  </a:rPr>
                  <a:t>a </a:t>
                </a:r>
                <a:r>
                  <a:rPr lang="es-ES_tradnl" altLang="es-ES"/>
                  <a:t>→ 	Aceptar H</a:t>
                </a:r>
                <a:r>
                  <a:rPr lang="es-ES_tradnl" altLang="es-ES" baseline="-25000"/>
                  <a:t>0</a:t>
                </a:r>
                <a:r>
                  <a:rPr lang="es-ES_tradnl" altLang="es-ES"/>
                  <a:t> para el nivel </a:t>
                </a:r>
                <a:r>
                  <a:rPr lang="es-ES_tradnl" altLang="es-ES">
                    <a:latin typeface="Symbol" pitchFamily="18" charset="2"/>
                  </a:rPr>
                  <a:t>a</a:t>
                </a:r>
                <a:r>
                  <a:rPr lang="es-ES_tradnl" altLang="es-ES"/>
                  <a:t> prefijado</a:t>
                </a:r>
                <a:endParaRPr lang="es-ES" altLang="es-ES" baseline="-25000">
                  <a:latin typeface="Symbol" pitchFamily="18" charset="2"/>
                </a:endParaRPr>
              </a:p>
            </p:txBody>
          </p:sp>
        </p:grpSp>
        <p:sp>
          <p:nvSpPr>
            <p:cNvPr id="28739" name="Line 67"/>
            <p:cNvSpPr>
              <a:spLocks noChangeShapeType="1"/>
            </p:cNvSpPr>
            <p:nvPr/>
          </p:nvSpPr>
          <p:spPr bwMode="auto">
            <a:xfrm>
              <a:off x="1083" y="764"/>
              <a:ext cx="35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28755" name="Group 83"/>
            <p:cNvGrpSpPr>
              <a:grpSpLocks/>
            </p:cNvGrpSpPr>
            <p:nvPr/>
          </p:nvGrpSpPr>
          <p:grpSpPr bwMode="auto">
            <a:xfrm rot="-221153">
              <a:off x="544" y="1426"/>
              <a:ext cx="611" cy="557"/>
              <a:chOff x="2230" y="1224"/>
              <a:chExt cx="743" cy="557"/>
            </a:xfrm>
          </p:grpSpPr>
          <p:sp>
            <p:nvSpPr>
              <p:cNvPr id="28741" name="Line 69"/>
              <p:cNvSpPr>
                <a:spLocks noChangeShapeType="1"/>
              </p:cNvSpPr>
              <p:nvPr/>
            </p:nvSpPr>
            <p:spPr bwMode="auto">
              <a:xfrm>
                <a:off x="2275" y="1224"/>
                <a:ext cx="698" cy="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44" name="Line 72"/>
              <p:cNvSpPr>
                <a:spLocks noChangeShapeType="1"/>
              </p:cNvSpPr>
              <p:nvPr/>
            </p:nvSpPr>
            <p:spPr bwMode="auto">
              <a:xfrm flipH="1">
                <a:off x="2230" y="1224"/>
                <a:ext cx="45" cy="55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28745" name="Line 73"/>
            <p:cNvSpPr>
              <a:spLocks noChangeShapeType="1"/>
            </p:cNvSpPr>
            <p:nvPr/>
          </p:nvSpPr>
          <p:spPr bwMode="auto">
            <a:xfrm>
              <a:off x="582" y="2363"/>
              <a:ext cx="141" cy="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47" name="Text Box 75"/>
            <p:cNvSpPr txBox="1">
              <a:spLocks noChangeArrowheads="1"/>
            </p:cNvSpPr>
            <p:nvPr/>
          </p:nvSpPr>
          <p:spPr bwMode="auto">
            <a:xfrm>
              <a:off x="729" y="2776"/>
              <a:ext cx="2629" cy="3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089025" indent="-1089025" eaLnBrk="0" hangingPunct="0">
                <a:defRPr sz="1400">
                  <a:solidFill>
                    <a:schemeClr val="tx1"/>
                  </a:solidFill>
                  <a:latin typeface="Arial" pitchFamily="34" charset="0"/>
                  <a:cs typeface="Arial" pitchFamily="34" charset="0"/>
                </a:defRPr>
              </a:lvl1pPr>
              <a:lvl2pPr marL="1203325" eaLnBrk="0" hangingPunct="0">
                <a:defRPr sz="1400">
                  <a:solidFill>
                    <a:schemeClr val="tx1"/>
                  </a:solidFill>
                  <a:latin typeface="Arial" pitchFamily="34" charset="0"/>
                  <a:cs typeface="Arial" pitchFamily="34" charset="0"/>
                </a:defRPr>
              </a:lvl2pPr>
              <a:lvl3pPr marL="1317625" eaLnBrk="0" hangingPunct="0">
                <a:defRPr sz="1400">
                  <a:solidFill>
                    <a:schemeClr val="tx1"/>
                  </a:solidFill>
                  <a:latin typeface="Arial" pitchFamily="34" charset="0"/>
                  <a:cs typeface="Arial" pitchFamily="34" charset="0"/>
                </a:defRPr>
              </a:lvl3pPr>
              <a:lvl4pPr marL="1431925" eaLnBrk="0" hangingPunct="0">
                <a:defRPr sz="1400">
                  <a:solidFill>
                    <a:schemeClr val="tx1"/>
                  </a:solidFill>
                  <a:latin typeface="Arial" pitchFamily="34" charset="0"/>
                  <a:cs typeface="Arial" pitchFamily="34" charset="0"/>
                </a:defRPr>
              </a:lvl4pPr>
              <a:lvl5pPr eaLnBrk="0" hangingPunct="0">
                <a:defRPr sz="1400">
                  <a:solidFill>
                    <a:schemeClr val="tx1"/>
                  </a:solidFill>
                  <a:latin typeface="Arial" pitchFamily="34" charset="0"/>
                  <a:cs typeface="Arial" pitchFamily="34" charset="0"/>
                </a:defRPr>
              </a:lvl5pPr>
              <a:lvl6pPr eaLnBrk="0" fontAlgn="base" hangingPunct="0">
                <a:spcBef>
                  <a:spcPct val="0"/>
                </a:spcBef>
                <a:spcAft>
                  <a:spcPct val="0"/>
                </a:spcAft>
                <a:defRPr sz="1400">
                  <a:solidFill>
                    <a:schemeClr val="tx1"/>
                  </a:solidFill>
                  <a:latin typeface="Arial" pitchFamily="34" charset="0"/>
                  <a:cs typeface="Arial" pitchFamily="34" charset="0"/>
                </a:defRPr>
              </a:lvl6pPr>
              <a:lvl7pPr eaLnBrk="0" fontAlgn="base" hangingPunct="0">
                <a:spcBef>
                  <a:spcPct val="0"/>
                </a:spcBef>
                <a:spcAft>
                  <a:spcPct val="0"/>
                </a:spcAft>
                <a:defRPr sz="1400">
                  <a:solidFill>
                    <a:schemeClr val="tx1"/>
                  </a:solidFill>
                  <a:latin typeface="Arial" pitchFamily="34" charset="0"/>
                  <a:cs typeface="Arial" pitchFamily="34" charset="0"/>
                </a:defRPr>
              </a:lvl7pPr>
              <a:lvl8pPr eaLnBrk="0" fontAlgn="base" hangingPunct="0">
                <a:spcBef>
                  <a:spcPct val="0"/>
                </a:spcBef>
                <a:spcAft>
                  <a:spcPct val="0"/>
                </a:spcAft>
                <a:defRPr sz="1400">
                  <a:solidFill>
                    <a:schemeClr val="tx1"/>
                  </a:solidFill>
                  <a:latin typeface="Arial" pitchFamily="34" charset="0"/>
                  <a:cs typeface="Arial" pitchFamily="34" charset="0"/>
                </a:defRPr>
              </a:lvl8pPr>
              <a:lvl9pPr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a:t>Si </a:t>
              </a:r>
              <a:r>
                <a:rPr lang="es-ES_tradnl" altLang="es-ES" i="1">
                  <a:latin typeface="Times New Roman" pitchFamily="18" charset="0"/>
                </a:rPr>
                <a:t>P </a:t>
              </a:r>
              <a:r>
                <a:rPr lang="es-ES_tradnl" altLang="es-ES" i="1"/>
                <a:t>≤ </a:t>
              </a:r>
              <a:r>
                <a:rPr lang="es-ES_tradnl" altLang="es-ES" sz="1500">
                  <a:latin typeface="Symbol" pitchFamily="18" charset="2"/>
                </a:rPr>
                <a:t>a</a:t>
              </a:r>
              <a:r>
                <a:rPr lang="es-ES_tradnl" altLang="es-ES" baseline="-25000">
                  <a:latin typeface="Symbol" pitchFamily="18" charset="2"/>
                </a:rPr>
                <a:t> </a:t>
              </a:r>
              <a:r>
                <a:rPr lang="es-ES_tradnl" altLang="es-ES"/>
                <a:t>→	Rechazar H</a:t>
              </a:r>
              <a:r>
                <a:rPr lang="es-ES_tradnl" altLang="es-ES" baseline="-25000"/>
                <a:t>0</a:t>
              </a:r>
              <a:r>
                <a:rPr lang="es-ES_tradnl" altLang="es-ES"/>
                <a:t> indicando el nivel de significación </a:t>
              </a:r>
              <a:r>
                <a:rPr lang="es-ES_tradnl" altLang="es-ES" i="1">
                  <a:latin typeface="Times New Roman" pitchFamily="18" charset="0"/>
                </a:rPr>
                <a:t>P</a:t>
              </a:r>
              <a:endParaRPr lang="es-ES" altLang="es-ES" i="1" baseline="-25000">
                <a:latin typeface="Times New Roman" pitchFamily="18" charset="0"/>
              </a:endParaRPr>
            </a:p>
          </p:txBody>
        </p:sp>
        <p:sp>
          <p:nvSpPr>
            <p:cNvPr id="28749" name="Text Box 77"/>
            <p:cNvSpPr txBox="1">
              <a:spLocks noChangeArrowheads="1"/>
            </p:cNvSpPr>
            <p:nvPr/>
          </p:nvSpPr>
          <p:spPr bwMode="auto">
            <a:xfrm>
              <a:off x="729" y="3093"/>
              <a:ext cx="2629" cy="3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089025" indent="-1089025" eaLnBrk="0" hangingPunct="0">
                <a:defRPr sz="1400">
                  <a:solidFill>
                    <a:schemeClr val="tx1"/>
                  </a:solidFill>
                  <a:latin typeface="Arial" pitchFamily="34" charset="0"/>
                  <a:cs typeface="Arial" pitchFamily="34" charset="0"/>
                </a:defRPr>
              </a:lvl1pPr>
              <a:lvl2pPr marL="1203325" eaLnBrk="0" hangingPunct="0">
                <a:defRPr sz="1400">
                  <a:solidFill>
                    <a:schemeClr val="tx1"/>
                  </a:solidFill>
                  <a:latin typeface="Arial" pitchFamily="34" charset="0"/>
                  <a:cs typeface="Arial" pitchFamily="34" charset="0"/>
                </a:defRPr>
              </a:lvl2pPr>
              <a:lvl3pPr marL="1317625" eaLnBrk="0" hangingPunct="0">
                <a:defRPr sz="1400">
                  <a:solidFill>
                    <a:schemeClr val="tx1"/>
                  </a:solidFill>
                  <a:latin typeface="Arial" pitchFamily="34" charset="0"/>
                  <a:cs typeface="Arial" pitchFamily="34" charset="0"/>
                </a:defRPr>
              </a:lvl3pPr>
              <a:lvl4pPr marL="1431925" eaLnBrk="0" hangingPunct="0">
                <a:defRPr sz="1400">
                  <a:solidFill>
                    <a:schemeClr val="tx1"/>
                  </a:solidFill>
                  <a:latin typeface="Arial" pitchFamily="34" charset="0"/>
                  <a:cs typeface="Arial" pitchFamily="34" charset="0"/>
                </a:defRPr>
              </a:lvl4pPr>
              <a:lvl5pPr eaLnBrk="0" hangingPunct="0">
                <a:defRPr sz="1400">
                  <a:solidFill>
                    <a:schemeClr val="tx1"/>
                  </a:solidFill>
                  <a:latin typeface="Arial" pitchFamily="34" charset="0"/>
                  <a:cs typeface="Arial" pitchFamily="34" charset="0"/>
                </a:defRPr>
              </a:lvl5pPr>
              <a:lvl6pPr eaLnBrk="0" fontAlgn="base" hangingPunct="0">
                <a:spcBef>
                  <a:spcPct val="0"/>
                </a:spcBef>
                <a:spcAft>
                  <a:spcPct val="0"/>
                </a:spcAft>
                <a:defRPr sz="1400">
                  <a:solidFill>
                    <a:schemeClr val="tx1"/>
                  </a:solidFill>
                  <a:latin typeface="Arial" pitchFamily="34" charset="0"/>
                  <a:cs typeface="Arial" pitchFamily="34" charset="0"/>
                </a:defRPr>
              </a:lvl6pPr>
              <a:lvl7pPr eaLnBrk="0" fontAlgn="base" hangingPunct="0">
                <a:spcBef>
                  <a:spcPct val="0"/>
                </a:spcBef>
                <a:spcAft>
                  <a:spcPct val="0"/>
                </a:spcAft>
                <a:defRPr sz="1400">
                  <a:solidFill>
                    <a:schemeClr val="tx1"/>
                  </a:solidFill>
                  <a:latin typeface="Arial" pitchFamily="34" charset="0"/>
                  <a:cs typeface="Arial" pitchFamily="34" charset="0"/>
                </a:defRPr>
              </a:lvl7pPr>
              <a:lvl8pPr eaLnBrk="0" fontAlgn="base" hangingPunct="0">
                <a:spcBef>
                  <a:spcPct val="0"/>
                </a:spcBef>
                <a:spcAft>
                  <a:spcPct val="0"/>
                </a:spcAft>
                <a:defRPr sz="1400">
                  <a:solidFill>
                    <a:schemeClr val="tx1"/>
                  </a:solidFill>
                  <a:latin typeface="Arial" pitchFamily="34" charset="0"/>
                  <a:cs typeface="Arial" pitchFamily="34" charset="0"/>
                </a:defRPr>
              </a:lvl8pPr>
              <a:lvl9pPr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a:t>Si </a:t>
              </a:r>
              <a:r>
                <a:rPr lang="es-ES_tradnl" altLang="es-ES" i="1">
                  <a:latin typeface="Times New Roman" pitchFamily="18" charset="0"/>
                </a:rPr>
                <a:t>P </a:t>
              </a:r>
              <a:r>
                <a:rPr lang="es-ES_tradnl" altLang="es-ES" i="1"/>
                <a:t>&gt; </a:t>
              </a:r>
              <a:r>
                <a:rPr lang="es-ES_tradnl" altLang="es-ES" sz="1500">
                  <a:latin typeface="Symbol" pitchFamily="18" charset="2"/>
                </a:rPr>
                <a:t>a</a:t>
              </a:r>
              <a:r>
                <a:rPr lang="es-ES_tradnl" altLang="es-ES" baseline="-25000">
                  <a:latin typeface="Symbol" pitchFamily="18" charset="2"/>
                </a:rPr>
                <a:t> </a:t>
              </a:r>
              <a:r>
                <a:rPr lang="es-ES_tradnl" altLang="es-ES"/>
                <a:t>→	Aceptar H</a:t>
              </a:r>
              <a:r>
                <a:rPr lang="es-ES_tradnl" altLang="es-ES" baseline="-25000"/>
                <a:t>0</a:t>
              </a:r>
              <a:r>
                <a:rPr lang="es-ES_tradnl" altLang="es-ES"/>
                <a:t> indicando el nivel de significación </a:t>
              </a:r>
              <a:r>
                <a:rPr lang="es-ES_tradnl" altLang="es-ES" i="1">
                  <a:latin typeface="Times New Roman" pitchFamily="18" charset="0"/>
                </a:rPr>
                <a:t>P</a:t>
              </a:r>
              <a:endParaRPr lang="es-ES" altLang="es-ES" i="1" baseline="-25000">
                <a:latin typeface="Times New Roman" pitchFamily="18" charset="0"/>
              </a:endParaRPr>
            </a:p>
          </p:txBody>
        </p:sp>
        <p:sp>
          <p:nvSpPr>
            <p:cNvPr id="28752" name="Text Box 80"/>
            <p:cNvSpPr txBox="1">
              <a:spLocks noChangeArrowheads="1"/>
            </p:cNvSpPr>
            <p:nvPr/>
          </p:nvSpPr>
          <p:spPr bwMode="auto">
            <a:xfrm>
              <a:off x="1307" y="1981"/>
              <a:ext cx="2643" cy="2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a:r>
                <a:rPr lang="es-ES_tradnl" altLang="es-ES" dirty="0"/>
                <a:t>Esta forma de decidir debe evitarse en la medida de lo posible</a:t>
              </a:r>
              <a:endParaRPr lang="es-ES" altLang="es-ES" dirty="0"/>
            </a:p>
          </p:txBody>
        </p:sp>
        <p:sp>
          <p:nvSpPr>
            <p:cNvPr id="28753" name="Text Box 81"/>
            <p:cNvSpPr txBox="1">
              <a:spLocks noChangeArrowheads="1"/>
            </p:cNvSpPr>
            <p:nvPr/>
          </p:nvSpPr>
          <p:spPr bwMode="auto">
            <a:xfrm>
              <a:off x="729" y="3435"/>
              <a:ext cx="3219"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a:r>
                <a:rPr lang="es-ES_tradnl" altLang="es-ES"/>
                <a:t>La literatura científica está repleta de niveles de significación </a:t>
              </a:r>
              <a:r>
                <a:rPr lang="es-ES_tradnl" altLang="es-ES" i="1">
                  <a:latin typeface="Times New Roman" pitchFamily="18" charset="0"/>
                </a:rPr>
                <a:t>P</a:t>
              </a:r>
              <a:endParaRPr lang="es-ES" altLang="es-ES" i="1">
                <a:latin typeface="Times New Roman" pitchFamily="18" charset="0"/>
              </a:endParaRPr>
            </a:p>
          </p:txBody>
        </p:sp>
        <p:sp>
          <p:nvSpPr>
            <p:cNvPr id="28754" name="Line 82"/>
            <p:cNvSpPr>
              <a:spLocks noChangeShapeType="1"/>
            </p:cNvSpPr>
            <p:nvPr/>
          </p:nvSpPr>
          <p:spPr bwMode="auto">
            <a:xfrm flipH="1">
              <a:off x="1856" y="1044"/>
              <a:ext cx="0" cy="2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56" name="AutoShape 84"/>
            <p:cNvSpPr>
              <a:spLocks noChangeArrowheads="1"/>
            </p:cNvSpPr>
            <p:nvPr/>
          </p:nvSpPr>
          <p:spPr bwMode="auto">
            <a:xfrm>
              <a:off x="642" y="2634"/>
              <a:ext cx="3378" cy="1134"/>
            </a:xfrm>
            <a:prstGeom prst="roundRect">
              <a:avLst>
                <a:gd name="adj" fmla="val 691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43" name="Text Box 71"/>
            <p:cNvSpPr txBox="1">
              <a:spLocks noChangeArrowheads="1"/>
            </p:cNvSpPr>
            <p:nvPr/>
          </p:nvSpPr>
          <p:spPr bwMode="auto">
            <a:xfrm>
              <a:off x="729" y="2537"/>
              <a:ext cx="979" cy="17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dirty="0">
                  <a:solidFill>
                    <a:srgbClr val="700000"/>
                  </a:solidFill>
                </a:rPr>
                <a:t>2ª forma de decidir</a:t>
              </a:r>
              <a:r>
                <a:rPr lang="es-ES_tradnl" altLang="es-ES" dirty="0"/>
                <a:t>: </a:t>
              </a:r>
              <a:endParaRPr lang="es-ES" altLang="es-ES" dirty="0"/>
            </a:p>
          </p:txBody>
        </p:sp>
        <p:sp>
          <p:nvSpPr>
            <p:cNvPr id="28757" name="AutoShape 85"/>
            <p:cNvSpPr>
              <a:spLocks noChangeArrowheads="1"/>
            </p:cNvSpPr>
            <p:nvPr/>
          </p:nvSpPr>
          <p:spPr bwMode="auto">
            <a:xfrm>
              <a:off x="1254" y="1458"/>
              <a:ext cx="2724" cy="894"/>
            </a:xfrm>
            <a:prstGeom prst="roundRect">
              <a:avLst>
                <a:gd name="adj" fmla="val 6917"/>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42" name="Text Box 70"/>
            <p:cNvSpPr txBox="1">
              <a:spLocks noChangeArrowheads="1"/>
            </p:cNvSpPr>
            <p:nvPr/>
          </p:nvSpPr>
          <p:spPr bwMode="auto">
            <a:xfrm>
              <a:off x="1307" y="1356"/>
              <a:ext cx="979" cy="176"/>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dirty="0">
                  <a:solidFill>
                    <a:srgbClr val="700000"/>
                  </a:solidFill>
                </a:rPr>
                <a:t>1ª forma de decidir: </a:t>
              </a:r>
              <a:endParaRPr lang="es-ES" altLang="es-ES" dirty="0">
                <a:solidFill>
                  <a:srgbClr val="700000"/>
                </a:solidFill>
              </a:endParaRPr>
            </a:p>
          </p:txBody>
        </p:sp>
      </p:grpSp>
      <p:grpSp>
        <p:nvGrpSpPr>
          <p:cNvPr id="28763" name="Group 91"/>
          <p:cNvGrpSpPr>
            <a:grpSpLocks/>
          </p:cNvGrpSpPr>
          <p:nvPr/>
        </p:nvGrpSpPr>
        <p:grpSpPr bwMode="auto">
          <a:xfrm>
            <a:off x="6800850" y="858838"/>
            <a:ext cx="1984375" cy="5380038"/>
            <a:chOff x="4284" y="541"/>
            <a:chExt cx="1250" cy="3389"/>
          </a:xfrm>
        </p:grpSpPr>
        <p:sp>
          <p:nvSpPr>
            <p:cNvPr id="28710" name="Freeform 34"/>
            <p:cNvSpPr>
              <a:spLocks/>
            </p:cNvSpPr>
            <p:nvPr/>
          </p:nvSpPr>
          <p:spPr bwMode="auto">
            <a:xfrm>
              <a:off x="4284" y="541"/>
              <a:ext cx="1247" cy="737"/>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000080"/>
            </a:solidFill>
            <a:ln>
              <a:noFill/>
            </a:ln>
            <a:extLs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s-ES"/>
            </a:p>
          </p:txBody>
        </p:sp>
        <p:sp>
          <p:nvSpPr>
            <p:cNvPr id="28711" name="Rectangle 39"/>
            <p:cNvSpPr>
              <a:spLocks noChangeArrowheads="1"/>
            </p:cNvSpPr>
            <p:nvPr/>
          </p:nvSpPr>
          <p:spPr bwMode="auto">
            <a:xfrm>
              <a:off x="4284" y="541"/>
              <a:ext cx="991" cy="753"/>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09" name="Freeform 34"/>
            <p:cNvSpPr>
              <a:spLocks/>
            </p:cNvSpPr>
            <p:nvPr/>
          </p:nvSpPr>
          <p:spPr bwMode="auto">
            <a:xfrm>
              <a:off x="4286" y="541"/>
              <a:ext cx="1243" cy="737"/>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35001"/>
              </a:srgbClr>
            </a:solidFill>
            <a:ln w="11176">
              <a:solidFill>
                <a:schemeClr val="bg2">
                  <a:lumMod val="50000"/>
                </a:schemeClr>
              </a:solidFill>
              <a:prstDash val="solid"/>
              <a:round/>
              <a:headEnd/>
              <a:tailEnd/>
            </a:ln>
          </p:spPr>
          <p:txBody>
            <a:bodyPr/>
            <a:lstStyle/>
            <a:p>
              <a:endParaRPr lang="es-ES"/>
            </a:p>
          </p:txBody>
        </p:sp>
        <p:sp>
          <p:nvSpPr>
            <p:cNvPr id="28726" name="Line 54"/>
            <p:cNvSpPr>
              <a:spLocks noChangeShapeType="1"/>
            </p:cNvSpPr>
            <p:nvPr/>
          </p:nvSpPr>
          <p:spPr bwMode="auto">
            <a:xfrm flipH="1">
              <a:off x="5321" y="1111"/>
              <a:ext cx="45" cy="1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27" name="Text Box 55"/>
            <p:cNvSpPr txBox="1">
              <a:spLocks noChangeArrowheads="1"/>
            </p:cNvSpPr>
            <p:nvPr/>
          </p:nvSpPr>
          <p:spPr bwMode="auto">
            <a:xfrm>
              <a:off x="5316" y="935"/>
              <a:ext cx="185"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a:latin typeface="Symbol" pitchFamily="18" charset="2"/>
                </a:rPr>
                <a:t>a</a:t>
              </a:r>
              <a:endParaRPr lang="es-ES" altLang="es-ES">
                <a:latin typeface="Symbol" pitchFamily="18" charset="2"/>
              </a:endParaRPr>
            </a:p>
          </p:txBody>
        </p:sp>
        <p:grpSp>
          <p:nvGrpSpPr>
            <p:cNvPr id="28761" name="Group 89"/>
            <p:cNvGrpSpPr>
              <a:grpSpLocks/>
            </p:cNvGrpSpPr>
            <p:nvPr/>
          </p:nvGrpSpPr>
          <p:grpSpPr bwMode="auto">
            <a:xfrm>
              <a:off x="4287" y="1915"/>
              <a:ext cx="1247" cy="895"/>
              <a:chOff x="4284" y="2516"/>
              <a:chExt cx="1247" cy="895"/>
            </a:xfrm>
          </p:grpSpPr>
          <p:sp>
            <p:nvSpPr>
              <p:cNvPr id="28719" name="Freeform 34"/>
              <p:cNvSpPr>
                <a:spLocks/>
              </p:cNvSpPr>
              <p:nvPr/>
            </p:nvSpPr>
            <p:spPr bwMode="auto">
              <a:xfrm>
                <a:off x="4284" y="2518"/>
                <a:ext cx="1247" cy="737"/>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800000"/>
              </a:solidFill>
              <a:ln>
                <a:noFill/>
              </a:ln>
              <a:extLs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s-ES"/>
              </a:p>
            </p:txBody>
          </p:sp>
          <p:sp>
            <p:nvSpPr>
              <p:cNvPr id="28720" name="Rectangle 48"/>
              <p:cNvSpPr>
                <a:spLocks noChangeArrowheads="1"/>
              </p:cNvSpPr>
              <p:nvPr/>
            </p:nvSpPr>
            <p:spPr bwMode="auto">
              <a:xfrm>
                <a:off x="4284" y="2518"/>
                <a:ext cx="1066" cy="753"/>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21" name="Freeform 34"/>
              <p:cNvSpPr>
                <a:spLocks/>
              </p:cNvSpPr>
              <p:nvPr/>
            </p:nvSpPr>
            <p:spPr bwMode="auto">
              <a:xfrm>
                <a:off x="4287" y="2516"/>
                <a:ext cx="1243" cy="737"/>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35001"/>
                </a:srgbClr>
              </a:solidFill>
              <a:ln w="11176">
                <a:solidFill>
                  <a:schemeClr val="bg2">
                    <a:lumMod val="75000"/>
                  </a:schemeClr>
                </a:solidFill>
                <a:prstDash val="solid"/>
                <a:round/>
                <a:headEnd/>
                <a:tailEnd/>
              </a:ln>
            </p:spPr>
            <p:txBody>
              <a:bodyPr/>
              <a:lstStyle/>
              <a:p>
                <a:endParaRPr lang="es-ES"/>
              </a:p>
            </p:txBody>
          </p:sp>
          <p:sp>
            <p:nvSpPr>
              <p:cNvPr id="28729" name="Text Box 57"/>
              <p:cNvSpPr txBox="1">
                <a:spLocks noChangeArrowheads="1"/>
              </p:cNvSpPr>
              <p:nvPr/>
            </p:nvSpPr>
            <p:spPr bwMode="auto">
              <a:xfrm>
                <a:off x="5317" y="2867"/>
                <a:ext cx="18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i="1">
                    <a:latin typeface="Times New Roman" pitchFamily="18" charset="0"/>
                  </a:rPr>
                  <a:t>P</a:t>
                </a:r>
                <a:endParaRPr lang="es-ES" altLang="es-ES" i="1">
                  <a:latin typeface="Times New Roman" pitchFamily="18" charset="0"/>
                </a:endParaRPr>
              </a:p>
            </p:txBody>
          </p:sp>
          <p:sp>
            <p:nvSpPr>
              <p:cNvPr id="28732" name="Line 60"/>
              <p:cNvSpPr>
                <a:spLocks noChangeShapeType="1"/>
              </p:cNvSpPr>
              <p:nvPr/>
            </p:nvSpPr>
            <p:spPr bwMode="auto">
              <a:xfrm>
                <a:off x="5385" y="3035"/>
                <a:ext cx="17" cy="17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28750" name="Object 9"/>
              <p:cNvGraphicFramePr>
                <a:graphicFrameLocks noChangeAspect="1"/>
              </p:cNvGraphicFramePr>
              <p:nvPr/>
            </p:nvGraphicFramePr>
            <p:xfrm>
              <a:off x="4757" y="3291"/>
              <a:ext cx="284" cy="120"/>
            </p:xfrm>
            <a:graphic>
              <a:graphicData uri="http://schemas.openxmlformats.org/presentationml/2006/ole">
                <mc:AlternateContent xmlns:mc="http://schemas.openxmlformats.org/markup-compatibility/2006">
                  <mc:Choice xmlns:v="urn:schemas-microsoft-com:vml" Requires="v">
                    <p:oleObj name="Equation" r:id="rId2" imgW="558720" imgH="228600" progId="Equation.DSMT4">
                      <p:embed/>
                    </p:oleObj>
                  </mc:Choice>
                  <mc:Fallback>
                    <p:oleObj name="Equation" r:id="rId2" imgW="558720" imgH="228600" progId="Equation.DSMT4">
                      <p:embed/>
                      <p:pic>
                        <p:nvPicPr>
                          <p:cNvPr id="2875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7" y="3291"/>
                            <a:ext cx="284" cy="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8762" name="Group 90"/>
            <p:cNvGrpSpPr>
              <a:grpSpLocks/>
            </p:cNvGrpSpPr>
            <p:nvPr/>
          </p:nvGrpSpPr>
          <p:grpSpPr bwMode="auto">
            <a:xfrm>
              <a:off x="4287" y="3036"/>
              <a:ext cx="1247" cy="894"/>
              <a:chOff x="4284" y="1446"/>
              <a:chExt cx="1247" cy="894"/>
            </a:xfrm>
          </p:grpSpPr>
          <p:sp>
            <p:nvSpPr>
              <p:cNvPr id="28714" name="Freeform 34"/>
              <p:cNvSpPr>
                <a:spLocks/>
              </p:cNvSpPr>
              <p:nvPr/>
            </p:nvSpPr>
            <p:spPr bwMode="auto">
              <a:xfrm>
                <a:off x="4284" y="1448"/>
                <a:ext cx="1247" cy="737"/>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800000"/>
              </a:solidFill>
              <a:ln>
                <a:noFill/>
              </a:ln>
              <a:extLs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s-ES"/>
              </a:p>
            </p:txBody>
          </p:sp>
          <p:sp>
            <p:nvSpPr>
              <p:cNvPr id="28715" name="Rectangle 43"/>
              <p:cNvSpPr>
                <a:spLocks noChangeArrowheads="1"/>
              </p:cNvSpPr>
              <p:nvPr/>
            </p:nvSpPr>
            <p:spPr bwMode="auto">
              <a:xfrm>
                <a:off x="4284" y="1448"/>
                <a:ext cx="855" cy="753"/>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18" name="Freeform 34"/>
              <p:cNvSpPr>
                <a:spLocks/>
              </p:cNvSpPr>
              <p:nvPr/>
            </p:nvSpPr>
            <p:spPr bwMode="auto">
              <a:xfrm>
                <a:off x="4287" y="1446"/>
                <a:ext cx="1243" cy="737"/>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C0C0C0">
                  <a:alpha val="35001"/>
                </a:srgbClr>
              </a:solidFill>
              <a:ln w="11176">
                <a:solidFill>
                  <a:schemeClr val="bg2">
                    <a:lumMod val="75000"/>
                  </a:schemeClr>
                </a:solidFill>
                <a:prstDash val="solid"/>
                <a:round/>
                <a:headEnd/>
                <a:tailEnd/>
              </a:ln>
            </p:spPr>
            <p:txBody>
              <a:bodyPr/>
              <a:lstStyle/>
              <a:p>
                <a:endParaRPr lang="es-ES" dirty="0"/>
              </a:p>
            </p:txBody>
          </p:sp>
          <p:sp>
            <p:nvSpPr>
              <p:cNvPr id="28728" name="Text Box 56"/>
              <p:cNvSpPr txBox="1">
                <a:spLocks noChangeArrowheads="1"/>
              </p:cNvSpPr>
              <p:nvPr/>
            </p:nvSpPr>
            <p:spPr bwMode="auto">
              <a:xfrm>
                <a:off x="5317" y="1787"/>
                <a:ext cx="18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i="1">
                    <a:latin typeface="Times New Roman" pitchFamily="18" charset="0"/>
                  </a:rPr>
                  <a:t>P</a:t>
                </a:r>
                <a:endParaRPr lang="es-ES" altLang="es-ES" i="1">
                  <a:latin typeface="Times New Roman" pitchFamily="18" charset="0"/>
                </a:endParaRPr>
              </a:p>
            </p:txBody>
          </p:sp>
          <p:sp>
            <p:nvSpPr>
              <p:cNvPr id="28731" name="Line 59"/>
              <p:cNvSpPr>
                <a:spLocks noChangeShapeType="1"/>
              </p:cNvSpPr>
              <p:nvPr/>
            </p:nvSpPr>
            <p:spPr bwMode="auto">
              <a:xfrm flipH="1">
                <a:off x="5245" y="1960"/>
                <a:ext cx="121" cy="1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28751" name="Object 9"/>
              <p:cNvGraphicFramePr>
                <a:graphicFrameLocks noChangeAspect="1"/>
              </p:cNvGraphicFramePr>
              <p:nvPr/>
            </p:nvGraphicFramePr>
            <p:xfrm>
              <a:off x="4757" y="2220"/>
              <a:ext cx="284" cy="120"/>
            </p:xfrm>
            <a:graphic>
              <a:graphicData uri="http://schemas.openxmlformats.org/presentationml/2006/ole">
                <mc:AlternateContent xmlns:mc="http://schemas.openxmlformats.org/markup-compatibility/2006">
                  <mc:Choice xmlns:v="urn:schemas-microsoft-com:vml" Requires="v">
                    <p:oleObj name="Equation" r:id="rId4" imgW="558720" imgH="228600" progId="Equation.DSMT4">
                      <p:embed/>
                    </p:oleObj>
                  </mc:Choice>
                  <mc:Fallback>
                    <p:oleObj name="Equation" r:id="rId4" imgW="558720" imgH="228600" progId="Equation.DSMT4">
                      <p:embed/>
                      <p:pic>
                        <p:nvPicPr>
                          <p:cNvPr id="28751"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7" y="2220"/>
                            <a:ext cx="284" cy="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8717" name="Line 45"/>
            <p:cNvSpPr>
              <a:spLocks noChangeShapeType="1"/>
            </p:cNvSpPr>
            <p:nvPr/>
          </p:nvSpPr>
          <p:spPr bwMode="auto">
            <a:xfrm>
              <a:off x="5278" y="1046"/>
              <a:ext cx="7" cy="27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28765" name="Line 93"/>
          <p:cNvSpPr>
            <a:spLocks noChangeShapeType="1"/>
          </p:cNvSpPr>
          <p:nvPr/>
        </p:nvSpPr>
        <p:spPr bwMode="auto">
          <a:xfrm flipV="1">
            <a:off x="5276850" y="4352925"/>
            <a:ext cx="1752600" cy="342900"/>
          </a:xfrm>
          <a:prstGeom prst="line">
            <a:avLst/>
          </a:prstGeom>
          <a:noFill/>
          <a:ln w="9525">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66" name="Line 94"/>
          <p:cNvSpPr>
            <a:spLocks noChangeShapeType="1"/>
          </p:cNvSpPr>
          <p:nvPr/>
        </p:nvSpPr>
        <p:spPr bwMode="auto">
          <a:xfrm>
            <a:off x="5295900" y="5200650"/>
            <a:ext cx="1628775" cy="333375"/>
          </a:xfrm>
          <a:prstGeom prst="line">
            <a:avLst/>
          </a:prstGeom>
          <a:noFill/>
          <a:ln w="9525">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8767" name="Text Box 17"/>
          <p:cNvSpPr txBox="1">
            <a:spLocks noChangeArrowheads="1"/>
          </p:cNvSpPr>
          <p:nvPr/>
        </p:nvSpPr>
        <p:spPr bwMode="auto">
          <a:xfrm>
            <a:off x="241300" y="381000"/>
            <a:ext cx="37973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b="1" dirty="0"/>
              <a:t>Resumen: Las dos estrategias para decidir</a:t>
            </a:r>
            <a:endParaRPr lang="es-ES" altLang="es-ES" b="1" baseline="-25000" dirty="0"/>
          </a:p>
        </p:txBody>
      </p:sp>
      <p:sp>
        <p:nvSpPr>
          <p:cNvPr id="28770" name="Text Box 98"/>
          <p:cNvSpPr txBox="1">
            <a:spLocks noChangeArrowheads="1"/>
          </p:cNvSpPr>
          <p:nvPr/>
        </p:nvSpPr>
        <p:spPr bwMode="auto">
          <a:xfrm>
            <a:off x="6097190" y="6508750"/>
            <a:ext cx="2980532" cy="263791"/>
          </a:xfrm>
          <a:prstGeom prst="rect">
            <a:avLst/>
          </a:prstGeom>
          <a:solidFill>
            <a:schemeClr val="bg1">
              <a:alpha val="7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lgn="r"/>
            <a:r>
              <a:rPr lang="es-ES_tradnl" altLang="es-ES" sz="900" dirty="0"/>
              <a:t>Se ha representado el error </a:t>
            </a:r>
            <a:r>
              <a:rPr lang="es-ES_tradnl" altLang="es-ES" sz="1100" dirty="0">
                <a:latin typeface="Symbol" pitchFamily="18" charset="2"/>
              </a:rPr>
              <a:t>a</a:t>
            </a:r>
            <a:r>
              <a:rPr lang="es-ES_tradnl" altLang="es-ES" sz="900" dirty="0"/>
              <a:t> solo en una cola</a:t>
            </a:r>
            <a:endParaRPr lang="es-ES" altLang="es-ES" sz="900" dirty="0"/>
          </a:p>
        </p:txBody>
      </p:sp>
      <p:sp>
        <p:nvSpPr>
          <p:cNvPr id="52"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a:t>
            </a:r>
          </a:p>
        </p:txBody>
      </p:sp>
      <p:graphicFrame>
        <p:nvGraphicFramePr>
          <p:cNvPr id="55" name="Object 29"/>
          <p:cNvGraphicFramePr>
            <a:graphicFrameLocks noChangeAspect="1"/>
          </p:cNvGraphicFramePr>
          <p:nvPr>
            <p:extLst>
              <p:ext uri="{D42A27DB-BD31-4B8C-83A1-F6EECF244321}">
                <p14:modId xmlns:p14="http://schemas.microsoft.com/office/powerpoint/2010/main" val="1004389226"/>
              </p:ext>
            </p:extLst>
          </p:nvPr>
        </p:nvGraphicFramePr>
        <p:xfrm>
          <a:off x="8430492" y="4077132"/>
          <a:ext cx="285750" cy="590550"/>
        </p:xfrm>
        <a:graphic>
          <a:graphicData uri="http://schemas.openxmlformats.org/presentationml/2006/ole">
            <mc:AlternateContent xmlns:mc="http://schemas.openxmlformats.org/markup-compatibility/2006">
              <mc:Choice xmlns:v="urn:schemas-microsoft-com:vml" Requires="v">
                <p:oleObj name="Equation" r:id="rId6" imgW="215640" imgH="444240" progId="Equation.DSMT4">
                  <p:embed/>
                </p:oleObj>
              </mc:Choice>
              <mc:Fallback>
                <p:oleObj name="Equation" r:id="rId6" imgW="215640" imgH="444240" progId="Equation.DSMT4">
                  <p:embed/>
                  <p:pic>
                    <p:nvPicPr>
                      <p:cNvPr id="54" name="Object 29"/>
                      <p:cNvPicPr>
                        <a:picLocks noChangeAspect="1" noChangeArrowheads="1"/>
                      </p:cNvPicPr>
                      <p:nvPr/>
                    </p:nvPicPr>
                    <p:blipFill>
                      <a:blip r:embed="rId7"/>
                      <a:srcRect/>
                      <a:stretch>
                        <a:fillRect/>
                      </a:stretch>
                    </p:blipFill>
                    <p:spPr bwMode="auto">
                      <a:xfrm>
                        <a:off x="8430492" y="4077132"/>
                        <a:ext cx="2857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29"/>
          <p:cNvGraphicFramePr>
            <a:graphicFrameLocks noChangeAspect="1"/>
          </p:cNvGraphicFramePr>
          <p:nvPr>
            <p:extLst>
              <p:ext uri="{D42A27DB-BD31-4B8C-83A1-F6EECF244321}">
                <p14:modId xmlns:p14="http://schemas.microsoft.com/office/powerpoint/2010/main" val="1544460909"/>
              </p:ext>
            </p:extLst>
          </p:nvPr>
        </p:nvGraphicFramePr>
        <p:xfrm>
          <a:off x="8106401" y="5832766"/>
          <a:ext cx="285750" cy="590550"/>
        </p:xfrm>
        <a:graphic>
          <a:graphicData uri="http://schemas.openxmlformats.org/presentationml/2006/ole">
            <mc:AlternateContent xmlns:mc="http://schemas.openxmlformats.org/markup-compatibility/2006">
              <mc:Choice xmlns:v="urn:schemas-microsoft-com:vml" Requires="v">
                <p:oleObj name="Equation" r:id="rId8" imgW="215640" imgH="444240" progId="Equation.DSMT4">
                  <p:embed/>
                </p:oleObj>
              </mc:Choice>
              <mc:Fallback>
                <p:oleObj name="Equation" r:id="rId8" imgW="215640" imgH="444240" progId="Equation.DSMT4">
                  <p:embed/>
                  <p:pic>
                    <p:nvPicPr>
                      <p:cNvPr id="55" name="Object 29"/>
                      <p:cNvPicPr>
                        <a:picLocks noChangeAspect="1" noChangeArrowheads="1"/>
                      </p:cNvPicPr>
                      <p:nvPr/>
                    </p:nvPicPr>
                    <p:blipFill>
                      <a:blip r:embed="rId9"/>
                      <a:srcRect/>
                      <a:stretch>
                        <a:fillRect/>
                      </a:stretch>
                    </p:blipFill>
                    <p:spPr bwMode="auto">
                      <a:xfrm>
                        <a:off x="8106401" y="5832766"/>
                        <a:ext cx="2857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to 1"/>
          <p:cNvGraphicFramePr>
            <a:graphicFrameLocks noChangeAspect="1"/>
          </p:cNvGraphicFramePr>
          <p:nvPr>
            <p:extLst>
              <p:ext uri="{D42A27DB-BD31-4B8C-83A1-F6EECF244321}">
                <p14:modId xmlns:p14="http://schemas.microsoft.com/office/powerpoint/2010/main" val="4219609125"/>
              </p:ext>
            </p:extLst>
          </p:nvPr>
        </p:nvGraphicFramePr>
        <p:xfrm>
          <a:off x="8305800" y="2347913"/>
          <a:ext cx="177800" cy="228600"/>
        </p:xfrm>
        <a:graphic>
          <a:graphicData uri="http://schemas.openxmlformats.org/presentationml/2006/ole">
            <mc:AlternateContent xmlns:mc="http://schemas.openxmlformats.org/markup-compatibility/2006">
              <mc:Choice xmlns:v="urn:schemas-microsoft-com:vml" Requires="v">
                <p:oleObj name="Equation" r:id="rId10" imgW="177480" imgH="228600" progId="Equation.DSMT4">
                  <p:embed/>
                </p:oleObj>
              </mc:Choice>
              <mc:Fallback>
                <p:oleObj name="Equation" r:id="rId10" imgW="177480" imgH="228600" progId="Equation.DSMT4">
                  <p:embed/>
                  <p:pic>
                    <p:nvPicPr>
                      <p:cNvPr id="0" name=""/>
                      <p:cNvPicPr/>
                      <p:nvPr/>
                    </p:nvPicPr>
                    <p:blipFill>
                      <a:blip r:embed="rId11"/>
                      <a:stretch>
                        <a:fillRect/>
                      </a:stretch>
                    </p:blipFill>
                    <p:spPr>
                      <a:xfrm>
                        <a:off x="8305800" y="2347913"/>
                        <a:ext cx="177800" cy="228600"/>
                      </a:xfrm>
                      <a:prstGeom prst="rect">
                        <a:avLst/>
                      </a:prstGeom>
                      <a:solidFill>
                        <a:schemeClr val="bg1"/>
                      </a:solidFill>
                    </p:spPr>
                  </p:pic>
                </p:oleObj>
              </mc:Fallback>
            </mc:AlternateContent>
          </a:graphicData>
        </a:graphic>
      </p:graphicFrame>
      <p:cxnSp>
        <p:nvCxnSpPr>
          <p:cNvPr id="4" name="Conector recto 3"/>
          <p:cNvCxnSpPr/>
          <p:nvPr/>
        </p:nvCxnSpPr>
        <p:spPr>
          <a:xfrm>
            <a:off x="6705600" y="2029690"/>
            <a:ext cx="2048272"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Conector recto 56"/>
          <p:cNvCxnSpPr/>
          <p:nvPr/>
        </p:nvCxnSpPr>
        <p:spPr>
          <a:xfrm>
            <a:off x="6705600" y="4209472"/>
            <a:ext cx="2048272"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Conector recto 57"/>
          <p:cNvCxnSpPr/>
          <p:nvPr/>
        </p:nvCxnSpPr>
        <p:spPr>
          <a:xfrm>
            <a:off x="6705600" y="5989780"/>
            <a:ext cx="2048272"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664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1" name="Text Box 85"/>
          <p:cNvSpPr txBox="1">
            <a:spLocks noChangeArrowheads="1"/>
          </p:cNvSpPr>
          <p:nvPr/>
        </p:nvSpPr>
        <p:spPr bwMode="auto">
          <a:xfrm>
            <a:off x="363536" y="2266785"/>
            <a:ext cx="8403833" cy="1664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174625" indent="-174625"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buFont typeface="Symbol" pitchFamily="18" charset="2"/>
              <a:buNone/>
            </a:pPr>
            <a:r>
              <a:rPr lang="es-ES" altLang="es-ES" sz="1200" dirty="0">
                <a:solidFill>
                  <a:srgbClr val="023D6E"/>
                </a:solidFill>
              </a:rPr>
              <a:t>Tanto </a:t>
            </a:r>
            <a:r>
              <a:rPr lang="es-ES" altLang="es-ES" dirty="0">
                <a:solidFill>
                  <a:srgbClr val="023D6E"/>
                </a:solidFill>
                <a:latin typeface="Symbol" pitchFamily="18" charset="2"/>
              </a:rPr>
              <a:t>a</a:t>
            </a:r>
            <a:r>
              <a:rPr lang="es-ES" altLang="es-ES" sz="1200" dirty="0">
                <a:solidFill>
                  <a:srgbClr val="023D6E"/>
                </a:solidFill>
              </a:rPr>
              <a:t> como </a:t>
            </a:r>
            <a:r>
              <a:rPr lang="es-ES" altLang="es-ES" i="1" dirty="0">
                <a:solidFill>
                  <a:srgbClr val="023D6E"/>
                </a:solidFill>
                <a:latin typeface="Times New Roman" pitchFamily="18" charset="0"/>
              </a:rPr>
              <a:t>P</a:t>
            </a:r>
            <a:r>
              <a:rPr lang="es-ES" altLang="es-ES" sz="1200" dirty="0">
                <a:solidFill>
                  <a:srgbClr val="023D6E"/>
                </a:solidFill>
              </a:rPr>
              <a:t> aluden al error de tipo I, la diferencia entre ellos es que</a:t>
            </a:r>
          </a:p>
          <a:p>
            <a:pPr algn="just" eaLnBrk="1" hangingPunct="1">
              <a:buFont typeface="Symbol" pitchFamily="18" charset="2"/>
              <a:buNone/>
            </a:pPr>
            <a:r>
              <a:rPr lang="es-ES" altLang="es-ES" sz="1200" dirty="0">
                <a:solidFill>
                  <a:srgbClr val="023D6E"/>
                </a:solidFill>
              </a:rPr>
              <a:t>- 	</a:t>
            </a:r>
            <a:r>
              <a:rPr lang="es-ES" altLang="es-ES" dirty="0">
                <a:solidFill>
                  <a:srgbClr val="023D6E"/>
                </a:solidFill>
                <a:latin typeface="Symbol" pitchFamily="18" charset="2"/>
              </a:rPr>
              <a:t>a</a:t>
            </a:r>
            <a:r>
              <a:rPr lang="es-ES" altLang="es-ES" sz="1200" dirty="0">
                <a:solidFill>
                  <a:srgbClr val="023D6E"/>
                </a:solidFill>
              </a:rPr>
              <a:t> lo fija de antemano el investigador. No depende de la muestra observada, y es el nivel de error </a:t>
            </a:r>
            <a:r>
              <a:rPr lang="es-ES" altLang="es-ES" sz="1200" i="1" dirty="0">
                <a:solidFill>
                  <a:srgbClr val="023D6E"/>
                </a:solidFill>
              </a:rPr>
              <a:t>máximo</a:t>
            </a:r>
            <a:r>
              <a:rPr lang="es-ES" altLang="es-ES" sz="1200" dirty="0">
                <a:solidFill>
                  <a:srgbClr val="023D6E"/>
                </a:solidFill>
              </a:rPr>
              <a:t> tolerable para rechazar incorrectamente H</a:t>
            </a:r>
            <a:r>
              <a:rPr lang="es-ES" altLang="es-ES" sz="1200" baseline="-25000" dirty="0">
                <a:solidFill>
                  <a:srgbClr val="023D6E"/>
                </a:solidFill>
              </a:rPr>
              <a:t>0</a:t>
            </a:r>
            <a:endParaRPr lang="es-ES" altLang="es-ES" sz="1200" dirty="0">
              <a:solidFill>
                <a:srgbClr val="023D6E"/>
              </a:solidFill>
            </a:endParaRPr>
          </a:p>
          <a:p>
            <a:pPr algn="just" eaLnBrk="1" hangingPunct="1">
              <a:buFont typeface="Symbol" pitchFamily="18" charset="2"/>
              <a:buNone/>
            </a:pPr>
            <a:r>
              <a:rPr lang="es-ES" altLang="es-ES" i="1" dirty="0">
                <a:solidFill>
                  <a:srgbClr val="023D6E"/>
                </a:solidFill>
                <a:latin typeface="Times New Roman" pitchFamily="18" charset="0"/>
              </a:rPr>
              <a:t>-	P</a:t>
            </a:r>
            <a:r>
              <a:rPr lang="es-ES" altLang="es-ES" sz="1200" dirty="0">
                <a:solidFill>
                  <a:srgbClr val="023D6E"/>
                </a:solidFill>
              </a:rPr>
              <a:t> lo proporciona la muestra, viene a ser algo así como el “</a:t>
            </a:r>
            <a:r>
              <a:rPr lang="es-ES" altLang="es-ES" dirty="0">
                <a:solidFill>
                  <a:srgbClr val="023D6E"/>
                </a:solidFill>
                <a:latin typeface="Symbol" pitchFamily="18" charset="2"/>
              </a:rPr>
              <a:t>a</a:t>
            </a:r>
            <a:r>
              <a:rPr lang="es-ES" altLang="es-ES" sz="1200" dirty="0">
                <a:solidFill>
                  <a:srgbClr val="023D6E"/>
                </a:solidFill>
              </a:rPr>
              <a:t> experimental”. Se puede interpretar como la probabilidad de rechazar de forma incorrecta H</a:t>
            </a:r>
            <a:r>
              <a:rPr lang="es-ES" altLang="es-ES" sz="1200" baseline="-25000" dirty="0">
                <a:solidFill>
                  <a:srgbClr val="023D6E"/>
                </a:solidFill>
              </a:rPr>
              <a:t>0</a:t>
            </a:r>
            <a:r>
              <a:rPr lang="es-ES" altLang="es-ES" sz="1200" dirty="0">
                <a:solidFill>
                  <a:srgbClr val="023D6E"/>
                </a:solidFill>
              </a:rPr>
              <a:t> a raíz de la información suministrada por esa muestra concreta</a:t>
            </a:r>
          </a:p>
          <a:p>
            <a:pPr algn="just" eaLnBrk="1" hangingPunct="1">
              <a:buFont typeface="Symbol" pitchFamily="18" charset="2"/>
              <a:buNone/>
            </a:pPr>
            <a:endParaRPr lang="es-ES" altLang="es-ES" sz="1200" dirty="0">
              <a:solidFill>
                <a:srgbClr val="023D6E"/>
              </a:solidFill>
            </a:endParaRPr>
          </a:p>
          <a:p>
            <a:pPr algn="just" eaLnBrk="1" hangingPunct="1">
              <a:buFont typeface="Symbol" pitchFamily="18" charset="2"/>
              <a:buNone/>
            </a:pPr>
            <a:r>
              <a:rPr lang="es-ES" altLang="es-ES" sz="1200" dirty="0">
                <a:solidFill>
                  <a:srgbClr val="023D6E"/>
                </a:solidFill>
              </a:rPr>
              <a:t>Alternativamente: </a:t>
            </a:r>
          </a:p>
          <a:p>
            <a:pPr algn="just" eaLnBrk="1" hangingPunct="1">
              <a:buFont typeface="Symbol" pitchFamily="18" charset="2"/>
              <a:buNone/>
            </a:pPr>
            <a:endParaRPr lang="es-ES" altLang="es-ES" sz="1200" dirty="0">
              <a:solidFill>
                <a:srgbClr val="023D6E"/>
              </a:solidFill>
            </a:endParaRPr>
          </a:p>
        </p:txBody>
      </p:sp>
      <p:sp>
        <p:nvSpPr>
          <p:cNvPr id="16392" name="Text Box 88"/>
          <p:cNvSpPr txBox="1">
            <a:spLocks noChangeArrowheads="1"/>
          </p:cNvSpPr>
          <p:nvPr/>
        </p:nvSpPr>
        <p:spPr bwMode="auto">
          <a:xfrm>
            <a:off x="359607" y="1153217"/>
            <a:ext cx="8393963" cy="4638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 altLang="es-ES" sz="1200" dirty="0">
                <a:solidFill>
                  <a:srgbClr val="023D6E"/>
                </a:solidFill>
              </a:rPr>
              <a:t>De la información propuesta por H</a:t>
            </a:r>
            <a:r>
              <a:rPr lang="es-ES" altLang="es-ES" sz="1200" baseline="-25000" dirty="0">
                <a:solidFill>
                  <a:srgbClr val="023D6E"/>
                </a:solidFill>
              </a:rPr>
              <a:t>0</a:t>
            </a:r>
            <a:r>
              <a:rPr lang="es-ES" altLang="es-ES" sz="1200" dirty="0">
                <a:solidFill>
                  <a:srgbClr val="023D6E"/>
                </a:solidFill>
              </a:rPr>
              <a:t> y de la muestra se obtiene </a:t>
            </a:r>
            <a:r>
              <a:rPr lang="es-ES" altLang="es-ES" sz="1200" i="1" dirty="0" err="1">
                <a:solidFill>
                  <a:srgbClr val="023D6E"/>
                </a:solidFill>
              </a:rPr>
              <a:t>t</a:t>
            </a:r>
            <a:r>
              <a:rPr lang="es-ES" altLang="es-ES" sz="1200" baseline="-25000" dirty="0" err="1">
                <a:solidFill>
                  <a:srgbClr val="023D6E"/>
                </a:solidFill>
              </a:rPr>
              <a:t>exp</a:t>
            </a:r>
            <a:r>
              <a:rPr lang="es-ES" altLang="es-ES" sz="1200" baseline="-25000" dirty="0">
                <a:solidFill>
                  <a:srgbClr val="023D6E"/>
                </a:solidFill>
              </a:rPr>
              <a:t> </a:t>
            </a:r>
            <a:r>
              <a:rPr lang="es-ES" altLang="es-ES" sz="1200" dirty="0">
                <a:solidFill>
                  <a:srgbClr val="023D6E"/>
                </a:solidFill>
              </a:rPr>
              <a:t> que es quien contiene toda la información respecto a la probabilidad de observar una muestra como la actual si H</a:t>
            </a:r>
            <a:r>
              <a:rPr lang="es-ES" altLang="es-ES" sz="1200" baseline="-25000" dirty="0">
                <a:solidFill>
                  <a:srgbClr val="023D6E"/>
                </a:solidFill>
              </a:rPr>
              <a:t>0</a:t>
            </a:r>
            <a:r>
              <a:rPr lang="es-ES" altLang="es-ES" sz="1200" dirty="0">
                <a:solidFill>
                  <a:srgbClr val="023D6E"/>
                </a:solidFill>
              </a:rPr>
              <a:t> es cierta. </a:t>
            </a:r>
          </a:p>
        </p:txBody>
      </p:sp>
      <p:sp>
        <p:nvSpPr>
          <p:cNvPr id="16427" name="Text Box 84"/>
          <p:cNvSpPr txBox="1">
            <a:spLocks noChangeArrowheads="1"/>
          </p:cNvSpPr>
          <p:nvPr/>
        </p:nvSpPr>
        <p:spPr bwMode="auto">
          <a:xfrm>
            <a:off x="227012" y="343712"/>
            <a:ext cx="3963988" cy="3407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 altLang="es-ES" b="1" dirty="0">
                <a:solidFill>
                  <a:srgbClr val="FF0000"/>
                </a:solidFill>
              </a:rPr>
              <a:t>Nivel mínimo de significación </a:t>
            </a:r>
            <a:r>
              <a:rPr lang="es-ES" altLang="es-ES" sz="1600" b="1" i="1" dirty="0">
                <a:solidFill>
                  <a:srgbClr val="FF0000"/>
                </a:solidFill>
                <a:latin typeface="Times New Roman" pitchFamily="18" charset="0"/>
              </a:rPr>
              <a:t>P</a:t>
            </a:r>
            <a:endParaRPr lang="es-ES" altLang="es-ES" sz="1600" i="1" dirty="0">
              <a:solidFill>
                <a:srgbClr val="FF0000"/>
              </a:solidFill>
              <a:latin typeface="Times New Roman" pitchFamily="18" charset="0"/>
            </a:endParaRPr>
          </a:p>
        </p:txBody>
      </p:sp>
      <p:sp>
        <p:nvSpPr>
          <p:cNvPr id="17" name="AutoShape 87"/>
          <p:cNvSpPr>
            <a:spLocks noChangeArrowheads="1"/>
          </p:cNvSpPr>
          <p:nvPr/>
        </p:nvSpPr>
        <p:spPr bwMode="auto">
          <a:xfrm>
            <a:off x="250823" y="4583774"/>
            <a:ext cx="8626475" cy="1667927"/>
          </a:xfrm>
          <a:prstGeom prst="roundRect">
            <a:avLst>
              <a:gd name="adj" fmla="val 4495"/>
            </a:avLst>
          </a:prstGeom>
          <a:solidFill>
            <a:schemeClr val="bg1"/>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22" name="Text Box 17"/>
          <p:cNvSpPr txBox="1">
            <a:spLocks noChangeArrowheads="1"/>
          </p:cNvSpPr>
          <p:nvPr/>
        </p:nvSpPr>
        <p:spPr bwMode="auto">
          <a:xfrm>
            <a:off x="315911" y="4987925"/>
            <a:ext cx="8380413" cy="1108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14300" indent="-114300"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buFontTx/>
              <a:buChar char="•"/>
            </a:pPr>
            <a:r>
              <a:rPr lang="es-ES" altLang="es-ES" sz="1200" dirty="0"/>
              <a:t>Si </a:t>
            </a:r>
            <a:r>
              <a:rPr lang="es-ES" altLang="es-ES" i="1" dirty="0">
                <a:latin typeface="Times New Roman" pitchFamily="18" charset="0"/>
              </a:rPr>
              <a:t>P</a:t>
            </a:r>
            <a:r>
              <a:rPr lang="es-ES" altLang="es-ES" sz="1200" i="1" dirty="0"/>
              <a:t> </a:t>
            </a:r>
            <a:r>
              <a:rPr lang="es-ES" altLang="es-ES" sz="1200" dirty="0"/>
              <a:t>&gt; 0.15 → La muestra es suficientemente probable bajo la H</a:t>
            </a:r>
            <a:r>
              <a:rPr lang="es-ES" altLang="es-ES" sz="1200" baseline="-25000" dirty="0"/>
              <a:t>0</a:t>
            </a:r>
            <a:r>
              <a:rPr lang="es-ES" altLang="es-ES" sz="1200" dirty="0"/>
              <a:t>, por lo tanto no se puede rechazar dicha hipótesis</a:t>
            </a:r>
            <a:endParaRPr lang="es-ES" altLang="es-ES" sz="1200" baseline="-25000" dirty="0"/>
          </a:p>
          <a:p>
            <a:pPr algn="just" eaLnBrk="1" hangingPunct="1">
              <a:lnSpc>
                <a:spcPct val="50000"/>
              </a:lnSpc>
              <a:buFontTx/>
              <a:buChar char="•"/>
            </a:pPr>
            <a:endParaRPr lang="es-ES" altLang="es-ES" sz="1200" dirty="0"/>
          </a:p>
          <a:p>
            <a:pPr algn="just" eaLnBrk="1" hangingPunct="1">
              <a:buFontTx/>
              <a:buChar char="•"/>
            </a:pPr>
            <a:r>
              <a:rPr lang="es-ES" altLang="es-ES" sz="1200" dirty="0"/>
              <a:t>Si 0.05 &lt; </a:t>
            </a:r>
            <a:r>
              <a:rPr lang="es-ES" altLang="es-ES" i="1" dirty="0">
                <a:latin typeface="Times New Roman" pitchFamily="18" charset="0"/>
              </a:rPr>
              <a:t>P </a:t>
            </a:r>
            <a:r>
              <a:rPr lang="es-ES" altLang="es-ES" sz="1200" dirty="0"/>
              <a:t>≤ 0.15 → no se puede rechazar H</a:t>
            </a:r>
            <a:r>
              <a:rPr lang="es-ES" altLang="es-ES" sz="1200" baseline="-25000" dirty="0"/>
              <a:t>0</a:t>
            </a:r>
            <a:r>
              <a:rPr lang="es-ES" altLang="es-ES" sz="1200" dirty="0"/>
              <a:t> (para un </a:t>
            </a:r>
            <a:r>
              <a:rPr lang="es-ES" altLang="es-ES" sz="1200" dirty="0">
                <a:latin typeface="Symbol" pitchFamily="18" charset="2"/>
              </a:rPr>
              <a:t>a</a:t>
            </a:r>
            <a:r>
              <a:rPr lang="es-ES" altLang="es-ES" sz="1200" dirty="0"/>
              <a:t>=0.05) pero hay indicios de significación. Si la muestra no es muy grande es posible que la potencia sea baja y convendría estudiar un </a:t>
            </a:r>
            <a:r>
              <a:rPr lang="es-ES" altLang="es-ES" sz="1200" b="1" dirty="0"/>
              <a:t>aumento del tamaño </a:t>
            </a:r>
            <a:r>
              <a:rPr lang="es-ES" altLang="es-ES" sz="1200" b="1" dirty="0" err="1"/>
              <a:t>muestral</a:t>
            </a:r>
            <a:r>
              <a:rPr lang="es-ES" altLang="es-ES" sz="1200" b="1" dirty="0"/>
              <a:t> </a:t>
            </a:r>
          </a:p>
          <a:p>
            <a:pPr eaLnBrk="1" hangingPunct="1">
              <a:lnSpc>
                <a:spcPct val="50000"/>
              </a:lnSpc>
              <a:buFontTx/>
              <a:buChar char="•"/>
            </a:pPr>
            <a:endParaRPr lang="es-ES" altLang="es-ES" sz="1200" dirty="0"/>
          </a:p>
          <a:p>
            <a:pPr eaLnBrk="1" hangingPunct="1">
              <a:buFontTx/>
              <a:buChar char="•"/>
            </a:pPr>
            <a:r>
              <a:rPr lang="es-ES" altLang="es-ES" sz="1200" dirty="0"/>
              <a:t>Si </a:t>
            </a:r>
            <a:r>
              <a:rPr lang="es-ES" altLang="es-ES" i="1" dirty="0">
                <a:latin typeface="Times New Roman" pitchFamily="18" charset="0"/>
              </a:rPr>
              <a:t>P </a:t>
            </a:r>
            <a:r>
              <a:rPr lang="es-ES" altLang="es-ES" sz="1200" dirty="0"/>
              <a:t>≤ 0.05 → se rechaza H</a:t>
            </a:r>
            <a:r>
              <a:rPr lang="es-ES" altLang="es-ES" sz="1200" baseline="-25000" dirty="0"/>
              <a:t>0</a:t>
            </a:r>
          </a:p>
        </p:txBody>
      </p:sp>
      <p:sp>
        <p:nvSpPr>
          <p:cNvPr id="23" name="Text Box 17"/>
          <p:cNvSpPr txBox="1">
            <a:spLocks noChangeArrowheads="1"/>
          </p:cNvSpPr>
          <p:nvPr/>
        </p:nvSpPr>
        <p:spPr bwMode="auto">
          <a:xfrm>
            <a:off x="345943" y="4386291"/>
            <a:ext cx="5529262"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dirty="0"/>
              <a:t>Elección de </a:t>
            </a:r>
            <a:r>
              <a:rPr lang="es-ES" altLang="es-ES" sz="1600" dirty="0">
                <a:latin typeface="Symbol" pitchFamily="18" charset="2"/>
              </a:rPr>
              <a:t>a + </a:t>
            </a:r>
            <a:r>
              <a:rPr lang="es-ES" altLang="es-ES" dirty="0">
                <a:latin typeface="+mn-lt"/>
              </a:rPr>
              <a:t>valoración de </a:t>
            </a:r>
            <a:r>
              <a:rPr lang="es-ES" altLang="es-ES" i="1" dirty="0">
                <a:latin typeface="Times New Roman" panose="02020603050405020304" pitchFamily="18" charset="0"/>
                <a:cs typeface="Times New Roman" panose="02020603050405020304" pitchFamily="18" charset="0"/>
              </a:rPr>
              <a:t>P</a:t>
            </a:r>
            <a:r>
              <a:rPr lang="es-ES" altLang="es-ES" sz="1200" dirty="0">
                <a:latin typeface="Symbol" pitchFamily="18" charset="2"/>
              </a:rPr>
              <a:t> </a:t>
            </a:r>
            <a:r>
              <a:rPr lang="es-ES" altLang="es-ES" dirty="0"/>
              <a:t>→ </a:t>
            </a:r>
            <a:r>
              <a:rPr lang="es-ES" altLang="es-ES" dirty="0">
                <a:solidFill>
                  <a:srgbClr val="993300"/>
                </a:solidFill>
              </a:rPr>
              <a:t>Regla automática de decisión</a:t>
            </a:r>
            <a:endParaRPr lang="es-ES" altLang="es-ES" baseline="-25000" dirty="0"/>
          </a:p>
        </p:txBody>
      </p:sp>
      <p:sp>
        <p:nvSpPr>
          <p:cNvPr id="20" name="AutoShape 87"/>
          <p:cNvSpPr>
            <a:spLocks noChangeArrowheads="1"/>
          </p:cNvSpPr>
          <p:nvPr/>
        </p:nvSpPr>
        <p:spPr bwMode="auto">
          <a:xfrm>
            <a:off x="3276600" y="5907087"/>
            <a:ext cx="5759451" cy="798513"/>
          </a:xfrm>
          <a:prstGeom prst="roundRect">
            <a:avLst>
              <a:gd name="adj" fmla="val 4495"/>
            </a:avLst>
          </a:prstGeom>
          <a:solidFill>
            <a:schemeClr val="bg1"/>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21" name="Text Box 84"/>
          <p:cNvSpPr txBox="1">
            <a:spLocks noChangeArrowheads="1"/>
          </p:cNvSpPr>
          <p:nvPr/>
        </p:nvSpPr>
        <p:spPr bwMode="auto">
          <a:xfrm>
            <a:off x="3321050" y="5951536"/>
            <a:ext cx="5715001" cy="7096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 altLang="es-ES" sz="1200" dirty="0"/>
              <a:t>Cuidado con las reglas automáticas: ¿si </a:t>
            </a:r>
            <a:r>
              <a:rPr lang="es-ES" altLang="es-ES" i="1" dirty="0">
                <a:latin typeface="Times New Roman" pitchFamily="18" charset="0"/>
              </a:rPr>
              <a:t>P </a:t>
            </a:r>
            <a:r>
              <a:rPr lang="es-ES" altLang="es-ES" sz="1200" dirty="0"/>
              <a:t>=0.049 rechazamos H</a:t>
            </a:r>
            <a:r>
              <a:rPr lang="es-ES" altLang="es-ES" sz="1200" baseline="-25000" dirty="0"/>
              <a:t>0</a:t>
            </a:r>
            <a:r>
              <a:rPr lang="es-ES" altLang="es-ES" sz="1200" dirty="0"/>
              <a:t> y si es </a:t>
            </a:r>
            <a:r>
              <a:rPr lang="es-ES" altLang="es-ES" i="1" dirty="0">
                <a:latin typeface="Times New Roman" pitchFamily="18" charset="0"/>
              </a:rPr>
              <a:t>P</a:t>
            </a:r>
            <a:r>
              <a:rPr lang="es-ES" altLang="es-ES" sz="1200" dirty="0"/>
              <a:t>=0.051 la aceptamos?. No tiene mucho sentido. La decisión no debe recaer solo sobre </a:t>
            </a:r>
            <a:r>
              <a:rPr lang="es-ES" altLang="es-ES" i="1" dirty="0">
                <a:latin typeface="Times New Roman" panose="02020603050405020304" pitchFamily="18" charset="0"/>
                <a:cs typeface="Times New Roman" panose="02020603050405020304" pitchFamily="18" charset="0"/>
              </a:rPr>
              <a:t>P.</a:t>
            </a:r>
            <a:r>
              <a:rPr lang="es-ES" altLang="es-ES" sz="1200" dirty="0"/>
              <a:t> Como veremos más adelante, los IC ayudan a tomar mejor la decisión. </a:t>
            </a:r>
          </a:p>
        </p:txBody>
      </p:sp>
      <p:sp>
        <p:nvSpPr>
          <p:cNvPr id="27" name="Text Box 17">
            <a:extLst>
              <a:ext uri="{FF2B5EF4-FFF2-40B4-BE49-F238E27FC236}">
                <a16:creationId xmlns:a16="http://schemas.microsoft.com/office/drawing/2014/main" id="{BB98045D-7B66-41E0-908F-43B062B190D8}"/>
              </a:ext>
            </a:extLst>
          </p:cNvPr>
          <p:cNvSpPr txBox="1">
            <a:spLocks noChangeArrowheads="1"/>
          </p:cNvSpPr>
          <p:nvPr/>
        </p:nvSpPr>
        <p:spPr bwMode="auto">
          <a:xfrm>
            <a:off x="297958" y="4733347"/>
            <a:ext cx="3905120"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sz="1200" dirty="0"/>
              <a:t>Habitualmente se fija </a:t>
            </a:r>
            <a:r>
              <a:rPr lang="es-ES" altLang="es-ES" sz="1200" dirty="0">
                <a:latin typeface="Symbol" pitchFamily="18" charset="2"/>
              </a:rPr>
              <a:t>a</a:t>
            </a:r>
            <a:r>
              <a:rPr lang="es-ES" altLang="es-ES" sz="1200" dirty="0"/>
              <a:t>=0.05, de modo que:</a:t>
            </a:r>
            <a:endParaRPr lang="es-ES" altLang="es-ES" sz="1200" b="1" baseline="-25000" dirty="0"/>
          </a:p>
        </p:txBody>
      </p:sp>
      <p:sp>
        <p:nvSpPr>
          <p:cNvPr id="14"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a:t>
            </a:r>
          </a:p>
        </p:txBody>
      </p:sp>
      <p:sp>
        <p:nvSpPr>
          <p:cNvPr id="15" name="AutoShape 85">
            <a:extLst>
              <a:ext uri="{FF2B5EF4-FFF2-40B4-BE49-F238E27FC236}">
                <a16:creationId xmlns:a16="http://schemas.microsoft.com/office/drawing/2014/main" id="{0BB74313-F01B-4CBA-8357-A5B93293392D}"/>
              </a:ext>
            </a:extLst>
          </p:cNvPr>
          <p:cNvSpPr>
            <a:spLocks noChangeArrowheads="1"/>
          </p:cNvSpPr>
          <p:nvPr/>
        </p:nvSpPr>
        <p:spPr bwMode="auto">
          <a:xfrm>
            <a:off x="261938" y="1028045"/>
            <a:ext cx="8626475" cy="3199468"/>
          </a:xfrm>
          <a:prstGeom prst="roundRect">
            <a:avLst>
              <a:gd name="adj" fmla="val 5158"/>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25" name="Text Box 17">
            <a:extLst>
              <a:ext uri="{FF2B5EF4-FFF2-40B4-BE49-F238E27FC236}">
                <a16:creationId xmlns:a16="http://schemas.microsoft.com/office/drawing/2014/main" id="{C1FC44F5-C5CD-4261-9EE9-FEC8C348A863}"/>
              </a:ext>
            </a:extLst>
          </p:cNvPr>
          <p:cNvSpPr txBox="1">
            <a:spLocks noChangeArrowheads="1"/>
          </p:cNvSpPr>
          <p:nvPr/>
        </p:nvSpPr>
        <p:spPr bwMode="auto">
          <a:xfrm>
            <a:off x="395926" y="873715"/>
            <a:ext cx="1661473"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 altLang="es-ES" b="1" dirty="0">
                <a:solidFill>
                  <a:srgbClr val="023D6E"/>
                </a:solidFill>
              </a:rPr>
              <a:t>Breve resumen</a:t>
            </a:r>
            <a:r>
              <a:rPr lang="es-ES" altLang="es-ES" dirty="0">
                <a:solidFill>
                  <a:srgbClr val="023D6E"/>
                </a:solidFill>
              </a:rPr>
              <a:t>:</a:t>
            </a:r>
            <a:endParaRPr lang="es-ES" altLang="es-ES" b="1" baseline="-25000" dirty="0">
              <a:solidFill>
                <a:srgbClr val="023D6E"/>
              </a:solidFill>
            </a:endParaRPr>
          </a:p>
        </p:txBody>
      </p:sp>
      <p:sp>
        <p:nvSpPr>
          <p:cNvPr id="26" name="Text Box 88">
            <a:extLst>
              <a:ext uri="{FF2B5EF4-FFF2-40B4-BE49-F238E27FC236}">
                <a16:creationId xmlns:a16="http://schemas.microsoft.com/office/drawing/2014/main" id="{E782B30A-DA50-40C9-91D6-36EE8F3B37FC}"/>
              </a:ext>
            </a:extLst>
          </p:cNvPr>
          <p:cNvSpPr txBox="1">
            <a:spLocks noChangeArrowheads="1"/>
          </p:cNvSpPr>
          <p:nvPr/>
        </p:nvSpPr>
        <p:spPr bwMode="auto">
          <a:xfrm>
            <a:off x="359607" y="1597211"/>
            <a:ext cx="8393963" cy="648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 altLang="es-ES" sz="1200" dirty="0">
                <a:solidFill>
                  <a:srgbClr val="023D6E"/>
                </a:solidFill>
              </a:rPr>
              <a:t>El valor de </a:t>
            </a:r>
            <a:r>
              <a:rPr lang="es-ES" altLang="es-ES" sz="1200" i="1" dirty="0" err="1">
                <a:solidFill>
                  <a:srgbClr val="023D6E"/>
                </a:solidFill>
              </a:rPr>
              <a:t>t</a:t>
            </a:r>
            <a:r>
              <a:rPr lang="es-ES" altLang="es-ES" sz="1200" baseline="-25000" dirty="0" err="1">
                <a:solidFill>
                  <a:srgbClr val="023D6E"/>
                </a:solidFill>
              </a:rPr>
              <a:t>exp</a:t>
            </a:r>
            <a:r>
              <a:rPr lang="es-ES" altLang="es-ES" sz="1200" dirty="0">
                <a:solidFill>
                  <a:srgbClr val="023D6E"/>
                </a:solidFill>
              </a:rPr>
              <a:t> es difícil de interpretar sin tablas de probabilidad (para empezar, depende de los </a:t>
            </a:r>
            <a:r>
              <a:rPr lang="es-ES" altLang="es-ES" sz="1200" dirty="0" err="1">
                <a:solidFill>
                  <a:srgbClr val="023D6E"/>
                </a:solidFill>
              </a:rPr>
              <a:t>g.l</a:t>
            </a:r>
            <a:r>
              <a:rPr lang="es-ES" altLang="es-ES" sz="1200" dirty="0">
                <a:solidFill>
                  <a:srgbClr val="023D6E"/>
                </a:solidFill>
              </a:rPr>
              <a:t>.) El nivel mínimo de significación </a:t>
            </a:r>
            <a:r>
              <a:rPr lang="es-ES" altLang="es-ES" sz="1200" i="1" dirty="0">
                <a:solidFill>
                  <a:srgbClr val="023D6E"/>
                </a:solidFill>
                <a:latin typeface="Times New Roman" panose="02020603050405020304" pitchFamily="18" charset="0"/>
                <a:cs typeface="Times New Roman" panose="02020603050405020304" pitchFamily="18" charset="0"/>
              </a:rPr>
              <a:t>P</a:t>
            </a:r>
            <a:r>
              <a:rPr lang="es-ES" altLang="es-ES" sz="1200" dirty="0">
                <a:solidFill>
                  <a:srgbClr val="023D6E"/>
                </a:solidFill>
              </a:rPr>
              <a:t> representa un modo de estandarizar esa información en forma de probabilidad (concretamente la probabilidad de un error)</a:t>
            </a:r>
          </a:p>
        </p:txBody>
      </p:sp>
      <p:grpSp>
        <p:nvGrpSpPr>
          <p:cNvPr id="28" name="Grupo 27">
            <a:extLst>
              <a:ext uri="{FF2B5EF4-FFF2-40B4-BE49-F238E27FC236}">
                <a16:creationId xmlns:a16="http://schemas.microsoft.com/office/drawing/2014/main" id="{CE4F0ADF-2D17-4A9E-9116-118270C05277}"/>
              </a:ext>
            </a:extLst>
          </p:cNvPr>
          <p:cNvGrpSpPr/>
          <p:nvPr/>
        </p:nvGrpSpPr>
        <p:grpSpPr>
          <a:xfrm>
            <a:off x="3106449" y="5695794"/>
            <a:ext cx="304800" cy="461665"/>
            <a:chOff x="6838951" y="741362"/>
            <a:chExt cx="304800" cy="461665"/>
          </a:xfrm>
        </p:grpSpPr>
        <p:sp>
          <p:nvSpPr>
            <p:cNvPr id="29" name="Elipse 28">
              <a:extLst>
                <a:ext uri="{FF2B5EF4-FFF2-40B4-BE49-F238E27FC236}">
                  <a16:creationId xmlns:a16="http://schemas.microsoft.com/office/drawing/2014/main" id="{3BCB6460-134F-4506-B6DA-85EFCB3877E5}"/>
                </a:ext>
              </a:extLst>
            </p:cNvPr>
            <p:cNvSpPr/>
            <p:nvPr/>
          </p:nvSpPr>
          <p:spPr>
            <a:xfrm>
              <a:off x="6838951" y="814885"/>
              <a:ext cx="304800" cy="309958"/>
            </a:xfrm>
            <a:prstGeom prst="ellipse">
              <a:avLst/>
            </a:prstGeom>
            <a:solidFill>
              <a:schemeClr val="bg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uadroTexto 29">
              <a:extLst>
                <a:ext uri="{FF2B5EF4-FFF2-40B4-BE49-F238E27FC236}">
                  <a16:creationId xmlns:a16="http://schemas.microsoft.com/office/drawing/2014/main" id="{6456EAFF-11E7-479A-B252-6CB0D5A727B4}"/>
                </a:ext>
              </a:extLst>
            </p:cNvPr>
            <p:cNvSpPr txBox="1"/>
            <p:nvPr/>
          </p:nvSpPr>
          <p:spPr>
            <a:xfrm>
              <a:off x="6858000" y="741362"/>
              <a:ext cx="269626" cy="461665"/>
            </a:xfrm>
            <a:prstGeom prst="rect">
              <a:avLst/>
            </a:prstGeom>
            <a:noFill/>
          </p:spPr>
          <p:txBody>
            <a:bodyPr wrap="none" rtlCol="0">
              <a:spAutoFit/>
            </a:bodyPr>
            <a:lstStyle/>
            <a:p>
              <a:r>
                <a:rPr lang="es-ES" sz="2400" dirty="0">
                  <a:solidFill>
                    <a:srgbClr val="FF0000"/>
                  </a:solidFill>
                </a:rPr>
                <a:t>!</a:t>
              </a:r>
              <a:endParaRPr lang="es-ES" dirty="0">
                <a:solidFill>
                  <a:srgbClr val="FF0000"/>
                </a:solidFill>
              </a:endParaRPr>
            </a:p>
          </p:txBody>
        </p:sp>
      </p:grpSp>
      <p:sp>
        <p:nvSpPr>
          <p:cNvPr id="3" name="TextBox 2">
            <a:extLst>
              <a:ext uri="{FF2B5EF4-FFF2-40B4-BE49-F238E27FC236}">
                <a16:creationId xmlns:a16="http://schemas.microsoft.com/office/drawing/2014/main" id="{8DC8CB51-C2F4-6D54-EF24-E7DF98A5D1AA}"/>
              </a:ext>
            </a:extLst>
          </p:cNvPr>
          <p:cNvSpPr txBox="1"/>
          <p:nvPr/>
        </p:nvSpPr>
        <p:spPr>
          <a:xfrm>
            <a:off x="540863" y="3743107"/>
            <a:ext cx="8062274" cy="461665"/>
          </a:xfrm>
          <a:prstGeom prst="rect">
            <a:avLst/>
          </a:prstGeom>
          <a:noFill/>
        </p:spPr>
        <p:txBody>
          <a:bodyPr wrap="square">
            <a:spAutoFit/>
          </a:bodyPr>
          <a:lstStyle/>
          <a:p>
            <a:pPr defTabSz="685800" eaLnBrk="0" hangingPunct="0"/>
            <a:r>
              <a:rPr lang="en-US" altLang="en-US" sz="1200" dirty="0">
                <a:highlight>
                  <a:srgbClr val="FFFF00"/>
                </a:highlight>
                <a:latin typeface="Arial" panose="020B0604020202020204" pitchFamily="34" charset="0"/>
                <a:cs typeface="Arial" panose="020B0604020202020204" pitchFamily="34" charset="0"/>
              </a:rPr>
              <a:t>La </a:t>
            </a:r>
            <a:r>
              <a:rPr lang="en-US" altLang="en-US" sz="1200" dirty="0" err="1">
                <a:highlight>
                  <a:srgbClr val="FFFF00"/>
                </a:highlight>
                <a:latin typeface="Arial" panose="020B0604020202020204" pitchFamily="34" charset="0"/>
                <a:cs typeface="Arial" panose="020B0604020202020204" pitchFamily="34" charset="0"/>
              </a:rPr>
              <a:t>probabilidad</a:t>
            </a:r>
            <a:r>
              <a:rPr lang="en-US" altLang="en-US" sz="1200" dirty="0">
                <a:highlight>
                  <a:srgbClr val="FFFF00"/>
                </a:highlight>
                <a:latin typeface="Arial" panose="020B0604020202020204" pitchFamily="34" charset="0"/>
                <a:cs typeface="Arial" panose="020B0604020202020204" pitchFamily="34" charset="0"/>
              </a:rPr>
              <a:t> de </a:t>
            </a:r>
            <a:r>
              <a:rPr lang="en-US" altLang="en-US" sz="1200" dirty="0" err="1">
                <a:highlight>
                  <a:srgbClr val="FFFF00"/>
                </a:highlight>
                <a:latin typeface="Arial" panose="020B0604020202020204" pitchFamily="34" charset="0"/>
                <a:cs typeface="Arial" panose="020B0604020202020204" pitchFamily="34" charset="0"/>
              </a:rPr>
              <a:t>observar</a:t>
            </a:r>
            <a:r>
              <a:rPr lang="en-US" altLang="en-US" sz="1200" dirty="0">
                <a:highlight>
                  <a:srgbClr val="FFFF00"/>
                </a:highlight>
                <a:latin typeface="Arial" panose="020B0604020202020204" pitchFamily="34" charset="0"/>
                <a:cs typeface="Arial" panose="020B0604020202020204" pitchFamily="34" charset="0"/>
              </a:rPr>
              <a:t> las </a:t>
            </a:r>
            <a:r>
              <a:rPr lang="en-US" altLang="en-US" sz="1200" dirty="0" err="1">
                <a:highlight>
                  <a:srgbClr val="FFFF00"/>
                </a:highlight>
                <a:latin typeface="Arial" panose="020B0604020202020204" pitchFamily="34" charset="0"/>
                <a:cs typeface="Arial" panose="020B0604020202020204" pitchFamily="34" charset="0"/>
              </a:rPr>
              <a:t>diferencias</a:t>
            </a:r>
            <a:r>
              <a:rPr lang="en-US" altLang="en-US" sz="1200" dirty="0">
                <a:highlight>
                  <a:srgbClr val="FFFF00"/>
                </a:highlight>
                <a:latin typeface="Arial" panose="020B0604020202020204" pitchFamily="34" charset="0"/>
                <a:cs typeface="Arial" panose="020B0604020202020204" pitchFamily="34" charset="0"/>
              </a:rPr>
              <a:t> de la </a:t>
            </a:r>
            <a:r>
              <a:rPr lang="en-US" altLang="en-US" sz="1200" dirty="0" err="1">
                <a:highlight>
                  <a:srgbClr val="FFFF00"/>
                </a:highlight>
                <a:latin typeface="Arial" panose="020B0604020202020204" pitchFamily="34" charset="0"/>
                <a:cs typeface="Arial" panose="020B0604020202020204" pitchFamily="34" charset="0"/>
              </a:rPr>
              <a:t>muestra</a:t>
            </a:r>
            <a:r>
              <a:rPr lang="en-US" altLang="en-US" sz="1200" dirty="0">
                <a:highlight>
                  <a:srgbClr val="FFFF00"/>
                </a:highlight>
                <a:latin typeface="Arial" panose="020B0604020202020204" pitchFamily="34" charset="0"/>
                <a:cs typeface="Arial" panose="020B0604020202020204" pitchFamily="34" charset="0"/>
              </a:rPr>
              <a:t> u </a:t>
            </a:r>
            <a:r>
              <a:rPr lang="en-US" altLang="en-US" sz="1200" dirty="0" err="1">
                <a:highlight>
                  <a:srgbClr val="FFFF00"/>
                </a:highlight>
                <a:latin typeface="Arial" panose="020B0604020202020204" pitchFamily="34" charset="0"/>
                <a:cs typeface="Arial" panose="020B0604020202020204" pitchFamily="34" charset="0"/>
              </a:rPr>
              <a:t>otras</a:t>
            </a:r>
            <a:r>
              <a:rPr lang="en-US" altLang="en-US" sz="1200" dirty="0">
                <a:highlight>
                  <a:srgbClr val="FFFF00"/>
                </a:highlight>
                <a:latin typeface="Arial" panose="020B0604020202020204" pitchFamily="34" charset="0"/>
                <a:cs typeface="Arial" panose="020B0604020202020204" pitchFamily="34" charset="0"/>
              </a:rPr>
              <a:t> </a:t>
            </a:r>
            <a:r>
              <a:rPr lang="en-US" altLang="en-US" sz="1200" dirty="0" err="1">
                <a:highlight>
                  <a:srgbClr val="FFFF00"/>
                </a:highlight>
                <a:latin typeface="Arial" panose="020B0604020202020204" pitchFamily="34" charset="0"/>
                <a:cs typeface="Arial" panose="020B0604020202020204" pitchFamily="34" charset="0"/>
              </a:rPr>
              <a:t>mayores</a:t>
            </a:r>
            <a:r>
              <a:rPr lang="en-US" altLang="en-US" sz="1200" dirty="0">
                <a:highlight>
                  <a:srgbClr val="FFFF00"/>
                </a:highlight>
                <a:latin typeface="Arial" panose="020B0604020202020204" pitchFamily="34" charset="0"/>
                <a:cs typeface="Arial" panose="020B0604020202020204" pitchFamily="34" charset="0"/>
              </a:rPr>
              <a:t>, </a:t>
            </a:r>
            <a:r>
              <a:rPr lang="en-US" altLang="en-US" sz="1200" dirty="0" err="1">
                <a:highlight>
                  <a:srgbClr val="FFFF00"/>
                </a:highlight>
                <a:latin typeface="Arial" panose="020B0604020202020204" pitchFamily="34" charset="0"/>
                <a:cs typeface="Arial" panose="020B0604020202020204" pitchFamily="34" charset="0"/>
              </a:rPr>
              <a:t>condicionalmente</a:t>
            </a:r>
            <a:r>
              <a:rPr lang="en-US" altLang="en-US" sz="1200" dirty="0">
                <a:highlight>
                  <a:srgbClr val="FFFF00"/>
                </a:highlight>
                <a:latin typeface="Arial" panose="020B0604020202020204" pitchFamily="34" charset="0"/>
                <a:cs typeface="Arial" panose="020B0604020202020204" pitchFamily="34" charset="0"/>
              </a:rPr>
              <a:t> a que H</a:t>
            </a:r>
            <a:r>
              <a:rPr lang="en-US" altLang="en-US" sz="1200" baseline="-25000" dirty="0">
                <a:highlight>
                  <a:srgbClr val="FFFF00"/>
                </a:highlight>
                <a:latin typeface="Arial" panose="020B0604020202020204" pitchFamily="34" charset="0"/>
                <a:cs typeface="Arial" panose="020B0604020202020204" pitchFamily="34" charset="0"/>
              </a:rPr>
              <a:t>0</a:t>
            </a:r>
            <a:r>
              <a:rPr lang="en-US" altLang="en-US" sz="1200" dirty="0">
                <a:highlight>
                  <a:srgbClr val="FFFF00"/>
                </a:highlight>
                <a:latin typeface="Arial" panose="020B0604020202020204" pitchFamily="34" charset="0"/>
                <a:cs typeface="Arial" panose="020B0604020202020204" pitchFamily="34" charset="0"/>
              </a:rPr>
              <a:t> sea </a:t>
            </a:r>
            <a:r>
              <a:rPr lang="en-US" altLang="en-US" sz="1200" dirty="0" err="1">
                <a:highlight>
                  <a:srgbClr val="FFFF00"/>
                </a:highlight>
                <a:latin typeface="Arial" panose="020B0604020202020204" pitchFamily="34" charset="0"/>
                <a:cs typeface="Arial" panose="020B0604020202020204" pitchFamily="34" charset="0"/>
              </a:rPr>
              <a:t>cierta</a:t>
            </a:r>
            <a:r>
              <a:rPr lang="en-US" altLang="en-US" sz="1200" dirty="0">
                <a:highlight>
                  <a:srgbClr val="FFFF00"/>
                </a:highlight>
                <a:latin typeface="Arial" panose="020B0604020202020204" pitchFamily="34" charset="0"/>
                <a:cs typeface="Arial" panose="020B0604020202020204" pitchFamily="34" charset="0"/>
              </a:rPr>
              <a:t>. </a:t>
            </a:r>
          </a:p>
          <a:p>
            <a:pPr defTabSz="685800" eaLnBrk="0" hangingPunct="0"/>
            <a:endParaRPr lang="en-US" altLang="en-US" sz="1200"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1315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9" name="Rectangle 35"/>
          <p:cNvSpPr>
            <a:spLocks noChangeArrowheads="1"/>
          </p:cNvSpPr>
          <p:nvPr/>
        </p:nvSpPr>
        <p:spPr bwMode="auto">
          <a:xfrm>
            <a:off x="228600" y="369648"/>
            <a:ext cx="5715000" cy="325346"/>
          </a:xfrm>
          <a:prstGeom prst="rect">
            <a:avLst/>
          </a:prstGeom>
          <a:noFill/>
          <a:ln>
            <a:noFill/>
          </a:ln>
          <a:effectLst/>
          <a:extLst>
            <a:ext uri="{909E8E84-426E-40DD-AFC4-6F175D3DCCD1}">
              <a14:hiddenFill xmlns:a14="http://schemas.microsoft.com/office/drawing/2010/main">
                <a:solidFill>
                  <a:srgbClr val="DDDDDD">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 altLang="es-ES" b="1" dirty="0">
                <a:solidFill>
                  <a:srgbClr val="008080"/>
                </a:solidFill>
                <a:cs typeface="Times New Roman" pitchFamily="18" charset="0"/>
              </a:rPr>
              <a:t>Ejemplos de cómo obtener el </a:t>
            </a:r>
            <a:r>
              <a:rPr lang="es-ES" altLang="es-ES" b="1" i="1" dirty="0">
                <a:solidFill>
                  <a:srgbClr val="008080"/>
                </a:solidFill>
                <a:cs typeface="Times New Roman" pitchFamily="18" charset="0"/>
              </a:rPr>
              <a:t>nivel mínimo de significación</a:t>
            </a:r>
            <a:r>
              <a:rPr lang="es-ES" altLang="es-ES" b="1" dirty="0">
                <a:solidFill>
                  <a:srgbClr val="008080"/>
                </a:solidFill>
                <a:cs typeface="Times New Roman" pitchFamily="18" charset="0"/>
              </a:rPr>
              <a:t> </a:t>
            </a:r>
            <a:r>
              <a:rPr lang="es-ES" altLang="es-ES" sz="1500" b="1" i="1" dirty="0">
                <a:solidFill>
                  <a:srgbClr val="008080"/>
                </a:solidFill>
                <a:latin typeface="Times New Roman" pitchFamily="18" charset="0"/>
                <a:cs typeface="Times New Roman" pitchFamily="18" charset="0"/>
              </a:rPr>
              <a:t>P</a:t>
            </a:r>
            <a:endParaRPr lang="es-ES_tradnl" altLang="es-ES" sz="1500" i="1" dirty="0">
              <a:solidFill>
                <a:srgbClr val="008080"/>
              </a:solidFill>
              <a:latin typeface="Times New Roman" pitchFamily="18" charset="0"/>
              <a:cs typeface="Times New Roman" pitchFamily="18" charset="0"/>
            </a:endParaRPr>
          </a:p>
        </p:txBody>
      </p:sp>
      <p:grpSp>
        <p:nvGrpSpPr>
          <p:cNvPr id="19509" name="Group 53"/>
          <p:cNvGrpSpPr>
            <a:grpSpLocks/>
          </p:cNvGrpSpPr>
          <p:nvPr/>
        </p:nvGrpSpPr>
        <p:grpSpPr bwMode="auto">
          <a:xfrm>
            <a:off x="309563" y="2419350"/>
            <a:ext cx="8672512" cy="2717800"/>
            <a:chOff x="195" y="1524"/>
            <a:chExt cx="5463" cy="1712"/>
          </a:xfrm>
        </p:grpSpPr>
        <p:sp>
          <p:nvSpPr>
            <p:cNvPr id="19490" name="Rectangle 36"/>
            <p:cNvSpPr>
              <a:spLocks noChangeArrowheads="1"/>
            </p:cNvSpPr>
            <p:nvPr/>
          </p:nvSpPr>
          <p:spPr bwMode="auto">
            <a:xfrm>
              <a:off x="195" y="1524"/>
              <a:ext cx="4428" cy="1712"/>
            </a:xfrm>
            <a:prstGeom prst="rect">
              <a:avLst/>
            </a:prstGeom>
            <a:noFill/>
            <a:ln>
              <a:noFill/>
            </a:ln>
            <a:effectLst/>
            <a:extLst>
              <a:ext uri="{909E8E84-426E-40DD-AFC4-6F175D3DCCD1}">
                <a14:hiddenFill xmlns:a14="http://schemas.microsoft.com/office/drawing/2010/main">
                  <a:solidFill>
                    <a:srgbClr val="DDDDDD">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84175" indent="-384175" eaLnBrk="0" hangingPunct="0">
                <a:tabLst>
                  <a:tab pos="4572000" algn="l"/>
                </a:tabLst>
                <a:defRPr sz="1400">
                  <a:solidFill>
                    <a:schemeClr val="tx1"/>
                  </a:solidFill>
                  <a:latin typeface="Arial" pitchFamily="34" charset="0"/>
                  <a:cs typeface="Arial" pitchFamily="34" charset="0"/>
                </a:defRPr>
              </a:lvl1pPr>
              <a:lvl2pPr marL="742950" indent="-285750" eaLnBrk="0" hangingPunct="0">
                <a:tabLst>
                  <a:tab pos="4572000" algn="l"/>
                </a:tabLst>
                <a:defRPr sz="1400">
                  <a:solidFill>
                    <a:schemeClr val="tx1"/>
                  </a:solidFill>
                  <a:latin typeface="Arial" pitchFamily="34" charset="0"/>
                  <a:cs typeface="Arial" pitchFamily="34" charset="0"/>
                </a:defRPr>
              </a:lvl2pPr>
              <a:lvl3pPr marL="1143000" indent="-228600" eaLnBrk="0" hangingPunct="0">
                <a:tabLst>
                  <a:tab pos="4572000" algn="l"/>
                </a:tabLst>
                <a:defRPr sz="1400">
                  <a:solidFill>
                    <a:schemeClr val="tx1"/>
                  </a:solidFill>
                  <a:latin typeface="Arial" pitchFamily="34" charset="0"/>
                  <a:cs typeface="Arial" pitchFamily="34" charset="0"/>
                </a:defRPr>
              </a:lvl3pPr>
              <a:lvl4pPr marL="1600200" indent="-228600" eaLnBrk="0" hangingPunct="0">
                <a:tabLst>
                  <a:tab pos="4572000" algn="l"/>
                </a:tabLst>
                <a:defRPr sz="1400">
                  <a:solidFill>
                    <a:schemeClr val="tx1"/>
                  </a:solidFill>
                  <a:latin typeface="Arial" pitchFamily="34" charset="0"/>
                  <a:cs typeface="Arial" pitchFamily="34" charset="0"/>
                </a:defRPr>
              </a:lvl4pPr>
              <a:lvl5pPr marL="2057400" indent="-228600" eaLnBrk="0" hangingPunct="0">
                <a:tabLst>
                  <a:tab pos="4572000" algn="l"/>
                </a:tabLst>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4572000" algn="l"/>
                </a:tabLs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4572000" algn="l"/>
                </a:tabLs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4572000" algn="l"/>
                </a:tabLs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4572000" algn="l"/>
                </a:tabLst>
                <a:defRPr sz="1400">
                  <a:solidFill>
                    <a:schemeClr val="tx1"/>
                  </a:solidFill>
                  <a:latin typeface="Arial" pitchFamily="34" charset="0"/>
                  <a:cs typeface="Arial" pitchFamily="34" charset="0"/>
                </a:defRPr>
              </a:lvl9pPr>
            </a:lstStyle>
            <a:p>
              <a:pPr algn="just" eaLnBrk="1" hangingPunct="1"/>
              <a:r>
                <a:rPr lang="en-GB" altLang="es-ES" sz="1600">
                  <a:latin typeface="Times New Roman" pitchFamily="18" charset="0"/>
                  <a:cs typeface="Times New Roman" pitchFamily="18" charset="0"/>
                </a:rPr>
                <a:t>1)	</a:t>
              </a:r>
              <a:r>
                <a:rPr lang="en-GB" altLang="es-ES" sz="1600" i="1">
                  <a:latin typeface="Times New Roman" pitchFamily="18" charset="0"/>
                  <a:cs typeface="Times New Roman" pitchFamily="18" charset="0"/>
                </a:rPr>
                <a:t>t</a:t>
              </a:r>
              <a:r>
                <a:rPr lang="en-GB" altLang="es-ES" sz="1600" baseline="-30000">
                  <a:latin typeface="Times New Roman" pitchFamily="18" charset="0"/>
                  <a:cs typeface="Times New Roman" pitchFamily="18" charset="0"/>
                </a:rPr>
                <a:t>exp</a:t>
              </a:r>
              <a:r>
                <a:rPr lang="en-GB" altLang="es-ES" sz="1600">
                  <a:latin typeface="Times New Roman" pitchFamily="18" charset="0"/>
                  <a:cs typeface="Times New Roman" pitchFamily="18" charset="0"/>
                </a:rPr>
                <a:t>=2.40   </a:t>
              </a:r>
              <a:r>
                <a:rPr lang="en-GB" altLang="es-ES" sz="1600" i="1">
                  <a:latin typeface="Times New Roman" pitchFamily="18" charset="0"/>
                  <a:cs typeface="Times New Roman" pitchFamily="18" charset="0"/>
                </a:rPr>
                <a:t>t</a:t>
              </a:r>
              <a:r>
                <a:rPr lang="en-GB" altLang="es-ES" sz="1600" baseline="-30000">
                  <a:latin typeface="Times New Roman" pitchFamily="18" charset="0"/>
                  <a:cs typeface="Times New Roman" pitchFamily="18" charset="0"/>
                </a:rPr>
                <a:t>0.05</a:t>
              </a:r>
              <a:r>
                <a:rPr lang="en-GB" altLang="es-ES" sz="1600">
                  <a:latin typeface="Times New Roman" pitchFamily="18" charset="0"/>
                  <a:cs typeface="Times New Roman" pitchFamily="18" charset="0"/>
                </a:rPr>
                <a:t>=2.228&lt; </a:t>
              </a:r>
              <a:r>
                <a:rPr lang="en-GB" altLang="es-ES" sz="1600" i="1">
                  <a:latin typeface="Times New Roman" pitchFamily="18" charset="0"/>
                  <a:cs typeface="Times New Roman" pitchFamily="18" charset="0"/>
                </a:rPr>
                <a:t>t</a:t>
              </a:r>
              <a:r>
                <a:rPr lang="en-GB" altLang="es-ES" sz="1600" baseline="-30000">
                  <a:latin typeface="Times New Roman" pitchFamily="18" charset="0"/>
                  <a:cs typeface="Times New Roman" pitchFamily="18" charset="0"/>
                </a:rPr>
                <a:t>exp</a:t>
              </a:r>
              <a:r>
                <a:rPr lang="en-GB" altLang="es-ES" sz="1600">
                  <a:latin typeface="Times New Roman" pitchFamily="18" charset="0"/>
                  <a:cs typeface="Times New Roman" pitchFamily="18" charset="0"/>
                </a:rPr>
                <a:t>=2.40&lt; </a:t>
              </a:r>
              <a:r>
                <a:rPr lang="en-GB" altLang="es-ES" sz="1600" i="1">
                  <a:latin typeface="Times New Roman" pitchFamily="18" charset="0"/>
                  <a:cs typeface="Times New Roman" pitchFamily="18" charset="0"/>
                </a:rPr>
                <a:t>t</a:t>
              </a:r>
              <a:r>
                <a:rPr lang="en-GB" altLang="es-ES" sz="1600" baseline="-30000">
                  <a:latin typeface="Times New Roman" pitchFamily="18" charset="0"/>
                  <a:cs typeface="Times New Roman" pitchFamily="18" charset="0"/>
                </a:rPr>
                <a:t>0.02</a:t>
              </a:r>
              <a:r>
                <a:rPr lang="en-GB" altLang="es-ES" sz="1600">
                  <a:latin typeface="Times New Roman" pitchFamily="18" charset="0"/>
                  <a:cs typeface="Times New Roman" pitchFamily="18" charset="0"/>
                </a:rPr>
                <a:t>=2.764 </a:t>
              </a:r>
              <a:r>
                <a:rPr lang="en-GB" altLang="es-ES" sz="1200">
                  <a:sym typeface="Arial Narrow" pitchFamily="34" charset="0"/>
                </a:rPr>
                <a:t>→</a:t>
              </a:r>
              <a:r>
                <a:rPr lang="en-GB" altLang="es-ES" sz="1600">
                  <a:latin typeface="Times New Roman" pitchFamily="18" charset="0"/>
                  <a:cs typeface="Times New Roman" pitchFamily="18" charset="0"/>
                </a:rPr>
                <a:t> 0.02 &lt; P &lt; 0.05 </a:t>
              </a:r>
              <a:r>
                <a:rPr lang="en-GB" altLang="es-ES" sz="1200">
                  <a:sym typeface="Arial Narrow" pitchFamily="34" charset="0"/>
                </a:rPr>
                <a:t>→</a:t>
              </a:r>
              <a:r>
                <a:rPr lang="en-GB" altLang="es-ES" sz="1200"/>
                <a:t> </a:t>
              </a:r>
              <a:r>
                <a:rPr lang="en-GB" altLang="es-ES">
                  <a:cs typeface="Times New Roman" pitchFamily="18" charset="0"/>
                </a:rPr>
                <a:t>H</a:t>
              </a:r>
              <a:r>
                <a:rPr lang="en-GB" altLang="es-ES" baseline="-30000">
                  <a:cs typeface="Times New Roman" pitchFamily="18" charset="0"/>
                  <a:sym typeface="Arial Narrow" pitchFamily="34" charset="0"/>
                </a:rPr>
                <a:t>1</a:t>
              </a:r>
              <a:endParaRPr lang="es-ES" altLang="es-ES">
                <a:cs typeface="Times New Roman" pitchFamily="18" charset="0"/>
                <a:sym typeface="Arial Narrow" pitchFamily="34" charset="0"/>
              </a:endParaRPr>
            </a:p>
            <a:p>
              <a:pPr algn="just"/>
              <a:r>
                <a:rPr lang="en-GB" altLang="es-ES" sz="1600">
                  <a:latin typeface="Times New Roman" pitchFamily="18" charset="0"/>
                  <a:cs typeface="Times New Roman" pitchFamily="18" charset="0"/>
                  <a:sym typeface="Arial Narrow" pitchFamily="34" charset="0"/>
                </a:rPr>
                <a:t> </a:t>
              </a:r>
              <a:endParaRPr lang="es-ES" altLang="es-ES" sz="1600">
                <a:latin typeface="Times New Roman" pitchFamily="18" charset="0"/>
                <a:cs typeface="Times New Roman" pitchFamily="18" charset="0"/>
                <a:sym typeface="Arial Narrow" pitchFamily="34" charset="0"/>
              </a:endParaRPr>
            </a:p>
            <a:p>
              <a:pPr algn="just"/>
              <a:r>
                <a:rPr lang="en-GB" altLang="es-ES" sz="1600">
                  <a:latin typeface="Times New Roman" pitchFamily="18" charset="0"/>
                  <a:cs typeface="Times New Roman" pitchFamily="18" charset="0"/>
                  <a:sym typeface="Arial Narrow" pitchFamily="34" charset="0"/>
                </a:rPr>
                <a:t>2</a:t>
              </a:r>
              <a:r>
                <a:rPr lang="en-GB" altLang="es-ES" sz="1600">
                  <a:latin typeface="Times New Roman" pitchFamily="18" charset="0"/>
                  <a:cs typeface="Times New Roman" pitchFamily="18" charset="0"/>
                </a:rPr>
                <a:t>)</a:t>
              </a:r>
              <a:r>
                <a:rPr lang="en-GB" altLang="es-ES" sz="1600" i="1">
                  <a:latin typeface="Times New Roman" pitchFamily="18" charset="0"/>
                  <a:cs typeface="Times New Roman" pitchFamily="18" charset="0"/>
                  <a:sym typeface="Arial Narrow" pitchFamily="34" charset="0"/>
                </a:rPr>
                <a:t> </a:t>
              </a:r>
              <a:r>
                <a:rPr lang="en-GB" altLang="es-ES" sz="1600">
                  <a:latin typeface="Times New Roman" pitchFamily="18" charset="0"/>
                  <a:cs typeface="Times New Roman" pitchFamily="18" charset="0"/>
                  <a:sym typeface="Arial Narrow" pitchFamily="34" charset="0"/>
                </a:rPr>
                <a:t>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exp</a:t>
              </a:r>
              <a:r>
                <a:rPr lang="en-GB" altLang="es-ES" sz="1600">
                  <a:latin typeface="Times New Roman" pitchFamily="18" charset="0"/>
                  <a:cs typeface="Times New Roman" pitchFamily="18" charset="0"/>
                  <a:sym typeface="Arial Narrow" pitchFamily="34" charset="0"/>
                </a:rPr>
                <a:t>=1.21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0.30</a:t>
              </a:r>
              <a:r>
                <a:rPr lang="en-GB" altLang="es-ES" sz="1600">
                  <a:latin typeface="Times New Roman" pitchFamily="18" charset="0"/>
                  <a:cs typeface="Times New Roman" pitchFamily="18" charset="0"/>
                  <a:sym typeface="Arial Narrow" pitchFamily="34" charset="0"/>
                </a:rPr>
                <a:t>=1.093&lt;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exp</a:t>
              </a:r>
              <a:r>
                <a:rPr lang="en-GB" altLang="es-ES" sz="1600">
                  <a:latin typeface="Times New Roman" pitchFamily="18" charset="0"/>
                  <a:cs typeface="Times New Roman" pitchFamily="18" charset="0"/>
                  <a:sym typeface="Arial Narrow" pitchFamily="34" charset="0"/>
                </a:rPr>
                <a:t>=1.21&lt;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0.20</a:t>
              </a:r>
              <a:r>
                <a:rPr lang="en-GB" altLang="es-ES" sz="1600">
                  <a:latin typeface="Times New Roman" pitchFamily="18" charset="0"/>
                  <a:cs typeface="Times New Roman" pitchFamily="18" charset="0"/>
                  <a:sym typeface="Arial Narrow" pitchFamily="34" charset="0"/>
                </a:rPr>
                <a:t>=1.372 </a:t>
              </a:r>
              <a:r>
                <a:rPr lang="en-GB" altLang="es-ES" sz="1200">
                  <a:sym typeface="Arial Narrow" pitchFamily="34" charset="0"/>
                </a:rPr>
                <a:t>→</a:t>
              </a:r>
              <a:r>
                <a:rPr lang="en-GB" altLang="es-ES" sz="1600">
                  <a:latin typeface="Times New Roman" pitchFamily="18" charset="0"/>
                  <a:cs typeface="Times New Roman" pitchFamily="18" charset="0"/>
                </a:rPr>
                <a:t> 0.20 &lt; P &lt; 0.30 </a:t>
              </a:r>
              <a:r>
                <a:rPr lang="en-GB" altLang="es-ES" sz="1200">
                  <a:sym typeface="Arial Narrow" pitchFamily="34" charset="0"/>
                </a:rPr>
                <a:t>→</a:t>
              </a:r>
              <a:r>
                <a:rPr lang="en-GB" altLang="es-ES" sz="1600">
                  <a:latin typeface="Times New Roman" pitchFamily="18" charset="0"/>
                  <a:cs typeface="Times New Roman" pitchFamily="18" charset="0"/>
                </a:rPr>
                <a:t> </a:t>
              </a:r>
              <a:r>
                <a:rPr lang="en-GB" altLang="es-ES">
                  <a:cs typeface="Times New Roman" pitchFamily="18" charset="0"/>
                </a:rPr>
                <a:t>H</a:t>
              </a:r>
              <a:r>
                <a:rPr lang="en-GB" altLang="es-ES" baseline="-30000">
                  <a:cs typeface="Times New Roman" pitchFamily="18" charset="0"/>
                  <a:sym typeface="Arial Narrow" pitchFamily="34" charset="0"/>
                </a:rPr>
                <a:t>0</a:t>
              </a:r>
              <a:endParaRPr lang="es-ES" altLang="es-ES">
                <a:cs typeface="Times New Roman" pitchFamily="18" charset="0"/>
                <a:sym typeface="Arial Narrow" pitchFamily="34" charset="0"/>
              </a:endParaRPr>
            </a:p>
            <a:p>
              <a:pPr algn="just"/>
              <a:r>
                <a:rPr lang="en-GB" altLang="es-ES" sz="1600">
                  <a:latin typeface="Times New Roman" pitchFamily="18" charset="0"/>
                  <a:cs typeface="Times New Roman" pitchFamily="18" charset="0"/>
                  <a:sym typeface="Arial Narrow" pitchFamily="34" charset="0"/>
                </a:rPr>
                <a:t> </a:t>
              </a:r>
              <a:endParaRPr lang="es-ES" altLang="es-ES" sz="1600">
                <a:latin typeface="Times New Roman" pitchFamily="18" charset="0"/>
                <a:cs typeface="Times New Roman" pitchFamily="18" charset="0"/>
                <a:sym typeface="Arial Narrow" pitchFamily="34" charset="0"/>
              </a:endParaRPr>
            </a:p>
            <a:p>
              <a:pPr algn="just"/>
              <a:r>
                <a:rPr lang="en-GB" altLang="es-ES" sz="1600">
                  <a:latin typeface="Times New Roman" pitchFamily="18" charset="0"/>
                  <a:cs typeface="Times New Roman" pitchFamily="18" charset="0"/>
                  <a:sym typeface="Arial Narrow" pitchFamily="34" charset="0"/>
                </a:rPr>
                <a:t>3</a:t>
              </a:r>
              <a:r>
                <a:rPr lang="en-GB" altLang="es-ES" sz="1600">
                  <a:latin typeface="Times New Roman" pitchFamily="18" charset="0"/>
                  <a:cs typeface="Times New Roman" pitchFamily="18" charset="0"/>
                </a:rPr>
                <a:t>)</a:t>
              </a:r>
              <a:r>
                <a:rPr lang="en-GB" altLang="es-ES" sz="1600" i="1">
                  <a:latin typeface="Times New Roman" pitchFamily="18" charset="0"/>
                  <a:cs typeface="Times New Roman" pitchFamily="18" charset="0"/>
                  <a:sym typeface="Arial Narrow" pitchFamily="34" charset="0"/>
                </a:rPr>
                <a:t> </a:t>
              </a:r>
              <a:r>
                <a:rPr lang="en-GB" altLang="es-ES" sz="1600">
                  <a:latin typeface="Times New Roman" pitchFamily="18" charset="0"/>
                  <a:cs typeface="Times New Roman" pitchFamily="18" charset="0"/>
                  <a:sym typeface="Arial Narrow" pitchFamily="34" charset="0"/>
                </a:rPr>
                <a:t>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exp</a:t>
              </a:r>
              <a:r>
                <a:rPr lang="en-GB" altLang="es-ES" sz="1600">
                  <a:latin typeface="Times New Roman" pitchFamily="18" charset="0"/>
                  <a:cs typeface="Times New Roman" pitchFamily="18" charset="0"/>
                  <a:sym typeface="Arial Narrow" pitchFamily="34" charset="0"/>
                </a:rPr>
                <a:t>=2.11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0.10</a:t>
              </a:r>
              <a:r>
                <a:rPr lang="en-GB" altLang="es-ES" sz="1600">
                  <a:latin typeface="Times New Roman" pitchFamily="18" charset="0"/>
                  <a:cs typeface="Times New Roman" pitchFamily="18" charset="0"/>
                  <a:sym typeface="Arial Narrow" pitchFamily="34" charset="0"/>
                </a:rPr>
                <a:t>=1.812&lt;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exp</a:t>
              </a:r>
              <a:r>
                <a:rPr lang="en-GB" altLang="es-ES" sz="1600">
                  <a:latin typeface="Times New Roman" pitchFamily="18" charset="0"/>
                  <a:cs typeface="Times New Roman" pitchFamily="18" charset="0"/>
                  <a:sym typeface="Arial Narrow" pitchFamily="34" charset="0"/>
                </a:rPr>
                <a:t>=2.11&lt;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0.05</a:t>
              </a:r>
              <a:r>
                <a:rPr lang="en-GB" altLang="es-ES" sz="1600">
                  <a:latin typeface="Times New Roman" pitchFamily="18" charset="0"/>
                  <a:cs typeface="Times New Roman" pitchFamily="18" charset="0"/>
                  <a:sym typeface="Arial Narrow" pitchFamily="34" charset="0"/>
                </a:rPr>
                <a:t>=2.228 </a:t>
              </a:r>
              <a:r>
                <a:rPr lang="en-GB" altLang="es-ES" sz="1200">
                  <a:sym typeface="Arial Narrow" pitchFamily="34" charset="0"/>
                </a:rPr>
                <a:t>→ </a:t>
              </a:r>
              <a:r>
                <a:rPr lang="en-GB" altLang="es-ES" sz="1600">
                  <a:latin typeface="Times New Roman" pitchFamily="18" charset="0"/>
                  <a:cs typeface="Times New Roman" pitchFamily="18" charset="0"/>
                </a:rPr>
                <a:t> 0.05 &lt; P &lt; 0.10 </a:t>
              </a:r>
              <a:r>
                <a:rPr lang="en-GB" altLang="es-ES" sz="1200">
                  <a:sym typeface="Arial Narrow" pitchFamily="34" charset="0"/>
                </a:rPr>
                <a:t>→ </a:t>
              </a:r>
              <a:r>
                <a:rPr lang="en-GB" altLang="es-ES"/>
                <a:t>H</a:t>
              </a:r>
              <a:r>
                <a:rPr lang="en-GB" altLang="es-ES" baseline="-25000">
                  <a:sym typeface="Arial Narrow" pitchFamily="34" charset="0"/>
                </a:rPr>
                <a:t>0</a:t>
              </a:r>
            </a:p>
            <a:p>
              <a:pPr algn="just"/>
              <a:r>
                <a:rPr lang="en-GB" altLang="es-ES">
                  <a:cs typeface="Times New Roman" pitchFamily="18" charset="0"/>
                </a:rPr>
                <a:t>		</a:t>
              </a:r>
            </a:p>
            <a:p>
              <a:pPr algn="just"/>
              <a:r>
                <a:rPr lang="en-GB" altLang="es-ES" sz="1600">
                  <a:latin typeface="Times New Roman" pitchFamily="18" charset="0"/>
                  <a:cs typeface="Times New Roman" pitchFamily="18" charset="0"/>
                  <a:sym typeface="Arial Narrow" pitchFamily="34" charset="0"/>
                </a:rPr>
                <a:t> </a:t>
              </a:r>
            </a:p>
            <a:p>
              <a:pPr algn="just"/>
              <a:r>
                <a:rPr lang="en-GB" altLang="es-ES" sz="1600">
                  <a:latin typeface="Times New Roman" pitchFamily="18" charset="0"/>
                  <a:cs typeface="Times New Roman" pitchFamily="18" charset="0"/>
                  <a:sym typeface="Arial Narrow" pitchFamily="34" charset="0"/>
                </a:rPr>
                <a:t>4</a:t>
              </a:r>
              <a:r>
                <a:rPr lang="en-GB" altLang="es-ES" sz="1600">
                  <a:latin typeface="Times New Roman" pitchFamily="18" charset="0"/>
                  <a:cs typeface="Times New Roman" pitchFamily="18" charset="0"/>
                </a:rPr>
                <a:t>)</a:t>
              </a:r>
              <a:r>
                <a:rPr lang="en-GB" altLang="es-ES" sz="1600" i="1">
                  <a:latin typeface="Times New Roman" pitchFamily="18" charset="0"/>
                  <a:cs typeface="Times New Roman" pitchFamily="18" charset="0"/>
                  <a:sym typeface="Arial Narrow" pitchFamily="34" charset="0"/>
                </a:rPr>
                <a:t> </a:t>
              </a:r>
              <a:r>
                <a:rPr lang="en-GB" altLang="es-ES" sz="1600">
                  <a:latin typeface="Times New Roman" pitchFamily="18" charset="0"/>
                  <a:cs typeface="Times New Roman" pitchFamily="18" charset="0"/>
                  <a:sym typeface="Arial Narrow" pitchFamily="34" charset="0"/>
                </a:rPr>
                <a:t>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exp</a:t>
              </a:r>
              <a:r>
                <a:rPr lang="en-GB" altLang="es-ES" sz="1600">
                  <a:latin typeface="Times New Roman" pitchFamily="18" charset="0"/>
                  <a:cs typeface="Times New Roman" pitchFamily="18" charset="0"/>
                  <a:sym typeface="Arial Narrow" pitchFamily="34" charset="0"/>
                </a:rPr>
                <a:t>=6.33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0.001</a:t>
              </a:r>
              <a:r>
                <a:rPr lang="en-GB" altLang="es-ES" sz="1600">
                  <a:latin typeface="Times New Roman" pitchFamily="18" charset="0"/>
                  <a:cs typeface="Times New Roman" pitchFamily="18" charset="0"/>
                  <a:sym typeface="Arial Narrow" pitchFamily="34" charset="0"/>
                </a:rPr>
                <a:t>=4.587&lt;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exp</a:t>
              </a:r>
              <a:r>
                <a:rPr lang="en-GB" altLang="es-ES" sz="1600">
                  <a:latin typeface="Times New Roman" pitchFamily="18" charset="0"/>
                  <a:cs typeface="Times New Roman" pitchFamily="18" charset="0"/>
                  <a:sym typeface="Arial Narrow" pitchFamily="34" charset="0"/>
                </a:rPr>
                <a:t>=6.33 </a:t>
              </a:r>
              <a:r>
                <a:rPr lang="en-GB" altLang="es-ES" sz="1600">
                  <a:latin typeface="Arial Narrow" pitchFamily="34" charset="0"/>
                  <a:cs typeface="Times New Roman" pitchFamily="18" charset="0"/>
                  <a:sym typeface="Arial Narrow" pitchFamily="34" charset="0"/>
                </a:rPr>
                <a:t>→</a:t>
              </a:r>
              <a:r>
                <a:rPr lang="en-GB" altLang="es-ES" sz="1600">
                  <a:latin typeface="Times New Roman" pitchFamily="18" charset="0"/>
                  <a:cs typeface="Times New Roman" pitchFamily="18" charset="0"/>
                </a:rPr>
                <a:t> P &lt; 0.001 </a:t>
              </a:r>
              <a:r>
                <a:rPr lang="en-GB" altLang="es-ES" sz="1200">
                  <a:sym typeface="Arial Narrow" pitchFamily="34" charset="0"/>
                </a:rPr>
                <a:t>→</a:t>
              </a:r>
              <a:r>
                <a:rPr lang="en-GB" altLang="es-ES">
                  <a:cs typeface="Times New Roman" pitchFamily="18" charset="0"/>
                </a:rPr>
                <a:t> H</a:t>
              </a:r>
              <a:r>
                <a:rPr lang="en-GB" altLang="es-ES" baseline="-30000">
                  <a:cs typeface="Times New Roman" pitchFamily="18" charset="0"/>
                  <a:sym typeface="Arial Narrow" pitchFamily="34" charset="0"/>
                </a:rPr>
                <a:t>1</a:t>
              </a:r>
              <a:endParaRPr lang="es-ES" altLang="es-ES">
                <a:cs typeface="Times New Roman" pitchFamily="18" charset="0"/>
                <a:sym typeface="Arial Narrow" pitchFamily="34" charset="0"/>
              </a:endParaRPr>
            </a:p>
            <a:p>
              <a:pPr algn="just"/>
              <a:r>
                <a:rPr lang="en-GB" altLang="es-ES" sz="1600">
                  <a:latin typeface="Times New Roman" pitchFamily="18" charset="0"/>
                  <a:cs typeface="Times New Roman" pitchFamily="18" charset="0"/>
                  <a:sym typeface="Arial Narrow" pitchFamily="34" charset="0"/>
                </a:rPr>
                <a:t> </a:t>
              </a:r>
              <a:endParaRPr lang="es-ES" altLang="es-ES" sz="1600">
                <a:latin typeface="Times New Roman" pitchFamily="18" charset="0"/>
                <a:cs typeface="Times New Roman" pitchFamily="18" charset="0"/>
                <a:sym typeface="Arial Narrow" pitchFamily="34" charset="0"/>
              </a:endParaRPr>
            </a:p>
            <a:p>
              <a:pPr algn="just"/>
              <a:r>
                <a:rPr lang="en-GB" altLang="es-ES" sz="1600">
                  <a:latin typeface="Times New Roman" pitchFamily="18" charset="0"/>
                  <a:cs typeface="Times New Roman" pitchFamily="18" charset="0"/>
                  <a:sym typeface="Arial Narrow" pitchFamily="34" charset="0"/>
                </a:rPr>
                <a:t>5</a:t>
              </a:r>
              <a:r>
                <a:rPr lang="en-GB" altLang="es-ES" sz="1600">
                  <a:latin typeface="Times New Roman" pitchFamily="18" charset="0"/>
                  <a:cs typeface="Times New Roman" pitchFamily="18" charset="0"/>
                </a:rPr>
                <a:t>)</a:t>
              </a:r>
              <a:r>
                <a:rPr lang="en-GB" altLang="es-ES" sz="1600" i="1">
                  <a:latin typeface="Times New Roman" pitchFamily="18" charset="0"/>
                  <a:cs typeface="Times New Roman" pitchFamily="18" charset="0"/>
                  <a:sym typeface="Arial Narrow" pitchFamily="34" charset="0"/>
                </a:rPr>
                <a:t> </a:t>
              </a:r>
              <a:r>
                <a:rPr lang="en-GB" altLang="es-ES" sz="1600">
                  <a:latin typeface="Times New Roman" pitchFamily="18" charset="0"/>
                  <a:cs typeface="Times New Roman" pitchFamily="18" charset="0"/>
                  <a:sym typeface="Arial Narrow" pitchFamily="34" charset="0"/>
                </a:rPr>
                <a:t>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exp</a:t>
              </a:r>
              <a:r>
                <a:rPr lang="en-GB" altLang="es-ES" sz="1600">
                  <a:latin typeface="Times New Roman" pitchFamily="18" charset="0"/>
                  <a:cs typeface="Times New Roman" pitchFamily="18" charset="0"/>
                  <a:sym typeface="Arial Narrow" pitchFamily="34" charset="0"/>
                </a:rPr>
                <a:t>=0.55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0.50</a:t>
              </a:r>
              <a:r>
                <a:rPr lang="en-GB" altLang="es-ES" sz="1600">
                  <a:latin typeface="Times New Roman" pitchFamily="18" charset="0"/>
                  <a:cs typeface="Times New Roman" pitchFamily="18" charset="0"/>
                  <a:sym typeface="Arial Narrow" pitchFamily="34" charset="0"/>
                </a:rPr>
                <a:t>=0.700&gt; </a:t>
              </a:r>
              <a:r>
                <a:rPr lang="en-GB" altLang="es-ES" sz="1600" i="1">
                  <a:latin typeface="Times New Roman" pitchFamily="18" charset="0"/>
                  <a:cs typeface="Times New Roman" pitchFamily="18" charset="0"/>
                  <a:sym typeface="Arial Narrow" pitchFamily="34" charset="0"/>
                </a:rPr>
                <a:t>t</a:t>
              </a:r>
              <a:r>
                <a:rPr lang="en-GB" altLang="es-ES" sz="1600" baseline="-30000">
                  <a:latin typeface="Times New Roman" pitchFamily="18" charset="0"/>
                  <a:cs typeface="Times New Roman" pitchFamily="18" charset="0"/>
                  <a:sym typeface="Arial Narrow" pitchFamily="34" charset="0"/>
                </a:rPr>
                <a:t>exp</a:t>
              </a:r>
              <a:r>
                <a:rPr lang="en-GB" altLang="es-ES" sz="1600">
                  <a:latin typeface="Times New Roman" pitchFamily="18" charset="0"/>
                  <a:cs typeface="Times New Roman" pitchFamily="18" charset="0"/>
                  <a:sym typeface="Arial Narrow" pitchFamily="34" charset="0"/>
                </a:rPr>
                <a:t>=0.55 </a:t>
              </a:r>
              <a:r>
                <a:rPr lang="en-GB" altLang="es-ES" sz="1200">
                  <a:sym typeface="Arial Narrow" pitchFamily="34" charset="0"/>
                </a:rPr>
                <a:t>→</a:t>
              </a:r>
              <a:r>
                <a:rPr lang="en-GB" altLang="es-ES" sz="1600">
                  <a:latin typeface="Times New Roman" pitchFamily="18" charset="0"/>
                  <a:cs typeface="Times New Roman" pitchFamily="18" charset="0"/>
                </a:rPr>
                <a:t> P &gt; 0.50 </a:t>
              </a:r>
              <a:r>
                <a:rPr lang="en-GB" altLang="es-ES" sz="1200">
                  <a:sym typeface="Arial Narrow" pitchFamily="34" charset="0"/>
                </a:rPr>
                <a:t>→</a:t>
              </a:r>
              <a:r>
                <a:rPr lang="en-GB" altLang="es-ES" sz="1600">
                  <a:latin typeface="Times New Roman" pitchFamily="18" charset="0"/>
                  <a:cs typeface="Times New Roman" pitchFamily="18" charset="0"/>
                </a:rPr>
                <a:t> </a:t>
              </a:r>
              <a:r>
                <a:rPr lang="en-GB" altLang="es-ES">
                  <a:cs typeface="Times New Roman" pitchFamily="18" charset="0"/>
                </a:rPr>
                <a:t>H</a:t>
              </a:r>
              <a:r>
                <a:rPr lang="en-GB" altLang="es-ES" baseline="-30000">
                  <a:cs typeface="Times New Roman" pitchFamily="18" charset="0"/>
                  <a:sym typeface="Arial Narrow" pitchFamily="34" charset="0"/>
                </a:rPr>
                <a:t>0</a:t>
              </a:r>
              <a:endParaRPr lang="es-ES" altLang="es-ES">
                <a:cs typeface="Times New Roman" pitchFamily="18" charset="0"/>
                <a:sym typeface="Arial Narrow" pitchFamily="34" charset="0"/>
              </a:endParaRPr>
            </a:p>
            <a:p>
              <a:endParaRPr lang="es-ES" altLang="es-ES">
                <a:cs typeface="Times New Roman" pitchFamily="18" charset="0"/>
                <a:sym typeface="Arial Narrow" pitchFamily="34" charset="0"/>
              </a:endParaRPr>
            </a:p>
          </p:txBody>
        </p:sp>
        <p:sp>
          <p:nvSpPr>
            <p:cNvPr id="19493" name="Text Box 37"/>
            <p:cNvSpPr txBox="1">
              <a:spLocks noChangeArrowheads="1"/>
            </p:cNvSpPr>
            <p:nvPr/>
          </p:nvSpPr>
          <p:spPr bwMode="auto">
            <a:xfrm>
              <a:off x="4155" y="1533"/>
              <a:ext cx="1183" cy="2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dirty="0"/>
                <a:t>(Significativo, </a:t>
              </a:r>
              <a:r>
                <a:rPr lang="es-ES_tradnl" altLang="es-ES" sz="1600" i="1" dirty="0">
                  <a:latin typeface="Times New Roman" pitchFamily="18" charset="0"/>
                </a:rPr>
                <a:t>P </a:t>
              </a:r>
              <a:r>
                <a:rPr lang="es-ES_tradnl" altLang="es-ES" dirty="0"/>
                <a:t>&lt; 0.050)</a:t>
              </a:r>
              <a:endParaRPr lang="es-ES" altLang="es-ES" dirty="0"/>
            </a:p>
          </p:txBody>
        </p:sp>
        <p:sp>
          <p:nvSpPr>
            <p:cNvPr id="19494" name="Text Box 38"/>
            <p:cNvSpPr txBox="1">
              <a:spLocks noChangeArrowheads="1"/>
            </p:cNvSpPr>
            <p:nvPr/>
          </p:nvSpPr>
          <p:spPr bwMode="auto">
            <a:xfrm>
              <a:off x="4155" y="1833"/>
              <a:ext cx="884" cy="2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dirty="0"/>
                <a:t>(N.S.  </a:t>
              </a:r>
              <a:r>
                <a:rPr lang="es-ES_tradnl" altLang="es-ES" sz="1600" i="1" dirty="0">
                  <a:latin typeface="Times New Roman" pitchFamily="18" charset="0"/>
                </a:rPr>
                <a:t>P </a:t>
              </a:r>
              <a:r>
                <a:rPr lang="es-ES_tradnl" altLang="es-ES" dirty="0"/>
                <a:t>&gt; 0.200)</a:t>
              </a:r>
              <a:endParaRPr lang="es-ES" altLang="es-ES" dirty="0"/>
            </a:p>
          </p:txBody>
        </p:sp>
        <p:sp>
          <p:nvSpPr>
            <p:cNvPr id="19495" name="Text Box 39"/>
            <p:cNvSpPr txBox="1">
              <a:spLocks noChangeArrowheads="1"/>
            </p:cNvSpPr>
            <p:nvPr/>
          </p:nvSpPr>
          <p:spPr bwMode="auto">
            <a:xfrm>
              <a:off x="3820" y="2297"/>
              <a:ext cx="1838" cy="24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r">
                <a:lnSpc>
                  <a:spcPct val="130000"/>
                </a:lnSpc>
              </a:pPr>
              <a:r>
                <a:rPr lang="es-ES_tradnl" altLang="es-ES" sz="1300" dirty="0"/>
                <a:t>(Conviene estudiar </a:t>
              </a:r>
              <a:r>
                <a:rPr lang="es-ES_tradnl" altLang="es-ES" sz="1600" i="1" dirty="0">
                  <a:latin typeface="Times New Roman" pitchFamily="18" charset="0"/>
                </a:rPr>
                <a:t>n</a:t>
              </a:r>
              <a:r>
                <a:rPr lang="es-ES_tradnl" altLang="es-ES" sz="1400" dirty="0"/>
                <a:t> </a:t>
              </a:r>
              <a:r>
                <a:rPr lang="es-ES_tradnl" altLang="es-ES" sz="1300" dirty="0"/>
                <a:t>y la potencia)</a:t>
              </a:r>
              <a:endParaRPr lang="es-ES" altLang="es-ES" sz="1300" dirty="0"/>
            </a:p>
          </p:txBody>
        </p:sp>
        <p:sp>
          <p:nvSpPr>
            <p:cNvPr id="19496" name="Text Box 40"/>
            <p:cNvSpPr txBox="1">
              <a:spLocks noChangeArrowheads="1"/>
            </p:cNvSpPr>
            <p:nvPr/>
          </p:nvSpPr>
          <p:spPr bwMode="auto">
            <a:xfrm>
              <a:off x="3267" y="2872"/>
              <a:ext cx="802" cy="2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dirty="0"/>
                <a:t>(NS, </a:t>
              </a:r>
              <a:r>
                <a:rPr lang="es-ES_tradnl" altLang="es-ES" sz="1600" i="1" dirty="0">
                  <a:latin typeface="Times New Roman" pitchFamily="18" charset="0"/>
                </a:rPr>
                <a:t>P </a:t>
              </a:r>
              <a:r>
                <a:rPr lang="es-ES_tradnl" altLang="es-ES" dirty="0"/>
                <a:t>&gt; 0.500)</a:t>
              </a:r>
              <a:endParaRPr lang="es-ES" altLang="es-ES" dirty="0"/>
            </a:p>
          </p:txBody>
        </p:sp>
        <p:sp>
          <p:nvSpPr>
            <p:cNvPr id="19497" name="Text Box 41"/>
            <p:cNvSpPr txBox="1">
              <a:spLocks noChangeArrowheads="1"/>
            </p:cNvSpPr>
            <p:nvPr/>
          </p:nvSpPr>
          <p:spPr bwMode="auto">
            <a:xfrm>
              <a:off x="3267" y="2577"/>
              <a:ext cx="1183" cy="2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s-ES_tradnl" altLang="es-ES" dirty="0"/>
                <a:t>(Significativo, </a:t>
              </a:r>
              <a:r>
                <a:rPr lang="es-ES_tradnl" altLang="es-ES" sz="1600" i="1" dirty="0">
                  <a:latin typeface="Times New Roman" pitchFamily="18" charset="0"/>
                </a:rPr>
                <a:t>P </a:t>
              </a:r>
              <a:r>
                <a:rPr lang="es-ES_tradnl" altLang="es-ES" dirty="0"/>
                <a:t>&lt; 0.001)</a:t>
              </a:r>
              <a:endParaRPr lang="es-ES" altLang="es-ES" dirty="0"/>
            </a:p>
          </p:txBody>
        </p:sp>
        <p:sp>
          <p:nvSpPr>
            <p:cNvPr id="19498" name="Text Box 42"/>
            <p:cNvSpPr txBox="1">
              <a:spLocks noChangeArrowheads="1"/>
            </p:cNvSpPr>
            <p:nvPr/>
          </p:nvSpPr>
          <p:spPr bwMode="auto">
            <a:xfrm>
              <a:off x="4155" y="2120"/>
              <a:ext cx="1454" cy="2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nSpc>
                  <a:spcPct val="130000"/>
                </a:lnSpc>
              </a:pPr>
              <a:r>
                <a:rPr lang="es-ES_tradnl" altLang="es-ES"/>
                <a:t>(Indicios de significación)</a:t>
              </a:r>
              <a:endParaRPr lang="es-ES" altLang="es-ES"/>
            </a:p>
          </p:txBody>
        </p:sp>
      </p:grpSp>
      <p:sp>
        <p:nvSpPr>
          <p:cNvPr id="19507" name="AutoShape 86"/>
          <p:cNvSpPr>
            <a:spLocks noChangeArrowheads="1"/>
          </p:cNvSpPr>
          <p:nvPr/>
        </p:nvSpPr>
        <p:spPr bwMode="auto">
          <a:xfrm>
            <a:off x="228600" y="2130425"/>
            <a:ext cx="8753474" cy="3098800"/>
          </a:xfrm>
          <a:prstGeom prst="roundRect">
            <a:avLst>
              <a:gd name="adj" fmla="val 4148"/>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9500" name="Text Box 23"/>
          <p:cNvSpPr txBox="1">
            <a:spLocks noChangeArrowheads="1"/>
          </p:cNvSpPr>
          <p:nvPr/>
        </p:nvSpPr>
        <p:spPr bwMode="auto">
          <a:xfrm>
            <a:off x="292142" y="5690829"/>
            <a:ext cx="8453437" cy="11290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lnSpc>
                <a:spcPct val="110000"/>
              </a:lnSpc>
            </a:pPr>
            <a:r>
              <a:rPr lang="es-ES" altLang="es-ES" sz="1200" dirty="0"/>
              <a:t>Si se </a:t>
            </a:r>
            <a:r>
              <a:rPr lang="es-ES" altLang="es-ES" sz="1200" b="1" dirty="0"/>
              <a:t>opta por H</a:t>
            </a:r>
            <a:r>
              <a:rPr lang="es-ES" altLang="es-ES" sz="1200" b="1" baseline="-25000" dirty="0"/>
              <a:t>1</a:t>
            </a:r>
            <a:r>
              <a:rPr lang="es-ES" altLang="es-ES" sz="1200" dirty="0"/>
              <a:t> se dice que el resultado es </a:t>
            </a:r>
            <a:r>
              <a:rPr lang="es-ES" altLang="es-ES" sz="1200" b="1" dirty="0"/>
              <a:t>estadísticamente</a:t>
            </a:r>
            <a:r>
              <a:rPr lang="es-ES" altLang="es-ES" sz="1200" dirty="0"/>
              <a:t> </a:t>
            </a:r>
            <a:r>
              <a:rPr lang="es-ES" altLang="es-ES" sz="1200" b="1" dirty="0"/>
              <a:t>significativo y hay evidencia pera rechazar H</a:t>
            </a:r>
            <a:r>
              <a:rPr lang="es-ES" altLang="es-ES" sz="1200" b="1" baseline="-25000" dirty="0"/>
              <a:t>0</a:t>
            </a:r>
            <a:r>
              <a:rPr lang="es-ES" altLang="es-ES" sz="1200" dirty="0"/>
              <a:t> y concluir que las medias son diferentes. Si se </a:t>
            </a:r>
            <a:r>
              <a:rPr lang="es-ES" altLang="es-ES" sz="1200" b="1" dirty="0"/>
              <a:t>opta por H</a:t>
            </a:r>
            <a:r>
              <a:rPr lang="es-ES" altLang="es-ES" sz="1100" b="1" baseline="-25000" dirty="0"/>
              <a:t>0</a:t>
            </a:r>
            <a:r>
              <a:rPr lang="es-ES" altLang="es-ES" sz="1200" dirty="0"/>
              <a:t> se dice que el resultado es </a:t>
            </a:r>
            <a:r>
              <a:rPr lang="es-ES" altLang="es-ES" sz="1200" b="1" dirty="0"/>
              <a:t>no significativo y hay evidencia pera acetar que no hay diferencias. </a:t>
            </a:r>
            <a:r>
              <a:rPr lang="es-ES" altLang="es-ES" sz="1200" dirty="0"/>
              <a:t>En cualquier caso se acompaña tal afirmación con el </a:t>
            </a:r>
            <a:r>
              <a:rPr lang="es-ES" altLang="es-ES" sz="1200" b="1" dirty="0"/>
              <a:t>nivel </a:t>
            </a:r>
            <a:r>
              <a:rPr lang="es-ES" altLang="es-ES" b="1" i="1" dirty="0">
                <a:latin typeface="Times New Roman" pitchFamily="18" charset="0"/>
              </a:rPr>
              <a:t>P</a:t>
            </a:r>
            <a:r>
              <a:rPr lang="es-ES" altLang="es-ES" sz="1200" dirty="0"/>
              <a:t> obtenido (cuando </a:t>
            </a:r>
            <a:r>
              <a:rPr lang="es-ES" altLang="es-ES" sz="1200" i="1" dirty="0">
                <a:latin typeface="Times New Roman" panose="02020603050405020304" pitchFamily="18" charset="0"/>
                <a:cs typeface="Times New Roman" panose="02020603050405020304" pitchFamily="18" charset="0"/>
              </a:rPr>
              <a:t>P</a:t>
            </a:r>
            <a:r>
              <a:rPr lang="es-ES" altLang="es-ES" sz="1200" dirty="0"/>
              <a:t> se obtiene de forma exacta, con un programa de ordenador, siempre se debe indicar con 3 decimales, o bien la expresión </a:t>
            </a:r>
            <a:r>
              <a:rPr lang="es-ES" altLang="es-ES" sz="1200" i="1" dirty="0">
                <a:latin typeface="Times New Roman" panose="02020603050405020304" pitchFamily="18" charset="0"/>
                <a:cs typeface="Times New Roman" panose="02020603050405020304" pitchFamily="18" charset="0"/>
              </a:rPr>
              <a:t>P</a:t>
            </a:r>
            <a:r>
              <a:rPr lang="es-ES" altLang="es-ES" sz="1200" dirty="0"/>
              <a:t>&lt;0.001 cuando sea procedente)</a:t>
            </a:r>
          </a:p>
        </p:txBody>
      </p:sp>
      <p:sp>
        <p:nvSpPr>
          <p:cNvPr id="19503" name="AutoShape 86"/>
          <p:cNvSpPr>
            <a:spLocks noChangeArrowheads="1"/>
          </p:cNvSpPr>
          <p:nvPr/>
        </p:nvSpPr>
        <p:spPr bwMode="auto">
          <a:xfrm>
            <a:off x="308091" y="5257643"/>
            <a:ext cx="8596197" cy="1524157"/>
          </a:xfrm>
          <a:prstGeom prst="roundRect">
            <a:avLst>
              <a:gd name="adj" fmla="val 8440"/>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
        <p:nvSpPr>
          <p:cNvPr id="19501" name="Text Box 24"/>
          <p:cNvSpPr txBox="1">
            <a:spLocks noChangeArrowheads="1"/>
          </p:cNvSpPr>
          <p:nvPr/>
        </p:nvSpPr>
        <p:spPr bwMode="auto">
          <a:xfrm>
            <a:off x="283598" y="5140782"/>
            <a:ext cx="4059422" cy="279180"/>
          </a:xfrm>
          <a:prstGeom prst="rect">
            <a:avLst/>
          </a:prstGeom>
          <a:solidFill>
            <a:schemeClr val="bg1"/>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sz="1200" dirty="0"/>
              <a:t>Recordar que  por ejemplo para la diferencia de medias</a:t>
            </a:r>
            <a:endParaRPr lang="es-ES" altLang="es-ES" sz="1200" dirty="0"/>
          </a:p>
        </p:txBody>
      </p:sp>
      <p:sp>
        <p:nvSpPr>
          <p:cNvPr id="18"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a:t>
            </a:r>
          </a:p>
        </p:txBody>
      </p:sp>
      <p:sp>
        <p:nvSpPr>
          <p:cNvPr id="19" name="Rectangle 35"/>
          <p:cNvSpPr>
            <a:spLocks noChangeArrowheads="1"/>
          </p:cNvSpPr>
          <p:nvPr/>
        </p:nvSpPr>
        <p:spPr bwMode="auto">
          <a:xfrm>
            <a:off x="244043" y="810193"/>
            <a:ext cx="8738031" cy="1245598"/>
          </a:xfrm>
          <a:prstGeom prst="rect">
            <a:avLst/>
          </a:prstGeom>
          <a:noFill/>
          <a:ln>
            <a:noFill/>
          </a:ln>
          <a:effectLst/>
          <a:extLst>
            <a:ext uri="{909E8E84-426E-40DD-AFC4-6F175D3DCCD1}">
              <a14:hiddenFill xmlns:a14="http://schemas.microsoft.com/office/drawing/2010/main">
                <a:solidFill>
                  <a:srgbClr val="DDDDDD">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a:r>
              <a:rPr lang="es-ES" altLang="es-ES" dirty="0">
                <a:cs typeface="Times New Roman" pitchFamily="18" charset="0"/>
              </a:rPr>
              <a:t>Para centrar ideas </a:t>
            </a:r>
            <a:r>
              <a:rPr lang="es-ES" altLang="es-ES" b="1" dirty="0">
                <a:cs typeface="Times New Roman" pitchFamily="18" charset="0"/>
              </a:rPr>
              <a:t>supongamos que la distribución de referencia es  una </a:t>
            </a:r>
            <a:r>
              <a:rPr lang="es-ES" altLang="es-ES" sz="1600" b="1" i="1" dirty="0">
                <a:latin typeface="Times New Roman" pitchFamily="18" charset="0"/>
                <a:cs typeface="Times New Roman" pitchFamily="18" charset="0"/>
              </a:rPr>
              <a:t>t-</a:t>
            </a:r>
            <a:r>
              <a:rPr lang="es-ES" altLang="es-ES" sz="1600" b="1" i="1" dirty="0" err="1">
                <a:latin typeface="Times New Roman" pitchFamily="18" charset="0"/>
                <a:cs typeface="Times New Roman" pitchFamily="18" charset="0"/>
              </a:rPr>
              <a:t>Student</a:t>
            </a:r>
            <a:r>
              <a:rPr lang="es-ES" altLang="es-ES" sz="1600" b="1" dirty="0">
                <a:latin typeface="Times New Roman" pitchFamily="18" charset="0"/>
                <a:cs typeface="Times New Roman" pitchFamily="18" charset="0"/>
              </a:rPr>
              <a:t> </a:t>
            </a:r>
            <a:r>
              <a:rPr lang="es-ES" altLang="es-ES" b="1" dirty="0">
                <a:cs typeface="Times New Roman" pitchFamily="18" charset="0"/>
              </a:rPr>
              <a:t>con 10 </a:t>
            </a:r>
            <a:r>
              <a:rPr lang="es-ES" altLang="es-ES" b="1" dirty="0" err="1">
                <a:cs typeface="Times New Roman" pitchFamily="18" charset="0"/>
              </a:rPr>
              <a:t>g.l</a:t>
            </a:r>
            <a:r>
              <a:rPr lang="es-ES" altLang="es-ES" b="1" dirty="0">
                <a:cs typeface="Times New Roman" pitchFamily="18" charset="0"/>
              </a:rPr>
              <a:t>.</a:t>
            </a:r>
            <a:r>
              <a:rPr lang="es-ES" altLang="es-ES" dirty="0">
                <a:cs typeface="Times New Roman" pitchFamily="18" charset="0"/>
              </a:rPr>
              <a:t> (tabla de  la diapositiva siguiente)</a:t>
            </a:r>
          </a:p>
          <a:p>
            <a:pPr algn="just">
              <a:lnSpc>
                <a:spcPct val="60000"/>
              </a:lnSpc>
            </a:pPr>
            <a:r>
              <a:rPr lang="es-ES_tradnl" altLang="es-ES" sz="1800" dirty="0">
                <a:latin typeface="Times New Roman" pitchFamily="18" charset="0"/>
                <a:cs typeface="Times New Roman" pitchFamily="18" charset="0"/>
              </a:rPr>
              <a:t>	</a:t>
            </a:r>
          </a:p>
          <a:p>
            <a:pPr algn="just"/>
            <a:r>
              <a:rPr lang="es-ES_tradnl" altLang="es-ES" dirty="0">
                <a:cs typeface="Times New Roman" pitchFamily="18" charset="0"/>
              </a:rPr>
              <a:t>En la fila de los </a:t>
            </a:r>
            <a:r>
              <a:rPr lang="es-ES_tradnl" altLang="es-ES" sz="1600" i="1" dirty="0" err="1">
                <a:latin typeface="Times New Roman" panose="02020603050405020304" pitchFamily="18" charset="0"/>
                <a:cs typeface="Times New Roman" panose="02020603050405020304" pitchFamily="18" charset="0"/>
              </a:rPr>
              <a:t>gl</a:t>
            </a:r>
            <a:r>
              <a:rPr lang="es-ES_tradnl" altLang="es-ES" dirty="0">
                <a:cs typeface="Times New Roman" pitchFamily="18" charset="0"/>
              </a:rPr>
              <a:t> implicados, se busca entre qué valore</a:t>
            </a:r>
            <a:r>
              <a:rPr lang="es-ES" altLang="es-ES" dirty="0">
                <a:cs typeface="Times New Roman" pitchFamily="18" charset="0"/>
              </a:rPr>
              <a:t>s de</a:t>
            </a:r>
            <a:r>
              <a:rPr lang="es-ES" altLang="es-ES" sz="1800" dirty="0">
                <a:latin typeface="Times New Roman" pitchFamily="18" charset="0"/>
                <a:cs typeface="Times New Roman" pitchFamily="18" charset="0"/>
              </a:rPr>
              <a:t> </a:t>
            </a:r>
            <a:r>
              <a:rPr lang="es-ES_tradnl" altLang="es-ES" sz="1600" i="1" dirty="0">
                <a:latin typeface="Times New Roman" pitchFamily="18" charset="0"/>
                <a:cs typeface="Times New Roman" pitchFamily="18" charset="0"/>
              </a:rPr>
              <a:t>t</a:t>
            </a:r>
            <a:r>
              <a:rPr lang="es-ES" altLang="es-ES" sz="1600" baseline="-25000" dirty="0">
                <a:latin typeface="Symbol" pitchFamily="18" charset="2"/>
                <a:cs typeface="Times New Roman" pitchFamily="18" charset="0"/>
              </a:rPr>
              <a:t>a</a:t>
            </a:r>
            <a:r>
              <a:rPr lang="es-ES" altLang="es-ES" sz="1800" baseline="-25000" dirty="0">
                <a:latin typeface="Symbol" pitchFamily="18" charset="2"/>
                <a:cs typeface="Times New Roman" pitchFamily="18" charset="0"/>
              </a:rPr>
              <a:t> </a:t>
            </a:r>
            <a:r>
              <a:rPr lang="es-ES" altLang="es-ES" dirty="0">
                <a:cs typeface="Times New Roman" pitchFamily="18" charset="0"/>
              </a:rPr>
              <a:t>se encuentra</a:t>
            </a:r>
            <a:r>
              <a:rPr lang="es-ES" altLang="es-ES" sz="1800" dirty="0">
                <a:cs typeface="Times New Roman" pitchFamily="18" charset="0"/>
              </a:rPr>
              <a:t> </a:t>
            </a:r>
            <a:r>
              <a:rPr lang="es-ES" altLang="es-ES" i="1" dirty="0" err="1">
                <a:cs typeface="Times New Roman" pitchFamily="18" charset="0"/>
              </a:rPr>
              <a:t>t</a:t>
            </a:r>
            <a:r>
              <a:rPr lang="es-ES" altLang="es-ES" i="1" baseline="-25000" dirty="0" err="1">
                <a:latin typeface="Times New Roman" panose="02020603050405020304" pitchFamily="18" charset="0"/>
                <a:cs typeface="Times New Roman" panose="02020603050405020304" pitchFamily="18" charset="0"/>
              </a:rPr>
              <a:t>exp</a:t>
            </a:r>
            <a:r>
              <a:rPr lang="es-ES" altLang="es-ES" sz="1600" dirty="0">
                <a:cs typeface="Times New Roman" pitchFamily="18" charset="0"/>
              </a:rPr>
              <a:t> </a:t>
            </a:r>
            <a:r>
              <a:rPr lang="es-ES" altLang="es-ES" dirty="0">
                <a:cs typeface="Times New Roman" pitchFamily="18" charset="0"/>
              </a:rPr>
              <a:t>de manera que </a:t>
            </a:r>
            <a:r>
              <a:rPr lang="es-ES" altLang="es-ES" sz="1600" i="1" dirty="0">
                <a:latin typeface="Times New Roman" pitchFamily="18" charset="0"/>
                <a:cs typeface="Times New Roman" pitchFamily="18" charset="0"/>
              </a:rPr>
              <a:t>P</a:t>
            </a:r>
            <a:r>
              <a:rPr lang="es-ES" altLang="es-ES" dirty="0">
                <a:cs typeface="Times New Roman" pitchFamily="18" charset="0"/>
              </a:rPr>
              <a:t> se encuentra entre los valores de </a:t>
            </a:r>
            <a:r>
              <a:rPr lang="es-ES" altLang="es-ES" sz="1600" dirty="0">
                <a:latin typeface="Symbol" pitchFamily="18" charset="2"/>
                <a:cs typeface="Times New Roman" pitchFamily="18" charset="0"/>
              </a:rPr>
              <a:t>a</a:t>
            </a:r>
            <a:r>
              <a:rPr lang="es-ES" altLang="es-ES" sz="1600" dirty="0">
                <a:cs typeface="Times New Roman" pitchFamily="18" charset="0"/>
              </a:rPr>
              <a:t> </a:t>
            </a:r>
            <a:r>
              <a:rPr lang="es-ES" altLang="es-ES" dirty="0">
                <a:cs typeface="Times New Roman" pitchFamily="18" charset="0"/>
              </a:rPr>
              <a:t>correspondientes:</a:t>
            </a:r>
            <a:endParaRPr lang="es-ES" altLang="es-ES" dirty="0">
              <a:latin typeface="Symbol" pitchFamily="18" charset="2"/>
            </a:endParaRPr>
          </a:p>
        </p:txBody>
      </p:sp>
      <p:graphicFrame>
        <p:nvGraphicFramePr>
          <p:cNvPr id="2" name="Object 29">
            <a:extLst>
              <a:ext uri="{FF2B5EF4-FFF2-40B4-BE49-F238E27FC236}">
                <a16:creationId xmlns:a16="http://schemas.microsoft.com/office/drawing/2014/main" id="{4646E7A5-1252-F90C-5493-E07055518EAB}"/>
              </a:ext>
            </a:extLst>
          </p:cNvPr>
          <p:cNvGraphicFramePr>
            <a:graphicFrameLocks noChangeAspect="1"/>
          </p:cNvGraphicFramePr>
          <p:nvPr>
            <p:extLst>
              <p:ext uri="{D42A27DB-BD31-4B8C-83A1-F6EECF244321}">
                <p14:modId xmlns:p14="http://schemas.microsoft.com/office/powerpoint/2010/main" val="1149013533"/>
              </p:ext>
            </p:extLst>
          </p:nvPr>
        </p:nvGraphicFramePr>
        <p:xfrm>
          <a:off x="4164426" y="5137150"/>
          <a:ext cx="1017588" cy="671512"/>
        </p:xfrm>
        <a:graphic>
          <a:graphicData uri="http://schemas.openxmlformats.org/presentationml/2006/ole">
            <mc:AlternateContent xmlns:mc="http://schemas.openxmlformats.org/markup-compatibility/2006">
              <mc:Choice xmlns:v="urn:schemas-microsoft-com:vml" Requires="v">
                <p:oleObj name="Equation" r:id="rId2" imgW="825142" imgH="545863" progId="Equation.DSMT4">
                  <p:embed/>
                </p:oleObj>
              </mc:Choice>
              <mc:Fallback>
                <p:oleObj name="Equation" r:id="rId2" imgW="825142" imgH="545863" progId="Equation.DSMT4">
                  <p:embed/>
                  <p:pic>
                    <p:nvPicPr>
                      <p:cNvPr id="6150" name="Object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4426" y="5137150"/>
                        <a:ext cx="1017588"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70056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438728" y="1692551"/>
            <a:ext cx="8493974" cy="4591016"/>
          </a:xfrm>
          <a:prstGeom prst="rect">
            <a:avLst/>
          </a:prstGeom>
        </p:spPr>
      </p:pic>
      <p:pic>
        <p:nvPicPr>
          <p:cNvPr id="4" name="Imagen 3"/>
          <p:cNvPicPr>
            <a:picLocks noChangeAspect="1"/>
          </p:cNvPicPr>
          <p:nvPr/>
        </p:nvPicPr>
        <p:blipFill>
          <a:blip r:embed="rId3"/>
          <a:stretch>
            <a:fillRect/>
          </a:stretch>
        </p:blipFill>
        <p:spPr>
          <a:xfrm>
            <a:off x="6881463" y="298950"/>
            <a:ext cx="1441222" cy="1359504"/>
          </a:xfrm>
          <a:prstGeom prst="rect">
            <a:avLst/>
          </a:prstGeom>
        </p:spPr>
      </p:pic>
      <p:sp>
        <p:nvSpPr>
          <p:cNvPr id="20484" name="Text Box 6"/>
          <p:cNvSpPr txBox="1">
            <a:spLocks noChangeArrowheads="1"/>
          </p:cNvSpPr>
          <p:nvPr/>
        </p:nvSpPr>
        <p:spPr bwMode="auto">
          <a:xfrm>
            <a:off x="438728" y="896380"/>
            <a:ext cx="2228272" cy="340735"/>
          </a:xfrm>
          <a:prstGeom prst="rect">
            <a:avLst/>
          </a:prstGeom>
          <a:noFill/>
          <a:ln>
            <a:noFill/>
          </a:ln>
          <a:effectLst/>
          <a:extLst>
            <a:ext uri="{909E8E84-426E-40DD-AFC4-6F175D3DCCD1}">
              <a14:hiddenFill xmlns:a14="http://schemas.microsoft.com/office/drawing/2010/main">
                <a:solidFill>
                  <a:srgbClr val="F8F8F8">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Distribución </a:t>
            </a:r>
            <a:r>
              <a:rPr lang="es-ES_tradnl" altLang="es-ES" sz="1600" b="1" i="1" dirty="0">
                <a:latin typeface="Times New Roman" pitchFamily="18" charset="0"/>
              </a:rPr>
              <a:t>t</a:t>
            </a:r>
            <a:r>
              <a:rPr lang="es-ES_tradnl" altLang="es-ES" sz="1600" b="1" dirty="0">
                <a:latin typeface="Times New Roman" pitchFamily="18" charset="0"/>
              </a:rPr>
              <a:t>-</a:t>
            </a:r>
            <a:r>
              <a:rPr lang="es-ES_tradnl" altLang="es-ES" sz="1600" b="1" dirty="0" err="1">
                <a:latin typeface="Times New Roman" pitchFamily="18" charset="0"/>
              </a:rPr>
              <a:t>Student</a:t>
            </a:r>
            <a:endParaRPr lang="es-ES_tradnl" altLang="es-ES" sz="1600" b="1" dirty="0">
              <a:latin typeface="Times New Roman" pitchFamily="18" charset="0"/>
            </a:endParaRPr>
          </a:p>
        </p:txBody>
      </p:sp>
      <p:sp>
        <p:nvSpPr>
          <p:cNvPr id="17" name="Rectangle 35"/>
          <p:cNvSpPr>
            <a:spLocks noChangeArrowheads="1"/>
          </p:cNvSpPr>
          <p:nvPr/>
        </p:nvSpPr>
        <p:spPr bwMode="auto">
          <a:xfrm>
            <a:off x="228600" y="370182"/>
            <a:ext cx="5410200" cy="325346"/>
          </a:xfrm>
          <a:prstGeom prst="rect">
            <a:avLst/>
          </a:prstGeom>
          <a:noFill/>
          <a:ln>
            <a:noFill/>
          </a:ln>
          <a:effectLst/>
          <a:extLst>
            <a:ext uri="{909E8E84-426E-40DD-AFC4-6F175D3DCCD1}">
              <a14:hiddenFill xmlns:a14="http://schemas.microsoft.com/office/drawing/2010/main">
                <a:solidFill>
                  <a:srgbClr val="DDDDDD">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 altLang="es-ES" b="1" dirty="0">
                <a:solidFill>
                  <a:srgbClr val="008080"/>
                </a:solidFill>
                <a:cs typeface="Times New Roman" pitchFamily="18" charset="0"/>
              </a:rPr>
              <a:t>Ejemplos de cómo obtener el </a:t>
            </a:r>
            <a:r>
              <a:rPr lang="es-ES" altLang="es-ES" b="1" i="1" dirty="0">
                <a:solidFill>
                  <a:srgbClr val="008080"/>
                </a:solidFill>
                <a:cs typeface="Times New Roman" pitchFamily="18" charset="0"/>
              </a:rPr>
              <a:t>nivel mínimo de significación</a:t>
            </a:r>
            <a:r>
              <a:rPr lang="es-ES" altLang="es-ES" b="1" dirty="0">
                <a:solidFill>
                  <a:srgbClr val="008080"/>
                </a:solidFill>
                <a:cs typeface="Times New Roman" pitchFamily="18" charset="0"/>
              </a:rPr>
              <a:t> </a:t>
            </a:r>
            <a:r>
              <a:rPr lang="es-ES" altLang="es-ES" sz="1500" b="1" i="1" dirty="0">
                <a:solidFill>
                  <a:srgbClr val="008080"/>
                </a:solidFill>
                <a:latin typeface="Times New Roman" pitchFamily="18" charset="0"/>
                <a:cs typeface="Times New Roman" pitchFamily="18" charset="0"/>
              </a:rPr>
              <a:t>P</a:t>
            </a:r>
            <a:endParaRPr lang="es-ES_tradnl" altLang="es-ES" sz="1500" i="1" dirty="0">
              <a:solidFill>
                <a:srgbClr val="008080"/>
              </a:solidFill>
              <a:latin typeface="Times New Roman" pitchFamily="18" charset="0"/>
              <a:cs typeface="Times New Roman" pitchFamily="18" charset="0"/>
            </a:endParaRPr>
          </a:p>
        </p:txBody>
      </p:sp>
      <p:sp>
        <p:nvSpPr>
          <p:cNvPr id="18" name="Text Box 33"/>
          <p:cNvSpPr txBox="1">
            <a:spLocks noChangeArrowheads="1"/>
          </p:cNvSpPr>
          <p:nvPr/>
        </p:nvSpPr>
        <p:spPr bwMode="auto">
          <a:xfrm>
            <a:off x="228600" y="76200"/>
            <a:ext cx="4169419"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Toma de decisiones</a:t>
            </a:r>
          </a:p>
        </p:txBody>
      </p:sp>
      <p:sp>
        <p:nvSpPr>
          <p:cNvPr id="3" name="Rectángulo 2"/>
          <p:cNvSpPr/>
          <p:nvPr/>
        </p:nvSpPr>
        <p:spPr>
          <a:xfrm>
            <a:off x="228601" y="3947195"/>
            <a:ext cx="8839200" cy="228600"/>
          </a:xfrm>
          <a:prstGeom prst="rect">
            <a:avLst/>
          </a:prstGeom>
          <a:noFill/>
          <a:ln w="15875">
            <a:solidFill>
              <a:srgbClr val="FF9900">
                <a:alpha val="9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AutoShape 15"/>
          <p:cNvSpPr>
            <a:spLocks noChangeArrowheads="1"/>
          </p:cNvSpPr>
          <p:nvPr/>
        </p:nvSpPr>
        <p:spPr bwMode="auto">
          <a:xfrm>
            <a:off x="5433663" y="4493084"/>
            <a:ext cx="1447800" cy="533400"/>
          </a:xfrm>
          <a:prstGeom prst="wedgeEllipseCallout">
            <a:avLst>
              <a:gd name="adj1" fmla="val 18639"/>
              <a:gd name="adj2" fmla="val -117856"/>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800" b="1" i="1">
                <a:solidFill>
                  <a:srgbClr val="2E0000"/>
                </a:solidFill>
                <a:latin typeface="Times New Roman" pitchFamily="18" charset="0"/>
                <a:cs typeface="Times New Roman" pitchFamily="18" charset="0"/>
              </a:rPr>
              <a:t>t</a:t>
            </a:r>
            <a:r>
              <a:rPr lang="es-ES_tradnl" altLang="es-ES" sz="1800" b="1" i="1" baseline="-25000">
                <a:solidFill>
                  <a:srgbClr val="2E0000"/>
                </a:solidFill>
                <a:latin typeface="Times New Roman" pitchFamily="18" charset="0"/>
                <a:cs typeface="Times New Roman" pitchFamily="18" charset="0"/>
              </a:rPr>
              <a:t>exp</a:t>
            </a:r>
            <a:r>
              <a:rPr lang="es-ES_tradnl" altLang="es-ES" sz="1800" b="1">
                <a:solidFill>
                  <a:srgbClr val="2E0000"/>
                </a:solidFill>
                <a:latin typeface="Times New Roman" pitchFamily="18" charset="0"/>
                <a:cs typeface="Times New Roman" pitchFamily="18" charset="0"/>
              </a:rPr>
              <a:t>=2.40</a:t>
            </a:r>
            <a:endParaRPr lang="es-ES" altLang="es-ES" sz="1800" b="1">
              <a:solidFill>
                <a:srgbClr val="2E0000"/>
              </a:solidFill>
              <a:latin typeface="Times New Roman" pitchFamily="18" charset="0"/>
              <a:cs typeface="Times New Roman" pitchFamily="18" charset="0"/>
            </a:endParaRPr>
          </a:p>
        </p:txBody>
      </p:sp>
      <p:sp>
        <p:nvSpPr>
          <p:cNvPr id="35" name="Freeform 10"/>
          <p:cNvSpPr>
            <a:spLocks/>
          </p:cNvSpPr>
          <p:nvPr/>
        </p:nvSpPr>
        <p:spPr bwMode="auto">
          <a:xfrm>
            <a:off x="6278141" y="1853368"/>
            <a:ext cx="304800" cy="238125"/>
          </a:xfrm>
          <a:custGeom>
            <a:avLst/>
            <a:gdLst>
              <a:gd name="T0" fmla="*/ 2147483647 w 294"/>
              <a:gd name="T1" fmla="*/ 2147483647 h 305"/>
              <a:gd name="T2" fmla="*/ 2147483647 w 294"/>
              <a:gd name="T3" fmla="*/ 2147483647 h 305"/>
              <a:gd name="T4" fmla="*/ 0 w 294"/>
              <a:gd name="T5" fmla="*/ 2147483647 h 305"/>
              <a:gd name="T6" fmla="*/ 2147483647 w 294"/>
              <a:gd name="T7" fmla="*/ 2147483647 h 305"/>
              <a:gd name="T8" fmla="*/ 2147483647 w 294"/>
              <a:gd name="T9" fmla="*/ 2147483647 h 305"/>
              <a:gd name="T10" fmla="*/ 2147483647 w 294"/>
              <a:gd name="T11" fmla="*/ 2147483647 h 305"/>
              <a:gd name="T12" fmla="*/ 2147483647 w 294"/>
              <a:gd name="T13" fmla="*/ 2147483647 h 305"/>
              <a:gd name="T14" fmla="*/ 2147483647 w 294"/>
              <a:gd name="T15" fmla="*/ 2147483647 h 305"/>
              <a:gd name="T16" fmla="*/ 2147483647 w 294"/>
              <a:gd name="T17" fmla="*/ 2147483647 h 305"/>
              <a:gd name="T18" fmla="*/ 2147483647 w 294"/>
              <a:gd name="T19" fmla="*/ 0 h 305"/>
              <a:gd name="T20" fmla="*/ 2147483647 w 294"/>
              <a:gd name="T21" fmla="*/ 2147483647 h 3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4" h="305">
                <a:moveTo>
                  <a:pt x="178" y="9"/>
                </a:moveTo>
                <a:cubicBezTo>
                  <a:pt x="133" y="16"/>
                  <a:pt x="113" y="19"/>
                  <a:pt x="76" y="43"/>
                </a:cubicBezTo>
                <a:cubicBezTo>
                  <a:pt x="43" y="91"/>
                  <a:pt x="18" y="112"/>
                  <a:pt x="0" y="170"/>
                </a:cubicBezTo>
                <a:cubicBezTo>
                  <a:pt x="3" y="198"/>
                  <a:pt x="2" y="227"/>
                  <a:pt x="8" y="254"/>
                </a:cubicBezTo>
                <a:cubicBezTo>
                  <a:pt x="16" y="290"/>
                  <a:pt x="73" y="296"/>
                  <a:pt x="102" y="305"/>
                </a:cubicBezTo>
                <a:cubicBezTo>
                  <a:pt x="105" y="305"/>
                  <a:pt x="189" y="303"/>
                  <a:pt x="212" y="288"/>
                </a:cubicBezTo>
                <a:cubicBezTo>
                  <a:pt x="239" y="270"/>
                  <a:pt x="271" y="212"/>
                  <a:pt x="271" y="212"/>
                </a:cubicBezTo>
                <a:cubicBezTo>
                  <a:pt x="281" y="157"/>
                  <a:pt x="294" y="111"/>
                  <a:pt x="271" y="51"/>
                </a:cubicBezTo>
                <a:cubicBezTo>
                  <a:pt x="258" y="16"/>
                  <a:pt x="206" y="16"/>
                  <a:pt x="178" y="9"/>
                </a:cubicBezTo>
                <a:cubicBezTo>
                  <a:pt x="169" y="7"/>
                  <a:pt x="152" y="0"/>
                  <a:pt x="152" y="0"/>
                </a:cubicBezTo>
                <a:cubicBezTo>
                  <a:pt x="152" y="0"/>
                  <a:pt x="169" y="6"/>
                  <a:pt x="178" y="9"/>
                </a:cubicBezTo>
                <a:close/>
              </a:path>
            </a:pathLst>
          </a:custGeom>
          <a:noFill/>
          <a:ln w="25400" cap="flat" cmpd="sng">
            <a:solidFill>
              <a:srgbClr val="800000"/>
            </a:solidFill>
            <a:prstDash val="solid"/>
            <a:round/>
            <a:headEnd/>
            <a:tailEnd/>
          </a:ln>
          <a:effectLst/>
          <a:extLst>
            <a:ext uri="{909E8E84-426E-40DD-AFC4-6F175D3DCCD1}">
              <a14:hiddenFill xmlns:a14="http://schemas.microsoft.com/office/drawing/2010/main">
                <a:solidFill>
                  <a:srgbClr val="DDDDDD">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es-ES"/>
          </a:p>
        </p:txBody>
      </p:sp>
      <p:sp>
        <p:nvSpPr>
          <p:cNvPr id="37" name="Freeform 13"/>
          <p:cNvSpPr>
            <a:spLocks/>
          </p:cNvSpPr>
          <p:nvPr/>
        </p:nvSpPr>
        <p:spPr bwMode="auto">
          <a:xfrm>
            <a:off x="6339510" y="3965667"/>
            <a:ext cx="152400" cy="161925"/>
          </a:xfrm>
          <a:custGeom>
            <a:avLst/>
            <a:gdLst>
              <a:gd name="T0" fmla="*/ 6 w 294"/>
              <a:gd name="T1" fmla="*/ 0 h 305"/>
              <a:gd name="T2" fmla="*/ 3 w 294"/>
              <a:gd name="T3" fmla="*/ 2 h 305"/>
              <a:gd name="T4" fmla="*/ 0 w 294"/>
              <a:gd name="T5" fmla="*/ 6 h 305"/>
              <a:gd name="T6" fmla="*/ 0 w 294"/>
              <a:gd name="T7" fmla="*/ 9 h 305"/>
              <a:gd name="T8" fmla="*/ 4 w 294"/>
              <a:gd name="T9" fmla="*/ 11 h 305"/>
              <a:gd name="T10" fmla="*/ 8 w 294"/>
              <a:gd name="T11" fmla="*/ 11 h 305"/>
              <a:gd name="T12" fmla="*/ 9 w 294"/>
              <a:gd name="T13" fmla="*/ 8 h 305"/>
              <a:gd name="T14" fmla="*/ 9 w 294"/>
              <a:gd name="T15" fmla="*/ 2 h 305"/>
              <a:gd name="T16" fmla="*/ 6 w 294"/>
              <a:gd name="T17" fmla="*/ 0 h 305"/>
              <a:gd name="T18" fmla="*/ 5 w 294"/>
              <a:gd name="T19" fmla="*/ 0 h 305"/>
              <a:gd name="T20" fmla="*/ 6 w 294"/>
              <a:gd name="T21" fmla="*/ 0 h 3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4" h="305">
                <a:moveTo>
                  <a:pt x="178" y="9"/>
                </a:moveTo>
                <a:cubicBezTo>
                  <a:pt x="133" y="16"/>
                  <a:pt x="113" y="19"/>
                  <a:pt x="76" y="43"/>
                </a:cubicBezTo>
                <a:cubicBezTo>
                  <a:pt x="43" y="91"/>
                  <a:pt x="18" y="112"/>
                  <a:pt x="0" y="170"/>
                </a:cubicBezTo>
                <a:cubicBezTo>
                  <a:pt x="3" y="198"/>
                  <a:pt x="2" y="227"/>
                  <a:pt x="8" y="254"/>
                </a:cubicBezTo>
                <a:cubicBezTo>
                  <a:pt x="16" y="290"/>
                  <a:pt x="73" y="296"/>
                  <a:pt x="102" y="305"/>
                </a:cubicBezTo>
                <a:cubicBezTo>
                  <a:pt x="105" y="305"/>
                  <a:pt x="189" y="303"/>
                  <a:pt x="212" y="288"/>
                </a:cubicBezTo>
                <a:cubicBezTo>
                  <a:pt x="239" y="270"/>
                  <a:pt x="271" y="212"/>
                  <a:pt x="271" y="212"/>
                </a:cubicBezTo>
                <a:cubicBezTo>
                  <a:pt x="281" y="157"/>
                  <a:pt x="294" y="111"/>
                  <a:pt x="271" y="51"/>
                </a:cubicBezTo>
                <a:cubicBezTo>
                  <a:pt x="258" y="16"/>
                  <a:pt x="206" y="16"/>
                  <a:pt x="178" y="9"/>
                </a:cubicBezTo>
                <a:cubicBezTo>
                  <a:pt x="169" y="7"/>
                  <a:pt x="152" y="0"/>
                  <a:pt x="152" y="0"/>
                </a:cubicBezTo>
                <a:cubicBezTo>
                  <a:pt x="152" y="0"/>
                  <a:pt x="169" y="6"/>
                  <a:pt x="178" y="9"/>
                </a:cubicBezTo>
                <a:close/>
              </a:path>
            </a:pathLst>
          </a:custGeom>
          <a:noFill/>
          <a:ln w="25400" cap="flat" cmpd="sng">
            <a:solidFill>
              <a:srgbClr val="800000"/>
            </a:solidFill>
            <a:prstDash val="solid"/>
            <a:round/>
            <a:headEnd/>
            <a:tailEnd/>
          </a:ln>
          <a:effectLst/>
          <a:extLst>
            <a:ext uri="{909E8E84-426E-40DD-AFC4-6F175D3DCCD1}">
              <a14:hiddenFill xmlns:a14="http://schemas.microsoft.com/office/drawing/2010/main">
                <a:solidFill>
                  <a:srgbClr val="DDDDDD">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es-ES"/>
          </a:p>
        </p:txBody>
      </p:sp>
      <p:sp>
        <p:nvSpPr>
          <p:cNvPr id="38" name="AutoShape 18"/>
          <p:cNvSpPr>
            <a:spLocks noChangeArrowheads="1"/>
          </p:cNvSpPr>
          <p:nvPr/>
        </p:nvSpPr>
        <p:spPr bwMode="auto">
          <a:xfrm>
            <a:off x="4761995" y="978702"/>
            <a:ext cx="2057400" cy="381000"/>
          </a:xfrm>
          <a:prstGeom prst="wedgeEllipseCallout">
            <a:avLst>
              <a:gd name="adj1" fmla="val 32097"/>
              <a:gd name="adj2" fmla="val 20041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600" b="1">
                <a:solidFill>
                  <a:srgbClr val="2E0000"/>
                </a:solidFill>
                <a:latin typeface="Times New Roman" pitchFamily="18" charset="0"/>
                <a:cs typeface="Times New Roman" pitchFamily="18" charset="0"/>
              </a:rPr>
              <a:t>0.02 &lt; P &lt; 0.05</a:t>
            </a:r>
            <a:endParaRPr lang="es-ES" altLang="es-ES" sz="1600" b="1">
              <a:solidFill>
                <a:srgbClr val="2E0000"/>
              </a:solidFill>
              <a:latin typeface="Times New Roman" pitchFamily="18" charset="0"/>
              <a:cs typeface="Times New Roman" pitchFamily="18" charset="0"/>
            </a:endParaRPr>
          </a:p>
        </p:txBody>
      </p:sp>
      <p:sp>
        <p:nvSpPr>
          <p:cNvPr id="36" name="AutoShape 11"/>
          <p:cNvSpPr>
            <a:spLocks noChangeArrowheads="1"/>
          </p:cNvSpPr>
          <p:nvPr/>
        </p:nvSpPr>
        <p:spPr bwMode="auto">
          <a:xfrm>
            <a:off x="6339509" y="2028825"/>
            <a:ext cx="182065" cy="2013928"/>
          </a:xfrm>
          <a:prstGeom prst="upArrow">
            <a:avLst>
              <a:gd name="adj1" fmla="val 29759"/>
              <a:gd name="adj2" fmla="val 116296"/>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spTree>
    <p:extLst>
      <p:ext uri="{BB962C8B-B14F-4D97-AF65-F5344CB8AC3E}">
        <p14:creationId xmlns:p14="http://schemas.microsoft.com/office/powerpoint/2010/main" val="474179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3">
            <a:extLst>
              <a:ext uri="{FF2B5EF4-FFF2-40B4-BE49-F238E27FC236}">
                <a16:creationId xmlns:a16="http://schemas.microsoft.com/office/drawing/2014/main" id="{CEBB1236-1927-4583-A0B8-1A39CF4BB28B}"/>
              </a:ext>
            </a:extLst>
          </p:cNvPr>
          <p:cNvSpPr txBox="1">
            <a:spLocks noChangeArrowheads="1"/>
          </p:cNvSpPr>
          <p:nvPr/>
        </p:nvSpPr>
        <p:spPr bwMode="auto">
          <a:xfrm>
            <a:off x="245269" y="71042"/>
            <a:ext cx="3633787"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Los dos tipos de test</a:t>
            </a:r>
          </a:p>
        </p:txBody>
      </p:sp>
      <p:sp>
        <p:nvSpPr>
          <p:cNvPr id="3" name="Text Box 33">
            <a:extLst>
              <a:ext uri="{FF2B5EF4-FFF2-40B4-BE49-F238E27FC236}">
                <a16:creationId xmlns:a16="http://schemas.microsoft.com/office/drawing/2014/main" id="{2531C573-2986-4DA4-BEA3-186DCA8BC304}"/>
              </a:ext>
            </a:extLst>
          </p:cNvPr>
          <p:cNvSpPr txBox="1">
            <a:spLocks noChangeArrowheads="1"/>
          </p:cNvSpPr>
          <p:nvPr/>
        </p:nvSpPr>
        <p:spPr bwMode="auto">
          <a:xfrm>
            <a:off x="228600" y="381288"/>
            <a:ext cx="3684717"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Test bilaterales y test unilaterales</a:t>
            </a:r>
          </a:p>
        </p:txBody>
      </p:sp>
      <p:grpSp>
        <p:nvGrpSpPr>
          <p:cNvPr id="38" name="Grupo 37">
            <a:extLst>
              <a:ext uri="{FF2B5EF4-FFF2-40B4-BE49-F238E27FC236}">
                <a16:creationId xmlns:a16="http://schemas.microsoft.com/office/drawing/2014/main" id="{98CF97EC-0E9D-4BE6-8C66-C611B0D788DB}"/>
              </a:ext>
            </a:extLst>
          </p:cNvPr>
          <p:cNvGrpSpPr/>
          <p:nvPr/>
        </p:nvGrpSpPr>
        <p:grpSpPr>
          <a:xfrm>
            <a:off x="227262" y="1263161"/>
            <a:ext cx="2956798" cy="570069"/>
            <a:chOff x="321469" y="1493201"/>
            <a:chExt cx="2956798" cy="570069"/>
          </a:xfrm>
        </p:grpSpPr>
        <p:graphicFrame>
          <p:nvGraphicFramePr>
            <p:cNvPr id="7" name="Object 29">
              <a:extLst>
                <a:ext uri="{FF2B5EF4-FFF2-40B4-BE49-F238E27FC236}">
                  <a16:creationId xmlns:a16="http://schemas.microsoft.com/office/drawing/2014/main" id="{A6250D32-6F6C-47D4-B6D8-8DD4D2A7E635}"/>
                </a:ext>
              </a:extLst>
            </p:cNvPr>
            <p:cNvGraphicFramePr>
              <a:graphicFrameLocks noChangeAspect="1"/>
            </p:cNvGraphicFramePr>
            <p:nvPr>
              <p:extLst>
                <p:ext uri="{D42A27DB-BD31-4B8C-83A1-F6EECF244321}">
                  <p14:modId xmlns:p14="http://schemas.microsoft.com/office/powerpoint/2010/main" val="3862754617"/>
                </p:ext>
              </p:extLst>
            </p:nvPr>
          </p:nvGraphicFramePr>
          <p:xfrm>
            <a:off x="2414402" y="1493201"/>
            <a:ext cx="863865" cy="570069"/>
          </p:xfrm>
          <a:graphic>
            <a:graphicData uri="http://schemas.openxmlformats.org/presentationml/2006/ole">
              <mc:AlternateContent xmlns:mc="http://schemas.openxmlformats.org/markup-compatibility/2006">
                <mc:Choice xmlns:v="urn:schemas-microsoft-com:vml" Requires="v">
                  <p:oleObj name="Equation" r:id="rId3" imgW="825480" imgH="545760" progId="Equation.DSMT4">
                    <p:embed/>
                  </p:oleObj>
                </mc:Choice>
                <mc:Fallback>
                  <p:oleObj name="Equation" r:id="rId3" imgW="825480" imgH="545760" progId="Equation.DSMT4">
                    <p:embed/>
                    <p:pic>
                      <p:nvPicPr>
                        <p:cNvPr id="6150" name="Object 29"/>
                        <p:cNvPicPr>
                          <a:picLocks noChangeAspect="1" noChangeArrowheads="1"/>
                        </p:cNvPicPr>
                        <p:nvPr/>
                      </p:nvPicPr>
                      <p:blipFill>
                        <a:blip r:embed="rId4"/>
                        <a:srcRect/>
                        <a:stretch>
                          <a:fillRect/>
                        </a:stretch>
                      </p:blipFill>
                      <p:spPr bwMode="auto">
                        <a:xfrm>
                          <a:off x="2414402" y="1493201"/>
                          <a:ext cx="863865" cy="570069"/>
                        </a:xfrm>
                        <a:prstGeom prst="rect">
                          <a:avLst/>
                        </a:prstGeom>
                        <a:noFill/>
                        <a:ln>
                          <a:noFill/>
                        </a:ln>
                      </p:spPr>
                    </p:pic>
                  </p:oleObj>
                </mc:Fallback>
              </mc:AlternateContent>
            </a:graphicData>
          </a:graphic>
        </p:graphicFrame>
        <p:sp>
          <p:nvSpPr>
            <p:cNvPr id="9" name="CuadroTexto 8">
              <a:extLst>
                <a:ext uri="{FF2B5EF4-FFF2-40B4-BE49-F238E27FC236}">
                  <a16:creationId xmlns:a16="http://schemas.microsoft.com/office/drawing/2014/main" id="{BB76070B-BE5B-467D-A2C5-4E616BB2BE90}"/>
                </a:ext>
              </a:extLst>
            </p:cNvPr>
            <p:cNvSpPr txBox="1"/>
            <p:nvPr/>
          </p:nvSpPr>
          <p:spPr>
            <a:xfrm>
              <a:off x="321469" y="1623583"/>
              <a:ext cx="2143536" cy="276999"/>
            </a:xfrm>
            <a:prstGeom prst="rect">
              <a:avLst/>
            </a:prstGeom>
            <a:noFill/>
          </p:spPr>
          <p:txBody>
            <a:bodyPr wrap="none" rtlCol="0">
              <a:spAutoFit/>
            </a:bodyPr>
            <a:lstStyle/>
            <a:p>
              <a:r>
                <a:rPr lang="es-ES" dirty="0"/>
                <a:t>Hipótesis alternativa bilateral</a:t>
              </a:r>
            </a:p>
          </p:txBody>
        </p:sp>
      </p:grpSp>
      <p:sp>
        <p:nvSpPr>
          <p:cNvPr id="10" name="CuadroTexto 9">
            <a:extLst>
              <a:ext uri="{FF2B5EF4-FFF2-40B4-BE49-F238E27FC236}">
                <a16:creationId xmlns:a16="http://schemas.microsoft.com/office/drawing/2014/main" id="{C6247082-D52E-4055-9022-1199B6F203BB}"/>
              </a:ext>
            </a:extLst>
          </p:cNvPr>
          <p:cNvSpPr txBox="1"/>
          <p:nvPr/>
        </p:nvSpPr>
        <p:spPr>
          <a:xfrm>
            <a:off x="228600" y="838200"/>
            <a:ext cx="6128948" cy="461665"/>
          </a:xfrm>
          <a:prstGeom prst="rect">
            <a:avLst/>
          </a:prstGeom>
          <a:noFill/>
        </p:spPr>
        <p:txBody>
          <a:bodyPr wrap="square" rtlCol="0">
            <a:spAutoFit/>
          </a:bodyPr>
          <a:lstStyle/>
          <a:p>
            <a:pPr algn="just"/>
            <a:r>
              <a:rPr lang="es-ES" dirty="0"/>
              <a:t>El planteamiento desarrollado hasta ahora es el de un </a:t>
            </a:r>
            <a:r>
              <a:rPr lang="es-ES" b="1" dirty="0"/>
              <a:t>test bilateral</a:t>
            </a:r>
            <a:r>
              <a:rPr lang="es-ES" dirty="0"/>
              <a:t> o </a:t>
            </a:r>
            <a:r>
              <a:rPr lang="es-ES" b="1" dirty="0"/>
              <a:t>a colas</a:t>
            </a:r>
            <a:r>
              <a:rPr lang="es-ES" dirty="0"/>
              <a:t>, ya que el error se reparte entre las colas izquierda y derecha de la distribución.</a:t>
            </a:r>
          </a:p>
        </p:txBody>
      </p:sp>
      <p:grpSp>
        <p:nvGrpSpPr>
          <p:cNvPr id="39" name="Grupo 38">
            <a:extLst>
              <a:ext uri="{FF2B5EF4-FFF2-40B4-BE49-F238E27FC236}">
                <a16:creationId xmlns:a16="http://schemas.microsoft.com/office/drawing/2014/main" id="{C54692DF-22CA-4839-BAE5-92A0EBB182A2}"/>
              </a:ext>
            </a:extLst>
          </p:cNvPr>
          <p:cNvGrpSpPr/>
          <p:nvPr/>
        </p:nvGrpSpPr>
        <p:grpSpPr>
          <a:xfrm>
            <a:off x="210039" y="1844104"/>
            <a:ext cx="4361961" cy="571500"/>
            <a:chOff x="321469" y="2155825"/>
            <a:chExt cx="4361961" cy="571500"/>
          </a:xfrm>
        </p:grpSpPr>
        <p:graphicFrame>
          <p:nvGraphicFramePr>
            <p:cNvPr id="34" name="Object 29">
              <a:extLst>
                <a:ext uri="{FF2B5EF4-FFF2-40B4-BE49-F238E27FC236}">
                  <a16:creationId xmlns:a16="http://schemas.microsoft.com/office/drawing/2014/main" id="{BB3C7423-EA59-4208-9AEC-277066D1364C}"/>
                </a:ext>
              </a:extLst>
            </p:cNvPr>
            <p:cNvGraphicFramePr>
              <a:graphicFrameLocks noChangeAspect="1"/>
            </p:cNvGraphicFramePr>
            <p:nvPr>
              <p:extLst>
                <p:ext uri="{D42A27DB-BD31-4B8C-83A1-F6EECF244321}">
                  <p14:modId xmlns:p14="http://schemas.microsoft.com/office/powerpoint/2010/main" val="100761597"/>
                </p:ext>
              </p:extLst>
            </p:nvPr>
          </p:nvGraphicFramePr>
          <p:xfrm>
            <a:off x="2498867" y="2155825"/>
            <a:ext cx="849313" cy="571500"/>
          </p:xfrm>
          <a:graphic>
            <a:graphicData uri="http://schemas.openxmlformats.org/presentationml/2006/ole">
              <mc:AlternateContent xmlns:mc="http://schemas.openxmlformats.org/markup-compatibility/2006">
                <mc:Choice xmlns:v="urn:schemas-microsoft-com:vml" Requires="v">
                  <p:oleObj name="Equation" r:id="rId5" imgW="812520" imgH="545760" progId="Equation.DSMT4">
                    <p:embed/>
                  </p:oleObj>
                </mc:Choice>
                <mc:Fallback>
                  <p:oleObj name="Equation" r:id="rId5" imgW="812520" imgH="545760" progId="Equation.DSMT4">
                    <p:embed/>
                    <p:pic>
                      <p:nvPicPr>
                        <p:cNvPr id="7" name="Object 29">
                          <a:extLst>
                            <a:ext uri="{FF2B5EF4-FFF2-40B4-BE49-F238E27FC236}">
                              <a16:creationId xmlns:a16="http://schemas.microsoft.com/office/drawing/2014/main" id="{A6250D32-6F6C-47D4-B6D8-8DD4D2A7E635}"/>
                            </a:ext>
                          </a:extLst>
                        </p:cNvPr>
                        <p:cNvPicPr>
                          <a:picLocks noChangeAspect="1" noChangeArrowheads="1"/>
                        </p:cNvPicPr>
                        <p:nvPr/>
                      </p:nvPicPr>
                      <p:blipFill>
                        <a:blip r:embed="rId6"/>
                        <a:srcRect/>
                        <a:stretch>
                          <a:fillRect/>
                        </a:stretch>
                      </p:blipFill>
                      <p:spPr bwMode="auto">
                        <a:xfrm>
                          <a:off x="2498867" y="2155825"/>
                          <a:ext cx="849313" cy="571500"/>
                        </a:xfrm>
                        <a:prstGeom prst="rect">
                          <a:avLst/>
                        </a:prstGeom>
                        <a:noFill/>
                        <a:ln>
                          <a:noFill/>
                        </a:ln>
                      </p:spPr>
                    </p:pic>
                  </p:oleObj>
                </mc:Fallback>
              </mc:AlternateContent>
            </a:graphicData>
          </a:graphic>
        </p:graphicFrame>
        <p:sp>
          <p:nvSpPr>
            <p:cNvPr id="35" name="CuadroTexto 34">
              <a:extLst>
                <a:ext uri="{FF2B5EF4-FFF2-40B4-BE49-F238E27FC236}">
                  <a16:creationId xmlns:a16="http://schemas.microsoft.com/office/drawing/2014/main" id="{578DCF3C-7523-45C7-A054-44107768D836}"/>
                </a:ext>
              </a:extLst>
            </p:cNvPr>
            <p:cNvSpPr txBox="1"/>
            <p:nvPr/>
          </p:nvSpPr>
          <p:spPr>
            <a:xfrm>
              <a:off x="321469" y="2295381"/>
              <a:ext cx="3597460" cy="276999"/>
            </a:xfrm>
            <a:prstGeom prst="rect">
              <a:avLst/>
            </a:prstGeom>
            <a:noFill/>
          </p:spPr>
          <p:txBody>
            <a:bodyPr wrap="none" rtlCol="0">
              <a:spAutoFit/>
            </a:bodyPr>
            <a:lstStyle/>
            <a:p>
              <a:r>
                <a:rPr lang="es-ES" dirty="0"/>
                <a:t>Hipótesis alternativa unilateral                      o bien</a:t>
              </a:r>
            </a:p>
          </p:txBody>
        </p:sp>
        <p:graphicFrame>
          <p:nvGraphicFramePr>
            <p:cNvPr id="37" name="Objeto 36">
              <a:extLst>
                <a:ext uri="{FF2B5EF4-FFF2-40B4-BE49-F238E27FC236}">
                  <a16:creationId xmlns:a16="http://schemas.microsoft.com/office/drawing/2014/main" id="{7A18E31E-4C3A-48EB-B240-BA77725B9B7D}"/>
                </a:ext>
              </a:extLst>
            </p:cNvPr>
            <p:cNvGraphicFramePr>
              <a:graphicFrameLocks noChangeAspect="1"/>
            </p:cNvGraphicFramePr>
            <p:nvPr>
              <p:extLst>
                <p:ext uri="{D42A27DB-BD31-4B8C-83A1-F6EECF244321}">
                  <p14:modId xmlns:p14="http://schemas.microsoft.com/office/powerpoint/2010/main" val="2419855790"/>
                </p:ext>
              </p:extLst>
            </p:nvPr>
          </p:nvGraphicFramePr>
          <p:xfrm>
            <a:off x="3870630" y="2176796"/>
            <a:ext cx="812800" cy="546100"/>
          </p:xfrm>
          <a:graphic>
            <a:graphicData uri="http://schemas.openxmlformats.org/presentationml/2006/ole">
              <mc:AlternateContent xmlns:mc="http://schemas.openxmlformats.org/markup-compatibility/2006">
                <mc:Choice xmlns:v="urn:schemas-microsoft-com:vml" Requires="v">
                  <p:oleObj name="Equation" r:id="rId7" imgW="812520" imgH="545760" progId="Equation.DSMT4">
                    <p:embed/>
                  </p:oleObj>
                </mc:Choice>
                <mc:Fallback>
                  <p:oleObj name="Equation" r:id="rId7" imgW="812520" imgH="545760" progId="Equation.DSMT4">
                    <p:embed/>
                    <p:pic>
                      <p:nvPicPr>
                        <p:cNvPr id="0" name=""/>
                        <p:cNvPicPr/>
                        <p:nvPr/>
                      </p:nvPicPr>
                      <p:blipFill>
                        <a:blip r:embed="rId8"/>
                        <a:stretch>
                          <a:fillRect/>
                        </a:stretch>
                      </p:blipFill>
                      <p:spPr>
                        <a:xfrm>
                          <a:off x="3870630" y="2176796"/>
                          <a:ext cx="812800" cy="546100"/>
                        </a:xfrm>
                        <a:prstGeom prst="rect">
                          <a:avLst/>
                        </a:prstGeom>
                      </p:spPr>
                    </p:pic>
                  </p:oleObj>
                </mc:Fallback>
              </mc:AlternateContent>
            </a:graphicData>
          </a:graphic>
        </p:graphicFrame>
      </p:grpSp>
      <p:sp>
        <p:nvSpPr>
          <p:cNvPr id="40" name="CuadroTexto 39">
            <a:extLst>
              <a:ext uri="{FF2B5EF4-FFF2-40B4-BE49-F238E27FC236}">
                <a16:creationId xmlns:a16="http://schemas.microsoft.com/office/drawing/2014/main" id="{F1143991-6E32-4B6F-97DF-C3609BF5324F}"/>
              </a:ext>
            </a:extLst>
          </p:cNvPr>
          <p:cNvSpPr txBox="1"/>
          <p:nvPr/>
        </p:nvSpPr>
        <p:spPr>
          <a:xfrm>
            <a:off x="227262" y="2407676"/>
            <a:ext cx="6091122" cy="519822"/>
          </a:xfrm>
          <a:prstGeom prst="rect">
            <a:avLst/>
          </a:prstGeom>
          <a:noFill/>
        </p:spPr>
        <p:txBody>
          <a:bodyPr wrap="square" rtlCol="0">
            <a:spAutoFit/>
          </a:bodyPr>
          <a:lstStyle/>
          <a:p>
            <a:pPr algn="just"/>
            <a:r>
              <a:rPr lang="es-ES" dirty="0"/>
              <a:t>- En H</a:t>
            </a:r>
            <a:r>
              <a:rPr lang="es-ES" baseline="-25000" dirty="0"/>
              <a:t>1</a:t>
            </a:r>
            <a:r>
              <a:rPr lang="es-ES" dirty="0"/>
              <a:t> aparece la desigualdad que debe ser comprobada sin duda</a:t>
            </a:r>
          </a:p>
          <a:p>
            <a:pPr algn="just">
              <a:lnSpc>
                <a:spcPct val="150000"/>
              </a:lnSpc>
            </a:pPr>
            <a:r>
              <a:rPr lang="es-ES" dirty="0"/>
              <a:t>- En H</a:t>
            </a:r>
            <a:r>
              <a:rPr lang="es-ES" baseline="-25000" dirty="0"/>
              <a:t>0</a:t>
            </a:r>
            <a:r>
              <a:rPr lang="es-ES" dirty="0"/>
              <a:t> aparecen la igualdad y la desigualdad que no tiene interés demostrar</a:t>
            </a:r>
          </a:p>
        </p:txBody>
      </p:sp>
      <p:sp>
        <p:nvSpPr>
          <p:cNvPr id="52" name="CuadroTexto 51">
            <a:extLst>
              <a:ext uri="{FF2B5EF4-FFF2-40B4-BE49-F238E27FC236}">
                <a16:creationId xmlns:a16="http://schemas.microsoft.com/office/drawing/2014/main" id="{268E5DB7-FCDB-4042-AC0F-4F614A7218D1}"/>
              </a:ext>
            </a:extLst>
          </p:cNvPr>
          <p:cNvSpPr txBox="1"/>
          <p:nvPr/>
        </p:nvSpPr>
        <p:spPr>
          <a:xfrm>
            <a:off x="3402914" y="1342103"/>
            <a:ext cx="1931086" cy="430887"/>
          </a:xfrm>
          <a:prstGeom prst="rect">
            <a:avLst/>
          </a:prstGeom>
          <a:noFill/>
        </p:spPr>
        <p:txBody>
          <a:bodyPr wrap="square" rtlCol="0">
            <a:spAutoFit/>
          </a:bodyPr>
          <a:lstStyle/>
          <a:p>
            <a:pPr algn="just"/>
            <a:r>
              <a:rPr lang="es-ES" sz="1100" dirty="0">
                <a:solidFill>
                  <a:schemeClr val="bg2">
                    <a:lumMod val="75000"/>
                  </a:schemeClr>
                </a:solidFill>
              </a:rPr>
              <a:t>La región crítica se reparte en las dos colas</a:t>
            </a:r>
          </a:p>
        </p:txBody>
      </p:sp>
      <p:sp>
        <p:nvSpPr>
          <p:cNvPr id="53" name="CuadroTexto 52">
            <a:extLst>
              <a:ext uri="{FF2B5EF4-FFF2-40B4-BE49-F238E27FC236}">
                <a16:creationId xmlns:a16="http://schemas.microsoft.com/office/drawing/2014/main" id="{FE56FAE7-A5B6-4D83-9DEE-35C01E494866}"/>
              </a:ext>
            </a:extLst>
          </p:cNvPr>
          <p:cNvSpPr txBox="1"/>
          <p:nvPr/>
        </p:nvSpPr>
        <p:spPr>
          <a:xfrm>
            <a:off x="4710141" y="1831872"/>
            <a:ext cx="1614593" cy="600164"/>
          </a:xfrm>
          <a:prstGeom prst="rect">
            <a:avLst/>
          </a:prstGeom>
          <a:noFill/>
        </p:spPr>
        <p:txBody>
          <a:bodyPr wrap="square" rtlCol="0">
            <a:spAutoFit/>
          </a:bodyPr>
          <a:lstStyle/>
          <a:p>
            <a:pPr algn="just"/>
            <a:r>
              <a:rPr lang="es-ES" sz="1100" dirty="0">
                <a:solidFill>
                  <a:schemeClr val="bg2">
                    <a:lumMod val="75000"/>
                  </a:schemeClr>
                </a:solidFill>
              </a:rPr>
              <a:t>La región crítica se concentra en una de las colas</a:t>
            </a:r>
          </a:p>
        </p:txBody>
      </p:sp>
      <p:grpSp>
        <p:nvGrpSpPr>
          <p:cNvPr id="69" name="Grupo 68">
            <a:extLst>
              <a:ext uri="{FF2B5EF4-FFF2-40B4-BE49-F238E27FC236}">
                <a16:creationId xmlns:a16="http://schemas.microsoft.com/office/drawing/2014/main" id="{7E5D8A26-753C-4092-93BD-405C069D021C}"/>
              </a:ext>
            </a:extLst>
          </p:cNvPr>
          <p:cNvGrpSpPr/>
          <p:nvPr/>
        </p:nvGrpSpPr>
        <p:grpSpPr>
          <a:xfrm>
            <a:off x="6446527" y="533400"/>
            <a:ext cx="2468873" cy="3118415"/>
            <a:chOff x="2682730" y="1524000"/>
            <a:chExt cx="2468873" cy="3124200"/>
          </a:xfrm>
        </p:grpSpPr>
        <p:grpSp>
          <p:nvGrpSpPr>
            <p:cNvPr id="70" name="Grupo 69">
              <a:extLst>
                <a:ext uri="{FF2B5EF4-FFF2-40B4-BE49-F238E27FC236}">
                  <a16:creationId xmlns:a16="http://schemas.microsoft.com/office/drawing/2014/main" id="{76DCC5F3-B36C-4C78-B006-593ACB645735}"/>
                </a:ext>
              </a:extLst>
            </p:cNvPr>
            <p:cNvGrpSpPr/>
            <p:nvPr/>
          </p:nvGrpSpPr>
          <p:grpSpPr>
            <a:xfrm>
              <a:off x="2719904" y="1655773"/>
              <a:ext cx="2394525" cy="2890105"/>
              <a:chOff x="2757078" y="1655773"/>
              <a:chExt cx="2394525" cy="2890105"/>
            </a:xfrm>
          </p:grpSpPr>
          <p:grpSp>
            <p:nvGrpSpPr>
              <p:cNvPr id="72" name="Grupo 71">
                <a:extLst>
                  <a:ext uri="{FF2B5EF4-FFF2-40B4-BE49-F238E27FC236}">
                    <a16:creationId xmlns:a16="http://schemas.microsoft.com/office/drawing/2014/main" id="{94559C06-1DAF-49DE-A1BE-7838FB1B6B10}"/>
                  </a:ext>
                </a:extLst>
              </p:cNvPr>
              <p:cNvGrpSpPr/>
              <p:nvPr/>
            </p:nvGrpSpPr>
            <p:grpSpPr>
              <a:xfrm>
                <a:off x="2854963" y="1655773"/>
                <a:ext cx="2198754" cy="2078027"/>
                <a:chOff x="2854266" y="1655773"/>
                <a:chExt cx="2198754" cy="2078027"/>
              </a:xfrm>
            </p:grpSpPr>
            <p:cxnSp>
              <p:nvCxnSpPr>
                <p:cNvPr id="74" name="Conector recto 73">
                  <a:extLst>
                    <a:ext uri="{FF2B5EF4-FFF2-40B4-BE49-F238E27FC236}">
                      <a16:creationId xmlns:a16="http://schemas.microsoft.com/office/drawing/2014/main" id="{898C8183-3C37-49C1-9C2A-55D5DA9DBE36}"/>
                    </a:ext>
                  </a:extLst>
                </p:cNvPr>
                <p:cNvCxnSpPr>
                  <a:cxnSpLocks/>
                </p:cNvCxnSpPr>
                <p:nvPr/>
              </p:nvCxnSpPr>
              <p:spPr>
                <a:xfrm>
                  <a:off x="3971803" y="1655773"/>
                  <a:ext cx="1432" cy="2078027"/>
                </a:xfrm>
                <a:prstGeom prst="line">
                  <a:avLst/>
                </a:prstGeom>
                <a:ln w="3175">
                  <a:solidFill>
                    <a:schemeClr val="tx1">
                      <a:lumMod val="65000"/>
                      <a:lumOff val="35000"/>
                    </a:schemeClr>
                  </a:solidFill>
                </a:ln>
              </p:spPr>
              <p:style>
                <a:lnRef idx="1">
                  <a:schemeClr val="accent4"/>
                </a:lnRef>
                <a:fillRef idx="0">
                  <a:schemeClr val="accent4"/>
                </a:fillRef>
                <a:effectRef idx="0">
                  <a:schemeClr val="accent4"/>
                </a:effectRef>
                <a:fontRef idx="minor">
                  <a:schemeClr val="tx1"/>
                </a:fontRef>
              </p:style>
            </p:cxnSp>
            <p:pic>
              <p:nvPicPr>
                <p:cNvPr id="75" name="Snagit_PPTF43F">
                  <a:extLst>
                    <a:ext uri="{FF2B5EF4-FFF2-40B4-BE49-F238E27FC236}">
                      <a16:creationId xmlns:a16="http://schemas.microsoft.com/office/drawing/2014/main" id="{87791CD7-7A30-4FEB-8601-2C982EF328F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106950" y="2663992"/>
                  <a:ext cx="1732570" cy="1001522"/>
                </a:xfrm>
                <a:prstGeom prst="rect">
                  <a:avLst/>
                </a:prstGeom>
              </p:spPr>
            </p:pic>
            <p:pic>
              <p:nvPicPr>
                <p:cNvPr id="76" name="Snagit_PPTB6EF">
                  <a:extLst>
                    <a:ext uri="{FF2B5EF4-FFF2-40B4-BE49-F238E27FC236}">
                      <a16:creationId xmlns:a16="http://schemas.microsoft.com/office/drawing/2014/main" id="{00F7C9F5-ADCB-460B-823F-1B4669434621}"/>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120184" y="1662470"/>
                  <a:ext cx="1658789" cy="1001522"/>
                </a:xfrm>
                <a:prstGeom prst="rect">
                  <a:avLst/>
                </a:prstGeom>
              </p:spPr>
            </p:pic>
            <p:graphicFrame>
              <p:nvGraphicFramePr>
                <p:cNvPr id="77" name="Object 29">
                  <a:extLst>
                    <a:ext uri="{FF2B5EF4-FFF2-40B4-BE49-F238E27FC236}">
                      <a16:creationId xmlns:a16="http://schemas.microsoft.com/office/drawing/2014/main" id="{237C00B8-8AB5-4412-846F-748B9AF6081D}"/>
                    </a:ext>
                  </a:extLst>
                </p:cNvPr>
                <p:cNvGraphicFramePr>
                  <a:graphicFrameLocks noChangeAspect="1"/>
                </p:cNvGraphicFramePr>
                <p:nvPr>
                  <p:extLst>
                    <p:ext uri="{D42A27DB-BD31-4B8C-83A1-F6EECF244321}">
                      <p14:modId xmlns:p14="http://schemas.microsoft.com/office/powerpoint/2010/main" val="688617976"/>
                    </p:ext>
                  </p:extLst>
                </p:nvPr>
              </p:nvGraphicFramePr>
              <p:xfrm>
                <a:off x="4533900" y="3429000"/>
                <a:ext cx="400320" cy="115727"/>
              </p:xfrm>
              <a:graphic>
                <a:graphicData uri="http://schemas.openxmlformats.org/presentationml/2006/ole">
                  <mc:AlternateContent xmlns:mc="http://schemas.openxmlformats.org/markup-compatibility/2006">
                    <mc:Choice xmlns:v="urn:schemas-microsoft-com:vml" Requires="v">
                      <p:oleObj name="Equation" r:id="rId11" imgW="634680" imgH="190440" progId="Equation.DSMT4">
                        <p:embed/>
                      </p:oleObj>
                    </mc:Choice>
                    <mc:Fallback>
                      <p:oleObj name="Equation" r:id="rId11" imgW="634680" imgH="190440" progId="Equation.DSMT4">
                        <p:embed/>
                        <p:pic>
                          <p:nvPicPr>
                            <p:cNvPr id="56" name="Object 29">
                              <a:extLst>
                                <a:ext uri="{FF2B5EF4-FFF2-40B4-BE49-F238E27FC236}">
                                  <a16:creationId xmlns:a16="http://schemas.microsoft.com/office/drawing/2014/main" id="{BC40E10B-3DD0-44C7-9502-6E67E601ACFB}"/>
                                </a:ext>
                              </a:extLst>
                            </p:cNvPr>
                            <p:cNvPicPr>
                              <a:picLocks noChangeAspect="1" noChangeArrowheads="1"/>
                            </p:cNvPicPr>
                            <p:nvPr/>
                          </p:nvPicPr>
                          <p:blipFill>
                            <a:blip r:embed="rId12"/>
                            <a:srcRect/>
                            <a:stretch>
                              <a:fillRect/>
                            </a:stretch>
                          </p:blipFill>
                          <p:spPr bwMode="auto">
                            <a:xfrm>
                              <a:off x="4533900" y="3429000"/>
                              <a:ext cx="400320" cy="115727"/>
                            </a:xfrm>
                            <a:prstGeom prst="rect">
                              <a:avLst/>
                            </a:prstGeom>
                            <a:noFill/>
                            <a:ln>
                              <a:noFill/>
                            </a:ln>
                          </p:spPr>
                        </p:pic>
                      </p:oleObj>
                    </mc:Fallback>
                  </mc:AlternateContent>
                </a:graphicData>
              </a:graphic>
            </p:graphicFrame>
            <p:graphicFrame>
              <p:nvGraphicFramePr>
                <p:cNvPr id="78" name="Object 29">
                  <a:extLst>
                    <a:ext uri="{FF2B5EF4-FFF2-40B4-BE49-F238E27FC236}">
                      <a16:creationId xmlns:a16="http://schemas.microsoft.com/office/drawing/2014/main" id="{B0082A62-AAB3-4114-B05C-D81B5A38E492}"/>
                    </a:ext>
                  </a:extLst>
                </p:cNvPr>
                <p:cNvGraphicFramePr>
                  <a:graphicFrameLocks noChangeAspect="1"/>
                </p:cNvGraphicFramePr>
                <p:nvPr>
                  <p:extLst>
                    <p:ext uri="{D42A27DB-BD31-4B8C-83A1-F6EECF244321}">
                      <p14:modId xmlns:p14="http://schemas.microsoft.com/office/powerpoint/2010/main" val="626490103"/>
                    </p:ext>
                  </p:extLst>
                </p:nvPr>
              </p:nvGraphicFramePr>
              <p:xfrm>
                <a:off x="4491044" y="2395452"/>
                <a:ext cx="561976" cy="144463"/>
              </p:xfrm>
              <a:graphic>
                <a:graphicData uri="http://schemas.openxmlformats.org/presentationml/2006/ole">
                  <mc:AlternateContent xmlns:mc="http://schemas.openxmlformats.org/markup-compatibility/2006">
                    <mc:Choice xmlns:v="urn:schemas-microsoft-com:vml" Requires="v">
                      <p:oleObj name="Equation" r:id="rId13" imgW="888840" imgH="241200" progId="Equation.DSMT4">
                        <p:embed/>
                      </p:oleObj>
                    </mc:Choice>
                    <mc:Fallback>
                      <p:oleObj name="Equation" r:id="rId13" imgW="888840" imgH="241200" progId="Equation.DSMT4">
                        <p:embed/>
                        <p:pic>
                          <p:nvPicPr>
                            <p:cNvPr id="57" name="Object 29">
                              <a:extLst>
                                <a:ext uri="{FF2B5EF4-FFF2-40B4-BE49-F238E27FC236}">
                                  <a16:creationId xmlns:a16="http://schemas.microsoft.com/office/drawing/2014/main" id="{C96EBB2F-1877-4E8D-95F6-E073FA832AE0}"/>
                                </a:ext>
                              </a:extLst>
                            </p:cNvPr>
                            <p:cNvPicPr>
                              <a:picLocks noChangeAspect="1" noChangeArrowheads="1"/>
                            </p:cNvPicPr>
                            <p:nvPr/>
                          </p:nvPicPr>
                          <p:blipFill>
                            <a:blip r:embed="rId14"/>
                            <a:srcRect/>
                            <a:stretch>
                              <a:fillRect/>
                            </a:stretch>
                          </p:blipFill>
                          <p:spPr bwMode="auto">
                            <a:xfrm>
                              <a:off x="4491044" y="2395452"/>
                              <a:ext cx="561976" cy="144463"/>
                            </a:xfrm>
                            <a:prstGeom prst="rect">
                              <a:avLst/>
                            </a:prstGeom>
                            <a:noFill/>
                            <a:ln>
                              <a:noFill/>
                            </a:ln>
                          </p:spPr>
                        </p:pic>
                      </p:oleObj>
                    </mc:Fallback>
                  </mc:AlternateContent>
                </a:graphicData>
              </a:graphic>
            </p:graphicFrame>
            <p:graphicFrame>
              <p:nvGraphicFramePr>
                <p:cNvPr id="79" name="Object 29">
                  <a:extLst>
                    <a:ext uri="{FF2B5EF4-FFF2-40B4-BE49-F238E27FC236}">
                      <a16:creationId xmlns:a16="http://schemas.microsoft.com/office/drawing/2014/main" id="{A04D7869-BB3E-47E0-9CB0-FA18D7D2124A}"/>
                    </a:ext>
                  </a:extLst>
                </p:cNvPr>
                <p:cNvGraphicFramePr>
                  <a:graphicFrameLocks noChangeAspect="1"/>
                </p:cNvGraphicFramePr>
                <p:nvPr>
                  <p:extLst>
                    <p:ext uri="{D42A27DB-BD31-4B8C-83A1-F6EECF244321}">
                      <p14:modId xmlns:p14="http://schemas.microsoft.com/office/powerpoint/2010/main" val="2866310363"/>
                    </p:ext>
                  </p:extLst>
                </p:nvPr>
              </p:nvGraphicFramePr>
              <p:xfrm>
                <a:off x="2946399" y="2395453"/>
                <a:ext cx="558801" cy="144463"/>
              </p:xfrm>
              <a:graphic>
                <a:graphicData uri="http://schemas.openxmlformats.org/presentationml/2006/ole">
                  <mc:AlternateContent xmlns:mc="http://schemas.openxmlformats.org/markup-compatibility/2006">
                    <mc:Choice xmlns:v="urn:schemas-microsoft-com:vml" Requires="v">
                      <p:oleObj name="Equation" r:id="rId15" imgW="888840" imgH="241200" progId="Equation.DSMT4">
                        <p:embed/>
                      </p:oleObj>
                    </mc:Choice>
                    <mc:Fallback>
                      <p:oleObj name="Equation" r:id="rId15" imgW="888840" imgH="241200" progId="Equation.DSMT4">
                        <p:embed/>
                        <p:pic>
                          <p:nvPicPr>
                            <p:cNvPr id="58" name="Object 29">
                              <a:extLst>
                                <a:ext uri="{FF2B5EF4-FFF2-40B4-BE49-F238E27FC236}">
                                  <a16:creationId xmlns:a16="http://schemas.microsoft.com/office/drawing/2014/main" id="{CEB73BD2-46C3-4C64-A0E8-B8495A796396}"/>
                                </a:ext>
                              </a:extLst>
                            </p:cNvPr>
                            <p:cNvPicPr>
                              <a:picLocks noChangeAspect="1" noChangeArrowheads="1"/>
                            </p:cNvPicPr>
                            <p:nvPr/>
                          </p:nvPicPr>
                          <p:blipFill>
                            <a:blip r:embed="rId16"/>
                            <a:srcRect/>
                            <a:stretch>
                              <a:fillRect/>
                            </a:stretch>
                          </p:blipFill>
                          <p:spPr bwMode="auto">
                            <a:xfrm>
                              <a:off x="2946399" y="2395453"/>
                              <a:ext cx="558801" cy="144463"/>
                            </a:xfrm>
                            <a:prstGeom prst="rect">
                              <a:avLst/>
                            </a:prstGeom>
                            <a:noFill/>
                            <a:ln>
                              <a:noFill/>
                            </a:ln>
                          </p:spPr>
                        </p:pic>
                      </p:oleObj>
                    </mc:Fallback>
                  </mc:AlternateContent>
                </a:graphicData>
              </a:graphic>
            </p:graphicFrame>
            <p:graphicFrame>
              <p:nvGraphicFramePr>
                <p:cNvPr id="80" name="Object 29">
                  <a:extLst>
                    <a:ext uri="{FF2B5EF4-FFF2-40B4-BE49-F238E27FC236}">
                      <a16:creationId xmlns:a16="http://schemas.microsoft.com/office/drawing/2014/main" id="{F522A3CF-6ED4-4FE0-9CD1-5E7390156539}"/>
                    </a:ext>
                  </a:extLst>
                </p:cNvPr>
                <p:cNvGraphicFramePr>
                  <a:graphicFrameLocks noChangeAspect="1"/>
                </p:cNvGraphicFramePr>
                <p:nvPr>
                  <p:extLst>
                    <p:ext uri="{D42A27DB-BD31-4B8C-83A1-F6EECF244321}">
                      <p14:modId xmlns:p14="http://schemas.microsoft.com/office/powerpoint/2010/main" val="2017472378"/>
                    </p:ext>
                  </p:extLst>
                </p:nvPr>
              </p:nvGraphicFramePr>
              <p:xfrm>
                <a:off x="4425950" y="2753100"/>
                <a:ext cx="245860" cy="259567"/>
              </p:xfrm>
              <a:graphic>
                <a:graphicData uri="http://schemas.openxmlformats.org/presentationml/2006/ole">
                  <mc:AlternateContent xmlns:mc="http://schemas.openxmlformats.org/markup-compatibility/2006">
                    <mc:Choice xmlns:v="urn:schemas-microsoft-com:vml" Requires="v">
                      <p:oleObj name="Equation" r:id="rId17" imgW="241200" imgH="266400" progId="Equation.DSMT4">
                        <p:embed/>
                      </p:oleObj>
                    </mc:Choice>
                    <mc:Fallback>
                      <p:oleObj name="Equation" r:id="rId17" imgW="241200" imgH="266400" progId="Equation.DSMT4">
                        <p:embed/>
                        <p:pic>
                          <p:nvPicPr>
                            <p:cNvPr id="59" name="Object 29">
                              <a:extLst>
                                <a:ext uri="{FF2B5EF4-FFF2-40B4-BE49-F238E27FC236}">
                                  <a16:creationId xmlns:a16="http://schemas.microsoft.com/office/drawing/2014/main" id="{C50E00DD-5871-4B67-BC4E-6B579E3AB515}"/>
                                </a:ext>
                              </a:extLst>
                            </p:cNvPr>
                            <p:cNvPicPr>
                              <a:picLocks noChangeAspect="1" noChangeArrowheads="1"/>
                            </p:cNvPicPr>
                            <p:nvPr/>
                          </p:nvPicPr>
                          <p:blipFill>
                            <a:blip r:embed="rId18"/>
                            <a:srcRect/>
                            <a:stretch>
                              <a:fillRect/>
                            </a:stretch>
                          </p:blipFill>
                          <p:spPr bwMode="auto">
                            <a:xfrm>
                              <a:off x="4425950" y="2753100"/>
                              <a:ext cx="245860" cy="259567"/>
                            </a:xfrm>
                            <a:prstGeom prst="rect">
                              <a:avLst/>
                            </a:prstGeom>
                            <a:noFill/>
                            <a:ln>
                              <a:noFill/>
                            </a:ln>
                          </p:spPr>
                        </p:pic>
                      </p:oleObj>
                    </mc:Fallback>
                  </mc:AlternateContent>
                </a:graphicData>
              </a:graphic>
            </p:graphicFrame>
            <p:cxnSp>
              <p:nvCxnSpPr>
                <p:cNvPr id="81" name="Conector recto de flecha 80">
                  <a:extLst>
                    <a:ext uri="{FF2B5EF4-FFF2-40B4-BE49-F238E27FC236}">
                      <a16:creationId xmlns:a16="http://schemas.microsoft.com/office/drawing/2014/main" id="{3B14E94C-195F-4E06-8091-64218A1789EF}"/>
                    </a:ext>
                  </a:extLst>
                </p:cNvPr>
                <p:cNvCxnSpPr>
                  <a:cxnSpLocks/>
                </p:cNvCxnSpPr>
                <p:nvPr/>
              </p:nvCxnSpPr>
              <p:spPr>
                <a:xfrm flipH="1" flipV="1">
                  <a:off x="4356100" y="2661304"/>
                  <a:ext cx="63500" cy="200558"/>
                </a:xfrm>
                <a:prstGeom prst="straightConnector1">
                  <a:avLst/>
                </a:prstGeom>
                <a:ln>
                  <a:solidFill>
                    <a:srgbClr val="C00000"/>
                  </a:solidFill>
                  <a:headEnd w="sm" len="sm"/>
                  <a:tailEnd type="oval" w="sm" len="sm"/>
                </a:ln>
              </p:spPr>
              <p:style>
                <a:lnRef idx="1">
                  <a:schemeClr val="accent1"/>
                </a:lnRef>
                <a:fillRef idx="0">
                  <a:schemeClr val="accent1"/>
                </a:fillRef>
                <a:effectRef idx="0">
                  <a:schemeClr val="accent1"/>
                </a:effectRef>
                <a:fontRef idx="minor">
                  <a:schemeClr val="tx1"/>
                </a:fontRef>
              </p:style>
            </p:cxnSp>
            <p:graphicFrame>
              <p:nvGraphicFramePr>
                <p:cNvPr id="82" name="Object 29">
                  <a:extLst>
                    <a:ext uri="{FF2B5EF4-FFF2-40B4-BE49-F238E27FC236}">
                      <a16:creationId xmlns:a16="http://schemas.microsoft.com/office/drawing/2014/main" id="{CEF098D6-1B23-4830-94F1-29D34681EDDC}"/>
                    </a:ext>
                  </a:extLst>
                </p:cNvPr>
                <p:cNvGraphicFramePr>
                  <a:graphicFrameLocks noChangeAspect="1"/>
                </p:cNvGraphicFramePr>
                <p:nvPr>
                  <p:extLst>
                    <p:ext uri="{D42A27DB-BD31-4B8C-83A1-F6EECF244321}">
                      <p14:modId xmlns:p14="http://schemas.microsoft.com/office/powerpoint/2010/main" val="1778352044"/>
                    </p:ext>
                  </p:extLst>
                </p:nvPr>
              </p:nvGraphicFramePr>
              <p:xfrm>
                <a:off x="2859621" y="2852457"/>
                <a:ext cx="637107" cy="420442"/>
              </p:xfrm>
              <a:graphic>
                <a:graphicData uri="http://schemas.openxmlformats.org/presentationml/2006/ole">
                  <mc:AlternateContent xmlns:mc="http://schemas.openxmlformats.org/markup-compatibility/2006">
                    <mc:Choice xmlns:v="urn:schemas-microsoft-com:vml" Requires="v">
                      <p:oleObj name="Equation" r:id="rId19" imgW="812520" imgH="545760" progId="Equation.DSMT4">
                        <p:embed/>
                      </p:oleObj>
                    </mc:Choice>
                    <mc:Fallback>
                      <p:oleObj name="Equation" r:id="rId19" imgW="812520" imgH="545760" progId="Equation.DSMT4">
                        <p:embed/>
                        <p:pic>
                          <p:nvPicPr>
                            <p:cNvPr id="53" name="Object 29">
                              <a:extLst>
                                <a:ext uri="{FF2B5EF4-FFF2-40B4-BE49-F238E27FC236}">
                                  <a16:creationId xmlns:a16="http://schemas.microsoft.com/office/drawing/2014/main" id="{C36C2519-505F-451F-91CE-E45FF02B11D9}"/>
                                </a:ext>
                              </a:extLst>
                            </p:cNvPr>
                            <p:cNvPicPr>
                              <a:picLocks noChangeAspect="1" noChangeArrowheads="1"/>
                            </p:cNvPicPr>
                            <p:nvPr/>
                          </p:nvPicPr>
                          <p:blipFill>
                            <a:blip r:embed="rId20"/>
                            <a:srcRect/>
                            <a:stretch>
                              <a:fillRect/>
                            </a:stretch>
                          </p:blipFill>
                          <p:spPr bwMode="auto">
                            <a:xfrm>
                              <a:off x="2859621" y="2852457"/>
                              <a:ext cx="637107" cy="420442"/>
                            </a:xfrm>
                            <a:prstGeom prst="rect">
                              <a:avLst/>
                            </a:prstGeom>
                            <a:noFill/>
                            <a:ln>
                              <a:noFill/>
                            </a:ln>
                          </p:spPr>
                        </p:pic>
                      </p:oleObj>
                    </mc:Fallback>
                  </mc:AlternateContent>
                </a:graphicData>
              </a:graphic>
            </p:graphicFrame>
            <p:graphicFrame>
              <p:nvGraphicFramePr>
                <p:cNvPr id="83" name="Object 29">
                  <a:extLst>
                    <a:ext uri="{FF2B5EF4-FFF2-40B4-BE49-F238E27FC236}">
                      <a16:creationId xmlns:a16="http://schemas.microsoft.com/office/drawing/2014/main" id="{09A03754-3D35-4BA6-BEE2-E4FE1A34EC28}"/>
                    </a:ext>
                  </a:extLst>
                </p:cNvPr>
                <p:cNvGraphicFramePr>
                  <a:graphicFrameLocks noChangeAspect="1"/>
                </p:cNvGraphicFramePr>
                <p:nvPr>
                  <p:extLst>
                    <p:ext uri="{D42A27DB-BD31-4B8C-83A1-F6EECF244321}">
                      <p14:modId xmlns:p14="http://schemas.microsoft.com/office/powerpoint/2010/main" val="2064515758"/>
                    </p:ext>
                  </p:extLst>
                </p:nvPr>
              </p:nvGraphicFramePr>
              <p:xfrm>
                <a:off x="2854266" y="1724368"/>
                <a:ext cx="647816" cy="421062"/>
              </p:xfrm>
              <a:graphic>
                <a:graphicData uri="http://schemas.openxmlformats.org/presentationml/2006/ole">
                  <mc:AlternateContent xmlns:mc="http://schemas.openxmlformats.org/markup-compatibility/2006">
                    <mc:Choice xmlns:v="urn:schemas-microsoft-com:vml" Requires="v">
                      <p:oleObj name="Equation" r:id="rId21" imgW="825480" imgH="545760" progId="Equation.DSMT4">
                        <p:embed/>
                      </p:oleObj>
                    </mc:Choice>
                    <mc:Fallback>
                      <p:oleObj name="Equation" r:id="rId21" imgW="825480" imgH="545760" progId="Equation.DSMT4">
                        <p:embed/>
                        <p:pic>
                          <p:nvPicPr>
                            <p:cNvPr id="54" name="Object 29">
                              <a:extLst>
                                <a:ext uri="{FF2B5EF4-FFF2-40B4-BE49-F238E27FC236}">
                                  <a16:creationId xmlns:a16="http://schemas.microsoft.com/office/drawing/2014/main" id="{059FAEBF-2A7B-4541-A3D3-50491C5C8697}"/>
                                </a:ext>
                              </a:extLst>
                            </p:cNvPr>
                            <p:cNvPicPr>
                              <a:picLocks noChangeAspect="1" noChangeArrowheads="1"/>
                            </p:cNvPicPr>
                            <p:nvPr/>
                          </p:nvPicPr>
                          <p:blipFill>
                            <a:blip r:embed="rId22"/>
                            <a:srcRect/>
                            <a:stretch>
                              <a:fillRect/>
                            </a:stretch>
                          </p:blipFill>
                          <p:spPr bwMode="auto">
                            <a:xfrm>
                              <a:off x="2854266" y="1724368"/>
                              <a:ext cx="647816" cy="421062"/>
                            </a:xfrm>
                            <a:prstGeom prst="rect">
                              <a:avLst/>
                            </a:prstGeom>
                            <a:noFill/>
                            <a:ln>
                              <a:noFill/>
                            </a:ln>
                          </p:spPr>
                        </p:pic>
                      </p:oleObj>
                    </mc:Fallback>
                  </mc:AlternateContent>
                </a:graphicData>
              </a:graphic>
            </p:graphicFrame>
          </p:grpSp>
          <p:sp>
            <p:nvSpPr>
              <p:cNvPr id="73" name="CuadroTexto 72">
                <a:extLst>
                  <a:ext uri="{FF2B5EF4-FFF2-40B4-BE49-F238E27FC236}">
                    <a16:creationId xmlns:a16="http://schemas.microsoft.com/office/drawing/2014/main" id="{29171CB5-267D-48C6-B840-906264B07C16}"/>
                  </a:ext>
                </a:extLst>
              </p:cNvPr>
              <p:cNvSpPr txBox="1"/>
              <p:nvPr/>
            </p:nvSpPr>
            <p:spPr>
              <a:xfrm>
                <a:off x="2757078" y="3799520"/>
                <a:ext cx="2394525" cy="746358"/>
              </a:xfrm>
              <a:prstGeom prst="rect">
                <a:avLst/>
              </a:prstGeom>
              <a:noFill/>
            </p:spPr>
            <p:txBody>
              <a:bodyPr wrap="square" rtlCol="0">
                <a:spAutoFit/>
              </a:bodyPr>
              <a:lstStyle/>
              <a:p>
                <a:pPr algn="ctr"/>
                <a:r>
                  <a:rPr lang="es-ES" sz="1050" dirty="0">
                    <a:solidFill>
                      <a:srgbClr val="2F676F"/>
                    </a:solidFill>
                  </a:rPr>
                  <a:t>Un resultado, como el indicado con </a:t>
                </a:r>
                <a:r>
                  <a:rPr lang="es-ES" sz="1100" i="1" dirty="0" err="1">
                    <a:solidFill>
                      <a:srgbClr val="8A0000"/>
                    </a:solidFill>
                    <a:latin typeface="Times New Roman" panose="02020603050405020304" pitchFamily="18" charset="0"/>
                    <a:cs typeface="Times New Roman" panose="02020603050405020304" pitchFamily="18" charset="0"/>
                  </a:rPr>
                  <a:t>t</a:t>
                </a:r>
                <a:r>
                  <a:rPr lang="es-ES" sz="1100" i="1" baseline="-25000" dirty="0" err="1">
                    <a:solidFill>
                      <a:srgbClr val="8A0000"/>
                    </a:solidFill>
                    <a:latin typeface="Times New Roman" panose="02020603050405020304" pitchFamily="18" charset="0"/>
                    <a:cs typeface="Times New Roman" panose="02020603050405020304" pitchFamily="18" charset="0"/>
                  </a:rPr>
                  <a:t>exp</a:t>
                </a:r>
                <a:r>
                  <a:rPr lang="es-ES" sz="1050" dirty="0">
                    <a:solidFill>
                      <a:srgbClr val="2F676F"/>
                    </a:solidFill>
                  </a:rPr>
                  <a:t>, puede ser significativo en un test unilateral pero no en uno bilateral; el test unilateral es </a:t>
                </a:r>
                <a:r>
                  <a:rPr lang="es-ES" sz="1050" i="1" dirty="0">
                    <a:solidFill>
                      <a:srgbClr val="2F676F"/>
                    </a:solidFill>
                  </a:rPr>
                  <a:t>más potente</a:t>
                </a:r>
                <a:endParaRPr lang="es-ES" sz="1300" i="1" dirty="0">
                  <a:solidFill>
                    <a:srgbClr val="2F676F"/>
                  </a:solidFill>
                </a:endParaRPr>
              </a:p>
            </p:txBody>
          </p:sp>
        </p:grpSp>
        <p:sp>
          <p:nvSpPr>
            <p:cNvPr id="71" name="AutoShape 86">
              <a:extLst>
                <a:ext uri="{FF2B5EF4-FFF2-40B4-BE49-F238E27FC236}">
                  <a16:creationId xmlns:a16="http://schemas.microsoft.com/office/drawing/2014/main" id="{9BD44C72-FAA4-4B02-A32C-CF6973851BC0}"/>
                </a:ext>
              </a:extLst>
            </p:cNvPr>
            <p:cNvSpPr>
              <a:spLocks noChangeArrowheads="1"/>
            </p:cNvSpPr>
            <p:nvPr/>
          </p:nvSpPr>
          <p:spPr bwMode="auto">
            <a:xfrm>
              <a:off x="2682730" y="1524000"/>
              <a:ext cx="2468873" cy="3124200"/>
            </a:xfrm>
            <a:prstGeom prst="roundRect">
              <a:avLst>
                <a:gd name="adj" fmla="val 4148"/>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sp>
        <p:nvSpPr>
          <p:cNvPr id="84" name="CuadroTexto 83">
            <a:extLst>
              <a:ext uri="{FF2B5EF4-FFF2-40B4-BE49-F238E27FC236}">
                <a16:creationId xmlns:a16="http://schemas.microsoft.com/office/drawing/2014/main" id="{9C59A736-6EC4-42C7-BD4B-2F5D85B2CF99}"/>
              </a:ext>
            </a:extLst>
          </p:cNvPr>
          <p:cNvSpPr txBox="1"/>
          <p:nvPr/>
        </p:nvSpPr>
        <p:spPr>
          <a:xfrm>
            <a:off x="6172200" y="3729824"/>
            <a:ext cx="2743200" cy="615553"/>
          </a:xfrm>
          <a:prstGeom prst="rect">
            <a:avLst/>
          </a:prstGeom>
          <a:noFill/>
        </p:spPr>
        <p:txBody>
          <a:bodyPr wrap="square" rtlCol="0">
            <a:spAutoFit/>
          </a:bodyPr>
          <a:lstStyle/>
          <a:p>
            <a:pPr marL="92075" indent="-92075" algn="just"/>
            <a:r>
              <a:rPr lang="es-ES" sz="1100" dirty="0">
                <a:solidFill>
                  <a:schemeClr val="bg2">
                    <a:lumMod val="75000"/>
                  </a:schemeClr>
                </a:solidFill>
              </a:rPr>
              <a:t>* </a:t>
            </a:r>
            <a:r>
              <a:rPr lang="es-ES" sz="1100" i="1" dirty="0">
                <a:solidFill>
                  <a:schemeClr val="bg2">
                    <a:lumMod val="75000"/>
                  </a:schemeClr>
                </a:solidFill>
                <a:latin typeface="Times New Roman" panose="02020603050405020304" pitchFamily="18" charset="0"/>
                <a:cs typeface="Times New Roman" panose="02020603050405020304" pitchFamily="18" charset="0"/>
              </a:rPr>
              <a:t>X</a:t>
            </a:r>
            <a:r>
              <a:rPr lang="es-ES" sz="1100" dirty="0">
                <a:solidFill>
                  <a:schemeClr val="bg2">
                    <a:lumMod val="75000"/>
                  </a:schemeClr>
                </a:solidFill>
              </a:rPr>
              <a:t>= número de cigarrillos consumidos al día sería una VA de tipo Poisson, </a:t>
            </a:r>
            <a:r>
              <a:rPr lang="es-ES" dirty="0">
                <a:solidFill>
                  <a:schemeClr val="bg2">
                    <a:lumMod val="75000"/>
                  </a:schemeClr>
                </a:solidFill>
                <a:latin typeface="Symbol" panose="05050102010706020507" pitchFamily="18" charset="2"/>
              </a:rPr>
              <a:t>l </a:t>
            </a:r>
            <a:r>
              <a:rPr lang="es-ES" sz="1100" dirty="0">
                <a:solidFill>
                  <a:schemeClr val="bg2">
                    <a:lumMod val="75000"/>
                  </a:schemeClr>
                </a:solidFill>
              </a:rPr>
              <a:t>es la media de dicha VA </a:t>
            </a:r>
          </a:p>
        </p:txBody>
      </p:sp>
      <p:grpSp>
        <p:nvGrpSpPr>
          <p:cNvPr id="88" name="Grupo 87">
            <a:extLst>
              <a:ext uri="{FF2B5EF4-FFF2-40B4-BE49-F238E27FC236}">
                <a16:creationId xmlns:a16="http://schemas.microsoft.com/office/drawing/2014/main" id="{5D78C706-A325-4ED2-9D2B-72A7B5AA36F4}"/>
              </a:ext>
            </a:extLst>
          </p:cNvPr>
          <p:cNvGrpSpPr/>
          <p:nvPr/>
        </p:nvGrpSpPr>
        <p:grpSpPr>
          <a:xfrm>
            <a:off x="229265" y="5151328"/>
            <a:ext cx="8686962" cy="1554272"/>
            <a:chOff x="229265" y="5202132"/>
            <a:chExt cx="8686962" cy="1554272"/>
          </a:xfrm>
        </p:grpSpPr>
        <p:sp>
          <p:nvSpPr>
            <p:cNvPr id="43" name="CuadroTexto 42">
              <a:extLst>
                <a:ext uri="{FF2B5EF4-FFF2-40B4-BE49-F238E27FC236}">
                  <a16:creationId xmlns:a16="http://schemas.microsoft.com/office/drawing/2014/main" id="{D15C15C9-C69F-4DAB-AB70-D929C5489A0F}"/>
                </a:ext>
              </a:extLst>
            </p:cNvPr>
            <p:cNvSpPr txBox="1"/>
            <p:nvPr/>
          </p:nvSpPr>
          <p:spPr>
            <a:xfrm>
              <a:off x="229265" y="5202132"/>
              <a:ext cx="8686962" cy="1554272"/>
            </a:xfrm>
            <a:prstGeom prst="rect">
              <a:avLst/>
            </a:prstGeom>
            <a:noFill/>
          </p:spPr>
          <p:txBody>
            <a:bodyPr wrap="square" rtlCol="0">
              <a:spAutoFit/>
            </a:bodyPr>
            <a:lstStyle/>
            <a:p>
              <a:pPr algn="just"/>
              <a:r>
                <a:rPr lang="es-ES" b="1" dirty="0"/>
                <a:t>Resolución de un test unilateral</a:t>
              </a:r>
            </a:p>
            <a:p>
              <a:pPr marL="342900" indent="-342900" algn="just">
                <a:spcAft>
                  <a:spcPts val="600"/>
                </a:spcAft>
                <a:buFont typeface="+mj-lt"/>
                <a:buAutoNum type="arabicPeriod"/>
              </a:pPr>
              <a:r>
                <a:rPr lang="es-ES" dirty="0"/>
                <a:t>Formulación de las hipótesis. H</a:t>
              </a:r>
              <a:r>
                <a:rPr lang="es-ES" baseline="-25000" dirty="0"/>
                <a:t>1 </a:t>
              </a:r>
              <a:r>
                <a:rPr lang="es-ES" dirty="0"/>
                <a:t>es la desigualdad que debe ser comprobada sin duda (la otra se incluye en la nula)</a:t>
              </a:r>
            </a:p>
            <a:p>
              <a:pPr marL="342900" indent="-342900" algn="just">
                <a:spcAft>
                  <a:spcPts val="600"/>
                </a:spcAft>
                <a:buFont typeface="+mj-lt"/>
                <a:buAutoNum type="arabicPeriod"/>
              </a:pPr>
              <a:r>
                <a:rPr lang="es-ES" dirty="0"/>
                <a:t>Comprobación de que la evidencia muestral es compatible con H</a:t>
              </a:r>
              <a:r>
                <a:rPr lang="es-ES" baseline="-25000" dirty="0"/>
                <a:t>1</a:t>
              </a:r>
              <a:r>
                <a:rPr lang="es-ES" dirty="0"/>
                <a:t>. En caso de no serlo, se acepta la H</a:t>
              </a:r>
              <a:r>
                <a:rPr lang="es-ES" baseline="-25000" dirty="0"/>
                <a:t>0</a:t>
              </a:r>
              <a:r>
                <a:rPr lang="es-ES" dirty="0"/>
                <a:t> sin necesidad de hacer cálculos (por ejemplo, si el promedio muestral del número de cigarrillos consumidos al día es mayor después que antes de la terapia,                       , la información muestral es incompatible con H</a:t>
              </a:r>
              <a:r>
                <a:rPr lang="es-ES" baseline="-25000" dirty="0"/>
                <a:t>1</a:t>
              </a:r>
              <a:r>
                <a:rPr lang="es-ES" dirty="0"/>
                <a:t> y no tiene sentido hacer cálculos)</a:t>
              </a:r>
            </a:p>
            <a:p>
              <a:pPr marL="342900" indent="-342900" algn="just">
                <a:buFont typeface="+mj-lt"/>
                <a:buAutoNum type="arabicPeriod"/>
              </a:pPr>
              <a:r>
                <a:rPr lang="es-ES" dirty="0"/>
                <a:t>En general, si la información muestral es compatible con H</a:t>
              </a:r>
              <a:r>
                <a:rPr lang="es-ES" baseline="-25000" dirty="0"/>
                <a:t>1</a:t>
              </a:r>
              <a:r>
                <a:rPr lang="es-ES" dirty="0"/>
                <a:t>, los cálculos se hacen igual que si fuera un test bilateral, solo que el valor de </a:t>
              </a:r>
              <a:r>
                <a:rPr lang="es-ES" sz="1300" i="1" dirty="0">
                  <a:latin typeface="Times New Roman" panose="02020603050405020304" pitchFamily="18" charset="0"/>
                  <a:cs typeface="Times New Roman" panose="02020603050405020304" pitchFamily="18" charset="0"/>
                </a:rPr>
                <a:t>p</a:t>
              </a:r>
              <a:r>
                <a:rPr lang="es-ES" dirty="0"/>
                <a:t> obtenido se divide por dos</a:t>
              </a:r>
              <a:endParaRPr lang="es-ES" baseline="-25000" dirty="0"/>
            </a:p>
          </p:txBody>
        </p:sp>
        <p:graphicFrame>
          <p:nvGraphicFramePr>
            <p:cNvPr id="87" name="Objeto 86">
              <a:extLst>
                <a:ext uri="{FF2B5EF4-FFF2-40B4-BE49-F238E27FC236}">
                  <a16:creationId xmlns:a16="http://schemas.microsoft.com/office/drawing/2014/main" id="{71E168F1-2BC4-48C7-A068-7FAE9E58B509}"/>
                </a:ext>
              </a:extLst>
            </p:cNvPr>
            <p:cNvGraphicFramePr>
              <a:graphicFrameLocks noChangeAspect="1"/>
            </p:cNvGraphicFramePr>
            <p:nvPr>
              <p:extLst>
                <p:ext uri="{D42A27DB-BD31-4B8C-83A1-F6EECF244321}">
                  <p14:modId xmlns:p14="http://schemas.microsoft.com/office/powerpoint/2010/main" val="3497515246"/>
                </p:ext>
              </p:extLst>
            </p:nvPr>
          </p:nvGraphicFramePr>
          <p:xfrm>
            <a:off x="2280470" y="5987230"/>
            <a:ext cx="973793" cy="258856"/>
          </p:xfrm>
          <a:graphic>
            <a:graphicData uri="http://schemas.openxmlformats.org/presentationml/2006/ole">
              <mc:AlternateContent xmlns:mc="http://schemas.openxmlformats.org/markup-compatibility/2006">
                <mc:Choice xmlns:v="urn:schemas-microsoft-com:vml" Requires="v">
                  <p:oleObj name="Equation" r:id="rId23" imgW="1002960" imgH="266400" progId="Equation.DSMT4">
                    <p:embed/>
                  </p:oleObj>
                </mc:Choice>
                <mc:Fallback>
                  <p:oleObj name="Equation" r:id="rId23" imgW="1002960" imgH="266400" progId="Equation.DSMT4">
                    <p:embed/>
                    <p:pic>
                      <p:nvPicPr>
                        <p:cNvPr id="0" name=""/>
                        <p:cNvPicPr/>
                        <p:nvPr/>
                      </p:nvPicPr>
                      <p:blipFill>
                        <a:blip r:embed="rId24"/>
                        <a:stretch>
                          <a:fillRect/>
                        </a:stretch>
                      </p:blipFill>
                      <p:spPr>
                        <a:xfrm>
                          <a:off x="2280470" y="5987230"/>
                          <a:ext cx="973793" cy="258856"/>
                        </a:xfrm>
                        <a:prstGeom prst="rect">
                          <a:avLst/>
                        </a:prstGeom>
                      </p:spPr>
                    </p:pic>
                  </p:oleObj>
                </mc:Fallback>
              </mc:AlternateContent>
            </a:graphicData>
          </a:graphic>
        </p:graphicFrame>
      </p:grpSp>
      <p:grpSp>
        <p:nvGrpSpPr>
          <p:cNvPr id="91" name="Grupo 90">
            <a:extLst>
              <a:ext uri="{FF2B5EF4-FFF2-40B4-BE49-F238E27FC236}">
                <a16:creationId xmlns:a16="http://schemas.microsoft.com/office/drawing/2014/main" id="{CEDCA7F3-FC0B-4D1F-B708-E3FB6462F994}"/>
              </a:ext>
            </a:extLst>
          </p:cNvPr>
          <p:cNvGrpSpPr/>
          <p:nvPr/>
        </p:nvGrpSpPr>
        <p:grpSpPr>
          <a:xfrm>
            <a:off x="227262" y="3026266"/>
            <a:ext cx="8541019" cy="2069283"/>
            <a:chOff x="227262" y="3026266"/>
            <a:chExt cx="8541019" cy="2069283"/>
          </a:xfrm>
        </p:grpSpPr>
        <p:grpSp>
          <p:nvGrpSpPr>
            <p:cNvPr id="85" name="Grupo 84">
              <a:extLst>
                <a:ext uri="{FF2B5EF4-FFF2-40B4-BE49-F238E27FC236}">
                  <a16:creationId xmlns:a16="http://schemas.microsoft.com/office/drawing/2014/main" id="{0ACBFE9F-01AD-40BC-BA16-9D23524C37F1}"/>
                </a:ext>
              </a:extLst>
            </p:cNvPr>
            <p:cNvGrpSpPr/>
            <p:nvPr/>
          </p:nvGrpSpPr>
          <p:grpSpPr>
            <a:xfrm>
              <a:off x="227262" y="3026266"/>
              <a:ext cx="8541019" cy="2069283"/>
              <a:chOff x="209979" y="3028858"/>
              <a:chExt cx="8541019" cy="2069283"/>
            </a:xfrm>
          </p:grpSpPr>
          <p:sp>
            <p:nvSpPr>
              <p:cNvPr id="21" name="CuadroTexto 20">
                <a:extLst>
                  <a:ext uri="{FF2B5EF4-FFF2-40B4-BE49-F238E27FC236}">
                    <a16:creationId xmlns:a16="http://schemas.microsoft.com/office/drawing/2014/main" id="{C9739CA2-F626-4C8E-AF5F-106A487499CB}"/>
                  </a:ext>
                </a:extLst>
              </p:cNvPr>
              <p:cNvSpPr txBox="1"/>
              <p:nvPr/>
            </p:nvSpPr>
            <p:spPr>
              <a:xfrm>
                <a:off x="209979" y="3784311"/>
                <a:ext cx="4285821" cy="461665"/>
              </a:xfrm>
              <a:prstGeom prst="rect">
                <a:avLst/>
              </a:prstGeom>
              <a:noFill/>
            </p:spPr>
            <p:txBody>
              <a:bodyPr wrap="square" rtlCol="0">
                <a:spAutoFit/>
              </a:bodyPr>
              <a:lstStyle/>
              <a:p>
                <a:pPr marL="171450" indent="-171450" algn="just">
                  <a:buFont typeface="Arial" panose="020B0604020202020204" pitchFamily="34" charset="0"/>
                  <a:buChar char="•"/>
                </a:pPr>
                <a:r>
                  <a:rPr lang="es-ES" dirty="0"/>
                  <a:t>¿Se ha reducido el número de cigarrillos diarios</a:t>
                </a:r>
                <a:r>
                  <a:rPr lang="es-ES" baseline="30000" dirty="0"/>
                  <a:t>*</a:t>
                </a:r>
                <a:r>
                  <a:rPr lang="es-ES" dirty="0"/>
                  <a:t> consumidos tras una terapia de deshabituación?</a:t>
                </a:r>
              </a:p>
            </p:txBody>
          </p:sp>
          <p:sp>
            <p:nvSpPr>
              <p:cNvPr id="29" name="CuadroTexto 28">
                <a:extLst>
                  <a:ext uri="{FF2B5EF4-FFF2-40B4-BE49-F238E27FC236}">
                    <a16:creationId xmlns:a16="http://schemas.microsoft.com/office/drawing/2014/main" id="{C14E6021-8A05-4B70-B81F-94A5DD27C5E4}"/>
                  </a:ext>
                </a:extLst>
              </p:cNvPr>
              <p:cNvSpPr txBox="1"/>
              <p:nvPr/>
            </p:nvSpPr>
            <p:spPr>
              <a:xfrm>
                <a:off x="209979" y="4267144"/>
                <a:ext cx="8541019" cy="830997"/>
              </a:xfrm>
              <a:prstGeom prst="rect">
                <a:avLst/>
              </a:prstGeom>
              <a:noFill/>
            </p:spPr>
            <p:txBody>
              <a:bodyPr wrap="square" rtlCol="0">
                <a:spAutoFit/>
              </a:bodyPr>
              <a:lstStyle/>
              <a:p>
                <a:pPr marL="171450" indent="-171450" algn="just">
                  <a:buFont typeface="Arial" panose="020B0604020202020204" pitchFamily="34" charset="0"/>
                  <a:buChar char="•"/>
                </a:pPr>
                <a:r>
                  <a:rPr lang="es-ES" dirty="0"/>
                  <a:t>Al comparar </a:t>
                </a:r>
                <a:r>
                  <a:rPr lang="es-ES" i="1" dirty="0"/>
                  <a:t>un grupo tratado </a:t>
                </a:r>
                <a:r>
                  <a:rPr lang="es-ES" dirty="0"/>
                  <a:t>frente a un </a:t>
                </a:r>
                <a:r>
                  <a:rPr lang="es-ES" i="1" dirty="0"/>
                  <a:t>grupo control </a:t>
                </a:r>
                <a:r>
                  <a:rPr lang="es-ES" dirty="0"/>
                  <a:t>(← Ensayos clínicos)</a:t>
                </a:r>
                <a:endParaRPr lang="es-ES" i="1" dirty="0"/>
              </a:p>
              <a:p>
                <a:pPr marL="285750" indent="-285750" algn="just">
                  <a:buFontTx/>
                  <a:buChar char="-"/>
                </a:pPr>
                <a:r>
                  <a:rPr lang="es-ES" dirty="0"/>
                  <a:t>El test bilateral contrasta tanto si el grupo tratado mejora como si empeora respecto al control (es decir, si es </a:t>
                </a:r>
                <a:r>
                  <a:rPr lang="es-ES" i="1" dirty="0"/>
                  <a:t>distinto</a:t>
                </a:r>
                <a:r>
                  <a:rPr lang="es-ES" dirty="0"/>
                  <a:t>)</a:t>
                </a:r>
              </a:p>
              <a:p>
                <a:pPr marL="285750" indent="-285750" algn="just">
                  <a:buFontTx/>
                  <a:buChar char="-"/>
                </a:pPr>
                <a:r>
                  <a:rPr lang="es-ES" dirty="0"/>
                  <a:t>El test unilateral contrasta solo si el grupo tratado mejora (o solo si empeora). A efectos prácticos, una de las desigualdades no se considera un hallazgo de interés (tiene la misma relevancia que la igualdad). </a:t>
                </a:r>
              </a:p>
            </p:txBody>
          </p:sp>
          <p:sp>
            <p:nvSpPr>
              <p:cNvPr id="44" name="CuadroTexto 43">
                <a:extLst>
                  <a:ext uri="{FF2B5EF4-FFF2-40B4-BE49-F238E27FC236}">
                    <a16:creationId xmlns:a16="http://schemas.microsoft.com/office/drawing/2014/main" id="{64DE0633-1DAC-4004-AEEB-320B88B1E2D8}"/>
                  </a:ext>
                </a:extLst>
              </p:cNvPr>
              <p:cNvSpPr txBox="1"/>
              <p:nvPr/>
            </p:nvSpPr>
            <p:spPr>
              <a:xfrm>
                <a:off x="245269" y="3028858"/>
                <a:ext cx="869149" cy="276999"/>
              </a:xfrm>
              <a:prstGeom prst="rect">
                <a:avLst/>
              </a:prstGeom>
              <a:noFill/>
            </p:spPr>
            <p:txBody>
              <a:bodyPr wrap="none" rtlCol="0">
                <a:spAutoFit/>
              </a:bodyPr>
              <a:lstStyle/>
              <a:p>
                <a:r>
                  <a:rPr lang="es-ES" b="1" dirty="0"/>
                  <a:t>Ejemplos</a:t>
                </a:r>
              </a:p>
            </p:txBody>
          </p:sp>
          <p:sp>
            <p:nvSpPr>
              <p:cNvPr id="45" name="CuadroTexto 44">
                <a:extLst>
                  <a:ext uri="{FF2B5EF4-FFF2-40B4-BE49-F238E27FC236}">
                    <a16:creationId xmlns:a16="http://schemas.microsoft.com/office/drawing/2014/main" id="{BF3F43B4-D23E-4828-90A2-227DE670699F}"/>
                  </a:ext>
                </a:extLst>
              </p:cNvPr>
              <p:cNvSpPr txBox="1"/>
              <p:nvPr/>
            </p:nvSpPr>
            <p:spPr>
              <a:xfrm>
                <a:off x="209980" y="3253161"/>
                <a:ext cx="3614087" cy="461665"/>
              </a:xfrm>
              <a:prstGeom prst="rect">
                <a:avLst/>
              </a:prstGeom>
              <a:noFill/>
            </p:spPr>
            <p:txBody>
              <a:bodyPr wrap="square" rtlCol="0">
                <a:spAutoFit/>
              </a:bodyPr>
              <a:lstStyle/>
              <a:p>
                <a:pPr marL="171450" indent="-171450" algn="just">
                  <a:buFont typeface="Arial" panose="020B0604020202020204" pitchFamily="34" charset="0"/>
                  <a:buChar char="•"/>
                </a:pPr>
                <a:r>
                  <a:rPr lang="es-ES" dirty="0"/>
                  <a:t>¿Es cierto que la duración de determinada prótesis de rodilla es de, al menos, 15 años?</a:t>
                </a:r>
              </a:p>
            </p:txBody>
          </p:sp>
          <p:graphicFrame>
            <p:nvGraphicFramePr>
              <p:cNvPr id="47" name="Objeto 46">
                <a:extLst>
                  <a:ext uri="{FF2B5EF4-FFF2-40B4-BE49-F238E27FC236}">
                    <a16:creationId xmlns:a16="http://schemas.microsoft.com/office/drawing/2014/main" id="{EE6F8B0E-6B37-4839-BAAA-E9DE52F0A262}"/>
                  </a:ext>
                </a:extLst>
              </p:cNvPr>
              <p:cNvGraphicFramePr>
                <a:graphicFrameLocks noChangeAspect="1"/>
              </p:cNvGraphicFramePr>
              <p:nvPr>
                <p:extLst>
                  <p:ext uri="{D42A27DB-BD31-4B8C-83A1-F6EECF244321}">
                    <p14:modId xmlns:p14="http://schemas.microsoft.com/office/powerpoint/2010/main" val="2805347837"/>
                  </p:ext>
                </p:extLst>
              </p:nvPr>
            </p:nvGraphicFramePr>
            <p:xfrm>
              <a:off x="4098394" y="3211658"/>
              <a:ext cx="1354695" cy="524792"/>
            </p:xfrm>
            <a:graphic>
              <a:graphicData uri="http://schemas.openxmlformats.org/presentationml/2006/ole">
                <mc:AlternateContent xmlns:mc="http://schemas.openxmlformats.org/markup-compatibility/2006">
                  <mc:Choice xmlns:v="urn:schemas-microsoft-com:vml" Requires="v">
                    <p:oleObj name="Equation" r:id="rId25" imgW="1409400" imgH="545760" progId="Equation.DSMT4">
                      <p:embed/>
                    </p:oleObj>
                  </mc:Choice>
                  <mc:Fallback>
                    <p:oleObj name="Equation" r:id="rId25" imgW="1409400" imgH="545760" progId="Equation.DSMT4">
                      <p:embed/>
                      <p:pic>
                        <p:nvPicPr>
                          <p:cNvPr id="0" name=""/>
                          <p:cNvPicPr/>
                          <p:nvPr/>
                        </p:nvPicPr>
                        <p:blipFill>
                          <a:blip r:embed="rId26"/>
                          <a:stretch>
                            <a:fillRect/>
                          </a:stretch>
                        </p:blipFill>
                        <p:spPr>
                          <a:xfrm>
                            <a:off x="4098394" y="3211658"/>
                            <a:ext cx="1354695" cy="524792"/>
                          </a:xfrm>
                          <a:prstGeom prst="rect">
                            <a:avLst/>
                          </a:prstGeom>
                        </p:spPr>
                      </p:pic>
                    </p:oleObj>
                  </mc:Fallback>
                </mc:AlternateContent>
              </a:graphicData>
            </a:graphic>
          </p:graphicFrame>
          <p:graphicFrame>
            <p:nvGraphicFramePr>
              <p:cNvPr id="48" name="Objeto 47">
                <a:extLst>
                  <a:ext uri="{FF2B5EF4-FFF2-40B4-BE49-F238E27FC236}">
                    <a16:creationId xmlns:a16="http://schemas.microsoft.com/office/drawing/2014/main" id="{B6A35DE5-5F32-4FC6-9432-9ACCE8F90C4E}"/>
                  </a:ext>
                </a:extLst>
              </p:cNvPr>
              <p:cNvGraphicFramePr>
                <a:graphicFrameLocks noChangeAspect="1"/>
              </p:cNvGraphicFramePr>
              <p:nvPr>
                <p:extLst>
                  <p:ext uri="{D42A27DB-BD31-4B8C-83A1-F6EECF244321}">
                    <p14:modId xmlns:p14="http://schemas.microsoft.com/office/powerpoint/2010/main" val="2549828669"/>
                  </p:ext>
                </p:extLst>
              </p:nvPr>
            </p:nvGraphicFramePr>
            <p:xfrm>
              <a:off x="4821917" y="3721677"/>
              <a:ext cx="1357024" cy="560240"/>
            </p:xfrm>
            <a:graphic>
              <a:graphicData uri="http://schemas.openxmlformats.org/presentationml/2006/ole">
                <mc:AlternateContent xmlns:mc="http://schemas.openxmlformats.org/markup-compatibility/2006">
                  <mc:Choice xmlns:v="urn:schemas-microsoft-com:vml" Requires="v">
                    <p:oleObj name="Equation" r:id="rId27" imgW="1384200" imgH="571320" progId="Equation.DSMT4">
                      <p:embed/>
                    </p:oleObj>
                  </mc:Choice>
                  <mc:Fallback>
                    <p:oleObj name="Equation" r:id="rId27" imgW="1384200" imgH="571320" progId="Equation.DSMT4">
                      <p:embed/>
                      <p:pic>
                        <p:nvPicPr>
                          <p:cNvPr id="47" name="Objeto 46">
                            <a:extLst>
                              <a:ext uri="{FF2B5EF4-FFF2-40B4-BE49-F238E27FC236}">
                                <a16:creationId xmlns:a16="http://schemas.microsoft.com/office/drawing/2014/main" id="{EE6F8B0E-6B37-4839-BAAA-E9DE52F0A262}"/>
                              </a:ext>
                            </a:extLst>
                          </p:cNvPr>
                          <p:cNvPicPr/>
                          <p:nvPr/>
                        </p:nvPicPr>
                        <p:blipFill>
                          <a:blip r:embed="rId28"/>
                          <a:stretch>
                            <a:fillRect/>
                          </a:stretch>
                        </p:blipFill>
                        <p:spPr>
                          <a:xfrm>
                            <a:off x="4821917" y="3721677"/>
                            <a:ext cx="1357024" cy="560240"/>
                          </a:xfrm>
                          <a:prstGeom prst="rect">
                            <a:avLst/>
                          </a:prstGeom>
                        </p:spPr>
                      </p:pic>
                    </p:oleObj>
                  </mc:Fallback>
                </mc:AlternateContent>
              </a:graphicData>
            </a:graphic>
          </p:graphicFrame>
        </p:grpSp>
        <p:sp>
          <p:nvSpPr>
            <p:cNvPr id="89" name="Flecha: a la derecha 88">
              <a:extLst>
                <a:ext uri="{FF2B5EF4-FFF2-40B4-BE49-F238E27FC236}">
                  <a16:creationId xmlns:a16="http://schemas.microsoft.com/office/drawing/2014/main" id="{31938DD2-8F97-4621-9D6B-7658190303C6}"/>
                </a:ext>
              </a:extLst>
            </p:cNvPr>
            <p:cNvSpPr/>
            <p:nvPr/>
          </p:nvSpPr>
          <p:spPr>
            <a:xfrm>
              <a:off x="3913317" y="3367892"/>
              <a:ext cx="179535" cy="204488"/>
            </a:xfrm>
            <a:prstGeom prst="rightArrow">
              <a:avLst/>
            </a:prstGeom>
            <a:no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0" name="Flecha: a la derecha 89">
              <a:extLst>
                <a:ext uri="{FF2B5EF4-FFF2-40B4-BE49-F238E27FC236}">
                  <a16:creationId xmlns:a16="http://schemas.microsoft.com/office/drawing/2014/main" id="{534E2F09-CD18-4FA2-B14D-F049BC9A8370}"/>
                </a:ext>
              </a:extLst>
            </p:cNvPr>
            <p:cNvSpPr/>
            <p:nvPr/>
          </p:nvSpPr>
          <p:spPr>
            <a:xfrm>
              <a:off x="4636349" y="3904774"/>
              <a:ext cx="179535" cy="204488"/>
            </a:xfrm>
            <a:prstGeom prst="rightArrow">
              <a:avLst/>
            </a:prstGeom>
            <a:no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1041780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3">
            <a:extLst>
              <a:ext uri="{FF2B5EF4-FFF2-40B4-BE49-F238E27FC236}">
                <a16:creationId xmlns:a16="http://schemas.microsoft.com/office/drawing/2014/main" id="{CEBB1236-1927-4583-A0B8-1A39CF4BB28B}"/>
              </a:ext>
            </a:extLst>
          </p:cNvPr>
          <p:cNvSpPr txBox="1">
            <a:spLocks noChangeArrowheads="1"/>
          </p:cNvSpPr>
          <p:nvPr/>
        </p:nvSpPr>
        <p:spPr bwMode="auto">
          <a:xfrm>
            <a:off x="245269" y="71042"/>
            <a:ext cx="3633787"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Fiabilidad de la decisión tomada</a:t>
            </a:r>
          </a:p>
        </p:txBody>
      </p:sp>
      <p:sp>
        <p:nvSpPr>
          <p:cNvPr id="3" name="Text Box 33">
            <a:extLst>
              <a:ext uri="{FF2B5EF4-FFF2-40B4-BE49-F238E27FC236}">
                <a16:creationId xmlns:a16="http://schemas.microsoft.com/office/drawing/2014/main" id="{2531C573-2986-4DA4-BEA3-186DCA8BC304}"/>
              </a:ext>
            </a:extLst>
          </p:cNvPr>
          <p:cNvSpPr txBox="1">
            <a:spLocks noChangeArrowheads="1"/>
          </p:cNvSpPr>
          <p:nvPr/>
        </p:nvSpPr>
        <p:spPr bwMode="auto">
          <a:xfrm>
            <a:off x="228600" y="382764"/>
            <a:ext cx="3048000"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Conclusiones posibles</a:t>
            </a:r>
          </a:p>
        </p:txBody>
      </p:sp>
      <p:sp>
        <p:nvSpPr>
          <p:cNvPr id="6" name="Rectangle 16">
            <a:extLst>
              <a:ext uri="{FF2B5EF4-FFF2-40B4-BE49-F238E27FC236}">
                <a16:creationId xmlns:a16="http://schemas.microsoft.com/office/drawing/2014/main" id="{B8306AF8-3DA4-466B-BCE7-B15969623169}"/>
              </a:ext>
            </a:extLst>
          </p:cNvPr>
          <p:cNvSpPr>
            <a:spLocks noChangeArrowheads="1"/>
          </p:cNvSpPr>
          <p:nvPr/>
        </p:nvSpPr>
        <p:spPr bwMode="auto">
          <a:xfrm>
            <a:off x="228599" y="1010228"/>
            <a:ext cx="8534401" cy="1625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568325" indent="-568325"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marL="268288" indent="-268288" algn="just" eaLnBrk="1" hangingPunct="1">
              <a:spcAft>
                <a:spcPts val="300"/>
              </a:spcAft>
            </a:pPr>
            <a:r>
              <a:rPr lang="es-ES_tradnl" altLang="es-ES" b="1" dirty="0">
                <a:solidFill>
                  <a:srgbClr val="6A0000"/>
                </a:solidFill>
                <a:cs typeface="Times New Roman" pitchFamily="18" charset="0"/>
              </a:rPr>
              <a:t>Cuando se rechaza H</a:t>
            </a:r>
            <a:r>
              <a:rPr lang="es-ES_tradnl" altLang="es-ES" b="1" baseline="-30000" dirty="0">
                <a:solidFill>
                  <a:srgbClr val="6A0000"/>
                </a:solidFill>
                <a:cs typeface="Times New Roman" pitchFamily="18" charset="0"/>
              </a:rPr>
              <a:t>0</a:t>
            </a:r>
            <a:r>
              <a:rPr lang="es-ES_tradnl" altLang="es-ES" dirty="0">
                <a:cs typeface="Times New Roman" pitchFamily="18" charset="0"/>
              </a:rPr>
              <a:t> </a:t>
            </a:r>
          </a:p>
          <a:p>
            <a:pPr marL="268288" indent="-268288" algn="just" eaLnBrk="1" hangingPunct="1">
              <a:spcAft>
                <a:spcPts val="600"/>
              </a:spcAft>
              <a:buFont typeface="Arial" panose="020B0604020202020204" pitchFamily="34" charset="0"/>
              <a:buChar char="•"/>
            </a:pPr>
            <a:r>
              <a:rPr lang="es-ES_tradnl" altLang="es-ES" sz="1200" b="1" dirty="0">
                <a:cs typeface="Times New Roman" pitchFamily="18" charset="0"/>
              </a:rPr>
              <a:t>La conclusión </a:t>
            </a:r>
            <a:r>
              <a:rPr lang="es-ES_tradnl" altLang="es-ES" sz="1200" b="1" dirty="0">
                <a:solidFill>
                  <a:srgbClr val="FF0000"/>
                </a:solidFill>
                <a:cs typeface="Times New Roman" pitchFamily="18" charset="0"/>
              </a:rPr>
              <a:t>es fiable</a:t>
            </a:r>
            <a:r>
              <a:rPr lang="es-ES_tradnl" altLang="es-ES" sz="1200" dirty="0">
                <a:cs typeface="Times New Roman" pitchFamily="18" charset="0"/>
              </a:rPr>
              <a:t>, ya que la probabilidad de que ocurra un de tipo I,</a:t>
            </a:r>
            <a:r>
              <a:rPr lang="es-ES_tradnl" altLang="es-ES" sz="1200" dirty="0">
                <a:ea typeface="System"/>
                <a:cs typeface="System"/>
              </a:rPr>
              <a:t> </a:t>
            </a:r>
            <a:r>
              <a:rPr lang="es-ES_tradnl" altLang="es-ES" dirty="0">
                <a:latin typeface="Symbol" panose="05050102010706020507" pitchFamily="18" charset="2"/>
                <a:cs typeface="Times New Roman" pitchFamily="18" charset="0"/>
              </a:rPr>
              <a:t>a</a:t>
            </a:r>
            <a:r>
              <a:rPr lang="es-ES_tradnl" altLang="es-ES" sz="1200" dirty="0">
                <a:cs typeface="Times New Roman" pitchFamily="18" charset="0"/>
              </a:rPr>
              <a:t>, está controlada (prefijada) y es tan pequeña como se haya querido. Puede ser que la conclusión sea errónea, pero la (pequeña) probabilidad de esto ocurra (</a:t>
            </a:r>
            <a:r>
              <a:rPr lang="es-ES_tradnl" altLang="es-ES" dirty="0">
                <a:latin typeface="Symbol" panose="05050102010706020507" pitchFamily="18" charset="2"/>
                <a:cs typeface="Times New Roman" pitchFamily="18" charset="0"/>
              </a:rPr>
              <a:t>a</a:t>
            </a:r>
            <a:r>
              <a:rPr lang="es-ES_tradnl" altLang="es-ES" sz="1200" dirty="0">
                <a:cs typeface="Times New Roman" pitchFamily="18" charset="0"/>
              </a:rPr>
              <a:t>) ha sido asumida de antemano. </a:t>
            </a:r>
          </a:p>
          <a:p>
            <a:pPr marL="268288" indent="-268288" algn="just" eaLnBrk="1" hangingPunct="1">
              <a:buFont typeface="Arial" panose="020B0604020202020204" pitchFamily="34" charset="0"/>
              <a:buChar char="•"/>
            </a:pPr>
            <a:r>
              <a:rPr lang="es-ES_tradnl" altLang="es-ES" sz="1200" b="1" dirty="0">
                <a:cs typeface="Times New Roman" pitchFamily="18" charset="0"/>
              </a:rPr>
              <a:t>No tiene sentido aumentar el tamaño de la muestra</a:t>
            </a:r>
            <a:r>
              <a:rPr lang="es-ES_tradnl" altLang="es-ES" sz="1200" dirty="0">
                <a:cs typeface="Times New Roman" pitchFamily="18" charset="0"/>
              </a:rPr>
              <a:t>, pues el error de tipo I (</a:t>
            </a:r>
            <a:r>
              <a:rPr lang="es-ES_tradnl" altLang="es-ES" dirty="0">
                <a:latin typeface="Symbol" panose="05050102010706020507" pitchFamily="18" charset="2"/>
                <a:cs typeface="Times New Roman" pitchFamily="18" charset="0"/>
              </a:rPr>
              <a:t>a</a:t>
            </a:r>
            <a:r>
              <a:rPr lang="es-ES_tradnl" altLang="es-ES" sz="1200" dirty="0">
                <a:cs typeface="Times New Roman" pitchFamily="18" charset="0"/>
              </a:rPr>
              <a:t>) sigue siendo el mismo y el aumento de potencia que provoca el aumento del tamaño muestral conducirá a que lo más probable sea que nuevamente se rechace H</a:t>
            </a:r>
            <a:r>
              <a:rPr lang="es-ES_tradnl" altLang="es-ES" sz="1200" baseline="-25000" dirty="0">
                <a:cs typeface="Times New Roman" pitchFamily="18" charset="0"/>
              </a:rPr>
              <a:t>0</a:t>
            </a:r>
            <a:endParaRPr lang="es-ES" altLang="es-ES" sz="1200" dirty="0">
              <a:cs typeface="Times New Roman" pitchFamily="18" charset="0"/>
            </a:endParaRPr>
          </a:p>
        </p:txBody>
      </p:sp>
      <p:sp>
        <p:nvSpPr>
          <p:cNvPr id="7" name="Rectangle 16">
            <a:extLst>
              <a:ext uri="{FF2B5EF4-FFF2-40B4-BE49-F238E27FC236}">
                <a16:creationId xmlns:a16="http://schemas.microsoft.com/office/drawing/2014/main" id="{E31E5808-7CCA-4055-A865-B5D6A5CDB73D}"/>
              </a:ext>
            </a:extLst>
          </p:cNvPr>
          <p:cNvSpPr>
            <a:spLocks noChangeArrowheads="1"/>
          </p:cNvSpPr>
          <p:nvPr/>
        </p:nvSpPr>
        <p:spPr bwMode="auto">
          <a:xfrm>
            <a:off x="228600" y="2878298"/>
            <a:ext cx="8534399" cy="3326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568325" indent="-568325"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a:spcAft>
                <a:spcPts val="300"/>
              </a:spcAft>
            </a:pPr>
            <a:r>
              <a:rPr lang="es-ES_tradnl" altLang="es-ES" b="1" dirty="0">
                <a:solidFill>
                  <a:srgbClr val="6A0000"/>
                </a:solidFill>
                <a:cs typeface="Times New Roman" pitchFamily="18" charset="0"/>
              </a:rPr>
              <a:t>Cuando se acepta H</a:t>
            </a:r>
            <a:r>
              <a:rPr lang="es-ES_tradnl" altLang="es-ES" b="1" baseline="-30000" dirty="0">
                <a:solidFill>
                  <a:srgbClr val="6A0000"/>
                </a:solidFill>
                <a:cs typeface="Times New Roman" pitchFamily="18" charset="0"/>
              </a:rPr>
              <a:t>0</a:t>
            </a:r>
            <a:r>
              <a:rPr lang="es-ES_tradnl" altLang="es-ES" dirty="0">
                <a:cs typeface="Times New Roman" pitchFamily="18" charset="0"/>
              </a:rPr>
              <a:t> </a:t>
            </a:r>
          </a:p>
          <a:p>
            <a:pPr marL="268288" indent="-268288" algn="just">
              <a:buFont typeface="Arial" panose="020B0604020202020204" pitchFamily="34" charset="0"/>
              <a:buChar char="•"/>
            </a:pPr>
            <a:r>
              <a:rPr lang="es-ES_tradnl" altLang="es-ES" sz="1200" dirty="0">
                <a:cs typeface="Times New Roman" pitchFamily="18" charset="0"/>
              </a:rPr>
              <a:t>Si no se ha estimado previamente el tamaño de muestra, la conclusión </a:t>
            </a:r>
            <a:r>
              <a:rPr lang="es-ES_tradnl" altLang="es-ES" sz="1200" b="1" dirty="0">
                <a:solidFill>
                  <a:srgbClr val="FF0000"/>
                </a:solidFill>
                <a:cs typeface="Times New Roman" pitchFamily="18" charset="0"/>
              </a:rPr>
              <a:t>no</a:t>
            </a:r>
            <a:r>
              <a:rPr lang="es-ES_tradnl" altLang="es-ES" sz="1200" dirty="0">
                <a:solidFill>
                  <a:srgbClr val="FF0000"/>
                </a:solidFill>
                <a:cs typeface="Times New Roman" pitchFamily="18" charset="0"/>
              </a:rPr>
              <a:t> </a:t>
            </a:r>
            <a:r>
              <a:rPr lang="es-ES_tradnl" altLang="es-ES" sz="1200" b="1" dirty="0">
                <a:solidFill>
                  <a:srgbClr val="FF0000"/>
                </a:solidFill>
                <a:cs typeface="Times New Roman" pitchFamily="18" charset="0"/>
              </a:rPr>
              <a:t>es fiable</a:t>
            </a:r>
            <a:r>
              <a:rPr lang="es-ES_tradnl" altLang="es-ES" sz="1200" b="1" dirty="0">
                <a:cs typeface="Times New Roman" pitchFamily="18" charset="0"/>
              </a:rPr>
              <a:t>,</a:t>
            </a:r>
            <a:r>
              <a:rPr lang="es-ES_tradnl" altLang="es-ES" sz="1200" dirty="0">
                <a:cs typeface="Times New Roman" pitchFamily="18" charset="0"/>
              </a:rPr>
              <a:t> pues la probabilidad de cometer el error </a:t>
            </a:r>
            <a:r>
              <a:rPr lang="es-ES_tradnl" altLang="es-ES" sz="1200" dirty="0">
                <a:latin typeface="Symbol" panose="05050102010706020507" pitchFamily="18" charset="2"/>
                <a:cs typeface="Times New Roman" pitchFamily="18" charset="0"/>
              </a:rPr>
              <a:t>b</a:t>
            </a:r>
            <a:r>
              <a:rPr lang="es-ES_tradnl" altLang="es-ES" sz="1200" dirty="0">
                <a:ea typeface="System"/>
                <a:cs typeface="System"/>
              </a:rPr>
              <a:t> </a:t>
            </a:r>
            <a:r>
              <a:rPr lang="es-ES_tradnl" altLang="es-ES" sz="1200" dirty="0">
                <a:cs typeface="Times New Roman" pitchFamily="18" charset="0"/>
              </a:rPr>
              <a:t>no está controlada y puede haber sido grande. La </a:t>
            </a:r>
            <a:r>
              <a:rPr lang="es-ES_tradnl" altLang="es-ES" sz="1200" b="1" dirty="0">
                <a:cs typeface="Times New Roman" pitchFamily="18" charset="0"/>
              </a:rPr>
              <a:t>duda</a:t>
            </a:r>
            <a:r>
              <a:rPr lang="es-ES_tradnl" altLang="es-ES" sz="1200" dirty="0">
                <a:cs typeface="Times New Roman" pitchFamily="18" charset="0"/>
              </a:rPr>
              <a:t> razonable </a:t>
            </a:r>
            <a:r>
              <a:rPr lang="es-ES_tradnl" altLang="es-ES" sz="1200" b="1" dirty="0">
                <a:cs typeface="Times New Roman" pitchFamily="18" charset="0"/>
              </a:rPr>
              <a:t>es</a:t>
            </a:r>
            <a:r>
              <a:rPr lang="es-ES_tradnl" altLang="es-ES" sz="1200" dirty="0">
                <a:cs typeface="Times New Roman" pitchFamily="18" charset="0"/>
              </a:rPr>
              <a:t> si </a:t>
            </a:r>
          </a:p>
          <a:p>
            <a:pPr marL="496888" indent="-228600" algn="just">
              <a:spcBef>
                <a:spcPts val="600"/>
              </a:spcBef>
              <a:buAutoNum type="arabicParenBoth"/>
            </a:pPr>
            <a:r>
              <a:rPr lang="es-ES_tradnl" altLang="es-ES" sz="1200" dirty="0">
                <a:cs typeface="Times New Roman" pitchFamily="18" charset="0"/>
              </a:rPr>
              <a:t>realmente la muestra no contradice a H</a:t>
            </a:r>
            <a:r>
              <a:rPr lang="es-ES_tradnl" altLang="es-ES" sz="1100" baseline="-25000" dirty="0">
                <a:cs typeface="Times New Roman" pitchFamily="18" charset="0"/>
              </a:rPr>
              <a:t>0</a:t>
            </a:r>
            <a:r>
              <a:rPr lang="es-ES_tradnl" altLang="es-ES" sz="1200" baseline="-25000" dirty="0">
                <a:cs typeface="Times New Roman" pitchFamily="18" charset="0"/>
              </a:rPr>
              <a:t> </a:t>
            </a:r>
            <a:r>
              <a:rPr lang="es-ES_tradnl" altLang="es-ES" sz="1200" dirty="0">
                <a:cs typeface="Times New Roman" pitchFamily="18" charset="0"/>
              </a:rPr>
              <a:t>(es decir, su aceptación es correcta), o bien si </a:t>
            </a:r>
          </a:p>
          <a:p>
            <a:pPr marL="496888" indent="-228600" algn="just">
              <a:spcBef>
                <a:spcPts val="300"/>
              </a:spcBef>
              <a:buAutoNum type="arabicParenBoth"/>
            </a:pPr>
            <a:r>
              <a:rPr lang="es-ES_tradnl" altLang="es-ES" sz="1200" dirty="0">
                <a:cs typeface="Times New Roman" pitchFamily="18" charset="0"/>
              </a:rPr>
              <a:t>lo que ocurre es que la muestra no aporta la suficiente información para ello (es decir, hay poca </a:t>
            </a:r>
            <a:r>
              <a:rPr lang="es-ES_tradnl" altLang="es-ES" sz="1200" i="1" dirty="0">
                <a:cs typeface="Times New Roman" pitchFamily="18" charset="0"/>
              </a:rPr>
              <a:t>potencia estadística</a:t>
            </a:r>
            <a:r>
              <a:rPr lang="es-ES_tradnl" altLang="es-ES" sz="1200" dirty="0">
                <a:cs typeface="Times New Roman" pitchFamily="18" charset="0"/>
              </a:rPr>
              <a:t>). </a:t>
            </a:r>
          </a:p>
          <a:p>
            <a:pPr marL="268288" indent="-268288" algn="just">
              <a:buFont typeface="Arial" panose="020B0604020202020204" pitchFamily="34" charset="0"/>
              <a:buChar char="•"/>
            </a:pPr>
            <a:endParaRPr lang="es-ES_tradnl" altLang="es-ES" sz="1200" dirty="0">
              <a:cs typeface="Times New Roman" pitchFamily="18" charset="0"/>
            </a:endParaRPr>
          </a:p>
          <a:p>
            <a:pPr marL="268288" lvl="1" indent="0" algn="just"/>
            <a:r>
              <a:rPr lang="es-ES_tradnl" altLang="es-ES" sz="1200" dirty="0">
                <a:cs typeface="Times New Roman" pitchFamily="18" charset="0"/>
              </a:rPr>
              <a:t>Un </a:t>
            </a:r>
            <a:r>
              <a:rPr lang="es-ES_tradnl" altLang="es-ES" sz="1200" b="1" dirty="0">
                <a:cs typeface="Times New Roman" pitchFamily="18" charset="0"/>
              </a:rPr>
              <a:t>aumento del tamaño de muestra </a:t>
            </a:r>
            <a:r>
              <a:rPr lang="es-ES_tradnl" altLang="es-ES" sz="1200" dirty="0">
                <a:cs typeface="Times New Roman" pitchFamily="18" charset="0"/>
              </a:rPr>
              <a:t>puede ser conveniente, especialmente si el tamaño original era pequeño y el valor de </a:t>
            </a:r>
            <a:r>
              <a:rPr lang="es-ES_tradnl" altLang="es-ES" i="1" dirty="0">
                <a:latin typeface="Times New Roman" panose="02020603050405020304" pitchFamily="18" charset="0"/>
                <a:cs typeface="Times New Roman" panose="02020603050405020304" pitchFamily="18" charset="0"/>
              </a:rPr>
              <a:t>p</a:t>
            </a:r>
            <a:r>
              <a:rPr lang="es-ES_tradnl" altLang="es-ES" sz="1200" dirty="0">
                <a:cs typeface="Times New Roman" pitchFamily="18" charset="0"/>
              </a:rPr>
              <a:t> es relativamente bajo, aunque no lo suficiente como para declarar al test significativo (por ejemplo, entre el 5% y el 20%). En este caso, al aumentar </a:t>
            </a:r>
            <a:r>
              <a:rPr lang="es-ES_tradnl" altLang="es-ES" i="1" dirty="0">
                <a:latin typeface="Times New Roman" pitchFamily="18" charset="0"/>
                <a:cs typeface="Times New Roman" pitchFamily="18" charset="0"/>
              </a:rPr>
              <a:t>n</a:t>
            </a:r>
            <a:r>
              <a:rPr lang="es-ES_tradnl" altLang="es-ES" sz="1200" dirty="0">
                <a:cs typeface="Times New Roman" pitchFamily="18" charset="0"/>
              </a:rPr>
              <a:t>, e</a:t>
            </a:r>
            <a:r>
              <a:rPr lang="es-ES" altLang="es-ES" sz="1200" dirty="0">
                <a:cs typeface="Times New Roman" pitchFamily="18" charset="0"/>
              </a:rPr>
              <a:t>l error </a:t>
            </a:r>
            <a:r>
              <a:rPr lang="es-ES_tradnl" altLang="es-ES" dirty="0">
                <a:latin typeface="Symbol" pitchFamily="18" charset="2"/>
                <a:cs typeface="Times New Roman" pitchFamily="18" charset="0"/>
              </a:rPr>
              <a:t>b</a:t>
            </a:r>
            <a:r>
              <a:rPr lang="es-ES_tradnl" altLang="es-ES" sz="1200" dirty="0">
                <a:ea typeface="System"/>
                <a:cs typeface="System"/>
              </a:rPr>
              <a:t> </a:t>
            </a:r>
            <a:r>
              <a:rPr lang="es-ES_tradnl" altLang="es-ES" sz="1200" dirty="0">
                <a:cs typeface="Times New Roman" pitchFamily="18" charset="0"/>
              </a:rPr>
              <a:t>se hará más pequeño, la potencia </a:t>
            </a:r>
            <a:r>
              <a:rPr lang="es-ES_tradnl" altLang="es-ES" dirty="0">
                <a:latin typeface="Symbol" pitchFamily="18" charset="2"/>
                <a:cs typeface="Times New Roman" pitchFamily="18" charset="0"/>
              </a:rPr>
              <a:t>q</a:t>
            </a:r>
            <a:r>
              <a:rPr lang="es-ES_tradnl" altLang="es-ES" sz="1200" dirty="0">
                <a:cs typeface="Times New Roman" pitchFamily="18" charset="0"/>
              </a:rPr>
              <a:t> aumentará y si H</a:t>
            </a:r>
            <a:r>
              <a:rPr lang="es-ES_tradnl" altLang="es-ES" sz="1200" baseline="-25000" dirty="0">
                <a:cs typeface="Times New Roman" pitchFamily="18" charset="0"/>
              </a:rPr>
              <a:t>0</a:t>
            </a:r>
            <a:r>
              <a:rPr lang="es-ES_tradnl" altLang="es-ES" sz="1200" dirty="0">
                <a:cs typeface="Times New Roman" pitchFamily="18" charset="0"/>
              </a:rPr>
              <a:t> no es cierta, será mas probable rechazarla. Hay mecanismos para estudiar la fiabilidad de la decisión a favor de H</a:t>
            </a:r>
            <a:r>
              <a:rPr lang="es-ES_tradnl" altLang="es-ES" sz="1200" baseline="-25000" dirty="0">
                <a:cs typeface="Times New Roman" pitchFamily="18" charset="0"/>
              </a:rPr>
              <a:t>0 </a:t>
            </a:r>
            <a:r>
              <a:rPr lang="es-ES_tradnl" altLang="es-ES" sz="1200" dirty="0">
                <a:cs typeface="Times New Roman" pitchFamily="18" charset="0"/>
              </a:rPr>
              <a:t>basados en Intervalos de Confianza</a:t>
            </a:r>
          </a:p>
          <a:p>
            <a:pPr marL="268288" indent="0" algn="just"/>
            <a:endParaRPr lang="es-ES_tradnl" altLang="es-ES" sz="1200" dirty="0">
              <a:cs typeface="Times New Roman" pitchFamily="18" charset="0"/>
            </a:endParaRPr>
          </a:p>
          <a:p>
            <a:pPr marL="268288" indent="-268288" algn="just">
              <a:buFont typeface="Arial" panose="020B0604020202020204" pitchFamily="34" charset="0"/>
              <a:buChar char="•"/>
            </a:pPr>
            <a:r>
              <a:rPr lang="es-ES_tradnl" altLang="es-ES" sz="1200" b="1" dirty="0">
                <a:cs typeface="Times New Roman" pitchFamily="18" charset="0"/>
              </a:rPr>
              <a:t>Para estimar el tamaño de muestra</a:t>
            </a:r>
            <a:r>
              <a:rPr lang="es-ES_tradnl" altLang="es-ES" sz="1200" dirty="0">
                <a:cs typeface="Times New Roman" pitchFamily="18" charset="0"/>
              </a:rPr>
              <a:t>, es necesario establecer de antemano tanto el </a:t>
            </a:r>
            <a:r>
              <a:rPr lang="es-ES_tradnl" altLang="es-ES" sz="1200" b="1" dirty="0">
                <a:cs typeface="Times New Roman" pitchFamily="18" charset="0"/>
              </a:rPr>
              <a:t>nivel de </a:t>
            </a:r>
            <a:r>
              <a:rPr lang="es-ES_tradnl" altLang="es-ES" sz="1300" b="1" dirty="0">
                <a:latin typeface="Symbol" panose="05050102010706020507" pitchFamily="18" charset="2"/>
                <a:cs typeface="Times New Roman" pitchFamily="18" charset="0"/>
              </a:rPr>
              <a:t>a</a:t>
            </a:r>
            <a:r>
              <a:rPr lang="es-ES_tradnl" altLang="es-ES" sz="1200" dirty="0">
                <a:cs typeface="Times New Roman" pitchFamily="18" charset="0"/>
              </a:rPr>
              <a:t> como </a:t>
            </a:r>
            <a:r>
              <a:rPr lang="es-ES_tradnl" altLang="es-ES" sz="1200" b="1" dirty="0">
                <a:cs typeface="Times New Roman" pitchFamily="18" charset="0"/>
              </a:rPr>
              <a:t>la potencia deseada 1−</a:t>
            </a:r>
            <a:r>
              <a:rPr lang="es-ES_tradnl" altLang="es-ES" sz="1300" b="1" dirty="0">
                <a:latin typeface="Symbol" panose="05050102010706020507" pitchFamily="18" charset="2"/>
                <a:cs typeface="Times New Roman" pitchFamily="18" charset="0"/>
              </a:rPr>
              <a:t>b</a:t>
            </a:r>
            <a:r>
              <a:rPr lang="es-ES_tradnl" altLang="es-ES" sz="1200" dirty="0">
                <a:latin typeface="Symbol" panose="05050102010706020507" pitchFamily="18" charset="2"/>
                <a:cs typeface="Times New Roman" pitchFamily="18" charset="0"/>
              </a:rPr>
              <a:t>. </a:t>
            </a:r>
            <a:r>
              <a:rPr lang="es-ES_tradnl" altLang="es-ES" sz="1200" dirty="0">
                <a:cs typeface="Times New Roman" pitchFamily="18" charset="0"/>
              </a:rPr>
              <a:t>En consecuencia, al haber asumido el nivel tolerable de los dos errores posibles, tanto el rechazo como la aceptación de H</a:t>
            </a:r>
            <a:r>
              <a:rPr lang="es-ES_tradnl" altLang="es-ES" sz="1200" baseline="-25000" dirty="0">
                <a:cs typeface="Times New Roman" pitchFamily="18" charset="0"/>
              </a:rPr>
              <a:t>0</a:t>
            </a:r>
            <a:r>
              <a:rPr lang="es-ES_tradnl" altLang="es-ES" sz="1200" dirty="0">
                <a:cs typeface="Times New Roman" pitchFamily="18" charset="0"/>
              </a:rPr>
              <a:t> son fiables</a:t>
            </a:r>
            <a:endParaRPr lang="es-ES" altLang="es-ES" sz="1200" baseline="-25000" dirty="0">
              <a:cs typeface="Times New Roman" pitchFamily="18" charset="0"/>
            </a:endParaRPr>
          </a:p>
        </p:txBody>
      </p:sp>
    </p:spTree>
    <p:extLst>
      <p:ext uri="{BB962C8B-B14F-4D97-AF65-F5344CB8AC3E}">
        <p14:creationId xmlns:p14="http://schemas.microsoft.com/office/powerpoint/2010/main" val="2810478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3">
            <a:extLst>
              <a:ext uri="{FF2B5EF4-FFF2-40B4-BE49-F238E27FC236}">
                <a16:creationId xmlns:a16="http://schemas.microsoft.com/office/drawing/2014/main" id="{EC08BCA8-CAB1-40B1-A48D-0E3C74A7CA2E}"/>
              </a:ext>
            </a:extLst>
          </p:cNvPr>
          <p:cNvSpPr txBox="1">
            <a:spLocks noChangeArrowheads="1"/>
          </p:cNvSpPr>
          <p:nvPr/>
        </p:nvSpPr>
        <p:spPr bwMode="auto">
          <a:xfrm>
            <a:off x="245269" y="71042"/>
            <a:ext cx="4021931"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Test de hipótesis e intervalos de confianza</a:t>
            </a:r>
          </a:p>
        </p:txBody>
      </p:sp>
      <p:sp>
        <p:nvSpPr>
          <p:cNvPr id="3" name="Text Box 33">
            <a:extLst>
              <a:ext uri="{FF2B5EF4-FFF2-40B4-BE49-F238E27FC236}">
                <a16:creationId xmlns:a16="http://schemas.microsoft.com/office/drawing/2014/main" id="{747836F8-21B4-4882-96F1-84C75008F484}"/>
              </a:ext>
            </a:extLst>
          </p:cNvPr>
          <p:cNvSpPr txBox="1">
            <a:spLocks noChangeArrowheads="1"/>
          </p:cNvSpPr>
          <p:nvPr/>
        </p:nvSpPr>
        <p:spPr bwMode="auto">
          <a:xfrm>
            <a:off x="228600" y="381000"/>
            <a:ext cx="6553200" cy="3099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r>
              <a:rPr lang="es-ES_tradnl" altLang="es-ES" b="1" dirty="0"/>
              <a:t>Significación </a:t>
            </a:r>
            <a:r>
              <a:rPr lang="es-ES_tradnl" altLang="es-ES" b="1" i="1" dirty="0"/>
              <a:t>estadística</a:t>
            </a:r>
            <a:r>
              <a:rPr lang="es-ES_tradnl" altLang="es-ES" b="1" dirty="0"/>
              <a:t> y significación </a:t>
            </a:r>
            <a:r>
              <a:rPr lang="es-ES_tradnl" altLang="es-ES" b="1" i="1" dirty="0"/>
              <a:t>sustantiva. </a:t>
            </a:r>
            <a:r>
              <a:rPr lang="es-ES_tradnl" altLang="es-ES" b="1" dirty="0"/>
              <a:t>Fiabilidad de H</a:t>
            </a:r>
            <a:r>
              <a:rPr lang="es-ES_tradnl" altLang="es-ES" b="1" baseline="-25000" dirty="0"/>
              <a:t>0</a:t>
            </a:r>
          </a:p>
        </p:txBody>
      </p:sp>
      <p:sp>
        <p:nvSpPr>
          <p:cNvPr id="6" name="Text Box 33">
            <a:extLst>
              <a:ext uri="{FF2B5EF4-FFF2-40B4-BE49-F238E27FC236}">
                <a16:creationId xmlns:a16="http://schemas.microsoft.com/office/drawing/2014/main" id="{60E805C3-8EF1-4B41-B74B-74E965F4162E}"/>
              </a:ext>
            </a:extLst>
          </p:cNvPr>
          <p:cNvSpPr txBox="1">
            <a:spLocks noChangeArrowheads="1"/>
          </p:cNvSpPr>
          <p:nvPr/>
        </p:nvSpPr>
        <p:spPr bwMode="auto">
          <a:xfrm>
            <a:off x="311727" y="856672"/>
            <a:ext cx="8298873" cy="279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r>
              <a:rPr lang="es-ES_tradnl" altLang="es-ES" sz="1200" dirty="0"/>
              <a:t>Tras un test de hipótesis, generalmente se debe matizar la decisión con un intervalo de confianza</a:t>
            </a:r>
          </a:p>
        </p:txBody>
      </p:sp>
      <p:sp>
        <p:nvSpPr>
          <p:cNvPr id="7" name="AutoShape 86">
            <a:extLst>
              <a:ext uri="{FF2B5EF4-FFF2-40B4-BE49-F238E27FC236}">
                <a16:creationId xmlns:a16="http://schemas.microsoft.com/office/drawing/2014/main" id="{DCF37046-9257-4131-8C76-8B5A09F0D4FA}"/>
              </a:ext>
            </a:extLst>
          </p:cNvPr>
          <p:cNvSpPr>
            <a:spLocks noChangeArrowheads="1"/>
          </p:cNvSpPr>
          <p:nvPr/>
        </p:nvSpPr>
        <p:spPr bwMode="auto">
          <a:xfrm>
            <a:off x="990599" y="833956"/>
            <a:ext cx="6934201" cy="300068"/>
          </a:xfrm>
          <a:prstGeom prst="roundRect">
            <a:avLst>
              <a:gd name="adj" fmla="val 8440"/>
            </a:avLst>
          </a:prstGeom>
          <a:noFill/>
          <a:ln w="9525">
            <a:solidFill>
              <a:srgbClr val="FF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aphicFrame>
        <p:nvGraphicFramePr>
          <p:cNvPr id="12" name="Object 29">
            <a:extLst>
              <a:ext uri="{FF2B5EF4-FFF2-40B4-BE49-F238E27FC236}">
                <a16:creationId xmlns:a16="http://schemas.microsoft.com/office/drawing/2014/main" id="{005A85B4-1437-4252-9254-0657AC864FCA}"/>
              </a:ext>
            </a:extLst>
          </p:cNvPr>
          <p:cNvGraphicFramePr>
            <a:graphicFrameLocks noChangeAspect="1"/>
          </p:cNvGraphicFramePr>
          <p:nvPr>
            <p:extLst>
              <p:ext uri="{D42A27DB-BD31-4B8C-83A1-F6EECF244321}">
                <p14:modId xmlns:p14="http://schemas.microsoft.com/office/powerpoint/2010/main" val="194126717"/>
              </p:ext>
            </p:extLst>
          </p:nvPr>
        </p:nvGraphicFramePr>
        <p:xfrm>
          <a:off x="5548312" y="1214437"/>
          <a:ext cx="1095375" cy="614363"/>
        </p:xfrm>
        <a:graphic>
          <a:graphicData uri="http://schemas.openxmlformats.org/presentationml/2006/ole">
            <mc:AlternateContent xmlns:mc="http://schemas.openxmlformats.org/markup-compatibility/2006">
              <mc:Choice xmlns:v="urn:schemas-microsoft-com:vml" Requires="v">
                <p:oleObj name="Equation" r:id="rId3" imgW="952200" imgH="533160" progId="Equation.DSMT4">
                  <p:embed/>
                </p:oleObj>
              </mc:Choice>
              <mc:Fallback>
                <p:oleObj name="Equation" r:id="rId3" imgW="952200" imgH="533160" progId="Equation.DSMT4">
                  <p:embed/>
                  <p:pic>
                    <p:nvPicPr>
                      <p:cNvPr id="5122" name="Object 29"/>
                      <p:cNvPicPr>
                        <a:picLocks noChangeAspect="1" noChangeArrowheads="1"/>
                      </p:cNvPicPr>
                      <p:nvPr/>
                    </p:nvPicPr>
                    <p:blipFill>
                      <a:blip r:embed="rId4"/>
                      <a:srcRect/>
                      <a:stretch>
                        <a:fillRect/>
                      </a:stretch>
                    </p:blipFill>
                    <p:spPr bwMode="auto">
                      <a:xfrm>
                        <a:off x="5548312" y="1214437"/>
                        <a:ext cx="10953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8" name="Grupo 67">
            <a:extLst>
              <a:ext uri="{FF2B5EF4-FFF2-40B4-BE49-F238E27FC236}">
                <a16:creationId xmlns:a16="http://schemas.microsoft.com/office/drawing/2014/main" id="{7DB2700A-DDA0-4C90-90E2-C49F1B3FF96A}"/>
              </a:ext>
            </a:extLst>
          </p:cNvPr>
          <p:cNvGrpSpPr/>
          <p:nvPr/>
        </p:nvGrpSpPr>
        <p:grpSpPr>
          <a:xfrm>
            <a:off x="292480" y="1808016"/>
            <a:ext cx="8539792" cy="1344993"/>
            <a:chOff x="292480" y="1884216"/>
            <a:chExt cx="8539792" cy="1344993"/>
          </a:xfrm>
        </p:grpSpPr>
        <p:sp>
          <p:nvSpPr>
            <p:cNvPr id="17" name="CuadroTexto 16">
              <a:extLst>
                <a:ext uri="{FF2B5EF4-FFF2-40B4-BE49-F238E27FC236}">
                  <a16:creationId xmlns:a16="http://schemas.microsoft.com/office/drawing/2014/main" id="{C39B7D4C-70EC-4111-9CA8-566CB063C6B0}"/>
                </a:ext>
              </a:extLst>
            </p:cNvPr>
            <p:cNvSpPr txBox="1"/>
            <p:nvPr/>
          </p:nvSpPr>
          <p:spPr>
            <a:xfrm>
              <a:off x="292480" y="1884216"/>
              <a:ext cx="1430200" cy="276999"/>
            </a:xfrm>
            <a:prstGeom prst="rect">
              <a:avLst/>
            </a:prstGeom>
            <a:noFill/>
          </p:spPr>
          <p:txBody>
            <a:bodyPr wrap="none" rtlCol="0">
              <a:spAutoFit/>
            </a:bodyPr>
            <a:lstStyle/>
            <a:p>
              <a:r>
                <a:rPr lang="es-ES" b="1" dirty="0"/>
                <a:t>a) Rechazo de H</a:t>
              </a:r>
              <a:r>
                <a:rPr lang="es-ES" b="1" baseline="-25000" dirty="0"/>
                <a:t>0</a:t>
              </a:r>
            </a:p>
          </p:txBody>
        </p:sp>
        <p:grpSp>
          <p:nvGrpSpPr>
            <p:cNvPr id="29" name="Grupo 28">
              <a:extLst>
                <a:ext uri="{FF2B5EF4-FFF2-40B4-BE49-F238E27FC236}">
                  <a16:creationId xmlns:a16="http://schemas.microsoft.com/office/drawing/2014/main" id="{91A028D0-E3AB-4155-A8AE-FB1AC4F69E3E}"/>
                </a:ext>
              </a:extLst>
            </p:cNvPr>
            <p:cNvGrpSpPr/>
            <p:nvPr/>
          </p:nvGrpSpPr>
          <p:grpSpPr>
            <a:xfrm>
              <a:off x="311726" y="2139950"/>
              <a:ext cx="7135237" cy="636588"/>
              <a:chOff x="311726" y="2908384"/>
              <a:chExt cx="7135237" cy="636588"/>
            </a:xfrm>
          </p:grpSpPr>
          <p:sp>
            <p:nvSpPr>
              <p:cNvPr id="21" name="CuadroTexto 20">
                <a:extLst>
                  <a:ext uri="{FF2B5EF4-FFF2-40B4-BE49-F238E27FC236}">
                    <a16:creationId xmlns:a16="http://schemas.microsoft.com/office/drawing/2014/main" id="{36882270-68C8-42DA-A1D5-1E254F7576BE}"/>
                  </a:ext>
                </a:extLst>
              </p:cNvPr>
              <p:cNvSpPr txBox="1"/>
              <p:nvPr/>
            </p:nvSpPr>
            <p:spPr>
              <a:xfrm>
                <a:off x="323271" y="3232666"/>
                <a:ext cx="3664786" cy="276999"/>
              </a:xfrm>
              <a:prstGeom prst="rect">
                <a:avLst/>
              </a:prstGeom>
              <a:noFill/>
            </p:spPr>
            <p:txBody>
              <a:bodyPr wrap="none" rtlCol="0">
                <a:spAutoFit/>
              </a:bodyPr>
              <a:lstStyle/>
              <a:p>
                <a:r>
                  <a:rPr lang="es-ES" dirty="0"/>
                  <a:t>o ¿cuánto vale la diferencia observada respecto a  </a:t>
                </a:r>
                <a:endParaRPr lang="es-ES" baseline="-25000" dirty="0"/>
              </a:p>
            </p:txBody>
          </p:sp>
          <p:grpSp>
            <p:nvGrpSpPr>
              <p:cNvPr id="25" name="Grupo 24">
                <a:extLst>
                  <a:ext uri="{FF2B5EF4-FFF2-40B4-BE49-F238E27FC236}">
                    <a16:creationId xmlns:a16="http://schemas.microsoft.com/office/drawing/2014/main" id="{B6593CE7-4171-4E5F-BD6C-D930E2872547}"/>
                  </a:ext>
                </a:extLst>
              </p:cNvPr>
              <p:cNvGrpSpPr/>
              <p:nvPr/>
            </p:nvGrpSpPr>
            <p:grpSpPr>
              <a:xfrm>
                <a:off x="311726" y="2908384"/>
                <a:ext cx="7135237" cy="636588"/>
                <a:chOff x="311726" y="2908384"/>
                <a:chExt cx="7135237" cy="636588"/>
              </a:xfrm>
            </p:grpSpPr>
            <p:sp>
              <p:nvSpPr>
                <p:cNvPr id="19" name="CuadroTexto 18">
                  <a:extLst>
                    <a:ext uri="{FF2B5EF4-FFF2-40B4-BE49-F238E27FC236}">
                      <a16:creationId xmlns:a16="http://schemas.microsoft.com/office/drawing/2014/main" id="{11FB14D5-BE81-427C-872D-61D7414B6EC5}"/>
                    </a:ext>
                  </a:extLst>
                </p:cNvPr>
                <p:cNvSpPr txBox="1"/>
                <p:nvPr/>
              </p:nvSpPr>
              <p:spPr>
                <a:xfrm>
                  <a:off x="311726" y="2931184"/>
                  <a:ext cx="5056192" cy="276999"/>
                </a:xfrm>
                <a:prstGeom prst="rect">
                  <a:avLst/>
                </a:prstGeom>
                <a:noFill/>
              </p:spPr>
              <p:txBody>
                <a:bodyPr wrap="none" rtlCol="0">
                  <a:spAutoFit/>
                </a:bodyPr>
                <a:lstStyle/>
                <a:p>
                  <a:r>
                    <a:rPr lang="es-ES" dirty="0"/>
                    <a:t>Como se concluye            , la pregunta procedente es ¿cuánto vale    ?  </a:t>
                  </a:r>
                </a:p>
              </p:txBody>
            </p:sp>
            <p:graphicFrame>
              <p:nvGraphicFramePr>
                <p:cNvPr id="18" name="Objeto 17">
                  <a:extLst>
                    <a:ext uri="{FF2B5EF4-FFF2-40B4-BE49-F238E27FC236}">
                      <a16:creationId xmlns:a16="http://schemas.microsoft.com/office/drawing/2014/main" id="{4F61A65F-4BF0-4330-B11F-7B0DCA0F6EB1}"/>
                    </a:ext>
                  </a:extLst>
                </p:cNvPr>
                <p:cNvGraphicFramePr>
                  <a:graphicFrameLocks noChangeAspect="1"/>
                </p:cNvGraphicFramePr>
                <p:nvPr>
                  <p:extLst>
                    <p:ext uri="{D42A27DB-BD31-4B8C-83A1-F6EECF244321}">
                      <p14:modId xmlns:p14="http://schemas.microsoft.com/office/powerpoint/2010/main" val="3876987904"/>
                    </p:ext>
                  </p:extLst>
                </p:nvPr>
              </p:nvGraphicFramePr>
              <p:xfrm>
                <a:off x="1678007" y="2936933"/>
                <a:ext cx="532660" cy="265500"/>
              </p:xfrm>
              <a:graphic>
                <a:graphicData uri="http://schemas.openxmlformats.org/presentationml/2006/ole">
                  <mc:AlternateContent xmlns:mc="http://schemas.openxmlformats.org/markup-compatibility/2006">
                    <mc:Choice xmlns:v="urn:schemas-microsoft-com:vml" Requires="v">
                      <p:oleObj name="Equation" r:id="rId5" imgW="482400" imgH="241200" progId="Equation.DSMT4">
                        <p:embed/>
                      </p:oleObj>
                    </mc:Choice>
                    <mc:Fallback>
                      <p:oleObj name="Equation" r:id="rId5" imgW="482400" imgH="241200" progId="Equation.DSMT4">
                        <p:embed/>
                        <p:pic>
                          <p:nvPicPr>
                            <p:cNvPr id="9" name="Objeto 8">
                              <a:extLst>
                                <a:ext uri="{FF2B5EF4-FFF2-40B4-BE49-F238E27FC236}">
                                  <a16:creationId xmlns:a16="http://schemas.microsoft.com/office/drawing/2014/main" id="{F42132FD-3DC9-4F39-BF38-8B8D28498043}"/>
                                </a:ext>
                              </a:extLst>
                            </p:cNvPr>
                            <p:cNvPicPr/>
                            <p:nvPr/>
                          </p:nvPicPr>
                          <p:blipFill>
                            <a:blip r:embed="rId6"/>
                            <a:stretch>
                              <a:fillRect/>
                            </a:stretch>
                          </p:blipFill>
                          <p:spPr>
                            <a:xfrm>
                              <a:off x="1678007" y="2936933"/>
                              <a:ext cx="532660" cy="265500"/>
                            </a:xfrm>
                            <a:prstGeom prst="rect">
                              <a:avLst/>
                            </a:prstGeom>
                          </p:spPr>
                        </p:pic>
                      </p:oleObj>
                    </mc:Fallback>
                  </mc:AlternateContent>
                </a:graphicData>
              </a:graphic>
            </p:graphicFrame>
            <p:graphicFrame>
              <p:nvGraphicFramePr>
                <p:cNvPr id="20" name="Objeto 19">
                  <a:extLst>
                    <a:ext uri="{FF2B5EF4-FFF2-40B4-BE49-F238E27FC236}">
                      <a16:creationId xmlns:a16="http://schemas.microsoft.com/office/drawing/2014/main" id="{D1E848BE-B343-42A6-8002-E1E8DEDD71D1}"/>
                    </a:ext>
                  </a:extLst>
                </p:cNvPr>
                <p:cNvGraphicFramePr>
                  <a:graphicFrameLocks noChangeAspect="1"/>
                </p:cNvGraphicFramePr>
                <p:nvPr>
                  <p:extLst>
                    <p:ext uri="{D42A27DB-BD31-4B8C-83A1-F6EECF244321}">
                      <p14:modId xmlns:p14="http://schemas.microsoft.com/office/powerpoint/2010/main" val="2291690668"/>
                    </p:ext>
                  </p:extLst>
                </p:nvPr>
              </p:nvGraphicFramePr>
              <p:xfrm>
                <a:off x="4962236" y="3000630"/>
                <a:ext cx="153987" cy="195262"/>
              </p:xfrm>
              <a:graphic>
                <a:graphicData uri="http://schemas.openxmlformats.org/presentationml/2006/ole">
                  <mc:AlternateContent xmlns:mc="http://schemas.openxmlformats.org/markup-compatibility/2006">
                    <mc:Choice xmlns:v="urn:schemas-microsoft-com:vml" Requires="v">
                      <p:oleObj name="Equation" r:id="rId7" imgW="139680" imgH="177480" progId="Equation.DSMT4">
                        <p:embed/>
                      </p:oleObj>
                    </mc:Choice>
                    <mc:Fallback>
                      <p:oleObj name="Equation" r:id="rId7" imgW="139680" imgH="177480" progId="Equation.DSMT4">
                        <p:embed/>
                        <p:pic>
                          <p:nvPicPr>
                            <p:cNvPr id="18" name="Objeto 17">
                              <a:extLst>
                                <a:ext uri="{FF2B5EF4-FFF2-40B4-BE49-F238E27FC236}">
                                  <a16:creationId xmlns:a16="http://schemas.microsoft.com/office/drawing/2014/main" id="{4F61A65F-4BF0-4330-B11F-7B0DCA0F6EB1}"/>
                                </a:ext>
                              </a:extLst>
                            </p:cNvPr>
                            <p:cNvPicPr/>
                            <p:nvPr/>
                          </p:nvPicPr>
                          <p:blipFill>
                            <a:blip r:embed="rId8"/>
                            <a:stretch>
                              <a:fillRect/>
                            </a:stretch>
                          </p:blipFill>
                          <p:spPr>
                            <a:xfrm>
                              <a:off x="4962236" y="3000630"/>
                              <a:ext cx="153987" cy="195262"/>
                            </a:xfrm>
                            <a:prstGeom prst="rect">
                              <a:avLst/>
                            </a:prstGeom>
                          </p:spPr>
                        </p:pic>
                      </p:oleObj>
                    </mc:Fallback>
                  </mc:AlternateContent>
                </a:graphicData>
              </a:graphic>
            </p:graphicFrame>
            <p:graphicFrame>
              <p:nvGraphicFramePr>
                <p:cNvPr id="24" name="Objeto 23">
                  <a:extLst>
                    <a:ext uri="{FF2B5EF4-FFF2-40B4-BE49-F238E27FC236}">
                      <a16:creationId xmlns:a16="http://schemas.microsoft.com/office/drawing/2014/main" id="{C646786B-B04A-4288-89A3-634B6A8E77A0}"/>
                    </a:ext>
                  </a:extLst>
                </p:cNvPr>
                <p:cNvGraphicFramePr>
                  <a:graphicFrameLocks noChangeAspect="1"/>
                </p:cNvGraphicFramePr>
                <p:nvPr>
                  <p:extLst>
                    <p:ext uri="{D42A27DB-BD31-4B8C-83A1-F6EECF244321}">
                      <p14:modId xmlns:p14="http://schemas.microsoft.com/office/powerpoint/2010/main" val="1331771742"/>
                    </p:ext>
                  </p:extLst>
                </p:nvPr>
              </p:nvGraphicFramePr>
              <p:xfrm>
                <a:off x="5237163" y="2908384"/>
                <a:ext cx="2209800" cy="322263"/>
              </p:xfrm>
              <a:graphic>
                <a:graphicData uri="http://schemas.openxmlformats.org/presentationml/2006/ole">
                  <mc:AlternateContent xmlns:mc="http://schemas.openxmlformats.org/markup-compatibility/2006">
                    <mc:Choice xmlns:v="urn:schemas-microsoft-com:vml" Requires="v">
                      <p:oleObj name="Equation" r:id="rId9" imgW="2006280" imgH="291960" progId="Equation.DSMT4">
                        <p:embed/>
                      </p:oleObj>
                    </mc:Choice>
                    <mc:Fallback>
                      <p:oleObj name="Equation" r:id="rId9" imgW="2006280" imgH="291960" progId="Equation.DSMT4">
                        <p:embed/>
                        <p:pic>
                          <p:nvPicPr>
                            <p:cNvPr id="20" name="Objeto 19">
                              <a:extLst>
                                <a:ext uri="{FF2B5EF4-FFF2-40B4-BE49-F238E27FC236}">
                                  <a16:creationId xmlns:a16="http://schemas.microsoft.com/office/drawing/2014/main" id="{D1E848BE-B343-42A6-8002-E1E8DEDD71D1}"/>
                                </a:ext>
                              </a:extLst>
                            </p:cNvPr>
                            <p:cNvPicPr/>
                            <p:nvPr/>
                          </p:nvPicPr>
                          <p:blipFill>
                            <a:blip r:embed="rId10"/>
                            <a:stretch>
                              <a:fillRect/>
                            </a:stretch>
                          </p:blipFill>
                          <p:spPr>
                            <a:xfrm>
                              <a:off x="5237163" y="2908384"/>
                              <a:ext cx="2209800" cy="322263"/>
                            </a:xfrm>
                            <a:prstGeom prst="rect">
                              <a:avLst/>
                            </a:prstGeom>
                          </p:spPr>
                        </p:pic>
                      </p:oleObj>
                    </mc:Fallback>
                  </mc:AlternateContent>
                </a:graphicData>
              </a:graphic>
            </p:graphicFrame>
            <p:graphicFrame>
              <p:nvGraphicFramePr>
                <p:cNvPr id="26" name="Objeto 25">
                  <a:extLst>
                    <a:ext uri="{FF2B5EF4-FFF2-40B4-BE49-F238E27FC236}">
                      <a16:creationId xmlns:a16="http://schemas.microsoft.com/office/drawing/2014/main" id="{8948FEB3-A410-4612-995A-8E138B1A6282}"/>
                    </a:ext>
                  </a:extLst>
                </p:cNvPr>
                <p:cNvGraphicFramePr>
                  <a:graphicFrameLocks noChangeAspect="1"/>
                </p:cNvGraphicFramePr>
                <p:nvPr>
                  <p:extLst>
                    <p:ext uri="{D42A27DB-BD31-4B8C-83A1-F6EECF244321}">
                      <p14:modId xmlns:p14="http://schemas.microsoft.com/office/powerpoint/2010/main" val="859078279"/>
                    </p:ext>
                  </p:extLst>
                </p:nvPr>
              </p:nvGraphicFramePr>
              <p:xfrm>
                <a:off x="3983038" y="3222709"/>
                <a:ext cx="3090862" cy="322263"/>
              </p:xfrm>
              <a:graphic>
                <a:graphicData uri="http://schemas.openxmlformats.org/presentationml/2006/ole">
                  <mc:AlternateContent xmlns:mc="http://schemas.openxmlformats.org/markup-compatibility/2006">
                    <mc:Choice xmlns:v="urn:schemas-microsoft-com:vml" Requires="v">
                      <p:oleObj name="Equation" r:id="rId11" imgW="2806560" imgH="291960" progId="Equation.DSMT4">
                        <p:embed/>
                      </p:oleObj>
                    </mc:Choice>
                    <mc:Fallback>
                      <p:oleObj name="Equation" r:id="rId11" imgW="2806560" imgH="291960" progId="Equation.DSMT4">
                        <p:embed/>
                        <p:pic>
                          <p:nvPicPr>
                            <p:cNvPr id="24" name="Objeto 23">
                              <a:extLst>
                                <a:ext uri="{FF2B5EF4-FFF2-40B4-BE49-F238E27FC236}">
                                  <a16:creationId xmlns:a16="http://schemas.microsoft.com/office/drawing/2014/main" id="{C646786B-B04A-4288-89A3-634B6A8E77A0}"/>
                                </a:ext>
                              </a:extLst>
                            </p:cNvPr>
                            <p:cNvPicPr/>
                            <p:nvPr/>
                          </p:nvPicPr>
                          <p:blipFill>
                            <a:blip r:embed="rId12"/>
                            <a:stretch>
                              <a:fillRect/>
                            </a:stretch>
                          </p:blipFill>
                          <p:spPr>
                            <a:xfrm>
                              <a:off x="3983038" y="3222709"/>
                              <a:ext cx="3090862" cy="322263"/>
                            </a:xfrm>
                            <a:prstGeom prst="rect">
                              <a:avLst/>
                            </a:prstGeom>
                          </p:spPr>
                        </p:pic>
                      </p:oleObj>
                    </mc:Fallback>
                  </mc:AlternateContent>
                </a:graphicData>
              </a:graphic>
            </p:graphicFrame>
            <p:graphicFrame>
              <p:nvGraphicFramePr>
                <p:cNvPr id="27" name="Objeto 26">
                  <a:extLst>
                    <a:ext uri="{FF2B5EF4-FFF2-40B4-BE49-F238E27FC236}">
                      <a16:creationId xmlns:a16="http://schemas.microsoft.com/office/drawing/2014/main" id="{A3B00DB9-40BD-49BF-9719-FB19EF8F7703}"/>
                    </a:ext>
                  </a:extLst>
                </p:cNvPr>
                <p:cNvGraphicFramePr>
                  <a:graphicFrameLocks noChangeAspect="1"/>
                </p:cNvGraphicFramePr>
                <p:nvPr>
                  <p:extLst>
                    <p:ext uri="{D42A27DB-BD31-4B8C-83A1-F6EECF244321}">
                      <p14:modId xmlns:p14="http://schemas.microsoft.com/office/powerpoint/2010/main" val="1064766946"/>
                    </p:ext>
                  </p:extLst>
                </p:nvPr>
              </p:nvGraphicFramePr>
              <p:xfrm>
                <a:off x="3810129" y="3248425"/>
                <a:ext cx="223837" cy="265112"/>
              </p:xfrm>
              <a:graphic>
                <a:graphicData uri="http://schemas.openxmlformats.org/presentationml/2006/ole">
                  <mc:AlternateContent xmlns:mc="http://schemas.openxmlformats.org/markup-compatibility/2006">
                    <mc:Choice xmlns:v="urn:schemas-microsoft-com:vml" Requires="v">
                      <p:oleObj name="Equation" r:id="rId13" imgW="203040" imgH="241200" progId="Equation.DSMT4">
                        <p:embed/>
                      </p:oleObj>
                    </mc:Choice>
                    <mc:Fallback>
                      <p:oleObj name="Equation" r:id="rId13" imgW="203040" imgH="241200" progId="Equation.DSMT4">
                        <p:embed/>
                        <p:pic>
                          <p:nvPicPr>
                            <p:cNvPr id="20" name="Objeto 19">
                              <a:extLst>
                                <a:ext uri="{FF2B5EF4-FFF2-40B4-BE49-F238E27FC236}">
                                  <a16:creationId xmlns:a16="http://schemas.microsoft.com/office/drawing/2014/main" id="{D1E848BE-B343-42A6-8002-E1E8DEDD71D1}"/>
                                </a:ext>
                              </a:extLst>
                            </p:cNvPr>
                            <p:cNvPicPr/>
                            <p:nvPr/>
                          </p:nvPicPr>
                          <p:blipFill>
                            <a:blip r:embed="rId14"/>
                            <a:stretch>
                              <a:fillRect/>
                            </a:stretch>
                          </p:blipFill>
                          <p:spPr>
                            <a:xfrm>
                              <a:off x="3810129" y="3248425"/>
                              <a:ext cx="223837" cy="265112"/>
                            </a:xfrm>
                            <a:prstGeom prst="rect">
                              <a:avLst/>
                            </a:prstGeom>
                          </p:spPr>
                        </p:pic>
                      </p:oleObj>
                    </mc:Fallback>
                  </mc:AlternateContent>
                </a:graphicData>
              </a:graphic>
            </p:graphicFrame>
          </p:grpSp>
        </p:grpSp>
        <p:sp>
          <p:nvSpPr>
            <p:cNvPr id="30" name="CuadroTexto 29">
              <a:extLst>
                <a:ext uri="{FF2B5EF4-FFF2-40B4-BE49-F238E27FC236}">
                  <a16:creationId xmlns:a16="http://schemas.microsoft.com/office/drawing/2014/main" id="{62D59A65-F2C1-42C0-9C6B-2B0EA789977B}"/>
                </a:ext>
              </a:extLst>
            </p:cNvPr>
            <p:cNvSpPr txBox="1"/>
            <p:nvPr/>
          </p:nvSpPr>
          <p:spPr>
            <a:xfrm>
              <a:off x="304799" y="2736766"/>
              <a:ext cx="8527473" cy="492443"/>
            </a:xfrm>
            <a:prstGeom prst="rect">
              <a:avLst/>
            </a:prstGeom>
            <a:noFill/>
          </p:spPr>
          <p:txBody>
            <a:bodyPr wrap="square" rtlCol="0">
              <a:spAutoFit/>
            </a:bodyPr>
            <a:lstStyle/>
            <a:p>
              <a:pPr algn="just"/>
              <a:r>
                <a:rPr lang="es-ES" dirty="0"/>
                <a:t>Si la potencia es grande (</a:t>
              </a:r>
              <a:r>
                <a:rPr lang="es-ES" sz="1400" i="1" dirty="0">
                  <a:latin typeface="Times New Roman" panose="02020603050405020304" pitchFamily="18" charset="0"/>
                  <a:cs typeface="Times New Roman" panose="02020603050405020304" pitchFamily="18" charset="0"/>
                </a:rPr>
                <a:t>n</a:t>
              </a:r>
              <a:r>
                <a:rPr lang="es-ES" dirty="0"/>
                <a:t> grande), el test rechazará H</a:t>
              </a:r>
              <a:r>
                <a:rPr lang="es-ES" baseline="-25000" dirty="0"/>
                <a:t>0</a:t>
              </a:r>
              <a:r>
                <a:rPr lang="es-ES" dirty="0"/>
                <a:t>, pero se debe estudiar la </a:t>
              </a:r>
              <a:r>
                <a:rPr lang="es-ES" i="1" dirty="0"/>
                <a:t>utilidad</a:t>
              </a:r>
              <a:r>
                <a:rPr lang="es-ES" dirty="0"/>
                <a:t> </a:t>
              </a:r>
              <a:r>
                <a:rPr lang="es-ES" i="1" dirty="0"/>
                <a:t>práctica</a:t>
              </a:r>
              <a:r>
                <a:rPr lang="es-ES" dirty="0"/>
                <a:t> (clínica, o fisiológica, o biológica,… = </a:t>
              </a:r>
              <a:r>
                <a:rPr lang="es-ES" b="1" i="1" dirty="0"/>
                <a:t>sustantiva</a:t>
              </a:r>
              <a:r>
                <a:rPr lang="es-ES" dirty="0"/>
                <a:t>) de la diferencia encontrada </a:t>
              </a:r>
              <a:endParaRPr lang="es-ES" baseline="-25000" dirty="0"/>
            </a:p>
          </p:txBody>
        </p:sp>
      </p:grpSp>
      <p:grpSp>
        <p:nvGrpSpPr>
          <p:cNvPr id="36" name="Grupo 35">
            <a:extLst>
              <a:ext uri="{FF2B5EF4-FFF2-40B4-BE49-F238E27FC236}">
                <a16:creationId xmlns:a16="http://schemas.microsoft.com/office/drawing/2014/main" id="{A6862C28-9B05-41BA-953A-B703A5A0E0F2}"/>
              </a:ext>
            </a:extLst>
          </p:cNvPr>
          <p:cNvGrpSpPr/>
          <p:nvPr/>
        </p:nvGrpSpPr>
        <p:grpSpPr>
          <a:xfrm>
            <a:off x="2573741" y="1233487"/>
            <a:ext cx="2455459" cy="576263"/>
            <a:chOff x="616003" y="1410863"/>
            <a:chExt cx="2455459" cy="576263"/>
          </a:xfrm>
        </p:grpSpPr>
        <p:graphicFrame>
          <p:nvGraphicFramePr>
            <p:cNvPr id="9" name="Objeto 8">
              <a:extLst>
                <a:ext uri="{FF2B5EF4-FFF2-40B4-BE49-F238E27FC236}">
                  <a16:creationId xmlns:a16="http://schemas.microsoft.com/office/drawing/2014/main" id="{F42132FD-3DC9-4F39-BF38-8B8D28498043}"/>
                </a:ext>
              </a:extLst>
            </p:cNvPr>
            <p:cNvGraphicFramePr>
              <a:graphicFrameLocks noChangeAspect="1"/>
            </p:cNvGraphicFramePr>
            <p:nvPr>
              <p:extLst>
                <p:ext uri="{D42A27DB-BD31-4B8C-83A1-F6EECF244321}">
                  <p14:modId xmlns:p14="http://schemas.microsoft.com/office/powerpoint/2010/main" val="809832559"/>
                </p:ext>
              </p:extLst>
            </p:nvPr>
          </p:nvGraphicFramePr>
          <p:xfrm>
            <a:off x="1944337" y="1410863"/>
            <a:ext cx="1127125" cy="576263"/>
          </p:xfrm>
          <a:graphic>
            <a:graphicData uri="http://schemas.openxmlformats.org/presentationml/2006/ole">
              <mc:AlternateContent xmlns:mc="http://schemas.openxmlformats.org/markup-compatibility/2006">
                <mc:Choice xmlns:v="urn:schemas-microsoft-com:vml" Requires="v">
                  <p:oleObj name="Equation" r:id="rId15" imgW="1066680" imgH="545760" progId="Equation.DSMT4">
                    <p:embed/>
                  </p:oleObj>
                </mc:Choice>
                <mc:Fallback>
                  <p:oleObj name="Equation" r:id="rId15" imgW="1066680" imgH="545760" progId="Equation.DSMT4">
                    <p:embed/>
                    <p:pic>
                      <p:nvPicPr>
                        <p:cNvPr id="0" name=""/>
                        <p:cNvPicPr/>
                        <p:nvPr/>
                      </p:nvPicPr>
                      <p:blipFill>
                        <a:blip r:embed="rId16"/>
                        <a:stretch>
                          <a:fillRect/>
                        </a:stretch>
                      </p:blipFill>
                      <p:spPr>
                        <a:xfrm>
                          <a:off x="1944337" y="1410863"/>
                          <a:ext cx="1127125" cy="576263"/>
                        </a:xfrm>
                        <a:prstGeom prst="rect">
                          <a:avLst/>
                        </a:prstGeom>
                      </p:spPr>
                    </p:pic>
                  </p:oleObj>
                </mc:Fallback>
              </mc:AlternateContent>
            </a:graphicData>
          </a:graphic>
        </p:graphicFrame>
        <p:graphicFrame>
          <p:nvGraphicFramePr>
            <p:cNvPr id="34" name="Objeto 33">
              <a:extLst>
                <a:ext uri="{FF2B5EF4-FFF2-40B4-BE49-F238E27FC236}">
                  <a16:creationId xmlns:a16="http://schemas.microsoft.com/office/drawing/2014/main" id="{F2EF755B-5BD5-44B4-9C50-568360719EF7}"/>
                </a:ext>
              </a:extLst>
            </p:cNvPr>
            <p:cNvGraphicFramePr>
              <a:graphicFrameLocks noChangeAspect="1"/>
            </p:cNvGraphicFramePr>
            <p:nvPr>
              <p:extLst>
                <p:ext uri="{D42A27DB-BD31-4B8C-83A1-F6EECF244321}">
                  <p14:modId xmlns:p14="http://schemas.microsoft.com/office/powerpoint/2010/main" val="3545249185"/>
                </p:ext>
              </p:extLst>
            </p:nvPr>
          </p:nvGraphicFramePr>
          <p:xfrm>
            <a:off x="616003" y="1425944"/>
            <a:ext cx="825500" cy="546100"/>
          </p:xfrm>
          <a:graphic>
            <a:graphicData uri="http://schemas.openxmlformats.org/presentationml/2006/ole">
              <mc:AlternateContent xmlns:mc="http://schemas.openxmlformats.org/markup-compatibility/2006">
                <mc:Choice xmlns:v="urn:schemas-microsoft-com:vml" Requires="v">
                  <p:oleObj name="Equation" r:id="rId17" imgW="825480" imgH="545760" progId="Equation.DSMT4">
                    <p:embed/>
                  </p:oleObj>
                </mc:Choice>
                <mc:Fallback>
                  <p:oleObj name="Equation" r:id="rId17" imgW="825480" imgH="545760" progId="Equation.DSMT4">
                    <p:embed/>
                    <p:pic>
                      <p:nvPicPr>
                        <p:cNvPr id="0" name=""/>
                        <p:cNvPicPr/>
                        <p:nvPr/>
                      </p:nvPicPr>
                      <p:blipFill>
                        <a:blip r:embed="rId18"/>
                        <a:stretch>
                          <a:fillRect/>
                        </a:stretch>
                      </p:blipFill>
                      <p:spPr>
                        <a:xfrm>
                          <a:off x="616003" y="1425944"/>
                          <a:ext cx="825500" cy="546100"/>
                        </a:xfrm>
                        <a:prstGeom prst="rect">
                          <a:avLst/>
                        </a:prstGeom>
                      </p:spPr>
                    </p:pic>
                  </p:oleObj>
                </mc:Fallback>
              </mc:AlternateContent>
            </a:graphicData>
          </a:graphic>
        </p:graphicFrame>
        <p:graphicFrame>
          <p:nvGraphicFramePr>
            <p:cNvPr id="35" name="Objeto 34">
              <a:extLst>
                <a:ext uri="{FF2B5EF4-FFF2-40B4-BE49-F238E27FC236}">
                  <a16:creationId xmlns:a16="http://schemas.microsoft.com/office/drawing/2014/main" id="{F526E600-6C3F-4648-B0D3-11E9FF785E3C}"/>
                </a:ext>
              </a:extLst>
            </p:cNvPr>
            <p:cNvGraphicFramePr>
              <a:graphicFrameLocks noChangeAspect="1"/>
            </p:cNvGraphicFramePr>
            <p:nvPr>
              <p:extLst>
                <p:ext uri="{D42A27DB-BD31-4B8C-83A1-F6EECF244321}">
                  <p14:modId xmlns:p14="http://schemas.microsoft.com/office/powerpoint/2010/main" val="3857104354"/>
                </p:ext>
              </p:extLst>
            </p:nvPr>
          </p:nvGraphicFramePr>
          <p:xfrm>
            <a:off x="1617528" y="1631454"/>
            <a:ext cx="147637" cy="134937"/>
          </p:xfrm>
          <a:graphic>
            <a:graphicData uri="http://schemas.openxmlformats.org/presentationml/2006/ole">
              <mc:AlternateContent xmlns:mc="http://schemas.openxmlformats.org/markup-compatibility/2006">
                <mc:Choice xmlns:v="urn:schemas-microsoft-com:vml" Requires="v">
                  <p:oleObj name="Equation" r:id="rId19" imgW="139680" imgH="126720" progId="Equation.DSMT4">
                    <p:embed/>
                  </p:oleObj>
                </mc:Choice>
                <mc:Fallback>
                  <p:oleObj name="Equation" r:id="rId19" imgW="139680" imgH="126720" progId="Equation.DSMT4">
                    <p:embed/>
                    <p:pic>
                      <p:nvPicPr>
                        <p:cNvPr id="9" name="Objeto 8">
                          <a:extLst>
                            <a:ext uri="{FF2B5EF4-FFF2-40B4-BE49-F238E27FC236}">
                              <a16:creationId xmlns:a16="http://schemas.microsoft.com/office/drawing/2014/main" id="{F42132FD-3DC9-4F39-BF38-8B8D28498043}"/>
                            </a:ext>
                          </a:extLst>
                        </p:cNvPr>
                        <p:cNvPicPr/>
                        <p:nvPr/>
                      </p:nvPicPr>
                      <p:blipFill>
                        <a:blip r:embed="rId20"/>
                        <a:stretch>
                          <a:fillRect/>
                        </a:stretch>
                      </p:blipFill>
                      <p:spPr>
                        <a:xfrm>
                          <a:off x="1617528" y="1631454"/>
                          <a:ext cx="147637" cy="134937"/>
                        </a:xfrm>
                        <a:prstGeom prst="rect">
                          <a:avLst/>
                        </a:prstGeom>
                      </p:spPr>
                    </p:pic>
                  </p:oleObj>
                </mc:Fallback>
              </mc:AlternateContent>
            </a:graphicData>
          </a:graphic>
        </p:graphicFrame>
      </p:grpSp>
      <p:sp>
        <p:nvSpPr>
          <p:cNvPr id="37" name="CuadroTexto 36">
            <a:extLst>
              <a:ext uri="{FF2B5EF4-FFF2-40B4-BE49-F238E27FC236}">
                <a16:creationId xmlns:a16="http://schemas.microsoft.com/office/drawing/2014/main" id="{CED2ACD4-2D73-4259-B9AE-AEDD67C3B6E4}"/>
              </a:ext>
            </a:extLst>
          </p:cNvPr>
          <p:cNvSpPr txBox="1"/>
          <p:nvPr/>
        </p:nvSpPr>
        <p:spPr>
          <a:xfrm>
            <a:off x="304799" y="1383119"/>
            <a:ext cx="2302233" cy="276999"/>
          </a:xfrm>
          <a:prstGeom prst="rect">
            <a:avLst/>
          </a:prstGeom>
          <a:noFill/>
        </p:spPr>
        <p:txBody>
          <a:bodyPr wrap="none" rtlCol="0">
            <a:spAutoFit/>
          </a:bodyPr>
          <a:lstStyle/>
          <a:p>
            <a:r>
              <a:rPr lang="es-ES" dirty="0">
                <a:solidFill>
                  <a:schemeClr val="accent1">
                    <a:lumMod val="25000"/>
                  </a:schemeClr>
                </a:solidFill>
              </a:rPr>
              <a:t>Considerando el ejemplo inicial</a:t>
            </a:r>
            <a:endParaRPr lang="es-ES" baseline="-25000" dirty="0">
              <a:solidFill>
                <a:schemeClr val="accent1">
                  <a:lumMod val="25000"/>
                </a:schemeClr>
              </a:solidFill>
            </a:endParaRPr>
          </a:p>
        </p:txBody>
      </p:sp>
      <p:graphicFrame>
        <p:nvGraphicFramePr>
          <p:cNvPr id="39" name="Objeto 38">
            <a:extLst>
              <a:ext uri="{FF2B5EF4-FFF2-40B4-BE49-F238E27FC236}">
                <a16:creationId xmlns:a16="http://schemas.microsoft.com/office/drawing/2014/main" id="{AF4B84FC-A01F-4238-AB8C-76349B029B86}"/>
              </a:ext>
            </a:extLst>
          </p:cNvPr>
          <p:cNvGraphicFramePr>
            <a:graphicFrameLocks noChangeAspect="1"/>
          </p:cNvGraphicFramePr>
          <p:nvPr>
            <p:extLst>
              <p:ext uri="{D42A27DB-BD31-4B8C-83A1-F6EECF244321}">
                <p14:modId xmlns:p14="http://schemas.microsoft.com/office/powerpoint/2010/main" val="1598780669"/>
              </p:ext>
            </p:extLst>
          </p:nvPr>
        </p:nvGraphicFramePr>
        <p:xfrm>
          <a:off x="5154465" y="1445418"/>
          <a:ext cx="219075" cy="152400"/>
        </p:xfrm>
        <a:graphic>
          <a:graphicData uri="http://schemas.openxmlformats.org/presentationml/2006/ole">
            <mc:AlternateContent xmlns:mc="http://schemas.openxmlformats.org/markup-compatibility/2006">
              <mc:Choice xmlns:v="urn:schemas-microsoft-com:vml" Requires="v">
                <p:oleObj name="Equation" r:id="rId21" imgW="219027" imgH="152468" progId="Equation.DSMT4">
                  <p:embed/>
                </p:oleObj>
              </mc:Choice>
              <mc:Fallback>
                <p:oleObj name="Equation" r:id="rId21" imgW="219027" imgH="152468" progId="Equation.DSMT4">
                  <p:embed/>
                  <p:pic>
                    <p:nvPicPr>
                      <p:cNvPr id="0" name=""/>
                      <p:cNvPicPr/>
                      <p:nvPr/>
                    </p:nvPicPr>
                    <p:blipFill>
                      <a:blip r:embed="rId22"/>
                      <a:stretch>
                        <a:fillRect/>
                      </a:stretch>
                    </p:blipFill>
                    <p:spPr>
                      <a:xfrm>
                        <a:off x="5154465" y="1445418"/>
                        <a:ext cx="219075" cy="152400"/>
                      </a:xfrm>
                      <a:prstGeom prst="rect">
                        <a:avLst/>
                      </a:prstGeom>
                    </p:spPr>
                  </p:pic>
                </p:oleObj>
              </mc:Fallback>
            </mc:AlternateContent>
          </a:graphicData>
        </a:graphic>
      </p:graphicFrame>
      <p:grpSp>
        <p:nvGrpSpPr>
          <p:cNvPr id="69" name="Grupo 68">
            <a:extLst>
              <a:ext uri="{FF2B5EF4-FFF2-40B4-BE49-F238E27FC236}">
                <a16:creationId xmlns:a16="http://schemas.microsoft.com/office/drawing/2014/main" id="{1D282C23-F05B-441E-AF34-7FF8DC8A2C23}"/>
              </a:ext>
            </a:extLst>
          </p:cNvPr>
          <p:cNvGrpSpPr/>
          <p:nvPr/>
        </p:nvGrpSpPr>
        <p:grpSpPr>
          <a:xfrm>
            <a:off x="304800" y="3258128"/>
            <a:ext cx="8527472" cy="1799353"/>
            <a:chOff x="304800" y="3346366"/>
            <a:chExt cx="8527472" cy="1799353"/>
          </a:xfrm>
        </p:grpSpPr>
        <p:sp>
          <p:nvSpPr>
            <p:cNvPr id="31" name="CuadroTexto 30">
              <a:extLst>
                <a:ext uri="{FF2B5EF4-FFF2-40B4-BE49-F238E27FC236}">
                  <a16:creationId xmlns:a16="http://schemas.microsoft.com/office/drawing/2014/main" id="{1792A6F3-2CE4-4771-A074-EF54DAA10159}"/>
                </a:ext>
              </a:extLst>
            </p:cNvPr>
            <p:cNvSpPr txBox="1"/>
            <p:nvPr/>
          </p:nvSpPr>
          <p:spPr>
            <a:xfrm>
              <a:off x="323271" y="3346366"/>
              <a:ext cx="1631280" cy="276999"/>
            </a:xfrm>
            <a:prstGeom prst="rect">
              <a:avLst/>
            </a:prstGeom>
            <a:noFill/>
          </p:spPr>
          <p:txBody>
            <a:bodyPr wrap="none" rtlCol="0">
              <a:spAutoFit/>
            </a:bodyPr>
            <a:lstStyle/>
            <a:p>
              <a:r>
                <a:rPr lang="es-ES" b="1" dirty="0"/>
                <a:t>b) Aceptación de H</a:t>
              </a:r>
              <a:r>
                <a:rPr lang="es-ES" b="1" baseline="-25000" dirty="0"/>
                <a:t>0</a:t>
              </a:r>
            </a:p>
          </p:txBody>
        </p:sp>
        <p:grpSp>
          <p:nvGrpSpPr>
            <p:cNvPr id="50" name="Grupo 49">
              <a:extLst>
                <a:ext uri="{FF2B5EF4-FFF2-40B4-BE49-F238E27FC236}">
                  <a16:creationId xmlns:a16="http://schemas.microsoft.com/office/drawing/2014/main" id="{12DDC659-B65D-4F64-8AE1-B506206C30B8}"/>
                </a:ext>
              </a:extLst>
            </p:cNvPr>
            <p:cNvGrpSpPr/>
            <p:nvPr/>
          </p:nvGrpSpPr>
          <p:grpSpPr>
            <a:xfrm>
              <a:off x="304800" y="3574966"/>
              <a:ext cx="7918452" cy="314325"/>
              <a:chOff x="346073" y="4480646"/>
              <a:chExt cx="7918452" cy="314325"/>
            </a:xfrm>
          </p:grpSpPr>
          <p:grpSp>
            <p:nvGrpSpPr>
              <p:cNvPr id="42" name="Grupo 41">
                <a:extLst>
                  <a:ext uri="{FF2B5EF4-FFF2-40B4-BE49-F238E27FC236}">
                    <a16:creationId xmlns:a16="http://schemas.microsoft.com/office/drawing/2014/main" id="{F6191887-283A-4E74-A91E-620B47477F9C}"/>
                  </a:ext>
                </a:extLst>
              </p:cNvPr>
              <p:cNvGrpSpPr/>
              <p:nvPr/>
            </p:nvGrpSpPr>
            <p:grpSpPr>
              <a:xfrm>
                <a:off x="346073" y="4495800"/>
                <a:ext cx="4987927" cy="276999"/>
                <a:chOff x="304798" y="4975334"/>
                <a:chExt cx="4987927" cy="276999"/>
              </a:xfrm>
            </p:grpSpPr>
            <p:sp>
              <p:nvSpPr>
                <p:cNvPr id="32" name="CuadroTexto 31">
                  <a:extLst>
                    <a:ext uri="{FF2B5EF4-FFF2-40B4-BE49-F238E27FC236}">
                      <a16:creationId xmlns:a16="http://schemas.microsoft.com/office/drawing/2014/main" id="{5CB2C2DE-C19C-477F-803F-257150B32AA5}"/>
                    </a:ext>
                  </a:extLst>
                </p:cNvPr>
                <p:cNvSpPr txBox="1"/>
                <p:nvPr/>
              </p:nvSpPr>
              <p:spPr>
                <a:xfrm>
                  <a:off x="304798" y="4975334"/>
                  <a:ext cx="4987927" cy="276999"/>
                </a:xfrm>
                <a:prstGeom prst="rect">
                  <a:avLst/>
                </a:prstGeom>
                <a:noFill/>
              </p:spPr>
              <p:txBody>
                <a:bodyPr wrap="square" rtlCol="0">
                  <a:spAutoFit/>
                </a:bodyPr>
                <a:lstStyle/>
                <a:p>
                  <a:pPr algn="just"/>
                  <a:r>
                    <a:rPr lang="es-ES" dirty="0"/>
                    <a:t>Ahora es pertinente indicar a qué se está llamando “cero”:</a:t>
                  </a:r>
                  <a:endParaRPr lang="es-ES" baseline="-25000" dirty="0"/>
                </a:p>
              </p:txBody>
            </p:sp>
            <p:graphicFrame>
              <p:nvGraphicFramePr>
                <p:cNvPr id="40" name="Objeto 39">
                  <a:extLst>
                    <a:ext uri="{FF2B5EF4-FFF2-40B4-BE49-F238E27FC236}">
                      <a16:creationId xmlns:a16="http://schemas.microsoft.com/office/drawing/2014/main" id="{8C3CF911-8D2C-4ED6-BA5F-1084E9464A35}"/>
                    </a:ext>
                  </a:extLst>
                </p:cNvPr>
                <p:cNvGraphicFramePr>
                  <a:graphicFrameLocks noChangeAspect="1"/>
                </p:cNvGraphicFramePr>
                <p:nvPr>
                  <p:extLst>
                    <p:ext uri="{D42A27DB-BD31-4B8C-83A1-F6EECF244321}">
                      <p14:modId xmlns:p14="http://schemas.microsoft.com/office/powerpoint/2010/main" val="2933092630"/>
                    </p:ext>
                  </p:extLst>
                </p:nvPr>
              </p:nvGraphicFramePr>
              <p:xfrm>
                <a:off x="4379623" y="4989807"/>
                <a:ext cx="736600" cy="241300"/>
              </p:xfrm>
              <a:graphic>
                <a:graphicData uri="http://schemas.openxmlformats.org/presentationml/2006/ole">
                  <mc:AlternateContent xmlns:mc="http://schemas.openxmlformats.org/markup-compatibility/2006">
                    <mc:Choice xmlns:v="urn:schemas-microsoft-com:vml" Requires="v">
                      <p:oleObj name="Equation" r:id="rId23" imgW="736560" imgH="241200" progId="Equation.DSMT4">
                        <p:embed/>
                      </p:oleObj>
                    </mc:Choice>
                    <mc:Fallback>
                      <p:oleObj name="Equation" r:id="rId23" imgW="736560" imgH="241200" progId="Equation.DSMT4">
                        <p:embed/>
                        <p:pic>
                          <p:nvPicPr>
                            <p:cNvPr id="0" name=""/>
                            <p:cNvPicPr/>
                            <p:nvPr/>
                          </p:nvPicPr>
                          <p:blipFill>
                            <a:blip r:embed="rId24"/>
                            <a:stretch>
                              <a:fillRect/>
                            </a:stretch>
                          </p:blipFill>
                          <p:spPr>
                            <a:xfrm>
                              <a:off x="4379623" y="4989807"/>
                              <a:ext cx="736600" cy="241300"/>
                            </a:xfrm>
                            <a:prstGeom prst="rect">
                              <a:avLst/>
                            </a:prstGeom>
                          </p:spPr>
                        </p:pic>
                      </p:oleObj>
                    </mc:Fallback>
                  </mc:AlternateContent>
                </a:graphicData>
              </a:graphic>
            </p:graphicFrame>
          </p:grpSp>
          <p:graphicFrame>
            <p:nvGraphicFramePr>
              <p:cNvPr id="44" name="Objeto 43">
                <a:extLst>
                  <a:ext uri="{FF2B5EF4-FFF2-40B4-BE49-F238E27FC236}">
                    <a16:creationId xmlns:a16="http://schemas.microsoft.com/office/drawing/2014/main" id="{F269D553-5B3C-4383-9F7B-6CFA2C97A4CE}"/>
                  </a:ext>
                </a:extLst>
              </p:cNvPr>
              <p:cNvGraphicFramePr>
                <a:graphicFrameLocks noChangeAspect="1"/>
              </p:cNvGraphicFramePr>
              <p:nvPr>
                <p:extLst>
                  <p:ext uri="{D42A27DB-BD31-4B8C-83A1-F6EECF244321}">
                    <p14:modId xmlns:p14="http://schemas.microsoft.com/office/powerpoint/2010/main" val="2516171671"/>
                  </p:ext>
                </p:extLst>
              </p:nvPr>
            </p:nvGraphicFramePr>
            <p:xfrm>
              <a:off x="5292725" y="4480646"/>
              <a:ext cx="2971800" cy="314325"/>
            </p:xfrm>
            <a:graphic>
              <a:graphicData uri="http://schemas.openxmlformats.org/presentationml/2006/ole">
                <mc:AlternateContent xmlns:mc="http://schemas.openxmlformats.org/markup-compatibility/2006">
                  <mc:Choice xmlns:v="urn:schemas-microsoft-com:vml" Requires="v">
                    <p:oleObj name="Equation" r:id="rId25" imgW="2971723" imgH="314427" progId="Equation.DSMT4">
                      <p:embed/>
                    </p:oleObj>
                  </mc:Choice>
                  <mc:Fallback>
                    <p:oleObj name="Equation" r:id="rId25" imgW="2971723" imgH="314427" progId="Equation.DSMT4">
                      <p:embed/>
                      <p:pic>
                        <p:nvPicPr>
                          <p:cNvPr id="0" name=""/>
                          <p:cNvPicPr/>
                          <p:nvPr/>
                        </p:nvPicPr>
                        <p:blipFill>
                          <a:blip r:embed="rId26"/>
                          <a:stretch>
                            <a:fillRect/>
                          </a:stretch>
                        </p:blipFill>
                        <p:spPr>
                          <a:xfrm>
                            <a:off x="5292725" y="4480646"/>
                            <a:ext cx="2971800" cy="314325"/>
                          </a:xfrm>
                          <a:prstGeom prst="rect">
                            <a:avLst/>
                          </a:prstGeom>
                        </p:spPr>
                      </p:pic>
                    </p:oleObj>
                  </mc:Fallback>
                </mc:AlternateContent>
              </a:graphicData>
            </a:graphic>
          </p:graphicFrame>
        </p:grpSp>
        <p:sp>
          <p:nvSpPr>
            <p:cNvPr id="46" name="CuadroTexto 45">
              <a:extLst>
                <a:ext uri="{FF2B5EF4-FFF2-40B4-BE49-F238E27FC236}">
                  <a16:creationId xmlns:a16="http://schemas.microsoft.com/office/drawing/2014/main" id="{67FF099A-1A9F-49CE-856D-8D37D8CE5DAB}"/>
                </a:ext>
              </a:extLst>
            </p:cNvPr>
            <p:cNvSpPr txBox="1"/>
            <p:nvPr/>
          </p:nvSpPr>
          <p:spPr>
            <a:xfrm>
              <a:off x="304800" y="3879766"/>
              <a:ext cx="7918667" cy="276999"/>
            </a:xfrm>
            <a:prstGeom prst="rect">
              <a:avLst/>
            </a:prstGeom>
            <a:noFill/>
          </p:spPr>
          <p:txBody>
            <a:bodyPr wrap="square" rtlCol="0">
              <a:spAutoFit/>
            </a:bodyPr>
            <a:lstStyle/>
            <a:p>
              <a:pPr algn="just"/>
              <a:r>
                <a:rPr lang="es-ES" dirty="0"/>
                <a:t>Este IC tendrá un límite negativo y otro positivo, y permite apreciar “a qué magnitud estamos llamando cero” </a:t>
              </a:r>
              <a:endParaRPr lang="es-ES" baseline="-25000" dirty="0"/>
            </a:p>
          </p:txBody>
        </p:sp>
        <p:sp>
          <p:nvSpPr>
            <p:cNvPr id="48" name="CuadroTexto 47">
              <a:extLst>
                <a:ext uri="{FF2B5EF4-FFF2-40B4-BE49-F238E27FC236}">
                  <a16:creationId xmlns:a16="http://schemas.microsoft.com/office/drawing/2014/main" id="{0D1ED357-2D72-49AF-9431-1C64BDC55DB1}"/>
                </a:ext>
              </a:extLst>
            </p:cNvPr>
            <p:cNvSpPr txBox="1"/>
            <p:nvPr/>
          </p:nvSpPr>
          <p:spPr>
            <a:xfrm>
              <a:off x="311725" y="4184566"/>
              <a:ext cx="8520547" cy="646331"/>
            </a:xfrm>
            <a:prstGeom prst="rect">
              <a:avLst/>
            </a:prstGeom>
            <a:noFill/>
          </p:spPr>
          <p:txBody>
            <a:bodyPr wrap="square" rtlCol="0">
              <a:spAutoFit/>
            </a:bodyPr>
            <a:lstStyle/>
            <a:p>
              <a:pPr algn="just"/>
              <a:r>
                <a:rPr lang="es-ES" dirty="0"/>
                <a:t>Por otra parte, si no se ha fijado la potencia de antemano y no se ha estimado el tamaño de muestra que permite obtenerla, el intervalo elaborado a un nivel de error 2</a:t>
              </a:r>
              <a:r>
                <a:rPr lang="es-ES" dirty="0">
                  <a:latin typeface="Symbol" panose="05050102010706020507" pitchFamily="18" charset="2"/>
                </a:rPr>
                <a:t>b</a:t>
              </a:r>
              <a:r>
                <a:rPr lang="es-ES" dirty="0">
                  <a:latin typeface="+mn-lt"/>
                  <a:cs typeface="Times New Roman" panose="02020603050405020304" pitchFamily="18" charset="0"/>
                </a:rPr>
                <a:t>, es decir, con una confianza del (1−</a:t>
              </a:r>
              <a:r>
                <a:rPr lang="es-ES" dirty="0"/>
                <a:t>2</a:t>
              </a:r>
              <a:r>
                <a:rPr lang="es-ES" dirty="0">
                  <a:latin typeface="Symbol" panose="05050102010706020507" pitchFamily="18" charset="2"/>
                </a:rPr>
                <a:t>b</a:t>
              </a:r>
              <a:r>
                <a:rPr lang="es-ES" dirty="0">
                  <a:latin typeface="+mn-lt"/>
                </a:rPr>
                <a:t>)% permite estudiar la fiabilidad de la decisión por H</a:t>
              </a:r>
              <a:r>
                <a:rPr lang="es-ES" baseline="-25000" dirty="0">
                  <a:latin typeface="+mn-lt"/>
                </a:rPr>
                <a:t>0 </a:t>
              </a:r>
              <a:r>
                <a:rPr lang="es-ES" dirty="0">
                  <a:latin typeface="+mn-lt"/>
                </a:rPr>
                <a:t>(es decir, si la potencia era suficiente o no). Este intervalo sería:</a:t>
              </a:r>
            </a:p>
          </p:txBody>
        </p:sp>
        <p:graphicFrame>
          <p:nvGraphicFramePr>
            <p:cNvPr id="49" name="Objeto 48">
              <a:extLst>
                <a:ext uri="{FF2B5EF4-FFF2-40B4-BE49-F238E27FC236}">
                  <a16:creationId xmlns:a16="http://schemas.microsoft.com/office/drawing/2014/main" id="{27A7D5E4-E472-4613-BF69-79F72E7CD0F1}"/>
                </a:ext>
              </a:extLst>
            </p:cNvPr>
            <p:cNvGraphicFramePr>
              <a:graphicFrameLocks noChangeAspect="1"/>
            </p:cNvGraphicFramePr>
            <p:nvPr>
              <p:extLst>
                <p:ext uri="{D42A27DB-BD31-4B8C-83A1-F6EECF244321}">
                  <p14:modId xmlns:p14="http://schemas.microsoft.com/office/powerpoint/2010/main" val="1706460006"/>
                </p:ext>
              </p:extLst>
            </p:nvPr>
          </p:nvGraphicFramePr>
          <p:xfrm>
            <a:off x="3142673" y="4840919"/>
            <a:ext cx="2692400" cy="304800"/>
          </p:xfrm>
          <a:graphic>
            <a:graphicData uri="http://schemas.openxmlformats.org/presentationml/2006/ole">
              <mc:AlternateContent xmlns:mc="http://schemas.openxmlformats.org/markup-compatibility/2006">
                <mc:Choice xmlns:v="urn:schemas-microsoft-com:vml" Requires="v">
                  <p:oleObj name="Equation" r:id="rId27" imgW="2692080" imgH="304560" progId="Equation.DSMT4">
                    <p:embed/>
                  </p:oleObj>
                </mc:Choice>
                <mc:Fallback>
                  <p:oleObj name="Equation" r:id="rId27" imgW="2692080" imgH="304560" progId="Equation.DSMT4">
                    <p:embed/>
                    <p:pic>
                      <p:nvPicPr>
                        <p:cNvPr id="44" name="Objeto 43">
                          <a:extLst>
                            <a:ext uri="{FF2B5EF4-FFF2-40B4-BE49-F238E27FC236}">
                              <a16:creationId xmlns:a16="http://schemas.microsoft.com/office/drawing/2014/main" id="{F269D553-5B3C-4383-9F7B-6CFA2C97A4CE}"/>
                            </a:ext>
                          </a:extLst>
                        </p:cNvPr>
                        <p:cNvPicPr/>
                        <p:nvPr/>
                      </p:nvPicPr>
                      <p:blipFill>
                        <a:blip r:embed="rId28"/>
                        <a:stretch>
                          <a:fillRect/>
                        </a:stretch>
                      </p:blipFill>
                      <p:spPr>
                        <a:xfrm>
                          <a:off x="3142673" y="4840919"/>
                          <a:ext cx="2692400" cy="304800"/>
                        </a:xfrm>
                        <a:prstGeom prst="rect">
                          <a:avLst/>
                        </a:prstGeom>
                      </p:spPr>
                    </p:pic>
                  </p:oleObj>
                </mc:Fallback>
              </mc:AlternateContent>
            </a:graphicData>
          </a:graphic>
        </p:graphicFrame>
      </p:grpSp>
      <p:sp>
        <p:nvSpPr>
          <p:cNvPr id="51" name="CuadroTexto 50">
            <a:extLst>
              <a:ext uri="{FF2B5EF4-FFF2-40B4-BE49-F238E27FC236}">
                <a16:creationId xmlns:a16="http://schemas.microsoft.com/office/drawing/2014/main" id="{DB9BB456-7FC8-4465-8CB1-5A0B6433351E}"/>
              </a:ext>
            </a:extLst>
          </p:cNvPr>
          <p:cNvSpPr txBox="1"/>
          <p:nvPr/>
        </p:nvSpPr>
        <p:spPr>
          <a:xfrm>
            <a:off x="387539" y="6228148"/>
            <a:ext cx="8318120" cy="461665"/>
          </a:xfrm>
          <a:prstGeom prst="rect">
            <a:avLst/>
          </a:prstGeom>
          <a:noFill/>
        </p:spPr>
        <p:txBody>
          <a:bodyPr wrap="square" rtlCol="0">
            <a:spAutoFit/>
          </a:bodyPr>
          <a:lstStyle/>
          <a:p>
            <a:pPr algn="just"/>
            <a:r>
              <a:rPr lang="es-ES" dirty="0">
                <a:solidFill>
                  <a:srgbClr val="360000"/>
                </a:solidFill>
              </a:rPr>
              <a:t>El uso de IC para matizar la conclusión de un test de hipótesis se verá con detalle en el capítulo dedicado a los</a:t>
            </a:r>
            <a:r>
              <a:rPr lang="es-ES" i="1" dirty="0">
                <a:solidFill>
                  <a:srgbClr val="360000"/>
                </a:solidFill>
              </a:rPr>
              <a:t> test con dos muestras </a:t>
            </a:r>
            <a:r>
              <a:rPr lang="es-ES" dirty="0">
                <a:solidFill>
                  <a:srgbClr val="360000"/>
                </a:solidFill>
              </a:rPr>
              <a:t>(estudios comparativos)</a:t>
            </a:r>
            <a:endParaRPr lang="es-ES" baseline="-25000" dirty="0">
              <a:solidFill>
                <a:srgbClr val="360000"/>
              </a:solidFill>
            </a:endParaRPr>
          </a:p>
        </p:txBody>
      </p:sp>
      <p:sp>
        <p:nvSpPr>
          <p:cNvPr id="52" name="AutoShape 86">
            <a:extLst>
              <a:ext uri="{FF2B5EF4-FFF2-40B4-BE49-F238E27FC236}">
                <a16:creationId xmlns:a16="http://schemas.microsoft.com/office/drawing/2014/main" id="{6F733054-D5BC-4300-B8E1-4D025B050C90}"/>
              </a:ext>
            </a:extLst>
          </p:cNvPr>
          <p:cNvSpPr>
            <a:spLocks noChangeArrowheads="1"/>
          </p:cNvSpPr>
          <p:nvPr/>
        </p:nvSpPr>
        <p:spPr bwMode="auto">
          <a:xfrm>
            <a:off x="228600" y="6170555"/>
            <a:ext cx="8520547" cy="565532"/>
          </a:xfrm>
          <a:prstGeom prst="roundRect">
            <a:avLst>
              <a:gd name="adj" fmla="val 8440"/>
            </a:avLst>
          </a:prstGeom>
          <a:noFill/>
          <a:ln w="9525">
            <a:solidFill>
              <a:srgbClr val="C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eaLnBrk="1" hangingPunct="1"/>
            <a:endParaRPr lang="es-ES" altLang="es-ES"/>
          </a:p>
        </p:txBody>
      </p:sp>
      <p:grpSp>
        <p:nvGrpSpPr>
          <p:cNvPr id="54" name="Group 21">
            <a:extLst>
              <a:ext uri="{FF2B5EF4-FFF2-40B4-BE49-F238E27FC236}">
                <a16:creationId xmlns:a16="http://schemas.microsoft.com/office/drawing/2014/main" id="{E89ACAD5-0ACC-41A9-B060-A93743871CE0}"/>
              </a:ext>
            </a:extLst>
          </p:cNvPr>
          <p:cNvGrpSpPr>
            <a:grpSpLocks/>
          </p:cNvGrpSpPr>
          <p:nvPr/>
        </p:nvGrpSpPr>
        <p:grpSpPr bwMode="auto">
          <a:xfrm>
            <a:off x="282574" y="5181600"/>
            <a:ext cx="8099426" cy="819152"/>
            <a:chOff x="136" y="3702"/>
            <a:chExt cx="5102" cy="516"/>
          </a:xfrm>
        </p:grpSpPr>
        <p:sp>
          <p:nvSpPr>
            <p:cNvPr id="55" name="Text Box 84">
              <a:extLst>
                <a:ext uri="{FF2B5EF4-FFF2-40B4-BE49-F238E27FC236}">
                  <a16:creationId xmlns:a16="http://schemas.microsoft.com/office/drawing/2014/main" id="{4ED007E9-755C-46F2-9357-AF653E683B89}"/>
                </a:ext>
              </a:extLst>
            </p:cNvPr>
            <p:cNvSpPr txBox="1">
              <a:spLocks noChangeArrowheads="1"/>
            </p:cNvSpPr>
            <p:nvPr/>
          </p:nvSpPr>
          <p:spPr bwMode="auto">
            <a:xfrm>
              <a:off x="136" y="3702"/>
              <a:ext cx="913" cy="1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 altLang="es-ES" sz="1200" b="1" dirty="0">
                  <a:solidFill>
                    <a:schemeClr val="accent1">
                      <a:lumMod val="25000"/>
                    </a:schemeClr>
                  </a:solidFill>
                </a:rPr>
                <a:t>En el ejemplo:</a:t>
              </a:r>
            </a:p>
          </p:txBody>
        </p:sp>
        <p:graphicFrame>
          <p:nvGraphicFramePr>
            <p:cNvPr id="56" name="Object 29">
              <a:extLst>
                <a:ext uri="{FF2B5EF4-FFF2-40B4-BE49-F238E27FC236}">
                  <a16:creationId xmlns:a16="http://schemas.microsoft.com/office/drawing/2014/main" id="{4B488474-538B-413E-96CC-CDACE79FEC87}"/>
                </a:ext>
              </a:extLst>
            </p:cNvPr>
            <p:cNvGraphicFramePr>
              <a:graphicFrameLocks noChangeAspect="1"/>
            </p:cNvGraphicFramePr>
            <p:nvPr>
              <p:extLst>
                <p:ext uri="{D42A27DB-BD31-4B8C-83A1-F6EECF244321}">
                  <p14:modId xmlns:p14="http://schemas.microsoft.com/office/powerpoint/2010/main" val="2968360735"/>
                </p:ext>
              </p:extLst>
            </p:nvPr>
          </p:nvGraphicFramePr>
          <p:xfrm>
            <a:off x="201" y="3948"/>
            <a:ext cx="1243" cy="151"/>
          </p:xfrm>
          <a:graphic>
            <a:graphicData uri="http://schemas.openxmlformats.org/presentationml/2006/ole">
              <mc:AlternateContent xmlns:mc="http://schemas.openxmlformats.org/markup-compatibility/2006">
                <mc:Choice xmlns:v="urn:schemas-microsoft-com:vml" Requires="v">
                  <p:oleObj name="Equation" r:id="rId29" imgW="1981080" imgH="241200" progId="Equation.DSMT4">
                    <p:embed/>
                  </p:oleObj>
                </mc:Choice>
                <mc:Fallback>
                  <p:oleObj name="Equation" r:id="rId29" imgW="1981080" imgH="241200" progId="Equation.DSMT4">
                    <p:embed/>
                    <p:pic>
                      <p:nvPicPr>
                        <p:cNvPr id="21518" name="Object 2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01" y="3948"/>
                          <a:ext cx="1243" cy="151"/>
                        </a:xfrm>
                        <a:prstGeom prst="rect">
                          <a:avLst/>
                        </a:prstGeom>
                        <a:noFill/>
                        <a:ln>
                          <a:noFill/>
                        </a:ln>
                      </p:spPr>
                    </p:pic>
                  </p:oleObj>
                </mc:Fallback>
              </mc:AlternateContent>
            </a:graphicData>
          </a:graphic>
        </p:graphicFrame>
        <p:grpSp>
          <p:nvGrpSpPr>
            <p:cNvPr id="57" name="Group 20">
              <a:extLst>
                <a:ext uri="{FF2B5EF4-FFF2-40B4-BE49-F238E27FC236}">
                  <a16:creationId xmlns:a16="http://schemas.microsoft.com/office/drawing/2014/main" id="{82B0019C-78FD-498D-8F6C-3D66850957EB}"/>
                </a:ext>
              </a:extLst>
            </p:cNvPr>
            <p:cNvGrpSpPr>
              <a:grpSpLocks/>
            </p:cNvGrpSpPr>
            <p:nvPr/>
          </p:nvGrpSpPr>
          <p:grpSpPr bwMode="auto">
            <a:xfrm>
              <a:off x="1504" y="3814"/>
              <a:ext cx="3734" cy="404"/>
              <a:chOff x="1504" y="3814"/>
              <a:chExt cx="3734" cy="404"/>
            </a:xfrm>
          </p:grpSpPr>
          <p:sp>
            <p:nvSpPr>
              <p:cNvPr id="58" name="Text Box 84">
                <a:extLst>
                  <a:ext uri="{FF2B5EF4-FFF2-40B4-BE49-F238E27FC236}">
                    <a16:creationId xmlns:a16="http://schemas.microsoft.com/office/drawing/2014/main" id="{93FF17FB-8DED-4218-9B27-02404AC410D0}"/>
                  </a:ext>
                </a:extLst>
              </p:cNvPr>
              <p:cNvSpPr txBox="1">
                <a:spLocks noChangeArrowheads="1"/>
              </p:cNvSpPr>
              <p:nvPr/>
            </p:nvSpPr>
            <p:spPr bwMode="auto">
              <a:xfrm>
                <a:off x="1529" y="3814"/>
                <a:ext cx="3709" cy="1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 altLang="es-ES" sz="1200" dirty="0"/>
                  <a:t>En </a:t>
                </a:r>
                <a:r>
                  <a:rPr lang="es-ES" altLang="es-ES" sz="1200" dirty="0">
                    <a:solidFill>
                      <a:srgbClr val="006666"/>
                    </a:solidFill>
                  </a:rPr>
                  <a:t>a)</a:t>
                </a:r>
                <a:r>
                  <a:rPr lang="es-ES" altLang="es-ES" sz="1200" dirty="0"/>
                  <a:t> </a:t>
                </a:r>
                <a:r>
                  <a:rPr lang="es-ES" altLang="es-ES" sz="1200" dirty="0">
                    <a:latin typeface="Symbol" pitchFamily="18" charset="2"/>
                  </a:rPr>
                  <a:t>m</a:t>
                </a:r>
                <a:r>
                  <a:rPr lang="es-ES" altLang="es-ES" sz="1200" baseline="-25000" dirty="0"/>
                  <a:t>0</a:t>
                </a:r>
                <a:r>
                  <a:rPr lang="es-ES" altLang="es-ES" sz="1200" dirty="0"/>
                  <a:t>=200, se aceptó H</a:t>
                </a:r>
                <a:r>
                  <a:rPr lang="es-ES" altLang="es-ES" sz="1200" baseline="-25000" dirty="0"/>
                  <a:t>0</a:t>
                </a:r>
                <a:r>
                  <a:rPr lang="es-ES" altLang="es-ES" sz="1200" dirty="0"/>
                  <a:t>. ¿Es tolerable asumir que es lo mismo 150 y 200?</a:t>
                </a:r>
              </a:p>
            </p:txBody>
          </p:sp>
          <p:sp>
            <p:nvSpPr>
              <p:cNvPr id="59" name="Text Box 84">
                <a:extLst>
                  <a:ext uri="{FF2B5EF4-FFF2-40B4-BE49-F238E27FC236}">
                    <a16:creationId xmlns:a16="http://schemas.microsoft.com/office/drawing/2014/main" id="{2038A398-F085-44CB-A127-D5F783835F33}"/>
                  </a:ext>
                </a:extLst>
              </p:cNvPr>
              <p:cNvSpPr txBox="1">
                <a:spLocks noChangeArrowheads="1"/>
              </p:cNvSpPr>
              <p:nvPr/>
            </p:nvSpPr>
            <p:spPr bwMode="auto">
              <a:xfrm>
                <a:off x="1529" y="4042"/>
                <a:ext cx="3709" cy="1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just" eaLnBrk="1" hangingPunct="1"/>
                <a:r>
                  <a:rPr lang="es-ES" altLang="es-ES" sz="1200" dirty="0"/>
                  <a:t>En </a:t>
                </a:r>
                <a:r>
                  <a:rPr lang="es-ES" altLang="es-ES" sz="1200" dirty="0">
                    <a:solidFill>
                      <a:srgbClr val="006666"/>
                    </a:solidFill>
                  </a:rPr>
                  <a:t>b)</a:t>
                </a:r>
                <a:r>
                  <a:rPr lang="es-ES" altLang="es-ES" sz="1200" dirty="0"/>
                  <a:t> </a:t>
                </a:r>
                <a:r>
                  <a:rPr lang="es-ES" altLang="es-ES" sz="1200" dirty="0">
                    <a:latin typeface="Symbol" pitchFamily="18" charset="2"/>
                  </a:rPr>
                  <a:t>m</a:t>
                </a:r>
                <a:r>
                  <a:rPr lang="es-ES" altLang="es-ES" sz="1200" baseline="-25000" dirty="0"/>
                  <a:t>0</a:t>
                </a:r>
                <a:r>
                  <a:rPr lang="es-ES" altLang="es-ES" sz="1200" dirty="0"/>
                  <a:t>=230, se rechazó H</a:t>
                </a:r>
                <a:r>
                  <a:rPr lang="es-ES" altLang="es-ES" sz="1200" baseline="-25000" dirty="0"/>
                  <a:t>0</a:t>
                </a:r>
                <a:r>
                  <a:rPr lang="es-ES" altLang="es-ES" sz="1200" dirty="0"/>
                  <a:t> Efectivamente no pertenece al IC (aunque por poco)</a:t>
                </a:r>
              </a:p>
            </p:txBody>
          </p:sp>
          <p:sp>
            <p:nvSpPr>
              <p:cNvPr id="60" name="AutoShape 19">
                <a:extLst>
                  <a:ext uri="{FF2B5EF4-FFF2-40B4-BE49-F238E27FC236}">
                    <a16:creationId xmlns:a16="http://schemas.microsoft.com/office/drawing/2014/main" id="{E1258BED-9C41-4ECF-AD1A-5F276EE1F548}"/>
                  </a:ext>
                </a:extLst>
              </p:cNvPr>
              <p:cNvSpPr>
                <a:spLocks/>
              </p:cNvSpPr>
              <p:nvPr/>
            </p:nvSpPr>
            <p:spPr bwMode="auto">
              <a:xfrm>
                <a:off x="1504" y="3840"/>
                <a:ext cx="56" cy="366"/>
              </a:xfrm>
              <a:prstGeom prst="leftBrace">
                <a:avLst>
                  <a:gd name="adj1" fmla="val 5446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grpSp>
        <p:nvGrpSpPr>
          <p:cNvPr id="45" name="Grupo 44">
            <a:extLst>
              <a:ext uri="{FF2B5EF4-FFF2-40B4-BE49-F238E27FC236}">
                <a16:creationId xmlns:a16="http://schemas.microsoft.com/office/drawing/2014/main" id="{D0011B63-A836-4F03-ACD8-BDFD20344D1B}"/>
              </a:ext>
            </a:extLst>
          </p:cNvPr>
          <p:cNvGrpSpPr/>
          <p:nvPr/>
        </p:nvGrpSpPr>
        <p:grpSpPr>
          <a:xfrm>
            <a:off x="90053" y="5953027"/>
            <a:ext cx="304800" cy="461665"/>
            <a:chOff x="6838951" y="741362"/>
            <a:chExt cx="304800" cy="461665"/>
          </a:xfrm>
        </p:grpSpPr>
        <p:sp>
          <p:nvSpPr>
            <p:cNvPr id="47" name="Elipse 46">
              <a:extLst>
                <a:ext uri="{FF2B5EF4-FFF2-40B4-BE49-F238E27FC236}">
                  <a16:creationId xmlns:a16="http://schemas.microsoft.com/office/drawing/2014/main" id="{41132E25-E80D-4F7D-83F2-FA96DCBDF640}"/>
                </a:ext>
              </a:extLst>
            </p:cNvPr>
            <p:cNvSpPr/>
            <p:nvPr/>
          </p:nvSpPr>
          <p:spPr>
            <a:xfrm>
              <a:off x="6838951" y="814885"/>
              <a:ext cx="304800" cy="309958"/>
            </a:xfrm>
            <a:prstGeom prst="ellipse">
              <a:avLst/>
            </a:prstGeom>
            <a:solidFill>
              <a:schemeClr val="bg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CuadroTexto 52">
              <a:extLst>
                <a:ext uri="{FF2B5EF4-FFF2-40B4-BE49-F238E27FC236}">
                  <a16:creationId xmlns:a16="http://schemas.microsoft.com/office/drawing/2014/main" id="{7B4FF43A-AB09-41D1-BC36-C6AA5ABFCE20}"/>
                </a:ext>
              </a:extLst>
            </p:cNvPr>
            <p:cNvSpPr txBox="1"/>
            <p:nvPr/>
          </p:nvSpPr>
          <p:spPr>
            <a:xfrm>
              <a:off x="6858000" y="741362"/>
              <a:ext cx="269626" cy="461665"/>
            </a:xfrm>
            <a:prstGeom prst="rect">
              <a:avLst/>
            </a:prstGeom>
            <a:noFill/>
          </p:spPr>
          <p:txBody>
            <a:bodyPr wrap="none" rtlCol="0">
              <a:spAutoFit/>
            </a:bodyPr>
            <a:lstStyle/>
            <a:p>
              <a:r>
                <a:rPr lang="es-ES" sz="2400" dirty="0">
                  <a:solidFill>
                    <a:srgbClr val="FF0000"/>
                  </a:solidFill>
                </a:rPr>
                <a:t>!</a:t>
              </a:r>
              <a:endParaRPr lang="es-ES" dirty="0">
                <a:solidFill>
                  <a:srgbClr val="FF0000"/>
                </a:solidFill>
              </a:endParaRPr>
            </a:p>
          </p:txBody>
        </p:sp>
      </p:grpSp>
    </p:spTree>
    <p:extLst>
      <p:ext uri="{BB962C8B-B14F-4D97-AF65-F5344CB8AC3E}">
        <p14:creationId xmlns:p14="http://schemas.microsoft.com/office/powerpoint/2010/main" val="4033764774"/>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rgbClr val="FF99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8168</TotalTime>
  <Words>6266</Words>
  <Application>Microsoft Macintosh PowerPoint</Application>
  <PresentationFormat>On-screen Show (4:3)</PresentationFormat>
  <Paragraphs>586</Paragraphs>
  <Slides>31</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1" baseType="lpstr">
      <vt:lpstr>Arial</vt:lpstr>
      <vt:lpstr>Arial Black</vt:lpstr>
      <vt:lpstr>Arial Narrow</vt:lpstr>
      <vt:lpstr>Calibri</vt:lpstr>
      <vt:lpstr>Cambria Math</vt:lpstr>
      <vt:lpstr>PalatinoLinotype</vt:lpstr>
      <vt:lpstr>Symbol</vt:lpstr>
      <vt:lpstr>Times New Roman</vt:lpstr>
      <vt:lpstr>Diseño predeterminado</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Región crítica de rechazo α</vt:lpstr>
      <vt:lpstr>Región de aceptación (1-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Porto Alegre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Pedro Femia</dc:creator>
  <cp:lastModifiedBy>MIGUEL ÁNGEL LUQUE FERNÁNDEZ</cp:lastModifiedBy>
  <cp:revision>417</cp:revision>
  <cp:lastPrinted>2019-10-20T11:47:43Z</cp:lastPrinted>
  <dcterms:created xsi:type="dcterms:W3CDTF">2012-06-20T17:39:24Z</dcterms:created>
  <dcterms:modified xsi:type="dcterms:W3CDTF">2023-10-18T10:48:02Z</dcterms:modified>
</cp:coreProperties>
</file>