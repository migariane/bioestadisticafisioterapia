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78" r:id="rId7"/>
    <p:sldId id="371" r:id="rId8"/>
    <p:sldId id="260" r:id="rId9"/>
    <p:sldId id="261" r:id="rId10"/>
    <p:sldId id="262" r:id="rId11"/>
    <p:sldId id="263" r:id="rId12"/>
  </p:sldIdLst>
  <p:sldSz cx="9144000" cy="6858000" type="screen4x3"/>
  <p:notesSz cx="7099300" cy="10234613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" userDrawn="1">
          <p15:clr>
            <a:srgbClr val="A4A3A4"/>
          </p15:clr>
        </p15:guide>
        <p15:guide id="2" pos="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9999"/>
    <a:srgbClr val="003399"/>
    <a:srgbClr val="006600"/>
    <a:srgbClr val="000066"/>
    <a:srgbClr val="0000CC"/>
    <a:srgbClr val="EAEAEA"/>
    <a:srgbClr val="EEB5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9" autoAdjust="0"/>
    <p:restoredTop sz="94000" autoAdjust="0"/>
  </p:normalViewPr>
  <p:slideViewPr>
    <p:cSldViewPr showGuides="1">
      <p:cViewPr varScale="1">
        <p:scale>
          <a:sx n="88" d="100"/>
          <a:sy n="88" d="100"/>
        </p:scale>
        <p:origin x="1472" y="176"/>
      </p:cViewPr>
      <p:guideLst>
        <p:guide orient="horz" pos="336"/>
        <p:guide pos="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394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549400" y="88106"/>
            <a:ext cx="307412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r>
              <a:rPr lang="es-ES_tradnl" altLang="es-ES" sz="1100" dirty="0"/>
              <a:t>Pedro Fe</a:t>
            </a:r>
            <a:r>
              <a:rPr lang="es-ES" altLang="es-ES" sz="1100" dirty="0" err="1"/>
              <a:t>mia</a:t>
            </a:r>
            <a:r>
              <a:rPr lang="es-ES" altLang="es-ES" sz="1100" dirty="0"/>
              <a:t> (</a:t>
            </a:r>
            <a:r>
              <a:rPr lang="es-ES" altLang="es-ES" sz="1100" i="1" dirty="0"/>
              <a:t>pfemia@ugr.es</a:t>
            </a:r>
            <a:r>
              <a:rPr lang="es-ES" altLang="es-ES" sz="1100" dirty="0"/>
              <a:t>)  </a:t>
            </a:r>
          </a:p>
          <a:p>
            <a:pPr>
              <a:defRPr/>
            </a:pPr>
            <a:r>
              <a:rPr lang="es-ES_tradnl" altLang="es-ES" sz="1100" dirty="0"/>
              <a:t>Bioestadística. Universidad de Granada</a:t>
            </a:r>
            <a:endParaRPr lang="es-ES" altLang="es-ES" sz="1100" dirty="0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0" y="9776391"/>
            <a:ext cx="7099300" cy="392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 algn="ctr">
              <a:defRPr/>
            </a:pPr>
            <a:fld id="{9C4F1793-6012-4E53-BF38-A80459238650}" type="slidenum">
              <a:rPr lang="es-ES" altLang="es-ES"/>
              <a:pPr algn="ctr">
                <a:defRPr/>
              </a:pPr>
              <a:t>‹#›</a:t>
            </a:fld>
            <a:endParaRPr lang="es-ES" altLang="es-ES"/>
          </a:p>
        </p:txBody>
      </p:sp>
      <p:pic>
        <p:nvPicPr>
          <p:cNvPr id="6" name="Picture 2" descr="http://es.creativecommons.org/blog/wp-content/uploads/2013/04/by-nc-nd.eu_peti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88106"/>
            <a:ext cx="1123950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854450" y="88106"/>
            <a:ext cx="307412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s-ES" altLang="es-ES" dirty="0"/>
              <a:t>Grado en Enfermería</a:t>
            </a:r>
          </a:p>
          <a:p>
            <a:pPr algn="r">
              <a:defRPr/>
            </a:pPr>
            <a:r>
              <a:rPr lang="es-ES" altLang="es-ES" dirty="0"/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41851753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noProof="0"/>
              <a:t>Haga clic para modificar el estilo de texto del patrón</a:t>
            </a:r>
          </a:p>
          <a:p>
            <a:pPr lvl="1"/>
            <a:r>
              <a:rPr lang="es-ES" altLang="es-ES" noProof="0"/>
              <a:t>Segundo nivel</a:t>
            </a:r>
          </a:p>
          <a:p>
            <a:pPr lvl="2"/>
            <a:r>
              <a:rPr lang="es-ES" altLang="es-ES" noProof="0"/>
              <a:t>Tercer nivel</a:t>
            </a:r>
          </a:p>
          <a:p>
            <a:pPr lvl="3"/>
            <a:r>
              <a:rPr lang="es-ES" altLang="es-ES" noProof="0"/>
              <a:t>Cuarto nivel</a:t>
            </a:r>
          </a:p>
          <a:p>
            <a:pPr lvl="4"/>
            <a:r>
              <a:rPr lang="es-ES" altLang="es-ES" noProof="0"/>
              <a:t>Quinto nivel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58445C5D-153B-4697-9968-7F13084BEFAB}" type="slidenum">
              <a:rPr lang="es-ES" altLang="es-ES"/>
              <a:pPr>
                <a:defRPr/>
              </a:pPr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88823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7E8A84-2775-47E2-B4D6-FFE3FF4AD72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4300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7151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45499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6838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83216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2105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6557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63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0448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0032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09933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25035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cambiar el estilo de título	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3DA31-75CE-4292-8809-FC8B9AD60F6B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964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5A527-9D85-4AAB-A0DF-0538D1E91B2D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9840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89E17-9CB1-4D6F-A39B-291C04E2394E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3394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1B253-6BEF-440D-8141-B8A369DDFB62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1157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06E04-ADA3-455B-9F36-EC44260EDE53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540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24728-F8BA-4773-90EB-EB09DE7B83B3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818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BCAAC-BC53-4652-850F-2FACB0C21063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225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AF939-C3B5-4763-9D02-940002EAD3BD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55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8ADFE-4717-4105-91DB-BBA6C1A8D4B5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1154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869D9-B2AD-481D-9227-80B7C9E6A6C0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9276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0E0F32-04F5-423B-8C88-02C917A19F62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850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ítulo, 1 obje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105400" y="19050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5105400" y="40386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EA268-C5B2-4757-9CE1-02B225540F06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4804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524000" y="19050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105400" y="19050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1524000" y="40386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05400" y="40386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852BF-4DF5-4337-8F4A-D421ADC11FA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4916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ítulo y 2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524000" y="19050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105400" y="1905000"/>
            <a:ext cx="34290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3"/>
          </p:nvPr>
        </p:nvSpPr>
        <p:spPr>
          <a:xfrm>
            <a:off x="1524000" y="4038600"/>
            <a:ext cx="7010400" cy="1981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F6B55-0D3D-4183-B5DA-F16D0F5C490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65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9"/>
          <p:cNvSpPr txBox="1">
            <a:spLocks noChangeArrowheads="1"/>
          </p:cNvSpPr>
          <p:nvPr userDrawn="1"/>
        </p:nvSpPr>
        <p:spPr bwMode="auto">
          <a:xfrm>
            <a:off x="8001000" y="90488"/>
            <a:ext cx="96678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fld id="{7FAF1F29-B240-471F-9E53-AB9CCE719600}" type="slidenum">
              <a:rPr lang="es-ES" altLang="es-ES" b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pPr algn="r" eaLnBrk="1" hangingPunct="1">
                <a:defRPr/>
              </a:pPr>
              <a:t>‹#›</a:t>
            </a:fld>
            <a:endParaRPr lang="es-ES" altLang="es-E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" name="Conector recto 4"/>
          <p:cNvCxnSpPr/>
          <p:nvPr userDrawn="1"/>
        </p:nvCxnSpPr>
        <p:spPr>
          <a:xfrm>
            <a:off x="0" y="762000"/>
            <a:ext cx="9144000" cy="0"/>
          </a:xfrm>
          <a:prstGeom prst="line">
            <a:avLst/>
          </a:prstGeom>
          <a:ln>
            <a:gradFill flip="none" rotWithShape="1">
              <a:gsLst>
                <a:gs pos="34000">
                  <a:schemeClr val="bg1"/>
                </a:gs>
                <a:gs pos="55000">
                  <a:schemeClr val="accent4">
                    <a:lumMod val="89000"/>
                  </a:schemeClr>
                </a:gs>
                <a:gs pos="81000">
                  <a:schemeClr val="accent4">
                    <a:lumMod val="75000"/>
                  </a:schemeClr>
                </a:gs>
                <a:gs pos="100000">
                  <a:schemeClr val="accent4">
                    <a:lumMod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EC90B28B-1EF6-4C00-A476-77A35188C919}" type="slidenum">
              <a:rPr lang="es-ES"/>
              <a:pPr>
                <a:defRPr/>
              </a:pPr>
              <a:t>‹#›</a:t>
            </a:fld>
            <a:endParaRPr lang="es-ES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s-ES_tradnl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4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l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1.bin"/><Relationship Id="rId26" Type="http://schemas.openxmlformats.org/officeDocument/2006/relationships/image" Target="../media/image23.png"/><Relationship Id="rId3" Type="http://schemas.openxmlformats.org/officeDocument/2006/relationships/image" Target="../media/image11.wmf"/><Relationship Id="rId21" Type="http://schemas.openxmlformats.org/officeDocument/2006/relationships/image" Target="../media/image2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8.wmf"/><Relationship Id="rId25" Type="http://schemas.openxmlformats.org/officeDocument/2006/relationships/image" Target="../media/image22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14.bin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24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.bin"/><Relationship Id="rId18" Type="http://schemas.openxmlformats.org/officeDocument/2006/relationships/image" Target="../media/image33.wmf"/><Relationship Id="rId26" Type="http://schemas.openxmlformats.org/officeDocument/2006/relationships/image" Target="../media/image37.wmf"/><Relationship Id="rId39" Type="http://schemas.openxmlformats.org/officeDocument/2006/relationships/image" Target="../media/image44.wmf"/><Relationship Id="rId21" Type="http://schemas.openxmlformats.org/officeDocument/2006/relationships/oleObject" Target="../embeddings/oleObject24.bin"/><Relationship Id="rId34" Type="http://schemas.openxmlformats.org/officeDocument/2006/relationships/oleObject" Target="../embeddings/oleObject30.bin"/><Relationship Id="rId7" Type="http://schemas.openxmlformats.org/officeDocument/2006/relationships/image" Target="../media/image27.wmf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33" Type="http://schemas.openxmlformats.org/officeDocument/2006/relationships/image" Target="../media/image41.wmf"/><Relationship Id="rId38" Type="http://schemas.openxmlformats.org/officeDocument/2006/relationships/oleObject" Target="../embeddings/oleObject32.bin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36.wmf"/><Relationship Id="rId32" Type="http://schemas.openxmlformats.org/officeDocument/2006/relationships/oleObject" Target="../embeddings/oleObject29.bin"/><Relationship Id="rId37" Type="http://schemas.openxmlformats.org/officeDocument/2006/relationships/image" Target="../media/image43.wmf"/><Relationship Id="rId5" Type="http://schemas.openxmlformats.org/officeDocument/2006/relationships/image" Target="../media/image26.wmf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38.wmf"/><Relationship Id="rId36" Type="http://schemas.openxmlformats.org/officeDocument/2006/relationships/oleObject" Target="../embeddings/oleObject31.bin"/><Relationship Id="rId10" Type="http://schemas.openxmlformats.org/officeDocument/2006/relationships/image" Target="../media/image29.png"/><Relationship Id="rId19" Type="http://schemas.openxmlformats.org/officeDocument/2006/relationships/oleObject" Target="../embeddings/oleObject23.bin"/><Relationship Id="rId31" Type="http://schemas.openxmlformats.org/officeDocument/2006/relationships/image" Target="../media/image40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8.wmf"/><Relationship Id="rId14" Type="http://schemas.openxmlformats.org/officeDocument/2006/relationships/image" Target="../media/image31.wmf"/><Relationship Id="rId22" Type="http://schemas.openxmlformats.org/officeDocument/2006/relationships/image" Target="../media/image35.wmf"/><Relationship Id="rId27" Type="http://schemas.openxmlformats.org/officeDocument/2006/relationships/oleObject" Target="../embeddings/oleObject27.bin"/><Relationship Id="rId30" Type="http://schemas.openxmlformats.org/officeDocument/2006/relationships/oleObject" Target="../embeddings/oleObject28.bin"/><Relationship Id="rId35" Type="http://schemas.openxmlformats.org/officeDocument/2006/relationships/image" Target="../media/image42.wmf"/><Relationship Id="rId8" Type="http://schemas.openxmlformats.org/officeDocument/2006/relationships/oleObject" Target="../embeddings/oleObject18.bin"/><Relationship Id="rId3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50.wmf"/><Relationship Id="rId3" Type="http://schemas.openxmlformats.org/officeDocument/2006/relationships/image" Target="../media/image45.jpeg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58.wmf"/><Relationship Id="rId7" Type="http://schemas.openxmlformats.org/officeDocument/2006/relationships/image" Target="../media/image59.wmf"/><Relationship Id="rId12" Type="http://schemas.openxmlformats.org/officeDocument/2006/relationships/image" Target="../media/image62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53.wmf"/><Relationship Id="rId10" Type="http://schemas.openxmlformats.org/officeDocument/2006/relationships/image" Target="../media/image61.png"/><Relationship Id="rId4" Type="http://schemas.openxmlformats.org/officeDocument/2006/relationships/oleObject" Target="../embeddings/oleObject45.bin"/><Relationship Id="rId9" Type="http://schemas.openxmlformats.org/officeDocument/2006/relationships/image" Target="../media/image6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6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00" cy="7085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AutoShape 120"/>
          <p:cNvSpPr>
            <a:spLocks noChangeArrowheads="1"/>
          </p:cNvSpPr>
          <p:nvPr/>
        </p:nvSpPr>
        <p:spPr bwMode="auto">
          <a:xfrm>
            <a:off x="1685925" y="2514600"/>
            <a:ext cx="5791200" cy="1676400"/>
          </a:xfrm>
          <a:prstGeom prst="roundRect">
            <a:avLst>
              <a:gd name="adj" fmla="val 16667"/>
            </a:avLst>
          </a:prstGeom>
          <a:solidFill>
            <a:srgbClr val="C0C0C0">
              <a:alpha val="14902"/>
            </a:srgbClr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s-ES" altLang="es-ES" sz="1200"/>
          </a:p>
        </p:txBody>
      </p:sp>
      <p:sp>
        <p:nvSpPr>
          <p:cNvPr id="2052" name="Text Box 115"/>
          <p:cNvSpPr txBox="1">
            <a:spLocks noChangeArrowheads="1"/>
          </p:cNvSpPr>
          <p:nvPr/>
        </p:nvSpPr>
        <p:spPr bwMode="auto">
          <a:xfrm>
            <a:off x="1900238" y="1720850"/>
            <a:ext cx="5362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s-ES_tradnl" altLang="es-ES" sz="1600" b="1" dirty="0"/>
              <a:t>Grado en Fisioterapia</a:t>
            </a:r>
            <a:endParaRPr lang="es-ES" altLang="es-ES" sz="1600" b="1" dirty="0"/>
          </a:p>
        </p:txBody>
      </p:sp>
      <p:sp>
        <p:nvSpPr>
          <p:cNvPr id="2053" name="Text Box 117"/>
          <p:cNvSpPr txBox="1">
            <a:spLocks noChangeArrowheads="1"/>
          </p:cNvSpPr>
          <p:nvPr/>
        </p:nvSpPr>
        <p:spPr bwMode="auto">
          <a:xfrm>
            <a:off x="4124325" y="2819400"/>
            <a:ext cx="906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s-ES_tradnl" altLang="es-ES" sz="1600" b="1"/>
              <a:t>Tema V</a:t>
            </a:r>
            <a:endParaRPr lang="es-ES" altLang="es-ES" sz="1600" b="1"/>
          </a:p>
        </p:txBody>
      </p:sp>
      <p:sp>
        <p:nvSpPr>
          <p:cNvPr id="2054" name="Rectangle 118"/>
          <p:cNvSpPr>
            <a:spLocks noChangeArrowheads="1"/>
          </p:cNvSpPr>
          <p:nvPr/>
        </p:nvSpPr>
        <p:spPr bwMode="auto">
          <a:xfrm>
            <a:off x="2866151" y="2742353"/>
            <a:ext cx="3478388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s-ES" altLang="es-ES" sz="1900" b="1" dirty="0"/>
          </a:p>
          <a:p>
            <a:pPr algn="ctr" eaLnBrk="1" hangingPunct="1"/>
            <a:r>
              <a:rPr lang="es-ES" altLang="es-ES" sz="1900" b="1" dirty="0" err="1"/>
              <a:t>Tests</a:t>
            </a:r>
            <a:r>
              <a:rPr lang="es-ES" altLang="es-ES" sz="1900" b="1" dirty="0"/>
              <a:t> con una muestra para </a:t>
            </a:r>
          </a:p>
          <a:p>
            <a:pPr algn="ctr" eaLnBrk="1" hangingPunct="1"/>
            <a:r>
              <a:rPr lang="es-ES" altLang="es-ES" sz="1900" b="1" dirty="0"/>
              <a:t>la media y la proporción </a:t>
            </a:r>
          </a:p>
          <a:p>
            <a:pPr algn="ctr" eaLnBrk="1" hangingPunct="1"/>
            <a:r>
              <a:rPr lang="es-ES" altLang="es-ES" sz="1900" b="1" dirty="0"/>
              <a:t>(complemento)</a:t>
            </a:r>
          </a:p>
          <a:p>
            <a:pPr algn="ctr" eaLnBrk="1" hangingPunct="1"/>
            <a:endParaRPr lang="es-ES" altLang="es-ES" sz="1900" b="1" dirty="0"/>
          </a:p>
        </p:txBody>
      </p:sp>
      <p:sp>
        <p:nvSpPr>
          <p:cNvPr id="2055" name="Text Box 119"/>
          <p:cNvSpPr txBox="1">
            <a:spLocks noChangeArrowheads="1"/>
          </p:cNvSpPr>
          <p:nvPr/>
        </p:nvSpPr>
        <p:spPr bwMode="auto">
          <a:xfrm>
            <a:off x="3727450" y="1339850"/>
            <a:ext cx="170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s-ES_tradnl" altLang="es-ES" b="1"/>
              <a:t>ESTADÍSTICA</a:t>
            </a:r>
            <a:endParaRPr lang="es-ES" altLang="es-ES" b="1"/>
          </a:p>
        </p:txBody>
      </p:sp>
      <p:sp>
        <p:nvSpPr>
          <p:cNvPr id="2056" name="Text Box 127"/>
          <p:cNvSpPr txBox="1">
            <a:spLocks noChangeArrowheads="1"/>
          </p:cNvSpPr>
          <p:nvPr/>
        </p:nvSpPr>
        <p:spPr bwMode="auto">
          <a:xfrm>
            <a:off x="3276600" y="6521450"/>
            <a:ext cx="2520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_tradnl" altLang="es-ES" sz="1600" b="1">
                <a:solidFill>
                  <a:schemeClr val="accent5">
                    <a:lumMod val="25000"/>
                  </a:schemeClr>
                </a:solidFill>
              </a:rPr>
              <a:t>Universidad de Granada</a:t>
            </a:r>
            <a:endParaRPr lang="es-ES" altLang="es-ES" sz="1600" b="1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2057" name="Text Box 129"/>
          <p:cNvSpPr txBox="1">
            <a:spLocks noChangeArrowheads="1"/>
          </p:cNvSpPr>
          <p:nvPr/>
        </p:nvSpPr>
        <p:spPr bwMode="auto">
          <a:xfrm>
            <a:off x="1050849" y="5972175"/>
            <a:ext cx="70423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s-ES_tradnl" altLang="es-ES" sz="1600" b="1" dirty="0">
                <a:solidFill>
                  <a:schemeClr val="accent5">
                    <a:lumMod val="25000"/>
                  </a:schemeClr>
                </a:solidFill>
              </a:rPr>
              <a:t>Pedro </a:t>
            </a:r>
            <a:r>
              <a:rPr lang="es-ES_tradnl" altLang="es-ES" sz="1600" b="1" dirty="0" err="1">
                <a:solidFill>
                  <a:schemeClr val="accent5">
                    <a:lumMod val="25000"/>
                  </a:schemeClr>
                </a:solidFill>
              </a:rPr>
              <a:t>Femia</a:t>
            </a:r>
            <a:r>
              <a:rPr lang="es-ES_tradnl" altLang="es-ES" sz="1600" b="1" dirty="0">
                <a:solidFill>
                  <a:schemeClr val="accent5">
                    <a:lumMod val="25000"/>
                  </a:schemeClr>
                </a:solidFill>
              </a:rPr>
              <a:t> Marzo (autor) &amp; Miguel Angel Luque Fernandez (</a:t>
            </a:r>
            <a:r>
              <a:rPr lang="es-ES_tradnl" altLang="es-ES" sz="1600" b="1" dirty="0" err="1">
                <a:solidFill>
                  <a:schemeClr val="accent5">
                    <a:lumMod val="25000"/>
                  </a:schemeClr>
                </a:solidFill>
              </a:rPr>
              <a:t>update</a:t>
            </a:r>
            <a:r>
              <a:rPr lang="es-ES_tradnl" altLang="es-ES" sz="1600" b="1" dirty="0">
                <a:solidFill>
                  <a:schemeClr val="accent5">
                    <a:lumMod val="25000"/>
                  </a:schemeClr>
                </a:solidFill>
              </a:rPr>
              <a:t>)</a:t>
            </a:r>
          </a:p>
          <a:p>
            <a:pPr algn="ctr" eaLnBrk="1" hangingPunct="1"/>
            <a:r>
              <a:rPr lang="es-ES_tradnl" altLang="es-ES" sz="1600" b="1" dirty="0">
                <a:solidFill>
                  <a:schemeClr val="accent5">
                    <a:lumMod val="25000"/>
                  </a:schemeClr>
                </a:solidFill>
              </a:rPr>
              <a:t>Unidad de Bioestadística – Facultad de Medicina</a:t>
            </a:r>
          </a:p>
        </p:txBody>
      </p:sp>
    </p:spTree>
    <p:extLst>
      <p:ext uri="{BB962C8B-B14F-4D97-AF65-F5344CB8AC3E}">
        <p14:creationId xmlns:p14="http://schemas.microsoft.com/office/powerpoint/2010/main" val="36138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2" name="Text Box 54"/>
          <p:cNvSpPr txBox="1">
            <a:spLocks noChangeArrowheads="1"/>
          </p:cNvSpPr>
          <p:nvPr/>
        </p:nvSpPr>
        <p:spPr bwMode="auto">
          <a:xfrm>
            <a:off x="279400" y="750887"/>
            <a:ext cx="8470900" cy="75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s-ES_tradnl" altLang="es-ES" sz="1300" dirty="0"/>
              <a:t>La distribución normal es un modelo de distribución de probabilidad para variables continuas</a:t>
            </a:r>
          </a:p>
          <a:p>
            <a:pPr eaLnBrk="1" hangingPunct="1">
              <a:buFontTx/>
              <a:buChar char="•"/>
            </a:pPr>
            <a:r>
              <a:rPr lang="es-ES_tradnl" altLang="es-ES" sz="1300" dirty="0"/>
              <a:t>Generalmente interesa más la </a:t>
            </a:r>
            <a:r>
              <a:rPr lang="es-ES_tradnl" altLang="es-ES" sz="1300" b="1" dirty="0">
                <a:solidFill>
                  <a:srgbClr val="993300"/>
                </a:solidFill>
              </a:rPr>
              <a:t>normalidad de la distribución de la media</a:t>
            </a:r>
            <a:r>
              <a:rPr lang="es-ES_tradnl" altLang="es-ES" sz="1300" b="1" dirty="0"/>
              <a:t> </a:t>
            </a:r>
            <a:r>
              <a:rPr lang="es-ES_tradnl" altLang="es-ES" sz="1300" dirty="0"/>
              <a:t>de la variable que de la variable en si. </a:t>
            </a:r>
            <a:endParaRPr lang="es-ES" altLang="es-ES" sz="1300" dirty="0"/>
          </a:p>
        </p:txBody>
      </p:sp>
      <p:sp>
        <p:nvSpPr>
          <p:cNvPr id="32829" name="Text Box 61"/>
          <p:cNvSpPr txBox="1">
            <a:spLocks noChangeArrowheads="1"/>
          </p:cNvSpPr>
          <p:nvPr/>
        </p:nvSpPr>
        <p:spPr bwMode="auto">
          <a:xfrm>
            <a:off x="269875" y="4022725"/>
            <a:ext cx="84709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s-ES_tradnl" altLang="es-ES" sz="1300"/>
              <a:t>En la práctica:</a:t>
            </a:r>
            <a:endParaRPr lang="es-ES" altLang="es-ES" sz="1300"/>
          </a:p>
        </p:txBody>
      </p:sp>
      <p:sp>
        <p:nvSpPr>
          <p:cNvPr id="32831" name="Text Box 825"/>
          <p:cNvSpPr txBox="1">
            <a:spLocks noChangeArrowheads="1"/>
          </p:cNvSpPr>
          <p:nvPr/>
        </p:nvSpPr>
        <p:spPr bwMode="auto">
          <a:xfrm>
            <a:off x="619125" y="4440237"/>
            <a:ext cx="29146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" altLang="es-ES" sz="1300"/>
              <a:t>Si el tamaño de muestra es </a:t>
            </a:r>
            <a:r>
              <a:rPr lang="es-ES" altLang="es-ES" sz="1500" i="1">
                <a:latin typeface="Times New Roman" pitchFamily="18" charset="0"/>
              </a:rPr>
              <a:t>n</a:t>
            </a:r>
            <a:r>
              <a:rPr lang="es-ES" altLang="es-ES" sz="1300" i="1"/>
              <a:t> </a:t>
            </a:r>
            <a:r>
              <a:rPr lang="es-ES" altLang="es-ES" sz="1300"/>
              <a:t>≥60 </a:t>
            </a:r>
          </a:p>
        </p:txBody>
      </p:sp>
      <p:sp>
        <p:nvSpPr>
          <p:cNvPr id="32832" name="Text Box 825"/>
          <p:cNvSpPr txBox="1">
            <a:spLocks noChangeArrowheads="1"/>
          </p:cNvSpPr>
          <p:nvPr/>
        </p:nvSpPr>
        <p:spPr bwMode="auto">
          <a:xfrm>
            <a:off x="619125" y="5324475"/>
            <a:ext cx="30384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" altLang="es-ES" sz="1300"/>
              <a:t>Si el tamaño de muestra es </a:t>
            </a:r>
            <a:r>
              <a:rPr lang="es-ES" altLang="es-ES" sz="1500" i="1">
                <a:latin typeface="Times New Roman" pitchFamily="18" charset="0"/>
              </a:rPr>
              <a:t>n</a:t>
            </a:r>
            <a:r>
              <a:rPr lang="es-ES" altLang="es-ES" sz="1300" i="1"/>
              <a:t> &lt; </a:t>
            </a:r>
            <a:r>
              <a:rPr lang="es-ES" altLang="es-ES" sz="1300"/>
              <a:t>60: </a:t>
            </a:r>
          </a:p>
        </p:txBody>
      </p:sp>
      <p:sp>
        <p:nvSpPr>
          <p:cNvPr id="32833" name="Text Box 825"/>
          <p:cNvSpPr txBox="1">
            <a:spLocks noChangeArrowheads="1"/>
          </p:cNvSpPr>
          <p:nvPr/>
        </p:nvSpPr>
        <p:spPr bwMode="auto">
          <a:xfrm>
            <a:off x="3559175" y="4446587"/>
            <a:ext cx="5313363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/>
            <a:r>
              <a:rPr lang="es-ES" altLang="es-ES" sz="1300" dirty="0"/>
              <a:t>← 	La normalidad de la distribución de la media muestral viene avalada por el </a:t>
            </a:r>
            <a:r>
              <a:rPr lang="es-ES" altLang="es-ES" sz="1300" b="1" dirty="0"/>
              <a:t>teorema del límite central</a:t>
            </a:r>
            <a:r>
              <a:rPr lang="es-ES" altLang="es-ES" sz="1300" dirty="0"/>
              <a:t>, incluso si la variable es discreta (en tal caso se debe incluir una corrección por continuidad (</a:t>
            </a:r>
            <a:r>
              <a:rPr lang="es-ES" altLang="es-ES" sz="1300" dirty="0" err="1"/>
              <a:t>cpc</a:t>
            </a:r>
            <a:r>
              <a:rPr lang="es-ES" altLang="es-ES" sz="1300" dirty="0"/>
              <a:t>)) por lo tanto usamos </a:t>
            </a:r>
            <a:r>
              <a:rPr lang="es-ES" altLang="es-ES" sz="1300" b="1" dirty="0"/>
              <a:t>T-</a:t>
            </a:r>
            <a:r>
              <a:rPr lang="es-ES" altLang="es-ES" sz="1300" b="1" dirty="0" err="1"/>
              <a:t>Student</a:t>
            </a:r>
            <a:endParaRPr lang="es-ES" altLang="es-ES" sz="1300" b="1" dirty="0"/>
          </a:p>
        </p:txBody>
      </p:sp>
      <p:sp>
        <p:nvSpPr>
          <p:cNvPr id="32835" name="Text Box 825"/>
          <p:cNvSpPr txBox="1">
            <a:spLocks noChangeArrowheads="1"/>
          </p:cNvSpPr>
          <p:nvPr/>
        </p:nvSpPr>
        <p:spPr bwMode="auto">
          <a:xfrm>
            <a:off x="1198563" y="6265862"/>
            <a:ext cx="767397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_tradnl" altLang="es-ES" sz="1300" dirty="0"/>
              <a:t>si la variable es discreta: no deben utilizarse a priori métodos basados en la </a:t>
            </a:r>
            <a:r>
              <a:rPr lang="es-ES_tradnl" altLang="es-ES" sz="1300" dirty="0" err="1"/>
              <a:t>distr</a:t>
            </a:r>
            <a:r>
              <a:rPr lang="es-ES" altLang="es-ES" sz="1300" dirty="0" err="1"/>
              <a:t>ibución</a:t>
            </a:r>
            <a:r>
              <a:rPr lang="es-ES" altLang="es-ES" sz="1300" dirty="0"/>
              <a:t> normal usaríamos </a:t>
            </a:r>
            <a:r>
              <a:rPr lang="es-ES" altLang="es-ES" sz="1300" b="1" dirty="0">
                <a:solidFill>
                  <a:srgbClr val="FF0000"/>
                </a:solidFill>
              </a:rPr>
              <a:t>Chi cuadrado Test o Test Exacto de Fisher </a:t>
            </a:r>
          </a:p>
        </p:txBody>
      </p:sp>
      <p:sp>
        <p:nvSpPr>
          <p:cNvPr id="32834" name="Text Box 825"/>
          <p:cNvSpPr txBox="1">
            <a:spLocks noChangeArrowheads="1"/>
          </p:cNvSpPr>
          <p:nvPr/>
        </p:nvSpPr>
        <p:spPr bwMode="auto">
          <a:xfrm>
            <a:off x="1198563" y="5726112"/>
            <a:ext cx="48577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_tradnl" altLang="es-ES" sz="1300"/>
              <a:t>si la variable es continua: estu</a:t>
            </a:r>
            <a:r>
              <a:rPr lang="es-ES" altLang="es-ES" sz="1300"/>
              <a:t>diar su normalidad estadística</a:t>
            </a:r>
          </a:p>
        </p:txBody>
      </p:sp>
      <p:sp>
        <p:nvSpPr>
          <p:cNvPr id="32836" name="Text Box 825"/>
          <p:cNvSpPr txBox="1">
            <a:spLocks noChangeArrowheads="1"/>
          </p:cNvSpPr>
          <p:nvPr/>
        </p:nvSpPr>
        <p:spPr bwMode="auto">
          <a:xfrm>
            <a:off x="5911850" y="5726112"/>
            <a:ext cx="29146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/>
            <a:r>
              <a:rPr lang="es-ES_tradnl" altLang="es-ES" sz="1300"/>
              <a:t>← 	Análisis gráfico + Test de normalidad</a:t>
            </a:r>
            <a:endParaRPr lang="es-ES" altLang="es-ES" sz="1300"/>
          </a:p>
        </p:txBody>
      </p:sp>
      <p:sp>
        <p:nvSpPr>
          <p:cNvPr id="32837" name="AutoShape 69"/>
          <p:cNvSpPr>
            <a:spLocks/>
          </p:cNvSpPr>
          <p:nvPr/>
        </p:nvSpPr>
        <p:spPr bwMode="auto">
          <a:xfrm>
            <a:off x="403225" y="4413250"/>
            <a:ext cx="185738" cy="2292350"/>
          </a:xfrm>
          <a:prstGeom prst="leftBrace">
            <a:avLst>
              <a:gd name="adj1" fmla="val 10284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sp>
        <p:nvSpPr>
          <p:cNvPr id="32838" name="AutoShape 70"/>
          <p:cNvSpPr>
            <a:spLocks/>
          </p:cNvSpPr>
          <p:nvPr/>
        </p:nvSpPr>
        <p:spPr bwMode="auto">
          <a:xfrm>
            <a:off x="1138238" y="5791200"/>
            <a:ext cx="88900" cy="782637"/>
          </a:xfrm>
          <a:prstGeom prst="leftBrace">
            <a:avLst>
              <a:gd name="adj1" fmla="val 7336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grpSp>
        <p:nvGrpSpPr>
          <p:cNvPr id="32844" name="Group 76"/>
          <p:cNvGrpSpPr>
            <a:grpSpLocks/>
          </p:cNvGrpSpPr>
          <p:nvPr/>
        </p:nvGrpSpPr>
        <p:grpSpPr bwMode="auto">
          <a:xfrm>
            <a:off x="461963" y="1444625"/>
            <a:ext cx="8391525" cy="2517775"/>
            <a:chOff x="303" y="754"/>
            <a:chExt cx="5286" cy="1586"/>
          </a:xfrm>
        </p:grpSpPr>
        <p:sp>
          <p:nvSpPr>
            <p:cNvPr id="32823" name="Text Box 824"/>
            <p:cNvSpPr txBox="1">
              <a:spLocks noChangeArrowheads="1"/>
            </p:cNvSpPr>
            <p:nvPr/>
          </p:nvSpPr>
          <p:spPr bwMode="auto">
            <a:xfrm>
              <a:off x="417" y="914"/>
              <a:ext cx="50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just" eaLnBrk="1" hangingPunct="1"/>
              <a:r>
                <a:rPr lang="es-ES" altLang="es-ES" sz="1300"/>
                <a:t>La media de una VA con distribución normal también tiene distribución normal (con dispersión menor cuanto mayor es el tamaño de la muestra </a:t>
              </a:r>
              <a:r>
                <a:rPr lang="es-ES" altLang="es-ES" sz="1500" i="1">
                  <a:latin typeface="Times New Roman" pitchFamily="18" charset="0"/>
                </a:rPr>
                <a:t>n</a:t>
              </a:r>
              <a:r>
                <a:rPr lang="es-ES" altLang="es-ES" sz="1300"/>
                <a:t>)</a:t>
              </a:r>
            </a:p>
          </p:txBody>
        </p:sp>
        <p:graphicFrame>
          <p:nvGraphicFramePr>
            <p:cNvPr id="32824" name="Object 2"/>
            <p:cNvGraphicFramePr>
              <a:graphicFrameLocks noChangeAspect="1"/>
            </p:cNvGraphicFramePr>
            <p:nvPr/>
          </p:nvGraphicFramePr>
          <p:xfrm>
            <a:off x="1994" y="1225"/>
            <a:ext cx="190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736880" imgH="520560" progId="Equation.DSMT4">
                    <p:embed/>
                  </p:oleObj>
                </mc:Choice>
                <mc:Fallback>
                  <p:oleObj name="Equation" r:id="rId2" imgW="4736880" imgH="520560" progId="Equation.DSMT4">
                    <p:embed/>
                    <p:pic>
                      <p:nvPicPr>
                        <p:cNvPr id="3282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1225"/>
                          <a:ext cx="190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25" name="1 Objeto"/>
            <p:cNvGraphicFramePr>
              <a:graphicFrameLocks noChangeAspect="1"/>
            </p:cNvGraphicFramePr>
            <p:nvPr/>
          </p:nvGraphicFramePr>
          <p:xfrm>
            <a:off x="1992" y="1989"/>
            <a:ext cx="174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65560" imgH="622080" progId="Equation.DSMT4">
                    <p:embed/>
                  </p:oleObj>
                </mc:Choice>
                <mc:Fallback>
                  <p:oleObj name="Equation" r:id="rId4" imgW="4165560" imgH="622080" progId="Equation.DSMT4">
                    <p:embed/>
                    <p:pic>
                      <p:nvPicPr>
                        <p:cNvPr id="32825" name="1 Objeto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1989"/>
                          <a:ext cx="1747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7" name="Text Box 825"/>
            <p:cNvSpPr txBox="1">
              <a:spLocks noChangeArrowheads="1"/>
            </p:cNvSpPr>
            <p:nvPr/>
          </p:nvSpPr>
          <p:spPr bwMode="auto">
            <a:xfrm>
              <a:off x="417" y="1467"/>
              <a:ext cx="5070" cy="4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just" eaLnBrk="1" hangingPunct="1"/>
              <a:r>
                <a:rPr lang="es-ES" altLang="es-ES" sz="1300"/>
                <a:t>La media de una VA con distribución desconocida, tiene  una distribución aproximadamente normal si el tamaño de muestra es </a:t>
              </a:r>
              <a:r>
                <a:rPr lang="es-ES" altLang="es-ES" sz="1500" i="1">
                  <a:latin typeface="Times New Roman" pitchFamily="18" charset="0"/>
                </a:rPr>
                <a:t>n</a:t>
              </a:r>
              <a:r>
                <a:rPr lang="es-ES" altLang="es-ES" sz="1300" i="1"/>
                <a:t> </a:t>
              </a:r>
              <a:r>
                <a:rPr lang="es-ES" altLang="es-ES" sz="1300"/>
                <a:t>≥60. La dispersión disminuye y la calidad de la aproximación aumenta cuanto mayor sea el tamaño de la muestra </a:t>
              </a:r>
              <a:r>
                <a:rPr lang="es-ES" altLang="es-ES" sz="1500" i="1">
                  <a:latin typeface="Times New Roman" pitchFamily="18" charset="0"/>
                </a:rPr>
                <a:t>n </a:t>
              </a:r>
              <a:r>
                <a:rPr lang="es-ES" altLang="es-ES" sz="1300"/>
                <a:t>(Teorema del Límite Central)</a:t>
              </a:r>
            </a:p>
          </p:txBody>
        </p:sp>
        <p:sp>
          <p:nvSpPr>
            <p:cNvPr id="32842" name="AutoShape 67"/>
            <p:cNvSpPr>
              <a:spLocks noChangeArrowheads="1"/>
            </p:cNvSpPr>
            <p:nvPr/>
          </p:nvSpPr>
          <p:spPr bwMode="auto">
            <a:xfrm>
              <a:off x="303" y="853"/>
              <a:ext cx="5286" cy="1487"/>
            </a:xfrm>
            <a:prstGeom prst="roundRect">
              <a:avLst>
                <a:gd name="adj" fmla="val 5708"/>
              </a:avLst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32843" name="Text Box 75"/>
            <p:cNvSpPr txBox="1">
              <a:spLocks noChangeArrowheads="1"/>
            </p:cNvSpPr>
            <p:nvPr/>
          </p:nvSpPr>
          <p:spPr bwMode="auto">
            <a:xfrm>
              <a:off x="416" y="754"/>
              <a:ext cx="1008" cy="1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15888" indent="-115888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s-ES_tradnl" altLang="es-ES" sz="1300"/>
                <a:t>Recordemos que:</a:t>
              </a:r>
              <a:endParaRPr lang="es-ES" altLang="es-ES" sz="1300"/>
            </a:p>
          </p:txBody>
        </p:sp>
      </p:grp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84138" y="263722"/>
            <a:ext cx="23118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400" b="1" dirty="0"/>
              <a:t>Estudio de la normalidad</a:t>
            </a:r>
            <a:endParaRPr lang="es-ES" alt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31256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20688" y="858837"/>
            <a:ext cx="83566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s-ES_tradnl" altLang="es-ES" sz="1300"/>
              <a:t> Se trata de un problema que puede ser difícil de resolver. Especialmente si el tamaño de muestra es pequeño</a:t>
            </a:r>
            <a:endParaRPr lang="es-ES" altLang="es-ES" sz="130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20688" y="1309687"/>
            <a:ext cx="49053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s-ES_tradnl" altLang="es-ES" sz="1300"/>
              <a:t> Se deben combinar los test de hipótesis con métodos gráficos</a:t>
            </a:r>
            <a:endParaRPr lang="es-ES" altLang="es-ES" sz="1300"/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685800" y="1781175"/>
            <a:ext cx="6661150" cy="712788"/>
            <a:chOff x="336" y="1260"/>
            <a:chExt cx="4196" cy="449"/>
          </a:xfrm>
        </p:grpSpPr>
        <p:sp>
          <p:nvSpPr>
            <p:cNvPr id="34821" name="Text Box 5"/>
            <p:cNvSpPr txBox="1">
              <a:spLocks noChangeArrowheads="1"/>
            </p:cNvSpPr>
            <p:nvPr/>
          </p:nvSpPr>
          <p:spPr bwMode="auto">
            <a:xfrm>
              <a:off x="336" y="1392"/>
              <a:ext cx="75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_tradnl" altLang="es-ES" sz="1200"/>
                <a:t>Análisis gráfico</a:t>
              </a:r>
              <a:endParaRPr lang="es-ES" altLang="es-ES" sz="1200"/>
            </a:p>
          </p:txBody>
        </p:sp>
        <p:grpSp>
          <p:nvGrpSpPr>
            <p:cNvPr id="34822" name="Group 6"/>
            <p:cNvGrpSpPr>
              <a:grpSpLocks/>
            </p:cNvGrpSpPr>
            <p:nvPr/>
          </p:nvGrpSpPr>
          <p:grpSpPr bwMode="auto">
            <a:xfrm>
              <a:off x="1152" y="1260"/>
              <a:ext cx="3380" cy="449"/>
              <a:chOff x="1152" y="1260"/>
              <a:chExt cx="3380" cy="449"/>
            </a:xfrm>
          </p:grpSpPr>
          <p:sp>
            <p:nvSpPr>
              <p:cNvPr id="34823" name="Line 7"/>
              <p:cNvSpPr>
                <a:spLocks noChangeShapeType="1"/>
              </p:cNvSpPr>
              <p:nvPr/>
            </p:nvSpPr>
            <p:spPr bwMode="auto">
              <a:xfrm>
                <a:off x="1152" y="148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824" name="Text Box 8"/>
              <p:cNvSpPr txBox="1">
                <a:spLocks noChangeArrowheads="1"/>
              </p:cNvSpPr>
              <p:nvPr/>
            </p:nvSpPr>
            <p:spPr bwMode="auto">
              <a:xfrm>
                <a:off x="1452" y="1260"/>
                <a:ext cx="3080" cy="4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marL="171450" indent="-171450"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buFontTx/>
                  <a:buChar char="•"/>
                </a:pPr>
                <a:r>
                  <a:rPr lang="es-ES_tradnl" altLang="es-ES" sz="1200"/>
                  <a:t>Histograma de la variable con curva de referencia</a:t>
                </a:r>
              </a:p>
              <a:p>
                <a:pPr eaLnBrk="1" hangingPunct="1">
                  <a:lnSpc>
                    <a:spcPct val="120000"/>
                  </a:lnSpc>
                  <a:buFontTx/>
                  <a:buChar char="•"/>
                </a:pPr>
                <a:r>
                  <a:rPr lang="es-ES_tradnl" altLang="es-ES" sz="1200"/>
                  <a:t>Diagramas de caja</a:t>
                </a:r>
              </a:p>
              <a:p>
                <a:pPr eaLnBrk="1" hangingPunct="1">
                  <a:lnSpc>
                    <a:spcPct val="120000"/>
                  </a:lnSpc>
                  <a:buFontTx/>
                  <a:buChar char="•"/>
                </a:pPr>
                <a:r>
                  <a:rPr lang="es-ES_tradnl" altLang="es-ES" sz="1200"/>
                  <a:t>Otros métodos específicos (</a:t>
                </a:r>
                <a:r>
                  <a:rPr lang="es-ES_tradnl" altLang="es-ES" sz="1200" i="1"/>
                  <a:t>diagramas probabilísticos P-P, Q-Q,…</a:t>
                </a:r>
                <a:r>
                  <a:rPr lang="es-ES_tradnl" altLang="es-ES" sz="1200"/>
                  <a:t>)</a:t>
                </a:r>
                <a:endParaRPr lang="es-ES" altLang="es-ES" sz="1200"/>
              </a:p>
            </p:txBody>
          </p:sp>
          <p:sp>
            <p:nvSpPr>
              <p:cNvPr id="34825" name="AutoShape 9"/>
              <p:cNvSpPr>
                <a:spLocks/>
              </p:cNvSpPr>
              <p:nvPr/>
            </p:nvSpPr>
            <p:spPr bwMode="auto">
              <a:xfrm>
                <a:off x="1440" y="1296"/>
                <a:ext cx="48" cy="384"/>
              </a:xfrm>
              <a:prstGeom prst="leftBrace">
                <a:avLst>
                  <a:gd name="adj1" fmla="val 66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sp>
        <p:nvSpPr>
          <p:cNvPr id="34826" name="AutoShape 10"/>
          <p:cNvSpPr>
            <a:spLocks/>
          </p:cNvSpPr>
          <p:nvPr/>
        </p:nvSpPr>
        <p:spPr bwMode="auto">
          <a:xfrm>
            <a:off x="3429000" y="2581275"/>
            <a:ext cx="76200" cy="781050"/>
          </a:xfrm>
          <a:prstGeom prst="leftBrace">
            <a:avLst>
              <a:gd name="adj1" fmla="val 854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34827" name="Group 11"/>
          <p:cNvGrpSpPr>
            <a:grpSpLocks/>
          </p:cNvGrpSpPr>
          <p:nvPr/>
        </p:nvGrpSpPr>
        <p:grpSpPr bwMode="auto">
          <a:xfrm>
            <a:off x="685800" y="2524125"/>
            <a:ext cx="8382000" cy="895350"/>
            <a:chOff x="336" y="1728"/>
            <a:chExt cx="5280" cy="564"/>
          </a:xfrm>
        </p:grpSpPr>
        <p:sp>
          <p:nvSpPr>
            <p:cNvPr id="34828" name="Line 12"/>
            <p:cNvSpPr>
              <a:spLocks noChangeShapeType="1"/>
            </p:cNvSpPr>
            <p:nvPr/>
          </p:nvSpPr>
          <p:spPr bwMode="auto">
            <a:xfrm>
              <a:off x="1776" y="20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4829" name="Text Box 13"/>
            <p:cNvSpPr txBox="1">
              <a:spLocks noChangeArrowheads="1"/>
            </p:cNvSpPr>
            <p:nvPr/>
          </p:nvSpPr>
          <p:spPr bwMode="auto">
            <a:xfrm>
              <a:off x="2076" y="1728"/>
              <a:ext cx="3540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71450" indent="-171450" eaLnBrk="0" hangingPunct="0"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eaLnBrk="0" hangingPunct="0"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eaLnBrk="0" hangingPunct="0"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eaLnBrk="0" hangingPunct="0"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eaLnBrk="0" hangingPunct="0"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28850" algn="l"/>
                </a:tabLs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s-ES_tradnl" altLang="es-ES" sz="1200" dirty="0"/>
                <a:t>Test de </a:t>
              </a:r>
              <a:r>
                <a:rPr lang="es-ES_tradnl" altLang="es-ES" sz="1200" dirty="0" err="1"/>
                <a:t>D’Agostino</a:t>
              </a:r>
              <a:r>
                <a:rPr lang="es-ES_tradnl" altLang="es-ES" sz="1200" dirty="0"/>
                <a:t>	</a:t>
              </a:r>
              <a:r>
                <a:rPr lang="es-ES_tradnl" altLang="es-ES" sz="1200" dirty="0">
                  <a:latin typeface="Times New Roman" pitchFamily="18" charset="0"/>
                </a:rPr>
                <a:t>←</a:t>
              </a:r>
              <a:r>
                <a:rPr lang="es-ES_tradnl" altLang="es-ES" sz="1200" dirty="0"/>
                <a:t> </a:t>
              </a:r>
              <a:r>
                <a:rPr lang="es-ES_tradnl" altLang="es-ES" sz="1000" dirty="0"/>
                <a:t>Se puede hacer a mano</a:t>
              </a:r>
            </a:p>
            <a:p>
              <a:pPr eaLnBrk="1" hangingPunct="1">
                <a:buFontTx/>
                <a:buChar char="•"/>
              </a:pPr>
              <a:r>
                <a:rPr lang="es-ES_tradnl" altLang="es-ES" sz="1200" dirty="0"/>
                <a:t>Test de </a:t>
              </a:r>
              <a:r>
                <a:rPr lang="es-ES_tradnl" altLang="es-ES" sz="1200" dirty="0" err="1"/>
                <a:t>Kolmogorov-Smirnov</a:t>
              </a:r>
              <a:r>
                <a:rPr lang="es-ES_tradnl" altLang="es-ES" sz="1200" dirty="0"/>
                <a:t>	</a:t>
              </a:r>
              <a:r>
                <a:rPr lang="es-ES_tradnl" altLang="es-ES" sz="1200" dirty="0">
                  <a:latin typeface="Times New Roman" pitchFamily="18" charset="0"/>
                </a:rPr>
                <a:t>← </a:t>
              </a:r>
              <a:r>
                <a:rPr lang="es-ES_tradnl" altLang="es-ES" sz="1000" dirty="0"/>
                <a:t>Aproximado. Solo para muestras grandes (SPSS)</a:t>
              </a:r>
              <a:endParaRPr lang="es-ES_tradnl" altLang="es-ES" sz="1200" dirty="0"/>
            </a:p>
            <a:p>
              <a:pPr eaLnBrk="1" hangingPunct="1">
                <a:lnSpc>
                  <a:spcPct val="120000"/>
                </a:lnSpc>
                <a:buFontTx/>
                <a:buChar char="•"/>
              </a:pPr>
              <a:r>
                <a:rPr lang="es-ES_tradnl" altLang="es-ES" sz="1200" dirty="0"/>
                <a:t>Test de </a:t>
              </a:r>
              <a:r>
                <a:rPr lang="es-ES_tradnl" altLang="es-ES" sz="1200" dirty="0" err="1"/>
                <a:t>Shapiro-Wilk</a:t>
              </a:r>
              <a:r>
                <a:rPr lang="es-ES_tradnl" altLang="es-ES" sz="1200" dirty="0"/>
                <a:t>	</a:t>
              </a:r>
              <a:r>
                <a:rPr lang="es-ES_tradnl" altLang="es-ES" sz="1200" dirty="0">
                  <a:latin typeface="Times New Roman" pitchFamily="18" charset="0"/>
                </a:rPr>
                <a:t>← </a:t>
              </a:r>
              <a:r>
                <a:rPr lang="es-ES_tradnl" altLang="es-ES" sz="1000" dirty="0"/>
                <a:t>Quizá la mejor opción (SPSS)</a:t>
              </a:r>
              <a:endParaRPr lang="es-ES_tradnl" altLang="es-ES" sz="1200" dirty="0"/>
            </a:p>
            <a:p>
              <a:pPr eaLnBrk="1" hangingPunct="1">
                <a:lnSpc>
                  <a:spcPct val="120000"/>
                </a:lnSpc>
              </a:pPr>
              <a:r>
                <a:rPr lang="es-ES_tradnl" altLang="es-ES" sz="1200" dirty="0"/>
                <a:t>	</a:t>
              </a:r>
              <a:r>
                <a:rPr lang="es-ES_tradnl" altLang="es-ES" sz="1000" dirty="0"/>
                <a:t>( … y hay más)</a:t>
              </a:r>
              <a:endParaRPr lang="es-ES" altLang="es-ES" sz="1000" dirty="0"/>
            </a:p>
          </p:txBody>
        </p:sp>
        <p:sp>
          <p:nvSpPr>
            <p:cNvPr id="34830" name="Text Box 14"/>
            <p:cNvSpPr txBox="1">
              <a:spLocks noChangeArrowheads="1"/>
            </p:cNvSpPr>
            <p:nvPr/>
          </p:nvSpPr>
          <p:spPr bwMode="auto">
            <a:xfrm>
              <a:off x="336" y="1914"/>
              <a:ext cx="139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_tradnl" altLang="es-ES" sz="1200"/>
                <a:t>Pruebas (tests) de normalidad</a:t>
              </a:r>
              <a:endParaRPr lang="es-ES" altLang="es-ES" sz="1200"/>
            </a:p>
          </p:txBody>
        </p:sp>
      </p:grp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428625" y="3524250"/>
            <a:ext cx="48180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s-ES_tradnl" altLang="es-ES" sz="1300"/>
              <a:t>Muchos métodos que requieren que la variable sea normal, a menudo funcionan bien si la desviación no es muy severa</a:t>
            </a:r>
            <a:endParaRPr lang="es-ES" altLang="es-ES" sz="1300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5267325" y="37623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5638800" y="3616325"/>
            <a:ext cx="30480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_tradnl" altLang="es-ES" sz="1300"/>
              <a:t>Observar la simetría de la distribución</a:t>
            </a:r>
            <a:endParaRPr lang="es-ES" altLang="es-ES" sz="1300"/>
          </a:p>
        </p:txBody>
      </p:sp>
      <p:sp>
        <p:nvSpPr>
          <p:cNvPr id="34835" name="AutoShape 19"/>
          <p:cNvSpPr>
            <a:spLocks/>
          </p:cNvSpPr>
          <p:nvPr/>
        </p:nvSpPr>
        <p:spPr bwMode="auto">
          <a:xfrm>
            <a:off x="533400" y="1914525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4836" name="AutoShape 20"/>
          <p:cNvSpPr>
            <a:spLocks noChangeArrowheads="1"/>
          </p:cNvSpPr>
          <p:nvPr/>
        </p:nvSpPr>
        <p:spPr bwMode="auto">
          <a:xfrm>
            <a:off x="3671888" y="2566988"/>
            <a:ext cx="1343025" cy="17145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34837" name="Group 21"/>
          <p:cNvGrpSpPr>
            <a:grpSpLocks/>
          </p:cNvGrpSpPr>
          <p:nvPr/>
        </p:nvGrpSpPr>
        <p:grpSpPr bwMode="auto">
          <a:xfrm>
            <a:off x="609600" y="4191000"/>
            <a:ext cx="8001000" cy="2124075"/>
            <a:chOff x="384" y="2550"/>
            <a:chExt cx="5040" cy="1338"/>
          </a:xfrm>
        </p:grpSpPr>
        <p:grpSp>
          <p:nvGrpSpPr>
            <p:cNvPr id="34838" name="Group 22"/>
            <p:cNvGrpSpPr>
              <a:grpSpLocks/>
            </p:cNvGrpSpPr>
            <p:nvPr/>
          </p:nvGrpSpPr>
          <p:grpSpPr bwMode="auto">
            <a:xfrm>
              <a:off x="384" y="2550"/>
              <a:ext cx="3792" cy="1338"/>
              <a:chOff x="1008" y="2742"/>
              <a:chExt cx="3792" cy="1338"/>
            </a:xfrm>
          </p:grpSpPr>
          <p:grpSp>
            <p:nvGrpSpPr>
              <p:cNvPr id="34839" name="Group 23"/>
              <p:cNvGrpSpPr>
                <a:grpSpLocks/>
              </p:cNvGrpSpPr>
              <p:nvPr/>
            </p:nvGrpSpPr>
            <p:grpSpPr bwMode="auto">
              <a:xfrm>
                <a:off x="1008" y="2742"/>
                <a:ext cx="3792" cy="1338"/>
                <a:chOff x="755" y="767"/>
                <a:chExt cx="3890" cy="1496"/>
              </a:xfrm>
            </p:grpSpPr>
            <p:grpSp>
              <p:nvGrpSpPr>
                <p:cNvPr id="34840" name="Group 24"/>
                <p:cNvGrpSpPr>
                  <a:grpSpLocks/>
                </p:cNvGrpSpPr>
                <p:nvPr/>
              </p:nvGrpSpPr>
              <p:grpSpPr bwMode="auto">
                <a:xfrm>
                  <a:off x="2154" y="767"/>
                  <a:ext cx="1147" cy="1489"/>
                  <a:chOff x="1733" y="600"/>
                  <a:chExt cx="1243" cy="1560"/>
                </a:xfrm>
              </p:grpSpPr>
              <p:grpSp>
                <p:nvGrpSpPr>
                  <p:cNvPr id="34841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1734" y="600"/>
                    <a:ext cx="1242" cy="1560"/>
                    <a:chOff x="1584" y="600"/>
                    <a:chExt cx="1242" cy="1560"/>
                  </a:xfrm>
                </p:grpSpPr>
                <p:pic>
                  <p:nvPicPr>
                    <p:cNvPr id="34842" name="Picture 26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584" y="600"/>
                      <a:ext cx="1242" cy="13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pic>
                <p:pic>
                  <p:nvPicPr>
                    <p:cNvPr id="34843" name="Picture 27"/>
                    <p:cNvPicPr>
                      <a:picLocks noChangeArrowheads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584" y="1920"/>
                      <a:ext cx="1232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bg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pic>
              </p:grpSp>
              <p:sp>
                <p:nvSpPr>
                  <p:cNvPr id="3484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733" y="601"/>
                    <a:ext cx="1243" cy="1559"/>
                  </a:xfrm>
                  <a:prstGeom prst="rect">
                    <a:avLst/>
                  </a:prstGeom>
                  <a:noFill/>
                  <a:ln w="5080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s-ES"/>
                  </a:p>
                </p:txBody>
              </p:sp>
            </p:grpSp>
            <p:grpSp>
              <p:nvGrpSpPr>
                <p:cNvPr id="34845" name="Group 29"/>
                <p:cNvGrpSpPr>
                  <a:grpSpLocks/>
                </p:cNvGrpSpPr>
                <p:nvPr/>
              </p:nvGrpSpPr>
              <p:grpSpPr bwMode="auto">
                <a:xfrm>
                  <a:off x="3504" y="768"/>
                  <a:ext cx="1141" cy="1488"/>
                  <a:chOff x="3083" y="601"/>
                  <a:chExt cx="1237" cy="1559"/>
                </a:xfrm>
              </p:grpSpPr>
              <p:pic>
                <p:nvPicPr>
                  <p:cNvPr id="34846" name="Picture 30"/>
                  <p:cNvPicPr>
                    <a:picLocks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084" y="603"/>
                    <a:ext cx="1232" cy="131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34847" name="Picture 31"/>
                  <p:cNvPicPr>
                    <a:picLocks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088" y="1920"/>
                    <a:ext cx="1232" cy="240"/>
                  </a:xfrm>
                  <a:prstGeom prst="rect">
                    <a:avLst/>
                  </a:prstGeom>
                  <a:noFill/>
                  <a:ln w="9525">
                    <a:solidFill>
                      <a:schemeClr val="bg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sp>
                <p:nvSpPr>
                  <p:cNvPr id="34848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083" y="601"/>
                    <a:ext cx="1237" cy="1559"/>
                  </a:xfrm>
                  <a:prstGeom prst="rect">
                    <a:avLst/>
                  </a:prstGeom>
                  <a:noFill/>
                  <a:ln w="5080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s-ES"/>
                  </a:p>
                </p:txBody>
              </p:sp>
            </p:grpSp>
            <p:grpSp>
              <p:nvGrpSpPr>
                <p:cNvPr id="34849" name="Group 33"/>
                <p:cNvGrpSpPr>
                  <a:grpSpLocks/>
                </p:cNvGrpSpPr>
                <p:nvPr/>
              </p:nvGrpSpPr>
              <p:grpSpPr bwMode="auto">
                <a:xfrm>
                  <a:off x="755" y="767"/>
                  <a:ext cx="1147" cy="1496"/>
                  <a:chOff x="334" y="600"/>
                  <a:chExt cx="1244" cy="1567"/>
                </a:xfrm>
              </p:grpSpPr>
              <p:grpSp>
                <p:nvGrpSpPr>
                  <p:cNvPr id="34850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36" y="600"/>
                    <a:ext cx="1239" cy="1560"/>
                    <a:chOff x="336" y="600"/>
                    <a:chExt cx="1239" cy="1560"/>
                  </a:xfrm>
                </p:grpSpPr>
                <p:pic>
                  <p:nvPicPr>
                    <p:cNvPr id="34851" name="Picture 35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36" y="600"/>
                      <a:ext cx="1239" cy="13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pic>
                <p:pic>
                  <p:nvPicPr>
                    <p:cNvPr id="34852" name="Picture 36"/>
                    <p:cNvPicPr>
                      <a:picLocks noChangeArrowheads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36" y="1921"/>
                      <a:ext cx="1232" cy="239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bg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pic>
              </p:grpSp>
              <p:sp>
                <p:nvSpPr>
                  <p:cNvPr id="34853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334" y="608"/>
                    <a:ext cx="1244" cy="1559"/>
                  </a:xfrm>
                  <a:prstGeom prst="rect">
                    <a:avLst/>
                  </a:prstGeom>
                  <a:noFill/>
                  <a:ln w="5080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s-ES"/>
                  </a:p>
                </p:txBody>
              </p:sp>
            </p:grpSp>
          </p:grpSp>
          <p:sp>
            <p:nvSpPr>
              <p:cNvPr id="34854" name="Text Box 38"/>
              <p:cNvSpPr txBox="1">
                <a:spLocks noChangeArrowheads="1"/>
              </p:cNvSpPr>
              <p:nvPr/>
            </p:nvSpPr>
            <p:spPr bwMode="auto">
              <a:xfrm>
                <a:off x="1038" y="2808"/>
                <a:ext cx="169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000"/>
                  <a:t>A</a:t>
                </a:r>
                <a:endParaRPr lang="es-ES" altLang="es-ES" sz="1000"/>
              </a:p>
            </p:txBody>
          </p:sp>
          <p:sp>
            <p:nvSpPr>
              <p:cNvPr id="34855" name="Text Box 39"/>
              <p:cNvSpPr txBox="1">
                <a:spLocks noChangeArrowheads="1"/>
              </p:cNvSpPr>
              <p:nvPr/>
            </p:nvSpPr>
            <p:spPr bwMode="auto">
              <a:xfrm>
                <a:off x="2400" y="2808"/>
                <a:ext cx="169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000"/>
                  <a:t>B</a:t>
                </a:r>
                <a:endParaRPr lang="es-ES" altLang="es-ES" sz="1000"/>
              </a:p>
            </p:txBody>
          </p:sp>
          <p:sp>
            <p:nvSpPr>
              <p:cNvPr id="34856" name="Text Box 40"/>
              <p:cNvSpPr txBox="1">
                <a:spLocks noChangeArrowheads="1"/>
              </p:cNvSpPr>
              <p:nvPr/>
            </p:nvSpPr>
            <p:spPr bwMode="auto">
              <a:xfrm>
                <a:off x="3714" y="2808"/>
                <a:ext cx="17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000"/>
                  <a:t>C</a:t>
                </a:r>
                <a:endParaRPr lang="es-ES" altLang="es-ES" sz="1000"/>
              </a:p>
            </p:txBody>
          </p:sp>
        </p:grpSp>
        <p:grpSp>
          <p:nvGrpSpPr>
            <p:cNvPr id="34857" name="Group 41"/>
            <p:cNvGrpSpPr>
              <a:grpSpLocks/>
            </p:cNvGrpSpPr>
            <p:nvPr/>
          </p:nvGrpSpPr>
          <p:grpSpPr bwMode="auto">
            <a:xfrm>
              <a:off x="4192" y="2646"/>
              <a:ext cx="1232" cy="394"/>
              <a:chOff x="4192" y="2688"/>
              <a:chExt cx="1232" cy="394"/>
            </a:xfrm>
          </p:grpSpPr>
          <p:sp>
            <p:nvSpPr>
              <p:cNvPr id="34858" name="Text Box 42"/>
              <p:cNvSpPr txBox="1">
                <a:spLocks noChangeArrowheads="1"/>
              </p:cNvSpPr>
              <p:nvPr/>
            </p:nvSpPr>
            <p:spPr bwMode="auto">
              <a:xfrm>
                <a:off x="4368" y="2688"/>
                <a:ext cx="1056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ES_tradnl" altLang="es-ES" sz="1100"/>
                  <a:t>Asimetría positiva</a:t>
                </a:r>
              </a:p>
            </p:txBody>
          </p:sp>
          <p:sp>
            <p:nvSpPr>
              <p:cNvPr id="34859" name="Text Box 43"/>
              <p:cNvSpPr txBox="1">
                <a:spLocks noChangeArrowheads="1"/>
              </p:cNvSpPr>
              <p:nvPr/>
            </p:nvSpPr>
            <p:spPr bwMode="auto">
              <a:xfrm>
                <a:off x="4368" y="2832"/>
                <a:ext cx="10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ES_tradnl" altLang="es-ES" sz="1000" i="1">
                    <a:solidFill>
                      <a:srgbClr val="006600"/>
                    </a:solidFill>
                  </a:rPr>
                  <a:t>Muchos “tienen” poco y </a:t>
                </a:r>
              </a:p>
              <a:p>
                <a:r>
                  <a:rPr lang="es-ES_tradnl" altLang="es-ES" sz="1000" i="1">
                    <a:solidFill>
                      <a:srgbClr val="006600"/>
                    </a:solidFill>
                  </a:rPr>
                  <a:t>pocos “tienen” mucho</a:t>
                </a:r>
                <a:endParaRPr lang="es-ES" altLang="es-ES" sz="1000" i="1">
                  <a:solidFill>
                    <a:srgbClr val="006600"/>
                  </a:solidFill>
                </a:endParaRPr>
              </a:p>
            </p:txBody>
          </p:sp>
          <p:sp>
            <p:nvSpPr>
              <p:cNvPr id="34860" name="Text Box 44"/>
              <p:cNvSpPr txBox="1">
                <a:spLocks noChangeArrowheads="1"/>
              </p:cNvSpPr>
              <p:nvPr/>
            </p:nvSpPr>
            <p:spPr bwMode="auto">
              <a:xfrm>
                <a:off x="4192" y="2688"/>
                <a:ext cx="233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100"/>
                  <a:t>(A)</a:t>
                </a:r>
                <a:endParaRPr lang="es-ES" altLang="es-ES" sz="1100"/>
              </a:p>
            </p:txBody>
          </p:sp>
        </p:grpSp>
        <p:grpSp>
          <p:nvGrpSpPr>
            <p:cNvPr id="34861" name="Group 45"/>
            <p:cNvGrpSpPr>
              <a:grpSpLocks/>
            </p:cNvGrpSpPr>
            <p:nvPr/>
          </p:nvGrpSpPr>
          <p:grpSpPr bwMode="auto">
            <a:xfrm>
              <a:off x="4192" y="3134"/>
              <a:ext cx="1083" cy="270"/>
              <a:chOff x="4192" y="3168"/>
              <a:chExt cx="1083" cy="270"/>
            </a:xfrm>
          </p:grpSpPr>
          <p:sp>
            <p:nvSpPr>
              <p:cNvPr id="34862" name="Text Box 46"/>
              <p:cNvSpPr txBox="1">
                <a:spLocks noChangeArrowheads="1"/>
              </p:cNvSpPr>
              <p:nvPr/>
            </p:nvSpPr>
            <p:spPr bwMode="auto">
              <a:xfrm>
                <a:off x="4368" y="3168"/>
                <a:ext cx="907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100"/>
                  <a:t>Mezcla de 2 grupos </a:t>
                </a:r>
              </a:p>
              <a:p>
                <a:r>
                  <a:rPr lang="es-ES_tradnl" altLang="es-ES" sz="1100"/>
                  <a:t>heterogéneos</a:t>
                </a:r>
                <a:endParaRPr lang="es-ES" altLang="es-ES" sz="1100"/>
              </a:p>
            </p:txBody>
          </p:sp>
          <p:sp>
            <p:nvSpPr>
              <p:cNvPr id="34863" name="Text Box 47"/>
              <p:cNvSpPr txBox="1">
                <a:spLocks noChangeArrowheads="1"/>
              </p:cNvSpPr>
              <p:nvPr/>
            </p:nvSpPr>
            <p:spPr bwMode="auto">
              <a:xfrm>
                <a:off x="4192" y="3172"/>
                <a:ext cx="233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100"/>
                  <a:t>(B)</a:t>
                </a:r>
                <a:endParaRPr lang="es-ES" altLang="es-ES" sz="1100"/>
              </a:p>
            </p:txBody>
          </p:sp>
        </p:grpSp>
        <p:grpSp>
          <p:nvGrpSpPr>
            <p:cNvPr id="34864" name="Group 48"/>
            <p:cNvGrpSpPr>
              <a:grpSpLocks/>
            </p:cNvGrpSpPr>
            <p:nvPr/>
          </p:nvGrpSpPr>
          <p:grpSpPr bwMode="auto">
            <a:xfrm>
              <a:off x="4192" y="3499"/>
              <a:ext cx="679" cy="167"/>
              <a:chOff x="4192" y="3541"/>
              <a:chExt cx="679" cy="167"/>
            </a:xfrm>
          </p:grpSpPr>
          <p:sp>
            <p:nvSpPr>
              <p:cNvPr id="34865" name="Text Box 49"/>
              <p:cNvSpPr txBox="1">
                <a:spLocks noChangeArrowheads="1"/>
              </p:cNvSpPr>
              <p:nvPr/>
            </p:nvSpPr>
            <p:spPr bwMode="auto">
              <a:xfrm>
                <a:off x="4368" y="3544"/>
                <a:ext cx="503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100"/>
                  <a:t>¿Normal?</a:t>
                </a:r>
                <a:endParaRPr lang="es-ES" altLang="es-ES" sz="1100"/>
              </a:p>
            </p:txBody>
          </p:sp>
          <p:sp>
            <p:nvSpPr>
              <p:cNvPr id="34866" name="Text Box 50"/>
              <p:cNvSpPr txBox="1">
                <a:spLocks noChangeArrowheads="1"/>
              </p:cNvSpPr>
              <p:nvPr/>
            </p:nvSpPr>
            <p:spPr bwMode="auto">
              <a:xfrm>
                <a:off x="4192" y="3541"/>
                <a:ext cx="238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_tradnl" altLang="es-ES" sz="1100"/>
                  <a:t>(C)</a:t>
                </a:r>
                <a:endParaRPr lang="es-ES" altLang="es-ES" sz="1100"/>
              </a:p>
            </p:txBody>
          </p:sp>
        </p:grpSp>
      </p:grp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84138" y="263722"/>
            <a:ext cx="23118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400" b="1" dirty="0"/>
              <a:t>Estudio de la normalidad</a:t>
            </a:r>
            <a:endParaRPr lang="es-ES" alt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377760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76200" y="465332"/>
            <a:ext cx="30727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400" b="1" dirty="0"/>
              <a:t>Test de normalidad de </a:t>
            </a:r>
            <a:r>
              <a:rPr lang="es-ES_tradnl" altLang="es-ES" sz="1400" b="1" dirty="0" err="1"/>
              <a:t>D’Agostino</a:t>
            </a:r>
            <a:endParaRPr lang="es-ES" altLang="es-ES" sz="1400" b="1" dirty="0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28600" y="971550"/>
            <a:ext cx="3952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b="1"/>
              <a:t>1. Test de D’Agostino. Hipótesis a contrastar</a:t>
            </a:r>
            <a:endParaRPr lang="es-ES" altLang="es-ES" b="1"/>
          </a:p>
        </p:txBody>
      </p:sp>
      <p:grpSp>
        <p:nvGrpSpPr>
          <p:cNvPr id="33796" name="Group 4"/>
          <p:cNvGrpSpPr>
            <a:grpSpLocks/>
          </p:cNvGrpSpPr>
          <p:nvPr/>
        </p:nvGrpSpPr>
        <p:grpSpPr bwMode="auto">
          <a:xfrm>
            <a:off x="533400" y="1296988"/>
            <a:ext cx="3384550" cy="684212"/>
            <a:chOff x="579" y="815"/>
            <a:chExt cx="2132" cy="431"/>
          </a:xfrm>
        </p:grpSpPr>
        <p:graphicFrame>
          <p:nvGraphicFramePr>
            <p:cNvPr id="33797" name="Object 5"/>
            <p:cNvGraphicFramePr>
              <a:graphicFrameLocks noChangeAspect="1"/>
            </p:cNvGraphicFramePr>
            <p:nvPr/>
          </p:nvGraphicFramePr>
          <p:xfrm>
            <a:off x="579" y="815"/>
            <a:ext cx="317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5320" imgH="482400" progId="Equation.DSMT4">
                    <p:embed/>
                  </p:oleObj>
                </mc:Choice>
                <mc:Fallback>
                  <p:oleObj name="Equation" r:id="rId2" imgW="355320" imgH="482400" progId="Equation.DSMT4">
                    <p:embed/>
                    <p:pic>
                      <p:nvPicPr>
                        <p:cNvPr id="3379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" y="815"/>
                          <a:ext cx="317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8" name="Text Box 6"/>
            <p:cNvSpPr txBox="1">
              <a:spLocks noChangeArrowheads="1"/>
            </p:cNvSpPr>
            <p:nvPr/>
          </p:nvSpPr>
          <p:spPr bwMode="auto">
            <a:xfrm>
              <a:off x="876" y="819"/>
              <a:ext cx="1659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_tradnl" altLang="es-ES" sz="1300">
                  <a:latin typeface="Times New Roman" pitchFamily="18" charset="0"/>
                </a:rPr>
                <a:t>La variable tiene distribución normal</a:t>
              </a:r>
              <a:endParaRPr lang="es-ES" altLang="es-ES" sz="1300">
                <a:latin typeface="Times New Roman" pitchFamily="18" charset="0"/>
              </a:endParaRPr>
            </a:p>
          </p:txBody>
        </p:sp>
        <p:sp>
          <p:nvSpPr>
            <p:cNvPr id="33799" name="Text Box 7"/>
            <p:cNvSpPr txBox="1">
              <a:spLocks noChangeArrowheads="1"/>
            </p:cNvSpPr>
            <p:nvPr/>
          </p:nvSpPr>
          <p:spPr bwMode="auto">
            <a:xfrm>
              <a:off x="876" y="1044"/>
              <a:ext cx="183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_tradnl" altLang="es-ES" sz="1300">
                  <a:latin typeface="Times New Roman" pitchFamily="18" charset="0"/>
                </a:rPr>
                <a:t>La variable NO tiene distribución normal</a:t>
              </a:r>
              <a:endParaRPr lang="es-ES" altLang="es-ES" sz="1300">
                <a:latin typeface="Times New Roman" pitchFamily="18" charset="0"/>
              </a:endParaRPr>
            </a:p>
          </p:txBody>
        </p:sp>
      </p:grp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609600" y="2579688"/>
          <a:ext cx="257333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533160" progId="Equation.DSMT4">
                  <p:embed/>
                </p:oleObj>
              </mc:Choice>
              <mc:Fallback>
                <p:oleObj name="Equation" r:id="rId4" imgW="1968480" imgH="533160" progId="Equation.DSMT4">
                  <p:embed/>
                  <p:pic>
                    <p:nvPicPr>
                      <p:cNvPr id="33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79688"/>
                        <a:ext cx="2573338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200400" y="2790825"/>
            <a:ext cx="2971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_tradnl" altLang="es-ES" sz="1000"/>
              <a:t>(Confrontar con la tabla de D’Agostino)</a:t>
            </a:r>
            <a:endParaRPr lang="es-ES" altLang="es-ES" sz="1000"/>
          </a:p>
        </p:txBody>
      </p:sp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2086870" y="3950897"/>
          <a:ext cx="18256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64880" progId="Equation.DSMT4">
                  <p:embed/>
                </p:oleObj>
              </mc:Choice>
              <mc:Fallback>
                <p:oleObj name="Equation" r:id="rId6" imgW="139680" imgH="164880" progId="Equation.DSMT4">
                  <p:embed/>
                  <p:pic>
                    <p:nvPicPr>
                      <p:cNvPr id="33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870" y="3950897"/>
                        <a:ext cx="182563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/>
        </p:nvGraphicFramePr>
        <p:xfrm>
          <a:off x="2261764" y="3896922"/>
          <a:ext cx="4143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253800" progId="Equation.DSMT4">
                  <p:embed/>
                </p:oleObj>
              </mc:Choice>
              <mc:Fallback>
                <p:oleObj name="Equation" r:id="rId8" imgW="317160" imgH="253800" progId="Equation.DSMT4">
                  <p:embed/>
                  <p:pic>
                    <p:nvPicPr>
                      <p:cNvPr id="338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764" y="3896922"/>
                        <a:ext cx="414338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1635629" y="3884222"/>
          <a:ext cx="28098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53800" progId="Equation.DSMT4">
                  <p:embed/>
                </p:oleObj>
              </mc:Choice>
              <mc:Fallback>
                <p:oleObj name="Equation" r:id="rId10" imgW="215640" imgH="253800" progId="Equation.DSMT4">
                  <p:embed/>
                  <p:pic>
                    <p:nvPicPr>
                      <p:cNvPr id="338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629" y="3884222"/>
                        <a:ext cx="280988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1016358" y="3882634"/>
          <a:ext cx="2365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28600" progId="Equation.DSMT4">
                  <p:embed/>
                </p:oleObj>
              </mc:Choice>
              <mc:Fallback>
                <p:oleObj name="Equation" r:id="rId12" imgW="177480" imgH="228600" progId="Equation.DSMT4">
                  <p:embed/>
                  <p:pic>
                    <p:nvPicPr>
                      <p:cNvPr id="3380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358" y="3882634"/>
                        <a:ext cx="2365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/>
        </p:nvGraphicFramePr>
        <p:xfrm>
          <a:off x="3092450" y="4289425"/>
          <a:ext cx="469900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7200" imgH="164880" progId="Equation.DSMT4">
                  <p:embed/>
                </p:oleObj>
              </mc:Choice>
              <mc:Fallback>
                <p:oleObj name="Equation" r:id="rId14" imgW="457200" imgH="164880" progId="Equation.DSMT4">
                  <p:embed/>
                  <p:pic>
                    <p:nvPicPr>
                      <p:cNvPr id="3380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4289425"/>
                        <a:ext cx="469900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Object 18"/>
          <p:cNvGraphicFramePr>
            <a:graphicFrameLocks noChangeAspect="1"/>
          </p:cNvGraphicFramePr>
          <p:nvPr/>
        </p:nvGraphicFramePr>
        <p:xfrm>
          <a:off x="3101975" y="5003800"/>
          <a:ext cx="1066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41120" imgH="266400" progId="Equation.DSMT4">
                  <p:embed/>
                </p:oleObj>
              </mc:Choice>
              <mc:Fallback>
                <p:oleObj name="Equation" r:id="rId16" imgW="1041120" imgH="266400" progId="Equation.DSMT4">
                  <p:embed/>
                  <p:pic>
                    <p:nvPicPr>
                      <p:cNvPr id="3381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5003800"/>
                        <a:ext cx="10668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3101975" y="5413375"/>
          <a:ext cx="6111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96880" imgH="203040" progId="Equation.DSMT4">
                  <p:embed/>
                </p:oleObj>
              </mc:Choice>
              <mc:Fallback>
                <p:oleObj name="Equation" r:id="rId18" imgW="596880" imgH="203040" progId="Equation.DSMT4">
                  <p:embed/>
                  <p:pic>
                    <p:nvPicPr>
                      <p:cNvPr id="3381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5413375"/>
                        <a:ext cx="61118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0"/>
          <p:cNvGraphicFramePr>
            <a:graphicFrameLocks noChangeAspect="1"/>
          </p:cNvGraphicFramePr>
          <p:nvPr/>
        </p:nvGraphicFramePr>
        <p:xfrm>
          <a:off x="3101975" y="4587875"/>
          <a:ext cx="85725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38080" imgH="253800" progId="Equation.DSMT4">
                  <p:embed/>
                </p:oleObj>
              </mc:Choice>
              <mc:Fallback>
                <p:oleObj name="Equation" r:id="rId20" imgW="838080" imgH="253800" progId="Equation.DSMT4">
                  <p:embed/>
                  <p:pic>
                    <p:nvPicPr>
                      <p:cNvPr id="3381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4587875"/>
                        <a:ext cx="85725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1"/>
          <p:cNvGraphicFramePr>
            <a:graphicFrameLocks noChangeAspect="1"/>
          </p:cNvGraphicFramePr>
          <p:nvPr/>
        </p:nvGraphicFramePr>
        <p:xfrm>
          <a:off x="3034810" y="5784850"/>
          <a:ext cx="11287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63280" imgH="241200" progId="Equation.DSMT4">
                  <p:embed/>
                </p:oleObj>
              </mc:Choice>
              <mc:Fallback>
                <p:oleObj name="Equation" r:id="rId22" imgW="863280" imgH="241200" progId="Equation.DSMT4">
                  <p:embed/>
                  <p:pic>
                    <p:nvPicPr>
                      <p:cNvPr id="3381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810" y="5784850"/>
                        <a:ext cx="11287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2"/>
          <p:cNvGraphicFramePr>
            <a:graphicFrameLocks noChangeAspect="1"/>
          </p:cNvGraphicFramePr>
          <p:nvPr/>
        </p:nvGraphicFramePr>
        <p:xfrm>
          <a:off x="3044825" y="6137275"/>
          <a:ext cx="1328738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15920" imgH="203040" progId="Equation.DSMT4">
                  <p:embed/>
                </p:oleObj>
              </mc:Choice>
              <mc:Fallback>
                <p:oleObj name="Equation" r:id="rId24" imgW="1015920" imgH="203040" progId="Equation.DSMT4">
                  <p:embed/>
                  <p:pic>
                    <p:nvPicPr>
                      <p:cNvPr id="3381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6137275"/>
                        <a:ext cx="1328738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3048000" y="3879850"/>
            <a:ext cx="2667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ES_tradnl" altLang="es-ES">
                <a:latin typeface="Times New Roman" pitchFamily="18" charset="0"/>
              </a:rPr>
              <a:t>H</a:t>
            </a:r>
            <a:r>
              <a:rPr lang="es-ES_tradnl" altLang="es-ES" baseline="-25000">
                <a:latin typeface="Times New Roman" pitchFamily="18" charset="0"/>
              </a:rPr>
              <a:t>0</a:t>
            </a:r>
            <a:r>
              <a:rPr lang="es-ES_tradnl" altLang="es-ES">
                <a:latin typeface="Times New Roman" pitchFamily="18" charset="0"/>
              </a:rPr>
              <a:t>: </a:t>
            </a:r>
            <a:r>
              <a:rPr lang="es-ES_tradnl" altLang="es-ES" i="1">
                <a:latin typeface="Times New Roman" pitchFamily="18" charset="0"/>
              </a:rPr>
              <a:t>x</a:t>
            </a:r>
            <a:r>
              <a:rPr lang="es-ES_tradnl" altLang="es-ES">
                <a:latin typeface="Times New Roman" pitchFamily="18" charset="0"/>
              </a:rPr>
              <a:t> tiene distribución normal</a:t>
            </a:r>
            <a:endParaRPr lang="es-ES" altLang="es-ES">
              <a:latin typeface="Times New Roman" pitchFamily="18" charset="0"/>
            </a:endParaRPr>
          </a:p>
        </p:txBody>
      </p:sp>
      <p:grpSp>
        <p:nvGrpSpPr>
          <p:cNvPr id="33816" name="Group 24"/>
          <p:cNvGrpSpPr>
            <a:grpSpLocks/>
          </p:cNvGrpSpPr>
          <p:nvPr/>
        </p:nvGrpSpPr>
        <p:grpSpPr bwMode="auto">
          <a:xfrm>
            <a:off x="4800600" y="4495800"/>
            <a:ext cx="2743200" cy="1454150"/>
            <a:chOff x="3504" y="3212"/>
            <a:chExt cx="1728" cy="916"/>
          </a:xfrm>
        </p:grpSpPr>
        <p:pic>
          <p:nvPicPr>
            <p:cNvPr id="33817" name="Picture 25"/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3212"/>
              <a:ext cx="1728" cy="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818" name="Text Box 26"/>
            <p:cNvSpPr txBox="1">
              <a:spLocks noChangeArrowheads="1"/>
            </p:cNvSpPr>
            <p:nvPr/>
          </p:nvSpPr>
          <p:spPr bwMode="auto">
            <a:xfrm>
              <a:off x="3817" y="3859"/>
              <a:ext cx="1101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s-ES_tradnl" altLang="es-ES" sz="1000"/>
                <a:t>Distribución observada de </a:t>
              </a:r>
              <a:r>
                <a:rPr lang="es-ES_tradnl" altLang="es-ES" sz="1200" i="1">
                  <a:latin typeface="Times New Roman" pitchFamily="18" charset="0"/>
                </a:rPr>
                <a:t>x</a:t>
              </a:r>
            </a:p>
            <a:p>
              <a:pPr algn="ctr"/>
              <a:r>
                <a:rPr lang="es-ES_tradnl" altLang="es-ES" sz="1000"/>
                <a:t>(Diagrama de puntos)</a:t>
              </a:r>
              <a:endParaRPr lang="es-ES" altLang="es-ES" sz="1000"/>
            </a:p>
          </p:txBody>
        </p:sp>
      </p:grpSp>
      <p:sp>
        <p:nvSpPr>
          <p:cNvPr id="33819" name="Text Box 27"/>
          <p:cNvSpPr txBox="1">
            <a:spLocks noChangeArrowheads="1"/>
          </p:cNvSpPr>
          <p:nvPr/>
        </p:nvSpPr>
        <p:spPr bwMode="auto">
          <a:xfrm>
            <a:off x="228600" y="2209800"/>
            <a:ext cx="24272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b="1"/>
              <a:t>2. Estadístico de contraste</a:t>
            </a:r>
            <a:endParaRPr lang="es-ES" altLang="es-ES" b="1"/>
          </a:p>
        </p:txBody>
      </p:sp>
      <p:grpSp>
        <p:nvGrpSpPr>
          <p:cNvPr id="33820" name="Group 28"/>
          <p:cNvGrpSpPr>
            <a:grpSpLocks/>
          </p:cNvGrpSpPr>
          <p:nvPr/>
        </p:nvGrpSpPr>
        <p:grpSpPr bwMode="auto">
          <a:xfrm>
            <a:off x="4762500" y="1209675"/>
            <a:ext cx="2209800" cy="838200"/>
            <a:chOff x="3024" y="768"/>
            <a:chExt cx="1392" cy="528"/>
          </a:xfrm>
        </p:grpSpPr>
        <p:sp>
          <p:nvSpPr>
            <p:cNvPr id="33821" name="AutoShape 29"/>
            <p:cNvSpPr>
              <a:spLocks noChangeArrowheads="1"/>
            </p:cNvSpPr>
            <p:nvPr/>
          </p:nvSpPr>
          <p:spPr bwMode="auto">
            <a:xfrm>
              <a:off x="3036" y="768"/>
              <a:ext cx="1368" cy="528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14999"/>
              </a:srgbClr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s-ES" altLang="es-ES" sz="1200">
                <a:solidFill>
                  <a:srgbClr val="006600"/>
                </a:solidFill>
              </a:endParaRPr>
            </a:p>
          </p:txBody>
        </p:sp>
        <p:sp>
          <p:nvSpPr>
            <p:cNvPr id="33822" name="Rectangle 30"/>
            <p:cNvSpPr>
              <a:spLocks noChangeArrowheads="1"/>
            </p:cNvSpPr>
            <p:nvPr/>
          </p:nvSpPr>
          <p:spPr bwMode="auto">
            <a:xfrm>
              <a:off x="3024" y="833"/>
              <a:ext cx="139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25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s-ES_tradnl" altLang="es-ES" sz="1100" i="1">
                  <a:solidFill>
                    <a:srgbClr val="006600"/>
                  </a:solidFill>
                </a:rPr>
                <a:t>En todos los tests de normalidad, </a:t>
              </a:r>
              <a:r>
                <a:rPr lang="es-ES_tradnl" altLang="es-ES" sz="1100">
                  <a:solidFill>
                    <a:srgbClr val="006600"/>
                  </a:solidFill>
                </a:rPr>
                <a:t>H</a:t>
              </a:r>
              <a:r>
                <a:rPr lang="es-ES_tradnl" altLang="es-ES" sz="1100" baseline="-25000">
                  <a:solidFill>
                    <a:srgbClr val="006600"/>
                  </a:solidFill>
                </a:rPr>
                <a:t>0</a:t>
              </a:r>
              <a:r>
                <a:rPr lang="es-ES_tradnl" altLang="es-ES" sz="1100" i="1">
                  <a:solidFill>
                    <a:srgbClr val="006600"/>
                  </a:solidFill>
                </a:rPr>
                <a:t> es siempre</a:t>
              </a:r>
            </a:p>
            <a:p>
              <a:pPr algn="ctr"/>
              <a:r>
                <a:rPr lang="es-ES_tradnl" altLang="es-ES" sz="1100" i="1">
                  <a:solidFill>
                    <a:srgbClr val="006600"/>
                  </a:solidFill>
                </a:rPr>
                <a:t>“La variable es normal”</a:t>
              </a:r>
            </a:p>
          </p:txBody>
        </p:sp>
      </p:grpSp>
      <p:sp>
        <p:nvSpPr>
          <p:cNvPr id="33823" name="Text Box 31"/>
          <p:cNvSpPr txBox="1">
            <a:spLocks noChangeArrowheads="1"/>
          </p:cNvSpPr>
          <p:nvPr/>
        </p:nvSpPr>
        <p:spPr bwMode="auto">
          <a:xfrm>
            <a:off x="228600" y="3505200"/>
            <a:ext cx="19859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b="1"/>
              <a:t>3. Ejemplo de cálculo</a:t>
            </a:r>
            <a:endParaRPr lang="es-ES" altLang="es-ES" b="1"/>
          </a:p>
        </p:txBody>
      </p:sp>
      <p:grpSp>
        <p:nvGrpSpPr>
          <p:cNvPr id="33824" name="Group 32"/>
          <p:cNvGrpSpPr>
            <a:grpSpLocks/>
          </p:cNvGrpSpPr>
          <p:nvPr/>
        </p:nvGrpSpPr>
        <p:grpSpPr bwMode="auto">
          <a:xfrm>
            <a:off x="6629400" y="1752600"/>
            <a:ext cx="1905000" cy="2590800"/>
            <a:chOff x="3552" y="1200"/>
            <a:chExt cx="1200" cy="1632"/>
          </a:xfrm>
        </p:grpSpPr>
        <p:sp>
          <p:nvSpPr>
            <p:cNvPr id="33825" name="AutoShape 33"/>
            <p:cNvSpPr>
              <a:spLocks noChangeArrowheads="1"/>
            </p:cNvSpPr>
            <p:nvPr/>
          </p:nvSpPr>
          <p:spPr bwMode="auto">
            <a:xfrm>
              <a:off x="3552" y="1200"/>
              <a:ext cx="1200" cy="1632"/>
            </a:xfrm>
            <a:prstGeom prst="roundRect">
              <a:avLst>
                <a:gd name="adj" fmla="val 7324"/>
              </a:avLst>
            </a:prstGeom>
            <a:solidFill>
              <a:srgbClr val="C0C0C0">
                <a:alpha val="14999"/>
              </a:srgbClr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s-ES" altLang="es-ES" sz="1200">
                <a:solidFill>
                  <a:srgbClr val="008000"/>
                </a:solidFill>
              </a:endParaRPr>
            </a:p>
          </p:txBody>
        </p:sp>
        <p:sp>
          <p:nvSpPr>
            <p:cNvPr id="33826" name="Text Box 34"/>
            <p:cNvSpPr txBox="1">
              <a:spLocks noChangeArrowheads="1"/>
            </p:cNvSpPr>
            <p:nvPr/>
          </p:nvSpPr>
          <p:spPr bwMode="auto">
            <a:xfrm>
              <a:off x="3624" y="1248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s-ES_tradnl" altLang="es-ES" sz="1200">
                  <a:solidFill>
                    <a:srgbClr val="002E00"/>
                  </a:solidFill>
                </a:rPr>
                <a:t>El peligro de las muestras pequeñas</a:t>
              </a:r>
              <a:endParaRPr lang="es-ES" altLang="es-ES" sz="1200">
                <a:solidFill>
                  <a:srgbClr val="002E00"/>
                </a:solidFill>
              </a:endParaRPr>
            </a:p>
          </p:txBody>
        </p:sp>
        <p:grpSp>
          <p:nvGrpSpPr>
            <p:cNvPr id="33827" name="Group 35"/>
            <p:cNvGrpSpPr>
              <a:grpSpLocks/>
            </p:cNvGrpSpPr>
            <p:nvPr/>
          </p:nvGrpSpPr>
          <p:grpSpPr bwMode="auto">
            <a:xfrm>
              <a:off x="3597" y="1616"/>
              <a:ext cx="1111" cy="1120"/>
              <a:chOff x="3611" y="1559"/>
              <a:chExt cx="1111" cy="1120"/>
            </a:xfrm>
          </p:grpSpPr>
          <p:sp>
            <p:nvSpPr>
              <p:cNvPr id="33828" name="Text Box 36"/>
              <p:cNvSpPr txBox="1">
                <a:spLocks noChangeArrowheads="1"/>
              </p:cNvSpPr>
              <p:nvPr/>
            </p:nvSpPr>
            <p:spPr bwMode="auto">
              <a:xfrm>
                <a:off x="3825" y="1559"/>
                <a:ext cx="68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s-ES_tradnl" altLang="es-ES" sz="1200" i="1">
                    <a:solidFill>
                      <a:srgbClr val="005800"/>
                    </a:solidFill>
                    <a:latin typeface="Times New Roman" pitchFamily="18" charset="0"/>
                  </a:rPr>
                  <a:t> n pequeño</a:t>
                </a:r>
                <a:endParaRPr lang="es-ES" altLang="es-ES" sz="1200" i="1">
                  <a:solidFill>
                    <a:srgbClr val="0058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829" name="Line 37"/>
              <p:cNvSpPr>
                <a:spLocks noChangeShapeType="1"/>
              </p:cNvSpPr>
              <p:nvPr/>
            </p:nvSpPr>
            <p:spPr bwMode="auto">
              <a:xfrm>
                <a:off x="4166" y="1750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33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830" name="Text Box 38"/>
              <p:cNvSpPr txBox="1">
                <a:spLocks noChangeArrowheads="1"/>
              </p:cNvSpPr>
              <p:nvPr/>
            </p:nvSpPr>
            <p:spPr bwMode="auto">
              <a:xfrm>
                <a:off x="3742" y="1864"/>
                <a:ext cx="849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altLang="es-ES" sz="1300" i="1">
                    <a:solidFill>
                      <a:srgbClr val="005800"/>
                    </a:solidFill>
                    <a:latin typeface="Times New Roman" pitchFamily="18" charset="0"/>
                  </a:rPr>
                  <a:t>Test poco potente</a:t>
                </a:r>
                <a:endParaRPr lang="es-ES" altLang="es-ES" sz="1200">
                  <a:solidFill>
                    <a:srgbClr val="005800"/>
                  </a:solidFill>
                </a:endParaRPr>
              </a:p>
            </p:txBody>
          </p:sp>
          <p:sp>
            <p:nvSpPr>
              <p:cNvPr id="33831" name="Line 39"/>
              <p:cNvSpPr>
                <a:spLocks noChangeShapeType="1"/>
              </p:cNvSpPr>
              <p:nvPr/>
            </p:nvSpPr>
            <p:spPr bwMode="auto">
              <a:xfrm>
                <a:off x="4166" y="206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33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832" name="Text Box 40"/>
              <p:cNvSpPr txBox="1">
                <a:spLocks noChangeArrowheads="1"/>
              </p:cNvSpPr>
              <p:nvPr/>
            </p:nvSpPr>
            <p:spPr bwMode="auto">
              <a:xfrm>
                <a:off x="3746" y="2180"/>
                <a:ext cx="840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altLang="es-ES" sz="1300" i="1">
                    <a:solidFill>
                      <a:srgbClr val="005800"/>
                    </a:solidFill>
                    <a:latin typeface="Times New Roman" pitchFamily="18" charset="0"/>
                  </a:rPr>
                  <a:t>No se rechaza </a:t>
                </a:r>
                <a:r>
                  <a:rPr lang="es-ES_tradnl" altLang="es-ES" sz="1300">
                    <a:solidFill>
                      <a:srgbClr val="005800"/>
                    </a:solidFill>
                    <a:latin typeface="Times New Roman" pitchFamily="18" charset="0"/>
                  </a:rPr>
                  <a:t>H</a:t>
                </a:r>
                <a:r>
                  <a:rPr lang="es-ES_tradnl" altLang="es-ES" sz="1300" baseline="-25000">
                    <a:solidFill>
                      <a:srgbClr val="005800"/>
                    </a:solidFill>
                    <a:latin typeface="Times New Roman" pitchFamily="18" charset="0"/>
                  </a:rPr>
                  <a:t>0</a:t>
                </a:r>
                <a:endParaRPr lang="es-ES" altLang="es-ES" sz="1200" baseline="-25000">
                  <a:solidFill>
                    <a:srgbClr val="005800"/>
                  </a:solidFill>
                </a:endParaRPr>
              </a:p>
            </p:txBody>
          </p:sp>
          <p:sp>
            <p:nvSpPr>
              <p:cNvPr id="33833" name="Line 41"/>
              <p:cNvSpPr>
                <a:spLocks noChangeShapeType="1"/>
              </p:cNvSpPr>
              <p:nvPr/>
            </p:nvSpPr>
            <p:spPr bwMode="auto">
              <a:xfrm>
                <a:off x="4166" y="2381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33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834" name="Text Box 42"/>
              <p:cNvSpPr txBox="1">
                <a:spLocks noChangeArrowheads="1"/>
              </p:cNvSpPr>
              <p:nvPr/>
            </p:nvSpPr>
            <p:spPr bwMode="auto">
              <a:xfrm>
                <a:off x="3611" y="2496"/>
                <a:ext cx="1111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altLang="es-ES" sz="1300" i="1">
                    <a:solidFill>
                      <a:srgbClr val="005800"/>
                    </a:solidFill>
                    <a:latin typeface="Times New Roman" pitchFamily="18" charset="0"/>
                  </a:rPr>
                  <a:t>¡La variable es normal!</a:t>
                </a:r>
                <a:endParaRPr lang="es-ES" altLang="es-ES" sz="1200">
                  <a:solidFill>
                    <a:srgbClr val="005800"/>
                  </a:solidFill>
                </a:endParaRPr>
              </a:p>
            </p:txBody>
          </p:sp>
        </p:grpSp>
        <p:sp>
          <p:nvSpPr>
            <p:cNvPr id="33835" name="Line 43"/>
            <p:cNvSpPr>
              <a:spLocks noChangeShapeType="1"/>
            </p:cNvSpPr>
            <p:nvPr/>
          </p:nvSpPr>
          <p:spPr bwMode="auto">
            <a:xfrm>
              <a:off x="3936" y="1554"/>
              <a:ext cx="432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3836" name="Line 44"/>
          <p:cNvSpPr>
            <a:spLocks noChangeShapeType="1"/>
          </p:cNvSpPr>
          <p:nvPr/>
        </p:nvSpPr>
        <p:spPr bwMode="auto">
          <a:xfrm>
            <a:off x="3124200" y="5715000"/>
            <a:ext cx="121920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33837" name="Line 45"/>
          <p:cNvSpPr>
            <a:spLocks noChangeShapeType="1"/>
          </p:cNvSpPr>
          <p:nvPr/>
        </p:nvSpPr>
        <p:spPr bwMode="auto">
          <a:xfrm>
            <a:off x="3124200" y="4229100"/>
            <a:ext cx="121920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33838" name="Line 46"/>
          <p:cNvSpPr>
            <a:spLocks noChangeShapeType="1"/>
          </p:cNvSpPr>
          <p:nvPr/>
        </p:nvSpPr>
        <p:spPr bwMode="auto">
          <a:xfrm flipH="1">
            <a:off x="4495800" y="62325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33839" name="Text Box 47"/>
          <p:cNvSpPr txBox="1">
            <a:spLocks noChangeArrowheads="1"/>
          </p:cNvSpPr>
          <p:nvPr/>
        </p:nvSpPr>
        <p:spPr bwMode="auto">
          <a:xfrm>
            <a:off x="5013325" y="6096000"/>
            <a:ext cx="1077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200"/>
              <a:t>¿conclusión?</a:t>
            </a:r>
            <a:endParaRPr lang="es-ES" altLang="es-ES" sz="1200"/>
          </a:p>
        </p:txBody>
      </p:sp>
      <p:sp>
        <p:nvSpPr>
          <p:cNvPr id="33840" name="Text Box 48"/>
          <p:cNvSpPr txBox="1">
            <a:spLocks noChangeArrowheads="1"/>
          </p:cNvSpPr>
          <p:nvPr/>
        </p:nvSpPr>
        <p:spPr bwMode="auto">
          <a:xfrm>
            <a:off x="85725" y="77383"/>
            <a:ext cx="23118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400" b="1" dirty="0"/>
              <a:t>Estudio de la normalidad</a:t>
            </a:r>
            <a:endParaRPr lang="es-ES" altLang="es-ES" sz="1400" b="1" dirty="0"/>
          </a:p>
        </p:txBody>
      </p:sp>
      <p:grpSp>
        <p:nvGrpSpPr>
          <p:cNvPr id="2" name="1 Grupo"/>
          <p:cNvGrpSpPr/>
          <p:nvPr/>
        </p:nvGrpSpPr>
        <p:grpSpPr>
          <a:xfrm>
            <a:off x="567399" y="4229100"/>
            <a:ext cx="2091413" cy="2165351"/>
            <a:chOff x="731783" y="4229100"/>
            <a:chExt cx="2091413" cy="2165351"/>
          </a:xfrm>
        </p:grpSpPr>
        <p:pic>
          <p:nvPicPr>
            <p:cNvPr id="33866" name="Picture 74"/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783" y="4229100"/>
              <a:ext cx="2091413" cy="2165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808" name="Rectangle 16"/>
            <p:cNvSpPr>
              <a:spLocks noChangeArrowheads="1"/>
            </p:cNvSpPr>
            <p:nvPr/>
          </p:nvSpPr>
          <p:spPr bwMode="auto">
            <a:xfrm>
              <a:off x="748843" y="4229101"/>
              <a:ext cx="703675" cy="2141840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58244DC-B2B2-4849-AF0F-A34555097E34}"/>
              </a:ext>
            </a:extLst>
          </p:cNvPr>
          <p:cNvSpPr txBox="1"/>
          <p:nvPr/>
        </p:nvSpPr>
        <p:spPr>
          <a:xfrm rot="992710">
            <a:off x="2593626" y="2251545"/>
            <a:ext cx="1156893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rgbClr val="C00000"/>
                </a:solidFill>
              </a:rPr>
              <a:t>COMPLEMENTO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431EDB6-E2C7-4A21-9563-0318BE4C1AAD}"/>
              </a:ext>
            </a:extLst>
          </p:cNvPr>
          <p:cNvSpPr txBox="1"/>
          <p:nvPr/>
        </p:nvSpPr>
        <p:spPr>
          <a:xfrm rot="485819">
            <a:off x="2021399" y="3499404"/>
            <a:ext cx="1156893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rgbClr val="C00000"/>
                </a:solidFill>
              </a:rPr>
              <a:t>COMPLEMENTO</a:t>
            </a:r>
          </a:p>
        </p:txBody>
      </p:sp>
    </p:spTree>
    <p:extLst>
      <p:ext uri="{BB962C8B-B14F-4D97-AF65-F5344CB8AC3E}">
        <p14:creationId xmlns:p14="http://schemas.microsoft.com/office/powerpoint/2010/main" val="262936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upo 69">
            <a:extLst>
              <a:ext uri="{FF2B5EF4-FFF2-40B4-BE49-F238E27FC236}">
                <a16:creationId xmlns:a16="http://schemas.microsoft.com/office/drawing/2014/main" id="{97D3B78E-0D9D-4101-92B4-64B9E3E200B8}"/>
              </a:ext>
            </a:extLst>
          </p:cNvPr>
          <p:cNvGrpSpPr/>
          <p:nvPr/>
        </p:nvGrpSpPr>
        <p:grpSpPr>
          <a:xfrm>
            <a:off x="504622" y="3589993"/>
            <a:ext cx="8018241" cy="523220"/>
            <a:chOff x="744758" y="4697293"/>
            <a:chExt cx="8018241" cy="523220"/>
          </a:xfrm>
        </p:grpSpPr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A1D59A5C-A431-4163-A218-3E9277598EE2}"/>
                </a:ext>
              </a:extLst>
            </p:cNvPr>
            <p:cNvSpPr txBox="1"/>
            <p:nvPr/>
          </p:nvSpPr>
          <p:spPr>
            <a:xfrm>
              <a:off x="744758" y="4697293"/>
              <a:ext cx="80182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la diferencia entre la información muestral (   ) y la propuesta de la hipótesis nula (           ) son muy discrepantes o no (un valor tipificado es “</a:t>
              </a:r>
              <a:r>
                <a:rPr lang="es-ES" sz="1400" i="1" dirty="0"/>
                <a:t>auto informativo”</a:t>
              </a:r>
              <a:r>
                <a:rPr lang="es-ES" sz="1400" dirty="0"/>
                <a:t>)</a:t>
              </a:r>
            </a:p>
          </p:txBody>
        </p:sp>
        <p:graphicFrame>
          <p:nvGraphicFramePr>
            <p:cNvPr id="61" name="Object 29">
              <a:extLst>
                <a:ext uri="{FF2B5EF4-FFF2-40B4-BE49-F238E27FC236}">
                  <a16:creationId xmlns:a16="http://schemas.microsoft.com/office/drawing/2014/main" id="{9DDD8256-B93C-4311-ABDF-13992AA4AA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7219" y="4753533"/>
            <a:ext cx="1746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190440" progId="Equation.DSMT4">
                    <p:embed/>
                  </p:oleObj>
                </mc:Choice>
                <mc:Fallback>
                  <p:oleObj name="Equation" r:id="rId2" imgW="164880" imgH="190440" progId="Equation.DSMT4">
                    <p:embed/>
                    <p:pic>
                      <p:nvPicPr>
                        <p:cNvPr id="61" name="Object 29">
                          <a:extLst>
                            <a:ext uri="{FF2B5EF4-FFF2-40B4-BE49-F238E27FC236}">
                              <a16:creationId xmlns:a16="http://schemas.microsoft.com/office/drawing/2014/main" id="{9DDD8256-B93C-4311-ABDF-13992AA4AA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7219" y="4753533"/>
                          <a:ext cx="174625" cy="200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29">
              <a:extLst>
                <a:ext uri="{FF2B5EF4-FFF2-40B4-BE49-F238E27FC236}">
                  <a16:creationId xmlns:a16="http://schemas.microsoft.com/office/drawing/2014/main" id="{67CE84C5-DE1B-4FEE-B36A-5287032E8F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61129" y="4706332"/>
            <a:ext cx="579556" cy="296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69696" imgH="241195" progId="Equation.DSMT4">
                    <p:embed/>
                  </p:oleObj>
                </mc:Choice>
                <mc:Fallback>
                  <p:oleObj name="Equation" r:id="rId4" imgW="469696" imgH="241195" progId="Equation.DSMT4">
                    <p:embed/>
                    <p:pic>
                      <p:nvPicPr>
                        <p:cNvPr id="62" name="Object 29">
                          <a:extLst>
                            <a:ext uri="{FF2B5EF4-FFF2-40B4-BE49-F238E27FC236}">
                              <a16:creationId xmlns:a16="http://schemas.microsoft.com/office/drawing/2014/main" id="{67CE84C5-DE1B-4FEE-B36A-5287032E8F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1129" y="4706332"/>
                          <a:ext cx="579556" cy="2968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8AE83830-8A94-41B3-9255-D975137C0C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5995" y="1154548"/>
          <a:ext cx="139700" cy="272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03040" progId="Equation.DSMT4">
                  <p:embed/>
                </p:oleObj>
              </mc:Choice>
              <mc:Fallback>
                <p:oleObj name="Equation" r:id="rId6" imgW="139680" imgH="203040" progId="Equation.DSMT4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8AE83830-8A94-41B3-9255-D975137C0C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05995" y="1154548"/>
                        <a:ext cx="139700" cy="272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0F20CE26-986B-48FC-812B-F385C7DC47A0}"/>
              </a:ext>
            </a:extLst>
          </p:cNvPr>
          <p:cNvSpPr txBox="1"/>
          <p:nvPr/>
        </p:nvSpPr>
        <p:spPr>
          <a:xfrm>
            <a:off x="4194711" y="1175508"/>
            <a:ext cx="652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>
                <a:solidFill>
                  <a:schemeClr val="bg1">
                    <a:lumMod val="65000"/>
                  </a:schemeClr>
                </a:solidFill>
              </a:rPr>
              <a:t>entonces</a:t>
            </a:r>
            <a:endParaRPr lang="en-GB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34CFF719-D3F2-48BD-A620-A434CD3E1046}"/>
              </a:ext>
            </a:extLst>
          </p:cNvPr>
          <p:cNvGrpSpPr/>
          <p:nvPr/>
        </p:nvGrpSpPr>
        <p:grpSpPr>
          <a:xfrm>
            <a:off x="279117" y="858984"/>
            <a:ext cx="5353197" cy="324991"/>
            <a:chOff x="519253" y="990600"/>
            <a:chExt cx="5353197" cy="324991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5D1D37F-C7F3-4CA0-9E83-F893DB1EE177}"/>
                </a:ext>
              </a:extLst>
            </p:cNvPr>
            <p:cNvSpPr txBox="1"/>
            <p:nvPr/>
          </p:nvSpPr>
          <p:spPr>
            <a:xfrm>
              <a:off x="519253" y="993912"/>
              <a:ext cx="35974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/>
                <a:t>1. Si la variable </a:t>
              </a:r>
              <a:r>
                <a:rPr lang="es-E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s-ES" sz="1400" dirty="0"/>
                <a:t>tiene distribución normal</a:t>
              </a:r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206E8E78-3124-45EB-9E8F-1D9F630CDE59}"/>
                </a:ext>
              </a:extLst>
            </p:cNvPr>
            <p:cNvGrpSpPr/>
            <p:nvPr/>
          </p:nvGrpSpPr>
          <p:grpSpPr>
            <a:xfrm>
              <a:off x="4359513" y="990600"/>
              <a:ext cx="1512937" cy="324991"/>
              <a:chOff x="4165204" y="1293739"/>
              <a:chExt cx="1512937" cy="324991"/>
            </a:xfrm>
          </p:grpSpPr>
          <p:graphicFrame>
            <p:nvGraphicFramePr>
              <p:cNvPr id="12" name="Object 29">
                <a:extLst>
                  <a:ext uri="{FF2B5EF4-FFF2-40B4-BE49-F238E27FC236}">
                    <a16:creationId xmlns:a16="http://schemas.microsoft.com/office/drawing/2014/main" id="{C22CC5F2-52D7-4628-8618-0C3D22A871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87516" y="1313930"/>
              <a:ext cx="1190625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30040" imgH="291960" progId="Equation.DSMT4">
                      <p:embed/>
                    </p:oleObj>
                  </mc:Choice>
                  <mc:Fallback>
                    <p:oleObj name="Equation" r:id="rId8" imgW="1130040" imgH="291960" progId="Equation.DSMT4">
                      <p:embed/>
                      <p:pic>
                        <p:nvPicPr>
                          <p:cNvPr id="12" name="Object 29">
                            <a:extLst>
                              <a:ext uri="{FF2B5EF4-FFF2-40B4-BE49-F238E27FC236}">
                                <a16:creationId xmlns:a16="http://schemas.microsoft.com/office/drawing/2014/main" id="{C22CC5F2-52D7-4628-8618-0C3D22A8719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7516" y="1313930"/>
                            <a:ext cx="1190625" cy="304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89A7577-4CBB-4E6A-A938-CDF65A16E335}"/>
                  </a:ext>
                </a:extLst>
              </p:cNvPr>
              <p:cNvSpPr txBox="1"/>
              <p:nvPr/>
            </p:nvSpPr>
            <p:spPr>
              <a:xfrm>
                <a:off x="4165204" y="1293739"/>
                <a:ext cx="3449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dirty="0"/>
                  <a:t>Si</a:t>
                </a:r>
              </a:p>
            </p:txBody>
          </p:sp>
        </p:grp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CDAFD5F-F3B8-4E24-A109-82EFF6F79156}"/>
              </a:ext>
            </a:extLst>
          </p:cNvPr>
          <p:cNvGrpSpPr/>
          <p:nvPr/>
        </p:nvGrpSpPr>
        <p:grpSpPr>
          <a:xfrm>
            <a:off x="6411260" y="157805"/>
            <a:ext cx="1752600" cy="1565574"/>
            <a:chOff x="5883165" y="268411"/>
            <a:chExt cx="1752600" cy="1565574"/>
          </a:xfrm>
        </p:grpSpPr>
        <p:pic>
          <p:nvPicPr>
            <p:cNvPr id="21" name="Snagit_PPT473F">
              <a:extLst>
                <a:ext uri="{FF2B5EF4-FFF2-40B4-BE49-F238E27FC236}">
                  <a16:creationId xmlns:a16="http://schemas.microsoft.com/office/drawing/2014/main" id="{628B6042-3498-46C4-B8C2-862684879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3165" y="268411"/>
              <a:ext cx="1752600" cy="1323694"/>
            </a:xfrm>
            <a:prstGeom prst="rect">
              <a:avLst/>
            </a:prstGeom>
          </p:spPr>
        </p:pic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50E26B9-DC62-41FF-BF35-A1968103ED5E}"/>
                </a:ext>
              </a:extLst>
            </p:cNvPr>
            <p:cNvSpPr txBox="1"/>
            <p:nvPr/>
          </p:nvSpPr>
          <p:spPr>
            <a:xfrm>
              <a:off x="6615836" y="1556986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07E3A72-53EB-4389-B939-E35EA8A891AC}"/>
              </a:ext>
            </a:extLst>
          </p:cNvPr>
          <p:cNvSpPr txBox="1"/>
          <p:nvPr/>
        </p:nvSpPr>
        <p:spPr>
          <a:xfrm>
            <a:off x="6787845" y="276202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3C88003-DE25-45B0-AC98-850D59498D2B}"/>
              </a:ext>
            </a:extLst>
          </p:cNvPr>
          <p:cNvGrpSpPr/>
          <p:nvPr/>
        </p:nvGrpSpPr>
        <p:grpSpPr>
          <a:xfrm>
            <a:off x="279117" y="1380836"/>
            <a:ext cx="5326978" cy="382588"/>
            <a:chOff x="519253" y="1910440"/>
            <a:chExt cx="5326978" cy="382588"/>
          </a:xfrm>
        </p:grpSpPr>
        <p:graphicFrame>
          <p:nvGraphicFramePr>
            <p:cNvPr id="13" name="Object 29">
              <a:extLst>
                <a:ext uri="{FF2B5EF4-FFF2-40B4-BE49-F238E27FC236}">
                  <a16:creationId xmlns:a16="http://schemas.microsoft.com/office/drawing/2014/main" id="{93452DAF-3C41-4CB8-BD6B-23AC7006D5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5731" y="1910440"/>
            <a:ext cx="1460500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84200" imgH="368280" progId="Equation.DSMT4">
                    <p:embed/>
                  </p:oleObj>
                </mc:Choice>
                <mc:Fallback>
                  <p:oleObj name="Equation" r:id="rId11" imgW="1384200" imgH="368280" progId="Equation.DSMT4">
                    <p:embed/>
                    <p:pic>
                      <p:nvPicPr>
                        <p:cNvPr id="13" name="Object 29">
                          <a:extLst>
                            <a:ext uri="{FF2B5EF4-FFF2-40B4-BE49-F238E27FC236}">
                              <a16:creationId xmlns:a16="http://schemas.microsoft.com/office/drawing/2014/main" id="{93452DAF-3C41-4CB8-BD6B-23AC7006D5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731" y="1910440"/>
                          <a:ext cx="1460500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024581C-204E-4DBD-9F88-FA6F311470DD}"/>
                </a:ext>
              </a:extLst>
            </p:cNvPr>
            <p:cNvSpPr txBox="1"/>
            <p:nvPr/>
          </p:nvSpPr>
          <p:spPr>
            <a:xfrm>
              <a:off x="519253" y="1920138"/>
              <a:ext cx="38154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/>
                <a:t>2. Su media también tiene distribución normal</a:t>
              </a: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349D5E39-9ABD-477C-811D-10C716BDF9DA}"/>
              </a:ext>
            </a:extLst>
          </p:cNvPr>
          <p:cNvGrpSpPr/>
          <p:nvPr/>
        </p:nvGrpSpPr>
        <p:grpSpPr>
          <a:xfrm>
            <a:off x="6615591" y="1609206"/>
            <a:ext cx="2015237" cy="1443884"/>
            <a:chOff x="1143000" y="4189903"/>
            <a:chExt cx="2853437" cy="2189233"/>
          </a:xfrm>
        </p:grpSpPr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42FFA51F-DEAA-4642-B633-9B0B156FC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6373051"/>
              <a:ext cx="2853437" cy="608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s-E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B7AEB1CA-338A-4B91-9962-404CD04E8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368" y="5769465"/>
              <a:ext cx="2552701" cy="602390"/>
            </a:xfrm>
            <a:custGeom>
              <a:avLst/>
              <a:gdLst>
                <a:gd name="T0" fmla="*/ 0 w 9513"/>
                <a:gd name="T1" fmla="*/ 67820 h 5006"/>
                <a:gd name="T2" fmla="*/ 10840 w 9513"/>
                <a:gd name="T3" fmla="*/ 65734 h 5006"/>
                <a:gd name="T4" fmla="*/ 12969 w 9513"/>
                <a:gd name="T5" fmla="*/ 64948 h 5006"/>
                <a:gd name="T6" fmla="*/ 15331 w 9513"/>
                <a:gd name="T7" fmla="*/ 63620 h 5006"/>
                <a:gd name="T8" fmla="*/ 17202 w 9513"/>
                <a:gd name="T9" fmla="*/ 62591 h 5006"/>
                <a:gd name="T10" fmla="*/ 19577 w 9513"/>
                <a:gd name="T11" fmla="*/ 61006 h 5006"/>
                <a:gd name="T12" fmla="*/ 21679 w 9513"/>
                <a:gd name="T13" fmla="*/ 59448 h 5006"/>
                <a:gd name="T14" fmla="*/ 23809 w 9513"/>
                <a:gd name="T15" fmla="*/ 57361 h 5006"/>
                <a:gd name="T16" fmla="*/ 25911 w 9513"/>
                <a:gd name="T17" fmla="*/ 54990 h 5006"/>
                <a:gd name="T18" fmla="*/ 28041 w 9513"/>
                <a:gd name="T19" fmla="*/ 52362 h 5006"/>
                <a:gd name="T20" fmla="*/ 30403 w 9513"/>
                <a:gd name="T21" fmla="*/ 49490 h 5006"/>
                <a:gd name="T22" fmla="*/ 32533 w 9513"/>
                <a:gd name="T23" fmla="*/ 46347 h 5006"/>
                <a:gd name="T24" fmla="*/ 34649 w 9513"/>
                <a:gd name="T25" fmla="*/ 42946 h 5006"/>
                <a:gd name="T26" fmla="*/ 36765 w 9513"/>
                <a:gd name="T27" fmla="*/ 39275 h 5006"/>
                <a:gd name="T28" fmla="*/ 39140 w 9513"/>
                <a:gd name="T29" fmla="*/ 35346 h 5006"/>
                <a:gd name="T30" fmla="*/ 40997 w 9513"/>
                <a:gd name="T31" fmla="*/ 31160 h 5006"/>
                <a:gd name="T32" fmla="*/ 43372 w 9513"/>
                <a:gd name="T33" fmla="*/ 26960 h 5006"/>
                <a:gd name="T34" fmla="*/ 45502 w 9513"/>
                <a:gd name="T35" fmla="*/ 23045 h 5006"/>
                <a:gd name="T36" fmla="*/ 47605 w 9513"/>
                <a:gd name="T37" fmla="*/ 18845 h 5006"/>
                <a:gd name="T38" fmla="*/ 49734 w 9513"/>
                <a:gd name="T39" fmla="*/ 14930 h 5006"/>
                <a:gd name="T40" fmla="*/ 51837 w 9513"/>
                <a:gd name="T41" fmla="*/ 11258 h 5006"/>
                <a:gd name="T42" fmla="*/ 54212 w 9513"/>
                <a:gd name="T43" fmla="*/ 8115 h 5006"/>
                <a:gd name="T44" fmla="*/ 56342 w 9513"/>
                <a:gd name="T45" fmla="*/ 5229 h 5006"/>
                <a:gd name="T46" fmla="*/ 58444 w 9513"/>
                <a:gd name="T47" fmla="*/ 3143 h 5006"/>
                <a:gd name="T48" fmla="*/ 60574 w 9513"/>
                <a:gd name="T49" fmla="*/ 1301 h 5006"/>
                <a:gd name="T50" fmla="*/ 62949 w 9513"/>
                <a:gd name="T51" fmla="*/ 528 h 5006"/>
                <a:gd name="T52" fmla="*/ 65066 w 9513"/>
                <a:gd name="T53" fmla="*/ 0 h 5006"/>
                <a:gd name="T54" fmla="*/ 67182 w 9513"/>
                <a:gd name="T55" fmla="*/ 528 h 5006"/>
                <a:gd name="T56" fmla="*/ 69298 w 9513"/>
                <a:gd name="T57" fmla="*/ 1301 h 5006"/>
                <a:gd name="T58" fmla="*/ 71414 w 9513"/>
                <a:gd name="T59" fmla="*/ 3143 h 5006"/>
                <a:gd name="T60" fmla="*/ 73530 w 9513"/>
                <a:gd name="T61" fmla="*/ 5229 h 5006"/>
                <a:gd name="T62" fmla="*/ 75905 w 9513"/>
                <a:gd name="T63" fmla="*/ 8115 h 5006"/>
                <a:gd name="T64" fmla="*/ 78035 w 9513"/>
                <a:gd name="T65" fmla="*/ 11258 h 5006"/>
                <a:gd name="T66" fmla="*/ 80137 w 9513"/>
                <a:gd name="T67" fmla="*/ 14930 h 5006"/>
                <a:gd name="T68" fmla="*/ 82267 w 9513"/>
                <a:gd name="T69" fmla="*/ 18845 h 5006"/>
                <a:gd name="T70" fmla="*/ 84369 w 9513"/>
                <a:gd name="T71" fmla="*/ 23045 h 5006"/>
                <a:gd name="T72" fmla="*/ 86758 w 9513"/>
                <a:gd name="T73" fmla="*/ 26960 h 5006"/>
                <a:gd name="T74" fmla="*/ 88875 w 9513"/>
                <a:gd name="T75" fmla="*/ 31160 h 5006"/>
                <a:gd name="T76" fmla="*/ 90977 w 9513"/>
                <a:gd name="T77" fmla="*/ 35346 h 5006"/>
                <a:gd name="T78" fmla="*/ 93107 w 9513"/>
                <a:gd name="T79" fmla="*/ 39275 h 5006"/>
                <a:gd name="T80" fmla="*/ 95209 w 9513"/>
                <a:gd name="T81" fmla="*/ 42946 h 5006"/>
                <a:gd name="T82" fmla="*/ 97339 w 9513"/>
                <a:gd name="T83" fmla="*/ 46347 h 5006"/>
                <a:gd name="T84" fmla="*/ 99714 w 9513"/>
                <a:gd name="T85" fmla="*/ 49490 h 5006"/>
                <a:gd name="T86" fmla="*/ 101830 w 9513"/>
                <a:gd name="T87" fmla="*/ 52362 h 5006"/>
                <a:gd name="T88" fmla="*/ 103946 w 9513"/>
                <a:gd name="T89" fmla="*/ 54990 h 5006"/>
                <a:gd name="T90" fmla="*/ 106062 w 9513"/>
                <a:gd name="T91" fmla="*/ 57361 h 5006"/>
                <a:gd name="T92" fmla="*/ 108179 w 9513"/>
                <a:gd name="T93" fmla="*/ 59448 h 5006"/>
                <a:gd name="T94" fmla="*/ 110568 w 9513"/>
                <a:gd name="T95" fmla="*/ 61006 h 5006"/>
                <a:gd name="T96" fmla="*/ 112670 w 9513"/>
                <a:gd name="T97" fmla="*/ 62591 h 5006"/>
                <a:gd name="T98" fmla="*/ 114800 w 9513"/>
                <a:gd name="T99" fmla="*/ 63620 h 5006"/>
                <a:gd name="T100" fmla="*/ 116902 w 9513"/>
                <a:gd name="T101" fmla="*/ 64948 h 5006"/>
                <a:gd name="T102" fmla="*/ 119032 w 9513"/>
                <a:gd name="T103" fmla="*/ 65734 h 5006"/>
                <a:gd name="T104" fmla="*/ 121134 w 9513"/>
                <a:gd name="T105" fmla="*/ 66262 h 5006"/>
                <a:gd name="T106" fmla="*/ 123537 w 9513"/>
                <a:gd name="T107" fmla="*/ 66777 h 5006"/>
                <a:gd name="T108" fmla="*/ 125640 w 9513"/>
                <a:gd name="T109" fmla="*/ 67292 h 5006"/>
                <a:gd name="T110" fmla="*/ 127742 w 9513"/>
                <a:gd name="T111" fmla="*/ 67563 h 5006"/>
                <a:gd name="T112" fmla="*/ 129872 w 9513"/>
                <a:gd name="T113" fmla="*/ 67820 h 500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513" h="5006">
                  <a:moveTo>
                    <a:pt x="0" y="5006"/>
                  </a:moveTo>
                  <a:lnTo>
                    <a:pt x="794" y="4852"/>
                  </a:lnTo>
                  <a:lnTo>
                    <a:pt x="950" y="4794"/>
                  </a:lnTo>
                  <a:lnTo>
                    <a:pt x="1123" y="4696"/>
                  </a:lnTo>
                  <a:lnTo>
                    <a:pt x="1260" y="4620"/>
                  </a:lnTo>
                  <a:lnTo>
                    <a:pt x="1434" y="4503"/>
                  </a:lnTo>
                  <a:lnTo>
                    <a:pt x="1588" y="4388"/>
                  </a:lnTo>
                  <a:lnTo>
                    <a:pt x="1744" y="4234"/>
                  </a:lnTo>
                  <a:lnTo>
                    <a:pt x="1898" y="4059"/>
                  </a:lnTo>
                  <a:lnTo>
                    <a:pt x="2054" y="3865"/>
                  </a:lnTo>
                  <a:lnTo>
                    <a:pt x="2227" y="3653"/>
                  </a:lnTo>
                  <a:lnTo>
                    <a:pt x="2383" y="3421"/>
                  </a:lnTo>
                  <a:lnTo>
                    <a:pt x="2538" y="3170"/>
                  </a:lnTo>
                  <a:lnTo>
                    <a:pt x="2693" y="2899"/>
                  </a:lnTo>
                  <a:lnTo>
                    <a:pt x="2867" y="2609"/>
                  </a:lnTo>
                  <a:lnTo>
                    <a:pt x="3003" y="2300"/>
                  </a:lnTo>
                  <a:lnTo>
                    <a:pt x="3177" y="1990"/>
                  </a:lnTo>
                  <a:lnTo>
                    <a:pt x="3333" y="1701"/>
                  </a:lnTo>
                  <a:lnTo>
                    <a:pt x="3487" y="1391"/>
                  </a:lnTo>
                  <a:lnTo>
                    <a:pt x="3643" y="1102"/>
                  </a:lnTo>
                  <a:lnTo>
                    <a:pt x="3797" y="831"/>
                  </a:lnTo>
                  <a:lnTo>
                    <a:pt x="3971" y="599"/>
                  </a:lnTo>
                  <a:lnTo>
                    <a:pt x="4127" y="386"/>
                  </a:lnTo>
                  <a:lnTo>
                    <a:pt x="4281" y="232"/>
                  </a:lnTo>
                  <a:lnTo>
                    <a:pt x="4437" y="96"/>
                  </a:lnTo>
                  <a:lnTo>
                    <a:pt x="4611" y="39"/>
                  </a:lnTo>
                  <a:lnTo>
                    <a:pt x="4766" y="0"/>
                  </a:lnTo>
                  <a:lnTo>
                    <a:pt x="4921" y="39"/>
                  </a:lnTo>
                  <a:lnTo>
                    <a:pt x="5076" y="96"/>
                  </a:lnTo>
                  <a:lnTo>
                    <a:pt x="5231" y="232"/>
                  </a:lnTo>
                  <a:lnTo>
                    <a:pt x="5386" y="386"/>
                  </a:lnTo>
                  <a:lnTo>
                    <a:pt x="5560" y="599"/>
                  </a:lnTo>
                  <a:lnTo>
                    <a:pt x="5716" y="831"/>
                  </a:lnTo>
                  <a:lnTo>
                    <a:pt x="5870" y="1102"/>
                  </a:lnTo>
                  <a:lnTo>
                    <a:pt x="6026" y="1391"/>
                  </a:lnTo>
                  <a:lnTo>
                    <a:pt x="6180" y="1701"/>
                  </a:lnTo>
                  <a:lnTo>
                    <a:pt x="6355" y="1990"/>
                  </a:lnTo>
                  <a:lnTo>
                    <a:pt x="6510" y="2300"/>
                  </a:lnTo>
                  <a:lnTo>
                    <a:pt x="6664" y="2609"/>
                  </a:lnTo>
                  <a:lnTo>
                    <a:pt x="6820" y="2899"/>
                  </a:lnTo>
                  <a:lnTo>
                    <a:pt x="6974" y="3170"/>
                  </a:lnTo>
                  <a:lnTo>
                    <a:pt x="7130" y="3421"/>
                  </a:lnTo>
                  <a:lnTo>
                    <a:pt x="7304" y="3653"/>
                  </a:lnTo>
                  <a:lnTo>
                    <a:pt x="7459" y="3865"/>
                  </a:lnTo>
                  <a:lnTo>
                    <a:pt x="7614" y="4059"/>
                  </a:lnTo>
                  <a:lnTo>
                    <a:pt x="7769" y="4234"/>
                  </a:lnTo>
                  <a:lnTo>
                    <a:pt x="7924" y="4388"/>
                  </a:lnTo>
                  <a:lnTo>
                    <a:pt x="8099" y="4503"/>
                  </a:lnTo>
                  <a:lnTo>
                    <a:pt x="8253" y="4620"/>
                  </a:lnTo>
                  <a:lnTo>
                    <a:pt x="8409" y="4696"/>
                  </a:lnTo>
                  <a:lnTo>
                    <a:pt x="8563" y="4794"/>
                  </a:lnTo>
                  <a:lnTo>
                    <a:pt x="8719" y="4852"/>
                  </a:lnTo>
                  <a:lnTo>
                    <a:pt x="8873" y="4891"/>
                  </a:lnTo>
                  <a:lnTo>
                    <a:pt x="9049" y="4929"/>
                  </a:lnTo>
                  <a:lnTo>
                    <a:pt x="9203" y="4967"/>
                  </a:lnTo>
                  <a:lnTo>
                    <a:pt x="9357" y="4987"/>
                  </a:lnTo>
                  <a:lnTo>
                    <a:pt x="9513" y="5006"/>
                  </a:lnTo>
                </a:path>
              </a:pathLst>
            </a:custGeom>
            <a:solidFill>
              <a:srgbClr val="C0C0C0">
                <a:alpha val="12941"/>
              </a:srgbClr>
            </a:solidFill>
            <a:ln w="11176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620A5317-5FB4-4F29-BA57-CEC0527C4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83" y="4189903"/>
              <a:ext cx="516471" cy="2181952"/>
            </a:xfrm>
            <a:custGeom>
              <a:avLst/>
              <a:gdLst>
                <a:gd name="T0" fmla="*/ 0 w 9513"/>
                <a:gd name="T1" fmla="*/ 67820 h 5006"/>
                <a:gd name="T2" fmla="*/ 10840 w 9513"/>
                <a:gd name="T3" fmla="*/ 65734 h 5006"/>
                <a:gd name="T4" fmla="*/ 12969 w 9513"/>
                <a:gd name="T5" fmla="*/ 64948 h 5006"/>
                <a:gd name="T6" fmla="*/ 15331 w 9513"/>
                <a:gd name="T7" fmla="*/ 63620 h 5006"/>
                <a:gd name="T8" fmla="*/ 17202 w 9513"/>
                <a:gd name="T9" fmla="*/ 62591 h 5006"/>
                <a:gd name="T10" fmla="*/ 19577 w 9513"/>
                <a:gd name="T11" fmla="*/ 61006 h 5006"/>
                <a:gd name="T12" fmla="*/ 21679 w 9513"/>
                <a:gd name="T13" fmla="*/ 59448 h 5006"/>
                <a:gd name="T14" fmla="*/ 23809 w 9513"/>
                <a:gd name="T15" fmla="*/ 57361 h 5006"/>
                <a:gd name="T16" fmla="*/ 25911 w 9513"/>
                <a:gd name="T17" fmla="*/ 54990 h 5006"/>
                <a:gd name="T18" fmla="*/ 28041 w 9513"/>
                <a:gd name="T19" fmla="*/ 52362 h 5006"/>
                <a:gd name="T20" fmla="*/ 30403 w 9513"/>
                <a:gd name="T21" fmla="*/ 49490 h 5006"/>
                <a:gd name="T22" fmla="*/ 32533 w 9513"/>
                <a:gd name="T23" fmla="*/ 46347 h 5006"/>
                <a:gd name="T24" fmla="*/ 34649 w 9513"/>
                <a:gd name="T25" fmla="*/ 42946 h 5006"/>
                <a:gd name="T26" fmla="*/ 36765 w 9513"/>
                <a:gd name="T27" fmla="*/ 39275 h 5006"/>
                <a:gd name="T28" fmla="*/ 39140 w 9513"/>
                <a:gd name="T29" fmla="*/ 35346 h 5006"/>
                <a:gd name="T30" fmla="*/ 40997 w 9513"/>
                <a:gd name="T31" fmla="*/ 31160 h 5006"/>
                <a:gd name="T32" fmla="*/ 43372 w 9513"/>
                <a:gd name="T33" fmla="*/ 26960 h 5006"/>
                <a:gd name="T34" fmla="*/ 45502 w 9513"/>
                <a:gd name="T35" fmla="*/ 23045 h 5006"/>
                <a:gd name="T36" fmla="*/ 47605 w 9513"/>
                <a:gd name="T37" fmla="*/ 18845 h 5006"/>
                <a:gd name="T38" fmla="*/ 49734 w 9513"/>
                <a:gd name="T39" fmla="*/ 14930 h 5006"/>
                <a:gd name="T40" fmla="*/ 51837 w 9513"/>
                <a:gd name="T41" fmla="*/ 11258 h 5006"/>
                <a:gd name="T42" fmla="*/ 54212 w 9513"/>
                <a:gd name="T43" fmla="*/ 8115 h 5006"/>
                <a:gd name="T44" fmla="*/ 56342 w 9513"/>
                <a:gd name="T45" fmla="*/ 5229 h 5006"/>
                <a:gd name="T46" fmla="*/ 58444 w 9513"/>
                <a:gd name="T47" fmla="*/ 3143 h 5006"/>
                <a:gd name="T48" fmla="*/ 60574 w 9513"/>
                <a:gd name="T49" fmla="*/ 1301 h 5006"/>
                <a:gd name="T50" fmla="*/ 62949 w 9513"/>
                <a:gd name="T51" fmla="*/ 528 h 5006"/>
                <a:gd name="T52" fmla="*/ 65066 w 9513"/>
                <a:gd name="T53" fmla="*/ 0 h 5006"/>
                <a:gd name="T54" fmla="*/ 67182 w 9513"/>
                <a:gd name="T55" fmla="*/ 528 h 5006"/>
                <a:gd name="T56" fmla="*/ 69298 w 9513"/>
                <a:gd name="T57" fmla="*/ 1301 h 5006"/>
                <a:gd name="T58" fmla="*/ 71414 w 9513"/>
                <a:gd name="T59" fmla="*/ 3143 h 5006"/>
                <a:gd name="T60" fmla="*/ 73530 w 9513"/>
                <a:gd name="T61" fmla="*/ 5229 h 5006"/>
                <a:gd name="T62" fmla="*/ 75905 w 9513"/>
                <a:gd name="T63" fmla="*/ 8115 h 5006"/>
                <a:gd name="T64" fmla="*/ 78035 w 9513"/>
                <a:gd name="T65" fmla="*/ 11258 h 5006"/>
                <a:gd name="T66" fmla="*/ 80137 w 9513"/>
                <a:gd name="T67" fmla="*/ 14930 h 5006"/>
                <a:gd name="T68" fmla="*/ 82267 w 9513"/>
                <a:gd name="T69" fmla="*/ 18845 h 5006"/>
                <a:gd name="T70" fmla="*/ 84369 w 9513"/>
                <a:gd name="T71" fmla="*/ 23045 h 5006"/>
                <a:gd name="T72" fmla="*/ 86758 w 9513"/>
                <a:gd name="T73" fmla="*/ 26960 h 5006"/>
                <a:gd name="T74" fmla="*/ 88875 w 9513"/>
                <a:gd name="T75" fmla="*/ 31160 h 5006"/>
                <a:gd name="T76" fmla="*/ 90977 w 9513"/>
                <a:gd name="T77" fmla="*/ 35346 h 5006"/>
                <a:gd name="T78" fmla="*/ 93107 w 9513"/>
                <a:gd name="T79" fmla="*/ 39275 h 5006"/>
                <a:gd name="T80" fmla="*/ 95209 w 9513"/>
                <a:gd name="T81" fmla="*/ 42946 h 5006"/>
                <a:gd name="T82" fmla="*/ 97339 w 9513"/>
                <a:gd name="T83" fmla="*/ 46347 h 5006"/>
                <a:gd name="T84" fmla="*/ 99714 w 9513"/>
                <a:gd name="T85" fmla="*/ 49490 h 5006"/>
                <a:gd name="T86" fmla="*/ 101830 w 9513"/>
                <a:gd name="T87" fmla="*/ 52362 h 5006"/>
                <a:gd name="T88" fmla="*/ 103946 w 9513"/>
                <a:gd name="T89" fmla="*/ 54990 h 5006"/>
                <a:gd name="T90" fmla="*/ 106062 w 9513"/>
                <a:gd name="T91" fmla="*/ 57361 h 5006"/>
                <a:gd name="T92" fmla="*/ 108179 w 9513"/>
                <a:gd name="T93" fmla="*/ 59448 h 5006"/>
                <a:gd name="T94" fmla="*/ 110568 w 9513"/>
                <a:gd name="T95" fmla="*/ 61006 h 5006"/>
                <a:gd name="T96" fmla="*/ 112670 w 9513"/>
                <a:gd name="T97" fmla="*/ 62591 h 5006"/>
                <a:gd name="T98" fmla="*/ 114800 w 9513"/>
                <a:gd name="T99" fmla="*/ 63620 h 5006"/>
                <a:gd name="T100" fmla="*/ 116902 w 9513"/>
                <a:gd name="T101" fmla="*/ 64948 h 5006"/>
                <a:gd name="T102" fmla="*/ 119032 w 9513"/>
                <a:gd name="T103" fmla="*/ 65734 h 5006"/>
                <a:gd name="T104" fmla="*/ 121134 w 9513"/>
                <a:gd name="T105" fmla="*/ 66262 h 5006"/>
                <a:gd name="T106" fmla="*/ 123537 w 9513"/>
                <a:gd name="T107" fmla="*/ 66777 h 5006"/>
                <a:gd name="T108" fmla="*/ 125640 w 9513"/>
                <a:gd name="T109" fmla="*/ 67292 h 5006"/>
                <a:gd name="T110" fmla="*/ 127742 w 9513"/>
                <a:gd name="T111" fmla="*/ 67563 h 5006"/>
                <a:gd name="T112" fmla="*/ 129872 w 9513"/>
                <a:gd name="T113" fmla="*/ 67820 h 500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513" h="5006">
                  <a:moveTo>
                    <a:pt x="0" y="5006"/>
                  </a:moveTo>
                  <a:lnTo>
                    <a:pt x="794" y="4852"/>
                  </a:lnTo>
                  <a:lnTo>
                    <a:pt x="950" y="4794"/>
                  </a:lnTo>
                  <a:lnTo>
                    <a:pt x="1123" y="4696"/>
                  </a:lnTo>
                  <a:lnTo>
                    <a:pt x="1260" y="4620"/>
                  </a:lnTo>
                  <a:lnTo>
                    <a:pt x="1434" y="4503"/>
                  </a:lnTo>
                  <a:lnTo>
                    <a:pt x="1588" y="4388"/>
                  </a:lnTo>
                  <a:lnTo>
                    <a:pt x="1744" y="4234"/>
                  </a:lnTo>
                  <a:lnTo>
                    <a:pt x="1898" y="4059"/>
                  </a:lnTo>
                  <a:lnTo>
                    <a:pt x="2054" y="3865"/>
                  </a:lnTo>
                  <a:lnTo>
                    <a:pt x="2227" y="3653"/>
                  </a:lnTo>
                  <a:lnTo>
                    <a:pt x="2383" y="3421"/>
                  </a:lnTo>
                  <a:lnTo>
                    <a:pt x="2538" y="3170"/>
                  </a:lnTo>
                  <a:lnTo>
                    <a:pt x="2693" y="2899"/>
                  </a:lnTo>
                  <a:lnTo>
                    <a:pt x="2867" y="2609"/>
                  </a:lnTo>
                  <a:lnTo>
                    <a:pt x="3003" y="2300"/>
                  </a:lnTo>
                  <a:lnTo>
                    <a:pt x="3177" y="1990"/>
                  </a:lnTo>
                  <a:lnTo>
                    <a:pt x="3333" y="1701"/>
                  </a:lnTo>
                  <a:lnTo>
                    <a:pt x="3487" y="1391"/>
                  </a:lnTo>
                  <a:lnTo>
                    <a:pt x="3643" y="1102"/>
                  </a:lnTo>
                  <a:lnTo>
                    <a:pt x="3797" y="831"/>
                  </a:lnTo>
                  <a:lnTo>
                    <a:pt x="3971" y="599"/>
                  </a:lnTo>
                  <a:lnTo>
                    <a:pt x="4127" y="386"/>
                  </a:lnTo>
                  <a:lnTo>
                    <a:pt x="4281" y="232"/>
                  </a:lnTo>
                  <a:lnTo>
                    <a:pt x="4437" y="96"/>
                  </a:lnTo>
                  <a:lnTo>
                    <a:pt x="4611" y="39"/>
                  </a:lnTo>
                  <a:lnTo>
                    <a:pt x="4766" y="0"/>
                  </a:lnTo>
                  <a:lnTo>
                    <a:pt x="4921" y="39"/>
                  </a:lnTo>
                  <a:lnTo>
                    <a:pt x="5076" y="96"/>
                  </a:lnTo>
                  <a:lnTo>
                    <a:pt x="5231" y="232"/>
                  </a:lnTo>
                  <a:lnTo>
                    <a:pt x="5386" y="386"/>
                  </a:lnTo>
                  <a:lnTo>
                    <a:pt x="5560" y="599"/>
                  </a:lnTo>
                  <a:lnTo>
                    <a:pt x="5716" y="831"/>
                  </a:lnTo>
                  <a:lnTo>
                    <a:pt x="5870" y="1102"/>
                  </a:lnTo>
                  <a:lnTo>
                    <a:pt x="6026" y="1391"/>
                  </a:lnTo>
                  <a:lnTo>
                    <a:pt x="6180" y="1701"/>
                  </a:lnTo>
                  <a:lnTo>
                    <a:pt x="6355" y="1990"/>
                  </a:lnTo>
                  <a:lnTo>
                    <a:pt x="6510" y="2300"/>
                  </a:lnTo>
                  <a:lnTo>
                    <a:pt x="6664" y="2609"/>
                  </a:lnTo>
                  <a:lnTo>
                    <a:pt x="6820" y="2899"/>
                  </a:lnTo>
                  <a:lnTo>
                    <a:pt x="6974" y="3170"/>
                  </a:lnTo>
                  <a:lnTo>
                    <a:pt x="7130" y="3421"/>
                  </a:lnTo>
                  <a:lnTo>
                    <a:pt x="7304" y="3653"/>
                  </a:lnTo>
                  <a:lnTo>
                    <a:pt x="7459" y="3865"/>
                  </a:lnTo>
                  <a:lnTo>
                    <a:pt x="7614" y="4059"/>
                  </a:lnTo>
                  <a:lnTo>
                    <a:pt x="7769" y="4234"/>
                  </a:lnTo>
                  <a:lnTo>
                    <a:pt x="7924" y="4388"/>
                  </a:lnTo>
                  <a:lnTo>
                    <a:pt x="8099" y="4503"/>
                  </a:lnTo>
                  <a:lnTo>
                    <a:pt x="8253" y="4620"/>
                  </a:lnTo>
                  <a:lnTo>
                    <a:pt x="8409" y="4696"/>
                  </a:lnTo>
                  <a:lnTo>
                    <a:pt x="8563" y="4794"/>
                  </a:lnTo>
                  <a:lnTo>
                    <a:pt x="8719" y="4852"/>
                  </a:lnTo>
                  <a:lnTo>
                    <a:pt x="8873" y="4891"/>
                  </a:lnTo>
                  <a:lnTo>
                    <a:pt x="9049" y="4929"/>
                  </a:lnTo>
                  <a:lnTo>
                    <a:pt x="9203" y="4967"/>
                  </a:lnTo>
                  <a:lnTo>
                    <a:pt x="9357" y="4987"/>
                  </a:lnTo>
                  <a:lnTo>
                    <a:pt x="9513" y="5006"/>
                  </a:lnTo>
                </a:path>
              </a:pathLst>
            </a:custGeom>
            <a:solidFill>
              <a:srgbClr val="C0C0C0">
                <a:alpha val="12941"/>
              </a:srgbClr>
            </a:solidFill>
            <a:ln w="11176">
              <a:solidFill>
                <a:schemeClr val="accent1">
                  <a:lumMod val="25000"/>
                </a:scheme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ES" dirty="0"/>
            </a:p>
          </p:txBody>
        </p:sp>
      </p:grpSp>
      <p:graphicFrame>
        <p:nvGraphicFramePr>
          <p:cNvPr id="48" name="Objeto 47">
            <a:extLst>
              <a:ext uri="{FF2B5EF4-FFF2-40B4-BE49-F238E27FC236}">
                <a16:creationId xmlns:a16="http://schemas.microsoft.com/office/drawing/2014/main" id="{DC8BBBF2-2193-4242-A418-D815A3C9B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1005" y="2197100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164880" progId="Equation.DSMT4">
                  <p:embed/>
                </p:oleObj>
              </mc:Choice>
              <mc:Fallback>
                <p:oleObj name="Equation" r:id="rId13" imgW="139680" imgH="164880" progId="Equation.DSMT4">
                  <p:embed/>
                  <p:pic>
                    <p:nvPicPr>
                      <p:cNvPr id="48" name="Objeto 47">
                        <a:extLst>
                          <a:ext uri="{FF2B5EF4-FFF2-40B4-BE49-F238E27FC236}">
                            <a16:creationId xmlns:a16="http://schemas.microsoft.com/office/drawing/2014/main" id="{DC8BBBF2-2193-4242-A418-D815A3C9B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61005" y="2197100"/>
                        <a:ext cx="1397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CuadroTexto 48">
            <a:extLst>
              <a:ext uri="{FF2B5EF4-FFF2-40B4-BE49-F238E27FC236}">
                <a16:creationId xmlns:a16="http://schemas.microsoft.com/office/drawing/2014/main" id="{7C3511AA-5B20-4231-BC61-80E7C2D3ED78}"/>
              </a:ext>
            </a:extLst>
          </p:cNvPr>
          <p:cNvSpPr txBox="1"/>
          <p:nvPr/>
        </p:nvSpPr>
        <p:spPr>
          <a:xfrm>
            <a:off x="6353933" y="2374552"/>
            <a:ext cx="735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800" dirty="0"/>
              <a:t>Distribución de la variable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65305B1-81FC-4A50-8B62-648CA3F829D9}"/>
              </a:ext>
            </a:extLst>
          </p:cNvPr>
          <p:cNvSpPr txBox="1"/>
          <p:nvPr/>
        </p:nvSpPr>
        <p:spPr>
          <a:xfrm>
            <a:off x="7785502" y="1628803"/>
            <a:ext cx="735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Distribución de la media de la variable</a:t>
            </a:r>
          </a:p>
        </p:txBody>
      </p:sp>
      <p:graphicFrame>
        <p:nvGraphicFramePr>
          <p:cNvPr id="54" name="Objeto 53">
            <a:extLst>
              <a:ext uri="{FF2B5EF4-FFF2-40B4-BE49-F238E27FC236}">
                <a16:creationId xmlns:a16="http://schemas.microsoft.com/office/drawing/2014/main" id="{7C0CEC23-E2A5-40DB-BE8B-C6212B1F5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5995" y="1717684"/>
          <a:ext cx="139700" cy="272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03040" progId="Equation.DSMT4">
                  <p:embed/>
                </p:oleObj>
              </mc:Choice>
              <mc:Fallback>
                <p:oleObj name="Equation" r:id="rId6" imgW="139680" imgH="203040" progId="Equation.DSMT4">
                  <p:embed/>
                  <p:pic>
                    <p:nvPicPr>
                      <p:cNvPr id="54" name="Objeto 53">
                        <a:extLst>
                          <a:ext uri="{FF2B5EF4-FFF2-40B4-BE49-F238E27FC236}">
                            <a16:creationId xmlns:a16="http://schemas.microsoft.com/office/drawing/2014/main" id="{7C0CEC23-E2A5-40DB-BE8B-C6212B1F5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05995" y="1717684"/>
                        <a:ext cx="139700" cy="272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CuadroTexto 54">
            <a:extLst>
              <a:ext uri="{FF2B5EF4-FFF2-40B4-BE49-F238E27FC236}">
                <a16:creationId xmlns:a16="http://schemas.microsoft.com/office/drawing/2014/main" id="{FB3C0D27-E223-4582-93AC-78E6D84AA2F9}"/>
              </a:ext>
            </a:extLst>
          </p:cNvPr>
          <p:cNvSpPr txBox="1"/>
          <p:nvPr/>
        </p:nvSpPr>
        <p:spPr>
          <a:xfrm>
            <a:off x="237040" y="2819400"/>
            <a:ext cx="4544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Ahora interviene la 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información dada por la hipótesis nula H</a:t>
            </a:r>
            <a:r>
              <a:rPr lang="es-ES" b="1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93134F4D-6B9B-4E19-A94D-CB0575D09D90}"/>
              </a:ext>
            </a:extLst>
          </p:cNvPr>
          <p:cNvGrpSpPr/>
          <p:nvPr/>
        </p:nvGrpSpPr>
        <p:grpSpPr>
          <a:xfrm>
            <a:off x="293264" y="3048000"/>
            <a:ext cx="8221171" cy="608013"/>
            <a:chOff x="541828" y="3948392"/>
            <a:chExt cx="8221171" cy="608013"/>
          </a:xfrm>
        </p:grpSpPr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8FED3464-C03A-47FF-AE90-72C48C037410}"/>
                </a:ext>
              </a:extLst>
            </p:cNvPr>
            <p:cNvGrpSpPr/>
            <p:nvPr/>
          </p:nvGrpSpPr>
          <p:grpSpPr>
            <a:xfrm>
              <a:off x="541828" y="4085115"/>
              <a:ext cx="2065933" cy="307777"/>
              <a:chOff x="541828" y="4038479"/>
              <a:chExt cx="2065933" cy="307777"/>
            </a:xfrm>
          </p:grpSpPr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C421A6F5-25AB-4A98-8A5C-62A6AD79F3BE}"/>
                  </a:ext>
                </a:extLst>
              </p:cNvPr>
              <p:cNvSpPr txBox="1"/>
              <p:nvPr/>
            </p:nvSpPr>
            <p:spPr>
              <a:xfrm>
                <a:off x="541828" y="4038479"/>
                <a:ext cx="15007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dirty="0"/>
                  <a:t>4. Si H</a:t>
                </a:r>
                <a:r>
                  <a:rPr lang="es-ES" sz="1400" baseline="-25000" dirty="0"/>
                  <a:t>0 </a:t>
                </a:r>
                <a:r>
                  <a:rPr lang="es-ES" sz="1400" dirty="0"/>
                  <a:t>es cierta</a:t>
                </a:r>
              </a:p>
            </p:txBody>
          </p:sp>
          <p:graphicFrame>
            <p:nvGraphicFramePr>
              <p:cNvPr id="57" name="Object 29">
                <a:extLst>
                  <a:ext uri="{FF2B5EF4-FFF2-40B4-BE49-F238E27FC236}">
                    <a16:creationId xmlns:a16="http://schemas.microsoft.com/office/drawing/2014/main" id="{0B6E6B4B-8E9F-4C5E-91B4-711B41761D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28205" y="4043919"/>
              <a:ext cx="579556" cy="2968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69696" imgH="241195" progId="Equation.DSMT4">
                      <p:embed/>
                    </p:oleObj>
                  </mc:Choice>
                  <mc:Fallback>
                    <p:oleObj name="Equation" r:id="rId4" imgW="469696" imgH="241195" progId="Equation.DSMT4">
                      <p:embed/>
                      <p:pic>
                        <p:nvPicPr>
                          <p:cNvPr id="57" name="Object 29">
                            <a:extLst>
                              <a:ext uri="{FF2B5EF4-FFF2-40B4-BE49-F238E27FC236}">
                                <a16:creationId xmlns:a16="http://schemas.microsoft.com/office/drawing/2014/main" id="{0B6E6B4B-8E9F-4C5E-91B4-711B41761D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8205" y="4043919"/>
                            <a:ext cx="579556" cy="2968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8" name="Object 29">
              <a:extLst>
                <a:ext uri="{FF2B5EF4-FFF2-40B4-BE49-F238E27FC236}">
                  <a16:creationId xmlns:a16="http://schemas.microsoft.com/office/drawing/2014/main" id="{BA50F3F3-9D61-432E-B2A4-057944F059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1288" y="3948392"/>
            <a:ext cx="1990725" cy="608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892160" imgH="583920" progId="Equation.DSMT4">
                    <p:embed/>
                  </p:oleObj>
                </mc:Choice>
                <mc:Fallback>
                  <p:oleObj name="Equation" r:id="rId15" imgW="1892160" imgH="583920" progId="Equation.DSMT4">
                    <p:embed/>
                    <p:pic>
                      <p:nvPicPr>
                        <p:cNvPr id="58" name="Object 29">
                          <a:extLst>
                            <a:ext uri="{FF2B5EF4-FFF2-40B4-BE49-F238E27FC236}">
                              <a16:creationId xmlns:a16="http://schemas.microsoft.com/office/drawing/2014/main" id="{BA50F3F3-9D61-432E-B2A4-057944F059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288" y="3948392"/>
                          <a:ext cx="1990725" cy="6080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7BE59E0A-7EE9-4870-993E-0F8B4E7FC532}"/>
                </a:ext>
              </a:extLst>
            </p:cNvPr>
            <p:cNvSpPr txBox="1"/>
            <p:nvPr/>
          </p:nvSpPr>
          <p:spPr>
            <a:xfrm>
              <a:off x="4745540" y="4114800"/>
              <a:ext cx="40174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de este modo tenemos un criterio para decidir si </a:t>
              </a:r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F06B2C87-C318-42F7-A2F1-F6E43C2FE883}"/>
              </a:ext>
            </a:extLst>
          </p:cNvPr>
          <p:cNvGrpSpPr/>
          <p:nvPr/>
        </p:nvGrpSpPr>
        <p:grpSpPr>
          <a:xfrm>
            <a:off x="293264" y="4087092"/>
            <a:ext cx="5257800" cy="523220"/>
            <a:chOff x="559900" y="5820326"/>
            <a:chExt cx="5257800" cy="523220"/>
          </a:xfrm>
        </p:grpSpPr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68C13CEC-3108-406D-B492-80D9BB93423A}"/>
                </a:ext>
              </a:extLst>
            </p:cNvPr>
            <p:cNvSpPr txBox="1"/>
            <p:nvPr/>
          </p:nvSpPr>
          <p:spPr>
            <a:xfrm>
              <a:off x="559900" y="5820326"/>
              <a:ext cx="5257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6213" indent="-176213">
                <a:tabLst>
                  <a:tab pos="268288" algn="l"/>
                </a:tabLst>
              </a:pPr>
              <a:r>
                <a:rPr lang="es-ES" sz="1400" dirty="0"/>
                <a:t>5. Solo falta eliminar al </a:t>
              </a:r>
              <a:r>
                <a:rPr lang="es-ES" sz="1400" i="1" dirty="0"/>
                <a:t>parámetro</a:t>
              </a:r>
              <a:r>
                <a:rPr lang="es-ES" sz="1400" dirty="0"/>
                <a:t> </a:t>
              </a:r>
              <a:r>
                <a:rPr lang="es-ES" sz="1400" i="1" dirty="0"/>
                <a:t>perturbador</a:t>
              </a:r>
              <a:r>
                <a:rPr lang="es-ES" sz="1400" dirty="0"/>
                <a:t>      (la desviación</a:t>
              </a:r>
            </a:p>
            <a:p>
              <a:pPr marL="176213" indent="-176213">
                <a:tabLst>
                  <a:tab pos="268288" algn="l"/>
                </a:tabLst>
              </a:pPr>
              <a:r>
                <a:rPr lang="es-ES" sz="1400" dirty="0"/>
                <a:t>    típica poblacional, que es desconocida)</a:t>
              </a:r>
              <a:endParaRPr lang="es-ES" sz="1400" baseline="-25000" dirty="0"/>
            </a:p>
          </p:txBody>
        </p:sp>
        <p:graphicFrame>
          <p:nvGraphicFramePr>
            <p:cNvPr id="71" name="Object 29">
              <a:extLst>
                <a:ext uri="{FF2B5EF4-FFF2-40B4-BE49-F238E27FC236}">
                  <a16:creationId xmlns:a16="http://schemas.microsoft.com/office/drawing/2014/main" id="{25C1DA22-A277-4E8A-A186-6EBEF8903F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9081" y="5908019"/>
            <a:ext cx="173038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71" name="Object 29">
                          <a:extLst>
                            <a:ext uri="{FF2B5EF4-FFF2-40B4-BE49-F238E27FC236}">
                              <a16:creationId xmlns:a16="http://schemas.microsoft.com/office/drawing/2014/main" id="{25C1DA22-A277-4E8A-A186-6EBEF8903F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9081" y="5908019"/>
                          <a:ext cx="173038" cy="171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51AFFD33-D552-41B9-AAC7-9AF9B2C59C13}"/>
              </a:ext>
            </a:extLst>
          </p:cNvPr>
          <p:cNvGrpSpPr/>
          <p:nvPr/>
        </p:nvGrpSpPr>
        <p:grpSpPr>
          <a:xfrm>
            <a:off x="481101" y="4590472"/>
            <a:ext cx="5210535" cy="307777"/>
            <a:chOff x="721237" y="4754420"/>
            <a:chExt cx="5210535" cy="307777"/>
          </a:xfrm>
        </p:grpSpPr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02790FE6-69AF-4490-9C1D-EE2413B01FA1}"/>
                </a:ext>
              </a:extLst>
            </p:cNvPr>
            <p:cNvSpPr txBox="1"/>
            <p:nvPr/>
          </p:nvSpPr>
          <p:spPr>
            <a:xfrm>
              <a:off x="721237" y="4754420"/>
              <a:ext cx="5210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Si sustituimos       por su estimador puntual            obtenemos</a:t>
              </a:r>
              <a:r>
                <a:rPr lang="es-ES" sz="1400" baseline="30000" dirty="0"/>
                <a:t>*</a:t>
              </a:r>
              <a:r>
                <a:rPr lang="es-ES" sz="1400" dirty="0"/>
                <a:t> </a:t>
              </a:r>
              <a:endParaRPr lang="es-ES" sz="1400" baseline="-25000" dirty="0"/>
            </a:p>
          </p:txBody>
        </p:sp>
        <p:graphicFrame>
          <p:nvGraphicFramePr>
            <p:cNvPr id="77" name="Object 29">
              <a:extLst>
                <a:ext uri="{FF2B5EF4-FFF2-40B4-BE49-F238E27FC236}">
                  <a16:creationId xmlns:a16="http://schemas.microsoft.com/office/drawing/2014/main" id="{46DC63BA-A0B3-45BC-A481-46C945FF50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5914" y="4848777"/>
            <a:ext cx="173038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64880" imgH="164880" progId="Equation.DSMT4">
                    <p:embed/>
                  </p:oleObj>
                </mc:Choice>
                <mc:Fallback>
                  <p:oleObj name="Equation" r:id="rId19" imgW="164880" imgH="164880" progId="Equation.DSMT4">
                    <p:embed/>
                    <p:pic>
                      <p:nvPicPr>
                        <p:cNvPr id="77" name="Object 29">
                          <a:extLst>
                            <a:ext uri="{FF2B5EF4-FFF2-40B4-BE49-F238E27FC236}">
                              <a16:creationId xmlns:a16="http://schemas.microsoft.com/office/drawing/2014/main" id="{46DC63BA-A0B3-45BC-A481-46C945FF50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914" y="4848777"/>
                          <a:ext cx="173038" cy="171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29">
              <a:extLst>
                <a:ext uri="{FF2B5EF4-FFF2-40B4-BE49-F238E27FC236}">
                  <a16:creationId xmlns:a16="http://schemas.microsoft.com/office/drawing/2014/main" id="{C292B3E6-B045-4F28-B568-093FF1694A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2256" y="4796389"/>
            <a:ext cx="452438" cy="223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31640" imgH="215640" progId="Equation.DSMT4">
                    <p:embed/>
                  </p:oleObj>
                </mc:Choice>
                <mc:Fallback>
                  <p:oleObj name="Equation" r:id="rId21" imgW="431640" imgH="215640" progId="Equation.DSMT4">
                    <p:embed/>
                    <p:pic>
                      <p:nvPicPr>
                        <p:cNvPr id="78" name="Object 29">
                          <a:extLst>
                            <a:ext uri="{FF2B5EF4-FFF2-40B4-BE49-F238E27FC236}">
                              <a16:creationId xmlns:a16="http://schemas.microsoft.com/office/drawing/2014/main" id="{C292B3E6-B045-4F28-B568-093FF1694A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256" y="4796389"/>
                          <a:ext cx="452438" cy="223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29">
            <a:extLst>
              <a:ext uri="{FF2B5EF4-FFF2-40B4-BE49-F238E27FC236}">
                <a16:creationId xmlns:a16="http://schemas.microsoft.com/office/drawing/2014/main" id="{556D42AC-F005-402B-AB26-B56C92687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6196" y="1933018"/>
          <a:ext cx="16176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36480" imgH="520560" progId="Equation.DSMT4">
                  <p:embed/>
                </p:oleObj>
              </mc:Choice>
              <mc:Fallback>
                <p:oleObj name="Equation" r:id="rId23" imgW="1536480" imgH="520560" progId="Equation.DSMT4">
                  <p:embed/>
                  <p:pic>
                    <p:nvPicPr>
                      <p:cNvPr id="7" name="Object 29">
                        <a:extLst>
                          <a:ext uri="{FF2B5EF4-FFF2-40B4-BE49-F238E27FC236}">
                            <a16:creationId xmlns:a16="http://schemas.microsoft.com/office/drawing/2014/main" id="{556D42AC-F005-402B-AB26-B56C926872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196" y="1933018"/>
                        <a:ext cx="161766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C78491CC-E48F-4035-9053-776FB9D400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0391" y="2090305"/>
          <a:ext cx="218036" cy="232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0440" imgH="152280" progId="Equation.DSMT4">
                  <p:embed/>
                </p:oleObj>
              </mc:Choice>
              <mc:Fallback>
                <p:oleObj name="Equation" r:id="rId25" imgW="190440" imgH="152280" progId="Equation.DSMT4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C78491CC-E48F-4035-9053-776FB9D40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90391" y="2090305"/>
                        <a:ext cx="218036" cy="232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CuadroTexto 52">
            <a:extLst>
              <a:ext uri="{FF2B5EF4-FFF2-40B4-BE49-F238E27FC236}">
                <a16:creationId xmlns:a16="http://schemas.microsoft.com/office/drawing/2014/main" id="{AC6F7936-77F9-4AB6-933D-B15DD3BC07EF}"/>
              </a:ext>
            </a:extLst>
          </p:cNvPr>
          <p:cNvSpPr txBox="1"/>
          <p:nvPr/>
        </p:nvSpPr>
        <p:spPr>
          <a:xfrm>
            <a:off x="294671" y="2041800"/>
            <a:ext cx="1288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3. Tipificando: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DD24F7D-8DD2-4C64-9DEF-4895B3C7A780}"/>
              </a:ext>
            </a:extLst>
          </p:cNvPr>
          <p:cNvGrpSpPr/>
          <p:nvPr/>
        </p:nvGrpSpPr>
        <p:grpSpPr>
          <a:xfrm>
            <a:off x="1725778" y="1839694"/>
            <a:ext cx="1864613" cy="879495"/>
            <a:chOff x="3952097" y="1966409"/>
            <a:chExt cx="1864613" cy="879495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F90338F-833E-4908-90A5-024F9FB1113B}"/>
                </a:ext>
              </a:extLst>
            </p:cNvPr>
            <p:cNvSpPr txBox="1"/>
            <p:nvPr/>
          </p:nvSpPr>
          <p:spPr>
            <a:xfrm>
              <a:off x="3952097" y="2615072"/>
              <a:ext cx="186461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Tipificación de la media muestral</a:t>
              </a:r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4A2FEE46-12F8-4F43-9709-6CA13C17985D}"/>
                </a:ext>
              </a:extLst>
            </p:cNvPr>
            <p:cNvGrpSpPr/>
            <p:nvPr/>
          </p:nvGrpSpPr>
          <p:grpSpPr>
            <a:xfrm>
              <a:off x="4051356" y="1966409"/>
              <a:ext cx="1617662" cy="653425"/>
              <a:chOff x="4051356" y="1966409"/>
              <a:chExt cx="1617662" cy="653425"/>
            </a:xfrm>
          </p:grpSpPr>
          <p:graphicFrame>
            <p:nvGraphicFramePr>
              <p:cNvPr id="8" name="Object 29">
                <a:extLst>
                  <a:ext uri="{FF2B5EF4-FFF2-40B4-BE49-F238E27FC236}">
                    <a16:creationId xmlns:a16="http://schemas.microsoft.com/office/drawing/2014/main" id="{5EFEE4B7-A188-417B-A7D7-A5FB7B61FBF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29548" y="2020048"/>
              <a:ext cx="1509713" cy="582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434960" imgH="558720" progId="Equation.DSMT4">
                      <p:embed/>
                    </p:oleObj>
                  </mc:Choice>
                  <mc:Fallback>
                    <p:oleObj name="Equation" r:id="rId27" imgW="1434960" imgH="558720" progId="Equation.DSMT4">
                      <p:embed/>
                      <p:pic>
                        <p:nvPicPr>
                          <p:cNvPr id="8" name="Object 29">
                            <a:extLst>
                              <a:ext uri="{FF2B5EF4-FFF2-40B4-BE49-F238E27FC236}">
                                <a16:creationId xmlns:a16="http://schemas.microsoft.com/office/drawing/2014/main" id="{5EFEE4B7-A188-417B-A7D7-A5FB7B61FBF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9548" y="2020048"/>
                            <a:ext cx="1509713" cy="582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" name="AutoShape 79">
                <a:extLst>
                  <a:ext uri="{FF2B5EF4-FFF2-40B4-BE49-F238E27FC236}">
                    <a16:creationId xmlns:a16="http://schemas.microsoft.com/office/drawing/2014/main" id="{02FB29D7-B9DA-49FA-9508-03FBF76DE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1356" y="1966409"/>
                <a:ext cx="1617662" cy="653425"/>
              </a:xfrm>
              <a:prstGeom prst="roundRect">
                <a:avLst>
                  <a:gd name="adj" fmla="val 9028"/>
                </a:avLst>
              </a:pr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</p:grpSp>
      <p:sp>
        <p:nvSpPr>
          <p:cNvPr id="89" name="AutoShape 79">
            <a:extLst>
              <a:ext uri="{FF2B5EF4-FFF2-40B4-BE49-F238E27FC236}">
                <a16:creationId xmlns:a16="http://schemas.microsoft.com/office/drawing/2014/main" id="{1CA2CD5E-BEE5-4C22-A573-B1F7305C7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874" y="3904672"/>
            <a:ext cx="2933954" cy="1697973"/>
          </a:xfrm>
          <a:prstGeom prst="roundRect">
            <a:avLst>
              <a:gd name="adj" fmla="val 9028"/>
            </a:avLst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FA71E7D0-1FBC-4D62-8E2A-09AA52C4827B}"/>
              </a:ext>
            </a:extLst>
          </p:cNvPr>
          <p:cNvGrpSpPr/>
          <p:nvPr/>
        </p:nvGrpSpPr>
        <p:grpSpPr>
          <a:xfrm>
            <a:off x="5747843" y="3980460"/>
            <a:ext cx="2791229" cy="1607640"/>
            <a:chOff x="5987979" y="4270021"/>
            <a:chExt cx="2791229" cy="1607640"/>
          </a:xfrm>
        </p:grpSpPr>
        <p:pic>
          <p:nvPicPr>
            <p:cNvPr id="81" name="Snagit_PPTA7D5">
              <a:extLst>
                <a:ext uri="{FF2B5EF4-FFF2-40B4-BE49-F238E27FC236}">
                  <a16:creationId xmlns:a16="http://schemas.microsoft.com/office/drawing/2014/main" id="{91CEF09E-F485-494E-A41B-312A1E6C4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0" y="4270021"/>
              <a:ext cx="1311608" cy="1593095"/>
            </a:xfrm>
            <a:prstGeom prst="rect">
              <a:avLst/>
            </a:prstGeom>
          </p:spPr>
        </p:pic>
        <p:graphicFrame>
          <p:nvGraphicFramePr>
            <p:cNvPr id="65" name="Object 29">
              <a:extLst>
                <a:ext uri="{FF2B5EF4-FFF2-40B4-BE49-F238E27FC236}">
                  <a16:creationId xmlns:a16="http://schemas.microsoft.com/office/drawing/2014/main" id="{A174B5D4-2AD9-48A0-84F3-4AE2EC5C6E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87979" y="4706090"/>
            <a:ext cx="1591411" cy="503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828800" imgH="583920" progId="Equation.DSMT4">
                    <p:embed/>
                  </p:oleObj>
                </mc:Choice>
                <mc:Fallback>
                  <p:oleObj name="Equation" r:id="rId30" imgW="1828800" imgH="583920" progId="Equation.DSMT4">
                    <p:embed/>
                    <p:pic>
                      <p:nvPicPr>
                        <p:cNvPr id="65" name="Object 29">
                          <a:extLst>
                            <a:ext uri="{FF2B5EF4-FFF2-40B4-BE49-F238E27FC236}">
                              <a16:creationId xmlns:a16="http://schemas.microsoft.com/office/drawing/2014/main" id="{A174B5D4-2AD9-48A0-84F3-4AE2EC5C6E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7979" y="4706090"/>
                          <a:ext cx="1591411" cy="503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29">
              <a:extLst>
                <a:ext uri="{FF2B5EF4-FFF2-40B4-BE49-F238E27FC236}">
                  <a16:creationId xmlns:a16="http://schemas.microsoft.com/office/drawing/2014/main" id="{24E670A5-0E55-4280-B8A0-91C0377CCC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16222" y="5757011"/>
            <a:ext cx="109538" cy="120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26720" imgH="139680" progId="Equation.DSMT4">
                    <p:embed/>
                  </p:oleObj>
                </mc:Choice>
                <mc:Fallback>
                  <p:oleObj name="Equation" r:id="rId32" imgW="126720" imgH="139680" progId="Equation.DSMT4">
                    <p:embed/>
                    <p:pic>
                      <p:nvPicPr>
                        <p:cNvPr id="90" name="Object 29">
                          <a:extLst>
                            <a:ext uri="{FF2B5EF4-FFF2-40B4-BE49-F238E27FC236}">
                              <a16:creationId xmlns:a16="http://schemas.microsoft.com/office/drawing/2014/main" id="{24E670A5-0E55-4280-B8A0-91C0377CCC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16222" y="5757011"/>
                          <a:ext cx="109538" cy="120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7E18ED30-0556-4D7F-BD9B-4BB88AB9DF86}"/>
              </a:ext>
            </a:extLst>
          </p:cNvPr>
          <p:cNvGrpSpPr/>
          <p:nvPr/>
        </p:nvGrpSpPr>
        <p:grpSpPr>
          <a:xfrm>
            <a:off x="1828669" y="4913744"/>
            <a:ext cx="2283831" cy="686276"/>
            <a:chOff x="1943388" y="5104924"/>
            <a:chExt cx="2283831" cy="686276"/>
          </a:xfrm>
        </p:grpSpPr>
        <p:graphicFrame>
          <p:nvGraphicFramePr>
            <p:cNvPr id="17" name="Object 29">
              <a:extLst>
                <a:ext uri="{FF2B5EF4-FFF2-40B4-BE49-F238E27FC236}">
                  <a16:creationId xmlns:a16="http://schemas.microsoft.com/office/drawing/2014/main" id="{D3759EB7-CF49-4717-BD7C-4ED08D0E81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0993" y="5144373"/>
            <a:ext cx="2058987" cy="611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955520" imgH="583920" progId="Equation.DSMT4">
                    <p:embed/>
                  </p:oleObj>
                </mc:Choice>
                <mc:Fallback>
                  <p:oleObj name="Equation" r:id="rId34" imgW="1955520" imgH="583920" progId="Equation.DSMT4">
                    <p:embed/>
                    <p:pic>
                      <p:nvPicPr>
                        <p:cNvPr id="17" name="Object 29">
                          <a:extLst>
                            <a:ext uri="{FF2B5EF4-FFF2-40B4-BE49-F238E27FC236}">
                              <a16:creationId xmlns:a16="http://schemas.microsoft.com/office/drawing/2014/main" id="{D3759EB7-CF49-4717-BD7C-4ED08D0E81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0993" y="5144373"/>
                          <a:ext cx="2058987" cy="611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" name="AutoShape 58">
              <a:extLst>
                <a:ext uri="{FF2B5EF4-FFF2-40B4-BE49-F238E27FC236}">
                  <a16:creationId xmlns:a16="http://schemas.microsoft.com/office/drawing/2014/main" id="{781E97F8-F4D4-40C6-8DEC-001AADD25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388" y="5104924"/>
              <a:ext cx="2283831" cy="686276"/>
            </a:xfrm>
            <a:prstGeom prst="roundRect">
              <a:avLst>
                <a:gd name="adj" fmla="val 9028"/>
              </a:avLst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BB9CC55F-2FAA-4435-B4B2-17F65C7478E2}"/>
              </a:ext>
            </a:extLst>
          </p:cNvPr>
          <p:cNvGrpSpPr/>
          <p:nvPr/>
        </p:nvGrpSpPr>
        <p:grpSpPr>
          <a:xfrm>
            <a:off x="506274" y="5581072"/>
            <a:ext cx="8016590" cy="745870"/>
            <a:chOff x="744758" y="5814536"/>
            <a:chExt cx="8016590" cy="745870"/>
          </a:xfrm>
        </p:grpSpPr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C9609B49-8340-4C2B-8736-8EB650F628D2}"/>
                </a:ext>
              </a:extLst>
            </p:cNvPr>
            <p:cNvSpPr txBox="1"/>
            <p:nvPr/>
          </p:nvSpPr>
          <p:spPr>
            <a:xfrm>
              <a:off x="744758" y="5814536"/>
              <a:ext cx="801659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1400" dirty="0"/>
                <a:t>Esta cantidad es una función de los valores muestrales que nos permite decidir en favor o en contra de la hipótesis nula a raíz de la evidencia muestral. Se denomina </a:t>
              </a:r>
              <a:r>
                <a:rPr lang="es-ES" sz="1400" b="1" dirty="0">
                  <a:solidFill>
                    <a:srgbClr val="8A0000"/>
                  </a:solidFill>
                </a:rPr>
                <a:t>estadístico de contraste </a:t>
              </a:r>
              <a:r>
                <a:rPr lang="es-ES" sz="1400" dirty="0"/>
                <a:t>o </a:t>
              </a:r>
              <a:r>
                <a:rPr lang="es-ES" sz="1400" b="1" dirty="0">
                  <a:solidFill>
                    <a:srgbClr val="8A0000"/>
                  </a:solidFill>
                </a:rPr>
                <a:t>cantidad experimental</a:t>
              </a:r>
              <a:r>
                <a:rPr lang="es-ES" sz="1400" b="1" dirty="0"/>
                <a:t>.</a:t>
              </a:r>
              <a:r>
                <a:rPr lang="es-ES" sz="1400" dirty="0"/>
                <a:t> Habitualmente se indica       (o                     según la distribución usada)</a:t>
              </a:r>
            </a:p>
          </p:txBody>
        </p:sp>
        <p:graphicFrame>
          <p:nvGraphicFramePr>
            <p:cNvPr id="93" name="Object 29">
              <a:extLst>
                <a:ext uri="{FF2B5EF4-FFF2-40B4-BE49-F238E27FC236}">
                  <a16:creationId xmlns:a16="http://schemas.microsoft.com/office/drawing/2014/main" id="{FD3D4DA4-3C98-44F1-A1FD-F06BE1E7AF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61981" y="6267512"/>
            <a:ext cx="254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41200" imgH="266400" progId="Equation.DSMT4">
                    <p:embed/>
                  </p:oleObj>
                </mc:Choice>
                <mc:Fallback>
                  <p:oleObj name="Equation" r:id="rId36" imgW="241200" imgH="266400" progId="Equation.DSMT4">
                    <p:embed/>
                    <p:pic>
                      <p:nvPicPr>
                        <p:cNvPr id="93" name="Object 29">
                          <a:extLst>
                            <a:ext uri="{FF2B5EF4-FFF2-40B4-BE49-F238E27FC236}">
                              <a16:creationId xmlns:a16="http://schemas.microsoft.com/office/drawing/2014/main" id="{FD3D4DA4-3C98-44F1-A1FD-F06BE1E7AF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1981" y="6267512"/>
                          <a:ext cx="254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29">
              <a:extLst>
                <a:ext uri="{FF2B5EF4-FFF2-40B4-BE49-F238E27FC236}">
                  <a16:creationId xmlns:a16="http://schemas.microsoft.com/office/drawing/2014/main" id="{6C7DEFEB-E068-4E98-B9F9-877B2A6ECB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11281" y="6254018"/>
            <a:ext cx="922337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876240" imgH="291960" progId="Equation.DSMT4">
                    <p:embed/>
                  </p:oleObj>
                </mc:Choice>
                <mc:Fallback>
                  <p:oleObj name="Equation" r:id="rId38" imgW="876240" imgH="291960" progId="Equation.DSMT4">
                    <p:embed/>
                    <p:pic>
                      <p:nvPicPr>
                        <p:cNvPr id="96" name="Object 29">
                          <a:extLst>
                            <a:ext uri="{FF2B5EF4-FFF2-40B4-BE49-F238E27FC236}">
                              <a16:creationId xmlns:a16="http://schemas.microsoft.com/office/drawing/2014/main" id="{6C7DEFEB-E068-4E98-B9F9-877B2A6ECB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1281" y="6254018"/>
                          <a:ext cx="922337" cy="306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Flecha: a la derecha 98">
            <a:extLst>
              <a:ext uri="{FF2B5EF4-FFF2-40B4-BE49-F238E27FC236}">
                <a16:creationId xmlns:a16="http://schemas.microsoft.com/office/drawing/2014/main" id="{4A028671-CB7E-43ED-9169-7CF55D0352EB}"/>
              </a:ext>
            </a:extLst>
          </p:cNvPr>
          <p:cNvSpPr/>
          <p:nvPr/>
        </p:nvSpPr>
        <p:spPr>
          <a:xfrm>
            <a:off x="5852552" y="881821"/>
            <a:ext cx="354497" cy="304800"/>
          </a:xfrm>
          <a:prstGeom prst="right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0" name="Flecha: a la derecha 99">
            <a:extLst>
              <a:ext uri="{FF2B5EF4-FFF2-40B4-BE49-F238E27FC236}">
                <a16:creationId xmlns:a16="http://schemas.microsoft.com/office/drawing/2014/main" id="{6FCD4D71-CEEE-45CA-81DE-5120DC1D93BE}"/>
              </a:ext>
            </a:extLst>
          </p:cNvPr>
          <p:cNvSpPr/>
          <p:nvPr/>
        </p:nvSpPr>
        <p:spPr>
          <a:xfrm rot="1788959">
            <a:off x="5809062" y="1705081"/>
            <a:ext cx="656269" cy="304800"/>
          </a:xfrm>
          <a:prstGeom prst="right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1" name="Text Box 33">
            <a:extLst>
              <a:ext uri="{FF2B5EF4-FFF2-40B4-BE49-F238E27FC236}">
                <a16:creationId xmlns:a16="http://schemas.microsoft.com/office/drawing/2014/main" id="{FA36FB01-4E02-46FC-A1FB-83203712B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9" y="71042"/>
            <a:ext cx="3633787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_tradnl" altLang="es-ES" b="1" dirty="0"/>
              <a:t>Hipótesis estadísticas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1D4FB56B-EEB6-4754-BF22-38B5A71E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"/>
            <a:ext cx="6553200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_tradnl" altLang="es-ES" b="1" dirty="0"/>
              <a:t>Test para una media</a:t>
            </a: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2702E940-3705-4DE8-806E-C47D4475E7A1}"/>
              </a:ext>
            </a:extLst>
          </p:cNvPr>
          <p:cNvSpPr/>
          <p:nvPr/>
        </p:nvSpPr>
        <p:spPr>
          <a:xfrm rot="722947">
            <a:off x="5289534" y="3864952"/>
            <a:ext cx="381673" cy="304800"/>
          </a:xfrm>
          <a:prstGeom prst="right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8372F7-F34B-4DF2-A26B-A2FD7DB293D7}"/>
              </a:ext>
            </a:extLst>
          </p:cNvPr>
          <p:cNvSpPr txBox="1"/>
          <p:nvPr/>
        </p:nvSpPr>
        <p:spPr>
          <a:xfrm>
            <a:off x="228600" y="6398888"/>
            <a:ext cx="876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/>
            <a:r>
              <a:rPr lang="es-ES" sz="1050" dirty="0"/>
              <a:t>* 	Recordar que la distribución </a:t>
            </a:r>
            <a:r>
              <a:rPr lang="es-ES" sz="1050" i="1" dirty="0"/>
              <a:t>t-Student</a:t>
            </a:r>
            <a:r>
              <a:rPr lang="es-ES" sz="1050" dirty="0"/>
              <a:t> constituye una “corrección” de la distribución normal necesaria para muestras pequeñas (</a:t>
            </a:r>
            <a:r>
              <a:rPr lang="es-E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" sz="1050" dirty="0"/>
              <a:t>&lt;100) cuando </a:t>
            </a:r>
            <a:r>
              <a:rPr lang="es-ES" sz="1100" dirty="0">
                <a:latin typeface="Symbol" panose="05050102010706020507" pitchFamily="18" charset="2"/>
              </a:rPr>
              <a:t>s</a:t>
            </a:r>
            <a:r>
              <a:rPr lang="es-ES" sz="1050" dirty="0"/>
              <a:t> es desconocido (siempre, en </a:t>
            </a:r>
            <a:r>
              <a:rPr lang="es-ES" sz="1050" dirty="0" err="1"/>
              <a:t>gral.</a:t>
            </a:r>
            <a:r>
              <a:rPr lang="es-ES" sz="1050" dirty="0"/>
              <a:t>)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B3AD017-C5A9-48D9-BF15-93633E6A1836}"/>
              </a:ext>
            </a:extLst>
          </p:cNvPr>
          <p:cNvCxnSpPr/>
          <p:nvPr/>
        </p:nvCxnSpPr>
        <p:spPr>
          <a:xfrm>
            <a:off x="228600" y="6398888"/>
            <a:ext cx="710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72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15 Grupo"/>
          <p:cNvGrpSpPr/>
          <p:nvPr/>
        </p:nvGrpSpPr>
        <p:grpSpPr>
          <a:xfrm>
            <a:off x="3414717" y="4357694"/>
            <a:ext cx="3371861" cy="2298158"/>
            <a:chOff x="5072066" y="4429132"/>
            <a:chExt cx="3371861" cy="2298158"/>
          </a:xfrm>
        </p:grpSpPr>
        <p:grpSp>
          <p:nvGrpSpPr>
            <p:cNvPr id="17" name="25 Grupo"/>
            <p:cNvGrpSpPr/>
            <p:nvPr/>
          </p:nvGrpSpPr>
          <p:grpSpPr>
            <a:xfrm>
              <a:off x="5072066" y="4429132"/>
              <a:ext cx="3371861" cy="2286016"/>
              <a:chOff x="5072066" y="4429132"/>
              <a:chExt cx="3371861" cy="2286016"/>
            </a:xfrm>
          </p:grpSpPr>
          <p:pic>
            <p:nvPicPr>
              <p:cNvPr id="20" name="Picture 13" descr="Resultado de imagen de imagen normal dos cola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t="19737"/>
              <a:stretch>
                <a:fillRect/>
              </a:stretch>
            </p:blipFill>
            <p:spPr bwMode="auto">
              <a:xfrm>
                <a:off x="5143504" y="4429132"/>
                <a:ext cx="3300423" cy="2130430"/>
              </a:xfrm>
              <a:prstGeom prst="rect">
                <a:avLst/>
              </a:prstGeom>
              <a:noFill/>
            </p:spPr>
          </p:pic>
          <p:sp>
            <p:nvSpPr>
              <p:cNvPr id="21" name="20 CuadroTexto"/>
              <p:cNvSpPr txBox="1"/>
              <p:nvPr/>
            </p:nvSpPr>
            <p:spPr>
              <a:xfrm>
                <a:off x="5072066" y="6345816"/>
                <a:ext cx="7858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rPr>
                  <a:t>-5.3</a:t>
                </a:r>
              </a:p>
            </p:txBody>
          </p:sp>
        </p:grpSp>
        <p:sp>
          <p:nvSpPr>
            <p:cNvPr id="18" name="17 CuadroTexto"/>
            <p:cNvSpPr txBox="1"/>
            <p:nvPr/>
          </p:nvSpPr>
          <p:spPr>
            <a:xfrm>
              <a:off x="7286644" y="6357958"/>
              <a:ext cx="78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36666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1.96</a:t>
              </a:r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5786446" y="6357958"/>
              <a:ext cx="78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36666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-1.96</a:t>
              </a:r>
            </a:p>
          </p:txBody>
        </p:sp>
      </p:grp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42844" y="1285860"/>
            <a:ext cx="8715436" cy="1474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La estatura </a:t>
            </a:r>
            <a:r>
              <a:rPr kumimoji="0" lang="es-ES" sz="1800" b="0" i="1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de los individuos varones residentes en una pequeña región sigue una distribución normal. Deseamos contrastar la hipótesis de que el valor medio de </a:t>
            </a:r>
            <a:r>
              <a:rPr kumimoji="0" lang="es-ES" sz="1800" b="0" i="1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es 175 cm, con el nivel de significación de 0,05. Para ello se han elegido 90 personas al azar, obteniéndose una altura media de 172 y desviación típica muestral de 5.3 cm.  ¿Qué decisión deberíamos tomar?</a:t>
            </a: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1573911" y="615822"/>
            <a:ext cx="55675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Contrastes para una población Normal: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Contrastes sobre la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media una sola muestra</a:t>
            </a:r>
          </a:p>
        </p:txBody>
      </p:sp>
      <p:sp>
        <p:nvSpPr>
          <p:cNvPr id="17415" name="Text Box 6"/>
          <p:cNvSpPr txBox="1">
            <a:spLocks noChangeArrowheads="1"/>
          </p:cNvSpPr>
          <p:nvPr/>
        </p:nvSpPr>
        <p:spPr bwMode="auto">
          <a:xfrm>
            <a:off x="1547813" y="260350"/>
            <a:ext cx="6480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Inferencia Estadística: Tests de hipótesis</a:t>
            </a:r>
          </a:p>
        </p:txBody>
      </p:sp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468313" y="3182937"/>
            <a:ext cx="3889373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X: “Estatura de individuos varones”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 N(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itchFamily="2" charset="2"/>
              </a:rPr>
              <a:t>μ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itchFamily="2" charset="2"/>
              </a:rPr>
              <a:t>,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itchFamily="2" charset="2"/>
              </a:rPr>
              <a:t>σ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itchFamily="2" charset="2"/>
              </a:rPr>
              <a:t>)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6156325" y="3263900"/>
            <a:ext cx="12239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 = 90    </a:t>
            </a:r>
          </a:p>
        </p:txBody>
      </p:sp>
      <p:sp>
        <p:nvSpPr>
          <p:cNvPr id="164873" name="Text Box 9"/>
          <p:cNvSpPr txBox="1">
            <a:spLocks noChangeArrowheads="1"/>
          </p:cNvSpPr>
          <p:nvPr/>
        </p:nvSpPr>
        <p:spPr bwMode="auto">
          <a:xfrm>
            <a:off x="7308850" y="3259138"/>
            <a:ext cx="1225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α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= 0.05</a:t>
            </a: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468313" y="4151065"/>
          <a:ext cx="1418835" cy="746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914400" imgH="482400" progId="Equation.3">
                  <p:embed/>
                </p:oleObj>
              </mc:Choice>
              <mc:Fallback>
                <p:oleObj name="Ecuación" r:id="rId4" imgW="914400" imgH="482400" progId="Equation.3">
                  <p:embed/>
                  <p:pic>
                    <p:nvPicPr>
                      <p:cNvPr id="1648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151065"/>
                        <a:ext cx="1418835" cy="7462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7" name="AutoShape 13"/>
          <p:cNvSpPr>
            <a:spLocks/>
          </p:cNvSpPr>
          <p:nvPr/>
        </p:nvSpPr>
        <p:spPr bwMode="auto">
          <a:xfrm>
            <a:off x="2698775" y="5301654"/>
            <a:ext cx="73025" cy="1079500"/>
          </a:xfrm>
          <a:prstGeom prst="rightBrace">
            <a:avLst>
              <a:gd name="adj1" fmla="val 12318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4878" name="AutoShape 14"/>
          <p:cNvSpPr>
            <a:spLocks noChangeArrowheads="1"/>
          </p:cNvSpPr>
          <p:nvPr/>
        </p:nvSpPr>
        <p:spPr bwMode="auto">
          <a:xfrm>
            <a:off x="2754329" y="5731867"/>
            <a:ext cx="504825" cy="215900"/>
          </a:xfrm>
          <a:prstGeom prst="rightArrow">
            <a:avLst>
              <a:gd name="adj1" fmla="val 50000"/>
              <a:gd name="adj2" fmla="val 58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4879" name="Text Box 15"/>
          <p:cNvSpPr txBox="1">
            <a:spLocks noChangeArrowheads="1"/>
          </p:cNvSpPr>
          <p:nvPr/>
        </p:nvSpPr>
        <p:spPr bwMode="auto">
          <a:xfrm>
            <a:off x="3402030" y="5661248"/>
            <a:ext cx="2155828" cy="37305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Rechazamos H</a:t>
            </a:r>
            <a:r>
              <a:rPr kumimoji="0" lang="es-E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0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4880" name="Rectangle 16"/>
          <p:cNvSpPr>
            <a:spLocks noChangeArrowheads="1"/>
          </p:cNvSpPr>
          <p:nvPr/>
        </p:nvSpPr>
        <p:spPr bwMode="auto">
          <a:xfrm>
            <a:off x="142845" y="5157192"/>
            <a:ext cx="4714908" cy="136683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164881" name="Object 17"/>
          <p:cNvGraphicFramePr>
            <a:graphicFrameLocks noChangeAspect="1"/>
          </p:cNvGraphicFramePr>
          <p:nvPr/>
        </p:nvGraphicFramePr>
        <p:xfrm>
          <a:off x="6215074" y="3643314"/>
          <a:ext cx="858837" cy="71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545760" imgH="406080" progId="Equation.3">
                  <p:embed/>
                </p:oleObj>
              </mc:Choice>
              <mc:Fallback>
                <p:oleObj name="Ecuación" r:id="rId6" imgW="545760" imgH="406080" progId="Equation.3">
                  <p:embed/>
                  <p:pic>
                    <p:nvPicPr>
                      <p:cNvPr id="1648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3643314"/>
                        <a:ext cx="858837" cy="7127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2" name="Object 18"/>
          <p:cNvGraphicFramePr>
            <a:graphicFrameLocks noChangeAspect="1"/>
          </p:cNvGraphicFramePr>
          <p:nvPr/>
        </p:nvGraphicFramePr>
        <p:xfrm>
          <a:off x="2124075" y="4200277"/>
          <a:ext cx="2162173" cy="87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384200" imgH="558720" progId="Equation.3">
                  <p:embed/>
                </p:oleObj>
              </mc:Choice>
              <mc:Fallback>
                <p:oleObj name="Ecuación" r:id="rId8" imgW="1384200" imgH="558720" progId="Equation.3">
                  <p:embed/>
                  <p:pic>
                    <p:nvPicPr>
                      <p:cNvPr id="1648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200277"/>
                        <a:ext cx="2162173" cy="8717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21 CuadroTexto"/>
          <p:cNvSpPr txBox="1"/>
          <p:nvPr/>
        </p:nvSpPr>
        <p:spPr>
          <a:xfrm>
            <a:off x="285720" y="2786058"/>
            <a:ext cx="300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Información poblacional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5857884" y="2857496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CCCCCC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Información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muestral</a:t>
            </a:r>
            <a:endParaRPr kumimoji="0" lang="es-ES" sz="1800" b="1" i="0" u="none" strike="noStrike" kern="1200" cap="none" spc="0" normalizeH="0" baseline="0" noProof="0" dirty="0">
              <a:ln>
                <a:noFill/>
              </a:ln>
              <a:solidFill>
                <a:srgbClr val="CCCCCC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320647" y="3143248"/>
            <a:ext cx="4037039" cy="78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6072198" y="3286124"/>
            <a:ext cx="2357454" cy="1143008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5715009" y="4934562"/>
            <a:ext cx="3143271" cy="92333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Existe evidencia empírica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de que no podemos asumir esa altura media</a:t>
            </a:r>
          </a:p>
        </p:txBody>
      </p:sp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229950" y="5238133"/>
          <a:ext cx="2325826" cy="795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560" imgH="495000" progId="Equation.3">
                  <p:embed/>
                </p:oleObj>
              </mc:Choice>
              <mc:Fallback>
                <p:oleObj name="Equation" r:id="rId10" imgW="1447560" imgH="495000" progId="Equation.3">
                  <p:embed/>
                  <p:pic>
                    <p:nvPicPr>
                      <p:cNvPr id="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50" y="5238133"/>
                        <a:ext cx="2325826" cy="795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6"/>
          <p:cNvGraphicFramePr>
            <a:graphicFrameLocks noChangeAspect="1"/>
          </p:cNvGraphicFramePr>
          <p:nvPr/>
        </p:nvGraphicFramePr>
        <p:xfrm>
          <a:off x="339624" y="5952507"/>
          <a:ext cx="1835181" cy="32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203040" progId="Equation.3">
                  <p:embed/>
                </p:oleObj>
              </mc:Choice>
              <mc:Fallback>
                <p:oleObj name="Equation" r:id="rId12" imgW="1143000" imgH="203040" progId="Equation.3">
                  <p:embed/>
                  <p:pic>
                    <p:nvPicPr>
                      <p:cNvPr id="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24" y="5952507"/>
                        <a:ext cx="1835181" cy="325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42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7" dur="1000"/>
                                        <p:tgtEl>
                                          <p:spTgt spid="16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86" dur="2000"/>
                                        <p:tgtEl>
                                          <p:spTgt spid="16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/>
      <p:bldP spid="164872" grpId="0"/>
      <p:bldP spid="164873" grpId="0"/>
      <p:bldP spid="164877" grpId="0" animBg="1"/>
      <p:bldP spid="164878" grpId="0" animBg="1"/>
      <p:bldP spid="164879" grpId="0" animBg="1"/>
      <p:bldP spid="164880" grpId="0" animBg="1"/>
      <p:bldP spid="22" grpId="0"/>
      <p:bldP spid="23" grpId="0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12" name="Text Box 48"/>
          <p:cNvSpPr txBox="1">
            <a:spLocks noChangeArrowheads="1"/>
          </p:cNvSpPr>
          <p:nvPr/>
        </p:nvSpPr>
        <p:spPr bwMode="auto">
          <a:xfrm>
            <a:off x="87313" y="173038"/>
            <a:ext cx="263161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600" b="1" dirty="0"/>
              <a:t>Test con una proporción</a:t>
            </a:r>
            <a:endParaRPr lang="es-ES" altLang="es-ES" sz="1600" b="1" dirty="0"/>
          </a:p>
        </p:txBody>
      </p:sp>
      <p:sp>
        <p:nvSpPr>
          <p:cNvPr id="36913" name="Text Box 4"/>
          <p:cNvSpPr txBox="1">
            <a:spLocks noChangeArrowheads="1"/>
          </p:cNvSpPr>
          <p:nvPr/>
        </p:nvSpPr>
        <p:spPr bwMode="auto">
          <a:xfrm>
            <a:off x="304800" y="868362"/>
            <a:ext cx="8610600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94175" algn="ctr"/>
              </a:tabLs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/>
            <a:r>
              <a:rPr lang="es-ES_tradnl" altLang="es-ES" sz="1300" b="1">
                <a:solidFill>
                  <a:srgbClr val="006666"/>
                </a:solidFill>
              </a:rPr>
              <a:t>Ejemplo:</a:t>
            </a:r>
            <a:r>
              <a:rPr lang="es-ES_tradnl" altLang="es-ES" sz="1300">
                <a:solidFill>
                  <a:srgbClr val="006666"/>
                </a:solidFill>
              </a:rPr>
              <a:t> </a:t>
            </a:r>
          </a:p>
          <a:p>
            <a:pPr algn="just" eaLnBrk="1" hangingPunct="1"/>
            <a:r>
              <a:rPr lang="es-ES_tradnl" altLang="es-ES" sz="1300">
                <a:solidFill>
                  <a:srgbClr val="006666"/>
                </a:solidFill>
              </a:rPr>
              <a:t>Según la encuesta nacional de salud de 2012, la prevalencia del tabaquismo en </a:t>
            </a:r>
            <a:r>
              <a:rPr lang="es-ES" altLang="es-ES" sz="1300">
                <a:solidFill>
                  <a:srgbClr val="006666"/>
                </a:solidFill>
              </a:rPr>
              <a:t>los estudiantes de primer curso universitario es del 22%. Para estudiar si ha variado en 2013 se ha tomado una muestra de 300 estudiantes de los cuales: 48 son fumadores, 239 no lo son y el resto no contestan. ¿Puede afirmarse que la proporción de fumadores en este sector de la población ha cambiado respecto a 2012?</a:t>
            </a:r>
            <a:endParaRPr lang="es-ES_tradnl" altLang="es-ES" sz="1300">
              <a:solidFill>
                <a:srgbClr val="006666"/>
              </a:solidFill>
            </a:endParaRPr>
          </a:p>
        </p:txBody>
      </p:sp>
      <p:sp>
        <p:nvSpPr>
          <p:cNvPr id="36914" name="Text Box 50"/>
          <p:cNvSpPr txBox="1">
            <a:spLocks noChangeArrowheads="1"/>
          </p:cNvSpPr>
          <p:nvPr/>
        </p:nvSpPr>
        <p:spPr bwMode="auto">
          <a:xfrm>
            <a:off x="298450" y="2003425"/>
            <a:ext cx="2230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1. </a:t>
            </a:r>
            <a:r>
              <a:rPr lang="es-ES_tradnl" altLang="es-ES" b="1"/>
              <a:t>Información muestral</a:t>
            </a:r>
            <a:r>
              <a:rPr lang="es-ES_tradnl" altLang="es-ES"/>
              <a:t>:</a:t>
            </a:r>
            <a:endParaRPr lang="es-ES" altLang="es-ES"/>
          </a:p>
        </p:txBody>
      </p:sp>
      <p:sp>
        <p:nvSpPr>
          <p:cNvPr id="36916" name="Text Box 52"/>
          <p:cNvSpPr txBox="1">
            <a:spLocks noChangeArrowheads="1"/>
          </p:cNvSpPr>
          <p:nvPr/>
        </p:nvSpPr>
        <p:spPr bwMode="auto">
          <a:xfrm>
            <a:off x="569913" y="2333625"/>
            <a:ext cx="58102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Tamaño de muestra original = 300; pero solo contestan </a:t>
            </a:r>
            <a:r>
              <a:rPr lang="es-ES_tradnl" altLang="es-ES" sz="1300"/>
              <a:t>239+48=287</a:t>
            </a:r>
            <a:r>
              <a:rPr lang="es-ES_tradnl" altLang="es-ES"/>
              <a:t> = </a:t>
            </a:r>
            <a:r>
              <a:rPr lang="es-ES_tradnl" altLang="es-ES" sz="1600" i="1">
                <a:latin typeface="Times New Roman" pitchFamily="18" charset="0"/>
              </a:rPr>
              <a:t>n</a:t>
            </a:r>
            <a:endParaRPr lang="es-ES" altLang="es-ES" sz="1600" i="1">
              <a:latin typeface="Times New Roman" pitchFamily="18" charset="0"/>
            </a:endParaRPr>
          </a:p>
        </p:txBody>
      </p:sp>
      <p:grpSp>
        <p:nvGrpSpPr>
          <p:cNvPr id="36950" name="Group 86"/>
          <p:cNvGrpSpPr>
            <a:grpSpLocks/>
          </p:cNvGrpSpPr>
          <p:nvPr/>
        </p:nvGrpSpPr>
        <p:grpSpPr bwMode="auto">
          <a:xfrm>
            <a:off x="6427788" y="2049462"/>
            <a:ext cx="1109662" cy="895350"/>
            <a:chOff x="4049" y="1114"/>
            <a:chExt cx="699" cy="564"/>
          </a:xfrm>
        </p:grpSpPr>
        <p:sp>
          <p:nvSpPr>
            <p:cNvPr id="36915" name="Text Box 51"/>
            <p:cNvSpPr txBox="1">
              <a:spLocks noChangeArrowheads="1"/>
            </p:cNvSpPr>
            <p:nvPr/>
          </p:nvSpPr>
          <p:spPr bwMode="auto">
            <a:xfrm>
              <a:off x="4157" y="1302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600" i="1">
                  <a:latin typeface="Times New Roman" pitchFamily="18" charset="0"/>
                </a:rPr>
                <a:t>x</a:t>
              </a:r>
              <a:r>
                <a:rPr lang="es-ES_tradnl" altLang="es-ES"/>
                <a:t> = 48</a:t>
              </a:r>
              <a:endParaRPr lang="es-ES" altLang="es-ES"/>
            </a:p>
          </p:txBody>
        </p:sp>
        <p:sp>
          <p:nvSpPr>
            <p:cNvPr id="36917" name="Text Box 53"/>
            <p:cNvSpPr txBox="1">
              <a:spLocks noChangeArrowheads="1"/>
            </p:cNvSpPr>
            <p:nvPr/>
          </p:nvSpPr>
          <p:spPr bwMode="auto">
            <a:xfrm>
              <a:off x="4157" y="1454"/>
              <a:ext cx="5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600" i="1">
                  <a:latin typeface="Times New Roman" pitchFamily="18" charset="0"/>
                </a:rPr>
                <a:t>n-x</a:t>
              </a:r>
              <a:r>
                <a:rPr lang="es-ES_tradnl" altLang="es-ES"/>
                <a:t> = 239</a:t>
              </a:r>
              <a:endParaRPr lang="es-ES" altLang="es-ES"/>
            </a:p>
          </p:txBody>
        </p:sp>
        <p:sp>
          <p:nvSpPr>
            <p:cNvPr id="36918" name="Text Box 54"/>
            <p:cNvSpPr txBox="1">
              <a:spLocks noChangeArrowheads="1"/>
            </p:cNvSpPr>
            <p:nvPr/>
          </p:nvSpPr>
          <p:spPr bwMode="auto">
            <a:xfrm>
              <a:off x="4157" y="1114"/>
              <a:ext cx="4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600" i="1">
                  <a:latin typeface="Times New Roman" pitchFamily="18" charset="0"/>
                </a:rPr>
                <a:t>n </a:t>
              </a:r>
              <a:r>
                <a:rPr lang="es-ES_tradnl" altLang="es-ES"/>
                <a:t>= 287</a:t>
              </a:r>
              <a:endParaRPr lang="es-ES" altLang="es-ES"/>
            </a:p>
          </p:txBody>
        </p:sp>
        <p:sp>
          <p:nvSpPr>
            <p:cNvPr id="36919" name="AutoShape 55"/>
            <p:cNvSpPr>
              <a:spLocks/>
            </p:cNvSpPr>
            <p:nvPr/>
          </p:nvSpPr>
          <p:spPr bwMode="auto">
            <a:xfrm>
              <a:off x="4049" y="1147"/>
              <a:ext cx="96" cy="531"/>
            </a:xfrm>
            <a:prstGeom prst="leftBrace">
              <a:avLst>
                <a:gd name="adj1" fmla="val 4609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36920" name="Text Box 56"/>
          <p:cNvSpPr txBox="1">
            <a:spLocks noChangeArrowheads="1"/>
          </p:cNvSpPr>
          <p:nvPr/>
        </p:nvSpPr>
        <p:spPr bwMode="auto">
          <a:xfrm>
            <a:off x="298450" y="2887662"/>
            <a:ext cx="82153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2. </a:t>
            </a:r>
            <a:r>
              <a:rPr lang="es-ES_tradnl" altLang="es-ES" b="1"/>
              <a:t>Hipótesis</a:t>
            </a:r>
            <a:r>
              <a:rPr lang="es-ES_tradnl" altLang="es-ES"/>
              <a:t>: se trata de comprobar si la prevalencia ha cambiado respecto al valor propuesto </a:t>
            </a:r>
            <a:r>
              <a:rPr lang="es-ES_tradnl" altLang="es-ES" sz="1600" i="1">
                <a:latin typeface="Times New Roman" pitchFamily="18" charset="0"/>
              </a:rPr>
              <a:t>p</a:t>
            </a:r>
            <a:r>
              <a:rPr lang="es-ES_tradnl" altLang="es-ES" baseline="-25000"/>
              <a:t>0</a:t>
            </a:r>
            <a:r>
              <a:rPr lang="es-ES_tradnl" altLang="es-ES"/>
              <a:t>=</a:t>
            </a:r>
            <a:r>
              <a:rPr lang="es-ES_tradnl" altLang="es-ES" sz="1300"/>
              <a:t>0.22</a:t>
            </a:r>
            <a:endParaRPr lang="es-ES" altLang="es-ES" sz="1300"/>
          </a:p>
        </p:txBody>
      </p:sp>
      <p:graphicFrame>
        <p:nvGraphicFramePr>
          <p:cNvPr id="36924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508737"/>
              </p:ext>
            </p:extLst>
          </p:nvPr>
        </p:nvGraphicFramePr>
        <p:xfrm>
          <a:off x="609600" y="3284537"/>
          <a:ext cx="9048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482400" progId="Equation.DSMT4">
                  <p:embed/>
                </p:oleObj>
              </mc:Choice>
              <mc:Fallback>
                <p:oleObj name="Equation" r:id="rId2" imgW="749160" imgH="482400" progId="Equation.DSMT4">
                  <p:embed/>
                  <p:pic>
                    <p:nvPicPr>
                      <p:cNvPr id="36924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84537"/>
                        <a:ext cx="9048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930" name="Group 66"/>
          <p:cNvGrpSpPr>
            <a:grpSpLocks/>
          </p:cNvGrpSpPr>
          <p:nvPr/>
        </p:nvGrpSpPr>
        <p:grpSpPr bwMode="auto">
          <a:xfrm>
            <a:off x="3271838" y="3281362"/>
            <a:ext cx="2871787" cy="588963"/>
            <a:chOff x="1028" y="2113"/>
            <a:chExt cx="1809" cy="371"/>
          </a:xfrm>
        </p:grpSpPr>
        <p:sp>
          <p:nvSpPr>
            <p:cNvPr id="36925" name="Line 61"/>
            <p:cNvSpPr>
              <a:spLocks noChangeShapeType="1"/>
            </p:cNvSpPr>
            <p:nvPr/>
          </p:nvSpPr>
          <p:spPr bwMode="auto">
            <a:xfrm flipH="1">
              <a:off x="1028" y="2205"/>
              <a:ext cx="1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s-ES"/>
            </a:p>
          </p:txBody>
        </p:sp>
        <p:sp>
          <p:nvSpPr>
            <p:cNvPr id="36926" name="Text Box 62"/>
            <p:cNvSpPr txBox="1">
              <a:spLocks noChangeArrowheads="1"/>
            </p:cNvSpPr>
            <p:nvPr/>
          </p:nvSpPr>
          <p:spPr bwMode="auto">
            <a:xfrm>
              <a:off x="1274" y="2113"/>
              <a:ext cx="1563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300"/>
                <a:t>La prevalencia no ha cambiado</a:t>
              </a:r>
              <a:endParaRPr lang="es-ES" altLang="es-ES" sz="1300"/>
            </a:p>
          </p:txBody>
        </p:sp>
        <p:sp>
          <p:nvSpPr>
            <p:cNvPr id="36927" name="Text Box 63"/>
            <p:cNvSpPr txBox="1">
              <a:spLocks noChangeArrowheads="1"/>
            </p:cNvSpPr>
            <p:nvPr/>
          </p:nvSpPr>
          <p:spPr bwMode="auto">
            <a:xfrm>
              <a:off x="1274" y="2301"/>
              <a:ext cx="152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300"/>
                <a:t>La prevalencia si ha cambiado</a:t>
              </a:r>
              <a:endParaRPr lang="es-ES" altLang="es-ES" sz="1300"/>
            </a:p>
          </p:txBody>
        </p:sp>
        <p:sp>
          <p:nvSpPr>
            <p:cNvPr id="36928" name="Line 64"/>
            <p:cNvSpPr>
              <a:spLocks noChangeShapeType="1"/>
            </p:cNvSpPr>
            <p:nvPr/>
          </p:nvSpPr>
          <p:spPr bwMode="auto">
            <a:xfrm flipH="1">
              <a:off x="1028" y="2393"/>
              <a:ext cx="1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s-ES"/>
            </a:p>
          </p:txBody>
        </p:sp>
      </p:grpSp>
      <p:graphicFrame>
        <p:nvGraphicFramePr>
          <p:cNvPr id="36931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376766"/>
              </p:ext>
            </p:extLst>
          </p:nvPr>
        </p:nvGraphicFramePr>
        <p:xfrm>
          <a:off x="1954213" y="3284537"/>
          <a:ext cx="1041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482400" progId="Equation.DSMT4">
                  <p:embed/>
                </p:oleObj>
              </mc:Choice>
              <mc:Fallback>
                <p:oleObj name="Equation" r:id="rId4" imgW="863280" imgH="482400" progId="Equation.DSMT4">
                  <p:embed/>
                  <p:pic>
                    <p:nvPicPr>
                      <p:cNvPr id="36931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3284537"/>
                        <a:ext cx="1041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32" name="Line 68"/>
          <p:cNvSpPr>
            <a:spLocks noChangeShapeType="1"/>
          </p:cNvSpPr>
          <p:nvPr/>
        </p:nvSpPr>
        <p:spPr bwMode="auto">
          <a:xfrm>
            <a:off x="1687513" y="3576637"/>
            <a:ext cx="168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sp>
        <p:nvSpPr>
          <p:cNvPr id="36933" name="Text Box 69"/>
          <p:cNvSpPr txBox="1">
            <a:spLocks noChangeArrowheads="1"/>
          </p:cNvSpPr>
          <p:nvPr/>
        </p:nvSpPr>
        <p:spPr bwMode="auto">
          <a:xfrm>
            <a:off x="298450" y="4667250"/>
            <a:ext cx="3979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3. </a:t>
            </a:r>
            <a:r>
              <a:rPr lang="es-ES_tradnl" altLang="es-ES" b="1"/>
              <a:t>Condiciones de validez</a:t>
            </a:r>
            <a:r>
              <a:rPr lang="es-ES_tradnl" altLang="es-ES"/>
              <a:t>: debe cumplirse que</a:t>
            </a:r>
            <a:endParaRPr lang="es-ES" altLang="es-ES" sz="1500">
              <a:latin typeface="Times New Roman" pitchFamily="18" charset="0"/>
            </a:endParaRPr>
          </a:p>
        </p:txBody>
      </p:sp>
      <p:sp>
        <p:nvSpPr>
          <p:cNvPr id="36934" name="Text Box 70"/>
          <p:cNvSpPr txBox="1">
            <a:spLocks noChangeArrowheads="1"/>
          </p:cNvSpPr>
          <p:nvPr/>
        </p:nvSpPr>
        <p:spPr bwMode="auto">
          <a:xfrm>
            <a:off x="298450" y="5965825"/>
            <a:ext cx="42370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 dirty="0"/>
              <a:t>4. Evidencia muestral: el </a:t>
            </a:r>
            <a:r>
              <a:rPr lang="es-ES_tradnl" altLang="es-ES" b="1" dirty="0"/>
              <a:t>estadístico de contraste</a:t>
            </a:r>
            <a:r>
              <a:rPr lang="es-ES_tradnl" altLang="es-ES" dirty="0"/>
              <a:t>:</a:t>
            </a:r>
            <a:endParaRPr lang="es-ES" altLang="es-ES" sz="1300" dirty="0"/>
          </a:p>
        </p:txBody>
      </p:sp>
      <p:grpSp>
        <p:nvGrpSpPr>
          <p:cNvPr id="36938" name="Group 74"/>
          <p:cNvGrpSpPr>
            <a:grpSpLocks/>
          </p:cNvGrpSpPr>
          <p:nvPr/>
        </p:nvGrpSpPr>
        <p:grpSpPr bwMode="auto">
          <a:xfrm>
            <a:off x="4325938" y="4533900"/>
            <a:ext cx="3963987" cy="584200"/>
            <a:chOff x="2629" y="2562"/>
            <a:chExt cx="2497" cy="368"/>
          </a:xfrm>
        </p:grpSpPr>
        <p:graphicFrame>
          <p:nvGraphicFramePr>
            <p:cNvPr id="36935" name="Object 71"/>
            <p:cNvGraphicFramePr>
              <a:graphicFrameLocks noChangeAspect="1"/>
            </p:cNvGraphicFramePr>
            <p:nvPr/>
          </p:nvGraphicFramePr>
          <p:xfrm>
            <a:off x="2629" y="2562"/>
            <a:ext cx="93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31560" imgH="482400" progId="Equation.DSMT4">
                    <p:embed/>
                  </p:oleObj>
                </mc:Choice>
                <mc:Fallback>
                  <p:oleObj name="Equation" r:id="rId6" imgW="1231560" imgH="482400" progId="Equation.DSMT4">
                    <p:embed/>
                    <p:pic>
                      <p:nvPicPr>
                        <p:cNvPr id="36935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9" y="2562"/>
                          <a:ext cx="936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36" name="Object 72"/>
            <p:cNvGraphicFramePr>
              <a:graphicFrameLocks noChangeAspect="1"/>
            </p:cNvGraphicFramePr>
            <p:nvPr/>
          </p:nvGraphicFramePr>
          <p:xfrm>
            <a:off x="3852" y="2562"/>
            <a:ext cx="127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76160" imgH="482400" progId="Equation.DSMT4">
                    <p:embed/>
                  </p:oleObj>
                </mc:Choice>
                <mc:Fallback>
                  <p:oleObj name="Equation" r:id="rId8" imgW="1676160" imgH="482400" progId="Equation.DSMT4">
                    <p:embed/>
                    <p:pic>
                      <p:nvPicPr>
                        <p:cNvPr id="36936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2" y="2562"/>
                          <a:ext cx="127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7" name="Line 73"/>
            <p:cNvSpPr>
              <a:spLocks noChangeShapeType="1"/>
            </p:cNvSpPr>
            <p:nvPr/>
          </p:nvSpPr>
          <p:spPr bwMode="auto">
            <a:xfrm>
              <a:off x="3601" y="2746"/>
              <a:ext cx="1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s-ES"/>
            </a:p>
          </p:txBody>
        </p:sp>
      </p:grpSp>
      <p:sp>
        <p:nvSpPr>
          <p:cNvPr id="36939" name="Text Box 75"/>
          <p:cNvSpPr txBox="1">
            <a:spLocks noChangeArrowheads="1"/>
          </p:cNvSpPr>
          <p:nvPr/>
        </p:nvSpPr>
        <p:spPr bwMode="auto">
          <a:xfrm>
            <a:off x="5826125" y="5197475"/>
            <a:ext cx="301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lang="es-ES_tradnl" altLang="es-ES" sz="1200" b="1"/>
              <a:t>Se cumple: podemos aplicar el método</a:t>
            </a:r>
          </a:p>
          <a:p>
            <a:pPr algn="ctr"/>
            <a:r>
              <a:rPr lang="es-ES_tradnl" altLang="es-ES" sz="1200"/>
              <a:t>(de lo contrario no podemos seguir)</a:t>
            </a:r>
            <a:endParaRPr lang="es-ES" altLang="es-ES" sz="1100"/>
          </a:p>
        </p:txBody>
      </p:sp>
      <p:graphicFrame>
        <p:nvGraphicFramePr>
          <p:cNvPr id="36941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843002"/>
              </p:ext>
            </p:extLst>
          </p:nvPr>
        </p:nvGraphicFramePr>
        <p:xfrm>
          <a:off x="3620334" y="6026149"/>
          <a:ext cx="5266037" cy="806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62240" imgH="482400" progId="Equation.DSMT4">
                  <p:embed/>
                </p:oleObj>
              </mc:Choice>
              <mc:Fallback>
                <p:oleObj name="Equation" r:id="rId10" imgW="3162240" imgH="482400" progId="Equation.DSMT4">
                  <p:embed/>
                  <p:pic>
                    <p:nvPicPr>
                      <p:cNvPr id="36941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334" y="6026149"/>
                        <a:ext cx="5266037" cy="806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49" name="Text Box 85"/>
          <p:cNvSpPr txBox="1">
            <a:spLocks noChangeArrowheads="1"/>
          </p:cNvSpPr>
          <p:nvPr/>
        </p:nvSpPr>
        <p:spPr bwMode="auto">
          <a:xfrm>
            <a:off x="503238" y="3946525"/>
            <a:ext cx="81597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s-ES_tradnl" altLang="es-ES" sz="1300" b="1"/>
              <a:t>Fijamos el error de tipo I</a:t>
            </a:r>
            <a:r>
              <a:rPr lang="es-ES_tradnl" altLang="es-ES" sz="1300"/>
              <a:t> a un nivel </a:t>
            </a:r>
            <a:r>
              <a:rPr lang="es-ES_tradnl" altLang="es-ES" sz="1500">
                <a:latin typeface="Symbol" pitchFamily="18" charset="2"/>
              </a:rPr>
              <a:t>a</a:t>
            </a:r>
            <a:r>
              <a:rPr lang="es-ES_tradnl" altLang="es-ES" sz="1300"/>
              <a:t>=0.05, de manera que declararemos significativo a todo resultado que de lugar a un nivel de significación </a:t>
            </a:r>
            <a:r>
              <a:rPr lang="es-ES_tradnl" altLang="es-ES" sz="1500" i="1">
                <a:latin typeface="Times New Roman" pitchFamily="18" charset="0"/>
              </a:rPr>
              <a:t>P</a:t>
            </a:r>
            <a:r>
              <a:rPr lang="es-ES_tradnl" altLang="es-ES" sz="1300"/>
              <a:t>≤</a:t>
            </a:r>
            <a:r>
              <a:rPr lang="es-ES_tradnl" altLang="es-ES" sz="1500">
                <a:latin typeface="Symbol" pitchFamily="18" charset="2"/>
              </a:rPr>
              <a:t>a</a:t>
            </a:r>
            <a:r>
              <a:rPr lang="es-ES_tradnl" altLang="es-ES" sz="1300">
                <a:latin typeface="Symbol" pitchFamily="18" charset="2"/>
              </a:rPr>
              <a:t>=0.05</a:t>
            </a:r>
            <a:endParaRPr lang="es-ES" altLang="es-ES" sz="1300">
              <a:latin typeface="Symbol" pitchFamily="18" charset="2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9613D82-73B7-4612-9D15-7C62A72484A0}"/>
              </a:ext>
            </a:extLst>
          </p:cNvPr>
          <p:cNvSpPr txBox="1"/>
          <p:nvPr/>
        </p:nvSpPr>
        <p:spPr>
          <a:xfrm rot="1246750">
            <a:off x="7495606" y="394964"/>
            <a:ext cx="1156893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rgbClr val="C00000"/>
                </a:solidFill>
              </a:rPr>
              <a:t>COMPLEMENTO</a:t>
            </a:r>
          </a:p>
        </p:txBody>
      </p:sp>
    </p:spTree>
    <p:extLst>
      <p:ext uri="{BB962C8B-B14F-4D97-AF65-F5344CB8AC3E}">
        <p14:creationId xmlns:p14="http://schemas.microsoft.com/office/powerpoint/2010/main" val="211550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7" name="Text Box 29"/>
          <p:cNvSpPr txBox="1">
            <a:spLocks noChangeArrowheads="1"/>
          </p:cNvSpPr>
          <p:nvPr/>
        </p:nvSpPr>
        <p:spPr bwMode="auto">
          <a:xfrm>
            <a:off x="574675" y="2144712"/>
            <a:ext cx="83502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_tradnl" altLang="es-ES"/>
              <a:t>La probabilidad de equivocarnos al rechazar la hipótesis nula con estos datos es menor al 4%. Como esta probabilidad es menor a </a:t>
            </a:r>
            <a:r>
              <a:rPr lang="es-ES_tradnl" altLang="es-ES">
                <a:latin typeface="Symbol" pitchFamily="18" charset="2"/>
              </a:rPr>
              <a:t>a</a:t>
            </a:r>
            <a:r>
              <a:rPr lang="es-ES_tradnl" altLang="es-ES"/>
              <a:t>=5%, el nivel de error es tolerable y en consecuencia rechazamos H</a:t>
            </a:r>
            <a:r>
              <a:rPr lang="es-ES_tradnl" altLang="es-ES" baseline="-25000"/>
              <a:t>0</a:t>
            </a:r>
            <a:endParaRPr lang="es-ES" altLang="es-ES" baseline="-25000"/>
          </a:p>
        </p:txBody>
      </p:sp>
      <p:sp>
        <p:nvSpPr>
          <p:cNvPr id="37918" name="Text Box 30"/>
          <p:cNvSpPr txBox="1">
            <a:spLocks noChangeArrowheads="1"/>
          </p:cNvSpPr>
          <p:nvPr/>
        </p:nvSpPr>
        <p:spPr bwMode="auto">
          <a:xfrm>
            <a:off x="574675" y="2905125"/>
            <a:ext cx="83502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_tradnl" altLang="es-ES"/>
              <a:t>Si H</a:t>
            </a:r>
            <a:r>
              <a:rPr lang="es-ES_tradnl" altLang="es-ES" baseline="-25000"/>
              <a:t>0</a:t>
            </a:r>
            <a:r>
              <a:rPr lang="es-ES_tradnl" altLang="es-ES"/>
              <a:t> es cierta, es decir si la prevalencia es del 22% en 2013, la probabilidad de observar una muestra como la actual, o más discrepante con dicha hipótesis, es del 4%. Consideramos que esa probabilidad es baja (&lt;</a:t>
            </a:r>
            <a:r>
              <a:rPr lang="es-ES_tradnl" altLang="es-ES">
                <a:latin typeface="Symbol" pitchFamily="18" charset="2"/>
              </a:rPr>
              <a:t>a</a:t>
            </a:r>
            <a:r>
              <a:rPr lang="es-ES_tradnl" altLang="es-ES"/>
              <a:t>) y en consecuencia rechazamos H</a:t>
            </a:r>
            <a:r>
              <a:rPr lang="es-ES_tradnl" altLang="es-ES" baseline="-25000"/>
              <a:t>0</a:t>
            </a:r>
            <a:endParaRPr lang="es-ES" altLang="es-ES" baseline="-25000"/>
          </a:p>
        </p:txBody>
      </p:sp>
      <p:sp>
        <p:nvSpPr>
          <p:cNvPr id="37919" name="Text Box 31"/>
          <p:cNvSpPr txBox="1">
            <a:spLocks noChangeArrowheads="1"/>
          </p:cNvSpPr>
          <p:nvPr/>
        </p:nvSpPr>
        <p:spPr bwMode="auto">
          <a:xfrm>
            <a:off x="255588" y="904875"/>
            <a:ext cx="6029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68275" indent="-168275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_tradnl" altLang="es-ES"/>
              <a:t>5.	</a:t>
            </a:r>
            <a:r>
              <a:rPr lang="es-ES_tradnl" altLang="es-ES" b="1"/>
              <a:t>Nivel de significación</a:t>
            </a:r>
            <a:r>
              <a:rPr lang="es-ES_tradnl" altLang="es-ES"/>
              <a:t> (se obtiene de la tabla de la distribución normal):</a:t>
            </a:r>
            <a:endParaRPr lang="es-ES" altLang="es-ES" sz="1300"/>
          </a:p>
        </p:txBody>
      </p:sp>
      <p:graphicFrame>
        <p:nvGraphicFramePr>
          <p:cNvPr id="379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355919"/>
              </p:ext>
            </p:extLst>
          </p:nvPr>
        </p:nvGraphicFramePr>
        <p:xfrm>
          <a:off x="6350000" y="952500"/>
          <a:ext cx="117951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177480" progId="Equation.DSMT4">
                  <p:embed/>
                </p:oleObj>
              </mc:Choice>
              <mc:Fallback>
                <p:oleObj name="Equation" r:id="rId2" imgW="977760" imgH="177480" progId="Equation.DSMT4">
                  <p:embed/>
                  <p:pic>
                    <p:nvPicPr>
                      <p:cNvPr id="3792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952500"/>
                        <a:ext cx="1179513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1" name="Text Box 33"/>
          <p:cNvSpPr txBox="1">
            <a:spLocks noChangeArrowheads="1"/>
          </p:cNvSpPr>
          <p:nvPr/>
        </p:nvSpPr>
        <p:spPr bwMode="auto">
          <a:xfrm>
            <a:off x="255588" y="1241425"/>
            <a:ext cx="846931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68275" indent="-168275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/>
            <a:r>
              <a:rPr lang="es-ES_tradnl" altLang="es-ES"/>
              <a:t>6.	</a:t>
            </a:r>
            <a:r>
              <a:rPr lang="es-ES_tradnl" altLang="es-ES" b="1"/>
              <a:t>Interpretación</a:t>
            </a:r>
            <a:r>
              <a:rPr lang="es-ES_tradnl" altLang="es-ES"/>
              <a:t>: el resultado es </a:t>
            </a:r>
            <a:r>
              <a:rPr lang="es-ES_tradnl" altLang="es-ES" b="1"/>
              <a:t>significativo</a:t>
            </a:r>
            <a:r>
              <a:rPr lang="es-ES_tradnl" altLang="es-ES"/>
              <a:t>, es decir que rechazamos la hipótesis nula de que la prevalencia en 2013 es la misma que la observada en 2012</a:t>
            </a:r>
            <a:endParaRPr lang="es-ES" altLang="es-ES"/>
          </a:p>
        </p:txBody>
      </p:sp>
      <p:sp>
        <p:nvSpPr>
          <p:cNvPr id="37922" name="Text Box 34"/>
          <p:cNvSpPr txBox="1">
            <a:spLocks noChangeArrowheads="1"/>
          </p:cNvSpPr>
          <p:nvPr/>
        </p:nvSpPr>
        <p:spPr bwMode="auto">
          <a:xfrm>
            <a:off x="465138" y="1809750"/>
            <a:ext cx="84121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s-ES_tradnl" altLang="es-ES"/>
              <a:t>Lecturas posibles (y equivalentes) de este valor de </a:t>
            </a:r>
            <a:r>
              <a:rPr lang="es-ES_tradnl" altLang="es-ES" sz="1600" i="1">
                <a:latin typeface="Times New Roman" pitchFamily="18" charset="0"/>
              </a:rPr>
              <a:t>P</a:t>
            </a:r>
            <a:endParaRPr lang="es-ES" altLang="es-ES" sz="1600" i="1" baseline="-25000">
              <a:latin typeface="Times New Roman" pitchFamily="18" charset="0"/>
            </a:endParaRPr>
          </a:p>
        </p:txBody>
      </p:sp>
      <p:sp>
        <p:nvSpPr>
          <p:cNvPr id="37923" name="Text Box 35"/>
          <p:cNvSpPr txBox="1">
            <a:spLocks noChangeArrowheads="1"/>
          </p:cNvSpPr>
          <p:nvPr/>
        </p:nvSpPr>
        <p:spPr bwMode="auto">
          <a:xfrm>
            <a:off x="255588" y="3895725"/>
            <a:ext cx="8634412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68275" indent="-168275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s-ES_tradnl" altLang="es-ES"/>
              <a:t>7.	</a:t>
            </a:r>
            <a:r>
              <a:rPr lang="es-ES_tradnl" altLang="es-ES" b="1"/>
              <a:t>Análisis de la significación</a:t>
            </a:r>
            <a:r>
              <a:rPr lang="es-ES_tradnl" altLang="es-ES"/>
              <a:t>. Como rechazamos la H</a:t>
            </a:r>
            <a:r>
              <a:rPr lang="es-ES_tradnl" altLang="es-ES" baseline="-25000"/>
              <a:t>0</a:t>
            </a:r>
            <a:r>
              <a:rPr lang="es-ES_tradnl" altLang="es-ES"/>
              <a:t> no puede asumirse que la prevalencia es el valor propuesto, ¿Qué valor toma entonces dicho parámetro? </a:t>
            </a:r>
            <a:r>
              <a:rPr lang="es-ES_tradnl" altLang="es-ES">
                <a:solidFill>
                  <a:srgbClr val="993300"/>
                </a:solidFill>
              </a:rPr>
              <a:t>← IC para una proporción</a:t>
            </a:r>
            <a:endParaRPr lang="es-ES" altLang="es-ES" sz="1300" baseline="-25000">
              <a:solidFill>
                <a:srgbClr val="993300"/>
              </a:solidFill>
            </a:endParaRPr>
          </a:p>
        </p:txBody>
      </p:sp>
      <p:sp>
        <p:nvSpPr>
          <p:cNvPr id="37924" name="Text Box 36"/>
          <p:cNvSpPr txBox="1">
            <a:spLocks noChangeArrowheads="1"/>
          </p:cNvSpPr>
          <p:nvPr/>
        </p:nvSpPr>
        <p:spPr bwMode="auto">
          <a:xfrm>
            <a:off x="341313" y="5867400"/>
            <a:ext cx="85836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just"/>
            <a:r>
              <a:rPr lang="es-ES_tradnl" altLang="es-ES"/>
              <a:t>Atendiendo al método de Wilson, la prevalencia del tabaquismo es, con un 95% de probabilidad, un valor comprendido entre el 12.7% y el 21.7%. Podemos asumir que ha disminuido respecto al 22% del año anterior. Observese como </a:t>
            </a:r>
            <a:r>
              <a:rPr lang="es-ES_tradnl" altLang="es-ES" sz="1600" i="1">
                <a:latin typeface="Times New Roman" pitchFamily="18" charset="0"/>
              </a:rPr>
              <a:t>p</a:t>
            </a:r>
            <a:r>
              <a:rPr lang="es-ES_tradnl" altLang="es-ES" baseline="-25000"/>
              <a:t>0</a:t>
            </a:r>
            <a:r>
              <a:rPr lang="es-ES_tradnl" altLang="es-ES"/>
              <a:t>=0.22 no está en el IC para </a:t>
            </a:r>
            <a:r>
              <a:rPr lang="es-ES_tradnl" altLang="es-ES" sz="1600" i="1">
                <a:latin typeface="Times New Roman" pitchFamily="18" charset="0"/>
              </a:rPr>
              <a:t>p</a:t>
            </a:r>
            <a:endParaRPr lang="es-ES" altLang="es-ES" sz="2000" i="1" baseline="-25000">
              <a:latin typeface="Times New Roman" pitchFamily="18" charset="0"/>
            </a:endParaRPr>
          </a:p>
        </p:txBody>
      </p:sp>
      <p:pic>
        <p:nvPicPr>
          <p:cNvPr id="37926" name="Picture 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4576762"/>
            <a:ext cx="64103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927" name="AutoShape 39"/>
          <p:cNvSpPr>
            <a:spLocks noChangeArrowheads="1"/>
          </p:cNvSpPr>
          <p:nvPr/>
        </p:nvSpPr>
        <p:spPr bwMode="auto">
          <a:xfrm>
            <a:off x="6261100" y="895350"/>
            <a:ext cx="1312863" cy="32067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sp>
        <p:nvSpPr>
          <p:cNvPr id="13" name="Text Box 48"/>
          <p:cNvSpPr txBox="1">
            <a:spLocks noChangeArrowheads="1"/>
          </p:cNvSpPr>
          <p:nvPr/>
        </p:nvSpPr>
        <p:spPr bwMode="auto">
          <a:xfrm>
            <a:off x="87313" y="173038"/>
            <a:ext cx="25739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600" b="1" dirty="0"/>
              <a:t>Test con una proporción</a:t>
            </a:r>
            <a:endParaRPr lang="es-ES" altLang="es-ES" sz="1600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1A1B78-522D-4EA7-9EA5-3B4CB3DC8FD1}"/>
              </a:ext>
            </a:extLst>
          </p:cNvPr>
          <p:cNvSpPr txBox="1"/>
          <p:nvPr/>
        </p:nvSpPr>
        <p:spPr>
          <a:xfrm rot="485819">
            <a:off x="7574929" y="477199"/>
            <a:ext cx="1156893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rgbClr val="C00000"/>
                </a:solidFill>
              </a:rPr>
              <a:t>COMPLEMENTO</a:t>
            </a:r>
          </a:p>
        </p:txBody>
      </p:sp>
    </p:spTree>
    <p:extLst>
      <p:ext uri="{BB962C8B-B14F-4D97-AF65-F5344CB8AC3E}">
        <p14:creationId xmlns:p14="http://schemas.microsoft.com/office/powerpoint/2010/main" val="260889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255588" y="1179513"/>
            <a:ext cx="3471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¿Y si los datos muestrales hubieran sido?</a:t>
            </a:r>
            <a:endParaRPr lang="es-ES" altLang="es-ES" sz="1300"/>
          </a:p>
        </p:txBody>
      </p:sp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165107"/>
              </p:ext>
            </p:extLst>
          </p:nvPr>
        </p:nvGraphicFramePr>
        <p:xfrm>
          <a:off x="4803775" y="2897188"/>
          <a:ext cx="117951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177480" progId="Equation.DSMT4">
                  <p:embed/>
                </p:oleObj>
              </mc:Choice>
              <mc:Fallback>
                <p:oleObj name="Equation" r:id="rId2" imgW="977760" imgH="177480" progId="Equation.DSMT4">
                  <p:embed/>
                  <p:pic>
                    <p:nvPicPr>
                      <p:cNvPr id="389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2897188"/>
                        <a:ext cx="1179513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5" name="Group 13"/>
          <p:cNvGrpSpPr>
            <a:grpSpLocks/>
          </p:cNvGrpSpPr>
          <p:nvPr/>
        </p:nvGrpSpPr>
        <p:grpSpPr bwMode="auto">
          <a:xfrm>
            <a:off x="3714747" y="862013"/>
            <a:ext cx="1047750" cy="895350"/>
            <a:chOff x="4049" y="1114"/>
            <a:chExt cx="660" cy="564"/>
          </a:xfrm>
        </p:grpSpPr>
        <p:sp>
          <p:nvSpPr>
            <p:cNvPr id="38926" name="Text Box 14"/>
            <p:cNvSpPr txBox="1">
              <a:spLocks noChangeArrowheads="1"/>
            </p:cNvSpPr>
            <p:nvPr/>
          </p:nvSpPr>
          <p:spPr bwMode="auto">
            <a:xfrm>
              <a:off x="4157" y="1302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600" i="1">
                  <a:latin typeface="Times New Roman" pitchFamily="18" charset="0"/>
                </a:rPr>
                <a:t>x</a:t>
              </a:r>
              <a:r>
                <a:rPr lang="es-ES_tradnl" altLang="es-ES"/>
                <a:t> = 33</a:t>
              </a:r>
              <a:endParaRPr lang="es-ES" altLang="es-ES"/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>
              <a:off x="4157" y="1454"/>
              <a:ext cx="55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600" i="1" dirty="0">
                  <a:latin typeface="Times New Roman" pitchFamily="18" charset="0"/>
                </a:rPr>
                <a:t>n-x</a:t>
              </a:r>
              <a:r>
                <a:rPr lang="es-ES_tradnl" altLang="es-ES" dirty="0"/>
                <a:t> = 167</a:t>
              </a:r>
              <a:endParaRPr lang="es-ES" altLang="es-ES" dirty="0"/>
            </a:p>
          </p:txBody>
        </p:sp>
        <p:sp>
          <p:nvSpPr>
            <p:cNvPr id="38928" name="Text Box 16"/>
            <p:cNvSpPr txBox="1">
              <a:spLocks noChangeArrowheads="1"/>
            </p:cNvSpPr>
            <p:nvPr/>
          </p:nvSpPr>
          <p:spPr bwMode="auto">
            <a:xfrm>
              <a:off x="4157" y="1114"/>
              <a:ext cx="4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s-ES_tradnl" altLang="es-ES" sz="1600" i="1">
                  <a:latin typeface="Times New Roman" pitchFamily="18" charset="0"/>
                </a:rPr>
                <a:t>n </a:t>
              </a:r>
              <a:r>
                <a:rPr lang="es-ES_tradnl" altLang="es-ES"/>
                <a:t>= 200</a:t>
              </a:r>
              <a:endParaRPr lang="es-ES" altLang="es-ES"/>
            </a:p>
          </p:txBody>
        </p:sp>
        <p:sp>
          <p:nvSpPr>
            <p:cNvPr id="38929" name="AutoShape 17"/>
            <p:cNvSpPr>
              <a:spLocks/>
            </p:cNvSpPr>
            <p:nvPr/>
          </p:nvSpPr>
          <p:spPr bwMode="auto">
            <a:xfrm>
              <a:off x="4049" y="1147"/>
              <a:ext cx="96" cy="531"/>
            </a:xfrm>
            <a:prstGeom prst="leftBrace">
              <a:avLst>
                <a:gd name="adj1" fmla="val 4609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38930" name="Group 18"/>
          <p:cNvGrpSpPr>
            <a:grpSpLocks/>
          </p:cNvGrpSpPr>
          <p:nvPr/>
        </p:nvGrpSpPr>
        <p:grpSpPr bwMode="auto">
          <a:xfrm>
            <a:off x="358775" y="1882775"/>
            <a:ext cx="3833813" cy="584200"/>
            <a:chOff x="2629" y="2562"/>
            <a:chExt cx="2415" cy="368"/>
          </a:xfrm>
        </p:grpSpPr>
        <p:graphicFrame>
          <p:nvGraphicFramePr>
            <p:cNvPr id="38931" name="Object 19"/>
            <p:cNvGraphicFramePr>
              <a:graphicFrameLocks noChangeAspect="1"/>
            </p:cNvGraphicFramePr>
            <p:nvPr/>
          </p:nvGraphicFramePr>
          <p:xfrm>
            <a:off x="2629" y="2562"/>
            <a:ext cx="93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31560" imgH="482400" progId="Equation.DSMT4">
                    <p:embed/>
                  </p:oleObj>
                </mc:Choice>
                <mc:Fallback>
                  <p:oleObj name="Equation" r:id="rId4" imgW="1231560" imgH="482400" progId="Equation.DSMT4">
                    <p:embed/>
                    <p:pic>
                      <p:nvPicPr>
                        <p:cNvPr id="3893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9" y="2562"/>
                          <a:ext cx="936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2" name="Object 20"/>
            <p:cNvGraphicFramePr>
              <a:graphicFrameLocks noChangeAspect="1"/>
            </p:cNvGraphicFramePr>
            <p:nvPr/>
          </p:nvGraphicFramePr>
          <p:xfrm>
            <a:off x="3934" y="2562"/>
            <a:ext cx="111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60160" imgH="482400" progId="Equation.DSMT4">
                    <p:embed/>
                  </p:oleObj>
                </mc:Choice>
                <mc:Fallback>
                  <p:oleObj name="Equation" r:id="rId6" imgW="1460160" imgH="482400" progId="Equation.DSMT4">
                    <p:embed/>
                    <p:pic>
                      <p:nvPicPr>
                        <p:cNvPr id="3893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4" y="2562"/>
                          <a:ext cx="111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3" name="Line 21"/>
            <p:cNvSpPr>
              <a:spLocks noChangeShapeType="1"/>
            </p:cNvSpPr>
            <p:nvPr/>
          </p:nvSpPr>
          <p:spPr bwMode="auto">
            <a:xfrm>
              <a:off x="3601" y="2746"/>
              <a:ext cx="1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s-ES"/>
            </a:p>
          </p:txBody>
        </p:sp>
      </p:grp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4375150" y="2022475"/>
            <a:ext cx="1728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El método es válido</a:t>
            </a:r>
            <a:endParaRPr lang="es-ES" altLang="es-ES"/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6411913" y="2428875"/>
            <a:ext cx="2378075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just"/>
            <a:r>
              <a:rPr lang="es-ES_tradnl" altLang="es-ES" sz="1300"/>
              <a:t>El resultado no es significativo. No podemos rechazar la hipótesis nula con estos datos, aunque hay </a:t>
            </a:r>
            <a:r>
              <a:rPr lang="es-ES_tradnl" altLang="es-ES" sz="1300" b="1"/>
              <a:t>indicios de significación</a:t>
            </a:r>
            <a:r>
              <a:rPr lang="es-ES_tradnl" altLang="es-ES" sz="1300"/>
              <a:t>.</a:t>
            </a:r>
            <a:endParaRPr lang="es-ES" altLang="es-ES" sz="1300"/>
          </a:p>
        </p:txBody>
      </p:sp>
      <p:graphicFrame>
        <p:nvGraphicFramePr>
          <p:cNvPr id="3893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411944"/>
              </p:ext>
            </p:extLst>
          </p:nvPr>
        </p:nvGraphicFramePr>
        <p:xfrm>
          <a:off x="434975" y="2740025"/>
          <a:ext cx="378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36680" imgH="482400" progId="Equation.DSMT4">
                  <p:embed/>
                </p:oleObj>
              </mc:Choice>
              <mc:Fallback>
                <p:oleObj name="Equation" r:id="rId8" imgW="3136680" imgH="482400" progId="Equation.DSMT4">
                  <p:embed/>
                  <p:pic>
                    <p:nvPicPr>
                      <p:cNvPr id="3893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2740025"/>
                        <a:ext cx="378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7" name="Line 25"/>
          <p:cNvSpPr>
            <a:spLocks noChangeShapeType="1"/>
          </p:cNvSpPr>
          <p:nvPr/>
        </p:nvSpPr>
        <p:spPr bwMode="auto">
          <a:xfrm>
            <a:off x="4398963" y="3001963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sp>
        <p:nvSpPr>
          <p:cNvPr id="38938" name="Line 26"/>
          <p:cNvSpPr>
            <a:spLocks noChangeShapeType="1"/>
          </p:cNvSpPr>
          <p:nvPr/>
        </p:nvSpPr>
        <p:spPr bwMode="auto">
          <a:xfrm>
            <a:off x="6067425" y="2992438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sp>
        <p:nvSpPr>
          <p:cNvPr id="38939" name="Text Box 27"/>
          <p:cNvSpPr txBox="1">
            <a:spLocks noChangeArrowheads="1"/>
          </p:cNvSpPr>
          <p:nvPr/>
        </p:nvSpPr>
        <p:spPr bwMode="auto">
          <a:xfrm>
            <a:off x="233363" y="3557588"/>
            <a:ext cx="3070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Observemos ahora el 95%-IC para </a:t>
            </a:r>
            <a:r>
              <a:rPr lang="es-ES_tradnl" altLang="es-ES" sz="1600" i="1">
                <a:latin typeface="Times New Roman" pitchFamily="18" charset="0"/>
              </a:rPr>
              <a:t>p</a:t>
            </a:r>
            <a:endParaRPr lang="es-ES" altLang="es-ES" sz="1600" i="1">
              <a:latin typeface="Times New Roman" pitchFamily="18" charset="0"/>
            </a:endParaRPr>
          </a:p>
        </p:txBody>
      </p:sp>
      <p:pic>
        <p:nvPicPr>
          <p:cNvPr id="38940" name="Picture 2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3848100"/>
            <a:ext cx="63912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41" name="Text Box 29"/>
          <p:cNvSpPr txBox="1">
            <a:spLocks noChangeArrowheads="1"/>
          </p:cNvSpPr>
          <p:nvPr/>
        </p:nvSpPr>
        <p:spPr bwMode="auto">
          <a:xfrm>
            <a:off x="233363" y="4976813"/>
            <a:ext cx="3295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/>
              <a:t>Atendiendo al IC del método de Wilson:</a:t>
            </a:r>
            <a:endParaRPr lang="es-ES" altLang="es-ES" sz="1600" i="1">
              <a:latin typeface="Times New Roman" pitchFamily="18" charset="0"/>
            </a:endParaRPr>
          </a:p>
        </p:txBody>
      </p:sp>
      <p:sp>
        <p:nvSpPr>
          <p:cNvPr id="38942" name="Text Box 30"/>
          <p:cNvSpPr txBox="1">
            <a:spLocks noChangeArrowheads="1"/>
          </p:cNvSpPr>
          <p:nvPr/>
        </p:nvSpPr>
        <p:spPr bwMode="auto">
          <a:xfrm>
            <a:off x="233363" y="5305425"/>
            <a:ext cx="24114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s-ES_tradnl" altLang="es-ES"/>
              <a:t>El valor</a:t>
            </a:r>
            <a:r>
              <a:rPr lang="es-ES_tradnl" altLang="es-ES" sz="1600">
                <a:latin typeface="Times New Roman" pitchFamily="18" charset="0"/>
              </a:rPr>
              <a:t> </a:t>
            </a:r>
            <a:r>
              <a:rPr lang="es-ES_tradnl" altLang="es-ES" sz="1600" i="1">
                <a:latin typeface="Times New Roman" pitchFamily="18" charset="0"/>
              </a:rPr>
              <a:t>p</a:t>
            </a:r>
            <a:r>
              <a:rPr lang="es-ES_tradnl" altLang="es-ES" sz="1600" baseline="-25000">
                <a:latin typeface="Times New Roman" pitchFamily="18" charset="0"/>
              </a:rPr>
              <a:t>0</a:t>
            </a:r>
            <a:r>
              <a:rPr lang="es-ES_tradnl" altLang="es-ES"/>
              <a:t> pertenece al IC:</a:t>
            </a:r>
            <a:endParaRPr lang="es-ES" altLang="es-ES" sz="1600" i="1">
              <a:latin typeface="Times New Roman" pitchFamily="18" charset="0"/>
            </a:endParaRPr>
          </a:p>
        </p:txBody>
      </p:sp>
      <p:graphicFrame>
        <p:nvGraphicFramePr>
          <p:cNvPr id="389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630646"/>
              </p:ext>
            </p:extLst>
          </p:nvPr>
        </p:nvGraphicFramePr>
        <p:xfrm>
          <a:off x="2625725" y="5338763"/>
          <a:ext cx="2100263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00200" imgH="253800" progId="Equation.DSMT4">
                  <p:embed/>
                </p:oleObj>
              </mc:Choice>
              <mc:Fallback>
                <p:oleObj name="Equation" r:id="rId11" imgW="1600200" imgH="253800" progId="Equation.DSMT4">
                  <p:embed/>
                  <p:pic>
                    <p:nvPicPr>
                      <p:cNvPr id="3894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5338763"/>
                        <a:ext cx="2100263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4" name="Text Box 32"/>
          <p:cNvSpPr txBox="1">
            <a:spLocks noChangeArrowheads="1"/>
          </p:cNvSpPr>
          <p:nvPr/>
        </p:nvSpPr>
        <p:spPr bwMode="auto">
          <a:xfrm>
            <a:off x="233363" y="5667375"/>
            <a:ext cx="86741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_tradnl" altLang="es-ES" sz="1300"/>
              <a:t>El valor de este intervalo es el de apreciar que la prueba no encuentra diferencias entre un 22% y un 11.78% (el límite del IC mas discrepante). Como esto puede ser una discrepancia muy grande (11% es la mitad de 22%) observamos un síntoma de falta de potencia del test. La aceptación de H</a:t>
            </a:r>
            <a:r>
              <a:rPr lang="es-ES_tradnl" altLang="es-ES" sz="1300" baseline="-25000"/>
              <a:t>0</a:t>
            </a:r>
            <a:r>
              <a:rPr lang="es-ES_tradnl" altLang="es-ES" sz="1300"/>
              <a:t> no resulta fiable y sería recomendable aumentar el tamaño de muestra (para ganar potencia)</a:t>
            </a:r>
            <a:endParaRPr lang="es-ES" altLang="es-ES" sz="1300" i="1">
              <a:latin typeface="Times New Roman" pitchFamily="18" charset="0"/>
            </a:endParaRPr>
          </a:p>
        </p:txBody>
      </p:sp>
      <p:sp>
        <p:nvSpPr>
          <p:cNvPr id="25" name="Text Box 48"/>
          <p:cNvSpPr txBox="1">
            <a:spLocks noChangeArrowheads="1"/>
          </p:cNvSpPr>
          <p:nvPr/>
        </p:nvSpPr>
        <p:spPr bwMode="auto">
          <a:xfrm>
            <a:off x="87313" y="173038"/>
            <a:ext cx="25739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600" b="1" dirty="0"/>
              <a:t>Test con una proporción</a:t>
            </a:r>
            <a:endParaRPr lang="es-ES" altLang="es-ES" sz="1600" b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3780A5C-5C41-4A60-8F9D-70A6136A3A55}"/>
              </a:ext>
            </a:extLst>
          </p:cNvPr>
          <p:cNvSpPr txBox="1"/>
          <p:nvPr/>
        </p:nvSpPr>
        <p:spPr>
          <a:xfrm rot="485819">
            <a:off x="7349528" y="422638"/>
            <a:ext cx="1156893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rgbClr val="C00000"/>
                </a:solidFill>
              </a:rPr>
              <a:t>COMPLEMENTO</a:t>
            </a:r>
          </a:p>
        </p:txBody>
      </p:sp>
    </p:spTree>
    <p:extLst>
      <p:ext uri="{BB962C8B-B14F-4D97-AF65-F5344CB8AC3E}">
        <p14:creationId xmlns:p14="http://schemas.microsoft.com/office/powerpoint/2010/main" val="138810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7" name="Text Box 21"/>
          <p:cNvSpPr txBox="1">
            <a:spLocks noChangeArrowheads="1"/>
          </p:cNvSpPr>
          <p:nvPr/>
        </p:nvSpPr>
        <p:spPr bwMode="auto">
          <a:xfrm>
            <a:off x="441325" y="941387"/>
            <a:ext cx="6158074" cy="109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s-ES_tradnl" altLang="es-ES" dirty="0"/>
              <a:t>La </a:t>
            </a:r>
            <a:r>
              <a:rPr lang="es-ES_tradnl" altLang="es-ES" b="1" dirty="0"/>
              <a:t>determinación del tamaño de muestra </a:t>
            </a:r>
            <a:r>
              <a:rPr lang="es-ES_tradnl" altLang="es-ES" dirty="0"/>
              <a:t>requiere fijar de antemano:</a:t>
            </a:r>
          </a:p>
          <a:p>
            <a:pPr eaLnBrk="1" hangingPunct="1">
              <a:buFontTx/>
              <a:buChar char="-"/>
            </a:pPr>
            <a:r>
              <a:rPr lang="es-ES_tradnl" altLang="es-ES" dirty="0"/>
              <a:t>El nivel de error </a:t>
            </a:r>
            <a:r>
              <a:rPr lang="es-ES_tradnl" altLang="es-ES" dirty="0">
                <a:latin typeface="Symbol" pitchFamily="18" charset="2"/>
              </a:rPr>
              <a:t>a</a:t>
            </a:r>
            <a:r>
              <a:rPr lang="es-ES_tradnl" altLang="es-ES" dirty="0"/>
              <a:t> asumible</a:t>
            </a:r>
          </a:p>
          <a:p>
            <a:pPr eaLnBrk="1" hangingPunct="1">
              <a:buFontTx/>
              <a:buChar char="-"/>
            </a:pPr>
            <a:r>
              <a:rPr lang="es-ES_tradnl" altLang="es-ES" dirty="0"/>
              <a:t>La potencia deseada (o de forma equivalente el nivel de error asumible </a:t>
            </a:r>
            <a:r>
              <a:rPr lang="es-ES_tradnl" altLang="es-ES" sz="1600" dirty="0">
                <a:latin typeface="Symbol" pitchFamily="18" charset="2"/>
              </a:rPr>
              <a:t>b</a:t>
            </a:r>
            <a:r>
              <a:rPr lang="es-ES_tradnl" altLang="es-ES" dirty="0"/>
              <a:t>)</a:t>
            </a:r>
          </a:p>
          <a:p>
            <a:pPr eaLnBrk="1" hangingPunct="1">
              <a:buFontTx/>
              <a:buChar char="-"/>
            </a:pPr>
            <a:r>
              <a:rPr lang="es-ES_tradnl" altLang="es-ES" dirty="0"/>
              <a:t>La mínima diferencia con </a:t>
            </a:r>
            <a:r>
              <a:rPr lang="es-ES_tradnl" altLang="es-ES" sz="1600" i="1" dirty="0">
                <a:latin typeface="Times New Roman" pitchFamily="18" charset="0"/>
              </a:rPr>
              <a:t>p</a:t>
            </a:r>
            <a:r>
              <a:rPr lang="es-ES_tradnl" altLang="es-ES" baseline="-25000" dirty="0"/>
              <a:t>0</a:t>
            </a:r>
            <a:r>
              <a:rPr lang="es-ES_tradnl" altLang="es-ES" dirty="0"/>
              <a:t> a detectar (</a:t>
            </a:r>
            <a:r>
              <a:rPr lang="es-ES_tradnl" altLang="es-ES" sz="1600" dirty="0">
                <a:latin typeface="Symbol" pitchFamily="18" charset="2"/>
              </a:rPr>
              <a:t>d</a:t>
            </a:r>
            <a:r>
              <a:rPr lang="es-ES_tradnl" altLang="es-ES" dirty="0"/>
              <a:t>)</a:t>
            </a:r>
            <a:endParaRPr lang="es-ES" altLang="es-ES" dirty="0"/>
          </a:p>
        </p:txBody>
      </p:sp>
      <p:grpSp>
        <p:nvGrpSpPr>
          <p:cNvPr id="39962" name="Group 26"/>
          <p:cNvGrpSpPr>
            <a:grpSpLocks/>
          </p:cNvGrpSpPr>
          <p:nvPr/>
        </p:nvGrpSpPr>
        <p:grpSpPr bwMode="auto">
          <a:xfrm>
            <a:off x="454025" y="2360612"/>
            <a:ext cx="4549775" cy="311150"/>
            <a:chOff x="220" y="1520"/>
            <a:chExt cx="2866" cy="196"/>
          </a:xfrm>
        </p:grpSpPr>
        <p:sp>
          <p:nvSpPr>
            <p:cNvPr id="39958" name="Text Box 22"/>
            <p:cNvSpPr txBox="1">
              <a:spLocks noChangeArrowheads="1"/>
            </p:cNvSpPr>
            <p:nvPr/>
          </p:nvSpPr>
          <p:spPr bwMode="auto">
            <a:xfrm>
              <a:off x="220" y="1524"/>
              <a:ext cx="233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115888" indent="-115888"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eaLnBrk="0" hangingPunct="0"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s-ES_tradnl" altLang="es-ES"/>
                <a:t>Considerando el valor más cercano a 0.5 de </a:t>
              </a:r>
              <a:endParaRPr lang="es-ES" altLang="es-ES" sz="1600" i="1">
                <a:latin typeface="Times New Roman" pitchFamily="18" charset="0"/>
              </a:endParaRPr>
            </a:p>
          </p:txBody>
        </p:sp>
        <p:graphicFrame>
          <p:nvGraphicFramePr>
            <p:cNvPr id="39959" name="Object 23"/>
            <p:cNvGraphicFramePr>
              <a:graphicFrameLocks noChangeAspect="1"/>
            </p:cNvGraphicFramePr>
            <p:nvPr/>
          </p:nvGraphicFramePr>
          <p:xfrm>
            <a:off x="2491" y="1520"/>
            <a:ext cx="595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98400" imgH="228600" progId="Equation.DSMT4">
                    <p:embed/>
                  </p:oleObj>
                </mc:Choice>
                <mc:Fallback>
                  <p:oleObj name="Equation" r:id="rId2" imgW="698400" imgH="228600" progId="Equation.DSMT4">
                    <p:embed/>
                    <p:pic>
                      <p:nvPicPr>
                        <p:cNvPr id="39959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1" y="1520"/>
                          <a:ext cx="595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349250" y="3240087"/>
            <a:ext cx="815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15888" indent="-115888"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eaLnBrk="0" hangingPunct="0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s-ES_tradnl" altLang="es-ES" sz="1300">
                <a:solidFill>
                  <a:srgbClr val="008080"/>
                </a:solidFill>
              </a:rPr>
              <a:t>Por ejemplo, si interesa declarar significativa una diferencia del 6% con una potencia del 90% a un error </a:t>
            </a:r>
            <a:r>
              <a:rPr lang="es-ES_tradnl" altLang="es-ES" sz="1500">
                <a:solidFill>
                  <a:srgbClr val="008080"/>
                </a:solidFill>
                <a:latin typeface="Symbol" pitchFamily="18" charset="2"/>
              </a:rPr>
              <a:t>a</a:t>
            </a:r>
            <a:r>
              <a:rPr lang="es-ES_tradnl" altLang="es-ES" sz="1300">
                <a:solidFill>
                  <a:srgbClr val="008080"/>
                </a:solidFill>
              </a:rPr>
              <a:t> del 5%</a:t>
            </a:r>
            <a:endParaRPr lang="es-ES" altLang="es-ES" sz="1300" i="1">
              <a:solidFill>
                <a:srgbClr val="008080"/>
              </a:solidFill>
              <a:latin typeface="Times New Roman" pitchFamily="18" charset="0"/>
            </a:endParaRPr>
          </a:p>
        </p:txBody>
      </p:sp>
      <p:graphicFrame>
        <p:nvGraphicFramePr>
          <p:cNvPr id="399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032330"/>
              </p:ext>
            </p:extLst>
          </p:nvPr>
        </p:nvGraphicFramePr>
        <p:xfrm>
          <a:off x="5583238" y="2112962"/>
          <a:ext cx="22685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571320" progId="Equation.DSMT4">
                  <p:embed/>
                </p:oleObj>
              </mc:Choice>
              <mc:Fallback>
                <p:oleObj name="Equation" r:id="rId4" imgW="1726920" imgH="571320" progId="Equation.DSMT4">
                  <p:embed/>
                  <p:pic>
                    <p:nvPicPr>
                      <p:cNvPr id="3996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2112962"/>
                        <a:ext cx="226853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Line 27"/>
          <p:cNvSpPr>
            <a:spLocks noChangeShapeType="1"/>
          </p:cNvSpPr>
          <p:nvPr/>
        </p:nvSpPr>
        <p:spPr bwMode="auto">
          <a:xfrm>
            <a:off x="5126038" y="2519362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s-ES"/>
          </a:p>
        </p:txBody>
      </p:sp>
      <p:grpSp>
        <p:nvGrpSpPr>
          <p:cNvPr id="39970" name="Group 34"/>
          <p:cNvGrpSpPr>
            <a:grpSpLocks/>
          </p:cNvGrpSpPr>
          <p:nvPr/>
        </p:nvGrpSpPr>
        <p:grpSpPr bwMode="auto">
          <a:xfrm>
            <a:off x="711200" y="3789362"/>
            <a:ext cx="4857750" cy="1520825"/>
            <a:chOff x="448" y="2222"/>
            <a:chExt cx="3060" cy="958"/>
          </a:xfrm>
        </p:grpSpPr>
        <p:grpSp>
          <p:nvGrpSpPr>
            <p:cNvPr id="39968" name="Group 32"/>
            <p:cNvGrpSpPr>
              <a:grpSpLocks/>
            </p:cNvGrpSpPr>
            <p:nvPr/>
          </p:nvGrpSpPr>
          <p:grpSpPr bwMode="auto">
            <a:xfrm>
              <a:off x="448" y="2766"/>
              <a:ext cx="3060" cy="414"/>
              <a:chOff x="465" y="2766"/>
              <a:chExt cx="3060" cy="414"/>
            </a:xfrm>
          </p:grpSpPr>
          <p:sp>
            <p:nvSpPr>
              <p:cNvPr id="39965" name="Text Box 29"/>
              <p:cNvSpPr txBox="1">
                <a:spLocks noChangeArrowheads="1"/>
              </p:cNvSpPr>
              <p:nvPr/>
            </p:nvSpPr>
            <p:spPr bwMode="auto">
              <a:xfrm>
                <a:off x="2186" y="2995"/>
                <a:ext cx="1339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115888" indent="-115888"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eaLnBrk="0" hangingPunct="0"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s-ES_tradnl" altLang="es-ES" sz="1200"/>
                  <a:t>Por ser el más cercano a 0.5</a:t>
                </a:r>
                <a:endParaRPr lang="es-ES" altLang="es-ES" i="1">
                  <a:latin typeface="Times New Roman" pitchFamily="18" charset="0"/>
                </a:endParaRPr>
              </a:p>
            </p:txBody>
          </p:sp>
          <p:graphicFrame>
            <p:nvGraphicFramePr>
              <p:cNvPr id="39966" name="Object 30"/>
              <p:cNvGraphicFramePr>
                <a:graphicFrameLocks noChangeAspect="1"/>
              </p:cNvGraphicFramePr>
              <p:nvPr/>
            </p:nvGraphicFramePr>
            <p:xfrm>
              <a:off x="465" y="2766"/>
              <a:ext cx="1720" cy="4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19240" imgH="482400" progId="Equation.DSMT4">
                      <p:embed/>
                    </p:oleObj>
                  </mc:Choice>
                  <mc:Fallback>
                    <p:oleObj name="Equation" r:id="rId6" imgW="2019240" imgH="482400" progId="Equation.DSMT4">
                      <p:embed/>
                      <p:pic>
                        <p:nvPicPr>
                          <p:cNvPr id="39966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" y="2766"/>
                            <a:ext cx="1720" cy="4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9967" name="Object 31"/>
            <p:cNvGraphicFramePr>
              <a:graphicFrameLocks noChangeAspect="1"/>
            </p:cNvGraphicFramePr>
            <p:nvPr/>
          </p:nvGraphicFramePr>
          <p:xfrm>
            <a:off x="448" y="2222"/>
            <a:ext cx="2370" cy="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781000" imgH="660240" progId="Equation.DSMT4">
                    <p:embed/>
                  </p:oleObj>
                </mc:Choice>
                <mc:Fallback>
                  <p:oleObj name="Equation" r:id="rId8" imgW="2781000" imgH="660240" progId="Equation.DSMT4">
                    <p:embed/>
                    <p:pic>
                      <p:nvPicPr>
                        <p:cNvPr id="39967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222"/>
                          <a:ext cx="2370" cy="5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6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294604"/>
              </p:ext>
            </p:extLst>
          </p:nvPr>
        </p:nvGraphicFramePr>
        <p:xfrm>
          <a:off x="1736725" y="5454650"/>
          <a:ext cx="572293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54480" imgH="545760" progId="Equation.DSMT4">
                  <p:embed/>
                </p:oleObj>
              </mc:Choice>
              <mc:Fallback>
                <p:oleObj name="Equation" r:id="rId10" imgW="4254480" imgH="545760" progId="Equation.DSMT4">
                  <p:embed/>
                  <p:pic>
                    <p:nvPicPr>
                      <p:cNvPr id="3996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5454650"/>
                        <a:ext cx="5722938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1" name="Text Box 35"/>
          <p:cNvSpPr txBox="1">
            <a:spLocks noChangeArrowheads="1"/>
          </p:cNvSpPr>
          <p:nvPr/>
        </p:nvSpPr>
        <p:spPr bwMode="auto">
          <a:xfrm>
            <a:off x="711200" y="6228358"/>
            <a:ext cx="4174839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s-ES_tradnl" altLang="es-ES" sz="1400"/>
              <a:t>Son necesarias más de 534 observaciones (=535)</a:t>
            </a:r>
            <a:endParaRPr lang="es-ES" altLang="es-ES" sz="1400"/>
          </a:p>
        </p:txBody>
      </p:sp>
      <p:sp>
        <p:nvSpPr>
          <p:cNvPr id="17" name="Text Box 48"/>
          <p:cNvSpPr txBox="1">
            <a:spLocks noChangeArrowheads="1"/>
          </p:cNvSpPr>
          <p:nvPr/>
        </p:nvSpPr>
        <p:spPr bwMode="auto">
          <a:xfrm>
            <a:off x="87313" y="173038"/>
            <a:ext cx="25739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ES" sz="1600" b="1" dirty="0"/>
              <a:t>Test con una proporción</a:t>
            </a:r>
            <a:endParaRPr lang="es-ES" altLang="es-ES" sz="1600" b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EB6F61-82C6-4F5E-BCF4-A2F4F6329F8C}"/>
              </a:ext>
            </a:extLst>
          </p:cNvPr>
          <p:cNvSpPr txBox="1"/>
          <p:nvPr/>
        </p:nvSpPr>
        <p:spPr>
          <a:xfrm rot="1233096">
            <a:off x="7351141" y="417984"/>
            <a:ext cx="1156893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rgbClr val="C00000"/>
                </a:solidFill>
              </a:rPr>
              <a:t>COMPLEMENTO</a:t>
            </a:r>
          </a:p>
        </p:txBody>
      </p:sp>
    </p:spTree>
    <p:extLst>
      <p:ext uri="{BB962C8B-B14F-4D97-AF65-F5344CB8AC3E}">
        <p14:creationId xmlns:p14="http://schemas.microsoft.com/office/powerpoint/2010/main" val="422680932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o">
  <a:themeElements>
    <a:clrScheme name="Ec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5513</TotalTime>
  <Words>1589</Words>
  <Application>Microsoft Macintosh PowerPoint</Application>
  <PresentationFormat>On-screen Show (4:3)</PresentationFormat>
  <Paragraphs>155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 Unicode MS</vt:lpstr>
      <vt:lpstr>Arial</vt:lpstr>
      <vt:lpstr>Symbol</vt:lpstr>
      <vt:lpstr>Times New Roman</vt:lpstr>
      <vt:lpstr>Wingdings</vt:lpstr>
      <vt:lpstr>Diseño predeterminado</vt:lpstr>
      <vt:lpstr>Eco</vt:lpstr>
      <vt:lpstr>Equation</vt:lpstr>
      <vt:lpstr>Ecuación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Porto Alegre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Pedro Femia</dc:creator>
  <cp:lastModifiedBy>Miguel-Angel  Luque</cp:lastModifiedBy>
  <cp:revision>246</cp:revision>
  <cp:lastPrinted>2016-11-01T19:17:18Z</cp:lastPrinted>
  <dcterms:created xsi:type="dcterms:W3CDTF">2012-06-20T17:39:24Z</dcterms:created>
  <dcterms:modified xsi:type="dcterms:W3CDTF">2023-08-18T11:22:48Z</dcterms:modified>
</cp:coreProperties>
</file>