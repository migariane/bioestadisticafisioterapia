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8"/>
  </p:notesMasterIdLst>
  <p:handoutMasterIdLst>
    <p:handoutMasterId r:id="rId39"/>
  </p:handoutMasterIdLst>
  <p:sldIdLst>
    <p:sldId id="258" r:id="rId2"/>
    <p:sldId id="259" r:id="rId3"/>
    <p:sldId id="260" r:id="rId4"/>
    <p:sldId id="261" r:id="rId5"/>
    <p:sldId id="312" r:id="rId6"/>
    <p:sldId id="313" r:id="rId7"/>
    <p:sldId id="310"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90" r:id="rId27"/>
    <p:sldId id="301" r:id="rId28"/>
    <p:sldId id="302" r:id="rId29"/>
    <p:sldId id="303" r:id="rId30"/>
    <p:sldId id="304" r:id="rId31"/>
    <p:sldId id="305" r:id="rId32"/>
    <p:sldId id="306" r:id="rId33"/>
    <p:sldId id="307" r:id="rId34"/>
    <p:sldId id="308" r:id="rId35"/>
    <p:sldId id="309" r:id="rId36"/>
    <p:sldId id="280" r:id="rId37"/>
  </p:sldIdLst>
  <p:sldSz cx="9144000" cy="6858000" type="screen4x3"/>
  <p:notesSz cx="7099300" cy="10234613"/>
  <p:defaultTextStyle>
    <a:defPPr>
      <a:defRPr lang="es-ES"/>
    </a:defPPr>
    <a:lvl1pPr algn="l" rtl="0" fontAlgn="base">
      <a:spcBef>
        <a:spcPct val="0"/>
      </a:spcBef>
      <a:spcAft>
        <a:spcPct val="0"/>
      </a:spcAft>
      <a:defRPr sz="1200" kern="1200">
        <a:solidFill>
          <a:schemeClr val="tx1"/>
        </a:solidFill>
        <a:latin typeface="Arial" charset="0"/>
        <a:ea typeface="+mn-ea"/>
        <a:cs typeface="+mn-cs"/>
      </a:defRPr>
    </a:lvl1pPr>
    <a:lvl2pPr marL="457200" algn="l" rtl="0" fontAlgn="base">
      <a:spcBef>
        <a:spcPct val="0"/>
      </a:spcBef>
      <a:spcAft>
        <a:spcPct val="0"/>
      </a:spcAft>
      <a:defRPr sz="1200" kern="1200">
        <a:solidFill>
          <a:schemeClr val="tx1"/>
        </a:solidFill>
        <a:latin typeface="Arial" charset="0"/>
        <a:ea typeface="+mn-ea"/>
        <a:cs typeface="+mn-cs"/>
      </a:defRPr>
    </a:lvl2pPr>
    <a:lvl3pPr marL="914400" algn="l" rtl="0" fontAlgn="base">
      <a:spcBef>
        <a:spcPct val="0"/>
      </a:spcBef>
      <a:spcAft>
        <a:spcPct val="0"/>
      </a:spcAft>
      <a:defRPr sz="1200" kern="1200">
        <a:solidFill>
          <a:schemeClr val="tx1"/>
        </a:solidFill>
        <a:latin typeface="Arial" charset="0"/>
        <a:ea typeface="+mn-ea"/>
        <a:cs typeface="+mn-cs"/>
      </a:defRPr>
    </a:lvl3pPr>
    <a:lvl4pPr marL="1371600" algn="l" rtl="0" fontAlgn="base">
      <a:spcBef>
        <a:spcPct val="0"/>
      </a:spcBef>
      <a:spcAft>
        <a:spcPct val="0"/>
      </a:spcAft>
      <a:defRPr sz="1200" kern="1200">
        <a:solidFill>
          <a:schemeClr val="tx1"/>
        </a:solidFill>
        <a:latin typeface="Arial" charset="0"/>
        <a:ea typeface="+mn-ea"/>
        <a:cs typeface="+mn-cs"/>
      </a:defRPr>
    </a:lvl4pPr>
    <a:lvl5pPr marL="1828800" algn="l" rtl="0" fontAlgn="base">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12" userDrawn="1">
          <p15:clr>
            <a:srgbClr val="A4A3A4"/>
          </p15:clr>
        </p15:guide>
        <p15:guide id="2" pos="96" userDrawn="1">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80000"/>
    <a:srgbClr val="FF9900"/>
    <a:srgbClr val="006666"/>
    <a:srgbClr val="000066"/>
    <a:srgbClr val="224B50"/>
    <a:srgbClr val="FFFFFF"/>
    <a:srgbClr val="990000"/>
    <a:srgbClr val="009999"/>
    <a:srgbClr val="003399"/>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356" autoAdjust="0"/>
    <p:restoredTop sz="92545" autoAdjust="0"/>
  </p:normalViewPr>
  <p:slideViewPr>
    <p:cSldViewPr showGuides="1">
      <p:cViewPr varScale="1">
        <p:scale>
          <a:sx n="86" d="100"/>
          <a:sy n="86" d="100"/>
        </p:scale>
        <p:origin x="1792" y="200"/>
      </p:cViewPr>
      <p:guideLst>
        <p:guide orient="horz" pos="2112"/>
        <p:guide pos="9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howGuides="1">
      <p:cViewPr varScale="1">
        <p:scale>
          <a:sx n="73" d="100"/>
          <a:sy n="73" d="100"/>
        </p:scale>
        <p:origin x="3948" y="120"/>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E:\Taller%20(NAS)\T-Programaci&#243;n\Excel\Calculo%20Estad&#237;stico\Calculos%20en%20Excel%20_M\+%20Inferencia%202%20medias%20normales%20independientes%20_20161011.xls"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E:\Taller%20(NAS)\T-Programaci&#243;n\Excel\Calculo%20Estad&#237;stico\Calculos%20en%20Excel%20_M\+%20Inferencia%202%20medias%20normales%20independientes%20_20161011.xls"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6081453005625818"/>
          <c:y val="7.3354908306364611E-2"/>
          <c:w val="0.83918546994374188"/>
          <c:h val="0.88997045019989574"/>
        </c:manualLayout>
      </c:layout>
      <c:lineChart>
        <c:grouping val="standard"/>
        <c:varyColors val="0"/>
        <c:ser>
          <c:idx val="0"/>
          <c:order val="0"/>
          <c:spPr>
            <a:ln w="28575">
              <a:noFill/>
            </a:ln>
          </c:spPr>
          <c:marker>
            <c:symbol val="dash"/>
            <c:size val="5"/>
            <c:spPr>
              <a:solidFill>
                <a:srgbClr val="000000"/>
              </a:solidFill>
              <a:ln>
                <a:solidFill>
                  <a:srgbClr val="000000"/>
                </a:solidFill>
                <a:prstDash val="solid"/>
              </a:ln>
            </c:spPr>
          </c:marker>
          <c:cat>
            <c:numRef>
              <c:f>'MH01'!$D$17:$D$18</c:f>
              <c:numCache>
                <c:formatCode>General</c:formatCode>
                <c:ptCount val="2"/>
              </c:numCache>
            </c:numRef>
          </c:cat>
          <c:val>
            <c:numRef>
              <c:f>'MH01'!$AE$15:$AF$15</c:f>
              <c:numCache>
                <c:formatCode>0.0</c:formatCode>
                <c:ptCount val="2"/>
                <c:pt idx="0">
                  <c:v>491.65328217137284</c:v>
                </c:pt>
                <c:pt idx="1">
                  <c:v>431.1547890934346</c:v>
                </c:pt>
              </c:numCache>
            </c:numRef>
          </c:val>
          <c:smooth val="0"/>
          <c:extLst>
            <c:ext xmlns:c16="http://schemas.microsoft.com/office/drawing/2014/chart" uri="{C3380CC4-5D6E-409C-BE32-E72D297353CC}">
              <c16:uniqueId val="{00000000-D26A-42E3-B783-0888C686C050}"/>
            </c:ext>
          </c:extLst>
        </c:ser>
        <c:ser>
          <c:idx val="1"/>
          <c:order val="1"/>
          <c:spPr>
            <a:ln w="28575">
              <a:noFill/>
            </a:ln>
          </c:spPr>
          <c:marker>
            <c:symbol val="dash"/>
            <c:size val="5"/>
            <c:spPr>
              <a:solidFill>
                <a:srgbClr val="000000"/>
              </a:solidFill>
              <a:ln>
                <a:solidFill>
                  <a:srgbClr val="000000"/>
                </a:solidFill>
                <a:prstDash val="solid"/>
              </a:ln>
            </c:spPr>
          </c:marker>
          <c:cat>
            <c:numRef>
              <c:f>'MH01'!$D$17:$D$18</c:f>
              <c:numCache>
                <c:formatCode>General</c:formatCode>
                <c:ptCount val="2"/>
              </c:numCache>
            </c:numRef>
          </c:cat>
          <c:val>
            <c:numRef>
              <c:f>'MH01'!$AE$16:$AF$16</c:f>
              <c:numCache>
                <c:formatCode>0.0</c:formatCode>
                <c:ptCount val="2"/>
                <c:pt idx="0">
                  <c:v>408.34671782862716</c:v>
                </c:pt>
                <c:pt idx="1">
                  <c:v>328.8452109065654</c:v>
                </c:pt>
              </c:numCache>
            </c:numRef>
          </c:val>
          <c:smooth val="0"/>
          <c:extLst>
            <c:ext xmlns:c16="http://schemas.microsoft.com/office/drawing/2014/chart" uri="{C3380CC4-5D6E-409C-BE32-E72D297353CC}">
              <c16:uniqueId val="{00000001-D26A-42E3-B783-0888C686C050}"/>
            </c:ext>
          </c:extLst>
        </c:ser>
        <c:ser>
          <c:idx val="2"/>
          <c:order val="2"/>
          <c:spPr>
            <a:ln w="28575">
              <a:noFill/>
            </a:ln>
          </c:spPr>
          <c:marker>
            <c:symbol val="circle"/>
            <c:size val="5"/>
            <c:spPr>
              <a:solidFill>
                <a:srgbClr val="000000"/>
              </a:solidFill>
              <a:ln>
                <a:solidFill>
                  <a:srgbClr val="000000"/>
                </a:solidFill>
                <a:prstDash val="solid"/>
              </a:ln>
            </c:spPr>
          </c:marker>
          <c:cat>
            <c:numRef>
              <c:f>'MH01'!$D$17:$D$18</c:f>
              <c:numCache>
                <c:formatCode>General</c:formatCode>
                <c:ptCount val="2"/>
              </c:numCache>
            </c:numRef>
          </c:cat>
          <c:val>
            <c:numRef>
              <c:f>'MH01'!$AE$17:$AF$17</c:f>
              <c:numCache>
                <c:formatCode>0.0</c:formatCode>
                <c:ptCount val="2"/>
                <c:pt idx="0">
                  <c:v>450</c:v>
                </c:pt>
                <c:pt idx="1">
                  <c:v>380</c:v>
                </c:pt>
              </c:numCache>
            </c:numRef>
          </c:val>
          <c:smooth val="0"/>
          <c:extLst>
            <c:ext xmlns:c16="http://schemas.microsoft.com/office/drawing/2014/chart" uri="{C3380CC4-5D6E-409C-BE32-E72D297353CC}">
              <c16:uniqueId val="{00000002-D26A-42E3-B783-0888C686C050}"/>
            </c:ext>
          </c:extLst>
        </c:ser>
        <c:ser>
          <c:idx val="3"/>
          <c:order val="3"/>
          <c:spPr>
            <a:ln w="28575">
              <a:noFill/>
            </a:ln>
          </c:spPr>
          <c:marker>
            <c:symbol val="none"/>
          </c:marker>
          <c:cat>
            <c:numRef>
              <c:f>'MH01'!$D$17:$D$18</c:f>
              <c:numCache>
                <c:formatCode>General</c:formatCode>
                <c:ptCount val="2"/>
              </c:numCache>
            </c:numRef>
          </c:cat>
          <c:val>
            <c:numRef>
              <c:f>'MH01'!$AE$15:$AF$15</c:f>
              <c:numCache>
                <c:formatCode>0.0</c:formatCode>
                <c:ptCount val="2"/>
                <c:pt idx="0">
                  <c:v>491.65328217137284</c:v>
                </c:pt>
                <c:pt idx="1">
                  <c:v>431.1547890934346</c:v>
                </c:pt>
              </c:numCache>
            </c:numRef>
          </c:val>
          <c:smooth val="0"/>
          <c:extLst>
            <c:ext xmlns:c16="http://schemas.microsoft.com/office/drawing/2014/chart" uri="{C3380CC4-5D6E-409C-BE32-E72D297353CC}">
              <c16:uniqueId val="{00000003-D26A-42E3-B783-0888C686C050}"/>
            </c:ext>
          </c:extLst>
        </c:ser>
        <c:ser>
          <c:idx val="4"/>
          <c:order val="4"/>
          <c:spPr>
            <a:ln w="28575">
              <a:noFill/>
            </a:ln>
          </c:spPr>
          <c:marker>
            <c:symbol val="none"/>
          </c:marker>
          <c:cat>
            <c:numRef>
              <c:f>'MH01'!$D$17:$D$18</c:f>
              <c:numCache>
                <c:formatCode>General</c:formatCode>
                <c:ptCount val="2"/>
              </c:numCache>
            </c:numRef>
          </c:cat>
          <c:val>
            <c:numRef>
              <c:f>'MH01'!$AE$16:$AF$16</c:f>
              <c:numCache>
                <c:formatCode>0.0</c:formatCode>
                <c:ptCount val="2"/>
                <c:pt idx="0">
                  <c:v>408.34671782862716</c:v>
                </c:pt>
                <c:pt idx="1">
                  <c:v>328.8452109065654</c:v>
                </c:pt>
              </c:numCache>
            </c:numRef>
          </c:val>
          <c:smooth val="0"/>
          <c:extLst>
            <c:ext xmlns:c16="http://schemas.microsoft.com/office/drawing/2014/chart" uri="{C3380CC4-5D6E-409C-BE32-E72D297353CC}">
              <c16:uniqueId val="{00000004-D26A-42E3-B783-0888C686C050}"/>
            </c:ext>
          </c:extLst>
        </c:ser>
        <c:ser>
          <c:idx val="5"/>
          <c:order val="5"/>
          <c:spPr>
            <a:ln w="28575">
              <a:noFill/>
            </a:ln>
          </c:spPr>
          <c:marker>
            <c:symbol val="none"/>
          </c:marker>
          <c:cat>
            <c:numRef>
              <c:f>'MH01'!$D$17:$D$18</c:f>
              <c:numCache>
                <c:formatCode>General</c:formatCode>
                <c:ptCount val="2"/>
              </c:numCache>
            </c:numRef>
          </c:cat>
          <c:val>
            <c:numRef>
              <c:f>'MH01'!$AE$17:$AF$17</c:f>
              <c:numCache>
                <c:formatCode>0.0</c:formatCode>
                <c:ptCount val="2"/>
                <c:pt idx="0">
                  <c:v>450</c:v>
                </c:pt>
                <c:pt idx="1">
                  <c:v>380</c:v>
                </c:pt>
              </c:numCache>
            </c:numRef>
          </c:val>
          <c:smooth val="0"/>
          <c:extLst>
            <c:ext xmlns:c16="http://schemas.microsoft.com/office/drawing/2014/chart" uri="{C3380CC4-5D6E-409C-BE32-E72D297353CC}">
              <c16:uniqueId val="{00000005-D26A-42E3-B783-0888C686C050}"/>
            </c:ext>
          </c:extLst>
        </c:ser>
        <c:dLbls>
          <c:showLegendKey val="0"/>
          <c:showVal val="0"/>
          <c:showCatName val="0"/>
          <c:showSerName val="0"/>
          <c:showPercent val="0"/>
          <c:showBubbleSize val="0"/>
        </c:dLbls>
        <c:hiLowLines>
          <c:spPr>
            <a:ln w="3175">
              <a:solidFill>
                <a:srgbClr val="000000"/>
              </a:solidFill>
              <a:prstDash val="solid"/>
            </a:ln>
          </c:spPr>
        </c:hiLowLines>
        <c:marker val="1"/>
        <c:smooth val="0"/>
        <c:axId val="381949232"/>
        <c:axId val="1"/>
      </c:lineChart>
      <c:catAx>
        <c:axId val="381949232"/>
        <c:scaling>
          <c:orientation val="minMax"/>
        </c:scaling>
        <c:delete val="0"/>
        <c:axPos val="b"/>
        <c:numFmt formatCode="General" sourceLinked="1"/>
        <c:majorTickMark val="cross"/>
        <c:minorTickMark val="none"/>
        <c:tickLblPos val="nextTo"/>
        <c:spPr>
          <a:ln w="12700">
            <a:solidFill>
              <a:srgbClr val="000000"/>
            </a:solidFill>
            <a:prstDash val="solid"/>
          </a:ln>
        </c:spPr>
        <c:txPr>
          <a:bodyPr rot="0" vert="horz"/>
          <a:lstStyle/>
          <a:p>
            <a:pPr>
              <a:defRPr sz="875" b="0" i="0" u="none" strike="noStrike" baseline="0">
                <a:solidFill>
                  <a:srgbClr val="000000"/>
                </a:solidFill>
                <a:latin typeface="Arial"/>
                <a:ea typeface="Arial"/>
                <a:cs typeface="Arial"/>
              </a:defRPr>
            </a:pPr>
            <a:endParaRPr lang="en-US"/>
          </a:p>
        </c:txPr>
        <c:crossAx val="1"/>
        <c:crosses val="autoZero"/>
        <c:auto val="1"/>
        <c:lblAlgn val="ctr"/>
        <c:lblOffset val="100"/>
        <c:tickLblSkip val="1"/>
        <c:tickMarkSkip val="1"/>
        <c:noMultiLvlLbl val="0"/>
      </c:catAx>
      <c:valAx>
        <c:axId val="1"/>
        <c:scaling>
          <c:orientation val="minMax"/>
        </c:scaling>
        <c:delete val="0"/>
        <c:axPos val="l"/>
        <c:majorGridlines>
          <c:spPr>
            <a:ln w="3175">
              <a:solidFill>
                <a:srgbClr val="969696"/>
              </a:solidFill>
              <a:prstDash val="sysDash"/>
            </a:ln>
          </c:spPr>
        </c:majorGridlines>
        <c:numFmt formatCode="0.0" sourceLinked="1"/>
        <c:majorTickMark val="cross"/>
        <c:minorTickMark val="none"/>
        <c:tickLblPos val="nextTo"/>
        <c:spPr>
          <a:ln w="3175">
            <a:solidFill>
              <a:srgbClr val="000000"/>
            </a:solidFill>
            <a:prstDash val="solid"/>
          </a:ln>
        </c:spPr>
        <c:txPr>
          <a:bodyPr rot="0" vert="horz"/>
          <a:lstStyle/>
          <a:p>
            <a:pPr>
              <a:defRPr sz="700" b="0" i="0" u="none" strike="noStrike" baseline="0">
                <a:solidFill>
                  <a:srgbClr val="000000"/>
                </a:solidFill>
                <a:latin typeface="Arial"/>
                <a:ea typeface="Arial"/>
                <a:cs typeface="Arial"/>
              </a:defRPr>
            </a:pPr>
            <a:endParaRPr lang="en-US"/>
          </a:p>
        </c:txPr>
        <c:crossAx val="381949232"/>
        <c:crosses val="autoZero"/>
        <c:crossBetween val="between"/>
      </c:valAx>
      <c:spPr>
        <a:noFill/>
        <a:ln w="3175">
          <a:solidFill>
            <a:schemeClr val="bg1">
              <a:lumMod val="65000"/>
            </a:schemeClr>
          </a:solidFill>
          <a:prstDash val="solid"/>
        </a:ln>
      </c:spPr>
    </c:plotArea>
    <c:plotVisOnly val="1"/>
    <c:dispBlanksAs val="gap"/>
    <c:showDLblsOverMax val="0"/>
  </c:chart>
  <c:spPr>
    <a:noFill/>
    <a:ln w="9525">
      <a:noFill/>
    </a:ln>
  </c:spPr>
  <c:txPr>
    <a:bodyPr/>
    <a:lstStyle/>
    <a:p>
      <a:pPr>
        <a:defRPr sz="200" b="0" i="0" u="none" strike="noStrike" baseline="0">
          <a:solidFill>
            <a:srgbClr val="000000"/>
          </a:solidFill>
          <a:latin typeface="Arial"/>
          <a:ea typeface="Arial"/>
          <a:cs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41818181818181815"/>
          <c:y val="5.5472572372731566E-2"/>
          <c:w val="0.46363636363636362"/>
          <c:h val="0.85488958990536279"/>
        </c:manualLayout>
      </c:layout>
      <c:lineChart>
        <c:grouping val="standard"/>
        <c:varyColors val="0"/>
        <c:ser>
          <c:idx val="0"/>
          <c:order val="0"/>
          <c:spPr>
            <a:ln w="28575">
              <a:noFill/>
            </a:ln>
          </c:spPr>
          <c:marker>
            <c:symbol val="none"/>
          </c:marker>
          <c:cat>
            <c:strRef>
              <c:f>'MH01'!$L$19</c:f>
              <c:strCache>
                <c:ptCount val="1"/>
                <c:pt idx="0">
                  <c:v>Dif. (A-B)</c:v>
                </c:pt>
              </c:strCache>
            </c:strRef>
          </c:cat>
          <c:val>
            <c:numRef>
              <c:f>'MH01'!$AI$15</c:f>
              <c:numCache>
                <c:formatCode>0.0000</c:formatCode>
                <c:ptCount val="1"/>
                <c:pt idx="0">
                  <c:v>132.81530684321683</c:v>
                </c:pt>
              </c:numCache>
            </c:numRef>
          </c:val>
          <c:smooth val="0"/>
          <c:extLst>
            <c:ext xmlns:c16="http://schemas.microsoft.com/office/drawing/2014/chart" uri="{C3380CC4-5D6E-409C-BE32-E72D297353CC}">
              <c16:uniqueId val="{00000000-0ECC-4065-8984-19A39CBA2D38}"/>
            </c:ext>
          </c:extLst>
        </c:ser>
        <c:ser>
          <c:idx val="1"/>
          <c:order val="1"/>
          <c:spPr>
            <a:ln w="28575">
              <a:noFill/>
            </a:ln>
          </c:spPr>
          <c:marker>
            <c:symbol val="none"/>
          </c:marker>
          <c:cat>
            <c:strRef>
              <c:f>'MH01'!$L$19</c:f>
              <c:strCache>
                <c:ptCount val="1"/>
                <c:pt idx="0">
                  <c:v>Dif. (A-B)</c:v>
                </c:pt>
              </c:strCache>
            </c:strRef>
          </c:cat>
          <c:val>
            <c:numRef>
              <c:f>'MH01'!$AI$16</c:f>
              <c:numCache>
                <c:formatCode>0.0000</c:formatCode>
                <c:ptCount val="1"/>
                <c:pt idx="0">
                  <c:v>7.1846931567831547</c:v>
                </c:pt>
              </c:numCache>
            </c:numRef>
          </c:val>
          <c:smooth val="0"/>
          <c:extLst>
            <c:ext xmlns:c16="http://schemas.microsoft.com/office/drawing/2014/chart" uri="{C3380CC4-5D6E-409C-BE32-E72D297353CC}">
              <c16:uniqueId val="{00000001-0ECC-4065-8984-19A39CBA2D38}"/>
            </c:ext>
          </c:extLst>
        </c:ser>
        <c:ser>
          <c:idx val="2"/>
          <c:order val="2"/>
          <c:spPr>
            <a:ln w="25400">
              <a:solidFill>
                <a:srgbClr val="800000"/>
              </a:solidFill>
              <a:prstDash val="solid"/>
            </a:ln>
          </c:spPr>
          <c:marker>
            <c:symbol val="dash"/>
            <c:size val="4"/>
            <c:spPr>
              <a:solidFill>
                <a:srgbClr val="800000"/>
              </a:solidFill>
              <a:ln>
                <a:solidFill>
                  <a:srgbClr val="800000"/>
                </a:solidFill>
                <a:prstDash val="solid"/>
              </a:ln>
            </c:spPr>
          </c:marker>
          <c:cat>
            <c:strRef>
              <c:f>'MH01'!$L$19</c:f>
              <c:strCache>
                <c:ptCount val="1"/>
                <c:pt idx="0">
                  <c:v>Dif. (A-B)</c:v>
                </c:pt>
              </c:strCache>
            </c:strRef>
          </c:cat>
          <c:val>
            <c:numRef>
              <c:f>'MH01'!$AI$17</c:f>
              <c:numCache>
                <c:formatCode>General</c:formatCode>
                <c:ptCount val="1"/>
                <c:pt idx="0">
                  <c:v>70</c:v>
                </c:pt>
              </c:numCache>
            </c:numRef>
          </c:val>
          <c:smooth val="0"/>
          <c:extLst>
            <c:ext xmlns:c16="http://schemas.microsoft.com/office/drawing/2014/chart" uri="{C3380CC4-5D6E-409C-BE32-E72D297353CC}">
              <c16:uniqueId val="{00000002-0ECC-4065-8984-19A39CBA2D38}"/>
            </c:ext>
          </c:extLst>
        </c:ser>
        <c:ser>
          <c:idx val="3"/>
          <c:order val="3"/>
          <c:spPr>
            <a:ln w="28575">
              <a:noFill/>
            </a:ln>
          </c:spPr>
          <c:marker>
            <c:symbol val="dash"/>
            <c:size val="5"/>
            <c:spPr>
              <a:noFill/>
              <a:ln>
                <a:solidFill>
                  <a:srgbClr val="800000"/>
                </a:solidFill>
                <a:prstDash val="solid"/>
              </a:ln>
            </c:spPr>
          </c:marker>
          <c:cat>
            <c:strRef>
              <c:f>'MH01'!$L$19</c:f>
              <c:strCache>
                <c:ptCount val="1"/>
                <c:pt idx="0">
                  <c:v>Dif. (A-B)</c:v>
                </c:pt>
              </c:strCache>
            </c:strRef>
          </c:cat>
          <c:val>
            <c:numRef>
              <c:f>'MH01'!$AI$15</c:f>
              <c:numCache>
                <c:formatCode>0.0000</c:formatCode>
                <c:ptCount val="1"/>
                <c:pt idx="0">
                  <c:v>132.81530684321683</c:v>
                </c:pt>
              </c:numCache>
            </c:numRef>
          </c:val>
          <c:smooth val="0"/>
          <c:extLst>
            <c:ext xmlns:c16="http://schemas.microsoft.com/office/drawing/2014/chart" uri="{C3380CC4-5D6E-409C-BE32-E72D297353CC}">
              <c16:uniqueId val="{00000003-0ECC-4065-8984-19A39CBA2D38}"/>
            </c:ext>
          </c:extLst>
        </c:ser>
        <c:ser>
          <c:idx val="4"/>
          <c:order val="4"/>
          <c:spPr>
            <a:ln w="28575">
              <a:noFill/>
            </a:ln>
          </c:spPr>
          <c:marker>
            <c:symbol val="dash"/>
            <c:size val="4"/>
            <c:spPr>
              <a:noFill/>
              <a:ln>
                <a:solidFill>
                  <a:srgbClr val="800000"/>
                </a:solidFill>
                <a:prstDash val="solid"/>
              </a:ln>
            </c:spPr>
          </c:marker>
          <c:cat>
            <c:strRef>
              <c:f>'MH01'!$L$19</c:f>
              <c:strCache>
                <c:ptCount val="1"/>
                <c:pt idx="0">
                  <c:v>Dif. (A-B)</c:v>
                </c:pt>
              </c:strCache>
            </c:strRef>
          </c:cat>
          <c:val>
            <c:numRef>
              <c:f>'MH01'!$AI$16</c:f>
              <c:numCache>
                <c:formatCode>0.0000</c:formatCode>
                <c:ptCount val="1"/>
                <c:pt idx="0">
                  <c:v>7.1846931567831547</c:v>
                </c:pt>
              </c:numCache>
            </c:numRef>
          </c:val>
          <c:smooth val="0"/>
          <c:extLst>
            <c:ext xmlns:c16="http://schemas.microsoft.com/office/drawing/2014/chart" uri="{C3380CC4-5D6E-409C-BE32-E72D297353CC}">
              <c16:uniqueId val="{00000004-0ECC-4065-8984-19A39CBA2D38}"/>
            </c:ext>
          </c:extLst>
        </c:ser>
        <c:dLbls>
          <c:showLegendKey val="0"/>
          <c:showVal val="0"/>
          <c:showCatName val="0"/>
          <c:showSerName val="0"/>
          <c:showPercent val="0"/>
          <c:showBubbleSize val="0"/>
        </c:dLbls>
        <c:hiLowLines>
          <c:spPr>
            <a:ln w="19050">
              <a:solidFill>
                <a:srgbClr val="800000"/>
              </a:solidFill>
              <a:prstDash val="solid"/>
            </a:ln>
          </c:spPr>
        </c:hiLowLines>
        <c:smooth val="0"/>
        <c:axId val="381952512"/>
        <c:axId val="1"/>
      </c:lineChart>
      <c:catAx>
        <c:axId val="381952512"/>
        <c:scaling>
          <c:orientation val="minMax"/>
        </c:scaling>
        <c:delete val="0"/>
        <c:axPos val="b"/>
        <c:numFmt formatCode="General" sourceLinked="1"/>
        <c:majorTickMark val="cross"/>
        <c:minorTickMark val="none"/>
        <c:tickLblPos val="nextTo"/>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1"/>
        <c:crosses val="autoZero"/>
        <c:auto val="1"/>
        <c:lblAlgn val="ctr"/>
        <c:lblOffset val="100"/>
        <c:tickLblSkip val="1"/>
        <c:tickMarkSkip val="1"/>
        <c:noMultiLvlLbl val="0"/>
      </c:catAx>
      <c:valAx>
        <c:axId val="1"/>
        <c:scaling>
          <c:orientation val="minMax"/>
        </c:scaling>
        <c:delete val="0"/>
        <c:axPos val="l"/>
        <c:majorGridlines>
          <c:spPr>
            <a:ln w="3175">
              <a:solidFill>
                <a:srgbClr val="969696"/>
              </a:solidFill>
              <a:prstDash val="sysDash"/>
            </a:ln>
          </c:spPr>
        </c:majorGridlines>
        <c:numFmt formatCode="0.0" sourceLinked="0"/>
        <c:majorTickMark val="cross"/>
        <c:minorTickMark val="none"/>
        <c:tickLblPos val="nextTo"/>
        <c:spPr>
          <a:ln w="3175">
            <a:solidFill>
              <a:srgbClr val="000000"/>
            </a:solidFill>
            <a:prstDash val="solid"/>
          </a:ln>
        </c:spPr>
        <c:txPr>
          <a:bodyPr rot="0" vert="horz"/>
          <a:lstStyle/>
          <a:p>
            <a:pPr>
              <a:defRPr sz="700" b="0" i="0" u="none" strike="noStrike" baseline="0">
                <a:solidFill>
                  <a:srgbClr val="000000"/>
                </a:solidFill>
                <a:latin typeface="Arial"/>
                <a:ea typeface="Arial"/>
                <a:cs typeface="Arial"/>
              </a:defRPr>
            </a:pPr>
            <a:endParaRPr lang="en-US"/>
          </a:p>
        </c:txPr>
        <c:crossAx val="381952512"/>
        <c:crosses val="autoZero"/>
        <c:crossBetween val="between"/>
      </c:valAx>
      <c:spPr>
        <a:noFill/>
        <a:ln w="3175">
          <a:solidFill>
            <a:schemeClr val="bg1">
              <a:lumMod val="50000"/>
            </a:schemeClr>
          </a:solidFill>
          <a:prstDash val="solid"/>
        </a:ln>
      </c:spPr>
    </c:plotArea>
    <c:plotVisOnly val="1"/>
    <c:dispBlanksAs val="gap"/>
    <c:showDLblsOverMax val="0"/>
  </c:chart>
  <c:spPr>
    <a:noFill/>
    <a:ln w="9525">
      <a:noFill/>
    </a:ln>
  </c:spPr>
  <c:txPr>
    <a:bodyPr/>
    <a:lstStyle/>
    <a:p>
      <a:pPr>
        <a:defRPr sz="200" b="0" i="0" u="none" strike="noStrike" baseline="0">
          <a:solidFill>
            <a:srgbClr val="000000"/>
          </a:solidFill>
          <a:latin typeface="Arial"/>
          <a:ea typeface="Arial"/>
          <a:cs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1549400" y="88106"/>
            <a:ext cx="3074127"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defRPr smtClean="0"/>
            </a:lvl1pPr>
          </a:lstStyle>
          <a:p>
            <a:pPr>
              <a:defRPr/>
            </a:pPr>
            <a:r>
              <a:rPr lang="es-ES_tradnl" altLang="es-ES" sz="1100" dirty="0"/>
              <a:t>Pedro Fe</a:t>
            </a:r>
            <a:r>
              <a:rPr lang="es-ES" altLang="es-ES" sz="1100" dirty="0" err="1"/>
              <a:t>mia</a:t>
            </a:r>
            <a:r>
              <a:rPr lang="es-ES" altLang="es-ES" sz="1100" dirty="0"/>
              <a:t> (</a:t>
            </a:r>
            <a:r>
              <a:rPr lang="es-ES" altLang="es-ES" sz="1100" i="1" dirty="0"/>
              <a:t>pfemia@ugr.es</a:t>
            </a:r>
            <a:r>
              <a:rPr lang="es-ES" altLang="es-ES" sz="1100" dirty="0"/>
              <a:t>)  </a:t>
            </a:r>
          </a:p>
          <a:p>
            <a:pPr>
              <a:defRPr/>
            </a:pPr>
            <a:r>
              <a:rPr lang="es-ES_tradnl" altLang="es-ES" sz="1100" dirty="0"/>
              <a:t>Bioestadística. Universidad de Granada</a:t>
            </a:r>
            <a:endParaRPr lang="es-ES" altLang="es-ES" sz="1100" dirty="0"/>
          </a:p>
        </p:txBody>
      </p:sp>
      <p:sp>
        <p:nvSpPr>
          <p:cNvPr id="12293" name="Rectangle 5"/>
          <p:cNvSpPr>
            <a:spLocks noGrp="1" noChangeArrowheads="1"/>
          </p:cNvSpPr>
          <p:nvPr>
            <p:ph type="sldNum" sz="quarter" idx="3"/>
          </p:nvPr>
        </p:nvSpPr>
        <p:spPr bwMode="auto">
          <a:xfrm>
            <a:off x="0" y="9776391"/>
            <a:ext cx="7099300" cy="392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a:defRPr/>
            </a:lvl1pPr>
          </a:lstStyle>
          <a:p>
            <a:pPr algn="ctr">
              <a:defRPr/>
            </a:pPr>
            <a:fld id="{9C4F1793-6012-4E53-BF38-A80459238650}" type="slidenum">
              <a:rPr lang="es-ES" altLang="es-ES"/>
              <a:pPr algn="ctr">
                <a:defRPr/>
              </a:pPr>
              <a:t>‹#›</a:t>
            </a:fld>
            <a:endParaRPr lang="es-ES" altLang="es-ES"/>
          </a:p>
        </p:txBody>
      </p:sp>
      <p:pic>
        <p:nvPicPr>
          <p:cNvPr id="6" name="Picture 2" descr="http://es.creativecommons.org/blog/wp-content/uploads/2013/04/by-nc-nd.eu_peti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50" y="88106"/>
            <a:ext cx="1123950" cy="39052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2"/>
          <p:cNvSpPr txBox="1">
            <a:spLocks noChangeArrowheads="1"/>
          </p:cNvSpPr>
          <p:nvPr/>
        </p:nvSpPr>
        <p:spPr bwMode="auto">
          <a:xfrm>
            <a:off x="3854450" y="88106"/>
            <a:ext cx="3074127"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defPPr>
              <a:defRPr lang="es-ES"/>
            </a:defPPr>
            <a:lvl1pPr algn="l" rtl="0" fontAlgn="base">
              <a:spcBef>
                <a:spcPct val="0"/>
              </a:spcBef>
              <a:spcAft>
                <a:spcPct val="0"/>
              </a:spcAft>
              <a:defRPr sz="1200" kern="1200" smtClean="0">
                <a:solidFill>
                  <a:schemeClr val="tx1"/>
                </a:solidFill>
                <a:latin typeface="Arial" charset="0"/>
                <a:ea typeface="+mn-ea"/>
                <a:cs typeface="+mn-cs"/>
              </a:defRPr>
            </a:lvl1pPr>
            <a:lvl2pPr marL="457200" algn="l" rtl="0" fontAlgn="base">
              <a:spcBef>
                <a:spcPct val="0"/>
              </a:spcBef>
              <a:spcAft>
                <a:spcPct val="0"/>
              </a:spcAft>
              <a:defRPr sz="1200" kern="1200">
                <a:solidFill>
                  <a:schemeClr val="tx1"/>
                </a:solidFill>
                <a:latin typeface="Arial" charset="0"/>
                <a:ea typeface="+mn-ea"/>
                <a:cs typeface="+mn-cs"/>
              </a:defRPr>
            </a:lvl2pPr>
            <a:lvl3pPr marL="914400" algn="l" rtl="0" fontAlgn="base">
              <a:spcBef>
                <a:spcPct val="0"/>
              </a:spcBef>
              <a:spcAft>
                <a:spcPct val="0"/>
              </a:spcAft>
              <a:defRPr sz="1200" kern="1200">
                <a:solidFill>
                  <a:schemeClr val="tx1"/>
                </a:solidFill>
                <a:latin typeface="Arial" charset="0"/>
                <a:ea typeface="+mn-ea"/>
                <a:cs typeface="+mn-cs"/>
              </a:defRPr>
            </a:lvl3pPr>
            <a:lvl4pPr marL="1371600" algn="l" rtl="0" fontAlgn="base">
              <a:spcBef>
                <a:spcPct val="0"/>
              </a:spcBef>
              <a:spcAft>
                <a:spcPct val="0"/>
              </a:spcAft>
              <a:defRPr sz="1200" kern="1200">
                <a:solidFill>
                  <a:schemeClr val="tx1"/>
                </a:solidFill>
                <a:latin typeface="Arial" charset="0"/>
                <a:ea typeface="+mn-ea"/>
                <a:cs typeface="+mn-cs"/>
              </a:defRPr>
            </a:lvl4pPr>
            <a:lvl5pPr marL="1828800" algn="l" rtl="0" fontAlgn="base">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a:lstStyle>
          <a:p>
            <a:pPr algn="r">
              <a:defRPr/>
            </a:pPr>
            <a:r>
              <a:rPr lang="es-ES" altLang="es-ES" dirty="0"/>
              <a:t>Grado en Enfermería</a:t>
            </a:r>
          </a:p>
          <a:p>
            <a:pPr algn="r">
              <a:defRPr/>
            </a:pPr>
            <a:r>
              <a:rPr lang="es-ES" altLang="es-ES" dirty="0"/>
              <a:t>2018</a:t>
            </a:r>
          </a:p>
        </p:txBody>
      </p:sp>
    </p:spTree>
    <p:extLst>
      <p:ext uri="{BB962C8B-B14F-4D97-AF65-F5344CB8AC3E}">
        <p14:creationId xmlns:p14="http://schemas.microsoft.com/office/powerpoint/2010/main" val="418517533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defRPr/>
            </a:lvl1pPr>
          </a:lstStyle>
          <a:p>
            <a:pPr>
              <a:defRPr/>
            </a:pPr>
            <a:endParaRPr lang="es-ES" altLang="es-ES"/>
          </a:p>
        </p:txBody>
      </p:sp>
      <p:sp>
        <p:nvSpPr>
          <p:cNvPr id="44035"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a:defRPr/>
            </a:lvl1pPr>
          </a:lstStyle>
          <a:p>
            <a:pPr>
              <a:defRPr/>
            </a:pPr>
            <a:endParaRPr lang="es-ES" altLang="es-ES"/>
          </a:p>
        </p:txBody>
      </p:sp>
      <p:sp>
        <p:nvSpPr>
          <p:cNvPr id="40964"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4037"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es-ES" altLang="es-ES" noProof="0"/>
              <a:t>Haga clic para modificar el estilo de texto del patrón</a:t>
            </a:r>
          </a:p>
          <a:p>
            <a:pPr lvl="1"/>
            <a:r>
              <a:rPr lang="es-ES" altLang="es-ES" noProof="0"/>
              <a:t>Segundo nivel</a:t>
            </a:r>
          </a:p>
          <a:p>
            <a:pPr lvl="2"/>
            <a:r>
              <a:rPr lang="es-ES" altLang="es-ES" noProof="0"/>
              <a:t>Tercer nivel</a:t>
            </a:r>
          </a:p>
          <a:p>
            <a:pPr lvl="3"/>
            <a:r>
              <a:rPr lang="es-ES" altLang="es-ES" noProof="0"/>
              <a:t>Cuarto nivel</a:t>
            </a:r>
          </a:p>
          <a:p>
            <a:pPr lvl="4"/>
            <a:r>
              <a:rPr lang="es-ES" altLang="es-ES" noProof="0"/>
              <a:t>Quinto nivel</a:t>
            </a:r>
          </a:p>
        </p:txBody>
      </p:sp>
      <p:sp>
        <p:nvSpPr>
          <p:cNvPr id="44038"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defRPr/>
            </a:lvl1pPr>
          </a:lstStyle>
          <a:p>
            <a:pPr>
              <a:defRPr/>
            </a:pPr>
            <a:endParaRPr lang="es-ES" altLang="es-ES"/>
          </a:p>
        </p:txBody>
      </p:sp>
      <p:sp>
        <p:nvSpPr>
          <p:cNvPr id="44039"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a:defRPr/>
            </a:lvl1pPr>
          </a:lstStyle>
          <a:p>
            <a:pPr>
              <a:defRPr/>
            </a:pPr>
            <a:fld id="{58445C5D-153B-4697-9968-7F13084BEFAB}" type="slidenum">
              <a:rPr lang="es-ES" altLang="es-ES"/>
              <a:pPr>
                <a:defRPr/>
              </a:pPr>
              <a:t>‹#›</a:t>
            </a:fld>
            <a:endParaRPr lang="es-ES" altLang="es-ES"/>
          </a:p>
        </p:txBody>
      </p:sp>
    </p:spTree>
    <p:extLst>
      <p:ext uri="{BB962C8B-B14F-4D97-AF65-F5344CB8AC3E}">
        <p14:creationId xmlns:p14="http://schemas.microsoft.com/office/powerpoint/2010/main" val="98882395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a:defRPr/>
            </a:pPr>
            <a:fld id="{58445C5D-153B-4697-9968-7F13084BEFAB}" type="slidenum">
              <a:rPr lang="es-ES" altLang="es-ES" smtClean="0"/>
              <a:pPr>
                <a:defRPr/>
              </a:pPr>
              <a:t>1</a:t>
            </a:fld>
            <a:endParaRPr lang="es-ES" altLang="es-ES"/>
          </a:p>
        </p:txBody>
      </p:sp>
    </p:spTree>
    <p:extLst>
      <p:ext uri="{BB962C8B-B14F-4D97-AF65-F5344CB8AC3E}">
        <p14:creationId xmlns:p14="http://schemas.microsoft.com/office/powerpoint/2010/main" val="4049070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lvl1pPr defTabSz="990600" eaLnBrk="0" hangingPunct="0">
              <a:spcBef>
                <a:spcPct val="30000"/>
              </a:spcBef>
              <a:defRPr sz="1200">
                <a:solidFill>
                  <a:schemeClr val="tx1"/>
                </a:solidFill>
                <a:latin typeface="Arial" pitchFamily="34" charset="0"/>
              </a:defRPr>
            </a:lvl1pPr>
            <a:lvl2pPr marL="742950" indent="-285750" defTabSz="990600" eaLnBrk="0" hangingPunct="0">
              <a:spcBef>
                <a:spcPct val="30000"/>
              </a:spcBef>
              <a:defRPr sz="1200">
                <a:solidFill>
                  <a:schemeClr val="tx1"/>
                </a:solidFill>
                <a:latin typeface="Arial" pitchFamily="34" charset="0"/>
              </a:defRPr>
            </a:lvl2pPr>
            <a:lvl3pPr marL="1143000" indent="-228600" defTabSz="990600" eaLnBrk="0" hangingPunct="0">
              <a:spcBef>
                <a:spcPct val="30000"/>
              </a:spcBef>
              <a:defRPr sz="1200">
                <a:solidFill>
                  <a:schemeClr val="tx1"/>
                </a:solidFill>
                <a:latin typeface="Arial" pitchFamily="34" charset="0"/>
              </a:defRPr>
            </a:lvl3pPr>
            <a:lvl4pPr marL="1600200" indent="-228600" defTabSz="990600" eaLnBrk="0" hangingPunct="0">
              <a:spcBef>
                <a:spcPct val="30000"/>
              </a:spcBef>
              <a:defRPr sz="1200">
                <a:solidFill>
                  <a:schemeClr val="tx1"/>
                </a:solidFill>
                <a:latin typeface="Arial" pitchFamily="34" charset="0"/>
              </a:defRPr>
            </a:lvl4pPr>
            <a:lvl5pPr marL="2057400" indent="-228600" defTabSz="990600" eaLnBrk="0" hangingPunct="0">
              <a:spcBef>
                <a:spcPct val="30000"/>
              </a:spcBef>
              <a:defRPr sz="1200">
                <a:solidFill>
                  <a:schemeClr val="tx1"/>
                </a:solidFill>
                <a:latin typeface="Arial" pitchFamily="34" charset="0"/>
              </a:defRPr>
            </a:lvl5pPr>
            <a:lvl6pPr marL="2514600" indent="-228600" defTabSz="990600" eaLnBrk="0" fontAlgn="base" hangingPunct="0">
              <a:spcBef>
                <a:spcPct val="30000"/>
              </a:spcBef>
              <a:spcAft>
                <a:spcPct val="0"/>
              </a:spcAft>
              <a:defRPr sz="1200">
                <a:solidFill>
                  <a:schemeClr val="tx1"/>
                </a:solidFill>
                <a:latin typeface="Arial" pitchFamily="34" charset="0"/>
              </a:defRPr>
            </a:lvl6pPr>
            <a:lvl7pPr marL="2971800" indent="-228600" defTabSz="990600" eaLnBrk="0" fontAlgn="base" hangingPunct="0">
              <a:spcBef>
                <a:spcPct val="30000"/>
              </a:spcBef>
              <a:spcAft>
                <a:spcPct val="0"/>
              </a:spcAft>
              <a:defRPr sz="1200">
                <a:solidFill>
                  <a:schemeClr val="tx1"/>
                </a:solidFill>
                <a:latin typeface="Arial" pitchFamily="34" charset="0"/>
              </a:defRPr>
            </a:lvl7pPr>
            <a:lvl8pPr marL="3429000" indent="-228600" defTabSz="990600" eaLnBrk="0" fontAlgn="base" hangingPunct="0">
              <a:spcBef>
                <a:spcPct val="30000"/>
              </a:spcBef>
              <a:spcAft>
                <a:spcPct val="0"/>
              </a:spcAft>
              <a:defRPr sz="1200">
                <a:solidFill>
                  <a:schemeClr val="tx1"/>
                </a:solidFill>
                <a:latin typeface="Arial" pitchFamily="34" charset="0"/>
              </a:defRPr>
            </a:lvl8pPr>
            <a:lvl9pPr marL="3886200" indent="-228600" defTabSz="990600" eaLnBrk="0" fontAlgn="base" hangingPunct="0">
              <a:spcBef>
                <a:spcPct val="30000"/>
              </a:spcBef>
              <a:spcAft>
                <a:spcPct val="0"/>
              </a:spcAft>
              <a:defRPr sz="1200">
                <a:solidFill>
                  <a:schemeClr val="tx1"/>
                </a:solidFill>
                <a:latin typeface="Arial" pitchFamily="34" charset="0"/>
              </a:defRPr>
            </a:lvl9pPr>
          </a:lstStyle>
          <a:p>
            <a:pPr eaLnBrk="1" hangingPunct="1">
              <a:spcBef>
                <a:spcPct val="0"/>
              </a:spcBef>
            </a:pPr>
            <a:fld id="{65EB9D5C-90AD-48E6-9950-DED4C75AB12F}" type="slidenum">
              <a:rPr lang="es-ES" altLang="es-ES" sz="1300" smtClean="0"/>
              <a:pPr eaLnBrk="1" hangingPunct="1">
                <a:spcBef>
                  <a:spcPct val="0"/>
                </a:spcBef>
              </a:pPr>
              <a:t>8</a:t>
            </a:fld>
            <a:endParaRPr lang="es-ES" altLang="es-ES" sz="1300"/>
          </a:p>
        </p:txBody>
      </p:sp>
      <p:sp>
        <p:nvSpPr>
          <p:cNvPr id="26627" name="Rectangle 2"/>
          <p:cNvSpPr>
            <a:spLocks noGrp="1" noRot="1" noChangeAspect="1" noChangeArrowheads="1" noTextEdit="1"/>
          </p:cNvSpPr>
          <p:nvPr>
            <p:ph type="sldImg"/>
          </p:nvPr>
        </p:nvSpPr>
        <p:spPr>
          <a:xfrm>
            <a:off x="992188" y="768350"/>
            <a:ext cx="5114925" cy="3836988"/>
          </a:xfrm>
          <a:ln/>
        </p:spPr>
      </p:sp>
      <p:sp>
        <p:nvSpPr>
          <p:cNvPr id="26628" name="Rectangle 3"/>
          <p:cNvSpPr>
            <a:spLocks noGrp="1" noChangeArrowheads="1"/>
          </p:cNvSpPr>
          <p:nvPr>
            <p:ph type="body" idx="1"/>
          </p:nvPr>
        </p:nvSpPr>
        <p:spPr>
          <a:noFill/>
        </p:spPr>
        <p:txBody>
          <a:bodyPr/>
          <a:lstStyle/>
          <a:p>
            <a:pPr eaLnBrk="1" hangingPunct="1"/>
            <a:r>
              <a:rPr lang="es-ES_tradnl" altLang="es-ES" dirty="0">
                <a:latin typeface="Arial" pitchFamily="34" charset="0"/>
              </a:rPr>
              <a:t>Las tablas de la F muestran el error a 1 cola. Cuando se desea el test a dos colas, el error hay que multiplicarlo por dos</a:t>
            </a:r>
          </a:p>
          <a:p>
            <a:pPr eaLnBrk="1" hangingPunct="1"/>
            <a:r>
              <a:rPr lang="es-ES_tradnl" altLang="es-ES" dirty="0">
                <a:latin typeface="Arial" pitchFamily="34" charset="0"/>
              </a:rPr>
              <a:t>Al buscar a nivel alfa=0.10, se está haciendo el test bilateral al 20% (el doble del alfa de la tabla)</a:t>
            </a:r>
          </a:p>
          <a:p>
            <a:pPr eaLnBrk="1" hangingPunct="1"/>
            <a:endParaRPr lang="es-ES" altLang="es-ES" dirty="0">
              <a:latin typeface="Arial" pitchFamily="34" charset="0"/>
            </a:endParaRPr>
          </a:p>
        </p:txBody>
      </p:sp>
    </p:spTree>
    <p:extLst>
      <p:ext uri="{BB962C8B-B14F-4D97-AF65-F5344CB8AC3E}">
        <p14:creationId xmlns:p14="http://schemas.microsoft.com/office/powerpoint/2010/main" val="1305846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defTabSz="990600" eaLnBrk="0" hangingPunct="0">
              <a:spcBef>
                <a:spcPct val="30000"/>
              </a:spcBef>
              <a:defRPr sz="1200">
                <a:solidFill>
                  <a:schemeClr val="tx1"/>
                </a:solidFill>
                <a:latin typeface="Arial" pitchFamily="34" charset="0"/>
              </a:defRPr>
            </a:lvl1pPr>
            <a:lvl2pPr marL="742950" indent="-285750" defTabSz="990600" eaLnBrk="0" hangingPunct="0">
              <a:spcBef>
                <a:spcPct val="30000"/>
              </a:spcBef>
              <a:defRPr sz="1200">
                <a:solidFill>
                  <a:schemeClr val="tx1"/>
                </a:solidFill>
                <a:latin typeface="Arial" pitchFamily="34" charset="0"/>
              </a:defRPr>
            </a:lvl2pPr>
            <a:lvl3pPr marL="1143000" indent="-228600" defTabSz="990600" eaLnBrk="0" hangingPunct="0">
              <a:spcBef>
                <a:spcPct val="30000"/>
              </a:spcBef>
              <a:defRPr sz="1200">
                <a:solidFill>
                  <a:schemeClr val="tx1"/>
                </a:solidFill>
                <a:latin typeface="Arial" pitchFamily="34" charset="0"/>
              </a:defRPr>
            </a:lvl3pPr>
            <a:lvl4pPr marL="1600200" indent="-228600" defTabSz="990600" eaLnBrk="0" hangingPunct="0">
              <a:spcBef>
                <a:spcPct val="30000"/>
              </a:spcBef>
              <a:defRPr sz="1200">
                <a:solidFill>
                  <a:schemeClr val="tx1"/>
                </a:solidFill>
                <a:latin typeface="Arial" pitchFamily="34" charset="0"/>
              </a:defRPr>
            </a:lvl4pPr>
            <a:lvl5pPr marL="2057400" indent="-228600" defTabSz="990600" eaLnBrk="0" hangingPunct="0">
              <a:spcBef>
                <a:spcPct val="30000"/>
              </a:spcBef>
              <a:defRPr sz="1200">
                <a:solidFill>
                  <a:schemeClr val="tx1"/>
                </a:solidFill>
                <a:latin typeface="Arial" pitchFamily="34" charset="0"/>
              </a:defRPr>
            </a:lvl5pPr>
            <a:lvl6pPr marL="2514600" indent="-228600" defTabSz="990600" eaLnBrk="0" fontAlgn="base" hangingPunct="0">
              <a:spcBef>
                <a:spcPct val="30000"/>
              </a:spcBef>
              <a:spcAft>
                <a:spcPct val="0"/>
              </a:spcAft>
              <a:defRPr sz="1200">
                <a:solidFill>
                  <a:schemeClr val="tx1"/>
                </a:solidFill>
                <a:latin typeface="Arial" pitchFamily="34" charset="0"/>
              </a:defRPr>
            </a:lvl6pPr>
            <a:lvl7pPr marL="2971800" indent="-228600" defTabSz="990600" eaLnBrk="0" fontAlgn="base" hangingPunct="0">
              <a:spcBef>
                <a:spcPct val="30000"/>
              </a:spcBef>
              <a:spcAft>
                <a:spcPct val="0"/>
              </a:spcAft>
              <a:defRPr sz="1200">
                <a:solidFill>
                  <a:schemeClr val="tx1"/>
                </a:solidFill>
                <a:latin typeface="Arial" pitchFamily="34" charset="0"/>
              </a:defRPr>
            </a:lvl7pPr>
            <a:lvl8pPr marL="3429000" indent="-228600" defTabSz="990600" eaLnBrk="0" fontAlgn="base" hangingPunct="0">
              <a:spcBef>
                <a:spcPct val="30000"/>
              </a:spcBef>
              <a:spcAft>
                <a:spcPct val="0"/>
              </a:spcAft>
              <a:defRPr sz="1200">
                <a:solidFill>
                  <a:schemeClr val="tx1"/>
                </a:solidFill>
                <a:latin typeface="Arial" pitchFamily="34" charset="0"/>
              </a:defRPr>
            </a:lvl8pPr>
            <a:lvl9pPr marL="3886200" indent="-228600" defTabSz="990600" eaLnBrk="0" fontAlgn="base" hangingPunct="0">
              <a:spcBef>
                <a:spcPct val="30000"/>
              </a:spcBef>
              <a:spcAft>
                <a:spcPct val="0"/>
              </a:spcAft>
              <a:defRPr sz="1200">
                <a:solidFill>
                  <a:schemeClr val="tx1"/>
                </a:solidFill>
                <a:latin typeface="Arial" pitchFamily="34" charset="0"/>
              </a:defRPr>
            </a:lvl9pPr>
          </a:lstStyle>
          <a:p>
            <a:pPr eaLnBrk="1" hangingPunct="1">
              <a:spcBef>
                <a:spcPct val="0"/>
              </a:spcBef>
            </a:pPr>
            <a:fld id="{4EDF0869-39ED-4DB9-B0A7-91A67486B8BC}" type="slidenum">
              <a:rPr lang="es-ES" altLang="es-ES" sz="1300" smtClean="0"/>
              <a:pPr eaLnBrk="1" hangingPunct="1">
                <a:spcBef>
                  <a:spcPct val="0"/>
                </a:spcBef>
              </a:pPr>
              <a:t>10</a:t>
            </a:fld>
            <a:endParaRPr lang="es-ES" altLang="es-ES" sz="1300"/>
          </a:p>
        </p:txBody>
      </p:sp>
      <p:sp>
        <p:nvSpPr>
          <p:cNvPr id="27651" name="Rectangle 2"/>
          <p:cNvSpPr>
            <a:spLocks noGrp="1" noRot="1" noChangeAspect="1" noChangeArrowheads="1" noTextEdit="1"/>
          </p:cNvSpPr>
          <p:nvPr>
            <p:ph type="sldImg"/>
          </p:nvPr>
        </p:nvSpPr>
        <p:spPr>
          <a:xfrm>
            <a:off x="992188" y="768350"/>
            <a:ext cx="5114925" cy="3836988"/>
          </a:xfrm>
          <a:ln/>
        </p:spPr>
      </p:sp>
      <p:sp>
        <p:nvSpPr>
          <p:cNvPr id="27652" name="Rectangle 3"/>
          <p:cNvSpPr>
            <a:spLocks noGrp="1" noChangeArrowheads="1"/>
          </p:cNvSpPr>
          <p:nvPr>
            <p:ph type="body" idx="1"/>
          </p:nvPr>
        </p:nvSpPr>
        <p:spPr>
          <a:noFill/>
        </p:spPr>
        <p:txBody>
          <a:bodyPr/>
          <a:lstStyle/>
          <a:p>
            <a:pPr eaLnBrk="1" hangingPunct="1"/>
            <a:r>
              <a:rPr lang="es-ES_tradnl" altLang="es-ES" dirty="0">
                <a:latin typeface="Arial" pitchFamily="34" charset="0"/>
              </a:rPr>
              <a:t>Los </a:t>
            </a:r>
            <a:r>
              <a:rPr lang="es-ES_tradnl" altLang="es-ES" dirty="0" err="1">
                <a:latin typeface="Arial" pitchFamily="34" charset="0"/>
              </a:rPr>
              <a:t>gl</a:t>
            </a:r>
            <a:r>
              <a:rPr lang="es-ES_tradnl" altLang="es-ES" dirty="0">
                <a:latin typeface="Arial" pitchFamily="34" charset="0"/>
              </a:rPr>
              <a:t> en el test de </a:t>
            </a:r>
            <a:r>
              <a:rPr lang="es-ES_tradnl" altLang="es-ES" dirty="0" err="1">
                <a:latin typeface="Arial" pitchFamily="34" charset="0"/>
              </a:rPr>
              <a:t>welch</a:t>
            </a:r>
            <a:r>
              <a:rPr lang="es-ES_tradnl" altLang="es-ES" dirty="0">
                <a:latin typeface="Arial" pitchFamily="34" charset="0"/>
              </a:rPr>
              <a:t> son una </a:t>
            </a:r>
            <a:r>
              <a:rPr lang="es-ES_tradnl" altLang="es-ES" dirty="0" err="1">
                <a:latin typeface="Arial" pitchFamily="34" charset="0"/>
              </a:rPr>
              <a:t>v.a.</a:t>
            </a:r>
            <a:r>
              <a:rPr lang="es-ES_tradnl" altLang="es-ES" dirty="0">
                <a:latin typeface="Arial" pitchFamily="34" charset="0"/>
              </a:rPr>
              <a:t>, pues implican a las varianzas </a:t>
            </a:r>
            <a:r>
              <a:rPr lang="es-ES_tradnl" altLang="es-ES" dirty="0" err="1">
                <a:latin typeface="Arial" pitchFamily="34" charset="0"/>
              </a:rPr>
              <a:t>muestrales</a:t>
            </a:r>
            <a:endParaRPr lang="es-ES_tradnl" altLang="es-ES" dirty="0">
              <a:latin typeface="Arial" pitchFamily="34" charset="0"/>
            </a:endParaRPr>
          </a:p>
          <a:p>
            <a:pPr eaLnBrk="1" hangingPunct="1"/>
            <a:endParaRPr lang="es-ES" altLang="es-ES" dirty="0">
              <a:latin typeface="Arial" pitchFamily="34" charset="0"/>
            </a:endParaRPr>
          </a:p>
          <a:p>
            <a:pPr eaLnBrk="1" hangingPunct="1"/>
            <a:r>
              <a:rPr lang="es-ES" altLang="es-ES" dirty="0">
                <a:latin typeface="Arial" pitchFamily="34" charset="0"/>
              </a:rPr>
              <a:t>Si las varianzas son iguales y los tamaños de muestra pequeños y desiguales, el método de </a:t>
            </a:r>
            <a:r>
              <a:rPr lang="es-ES" altLang="es-ES" dirty="0" err="1">
                <a:latin typeface="Arial" pitchFamily="34" charset="0"/>
              </a:rPr>
              <a:t>Welch</a:t>
            </a:r>
            <a:r>
              <a:rPr lang="es-ES" altLang="es-ES" dirty="0">
                <a:latin typeface="Arial" pitchFamily="34" charset="0"/>
              </a:rPr>
              <a:t> es conservador y es preferible el de </a:t>
            </a:r>
            <a:r>
              <a:rPr lang="es-ES" altLang="es-ES" dirty="0" err="1">
                <a:latin typeface="Arial" pitchFamily="34" charset="0"/>
              </a:rPr>
              <a:t>student</a:t>
            </a:r>
            <a:endParaRPr lang="es-ES" altLang="es-ES" dirty="0">
              <a:latin typeface="Arial" pitchFamily="34" charset="0"/>
            </a:endParaRPr>
          </a:p>
          <a:p>
            <a:pPr eaLnBrk="1" hangingPunct="1"/>
            <a:r>
              <a:rPr lang="es-ES" altLang="es-ES" dirty="0">
                <a:latin typeface="Arial" pitchFamily="34" charset="0"/>
              </a:rPr>
              <a:t>Requena dice que el test de </a:t>
            </a:r>
            <a:r>
              <a:rPr lang="es-ES" altLang="es-ES" dirty="0" err="1">
                <a:latin typeface="Arial" pitchFamily="34" charset="0"/>
              </a:rPr>
              <a:t>Welch</a:t>
            </a:r>
            <a:r>
              <a:rPr lang="es-ES" altLang="es-ES" dirty="0">
                <a:latin typeface="Arial" pitchFamily="34" charset="0"/>
              </a:rPr>
              <a:t> funciona siempre bien, incluso para varianzas y tamaños de muestra iguales </a:t>
            </a:r>
          </a:p>
        </p:txBody>
      </p:sp>
    </p:spTree>
    <p:extLst>
      <p:ext uri="{BB962C8B-B14F-4D97-AF65-F5344CB8AC3E}">
        <p14:creationId xmlns:p14="http://schemas.microsoft.com/office/powerpoint/2010/main" val="8091853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a:defRPr/>
            </a:pPr>
            <a:fld id="{58445C5D-153B-4697-9968-7F13084BEFAB}" type="slidenum">
              <a:rPr lang="es-ES" altLang="es-ES" smtClean="0"/>
              <a:pPr>
                <a:defRPr/>
              </a:pPr>
              <a:t>20</a:t>
            </a:fld>
            <a:endParaRPr lang="es-ES" altLang="es-ES"/>
          </a:p>
        </p:txBody>
      </p:sp>
    </p:spTree>
    <p:extLst>
      <p:ext uri="{BB962C8B-B14F-4D97-AF65-F5344CB8AC3E}">
        <p14:creationId xmlns:p14="http://schemas.microsoft.com/office/powerpoint/2010/main" val="26881177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lvl1pPr defTabSz="990600" eaLnBrk="0" hangingPunct="0">
              <a:spcBef>
                <a:spcPct val="30000"/>
              </a:spcBef>
              <a:defRPr sz="1200">
                <a:solidFill>
                  <a:schemeClr val="tx1"/>
                </a:solidFill>
                <a:latin typeface="Arial" pitchFamily="34" charset="0"/>
              </a:defRPr>
            </a:lvl1pPr>
            <a:lvl2pPr marL="742950" indent="-285750" defTabSz="990600" eaLnBrk="0" hangingPunct="0">
              <a:spcBef>
                <a:spcPct val="30000"/>
              </a:spcBef>
              <a:defRPr sz="1200">
                <a:solidFill>
                  <a:schemeClr val="tx1"/>
                </a:solidFill>
                <a:latin typeface="Arial" pitchFamily="34" charset="0"/>
              </a:defRPr>
            </a:lvl2pPr>
            <a:lvl3pPr marL="1143000" indent="-228600" defTabSz="990600" eaLnBrk="0" hangingPunct="0">
              <a:spcBef>
                <a:spcPct val="30000"/>
              </a:spcBef>
              <a:defRPr sz="1200">
                <a:solidFill>
                  <a:schemeClr val="tx1"/>
                </a:solidFill>
                <a:latin typeface="Arial" pitchFamily="34" charset="0"/>
              </a:defRPr>
            </a:lvl3pPr>
            <a:lvl4pPr marL="1600200" indent="-228600" defTabSz="990600" eaLnBrk="0" hangingPunct="0">
              <a:spcBef>
                <a:spcPct val="30000"/>
              </a:spcBef>
              <a:defRPr sz="1200">
                <a:solidFill>
                  <a:schemeClr val="tx1"/>
                </a:solidFill>
                <a:latin typeface="Arial" pitchFamily="34" charset="0"/>
              </a:defRPr>
            </a:lvl4pPr>
            <a:lvl5pPr marL="2057400" indent="-228600" defTabSz="990600" eaLnBrk="0" hangingPunct="0">
              <a:spcBef>
                <a:spcPct val="30000"/>
              </a:spcBef>
              <a:defRPr sz="1200">
                <a:solidFill>
                  <a:schemeClr val="tx1"/>
                </a:solidFill>
                <a:latin typeface="Arial" pitchFamily="34" charset="0"/>
              </a:defRPr>
            </a:lvl5pPr>
            <a:lvl6pPr marL="2514600" indent="-228600" defTabSz="990600" eaLnBrk="0" fontAlgn="base" hangingPunct="0">
              <a:spcBef>
                <a:spcPct val="30000"/>
              </a:spcBef>
              <a:spcAft>
                <a:spcPct val="0"/>
              </a:spcAft>
              <a:defRPr sz="1200">
                <a:solidFill>
                  <a:schemeClr val="tx1"/>
                </a:solidFill>
                <a:latin typeface="Arial" pitchFamily="34" charset="0"/>
              </a:defRPr>
            </a:lvl6pPr>
            <a:lvl7pPr marL="2971800" indent="-228600" defTabSz="990600" eaLnBrk="0" fontAlgn="base" hangingPunct="0">
              <a:spcBef>
                <a:spcPct val="30000"/>
              </a:spcBef>
              <a:spcAft>
                <a:spcPct val="0"/>
              </a:spcAft>
              <a:defRPr sz="1200">
                <a:solidFill>
                  <a:schemeClr val="tx1"/>
                </a:solidFill>
                <a:latin typeface="Arial" pitchFamily="34" charset="0"/>
              </a:defRPr>
            </a:lvl7pPr>
            <a:lvl8pPr marL="3429000" indent="-228600" defTabSz="990600" eaLnBrk="0" fontAlgn="base" hangingPunct="0">
              <a:spcBef>
                <a:spcPct val="30000"/>
              </a:spcBef>
              <a:spcAft>
                <a:spcPct val="0"/>
              </a:spcAft>
              <a:defRPr sz="1200">
                <a:solidFill>
                  <a:schemeClr val="tx1"/>
                </a:solidFill>
                <a:latin typeface="Arial" pitchFamily="34" charset="0"/>
              </a:defRPr>
            </a:lvl8pPr>
            <a:lvl9pPr marL="3886200" indent="-228600" defTabSz="990600" eaLnBrk="0" fontAlgn="base" hangingPunct="0">
              <a:spcBef>
                <a:spcPct val="30000"/>
              </a:spcBef>
              <a:spcAft>
                <a:spcPct val="0"/>
              </a:spcAft>
              <a:defRPr sz="1200">
                <a:solidFill>
                  <a:schemeClr val="tx1"/>
                </a:solidFill>
                <a:latin typeface="Arial" pitchFamily="34" charset="0"/>
              </a:defRPr>
            </a:lvl9pPr>
          </a:lstStyle>
          <a:p>
            <a:pPr eaLnBrk="1" hangingPunct="1">
              <a:spcBef>
                <a:spcPct val="0"/>
              </a:spcBef>
            </a:pPr>
            <a:fld id="{27DAD93A-58FE-4093-BDD9-7C1FF220BDAE}" type="slidenum">
              <a:rPr lang="es-ES" altLang="es-ES" sz="1300" smtClean="0"/>
              <a:pPr eaLnBrk="1" hangingPunct="1">
                <a:spcBef>
                  <a:spcPct val="0"/>
                </a:spcBef>
              </a:pPr>
              <a:t>25</a:t>
            </a:fld>
            <a:endParaRPr lang="es-ES" altLang="es-ES" sz="1300"/>
          </a:p>
        </p:txBody>
      </p:sp>
      <p:sp>
        <p:nvSpPr>
          <p:cNvPr id="28675" name="Rectangle 2"/>
          <p:cNvSpPr>
            <a:spLocks noGrp="1" noRot="1" noChangeAspect="1" noChangeArrowheads="1" noTextEdit="1"/>
          </p:cNvSpPr>
          <p:nvPr>
            <p:ph type="sldImg"/>
          </p:nvPr>
        </p:nvSpPr>
        <p:spPr>
          <a:xfrm>
            <a:off x="992188" y="768350"/>
            <a:ext cx="5114925" cy="3836988"/>
          </a:xfrm>
          <a:ln/>
        </p:spPr>
      </p:sp>
      <p:sp>
        <p:nvSpPr>
          <p:cNvPr id="28676" name="Rectangle 3"/>
          <p:cNvSpPr>
            <a:spLocks noGrp="1" noChangeArrowheads="1"/>
          </p:cNvSpPr>
          <p:nvPr>
            <p:ph type="body" idx="1"/>
          </p:nvPr>
        </p:nvSpPr>
        <p:spPr>
          <a:noFill/>
        </p:spPr>
        <p:txBody>
          <a:bodyPr/>
          <a:lstStyle/>
          <a:p>
            <a:pPr eaLnBrk="1" hangingPunct="1"/>
            <a:r>
              <a:rPr lang="es-ES_tradnl" altLang="es-ES">
                <a:latin typeface="Arial" pitchFamily="34" charset="0"/>
              </a:rPr>
              <a:t>No se dispone de pruebas no paramétricas para aspectos como puede ser la interacción en ANOVA (aquí queda grande eso, pero es la idea)</a:t>
            </a:r>
          </a:p>
          <a:p>
            <a:pPr eaLnBrk="1" hangingPunct="1">
              <a:spcBef>
                <a:spcPct val="0"/>
              </a:spcBef>
            </a:pPr>
            <a:r>
              <a:rPr lang="es-ES_tradnl" altLang="es-ES">
                <a:latin typeface="Arial" pitchFamily="34" charset="0"/>
              </a:rPr>
              <a:t>En general son pruebas exactas (especialmente para muestras pequeñas) independientemente de la distribución</a:t>
            </a:r>
            <a:endParaRPr lang="es-ES" altLang="es-ES">
              <a:latin typeface="Arial" pitchFamily="34" charset="0"/>
            </a:endParaRPr>
          </a:p>
          <a:p>
            <a:pPr eaLnBrk="1" hangingPunct="1"/>
            <a:endParaRPr lang="es-ES" altLang="es-ES">
              <a:latin typeface="Arial" pitchFamily="34" charset="0"/>
            </a:endParaRPr>
          </a:p>
        </p:txBody>
      </p:sp>
    </p:spTree>
    <p:extLst>
      <p:ext uri="{BB962C8B-B14F-4D97-AF65-F5344CB8AC3E}">
        <p14:creationId xmlns:p14="http://schemas.microsoft.com/office/powerpoint/2010/main" val="3522852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1 Marcador de imagen de diapositiva">
            <a:extLst>
              <a:ext uri="{FF2B5EF4-FFF2-40B4-BE49-F238E27FC236}">
                <a16:creationId xmlns:a16="http://schemas.microsoft.com/office/drawing/2014/main" id="{A1440B45-6F05-4878-A089-E7B9852081E9}"/>
              </a:ext>
            </a:extLst>
          </p:cNvPr>
          <p:cNvSpPr>
            <a:spLocks noGrp="1" noRot="1" noChangeAspect="1" noTextEdit="1"/>
          </p:cNvSpPr>
          <p:nvPr>
            <p:ph type="sldImg"/>
          </p:nvPr>
        </p:nvSpPr>
        <p:spPr>
          <a:xfrm>
            <a:off x="992188" y="768350"/>
            <a:ext cx="5114925" cy="3836988"/>
          </a:xfrm>
          <a:ln/>
        </p:spPr>
      </p:sp>
      <p:sp>
        <p:nvSpPr>
          <p:cNvPr id="9219" name="2 Marcador de notas">
            <a:extLst>
              <a:ext uri="{FF2B5EF4-FFF2-40B4-BE49-F238E27FC236}">
                <a16:creationId xmlns:a16="http://schemas.microsoft.com/office/drawing/2014/main" id="{C0BCAD02-6553-4FCD-A126-DB7302EA659B}"/>
              </a:ext>
            </a:extLst>
          </p:cNvPr>
          <p:cNvSpPr>
            <a:spLocks noGrp="1"/>
          </p:cNvSpPr>
          <p:nvPr>
            <p:ph type="body" idx="1"/>
          </p:nvPr>
        </p:nvSpPr>
        <p:spPr>
          <a:noFill/>
        </p:spPr>
        <p:txBody>
          <a:bodyPr/>
          <a:lstStyle/>
          <a:p>
            <a:endParaRPr lang="es-ES" altLang="es-ES" dirty="0">
              <a:latin typeface="Arial" panose="020B0604020202020204" pitchFamily="34" charset="0"/>
            </a:endParaRPr>
          </a:p>
        </p:txBody>
      </p:sp>
      <p:sp>
        <p:nvSpPr>
          <p:cNvPr id="9220" name="3 Marcador de número de diapositiva">
            <a:extLst>
              <a:ext uri="{FF2B5EF4-FFF2-40B4-BE49-F238E27FC236}">
                <a16:creationId xmlns:a16="http://schemas.microsoft.com/office/drawing/2014/main" id="{7AF9BCF8-1F42-4988-B6F9-D5D36011FA43}"/>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FE56844-9E9F-428D-84EF-4CE0293A5F9B}" type="slidenum">
              <a:rPr lang="es-ES" altLang="es-ES" sz="1300"/>
              <a:pPr>
                <a:spcBef>
                  <a:spcPct val="0"/>
                </a:spcBef>
              </a:pPr>
              <a:t>26</a:t>
            </a:fld>
            <a:endParaRPr lang="es-ES" altLang="es-ES" sz="13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1 Marcador de imagen de diapositiva">
            <a:extLst>
              <a:ext uri="{FF2B5EF4-FFF2-40B4-BE49-F238E27FC236}">
                <a16:creationId xmlns:a16="http://schemas.microsoft.com/office/drawing/2014/main" id="{EDB39378-FDFB-4C0C-9980-8D782E438A5D}"/>
              </a:ext>
            </a:extLst>
          </p:cNvPr>
          <p:cNvSpPr>
            <a:spLocks noGrp="1" noRot="1" noChangeAspect="1" noTextEdit="1"/>
          </p:cNvSpPr>
          <p:nvPr>
            <p:ph type="sldImg"/>
          </p:nvPr>
        </p:nvSpPr>
        <p:spPr>
          <a:xfrm>
            <a:off x="992188" y="768350"/>
            <a:ext cx="5114925" cy="3836988"/>
          </a:xfrm>
          <a:ln/>
        </p:spPr>
      </p:sp>
      <p:sp>
        <p:nvSpPr>
          <p:cNvPr id="11267" name="2 Marcador de notas">
            <a:extLst>
              <a:ext uri="{FF2B5EF4-FFF2-40B4-BE49-F238E27FC236}">
                <a16:creationId xmlns:a16="http://schemas.microsoft.com/office/drawing/2014/main" id="{A6149436-B0B9-4C2C-8FFE-300128234A0A}"/>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11268" name="3 Marcador de número de diapositiva">
            <a:extLst>
              <a:ext uri="{FF2B5EF4-FFF2-40B4-BE49-F238E27FC236}">
                <a16:creationId xmlns:a16="http://schemas.microsoft.com/office/drawing/2014/main" id="{9843A17A-DAA6-4155-AF5B-91FC39D0F0A8}"/>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D5A2A8F-5A97-4E7A-BDFC-CFD4F0B338ED}" type="slidenum">
              <a:rPr lang="es-ES" altLang="es-ES" sz="1300"/>
              <a:pPr>
                <a:spcBef>
                  <a:spcPct val="0"/>
                </a:spcBef>
              </a:pPr>
              <a:t>27</a:t>
            </a:fld>
            <a:endParaRPr lang="es-ES" altLang="es-ES" sz="13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1 Marcador de imagen de diapositiva">
            <a:extLst>
              <a:ext uri="{FF2B5EF4-FFF2-40B4-BE49-F238E27FC236}">
                <a16:creationId xmlns:a16="http://schemas.microsoft.com/office/drawing/2014/main" id="{4C50AF2F-9960-4A92-9957-916349FFE4F3}"/>
              </a:ext>
            </a:extLst>
          </p:cNvPr>
          <p:cNvSpPr>
            <a:spLocks noGrp="1" noRot="1" noChangeAspect="1" noTextEdit="1"/>
          </p:cNvSpPr>
          <p:nvPr>
            <p:ph type="sldImg"/>
          </p:nvPr>
        </p:nvSpPr>
        <p:spPr>
          <a:xfrm>
            <a:off x="992188" y="768350"/>
            <a:ext cx="5114925" cy="3836988"/>
          </a:xfrm>
          <a:ln/>
        </p:spPr>
      </p:sp>
      <p:sp>
        <p:nvSpPr>
          <p:cNvPr id="13315" name="2 Marcador de notas">
            <a:extLst>
              <a:ext uri="{FF2B5EF4-FFF2-40B4-BE49-F238E27FC236}">
                <a16:creationId xmlns:a16="http://schemas.microsoft.com/office/drawing/2014/main" id="{9063BBFD-19C1-4D57-9149-1971685F357D}"/>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13316" name="3 Marcador de número de diapositiva">
            <a:extLst>
              <a:ext uri="{FF2B5EF4-FFF2-40B4-BE49-F238E27FC236}">
                <a16:creationId xmlns:a16="http://schemas.microsoft.com/office/drawing/2014/main" id="{D5F36AE6-5193-4F27-98DA-156D70654B1D}"/>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C868B2D-45D0-4F1A-96F5-E1906A10D7C7}" type="slidenum">
              <a:rPr lang="es-ES" altLang="es-ES" sz="1300"/>
              <a:pPr>
                <a:spcBef>
                  <a:spcPct val="0"/>
                </a:spcBef>
              </a:pPr>
              <a:t>28</a:t>
            </a:fld>
            <a:endParaRPr lang="es-ES" altLang="es-ES" sz="13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1 Marcador de imagen de diapositiva">
            <a:extLst>
              <a:ext uri="{FF2B5EF4-FFF2-40B4-BE49-F238E27FC236}">
                <a16:creationId xmlns:a16="http://schemas.microsoft.com/office/drawing/2014/main" id="{CE261C0B-6823-4814-A8FF-407138638F91}"/>
              </a:ext>
            </a:extLst>
          </p:cNvPr>
          <p:cNvSpPr>
            <a:spLocks noGrp="1" noRot="1" noChangeAspect="1" noTextEdit="1"/>
          </p:cNvSpPr>
          <p:nvPr>
            <p:ph type="sldImg"/>
          </p:nvPr>
        </p:nvSpPr>
        <p:spPr>
          <a:xfrm>
            <a:off x="992188" y="768350"/>
            <a:ext cx="5114925" cy="3836988"/>
          </a:xfrm>
          <a:ln/>
        </p:spPr>
      </p:sp>
      <p:sp>
        <p:nvSpPr>
          <p:cNvPr id="15363" name="2 Marcador de notas">
            <a:extLst>
              <a:ext uri="{FF2B5EF4-FFF2-40B4-BE49-F238E27FC236}">
                <a16:creationId xmlns:a16="http://schemas.microsoft.com/office/drawing/2014/main" id="{5D8DBCB6-D062-4343-A1BB-CDF562807FB9}"/>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15364" name="3 Marcador de número de diapositiva">
            <a:extLst>
              <a:ext uri="{FF2B5EF4-FFF2-40B4-BE49-F238E27FC236}">
                <a16:creationId xmlns:a16="http://schemas.microsoft.com/office/drawing/2014/main" id="{2B02C3C9-D481-4C40-BCD7-2393653DC534}"/>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653FA93-1A4A-451F-80CC-E9908959AEC5}" type="slidenum">
              <a:rPr lang="es-ES" altLang="es-ES" sz="1300"/>
              <a:pPr>
                <a:spcBef>
                  <a:spcPct val="0"/>
                </a:spcBef>
              </a:pPr>
              <a:t>29</a:t>
            </a:fld>
            <a:endParaRPr lang="es-ES" altLang="es-ES" sz="13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1 Marcador de imagen de diapositiva">
            <a:extLst>
              <a:ext uri="{FF2B5EF4-FFF2-40B4-BE49-F238E27FC236}">
                <a16:creationId xmlns:a16="http://schemas.microsoft.com/office/drawing/2014/main" id="{2304E3D4-A1AA-49E3-88E3-C2134588A533}"/>
              </a:ext>
            </a:extLst>
          </p:cNvPr>
          <p:cNvSpPr>
            <a:spLocks noGrp="1" noRot="1" noChangeAspect="1" noTextEdit="1"/>
          </p:cNvSpPr>
          <p:nvPr>
            <p:ph type="sldImg"/>
          </p:nvPr>
        </p:nvSpPr>
        <p:spPr>
          <a:xfrm>
            <a:off x="992188" y="768350"/>
            <a:ext cx="5114925" cy="3836988"/>
          </a:xfrm>
          <a:ln/>
        </p:spPr>
      </p:sp>
      <p:sp>
        <p:nvSpPr>
          <p:cNvPr id="17411" name="2 Marcador de notas">
            <a:extLst>
              <a:ext uri="{FF2B5EF4-FFF2-40B4-BE49-F238E27FC236}">
                <a16:creationId xmlns:a16="http://schemas.microsoft.com/office/drawing/2014/main" id="{81B42AED-AB95-4287-95D0-75D630C792DF}"/>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17412" name="3 Marcador de número de diapositiva">
            <a:extLst>
              <a:ext uri="{FF2B5EF4-FFF2-40B4-BE49-F238E27FC236}">
                <a16:creationId xmlns:a16="http://schemas.microsoft.com/office/drawing/2014/main" id="{A1FDB148-C8CC-457E-8D4C-653C10087A18}"/>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92D59AB-019B-42C5-B0E1-E391F7143F06}" type="slidenum">
              <a:rPr lang="es-ES" altLang="es-ES" sz="1300"/>
              <a:pPr>
                <a:spcBef>
                  <a:spcPct val="0"/>
                </a:spcBef>
              </a:pPr>
              <a:t>30</a:t>
            </a:fld>
            <a:endParaRPr lang="es-ES" altLang="es-ES" sz="13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B86EACCD-41C3-453A-9C3E-16473DA34197}"/>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AE3740A-1647-40D2-AC50-1EE78F1E7C49}" type="slidenum">
              <a:rPr lang="es-ES" altLang="es-ES" sz="1300"/>
              <a:pPr>
                <a:spcBef>
                  <a:spcPct val="0"/>
                </a:spcBef>
              </a:pPr>
              <a:t>31</a:t>
            </a:fld>
            <a:endParaRPr lang="es-ES" altLang="es-ES" sz="1300"/>
          </a:p>
        </p:txBody>
      </p:sp>
      <p:sp>
        <p:nvSpPr>
          <p:cNvPr id="19459" name="Rectangle 2">
            <a:extLst>
              <a:ext uri="{FF2B5EF4-FFF2-40B4-BE49-F238E27FC236}">
                <a16:creationId xmlns:a16="http://schemas.microsoft.com/office/drawing/2014/main" id="{9D6BD19E-DBB5-48D9-9EAE-596AB008C8AE}"/>
              </a:ext>
            </a:extLst>
          </p:cNvPr>
          <p:cNvSpPr>
            <a:spLocks noGrp="1" noRot="1" noChangeAspect="1" noChangeArrowheads="1" noTextEdit="1"/>
          </p:cNvSpPr>
          <p:nvPr>
            <p:ph type="sldImg"/>
          </p:nvPr>
        </p:nvSpPr>
        <p:spPr>
          <a:xfrm>
            <a:off x="992188" y="768350"/>
            <a:ext cx="5114925" cy="3836988"/>
          </a:xfrm>
          <a:ln/>
        </p:spPr>
      </p:sp>
      <p:sp>
        <p:nvSpPr>
          <p:cNvPr id="19460" name="Rectangle 3">
            <a:extLst>
              <a:ext uri="{FF2B5EF4-FFF2-40B4-BE49-F238E27FC236}">
                <a16:creationId xmlns:a16="http://schemas.microsoft.com/office/drawing/2014/main" id="{84B6CB87-073A-48EE-9890-B2DB0D803C7D}"/>
              </a:ext>
            </a:extLst>
          </p:cNvPr>
          <p:cNvSpPr>
            <a:spLocks noGrp="1" noChangeArrowheads="1"/>
          </p:cNvSpPr>
          <p:nvPr>
            <p:ph type="body" idx="1"/>
          </p:nvPr>
        </p:nvSpPr>
        <p:spPr>
          <a:noFill/>
        </p:spPr>
        <p:txBody>
          <a:bodyPr/>
          <a:lstStyle/>
          <a:p>
            <a:pPr eaLnBrk="1" hangingPunct="1"/>
            <a:r>
              <a:rPr lang="es-ES_tradnl" altLang="es-ES">
                <a:latin typeface="Arial" panose="020B0604020202020204" pitchFamily="34" charset="0"/>
              </a:rPr>
              <a:t>Los gl en el test de welch son una v.a., pues implican a las varianzas muestrales</a:t>
            </a:r>
          </a:p>
          <a:p>
            <a:pPr eaLnBrk="1" hangingPunct="1"/>
            <a:endParaRPr lang="es-ES" altLang="es-ES">
              <a:latin typeface="Arial" panose="020B0604020202020204" pitchFamily="34" charset="0"/>
            </a:endParaRPr>
          </a:p>
          <a:p>
            <a:pPr eaLnBrk="1" hangingPunct="1"/>
            <a:r>
              <a:rPr lang="es-ES" altLang="es-ES">
                <a:latin typeface="Arial" panose="020B0604020202020204" pitchFamily="34" charset="0"/>
              </a:rPr>
              <a:t>Si las varianzas son iguales y los tamaños de muestra pequeños y desiguales, el método de Welch es conservador y es preferible el de student</a:t>
            </a:r>
          </a:p>
          <a:p>
            <a:pPr eaLnBrk="1" hangingPunct="1"/>
            <a:r>
              <a:rPr lang="es-ES" altLang="es-ES">
                <a:latin typeface="Arial" panose="020B0604020202020204" pitchFamily="34" charset="0"/>
              </a:rPr>
              <a:t>Requena dice que el test de Welch funciona siempre bien, incluso para varianzas y tamaños de muestra iguales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B86EACCD-41C3-453A-9C3E-16473DA34197}"/>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AE3740A-1647-40D2-AC50-1EE78F1E7C49}" type="slidenum">
              <a:rPr lang="es-ES" altLang="es-ES" sz="1300"/>
              <a:pPr>
                <a:spcBef>
                  <a:spcPct val="0"/>
                </a:spcBef>
              </a:pPr>
              <a:t>32</a:t>
            </a:fld>
            <a:endParaRPr lang="es-ES" altLang="es-ES" sz="1300"/>
          </a:p>
        </p:txBody>
      </p:sp>
      <p:sp>
        <p:nvSpPr>
          <p:cNvPr id="19459" name="Rectangle 2">
            <a:extLst>
              <a:ext uri="{FF2B5EF4-FFF2-40B4-BE49-F238E27FC236}">
                <a16:creationId xmlns:a16="http://schemas.microsoft.com/office/drawing/2014/main" id="{9D6BD19E-DBB5-48D9-9EAE-596AB008C8AE}"/>
              </a:ext>
            </a:extLst>
          </p:cNvPr>
          <p:cNvSpPr>
            <a:spLocks noGrp="1" noRot="1" noChangeAspect="1" noChangeArrowheads="1" noTextEdit="1"/>
          </p:cNvSpPr>
          <p:nvPr>
            <p:ph type="sldImg"/>
          </p:nvPr>
        </p:nvSpPr>
        <p:spPr>
          <a:xfrm>
            <a:off x="992188" y="768350"/>
            <a:ext cx="5114925" cy="3836988"/>
          </a:xfrm>
          <a:ln/>
        </p:spPr>
      </p:sp>
      <p:sp>
        <p:nvSpPr>
          <p:cNvPr id="19460" name="Rectangle 3">
            <a:extLst>
              <a:ext uri="{FF2B5EF4-FFF2-40B4-BE49-F238E27FC236}">
                <a16:creationId xmlns:a16="http://schemas.microsoft.com/office/drawing/2014/main" id="{84B6CB87-073A-48EE-9890-B2DB0D803C7D}"/>
              </a:ext>
            </a:extLst>
          </p:cNvPr>
          <p:cNvSpPr>
            <a:spLocks noGrp="1" noChangeArrowheads="1"/>
          </p:cNvSpPr>
          <p:nvPr>
            <p:ph type="body" idx="1"/>
          </p:nvPr>
        </p:nvSpPr>
        <p:spPr>
          <a:noFill/>
        </p:spPr>
        <p:txBody>
          <a:bodyPr/>
          <a:lstStyle/>
          <a:p>
            <a:pPr eaLnBrk="1" hangingPunct="1"/>
            <a:r>
              <a:rPr lang="es-ES_tradnl" altLang="es-ES">
                <a:latin typeface="Arial" panose="020B0604020202020204" pitchFamily="34" charset="0"/>
              </a:rPr>
              <a:t>Los gl en el test de welch son una v.a., pues implican a las varianzas muestrales</a:t>
            </a:r>
          </a:p>
          <a:p>
            <a:pPr eaLnBrk="1" hangingPunct="1"/>
            <a:endParaRPr lang="es-ES" altLang="es-ES">
              <a:latin typeface="Arial" panose="020B0604020202020204" pitchFamily="34" charset="0"/>
            </a:endParaRPr>
          </a:p>
          <a:p>
            <a:pPr eaLnBrk="1" hangingPunct="1"/>
            <a:r>
              <a:rPr lang="es-ES" altLang="es-ES">
                <a:latin typeface="Arial" panose="020B0604020202020204" pitchFamily="34" charset="0"/>
              </a:rPr>
              <a:t>Si las varianzas son iguales y los tamaños de muestra pequeños y desiguales, el método de Welch es conservador y es preferible el de student</a:t>
            </a:r>
          </a:p>
          <a:p>
            <a:pPr eaLnBrk="1" hangingPunct="1"/>
            <a:r>
              <a:rPr lang="es-ES" altLang="es-ES">
                <a:latin typeface="Arial" panose="020B0604020202020204" pitchFamily="34" charset="0"/>
              </a:rPr>
              <a:t>Requena dice que el test de Welch funciona siempre bien, incluso para varianzas y tamaños de muestra iguales </a:t>
            </a:r>
          </a:p>
        </p:txBody>
      </p:sp>
    </p:spTree>
    <p:extLst>
      <p:ext uri="{BB962C8B-B14F-4D97-AF65-F5344CB8AC3E}">
        <p14:creationId xmlns:p14="http://schemas.microsoft.com/office/powerpoint/2010/main" val="23069803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1 Marcador de imagen de diapositiva">
            <a:extLst>
              <a:ext uri="{FF2B5EF4-FFF2-40B4-BE49-F238E27FC236}">
                <a16:creationId xmlns:a16="http://schemas.microsoft.com/office/drawing/2014/main" id="{6B7F30EC-A4DC-4C5B-BECB-499FDD5BE0AA}"/>
              </a:ext>
            </a:extLst>
          </p:cNvPr>
          <p:cNvSpPr>
            <a:spLocks noGrp="1" noRot="1" noChangeAspect="1" noTextEdit="1"/>
          </p:cNvSpPr>
          <p:nvPr>
            <p:ph type="sldImg"/>
          </p:nvPr>
        </p:nvSpPr>
        <p:spPr>
          <a:xfrm>
            <a:off x="992188" y="768350"/>
            <a:ext cx="5114925" cy="3836988"/>
          </a:xfrm>
          <a:ln/>
        </p:spPr>
      </p:sp>
      <p:sp>
        <p:nvSpPr>
          <p:cNvPr id="21507" name="2 Marcador de notas">
            <a:extLst>
              <a:ext uri="{FF2B5EF4-FFF2-40B4-BE49-F238E27FC236}">
                <a16:creationId xmlns:a16="http://schemas.microsoft.com/office/drawing/2014/main" id="{12D1E72D-CE40-402E-B410-FE273D597FEA}"/>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21508" name="3 Marcador de número de diapositiva">
            <a:extLst>
              <a:ext uri="{FF2B5EF4-FFF2-40B4-BE49-F238E27FC236}">
                <a16:creationId xmlns:a16="http://schemas.microsoft.com/office/drawing/2014/main" id="{7D39F7DD-676F-4241-A4E7-187524080674}"/>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003DBD7-4498-428B-B65A-2F6E850D4938}" type="slidenum">
              <a:rPr lang="es-ES" altLang="es-ES" sz="1300"/>
              <a:pPr>
                <a:spcBef>
                  <a:spcPct val="0"/>
                </a:spcBef>
              </a:pPr>
              <a:t>33</a:t>
            </a:fld>
            <a:endParaRPr lang="es-ES" altLang="es-ES" sz="13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1 Marcador de imagen de diapositiva">
            <a:extLst>
              <a:ext uri="{FF2B5EF4-FFF2-40B4-BE49-F238E27FC236}">
                <a16:creationId xmlns:a16="http://schemas.microsoft.com/office/drawing/2014/main" id="{4D7FBA5D-1082-4BB3-99E5-079C4510161B}"/>
              </a:ext>
            </a:extLst>
          </p:cNvPr>
          <p:cNvSpPr>
            <a:spLocks noGrp="1" noRot="1" noChangeAspect="1" noTextEdit="1"/>
          </p:cNvSpPr>
          <p:nvPr>
            <p:ph type="sldImg"/>
          </p:nvPr>
        </p:nvSpPr>
        <p:spPr>
          <a:xfrm>
            <a:off x="992188" y="768350"/>
            <a:ext cx="5114925" cy="3836988"/>
          </a:xfrm>
          <a:ln/>
        </p:spPr>
      </p:sp>
      <p:sp>
        <p:nvSpPr>
          <p:cNvPr id="23555" name="2 Marcador de notas">
            <a:extLst>
              <a:ext uri="{FF2B5EF4-FFF2-40B4-BE49-F238E27FC236}">
                <a16:creationId xmlns:a16="http://schemas.microsoft.com/office/drawing/2014/main" id="{F16888A8-B1C5-4ADA-BC53-C075D99B506D}"/>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23556" name="3 Marcador de número de diapositiva">
            <a:extLst>
              <a:ext uri="{FF2B5EF4-FFF2-40B4-BE49-F238E27FC236}">
                <a16:creationId xmlns:a16="http://schemas.microsoft.com/office/drawing/2014/main" id="{6812C6F8-52B2-43DC-948B-C5768CC27BC0}"/>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14E15CA-5626-4FC3-B777-A0287D20CFB4}" type="slidenum">
              <a:rPr lang="es-ES" altLang="es-ES" sz="1300"/>
              <a:pPr>
                <a:spcBef>
                  <a:spcPct val="0"/>
                </a:spcBef>
              </a:pPr>
              <a:t>34</a:t>
            </a:fld>
            <a:endParaRPr lang="es-ES" altLang="es-ES" sz="13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1 Marcador de imagen de diapositiva">
            <a:extLst>
              <a:ext uri="{FF2B5EF4-FFF2-40B4-BE49-F238E27FC236}">
                <a16:creationId xmlns:a16="http://schemas.microsoft.com/office/drawing/2014/main" id="{CC9049C7-8FDF-46C7-97F3-8EB49F391928}"/>
              </a:ext>
            </a:extLst>
          </p:cNvPr>
          <p:cNvSpPr>
            <a:spLocks noGrp="1" noRot="1" noChangeAspect="1" noTextEdit="1"/>
          </p:cNvSpPr>
          <p:nvPr>
            <p:ph type="sldImg"/>
          </p:nvPr>
        </p:nvSpPr>
        <p:spPr>
          <a:xfrm>
            <a:off x="992188" y="768350"/>
            <a:ext cx="5114925" cy="3836988"/>
          </a:xfrm>
          <a:ln/>
        </p:spPr>
      </p:sp>
      <p:sp>
        <p:nvSpPr>
          <p:cNvPr id="25603" name="2 Marcador de notas">
            <a:extLst>
              <a:ext uri="{FF2B5EF4-FFF2-40B4-BE49-F238E27FC236}">
                <a16:creationId xmlns:a16="http://schemas.microsoft.com/office/drawing/2014/main" id="{57912C42-0106-4E30-A54C-8A60C17AF641}"/>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25604" name="3 Marcador de número de diapositiva">
            <a:extLst>
              <a:ext uri="{FF2B5EF4-FFF2-40B4-BE49-F238E27FC236}">
                <a16:creationId xmlns:a16="http://schemas.microsoft.com/office/drawing/2014/main" id="{7B857BAC-0A83-44E3-99B0-5ADBFC7F086D}"/>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FBFFB62-F558-4108-BA34-6E8488D160E5}" type="slidenum">
              <a:rPr lang="es-ES" altLang="es-ES" sz="1300"/>
              <a:pPr>
                <a:spcBef>
                  <a:spcPct val="0"/>
                </a:spcBef>
              </a:pPr>
              <a:t>35</a:t>
            </a:fld>
            <a:endParaRPr lang="es-ES" altLang="es-ES" sz="13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lvl1pPr defTabSz="990600" eaLnBrk="0" hangingPunct="0">
              <a:spcBef>
                <a:spcPct val="30000"/>
              </a:spcBef>
              <a:defRPr sz="1200">
                <a:solidFill>
                  <a:schemeClr val="tx1"/>
                </a:solidFill>
                <a:latin typeface="Arial" pitchFamily="34" charset="0"/>
              </a:defRPr>
            </a:lvl1pPr>
            <a:lvl2pPr marL="742950" indent="-285750" defTabSz="990600" eaLnBrk="0" hangingPunct="0">
              <a:spcBef>
                <a:spcPct val="30000"/>
              </a:spcBef>
              <a:defRPr sz="1200">
                <a:solidFill>
                  <a:schemeClr val="tx1"/>
                </a:solidFill>
                <a:latin typeface="Arial" pitchFamily="34" charset="0"/>
              </a:defRPr>
            </a:lvl2pPr>
            <a:lvl3pPr marL="1143000" indent="-228600" defTabSz="990600" eaLnBrk="0" hangingPunct="0">
              <a:spcBef>
                <a:spcPct val="30000"/>
              </a:spcBef>
              <a:defRPr sz="1200">
                <a:solidFill>
                  <a:schemeClr val="tx1"/>
                </a:solidFill>
                <a:latin typeface="Arial" pitchFamily="34" charset="0"/>
              </a:defRPr>
            </a:lvl3pPr>
            <a:lvl4pPr marL="1600200" indent="-228600" defTabSz="990600" eaLnBrk="0" hangingPunct="0">
              <a:spcBef>
                <a:spcPct val="30000"/>
              </a:spcBef>
              <a:defRPr sz="1200">
                <a:solidFill>
                  <a:schemeClr val="tx1"/>
                </a:solidFill>
                <a:latin typeface="Arial" pitchFamily="34" charset="0"/>
              </a:defRPr>
            </a:lvl4pPr>
            <a:lvl5pPr marL="2057400" indent="-228600" defTabSz="990600" eaLnBrk="0" hangingPunct="0">
              <a:spcBef>
                <a:spcPct val="30000"/>
              </a:spcBef>
              <a:defRPr sz="1200">
                <a:solidFill>
                  <a:schemeClr val="tx1"/>
                </a:solidFill>
                <a:latin typeface="Arial" pitchFamily="34" charset="0"/>
              </a:defRPr>
            </a:lvl5pPr>
            <a:lvl6pPr marL="2514600" indent="-228600" defTabSz="990600" eaLnBrk="0" fontAlgn="base" hangingPunct="0">
              <a:spcBef>
                <a:spcPct val="30000"/>
              </a:spcBef>
              <a:spcAft>
                <a:spcPct val="0"/>
              </a:spcAft>
              <a:defRPr sz="1200">
                <a:solidFill>
                  <a:schemeClr val="tx1"/>
                </a:solidFill>
                <a:latin typeface="Arial" pitchFamily="34" charset="0"/>
              </a:defRPr>
            </a:lvl6pPr>
            <a:lvl7pPr marL="2971800" indent="-228600" defTabSz="990600" eaLnBrk="0" fontAlgn="base" hangingPunct="0">
              <a:spcBef>
                <a:spcPct val="30000"/>
              </a:spcBef>
              <a:spcAft>
                <a:spcPct val="0"/>
              </a:spcAft>
              <a:defRPr sz="1200">
                <a:solidFill>
                  <a:schemeClr val="tx1"/>
                </a:solidFill>
                <a:latin typeface="Arial" pitchFamily="34" charset="0"/>
              </a:defRPr>
            </a:lvl7pPr>
            <a:lvl8pPr marL="3429000" indent="-228600" defTabSz="990600" eaLnBrk="0" fontAlgn="base" hangingPunct="0">
              <a:spcBef>
                <a:spcPct val="30000"/>
              </a:spcBef>
              <a:spcAft>
                <a:spcPct val="0"/>
              </a:spcAft>
              <a:defRPr sz="1200">
                <a:solidFill>
                  <a:schemeClr val="tx1"/>
                </a:solidFill>
                <a:latin typeface="Arial" pitchFamily="34" charset="0"/>
              </a:defRPr>
            </a:lvl8pPr>
            <a:lvl9pPr marL="3886200" indent="-228600" defTabSz="990600" eaLnBrk="0" fontAlgn="base" hangingPunct="0">
              <a:spcBef>
                <a:spcPct val="30000"/>
              </a:spcBef>
              <a:spcAft>
                <a:spcPct val="0"/>
              </a:spcAft>
              <a:defRPr sz="1200">
                <a:solidFill>
                  <a:schemeClr val="tx1"/>
                </a:solidFill>
                <a:latin typeface="Arial" pitchFamily="34" charset="0"/>
              </a:defRPr>
            </a:lvl9pPr>
          </a:lstStyle>
          <a:p>
            <a:pPr eaLnBrk="1" hangingPunct="1">
              <a:spcBef>
                <a:spcPct val="0"/>
              </a:spcBef>
            </a:pPr>
            <a:fld id="{2BB845A7-E963-4D16-96D0-1FD6F111D3AD}" type="slidenum">
              <a:rPr lang="es-ES" altLang="es-ES" sz="1300" smtClean="0"/>
              <a:pPr eaLnBrk="1" hangingPunct="1">
                <a:spcBef>
                  <a:spcPct val="0"/>
                </a:spcBef>
              </a:pPr>
              <a:t>36</a:t>
            </a:fld>
            <a:endParaRPr lang="es-ES" altLang="es-ES" sz="1300"/>
          </a:p>
        </p:txBody>
      </p:sp>
      <p:sp>
        <p:nvSpPr>
          <p:cNvPr id="29699" name="Rectangle 2"/>
          <p:cNvSpPr>
            <a:spLocks noGrp="1" noRot="1" noChangeAspect="1" noChangeArrowheads="1" noTextEdit="1"/>
          </p:cNvSpPr>
          <p:nvPr>
            <p:ph type="sldImg"/>
          </p:nvPr>
        </p:nvSpPr>
        <p:spPr>
          <a:xfrm>
            <a:off x="992188" y="768350"/>
            <a:ext cx="5114925" cy="3836988"/>
          </a:xfrm>
          <a:ln/>
        </p:spPr>
      </p:sp>
      <p:sp>
        <p:nvSpPr>
          <p:cNvPr id="29700" name="Rectangle 3"/>
          <p:cNvSpPr>
            <a:spLocks noGrp="1" noChangeArrowheads="1"/>
          </p:cNvSpPr>
          <p:nvPr>
            <p:ph type="body" idx="1"/>
          </p:nvPr>
        </p:nvSpPr>
        <p:spPr>
          <a:noFill/>
        </p:spPr>
        <p:txBody>
          <a:bodyPr/>
          <a:lstStyle/>
          <a:p>
            <a:pPr eaLnBrk="1" hangingPunct="1"/>
            <a:r>
              <a:rPr lang="es-ES_tradnl" altLang="es-ES">
                <a:latin typeface="Arial" pitchFamily="34" charset="0"/>
              </a:rPr>
              <a:t>No se dispone de pruebas no paramétricas para aspectos como puede ser la interacción en ANOVA (aquí queda grande eso, pero es la idea)</a:t>
            </a:r>
          </a:p>
          <a:p>
            <a:pPr eaLnBrk="1" hangingPunct="1">
              <a:spcBef>
                <a:spcPct val="0"/>
              </a:spcBef>
            </a:pPr>
            <a:r>
              <a:rPr lang="es-ES_tradnl" altLang="es-ES">
                <a:latin typeface="Arial" pitchFamily="34" charset="0"/>
              </a:rPr>
              <a:t>En general son pruebas exactas (especialmente para muestras pequeñas) independientemente de la distribución</a:t>
            </a:r>
            <a:endParaRPr lang="es-ES" altLang="es-ES">
              <a:latin typeface="Arial" pitchFamily="34" charset="0"/>
            </a:endParaRPr>
          </a:p>
          <a:p>
            <a:pPr eaLnBrk="1" hangingPunct="1"/>
            <a:endParaRPr lang="es-ES" altLang="es-ES">
              <a:latin typeface="Arial" pitchFamily="34" charset="0"/>
            </a:endParaRPr>
          </a:p>
        </p:txBody>
      </p:sp>
    </p:spTree>
    <p:extLst>
      <p:ext uri="{BB962C8B-B14F-4D97-AF65-F5344CB8AC3E}">
        <p14:creationId xmlns:p14="http://schemas.microsoft.com/office/powerpoint/2010/main" val="4244899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a:prstGeom prst="rect">
            <a:avLst/>
          </a:prstGeo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p>
        </p:txBody>
      </p:sp>
    </p:spTree>
    <p:extLst>
      <p:ext uri="{BB962C8B-B14F-4D97-AF65-F5344CB8AC3E}">
        <p14:creationId xmlns:p14="http://schemas.microsoft.com/office/powerpoint/2010/main" val="2571519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contenido"/>
          <p:cNvSpPr>
            <a:spLocks noGrp="1"/>
          </p:cNvSpPr>
          <p:nvPr>
            <p:ph idx="1"/>
          </p:nvPr>
        </p:nvSpPr>
        <p:spPr>
          <a:xfrm>
            <a:off x="457200" y="1600200"/>
            <a:ext cx="8229600" cy="4525963"/>
          </a:xfrm>
          <a:prstGeom prst="rect">
            <a:avLst/>
          </a:prstGeo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1454992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Tree>
    <p:extLst>
      <p:ext uri="{BB962C8B-B14F-4D97-AF65-F5344CB8AC3E}">
        <p14:creationId xmlns:p14="http://schemas.microsoft.com/office/powerpoint/2010/main" val="1768386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1832165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921058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Tree>
    <p:extLst>
      <p:ext uri="{BB962C8B-B14F-4D97-AF65-F5344CB8AC3E}">
        <p14:creationId xmlns:p14="http://schemas.microsoft.com/office/powerpoint/2010/main" val="2165570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7631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a:prstGeom prst="rect">
            <a:avLst/>
          </a:prstGeo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extLst>
      <p:ext uri="{BB962C8B-B14F-4D97-AF65-F5344CB8AC3E}">
        <p14:creationId xmlns:p14="http://schemas.microsoft.com/office/powerpoint/2010/main" val="3804485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a:prstGeom prst="rect">
            <a:avLst/>
          </a:prstGeo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extLst>
      <p:ext uri="{BB962C8B-B14F-4D97-AF65-F5344CB8AC3E}">
        <p14:creationId xmlns:p14="http://schemas.microsoft.com/office/powerpoint/2010/main" val="3700327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texto vertical"/>
          <p:cNvSpPr>
            <a:spLocks noGrp="1"/>
          </p:cNvSpPr>
          <p:nvPr>
            <p:ph type="body" orient="vert" idx="1"/>
          </p:nvPr>
        </p:nvSpPr>
        <p:spPr>
          <a:xfrm>
            <a:off x="457200" y="1600200"/>
            <a:ext cx="8229600" cy="4525963"/>
          </a:xfrm>
          <a:prstGeom prst="rect">
            <a:avLst/>
          </a:prstGeo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3099339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a:prstGeom prst="rect">
            <a:avLst/>
          </a:prstGeo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a:prstGeom prst="rect">
            <a:avLst/>
          </a:prstGeo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3825035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Text Box 9"/>
          <p:cNvSpPr txBox="1">
            <a:spLocks noChangeArrowheads="1"/>
          </p:cNvSpPr>
          <p:nvPr userDrawn="1"/>
        </p:nvSpPr>
        <p:spPr bwMode="auto">
          <a:xfrm>
            <a:off x="8001000" y="90488"/>
            <a:ext cx="96678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r" eaLnBrk="1" hangingPunct="1">
              <a:defRPr/>
            </a:pPr>
            <a:fld id="{7FAF1F29-B240-471F-9E53-AB9CCE719600}" type="slidenum">
              <a:rPr lang="es-ES" altLang="es-ES" b="1" smtClean="0">
                <a:solidFill>
                  <a:schemeClr val="tx1">
                    <a:lumMod val="85000"/>
                    <a:lumOff val="15000"/>
                  </a:schemeClr>
                </a:solidFill>
              </a:rPr>
              <a:pPr algn="r" eaLnBrk="1" hangingPunct="1">
                <a:defRPr/>
              </a:pPr>
              <a:t>‹#›</a:t>
            </a:fld>
            <a:endParaRPr lang="es-ES" altLang="es-ES" b="1" dirty="0">
              <a:solidFill>
                <a:schemeClr val="tx1">
                  <a:lumMod val="85000"/>
                  <a:lumOff val="15000"/>
                </a:schemeClr>
              </a:solidFill>
            </a:endParaRPr>
          </a:p>
        </p:txBody>
      </p:sp>
      <p:cxnSp>
        <p:nvCxnSpPr>
          <p:cNvPr id="5" name="Conector recto 4"/>
          <p:cNvCxnSpPr/>
          <p:nvPr userDrawn="1"/>
        </p:nvCxnSpPr>
        <p:spPr>
          <a:xfrm>
            <a:off x="0" y="762000"/>
            <a:ext cx="9144000" cy="0"/>
          </a:xfrm>
          <a:prstGeom prst="line">
            <a:avLst/>
          </a:prstGeom>
          <a:ln>
            <a:gradFill flip="none" rotWithShape="1">
              <a:gsLst>
                <a:gs pos="34000">
                  <a:schemeClr val="bg1"/>
                </a:gs>
                <a:gs pos="55000">
                  <a:schemeClr val="accent4">
                    <a:lumMod val="89000"/>
                  </a:schemeClr>
                </a:gs>
                <a:gs pos="81000">
                  <a:schemeClr val="accent4">
                    <a:lumMod val="75000"/>
                  </a:schemeClr>
                </a:gs>
                <a:gs pos="100000">
                  <a:schemeClr val="accent4">
                    <a:lumMod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3.wmf"/><Relationship Id="rId7"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oleObject" Target="../embeddings/oleObject3.bin"/><Relationship Id="rId5" Type="http://schemas.openxmlformats.org/officeDocument/2006/relationships/image" Target="../media/image4.wmf"/><Relationship Id="rId4" Type="http://schemas.openxmlformats.org/officeDocument/2006/relationships/oleObject" Target="../embeddings/oleObject2.bin"/><Relationship Id="rId9" Type="http://schemas.openxmlformats.org/officeDocument/2006/relationships/image" Target="../media/image6.wmf"/></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14.wmf"/><Relationship Id="rId18" Type="http://schemas.openxmlformats.org/officeDocument/2006/relationships/oleObject" Target="../embeddings/oleObject13.bin"/><Relationship Id="rId3" Type="http://schemas.openxmlformats.org/officeDocument/2006/relationships/image" Target="../media/image9.wmf"/><Relationship Id="rId7" Type="http://schemas.openxmlformats.org/officeDocument/2006/relationships/image" Target="../media/image11.wmf"/><Relationship Id="rId12" Type="http://schemas.openxmlformats.org/officeDocument/2006/relationships/oleObject" Target="../embeddings/oleObject10.bin"/><Relationship Id="rId17" Type="http://schemas.openxmlformats.org/officeDocument/2006/relationships/image" Target="../media/image16.wmf"/><Relationship Id="rId2" Type="http://schemas.openxmlformats.org/officeDocument/2006/relationships/oleObject" Target="../embeddings/oleObject5.bin"/><Relationship Id="rId16" Type="http://schemas.openxmlformats.org/officeDocument/2006/relationships/oleObject" Target="../embeddings/oleObject12.bin"/><Relationship Id="rId1" Type="http://schemas.openxmlformats.org/officeDocument/2006/relationships/slideLayout" Target="../slideLayouts/slideLayout1.xml"/><Relationship Id="rId6" Type="http://schemas.openxmlformats.org/officeDocument/2006/relationships/oleObject" Target="../embeddings/oleObject7.bin"/><Relationship Id="rId11" Type="http://schemas.openxmlformats.org/officeDocument/2006/relationships/image" Target="../media/image13.wmf"/><Relationship Id="rId5" Type="http://schemas.openxmlformats.org/officeDocument/2006/relationships/image" Target="../media/image10.wmf"/><Relationship Id="rId15" Type="http://schemas.openxmlformats.org/officeDocument/2006/relationships/image" Target="../media/image15.wmf"/><Relationship Id="rId10" Type="http://schemas.openxmlformats.org/officeDocument/2006/relationships/oleObject" Target="../embeddings/oleObject9.bin"/><Relationship Id="rId19" Type="http://schemas.openxmlformats.org/officeDocument/2006/relationships/image" Target="../media/image17.wmf"/><Relationship Id="rId4" Type="http://schemas.openxmlformats.org/officeDocument/2006/relationships/oleObject" Target="../embeddings/oleObject6.bin"/><Relationship Id="rId9" Type="http://schemas.openxmlformats.org/officeDocument/2006/relationships/image" Target="../media/image12.wmf"/><Relationship Id="rId14" Type="http://schemas.openxmlformats.org/officeDocument/2006/relationships/oleObject" Target="../embeddings/oleObject11.bin"/></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27.png"/><Relationship Id="rId18" Type="http://schemas.openxmlformats.org/officeDocument/2006/relationships/image" Target="../media/image30.wmf"/><Relationship Id="rId26" Type="http://schemas.openxmlformats.org/officeDocument/2006/relationships/image" Target="../media/image34.wmf"/><Relationship Id="rId3" Type="http://schemas.openxmlformats.org/officeDocument/2006/relationships/oleObject" Target="../embeddings/oleObject14.bin"/><Relationship Id="rId21" Type="http://schemas.openxmlformats.org/officeDocument/2006/relationships/oleObject" Target="../embeddings/oleObject22.bin"/><Relationship Id="rId7" Type="http://schemas.openxmlformats.org/officeDocument/2006/relationships/oleObject" Target="../embeddings/oleObject16.bin"/><Relationship Id="rId12" Type="http://schemas.openxmlformats.org/officeDocument/2006/relationships/image" Target="../media/image26.png"/><Relationship Id="rId17" Type="http://schemas.openxmlformats.org/officeDocument/2006/relationships/oleObject" Target="../embeddings/oleObject20.bin"/><Relationship Id="rId25" Type="http://schemas.openxmlformats.org/officeDocument/2006/relationships/oleObject" Target="../embeddings/oleObject24.bin"/><Relationship Id="rId2" Type="http://schemas.openxmlformats.org/officeDocument/2006/relationships/notesSlide" Target="../notesSlides/notesSlide2.xml"/><Relationship Id="rId16" Type="http://schemas.openxmlformats.org/officeDocument/2006/relationships/image" Target="../media/image29.wmf"/><Relationship Id="rId20" Type="http://schemas.openxmlformats.org/officeDocument/2006/relationships/image" Target="../media/image31.wmf"/><Relationship Id="rId29" Type="http://schemas.openxmlformats.org/officeDocument/2006/relationships/oleObject" Target="../embeddings/oleObject26.bin"/><Relationship Id="rId1" Type="http://schemas.openxmlformats.org/officeDocument/2006/relationships/slideLayout" Target="../slideLayouts/slideLayout1.xml"/><Relationship Id="rId6" Type="http://schemas.openxmlformats.org/officeDocument/2006/relationships/image" Target="../media/image23.wmf"/><Relationship Id="rId11" Type="http://schemas.openxmlformats.org/officeDocument/2006/relationships/image" Target="../media/image25.wmf"/><Relationship Id="rId24" Type="http://schemas.openxmlformats.org/officeDocument/2006/relationships/image" Target="../media/image33.wmf"/><Relationship Id="rId32" Type="http://schemas.openxmlformats.org/officeDocument/2006/relationships/image" Target="../media/image37.wmf"/><Relationship Id="rId5" Type="http://schemas.openxmlformats.org/officeDocument/2006/relationships/oleObject" Target="../embeddings/oleObject15.bin"/><Relationship Id="rId15" Type="http://schemas.openxmlformats.org/officeDocument/2006/relationships/image" Target="../media/image28.wmf"/><Relationship Id="rId23" Type="http://schemas.openxmlformats.org/officeDocument/2006/relationships/oleObject" Target="../embeddings/oleObject23.bin"/><Relationship Id="rId28" Type="http://schemas.openxmlformats.org/officeDocument/2006/relationships/image" Target="../media/image35.wmf"/><Relationship Id="rId10" Type="http://schemas.openxmlformats.org/officeDocument/2006/relationships/oleObject" Target="../embeddings/oleObject18.bin"/><Relationship Id="rId19" Type="http://schemas.openxmlformats.org/officeDocument/2006/relationships/oleObject" Target="../embeddings/oleObject21.bin"/><Relationship Id="rId31" Type="http://schemas.openxmlformats.org/officeDocument/2006/relationships/oleObject" Target="../embeddings/oleObject27.bin"/><Relationship Id="rId4" Type="http://schemas.openxmlformats.org/officeDocument/2006/relationships/image" Target="../media/image22.wmf"/><Relationship Id="rId9" Type="http://schemas.openxmlformats.org/officeDocument/2006/relationships/image" Target="../media/image24.wmf"/><Relationship Id="rId14" Type="http://schemas.openxmlformats.org/officeDocument/2006/relationships/oleObject" Target="../embeddings/oleObject19.bin"/><Relationship Id="rId22" Type="http://schemas.openxmlformats.org/officeDocument/2006/relationships/image" Target="../media/image32.wmf"/><Relationship Id="rId27" Type="http://schemas.openxmlformats.org/officeDocument/2006/relationships/oleObject" Target="../embeddings/oleObject25.bin"/><Relationship Id="rId30" Type="http://schemas.openxmlformats.org/officeDocument/2006/relationships/image" Target="../media/image36.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24.wmf"/><Relationship Id="rId18" Type="http://schemas.openxmlformats.org/officeDocument/2006/relationships/oleObject" Target="../embeddings/oleObject35.bin"/><Relationship Id="rId26" Type="http://schemas.openxmlformats.org/officeDocument/2006/relationships/oleObject" Target="../embeddings/oleObject39.bin"/><Relationship Id="rId3" Type="http://schemas.openxmlformats.org/officeDocument/2006/relationships/image" Target="../media/image4.wmf"/><Relationship Id="rId21" Type="http://schemas.openxmlformats.org/officeDocument/2006/relationships/image" Target="../media/image36.wmf"/><Relationship Id="rId7" Type="http://schemas.openxmlformats.org/officeDocument/2006/relationships/image" Target="../media/image39.wmf"/><Relationship Id="rId12" Type="http://schemas.openxmlformats.org/officeDocument/2006/relationships/oleObject" Target="../embeddings/oleObject32.bin"/><Relationship Id="rId17" Type="http://schemas.openxmlformats.org/officeDocument/2006/relationships/image" Target="../media/image41.wmf"/><Relationship Id="rId25" Type="http://schemas.openxmlformats.org/officeDocument/2006/relationships/image" Target="../media/image43.wmf"/><Relationship Id="rId2" Type="http://schemas.openxmlformats.org/officeDocument/2006/relationships/oleObject" Target="../embeddings/oleObject28.bin"/><Relationship Id="rId16" Type="http://schemas.openxmlformats.org/officeDocument/2006/relationships/oleObject" Target="../embeddings/oleObject34.bin"/><Relationship Id="rId20" Type="http://schemas.openxmlformats.org/officeDocument/2006/relationships/oleObject" Target="../embeddings/oleObject36.bin"/><Relationship Id="rId1" Type="http://schemas.openxmlformats.org/officeDocument/2006/relationships/slideLayout" Target="../slideLayouts/slideLayout1.xml"/><Relationship Id="rId6" Type="http://schemas.openxmlformats.org/officeDocument/2006/relationships/oleObject" Target="../embeddings/oleObject30.bin"/><Relationship Id="rId11" Type="http://schemas.openxmlformats.org/officeDocument/2006/relationships/image" Target="../media/image27.png"/><Relationship Id="rId24" Type="http://schemas.openxmlformats.org/officeDocument/2006/relationships/oleObject" Target="../embeddings/oleObject38.bin"/><Relationship Id="rId5" Type="http://schemas.openxmlformats.org/officeDocument/2006/relationships/image" Target="../media/image38.wmf"/><Relationship Id="rId15" Type="http://schemas.openxmlformats.org/officeDocument/2006/relationships/image" Target="../media/image25.wmf"/><Relationship Id="rId23" Type="http://schemas.openxmlformats.org/officeDocument/2006/relationships/image" Target="../media/image37.wmf"/><Relationship Id="rId10" Type="http://schemas.openxmlformats.org/officeDocument/2006/relationships/image" Target="../media/image26.png"/><Relationship Id="rId19" Type="http://schemas.openxmlformats.org/officeDocument/2006/relationships/image" Target="../media/image42.wmf"/><Relationship Id="rId4" Type="http://schemas.openxmlformats.org/officeDocument/2006/relationships/oleObject" Target="../embeddings/oleObject29.bin"/><Relationship Id="rId9" Type="http://schemas.openxmlformats.org/officeDocument/2006/relationships/image" Target="../media/image40.wmf"/><Relationship Id="rId14" Type="http://schemas.openxmlformats.org/officeDocument/2006/relationships/oleObject" Target="../embeddings/oleObject33.bin"/><Relationship Id="rId22" Type="http://schemas.openxmlformats.org/officeDocument/2006/relationships/oleObject" Target="../embeddings/oleObject37.bin"/><Relationship Id="rId27" Type="http://schemas.openxmlformats.org/officeDocument/2006/relationships/image" Target="../media/image44.wmf"/></Relationships>
</file>

<file path=ppt/slides/_rels/slide10.xml.rels><?xml version="1.0" encoding="UTF-8" standalone="yes"?>
<Relationships xmlns="http://schemas.openxmlformats.org/package/2006/relationships"><Relationship Id="rId13" Type="http://schemas.openxmlformats.org/officeDocument/2006/relationships/oleObject" Target="../embeddings/oleObject44.bin"/><Relationship Id="rId18" Type="http://schemas.openxmlformats.org/officeDocument/2006/relationships/image" Target="../media/image51.wmf"/><Relationship Id="rId26" Type="http://schemas.openxmlformats.org/officeDocument/2006/relationships/image" Target="../media/image55.wmf"/><Relationship Id="rId3" Type="http://schemas.openxmlformats.org/officeDocument/2006/relationships/oleObject" Target="../embeddings/oleObject40.bin"/><Relationship Id="rId21" Type="http://schemas.openxmlformats.org/officeDocument/2006/relationships/oleObject" Target="../embeddings/oleObject48.bin"/><Relationship Id="rId34" Type="http://schemas.openxmlformats.org/officeDocument/2006/relationships/image" Target="../media/image58.wmf"/><Relationship Id="rId7" Type="http://schemas.openxmlformats.org/officeDocument/2006/relationships/image" Target="../media/image46.wmf"/><Relationship Id="rId12" Type="http://schemas.openxmlformats.org/officeDocument/2006/relationships/image" Target="../media/image48.wmf"/><Relationship Id="rId17" Type="http://schemas.openxmlformats.org/officeDocument/2006/relationships/oleObject" Target="../embeddings/oleObject46.bin"/><Relationship Id="rId25" Type="http://schemas.openxmlformats.org/officeDocument/2006/relationships/oleObject" Target="../embeddings/oleObject50.bin"/><Relationship Id="rId33" Type="http://schemas.openxmlformats.org/officeDocument/2006/relationships/oleObject" Target="../embeddings/oleObject54.bin"/><Relationship Id="rId2" Type="http://schemas.openxmlformats.org/officeDocument/2006/relationships/notesSlide" Target="../notesSlides/notesSlide3.xml"/><Relationship Id="rId16" Type="http://schemas.openxmlformats.org/officeDocument/2006/relationships/image" Target="../media/image50.wmf"/><Relationship Id="rId20" Type="http://schemas.openxmlformats.org/officeDocument/2006/relationships/image" Target="../media/image52.wmf"/><Relationship Id="rId29" Type="http://schemas.openxmlformats.org/officeDocument/2006/relationships/oleObject" Target="../embeddings/oleObject52.bin"/><Relationship Id="rId1" Type="http://schemas.openxmlformats.org/officeDocument/2006/relationships/slideLayout" Target="../slideLayouts/slideLayout1.xml"/><Relationship Id="rId6" Type="http://schemas.openxmlformats.org/officeDocument/2006/relationships/oleObject" Target="../embeddings/oleObject41.bin"/><Relationship Id="rId11" Type="http://schemas.openxmlformats.org/officeDocument/2006/relationships/oleObject" Target="../embeddings/oleObject43.bin"/><Relationship Id="rId24" Type="http://schemas.openxmlformats.org/officeDocument/2006/relationships/image" Target="../media/image54.wmf"/><Relationship Id="rId32" Type="http://schemas.openxmlformats.org/officeDocument/2006/relationships/image" Target="../media/image57.wmf"/><Relationship Id="rId5" Type="http://schemas.openxmlformats.org/officeDocument/2006/relationships/image" Target="../media/image26.png"/><Relationship Id="rId15" Type="http://schemas.openxmlformats.org/officeDocument/2006/relationships/oleObject" Target="../embeddings/oleObject45.bin"/><Relationship Id="rId23" Type="http://schemas.openxmlformats.org/officeDocument/2006/relationships/oleObject" Target="../embeddings/oleObject49.bin"/><Relationship Id="rId28" Type="http://schemas.openxmlformats.org/officeDocument/2006/relationships/image" Target="../media/image41.wmf"/><Relationship Id="rId36" Type="http://schemas.openxmlformats.org/officeDocument/2006/relationships/image" Target="../media/image59.wmf"/><Relationship Id="rId10" Type="http://schemas.openxmlformats.org/officeDocument/2006/relationships/image" Target="../media/image27.png"/><Relationship Id="rId19" Type="http://schemas.openxmlformats.org/officeDocument/2006/relationships/oleObject" Target="../embeddings/oleObject47.bin"/><Relationship Id="rId31" Type="http://schemas.openxmlformats.org/officeDocument/2006/relationships/oleObject" Target="../embeddings/oleObject53.bin"/><Relationship Id="rId4" Type="http://schemas.openxmlformats.org/officeDocument/2006/relationships/image" Target="../media/image45.wmf"/><Relationship Id="rId9" Type="http://schemas.openxmlformats.org/officeDocument/2006/relationships/image" Target="../media/image47.wmf"/><Relationship Id="rId14" Type="http://schemas.openxmlformats.org/officeDocument/2006/relationships/image" Target="../media/image49.wmf"/><Relationship Id="rId22" Type="http://schemas.openxmlformats.org/officeDocument/2006/relationships/image" Target="../media/image53.wmf"/><Relationship Id="rId27" Type="http://schemas.openxmlformats.org/officeDocument/2006/relationships/oleObject" Target="../embeddings/oleObject51.bin"/><Relationship Id="rId30" Type="http://schemas.openxmlformats.org/officeDocument/2006/relationships/image" Target="../media/image56.wmf"/><Relationship Id="rId35" Type="http://schemas.openxmlformats.org/officeDocument/2006/relationships/oleObject" Target="../embeddings/oleObject55.bin"/><Relationship Id="rId8" Type="http://schemas.openxmlformats.org/officeDocument/2006/relationships/oleObject" Target="../embeddings/oleObject42.bin"/></Relationships>
</file>

<file path=ppt/slides/_rels/slide11.xml.rels><?xml version="1.0" encoding="UTF-8" standalone="yes"?>
<Relationships xmlns="http://schemas.openxmlformats.org/package/2006/relationships"><Relationship Id="rId8" Type="http://schemas.openxmlformats.org/officeDocument/2006/relationships/image" Target="../media/image63.wmf"/><Relationship Id="rId13" Type="http://schemas.openxmlformats.org/officeDocument/2006/relationships/oleObject" Target="../embeddings/oleObject61.bin"/><Relationship Id="rId3" Type="http://schemas.openxmlformats.org/officeDocument/2006/relationships/oleObject" Target="../embeddings/oleObject56.bin"/><Relationship Id="rId7" Type="http://schemas.openxmlformats.org/officeDocument/2006/relationships/oleObject" Target="../embeddings/oleObject58.bin"/><Relationship Id="rId12" Type="http://schemas.openxmlformats.org/officeDocument/2006/relationships/image" Target="../media/image65.wmf"/><Relationship Id="rId2" Type="http://schemas.openxmlformats.org/officeDocument/2006/relationships/image" Target="../media/image60.png"/><Relationship Id="rId1" Type="http://schemas.openxmlformats.org/officeDocument/2006/relationships/slideLayout" Target="../slideLayouts/slideLayout1.xml"/><Relationship Id="rId6" Type="http://schemas.openxmlformats.org/officeDocument/2006/relationships/image" Target="../media/image62.wmf"/><Relationship Id="rId11" Type="http://schemas.openxmlformats.org/officeDocument/2006/relationships/oleObject" Target="../embeddings/oleObject60.bin"/><Relationship Id="rId5" Type="http://schemas.openxmlformats.org/officeDocument/2006/relationships/oleObject" Target="../embeddings/oleObject57.bin"/><Relationship Id="rId10" Type="http://schemas.openxmlformats.org/officeDocument/2006/relationships/oleObject" Target="../embeddings/oleObject59.bin"/><Relationship Id="rId4" Type="http://schemas.openxmlformats.org/officeDocument/2006/relationships/image" Target="../media/image61.wmf"/><Relationship Id="rId9" Type="http://schemas.openxmlformats.org/officeDocument/2006/relationships/image" Target="../media/image64.png"/><Relationship Id="rId14" Type="http://schemas.openxmlformats.org/officeDocument/2006/relationships/image" Target="../media/image66.png"/></Relationships>
</file>

<file path=ppt/slides/_rels/slide12.xml.rels><?xml version="1.0" encoding="UTF-8" standalone="yes"?>
<Relationships xmlns="http://schemas.openxmlformats.org/package/2006/relationships"><Relationship Id="rId13" Type="http://schemas.openxmlformats.org/officeDocument/2006/relationships/image" Target="../media/image71.wmf"/><Relationship Id="rId18" Type="http://schemas.openxmlformats.org/officeDocument/2006/relationships/oleObject" Target="../embeddings/oleObject70.bin"/><Relationship Id="rId26" Type="http://schemas.openxmlformats.org/officeDocument/2006/relationships/image" Target="../media/image78.wmf"/><Relationship Id="rId21" Type="http://schemas.openxmlformats.org/officeDocument/2006/relationships/image" Target="../media/image75.wmf"/><Relationship Id="rId34" Type="http://schemas.openxmlformats.org/officeDocument/2006/relationships/image" Target="../media/image81.wmf"/><Relationship Id="rId7" Type="http://schemas.openxmlformats.org/officeDocument/2006/relationships/image" Target="../media/image68.wmf"/><Relationship Id="rId12" Type="http://schemas.openxmlformats.org/officeDocument/2006/relationships/oleObject" Target="../embeddings/oleObject67.bin"/><Relationship Id="rId17" Type="http://schemas.openxmlformats.org/officeDocument/2006/relationships/image" Target="../media/image73.wmf"/><Relationship Id="rId25" Type="http://schemas.openxmlformats.org/officeDocument/2006/relationships/oleObject" Target="../embeddings/oleObject73.bin"/><Relationship Id="rId33" Type="http://schemas.openxmlformats.org/officeDocument/2006/relationships/oleObject" Target="../embeddings/oleObject77.bin"/><Relationship Id="rId38" Type="http://schemas.openxmlformats.org/officeDocument/2006/relationships/image" Target="../media/image83.wmf"/><Relationship Id="rId2" Type="http://schemas.openxmlformats.org/officeDocument/2006/relationships/oleObject" Target="../embeddings/oleObject62.bin"/><Relationship Id="rId16" Type="http://schemas.openxmlformats.org/officeDocument/2006/relationships/oleObject" Target="../embeddings/oleObject69.bin"/><Relationship Id="rId20" Type="http://schemas.openxmlformats.org/officeDocument/2006/relationships/oleObject" Target="../embeddings/oleObject71.bin"/><Relationship Id="rId29"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oleObject" Target="../embeddings/oleObject64.bin"/><Relationship Id="rId11" Type="http://schemas.openxmlformats.org/officeDocument/2006/relationships/image" Target="../media/image70.wmf"/><Relationship Id="rId24" Type="http://schemas.openxmlformats.org/officeDocument/2006/relationships/image" Target="../media/image77.wmf"/><Relationship Id="rId32" Type="http://schemas.openxmlformats.org/officeDocument/2006/relationships/image" Target="../media/image80.wmf"/><Relationship Id="rId37" Type="http://schemas.openxmlformats.org/officeDocument/2006/relationships/oleObject" Target="../embeddings/oleObject79.bin"/><Relationship Id="rId5" Type="http://schemas.openxmlformats.org/officeDocument/2006/relationships/image" Target="../media/image67.wmf"/><Relationship Id="rId15" Type="http://schemas.openxmlformats.org/officeDocument/2006/relationships/image" Target="../media/image72.wmf"/><Relationship Id="rId23" Type="http://schemas.openxmlformats.org/officeDocument/2006/relationships/oleObject" Target="../embeddings/oleObject72.bin"/><Relationship Id="rId28" Type="http://schemas.openxmlformats.org/officeDocument/2006/relationships/image" Target="../media/image79.wmf"/><Relationship Id="rId36" Type="http://schemas.openxmlformats.org/officeDocument/2006/relationships/image" Target="../media/image82.wmf"/><Relationship Id="rId10" Type="http://schemas.openxmlformats.org/officeDocument/2006/relationships/oleObject" Target="../embeddings/oleObject66.bin"/><Relationship Id="rId19" Type="http://schemas.openxmlformats.org/officeDocument/2006/relationships/image" Target="../media/image74.wmf"/><Relationship Id="rId31" Type="http://schemas.openxmlformats.org/officeDocument/2006/relationships/oleObject" Target="../embeddings/oleObject76.bin"/><Relationship Id="rId4" Type="http://schemas.openxmlformats.org/officeDocument/2006/relationships/oleObject" Target="../embeddings/oleObject63.bin"/><Relationship Id="rId9" Type="http://schemas.openxmlformats.org/officeDocument/2006/relationships/image" Target="../media/image69.wmf"/><Relationship Id="rId14" Type="http://schemas.openxmlformats.org/officeDocument/2006/relationships/oleObject" Target="../embeddings/oleObject68.bin"/><Relationship Id="rId22" Type="http://schemas.openxmlformats.org/officeDocument/2006/relationships/image" Target="../media/image76.png"/><Relationship Id="rId27" Type="http://schemas.openxmlformats.org/officeDocument/2006/relationships/oleObject" Target="../embeddings/oleObject74.bin"/><Relationship Id="rId30" Type="http://schemas.openxmlformats.org/officeDocument/2006/relationships/oleObject" Target="../embeddings/oleObject75.bin"/><Relationship Id="rId35" Type="http://schemas.openxmlformats.org/officeDocument/2006/relationships/oleObject" Target="../embeddings/oleObject78.bin"/><Relationship Id="rId8" Type="http://schemas.openxmlformats.org/officeDocument/2006/relationships/oleObject" Target="../embeddings/oleObject65.bin"/><Relationship Id="rId3" Type="http://schemas.openxmlformats.org/officeDocument/2006/relationships/image" Target="../media/image40.w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83.bin"/><Relationship Id="rId13" Type="http://schemas.openxmlformats.org/officeDocument/2006/relationships/image" Target="../media/image87.wmf"/><Relationship Id="rId18" Type="http://schemas.openxmlformats.org/officeDocument/2006/relationships/oleObject" Target="../embeddings/oleObject89.bin"/><Relationship Id="rId3" Type="http://schemas.openxmlformats.org/officeDocument/2006/relationships/image" Target="../media/image67.wmf"/><Relationship Id="rId21" Type="http://schemas.openxmlformats.org/officeDocument/2006/relationships/image" Target="../media/image91.wmf"/><Relationship Id="rId7" Type="http://schemas.openxmlformats.org/officeDocument/2006/relationships/image" Target="../media/image85.wmf"/><Relationship Id="rId12" Type="http://schemas.openxmlformats.org/officeDocument/2006/relationships/oleObject" Target="../embeddings/oleObject86.bin"/><Relationship Id="rId17" Type="http://schemas.openxmlformats.org/officeDocument/2006/relationships/image" Target="../media/image89.wmf"/><Relationship Id="rId2" Type="http://schemas.openxmlformats.org/officeDocument/2006/relationships/oleObject" Target="../embeddings/oleObject80.bin"/><Relationship Id="rId16" Type="http://schemas.openxmlformats.org/officeDocument/2006/relationships/oleObject" Target="../embeddings/oleObject88.bin"/><Relationship Id="rId20" Type="http://schemas.openxmlformats.org/officeDocument/2006/relationships/oleObject" Target="../embeddings/oleObject90.bin"/><Relationship Id="rId1" Type="http://schemas.openxmlformats.org/officeDocument/2006/relationships/slideLayout" Target="../slideLayouts/slideLayout1.xml"/><Relationship Id="rId6" Type="http://schemas.openxmlformats.org/officeDocument/2006/relationships/oleObject" Target="../embeddings/oleObject82.bin"/><Relationship Id="rId11" Type="http://schemas.openxmlformats.org/officeDocument/2006/relationships/oleObject" Target="../embeddings/oleObject85.bin"/><Relationship Id="rId5" Type="http://schemas.openxmlformats.org/officeDocument/2006/relationships/image" Target="../media/image84.wmf"/><Relationship Id="rId15" Type="http://schemas.openxmlformats.org/officeDocument/2006/relationships/image" Target="../media/image88.wmf"/><Relationship Id="rId10" Type="http://schemas.openxmlformats.org/officeDocument/2006/relationships/oleObject" Target="../embeddings/oleObject84.bin"/><Relationship Id="rId19" Type="http://schemas.openxmlformats.org/officeDocument/2006/relationships/image" Target="../media/image90.wmf"/><Relationship Id="rId4" Type="http://schemas.openxmlformats.org/officeDocument/2006/relationships/oleObject" Target="../embeddings/oleObject81.bin"/><Relationship Id="rId9" Type="http://schemas.openxmlformats.org/officeDocument/2006/relationships/image" Target="../media/image86.wmf"/><Relationship Id="rId14" Type="http://schemas.openxmlformats.org/officeDocument/2006/relationships/oleObject" Target="../embeddings/oleObject87.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94.bin"/><Relationship Id="rId13" Type="http://schemas.openxmlformats.org/officeDocument/2006/relationships/oleObject" Target="../embeddings/oleObject97.bin"/><Relationship Id="rId3" Type="http://schemas.openxmlformats.org/officeDocument/2006/relationships/image" Target="../media/image92.wmf"/><Relationship Id="rId7" Type="http://schemas.openxmlformats.org/officeDocument/2006/relationships/image" Target="../media/image85.wmf"/><Relationship Id="rId12" Type="http://schemas.openxmlformats.org/officeDocument/2006/relationships/image" Target="../media/image93.wmf"/><Relationship Id="rId2" Type="http://schemas.openxmlformats.org/officeDocument/2006/relationships/oleObject" Target="../embeddings/oleObject91.bin"/><Relationship Id="rId16" Type="http://schemas.openxmlformats.org/officeDocument/2006/relationships/oleObject" Target="../embeddings/oleObject100.bin"/><Relationship Id="rId1" Type="http://schemas.openxmlformats.org/officeDocument/2006/relationships/slideLayout" Target="../slideLayouts/slideLayout1.xml"/><Relationship Id="rId6" Type="http://schemas.openxmlformats.org/officeDocument/2006/relationships/oleObject" Target="../embeddings/oleObject93.bin"/><Relationship Id="rId11" Type="http://schemas.openxmlformats.org/officeDocument/2006/relationships/oleObject" Target="../embeddings/oleObject96.bin"/><Relationship Id="rId5" Type="http://schemas.openxmlformats.org/officeDocument/2006/relationships/image" Target="../media/image84.wmf"/><Relationship Id="rId15" Type="http://schemas.openxmlformats.org/officeDocument/2006/relationships/oleObject" Target="../embeddings/oleObject99.bin"/><Relationship Id="rId10" Type="http://schemas.openxmlformats.org/officeDocument/2006/relationships/oleObject" Target="../embeddings/oleObject95.bin"/><Relationship Id="rId4" Type="http://schemas.openxmlformats.org/officeDocument/2006/relationships/oleObject" Target="../embeddings/oleObject92.bin"/><Relationship Id="rId9" Type="http://schemas.openxmlformats.org/officeDocument/2006/relationships/image" Target="../media/image86.wmf"/><Relationship Id="rId14" Type="http://schemas.openxmlformats.org/officeDocument/2006/relationships/oleObject" Target="../embeddings/oleObject98.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04.bin"/><Relationship Id="rId13" Type="http://schemas.openxmlformats.org/officeDocument/2006/relationships/image" Target="../media/image99.wmf"/><Relationship Id="rId18" Type="http://schemas.openxmlformats.org/officeDocument/2006/relationships/oleObject" Target="../embeddings/oleObject109.bin"/><Relationship Id="rId3" Type="http://schemas.openxmlformats.org/officeDocument/2006/relationships/image" Target="../media/image94.wmf"/><Relationship Id="rId21" Type="http://schemas.openxmlformats.org/officeDocument/2006/relationships/image" Target="../media/image103.wmf"/><Relationship Id="rId7" Type="http://schemas.openxmlformats.org/officeDocument/2006/relationships/image" Target="../media/image96.wmf"/><Relationship Id="rId12" Type="http://schemas.openxmlformats.org/officeDocument/2006/relationships/oleObject" Target="../embeddings/oleObject106.bin"/><Relationship Id="rId17" Type="http://schemas.openxmlformats.org/officeDocument/2006/relationships/image" Target="../media/image101.wmf"/><Relationship Id="rId25" Type="http://schemas.openxmlformats.org/officeDocument/2006/relationships/image" Target="../media/image105.wmf"/><Relationship Id="rId2" Type="http://schemas.openxmlformats.org/officeDocument/2006/relationships/oleObject" Target="../embeddings/oleObject101.bin"/><Relationship Id="rId16" Type="http://schemas.openxmlformats.org/officeDocument/2006/relationships/oleObject" Target="../embeddings/oleObject108.bin"/><Relationship Id="rId20" Type="http://schemas.openxmlformats.org/officeDocument/2006/relationships/oleObject" Target="../embeddings/oleObject110.bin"/><Relationship Id="rId1" Type="http://schemas.openxmlformats.org/officeDocument/2006/relationships/slideLayout" Target="../slideLayouts/slideLayout1.xml"/><Relationship Id="rId6" Type="http://schemas.openxmlformats.org/officeDocument/2006/relationships/oleObject" Target="../embeddings/oleObject103.bin"/><Relationship Id="rId11" Type="http://schemas.openxmlformats.org/officeDocument/2006/relationships/image" Target="../media/image98.wmf"/><Relationship Id="rId24" Type="http://schemas.openxmlformats.org/officeDocument/2006/relationships/oleObject" Target="../embeddings/oleObject112.bin"/><Relationship Id="rId5" Type="http://schemas.openxmlformats.org/officeDocument/2006/relationships/image" Target="../media/image95.wmf"/><Relationship Id="rId15" Type="http://schemas.openxmlformats.org/officeDocument/2006/relationships/image" Target="../media/image100.wmf"/><Relationship Id="rId23" Type="http://schemas.openxmlformats.org/officeDocument/2006/relationships/image" Target="../media/image104.wmf"/><Relationship Id="rId10" Type="http://schemas.openxmlformats.org/officeDocument/2006/relationships/oleObject" Target="../embeddings/oleObject105.bin"/><Relationship Id="rId19" Type="http://schemas.openxmlformats.org/officeDocument/2006/relationships/image" Target="../media/image102.wmf"/><Relationship Id="rId4" Type="http://schemas.openxmlformats.org/officeDocument/2006/relationships/oleObject" Target="../embeddings/oleObject102.bin"/><Relationship Id="rId9" Type="http://schemas.openxmlformats.org/officeDocument/2006/relationships/image" Target="../media/image97.wmf"/><Relationship Id="rId14" Type="http://schemas.openxmlformats.org/officeDocument/2006/relationships/oleObject" Target="../embeddings/oleObject107.bin"/><Relationship Id="rId22" Type="http://schemas.openxmlformats.org/officeDocument/2006/relationships/oleObject" Target="../embeddings/oleObject111.bin"/></Relationships>
</file>

<file path=ppt/slides/_rels/slide16.xml.rels><?xml version="1.0" encoding="UTF-8" standalone="yes"?>
<Relationships xmlns="http://schemas.openxmlformats.org/package/2006/relationships"><Relationship Id="rId13" Type="http://schemas.openxmlformats.org/officeDocument/2006/relationships/image" Target="../media/image111.png"/><Relationship Id="rId18" Type="http://schemas.openxmlformats.org/officeDocument/2006/relationships/oleObject" Target="../embeddings/oleObject120.bin"/><Relationship Id="rId26" Type="http://schemas.openxmlformats.org/officeDocument/2006/relationships/oleObject" Target="../embeddings/oleObject124.bin"/><Relationship Id="rId3" Type="http://schemas.openxmlformats.org/officeDocument/2006/relationships/image" Target="../media/image106.wmf"/><Relationship Id="rId21" Type="http://schemas.openxmlformats.org/officeDocument/2006/relationships/image" Target="../media/image115.wmf"/><Relationship Id="rId34" Type="http://schemas.openxmlformats.org/officeDocument/2006/relationships/image" Target="../media/image120.wmf"/><Relationship Id="rId7" Type="http://schemas.openxmlformats.org/officeDocument/2006/relationships/oleObject" Target="../embeddings/oleObject115.bin"/><Relationship Id="rId12" Type="http://schemas.openxmlformats.org/officeDocument/2006/relationships/image" Target="../media/image110.wmf"/><Relationship Id="rId17" Type="http://schemas.openxmlformats.org/officeDocument/2006/relationships/image" Target="../media/image113.wmf"/><Relationship Id="rId25" Type="http://schemas.openxmlformats.org/officeDocument/2006/relationships/image" Target="../media/image117.wmf"/><Relationship Id="rId33" Type="http://schemas.openxmlformats.org/officeDocument/2006/relationships/oleObject" Target="../embeddings/oleObject126.bin"/><Relationship Id="rId2" Type="http://schemas.openxmlformats.org/officeDocument/2006/relationships/oleObject" Target="../embeddings/oleObject113.bin"/><Relationship Id="rId16" Type="http://schemas.openxmlformats.org/officeDocument/2006/relationships/oleObject" Target="../embeddings/oleObject119.bin"/><Relationship Id="rId20" Type="http://schemas.openxmlformats.org/officeDocument/2006/relationships/oleObject" Target="../embeddings/oleObject121.bin"/><Relationship Id="rId29" Type="http://schemas.openxmlformats.org/officeDocument/2006/relationships/image" Target="../media/image119.wmf"/><Relationship Id="rId1" Type="http://schemas.openxmlformats.org/officeDocument/2006/relationships/slideLayout" Target="../slideLayouts/slideLayout1.xml"/><Relationship Id="rId6" Type="http://schemas.openxmlformats.org/officeDocument/2006/relationships/slide" Target="slide19.xml"/><Relationship Id="rId11" Type="http://schemas.openxmlformats.org/officeDocument/2006/relationships/oleObject" Target="../embeddings/oleObject117.bin"/><Relationship Id="rId24" Type="http://schemas.openxmlformats.org/officeDocument/2006/relationships/oleObject" Target="../embeddings/oleObject123.bin"/><Relationship Id="rId32" Type="http://schemas.openxmlformats.org/officeDocument/2006/relationships/slide" Target="slide21.xml"/><Relationship Id="rId5" Type="http://schemas.openxmlformats.org/officeDocument/2006/relationships/image" Target="../media/image107.wmf"/><Relationship Id="rId15" Type="http://schemas.openxmlformats.org/officeDocument/2006/relationships/image" Target="../media/image112.wmf"/><Relationship Id="rId23" Type="http://schemas.openxmlformats.org/officeDocument/2006/relationships/image" Target="../media/image116.wmf"/><Relationship Id="rId28" Type="http://schemas.openxmlformats.org/officeDocument/2006/relationships/oleObject" Target="../embeddings/oleObject125.bin"/><Relationship Id="rId36" Type="http://schemas.openxmlformats.org/officeDocument/2006/relationships/image" Target="../media/image121.wmf"/><Relationship Id="rId10" Type="http://schemas.openxmlformats.org/officeDocument/2006/relationships/image" Target="../media/image109.wmf"/><Relationship Id="rId19" Type="http://schemas.openxmlformats.org/officeDocument/2006/relationships/image" Target="../media/image114.wmf"/><Relationship Id="rId31" Type="http://schemas.openxmlformats.org/officeDocument/2006/relationships/chart" Target="../charts/chart2.xml"/><Relationship Id="rId4" Type="http://schemas.openxmlformats.org/officeDocument/2006/relationships/oleObject" Target="../embeddings/oleObject114.bin"/><Relationship Id="rId9" Type="http://schemas.openxmlformats.org/officeDocument/2006/relationships/oleObject" Target="../embeddings/oleObject116.bin"/><Relationship Id="rId14" Type="http://schemas.openxmlformats.org/officeDocument/2006/relationships/oleObject" Target="../embeddings/oleObject118.bin"/><Relationship Id="rId22" Type="http://schemas.openxmlformats.org/officeDocument/2006/relationships/oleObject" Target="../embeddings/oleObject122.bin"/><Relationship Id="rId27" Type="http://schemas.openxmlformats.org/officeDocument/2006/relationships/image" Target="../media/image118.wmf"/><Relationship Id="rId30" Type="http://schemas.openxmlformats.org/officeDocument/2006/relationships/chart" Target="../charts/chart1.xml"/><Relationship Id="rId35" Type="http://schemas.openxmlformats.org/officeDocument/2006/relationships/oleObject" Target="../embeddings/oleObject127.bin"/><Relationship Id="rId8" Type="http://schemas.openxmlformats.org/officeDocument/2006/relationships/image" Target="../media/image108.wmf"/></Relationships>
</file>

<file path=ppt/slides/_rels/slide17.xml.rels><?xml version="1.0" encoding="UTF-8" standalone="yes"?>
<Relationships xmlns="http://schemas.openxmlformats.org/package/2006/relationships"><Relationship Id="rId13" Type="http://schemas.openxmlformats.org/officeDocument/2006/relationships/oleObject" Target="../embeddings/oleObject133.bin"/><Relationship Id="rId18" Type="http://schemas.openxmlformats.org/officeDocument/2006/relationships/oleObject" Target="../embeddings/oleObject135.bin"/><Relationship Id="rId26" Type="http://schemas.openxmlformats.org/officeDocument/2006/relationships/oleObject" Target="../embeddings/oleObject125.bin"/><Relationship Id="rId21" Type="http://schemas.openxmlformats.org/officeDocument/2006/relationships/image" Target="../media/image129.wmf"/><Relationship Id="rId34" Type="http://schemas.openxmlformats.org/officeDocument/2006/relationships/oleObject" Target="../embeddings/oleObject126.bin"/><Relationship Id="rId7" Type="http://schemas.openxmlformats.org/officeDocument/2006/relationships/oleObject" Target="../embeddings/oleObject130.bin"/><Relationship Id="rId12" Type="http://schemas.openxmlformats.org/officeDocument/2006/relationships/image" Target="../media/image125.wmf"/><Relationship Id="rId17" Type="http://schemas.openxmlformats.org/officeDocument/2006/relationships/slide" Target="slide19.xml"/><Relationship Id="rId25" Type="http://schemas.openxmlformats.org/officeDocument/2006/relationships/image" Target="../media/image130.wmf"/><Relationship Id="rId33" Type="http://schemas.openxmlformats.org/officeDocument/2006/relationships/image" Target="../media/image132.wmf"/><Relationship Id="rId2" Type="http://schemas.openxmlformats.org/officeDocument/2006/relationships/oleObject" Target="../embeddings/oleObject128.bin"/><Relationship Id="rId16" Type="http://schemas.openxmlformats.org/officeDocument/2006/relationships/image" Target="../media/image127.wmf"/><Relationship Id="rId20" Type="http://schemas.openxmlformats.org/officeDocument/2006/relationships/oleObject" Target="../embeddings/oleObject136.bin"/><Relationship Id="rId29" Type="http://schemas.openxmlformats.org/officeDocument/2006/relationships/oleObject" Target="../embeddings/oleObject138.bin"/><Relationship Id="rId1" Type="http://schemas.openxmlformats.org/officeDocument/2006/relationships/slideLayout" Target="../slideLayouts/slideLayout1.xml"/><Relationship Id="rId6" Type="http://schemas.openxmlformats.org/officeDocument/2006/relationships/image" Target="../media/image110.wmf"/><Relationship Id="rId11" Type="http://schemas.openxmlformats.org/officeDocument/2006/relationships/oleObject" Target="../embeddings/oleObject132.bin"/><Relationship Id="rId24" Type="http://schemas.openxmlformats.org/officeDocument/2006/relationships/oleObject" Target="../embeddings/oleObject137.bin"/><Relationship Id="rId32" Type="http://schemas.openxmlformats.org/officeDocument/2006/relationships/oleObject" Target="../embeddings/oleObject139.bin"/><Relationship Id="rId37" Type="http://schemas.openxmlformats.org/officeDocument/2006/relationships/image" Target="../media/image121.wmf"/><Relationship Id="rId5" Type="http://schemas.openxmlformats.org/officeDocument/2006/relationships/oleObject" Target="../embeddings/oleObject129.bin"/><Relationship Id="rId15" Type="http://schemas.openxmlformats.org/officeDocument/2006/relationships/oleObject" Target="../embeddings/oleObject134.bin"/><Relationship Id="rId23" Type="http://schemas.openxmlformats.org/officeDocument/2006/relationships/image" Target="../media/image116.wmf"/><Relationship Id="rId28" Type="http://schemas.openxmlformats.org/officeDocument/2006/relationships/image" Target="../media/image26.png"/><Relationship Id="rId36" Type="http://schemas.openxmlformats.org/officeDocument/2006/relationships/oleObject" Target="../embeddings/oleObject127.bin"/><Relationship Id="rId10" Type="http://schemas.openxmlformats.org/officeDocument/2006/relationships/image" Target="../media/image124.wmf"/><Relationship Id="rId19" Type="http://schemas.openxmlformats.org/officeDocument/2006/relationships/image" Target="../media/image128.wmf"/><Relationship Id="rId31" Type="http://schemas.openxmlformats.org/officeDocument/2006/relationships/image" Target="../media/image27.png"/><Relationship Id="rId4" Type="http://schemas.openxmlformats.org/officeDocument/2006/relationships/slide" Target="slide21.xml"/><Relationship Id="rId9" Type="http://schemas.openxmlformats.org/officeDocument/2006/relationships/oleObject" Target="../embeddings/oleObject131.bin"/><Relationship Id="rId14" Type="http://schemas.openxmlformats.org/officeDocument/2006/relationships/image" Target="../media/image126.wmf"/><Relationship Id="rId22" Type="http://schemas.openxmlformats.org/officeDocument/2006/relationships/oleObject" Target="../embeddings/oleObject122.bin"/><Relationship Id="rId27" Type="http://schemas.openxmlformats.org/officeDocument/2006/relationships/image" Target="../media/image119.wmf"/><Relationship Id="rId30" Type="http://schemas.openxmlformats.org/officeDocument/2006/relationships/image" Target="../media/image131.wmf"/><Relationship Id="rId35" Type="http://schemas.openxmlformats.org/officeDocument/2006/relationships/image" Target="../media/image120.wmf"/><Relationship Id="rId8" Type="http://schemas.openxmlformats.org/officeDocument/2006/relationships/image" Target="../media/image123.wmf"/><Relationship Id="rId3" Type="http://schemas.openxmlformats.org/officeDocument/2006/relationships/image" Target="../media/image122.wmf"/></Relationships>
</file>

<file path=ppt/slides/_rels/slide18.xml.rels><?xml version="1.0" encoding="UTF-8" standalone="yes"?>
<Relationships xmlns="http://schemas.openxmlformats.org/package/2006/relationships"><Relationship Id="rId13" Type="http://schemas.openxmlformats.org/officeDocument/2006/relationships/oleObject" Target="../embeddings/oleObject145.bin"/><Relationship Id="rId18" Type="http://schemas.openxmlformats.org/officeDocument/2006/relationships/oleObject" Target="../embeddings/oleObject147.bin"/><Relationship Id="rId26" Type="http://schemas.openxmlformats.org/officeDocument/2006/relationships/oleObject" Target="../embeddings/oleObject151.bin"/><Relationship Id="rId39" Type="http://schemas.openxmlformats.org/officeDocument/2006/relationships/image" Target="../media/image85.wmf"/><Relationship Id="rId21" Type="http://schemas.openxmlformats.org/officeDocument/2006/relationships/image" Target="../media/image141.wmf"/><Relationship Id="rId34" Type="http://schemas.openxmlformats.org/officeDocument/2006/relationships/oleObject" Target="../embeddings/oleObject155.bin"/><Relationship Id="rId42" Type="http://schemas.openxmlformats.org/officeDocument/2006/relationships/oleObject" Target="../embeddings/oleObject159.bin"/><Relationship Id="rId47" Type="http://schemas.openxmlformats.org/officeDocument/2006/relationships/image" Target="../media/image151.wmf"/><Relationship Id="rId50" Type="http://schemas.openxmlformats.org/officeDocument/2006/relationships/oleObject" Target="../embeddings/oleObject163.bin"/><Relationship Id="rId55" Type="http://schemas.openxmlformats.org/officeDocument/2006/relationships/image" Target="../media/image155.wmf"/><Relationship Id="rId7" Type="http://schemas.openxmlformats.org/officeDocument/2006/relationships/image" Target="../media/image135.wmf"/><Relationship Id="rId2" Type="http://schemas.openxmlformats.org/officeDocument/2006/relationships/oleObject" Target="../embeddings/oleObject140.bin"/><Relationship Id="rId16" Type="http://schemas.openxmlformats.org/officeDocument/2006/relationships/oleObject" Target="../embeddings/oleObject146.bin"/><Relationship Id="rId29" Type="http://schemas.openxmlformats.org/officeDocument/2006/relationships/image" Target="../media/image145.wmf"/><Relationship Id="rId11" Type="http://schemas.openxmlformats.org/officeDocument/2006/relationships/oleObject" Target="../embeddings/oleObject144.bin"/><Relationship Id="rId24" Type="http://schemas.openxmlformats.org/officeDocument/2006/relationships/oleObject" Target="../embeddings/oleObject150.bin"/><Relationship Id="rId32" Type="http://schemas.openxmlformats.org/officeDocument/2006/relationships/oleObject" Target="../embeddings/oleObject154.bin"/><Relationship Id="rId37" Type="http://schemas.openxmlformats.org/officeDocument/2006/relationships/image" Target="../media/image84.wmf"/><Relationship Id="rId40" Type="http://schemas.openxmlformats.org/officeDocument/2006/relationships/oleObject" Target="../embeddings/oleObject158.bin"/><Relationship Id="rId45" Type="http://schemas.openxmlformats.org/officeDocument/2006/relationships/image" Target="../media/image150.wmf"/><Relationship Id="rId53" Type="http://schemas.openxmlformats.org/officeDocument/2006/relationships/image" Target="../media/image154.wmf"/><Relationship Id="rId5" Type="http://schemas.openxmlformats.org/officeDocument/2006/relationships/image" Target="../media/image134.wmf"/><Relationship Id="rId10" Type="http://schemas.openxmlformats.org/officeDocument/2006/relationships/slide" Target="slide19.xml"/><Relationship Id="rId19" Type="http://schemas.openxmlformats.org/officeDocument/2006/relationships/image" Target="../media/image140.wmf"/><Relationship Id="rId31" Type="http://schemas.openxmlformats.org/officeDocument/2006/relationships/image" Target="../media/image146.wmf"/><Relationship Id="rId44" Type="http://schemas.openxmlformats.org/officeDocument/2006/relationships/oleObject" Target="../embeddings/oleObject160.bin"/><Relationship Id="rId52" Type="http://schemas.openxmlformats.org/officeDocument/2006/relationships/oleObject" Target="../embeddings/oleObject164.bin"/><Relationship Id="rId4" Type="http://schemas.openxmlformats.org/officeDocument/2006/relationships/oleObject" Target="../embeddings/oleObject141.bin"/><Relationship Id="rId9" Type="http://schemas.openxmlformats.org/officeDocument/2006/relationships/image" Target="../media/image136.wmf"/><Relationship Id="rId14" Type="http://schemas.openxmlformats.org/officeDocument/2006/relationships/image" Target="../media/image138.wmf"/><Relationship Id="rId22" Type="http://schemas.openxmlformats.org/officeDocument/2006/relationships/oleObject" Target="../embeddings/oleObject149.bin"/><Relationship Id="rId27" Type="http://schemas.openxmlformats.org/officeDocument/2006/relationships/image" Target="../media/image144.wmf"/><Relationship Id="rId30" Type="http://schemas.openxmlformats.org/officeDocument/2006/relationships/oleObject" Target="../embeddings/oleObject153.bin"/><Relationship Id="rId35" Type="http://schemas.openxmlformats.org/officeDocument/2006/relationships/image" Target="../media/image148.wmf"/><Relationship Id="rId43" Type="http://schemas.openxmlformats.org/officeDocument/2006/relationships/image" Target="../media/image149.wmf"/><Relationship Id="rId48" Type="http://schemas.openxmlformats.org/officeDocument/2006/relationships/oleObject" Target="../embeddings/oleObject162.bin"/><Relationship Id="rId8" Type="http://schemas.openxmlformats.org/officeDocument/2006/relationships/oleObject" Target="../embeddings/oleObject143.bin"/><Relationship Id="rId51" Type="http://schemas.openxmlformats.org/officeDocument/2006/relationships/image" Target="../media/image153.wmf"/><Relationship Id="rId3" Type="http://schemas.openxmlformats.org/officeDocument/2006/relationships/image" Target="../media/image133.wmf"/><Relationship Id="rId12" Type="http://schemas.openxmlformats.org/officeDocument/2006/relationships/image" Target="../media/image137.wmf"/><Relationship Id="rId17" Type="http://schemas.openxmlformats.org/officeDocument/2006/relationships/image" Target="../media/image139.wmf"/><Relationship Id="rId25" Type="http://schemas.openxmlformats.org/officeDocument/2006/relationships/image" Target="../media/image143.wmf"/><Relationship Id="rId33" Type="http://schemas.openxmlformats.org/officeDocument/2006/relationships/image" Target="../media/image147.wmf"/><Relationship Id="rId38" Type="http://schemas.openxmlformats.org/officeDocument/2006/relationships/oleObject" Target="../embeddings/oleObject157.bin"/><Relationship Id="rId46" Type="http://schemas.openxmlformats.org/officeDocument/2006/relationships/oleObject" Target="../embeddings/oleObject161.bin"/><Relationship Id="rId20" Type="http://schemas.openxmlformats.org/officeDocument/2006/relationships/oleObject" Target="../embeddings/oleObject148.bin"/><Relationship Id="rId41" Type="http://schemas.openxmlformats.org/officeDocument/2006/relationships/image" Target="../media/image86.wmf"/><Relationship Id="rId54" Type="http://schemas.openxmlformats.org/officeDocument/2006/relationships/oleObject" Target="../embeddings/oleObject165.bin"/><Relationship Id="rId1" Type="http://schemas.openxmlformats.org/officeDocument/2006/relationships/slideLayout" Target="../slideLayouts/slideLayout1.xml"/><Relationship Id="rId6" Type="http://schemas.openxmlformats.org/officeDocument/2006/relationships/oleObject" Target="../embeddings/oleObject142.bin"/><Relationship Id="rId15" Type="http://schemas.openxmlformats.org/officeDocument/2006/relationships/slide" Target="slide21.xml"/><Relationship Id="rId23" Type="http://schemas.openxmlformats.org/officeDocument/2006/relationships/image" Target="../media/image142.wmf"/><Relationship Id="rId28" Type="http://schemas.openxmlformats.org/officeDocument/2006/relationships/oleObject" Target="../embeddings/oleObject152.bin"/><Relationship Id="rId36" Type="http://schemas.openxmlformats.org/officeDocument/2006/relationships/oleObject" Target="../embeddings/oleObject156.bin"/><Relationship Id="rId49" Type="http://schemas.openxmlformats.org/officeDocument/2006/relationships/image" Target="../media/image152.w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69.bin"/><Relationship Id="rId13" Type="http://schemas.openxmlformats.org/officeDocument/2006/relationships/oleObject" Target="../embeddings/oleObject171.bin"/><Relationship Id="rId18" Type="http://schemas.openxmlformats.org/officeDocument/2006/relationships/image" Target="../media/image63.wmf"/><Relationship Id="rId26" Type="http://schemas.openxmlformats.org/officeDocument/2006/relationships/image" Target="../media/image166.wmf"/><Relationship Id="rId3" Type="http://schemas.openxmlformats.org/officeDocument/2006/relationships/image" Target="../media/image156.wmf"/><Relationship Id="rId21" Type="http://schemas.openxmlformats.org/officeDocument/2006/relationships/oleObject" Target="../embeddings/oleObject175.bin"/><Relationship Id="rId7" Type="http://schemas.openxmlformats.org/officeDocument/2006/relationships/image" Target="../media/image158.wmf"/><Relationship Id="rId12" Type="http://schemas.openxmlformats.org/officeDocument/2006/relationships/image" Target="../media/image161.wmf"/><Relationship Id="rId17" Type="http://schemas.openxmlformats.org/officeDocument/2006/relationships/oleObject" Target="../embeddings/oleObject173.bin"/><Relationship Id="rId25" Type="http://schemas.openxmlformats.org/officeDocument/2006/relationships/oleObject" Target="../embeddings/oleObject177.bin"/><Relationship Id="rId2" Type="http://schemas.openxmlformats.org/officeDocument/2006/relationships/oleObject" Target="../embeddings/oleObject166.bin"/><Relationship Id="rId16" Type="http://schemas.openxmlformats.org/officeDocument/2006/relationships/image" Target="../media/image163.wmf"/><Relationship Id="rId20" Type="http://schemas.openxmlformats.org/officeDocument/2006/relationships/image" Target="../media/image65.wmf"/><Relationship Id="rId29" Type="http://schemas.openxmlformats.org/officeDocument/2006/relationships/oleObject" Target="../embeddings/oleObject179.bin"/><Relationship Id="rId1" Type="http://schemas.openxmlformats.org/officeDocument/2006/relationships/slideLayout" Target="../slideLayouts/slideLayout1.xml"/><Relationship Id="rId6" Type="http://schemas.openxmlformats.org/officeDocument/2006/relationships/oleObject" Target="../embeddings/oleObject168.bin"/><Relationship Id="rId11" Type="http://schemas.openxmlformats.org/officeDocument/2006/relationships/oleObject" Target="../embeddings/oleObject170.bin"/><Relationship Id="rId24" Type="http://schemas.openxmlformats.org/officeDocument/2006/relationships/image" Target="../media/image165.wmf"/><Relationship Id="rId5" Type="http://schemas.openxmlformats.org/officeDocument/2006/relationships/image" Target="../media/image157.wmf"/><Relationship Id="rId15" Type="http://schemas.openxmlformats.org/officeDocument/2006/relationships/oleObject" Target="../embeddings/oleObject172.bin"/><Relationship Id="rId23" Type="http://schemas.openxmlformats.org/officeDocument/2006/relationships/oleObject" Target="../embeddings/oleObject176.bin"/><Relationship Id="rId28" Type="http://schemas.openxmlformats.org/officeDocument/2006/relationships/image" Target="../media/image167.wmf"/><Relationship Id="rId10" Type="http://schemas.openxmlformats.org/officeDocument/2006/relationships/image" Target="../media/image160.png"/><Relationship Id="rId19" Type="http://schemas.openxmlformats.org/officeDocument/2006/relationships/oleObject" Target="../embeddings/oleObject174.bin"/><Relationship Id="rId4" Type="http://schemas.openxmlformats.org/officeDocument/2006/relationships/oleObject" Target="../embeddings/oleObject167.bin"/><Relationship Id="rId9" Type="http://schemas.openxmlformats.org/officeDocument/2006/relationships/image" Target="../media/image159.wmf"/><Relationship Id="rId14" Type="http://schemas.openxmlformats.org/officeDocument/2006/relationships/image" Target="../media/image162.wmf"/><Relationship Id="rId22" Type="http://schemas.openxmlformats.org/officeDocument/2006/relationships/image" Target="../media/image164.wmf"/><Relationship Id="rId27" Type="http://schemas.openxmlformats.org/officeDocument/2006/relationships/oleObject" Target="../embeddings/oleObject178.bin"/><Relationship Id="rId30" Type="http://schemas.openxmlformats.org/officeDocument/2006/relationships/image" Target="../media/image168.wmf"/></Relationships>
</file>

<file path=ppt/slides/_rels/slide20.xml.rels><?xml version="1.0" encoding="UTF-8" standalone="yes"?>
<Relationships xmlns="http://schemas.openxmlformats.org/package/2006/relationships"><Relationship Id="rId8" Type="http://schemas.openxmlformats.org/officeDocument/2006/relationships/slide" Target="slide19.xml"/><Relationship Id="rId13" Type="http://schemas.openxmlformats.org/officeDocument/2006/relationships/slide" Target="slide21.xml"/><Relationship Id="rId18" Type="http://schemas.openxmlformats.org/officeDocument/2006/relationships/oleObject" Target="../embeddings/oleObject186.bin"/><Relationship Id="rId3" Type="http://schemas.openxmlformats.org/officeDocument/2006/relationships/image" Target="../media/image169.png"/><Relationship Id="rId21" Type="http://schemas.openxmlformats.org/officeDocument/2006/relationships/image" Target="../media/image177.wmf"/><Relationship Id="rId7" Type="http://schemas.openxmlformats.org/officeDocument/2006/relationships/image" Target="../media/image171.wmf"/><Relationship Id="rId12" Type="http://schemas.openxmlformats.org/officeDocument/2006/relationships/image" Target="../media/image173.wmf"/><Relationship Id="rId17" Type="http://schemas.openxmlformats.org/officeDocument/2006/relationships/image" Target="../media/image175.wmf"/><Relationship Id="rId2" Type="http://schemas.openxmlformats.org/officeDocument/2006/relationships/notesSlide" Target="../notesSlides/notesSlide4.xml"/><Relationship Id="rId16" Type="http://schemas.openxmlformats.org/officeDocument/2006/relationships/oleObject" Target="../embeddings/oleObject185.bin"/><Relationship Id="rId20" Type="http://schemas.openxmlformats.org/officeDocument/2006/relationships/oleObject" Target="../embeddings/oleObject187.bin"/><Relationship Id="rId1" Type="http://schemas.openxmlformats.org/officeDocument/2006/relationships/slideLayout" Target="../slideLayouts/slideLayout1.xml"/><Relationship Id="rId6" Type="http://schemas.openxmlformats.org/officeDocument/2006/relationships/oleObject" Target="../embeddings/oleObject181.bin"/><Relationship Id="rId11" Type="http://schemas.openxmlformats.org/officeDocument/2006/relationships/oleObject" Target="../embeddings/oleObject183.bin"/><Relationship Id="rId5" Type="http://schemas.openxmlformats.org/officeDocument/2006/relationships/image" Target="../media/image170.wmf"/><Relationship Id="rId15" Type="http://schemas.openxmlformats.org/officeDocument/2006/relationships/image" Target="../media/image174.wmf"/><Relationship Id="rId10" Type="http://schemas.openxmlformats.org/officeDocument/2006/relationships/image" Target="../media/image172.wmf"/><Relationship Id="rId19" Type="http://schemas.openxmlformats.org/officeDocument/2006/relationships/image" Target="../media/image176.wmf"/><Relationship Id="rId4" Type="http://schemas.openxmlformats.org/officeDocument/2006/relationships/oleObject" Target="../embeddings/oleObject180.bin"/><Relationship Id="rId9" Type="http://schemas.openxmlformats.org/officeDocument/2006/relationships/oleObject" Target="../embeddings/oleObject182.bin"/><Relationship Id="rId14" Type="http://schemas.openxmlformats.org/officeDocument/2006/relationships/oleObject" Target="../embeddings/oleObject184.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91.bin"/><Relationship Id="rId13" Type="http://schemas.openxmlformats.org/officeDocument/2006/relationships/image" Target="../media/image183.wmf"/><Relationship Id="rId18" Type="http://schemas.openxmlformats.org/officeDocument/2006/relationships/oleObject" Target="../embeddings/oleObject196.bin"/><Relationship Id="rId3" Type="http://schemas.openxmlformats.org/officeDocument/2006/relationships/image" Target="../media/image178.wmf"/><Relationship Id="rId21" Type="http://schemas.openxmlformats.org/officeDocument/2006/relationships/image" Target="../media/image187.wmf"/><Relationship Id="rId7" Type="http://schemas.openxmlformats.org/officeDocument/2006/relationships/image" Target="../media/image180.wmf"/><Relationship Id="rId12" Type="http://schemas.openxmlformats.org/officeDocument/2006/relationships/oleObject" Target="../embeddings/oleObject193.bin"/><Relationship Id="rId17" Type="http://schemas.openxmlformats.org/officeDocument/2006/relationships/image" Target="../media/image185.wmf"/><Relationship Id="rId2" Type="http://schemas.openxmlformats.org/officeDocument/2006/relationships/oleObject" Target="../embeddings/oleObject188.bin"/><Relationship Id="rId16" Type="http://schemas.openxmlformats.org/officeDocument/2006/relationships/oleObject" Target="../embeddings/oleObject195.bin"/><Relationship Id="rId20" Type="http://schemas.openxmlformats.org/officeDocument/2006/relationships/oleObject" Target="../embeddings/oleObject197.bin"/><Relationship Id="rId1" Type="http://schemas.openxmlformats.org/officeDocument/2006/relationships/slideLayout" Target="../slideLayouts/slideLayout1.xml"/><Relationship Id="rId6" Type="http://schemas.openxmlformats.org/officeDocument/2006/relationships/oleObject" Target="../embeddings/oleObject190.bin"/><Relationship Id="rId11" Type="http://schemas.openxmlformats.org/officeDocument/2006/relationships/image" Target="../media/image182.wmf"/><Relationship Id="rId5" Type="http://schemas.openxmlformats.org/officeDocument/2006/relationships/image" Target="../media/image179.wmf"/><Relationship Id="rId15" Type="http://schemas.openxmlformats.org/officeDocument/2006/relationships/image" Target="../media/image184.wmf"/><Relationship Id="rId10" Type="http://schemas.openxmlformats.org/officeDocument/2006/relationships/oleObject" Target="../embeddings/oleObject192.bin"/><Relationship Id="rId19" Type="http://schemas.openxmlformats.org/officeDocument/2006/relationships/image" Target="../media/image186.wmf"/><Relationship Id="rId4" Type="http://schemas.openxmlformats.org/officeDocument/2006/relationships/oleObject" Target="../embeddings/oleObject189.bin"/><Relationship Id="rId9" Type="http://schemas.openxmlformats.org/officeDocument/2006/relationships/image" Target="../media/image181.wmf"/><Relationship Id="rId14" Type="http://schemas.openxmlformats.org/officeDocument/2006/relationships/oleObject" Target="../embeddings/oleObject194.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201.bin"/><Relationship Id="rId13" Type="http://schemas.openxmlformats.org/officeDocument/2006/relationships/image" Target="../media/image193.wmf"/><Relationship Id="rId3" Type="http://schemas.openxmlformats.org/officeDocument/2006/relationships/image" Target="../media/image188.wmf"/><Relationship Id="rId7" Type="http://schemas.openxmlformats.org/officeDocument/2006/relationships/image" Target="../media/image190.wmf"/><Relationship Id="rId12" Type="http://schemas.openxmlformats.org/officeDocument/2006/relationships/oleObject" Target="../embeddings/oleObject203.bin"/><Relationship Id="rId17" Type="http://schemas.openxmlformats.org/officeDocument/2006/relationships/image" Target="../media/image195.wmf"/><Relationship Id="rId2" Type="http://schemas.openxmlformats.org/officeDocument/2006/relationships/oleObject" Target="../embeddings/oleObject198.bin"/><Relationship Id="rId16" Type="http://schemas.openxmlformats.org/officeDocument/2006/relationships/oleObject" Target="../embeddings/oleObject205.bin"/><Relationship Id="rId1" Type="http://schemas.openxmlformats.org/officeDocument/2006/relationships/slideLayout" Target="../slideLayouts/slideLayout1.xml"/><Relationship Id="rId6" Type="http://schemas.openxmlformats.org/officeDocument/2006/relationships/oleObject" Target="../embeddings/oleObject200.bin"/><Relationship Id="rId11" Type="http://schemas.openxmlformats.org/officeDocument/2006/relationships/image" Target="../media/image192.wmf"/><Relationship Id="rId5" Type="http://schemas.openxmlformats.org/officeDocument/2006/relationships/image" Target="../media/image189.wmf"/><Relationship Id="rId15" Type="http://schemas.openxmlformats.org/officeDocument/2006/relationships/image" Target="../media/image194.wmf"/><Relationship Id="rId10" Type="http://schemas.openxmlformats.org/officeDocument/2006/relationships/oleObject" Target="../embeddings/oleObject202.bin"/><Relationship Id="rId4" Type="http://schemas.openxmlformats.org/officeDocument/2006/relationships/oleObject" Target="../embeddings/oleObject199.bin"/><Relationship Id="rId9" Type="http://schemas.openxmlformats.org/officeDocument/2006/relationships/image" Target="../media/image191.wmf"/><Relationship Id="rId14" Type="http://schemas.openxmlformats.org/officeDocument/2006/relationships/oleObject" Target="../embeddings/oleObject204.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209.bin"/><Relationship Id="rId3" Type="http://schemas.openxmlformats.org/officeDocument/2006/relationships/image" Target="../media/image190.wmf"/><Relationship Id="rId7" Type="http://schemas.openxmlformats.org/officeDocument/2006/relationships/image" Target="../media/image197.wmf"/><Relationship Id="rId2" Type="http://schemas.openxmlformats.org/officeDocument/2006/relationships/oleObject" Target="../embeddings/oleObject206.bin"/><Relationship Id="rId1" Type="http://schemas.openxmlformats.org/officeDocument/2006/relationships/slideLayout" Target="../slideLayouts/slideLayout1.xml"/><Relationship Id="rId6" Type="http://schemas.openxmlformats.org/officeDocument/2006/relationships/oleObject" Target="../embeddings/oleObject208.bin"/><Relationship Id="rId11" Type="http://schemas.openxmlformats.org/officeDocument/2006/relationships/image" Target="../media/image199.wmf"/><Relationship Id="rId5" Type="http://schemas.openxmlformats.org/officeDocument/2006/relationships/image" Target="../media/image196.wmf"/><Relationship Id="rId10" Type="http://schemas.openxmlformats.org/officeDocument/2006/relationships/oleObject" Target="../embeddings/oleObject210.bin"/><Relationship Id="rId4" Type="http://schemas.openxmlformats.org/officeDocument/2006/relationships/oleObject" Target="../embeddings/oleObject207.bin"/><Relationship Id="rId9" Type="http://schemas.openxmlformats.org/officeDocument/2006/relationships/image" Target="../media/image198.w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203.wmf"/><Relationship Id="rId13" Type="http://schemas.openxmlformats.org/officeDocument/2006/relationships/oleObject" Target="../embeddings/oleObject215.bin"/><Relationship Id="rId3" Type="http://schemas.openxmlformats.org/officeDocument/2006/relationships/image" Target="../media/image200.png"/><Relationship Id="rId7" Type="http://schemas.openxmlformats.org/officeDocument/2006/relationships/oleObject" Target="../embeddings/oleObject212.bin"/><Relationship Id="rId12" Type="http://schemas.openxmlformats.org/officeDocument/2006/relationships/image" Target="../media/image204.emf"/><Relationship Id="rId2" Type="http://schemas.openxmlformats.org/officeDocument/2006/relationships/notesSlide" Target="../notesSlides/notesSlide6.xml"/><Relationship Id="rId16" Type="http://schemas.openxmlformats.org/officeDocument/2006/relationships/image" Target="../media/image206.wmf"/><Relationship Id="rId1" Type="http://schemas.openxmlformats.org/officeDocument/2006/relationships/slideLayout" Target="../slideLayouts/slideLayout1.xml"/><Relationship Id="rId6" Type="http://schemas.openxmlformats.org/officeDocument/2006/relationships/image" Target="../media/image202.wmf"/><Relationship Id="rId11" Type="http://schemas.openxmlformats.org/officeDocument/2006/relationships/oleObject" Target="../embeddings/oleObject214.bin"/><Relationship Id="rId5" Type="http://schemas.openxmlformats.org/officeDocument/2006/relationships/oleObject" Target="../embeddings/oleObject211.bin"/><Relationship Id="rId15" Type="http://schemas.openxmlformats.org/officeDocument/2006/relationships/oleObject" Target="../embeddings/oleObject216.bin"/><Relationship Id="rId10" Type="http://schemas.openxmlformats.org/officeDocument/2006/relationships/image" Target="../media/image5.wmf"/><Relationship Id="rId4" Type="http://schemas.openxmlformats.org/officeDocument/2006/relationships/image" Target="../media/image201.png"/><Relationship Id="rId9" Type="http://schemas.openxmlformats.org/officeDocument/2006/relationships/oleObject" Target="../embeddings/oleObject213.bin"/><Relationship Id="rId14" Type="http://schemas.openxmlformats.org/officeDocument/2006/relationships/image" Target="../media/image205.wmf"/></Relationships>
</file>

<file path=ppt/slides/_rels/slide27.xml.rels><?xml version="1.0" encoding="UTF-8" standalone="yes"?>
<Relationships xmlns="http://schemas.openxmlformats.org/package/2006/relationships"><Relationship Id="rId8" Type="http://schemas.openxmlformats.org/officeDocument/2006/relationships/image" Target="../media/image209.wmf"/><Relationship Id="rId13" Type="http://schemas.openxmlformats.org/officeDocument/2006/relationships/oleObject" Target="../embeddings/oleObject222.bin"/><Relationship Id="rId3" Type="http://schemas.openxmlformats.org/officeDocument/2006/relationships/oleObject" Target="../embeddings/oleObject217.bin"/><Relationship Id="rId7" Type="http://schemas.openxmlformats.org/officeDocument/2006/relationships/oleObject" Target="../embeddings/oleObject219.bin"/><Relationship Id="rId12" Type="http://schemas.openxmlformats.org/officeDocument/2006/relationships/image" Target="../media/image211.wmf"/><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08.wmf"/><Relationship Id="rId11" Type="http://schemas.openxmlformats.org/officeDocument/2006/relationships/oleObject" Target="../embeddings/oleObject221.bin"/><Relationship Id="rId5" Type="http://schemas.openxmlformats.org/officeDocument/2006/relationships/oleObject" Target="../embeddings/oleObject218.bin"/><Relationship Id="rId10" Type="http://schemas.openxmlformats.org/officeDocument/2006/relationships/image" Target="../media/image210.wmf"/><Relationship Id="rId4" Type="http://schemas.openxmlformats.org/officeDocument/2006/relationships/image" Target="../media/image207.wmf"/><Relationship Id="rId9" Type="http://schemas.openxmlformats.org/officeDocument/2006/relationships/oleObject" Target="../embeddings/oleObject220.bin"/><Relationship Id="rId14" Type="http://schemas.openxmlformats.org/officeDocument/2006/relationships/image" Target="../media/image212.wmf"/></Relationships>
</file>

<file path=ppt/slides/_rels/slide28.xml.rels><?xml version="1.0" encoding="UTF-8" standalone="yes"?>
<Relationships xmlns="http://schemas.openxmlformats.org/package/2006/relationships"><Relationship Id="rId8" Type="http://schemas.openxmlformats.org/officeDocument/2006/relationships/image" Target="../media/image215.wmf"/><Relationship Id="rId3" Type="http://schemas.openxmlformats.org/officeDocument/2006/relationships/oleObject" Target="../embeddings/oleObject223.bin"/><Relationship Id="rId7" Type="http://schemas.openxmlformats.org/officeDocument/2006/relationships/oleObject" Target="../embeddings/oleObject225.bin"/><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4.wmf"/><Relationship Id="rId5" Type="http://schemas.openxmlformats.org/officeDocument/2006/relationships/oleObject" Target="../embeddings/oleObject224.bin"/><Relationship Id="rId10" Type="http://schemas.openxmlformats.org/officeDocument/2006/relationships/image" Target="../media/image216.wmf"/><Relationship Id="rId4" Type="http://schemas.openxmlformats.org/officeDocument/2006/relationships/image" Target="../media/image213.wmf"/><Relationship Id="rId9" Type="http://schemas.openxmlformats.org/officeDocument/2006/relationships/oleObject" Target="../embeddings/oleObject226.bin"/></Relationships>
</file>

<file path=ppt/slides/_rels/slide29.xml.rels><?xml version="1.0" encoding="UTF-8" standalone="yes"?>
<Relationships xmlns="http://schemas.openxmlformats.org/package/2006/relationships"><Relationship Id="rId8" Type="http://schemas.openxmlformats.org/officeDocument/2006/relationships/image" Target="../media/image219.wmf"/><Relationship Id="rId13" Type="http://schemas.openxmlformats.org/officeDocument/2006/relationships/oleObject" Target="../embeddings/oleObject232.bin"/><Relationship Id="rId3" Type="http://schemas.openxmlformats.org/officeDocument/2006/relationships/oleObject" Target="../embeddings/oleObject227.bin"/><Relationship Id="rId7" Type="http://schemas.openxmlformats.org/officeDocument/2006/relationships/oleObject" Target="../embeddings/oleObject229.bin"/><Relationship Id="rId12" Type="http://schemas.openxmlformats.org/officeDocument/2006/relationships/image" Target="../media/image213.wmf"/><Relationship Id="rId2" Type="http://schemas.openxmlformats.org/officeDocument/2006/relationships/notesSlide" Target="../notesSlides/notesSlide9.xml"/><Relationship Id="rId16" Type="http://schemas.openxmlformats.org/officeDocument/2006/relationships/image" Target="../media/image222.wmf"/><Relationship Id="rId1" Type="http://schemas.openxmlformats.org/officeDocument/2006/relationships/slideLayout" Target="../slideLayouts/slideLayout1.xml"/><Relationship Id="rId6" Type="http://schemas.openxmlformats.org/officeDocument/2006/relationships/image" Target="../media/image218.wmf"/><Relationship Id="rId11" Type="http://schemas.openxmlformats.org/officeDocument/2006/relationships/oleObject" Target="../embeddings/oleObject231.bin"/><Relationship Id="rId5" Type="http://schemas.openxmlformats.org/officeDocument/2006/relationships/oleObject" Target="../embeddings/oleObject228.bin"/><Relationship Id="rId15" Type="http://schemas.openxmlformats.org/officeDocument/2006/relationships/oleObject" Target="../embeddings/oleObject233.bin"/><Relationship Id="rId10" Type="http://schemas.openxmlformats.org/officeDocument/2006/relationships/image" Target="../media/image220.wmf"/><Relationship Id="rId4" Type="http://schemas.openxmlformats.org/officeDocument/2006/relationships/image" Target="../media/image217.wmf"/><Relationship Id="rId9" Type="http://schemas.openxmlformats.org/officeDocument/2006/relationships/oleObject" Target="../embeddings/oleObject230.bin"/><Relationship Id="rId14" Type="http://schemas.openxmlformats.org/officeDocument/2006/relationships/image" Target="../media/image221.wmf"/></Relationships>
</file>

<file path=ppt/slides/_rels/slide30.xml.rels><?xml version="1.0" encoding="UTF-8" standalone="yes"?>
<Relationships xmlns="http://schemas.openxmlformats.org/package/2006/relationships"><Relationship Id="rId8" Type="http://schemas.openxmlformats.org/officeDocument/2006/relationships/image" Target="../media/image224.wmf"/><Relationship Id="rId13" Type="http://schemas.openxmlformats.org/officeDocument/2006/relationships/oleObject" Target="../embeddings/oleObject239.bin"/><Relationship Id="rId3" Type="http://schemas.openxmlformats.org/officeDocument/2006/relationships/oleObject" Target="../embeddings/oleObject234.bin"/><Relationship Id="rId7" Type="http://schemas.openxmlformats.org/officeDocument/2006/relationships/oleObject" Target="../embeddings/oleObject236.bin"/><Relationship Id="rId12" Type="http://schemas.openxmlformats.org/officeDocument/2006/relationships/image" Target="../media/image226.wmf"/><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3.wmf"/><Relationship Id="rId11" Type="http://schemas.openxmlformats.org/officeDocument/2006/relationships/oleObject" Target="../embeddings/oleObject238.bin"/><Relationship Id="rId5" Type="http://schemas.openxmlformats.org/officeDocument/2006/relationships/oleObject" Target="../embeddings/oleObject235.bin"/><Relationship Id="rId10" Type="http://schemas.openxmlformats.org/officeDocument/2006/relationships/image" Target="../media/image225.wmf"/><Relationship Id="rId4" Type="http://schemas.openxmlformats.org/officeDocument/2006/relationships/image" Target="../media/image213.wmf"/><Relationship Id="rId9" Type="http://schemas.openxmlformats.org/officeDocument/2006/relationships/oleObject" Target="../embeddings/oleObject237.bin"/><Relationship Id="rId14" Type="http://schemas.openxmlformats.org/officeDocument/2006/relationships/image" Target="../media/image227.wmf"/></Relationships>
</file>

<file path=ppt/slides/_rels/slide31.xml.rels><?xml version="1.0" encoding="UTF-8" standalone="yes"?>
<Relationships xmlns="http://schemas.openxmlformats.org/package/2006/relationships"><Relationship Id="rId8" Type="http://schemas.openxmlformats.org/officeDocument/2006/relationships/image" Target="../media/image230.wmf"/><Relationship Id="rId3" Type="http://schemas.openxmlformats.org/officeDocument/2006/relationships/oleObject" Target="../embeddings/oleObject240.bin"/><Relationship Id="rId7" Type="http://schemas.openxmlformats.org/officeDocument/2006/relationships/oleObject" Target="../embeddings/oleObject242.bin"/><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9.wmf"/><Relationship Id="rId5" Type="http://schemas.openxmlformats.org/officeDocument/2006/relationships/oleObject" Target="../embeddings/oleObject241.bin"/><Relationship Id="rId10" Type="http://schemas.openxmlformats.org/officeDocument/2006/relationships/image" Target="../media/image231.wmf"/><Relationship Id="rId4" Type="http://schemas.openxmlformats.org/officeDocument/2006/relationships/image" Target="../media/image228.wmf"/><Relationship Id="rId9" Type="http://schemas.openxmlformats.org/officeDocument/2006/relationships/oleObject" Target="../embeddings/oleObject243.bin"/></Relationships>
</file>

<file path=ppt/slides/_rels/slide32.xml.rels><?xml version="1.0" encoding="UTF-8" standalone="yes"?>
<Relationships xmlns="http://schemas.openxmlformats.org/package/2006/relationships"><Relationship Id="rId8" Type="http://schemas.openxmlformats.org/officeDocument/2006/relationships/image" Target="../media/image233.wmf"/><Relationship Id="rId13" Type="http://schemas.openxmlformats.org/officeDocument/2006/relationships/oleObject" Target="../embeddings/oleObject248.bin"/><Relationship Id="rId3" Type="http://schemas.openxmlformats.org/officeDocument/2006/relationships/oleObject" Target="../embeddings/oleObject240.bin"/><Relationship Id="rId7" Type="http://schemas.openxmlformats.org/officeDocument/2006/relationships/oleObject" Target="../embeddings/oleObject245.bin"/><Relationship Id="rId12" Type="http://schemas.openxmlformats.org/officeDocument/2006/relationships/image" Target="../media/image235.wmf"/><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32.wmf"/><Relationship Id="rId11" Type="http://schemas.openxmlformats.org/officeDocument/2006/relationships/oleObject" Target="../embeddings/oleObject247.bin"/><Relationship Id="rId5" Type="http://schemas.openxmlformats.org/officeDocument/2006/relationships/oleObject" Target="../embeddings/oleObject244.bin"/><Relationship Id="rId10" Type="http://schemas.openxmlformats.org/officeDocument/2006/relationships/image" Target="../media/image234.wmf"/><Relationship Id="rId4" Type="http://schemas.openxmlformats.org/officeDocument/2006/relationships/image" Target="../media/image228.wmf"/><Relationship Id="rId9" Type="http://schemas.openxmlformats.org/officeDocument/2006/relationships/oleObject" Target="../embeddings/oleObject246.bin"/><Relationship Id="rId14" Type="http://schemas.openxmlformats.org/officeDocument/2006/relationships/image" Target="../media/image236.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49.bin"/><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38.wmf"/><Relationship Id="rId5" Type="http://schemas.openxmlformats.org/officeDocument/2006/relationships/oleObject" Target="../embeddings/oleObject250.bin"/><Relationship Id="rId4" Type="http://schemas.openxmlformats.org/officeDocument/2006/relationships/image" Target="../media/image237.wmf"/></Relationships>
</file>

<file path=ppt/slides/_rels/slide34.xml.rels><?xml version="1.0" encoding="UTF-8" standalone="yes"?>
<Relationships xmlns="http://schemas.openxmlformats.org/package/2006/relationships"><Relationship Id="rId8" Type="http://schemas.openxmlformats.org/officeDocument/2006/relationships/image" Target="../media/image241.wmf"/><Relationship Id="rId13" Type="http://schemas.openxmlformats.org/officeDocument/2006/relationships/oleObject" Target="../embeddings/oleObject256.bin"/><Relationship Id="rId18" Type="http://schemas.openxmlformats.org/officeDocument/2006/relationships/image" Target="../media/image246.wmf"/><Relationship Id="rId3" Type="http://schemas.openxmlformats.org/officeDocument/2006/relationships/oleObject" Target="../embeddings/oleObject251.bin"/><Relationship Id="rId7" Type="http://schemas.openxmlformats.org/officeDocument/2006/relationships/oleObject" Target="../embeddings/oleObject253.bin"/><Relationship Id="rId12" Type="http://schemas.openxmlformats.org/officeDocument/2006/relationships/image" Target="../media/image243.wmf"/><Relationship Id="rId17" Type="http://schemas.openxmlformats.org/officeDocument/2006/relationships/oleObject" Target="../embeddings/oleObject258.bin"/><Relationship Id="rId2" Type="http://schemas.openxmlformats.org/officeDocument/2006/relationships/notesSlide" Target="../notesSlides/notesSlide14.xml"/><Relationship Id="rId16" Type="http://schemas.openxmlformats.org/officeDocument/2006/relationships/image" Target="../media/image245.wmf"/><Relationship Id="rId20" Type="http://schemas.openxmlformats.org/officeDocument/2006/relationships/image" Target="../media/image247.wmf"/><Relationship Id="rId1" Type="http://schemas.openxmlformats.org/officeDocument/2006/relationships/slideLayout" Target="../slideLayouts/slideLayout1.xml"/><Relationship Id="rId6" Type="http://schemas.openxmlformats.org/officeDocument/2006/relationships/image" Target="../media/image240.wmf"/><Relationship Id="rId11" Type="http://schemas.openxmlformats.org/officeDocument/2006/relationships/oleObject" Target="../embeddings/oleObject255.bin"/><Relationship Id="rId5" Type="http://schemas.openxmlformats.org/officeDocument/2006/relationships/oleObject" Target="../embeddings/oleObject252.bin"/><Relationship Id="rId15" Type="http://schemas.openxmlformats.org/officeDocument/2006/relationships/oleObject" Target="../embeddings/oleObject257.bin"/><Relationship Id="rId10" Type="http://schemas.openxmlformats.org/officeDocument/2006/relationships/image" Target="../media/image242.wmf"/><Relationship Id="rId19" Type="http://schemas.openxmlformats.org/officeDocument/2006/relationships/oleObject" Target="../embeddings/oleObject259.bin"/><Relationship Id="rId4" Type="http://schemas.openxmlformats.org/officeDocument/2006/relationships/image" Target="../media/image239.wmf"/><Relationship Id="rId9" Type="http://schemas.openxmlformats.org/officeDocument/2006/relationships/oleObject" Target="../embeddings/oleObject254.bin"/><Relationship Id="rId14" Type="http://schemas.openxmlformats.org/officeDocument/2006/relationships/image" Target="../media/image244.wmf"/></Relationships>
</file>

<file path=ppt/slides/_rels/slide35.xml.rels><?xml version="1.0" encoding="UTF-8" standalone="yes"?>
<Relationships xmlns="http://schemas.openxmlformats.org/package/2006/relationships"><Relationship Id="rId8" Type="http://schemas.openxmlformats.org/officeDocument/2006/relationships/image" Target="../media/image250.wmf"/><Relationship Id="rId13" Type="http://schemas.openxmlformats.org/officeDocument/2006/relationships/oleObject" Target="../embeddings/oleObject265.bin"/><Relationship Id="rId18" Type="http://schemas.openxmlformats.org/officeDocument/2006/relationships/image" Target="../media/image238.wmf"/><Relationship Id="rId3" Type="http://schemas.openxmlformats.org/officeDocument/2006/relationships/oleObject" Target="../embeddings/oleObject260.bin"/><Relationship Id="rId7" Type="http://schemas.openxmlformats.org/officeDocument/2006/relationships/oleObject" Target="../embeddings/oleObject262.bin"/><Relationship Id="rId12" Type="http://schemas.openxmlformats.org/officeDocument/2006/relationships/image" Target="../media/image252.wmf"/><Relationship Id="rId17" Type="http://schemas.openxmlformats.org/officeDocument/2006/relationships/oleObject" Target="../embeddings/oleObject267.bin"/><Relationship Id="rId2" Type="http://schemas.openxmlformats.org/officeDocument/2006/relationships/notesSlide" Target="../notesSlides/notesSlide15.xml"/><Relationship Id="rId16" Type="http://schemas.openxmlformats.org/officeDocument/2006/relationships/image" Target="../media/image254.wmf"/><Relationship Id="rId1" Type="http://schemas.openxmlformats.org/officeDocument/2006/relationships/slideLayout" Target="../slideLayouts/slideLayout1.xml"/><Relationship Id="rId6" Type="http://schemas.openxmlformats.org/officeDocument/2006/relationships/image" Target="../media/image249.wmf"/><Relationship Id="rId11" Type="http://schemas.openxmlformats.org/officeDocument/2006/relationships/oleObject" Target="../embeddings/oleObject264.bin"/><Relationship Id="rId5" Type="http://schemas.openxmlformats.org/officeDocument/2006/relationships/oleObject" Target="../embeddings/oleObject261.bin"/><Relationship Id="rId15" Type="http://schemas.openxmlformats.org/officeDocument/2006/relationships/oleObject" Target="../embeddings/oleObject266.bin"/><Relationship Id="rId10" Type="http://schemas.openxmlformats.org/officeDocument/2006/relationships/image" Target="../media/image251.wmf"/><Relationship Id="rId4" Type="http://schemas.openxmlformats.org/officeDocument/2006/relationships/image" Target="../media/image248.wmf"/><Relationship Id="rId9" Type="http://schemas.openxmlformats.org/officeDocument/2006/relationships/oleObject" Target="../embeddings/oleObject263.bin"/><Relationship Id="rId14" Type="http://schemas.openxmlformats.org/officeDocument/2006/relationships/image" Target="../media/image253.wmf"/></Relationships>
</file>

<file path=ppt/slides/_rels/slide36.xml.rels><?xml version="1.0" encoding="UTF-8" standalone="yes"?>
<Relationships xmlns="http://schemas.openxmlformats.org/package/2006/relationships"><Relationship Id="rId8" Type="http://schemas.openxmlformats.org/officeDocument/2006/relationships/image" Target="../media/image258.wmf"/><Relationship Id="rId3" Type="http://schemas.openxmlformats.org/officeDocument/2006/relationships/oleObject" Target="../embeddings/oleObject268.bin"/><Relationship Id="rId7" Type="http://schemas.openxmlformats.org/officeDocument/2006/relationships/oleObject" Target="../embeddings/oleObject269.bin"/><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57.png"/><Relationship Id="rId5" Type="http://schemas.openxmlformats.org/officeDocument/2006/relationships/image" Target="../media/image256.png"/><Relationship Id="rId4" Type="http://schemas.openxmlformats.org/officeDocument/2006/relationships/image" Target="../media/image255.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1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000" cy="7085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51" name="AutoShape 120"/>
          <p:cNvSpPr>
            <a:spLocks noChangeArrowheads="1"/>
          </p:cNvSpPr>
          <p:nvPr/>
        </p:nvSpPr>
        <p:spPr bwMode="auto">
          <a:xfrm>
            <a:off x="1685925" y="2514600"/>
            <a:ext cx="5791200" cy="1676400"/>
          </a:xfrm>
          <a:prstGeom prst="roundRect">
            <a:avLst>
              <a:gd name="adj" fmla="val 16667"/>
            </a:avLst>
          </a:prstGeom>
          <a:solidFill>
            <a:srgbClr val="C0C0C0">
              <a:alpha val="14902"/>
            </a:srgbClr>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cs typeface="Arial" pitchFamily="34" charset="0"/>
            </a:endParaRPr>
          </a:p>
        </p:txBody>
      </p:sp>
      <p:sp>
        <p:nvSpPr>
          <p:cNvPr id="2052" name="Text Box 115"/>
          <p:cNvSpPr txBox="1">
            <a:spLocks noChangeArrowheads="1"/>
          </p:cNvSpPr>
          <p:nvPr/>
        </p:nvSpPr>
        <p:spPr bwMode="auto">
          <a:xfrm>
            <a:off x="1900238" y="1720850"/>
            <a:ext cx="5362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600" b="1" dirty="0">
                <a:cs typeface="Arial" pitchFamily="34" charset="0"/>
              </a:rPr>
              <a:t>Grado en Fisioterapia</a:t>
            </a:r>
            <a:endParaRPr lang="es-ES" altLang="es-ES" sz="1600" b="1" dirty="0">
              <a:cs typeface="Arial" pitchFamily="34" charset="0"/>
            </a:endParaRPr>
          </a:p>
        </p:txBody>
      </p:sp>
      <p:sp>
        <p:nvSpPr>
          <p:cNvPr id="2053" name="Text Box 117"/>
          <p:cNvSpPr txBox="1">
            <a:spLocks noChangeArrowheads="1"/>
          </p:cNvSpPr>
          <p:nvPr/>
        </p:nvSpPr>
        <p:spPr bwMode="auto">
          <a:xfrm>
            <a:off x="4098925" y="2819400"/>
            <a:ext cx="957263"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600" b="1">
                <a:cs typeface="Arial" pitchFamily="34" charset="0"/>
              </a:rPr>
              <a:t>Tema VI</a:t>
            </a:r>
            <a:endParaRPr lang="es-ES" altLang="es-ES" sz="1600" b="1">
              <a:cs typeface="Arial" pitchFamily="34" charset="0"/>
            </a:endParaRPr>
          </a:p>
        </p:txBody>
      </p:sp>
      <p:sp>
        <p:nvSpPr>
          <p:cNvPr id="2054" name="Rectangle 118"/>
          <p:cNvSpPr>
            <a:spLocks noChangeArrowheads="1"/>
          </p:cNvSpPr>
          <p:nvPr/>
        </p:nvSpPr>
        <p:spPr bwMode="auto">
          <a:xfrm>
            <a:off x="2090867" y="3284915"/>
            <a:ext cx="502894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 altLang="es-ES" sz="1900" b="1" dirty="0">
                <a:cs typeface="Arial" pitchFamily="34" charset="0"/>
              </a:rPr>
              <a:t>Estudios comparativos con dos muestras</a:t>
            </a:r>
          </a:p>
          <a:p>
            <a:pPr algn="ctr" eaLnBrk="1" hangingPunct="1"/>
            <a:r>
              <a:rPr lang="es-ES" altLang="es-ES" sz="1900" b="1" dirty="0">
                <a:cs typeface="Arial" pitchFamily="34" charset="0"/>
              </a:rPr>
              <a:t>1ª parte: comparación de medias</a:t>
            </a:r>
          </a:p>
        </p:txBody>
      </p:sp>
      <p:sp>
        <p:nvSpPr>
          <p:cNvPr id="2055" name="Text Box 119"/>
          <p:cNvSpPr txBox="1">
            <a:spLocks noChangeArrowheads="1"/>
          </p:cNvSpPr>
          <p:nvPr/>
        </p:nvSpPr>
        <p:spPr bwMode="auto">
          <a:xfrm>
            <a:off x="3737639" y="1339850"/>
            <a:ext cx="168777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400" b="1" dirty="0">
                <a:cs typeface="Arial" pitchFamily="34" charset="0"/>
              </a:rPr>
              <a:t>BIOESTADÍSTICA</a:t>
            </a:r>
            <a:endParaRPr lang="es-ES" altLang="es-ES" sz="1400" b="1" dirty="0">
              <a:cs typeface="Arial" pitchFamily="34" charset="0"/>
            </a:endParaRPr>
          </a:p>
        </p:txBody>
      </p:sp>
      <p:sp>
        <p:nvSpPr>
          <p:cNvPr id="10" name="Text Box 127"/>
          <p:cNvSpPr txBox="1">
            <a:spLocks noChangeArrowheads="1"/>
          </p:cNvSpPr>
          <p:nvPr/>
        </p:nvSpPr>
        <p:spPr bwMode="auto">
          <a:xfrm>
            <a:off x="3276600" y="6521450"/>
            <a:ext cx="2520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600" b="1">
                <a:solidFill>
                  <a:schemeClr val="accent5">
                    <a:lumMod val="25000"/>
                  </a:schemeClr>
                </a:solidFill>
              </a:rPr>
              <a:t>Universidad de Granada</a:t>
            </a:r>
            <a:endParaRPr lang="es-ES" altLang="es-ES" sz="1600" b="1">
              <a:solidFill>
                <a:schemeClr val="accent5">
                  <a:lumMod val="25000"/>
                </a:schemeClr>
              </a:solidFill>
            </a:endParaRPr>
          </a:p>
        </p:txBody>
      </p:sp>
      <p:sp>
        <p:nvSpPr>
          <p:cNvPr id="11" name="Text Box 129"/>
          <p:cNvSpPr txBox="1">
            <a:spLocks noChangeArrowheads="1"/>
          </p:cNvSpPr>
          <p:nvPr/>
        </p:nvSpPr>
        <p:spPr bwMode="auto">
          <a:xfrm>
            <a:off x="1079701" y="5972175"/>
            <a:ext cx="698460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600" b="1" dirty="0">
                <a:solidFill>
                  <a:schemeClr val="accent5">
                    <a:lumMod val="25000"/>
                  </a:schemeClr>
                </a:solidFill>
              </a:rPr>
              <a:t>Pedro </a:t>
            </a:r>
            <a:r>
              <a:rPr lang="es-ES_tradnl" altLang="es-ES" sz="1600" b="1" dirty="0" err="1">
                <a:solidFill>
                  <a:schemeClr val="accent5">
                    <a:lumMod val="25000"/>
                  </a:schemeClr>
                </a:solidFill>
              </a:rPr>
              <a:t>Femia</a:t>
            </a:r>
            <a:r>
              <a:rPr lang="es-ES_tradnl" altLang="es-ES" sz="1600" b="1" dirty="0">
                <a:solidFill>
                  <a:schemeClr val="accent5">
                    <a:lumMod val="25000"/>
                  </a:schemeClr>
                </a:solidFill>
              </a:rPr>
              <a:t> Marzo (Autor) &amp; Miguel Angel Luque Fernandez (</a:t>
            </a:r>
            <a:r>
              <a:rPr lang="es-ES_tradnl" altLang="es-ES" sz="1600" b="1" dirty="0" err="1">
                <a:solidFill>
                  <a:schemeClr val="accent5">
                    <a:lumMod val="25000"/>
                  </a:schemeClr>
                </a:solidFill>
              </a:rPr>
              <a:t>Update</a:t>
            </a:r>
            <a:r>
              <a:rPr lang="es-ES_tradnl" altLang="es-ES" sz="1600" b="1" dirty="0">
                <a:solidFill>
                  <a:schemeClr val="accent5">
                    <a:lumMod val="25000"/>
                  </a:schemeClr>
                </a:solidFill>
              </a:rPr>
              <a:t>)</a:t>
            </a:r>
          </a:p>
          <a:p>
            <a:pPr algn="ctr" eaLnBrk="1" hangingPunct="1"/>
            <a:r>
              <a:rPr lang="es-ES_tradnl" altLang="es-ES" sz="1600" b="1" dirty="0">
                <a:solidFill>
                  <a:schemeClr val="accent5">
                    <a:lumMod val="25000"/>
                  </a:schemeClr>
                </a:solidFill>
              </a:rPr>
              <a:t>Unidad de Bioestadística – Facultad de Medicina</a:t>
            </a:r>
          </a:p>
        </p:txBody>
      </p:sp>
      <p:pic>
        <p:nvPicPr>
          <p:cNvPr id="12" name="Picture 2" descr="http://es.creativecommons.org/blog/wp-content/uploads/2013/04/by-nc-nd.eu_peti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9750" y="6442075"/>
            <a:ext cx="1123950" cy="390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7463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234950" y="454025"/>
            <a:ext cx="17176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Pruebas a realizar</a:t>
            </a:r>
            <a:endParaRPr lang="es-ES" altLang="es-ES" sz="1400" b="1" dirty="0"/>
          </a:p>
        </p:txBody>
      </p:sp>
      <p:sp>
        <p:nvSpPr>
          <p:cNvPr id="3075" name="Text Box 42"/>
          <p:cNvSpPr txBox="1">
            <a:spLocks noChangeArrowheads="1"/>
          </p:cNvSpPr>
          <p:nvPr/>
        </p:nvSpPr>
        <p:spPr bwMode="auto">
          <a:xfrm>
            <a:off x="438150" y="990600"/>
            <a:ext cx="78486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400" b="1" dirty="0"/>
              <a:t>Comparación de medias</a:t>
            </a:r>
            <a:endParaRPr lang="es-ES_tradnl" altLang="es-ES" sz="1400" b="1" dirty="0">
              <a:latin typeface="Symbol" pitchFamily="18" charset="2"/>
            </a:endParaRPr>
          </a:p>
        </p:txBody>
      </p:sp>
      <p:sp>
        <p:nvSpPr>
          <p:cNvPr id="3076" name="Text Box 42"/>
          <p:cNvSpPr txBox="1">
            <a:spLocks noChangeArrowheads="1"/>
          </p:cNvSpPr>
          <p:nvPr/>
        </p:nvSpPr>
        <p:spPr bwMode="auto">
          <a:xfrm>
            <a:off x="438150" y="4244975"/>
            <a:ext cx="78486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400" b="1"/>
              <a:t>Comparación de proporciones</a:t>
            </a:r>
            <a:endParaRPr lang="es-ES_tradnl" altLang="es-ES" sz="1400" b="1">
              <a:latin typeface="Symbol" pitchFamily="18" charset="2"/>
            </a:endParaRPr>
          </a:p>
        </p:txBody>
      </p:sp>
      <p:sp>
        <p:nvSpPr>
          <p:cNvPr id="43" name="Text Box 42"/>
          <p:cNvSpPr txBox="1">
            <a:spLocks noChangeArrowheads="1"/>
          </p:cNvSpPr>
          <p:nvPr/>
        </p:nvSpPr>
        <p:spPr bwMode="auto">
          <a:xfrm>
            <a:off x="609600" y="2133600"/>
            <a:ext cx="8229600" cy="1277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50000"/>
              </a:lnSpc>
              <a:defRPr/>
            </a:pPr>
            <a:r>
              <a:rPr lang="es-ES_tradnl" altLang="es-ES" sz="1400" dirty="0">
                <a:latin typeface="Arial" charset="0"/>
              </a:rPr>
              <a:t>Implica considerar:</a:t>
            </a:r>
          </a:p>
          <a:p>
            <a:pPr marL="285750" indent="-285750" algn="just">
              <a:buFont typeface="Arial" panose="020B0604020202020204" pitchFamily="34" charset="0"/>
              <a:buChar char="•"/>
              <a:defRPr/>
            </a:pPr>
            <a:r>
              <a:rPr lang="es-ES_tradnl" altLang="es-ES" sz="1400" dirty="0">
                <a:latin typeface="+mn-lt"/>
              </a:rPr>
              <a:t>El tipo de </a:t>
            </a:r>
            <a:r>
              <a:rPr lang="es-ES_tradnl" altLang="es-ES" sz="1400" b="1" dirty="0">
                <a:latin typeface="+mn-lt"/>
              </a:rPr>
              <a:t>muestreo</a:t>
            </a:r>
            <a:r>
              <a:rPr lang="es-ES_tradnl" altLang="es-ES" sz="1400" dirty="0">
                <a:latin typeface="+mn-lt"/>
              </a:rPr>
              <a:t>: muestras </a:t>
            </a:r>
            <a:r>
              <a:rPr lang="es-ES_tradnl" altLang="es-ES" sz="1400" b="1" dirty="0">
                <a:latin typeface="+mn-lt"/>
              </a:rPr>
              <a:t>independientes</a:t>
            </a:r>
            <a:r>
              <a:rPr lang="es-ES_tradnl" altLang="es-ES" sz="1400" dirty="0">
                <a:latin typeface="+mn-lt"/>
              </a:rPr>
              <a:t> o muestras </a:t>
            </a:r>
            <a:r>
              <a:rPr lang="es-ES_tradnl" altLang="es-ES" sz="1400" b="1" dirty="0">
                <a:latin typeface="+mn-lt"/>
              </a:rPr>
              <a:t>relacionadas</a:t>
            </a:r>
          </a:p>
          <a:p>
            <a:pPr marL="285750" indent="-285750" algn="just">
              <a:buFont typeface="Arial" panose="020B0604020202020204" pitchFamily="34" charset="0"/>
              <a:buChar char="•"/>
              <a:defRPr/>
            </a:pPr>
            <a:r>
              <a:rPr lang="es-ES_tradnl" altLang="es-ES" sz="1400" dirty="0">
                <a:latin typeface="+mn-lt"/>
              </a:rPr>
              <a:t>La </a:t>
            </a:r>
            <a:r>
              <a:rPr lang="es-ES_tradnl" altLang="es-ES" sz="1400" b="1" dirty="0">
                <a:latin typeface="+mn-lt"/>
              </a:rPr>
              <a:t>normalidad</a:t>
            </a:r>
            <a:r>
              <a:rPr lang="es-ES_tradnl" altLang="es-ES" sz="1400" dirty="0">
                <a:latin typeface="+mn-lt"/>
              </a:rPr>
              <a:t>: prueba de normalidad de la variable estudiada o bien posibilidad de aproximación a dicha distribución</a:t>
            </a:r>
          </a:p>
          <a:p>
            <a:pPr marL="285750" indent="-285750" algn="just">
              <a:buFont typeface="Arial" panose="020B0604020202020204" pitchFamily="34" charset="0"/>
              <a:buChar char="•"/>
              <a:defRPr/>
            </a:pPr>
            <a:r>
              <a:rPr lang="es-ES_tradnl" altLang="es-ES" sz="1400" dirty="0">
                <a:latin typeface="+mn-lt"/>
              </a:rPr>
              <a:t>En caso de asumir normalidad: </a:t>
            </a:r>
            <a:r>
              <a:rPr lang="es-ES_tradnl" altLang="es-ES" sz="1400" b="1" dirty="0">
                <a:latin typeface="+mn-lt"/>
              </a:rPr>
              <a:t>homogeneidad de las varianzas</a:t>
            </a:r>
            <a:r>
              <a:rPr lang="es-ES_tradnl" altLang="es-ES" sz="1400" dirty="0">
                <a:latin typeface="+mn-lt"/>
              </a:rPr>
              <a:t> (test accesorio) </a:t>
            </a:r>
          </a:p>
        </p:txBody>
      </p:sp>
      <p:graphicFrame>
        <p:nvGraphicFramePr>
          <p:cNvPr id="3078" name="Object 19"/>
          <p:cNvGraphicFramePr>
            <a:graphicFrameLocks noChangeAspect="1"/>
          </p:cNvGraphicFramePr>
          <p:nvPr/>
        </p:nvGraphicFramePr>
        <p:xfrm>
          <a:off x="965200" y="3471863"/>
          <a:ext cx="1017588" cy="604837"/>
        </p:xfrm>
        <a:graphic>
          <a:graphicData uri="http://schemas.openxmlformats.org/presentationml/2006/ole">
            <mc:AlternateContent xmlns:mc="http://schemas.openxmlformats.org/markup-compatibility/2006">
              <mc:Choice xmlns:v="urn:schemas-microsoft-com:vml" Requires="v">
                <p:oleObj name="Equation" r:id="rId2" imgW="787058" imgH="482391" progId="Equation.DSMT4">
                  <p:embed/>
                </p:oleObj>
              </mc:Choice>
              <mc:Fallback>
                <p:oleObj name="Equation" r:id="rId2" imgW="787058" imgH="482391" progId="Equation.DSMT4">
                  <p:embed/>
                  <p:pic>
                    <p:nvPicPr>
                      <p:cNvPr id="3078" name="Object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5200" y="3471863"/>
                        <a:ext cx="1017588"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9" name="3 Objeto"/>
          <p:cNvGraphicFramePr>
            <a:graphicFrameLocks noChangeAspect="1"/>
          </p:cNvGraphicFramePr>
          <p:nvPr>
            <p:extLst>
              <p:ext uri="{D42A27DB-BD31-4B8C-83A1-F6EECF244321}">
                <p14:modId xmlns:p14="http://schemas.microsoft.com/office/powerpoint/2010/main" val="2940655526"/>
              </p:ext>
            </p:extLst>
          </p:nvPr>
        </p:nvGraphicFramePr>
        <p:xfrm>
          <a:off x="965200" y="1309688"/>
          <a:ext cx="1092200" cy="639762"/>
        </p:xfrm>
        <a:graphic>
          <a:graphicData uri="http://schemas.openxmlformats.org/presentationml/2006/ole">
            <mc:AlternateContent xmlns:mc="http://schemas.openxmlformats.org/markup-compatibility/2006">
              <mc:Choice xmlns:v="urn:schemas-microsoft-com:vml" Requires="v">
                <p:oleObj name="Equation" r:id="rId4" imgW="825500" imgH="482600" progId="Equation.DSMT4">
                  <p:embed/>
                </p:oleObj>
              </mc:Choice>
              <mc:Fallback>
                <p:oleObj name="Equation" r:id="rId4" imgW="825500" imgH="482600" progId="Equation.DSMT4">
                  <p:embed/>
                  <p:pic>
                    <p:nvPicPr>
                      <p:cNvPr id="3079" name="3 Objet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5200" y="1309688"/>
                        <a:ext cx="10922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80" name="47 Objeto"/>
          <p:cNvGraphicFramePr>
            <a:graphicFrameLocks noChangeAspect="1"/>
          </p:cNvGraphicFramePr>
          <p:nvPr/>
        </p:nvGraphicFramePr>
        <p:xfrm>
          <a:off x="990600" y="4692650"/>
          <a:ext cx="1108075" cy="639763"/>
        </p:xfrm>
        <a:graphic>
          <a:graphicData uri="http://schemas.openxmlformats.org/presentationml/2006/ole">
            <mc:AlternateContent xmlns:mc="http://schemas.openxmlformats.org/markup-compatibility/2006">
              <mc:Choice xmlns:v="urn:schemas-microsoft-com:vml" Requires="v">
                <p:oleObj name="Equation" r:id="rId6" imgW="837836" imgH="482391" progId="Equation.DSMT4">
                  <p:embed/>
                </p:oleObj>
              </mc:Choice>
              <mc:Fallback>
                <p:oleObj name="Equation" r:id="rId6" imgW="837836" imgH="482391" progId="Equation.DSMT4">
                  <p:embed/>
                  <p:pic>
                    <p:nvPicPr>
                      <p:cNvPr id="3080" name="47 Objeto"/>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0600" y="4692650"/>
                        <a:ext cx="1108075"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81" name="Text Box 42"/>
          <p:cNvSpPr txBox="1">
            <a:spLocks noChangeArrowheads="1"/>
          </p:cNvSpPr>
          <p:nvPr/>
        </p:nvSpPr>
        <p:spPr bwMode="auto">
          <a:xfrm>
            <a:off x="2514600" y="1295400"/>
            <a:ext cx="63246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dirty="0"/>
              <a:t>La hipótesis de </a:t>
            </a:r>
            <a:r>
              <a:rPr lang="es-ES_tradnl" altLang="es-ES" b="1" dirty="0"/>
              <a:t>homogeneidad</a:t>
            </a:r>
            <a:r>
              <a:rPr lang="es-ES_tradnl" altLang="es-ES" dirty="0"/>
              <a:t> de las medias (</a:t>
            </a:r>
            <a:r>
              <a:rPr lang="es-ES_tradnl" altLang="es-ES" sz="1400" dirty="0">
                <a:latin typeface="Symbol" pitchFamily="18" charset="2"/>
              </a:rPr>
              <a:t>m</a:t>
            </a:r>
            <a:r>
              <a:rPr lang="es-ES_tradnl" altLang="es-ES" baseline="-25000" dirty="0"/>
              <a:t>1</a:t>
            </a:r>
            <a:r>
              <a:rPr lang="es-ES_tradnl" altLang="es-ES" dirty="0"/>
              <a:t> = </a:t>
            </a:r>
            <a:r>
              <a:rPr lang="es-ES_tradnl" altLang="es-ES" sz="1400" dirty="0">
                <a:latin typeface="Symbol" pitchFamily="18" charset="2"/>
              </a:rPr>
              <a:t>m</a:t>
            </a:r>
            <a:r>
              <a:rPr lang="es-ES_tradnl" altLang="es-ES" baseline="-25000" dirty="0"/>
              <a:t>2</a:t>
            </a:r>
            <a:r>
              <a:rPr lang="es-ES_tradnl" altLang="es-ES" dirty="0"/>
              <a:t>) equivale a la de </a:t>
            </a:r>
            <a:r>
              <a:rPr lang="es-ES_tradnl" altLang="es-ES" b="1" dirty="0"/>
              <a:t>independencia</a:t>
            </a:r>
            <a:r>
              <a:rPr lang="es-ES_tradnl" altLang="es-ES" dirty="0"/>
              <a:t> de la variable cuantitativa estudiada respecto a la variable dicotómica que divide a esta en dos grupos (con medias </a:t>
            </a:r>
            <a:r>
              <a:rPr lang="es-ES_tradnl" altLang="es-ES" sz="1400" dirty="0">
                <a:latin typeface="Symbol" pitchFamily="18" charset="2"/>
              </a:rPr>
              <a:t>m</a:t>
            </a:r>
            <a:r>
              <a:rPr lang="es-ES_tradnl" altLang="es-ES" baseline="-25000" dirty="0"/>
              <a:t>1</a:t>
            </a:r>
            <a:r>
              <a:rPr lang="es-ES_tradnl" altLang="es-ES" dirty="0"/>
              <a:t> y </a:t>
            </a:r>
            <a:r>
              <a:rPr lang="es-ES_tradnl" altLang="es-ES" sz="1400" dirty="0">
                <a:latin typeface="Symbol" pitchFamily="18" charset="2"/>
              </a:rPr>
              <a:t>m</a:t>
            </a:r>
            <a:r>
              <a:rPr lang="es-ES_tradnl" altLang="es-ES" baseline="-25000" dirty="0"/>
              <a:t>2</a:t>
            </a:r>
            <a:r>
              <a:rPr lang="es-ES_tradnl" altLang="es-ES" dirty="0"/>
              <a:t>) </a:t>
            </a:r>
            <a:endParaRPr lang="es-ES_tradnl" altLang="es-ES" dirty="0">
              <a:latin typeface="Symbol" pitchFamily="18" charset="2"/>
            </a:endParaRPr>
          </a:p>
        </p:txBody>
      </p:sp>
      <p:sp>
        <p:nvSpPr>
          <p:cNvPr id="3082" name="Text Box 42"/>
          <p:cNvSpPr txBox="1">
            <a:spLocks noChangeArrowheads="1"/>
          </p:cNvSpPr>
          <p:nvPr/>
        </p:nvSpPr>
        <p:spPr bwMode="auto">
          <a:xfrm>
            <a:off x="2489200" y="4648200"/>
            <a:ext cx="63246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dirty="0"/>
              <a:t>La hipótesis de </a:t>
            </a:r>
            <a:r>
              <a:rPr lang="es-ES_tradnl" altLang="es-ES" b="1" dirty="0"/>
              <a:t>homogeneidad</a:t>
            </a:r>
            <a:r>
              <a:rPr lang="es-ES_tradnl" altLang="es-ES" dirty="0"/>
              <a:t> de las proporciones (</a:t>
            </a:r>
            <a:r>
              <a:rPr lang="es-ES_tradnl" altLang="es-ES" sz="1400" i="1" dirty="0">
                <a:latin typeface="Times New Roman" pitchFamily="18" charset="0"/>
                <a:cs typeface="Times New Roman" pitchFamily="18" charset="0"/>
              </a:rPr>
              <a:t>p</a:t>
            </a:r>
            <a:r>
              <a:rPr lang="es-ES_tradnl" altLang="es-ES" baseline="-25000" dirty="0"/>
              <a:t>1</a:t>
            </a:r>
            <a:r>
              <a:rPr lang="es-ES_tradnl" altLang="es-ES" dirty="0"/>
              <a:t> = </a:t>
            </a:r>
            <a:r>
              <a:rPr lang="es-ES_tradnl" altLang="es-ES" sz="1400" i="1" dirty="0">
                <a:latin typeface="Times New Roman" pitchFamily="18" charset="0"/>
                <a:cs typeface="Times New Roman" pitchFamily="18" charset="0"/>
              </a:rPr>
              <a:t>p</a:t>
            </a:r>
            <a:r>
              <a:rPr lang="es-ES_tradnl" altLang="es-ES" baseline="-25000" dirty="0"/>
              <a:t>2</a:t>
            </a:r>
            <a:r>
              <a:rPr lang="es-ES_tradnl" altLang="es-ES" dirty="0"/>
              <a:t>) equivale a la de </a:t>
            </a:r>
            <a:r>
              <a:rPr lang="es-ES_tradnl" altLang="es-ES" b="1" dirty="0"/>
              <a:t>independencia</a:t>
            </a:r>
            <a:r>
              <a:rPr lang="es-ES_tradnl" altLang="es-ES" dirty="0"/>
              <a:t> de la variable binomial estudiada respecto a la variable dicotómica que divide a esta en dos grupos (con proporciones </a:t>
            </a:r>
            <a:r>
              <a:rPr lang="es-ES_tradnl" altLang="es-ES" sz="1400" i="1" dirty="0">
                <a:latin typeface="Times New Roman" pitchFamily="18" charset="0"/>
                <a:cs typeface="Times New Roman" pitchFamily="18" charset="0"/>
              </a:rPr>
              <a:t>p</a:t>
            </a:r>
            <a:r>
              <a:rPr lang="es-ES_tradnl" altLang="es-ES" baseline="-25000" dirty="0"/>
              <a:t>1</a:t>
            </a:r>
            <a:r>
              <a:rPr lang="es-ES_tradnl" altLang="es-ES" dirty="0"/>
              <a:t> y </a:t>
            </a:r>
            <a:r>
              <a:rPr lang="es-ES_tradnl" altLang="es-ES" sz="1400" i="1" dirty="0">
                <a:latin typeface="Times New Roman" pitchFamily="18" charset="0"/>
                <a:cs typeface="Times New Roman" pitchFamily="18" charset="0"/>
              </a:rPr>
              <a:t>p</a:t>
            </a:r>
            <a:r>
              <a:rPr lang="es-ES_tradnl" altLang="es-ES" baseline="-25000" dirty="0"/>
              <a:t>2</a:t>
            </a:r>
            <a:r>
              <a:rPr lang="es-ES_tradnl" altLang="es-ES" dirty="0"/>
              <a:t>) </a:t>
            </a:r>
            <a:endParaRPr lang="es-ES_tradnl" altLang="es-ES" dirty="0">
              <a:latin typeface="Symbol" pitchFamily="18" charset="2"/>
            </a:endParaRPr>
          </a:p>
        </p:txBody>
      </p:sp>
      <p:sp>
        <p:nvSpPr>
          <p:cNvPr id="52" name="Text Box 42"/>
          <p:cNvSpPr txBox="1">
            <a:spLocks noChangeArrowheads="1"/>
          </p:cNvSpPr>
          <p:nvPr/>
        </p:nvSpPr>
        <p:spPr bwMode="auto">
          <a:xfrm>
            <a:off x="438150" y="5618163"/>
            <a:ext cx="8401050" cy="1021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defRPr/>
            </a:pPr>
            <a:r>
              <a:rPr lang="es-ES_tradnl" altLang="es-ES" sz="1400" dirty="0">
                <a:latin typeface="Arial" charset="0"/>
              </a:rPr>
              <a:t>En cualquier caso, se debe considerar</a:t>
            </a:r>
            <a:r>
              <a:rPr lang="es-ES_tradnl" altLang="es-ES" sz="1400" dirty="0"/>
              <a:t> e</a:t>
            </a:r>
            <a:r>
              <a:rPr lang="es-ES_tradnl" altLang="es-ES" sz="1400" dirty="0">
                <a:latin typeface="+mn-lt"/>
              </a:rPr>
              <a:t>l </a:t>
            </a:r>
            <a:r>
              <a:rPr lang="es-ES_tradnl" altLang="es-ES" sz="1400" b="1" dirty="0">
                <a:latin typeface="+mn-lt"/>
              </a:rPr>
              <a:t>diseño</a:t>
            </a:r>
            <a:r>
              <a:rPr lang="es-ES_tradnl" altLang="es-ES" sz="1400" dirty="0">
                <a:latin typeface="+mn-lt"/>
              </a:rPr>
              <a:t> = tipo de </a:t>
            </a:r>
            <a:r>
              <a:rPr lang="es-ES_tradnl" altLang="es-ES" sz="1400" b="1" dirty="0">
                <a:latin typeface="+mn-lt"/>
              </a:rPr>
              <a:t>muestreo</a:t>
            </a:r>
            <a:r>
              <a:rPr lang="es-ES_tradnl" altLang="es-ES" sz="1400" dirty="0">
                <a:latin typeface="+mn-lt"/>
              </a:rPr>
              <a:t>: </a:t>
            </a:r>
          </a:p>
          <a:p>
            <a:pPr algn="just">
              <a:lnSpc>
                <a:spcPct val="150000"/>
              </a:lnSpc>
              <a:defRPr/>
            </a:pPr>
            <a:r>
              <a:rPr lang="es-ES_tradnl" altLang="es-ES" sz="1400" dirty="0">
                <a:latin typeface="+mn-lt"/>
              </a:rPr>
              <a:t>- Dos muestras </a:t>
            </a:r>
            <a:r>
              <a:rPr lang="es-ES_tradnl" altLang="es-ES" sz="1400" b="1" dirty="0">
                <a:latin typeface="+mn-lt"/>
              </a:rPr>
              <a:t>independientes</a:t>
            </a:r>
            <a:r>
              <a:rPr lang="es-ES_tradnl" altLang="es-ES" sz="1400" dirty="0">
                <a:latin typeface="+mn-lt"/>
              </a:rPr>
              <a:t> </a:t>
            </a:r>
          </a:p>
          <a:p>
            <a:pPr algn="just">
              <a:lnSpc>
                <a:spcPct val="150000"/>
              </a:lnSpc>
              <a:defRPr/>
            </a:pPr>
            <a:r>
              <a:rPr lang="es-ES_tradnl" altLang="es-ES" sz="1400" dirty="0">
                <a:latin typeface="+mn-lt"/>
              </a:rPr>
              <a:t>- Dos muestras </a:t>
            </a:r>
            <a:r>
              <a:rPr lang="es-ES_tradnl" altLang="es-ES" sz="1400" b="1" dirty="0">
                <a:latin typeface="+mn-lt"/>
              </a:rPr>
              <a:t>relacionadas</a:t>
            </a:r>
            <a:r>
              <a:rPr lang="es-ES_tradnl" altLang="es-ES" sz="1400" dirty="0">
                <a:latin typeface="+mn-lt"/>
              </a:rPr>
              <a:t> (por ejemplo, estudios </a:t>
            </a:r>
            <a:r>
              <a:rPr lang="es-ES_tradnl" altLang="es-ES" sz="1400" i="1" dirty="0">
                <a:latin typeface="+mn-lt"/>
              </a:rPr>
              <a:t>pretest-</a:t>
            </a:r>
            <a:r>
              <a:rPr lang="es-ES_tradnl" altLang="es-ES" sz="1400" i="1" dirty="0" err="1">
                <a:latin typeface="+mn-lt"/>
              </a:rPr>
              <a:t>posttest</a:t>
            </a:r>
            <a:r>
              <a:rPr lang="es-ES_tradnl" altLang="es-ES" sz="1400" dirty="0">
                <a:latin typeface="+mn-lt"/>
              </a:rPr>
              <a:t>)</a:t>
            </a:r>
            <a:endParaRPr lang="es-ES_tradnl" altLang="es-ES" sz="1400" b="1" dirty="0">
              <a:latin typeface="+mn-lt"/>
            </a:endParaRPr>
          </a:p>
        </p:txBody>
      </p:sp>
      <p:sp>
        <p:nvSpPr>
          <p:cNvPr id="12" name="Text Box 2"/>
          <p:cNvSpPr txBox="1">
            <a:spLocks noChangeArrowheads="1"/>
          </p:cNvSpPr>
          <p:nvPr/>
        </p:nvSpPr>
        <p:spPr bwMode="auto">
          <a:xfrm>
            <a:off x="247650" y="73025"/>
            <a:ext cx="37337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Estudios comparativos con dos muestras</a:t>
            </a:r>
            <a:endParaRPr lang="es-ES" altLang="es-ES" sz="1400" b="1" dirty="0"/>
          </a:p>
        </p:txBody>
      </p:sp>
      <p:sp>
        <p:nvSpPr>
          <p:cNvPr id="2" name="CuadroTexto 1"/>
          <p:cNvSpPr txBox="1"/>
          <p:nvPr/>
        </p:nvSpPr>
        <p:spPr>
          <a:xfrm>
            <a:off x="6391275" y="5074850"/>
            <a:ext cx="2478564" cy="276999"/>
          </a:xfrm>
          <a:prstGeom prst="rect">
            <a:avLst/>
          </a:prstGeom>
          <a:noFill/>
        </p:spPr>
        <p:txBody>
          <a:bodyPr wrap="none" rtlCol="0">
            <a:spAutoFit/>
          </a:bodyPr>
          <a:lstStyle/>
          <a:p>
            <a:r>
              <a:rPr lang="es-ES" dirty="0"/>
              <a:t>(Se verá en el capítulo que viene)</a:t>
            </a:r>
          </a:p>
        </p:txBody>
      </p:sp>
      <p:grpSp>
        <p:nvGrpSpPr>
          <p:cNvPr id="7" name="Grupo 6"/>
          <p:cNvGrpSpPr/>
          <p:nvPr/>
        </p:nvGrpSpPr>
        <p:grpSpPr>
          <a:xfrm>
            <a:off x="3422364" y="2026443"/>
            <a:ext cx="4458272" cy="290513"/>
            <a:chOff x="4070107" y="2073275"/>
            <a:chExt cx="4458272" cy="290513"/>
          </a:xfrm>
        </p:grpSpPr>
        <p:grpSp>
          <p:nvGrpSpPr>
            <p:cNvPr id="5" name="Grupo 4"/>
            <p:cNvGrpSpPr/>
            <p:nvPr/>
          </p:nvGrpSpPr>
          <p:grpSpPr>
            <a:xfrm>
              <a:off x="4070107" y="2087726"/>
              <a:ext cx="4458272" cy="261610"/>
              <a:chOff x="4064087" y="2095500"/>
              <a:chExt cx="4458272" cy="261610"/>
            </a:xfrm>
          </p:grpSpPr>
          <p:sp>
            <p:nvSpPr>
              <p:cNvPr id="3" name="CuadroTexto 2"/>
              <p:cNvSpPr txBox="1"/>
              <p:nvPr/>
            </p:nvSpPr>
            <p:spPr>
              <a:xfrm>
                <a:off x="4064087" y="2095500"/>
                <a:ext cx="4458272" cy="261610"/>
              </a:xfrm>
              <a:prstGeom prst="rect">
                <a:avLst/>
              </a:prstGeom>
              <a:noFill/>
            </p:spPr>
            <p:txBody>
              <a:bodyPr wrap="none" rtlCol="0">
                <a:spAutoFit/>
              </a:bodyPr>
              <a:lstStyle/>
              <a:p>
                <a:r>
                  <a:rPr lang="es-ES" sz="1100" b="1" dirty="0"/>
                  <a:t>Homogeneidad</a:t>
                </a:r>
                <a:r>
                  <a:rPr lang="es-ES" sz="1100" dirty="0"/>
                  <a:t> entre </a:t>
                </a:r>
                <a:r>
                  <a:rPr lang="es-ES" sz="1100" b="1" dirty="0"/>
                  <a:t>muestras</a:t>
                </a:r>
                <a:r>
                  <a:rPr lang="es-ES" sz="1100" dirty="0"/>
                  <a:t>      </a:t>
                </a:r>
                <a:r>
                  <a:rPr lang="es-ES" sz="1100" b="1" dirty="0"/>
                  <a:t>independencia</a:t>
                </a:r>
                <a:r>
                  <a:rPr lang="es-ES" sz="1100" dirty="0"/>
                  <a:t> entre </a:t>
                </a:r>
                <a:r>
                  <a:rPr lang="es-ES" sz="1100" b="1" dirty="0"/>
                  <a:t>variables</a:t>
                </a:r>
              </a:p>
            </p:txBody>
          </p:sp>
          <p:graphicFrame>
            <p:nvGraphicFramePr>
              <p:cNvPr id="4" name="Objeto 3"/>
              <p:cNvGraphicFramePr>
                <a:graphicFrameLocks noChangeAspect="1"/>
              </p:cNvGraphicFramePr>
              <p:nvPr>
                <p:extLst>
                  <p:ext uri="{D42A27DB-BD31-4B8C-83A1-F6EECF244321}">
                    <p14:modId xmlns:p14="http://schemas.microsoft.com/office/powerpoint/2010/main" val="1887518344"/>
                  </p:ext>
                </p:extLst>
              </p:nvPr>
            </p:nvGraphicFramePr>
            <p:xfrm>
              <a:off x="6200775" y="2169155"/>
              <a:ext cx="190500" cy="152400"/>
            </p:xfrm>
            <a:graphic>
              <a:graphicData uri="http://schemas.openxmlformats.org/presentationml/2006/ole">
                <mc:AlternateContent xmlns:mc="http://schemas.openxmlformats.org/markup-compatibility/2006">
                  <mc:Choice xmlns:v="urn:schemas-microsoft-com:vml" Requires="v">
                    <p:oleObj name="Equation" r:id="rId8" imgW="190440" imgH="152280" progId="Equation.DSMT4">
                      <p:embed/>
                    </p:oleObj>
                  </mc:Choice>
                  <mc:Fallback>
                    <p:oleObj name="Equation" r:id="rId8" imgW="190440" imgH="152280" progId="Equation.DSMT4">
                      <p:embed/>
                      <p:pic>
                        <p:nvPicPr>
                          <p:cNvPr id="0" name=""/>
                          <p:cNvPicPr/>
                          <p:nvPr/>
                        </p:nvPicPr>
                        <p:blipFill>
                          <a:blip r:embed="rId9"/>
                          <a:stretch>
                            <a:fillRect/>
                          </a:stretch>
                        </p:blipFill>
                        <p:spPr>
                          <a:xfrm>
                            <a:off x="6200775" y="2169155"/>
                            <a:ext cx="190500" cy="152400"/>
                          </a:xfrm>
                          <a:prstGeom prst="rect">
                            <a:avLst/>
                          </a:prstGeom>
                        </p:spPr>
                      </p:pic>
                    </p:oleObj>
                  </mc:Fallback>
                </mc:AlternateContent>
              </a:graphicData>
            </a:graphic>
          </p:graphicFrame>
        </p:grpSp>
        <p:sp>
          <p:nvSpPr>
            <p:cNvPr id="6" name="Rectángulo: esquinas redondeadas 5"/>
            <p:cNvSpPr/>
            <p:nvPr/>
          </p:nvSpPr>
          <p:spPr>
            <a:xfrm>
              <a:off x="4089443" y="2073275"/>
              <a:ext cx="4419600" cy="290513"/>
            </a:xfrm>
            <a:prstGeom prst="roundRect">
              <a:avLst/>
            </a:prstGeom>
            <a:no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grpSp>
      <p:sp>
        <p:nvSpPr>
          <p:cNvPr id="8" name="CuadroTexto 7">
            <a:extLst>
              <a:ext uri="{FF2B5EF4-FFF2-40B4-BE49-F238E27FC236}">
                <a16:creationId xmlns:a16="http://schemas.microsoft.com/office/drawing/2014/main" id="{1837FAB1-F71B-4FDA-BDFD-B1D3C0CCE178}"/>
              </a:ext>
            </a:extLst>
          </p:cNvPr>
          <p:cNvSpPr txBox="1"/>
          <p:nvPr/>
        </p:nvSpPr>
        <p:spPr>
          <a:xfrm rot="16200000">
            <a:off x="-1313621" y="2433250"/>
            <a:ext cx="3009899" cy="276999"/>
          </a:xfrm>
          <a:prstGeom prst="rect">
            <a:avLst/>
          </a:prstGeom>
          <a:noFill/>
        </p:spPr>
        <p:txBody>
          <a:bodyPr wrap="square" rtlCol="0">
            <a:spAutoFit/>
          </a:bodyPr>
          <a:lstStyle/>
          <a:p>
            <a:pPr algn="ctr"/>
            <a:r>
              <a:rPr lang="es-ES" dirty="0">
                <a:solidFill>
                  <a:schemeClr val="accent5">
                    <a:lumMod val="50000"/>
                  </a:schemeClr>
                </a:solidFill>
              </a:rPr>
              <a:t>1ª parte</a:t>
            </a:r>
          </a:p>
        </p:txBody>
      </p:sp>
      <p:sp>
        <p:nvSpPr>
          <p:cNvPr id="20" name="CuadroTexto 19">
            <a:extLst>
              <a:ext uri="{FF2B5EF4-FFF2-40B4-BE49-F238E27FC236}">
                <a16:creationId xmlns:a16="http://schemas.microsoft.com/office/drawing/2014/main" id="{C9FD9176-DF32-46FB-9211-D136A27EAC9E}"/>
              </a:ext>
            </a:extLst>
          </p:cNvPr>
          <p:cNvSpPr txBox="1"/>
          <p:nvPr/>
        </p:nvSpPr>
        <p:spPr>
          <a:xfrm rot="16200000">
            <a:off x="-581782" y="4879587"/>
            <a:ext cx="1546225" cy="276999"/>
          </a:xfrm>
          <a:prstGeom prst="rect">
            <a:avLst/>
          </a:prstGeom>
          <a:noFill/>
        </p:spPr>
        <p:txBody>
          <a:bodyPr wrap="square" rtlCol="0">
            <a:spAutoFit/>
          </a:bodyPr>
          <a:lstStyle/>
          <a:p>
            <a:pPr algn="ctr"/>
            <a:r>
              <a:rPr lang="es-ES" dirty="0">
                <a:solidFill>
                  <a:schemeClr val="accent5">
                    <a:lumMod val="50000"/>
                  </a:schemeClr>
                </a:solidFill>
              </a:rPr>
              <a:t>2ª parte</a:t>
            </a:r>
          </a:p>
        </p:txBody>
      </p:sp>
    </p:spTree>
    <p:extLst>
      <p:ext uri="{BB962C8B-B14F-4D97-AF65-F5344CB8AC3E}">
        <p14:creationId xmlns:p14="http://schemas.microsoft.com/office/powerpoint/2010/main" val="730436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238125" y="444500"/>
            <a:ext cx="44672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y muestras relacionadas</a:t>
            </a:r>
            <a:endParaRPr lang="es-ES" altLang="es-ES" sz="1400" b="1" dirty="0"/>
          </a:p>
        </p:txBody>
      </p:sp>
      <p:sp>
        <p:nvSpPr>
          <p:cNvPr id="4099" name="Text Box 4"/>
          <p:cNvSpPr txBox="1">
            <a:spLocks noChangeArrowheads="1"/>
          </p:cNvSpPr>
          <p:nvPr/>
        </p:nvSpPr>
        <p:spPr bwMode="auto">
          <a:xfrm>
            <a:off x="214313" y="838200"/>
            <a:ext cx="23082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400" b="1" dirty="0"/>
              <a:t>Muestras </a:t>
            </a:r>
            <a:r>
              <a:rPr lang="es-ES_tradnl" altLang="es-ES" sz="1400" b="1" i="1" dirty="0"/>
              <a:t>independientes</a:t>
            </a:r>
            <a:endParaRPr lang="es-ES" altLang="es-ES" sz="1400" b="1" i="1" dirty="0"/>
          </a:p>
        </p:txBody>
      </p:sp>
      <p:grpSp>
        <p:nvGrpSpPr>
          <p:cNvPr id="4100" name="Group 51"/>
          <p:cNvGrpSpPr>
            <a:grpSpLocks/>
          </p:cNvGrpSpPr>
          <p:nvPr/>
        </p:nvGrpSpPr>
        <p:grpSpPr bwMode="auto">
          <a:xfrm>
            <a:off x="5648325" y="2438400"/>
            <a:ext cx="3343275" cy="3429000"/>
            <a:chOff x="3456" y="1584"/>
            <a:chExt cx="2106" cy="2160"/>
          </a:xfrm>
        </p:grpSpPr>
        <p:pic>
          <p:nvPicPr>
            <p:cNvPr id="4114" name="Picture 4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4" y="1956"/>
              <a:ext cx="534" cy="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115" name="Group 30"/>
            <p:cNvGrpSpPr>
              <a:grpSpLocks/>
            </p:cNvGrpSpPr>
            <p:nvPr/>
          </p:nvGrpSpPr>
          <p:grpSpPr bwMode="auto">
            <a:xfrm>
              <a:off x="4570" y="1783"/>
              <a:ext cx="948" cy="1473"/>
              <a:chOff x="4416" y="2046"/>
              <a:chExt cx="908" cy="1403"/>
            </a:xfrm>
          </p:grpSpPr>
          <p:grpSp>
            <p:nvGrpSpPr>
              <p:cNvPr id="4126" name="Group 18"/>
              <p:cNvGrpSpPr>
                <a:grpSpLocks/>
              </p:cNvGrpSpPr>
              <p:nvPr/>
            </p:nvGrpSpPr>
            <p:grpSpPr bwMode="auto">
              <a:xfrm>
                <a:off x="4416" y="2046"/>
                <a:ext cx="908" cy="1218"/>
                <a:chOff x="4416" y="2046"/>
                <a:chExt cx="908" cy="1218"/>
              </a:xfrm>
            </p:grpSpPr>
            <p:pic>
              <p:nvPicPr>
                <p:cNvPr id="4132"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6" y="2112"/>
                  <a:ext cx="908" cy="1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33" name="Text Box 15"/>
                <p:cNvSpPr txBox="1">
                  <a:spLocks noChangeArrowheads="1"/>
                </p:cNvSpPr>
                <p:nvPr/>
              </p:nvSpPr>
              <p:spPr bwMode="auto">
                <a:xfrm>
                  <a:off x="4496" y="2046"/>
                  <a:ext cx="330" cy="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900"/>
                    <a:t>sujetos</a:t>
                  </a:r>
                  <a:endParaRPr lang="es-ES" altLang="es-ES" sz="900"/>
                </a:p>
              </p:txBody>
            </p:sp>
            <p:sp>
              <p:nvSpPr>
                <p:cNvPr id="4134" name="Text Box 16"/>
                <p:cNvSpPr txBox="1">
                  <a:spLocks noChangeArrowheads="1"/>
                </p:cNvSpPr>
                <p:nvPr/>
              </p:nvSpPr>
              <p:spPr bwMode="auto">
                <a:xfrm>
                  <a:off x="4789" y="2046"/>
                  <a:ext cx="210" cy="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900"/>
                    <a:t>pre</a:t>
                  </a:r>
                  <a:endParaRPr lang="es-ES" altLang="es-ES" sz="900"/>
                </a:p>
              </p:txBody>
            </p:sp>
            <p:sp>
              <p:nvSpPr>
                <p:cNvPr id="4135" name="Text Box 17"/>
                <p:cNvSpPr txBox="1">
                  <a:spLocks noChangeArrowheads="1"/>
                </p:cNvSpPr>
                <p:nvPr/>
              </p:nvSpPr>
              <p:spPr bwMode="auto">
                <a:xfrm>
                  <a:off x="4981" y="2046"/>
                  <a:ext cx="241" cy="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900"/>
                    <a:t>post</a:t>
                  </a:r>
                  <a:endParaRPr lang="es-ES" altLang="es-ES" sz="900"/>
                </a:p>
              </p:txBody>
            </p:sp>
          </p:grpSp>
          <p:grpSp>
            <p:nvGrpSpPr>
              <p:cNvPr id="4127" name="Group 29"/>
              <p:cNvGrpSpPr>
                <a:grpSpLocks/>
              </p:cNvGrpSpPr>
              <p:nvPr/>
            </p:nvGrpSpPr>
            <p:grpSpPr bwMode="auto">
              <a:xfrm>
                <a:off x="4743" y="3253"/>
                <a:ext cx="521" cy="196"/>
                <a:chOff x="4743" y="3253"/>
                <a:chExt cx="521" cy="196"/>
              </a:xfrm>
            </p:grpSpPr>
            <p:grpSp>
              <p:nvGrpSpPr>
                <p:cNvPr id="4128" name="Group 23"/>
                <p:cNvGrpSpPr>
                  <a:grpSpLocks/>
                </p:cNvGrpSpPr>
                <p:nvPr/>
              </p:nvGrpSpPr>
              <p:grpSpPr bwMode="auto">
                <a:xfrm rot="5400000">
                  <a:off x="4947" y="3206"/>
                  <a:ext cx="107" cy="202"/>
                  <a:chOff x="4120" y="2592"/>
                  <a:chExt cx="226" cy="629"/>
                </a:xfrm>
              </p:grpSpPr>
              <p:sp>
                <p:nvSpPr>
                  <p:cNvPr id="4130" name="Freeform 24"/>
                  <p:cNvSpPr>
                    <a:spLocks/>
                  </p:cNvSpPr>
                  <p:nvPr/>
                </p:nvSpPr>
                <p:spPr bwMode="auto">
                  <a:xfrm flipH="1">
                    <a:off x="4120" y="2592"/>
                    <a:ext cx="179" cy="629"/>
                  </a:xfrm>
                  <a:custGeom>
                    <a:avLst/>
                    <a:gdLst>
                      <a:gd name="T0" fmla="*/ 178 w 179"/>
                      <a:gd name="T1" fmla="*/ 0 h 629"/>
                      <a:gd name="T2" fmla="*/ 0 w 179"/>
                      <a:gd name="T3" fmla="*/ 0 h 629"/>
                      <a:gd name="T4" fmla="*/ 0 w 179"/>
                      <a:gd name="T5" fmla="*/ 629 h 629"/>
                      <a:gd name="T6" fmla="*/ 179 w 179"/>
                      <a:gd name="T7" fmla="*/ 624 h 6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9" h="629">
                        <a:moveTo>
                          <a:pt x="178" y="0"/>
                        </a:moveTo>
                        <a:lnTo>
                          <a:pt x="0" y="0"/>
                        </a:lnTo>
                        <a:lnTo>
                          <a:pt x="0" y="629"/>
                        </a:lnTo>
                        <a:lnTo>
                          <a:pt x="179" y="624"/>
                        </a:lnTo>
                      </a:path>
                    </a:pathLst>
                  </a:custGeom>
                  <a:noFill/>
                  <a:ln w="9525">
                    <a:solidFill>
                      <a:srgbClr val="008000"/>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4131" name="Line 25"/>
                  <p:cNvSpPr>
                    <a:spLocks noChangeShapeType="1"/>
                  </p:cNvSpPr>
                  <p:nvPr/>
                </p:nvSpPr>
                <p:spPr bwMode="auto">
                  <a:xfrm>
                    <a:off x="4298" y="2907"/>
                    <a:ext cx="48" cy="0"/>
                  </a:xfrm>
                  <a:prstGeom prst="line">
                    <a:avLst/>
                  </a:prstGeom>
                  <a:noFill/>
                  <a:ln w="95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4129" name="Text Box 26"/>
                <p:cNvSpPr txBox="1">
                  <a:spLocks noChangeArrowheads="1"/>
                </p:cNvSpPr>
                <p:nvPr/>
              </p:nvSpPr>
              <p:spPr bwMode="auto">
                <a:xfrm>
                  <a:off x="4743" y="3312"/>
                  <a:ext cx="521" cy="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900">
                      <a:solidFill>
                        <a:srgbClr val="006600"/>
                      </a:solidFill>
                    </a:rPr>
                    <a:t>Comparación</a:t>
                  </a:r>
                  <a:endParaRPr lang="es-ES" altLang="es-ES" sz="900">
                    <a:solidFill>
                      <a:srgbClr val="006600"/>
                    </a:solidFill>
                  </a:endParaRPr>
                </a:p>
              </p:txBody>
            </p:sp>
          </p:grpSp>
        </p:grpSp>
        <p:sp>
          <p:nvSpPr>
            <p:cNvPr id="4116" name="AutoShape 38"/>
            <p:cNvSpPr>
              <a:spLocks noChangeArrowheads="1"/>
            </p:cNvSpPr>
            <p:nvPr/>
          </p:nvSpPr>
          <p:spPr bwMode="auto">
            <a:xfrm>
              <a:off x="3498" y="1584"/>
              <a:ext cx="2064" cy="2160"/>
            </a:xfrm>
            <a:prstGeom prst="roundRect">
              <a:avLst>
                <a:gd name="adj" fmla="val 6782"/>
              </a:avLst>
            </a:prstGeom>
            <a:solidFill>
              <a:srgbClr val="C0C0C0">
                <a:alpha val="14902"/>
              </a:srgbClr>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4117" name="Group 22"/>
            <p:cNvGrpSpPr>
              <a:grpSpLocks/>
            </p:cNvGrpSpPr>
            <p:nvPr/>
          </p:nvGrpSpPr>
          <p:grpSpPr bwMode="auto">
            <a:xfrm>
              <a:off x="4177" y="2440"/>
              <a:ext cx="208" cy="660"/>
              <a:chOff x="4120" y="2592"/>
              <a:chExt cx="226" cy="629"/>
            </a:xfrm>
          </p:grpSpPr>
          <p:sp>
            <p:nvSpPr>
              <p:cNvPr id="4124" name="Freeform 19"/>
              <p:cNvSpPr>
                <a:spLocks/>
              </p:cNvSpPr>
              <p:nvPr/>
            </p:nvSpPr>
            <p:spPr bwMode="auto">
              <a:xfrm flipH="1">
                <a:off x="4120" y="2592"/>
                <a:ext cx="179" cy="629"/>
              </a:xfrm>
              <a:custGeom>
                <a:avLst/>
                <a:gdLst>
                  <a:gd name="T0" fmla="*/ 178 w 179"/>
                  <a:gd name="T1" fmla="*/ 0 h 629"/>
                  <a:gd name="T2" fmla="*/ 0 w 179"/>
                  <a:gd name="T3" fmla="*/ 0 h 629"/>
                  <a:gd name="T4" fmla="*/ 0 w 179"/>
                  <a:gd name="T5" fmla="*/ 629 h 629"/>
                  <a:gd name="T6" fmla="*/ 179 w 179"/>
                  <a:gd name="T7" fmla="*/ 624 h 6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9" h="629">
                    <a:moveTo>
                      <a:pt x="178" y="0"/>
                    </a:moveTo>
                    <a:lnTo>
                      <a:pt x="0" y="0"/>
                    </a:lnTo>
                    <a:lnTo>
                      <a:pt x="0" y="629"/>
                    </a:lnTo>
                    <a:lnTo>
                      <a:pt x="179" y="624"/>
                    </a:lnTo>
                  </a:path>
                </a:pathLst>
              </a:custGeom>
              <a:noFill/>
              <a:ln w="9525">
                <a:solidFill>
                  <a:srgbClr val="008000"/>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4125" name="Line 21"/>
              <p:cNvSpPr>
                <a:spLocks noChangeShapeType="1"/>
              </p:cNvSpPr>
              <p:nvPr/>
            </p:nvSpPr>
            <p:spPr bwMode="auto">
              <a:xfrm>
                <a:off x="4298" y="2907"/>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4118" name="Text Box 27"/>
            <p:cNvSpPr txBox="1">
              <a:spLocks noChangeArrowheads="1"/>
            </p:cNvSpPr>
            <p:nvPr/>
          </p:nvSpPr>
          <p:spPr bwMode="auto">
            <a:xfrm rot="-5400000">
              <a:off x="4177" y="2698"/>
              <a:ext cx="544"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900">
                  <a:solidFill>
                    <a:srgbClr val="006600"/>
                  </a:solidFill>
                </a:rPr>
                <a:t>Comparación</a:t>
              </a:r>
              <a:endParaRPr lang="es-ES" altLang="es-ES" sz="900">
                <a:solidFill>
                  <a:srgbClr val="006600"/>
                </a:solidFill>
              </a:endParaRPr>
            </a:p>
          </p:txBody>
        </p:sp>
        <p:sp>
          <p:nvSpPr>
            <p:cNvPr id="4119" name="Text Box 31"/>
            <p:cNvSpPr txBox="1">
              <a:spLocks noChangeArrowheads="1"/>
            </p:cNvSpPr>
            <p:nvPr/>
          </p:nvSpPr>
          <p:spPr bwMode="auto">
            <a:xfrm>
              <a:off x="3584" y="1783"/>
              <a:ext cx="44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800" dirty="0"/>
                <a:t>Variable de</a:t>
              </a:r>
            </a:p>
            <a:p>
              <a:pPr algn="just" eaLnBrk="1" hangingPunct="1"/>
              <a:r>
                <a:rPr lang="es-ES_tradnl" altLang="es-ES" sz="800" dirty="0"/>
                <a:t>agrupación</a:t>
              </a:r>
              <a:endParaRPr lang="es-ES" altLang="es-ES" sz="800" dirty="0"/>
            </a:p>
          </p:txBody>
        </p:sp>
        <p:sp>
          <p:nvSpPr>
            <p:cNvPr id="4120" name="Text Box 32"/>
            <p:cNvSpPr txBox="1">
              <a:spLocks noChangeArrowheads="1"/>
            </p:cNvSpPr>
            <p:nvPr/>
          </p:nvSpPr>
          <p:spPr bwMode="auto">
            <a:xfrm>
              <a:off x="3959" y="1783"/>
              <a:ext cx="40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800"/>
                <a:t>Variable a</a:t>
              </a:r>
            </a:p>
            <a:p>
              <a:pPr algn="just" eaLnBrk="1" hangingPunct="1"/>
              <a:r>
                <a:rPr lang="es-ES_tradnl" altLang="es-ES" sz="800"/>
                <a:t>comparar</a:t>
              </a:r>
              <a:endParaRPr lang="es-ES" altLang="es-ES" sz="800"/>
            </a:p>
          </p:txBody>
        </p:sp>
        <p:sp>
          <p:nvSpPr>
            <p:cNvPr id="4121" name="Text Box 35"/>
            <p:cNvSpPr txBox="1">
              <a:spLocks noChangeArrowheads="1"/>
            </p:cNvSpPr>
            <p:nvPr/>
          </p:nvSpPr>
          <p:spPr bwMode="auto">
            <a:xfrm>
              <a:off x="4466" y="3346"/>
              <a:ext cx="105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b="1" dirty="0"/>
                <a:t>Formato computacional de las comparaciones</a:t>
              </a:r>
              <a:endParaRPr lang="es-ES_tradnl" altLang="es-ES" sz="1000" b="1" dirty="0">
                <a:latin typeface="Symbol" pitchFamily="18" charset="2"/>
              </a:endParaRPr>
            </a:p>
          </p:txBody>
        </p:sp>
        <p:sp>
          <p:nvSpPr>
            <p:cNvPr id="4122" name="Text Box 36"/>
            <p:cNvSpPr txBox="1">
              <a:spLocks noChangeArrowheads="1"/>
            </p:cNvSpPr>
            <p:nvPr/>
          </p:nvSpPr>
          <p:spPr bwMode="auto">
            <a:xfrm>
              <a:off x="3456" y="1656"/>
              <a:ext cx="1052"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900">
                  <a:solidFill>
                    <a:srgbClr val="005800"/>
                  </a:solidFill>
                </a:rPr>
                <a:t>M. independientes</a:t>
              </a:r>
              <a:endParaRPr lang="es-ES_tradnl" altLang="es-ES" sz="900">
                <a:solidFill>
                  <a:srgbClr val="005800"/>
                </a:solidFill>
                <a:latin typeface="Symbol" pitchFamily="18" charset="2"/>
              </a:endParaRPr>
            </a:p>
          </p:txBody>
        </p:sp>
        <p:sp>
          <p:nvSpPr>
            <p:cNvPr id="4123" name="Text Box 37"/>
            <p:cNvSpPr txBox="1">
              <a:spLocks noChangeArrowheads="1"/>
            </p:cNvSpPr>
            <p:nvPr/>
          </p:nvSpPr>
          <p:spPr bwMode="auto">
            <a:xfrm>
              <a:off x="4717" y="1656"/>
              <a:ext cx="701"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900">
                  <a:solidFill>
                    <a:srgbClr val="005800"/>
                  </a:solidFill>
                </a:rPr>
                <a:t>M. apareadas</a:t>
              </a:r>
              <a:endParaRPr lang="es-ES_tradnl" altLang="es-ES" sz="900">
                <a:solidFill>
                  <a:srgbClr val="005800"/>
                </a:solidFill>
                <a:latin typeface="Symbol" pitchFamily="18" charset="2"/>
              </a:endParaRPr>
            </a:p>
          </p:txBody>
        </p:sp>
      </p:grpSp>
      <p:sp>
        <p:nvSpPr>
          <p:cNvPr id="4101" name="Text Box 40"/>
          <p:cNvSpPr txBox="1">
            <a:spLocks noChangeArrowheads="1"/>
          </p:cNvSpPr>
          <p:nvPr/>
        </p:nvSpPr>
        <p:spPr bwMode="auto">
          <a:xfrm>
            <a:off x="243457" y="1600200"/>
            <a:ext cx="3206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400" b="1" dirty="0"/>
              <a:t>Muestras </a:t>
            </a:r>
            <a:r>
              <a:rPr lang="es-ES_tradnl" altLang="es-ES" sz="1400" b="1" i="1" dirty="0"/>
              <a:t>relacionadas o apareadas</a:t>
            </a:r>
            <a:endParaRPr lang="es-ES" altLang="es-ES" sz="1400" b="1" i="1" dirty="0"/>
          </a:p>
        </p:txBody>
      </p:sp>
      <p:sp>
        <p:nvSpPr>
          <p:cNvPr id="4102" name="Text Box 41"/>
          <p:cNvSpPr txBox="1">
            <a:spLocks noChangeArrowheads="1"/>
          </p:cNvSpPr>
          <p:nvPr/>
        </p:nvSpPr>
        <p:spPr bwMode="auto">
          <a:xfrm>
            <a:off x="447675" y="1077913"/>
            <a:ext cx="6486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a:t>Las observaciones de una de las muestras no condiciona, en nada, a ninguna de las observaciones de la otra. No hay ninguna relación entre las observaciones de cada muestra</a:t>
            </a:r>
            <a:endParaRPr lang="es-ES_tradnl" altLang="es-ES" sz="1300">
              <a:latin typeface="Symbol" pitchFamily="18" charset="2"/>
            </a:endParaRPr>
          </a:p>
        </p:txBody>
      </p:sp>
      <p:sp>
        <p:nvSpPr>
          <p:cNvPr id="4103" name="Text Box 42"/>
          <p:cNvSpPr txBox="1">
            <a:spLocks noChangeArrowheads="1"/>
          </p:cNvSpPr>
          <p:nvPr/>
        </p:nvSpPr>
        <p:spPr bwMode="auto">
          <a:xfrm>
            <a:off x="438150" y="1905000"/>
            <a:ext cx="784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a:t>Cada observación de una muestra tiene un vínculo con una observación de la otra muestra </a:t>
            </a:r>
          </a:p>
          <a:p>
            <a:pPr algn="just" eaLnBrk="1" hangingPunct="1"/>
            <a:r>
              <a:rPr lang="es-ES_tradnl" altLang="es-ES"/>
              <a:t>(la información viene en parejas de datos)</a:t>
            </a:r>
            <a:endParaRPr lang="es-ES_tradnl" altLang="es-ES" sz="1300">
              <a:latin typeface="Symbol" pitchFamily="18" charset="2"/>
            </a:endParaRPr>
          </a:p>
        </p:txBody>
      </p:sp>
      <p:sp>
        <p:nvSpPr>
          <p:cNvPr id="4104" name="Text Box 6"/>
          <p:cNvSpPr txBox="1">
            <a:spLocks noChangeArrowheads="1"/>
          </p:cNvSpPr>
          <p:nvPr/>
        </p:nvSpPr>
        <p:spPr bwMode="auto">
          <a:xfrm>
            <a:off x="214313" y="5336019"/>
            <a:ext cx="28479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b="1" dirty="0"/>
              <a:t>Interés de las muestras relacionadas</a:t>
            </a:r>
            <a:endParaRPr lang="es-ES" altLang="es-ES" b="1" dirty="0"/>
          </a:p>
        </p:txBody>
      </p:sp>
      <p:sp>
        <p:nvSpPr>
          <p:cNvPr id="4105" name="Text Box 7"/>
          <p:cNvSpPr txBox="1">
            <a:spLocks noChangeArrowheads="1"/>
          </p:cNvSpPr>
          <p:nvPr/>
        </p:nvSpPr>
        <p:spPr bwMode="auto">
          <a:xfrm>
            <a:off x="414338" y="5603875"/>
            <a:ext cx="55911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buFontTx/>
              <a:buChar char="•"/>
            </a:pPr>
            <a:r>
              <a:rPr lang="es-ES_tradnl" altLang="es-ES" dirty="0"/>
              <a:t> Cada sujeto sirve como su propio </a:t>
            </a:r>
            <a:r>
              <a:rPr lang="es-ES_tradnl" altLang="es-ES" b="1" dirty="0"/>
              <a:t>control</a:t>
            </a:r>
            <a:r>
              <a:rPr lang="es-ES_tradnl" altLang="es-ES" dirty="0"/>
              <a:t> (</a:t>
            </a:r>
            <a:r>
              <a:rPr lang="es-ES_tradnl" altLang="es-ES" dirty="0" err="1"/>
              <a:t>autoapareamiento</a:t>
            </a:r>
            <a:r>
              <a:rPr lang="es-ES_tradnl" altLang="es-ES" dirty="0"/>
              <a:t>)</a:t>
            </a:r>
            <a:endParaRPr lang="es-ES_tradnl" altLang="es-ES" sz="1300" dirty="0">
              <a:latin typeface="Symbol" pitchFamily="18" charset="2"/>
            </a:endParaRPr>
          </a:p>
        </p:txBody>
      </p:sp>
      <p:sp>
        <p:nvSpPr>
          <p:cNvPr id="4106" name="Text Box 10"/>
          <p:cNvSpPr txBox="1">
            <a:spLocks noChangeArrowheads="1"/>
          </p:cNvSpPr>
          <p:nvPr/>
        </p:nvSpPr>
        <p:spPr bwMode="auto">
          <a:xfrm>
            <a:off x="409575" y="5937250"/>
            <a:ext cx="37338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buFontTx/>
              <a:buChar char="•"/>
            </a:pPr>
            <a:r>
              <a:rPr lang="es-ES_tradnl" altLang="es-ES" dirty="0"/>
              <a:t> Permite hacer </a:t>
            </a:r>
            <a:r>
              <a:rPr lang="es-ES_tradnl" altLang="es-ES" b="1" dirty="0"/>
              <a:t>comparaciones homogéneas</a:t>
            </a:r>
            <a:endParaRPr lang="es-ES_tradnl" altLang="es-ES" sz="1300" b="1" dirty="0">
              <a:latin typeface="Symbol" pitchFamily="18" charset="2"/>
            </a:endParaRPr>
          </a:p>
        </p:txBody>
      </p:sp>
      <p:sp>
        <p:nvSpPr>
          <p:cNvPr id="4107" name="Text Box 43"/>
          <p:cNvSpPr txBox="1">
            <a:spLocks noChangeArrowheads="1"/>
          </p:cNvSpPr>
          <p:nvPr/>
        </p:nvSpPr>
        <p:spPr bwMode="auto">
          <a:xfrm>
            <a:off x="409575" y="6278563"/>
            <a:ext cx="66008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buFontTx/>
              <a:buChar char="•"/>
            </a:pPr>
            <a:r>
              <a:rPr lang="es-ES_tradnl" altLang="es-ES" dirty="0"/>
              <a:t> En general la </a:t>
            </a:r>
            <a:r>
              <a:rPr lang="es-ES_tradnl" altLang="es-ES" b="1" dirty="0"/>
              <a:t>potencia del test es mayor </a:t>
            </a:r>
            <a:r>
              <a:rPr lang="es-ES_tradnl" altLang="es-ES" dirty="0"/>
              <a:t>que con un diseño independiente equivalente</a:t>
            </a:r>
            <a:endParaRPr lang="es-ES_tradnl" altLang="es-ES" sz="1300" dirty="0">
              <a:latin typeface="Symbol" pitchFamily="18" charset="2"/>
            </a:endParaRPr>
          </a:p>
        </p:txBody>
      </p:sp>
      <p:grpSp>
        <p:nvGrpSpPr>
          <p:cNvPr id="4109" name="Group 47"/>
          <p:cNvGrpSpPr>
            <a:grpSpLocks/>
          </p:cNvGrpSpPr>
          <p:nvPr/>
        </p:nvGrpSpPr>
        <p:grpSpPr bwMode="auto">
          <a:xfrm>
            <a:off x="409575" y="2667000"/>
            <a:ext cx="4953000" cy="2571750"/>
            <a:chOff x="258" y="1805"/>
            <a:chExt cx="3120" cy="1620"/>
          </a:xfrm>
        </p:grpSpPr>
        <p:sp>
          <p:nvSpPr>
            <p:cNvPr id="4111" name="Text Box 8"/>
            <p:cNvSpPr txBox="1">
              <a:spLocks noChangeArrowheads="1"/>
            </p:cNvSpPr>
            <p:nvPr/>
          </p:nvSpPr>
          <p:spPr bwMode="auto">
            <a:xfrm>
              <a:off x="258" y="1805"/>
              <a:ext cx="3120"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lnSpc>
                  <a:spcPct val="120000"/>
                </a:lnSpc>
                <a:buFontTx/>
                <a:buChar char="•"/>
              </a:pPr>
              <a:r>
                <a:rPr lang="es-ES_tradnl" altLang="es-ES" b="1" i="1" dirty="0" err="1"/>
                <a:t>Autoapareamiento</a:t>
              </a:r>
              <a:r>
                <a:rPr lang="es-ES_tradnl" altLang="es-ES" dirty="0"/>
                <a:t>: el mismo sujeto aporta los dos datos </a:t>
              </a:r>
            </a:p>
            <a:p>
              <a:pPr algn="just" eaLnBrk="1" hangingPunct="1">
                <a:lnSpc>
                  <a:spcPct val="120000"/>
                </a:lnSpc>
              </a:pPr>
              <a:r>
                <a:rPr lang="es-ES_tradnl" altLang="es-ES" dirty="0">
                  <a:solidFill>
                    <a:srgbClr val="006666"/>
                  </a:solidFill>
                </a:rPr>
                <a:t>	</a:t>
              </a:r>
              <a:r>
                <a:rPr lang="es-ES_tradnl" altLang="es-ES" sz="1100" dirty="0">
                  <a:solidFill>
                    <a:srgbClr val="006666"/>
                  </a:solidFill>
                </a:rPr>
                <a:t>→ </a:t>
              </a:r>
              <a:r>
                <a:rPr lang="es-ES_tradnl" altLang="es-ES" sz="1100" dirty="0" err="1">
                  <a:solidFill>
                    <a:srgbClr val="006666"/>
                  </a:solidFill>
                </a:rPr>
                <a:t>Ej</a:t>
              </a:r>
              <a:r>
                <a:rPr lang="es-ES_tradnl" altLang="es-ES" sz="1100" dirty="0">
                  <a:solidFill>
                    <a:srgbClr val="006666"/>
                  </a:solidFill>
                </a:rPr>
                <a:t>: estudios </a:t>
              </a:r>
              <a:r>
                <a:rPr lang="es-ES_tradnl" altLang="es-ES" sz="1100" b="1" dirty="0">
                  <a:solidFill>
                    <a:srgbClr val="006666"/>
                  </a:solidFill>
                </a:rPr>
                <a:t>pretest-</a:t>
              </a:r>
              <a:r>
                <a:rPr lang="es-ES_tradnl" altLang="es-ES" sz="1100" b="1" dirty="0" err="1">
                  <a:solidFill>
                    <a:srgbClr val="006666"/>
                  </a:solidFill>
                </a:rPr>
                <a:t>posttest</a:t>
              </a:r>
              <a:r>
                <a:rPr lang="es-ES_tradnl" altLang="es-ES" sz="1100" dirty="0">
                  <a:solidFill>
                    <a:srgbClr val="006666"/>
                  </a:solidFill>
                </a:rPr>
                <a:t>, el mismo individuo aporta un dato </a:t>
              </a:r>
              <a:r>
                <a:rPr lang="es-ES_tradnl" altLang="es-ES" sz="1100" i="1" dirty="0">
                  <a:solidFill>
                    <a:srgbClr val="006666"/>
                  </a:solidFill>
                </a:rPr>
                <a:t>antes</a:t>
              </a:r>
              <a:r>
                <a:rPr lang="es-ES_tradnl" altLang="es-ES" sz="1100" dirty="0">
                  <a:solidFill>
                    <a:srgbClr val="006666"/>
                  </a:solidFill>
                </a:rPr>
                <a:t> y otro </a:t>
              </a:r>
              <a:r>
                <a:rPr lang="es-ES_tradnl" altLang="es-ES" sz="1100" i="1" dirty="0">
                  <a:solidFill>
                    <a:srgbClr val="006666"/>
                  </a:solidFill>
                </a:rPr>
                <a:t>después</a:t>
              </a:r>
              <a:r>
                <a:rPr lang="es-ES_tradnl" altLang="es-ES" sz="1100" dirty="0">
                  <a:solidFill>
                    <a:srgbClr val="006666"/>
                  </a:solidFill>
                </a:rPr>
                <a:t> de una intervención</a:t>
              </a:r>
            </a:p>
          </p:txBody>
        </p:sp>
        <p:sp>
          <p:nvSpPr>
            <p:cNvPr id="4112" name="Text Box 45"/>
            <p:cNvSpPr txBox="1">
              <a:spLocks noChangeArrowheads="1"/>
            </p:cNvSpPr>
            <p:nvPr/>
          </p:nvSpPr>
          <p:spPr bwMode="auto">
            <a:xfrm>
              <a:off x="258" y="2266"/>
              <a:ext cx="3120" cy="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lnSpc>
                  <a:spcPct val="110000"/>
                </a:lnSpc>
                <a:buFontTx/>
                <a:buChar char="•"/>
              </a:pPr>
              <a:r>
                <a:rPr lang="es-ES_tradnl" altLang="es-ES" b="1" i="1" dirty="0"/>
                <a:t>Apareamiento natural</a:t>
              </a:r>
              <a:r>
                <a:rPr lang="es-ES_tradnl" altLang="es-ES" dirty="0"/>
                <a:t>: no se trata del mismo sujeto, pero hay un vínculo natural entre los datos de la pareja </a:t>
              </a:r>
            </a:p>
            <a:p>
              <a:pPr algn="just" eaLnBrk="1" hangingPunct="1">
                <a:lnSpc>
                  <a:spcPct val="110000"/>
                </a:lnSpc>
              </a:pPr>
              <a:r>
                <a:rPr lang="es-ES_tradnl" altLang="es-ES" dirty="0">
                  <a:solidFill>
                    <a:srgbClr val="006666"/>
                  </a:solidFill>
                </a:rPr>
                <a:t>	</a:t>
              </a:r>
              <a:r>
                <a:rPr lang="es-ES_tradnl" altLang="es-ES" sz="1100" dirty="0">
                  <a:solidFill>
                    <a:srgbClr val="006666"/>
                  </a:solidFill>
                </a:rPr>
                <a:t>→ </a:t>
              </a:r>
              <a:r>
                <a:rPr lang="es-ES_tradnl" altLang="es-ES" sz="1100" dirty="0" err="1">
                  <a:solidFill>
                    <a:srgbClr val="006666"/>
                  </a:solidFill>
                </a:rPr>
                <a:t>Ej</a:t>
              </a:r>
              <a:r>
                <a:rPr lang="es-ES_tradnl" altLang="es-ES" sz="1100" dirty="0">
                  <a:solidFill>
                    <a:srgbClr val="006666"/>
                  </a:solidFill>
                </a:rPr>
                <a:t>: En experimentación en laboratorio, animales de la misma camada, hermanos gemelos,…</a:t>
              </a:r>
            </a:p>
          </p:txBody>
        </p:sp>
        <p:sp>
          <p:nvSpPr>
            <p:cNvPr id="4113" name="Text Box 46"/>
            <p:cNvSpPr txBox="1">
              <a:spLocks noChangeArrowheads="1"/>
            </p:cNvSpPr>
            <p:nvPr/>
          </p:nvSpPr>
          <p:spPr bwMode="auto">
            <a:xfrm>
              <a:off x="258" y="2832"/>
              <a:ext cx="3120" cy="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lnSpc>
                  <a:spcPct val="120000"/>
                </a:lnSpc>
                <a:buFontTx/>
                <a:buChar char="•"/>
              </a:pPr>
              <a:r>
                <a:rPr lang="es-ES_tradnl" altLang="es-ES" b="1" i="1" dirty="0"/>
                <a:t>Apareamiento artificial</a:t>
              </a:r>
              <a:r>
                <a:rPr lang="es-ES_tradnl" altLang="es-ES" b="1" dirty="0"/>
                <a:t>:</a:t>
              </a:r>
              <a:r>
                <a:rPr lang="es-ES_tradnl" altLang="es-ES" dirty="0"/>
                <a:t> establecido por el investigador en términos de variables de interés (cuando no es viable el </a:t>
              </a:r>
              <a:r>
                <a:rPr lang="es-ES_tradnl" altLang="es-ES" dirty="0" err="1"/>
                <a:t>autoapareamiento</a:t>
              </a:r>
              <a:r>
                <a:rPr lang="es-ES_tradnl" altLang="es-ES" dirty="0"/>
                <a:t>)</a:t>
              </a:r>
            </a:p>
            <a:p>
              <a:pPr marL="92075" indent="0" algn="just" eaLnBrk="1" hangingPunct="1">
                <a:lnSpc>
                  <a:spcPct val="120000"/>
                </a:lnSpc>
              </a:pPr>
              <a:r>
                <a:rPr lang="es-ES_tradnl" altLang="es-ES" sz="1100" dirty="0">
                  <a:solidFill>
                    <a:srgbClr val="006666"/>
                  </a:solidFill>
                </a:rPr>
                <a:t>→ </a:t>
              </a:r>
              <a:r>
                <a:rPr lang="es-ES_tradnl" altLang="es-ES" sz="1100" dirty="0" err="1">
                  <a:solidFill>
                    <a:srgbClr val="006666"/>
                  </a:solidFill>
                </a:rPr>
                <a:t>Ej</a:t>
              </a:r>
              <a:r>
                <a:rPr lang="es-ES_tradnl" altLang="es-ES" sz="1100" dirty="0">
                  <a:solidFill>
                    <a:srgbClr val="006666"/>
                  </a:solidFill>
                </a:rPr>
                <a:t>: Se persigue que cada observación de una muestra tenga un homólogo en la otra muestra</a:t>
              </a:r>
              <a:endParaRPr lang="es-ES_tradnl" altLang="es-ES" dirty="0"/>
            </a:p>
          </p:txBody>
        </p:sp>
      </p:grpSp>
      <p:sp>
        <p:nvSpPr>
          <p:cNvPr id="4110" name="Text Box 50"/>
          <p:cNvSpPr txBox="1">
            <a:spLocks noChangeArrowheads="1"/>
          </p:cNvSpPr>
          <p:nvPr/>
        </p:nvSpPr>
        <p:spPr bwMode="auto">
          <a:xfrm>
            <a:off x="6945748" y="1077913"/>
            <a:ext cx="2133600"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100" dirty="0">
                <a:solidFill>
                  <a:srgbClr val="006666"/>
                </a:solidFill>
              </a:rPr>
              <a:t>→ Ej. Estudio de un indicador fisiológico en relación al género, masculino o femenino </a:t>
            </a:r>
            <a:endParaRPr lang="es-ES" altLang="es-ES" sz="1100" dirty="0">
              <a:solidFill>
                <a:srgbClr val="006666"/>
              </a:solidFill>
            </a:endParaRPr>
          </a:p>
        </p:txBody>
      </p:sp>
      <p:sp>
        <p:nvSpPr>
          <p:cNvPr id="40" name="Text Box 2"/>
          <p:cNvSpPr txBox="1">
            <a:spLocks noChangeArrowheads="1"/>
          </p:cNvSpPr>
          <p:nvPr/>
        </p:nvSpPr>
        <p:spPr bwMode="auto">
          <a:xfrm>
            <a:off x="247650" y="73025"/>
            <a:ext cx="37337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Estudios comparativos con dos muestras</a:t>
            </a:r>
            <a:endParaRPr lang="es-ES" altLang="es-ES" sz="1400" b="1" dirty="0"/>
          </a:p>
        </p:txBody>
      </p:sp>
      <p:sp>
        <p:nvSpPr>
          <p:cNvPr id="2" name="Rectángulo: esquinas redondeadas 1"/>
          <p:cNvSpPr/>
          <p:nvPr/>
        </p:nvSpPr>
        <p:spPr>
          <a:xfrm>
            <a:off x="228600" y="2581276"/>
            <a:ext cx="5291703" cy="2682875"/>
          </a:xfrm>
          <a:prstGeom prst="roundRect">
            <a:avLst>
              <a:gd name="adj" fmla="val 3212"/>
            </a:avLst>
          </a:prstGeom>
          <a:no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108" name="Text Box 44"/>
          <p:cNvSpPr txBox="1">
            <a:spLocks noChangeArrowheads="1"/>
          </p:cNvSpPr>
          <p:nvPr/>
        </p:nvSpPr>
        <p:spPr bwMode="auto">
          <a:xfrm>
            <a:off x="409575" y="2438400"/>
            <a:ext cx="1422400" cy="274638"/>
          </a:xfrm>
          <a:prstGeom prst="rect">
            <a:avLst/>
          </a:prstGeom>
          <a:solidFill>
            <a:schemeClr val="bg1"/>
          </a:solidFill>
          <a:ln>
            <a:noFill/>
          </a:ln>
          <a:effec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b="1" dirty="0"/>
              <a:t>Tipos y ejemplos</a:t>
            </a:r>
            <a:endParaRPr lang="es-ES" altLang="es-ES" b="1" dirty="0"/>
          </a:p>
        </p:txBody>
      </p:sp>
    </p:spTree>
    <p:extLst>
      <p:ext uri="{BB962C8B-B14F-4D97-AF65-F5344CB8AC3E}">
        <p14:creationId xmlns:p14="http://schemas.microsoft.com/office/powerpoint/2010/main" val="992137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2" name="Group 75"/>
          <p:cNvGrpSpPr>
            <a:grpSpLocks/>
          </p:cNvGrpSpPr>
          <p:nvPr/>
        </p:nvGrpSpPr>
        <p:grpSpPr bwMode="auto">
          <a:xfrm>
            <a:off x="228600" y="6477000"/>
            <a:ext cx="4191000" cy="274638"/>
            <a:chOff x="144" y="4080"/>
            <a:chExt cx="2640" cy="173"/>
          </a:xfrm>
        </p:grpSpPr>
        <p:sp>
          <p:nvSpPr>
            <p:cNvPr id="5185" name="Text Box 3"/>
            <p:cNvSpPr txBox="1">
              <a:spLocks noChangeArrowheads="1"/>
            </p:cNvSpPr>
            <p:nvPr/>
          </p:nvSpPr>
          <p:spPr bwMode="auto">
            <a:xfrm>
              <a:off x="144" y="4080"/>
              <a:ext cx="240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 O bien las alternativas unilaterales:                 ; o </a:t>
              </a:r>
              <a:endParaRPr lang="es-ES" altLang="es-ES"/>
            </a:p>
          </p:txBody>
        </p:sp>
        <p:graphicFrame>
          <p:nvGraphicFramePr>
            <p:cNvPr id="5186" name="Object 4"/>
            <p:cNvGraphicFramePr>
              <a:graphicFrameLocks noChangeAspect="1"/>
            </p:cNvGraphicFramePr>
            <p:nvPr/>
          </p:nvGraphicFramePr>
          <p:xfrm>
            <a:off x="1764" y="4098"/>
            <a:ext cx="432" cy="149"/>
          </p:xfrm>
          <a:graphic>
            <a:graphicData uri="http://schemas.openxmlformats.org/presentationml/2006/ole">
              <mc:AlternateContent xmlns:mc="http://schemas.openxmlformats.org/markup-compatibility/2006">
                <mc:Choice xmlns:v="urn:schemas-microsoft-com:vml" Requires="v">
                  <p:oleObj name="Equation" r:id="rId2" imgW="660400" imgH="228600" progId="Equation.DSMT4">
                    <p:embed/>
                  </p:oleObj>
                </mc:Choice>
                <mc:Fallback>
                  <p:oleObj name="Equation" r:id="rId2" imgW="660400" imgH="228600" progId="Equation.DSMT4">
                    <p:embed/>
                    <p:pic>
                      <p:nvPicPr>
                        <p:cNvPr id="518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4" y="4098"/>
                          <a:ext cx="432" cy="14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87" name="Object 5"/>
            <p:cNvGraphicFramePr>
              <a:graphicFrameLocks noChangeAspect="1"/>
            </p:cNvGraphicFramePr>
            <p:nvPr/>
          </p:nvGraphicFramePr>
          <p:xfrm>
            <a:off x="2352" y="4098"/>
            <a:ext cx="432" cy="149"/>
          </p:xfrm>
          <a:graphic>
            <a:graphicData uri="http://schemas.openxmlformats.org/presentationml/2006/ole">
              <mc:AlternateContent xmlns:mc="http://schemas.openxmlformats.org/markup-compatibility/2006">
                <mc:Choice xmlns:v="urn:schemas-microsoft-com:vml" Requires="v">
                  <p:oleObj name="Equation" r:id="rId4" imgW="660400" imgH="228600" progId="Equation.DSMT4">
                    <p:embed/>
                  </p:oleObj>
                </mc:Choice>
                <mc:Fallback>
                  <p:oleObj name="Equation" r:id="rId4" imgW="660400" imgH="228600" progId="Equation.DSMT4">
                    <p:embed/>
                    <p:pic>
                      <p:nvPicPr>
                        <p:cNvPr id="518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2" y="4098"/>
                          <a:ext cx="432" cy="14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123" name="Rectangle 6"/>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5124" name="Group 78"/>
          <p:cNvGrpSpPr>
            <a:grpSpLocks/>
          </p:cNvGrpSpPr>
          <p:nvPr/>
        </p:nvGrpSpPr>
        <p:grpSpPr bwMode="auto">
          <a:xfrm>
            <a:off x="533400" y="981075"/>
            <a:ext cx="7753350" cy="5248275"/>
            <a:chOff x="336" y="618"/>
            <a:chExt cx="4884" cy="3306"/>
          </a:xfrm>
        </p:grpSpPr>
        <p:grpSp>
          <p:nvGrpSpPr>
            <p:cNvPr id="5126" name="Group 77"/>
            <p:cNvGrpSpPr>
              <a:grpSpLocks/>
            </p:cNvGrpSpPr>
            <p:nvPr/>
          </p:nvGrpSpPr>
          <p:grpSpPr bwMode="auto">
            <a:xfrm>
              <a:off x="3894" y="618"/>
              <a:ext cx="1326" cy="3306"/>
              <a:chOff x="3894" y="618"/>
              <a:chExt cx="1326" cy="3306"/>
            </a:xfrm>
          </p:grpSpPr>
          <p:sp>
            <p:nvSpPr>
              <p:cNvPr id="5178" name="Rectangle 9"/>
              <p:cNvSpPr>
                <a:spLocks noChangeArrowheads="1"/>
              </p:cNvSpPr>
              <p:nvPr/>
            </p:nvSpPr>
            <p:spPr bwMode="auto">
              <a:xfrm>
                <a:off x="3894" y="804"/>
                <a:ext cx="1326" cy="3120"/>
              </a:xfrm>
              <a:prstGeom prst="rect">
                <a:avLst/>
              </a:prstGeom>
              <a:solidFill>
                <a:srgbClr val="C0C0C0">
                  <a:alpha val="2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5179" name="Text Box 10"/>
              <p:cNvSpPr txBox="1">
                <a:spLocks noChangeArrowheads="1"/>
              </p:cNvSpPr>
              <p:nvPr/>
            </p:nvSpPr>
            <p:spPr bwMode="auto">
              <a:xfrm>
                <a:off x="3894" y="618"/>
                <a:ext cx="132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400"/>
                  <a:t>Método</a:t>
                </a:r>
                <a:endParaRPr lang="es-ES" altLang="es-ES" sz="1400"/>
              </a:p>
            </p:txBody>
          </p:sp>
          <p:sp>
            <p:nvSpPr>
              <p:cNvPr id="5180" name="Text Box 11"/>
              <p:cNvSpPr txBox="1">
                <a:spLocks noChangeArrowheads="1"/>
              </p:cNvSpPr>
              <p:nvPr/>
            </p:nvSpPr>
            <p:spPr bwMode="auto">
              <a:xfrm>
                <a:off x="3946" y="874"/>
                <a:ext cx="1196"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dirty="0"/>
                  <a:t>Test de Student</a:t>
                </a:r>
                <a:r>
                  <a:rPr lang="es-ES_tradnl" altLang="es-ES" dirty="0"/>
                  <a:t> </a:t>
                </a:r>
              </a:p>
              <a:p>
                <a:pPr eaLnBrk="1" hangingPunct="1"/>
                <a:r>
                  <a:rPr lang="es-ES_tradnl" altLang="es-ES" sz="900" dirty="0"/>
                  <a:t>(muestras independientes) </a:t>
                </a:r>
                <a:endParaRPr lang="es-ES" altLang="es-ES" sz="900" dirty="0"/>
              </a:p>
            </p:txBody>
          </p:sp>
          <p:sp>
            <p:nvSpPr>
              <p:cNvPr id="5181" name="Text Box 12"/>
              <p:cNvSpPr txBox="1">
                <a:spLocks noChangeArrowheads="1"/>
              </p:cNvSpPr>
              <p:nvPr/>
            </p:nvSpPr>
            <p:spPr bwMode="auto">
              <a:xfrm>
                <a:off x="3946" y="1509"/>
                <a:ext cx="119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Test de Welch</a:t>
                </a:r>
              </a:p>
            </p:txBody>
          </p:sp>
          <p:sp>
            <p:nvSpPr>
              <p:cNvPr id="5182" name="Text Box 13"/>
              <p:cNvSpPr txBox="1">
                <a:spLocks noChangeArrowheads="1"/>
              </p:cNvSpPr>
              <p:nvPr/>
            </p:nvSpPr>
            <p:spPr bwMode="auto">
              <a:xfrm>
                <a:off x="3946" y="2061"/>
                <a:ext cx="1196" cy="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Test de Mann-Whitney</a:t>
                </a:r>
              </a:p>
              <a:p>
                <a:pPr eaLnBrk="1" hangingPunct="1">
                  <a:lnSpc>
                    <a:spcPct val="120000"/>
                  </a:lnSpc>
                </a:pPr>
                <a:r>
                  <a:rPr lang="es-ES_tradnl" altLang="es-ES" b="1"/>
                  <a:t>Test de Wilcoxon</a:t>
                </a:r>
                <a:endParaRPr lang="es-ES_tradnl" altLang="es-ES" sz="900" b="1"/>
              </a:p>
              <a:p>
                <a:pPr eaLnBrk="1" hangingPunct="1"/>
                <a:r>
                  <a:rPr lang="es-ES_tradnl" altLang="es-ES" sz="900"/>
                  <a:t>(muestras independientes)</a:t>
                </a:r>
              </a:p>
            </p:txBody>
          </p:sp>
          <p:sp>
            <p:nvSpPr>
              <p:cNvPr id="5183" name="Text Box 14"/>
              <p:cNvSpPr txBox="1">
                <a:spLocks noChangeArrowheads="1"/>
              </p:cNvSpPr>
              <p:nvPr/>
            </p:nvSpPr>
            <p:spPr bwMode="auto">
              <a:xfrm>
                <a:off x="3946" y="2533"/>
                <a:ext cx="1196"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dirty="0"/>
                  <a:t>Test de Student </a:t>
                </a:r>
              </a:p>
              <a:p>
                <a:pPr eaLnBrk="1" hangingPunct="1"/>
                <a:r>
                  <a:rPr lang="es-ES_tradnl" altLang="es-ES" sz="900" dirty="0"/>
                  <a:t>(muestras apareadas) </a:t>
                </a:r>
                <a:endParaRPr lang="es-ES" altLang="es-ES" sz="900" dirty="0"/>
              </a:p>
            </p:txBody>
          </p:sp>
          <p:sp>
            <p:nvSpPr>
              <p:cNvPr id="5184" name="Text Box 15"/>
              <p:cNvSpPr txBox="1">
                <a:spLocks noChangeArrowheads="1"/>
              </p:cNvSpPr>
              <p:nvPr/>
            </p:nvSpPr>
            <p:spPr bwMode="auto">
              <a:xfrm>
                <a:off x="3946" y="3487"/>
                <a:ext cx="119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Test de Wilcoxon</a:t>
                </a:r>
                <a:endParaRPr lang="es-ES" altLang="es-ES" sz="900" b="1"/>
              </a:p>
            </p:txBody>
          </p:sp>
        </p:grpSp>
        <p:grpSp>
          <p:nvGrpSpPr>
            <p:cNvPr id="5127" name="Group 76"/>
            <p:cNvGrpSpPr>
              <a:grpSpLocks/>
            </p:cNvGrpSpPr>
            <p:nvPr/>
          </p:nvGrpSpPr>
          <p:grpSpPr bwMode="auto">
            <a:xfrm>
              <a:off x="336" y="618"/>
              <a:ext cx="757" cy="3306"/>
              <a:chOff x="336" y="618"/>
              <a:chExt cx="757" cy="3306"/>
            </a:xfrm>
          </p:grpSpPr>
          <p:sp>
            <p:nvSpPr>
              <p:cNvPr id="5171" name="Rectangle 17"/>
              <p:cNvSpPr>
                <a:spLocks noChangeArrowheads="1"/>
              </p:cNvSpPr>
              <p:nvPr/>
            </p:nvSpPr>
            <p:spPr bwMode="auto">
              <a:xfrm>
                <a:off x="336" y="804"/>
                <a:ext cx="672" cy="3120"/>
              </a:xfrm>
              <a:prstGeom prst="rect">
                <a:avLst/>
              </a:prstGeom>
              <a:solidFill>
                <a:srgbClr val="C0C0C0">
                  <a:alpha val="2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5172" name="Text Box 18"/>
              <p:cNvSpPr txBox="1">
                <a:spLocks noChangeArrowheads="1"/>
              </p:cNvSpPr>
              <p:nvPr/>
            </p:nvSpPr>
            <p:spPr bwMode="auto">
              <a:xfrm>
                <a:off x="336" y="618"/>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400"/>
                  <a:t>Hipótesis</a:t>
                </a:r>
                <a:endParaRPr lang="es-ES" altLang="es-ES" sz="1400"/>
              </a:p>
            </p:txBody>
          </p:sp>
          <p:graphicFrame>
            <p:nvGraphicFramePr>
              <p:cNvPr id="5173" name="Object 19"/>
              <p:cNvGraphicFramePr>
                <a:graphicFrameLocks noChangeAspect="1"/>
              </p:cNvGraphicFramePr>
              <p:nvPr/>
            </p:nvGraphicFramePr>
            <p:xfrm>
              <a:off x="384" y="2092"/>
              <a:ext cx="551" cy="344"/>
            </p:xfrm>
            <a:graphic>
              <a:graphicData uri="http://schemas.openxmlformats.org/presentationml/2006/ole">
                <mc:AlternateContent xmlns:mc="http://schemas.openxmlformats.org/markup-compatibility/2006">
                  <mc:Choice xmlns:v="urn:schemas-microsoft-com:vml" Requires="v">
                    <p:oleObj name="Equation" r:id="rId6" imgW="748975" imgH="482391" progId="Equation.DSMT4">
                      <p:embed/>
                    </p:oleObj>
                  </mc:Choice>
                  <mc:Fallback>
                    <p:oleObj name="Equation" r:id="rId6" imgW="748975" imgH="482391" progId="Equation.DSMT4">
                      <p:embed/>
                      <p:pic>
                        <p:nvPicPr>
                          <p:cNvPr id="5173"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 y="2092"/>
                            <a:ext cx="551" cy="3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74" name="Text Box 20"/>
              <p:cNvSpPr txBox="1">
                <a:spLocks noChangeArrowheads="1"/>
              </p:cNvSpPr>
              <p:nvPr/>
            </p:nvSpPr>
            <p:spPr bwMode="auto">
              <a:xfrm>
                <a:off x="559" y="2423"/>
                <a:ext cx="201"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a:t>(*)</a:t>
                </a:r>
                <a:endParaRPr lang="es-ES" altLang="es-ES" sz="1000"/>
              </a:p>
            </p:txBody>
          </p:sp>
          <p:sp>
            <p:nvSpPr>
              <p:cNvPr id="5175" name="Freeform 21"/>
              <p:cNvSpPr>
                <a:spLocks/>
              </p:cNvSpPr>
              <p:nvPr/>
            </p:nvSpPr>
            <p:spPr bwMode="auto">
              <a:xfrm>
                <a:off x="980" y="1555"/>
                <a:ext cx="113" cy="1478"/>
              </a:xfrm>
              <a:custGeom>
                <a:avLst/>
                <a:gdLst>
                  <a:gd name="T0" fmla="*/ 104 w 113"/>
                  <a:gd name="T1" fmla="*/ 0 h 1524"/>
                  <a:gd name="T2" fmla="*/ 0 w 113"/>
                  <a:gd name="T3" fmla="*/ 0 h 1524"/>
                  <a:gd name="T4" fmla="*/ 0 w 113"/>
                  <a:gd name="T5" fmla="*/ 1433 h 1524"/>
                  <a:gd name="T6" fmla="*/ 113 w 113"/>
                  <a:gd name="T7" fmla="*/ 1433 h 15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3" h="1524">
                    <a:moveTo>
                      <a:pt x="104" y="0"/>
                    </a:moveTo>
                    <a:lnTo>
                      <a:pt x="0" y="0"/>
                    </a:lnTo>
                    <a:lnTo>
                      <a:pt x="0" y="1524"/>
                    </a:lnTo>
                    <a:lnTo>
                      <a:pt x="113" y="1524"/>
                    </a:lnTo>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76" name="Line 22"/>
              <p:cNvSpPr>
                <a:spLocks noChangeShapeType="1"/>
              </p:cNvSpPr>
              <p:nvPr/>
            </p:nvSpPr>
            <p:spPr bwMode="auto">
              <a:xfrm>
                <a:off x="930" y="2292"/>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77" name="Line 23"/>
              <p:cNvSpPr>
                <a:spLocks noChangeShapeType="1"/>
              </p:cNvSpPr>
              <p:nvPr/>
            </p:nvSpPr>
            <p:spPr bwMode="auto">
              <a:xfrm>
                <a:off x="930" y="2292"/>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5128" name="Group 74"/>
            <p:cNvGrpSpPr>
              <a:grpSpLocks/>
            </p:cNvGrpSpPr>
            <p:nvPr/>
          </p:nvGrpSpPr>
          <p:grpSpPr bwMode="auto">
            <a:xfrm>
              <a:off x="1092" y="618"/>
              <a:ext cx="947" cy="3306"/>
              <a:chOff x="1092" y="618"/>
              <a:chExt cx="947" cy="3306"/>
            </a:xfrm>
          </p:grpSpPr>
          <p:grpSp>
            <p:nvGrpSpPr>
              <p:cNvPr id="5160" name="Group 73"/>
              <p:cNvGrpSpPr>
                <a:grpSpLocks/>
              </p:cNvGrpSpPr>
              <p:nvPr/>
            </p:nvGrpSpPr>
            <p:grpSpPr bwMode="auto">
              <a:xfrm>
                <a:off x="1092" y="618"/>
                <a:ext cx="858" cy="3306"/>
                <a:chOff x="1092" y="618"/>
                <a:chExt cx="858" cy="3306"/>
              </a:xfrm>
            </p:grpSpPr>
            <p:sp>
              <p:nvSpPr>
                <p:cNvPr id="5169" name="Text Box 26"/>
                <p:cNvSpPr txBox="1">
                  <a:spLocks noChangeArrowheads="1"/>
                </p:cNvSpPr>
                <p:nvPr/>
              </p:nvSpPr>
              <p:spPr bwMode="auto">
                <a:xfrm>
                  <a:off x="1092" y="618"/>
                  <a:ext cx="85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400"/>
                    <a:t>Diseño</a:t>
                  </a:r>
                  <a:endParaRPr lang="es-ES" altLang="es-ES" sz="1400"/>
                </a:p>
              </p:txBody>
            </p:sp>
            <p:sp>
              <p:nvSpPr>
                <p:cNvPr id="5170" name="Rectangle 27"/>
                <p:cNvSpPr>
                  <a:spLocks noChangeArrowheads="1"/>
                </p:cNvSpPr>
                <p:nvPr/>
              </p:nvSpPr>
              <p:spPr bwMode="auto">
                <a:xfrm>
                  <a:off x="1092" y="804"/>
                  <a:ext cx="858" cy="3120"/>
                </a:xfrm>
                <a:prstGeom prst="rect">
                  <a:avLst/>
                </a:prstGeom>
                <a:solidFill>
                  <a:srgbClr val="C0C0C0">
                    <a:alpha val="2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5161" name="Text Box 28"/>
              <p:cNvSpPr txBox="1">
                <a:spLocks noChangeArrowheads="1"/>
              </p:cNvSpPr>
              <p:nvPr/>
            </p:nvSpPr>
            <p:spPr bwMode="auto">
              <a:xfrm>
                <a:off x="1152" y="2868"/>
                <a:ext cx="6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2 Muestras relacionadas</a:t>
                </a:r>
                <a:endParaRPr lang="es-ES" altLang="es-ES"/>
              </a:p>
            </p:txBody>
          </p:sp>
          <p:sp>
            <p:nvSpPr>
              <p:cNvPr id="5162" name="Text Box 29"/>
              <p:cNvSpPr txBox="1">
                <a:spLocks noChangeArrowheads="1"/>
              </p:cNvSpPr>
              <p:nvPr/>
            </p:nvSpPr>
            <p:spPr bwMode="auto">
              <a:xfrm>
                <a:off x="1152" y="1404"/>
                <a:ext cx="8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2 Muestras independientes</a:t>
                </a:r>
                <a:endParaRPr lang="es-ES" altLang="es-ES"/>
              </a:p>
            </p:txBody>
          </p:sp>
          <p:grpSp>
            <p:nvGrpSpPr>
              <p:cNvPr id="5163" name="Group 72"/>
              <p:cNvGrpSpPr>
                <a:grpSpLocks/>
              </p:cNvGrpSpPr>
              <p:nvPr/>
            </p:nvGrpSpPr>
            <p:grpSpPr bwMode="auto">
              <a:xfrm>
                <a:off x="1878" y="2708"/>
                <a:ext cx="161" cy="651"/>
                <a:chOff x="1878" y="2708"/>
                <a:chExt cx="161" cy="651"/>
              </a:xfrm>
            </p:grpSpPr>
            <p:sp>
              <p:nvSpPr>
                <p:cNvPr id="5167" name="Freeform 31"/>
                <p:cNvSpPr>
                  <a:spLocks/>
                </p:cNvSpPr>
                <p:nvPr/>
              </p:nvSpPr>
              <p:spPr bwMode="auto">
                <a:xfrm>
                  <a:off x="1926" y="2708"/>
                  <a:ext cx="113" cy="651"/>
                </a:xfrm>
                <a:custGeom>
                  <a:avLst/>
                  <a:gdLst>
                    <a:gd name="T0" fmla="*/ 104 w 113"/>
                    <a:gd name="T1" fmla="*/ 0 h 1524"/>
                    <a:gd name="T2" fmla="*/ 0 w 113"/>
                    <a:gd name="T3" fmla="*/ 0 h 1524"/>
                    <a:gd name="T4" fmla="*/ 0 w 113"/>
                    <a:gd name="T5" fmla="*/ 278 h 1524"/>
                    <a:gd name="T6" fmla="*/ 113 w 113"/>
                    <a:gd name="T7" fmla="*/ 278 h 15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3" h="1524">
                      <a:moveTo>
                        <a:pt x="104" y="0"/>
                      </a:moveTo>
                      <a:lnTo>
                        <a:pt x="0" y="0"/>
                      </a:lnTo>
                      <a:lnTo>
                        <a:pt x="0" y="1524"/>
                      </a:lnTo>
                      <a:lnTo>
                        <a:pt x="113" y="1524"/>
                      </a:lnTo>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68" name="Line 32"/>
                <p:cNvSpPr>
                  <a:spLocks noChangeShapeType="1"/>
                </p:cNvSpPr>
                <p:nvPr/>
              </p:nvSpPr>
              <p:spPr bwMode="auto">
                <a:xfrm>
                  <a:off x="1878" y="3034"/>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5164" name="Group 71"/>
              <p:cNvGrpSpPr>
                <a:grpSpLocks/>
              </p:cNvGrpSpPr>
              <p:nvPr/>
            </p:nvGrpSpPr>
            <p:grpSpPr bwMode="auto">
              <a:xfrm>
                <a:off x="1878" y="1218"/>
                <a:ext cx="161" cy="931"/>
                <a:chOff x="1878" y="1218"/>
                <a:chExt cx="161" cy="931"/>
              </a:xfrm>
            </p:grpSpPr>
            <p:sp>
              <p:nvSpPr>
                <p:cNvPr id="5165" name="Freeform 34"/>
                <p:cNvSpPr>
                  <a:spLocks/>
                </p:cNvSpPr>
                <p:nvPr/>
              </p:nvSpPr>
              <p:spPr bwMode="auto">
                <a:xfrm>
                  <a:off x="1926" y="1218"/>
                  <a:ext cx="113" cy="931"/>
                </a:xfrm>
                <a:custGeom>
                  <a:avLst/>
                  <a:gdLst>
                    <a:gd name="T0" fmla="*/ 104 w 113"/>
                    <a:gd name="T1" fmla="*/ 0 h 1524"/>
                    <a:gd name="T2" fmla="*/ 0 w 113"/>
                    <a:gd name="T3" fmla="*/ 0 h 1524"/>
                    <a:gd name="T4" fmla="*/ 0 w 113"/>
                    <a:gd name="T5" fmla="*/ 569 h 1524"/>
                    <a:gd name="T6" fmla="*/ 113 w 113"/>
                    <a:gd name="T7" fmla="*/ 569 h 15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3" h="1524">
                      <a:moveTo>
                        <a:pt x="104" y="0"/>
                      </a:moveTo>
                      <a:lnTo>
                        <a:pt x="0" y="0"/>
                      </a:lnTo>
                      <a:lnTo>
                        <a:pt x="0" y="1524"/>
                      </a:lnTo>
                      <a:lnTo>
                        <a:pt x="113" y="1524"/>
                      </a:lnTo>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66" name="Line 35"/>
                <p:cNvSpPr>
                  <a:spLocks noChangeShapeType="1"/>
                </p:cNvSpPr>
                <p:nvPr/>
              </p:nvSpPr>
              <p:spPr bwMode="auto">
                <a:xfrm>
                  <a:off x="1878" y="1590"/>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5129" name="Group 70"/>
            <p:cNvGrpSpPr>
              <a:grpSpLocks/>
            </p:cNvGrpSpPr>
            <p:nvPr/>
          </p:nvGrpSpPr>
          <p:grpSpPr bwMode="auto">
            <a:xfrm>
              <a:off x="1950" y="618"/>
              <a:ext cx="1938" cy="3306"/>
              <a:chOff x="1950" y="618"/>
              <a:chExt cx="1938" cy="3306"/>
            </a:xfrm>
          </p:grpSpPr>
          <p:sp>
            <p:nvSpPr>
              <p:cNvPr id="5130" name="Rectangle 37"/>
              <p:cNvSpPr>
                <a:spLocks noChangeArrowheads="1"/>
              </p:cNvSpPr>
              <p:nvPr/>
            </p:nvSpPr>
            <p:spPr bwMode="auto">
              <a:xfrm>
                <a:off x="2064" y="804"/>
                <a:ext cx="1680" cy="3120"/>
              </a:xfrm>
              <a:prstGeom prst="rect">
                <a:avLst/>
              </a:prstGeom>
              <a:solidFill>
                <a:srgbClr val="C0C0C0">
                  <a:alpha val="2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5131" name="Text Box 38"/>
              <p:cNvSpPr txBox="1">
                <a:spLocks noChangeArrowheads="1"/>
              </p:cNvSpPr>
              <p:nvPr/>
            </p:nvSpPr>
            <p:spPr bwMode="auto">
              <a:xfrm>
                <a:off x="1950" y="618"/>
                <a:ext cx="19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400"/>
                  <a:t>Supuestos</a:t>
                </a:r>
                <a:endParaRPr lang="es-ES" altLang="es-ES" sz="1400"/>
              </a:p>
            </p:txBody>
          </p:sp>
          <p:sp>
            <p:nvSpPr>
              <p:cNvPr id="5132" name="Text Box 39"/>
              <p:cNvSpPr txBox="1">
                <a:spLocks noChangeArrowheads="1"/>
              </p:cNvSpPr>
              <p:nvPr/>
            </p:nvSpPr>
            <p:spPr bwMode="auto">
              <a:xfrm>
                <a:off x="2808" y="924"/>
                <a:ext cx="9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Varianzas iguales </a:t>
                </a:r>
                <a:endParaRPr lang="es-ES" altLang="es-ES"/>
              </a:p>
            </p:txBody>
          </p:sp>
          <p:sp>
            <p:nvSpPr>
              <p:cNvPr id="5133" name="Text Box 40"/>
              <p:cNvSpPr txBox="1">
                <a:spLocks noChangeArrowheads="1"/>
              </p:cNvSpPr>
              <p:nvPr/>
            </p:nvSpPr>
            <p:spPr bwMode="auto">
              <a:xfrm>
                <a:off x="2784" y="1218"/>
                <a:ext cx="110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Varianzas distintas </a:t>
                </a:r>
                <a:endParaRPr lang="es-ES" altLang="es-ES"/>
              </a:p>
            </p:txBody>
          </p:sp>
          <p:graphicFrame>
            <p:nvGraphicFramePr>
              <p:cNvPr id="5134" name="Object 41"/>
              <p:cNvGraphicFramePr>
                <a:graphicFrameLocks noChangeAspect="1"/>
              </p:cNvGraphicFramePr>
              <p:nvPr/>
            </p:nvGraphicFramePr>
            <p:xfrm>
              <a:off x="2862" y="1829"/>
              <a:ext cx="622" cy="184"/>
            </p:xfrm>
            <a:graphic>
              <a:graphicData uri="http://schemas.openxmlformats.org/presentationml/2006/ole">
                <mc:AlternateContent xmlns:mc="http://schemas.openxmlformats.org/markup-compatibility/2006">
                  <mc:Choice xmlns:v="urn:schemas-microsoft-com:vml" Requires="v">
                    <p:oleObj name="Equation" r:id="rId8" imgW="749300" imgH="228600" progId="Equation.DSMT4">
                      <p:embed/>
                    </p:oleObj>
                  </mc:Choice>
                  <mc:Fallback>
                    <p:oleObj name="Equation" r:id="rId8" imgW="749300" imgH="228600" progId="Equation.DSMT4">
                      <p:embed/>
                      <p:pic>
                        <p:nvPicPr>
                          <p:cNvPr id="5134" name="Object 4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62" y="1829"/>
                            <a:ext cx="622" cy="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35" name="Object 42"/>
              <p:cNvGraphicFramePr>
                <a:graphicFrameLocks noChangeAspect="1"/>
              </p:cNvGraphicFramePr>
              <p:nvPr/>
            </p:nvGraphicFramePr>
            <p:xfrm>
              <a:off x="2862" y="2161"/>
              <a:ext cx="624" cy="186"/>
            </p:xfrm>
            <a:graphic>
              <a:graphicData uri="http://schemas.openxmlformats.org/presentationml/2006/ole">
                <mc:AlternateContent xmlns:mc="http://schemas.openxmlformats.org/markup-compatibility/2006">
                  <mc:Choice xmlns:v="urn:schemas-microsoft-com:vml" Requires="v">
                    <p:oleObj name="Equation" r:id="rId10" imgW="749300" imgH="228600" progId="Equation.DSMT4">
                      <p:embed/>
                    </p:oleObj>
                  </mc:Choice>
                  <mc:Fallback>
                    <p:oleObj name="Equation" r:id="rId10" imgW="749300" imgH="228600" progId="Equation.DSMT4">
                      <p:embed/>
                      <p:pic>
                        <p:nvPicPr>
                          <p:cNvPr id="5135" name="Object 4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62" y="2161"/>
                            <a:ext cx="624"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136" name="Group 69"/>
              <p:cNvGrpSpPr>
                <a:grpSpLocks/>
              </p:cNvGrpSpPr>
              <p:nvPr/>
            </p:nvGrpSpPr>
            <p:grpSpPr bwMode="auto">
              <a:xfrm>
                <a:off x="2862" y="3086"/>
                <a:ext cx="359" cy="558"/>
                <a:chOff x="2862" y="3086"/>
                <a:chExt cx="359" cy="558"/>
              </a:xfrm>
            </p:grpSpPr>
            <p:graphicFrame>
              <p:nvGraphicFramePr>
                <p:cNvPr id="5158" name="Object 44"/>
                <p:cNvGraphicFramePr>
                  <a:graphicFrameLocks noChangeAspect="1"/>
                </p:cNvGraphicFramePr>
                <p:nvPr/>
              </p:nvGraphicFramePr>
              <p:xfrm>
                <a:off x="2862" y="3086"/>
                <a:ext cx="358" cy="143"/>
              </p:xfrm>
              <a:graphic>
                <a:graphicData uri="http://schemas.openxmlformats.org/presentationml/2006/ole">
                  <mc:AlternateContent xmlns:mc="http://schemas.openxmlformats.org/markup-compatibility/2006">
                    <mc:Choice xmlns:v="urn:schemas-microsoft-com:vml" Requires="v">
                      <p:oleObj name="Equation" r:id="rId12" imgW="431425" imgH="177646" progId="Equation.DSMT4">
                        <p:embed/>
                      </p:oleObj>
                    </mc:Choice>
                    <mc:Fallback>
                      <p:oleObj name="Equation" r:id="rId12" imgW="431425" imgH="177646" progId="Equation.DSMT4">
                        <p:embed/>
                        <p:pic>
                          <p:nvPicPr>
                            <p:cNvPr id="5158" name="Object 4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62" y="3086"/>
                              <a:ext cx="358" cy="14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59" name="Object 45"/>
                <p:cNvGraphicFramePr>
                  <a:graphicFrameLocks noChangeAspect="1"/>
                </p:cNvGraphicFramePr>
                <p:nvPr/>
              </p:nvGraphicFramePr>
              <p:xfrm>
                <a:off x="2862" y="3499"/>
                <a:ext cx="359" cy="145"/>
              </p:xfrm>
              <a:graphic>
                <a:graphicData uri="http://schemas.openxmlformats.org/presentationml/2006/ole">
                  <mc:AlternateContent xmlns:mc="http://schemas.openxmlformats.org/markup-compatibility/2006">
                    <mc:Choice xmlns:v="urn:schemas-microsoft-com:vml" Requires="v">
                      <p:oleObj name="Equation" r:id="rId14" imgW="431425" imgH="177646" progId="Equation.DSMT4">
                        <p:embed/>
                      </p:oleObj>
                    </mc:Choice>
                    <mc:Fallback>
                      <p:oleObj name="Equation" r:id="rId14" imgW="431425" imgH="177646" progId="Equation.DSMT4">
                        <p:embed/>
                        <p:pic>
                          <p:nvPicPr>
                            <p:cNvPr id="5159" name="Object 4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62" y="3499"/>
                              <a:ext cx="359" cy="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137" name="Text Box 46"/>
              <p:cNvSpPr txBox="1">
                <a:spLocks noChangeArrowheads="1"/>
              </p:cNvSpPr>
              <p:nvPr/>
            </p:nvSpPr>
            <p:spPr bwMode="auto">
              <a:xfrm>
                <a:off x="2076" y="1084"/>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Variable normal</a:t>
                </a:r>
                <a:endParaRPr lang="es-ES" altLang="es-ES"/>
              </a:p>
            </p:txBody>
          </p:sp>
          <p:sp>
            <p:nvSpPr>
              <p:cNvPr id="5138" name="Text Box 47"/>
              <p:cNvSpPr txBox="1">
                <a:spLocks noChangeArrowheads="1"/>
              </p:cNvSpPr>
              <p:nvPr/>
            </p:nvSpPr>
            <p:spPr bwMode="auto">
              <a:xfrm>
                <a:off x="2076" y="1963"/>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Variable no normal</a:t>
                </a:r>
                <a:endParaRPr lang="es-ES" altLang="es-ES"/>
              </a:p>
            </p:txBody>
          </p:sp>
          <p:grpSp>
            <p:nvGrpSpPr>
              <p:cNvPr id="5139" name="Group 68"/>
              <p:cNvGrpSpPr>
                <a:grpSpLocks/>
              </p:cNvGrpSpPr>
              <p:nvPr/>
            </p:nvGrpSpPr>
            <p:grpSpPr bwMode="auto">
              <a:xfrm>
                <a:off x="2076" y="2463"/>
                <a:ext cx="768" cy="1101"/>
                <a:chOff x="2076" y="2463"/>
                <a:chExt cx="768" cy="1101"/>
              </a:xfrm>
            </p:grpSpPr>
            <p:sp>
              <p:nvSpPr>
                <p:cNvPr id="5156" name="Text Box 49"/>
                <p:cNvSpPr txBox="1">
                  <a:spLocks noChangeArrowheads="1"/>
                </p:cNvSpPr>
                <p:nvPr/>
              </p:nvSpPr>
              <p:spPr bwMode="auto">
                <a:xfrm>
                  <a:off x="2076" y="2463"/>
                  <a:ext cx="76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Variable diferencia normal</a:t>
                  </a:r>
                  <a:endParaRPr lang="es-ES" altLang="es-ES"/>
                </a:p>
              </p:txBody>
            </p:sp>
            <p:sp>
              <p:nvSpPr>
                <p:cNvPr id="5157" name="Text Box 50"/>
                <p:cNvSpPr txBox="1">
                  <a:spLocks noChangeArrowheads="1"/>
                </p:cNvSpPr>
                <p:nvPr/>
              </p:nvSpPr>
              <p:spPr bwMode="auto">
                <a:xfrm>
                  <a:off x="2076" y="3161"/>
                  <a:ext cx="76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Variable diferencia no normal</a:t>
                  </a:r>
                  <a:endParaRPr lang="es-ES" altLang="es-ES"/>
                </a:p>
              </p:txBody>
            </p:sp>
          </p:grpSp>
          <p:sp>
            <p:nvSpPr>
              <p:cNvPr id="5140" name="Freeform 51"/>
              <p:cNvSpPr>
                <a:spLocks/>
              </p:cNvSpPr>
              <p:nvPr/>
            </p:nvSpPr>
            <p:spPr bwMode="auto">
              <a:xfrm>
                <a:off x="2744" y="3173"/>
                <a:ext cx="113" cy="419"/>
              </a:xfrm>
              <a:custGeom>
                <a:avLst/>
                <a:gdLst>
                  <a:gd name="T0" fmla="*/ 104 w 113"/>
                  <a:gd name="T1" fmla="*/ 0 h 1524"/>
                  <a:gd name="T2" fmla="*/ 0 w 113"/>
                  <a:gd name="T3" fmla="*/ 0 h 1524"/>
                  <a:gd name="T4" fmla="*/ 0 w 113"/>
                  <a:gd name="T5" fmla="*/ 115 h 1524"/>
                  <a:gd name="T6" fmla="*/ 113 w 113"/>
                  <a:gd name="T7" fmla="*/ 115 h 15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3" h="1524">
                    <a:moveTo>
                      <a:pt x="104" y="0"/>
                    </a:moveTo>
                    <a:lnTo>
                      <a:pt x="0" y="0"/>
                    </a:lnTo>
                    <a:lnTo>
                      <a:pt x="0" y="1524"/>
                    </a:lnTo>
                    <a:lnTo>
                      <a:pt x="113" y="1524"/>
                    </a:lnTo>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41" name="Freeform 52"/>
              <p:cNvSpPr>
                <a:spLocks/>
              </p:cNvSpPr>
              <p:nvPr/>
            </p:nvSpPr>
            <p:spPr bwMode="auto">
              <a:xfrm>
                <a:off x="2688" y="1916"/>
                <a:ext cx="113" cy="372"/>
              </a:xfrm>
              <a:custGeom>
                <a:avLst/>
                <a:gdLst>
                  <a:gd name="T0" fmla="*/ 104 w 113"/>
                  <a:gd name="T1" fmla="*/ 0 h 1524"/>
                  <a:gd name="T2" fmla="*/ 0 w 113"/>
                  <a:gd name="T3" fmla="*/ 0 h 1524"/>
                  <a:gd name="T4" fmla="*/ 0 w 113"/>
                  <a:gd name="T5" fmla="*/ 91 h 1524"/>
                  <a:gd name="T6" fmla="*/ 113 w 113"/>
                  <a:gd name="T7" fmla="*/ 91 h 15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3" h="1524">
                    <a:moveTo>
                      <a:pt x="104" y="0"/>
                    </a:moveTo>
                    <a:lnTo>
                      <a:pt x="0" y="0"/>
                    </a:lnTo>
                    <a:lnTo>
                      <a:pt x="0" y="1524"/>
                    </a:lnTo>
                    <a:lnTo>
                      <a:pt x="113" y="1524"/>
                    </a:lnTo>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42" name="Freeform 53"/>
              <p:cNvSpPr>
                <a:spLocks/>
              </p:cNvSpPr>
              <p:nvPr/>
            </p:nvSpPr>
            <p:spPr bwMode="auto">
              <a:xfrm>
                <a:off x="2688" y="1016"/>
                <a:ext cx="113" cy="295"/>
              </a:xfrm>
              <a:custGeom>
                <a:avLst/>
                <a:gdLst>
                  <a:gd name="T0" fmla="*/ 104 w 113"/>
                  <a:gd name="T1" fmla="*/ 0 h 1524"/>
                  <a:gd name="T2" fmla="*/ 0 w 113"/>
                  <a:gd name="T3" fmla="*/ 0 h 1524"/>
                  <a:gd name="T4" fmla="*/ 0 w 113"/>
                  <a:gd name="T5" fmla="*/ 57 h 1524"/>
                  <a:gd name="T6" fmla="*/ 113 w 113"/>
                  <a:gd name="T7" fmla="*/ 57 h 15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3" h="1524">
                    <a:moveTo>
                      <a:pt x="104" y="0"/>
                    </a:moveTo>
                    <a:lnTo>
                      <a:pt x="0" y="0"/>
                    </a:lnTo>
                    <a:lnTo>
                      <a:pt x="0" y="1524"/>
                    </a:lnTo>
                    <a:lnTo>
                      <a:pt x="113" y="1524"/>
                    </a:lnTo>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43" name="Line 54"/>
              <p:cNvSpPr>
                <a:spLocks noChangeShapeType="1"/>
              </p:cNvSpPr>
              <p:nvPr/>
            </p:nvSpPr>
            <p:spPr bwMode="auto">
              <a:xfrm flipV="1">
                <a:off x="3264" y="2727"/>
                <a:ext cx="624" cy="41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44" name="Line 55"/>
              <p:cNvSpPr>
                <a:spLocks noChangeShapeType="1"/>
              </p:cNvSpPr>
              <p:nvPr/>
            </p:nvSpPr>
            <p:spPr bwMode="auto">
              <a:xfrm>
                <a:off x="3264" y="3592"/>
                <a:ext cx="62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45" name="Line 56"/>
              <p:cNvSpPr>
                <a:spLocks noChangeShapeType="1"/>
              </p:cNvSpPr>
              <p:nvPr/>
            </p:nvSpPr>
            <p:spPr bwMode="auto">
              <a:xfrm>
                <a:off x="2688" y="2653"/>
                <a:ext cx="1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46" name="Line 57"/>
              <p:cNvSpPr>
                <a:spLocks noChangeShapeType="1"/>
              </p:cNvSpPr>
              <p:nvPr/>
            </p:nvSpPr>
            <p:spPr bwMode="auto">
              <a:xfrm flipV="1">
                <a:off x="3552" y="1730"/>
                <a:ext cx="336" cy="18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47" name="Line 58"/>
              <p:cNvSpPr>
                <a:spLocks noChangeShapeType="1"/>
              </p:cNvSpPr>
              <p:nvPr/>
            </p:nvSpPr>
            <p:spPr bwMode="auto">
              <a:xfrm>
                <a:off x="3744" y="1388"/>
                <a:ext cx="144" cy="10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48" name="Line 59"/>
              <p:cNvSpPr>
                <a:spLocks noChangeShapeType="1"/>
              </p:cNvSpPr>
              <p:nvPr/>
            </p:nvSpPr>
            <p:spPr bwMode="auto">
              <a:xfrm>
                <a:off x="3744" y="1008"/>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49" name="Line 60"/>
              <p:cNvSpPr>
                <a:spLocks noChangeShapeType="1"/>
              </p:cNvSpPr>
              <p:nvPr/>
            </p:nvSpPr>
            <p:spPr bwMode="auto">
              <a:xfrm>
                <a:off x="3552" y="2242"/>
                <a:ext cx="33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50" name="Line 61"/>
              <p:cNvSpPr>
                <a:spLocks noChangeShapeType="1"/>
              </p:cNvSpPr>
              <p:nvPr/>
            </p:nvSpPr>
            <p:spPr bwMode="auto">
              <a:xfrm>
                <a:off x="2696" y="3381"/>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51" name="Line 62"/>
              <p:cNvSpPr>
                <a:spLocks noChangeShapeType="1"/>
              </p:cNvSpPr>
              <p:nvPr/>
            </p:nvSpPr>
            <p:spPr bwMode="auto">
              <a:xfrm>
                <a:off x="2640" y="2102"/>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52" name="Line 63"/>
              <p:cNvSpPr>
                <a:spLocks noChangeShapeType="1"/>
              </p:cNvSpPr>
              <p:nvPr/>
            </p:nvSpPr>
            <p:spPr bwMode="auto">
              <a:xfrm>
                <a:off x="2524" y="1249"/>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53" name="Freeform 64"/>
              <p:cNvSpPr>
                <a:spLocks/>
              </p:cNvSpPr>
              <p:nvPr/>
            </p:nvSpPr>
            <p:spPr bwMode="auto">
              <a:xfrm>
                <a:off x="2575" y="1171"/>
                <a:ext cx="1313" cy="419"/>
              </a:xfrm>
              <a:custGeom>
                <a:avLst/>
                <a:gdLst>
                  <a:gd name="T0" fmla="*/ 107 w 1304"/>
                  <a:gd name="T1" fmla="*/ 0 h 240"/>
                  <a:gd name="T2" fmla="*/ 0 w 1304"/>
                  <a:gd name="T3" fmla="*/ 0 h 240"/>
                  <a:gd name="T4" fmla="*/ 0 w 1304"/>
                  <a:gd name="T5" fmla="*/ 732 h 240"/>
                  <a:gd name="T6" fmla="*/ 1322 w 1304"/>
                  <a:gd name="T7" fmla="*/ 732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04" h="240">
                    <a:moveTo>
                      <a:pt x="105" y="0"/>
                    </a:moveTo>
                    <a:lnTo>
                      <a:pt x="0" y="0"/>
                    </a:lnTo>
                    <a:lnTo>
                      <a:pt x="0" y="240"/>
                    </a:lnTo>
                    <a:lnTo>
                      <a:pt x="1304" y="240"/>
                    </a:ln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5154" name="Object 65"/>
              <p:cNvGraphicFramePr>
                <a:graphicFrameLocks noChangeAspect="1"/>
              </p:cNvGraphicFramePr>
              <p:nvPr/>
            </p:nvGraphicFramePr>
            <p:xfrm>
              <a:off x="3024" y="1357"/>
              <a:ext cx="386" cy="169"/>
            </p:xfrm>
            <a:graphic>
              <a:graphicData uri="http://schemas.openxmlformats.org/presentationml/2006/ole">
                <mc:AlternateContent xmlns:mc="http://schemas.openxmlformats.org/markup-compatibility/2006">
                  <mc:Choice xmlns:v="urn:schemas-microsoft-com:vml" Requires="v">
                    <p:oleObj name="Equation" r:id="rId16" imgW="622030" imgH="279279" progId="Equation.DSMT4">
                      <p:embed/>
                    </p:oleObj>
                  </mc:Choice>
                  <mc:Fallback>
                    <p:oleObj name="Equation" r:id="rId16" imgW="622030" imgH="279279" progId="Equation.DSMT4">
                      <p:embed/>
                      <p:pic>
                        <p:nvPicPr>
                          <p:cNvPr id="5154" name="Object 6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024" y="1357"/>
                            <a:ext cx="386" cy="16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55" name="Object 66"/>
              <p:cNvGraphicFramePr>
                <a:graphicFrameLocks noChangeAspect="1"/>
              </p:cNvGraphicFramePr>
              <p:nvPr/>
            </p:nvGraphicFramePr>
            <p:xfrm>
              <a:off x="3024" y="1039"/>
              <a:ext cx="384" cy="167"/>
            </p:xfrm>
            <a:graphic>
              <a:graphicData uri="http://schemas.openxmlformats.org/presentationml/2006/ole">
                <mc:AlternateContent xmlns:mc="http://schemas.openxmlformats.org/markup-compatibility/2006">
                  <mc:Choice xmlns:v="urn:schemas-microsoft-com:vml" Requires="v">
                    <p:oleObj name="Equation" r:id="rId18" imgW="622030" imgH="279279" progId="Equation.DSMT4">
                      <p:embed/>
                    </p:oleObj>
                  </mc:Choice>
                  <mc:Fallback>
                    <p:oleObj name="Equation" r:id="rId18" imgW="622030" imgH="279279" progId="Equation.DSMT4">
                      <p:embed/>
                      <p:pic>
                        <p:nvPicPr>
                          <p:cNvPr id="5155" name="Object 6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024" y="1039"/>
                            <a:ext cx="384" cy="1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5125" name="Text Box 67"/>
          <p:cNvSpPr txBox="1">
            <a:spLocks noChangeArrowheads="1"/>
          </p:cNvSpPr>
          <p:nvPr/>
        </p:nvSpPr>
        <p:spPr bwMode="auto">
          <a:xfrm>
            <a:off x="228600" y="228600"/>
            <a:ext cx="477887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600" b="1" dirty="0"/>
              <a:t>Comparación de dos medias: esquema general</a:t>
            </a:r>
            <a:endParaRPr lang="es-ES" altLang="es-ES" sz="1600" b="1" dirty="0"/>
          </a:p>
        </p:txBody>
      </p:sp>
    </p:spTree>
    <p:extLst>
      <p:ext uri="{BB962C8B-B14F-4D97-AF65-F5344CB8AC3E}">
        <p14:creationId xmlns:p14="http://schemas.microsoft.com/office/powerpoint/2010/main" val="1732202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2A6E4A1-00D8-39E8-DFEA-B86F267F7B95}"/>
              </a:ext>
            </a:extLst>
          </p:cNvPr>
          <p:cNvPicPr>
            <a:picLocks noChangeAspect="1"/>
          </p:cNvPicPr>
          <p:nvPr/>
        </p:nvPicPr>
        <p:blipFill>
          <a:blip r:embed="rId2"/>
          <a:stretch>
            <a:fillRect/>
          </a:stretch>
        </p:blipFill>
        <p:spPr>
          <a:xfrm>
            <a:off x="482600" y="1527429"/>
            <a:ext cx="8178800" cy="3803142"/>
          </a:xfrm>
          <a:prstGeom prst="rect">
            <a:avLst/>
          </a:prstGeom>
        </p:spPr>
      </p:pic>
    </p:spTree>
    <p:extLst>
      <p:ext uri="{BB962C8B-B14F-4D97-AF65-F5344CB8AC3E}">
        <p14:creationId xmlns:p14="http://schemas.microsoft.com/office/powerpoint/2010/main" val="14569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AAF356-78E9-353C-9A94-7F11F7BA5BBD}"/>
              </a:ext>
            </a:extLst>
          </p:cNvPr>
          <p:cNvPicPr>
            <a:picLocks noChangeAspect="1"/>
          </p:cNvPicPr>
          <p:nvPr/>
        </p:nvPicPr>
        <p:blipFill>
          <a:blip r:embed="rId2"/>
          <a:stretch>
            <a:fillRect/>
          </a:stretch>
        </p:blipFill>
        <p:spPr>
          <a:xfrm>
            <a:off x="87042" y="304800"/>
            <a:ext cx="8809693" cy="5943600"/>
          </a:xfrm>
          <a:prstGeom prst="rect">
            <a:avLst/>
          </a:prstGeom>
        </p:spPr>
      </p:pic>
    </p:spTree>
    <p:extLst>
      <p:ext uri="{BB962C8B-B14F-4D97-AF65-F5344CB8AC3E}">
        <p14:creationId xmlns:p14="http://schemas.microsoft.com/office/powerpoint/2010/main" val="2413334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524786" y="1122120"/>
            <a:ext cx="5318475" cy="673936"/>
          </a:xfrm>
          <a:prstGeom prst="rect">
            <a:avLst/>
          </a:prstGeom>
        </p:spPr>
        <p:txBody>
          <a:bodyPr vert="horz" lIns="68580" tIns="34290" rIns="68580" bIns="34290" rtlCol="0" anchor="ctr">
            <a:normAutofit/>
          </a:bodyPr>
          <a:lstStyle/>
          <a:p>
            <a:pPr>
              <a:lnSpc>
                <a:spcPct val="90000"/>
              </a:lnSpc>
              <a:spcAft>
                <a:spcPts val="450"/>
              </a:spcAft>
            </a:pPr>
            <a:r>
              <a:rPr lang="en-US" sz="2100">
                <a:solidFill>
                  <a:srgbClr val="FFFFFF"/>
                </a:solidFill>
                <a:latin typeface="+mj-lt"/>
                <a:ea typeface="+mj-ea"/>
                <a:cs typeface="+mj-cs"/>
              </a:rPr>
              <a:t>ESTADISTICO DE CONTRASTE Texp: TTEST (Student and Welch) </a:t>
            </a:r>
          </a:p>
        </p:txBody>
      </p:sp>
      <p:pic>
        <p:nvPicPr>
          <p:cNvPr id="9" name="Picture 8">
            <a:extLst>
              <a:ext uri="{FF2B5EF4-FFF2-40B4-BE49-F238E27FC236}">
                <a16:creationId xmlns:a16="http://schemas.microsoft.com/office/drawing/2014/main" id="{5BF11404-6C84-5D4F-51CF-29B926513CCF}"/>
              </a:ext>
            </a:extLst>
          </p:cNvPr>
          <p:cNvPicPr>
            <a:picLocks noChangeAspect="1"/>
          </p:cNvPicPr>
          <p:nvPr/>
        </p:nvPicPr>
        <p:blipFill>
          <a:blip r:embed="rId2"/>
          <a:stretch>
            <a:fillRect/>
          </a:stretch>
        </p:blipFill>
        <p:spPr>
          <a:xfrm>
            <a:off x="381000" y="152400"/>
            <a:ext cx="7086600" cy="5929186"/>
          </a:xfrm>
          <a:prstGeom prst="rect">
            <a:avLst/>
          </a:prstGeom>
        </p:spPr>
      </p:pic>
      <p:pic>
        <p:nvPicPr>
          <p:cNvPr id="10" name="Picture 9">
            <a:extLst>
              <a:ext uri="{FF2B5EF4-FFF2-40B4-BE49-F238E27FC236}">
                <a16:creationId xmlns:a16="http://schemas.microsoft.com/office/drawing/2014/main" id="{C81CBE72-707C-1844-25CF-0EF857D1F3B2}"/>
              </a:ext>
            </a:extLst>
          </p:cNvPr>
          <p:cNvPicPr>
            <a:picLocks noChangeAspect="1"/>
          </p:cNvPicPr>
          <p:nvPr/>
        </p:nvPicPr>
        <p:blipFill>
          <a:blip r:embed="rId3"/>
          <a:stretch>
            <a:fillRect/>
          </a:stretch>
        </p:blipFill>
        <p:spPr>
          <a:xfrm>
            <a:off x="524786" y="5181600"/>
            <a:ext cx="3848316" cy="1298806"/>
          </a:xfrm>
          <a:prstGeom prst="rect">
            <a:avLst/>
          </a:prstGeom>
        </p:spPr>
      </p:pic>
    </p:spTree>
    <p:extLst>
      <p:ext uri="{BB962C8B-B14F-4D97-AF65-F5344CB8AC3E}">
        <p14:creationId xmlns:p14="http://schemas.microsoft.com/office/powerpoint/2010/main" val="478969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55" name="Group 31"/>
          <p:cNvGrpSpPr>
            <a:grpSpLocks/>
          </p:cNvGrpSpPr>
          <p:nvPr/>
        </p:nvGrpSpPr>
        <p:grpSpPr bwMode="auto">
          <a:xfrm>
            <a:off x="447675" y="4267200"/>
            <a:ext cx="8315325" cy="1943100"/>
            <a:chOff x="282" y="2824"/>
            <a:chExt cx="5238" cy="1224"/>
          </a:xfrm>
        </p:grpSpPr>
        <p:sp>
          <p:nvSpPr>
            <p:cNvPr id="6164" name="Line 32"/>
            <p:cNvSpPr>
              <a:spLocks noChangeShapeType="1"/>
            </p:cNvSpPr>
            <p:nvPr/>
          </p:nvSpPr>
          <p:spPr bwMode="auto">
            <a:xfrm>
              <a:off x="1658" y="3244"/>
              <a:ext cx="9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6165" name="Line 33"/>
            <p:cNvSpPr>
              <a:spLocks noChangeShapeType="1"/>
            </p:cNvSpPr>
            <p:nvPr/>
          </p:nvSpPr>
          <p:spPr bwMode="auto">
            <a:xfrm>
              <a:off x="1658" y="3778"/>
              <a:ext cx="9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6166" name="Object 34"/>
            <p:cNvGraphicFramePr>
              <a:graphicFrameLocks noChangeAspect="1"/>
            </p:cNvGraphicFramePr>
            <p:nvPr/>
          </p:nvGraphicFramePr>
          <p:xfrm>
            <a:off x="461" y="3137"/>
            <a:ext cx="1252" cy="715"/>
          </p:xfrm>
          <a:graphic>
            <a:graphicData uri="http://schemas.openxmlformats.org/presentationml/2006/ole">
              <mc:AlternateContent xmlns:mc="http://schemas.openxmlformats.org/markup-compatibility/2006">
                <mc:Choice xmlns:v="urn:schemas-microsoft-com:vml" Requires="v">
                  <p:oleObj name="Equation" r:id="rId3" imgW="1282700" imgH="736600" progId="Equation.DSMT4">
                    <p:embed/>
                  </p:oleObj>
                </mc:Choice>
                <mc:Fallback>
                  <p:oleObj name="Equation" r:id="rId3" imgW="1282700" imgH="736600" progId="Equation.DSMT4">
                    <p:embed/>
                    <p:pic>
                      <p:nvPicPr>
                        <p:cNvPr id="6166"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 y="3137"/>
                          <a:ext cx="1252" cy="7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67" name="Group 35"/>
            <p:cNvGrpSpPr>
              <a:grpSpLocks/>
            </p:cNvGrpSpPr>
            <p:nvPr/>
          </p:nvGrpSpPr>
          <p:grpSpPr bwMode="auto">
            <a:xfrm>
              <a:off x="1802" y="2980"/>
              <a:ext cx="1872" cy="530"/>
              <a:chOff x="2112" y="2964"/>
              <a:chExt cx="1872" cy="530"/>
            </a:xfrm>
          </p:grpSpPr>
          <p:grpSp>
            <p:nvGrpSpPr>
              <p:cNvPr id="6191" name="Group 36"/>
              <p:cNvGrpSpPr>
                <a:grpSpLocks/>
              </p:cNvGrpSpPr>
              <p:nvPr/>
            </p:nvGrpSpPr>
            <p:grpSpPr bwMode="auto">
              <a:xfrm>
                <a:off x="2160" y="2964"/>
                <a:ext cx="1824" cy="530"/>
                <a:chOff x="2160" y="2964"/>
                <a:chExt cx="1824" cy="530"/>
              </a:xfrm>
            </p:grpSpPr>
            <p:grpSp>
              <p:nvGrpSpPr>
                <p:cNvPr id="6193" name="Group 37"/>
                <p:cNvGrpSpPr>
                  <a:grpSpLocks/>
                </p:cNvGrpSpPr>
                <p:nvPr/>
              </p:nvGrpSpPr>
              <p:grpSpPr bwMode="auto">
                <a:xfrm>
                  <a:off x="2160" y="2964"/>
                  <a:ext cx="1776" cy="196"/>
                  <a:chOff x="2160" y="2964"/>
                  <a:chExt cx="1776" cy="196"/>
                </a:xfrm>
              </p:grpSpPr>
              <p:sp>
                <p:nvSpPr>
                  <p:cNvPr id="6195" name="Text Box 38"/>
                  <p:cNvSpPr txBox="1">
                    <a:spLocks noChangeArrowheads="1"/>
                  </p:cNvSpPr>
                  <p:nvPr/>
                </p:nvSpPr>
                <p:spPr bwMode="auto">
                  <a:xfrm>
                    <a:off x="2160" y="2964"/>
                    <a:ext cx="129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t>Se puede asumir que </a:t>
                    </a:r>
                    <a:endParaRPr lang="es-ES" altLang="es-ES" sz="1300"/>
                  </a:p>
                </p:txBody>
              </p:sp>
              <p:graphicFrame>
                <p:nvGraphicFramePr>
                  <p:cNvPr id="6196" name="Object 39"/>
                  <p:cNvGraphicFramePr>
                    <a:graphicFrameLocks noChangeAspect="1"/>
                  </p:cNvGraphicFramePr>
                  <p:nvPr/>
                </p:nvGraphicFramePr>
                <p:xfrm>
                  <a:off x="3234" y="2970"/>
                  <a:ext cx="702" cy="190"/>
                </p:xfrm>
                <a:graphic>
                  <a:graphicData uri="http://schemas.openxmlformats.org/presentationml/2006/ole">
                    <mc:AlternateContent xmlns:mc="http://schemas.openxmlformats.org/markup-compatibility/2006">
                      <mc:Choice xmlns:v="urn:schemas-microsoft-com:vml" Requires="v">
                        <p:oleObj name="Equation" r:id="rId5" imgW="939392" imgH="253890" progId="Equation.DSMT4">
                          <p:embed/>
                        </p:oleObj>
                      </mc:Choice>
                      <mc:Fallback>
                        <p:oleObj name="Equation" r:id="rId5" imgW="939392" imgH="253890" progId="Equation.DSMT4">
                          <p:embed/>
                          <p:pic>
                            <p:nvPicPr>
                              <p:cNvPr id="6196" name="Object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4" y="2970"/>
                                <a:ext cx="702" cy="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194" name="Rectangle 40"/>
                <p:cNvSpPr>
                  <a:spLocks noChangeArrowheads="1"/>
                </p:cNvSpPr>
                <p:nvPr/>
              </p:nvSpPr>
              <p:spPr bwMode="auto">
                <a:xfrm>
                  <a:off x="2160" y="3186"/>
                  <a:ext cx="1824"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t>El estadístico experimental toma un valor en la región de aceptación</a:t>
                  </a:r>
                  <a:endParaRPr lang="es-ES" altLang="es-ES" sz="1300"/>
                </a:p>
              </p:txBody>
            </p:sp>
          </p:grpSp>
          <p:sp>
            <p:nvSpPr>
              <p:cNvPr id="6192" name="AutoShape 41"/>
              <p:cNvSpPr>
                <a:spLocks/>
              </p:cNvSpPr>
              <p:nvPr/>
            </p:nvSpPr>
            <p:spPr bwMode="auto">
              <a:xfrm>
                <a:off x="2112" y="2988"/>
                <a:ext cx="48" cy="480"/>
              </a:xfrm>
              <a:prstGeom prst="leftBrace">
                <a:avLst>
                  <a:gd name="adj1" fmla="val 8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pSp>
          <p:nvGrpSpPr>
            <p:cNvPr id="6168" name="Group 42"/>
            <p:cNvGrpSpPr>
              <a:grpSpLocks/>
            </p:cNvGrpSpPr>
            <p:nvPr/>
          </p:nvGrpSpPr>
          <p:grpSpPr bwMode="auto">
            <a:xfrm>
              <a:off x="1802" y="3520"/>
              <a:ext cx="2112" cy="528"/>
              <a:chOff x="2112" y="3504"/>
              <a:chExt cx="2112" cy="528"/>
            </a:xfrm>
          </p:grpSpPr>
          <p:grpSp>
            <p:nvGrpSpPr>
              <p:cNvPr id="6186" name="Group 43"/>
              <p:cNvGrpSpPr>
                <a:grpSpLocks/>
              </p:cNvGrpSpPr>
              <p:nvPr/>
            </p:nvGrpSpPr>
            <p:grpSpPr bwMode="auto">
              <a:xfrm>
                <a:off x="2160" y="3504"/>
                <a:ext cx="1932" cy="201"/>
                <a:chOff x="2160" y="3504"/>
                <a:chExt cx="1932" cy="201"/>
              </a:xfrm>
            </p:grpSpPr>
            <p:sp>
              <p:nvSpPr>
                <p:cNvPr id="6189" name="Text Box 44"/>
                <p:cNvSpPr txBox="1">
                  <a:spLocks noChangeArrowheads="1"/>
                </p:cNvSpPr>
                <p:nvPr/>
              </p:nvSpPr>
              <p:spPr bwMode="auto">
                <a:xfrm>
                  <a:off x="2160" y="3504"/>
                  <a:ext cx="129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t>No se puede asumir que </a:t>
                  </a:r>
                  <a:endParaRPr lang="es-ES" altLang="es-ES" sz="1300"/>
                </a:p>
              </p:txBody>
            </p:sp>
            <p:graphicFrame>
              <p:nvGraphicFramePr>
                <p:cNvPr id="6190" name="Object 45"/>
                <p:cNvGraphicFramePr>
                  <a:graphicFrameLocks noChangeAspect="1"/>
                </p:cNvGraphicFramePr>
                <p:nvPr/>
              </p:nvGraphicFramePr>
              <p:xfrm>
                <a:off x="3372" y="3510"/>
                <a:ext cx="720" cy="195"/>
              </p:xfrm>
              <a:graphic>
                <a:graphicData uri="http://schemas.openxmlformats.org/presentationml/2006/ole">
                  <mc:AlternateContent xmlns:mc="http://schemas.openxmlformats.org/markup-compatibility/2006">
                    <mc:Choice xmlns:v="urn:schemas-microsoft-com:vml" Requires="v">
                      <p:oleObj name="Equation" r:id="rId7" imgW="939392" imgH="253890" progId="Equation.DSMT4">
                        <p:embed/>
                      </p:oleObj>
                    </mc:Choice>
                    <mc:Fallback>
                      <p:oleObj name="Equation" r:id="rId7" imgW="939392" imgH="253890" progId="Equation.DSMT4">
                        <p:embed/>
                        <p:pic>
                          <p:nvPicPr>
                            <p:cNvPr id="6190" name="Object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2" y="3510"/>
                              <a:ext cx="720" cy="1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187" name="Rectangle 46"/>
              <p:cNvSpPr>
                <a:spLocks noChangeArrowheads="1"/>
              </p:cNvSpPr>
              <p:nvPr/>
            </p:nvSpPr>
            <p:spPr bwMode="auto">
              <a:xfrm>
                <a:off x="2160" y="3724"/>
                <a:ext cx="2064"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t>El estadístico experimental toma un valor en la región crítica o de rechazo</a:t>
                </a:r>
                <a:endParaRPr lang="es-ES" altLang="es-ES" sz="1300"/>
              </a:p>
            </p:txBody>
          </p:sp>
          <p:sp>
            <p:nvSpPr>
              <p:cNvPr id="6188" name="AutoShape 47"/>
              <p:cNvSpPr>
                <a:spLocks/>
              </p:cNvSpPr>
              <p:nvPr/>
            </p:nvSpPr>
            <p:spPr bwMode="auto">
              <a:xfrm>
                <a:off x="2112" y="3526"/>
                <a:ext cx="48" cy="480"/>
              </a:xfrm>
              <a:prstGeom prst="leftBrace">
                <a:avLst>
                  <a:gd name="adj1" fmla="val 8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pSp>
          <p:nvGrpSpPr>
            <p:cNvPr id="6169" name="Group 48"/>
            <p:cNvGrpSpPr>
              <a:grpSpLocks/>
            </p:cNvGrpSpPr>
            <p:nvPr/>
          </p:nvGrpSpPr>
          <p:grpSpPr bwMode="auto">
            <a:xfrm>
              <a:off x="3836" y="3082"/>
              <a:ext cx="730" cy="216"/>
              <a:chOff x="4080" y="3120"/>
              <a:chExt cx="730" cy="216"/>
            </a:xfrm>
          </p:grpSpPr>
          <p:graphicFrame>
            <p:nvGraphicFramePr>
              <p:cNvPr id="6184" name="Object 49"/>
              <p:cNvGraphicFramePr>
                <a:graphicFrameLocks noChangeAspect="1"/>
              </p:cNvGraphicFramePr>
              <p:nvPr/>
            </p:nvGraphicFramePr>
            <p:xfrm>
              <a:off x="4368" y="3120"/>
              <a:ext cx="442" cy="216"/>
            </p:xfrm>
            <a:graphic>
              <a:graphicData uri="http://schemas.openxmlformats.org/presentationml/2006/ole">
                <mc:AlternateContent xmlns:mc="http://schemas.openxmlformats.org/markup-compatibility/2006">
                  <mc:Choice xmlns:v="urn:schemas-microsoft-com:vml" Requires="v">
                    <p:oleObj name="Equation" r:id="rId8" imgW="495085" imgH="241195" progId="Equation.DSMT4">
                      <p:embed/>
                    </p:oleObj>
                  </mc:Choice>
                  <mc:Fallback>
                    <p:oleObj name="Equation" r:id="rId8" imgW="495085" imgH="241195" progId="Equation.DSMT4">
                      <p:embed/>
                      <p:pic>
                        <p:nvPicPr>
                          <p:cNvPr id="6184" name="Object 4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68" y="3120"/>
                            <a:ext cx="442"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85" name="Line 50"/>
              <p:cNvSpPr>
                <a:spLocks noChangeShapeType="1"/>
              </p:cNvSpPr>
              <p:nvPr/>
            </p:nvSpPr>
            <p:spPr bwMode="auto">
              <a:xfrm>
                <a:off x="4080" y="3228"/>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6170" name="Group 51"/>
            <p:cNvGrpSpPr>
              <a:grpSpLocks/>
            </p:cNvGrpSpPr>
            <p:nvPr/>
          </p:nvGrpSpPr>
          <p:grpSpPr bwMode="auto">
            <a:xfrm>
              <a:off x="3836" y="3658"/>
              <a:ext cx="730" cy="216"/>
              <a:chOff x="4080" y="3600"/>
              <a:chExt cx="730" cy="216"/>
            </a:xfrm>
          </p:grpSpPr>
          <p:graphicFrame>
            <p:nvGraphicFramePr>
              <p:cNvPr id="6182" name="Object 52"/>
              <p:cNvGraphicFramePr>
                <a:graphicFrameLocks noChangeAspect="1"/>
              </p:cNvGraphicFramePr>
              <p:nvPr/>
            </p:nvGraphicFramePr>
            <p:xfrm>
              <a:off x="4368" y="3600"/>
              <a:ext cx="442" cy="216"/>
            </p:xfrm>
            <a:graphic>
              <a:graphicData uri="http://schemas.openxmlformats.org/presentationml/2006/ole">
                <mc:AlternateContent xmlns:mc="http://schemas.openxmlformats.org/markup-compatibility/2006">
                  <mc:Choice xmlns:v="urn:schemas-microsoft-com:vml" Requires="v">
                    <p:oleObj name="Equation" r:id="rId10" imgW="495085" imgH="241195" progId="Equation.DSMT4">
                      <p:embed/>
                    </p:oleObj>
                  </mc:Choice>
                  <mc:Fallback>
                    <p:oleObj name="Equation" r:id="rId10" imgW="495085" imgH="241195" progId="Equation.DSMT4">
                      <p:embed/>
                      <p:pic>
                        <p:nvPicPr>
                          <p:cNvPr id="6182" name="Object 5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68" y="3600"/>
                            <a:ext cx="442"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83" name="Line 53"/>
              <p:cNvSpPr>
                <a:spLocks noChangeShapeType="1"/>
              </p:cNvSpPr>
              <p:nvPr/>
            </p:nvSpPr>
            <p:spPr bwMode="auto">
              <a:xfrm>
                <a:off x="4080" y="3708"/>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6171" name="Group 54"/>
            <p:cNvGrpSpPr>
              <a:grpSpLocks/>
            </p:cNvGrpSpPr>
            <p:nvPr/>
          </p:nvGrpSpPr>
          <p:grpSpPr bwMode="auto">
            <a:xfrm>
              <a:off x="4560" y="2824"/>
              <a:ext cx="960" cy="1188"/>
              <a:chOff x="4560" y="2712"/>
              <a:chExt cx="960" cy="1188"/>
            </a:xfrm>
          </p:grpSpPr>
          <p:pic>
            <p:nvPicPr>
              <p:cNvPr id="6173" name="Picture 55"/>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656" y="2712"/>
                <a:ext cx="720" cy="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74" name="Picture 56"/>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566" y="3362"/>
                <a:ext cx="951"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175" name="Group 57"/>
              <p:cNvGrpSpPr>
                <a:grpSpLocks/>
              </p:cNvGrpSpPr>
              <p:nvPr/>
            </p:nvGrpSpPr>
            <p:grpSpPr bwMode="auto">
              <a:xfrm>
                <a:off x="4923" y="2745"/>
                <a:ext cx="114" cy="1152"/>
                <a:chOff x="4923" y="2640"/>
                <a:chExt cx="114" cy="1440"/>
              </a:xfrm>
            </p:grpSpPr>
            <p:sp>
              <p:nvSpPr>
                <p:cNvPr id="6180" name="Line 58"/>
                <p:cNvSpPr>
                  <a:spLocks noChangeShapeType="1"/>
                </p:cNvSpPr>
                <p:nvPr/>
              </p:nvSpPr>
              <p:spPr bwMode="auto">
                <a:xfrm>
                  <a:off x="4923" y="2640"/>
                  <a:ext cx="0" cy="1440"/>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6181" name="Line 59"/>
                <p:cNvSpPr>
                  <a:spLocks noChangeShapeType="1"/>
                </p:cNvSpPr>
                <p:nvPr/>
              </p:nvSpPr>
              <p:spPr bwMode="auto">
                <a:xfrm>
                  <a:off x="5037" y="2640"/>
                  <a:ext cx="0" cy="1440"/>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6176" name="Group 60"/>
              <p:cNvGrpSpPr>
                <a:grpSpLocks/>
              </p:cNvGrpSpPr>
              <p:nvPr/>
            </p:nvGrpSpPr>
            <p:grpSpPr bwMode="auto">
              <a:xfrm>
                <a:off x="4560" y="3312"/>
                <a:ext cx="960" cy="585"/>
                <a:chOff x="4560" y="3312"/>
                <a:chExt cx="960" cy="585"/>
              </a:xfrm>
            </p:grpSpPr>
            <p:sp>
              <p:nvSpPr>
                <p:cNvPr id="6178" name="Line 61"/>
                <p:cNvSpPr>
                  <a:spLocks noChangeShapeType="1"/>
                </p:cNvSpPr>
                <p:nvPr/>
              </p:nvSpPr>
              <p:spPr bwMode="auto">
                <a:xfrm>
                  <a:off x="4560" y="3897"/>
                  <a:ext cx="960" cy="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6179" name="Line 62"/>
                <p:cNvSpPr>
                  <a:spLocks noChangeShapeType="1"/>
                </p:cNvSpPr>
                <p:nvPr/>
              </p:nvSpPr>
              <p:spPr bwMode="auto">
                <a:xfrm>
                  <a:off x="4560" y="3312"/>
                  <a:ext cx="960" cy="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6177" name="Rectangle 63"/>
              <p:cNvSpPr>
                <a:spLocks noChangeArrowheads="1"/>
              </p:cNvSpPr>
              <p:nvPr/>
            </p:nvSpPr>
            <p:spPr bwMode="auto">
              <a:xfrm>
                <a:off x="4848" y="3318"/>
                <a:ext cx="240"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6172" name="Text Box 64"/>
            <p:cNvSpPr txBox="1">
              <a:spLocks noChangeArrowheads="1"/>
            </p:cNvSpPr>
            <p:nvPr/>
          </p:nvSpPr>
          <p:spPr bwMode="auto">
            <a:xfrm>
              <a:off x="282" y="3408"/>
              <a:ext cx="624"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t>Si</a:t>
              </a:r>
              <a:endParaRPr lang="es-ES" altLang="es-ES" sz="1300"/>
            </a:p>
          </p:txBody>
        </p:sp>
      </p:grpSp>
      <p:sp>
        <p:nvSpPr>
          <p:cNvPr id="6146" name="Text Box 2"/>
          <p:cNvSpPr txBox="1">
            <a:spLocks noChangeArrowheads="1"/>
          </p:cNvSpPr>
          <p:nvPr/>
        </p:nvSpPr>
        <p:spPr bwMode="auto">
          <a:xfrm>
            <a:off x="228600" y="71437"/>
            <a:ext cx="40116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Muestras independientes // Variable normal</a:t>
            </a:r>
            <a:endParaRPr lang="es-ES" altLang="es-ES" sz="1400" b="1"/>
          </a:p>
        </p:txBody>
      </p:sp>
      <p:sp>
        <p:nvSpPr>
          <p:cNvPr id="6147" name="Rectangle 3"/>
          <p:cNvSpPr>
            <a:spLocks noChangeArrowheads="1"/>
          </p:cNvSpPr>
          <p:nvPr/>
        </p:nvSpPr>
        <p:spPr bwMode="auto">
          <a:xfrm>
            <a:off x="0" y="31051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aphicFrame>
        <p:nvGraphicFramePr>
          <p:cNvPr id="6148" name="Object 4"/>
          <p:cNvGraphicFramePr>
            <a:graphicFrameLocks noChangeAspect="1"/>
          </p:cNvGraphicFramePr>
          <p:nvPr>
            <p:extLst>
              <p:ext uri="{D42A27DB-BD31-4B8C-83A1-F6EECF244321}">
                <p14:modId xmlns:p14="http://schemas.microsoft.com/office/powerpoint/2010/main" val="1408310095"/>
              </p:ext>
            </p:extLst>
          </p:nvPr>
        </p:nvGraphicFramePr>
        <p:xfrm>
          <a:off x="568325" y="1143000"/>
          <a:ext cx="1204913" cy="720725"/>
        </p:xfrm>
        <a:graphic>
          <a:graphicData uri="http://schemas.openxmlformats.org/presentationml/2006/ole">
            <mc:AlternateContent xmlns:mc="http://schemas.openxmlformats.org/markup-compatibility/2006">
              <mc:Choice xmlns:v="urn:schemas-microsoft-com:vml" Requires="v">
                <p:oleObj name="Equation" r:id="rId14" imgW="850900" imgH="508000" progId="Equation.DSMT4">
                  <p:embed/>
                </p:oleObj>
              </mc:Choice>
              <mc:Fallback>
                <p:oleObj name="Equation" r:id="rId14" imgW="850900" imgH="508000" progId="Equation.DSMT4">
                  <p:embed/>
                  <p:pic>
                    <p:nvPicPr>
                      <p:cNvPr id="6148" name="Object 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8325" y="1143000"/>
                        <a:ext cx="1204913"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49" name="Group 6"/>
          <p:cNvGrpSpPr>
            <a:grpSpLocks/>
          </p:cNvGrpSpPr>
          <p:nvPr/>
        </p:nvGrpSpPr>
        <p:grpSpPr bwMode="auto">
          <a:xfrm>
            <a:off x="5257800" y="1057275"/>
            <a:ext cx="3514725" cy="3286125"/>
            <a:chOff x="480" y="960"/>
            <a:chExt cx="2208" cy="1876"/>
          </a:xfrm>
        </p:grpSpPr>
        <p:sp>
          <p:nvSpPr>
            <p:cNvPr id="6201" name="Text Box 7"/>
            <p:cNvSpPr txBox="1">
              <a:spLocks noChangeArrowheads="1"/>
            </p:cNvSpPr>
            <p:nvPr/>
          </p:nvSpPr>
          <p:spPr bwMode="auto">
            <a:xfrm>
              <a:off x="1206" y="2414"/>
              <a:ext cx="689" cy="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a:t>Región de aceptación</a:t>
              </a:r>
              <a:endParaRPr lang="es-ES" altLang="es-ES" sz="1000"/>
            </a:p>
          </p:txBody>
        </p:sp>
        <p:pic>
          <p:nvPicPr>
            <p:cNvPr id="6202" name="Picture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8" y="960"/>
              <a:ext cx="2086" cy="1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03" name="Line 9"/>
            <p:cNvSpPr>
              <a:spLocks noChangeShapeType="1"/>
            </p:cNvSpPr>
            <p:nvPr/>
          </p:nvSpPr>
          <p:spPr bwMode="auto">
            <a:xfrm>
              <a:off x="1265" y="970"/>
              <a:ext cx="6" cy="1247"/>
            </a:xfrm>
            <a:prstGeom prst="line">
              <a:avLst/>
            </a:prstGeom>
            <a:noFill/>
            <a:ln w="9525">
              <a:solidFill>
                <a:srgbClr val="96969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6204" name="Line 10"/>
            <p:cNvSpPr>
              <a:spLocks noChangeShapeType="1"/>
            </p:cNvSpPr>
            <p:nvPr/>
          </p:nvSpPr>
          <p:spPr bwMode="auto">
            <a:xfrm>
              <a:off x="1806" y="970"/>
              <a:ext cx="6" cy="1696"/>
            </a:xfrm>
            <a:prstGeom prst="line">
              <a:avLst/>
            </a:prstGeom>
            <a:noFill/>
            <a:ln w="9525">
              <a:solidFill>
                <a:srgbClr val="96969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6205" name="Rectangle 11"/>
            <p:cNvSpPr>
              <a:spLocks noChangeArrowheads="1"/>
            </p:cNvSpPr>
            <p:nvPr/>
          </p:nvSpPr>
          <p:spPr bwMode="auto">
            <a:xfrm>
              <a:off x="626" y="960"/>
              <a:ext cx="639" cy="1254"/>
            </a:xfrm>
            <a:prstGeom prst="rect">
              <a:avLst/>
            </a:prstGeom>
            <a:solidFill>
              <a:srgbClr val="C0C0C0">
                <a:alpha val="2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6206" name="AutoShape 12"/>
            <p:cNvSpPr>
              <a:spLocks/>
            </p:cNvSpPr>
            <p:nvPr/>
          </p:nvSpPr>
          <p:spPr bwMode="auto">
            <a:xfrm rot="-5400000">
              <a:off x="1511" y="2095"/>
              <a:ext cx="65" cy="531"/>
            </a:xfrm>
            <a:prstGeom prst="leftBrace">
              <a:avLst>
                <a:gd name="adj1" fmla="val 68077"/>
                <a:gd name="adj2" fmla="val 50000"/>
              </a:avLst>
            </a:prstGeom>
            <a:noFill/>
            <a:ln w="9525">
              <a:solidFill>
                <a:srgbClr val="3333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6207" name="AutoShape 13"/>
            <p:cNvSpPr>
              <a:spLocks/>
            </p:cNvSpPr>
            <p:nvPr/>
          </p:nvSpPr>
          <p:spPr bwMode="auto">
            <a:xfrm rot="-5400000">
              <a:off x="2208" y="1936"/>
              <a:ext cx="64" cy="852"/>
            </a:xfrm>
            <a:prstGeom prst="leftBrace">
              <a:avLst>
                <a:gd name="adj1" fmla="val 110938"/>
                <a:gd name="adj2" fmla="val 50000"/>
              </a:avLst>
            </a:prstGeom>
            <a:noFill/>
            <a:ln w="9525">
              <a:solidFill>
                <a:srgbClr val="3333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6208" name="Rectangle 14"/>
            <p:cNvSpPr>
              <a:spLocks noChangeArrowheads="1"/>
            </p:cNvSpPr>
            <p:nvPr/>
          </p:nvSpPr>
          <p:spPr bwMode="auto">
            <a:xfrm>
              <a:off x="2584" y="2327"/>
              <a:ext cx="104" cy="5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6209" name="Line 15"/>
            <p:cNvSpPr>
              <a:spLocks noChangeShapeType="1"/>
            </p:cNvSpPr>
            <p:nvPr/>
          </p:nvSpPr>
          <p:spPr bwMode="auto">
            <a:xfrm>
              <a:off x="2566" y="2361"/>
              <a:ext cx="5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6210" name="Text Box 16"/>
            <p:cNvSpPr txBox="1">
              <a:spLocks noChangeArrowheads="1"/>
            </p:cNvSpPr>
            <p:nvPr/>
          </p:nvSpPr>
          <p:spPr bwMode="auto">
            <a:xfrm>
              <a:off x="1897" y="2414"/>
              <a:ext cx="689" cy="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a:t>Región crítica o de rechazo</a:t>
              </a:r>
              <a:endParaRPr lang="es-ES" altLang="es-ES" sz="1000"/>
            </a:p>
          </p:txBody>
        </p:sp>
        <p:sp>
          <p:nvSpPr>
            <p:cNvPr id="6211" name="Text Box 17"/>
            <p:cNvSpPr txBox="1">
              <a:spLocks noChangeArrowheads="1"/>
            </p:cNvSpPr>
            <p:nvPr/>
          </p:nvSpPr>
          <p:spPr bwMode="auto">
            <a:xfrm>
              <a:off x="1819" y="2058"/>
              <a:ext cx="180" cy="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latin typeface="Symbol" pitchFamily="18" charset="2"/>
                </a:rPr>
                <a:t>a</a:t>
              </a:r>
              <a:endParaRPr lang="es-ES" altLang="es-ES">
                <a:latin typeface="Symbol" pitchFamily="18" charset="2"/>
              </a:endParaRPr>
            </a:p>
          </p:txBody>
        </p:sp>
        <p:graphicFrame>
          <p:nvGraphicFramePr>
            <p:cNvPr id="6212" name="Object 18"/>
            <p:cNvGraphicFramePr>
              <a:graphicFrameLocks noChangeAspect="1"/>
            </p:cNvGraphicFramePr>
            <p:nvPr/>
          </p:nvGraphicFramePr>
          <p:xfrm>
            <a:off x="1758" y="2672"/>
            <a:ext cx="124" cy="160"/>
          </p:xfrm>
          <a:graphic>
            <a:graphicData uri="http://schemas.openxmlformats.org/presentationml/2006/ole">
              <mc:AlternateContent xmlns:mc="http://schemas.openxmlformats.org/markup-compatibility/2006">
                <mc:Choice xmlns:v="urn:schemas-microsoft-com:vml" Requires="v">
                  <p:oleObj name="Equation" r:id="rId17" imgW="177646" imgH="228402" progId="Equation.DSMT4">
                    <p:embed/>
                  </p:oleObj>
                </mc:Choice>
                <mc:Fallback>
                  <p:oleObj name="Equation" r:id="rId17" imgW="177646" imgH="228402" progId="Equation.DSMT4">
                    <p:embed/>
                    <p:pic>
                      <p:nvPicPr>
                        <p:cNvPr id="6212" name="Object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758" y="2672"/>
                          <a:ext cx="124"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13" name="Object 19"/>
            <p:cNvGraphicFramePr>
              <a:graphicFrameLocks noChangeAspect="1"/>
            </p:cNvGraphicFramePr>
            <p:nvPr>
              <p:extLst>
                <p:ext uri="{D42A27DB-BD31-4B8C-83A1-F6EECF244321}">
                  <p14:modId xmlns:p14="http://schemas.microsoft.com/office/powerpoint/2010/main" val="1442544514"/>
                </p:ext>
              </p:extLst>
            </p:nvPr>
          </p:nvGraphicFramePr>
          <p:xfrm>
            <a:off x="480" y="2640"/>
            <a:ext cx="838" cy="196"/>
          </p:xfrm>
          <a:graphic>
            <a:graphicData uri="http://schemas.openxmlformats.org/presentationml/2006/ole">
              <mc:AlternateContent xmlns:mc="http://schemas.openxmlformats.org/markup-compatibility/2006">
                <mc:Choice xmlns:v="urn:schemas-microsoft-com:vml" Requires="v">
                  <p:oleObj name="Equation" r:id="rId19" imgW="1193760" imgH="279360" progId="Equation.DSMT4">
                    <p:embed/>
                  </p:oleObj>
                </mc:Choice>
                <mc:Fallback>
                  <p:oleObj name="Equation" r:id="rId19" imgW="1193760" imgH="279360" progId="Equation.DSMT4">
                    <p:embed/>
                    <p:pic>
                      <p:nvPicPr>
                        <p:cNvPr id="6213" name="Object 19"/>
                        <p:cNvPicPr>
                          <a:picLocks noChangeAspect="1" noChangeArrowheads="1"/>
                        </p:cNvPicPr>
                        <p:nvPr/>
                      </p:nvPicPr>
                      <p:blipFill>
                        <a:blip r:embed="rId20"/>
                        <a:srcRect/>
                        <a:stretch>
                          <a:fillRect/>
                        </a:stretch>
                      </p:blipFill>
                      <p:spPr bwMode="auto">
                        <a:xfrm>
                          <a:off x="480" y="2640"/>
                          <a:ext cx="838"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14" name="Text Box 20"/>
            <p:cNvSpPr txBox="1">
              <a:spLocks noChangeArrowheads="1"/>
            </p:cNvSpPr>
            <p:nvPr/>
          </p:nvSpPr>
          <p:spPr bwMode="auto">
            <a:xfrm>
              <a:off x="591" y="2394"/>
              <a:ext cx="712" cy="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dirty="0">
                  <a:solidFill>
                    <a:schemeClr val="accent5">
                      <a:lumMod val="25000"/>
                    </a:schemeClr>
                  </a:solidFill>
                </a:rPr>
                <a:t>esta región no interviene</a:t>
              </a:r>
              <a:endParaRPr lang="es-ES" altLang="es-ES" sz="1000" dirty="0">
                <a:solidFill>
                  <a:schemeClr val="accent5">
                    <a:lumMod val="25000"/>
                  </a:schemeClr>
                </a:solidFill>
              </a:endParaRPr>
            </a:p>
          </p:txBody>
        </p:sp>
        <p:sp>
          <p:nvSpPr>
            <p:cNvPr id="6215" name="AutoShape 21"/>
            <p:cNvSpPr>
              <a:spLocks/>
            </p:cNvSpPr>
            <p:nvPr/>
          </p:nvSpPr>
          <p:spPr bwMode="auto">
            <a:xfrm rot="-5400000">
              <a:off x="917" y="2029"/>
              <a:ext cx="65" cy="651"/>
            </a:xfrm>
            <a:prstGeom prst="leftBrace">
              <a:avLst>
                <a:gd name="adj1" fmla="val 83462"/>
                <a:gd name="adj2" fmla="val 50000"/>
              </a:avLst>
            </a:prstGeom>
            <a:noFill/>
            <a:ln w="9525">
              <a:solidFill>
                <a:srgbClr val="3333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6150" name="Text Box 22"/>
          <p:cNvSpPr txBox="1">
            <a:spLocks noChangeArrowheads="1"/>
          </p:cNvSpPr>
          <p:nvPr/>
        </p:nvSpPr>
        <p:spPr bwMode="auto">
          <a:xfrm>
            <a:off x="228600" y="838200"/>
            <a:ext cx="2241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1. Hipótesis a contrastar</a:t>
            </a:r>
            <a:endParaRPr lang="es-ES" altLang="es-ES" sz="1400" b="1"/>
          </a:p>
        </p:txBody>
      </p:sp>
      <p:sp>
        <p:nvSpPr>
          <p:cNvPr id="6151" name="Text Box 23"/>
          <p:cNvSpPr txBox="1">
            <a:spLocks noChangeArrowheads="1"/>
          </p:cNvSpPr>
          <p:nvPr/>
        </p:nvSpPr>
        <p:spPr bwMode="auto">
          <a:xfrm>
            <a:off x="228600" y="2057400"/>
            <a:ext cx="4318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2. Evidencia empírica: el estadístico de contraste</a:t>
            </a:r>
            <a:endParaRPr lang="es-ES" altLang="es-ES" sz="1400" b="1"/>
          </a:p>
        </p:txBody>
      </p:sp>
      <p:sp>
        <p:nvSpPr>
          <p:cNvPr id="6152" name="Text Box 24"/>
          <p:cNvSpPr txBox="1">
            <a:spLocks noChangeArrowheads="1"/>
          </p:cNvSpPr>
          <p:nvPr/>
        </p:nvSpPr>
        <p:spPr bwMode="auto">
          <a:xfrm>
            <a:off x="5334000" y="822325"/>
            <a:ext cx="3276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b="1" dirty="0">
                <a:solidFill>
                  <a:schemeClr val="tx1">
                    <a:lumMod val="75000"/>
                    <a:lumOff val="25000"/>
                  </a:schemeClr>
                </a:solidFill>
              </a:rPr>
              <a:t>Distribución F de Snedecor</a:t>
            </a:r>
            <a:endParaRPr lang="es-ES" altLang="es-ES" sz="1000" b="1" dirty="0">
              <a:solidFill>
                <a:schemeClr val="tx1">
                  <a:lumMod val="75000"/>
                  <a:lumOff val="25000"/>
                </a:schemeClr>
              </a:solidFill>
            </a:endParaRPr>
          </a:p>
        </p:txBody>
      </p:sp>
      <p:sp>
        <p:nvSpPr>
          <p:cNvPr id="6153" name="Text Box 25"/>
          <p:cNvSpPr txBox="1">
            <a:spLocks noChangeArrowheads="1"/>
          </p:cNvSpPr>
          <p:nvPr/>
        </p:nvSpPr>
        <p:spPr bwMode="auto">
          <a:xfrm>
            <a:off x="476250" y="3028950"/>
            <a:ext cx="4933950" cy="60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t>Si </a:t>
            </a:r>
            <a:r>
              <a:rPr lang="es-ES_tradnl" altLang="es-ES" sz="1300">
                <a:latin typeface="Times New Roman" pitchFamily="18" charset="0"/>
              </a:rPr>
              <a:t>H</a:t>
            </a:r>
            <a:r>
              <a:rPr lang="es-ES_tradnl" altLang="es-ES" sz="1300" baseline="-25000">
                <a:latin typeface="Times New Roman" pitchFamily="18" charset="0"/>
              </a:rPr>
              <a:t>0</a:t>
            </a:r>
            <a:r>
              <a:rPr lang="es-ES_tradnl" altLang="es-ES" sz="1300"/>
              <a:t> es cierta, </a:t>
            </a:r>
            <a:r>
              <a:rPr lang="es-ES_tradnl" altLang="es-ES" sz="1300">
                <a:latin typeface="Times New Roman" pitchFamily="18" charset="0"/>
              </a:rPr>
              <a:t>F</a:t>
            </a:r>
            <a:r>
              <a:rPr lang="es-ES_tradnl" altLang="es-ES" sz="1300" baseline="-25000">
                <a:latin typeface="Times New Roman" pitchFamily="18" charset="0"/>
              </a:rPr>
              <a:t>exp</a:t>
            </a:r>
            <a:r>
              <a:rPr lang="es-ES_tradnl" altLang="es-ES" sz="1300"/>
              <a:t> debe ser “próximo” a 1</a:t>
            </a:r>
          </a:p>
          <a:p>
            <a:pPr eaLnBrk="1" hangingPunct="1">
              <a:lnSpc>
                <a:spcPct val="160000"/>
              </a:lnSpc>
            </a:pPr>
            <a:r>
              <a:rPr lang="es-ES_tradnl" altLang="es-ES" sz="1300"/>
              <a:t>¿cuánto de “próximo”? → pertenecer a la región de aceptación</a:t>
            </a:r>
            <a:endParaRPr lang="es-ES" altLang="es-ES" sz="1300"/>
          </a:p>
        </p:txBody>
      </p:sp>
      <p:grpSp>
        <p:nvGrpSpPr>
          <p:cNvPr id="6154" name="Group 26"/>
          <p:cNvGrpSpPr>
            <a:grpSpLocks/>
          </p:cNvGrpSpPr>
          <p:nvPr/>
        </p:nvGrpSpPr>
        <p:grpSpPr bwMode="auto">
          <a:xfrm>
            <a:off x="228600" y="3733800"/>
            <a:ext cx="3587751" cy="755650"/>
            <a:chOff x="144" y="2422"/>
            <a:chExt cx="2260" cy="476"/>
          </a:xfrm>
        </p:grpSpPr>
        <p:sp>
          <p:nvSpPr>
            <p:cNvPr id="6197" name="Text Box 27"/>
            <p:cNvSpPr txBox="1">
              <a:spLocks noChangeArrowheads="1"/>
            </p:cNvSpPr>
            <p:nvPr/>
          </p:nvSpPr>
          <p:spPr bwMode="auto">
            <a:xfrm>
              <a:off x="144" y="2422"/>
              <a:ext cx="2260"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3. Decisión (para </a:t>
              </a:r>
              <a:r>
                <a:rPr lang="es-ES_tradnl" altLang="es-ES" sz="1400" b="1" dirty="0">
                  <a:latin typeface="Symbol" pitchFamily="18" charset="2"/>
                </a:rPr>
                <a:t>a</a:t>
              </a:r>
              <a:r>
                <a:rPr lang="es-ES_tradnl" altLang="es-ES" sz="1400" b="1" dirty="0"/>
                <a:t> fijado de antemano)</a:t>
              </a:r>
              <a:r>
                <a:rPr lang="es-ES_tradnl" altLang="es-ES" sz="1400" b="1" baseline="30000" dirty="0"/>
                <a:t>*</a:t>
              </a:r>
              <a:endParaRPr lang="es-ES" altLang="es-ES" sz="1400" b="1" baseline="30000" dirty="0"/>
            </a:p>
          </p:txBody>
        </p:sp>
        <p:graphicFrame>
          <p:nvGraphicFramePr>
            <p:cNvPr id="6198" name="Object 28"/>
            <p:cNvGraphicFramePr>
              <a:graphicFrameLocks noChangeAspect="1"/>
            </p:cNvGraphicFramePr>
            <p:nvPr/>
          </p:nvGraphicFramePr>
          <p:xfrm>
            <a:off x="1296" y="2659"/>
            <a:ext cx="768" cy="239"/>
          </p:xfrm>
          <a:graphic>
            <a:graphicData uri="http://schemas.openxmlformats.org/presentationml/2006/ole">
              <mc:AlternateContent xmlns:mc="http://schemas.openxmlformats.org/markup-compatibility/2006">
                <mc:Choice xmlns:v="urn:schemas-microsoft-com:vml" Requires="v">
                  <p:oleObj name="Equation" r:id="rId21" imgW="812447" imgH="253890" progId="Equation.DSMT4">
                    <p:embed/>
                  </p:oleObj>
                </mc:Choice>
                <mc:Fallback>
                  <p:oleObj name="Equation" r:id="rId21" imgW="812447" imgH="253890" progId="Equation.DSMT4">
                    <p:embed/>
                    <p:pic>
                      <p:nvPicPr>
                        <p:cNvPr id="6198" name="Object 2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296" y="2659"/>
                          <a:ext cx="768"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99" name="Text Box 29"/>
            <p:cNvSpPr txBox="1">
              <a:spLocks noChangeArrowheads="1"/>
            </p:cNvSpPr>
            <p:nvPr/>
          </p:nvSpPr>
          <p:spPr bwMode="auto">
            <a:xfrm>
              <a:off x="297" y="2683"/>
              <a:ext cx="120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dirty="0"/>
                <a:t>Comparar           vs</a:t>
              </a:r>
              <a:r>
                <a:rPr lang="es-ES_tradnl" altLang="es-ES" sz="1400" dirty="0"/>
                <a:t>   </a:t>
              </a:r>
              <a:endParaRPr lang="es-ES" altLang="es-ES" sz="1400" dirty="0"/>
            </a:p>
          </p:txBody>
        </p:sp>
        <p:graphicFrame>
          <p:nvGraphicFramePr>
            <p:cNvPr id="6200" name="Object 30"/>
            <p:cNvGraphicFramePr>
              <a:graphicFrameLocks noChangeAspect="1"/>
            </p:cNvGraphicFramePr>
            <p:nvPr/>
          </p:nvGraphicFramePr>
          <p:xfrm>
            <a:off x="888" y="2662"/>
            <a:ext cx="220" cy="221"/>
          </p:xfrm>
          <a:graphic>
            <a:graphicData uri="http://schemas.openxmlformats.org/presentationml/2006/ole">
              <mc:AlternateContent xmlns:mc="http://schemas.openxmlformats.org/markup-compatibility/2006">
                <mc:Choice xmlns:v="urn:schemas-microsoft-com:vml" Requires="v">
                  <p:oleObj name="Equation" r:id="rId23" imgW="241195" imgH="241195" progId="Equation.DSMT4">
                    <p:embed/>
                  </p:oleObj>
                </mc:Choice>
                <mc:Fallback>
                  <p:oleObj name="Equation" r:id="rId23" imgW="241195" imgH="241195" progId="Equation.DSMT4">
                    <p:embed/>
                    <p:pic>
                      <p:nvPicPr>
                        <p:cNvPr id="6200" name="Object 3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88" y="2662"/>
                          <a:ext cx="220"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156" name="Group 65"/>
          <p:cNvGrpSpPr>
            <a:grpSpLocks/>
          </p:cNvGrpSpPr>
          <p:nvPr/>
        </p:nvGrpSpPr>
        <p:grpSpPr bwMode="auto">
          <a:xfrm>
            <a:off x="3352800" y="1049336"/>
            <a:ext cx="1825582" cy="1027114"/>
            <a:chOff x="2136" y="699"/>
            <a:chExt cx="1008" cy="611"/>
          </a:xfrm>
        </p:grpSpPr>
        <p:sp>
          <p:nvSpPr>
            <p:cNvPr id="6162" name="AutoShape 66"/>
            <p:cNvSpPr>
              <a:spLocks noChangeArrowheads="1"/>
            </p:cNvSpPr>
            <p:nvPr/>
          </p:nvSpPr>
          <p:spPr bwMode="auto">
            <a:xfrm>
              <a:off x="2145" y="699"/>
              <a:ext cx="990" cy="522"/>
            </a:xfrm>
            <a:prstGeom prst="roundRect">
              <a:avLst>
                <a:gd name="adj" fmla="val 16667"/>
              </a:avLst>
            </a:prstGeom>
            <a:solidFill>
              <a:srgbClr val="C0C0C0">
                <a:alpha val="14902"/>
              </a:srgbClr>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6163" name="Rectangle 67"/>
            <p:cNvSpPr>
              <a:spLocks noChangeArrowheads="1"/>
            </p:cNvSpPr>
            <p:nvPr/>
          </p:nvSpPr>
          <p:spPr bwMode="auto">
            <a:xfrm>
              <a:off x="2136" y="719"/>
              <a:ext cx="1008" cy="591"/>
            </a:xfrm>
            <a:prstGeom prst="rect">
              <a:avLst/>
            </a:prstGeom>
            <a:noFill/>
            <a:ln>
              <a:noFill/>
            </a:ln>
            <a:effectLst/>
            <a:extLst>
              <a:ext uri="{909E8E84-426E-40DD-AFC4-6F175D3DCCD1}">
                <a14:hiddenFill xmlns:a14="http://schemas.microsoft.com/office/drawing/2010/main">
                  <a:solidFill>
                    <a:schemeClr val="accent1">
                      <a:alpha val="25098"/>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100" i="1" dirty="0">
                  <a:solidFill>
                    <a:schemeClr val="accent5">
                      <a:lumMod val="25000"/>
                    </a:schemeClr>
                  </a:solidFill>
                </a:rPr>
                <a:t>Para probar si dos </a:t>
              </a:r>
              <a:r>
                <a:rPr lang="es-ES_tradnl" altLang="es-ES" sz="1100" b="1" i="1" dirty="0">
                  <a:solidFill>
                    <a:schemeClr val="accent5">
                      <a:lumMod val="25000"/>
                    </a:schemeClr>
                  </a:solidFill>
                </a:rPr>
                <a:t>varianzas</a:t>
              </a:r>
              <a:r>
                <a:rPr lang="es-ES_tradnl" altLang="es-ES" sz="1100" i="1" dirty="0">
                  <a:solidFill>
                    <a:schemeClr val="accent5">
                      <a:lumMod val="25000"/>
                    </a:schemeClr>
                  </a:solidFill>
                </a:rPr>
                <a:t> son iguales, se </a:t>
              </a:r>
              <a:r>
                <a:rPr lang="es-ES_tradnl" altLang="es-ES" sz="1100" b="1" i="1" dirty="0">
                  <a:solidFill>
                    <a:schemeClr val="accent5">
                      <a:lumMod val="25000"/>
                    </a:schemeClr>
                  </a:solidFill>
                </a:rPr>
                <a:t>dividen</a:t>
              </a:r>
              <a:r>
                <a:rPr lang="es-ES_tradnl" altLang="es-ES" sz="1100" i="1" dirty="0">
                  <a:solidFill>
                    <a:schemeClr val="accent5">
                      <a:lumMod val="25000"/>
                    </a:schemeClr>
                  </a:solidFill>
                </a:rPr>
                <a:t>, a ver si el cociente vale 1</a:t>
              </a:r>
            </a:p>
          </p:txBody>
        </p:sp>
      </p:grpSp>
      <p:graphicFrame>
        <p:nvGraphicFramePr>
          <p:cNvPr id="6157" name="Object 68"/>
          <p:cNvGraphicFramePr>
            <a:graphicFrameLocks noChangeAspect="1"/>
          </p:cNvGraphicFramePr>
          <p:nvPr>
            <p:extLst>
              <p:ext uri="{D42A27DB-BD31-4B8C-83A1-F6EECF244321}">
                <p14:modId xmlns:p14="http://schemas.microsoft.com/office/powerpoint/2010/main" val="206822705"/>
              </p:ext>
            </p:extLst>
          </p:nvPr>
        </p:nvGraphicFramePr>
        <p:xfrm>
          <a:off x="1905000" y="1160463"/>
          <a:ext cx="1150937" cy="685800"/>
        </p:xfrm>
        <a:graphic>
          <a:graphicData uri="http://schemas.openxmlformats.org/presentationml/2006/ole">
            <mc:AlternateContent xmlns:mc="http://schemas.openxmlformats.org/markup-compatibility/2006">
              <mc:Choice xmlns:v="urn:schemas-microsoft-com:vml" Requires="v">
                <p:oleObj name="Equation" r:id="rId25" imgW="812447" imgH="482391" progId="Equation.DSMT4">
                  <p:embed/>
                </p:oleObj>
              </mc:Choice>
              <mc:Fallback>
                <p:oleObj name="Equation" r:id="rId25" imgW="812447" imgH="482391" progId="Equation.DSMT4">
                  <p:embed/>
                  <p:pic>
                    <p:nvPicPr>
                      <p:cNvPr id="6157" name="Object 6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905000" y="1160463"/>
                        <a:ext cx="1150937"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58" name="Group 71"/>
          <p:cNvGrpSpPr>
            <a:grpSpLocks/>
          </p:cNvGrpSpPr>
          <p:nvPr/>
        </p:nvGrpSpPr>
        <p:grpSpPr bwMode="auto">
          <a:xfrm>
            <a:off x="1143000" y="2362200"/>
            <a:ext cx="2514600" cy="663575"/>
            <a:chOff x="336" y="1616"/>
            <a:chExt cx="1584" cy="418"/>
          </a:xfrm>
        </p:grpSpPr>
        <p:graphicFrame>
          <p:nvGraphicFramePr>
            <p:cNvPr id="6160" name="Object 5"/>
            <p:cNvGraphicFramePr>
              <a:graphicFrameLocks noChangeAspect="1"/>
            </p:cNvGraphicFramePr>
            <p:nvPr/>
          </p:nvGraphicFramePr>
          <p:xfrm>
            <a:off x="432" y="1616"/>
            <a:ext cx="1392" cy="418"/>
          </p:xfrm>
          <a:graphic>
            <a:graphicData uri="http://schemas.openxmlformats.org/presentationml/2006/ole">
              <mc:AlternateContent xmlns:mc="http://schemas.openxmlformats.org/markup-compatibility/2006">
                <mc:Choice xmlns:v="urn:schemas-microsoft-com:vml" Requires="v">
                  <p:oleObj name="Equation" r:id="rId27" imgW="1524000" imgH="457200" progId="Equation.DSMT4">
                    <p:embed/>
                  </p:oleObj>
                </mc:Choice>
                <mc:Fallback>
                  <p:oleObj name="Equation" r:id="rId27" imgW="1524000" imgH="457200" progId="Equation.DSMT4">
                    <p:embed/>
                    <p:pic>
                      <p:nvPicPr>
                        <p:cNvPr id="6160" name="Object 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32" y="1616"/>
                          <a:ext cx="1392" cy="4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61" name="AutoShape 70"/>
            <p:cNvSpPr>
              <a:spLocks noChangeArrowheads="1"/>
            </p:cNvSpPr>
            <p:nvPr/>
          </p:nvSpPr>
          <p:spPr bwMode="auto">
            <a:xfrm>
              <a:off x="336" y="1632"/>
              <a:ext cx="1584" cy="384"/>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6159" name="Text Box 2"/>
          <p:cNvSpPr txBox="1">
            <a:spLocks noChangeArrowheads="1"/>
          </p:cNvSpPr>
          <p:nvPr/>
        </p:nvSpPr>
        <p:spPr bwMode="auto">
          <a:xfrm>
            <a:off x="228600" y="431800"/>
            <a:ext cx="760926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Test preliminar a la comparación de medias: Prueba de homogeneidad de las varianzas</a:t>
            </a:r>
            <a:endParaRPr lang="es-ES" altLang="es-ES" sz="1400" b="1" dirty="0"/>
          </a:p>
        </p:txBody>
      </p:sp>
      <p:sp>
        <p:nvSpPr>
          <p:cNvPr id="2" name="CuadroTexto 1"/>
          <p:cNvSpPr txBox="1"/>
          <p:nvPr/>
        </p:nvSpPr>
        <p:spPr>
          <a:xfrm>
            <a:off x="228600" y="6438840"/>
            <a:ext cx="8763000" cy="415498"/>
          </a:xfrm>
          <a:prstGeom prst="rect">
            <a:avLst/>
          </a:prstGeom>
          <a:noFill/>
        </p:spPr>
        <p:txBody>
          <a:bodyPr wrap="square" rtlCol="0">
            <a:spAutoFit/>
          </a:bodyPr>
          <a:lstStyle/>
          <a:p>
            <a:pPr marL="85725" indent="-85725" algn="just"/>
            <a:r>
              <a:rPr lang="es-ES" sz="1000" dirty="0">
                <a:solidFill>
                  <a:schemeClr val="tx1">
                    <a:lumMod val="65000"/>
                    <a:lumOff val="35000"/>
                  </a:schemeClr>
                </a:solidFill>
              </a:rPr>
              <a:t>* Este test es el único que resolveremos sin determinar el nivel de significación </a:t>
            </a:r>
            <a:r>
              <a:rPr lang="es-ES" sz="1100" i="1" dirty="0">
                <a:solidFill>
                  <a:schemeClr val="tx1">
                    <a:lumMod val="65000"/>
                    <a:lumOff val="35000"/>
                  </a:schemeClr>
                </a:solidFill>
                <a:latin typeface="Times New Roman" panose="02020603050405020304" pitchFamily="18" charset="0"/>
                <a:cs typeface="Times New Roman" panose="02020603050405020304" pitchFamily="18" charset="0"/>
              </a:rPr>
              <a:t>p</a:t>
            </a:r>
            <a:r>
              <a:rPr lang="es-ES" sz="1000" i="1" dirty="0">
                <a:solidFill>
                  <a:schemeClr val="tx1">
                    <a:lumMod val="65000"/>
                    <a:lumOff val="35000"/>
                  </a:schemeClr>
                </a:solidFill>
              </a:rPr>
              <a:t>,</a:t>
            </a:r>
            <a:r>
              <a:rPr lang="es-ES" sz="1000" dirty="0">
                <a:solidFill>
                  <a:schemeClr val="tx1">
                    <a:lumMod val="65000"/>
                    <a:lumOff val="35000"/>
                  </a:schemeClr>
                </a:solidFill>
              </a:rPr>
              <a:t> y lo hacemos así por simplicidad, debido al formato de las tablas. En el fondo la comparación que interesa es la de las medias. Este test solo nos dice qué método se debe aplicar en la comparación de medias. </a:t>
            </a:r>
          </a:p>
        </p:txBody>
      </p:sp>
      <p:sp>
        <p:nvSpPr>
          <p:cNvPr id="3" name="CuadroTexto 2"/>
          <p:cNvSpPr txBox="1"/>
          <p:nvPr/>
        </p:nvSpPr>
        <p:spPr>
          <a:xfrm>
            <a:off x="7083547" y="4342996"/>
            <a:ext cx="724878" cy="215444"/>
          </a:xfrm>
          <a:prstGeom prst="rect">
            <a:avLst/>
          </a:prstGeom>
          <a:noFill/>
        </p:spPr>
        <p:txBody>
          <a:bodyPr wrap="none" rtlCol="0">
            <a:spAutoFit/>
          </a:bodyPr>
          <a:lstStyle/>
          <a:p>
            <a:r>
              <a:rPr lang="es-ES" sz="800" dirty="0"/>
              <a:t>Población 1</a:t>
            </a:r>
          </a:p>
        </p:txBody>
      </p:sp>
      <p:sp>
        <p:nvSpPr>
          <p:cNvPr id="74" name="CuadroTexto 73"/>
          <p:cNvSpPr txBox="1"/>
          <p:nvPr/>
        </p:nvSpPr>
        <p:spPr>
          <a:xfrm>
            <a:off x="8158772" y="4792463"/>
            <a:ext cx="724878" cy="215444"/>
          </a:xfrm>
          <a:prstGeom prst="rect">
            <a:avLst/>
          </a:prstGeom>
          <a:noFill/>
        </p:spPr>
        <p:txBody>
          <a:bodyPr wrap="none" rtlCol="0">
            <a:spAutoFit/>
          </a:bodyPr>
          <a:lstStyle/>
          <a:p>
            <a:r>
              <a:rPr lang="es-ES" sz="800" dirty="0"/>
              <a:t>Población 2</a:t>
            </a:r>
          </a:p>
        </p:txBody>
      </p:sp>
      <p:sp>
        <p:nvSpPr>
          <p:cNvPr id="75" name="CuadroTexto 74"/>
          <p:cNvSpPr txBox="1"/>
          <p:nvPr/>
        </p:nvSpPr>
        <p:spPr>
          <a:xfrm>
            <a:off x="7083547" y="5372100"/>
            <a:ext cx="724878" cy="215444"/>
          </a:xfrm>
          <a:prstGeom prst="rect">
            <a:avLst/>
          </a:prstGeom>
          <a:noFill/>
        </p:spPr>
        <p:txBody>
          <a:bodyPr wrap="none" rtlCol="0">
            <a:spAutoFit/>
          </a:bodyPr>
          <a:lstStyle/>
          <a:p>
            <a:r>
              <a:rPr lang="es-ES" sz="800" dirty="0"/>
              <a:t>Población 1</a:t>
            </a:r>
          </a:p>
        </p:txBody>
      </p:sp>
      <p:sp>
        <p:nvSpPr>
          <p:cNvPr id="76" name="CuadroTexto 75"/>
          <p:cNvSpPr txBox="1"/>
          <p:nvPr/>
        </p:nvSpPr>
        <p:spPr>
          <a:xfrm>
            <a:off x="8158772" y="5716389"/>
            <a:ext cx="724878" cy="215444"/>
          </a:xfrm>
          <a:prstGeom prst="rect">
            <a:avLst/>
          </a:prstGeom>
          <a:noFill/>
        </p:spPr>
        <p:txBody>
          <a:bodyPr wrap="none" rtlCol="0">
            <a:spAutoFit/>
          </a:bodyPr>
          <a:lstStyle/>
          <a:p>
            <a:r>
              <a:rPr lang="es-ES" sz="800" dirty="0"/>
              <a:t>Población 2</a:t>
            </a:r>
          </a:p>
        </p:txBody>
      </p:sp>
      <p:graphicFrame>
        <p:nvGraphicFramePr>
          <p:cNvPr id="4" name="Objeto 3"/>
          <p:cNvGraphicFramePr>
            <a:graphicFrameLocks noChangeAspect="1"/>
          </p:cNvGraphicFramePr>
          <p:nvPr>
            <p:extLst>
              <p:ext uri="{D42A27DB-BD31-4B8C-83A1-F6EECF244321}">
                <p14:modId xmlns:p14="http://schemas.microsoft.com/office/powerpoint/2010/main" val="3906627684"/>
              </p:ext>
            </p:extLst>
          </p:nvPr>
        </p:nvGraphicFramePr>
        <p:xfrm>
          <a:off x="7759699" y="6109497"/>
          <a:ext cx="165100" cy="228600"/>
        </p:xfrm>
        <a:graphic>
          <a:graphicData uri="http://schemas.openxmlformats.org/presentationml/2006/ole">
            <mc:AlternateContent xmlns:mc="http://schemas.openxmlformats.org/markup-compatibility/2006">
              <mc:Choice xmlns:v="urn:schemas-microsoft-com:vml" Requires="v">
                <p:oleObj name="Equation" r:id="rId29" imgW="164880" imgH="228600" progId="Equation.DSMT4">
                  <p:embed/>
                </p:oleObj>
              </mc:Choice>
              <mc:Fallback>
                <p:oleObj name="Equation" r:id="rId29" imgW="164880" imgH="228600" progId="Equation.DSMT4">
                  <p:embed/>
                  <p:pic>
                    <p:nvPicPr>
                      <p:cNvPr id="0" name=""/>
                      <p:cNvPicPr/>
                      <p:nvPr/>
                    </p:nvPicPr>
                    <p:blipFill>
                      <a:blip r:embed="rId30"/>
                      <a:stretch>
                        <a:fillRect/>
                      </a:stretch>
                    </p:blipFill>
                    <p:spPr>
                      <a:xfrm>
                        <a:off x="7759699" y="6109497"/>
                        <a:ext cx="165100" cy="228600"/>
                      </a:xfrm>
                      <a:prstGeom prst="rect">
                        <a:avLst/>
                      </a:prstGeom>
                    </p:spPr>
                  </p:pic>
                </p:oleObj>
              </mc:Fallback>
            </mc:AlternateContent>
          </a:graphicData>
        </a:graphic>
      </p:graphicFrame>
      <p:graphicFrame>
        <p:nvGraphicFramePr>
          <p:cNvPr id="79" name="Objeto 78"/>
          <p:cNvGraphicFramePr>
            <a:graphicFrameLocks noChangeAspect="1"/>
          </p:cNvGraphicFramePr>
          <p:nvPr>
            <p:extLst>
              <p:ext uri="{D42A27DB-BD31-4B8C-83A1-F6EECF244321}">
                <p14:modId xmlns:p14="http://schemas.microsoft.com/office/powerpoint/2010/main" val="1701952648"/>
              </p:ext>
            </p:extLst>
          </p:nvPr>
        </p:nvGraphicFramePr>
        <p:xfrm>
          <a:off x="7945437" y="6109497"/>
          <a:ext cx="177800" cy="228600"/>
        </p:xfrm>
        <a:graphic>
          <a:graphicData uri="http://schemas.openxmlformats.org/presentationml/2006/ole">
            <mc:AlternateContent xmlns:mc="http://schemas.openxmlformats.org/markup-compatibility/2006">
              <mc:Choice xmlns:v="urn:schemas-microsoft-com:vml" Requires="v">
                <p:oleObj name="Equation" r:id="rId31" imgW="177480" imgH="228600" progId="Equation.DSMT4">
                  <p:embed/>
                </p:oleObj>
              </mc:Choice>
              <mc:Fallback>
                <p:oleObj name="Equation" r:id="rId31" imgW="177480" imgH="228600" progId="Equation.DSMT4">
                  <p:embed/>
                  <p:pic>
                    <p:nvPicPr>
                      <p:cNvPr id="4" name="Objeto 3"/>
                      <p:cNvPicPr/>
                      <p:nvPr/>
                    </p:nvPicPr>
                    <p:blipFill>
                      <a:blip r:embed="rId32"/>
                      <a:stretch>
                        <a:fillRect/>
                      </a:stretch>
                    </p:blipFill>
                    <p:spPr>
                      <a:xfrm>
                        <a:off x="7945437" y="6109497"/>
                        <a:ext cx="177800" cy="228600"/>
                      </a:xfrm>
                      <a:prstGeom prst="rect">
                        <a:avLst/>
                      </a:prstGeom>
                    </p:spPr>
                  </p:pic>
                </p:oleObj>
              </mc:Fallback>
            </mc:AlternateContent>
          </a:graphicData>
        </a:graphic>
      </p:graphicFrame>
    </p:spTree>
    <p:extLst>
      <p:ext uri="{BB962C8B-B14F-4D97-AF65-F5344CB8AC3E}">
        <p14:creationId xmlns:p14="http://schemas.microsoft.com/office/powerpoint/2010/main" val="3286577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0" name="Object 10"/>
          <p:cNvGraphicFramePr>
            <a:graphicFrameLocks noChangeAspect="1"/>
          </p:cNvGraphicFramePr>
          <p:nvPr>
            <p:extLst>
              <p:ext uri="{D42A27DB-BD31-4B8C-83A1-F6EECF244321}">
                <p14:modId xmlns:p14="http://schemas.microsoft.com/office/powerpoint/2010/main" val="295326197"/>
              </p:ext>
            </p:extLst>
          </p:nvPr>
        </p:nvGraphicFramePr>
        <p:xfrm>
          <a:off x="566738" y="1293813"/>
          <a:ext cx="1168400" cy="684212"/>
        </p:xfrm>
        <a:graphic>
          <a:graphicData uri="http://schemas.openxmlformats.org/presentationml/2006/ole">
            <mc:AlternateContent xmlns:mc="http://schemas.openxmlformats.org/markup-compatibility/2006">
              <mc:Choice xmlns:v="urn:schemas-microsoft-com:vml" Requires="v">
                <p:oleObj name="Equation" r:id="rId2" imgW="825500" imgH="482600" progId="Equation.DSMT4">
                  <p:embed/>
                </p:oleObj>
              </mc:Choice>
              <mc:Fallback>
                <p:oleObj name="Equation" r:id="rId2" imgW="825500" imgH="482600" progId="Equation.DSMT4">
                  <p:embed/>
                  <p:pic>
                    <p:nvPicPr>
                      <p:cNvPr id="717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738" y="1293813"/>
                        <a:ext cx="1168400"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1" name="Text Box 12"/>
          <p:cNvSpPr txBox="1">
            <a:spLocks noChangeArrowheads="1"/>
          </p:cNvSpPr>
          <p:nvPr/>
        </p:nvSpPr>
        <p:spPr bwMode="auto">
          <a:xfrm>
            <a:off x="228600" y="971550"/>
            <a:ext cx="2241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1. Hipótesis a contrastar</a:t>
            </a:r>
            <a:endParaRPr lang="es-ES" altLang="es-ES" sz="1400" b="1" dirty="0"/>
          </a:p>
        </p:txBody>
      </p:sp>
      <p:sp>
        <p:nvSpPr>
          <p:cNvPr id="7172" name="Text Box 13"/>
          <p:cNvSpPr txBox="1">
            <a:spLocks noChangeArrowheads="1"/>
          </p:cNvSpPr>
          <p:nvPr/>
        </p:nvSpPr>
        <p:spPr bwMode="auto">
          <a:xfrm>
            <a:off x="228600" y="2057400"/>
            <a:ext cx="4318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2. Evidencia empírica: el estadístico de contraste</a:t>
            </a:r>
            <a:endParaRPr lang="es-ES" altLang="es-ES" sz="1400" b="1"/>
          </a:p>
        </p:txBody>
      </p:sp>
      <p:grpSp>
        <p:nvGrpSpPr>
          <p:cNvPr id="7173" name="Group 61"/>
          <p:cNvGrpSpPr>
            <a:grpSpLocks/>
          </p:cNvGrpSpPr>
          <p:nvPr/>
        </p:nvGrpSpPr>
        <p:grpSpPr bwMode="auto">
          <a:xfrm>
            <a:off x="438150" y="2422525"/>
            <a:ext cx="5440363" cy="327025"/>
            <a:chOff x="384" y="1508"/>
            <a:chExt cx="3427" cy="206"/>
          </a:xfrm>
        </p:grpSpPr>
        <p:sp>
          <p:nvSpPr>
            <p:cNvPr id="7218" name="Text Box 31"/>
            <p:cNvSpPr txBox="1">
              <a:spLocks noChangeArrowheads="1"/>
            </p:cNvSpPr>
            <p:nvPr/>
          </p:nvSpPr>
          <p:spPr bwMode="auto">
            <a:xfrm>
              <a:off x="384" y="1512"/>
              <a:ext cx="3024"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300" dirty="0"/>
                <a:t> Si H</a:t>
              </a:r>
              <a:r>
                <a:rPr lang="es-ES_tradnl" altLang="es-ES" sz="1300" baseline="-25000" dirty="0"/>
                <a:t>0 </a:t>
              </a:r>
              <a:r>
                <a:rPr lang="es-ES_tradnl" altLang="es-ES" sz="1300" dirty="0"/>
                <a:t>es cierta,                debe ser una magnitud pequeña:      </a:t>
              </a:r>
              <a:endParaRPr lang="es-ES" altLang="es-ES" sz="1300" dirty="0"/>
            </a:p>
          </p:txBody>
        </p:sp>
        <p:graphicFrame>
          <p:nvGraphicFramePr>
            <p:cNvPr id="7219" name="Object 19"/>
            <p:cNvGraphicFramePr>
              <a:graphicFrameLocks noChangeAspect="1"/>
            </p:cNvGraphicFramePr>
            <p:nvPr/>
          </p:nvGraphicFramePr>
          <p:xfrm>
            <a:off x="1228" y="1508"/>
            <a:ext cx="384" cy="202"/>
          </p:xfrm>
          <a:graphic>
            <a:graphicData uri="http://schemas.openxmlformats.org/presentationml/2006/ole">
              <mc:AlternateContent xmlns:mc="http://schemas.openxmlformats.org/markup-compatibility/2006">
                <mc:Choice xmlns:v="urn:schemas-microsoft-com:vml" Requires="v">
                  <p:oleObj name="Equation" r:id="rId4" imgW="482391" imgH="253890" progId="Equation.DSMT4">
                    <p:embed/>
                  </p:oleObj>
                </mc:Choice>
                <mc:Fallback>
                  <p:oleObj name="Equation" r:id="rId4" imgW="482391" imgH="253890" progId="Equation.DSMT4">
                    <p:embed/>
                    <p:pic>
                      <p:nvPicPr>
                        <p:cNvPr id="7219"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8" y="1508"/>
                          <a:ext cx="384" cy="2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20" name="Object 45"/>
            <p:cNvGraphicFramePr>
              <a:graphicFrameLocks noChangeAspect="1"/>
            </p:cNvGraphicFramePr>
            <p:nvPr/>
          </p:nvGraphicFramePr>
          <p:xfrm>
            <a:off x="3205" y="1512"/>
            <a:ext cx="606" cy="202"/>
          </p:xfrm>
          <a:graphic>
            <a:graphicData uri="http://schemas.openxmlformats.org/presentationml/2006/ole">
              <mc:AlternateContent xmlns:mc="http://schemas.openxmlformats.org/markup-compatibility/2006">
                <mc:Choice xmlns:v="urn:schemas-microsoft-com:vml" Requires="v">
                  <p:oleObj name="Equation" r:id="rId6" imgW="761669" imgH="253890" progId="Equation.DSMT4">
                    <p:embed/>
                  </p:oleObj>
                </mc:Choice>
                <mc:Fallback>
                  <p:oleObj name="Equation" r:id="rId6" imgW="761669" imgH="253890" progId="Equation.DSMT4">
                    <p:embed/>
                    <p:pic>
                      <p:nvPicPr>
                        <p:cNvPr id="7220" name="Object 4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5" y="1512"/>
                          <a:ext cx="606" cy="2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174" name="Text Box 43"/>
          <p:cNvSpPr txBox="1">
            <a:spLocks noChangeArrowheads="1"/>
          </p:cNvSpPr>
          <p:nvPr/>
        </p:nvSpPr>
        <p:spPr bwMode="auto">
          <a:xfrm>
            <a:off x="438150" y="2819400"/>
            <a:ext cx="702945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300" dirty="0"/>
              <a:t> ¿Cuánto de pequeña? → dependerá  de la variabilidad y del tamaño de muestra</a:t>
            </a:r>
            <a:endParaRPr lang="es-ES" altLang="es-ES" sz="1300" dirty="0"/>
          </a:p>
        </p:txBody>
      </p:sp>
      <p:graphicFrame>
        <p:nvGraphicFramePr>
          <p:cNvPr id="7175" name="Object 11"/>
          <p:cNvGraphicFramePr>
            <a:graphicFrameLocks noChangeAspect="1"/>
          </p:cNvGraphicFramePr>
          <p:nvPr/>
        </p:nvGraphicFramePr>
        <p:xfrm>
          <a:off x="5757863" y="3105150"/>
          <a:ext cx="1233487" cy="644525"/>
        </p:xfrm>
        <a:graphic>
          <a:graphicData uri="http://schemas.openxmlformats.org/presentationml/2006/ole">
            <mc:AlternateContent xmlns:mc="http://schemas.openxmlformats.org/markup-compatibility/2006">
              <mc:Choice xmlns:v="urn:schemas-microsoft-com:vml" Requires="v">
                <p:oleObj name="Equation" r:id="rId8" imgW="850531" imgH="444307" progId="Equation.DSMT4">
                  <p:embed/>
                </p:oleObj>
              </mc:Choice>
              <mc:Fallback>
                <p:oleObj name="Equation" r:id="rId8" imgW="850531" imgH="444307" progId="Equation.DSMT4">
                  <p:embed/>
                  <p:pic>
                    <p:nvPicPr>
                      <p:cNvPr id="7175"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57863" y="3105150"/>
                        <a:ext cx="1233487" cy="64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6" name="Text Box 47"/>
          <p:cNvSpPr txBox="1">
            <a:spLocks noChangeArrowheads="1"/>
          </p:cNvSpPr>
          <p:nvPr/>
        </p:nvSpPr>
        <p:spPr bwMode="auto">
          <a:xfrm>
            <a:off x="438150" y="3286125"/>
            <a:ext cx="855345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300"/>
              <a:t> El Estadístico de contraste es una estandarización de esa diferencia:                             con </a:t>
            </a:r>
            <a:r>
              <a:rPr lang="es-ES_tradnl" altLang="es-ES" sz="1300" i="1">
                <a:latin typeface="Times New Roman" pitchFamily="18" charset="0"/>
              </a:rPr>
              <a:t>f</a:t>
            </a:r>
            <a:r>
              <a:rPr lang="es-ES_tradnl" altLang="es-ES" sz="1300"/>
              <a:t> grados del libertad</a:t>
            </a:r>
            <a:endParaRPr lang="es-ES" altLang="es-ES" sz="1300"/>
          </a:p>
        </p:txBody>
      </p:sp>
      <p:grpSp>
        <p:nvGrpSpPr>
          <p:cNvPr id="7177" name="Group 74"/>
          <p:cNvGrpSpPr>
            <a:grpSpLocks/>
          </p:cNvGrpSpPr>
          <p:nvPr/>
        </p:nvGrpSpPr>
        <p:grpSpPr bwMode="auto">
          <a:xfrm>
            <a:off x="838200" y="4476750"/>
            <a:ext cx="1524000" cy="1809750"/>
            <a:chOff x="4560" y="2712"/>
            <a:chExt cx="960" cy="1188"/>
          </a:xfrm>
        </p:grpSpPr>
        <p:pic>
          <p:nvPicPr>
            <p:cNvPr id="7209" name="Picture 64"/>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656" y="2712"/>
              <a:ext cx="720" cy="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10" name="Picture 65"/>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566" y="3362"/>
              <a:ext cx="951"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211" name="Group 66"/>
            <p:cNvGrpSpPr>
              <a:grpSpLocks/>
            </p:cNvGrpSpPr>
            <p:nvPr/>
          </p:nvGrpSpPr>
          <p:grpSpPr bwMode="auto">
            <a:xfrm>
              <a:off x="4923" y="2745"/>
              <a:ext cx="114" cy="1152"/>
              <a:chOff x="4923" y="2640"/>
              <a:chExt cx="114" cy="1440"/>
            </a:xfrm>
          </p:grpSpPr>
          <p:sp>
            <p:nvSpPr>
              <p:cNvPr id="7216" name="Line 67"/>
              <p:cNvSpPr>
                <a:spLocks noChangeShapeType="1"/>
              </p:cNvSpPr>
              <p:nvPr/>
            </p:nvSpPr>
            <p:spPr bwMode="auto">
              <a:xfrm>
                <a:off x="4923" y="2640"/>
                <a:ext cx="0" cy="1440"/>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7217" name="Line 68"/>
              <p:cNvSpPr>
                <a:spLocks noChangeShapeType="1"/>
              </p:cNvSpPr>
              <p:nvPr/>
            </p:nvSpPr>
            <p:spPr bwMode="auto">
              <a:xfrm>
                <a:off x="5037" y="2640"/>
                <a:ext cx="0" cy="1440"/>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7212" name="Group 69"/>
            <p:cNvGrpSpPr>
              <a:grpSpLocks/>
            </p:cNvGrpSpPr>
            <p:nvPr/>
          </p:nvGrpSpPr>
          <p:grpSpPr bwMode="auto">
            <a:xfrm>
              <a:off x="4560" y="3312"/>
              <a:ext cx="960" cy="585"/>
              <a:chOff x="4560" y="3312"/>
              <a:chExt cx="960" cy="585"/>
            </a:xfrm>
          </p:grpSpPr>
          <p:sp>
            <p:nvSpPr>
              <p:cNvPr id="7214" name="Line 70"/>
              <p:cNvSpPr>
                <a:spLocks noChangeShapeType="1"/>
              </p:cNvSpPr>
              <p:nvPr/>
            </p:nvSpPr>
            <p:spPr bwMode="auto">
              <a:xfrm>
                <a:off x="4560" y="3897"/>
                <a:ext cx="960" cy="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7215" name="Line 71"/>
              <p:cNvSpPr>
                <a:spLocks noChangeShapeType="1"/>
              </p:cNvSpPr>
              <p:nvPr/>
            </p:nvSpPr>
            <p:spPr bwMode="auto">
              <a:xfrm>
                <a:off x="4560" y="3312"/>
                <a:ext cx="960" cy="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7213" name="Rectangle 72"/>
            <p:cNvSpPr>
              <a:spLocks noChangeArrowheads="1"/>
            </p:cNvSpPr>
            <p:nvPr/>
          </p:nvSpPr>
          <p:spPr bwMode="auto">
            <a:xfrm>
              <a:off x="4848" y="3318"/>
              <a:ext cx="240"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pSp>
        <p:nvGrpSpPr>
          <p:cNvPr id="7178" name="Group 89"/>
          <p:cNvGrpSpPr>
            <a:grpSpLocks/>
          </p:cNvGrpSpPr>
          <p:nvPr/>
        </p:nvGrpSpPr>
        <p:grpSpPr bwMode="auto">
          <a:xfrm>
            <a:off x="2001838" y="4638675"/>
            <a:ext cx="3062288" cy="1562100"/>
            <a:chOff x="1597" y="3024"/>
            <a:chExt cx="1929" cy="984"/>
          </a:xfrm>
        </p:grpSpPr>
        <p:grpSp>
          <p:nvGrpSpPr>
            <p:cNvPr id="7199" name="Group 81"/>
            <p:cNvGrpSpPr>
              <a:grpSpLocks/>
            </p:cNvGrpSpPr>
            <p:nvPr/>
          </p:nvGrpSpPr>
          <p:grpSpPr bwMode="auto">
            <a:xfrm>
              <a:off x="1918" y="3216"/>
              <a:ext cx="720" cy="216"/>
              <a:chOff x="1536" y="3120"/>
              <a:chExt cx="720" cy="216"/>
            </a:xfrm>
          </p:grpSpPr>
          <p:graphicFrame>
            <p:nvGraphicFramePr>
              <p:cNvPr id="7207" name="Object 76"/>
              <p:cNvGraphicFramePr>
                <a:graphicFrameLocks noChangeAspect="1"/>
              </p:cNvGraphicFramePr>
              <p:nvPr/>
            </p:nvGraphicFramePr>
            <p:xfrm>
              <a:off x="1536" y="3120"/>
              <a:ext cx="442" cy="216"/>
            </p:xfrm>
            <a:graphic>
              <a:graphicData uri="http://schemas.openxmlformats.org/presentationml/2006/ole">
                <mc:AlternateContent xmlns:mc="http://schemas.openxmlformats.org/markup-compatibility/2006">
                  <mc:Choice xmlns:v="urn:schemas-microsoft-com:vml" Requires="v">
                    <p:oleObj name="Equation" r:id="rId12" imgW="495085" imgH="241195" progId="Equation.DSMT4">
                      <p:embed/>
                    </p:oleObj>
                  </mc:Choice>
                  <mc:Fallback>
                    <p:oleObj name="Equation" r:id="rId12" imgW="495085" imgH="241195" progId="Equation.DSMT4">
                      <p:embed/>
                      <p:pic>
                        <p:nvPicPr>
                          <p:cNvPr id="7207" name="Object 7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36" y="3120"/>
                            <a:ext cx="442"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08" name="Line 77"/>
              <p:cNvSpPr>
                <a:spLocks noChangeShapeType="1"/>
              </p:cNvSpPr>
              <p:nvPr/>
            </p:nvSpPr>
            <p:spPr bwMode="auto">
              <a:xfrm>
                <a:off x="2064" y="3228"/>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7200" name="Group 82"/>
            <p:cNvGrpSpPr>
              <a:grpSpLocks/>
            </p:cNvGrpSpPr>
            <p:nvPr/>
          </p:nvGrpSpPr>
          <p:grpSpPr bwMode="auto">
            <a:xfrm>
              <a:off x="1918" y="3792"/>
              <a:ext cx="720" cy="216"/>
              <a:chOff x="1536" y="3840"/>
              <a:chExt cx="720" cy="216"/>
            </a:xfrm>
          </p:grpSpPr>
          <p:graphicFrame>
            <p:nvGraphicFramePr>
              <p:cNvPr id="7205" name="Object 79"/>
              <p:cNvGraphicFramePr>
                <a:graphicFrameLocks noChangeAspect="1"/>
              </p:cNvGraphicFramePr>
              <p:nvPr/>
            </p:nvGraphicFramePr>
            <p:xfrm>
              <a:off x="1536" y="3840"/>
              <a:ext cx="442" cy="216"/>
            </p:xfrm>
            <a:graphic>
              <a:graphicData uri="http://schemas.openxmlformats.org/presentationml/2006/ole">
                <mc:AlternateContent xmlns:mc="http://schemas.openxmlformats.org/markup-compatibility/2006">
                  <mc:Choice xmlns:v="urn:schemas-microsoft-com:vml" Requires="v">
                    <p:oleObj name="Equation" r:id="rId14" imgW="495085" imgH="241195" progId="Equation.DSMT4">
                      <p:embed/>
                    </p:oleObj>
                  </mc:Choice>
                  <mc:Fallback>
                    <p:oleObj name="Equation" r:id="rId14" imgW="495085" imgH="241195" progId="Equation.DSMT4">
                      <p:embed/>
                      <p:pic>
                        <p:nvPicPr>
                          <p:cNvPr id="7205" name="Object 7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36" y="3840"/>
                            <a:ext cx="442"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06" name="Line 80"/>
              <p:cNvSpPr>
                <a:spLocks noChangeShapeType="1"/>
              </p:cNvSpPr>
              <p:nvPr/>
            </p:nvSpPr>
            <p:spPr bwMode="auto">
              <a:xfrm>
                <a:off x="2064" y="3948"/>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7201" name="Text Box 85"/>
            <p:cNvSpPr txBox="1">
              <a:spLocks noChangeArrowheads="1"/>
            </p:cNvSpPr>
            <p:nvPr/>
          </p:nvSpPr>
          <p:spPr bwMode="auto">
            <a:xfrm>
              <a:off x="1598" y="3024"/>
              <a:ext cx="118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dirty="0"/>
                <a:t>Varianzas homogéneas</a:t>
              </a:r>
              <a:endParaRPr lang="es-ES" altLang="es-ES" b="1" dirty="0"/>
            </a:p>
          </p:txBody>
        </p:sp>
        <p:sp>
          <p:nvSpPr>
            <p:cNvPr id="7202" name="Text Box 86"/>
            <p:cNvSpPr txBox="1">
              <a:spLocks noChangeArrowheads="1"/>
            </p:cNvSpPr>
            <p:nvPr/>
          </p:nvSpPr>
          <p:spPr bwMode="auto">
            <a:xfrm>
              <a:off x="1597" y="3600"/>
              <a:ext cx="136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dirty="0"/>
                <a:t>Varianzas NO homogéneas</a:t>
              </a:r>
              <a:endParaRPr lang="es-ES" altLang="es-ES" b="1" dirty="0"/>
            </a:p>
          </p:txBody>
        </p:sp>
        <p:sp>
          <p:nvSpPr>
            <p:cNvPr id="7203" name="Text Box 87"/>
            <p:cNvSpPr txBox="1">
              <a:spLocks noChangeArrowheads="1"/>
            </p:cNvSpPr>
            <p:nvPr/>
          </p:nvSpPr>
          <p:spPr bwMode="auto">
            <a:xfrm>
              <a:off x="2689" y="3235"/>
              <a:ext cx="837"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dirty="0"/>
                <a:t>Test de </a:t>
              </a:r>
              <a:r>
                <a:rPr lang="es-ES_tradnl" altLang="es-ES" b="1" dirty="0">
                  <a:solidFill>
                    <a:srgbClr val="990000"/>
                  </a:solidFill>
                </a:rPr>
                <a:t>Student</a:t>
              </a:r>
              <a:endParaRPr lang="es-ES" altLang="es-ES" b="1" dirty="0">
                <a:solidFill>
                  <a:srgbClr val="990000"/>
                </a:solidFill>
              </a:endParaRPr>
            </a:p>
          </p:txBody>
        </p:sp>
        <p:sp>
          <p:nvSpPr>
            <p:cNvPr id="7204" name="Text Box 88"/>
            <p:cNvSpPr txBox="1">
              <a:spLocks noChangeArrowheads="1"/>
            </p:cNvSpPr>
            <p:nvPr/>
          </p:nvSpPr>
          <p:spPr bwMode="auto">
            <a:xfrm>
              <a:off x="2695" y="3810"/>
              <a:ext cx="76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dirty="0"/>
                <a:t>Test de </a:t>
              </a:r>
              <a:r>
                <a:rPr lang="es-ES_tradnl" altLang="es-ES" b="1" dirty="0" err="1">
                  <a:solidFill>
                    <a:srgbClr val="990000"/>
                  </a:solidFill>
                </a:rPr>
                <a:t>Welch</a:t>
              </a:r>
              <a:endParaRPr lang="es-ES" altLang="es-ES" b="1" dirty="0">
                <a:solidFill>
                  <a:srgbClr val="990000"/>
                </a:solidFill>
              </a:endParaRPr>
            </a:p>
          </p:txBody>
        </p:sp>
      </p:grpSp>
      <p:sp>
        <p:nvSpPr>
          <p:cNvPr id="7179" name="Text Box 93"/>
          <p:cNvSpPr txBox="1">
            <a:spLocks noChangeArrowheads="1"/>
          </p:cNvSpPr>
          <p:nvPr/>
        </p:nvSpPr>
        <p:spPr bwMode="auto">
          <a:xfrm>
            <a:off x="5162550" y="4860925"/>
            <a:ext cx="33909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dirty="0"/>
              <a:t>Es uno de los test más clásicos (y más utilizados) de la Estadística</a:t>
            </a:r>
            <a:endParaRPr lang="es-ES" altLang="es-ES" sz="1300" dirty="0"/>
          </a:p>
        </p:txBody>
      </p:sp>
      <p:sp>
        <p:nvSpPr>
          <p:cNvPr id="7180" name="Rectangle 95"/>
          <p:cNvSpPr>
            <a:spLocks noChangeArrowheads="1"/>
          </p:cNvSpPr>
          <p:nvPr/>
        </p:nvSpPr>
        <p:spPr bwMode="auto">
          <a:xfrm>
            <a:off x="5162550" y="5752306"/>
            <a:ext cx="3429000" cy="68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dirty="0"/>
              <a:t>Algunos autores recomiendan usar  siempre este, especialmente si los tamaños de muestra son muy distintos</a:t>
            </a:r>
            <a:endParaRPr lang="es-ES" altLang="es-ES" sz="1300" dirty="0"/>
          </a:p>
        </p:txBody>
      </p:sp>
      <p:sp>
        <p:nvSpPr>
          <p:cNvPr id="7181" name="AutoShape 96"/>
          <p:cNvSpPr>
            <a:spLocks/>
          </p:cNvSpPr>
          <p:nvPr/>
        </p:nvSpPr>
        <p:spPr bwMode="auto">
          <a:xfrm>
            <a:off x="5076825" y="4724400"/>
            <a:ext cx="76200" cy="762000"/>
          </a:xfrm>
          <a:prstGeom prst="leftBrace">
            <a:avLst>
              <a:gd name="adj1" fmla="val 8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7182" name="AutoShape 97"/>
          <p:cNvSpPr>
            <a:spLocks/>
          </p:cNvSpPr>
          <p:nvPr/>
        </p:nvSpPr>
        <p:spPr bwMode="auto">
          <a:xfrm>
            <a:off x="5076825" y="5715000"/>
            <a:ext cx="76200" cy="762000"/>
          </a:xfrm>
          <a:prstGeom prst="leftBrace">
            <a:avLst>
              <a:gd name="adj1" fmla="val 8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7183" name="AutoShape 99"/>
          <p:cNvSpPr>
            <a:spLocks/>
          </p:cNvSpPr>
          <p:nvPr/>
        </p:nvSpPr>
        <p:spPr bwMode="auto">
          <a:xfrm>
            <a:off x="628650" y="4286250"/>
            <a:ext cx="76200" cy="2133600"/>
          </a:xfrm>
          <a:prstGeom prst="leftBrace">
            <a:avLst>
              <a:gd name="adj1" fmla="val 23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aphicFrame>
        <p:nvGraphicFramePr>
          <p:cNvPr id="7184" name="Object 101"/>
          <p:cNvGraphicFramePr>
            <a:graphicFrameLocks noChangeAspect="1"/>
          </p:cNvGraphicFramePr>
          <p:nvPr>
            <p:extLst>
              <p:ext uri="{D42A27DB-BD31-4B8C-83A1-F6EECF244321}">
                <p14:modId xmlns:p14="http://schemas.microsoft.com/office/powerpoint/2010/main" val="3615011680"/>
              </p:ext>
            </p:extLst>
          </p:nvPr>
        </p:nvGraphicFramePr>
        <p:xfrm>
          <a:off x="2133600" y="1322388"/>
          <a:ext cx="1239838" cy="647700"/>
        </p:xfrm>
        <a:graphic>
          <a:graphicData uri="http://schemas.openxmlformats.org/presentationml/2006/ole">
            <mc:AlternateContent xmlns:mc="http://schemas.openxmlformats.org/markup-compatibility/2006">
              <mc:Choice xmlns:v="urn:schemas-microsoft-com:vml" Requires="v">
                <p:oleObj name="Equation" r:id="rId16" imgW="876300" imgH="457200" progId="Equation.DSMT4">
                  <p:embed/>
                </p:oleObj>
              </mc:Choice>
              <mc:Fallback>
                <p:oleObj name="Equation" r:id="rId16" imgW="876300" imgH="457200" progId="Equation.DSMT4">
                  <p:embed/>
                  <p:pic>
                    <p:nvPicPr>
                      <p:cNvPr id="7184" name="Object 10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33600" y="1322388"/>
                        <a:ext cx="1239838"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185" name="Group 106"/>
          <p:cNvGrpSpPr>
            <a:grpSpLocks/>
          </p:cNvGrpSpPr>
          <p:nvPr/>
        </p:nvGrpSpPr>
        <p:grpSpPr bwMode="auto">
          <a:xfrm>
            <a:off x="3886200" y="1143000"/>
            <a:ext cx="1866900" cy="838200"/>
            <a:chOff x="3792" y="864"/>
            <a:chExt cx="960" cy="528"/>
          </a:xfrm>
        </p:grpSpPr>
        <p:sp>
          <p:nvSpPr>
            <p:cNvPr id="7197" name="AutoShape 103"/>
            <p:cNvSpPr>
              <a:spLocks noChangeArrowheads="1"/>
            </p:cNvSpPr>
            <p:nvPr/>
          </p:nvSpPr>
          <p:spPr bwMode="auto">
            <a:xfrm>
              <a:off x="3792" y="864"/>
              <a:ext cx="960" cy="528"/>
            </a:xfrm>
            <a:prstGeom prst="roundRect">
              <a:avLst>
                <a:gd name="adj" fmla="val 16667"/>
              </a:avLst>
            </a:prstGeom>
            <a:solidFill>
              <a:srgbClr val="C0C0C0">
                <a:alpha val="14902"/>
              </a:srgbClr>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7198" name="Rectangle 104"/>
            <p:cNvSpPr>
              <a:spLocks noChangeArrowheads="1"/>
            </p:cNvSpPr>
            <p:nvPr/>
          </p:nvSpPr>
          <p:spPr bwMode="auto">
            <a:xfrm>
              <a:off x="3816" y="887"/>
              <a:ext cx="912" cy="482"/>
            </a:xfrm>
            <a:prstGeom prst="rect">
              <a:avLst/>
            </a:prstGeom>
            <a:noFill/>
            <a:ln>
              <a:noFill/>
            </a:ln>
            <a:effectLst/>
            <a:extLst>
              <a:ext uri="{909E8E84-426E-40DD-AFC4-6F175D3DCCD1}">
                <a14:hiddenFill xmlns:a14="http://schemas.microsoft.com/office/drawing/2010/main">
                  <a:solidFill>
                    <a:schemeClr val="accent1">
                      <a:alpha val="25098"/>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100" i="1" dirty="0">
                  <a:solidFill>
                    <a:schemeClr val="accent5">
                      <a:lumMod val="25000"/>
                    </a:schemeClr>
                  </a:solidFill>
                </a:rPr>
                <a:t>Para probar si dos </a:t>
              </a:r>
              <a:r>
                <a:rPr lang="es-ES_tradnl" altLang="es-ES" sz="1100" b="1" i="1" dirty="0">
                  <a:solidFill>
                    <a:schemeClr val="accent5">
                      <a:lumMod val="25000"/>
                    </a:schemeClr>
                  </a:solidFill>
                </a:rPr>
                <a:t>medias</a:t>
              </a:r>
              <a:r>
                <a:rPr lang="es-ES_tradnl" altLang="es-ES" sz="1100" i="1" dirty="0">
                  <a:solidFill>
                    <a:schemeClr val="accent5">
                      <a:lumMod val="25000"/>
                    </a:schemeClr>
                  </a:solidFill>
                </a:rPr>
                <a:t> son iguales, se </a:t>
              </a:r>
              <a:r>
                <a:rPr lang="es-ES_tradnl" altLang="es-ES" sz="1100" b="1" i="1" dirty="0">
                  <a:solidFill>
                    <a:schemeClr val="accent5">
                      <a:lumMod val="25000"/>
                    </a:schemeClr>
                  </a:solidFill>
                </a:rPr>
                <a:t>restan</a:t>
              </a:r>
              <a:r>
                <a:rPr lang="es-ES_tradnl" altLang="es-ES" sz="1100" i="1" dirty="0">
                  <a:solidFill>
                    <a:schemeClr val="accent5">
                      <a:lumMod val="25000"/>
                    </a:schemeClr>
                  </a:solidFill>
                </a:rPr>
                <a:t>, a ver si la diferencia vale 0</a:t>
              </a:r>
            </a:p>
          </p:txBody>
        </p:sp>
      </p:grpSp>
      <p:grpSp>
        <p:nvGrpSpPr>
          <p:cNvPr id="7186" name="Group 110"/>
          <p:cNvGrpSpPr>
            <a:grpSpLocks/>
          </p:cNvGrpSpPr>
          <p:nvPr/>
        </p:nvGrpSpPr>
        <p:grpSpPr bwMode="auto">
          <a:xfrm>
            <a:off x="422275" y="3714750"/>
            <a:ext cx="8340725" cy="647700"/>
            <a:chOff x="266" y="2298"/>
            <a:chExt cx="5254" cy="408"/>
          </a:xfrm>
        </p:grpSpPr>
        <p:sp>
          <p:nvSpPr>
            <p:cNvPr id="7191" name="Text Box 52"/>
            <p:cNvSpPr txBox="1">
              <a:spLocks noChangeArrowheads="1"/>
            </p:cNvSpPr>
            <p:nvPr/>
          </p:nvSpPr>
          <p:spPr bwMode="auto">
            <a:xfrm>
              <a:off x="1512" y="2298"/>
              <a:ext cx="2082"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300"/>
                <a:t> El modo de estandarizar (quién es       ) </a:t>
              </a:r>
            </a:p>
            <a:p>
              <a:pPr eaLnBrk="1" hangingPunct="1">
                <a:lnSpc>
                  <a:spcPct val="180000"/>
                </a:lnSpc>
                <a:buFontTx/>
                <a:buChar char="•"/>
              </a:pPr>
              <a:r>
                <a:rPr lang="es-ES_tradnl" altLang="es-ES" sz="1300"/>
                <a:t> Los grados de libertad  </a:t>
              </a:r>
              <a:r>
                <a:rPr lang="es-ES_tradnl" altLang="es-ES" sz="1300" i="1">
                  <a:latin typeface="Times New Roman" pitchFamily="18" charset="0"/>
                </a:rPr>
                <a:t>f</a:t>
              </a:r>
              <a:r>
                <a:rPr lang="es-ES_tradnl" altLang="es-ES" sz="1300"/>
                <a:t>  a considerar  </a:t>
              </a:r>
            </a:p>
          </p:txBody>
        </p:sp>
        <p:sp>
          <p:nvSpPr>
            <p:cNvPr id="7192" name="Text Box 49"/>
            <p:cNvSpPr txBox="1">
              <a:spLocks noChangeArrowheads="1"/>
            </p:cNvSpPr>
            <p:nvPr/>
          </p:nvSpPr>
          <p:spPr bwMode="auto">
            <a:xfrm>
              <a:off x="266" y="2410"/>
              <a:ext cx="1680"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300"/>
                <a:t> Punto de vista clásico:</a:t>
              </a:r>
            </a:p>
          </p:txBody>
        </p:sp>
        <p:sp>
          <p:nvSpPr>
            <p:cNvPr id="7193" name="AutoShape 54"/>
            <p:cNvSpPr>
              <a:spLocks/>
            </p:cNvSpPr>
            <p:nvPr/>
          </p:nvSpPr>
          <p:spPr bwMode="auto">
            <a:xfrm>
              <a:off x="1491" y="2334"/>
              <a:ext cx="60" cy="336"/>
            </a:xfrm>
            <a:prstGeom prst="leftBrace">
              <a:avLst>
                <a:gd name="adj1" fmla="val 46667"/>
                <a:gd name="adj2" fmla="val 50000"/>
              </a:avLst>
            </a:prstGeom>
            <a:noFill/>
            <a:ln w="9525">
              <a:solidFill>
                <a:srgbClr val="96969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aphicFrame>
          <p:nvGraphicFramePr>
            <p:cNvPr id="7194" name="Object 53"/>
            <p:cNvGraphicFramePr>
              <a:graphicFrameLocks noChangeAspect="1"/>
            </p:cNvGraphicFramePr>
            <p:nvPr/>
          </p:nvGraphicFramePr>
          <p:xfrm>
            <a:off x="3240" y="2337"/>
            <a:ext cx="150" cy="150"/>
          </p:xfrm>
          <a:graphic>
            <a:graphicData uri="http://schemas.openxmlformats.org/presentationml/2006/ole">
              <mc:AlternateContent xmlns:mc="http://schemas.openxmlformats.org/markup-compatibility/2006">
                <mc:Choice xmlns:v="urn:schemas-microsoft-com:vml" Requires="v">
                  <p:oleObj name="Equation" r:id="rId18" imgW="215619" imgH="215619" progId="Equation.DSMT4">
                    <p:embed/>
                  </p:oleObj>
                </mc:Choice>
                <mc:Fallback>
                  <p:oleObj name="Equation" r:id="rId18" imgW="215619" imgH="215619" progId="Equation.DSMT4">
                    <p:embed/>
                    <p:pic>
                      <p:nvPicPr>
                        <p:cNvPr id="7194" name="Object 5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240" y="2337"/>
                          <a:ext cx="150" cy="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95" name="Text Box 55"/>
            <p:cNvSpPr txBox="1">
              <a:spLocks noChangeArrowheads="1"/>
            </p:cNvSpPr>
            <p:nvPr/>
          </p:nvSpPr>
          <p:spPr bwMode="auto">
            <a:xfrm>
              <a:off x="3599" y="2356"/>
              <a:ext cx="1921"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t>dependen de cómo sean las varianzas poblacionales</a:t>
              </a:r>
              <a:endParaRPr lang="es-ES" altLang="es-ES" sz="1300"/>
            </a:p>
          </p:txBody>
        </p:sp>
        <p:sp>
          <p:nvSpPr>
            <p:cNvPr id="7196" name="AutoShape 108"/>
            <p:cNvSpPr>
              <a:spLocks/>
            </p:cNvSpPr>
            <p:nvPr/>
          </p:nvSpPr>
          <p:spPr bwMode="auto">
            <a:xfrm flipH="1">
              <a:off x="3552" y="2316"/>
              <a:ext cx="72" cy="372"/>
            </a:xfrm>
            <a:prstGeom prst="leftBrace">
              <a:avLst>
                <a:gd name="adj1" fmla="val 4305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7187" name="Text Box 111"/>
          <p:cNvSpPr txBox="1">
            <a:spLocks noChangeArrowheads="1"/>
          </p:cNvSpPr>
          <p:nvPr/>
        </p:nvSpPr>
        <p:spPr bwMode="auto">
          <a:xfrm>
            <a:off x="695325" y="4376738"/>
            <a:ext cx="3190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a)</a:t>
            </a:r>
            <a:endParaRPr lang="es-ES" altLang="es-ES" b="1"/>
          </a:p>
        </p:txBody>
      </p:sp>
      <p:sp>
        <p:nvSpPr>
          <p:cNvPr id="7188" name="Text Box 112"/>
          <p:cNvSpPr txBox="1">
            <a:spLocks noChangeArrowheads="1"/>
          </p:cNvSpPr>
          <p:nvPr/>
        </p:nvSpPr>
        <p:spPr bwMode="auto">
          <a:xfrm>
            <a:off x="695325" y="5486400"/>
            <a:ext cx="32861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b)</a:t>
            </a:r>
            <a:endParaRPr lang="es-ES" altLang="es-ES" b="1"/>
          </a:p>
        </p:txBody>
      </p:sp>
      <p:sp>
        <p:nvSpPr>
          <p:cNvPr id="7189" name="Text Box 2"/>
          <p:cNvSpPr txBox="1">
            <a:spLocks noChangeArrowheads="1"/>
          </p:cNvSpPr>
          <p:nvPr/>
        </p:nvSpPr>
        <p:spPr bwMode="auto">
          <a:xfrm>
            <a:off x="228600" y="73025"/>
            <a:ext cx="40116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 Variable normal</a:t>
            </a:r>
            <a:endParaRPr lang="es-ES" altLang="es-ES" sz="1400" b="1" dirty="0"/>
          </a:p>
        </p:txBody>
      </p:sp>
      <p:sp>
        <p:nvSpPr>
          <p:cNvPr id="7190" name="Text Box 2"/>
          <p:cNvSpPr txBox="1">
            <a:spLocks noChangeArrowheads="1"/>
          </p:cNvSpPr>
          <p:nvPr/>
        </p:nvSpPr>
        <p:spPr bwMode="auto">
          <a:xfrm>
            <a:off x="228600" y="409575"/>
            <a:ext cx="334486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Prueba de homogeneidad de medias</a:t>
            </a:r>
            <a:endParaRPr lang="es-ES" altLang="es-ES" sz="1400" b="1" dirty="0"/>
          </a:p>
        </p:txBody>
      </p:sp>
      <p:graphicFrame>
        <p:nvGraphicFramePr>
          <p:cNvPr id="53" name="Objeto 52"/>
          <p:cNvGraphicFramePr>
            <a:graphicFrameLocks noChangeAspect="1"/>
          </p:cNvGraphicFramePr>
          <p:nvPr>
            <p:extLst>
              <p:ext uri="{D42A27DB-BD31-4B8C-83A1-F6EECF244321}">
                <p14:modId xmlns:p14="http://schemas.microsoft.com/office/powerpoint/2010/main" val="3206310602"/>
              </p:ext>
            </p:extLst>
          </p:nvPr>
        </p:nvGraphicFramePr>
        <p:xfrm>
          <a:off x="1346199" y="6243797"/>
          <a:ext cx="165100" cy="228600"/>
        </p:xfrm>
        <a:graphic>
          <a:graphicData uri="http://schemas.openxmlformats.org/presentationml/2006/ole">
            <mc:AlternateContent xmlns:mc="http://schemas.openxmlformats.org/markup-compatibility/2006">
              <mc:Choice xmlns:v="urn:schemas-microsoft-com:vml" Requires="v">
                <p:oleObj name="Equation" r:id="rId20" imgW="164880" imgH="228600" progId="Equation.DSMT4">
                  <p:embed/>
                </p:oleObj>
              </mc:Choice>
              <mc:Fallback>
                <p:oleObj name="Equation" r:id="rId20" imgW="164880" imgH="228600" progId="Equation.DSMT4">
                  <p:embed/>
                  <p:pic>
                    <p:nvPicPr>
                      <p:cNvPr id="4" name="Objeto 3"/>
                      <p:cNvPicPr/>
                      <p:nvPr/>
                    </p:nvPicPr>
                    <p:blipFill>
                      <a:blip r:embed="rId21"/>
                      <a:stretch>
                        <a:fillRect/>
                      </a:stretch>
                    </p:blipFill>
                    <p:spPr>
                      <a:xfrm>
                        <a:off x="1346199" y="6243797"/>
                        <a:ext cx="165100" cy="228600"/>
                      </a:xfrm>
                      <a:prstGeom prst="rect">
                        <a:avLst/>
                      </a:prstGeom>
                    </p:spPr>
                  </p:pic>
                </p:oleObj>
              </mc:Fallback>
            </mc:AlternateContent>
          </a:graphicData>
        </a:graphic>
      </p:graphicFrame>
      <p:graphicFrame>
        <p:nvGraphicFramePr>
          <p:cNvPr id="54" name="Objeto 53"/>
          <p:cNvGraphicFramePr>
            <a:graphicFrameLocks noChangeAspect="1"/>
          </p:cNvGraphicFramePr>
          <p:nvPr>
            <p:extLst>
              <p:ext uri="{D42A27DB-BD31-4B8C-83A1-F6EECF244321}">
                <p14:modId xmlns:p14="http://schemas.microsoft.com/office/powerpoint/2010/main" val="1507839825"/>
              </p:ext>
            </p:extLst>
          </p:nvPr>
        </p:nvGraphicFramePr>
        <p:xfrm>
          <a:off x="1531937" y="6243797"/>
          <a:ext cx="177800" cy="228600"/>
        </p:xfrm>
        <a:graphic>
          <a:graphicData uri="http://schemas.openxmlformats.org/presentationml/2006/ole">
            <mc:AlternateContent xmlns:mc="http://schemas.openxmlformats.org/markup-compatibility/2006">
              <mc:Choice xmlns:v="urn:schemas-microsoft-com:vml" Requires="v">
                <p:oleObj name="Equation" r:id="rId22" imgW="177480" imgH="228600" progId="Equation.DSMT4">
                  <p:embed/>
                </p:oleObj>
              </mc:Choice>
              <mc:Fallback>
                <p:oleObj name="Equation" r:id="rId22" imgW="177480" imgH="228600" progId="Equation.DSMT4">
                  <p:embed/>
                  <p:pic>
                    <p:nvPicPr>
                      <p:cNvPr id="79" name="Objeto 78"/>
                      <p:cNvPicPr/>
                      <p:nvPr/>
                    </p:nvPicPr>
                    <p:blipFill>
                      <a:blip r:embed="rId23"/>
                      <a:stretch>
                        <a:fillRect/>
                      </a:stretch>
                    </p:blipFill>
                    <p:spPr>
                      <a:xfrm>
                        <a:off x="1531937" y="6243797"/>
                        <a:ext cx="177800" cy="228600"/>
                      </a:xfrm>
                      <a:prstGeom prst="rect">
                        <a:avLst/>
                      </a:prstGeom>
                    </p:spPr>
                  </p:pic>
                </p:oleObj>
              </mc:Fallback>
            </mc:AlternateContent>
          </a:graphicData>
        </a:graphic>
      </p:graphicFrame>
      <p:graphicFrame>
        <p:nvGraphicFramePr>
          <p:cNvPr id="55" name="Object 10">
            <a:extLst>
              <a:ext uri="{FF2B5EF4-FFF2-40B4-BE49-F238E27FC236}">
                <a16:creationId xmlns:a16="http://schemas.microsoft.com/office/drawing/2014/main" id="{077288A6-6FAF-4764-B8E1-7842AADC1DCD}"/>
              </a:ext>
            </a:extLst>
          </p:cNvPr>
          <p:cNvGraphicFramePr>
            <a:graphicFrameLocks noChangeAspect="1"/>
          </p:cNvGraphicFramePr>
          <p:nvPr>
            <p:extLst>
              <p:ext uri="{D42A27DB-BD31-4B8C-83A1-F6EECF244321}">
                <p14:modId xmlns:p14="http://schemas.microsoft.com/office/powerpoint/2010/main" val="378285770"/>
              </p:ext>
            </p:extLst>
          </p:nvPr>
        </p:nvGraphicFramePr>
        <p:xfrm>
          <a:off x="7292975" y="1295400"/>
          <a:ext cx="1241425" cy="684213"/>
        </p:xfrm>
        <a:graphic>
          <a:graphicData uri="http://schemas.openxmlformats.org/presentationml/2006/ole">
            <mc:AlternateContent xmlns:mc="http://schemas.openxmlformats.org/markup-compatibility/2006">
              <mc:Choice xmlns:v="urn:schemas-microsoft-com:vml" Requires="v">
                <p:oleObj name="Equation" r:id="rId24" imgW="876240" imgH="482400" progId="Equation.DSMT4">
                  <p:embed/>
                </p:oleObj>
              </mc:Choice>
              <mc:Fallback>
                <p:oleObj name="Equation" r:id="rId24" imgW="876240" imgH="482400" progId="Equation.DSMT4">
                  <p:embed/>
                  <p:pic>
                    <p:nvPicPr>
                      <p:cNvPr id="7170" name="Object 10"/>
                      <p:cNvPicPr>
                        <a:picLocks noChangeAspect="1" noChangeArrowheads="1"/>
                      </p:cNvPicPr>
                      <p:nvPr/>
                    </p:nvPicPr>
                    <p:blipFill>
                      <a:blip r:embed="rId25"/>
                      <a:srcRect/>
                      <a:stretch>
                        <a:fillRect/>
                      </a:stretch>
                    </p:blipFill>
                    <p:spPr bwMode="auto">
                      <a:xfrm>
                        <a:off x="7292975" y="1295400"/>
                        <a:ext cx="1241425" cy="684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 name="Object 101">
            <a:extLst>
              <a:ext uri="{FF2B5EF4-FFF2-40B4-BE49-F238E27FC236}">
                <a16:creationId xmlns:a16="http://schemas.microsoft.com/office/drawing/2014/main" id="{AC1A0667-5FF7-4E2F-B3A8-195B46653EB8}"/>
              </a:ext>
            </a:extLst>
          </p:cNvPr>
          <p:cNvGraphicFramePr>
            <a:graphicFrameLocks noChangeAspect="1"/>
          </p:cNvGraphicFramePr>
          <p:nvPr>
            <p:extLst>
              <p:ext uri="{D42A27DB-BD31-4B8C-83A1-F6EECF244321}">
                <p14:modId xmlns:p14="http://schemas.microsoft.com/office/powerpoint/2010/main" val="1766554701"/>
              </p:ext>
            </p:extLst>
          </p:nvPr>
        </p:nvGraphicFramePr>
        <p:xfrm>
          <a:off x="6249967" y="1315442"/>
          <a:ext cx="952500" cy="323850"/>
        </p:xfrm>
        <a:graphic>
          <a:graphicData uri="http://schemas.openxmlformats.org/presentationml/2006/ole">
            <mc:AlternateContent xmlns:mc="http://schemas.openxmlformats.org/markup-compatibility/2006">
              <mc:Choice xmlns:v="urn:schemas-microsoft-com:vml" Requires="v">
                <p:oleObj name="Equation" r:id="rId26" imgW="672840" imgH="228600" progId="Equation.DSMT4">
                  <p:embed/>
                </p:oleObj>
              </mc:Choice>
              <mc:Fallback>
                <p:oleObj name="Equation" r:id="rId26" imgW="672840" imgH="228600" progId="Equation.DSMT4">
                  <p:embed/>
                  <p:pic>
                    <p:nvPicPr>
                      <p:cNvPr id="7184" name="Object 101"/>
                      <p:cNvPicPr>
                        <a:picLocks noChangeAspect="1" noChangeArrowheads="1"/>
                      </p:cNvPicPr>
                      <p:nvPr/>
                    </p:nvPicPr>
                    <p:blipFill>
                      <a:blip r:embed="rId27"/>
                      <a:srcRect/>
                      <a:stretch>
                        <a:fillRect/>
                      </a:stretch>
                    </p:blipFill>
                    <p:spPr bwMode="auto">
                      <a:xfrm>
                        <a:off x="6249967" y="1315442"/>
                        <a:ext cx="952500"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 name="Text Box 43">
            <a:extLst>
              <a:ext uri="{FF2B5EF4-FFF2-40B4-BE49-F238E27FC236}">
                <a16:creationId xmlns:a16="http://schemas.microsoft.com/office/drawing/2014/main" id="{B91C25BA-6CDA-4666-968C-068419B24CD8}"/>
              </a:ext>
            </a:extLst>
          </p:cNvPr>
          <p:cNvSpPr txBox="1">
            <a:spLocks noChangeArrowheads="1"/>
          </p:cNvSpPr>
          <p:nvPr/>
        </p:nvSpPr>
        <p:spPr bwMode="auto">
          <a:xfrm>
            <a:off x="5921355" y="1639292"/>
            <a:ext cx="1609725"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300" dirty="0"/>
              <a:t>Tamaño del </a:t>
            </a:r>
            <a:r>
              <a:rPr lang="es-ES_tradnl" altLang="es-ES" sz="1300" i="1" dirty="0"/>
              <a:t>efecto</a:t>
            </a:r>
            <a:endParaRPr lang="es-ES" altLang="es-ES" sz="1300" i="1" dirty="0"/>
          </a:p>
        </p:txBody>
      </p:sp>
      <p:sp>
        <p:nvSpPr>
          <p:cNvPr id="2" name="Rectángulo: esquinas redondeadas 1">
            <a:extLst>
              <a:ext uri="{FF2B5EF4-FFF2-40B4-BE49-F238E27FC236}">
                <a16:creationId xmlns:a16="http://schemas.microsoft.com/office/drawing/2014/main" id="{FDEEC5FB-1A56-4A8F-B28E-8FF395DCF56D}"/>
              </a:ext>
            </a:extLst>
          </p:cNvPr>
          <p:cNvSpPr/>
          <p:nvPr/>
        </p:nvSpPr>
        <p:spPr>
          <a:xfrm>
            <a:off x="5921355" y="1123950"/>
            <a:ext cx="2765445" cy="933450"/>
          </a:xfrm>
          <a:prstGeom prst="roundRect">
            <a:avLst/>
          </a:prstGeom>
          <a:no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8" name="Text Box 12">
            <a:extLst>
              <a:ext uri="{FF2B5EF4-FFF2-40B4-BE49-F238E27FC236}">
                <a16:creationId xmlns:a16="http://schemas.microsoft.com/office/drawing/2014/main" id="{6D353616-2815-4993-B42B-1BECA7F5AA81}"/>
              </a:ext>
            </a:extLst>
          </p:cNvPr>
          <p:cNvSpPr txBox="1">
            <a:spLocks noChangeArrowheads="1"/>
          </p:cNvSpPr>
          <p:nvPr/>
        </p:nvSpPr>
        <p:spPr bwMode="auto">
          <a:xfrm>
            <a:off x="6028756" y="970062"/>
            <a:ext cx="1667444" cy="307777"/>
          </a:xfrm>
          <a:prstGeom prst="rect">
            <a:avLst/>
          </a:prstGeom>
          <a:solidFill>
            <a:schemeClr val="bg1"/>
          </a:solidFill>
          <a:ln>
            <a:noFill/>
          </a:ln>
          <a:effec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dirty="0"/>
              <a:t>Equivalentemente:</a:t>
            </a:r>
            <a:endParaRPr lang="es-ES" altLang="es-ES" sz="1400" dirty="0"/>
          </a:p>
        </p:txBody>
      </p:sp>
    </p:spTree>
    <p:extLst>
      <p:ext uri="{BB962C8B-B14F-4D97-AF65-F5344CB8AC3E}">
        <p14:creationId xmlns:p14="http://schemas.microsoft.com/office/powerpoint/2010/main" val="3156875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upo 8">
            <a:extLst>
              <a:ext uri="{FF2B5EF4-FFF2-40B4-BE49-F238E27FC236}">
                <a16:creationId xmlns:a16="http://schemas.microsoft.com/office/drawing/2014/main" id="{C0D1EF6C-5DA1-4116-B0AF-4499D25EADDA}"/>
              </a:ext>
            </a:extLst>
          </p:cNvPr>
          <p:cNvGrpSpPr/>
          <p:nvPr/>
        </p:nvGrpSpPr>
        <p:grpSpPr>
          <a:xfrm rot="19185332">
            <a:off x="3799297" y="951646"/>
            <a:ext cx="626238" cy="392230"/>
            <a:chOff x="6628893" y="408233"/>
            <a:chExt cx="626238" cy="392230"/>
          </a:xfrm>
        </p:grpSpPr>
        <p:sp>
          <p:nvSpPr>
            <p:cNvPr id="7" name="Flecha: curvada hacia abajo 6">
              <a:extLst>
                <a:ext uri="{FF2B5EF4-FFF2-40B4-BE49-F238E27FC236}">
                  <a16:creationId xmlns:a16="http://schemas.microsoft.com/office/drawing/2014/main" id="{82B05C98-82E3-47E4-98A0-DDFF7B643F89}"/>
                </a:ext>
              </a:extLst>
            </p:cNvPr>
            <p:cNvSpPr/>
            <p:nvPr/>
          </p:nvSpPr>
          <p:spPr>
            <a:xfrm rot="20638498">
              <a:off x="6637016" y="408233"/>
              <a:ext cx="618115" cy="301710"/>
            </a:xfrm>
            <a:prstGeom prst="curvedDownArrow">
              <a:avLst>
                <a:gd name="adj1" fmla="val 29393"/>
                <a:gd name="adj2" fmla="val 111119"/>
                <a:gd name="adj3" fmla="val 51202"/>
              </a:avLst>
            </a:prstGeom>
            <a:noFill/>
            <a:ln w="12700">
              <a:solidFill>
                <a:srgbClr val="FFC000"/>
              </a:solidFill>
            </a:ln>
            <a:effectLst>
              <a:outerShdw blurRad="50800" dist="38100" dir="5400000" algn="t" rotWithShape="0">
                <a:schemeClr val="bg1">
                  <a:lumMod val="8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8" name="Rectángulo 7">
              <a:extLst>
                <a:ext uri="{FF2B5EF4-FFF2-40B4-BE49-F238E27FC236}">
                  <a16:creationId xmlns:a16="http://schemas.microsoft.com/office/drawing/2014/main" id="{8C79208F-CDDD-4C7E-8F55-C1A7C1C46002}"/>
                </a:ext>
              </a:extLst>
            </p:cNvPr>
            <p:cNvSpPr/>
            <p:nvPr/>
          </p:nvSpPr>
          <p:spPr>
            <a:xfrm rot="234013">
              <a:off x="6628893" y="441378"/>
              <a:ext cx="228070" cy="359085"/>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aphicFrame>
        <p:nvGraphicFramePr>
          <p:cNvPr id="8194" name="Object 3"/>
          <p:cNvGraphicFramePr>
            <a:graphicFrameLocks noChangeAspect="1"/>
          </p:cNvGraphicFramePr>
          <p:nvPr>
            <p:extLst>
              <p:ext uri="{D42A27DB-BD31-4B8C-83A1-F6EECF244321}">
                <p14:modId xmlns:p14="http://schemas.microsoft.com/office/powerpoint/2010/main" val="2373710203"/>
              </p:ext>
            </p:extLst>
          </p:nvPr>
        </p:nvGraphicFramePr>
        <p:xfrm>
          <a:off x="566738" y="1160463"/>
          <a:ext cx="1168400" cy="684212"/>
        </p:xfrm>
        <a:graphic>
          <a:graphicData uri="http://schemas.openxmlformats.org/presentationml/2006/ole">
            <mc:AlternateContent xmlns:mc="http://schemas.openxmlformats.org/markup-compatibility/2006">
              <mc:Choice xmlns:v="urn:schemas-microsoft-com:vml" Requires="v">
                <p:oleObj name="Equation" r:id="rId3" imgW="825500" imgH="482600" progId="Equation.DSMT4">
                  <p:embed/>
                </p:oleObj>
              </mc:Choice>
              <mc:Fallback>
                <p:oleObj name="Equation" r:id="rId3" imgW="825500" imgH="482600" progId="Equation.DSMT4">
                  <p:embed/>
                  <p:pic>
                    <p:nvPicPr>
                      <p:cNvPr id="819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738" y="1160463"/>
                        <a:ext cx="1168400"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5" name="Text Box 4"/>
          <p:cNvSpPr txBox="1">
            <a:spLocks noChangeArrowheads="1"/>
          </p:cNvSpPr>
          <p:nvPr/>
        </p:nvSpPr>
        <p:spPr bwMode="auto">
          <a:xfrm>
            <a:off x="228600" y="838200"/>
            <a:ext cx="2241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1. Hipótesis a contrastar</a:t>
            </a:r>
            <a:endParaRPr lang="es-ES" altLang="es-ES" sz="1400" b="1" dirty="0"/>
          </a:p>
        </p:txBody>
      </p:sp>
      <p:sp>
        <p:nvSpPr>
          <p:cNvPr id="8196" name="Text Box 5"/>
          <p:cNvSpPr txBox="1">
            <a:spLocks noChangeArrowheads="1"/>
          </p:cNvSpPr>
          <p:nvPr/>
        </p:nvSpPr>
        <p:spPr bwMode="auto">
          <a:xfrm>
            <a:off x="228600" y="1981200"/>
            <a:ext cx="4318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2. Evidencia empírica: el estadístico de contraste</a:t>
            </a:r>
            <a:endParaRPr lang="es-ES" altLang="es-ES" sz="1400" b="1"/>
          </a:p>
        </p:txBody>
      </p:sp>
      <p:sp>
        <p:nvSpPr>
          <p:cNvPr id="8197" name="Text Box 37"/>
          <p:cNvSpPr txBox="1">
            <a:spLocks noChangeArrowheads="1"/>
          </p:cNvSpPr>
          <p:nvPr/>
        </p:nvSpPr>
        <p:spPr bwMode="auto">
          <a:xfrm>
            <a:off x="342900" y="3046413"/>
            <a:ext cx="1593850" cy="290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buFontTx/>
              <a:buChar char="•"/>
            </a:pPr>
            <a:r>
              <a:rPr lang="es-ES_tradnl" altLang="es-ES" sz="1300"/>
              <a:t> Modelo supuesto:</a:t>
            </a:r>
            <a:endParaRPr lang="es-ES" altLang="es-ES" sz="1300"/>
          </a:p>
        </p:txBody>
      </p:sp>
      <p:sp>
        <p:nvSpPr>
          <p:cNvPr id="8198" name="Text Box 39"/>
          <p:cNvSpPr txBox="1">
            <a:spLocks noChangeArrowheads="1"/>
          </p:cNvSpPr>
          <p:nvPr/>
        </p:nvSpPr>
        <p:spPr bwMode="auto">
          <a:xfrm>
            <a:off x="5753100" y="3897313"/>
            <a:ext cx="12096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a:t>Test de Welch</a:t>
            </a:r>
            <a:endParaRPr lang="es-ES" altLang="es-ES" b="1"/>
          </a:p>
        </p:txBody>
      </p:sp>
      <p:sp>
        <p:nvSpPr>
          <p:cNvPr id="8199" name="Text Box 38"/>
          <p:cNvSpPr txBox="1">
            <a:spLocks noChangeArrowheads="1"/>
          </p:cNvSpPr>
          <p:nvPr/>
        </p:nvSpPr>
        <p:spPr bwMode="auto">
          <a:xfrm>
            <a:off x="2733675" y="3897313"/>
            <a:ext cx="132873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dirty="0"/>
              <a:t>Test de Student</a:t>
            </a:r>
            <a:endParaRPr lang="es-ES" altLang="es-ES" b="1" dirty="0"/>
          </a:p>
        </p:txBody>
      </p:sp>
      <p:grpSp>
        <p:nvGrpSpPr>
          <p:cNvPr id="8200" name="Group 83"/>
          <p:cNvGrpSpPr>
            <a:grpSpLocks/>
          </p:cNvGrpSpPr>
          <p:nvPr/>
        </p:nvGrpSpPr>
        <p:grpSpPr bwMode="auto">
          <a:xfrm>
            <a:off x="2538413" y="2324100"/>
            <a:ext cx="1957387" cy="1522413"/>
            <a:chOff x="1599" y="1586"/>
            <a:chExt cx="1233" cy="959"/>
          </a:xfrm>
        </p:grpSpPr>
        <p:grpSp>
          <p:nvGrpSpPr>
            <p:cNvPr id="8225" name="Group 46"/>
            <p:cNvGrpSpPr>
              <a:grpSpLocks/>
            </p:cNvGrpSpPr>
            <p:nvPr/>
          </p:nvGrpSpPr>
          <p:grpSpPr bwMode="auto">
            <a:xfrm>
              <a:off x="1599" y="1586"/>
              <a:ext cx="1233" cy="658"/>
              <a:chOff x="480" y="2016"/>
              <a:chExt cx="960" cy="585"/>
            </a:xfrm>
          </p:grpSpPr>
          <p:pic>
            <p:nvPicPr>
              <p:cNvPr id="8232" name="Picture 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6" y="2016"/>
                <a:ext cx="720"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33" name="Line 48"/>
              <p:cNvSpPr>
                <a:spLocks noChangeShapeType="1"/>
              </p:cNvSpPr>
              <p:nvPr/>
            </p:nvSpPr>
            <p:spPr bwMode="auto">
              <a:xfrm>
                <a:off x="480" y="2592"/>
                <a:ext cx="960" cy="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8226" name="Group 49"/>
            <p:cNvGrpSpPr>
              <a:grpSpLocks/>
            </p:cNvGrpSpPr>
            <p:nvPr/>
          </p:nvGrpSpPr>
          <p:grpSpPr bwMode="auto">
            <a:xfrm>
              <a:off x="2065" y="1632"/>
              <a:ext cx="147" cy="637"/>
              <a:chOff x="843" y="2048"/>
              <a:chExt cx="114" cy="1105"/>
            </a:xfrm>
          </p:grpSpPr>
          <p:sp>
            <p:nvSpPr>
              <p:cNvPr id="8230" name="Line 50"/>
              <p:cNvSpPr>
                <a:spLocks noChangeShapeType="1"/>
              </p:cNvSpPr>
              <p:nvPr/>
            </p:nvSpPr>
            <p:spPr bwMode="auto">
              <a:xfrm>
                <a:off x="843" y="2048"/>
                <a:ext cx="0" cy="1105"/>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231" name="Line 51"/>
              <p:cNvSpPr>
                <a:spLocks noChangeShapeType="1"/>
              </p:cNvSpPr>
              <p:nvPr/>
            </p:nvSpPr>
            <p:spPr bwMode="auto">
              <a:xfrm>
                <a:off x="957" y="2048"/>
                <a:ext cx="0" cy="1105"/>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8227" name="Group 71"/>
            <p:cNvGrpSpPr>
              <a:grpSpLocks/>
            </p:cNvGrpSpPr>
            <p:nvPr/>
          </p:nvGrpSpPr>
          <p:grpSpPr bwMode="auto">
            <a:xfrm>
              <a:off x="1946" y="2226"/>
              <a:ext cx="417" cy="319"/>
              <a:chOff x="1902" y="2197"/>
              <a:chExt cx="325" cy="284"/>
            </a:xfrm>
          </p:grpSpPr>
          <p:graphicFrame>
            <p:nvGraphicFramePr>
              <p:cNvPr id="8228" name="Object 31"/>
              <p:cNvGraphicFramePr>
                <a:graphicFrameLocks noChangeAspect="1"/>
              </p:cNvGraphicFramePr>
              <p:nvPr/>
            </p:nvGraphicFramePr>
            <p:xfrm>
              <a:off x="1957" y="2197"/>
              <a:ext cx="221" cy="141"/>
            </p:xfrm>
            <a:graphic>
              <a:graphicData uri="http://schemas.openxmlformats.org/presentationml/2006/ole">
                <mc:AlternateContent xmlns:mc="http://schemas.openxmlformats.org/markup-compatibility/2006">
                  <mc:Choice xmlns:v="urn:schemas-microsoft-com:vml" Requires="v">
                    <p:oleObj name="Equation" r:id="rId6" imgW="380835" imgH="241195" progId="Equation.DSMT4">
                      <p:embed/>
                    </p:oleObj>
                  </mc:Choice>
                  <mc:Fallback>
                    <p:oleObj name="Equation" r:id="rId6" imgW="380835" imgH="241195" progId="Equation.DSMT4">
                      <p:embed/>
                      <p:pic>
                        <p:nvPicPr>
                          <p:cNvPr id="8228" name="Object 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57" y="2197"/>
                            <a:ext cx="221" cy="1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29" name="Object 70"/>
              <p:cNvGraphicFramePr>
                <a:graphicFrameLocks noChangeAspect="1"/>
              </p:cNvGraphicFramePr>
              <p:nvPr/>
            </p:nvGraphicFramePr>
            <p:xfrm>
              <a:off x="1902" y="2334"/>
              <a:ext cx="325" cy="147"/>
            </p:xfrm>
            <a:graphic>
              <a:graphicData uri="http://schemas.openxmlformats.org/presentationml/2006/ole">
                <mc:AlternateContent xmlns:mc="http://schemas.openxmlformats.org/markup-compatibility/2006">
                  <mc:Choice xmlns:v="urn:schemas-microsoft-com:vml" Requires="v">
                    <p:oleObj name="Equation" r:id="rId8" imgW="622030" imgH="279279" progId="Equation.DSMT4">
                      <p:embed/>
                    </p:oleObj>
                  </mc:Choice>
                  <mc:Fallback>
                    <p:oleObj name="Equation" r:id="rId8" imgW="622030" imgH="279279" progId="Equation.DSMT4">
                      <p:embed/>
                      <p:pic>
                        <p:nvPicPr>
                          <p:cNvPr id="8229" name="Object 7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2" y="2334"/>
                            <a:ext cx="325" cy="1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2" name="Grupo 1"/>
          <p:cNvGrpSpPr/>
          <p:nvPr/>
        </p:nvGrpSpPr>
        <p:grpSpPr>
          <a:xfrm>
            <a:off x="5486400" y="2362200"/>
            <a:ext cx="1957388" cy="1489075"/>
            <a:chOff x="5486400" y="2484438"/>
            <a:chExt cx="1957388" cy="1489075"/>
          </a:xfrm>
        </p:grpSpPr>
        <p:grpSp>
          <p:nvGrpSpPr>
            <p:cNvPr id="8201" name="Group 76"/>
            <p:cNvGrpSpPr>
              <a:grpSpLocks/>
            </p:cNvGrpSpPr>
            <p:nvPr/>
          </p:nvGrpSpPr>
          <p:grpSpPr bwMode="auto">
            <a:xfrm>
              <a:off x="5486400" y="2484438"/>
              <a:ext cx="1957388" cy="1049337"/>
              <a:chOff x="3864" y="2016"/>
              <a:chExt cx="960" cy="588"/>
            </a:xfrm>
          </p:grpSpPr>
          <p:pic>
            <p:nvPicPr>
              <p:cNvPr id="8220" name="Picture 5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70" y="2016"/>
                <a:ext cx="951" cy="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221" name="Group 55"/>
              <p:cNvGrpSpPr>
                <a:grpSpLocks/>
              </p:cNvGrpSpPr>
              <p:nvPr/>
            </p:nvGrpSpPr>
            <p:grpSpPr bwMode="auto">
              <a:xfrm>
                <a:off x="4228" y="2026"/>
                <a:ext cx="114" cy="578"/>
                <a:chOff x="843" y="2048"/>
                <a:chExt cx="114" cy="1105"/>
              </a:xfrm>
            </p:grpSpPr>
            <p:sp>
              <p:nvSpPr>
                <p:cNvPr id="8223" name="Line 56"/>
                <p:cNvSpPr>
                  <a:spLocks noChangeShapeType="1"/>
                </p:cNvSpPr>
                <p:nvPr/>
              </p:nvSpPr>
              <p:spPr bwMode="auto">
                <a:xfrm>
                  <a:off x="843" y="2048"/>
                  <a:ext cx="0" cy="1105"/>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224" name="Line 57"/>
                <p:cNvSpPr>
                  <a:spLocks noChangeShapeType="1"/>
                </p:cNvSpPr>
                <p:nvPr/>
              </p:nvSpPr>
              <p:spPr bwMode="auto">
                <a:xfrm>
                  <a:off x="957" y="2048"/>
                  <a:ext cx="0" cy="1105"/>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8222" name="Line 58"/>
              <p:cNvSpPr>
                <a:spLocks noChangeShapeType="1"/>
              </p:cNvSpPr>
              <p:nvPr/>
            </p:nvSpPr>
            <p:spPr bwMode="auto">
              <a:xfrm>
                <a:off x="3864" y="2574"/>
                <a:ext cx="960" cy="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8202" name="Group 72"/>
            <p:cNvGrpSpPr>
              <a:grpSpLocks/>
            </p:cNvGrpSpPr>
            <p:nvPr/>
          </p:nvGrpSpPr>
          <p:grpSpPr bwMode="auto">
            <a:xfrm>
              <a:off x="6045200" y="3467100"/>
              <a:ext cx="661988" cy="506413"/>
              <a:chOff x="1902" y="2197"/>
              <a:chExt cx="325" cy="284"/>
            </a:xfrm>
          </p:grpSpPr>
          <p:graphicFrame>
            <p:nvGraphicFramePr>
              <p:cNvPr id="8218" name="Object 73"/>
              <p:cNvGraphicFramePr>
                <a:graphicFrameLocks noChangeAspect="1"/>
              </p:cNvGraphicFramePr>
              <p:nvPr/>
            </p:nvGraphicFramePr>
            <p:xfrm>
              <a:off x="1957" y="2197"/>
              <a:ext cx="221" cy="141"/>
            </p:xfrm>
            <a:graphic>
              <a:graphicData uri="http://schemas.openxmlformats.org/presentationml/2006/ole">
                <mc:AlternateContent xmlns:mc="http://schemas.openxmlformats.org/markup-compatibility/2006">
                  <mc:Choice xmlns:v="urn:schemas-microsoft-com:vml" Requires="v">
                    <p:oleObj name="Equation" r:id="rId11" imgW="380835" imgH="241195" progId="Equation.DSMT4">
                      <p:embed/>
                    </p:oleObj>
                  </mc:Choice>
                  <mc:Fallback>
                    <p:oleObj name="Equation" r:id="rId11" imgW="380835" imgH="241195" progId="Equation.DSMT4">
                      <p:embed/>
                      <p:pic>
                        <p:nvPicPr>
                          <p:cNvPr id="8218" name="Object 7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57" y="2197"/>
                            <a:ext cx="221" cy="1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9" name="Object 74"/>
              <p:cNvGraphicFramePr>
                <a:graphicFrameLocks noChangeAspect="1"/>
              </p:cNvGraphicFramePr>
              <p:nvPr/>
            </p:nvGraphicFramePr>
            <p:xfrm>
              <a:off x="1902" y="2334"/>
              <a:ext cx="325" cy="147"/>
            </p:xfrm>
            <a:graphic>
              <a:graphicData uri="http://schemas.openxmlformats.org/presentationml/2006/ole">
                <mc:AlternateContent xmlns:mc="http://schemas.openxmlformats.org/markup-compatibility/2006">
                  <mc:Choice xmlns:v="urn:schemas-microsoft-com:vml" Requires="v">
                    <p:oleObj name="Equation" r:id="rId13" imgW="622030" imgH="279279" progId="Equation.DSMT4">
                      <p:embed/>
                    </p:oleObj>
                  </mc:Choice>
                  <mc:Fallback>
                    <p:oleObj name="Equation" r:id="rId13" imgW="622030" imgH="279279" progId="Equation.DSMT4">
                      <p:embed/>
                      <p:pic>
                        <p:nvPicPr>
                          <p:cNvPr id="8219" name="Object 7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02" y="2334"/>
                            <a:ext cx="325" cy="1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8203" name="Text Box 79"/>
          <p:cNvSpPr txBox="1">
            <a:spLocks noChangeArrowheads="1"/>
          </p:cNvSpPr>
          <p:nvPr/>
        </p:nvSpPr>
        <p:spPr bwMode="auto">
          <a:xfrm>
            <a:off x="373063" y="3886200"/>
            <a:ext cx="885825"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buFontTx/>
              <a:buChar char="•"/>
            </a:pPr>
            <a:r>
              <a:rPr lang="es-ES_tradnl" altLang="es-ES" sz="1300"/>
              <a:t> Método:</a:t>
            </a:r>
            <a:endParaRPr lang="es-ES" altLang="es-ES" sz="1300"/>
          </a:p>
        </p:txBody>
      </p:sp>
      <p:graphicFrame>
        <p:nvGraphicFramePr>
          <p:cNvPr id="8204" name="Object 60"/>
          <p:cNvGraphicFramePr>
            <a:graphicFrameLocks noChangeAspect="1"/>
          </p:cNvGraphicFramePr>
          <p:nvPr>
            <p:extLst>
              <p:ext uri="{D42A27DB-BD31-4B8C-83A1-F6EECF244321}">
                <p14:modId xmlns:p14="http://schemas.microsoft.com/office/powerpoint/2010/main" val="3862556176"/>
              </p:ext>
            </p:extLst>
          </p:nvPr>
        </p:nvGraphicFramePr>
        <p:xfrm>
          <a:off x="2381250" y="5181600"/>
          <a:ext cx="1858963" cy="528638"/>
        </p:xfrm>
        <a:graphic>
          <a:graphicData uri="http://schemas.openxmlformats.org/presentationml/2006/ole">
            <mc:AlternateContent xmlns:mc="http://schemas.openxmlformats.org/markup-compatibility/2006">
              <mc:Choice xmlns:v="urn:schemas-microsoft-com:vml" Requires="v">
                <p:oleObj name="Equation" r:id="rId15" imgW="1612900" imgH="457200" progId="Equation.DSMT4">
                  <p:embed/>
                </p:oleObj>
              </mc:Choice>
              <mc:Fallback>
                <p:oleObj name="Equation" r:id="rId15" imgW="1612900" imgH="457200" progId="Equation.DSMT4">
                  <p:embed/>
                  <p:pic>
                    <p:nvPicPr>
                      <p:cNvPr id="8204" name="Object 6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81250" y="5181600"/>
                        <a:ext cx="1858963" cy="528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5" name="Object 63"/>
          <p:cNvGraphicFramePr>
            <a:graphicFrameLocks noChangeAspect="1"/>
          </p:cNvGraphicFramePr>
          <p:nvPr>
            <p:extLst>
              <p:ext uri="{D42A27DB-BD31-4B8C-83A1-F6EECF244321}">
                <p14:modId xmlns:p14="http://schemas.microsoft.com/office/powerpoint/2010/main" val="3376372447"/>
              </p:ext>
            </p:extLst>
          </p:nvPr>
        </p:nvGraphicFramePr>
        <p:xfrm>
          <a:off x="5757863" y="5753100"/>
          <a:ext cx="2319337" cy="542925"/>
        </p:xfrm>
        <a:graphic>
          <a:graphicData uri="http://schemas.openxmlformats.org/presentationml/2006/ole">
            <mc:AlternateContent xmlns:mc="http://schemas.openxmlformats.org/markup-compatibility/2006">
              <mc:Choice xmlns:v="urn:schemas-microsoft-com:vml" Requires="v">
                <p:oleObj name="Equation" r:id="rId17" imgW="2006600" imgH="469900" progId="Equation.DSMT4">
                  <p:embed/>
                </p:oleObj>
              </mc:Choice>
              <mc:Fallback>
                <p:oleObj name="Equation" r:id="rId17" imgW="2006600" imgH="469900" progId="Equation.DSMT4">
                  <p:embed/>
                  <p:pic>
                    <p:nvPicPr>
                      <p:cNvPr id="8205" name="Object 6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57863" y="5753100"/>
                        <a:ext cx="2319337"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6" name="Object 64"/>
          <p:cNvGraphicFramePr>
            <a:graphicFrameLocks noChangeAspect="1"/>
          </p:cNvGraphicFramePr>
          <p:nvPr>
            <p:extLst>
              <p:ext uri="{D42A27DB-BD31-4B8C-83A1-F6EECF244321}">
                <p14:modId xmlns:p14="http://schemas.microsoft.com/office/powerpoint/2010/main" val="85079060"/>
              </p:ext>
            </p:extLst>
          </p:nvPr>
        </p:nvGraphicFramePr>
        <p:xfrm>
          <a:off x="5757863" y="5187950"/>
          <a:ext cx="1143000" cy="514350"/>
        </p:xfrm>
        <a:graphic>
          <a:graphicData uri="http://schemas.openxmlformats.org/presentationml/2006/ole">
            <mc:AlternateContent xmlns:mc="http://schemas.openxmlformats.org/markup-compatibility/2006">
              <mc:Choice xmlns:v="urn:schemas-microsoft-com:vml" Requires="v">
                <p:oleObj name="Equation" r:id="rId19" imgW="1016000" imgH="457200" progId="Equation.DSMT4">
                  <p:embed/>
                </p:oleObj>
              </mc:Choice>
              <mc:Fallback>
                <p:oleObj name="Equation" r:id="rId19" imgW="1016000" imgH="457200" progId="Equation.DSMT4">
                  <p:embed/>
                  <p:pic>
                    <p:nvPicPr>
                      <p:cNvPr id="8206" name="Object 6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757863" y="5187950"/>
                        <a:ext cx="1143000"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7" name="Object 65"/>
          <p:cNvGraphicFramePr>
            <a:graphicFrameLocks noChangeAspect="1"/>
          </p:cNvGraphicFramePr>
          <p:nvPr>
            <p:extLst>
              <p:ext uri="{D42A27DB-BD31-4B8C-83A1-F6EECF244321}">
                <p14:modId xmlns:p14="http://schemas.microsoft.com/office/powerpoint/2010/main" val="4154809005"/>
              </p:ext>
            </p:extLst>
          </p:nvPr>
        </p:nvGraphicFramePr>
        <p:xfrm>
          <a:off x="2381250" y="5878513"/>
          <a:ext cx="1468438" cy="293687"/>
        </p:xfrm>
        <a:graphic>
          <a:graphicData uri="http://schemas.openxmlformats.org/presentationml/2006/ole">
            <mc:AlternateContent xmlns:mc="http://schemas.openxmlformats.org/markup-compatibility/2006">
              <mc:Choice xmlns:v="urn:schemas-microsoft-com:vml" Requires="v">
                <p:oleObj name="Equation" r:id="rId21" imgW="1269449" imgH="253890" progId="Equation.DSMT4">
                  <p:embed/>
                </p:oleObj>
              </mc:Choice>
              <mc:Fallback>
                <p:oleObj name="Equation" r:id="rId21" imgW="1269449" imgH="253890" progId="Equation.DSMT4">
                  <p:embed/>
                  <p:pic>
                    <p:nvPicPr>
                      <p:cNvPr id="8207" name="Object 6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381250" y="5878513"/>
                        <a:ext cx="1468438" cy="29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08" name="Text Box 81"/>
          <p:cNvSpPr txBox="1">
            <a:spLocks noChangeArrowheads="1"/>
          </p:cNvSpPr>
          <p:nvPr/>
        </p:nvSpPr>
        <p:spPr bwMode="auto">
          <a:xfrm>
            <a:off x="447675" y="5295900"/>
            <a:ext cx="127635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dirty="0"/>
              <a:t>  con:</a:t>
            </a:r>
            <a:endParaRPr lang="es-ES" altLang="es-ES" sz="1300" dirty="0"/>
          </a:p>
        </p:txBody>
      </p:sp>
      <p:sp>
        <p:nvSpPr>
          <p:cNvPr id="8209" name="Text Box 82"/>
          <p:cNvSpPr txBox="1">
            <a:spLocks noChangeArrowheads="1"/>
          </p:cNvSpPr>
          <p:nvPr/>
        </p:nvSpPr>
        <p:spPr bwMode="auto">
          <a:xfrm>
            <a:off x="447675" y="5676900"/>
            <a:ext cx="127635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t>- Grados de libertad:</a:t>
            </a:r>
            <a:endParaRPr lang="es-ES" altLang="es-ES" sz="1300"/>
          </a:p>
        </p:txBody>
      </p:sp>
      <p:graphicFrame>
        <p:nvGraphicFramePr>
          <p:cNvPr id="8210" name="Object 61"/>
          <p:cNvGraphicFramePr>
            <a:graphicFrameLocks noChangeAspect="1"/>
          </p:cNvGraphicFramePr>
          <p:nvPr>
            <p:extLst>
              <p:ext uri="{D42A27DB-BD31-4B8C-83A1-F6EECF244321}">
                <p14:modId xmlns:p14="http://schemas.microsoft.com/office/powerpoint/2010/main" val="2237886350"/>
              </p:ext>
            </p:extLst>
          </p:nvPr>
        </p:nvGraphicFramePr>
        <p:xfrm>
          <a:off x="2373313" y="4302125"/>
          <a:ext cx="2208212" cy="679450"/>
        </p:xfrm>
        <a:graphic>
          <a:graphicData uri="http://schemas.openxmlformats.org/presentationml/2006/ole">
            <mc:AlternateContent xmlns:mc="http://schemas.openxmlformats.org/markup-compatibility/2006">
              <mc:Choice xmlns:v="urn:schemas-microsoft-com:vml" Requires="v">
                <p:oleObj name="Equation" r:id="rId23" imgW="1688760" imgH="520560" progId="Equation.DSMT4">
                  <p:embed/>
                </p:oleObj>
              </mc:Choice>
              <mc:Fallback>
                <p:oleObj name="Equation" r:id="rId23" imgW="1688760" imgH="520560" progId="Equation.DSMT4">
                  <p:embed/>
                  <p:pic>
                    <p:nvPicPr>
                      <p:cNvPr id="8210" name="Object 61"/>
                      <p:cNvPicPr>
                        <a:picLocks noChangeAspect="1" noChangeArrowheads="1"/>
                      </p:cNvPicPr>
                      <p:nvPr/>
                    </p:nvPicPr>
                    <p:blipFill>
                      <a:blip r:embed="rId24"/>
                      <a:srcRect/>
                      <a:stretch>
                        <a:fillRect/>
                      </a:stretch>
                    </p:blipFill>
                    <p:spPr bwMode="auto">
                      <a:xfrm>
                        <a:off x="2373313" y="4302125"/>
                        <a:ext cx="2208212"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1" name="Object 62"/>
          <p:cNvGraphicFramePr>
            <a:graphicFrameLocks noChangeAspect="1"/>
          </p:cNvGraphicFramePr>
          <p:nvPr>
            <p:extLst>
              <p:ext uri="{D42A27DB-BD31-4B8C-83A1-F6EECF244321}">
                <p14:modId xmlns:p14="http://schemas.microsoft.com/office/powerpoint/2010/main" val="2691744514"/>
              </p:ext>
            </p:extLst>
          </p:nvPr>
        </p:nvGraphicFramePr>
        <p:xfrm>
          <a:off x="5757863" y="4322763"/>
          <a:ext cx="1143000" cy="554037"/>
        </p:xfrm>
        <a:graphic>
          <a:graphicData uri="http://schemas.openxmlformats.org/presentationml/2006/ole">
            <mc:AlternateContent xmlns:mc="http://schemas.openxmlformats.org/markup-compatibility/2006">
              <mc:Choice xmlns:v="urn:schemas-microsoft-com:vml" Requires="v">
                <p:oleObj name="Equation" r:id="rId25" imgW="914400" imgH="444240" progId="Equation.DSMT4">
                  <p:embed/>
                </p:oleObj>
              </mc:Choice>
              <mc:Fallback>
                <p:oleObj name="Equation" r:id="rId25" imgW="914400" imgH="444240" progId="Equation.DSMT4">
                  <p:embed/>
                  <p:pic>
                    <p:nvPicPr>
                      <p:cNvPr id="8211" name="Object 62"/>
                      <p:cNvPicPr>
                        <a:picLocks noChangeAspect="1" noChangeArrowheads="1"/>
                      </p:cNvPicPr>
                      <p:nvPr/>
                    </p:nvPicPr>
                    <p:blipFill>
                      <a:blip r:embed="rId26"/>
                      <a:srcRect/>
                      <a:stretch>
                        <a:fillRect/>
                      </a:stretch>
                    </p:blipFill>
                    <p:spPr bwMode="auto">
                      <a:xfrm>
                        <a:off x="5757863" y="4322763"/>
                        <a:ext cx="1143000" cy="554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12" name="Text Box 80"/>
          <p:cNvSpPr txBox="1">
            <a:spLocks noChangeArrowheads="1"/>
          </p:cNvSpPr>
          <p:nvPr/>
        </p:nvSpPr>
        <p:spPr bwMode="auto">
          <a:xfrm>
            <a:off x="447675" y="4448175"/>
            <a:ext cx="127635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t>- Estadístico de contraste:</a:t>
            </a:r>
            <a:endParaRPr lang="es-ES" altLang="es-ES" sz="1300"/>
          </a:p>
        </p:txBody>
      </p:sp>
      <p:sp>
        <p:nvSpPr>
          <p:cNvPr id="8213" name="AutoShape 84"/>
          <p:cNvSpPr>
            <a:spLocks noChangeArrowheads="1"/>
          </p:cNvSpPr>
          <p:nvPr/>
        </p:nvSpPr>
        <p:spPr bwMode="auto">
          <a:xfrm>
            <a:off x="2306638" y="4251325"/>
            <a:ext cx="2438400" cy="762000"/>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8214" name="AutoShape 85"/>
          <p:cNvSpPr>
            <a:spLocks noChangeArrowheads="1"/>
          </p:cNvSpPr>
          <p:nvPr/>
        </p:nvSpPr>
        <p:spPr bwMode="auto">
          <a:xfrm>
            <a:off x="5715000" y="4251325"/>
            <a:ext cx="1371600" cy="762000"/>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aphicFrame>
        <p:nvGraphicFramePr>
          <p:cNvPr id="8215" name="Object 90"/>
          <p:cNvGraphicFramePr>
            <a:graphicFrameLocks noChangeAspect="1"/>
          </p:cNvGraphicFramePr>
          <p:nvPr>
            <p:extLst>
              <p:ext uri="{D42A27DB-BD31-4B8C-83A1-F6EECF244321}">
                <p14:modId xmlns:p14="http://schemas.microsoft.com/office/powerpoint/2010/main" val="4000371470"/>
              </p:ext>
            </p:extLst>
          </p:nvPr>
        </p:nvGraphicFramePr>
        <p:xfrm>
          <a:off x="1828800" y="1178719"/>
          <a:ext cx="1239838" cy="647700"/>
        </p:xfrm>
        <a:graphic>
          <a:graphicData uri="http://schemas.openxmlformats.org/presentationml/2006/ole">
            <mc:AlternateContent xmlns:mc="http://schemas.openxmlformats.org/markup-compatibility/2006">
              <mc:Choice xmlns:v="urn:schemas-microsoft-com:vml" Requires="v">
                <p:oleObj name="Equation" r:id="rId27" imgW="876300" imgH="457200" progId="Equation.DSMT4">
                  <p:embed/>
                </p:oleObj>
              </mc:Choice>
              <mc:Fallback>
                <p:oleObj name="Equation" r:id="rId27" imgW="876300" imgH="457200" progId="Equation.DSMT4">
                  <p:embed/>
                  <p:pic>
                    <p:nvPicPr>
                      <p:cNvPr id="8215" name="Object 90"/>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828800" y="1178719"/>
                        <a:ext cx="1239838"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16" name="Text Box 2"/>
          <p:cNvSpPr txBox="1">
            <a:spLocks noChangeArrowheads="1"/>
          </p:cNvSpPr>
          <p:nvPr/>
        </p:nvSpPr>
        <p:spPr bwMode="auto">
          <a:xfrm>
            <a:off x="236537" y="411163"/>
            <a:ext cx="334486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Prueba de homogeneidad de medias</a:t>
            </a:r>
            <a:endParaRPr lang="es-ES" altLang="es-ES" sz="1400" b="1" dirty="0"/>
          </a:p>
        </p:txBody>
      </p:sp>
      <p:sp>
        <p:nvSpPr>
          <p:cNvPr id="8217" name="Text Box 2"/>
          <p:cNvSpPr txBox="1">
            <a:spLocks noChangeArrowheads="1"/>
          </p:cNvSpPr>
          <p:nvPr/>
        </p:nvSpPr>
        <p:spPr bwMode="auto">
          <a:xfrm>
            <a:off x="236537" y="76200"/>
            <a:ext cx="40116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 Variable normal</a:t>
            </a:r>
            <a:endParaRPr lang="es-ES" altLang="es-ES" sz="1400" b="1" dirty="0"/>
          </a:p>
        </p:txBody>
      </p:sp>
      <p:sp>
        <p:nvSpPr>
          <p:cNvPr id="43" name="Text Box 81"/>
          <p:cNvSpPr txBox="1">
            <a:spLocks noChangeArrowheads="1"/>
          </p:cNvSpPr>
          <p:nvPr/>
        </p:nvSpPr>
        <p:spPr bwMode="auto">
          <a:xfrm>
            <a:off x="447674" y="6400800"/>
            <a:ext cx="785812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dirty="0"/>
              <a:t>  en cualquier caso, si H</a:t>
            </a:r>
            <a:r>
              <a:rPr lang="es-ES_tradnl" altLang="es-ES" sz="1300" baseline="-25000" dirty="0"/>
              <a:t>0</a:t>
            </a:r>
            <a:r>
              <a:rPr lang="es-ES_tradnl" altLang="es-ES" sz="1300" dirty="0"/>
              <a:t> es cierta será </a:t>
            </a:r>
            <a:endParaRPr lang="es-ES" altLang="es-ES" sz="1300" dirty="0"/>
          </a:p>
        </p:txBody>
      </p:sp>
      <p:graphicFrame>
        <p:nvGraphicFramePr>
          <p:cNvPr id="3" name="Objeto 2"/>
          <p:cNvGraphicFramePr>
            <a:graphicFrameLocks noChangeAspect="1"/>
          </p:cNvGraphicFramePr>
          <p:nvPr>
            <p:extLst>
              <p:ext uri="{D42A27DB-BD31-4B8C-83A1-F6EECF244321}">
                <p14:modId xmlns:p14="http://schemas.microsoft.com/office/powerpoint/2010/main" val="2563022559"/>
              </p:ext>
            </p:extLst>
          </p:nvPr>
        </p:nvGraphicFramePr>
        <p:xfrm>
          <a:off x="3449637" y="6445056"/>
          <a:ext cx="642123" cy="273244"/>
        </p:xfrm>
        <a:graphic>
          <a:graphicData uri="http://schemas.openxmlformats.org/presentationml/2006/ole">
            <mc:AlternateContent xmlns:mc="http://schemas.openxmlformats.org/markup-compatibility/2006">
              <mc:Choice xmlns:v="urn:schemas-microsoft-com:vml" Requires="v">
                <p:oleObj name="Equation" r:id="rId29" imgW="596880" imgH="253800" progId="Equation.DSMT4">
                  <p:embed/>
                </p:oleObj>
              </mc:Choice>
              <mc:Fallback>
                <p:oleObj name="Equation" r:id="rId29" imgW="596880" imgH="253800" progId="Equation.DSMT4">
                  <p:embed/>
                  <p:pic>
                    <p:nvPicPr>
                      <p:cNvPr id="0" name=""/>
                      <p:cNvPicPr/>
                      <p:nvPr/>
                    </p:nvPicPr>
                    <p:blipFill>
                      <a:blip r:embed="rId30"/>
                      <a:stretch>
                        <a:fillRect/>
                      </a:stretch>
                    </p:blipFill>
                    <p:spPr>
                      <a:xfrm>
                        <a:off x="3449637" y="6445056"/>
                        <a:ext cx="642123" cy="273244"/>
                      </a:xfrm>
                      <a:prstGeom prst="rect">
                        <a:avLst/>
                      </a:prstGeom>
                    </p:spPr>
                  </p:pic>
                </p:oleObj>
              </mc:Fallback>
            </mc:AlternateContent>
          </a:graphicData>
        </a:graphic>
      </p:graphicFrame>
      <p:graphicFrame>
        <p:nvGraphicFramePr>
          <p:cNvPr id="45" name="Object 90">
            <a:extLst>
              <a:ext uri="{FF2B5EF4-FFF2-40B4-BE49-F238E27FC236}">
                <a16:creationId xmlns:a16="http://schemas.microsoft.com/office/drawing/2014/main" id="{A07779E4-1267-44C1-B67C-CF585CBE3572}"/>
              </a:ext>
            </a:extLst>
          </p:cNvPr>
          <p:cNvGraphicFramePr>
            <a:graphicFrameLocks noChangeAspect="1"/>
          </p:cNvGraphicFramePr>
          <p:nvPr>
            <p:extLst>
              <p:ext uri="{D42A27DB-BD31-4B8C-83A1-F6EECF244321}">
                <p14:modId xmlns:p14="http://schemas.microsoft.com/office/powerpoint/2010/main" val="2127695101"/>
              </p:ext>
            </p:extLst>
          </p:nvPr>
        </p:nvGraphicFramePr>
        <p:xfrm>
          <a:off x="3206750" y="1205707"/>
          <a:ext cx="755650" cy="574675"/>
        </p:xfrm>
        <a:graphic>
          <a:graphicData uri="http://schemas.openxmlformats.org/presentationml/2006/ole">
            <mc:AlternateContent xmlns:mc="http://schemas.openxmlformats.org/markup-compatibility/2006">
              <mc:Choice xmlns:v="urn:schemas-microsoft-com:vml" Requires="v">
                <p:oleObj name="Equation" r:id="rId31" imgW="533160" imgH="406080" progId="Equation.DSMT4">
                  <p:embed/>
                </p:oleObj>
              </mc:Choice>
              <mc:Fallback>
                <p:oleObj name="Equation" r:id="rId31" imgW="533160" imgH="406080" progId="Equation.DSMT4">
                  <p:embed/>
                  <p:pic>
                    <p:nvPicPr>
                      <p:cNvPr id="8215" name="Object 90"/>
                      <p:cNvPicPr>
                        <a:picLocks noChangeAspect="1" noChangeArrowheads="1"/>
                      </p:cNvPicPr>
                      <p:nvPr/>
                    </p:nvPicPr>
                    <p:blipFill>
                      <a:blip r:embed="rId32"/>
                      <a:srcRect/>
                      <a:stretch>
                        <a:fillRect/>
                      </a:stretch>
                    </p:blipFill>
                    <p:spPr bwMode="auto">
                      <a:xfrm>
                        <a:off x="3206750" y="1205707"/>
                        <a:ext cx="755650"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 name="Object 90">
            <a:extLst>
              <a:ext uri="{FF2B5EF4-FFF2-40B4-BE49-F238E27FC236}">
                <a16:creationId xmlns:a16="http://schemas.microsoft.com/office/drawing/2014/main" id="{0101CB49-3A00-4546-BD67-86C5E61E453A}"/>
              </a:ext>
            </a:extLst>
          </p:cNvPr>
          <p:cNvGraphicFramePr>
            <a:graphicFrameLocks noChangeAspect="1"/>
          </p:cNvGraphicFramePr>
          <p:nvPr>
            <p:extLst>
              <p:ext uri="{D42A27DB-BD31-4B8C-83A1-F6EECF244321}">
                <p14:modId xmlns:p14="http://schemas.microsoft.com/office/powerpoint/2010/main" val="2595166647"/>
              </p:ext>
            </p:extLst>
          </p:nvPr>
        </p:nvGraphicFramePr>
        <p:xfrm>
          <a:off x="3058116" y="1735355"/>
          <a:ext cx="712582" cy="242278"/>
        </p:xfrm>
        <a:graphic>
          <a:graphicData uri="http://schemas.openxmlformats.org/presentationml/2006/ole">
            <mc:AlternateContent xmlns:mc="http://schemas.openxmlformats.org/markup-compatibility/2006">
              <mc:Choice xmlns:v="urn:schemas-microsoft-com:vml" Requires="v">
                <p:oleObj name="Equation" r:id="rId33" imgW="672840" imgH="228600" progId="Equation.DSMT4">
                  <p:embed/>
                </p:oleObj>
              </mc:Choice>
              <mc:Fallback>
                <p:oleObj name="Equation" r:id="rId33" imgW="672840" imgH="228600" progId="Equation.DSMT4">
                  <p:embed/>
                  <p:pic>
                    <p:nvPicPr>
                      <p:cNvPr id="8215" name="Object 90"/>
                      <p:cNvPicPr>
                        <a:picLocks noChangeAspect="1" noChangeArrowheads="1"/>
                      </p:cNvPicPr>
                      <p:nvPr/>
                    </p:nvPicPr>
                    <p:blipFill>
                      <a:blip r:embed="rId34"/>
                      <a:srcRect/>
                      <a:stretch>
                        <a:fillRect/>
                      </a:stretch>
                    </p:blipFill>
                    <p:spPr bwMode="auto">
                      <a:xfrm>
                        <a:off x="3058116" y="1735355"/>
                        <a:ext cx="712582" cy="242278"/>
                      </a:xfrm>
                      <a:prstGeom prst="rect">
                        <a:avLst/>
                      </a:prstGeom>
                      <a:noFill/>
                      <a:ln>
                        <a:noFill/>
                      </a:ln>
                      <a:effectLst/>
                    </p:spPr>
                  </p:pic>
                </p:oleObj>
              </mc:Fallback>
            </mc:AlternateContent>
          </a:graphicData>
        </a:graphic>
      </p:graphicFrame>
      <p:grpSp>
        <p:nvGrpSpPr>
          <p:cNvPr id="6" name="Grupo 5">
            <a:extLst>
              <a:ext uri="{FF2B5EF4-FFF2-40B4-BE49-F238E27FC236}">
                <a16:creationId xmlns:a16="http://schemas.microsoft.com/office/drawing/2014/main" id="{AFBE9116-3EFD-4BDB-B709-717ABDED10C1}"/>
              </a:ext>
            </a:extLst>
          </p:cNvPr>
          <p:cNvGrpSpPr/>
          <p:nvPr/>
        </p:nvGrpSpPr>
        <p:grpSpPr>
          <a:xfrm>
            <a:off x="4286250" y="976886"/>
            <a:ext cx="4749707" cy="1015371"/>
            <a:chOff x="4248150" y="938745"/>
            <a:chExt cx="4648052" cy="1015371"/>
          </a:xfrm>
        </p:grpSpPr>
        <p:sp>
          <p:nvSpPr>
            <p:cNvPr id="4" name="CuadroTexto 3">
              <a:extLst>
                <a:ext uri="{FF2B5EF4-FFF2-40B4-BE49-F238E27FC236}">
                  <a16:creationId xmlns:a16="http://schemas.microsoft.com/office/drawing/2014/main" id="{8DAB7823-0979-4158-9612-5E1A7C40316F}"/>
                </a:ext>
              </a:extLst>
            </p:cNvPr>
            <p:cNvSpPr txBox="1"/>
            <p:nvPr/>
          </p:nvSpPr>
          <p:spPr>
            <a:xfrm>
              <a:off x="4248150" y="1165626"/>
              <a:ext cx="4648052" cy="769441"/>
            </a:xfrm>
            <a:prstGeom prst="rect">
              <a:avLst/>
            </a:prstGeom>
            <a:noFill/>
          </p:spPr>
          <p:txBody>
            <a:bodyPr wrap="square" rtlCol="0">
              <a:spAutoFit/>
            </a:bodyPr>
            <a:lstStyle/>
            <a:p>
              <a:pPr marL="171450" indent="-171450" algn="just">
                <a:buFont typeface="Arial" panose="020B0604020202020204" pitchFamily="34" charset="0"/>
                <a:buChar char="•"/>
              </a:pPr>
              <a:r>
                <a:rPr lang="es-ES" sz="1100" dirty="0"/>
                <a:t>Los grupos son </a:t>
              </a:r>
              <a:r>
                <a:rPr lang="es-ES" sz="1100" b="1" dirty="0"/>
                <a:t>homogéneos</a:t>
              </a:r>
              <a:r>
                <a:rPr lang="es-ES" sz="1100" dirty="0"/>
                <a:t> en términos de la variable estudiada</a:t>
              </a:r>
            </a:p>
            <a:p>
              <a:pPr marL="171450" indent="-171450" algn="just">
                <a:buFont typeface="Arial" panose="020B0604020202020204" pitchFamily="34" charset="0"/>
                <a:buChar char="•"/>
              </a:pPr>
              <a:r>
                <a:rPr lang="es-ES" sz="1100" dirty="0"/>
                <a:t>La (posición de la) variable analizada es </a:t>
              </a:r>
              <a:r>
                <a:rPr lang="es-ES" sz="1100" b="1" dirty="0"/>
                <a:t>independiente</a:t>
              </a:r>
              <a:r>
                <a:rPr lang="es-ES" sz="1100" dirty="0"/>
                <a:t> de la variable de agrupación</a:t>
              </a:r>
            </a:p>
            <a:p>
              <a:pPr marL="171450" indent="-171450">
                <a:buFont typeface="Arial" panose="020B0604020202020204" pitchFamily="34" charset="0"/>
                <a:buChar char="•"/>
              </a:pPr>
              <a:r>
                <a:rPr lang="es-ES" sz="1100" dirty="0"/>
                <a:t>No hay </a:t>
              </a:r>
              <a:r>
                <a:rPr lang="es-ES" sz="1100" b="1" i="1" dirty="0"/>
                <a:t>efecto</a:t>
              </a:r>
              <a:r>
                <a:rPr lang="es-ES" sz="1100" dirty="0"/>
                <a:t> del grupo sobre la variable estudiada</a:t>
              </a:r>
            </a:p>
          </p:txBody>
        </p:sp>
        <p:sp>
          <p:nvSpPr>
            <p:cNvPr id="5" name="Rectángulo: esquinas redondeadas 4">
              <a:extLst>
                <a:ext uri="{FF2B5EF4-FFF2-40B4-BE49-F238E27FC236}">
                  <a16:creationId xmlns:a16="http://schemas.microsoft.com/office/drawing/2014/main" id="{883BF1D7-F7D2-4E71-86B2-EA8853CDDCC2}"/>
                </a:ext>
              </a:extLst>
            </p:cNvPr>
            <p:cNvSpPr/>
            <p:nvPr/>
          </p:nvSpPr>
          <p:spPr>
            <a:xfrm>
              <a:off x="4248150" y="1070375"/>
              <a:ext cx="4648052" cy="883741"/>
            </a:xfrm>
            <a:prstGeom prst="roundRect">
              <a:avLst/>
            </a:prstGeom>
            <a:no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48" name="Object 3">
              <a:extLst>
                <a:ext uri="{FF2B5EF4-FFF2-40B4-BE49-F238E27FC236}">
                  <a16:creationId xmlns:a16="http://schemas.microsoft.com/office/drawing/2014/main" id="{6766DF3B-8DDA-440A-950E-9EA2D9D0DB2A}"/>
                </a:ext>
              </a:extLst>
            </p:cNvPr>
            <p:cNvGraphicFramePr>
              <a:graphicFrameLocks noChangeAspect="1"/>
            </p:cNvGraphicFramePr>
            <p:nvPr>
              <p:extLst>
                <p:ext uri="{D42A27DB-BD31-4B8C-83A1-F6EECF244321}">
                  <p14:modId xmlns:p14="http://schemas.microsoft.com/office/powerpoint/2010/main" val="2058506092"/>
                </p:ext>
              </p:extLst>
            </p:nvPr>
          </p:nvGraphicFramePr>
          <p:xfrm>
            <a:off x="4435749" y="938745"/>
            <a:ext cx="2440326" cy="263261"/>
          </p:xfrm>
          <a:graphic>
            <a:graphicData uri="http://schemas.openxmlformats.org/presentationml/2006/ole">
              <mc:AlternateContent xmlns:mc="http://schemas.openxmlformats.org/markup-compatibility/2006">
                <mc:Choice xmlns:v="urn:schemas-microsoft-com:vml" Requires="v">
                  <p:oleObj name="Equation" r:id="rId35" imgW="2120760" imgH="228600" progId="Equation.DSMT4">
                    <p:embed/>
                  </p:oleObj>
                </mc:Choice>
                <mc:Fallback>
                  <p:oleObj name="Equation" r:id="rId35" imgW="2120760" imgH="228600" progId="Equation.DSMT4">
                    <p:embed/>
                    <p:pic>
                      <p:nvPicPr>
                        <p:cNvPr id="8194" name="Object 3"/>
                        <p:cNvPicPr>
                          <a:picLocks noChangeAspect="1" noChangeArrowheads="1"/>
                        </p:cNvPicPr>
                        <p:nvPr/>
                      </p:nvPicPr>
                      <p:blipFill>
                        <a:blip r:embed="rId36"/>
                        <a:srcRect/>
                        <a:stretch>
                          <a:fillRect/>
                        </a:stretch>
                      </p:blipFill>
                      <p:spPr bwMode="auto">
                        <a:xfrm>
                          <a:off x="4435749" y="938745"/>
                          <a:ext cx="2440326" cy="263261"/>
                        </a:xfrm>
                        <a:prstGeom prst="rect">
                          <a:avLst/>
                        </a:prstGeom>
                        <a:solidFill>
                          <a:schemeClr val="bg1"/>
                        </a:solidFill>
                        <a:ln>
                          <a:noFill/>
                        </a:ln>
                        <a:effectLst/>
                      </p:spPr>
                    </p:pic>
                  </p:oleObj>
                </mc:Fallback>
              </mc:AlternateContent>
            </a:graphicData>
          </a:graphic>
        </p:graphicFrame>
      </p:grpSp>
    </p:spTree>
    <p:extLst>
      <p:ext uri="{BB962C8B-B14F-4D97-AF65-F5344CB8AC3E}">
        <p14:creationId xmlns:p14="http://schemas.microsoft.com/office/powerpoint/2010/main" val="1359076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3"/>
          <p:cNvSpPr txBox="1">
            <a:spLocks noChangeArrowheads="1"/>
          </p:cNvSpPr>
          <p:nvPr/>
        </p:nvSpPr>
        <p:spPr bwMode="auto">
          <a:xfrm>
            <a:off x="150812" y="860425"/>
            <a:ext cx="57927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3. Decisión: obtención e interpretación del nivel de significación  </a:t>
            </a:r>
            <a:r>
              <a:rPr lang="es-ES_tradnl" altLang="es-ES" sz="1600" b="1" i="1">
                <a:latin typeface="Times New Roman" pitchFamily="18" charset="0"/>
              </a:rPr>
              <a:t>p</a:t>
            </a:r>
            <a:endParaRPr lang="es-ES" altLang="es-ES" sz="1600" b="1" i="1">
              <a:latin typeface="Times New Roman" pitchFamily="18" charset="0"/>
            </a:endParaRPr>
          </a:p>
        </p:txBody>
      </p:sp>
      <p:sp>
        <p:nvSpPr>
          <p:cNvPr id="9219" name="Text Box 4"/>
          <p:cNvSpPr txBox="1">
            <a:spLocks noChangeArrowheads="1"/>
          </p:cNvSpPr>
          <p:nvPr/>
        </p:nvSpPr>
        <p:spPr bwMode="auto">
          <a:xfrm>
            <a:off x="243351" y="1200150"/>
            <a:ext cx="82391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1125" indent="-111125"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dirty="0"/>
              <a:t>El </a:t>
            </a:r>
            <a:r>
              <a:rPr lang="es-ES_tradnl" altLang="es-ES" i="1" dirty="0"/>
              <a:t>estadístico de contraste</a:t>
            </a:r>
            <a:r>
              <a:rPr lang="es-ES_tradnl" altLang="es-ES" dirty="0"/>
              <a:t> </a:t>
            </a:r>
            <a:r>
              <a:rPr lang="es-ES_tradnl" altLang="es-ES" sz="1400" i="1" dirty="0">
                <a:latin typeface="Times New Roman" pitchFamily="18" charset="0"/>
              </a:rPr>
              <a:t>t</a:t>
            </a:r>
            <a:r>
              <a:rPr lang="es-ES_tradnl" altLang="es-ES" sz="1400" baseline="-25000" dirty="0">
                <a:latin typeface="Times New Roman" pitchFamily="18" charset="0"/>
              </a:rPr>
              <a:t>exp</a:t>
            </a:r>
            <a:r>
              <a:rPr lang="es-ES_tradnl" altLang="es-ES" dirty="0"/>
              <a:t> tiene una distribución </a:t>
            </a:r>
            <a:r>
              <a:rPr lang="es-ES_tradnl" altLang="es-ES" i="1" dirty="0"/>
              <a:t>t</a:t>
            </a:r>
            <a:r>
              <a:rPr lang="es-ES_tradnl" altLang="es-ES" dirty="0"/>
              <a:t>-</a:t>
            </a:r>
            <a:r>
              <a:rPr lang="es-ES_tradnl" altLang="es-ES" dirty="0" err="1"/>
              <a:t>Student</a:t>
            </a:r>
            <a:r>
              <a:rPr lang="es-ES_tradnl" altLang="es-ES" dirty="0"/>
              <a:t> con </a:t>
            </a:r>
            <a:r>
              <a:rPr lang="es-ES_tradnl" altLang="es-ES" i="1" dirty="0">
                <a:latin typeface="Times New Roman" pitchFamily="18" charset="0"/>
              </a:rPr>
              <a:t> f</a:t>
            </a:r>
            <a:r>
              <a:rPr lang="es-ES_tradnl" altLang="es-ES" dirty="0"/>
              <a:t>  grados de libertad. </a:t>
            </a:r>
          </a:p>
        </p:txBody>
      </p:sp>
      <p:grpSp>
        <p:nvGrpSpPr>
          <p:cNvPr id="9220" name="Group 80"/>
          <p:cNvGrpSpPr>
            <a:grpSpLocks/>
          </p:cNvGrpSpPr>
          <p:nvPr/>
        </p:nvGrpSpPr>
        <p:grpSpPr bwMode="auto">
          <a:xfrm>
            <a:off x="457200" y="2513012"/>
            <a:ext cx="3657600" cy="4040188"/>
            <a:chOff x="336" y="1440"/>
            <a:chExt cx="2304" cy="2545"/>
          </a:xfrm>
        </p:grpSpPr>
        <p:grpSp>
          <p:nvGrpSpPr>
            <p:cNvPr id="9250" name="Group 67"/>
            <p:cNvGrpSpPr>
              <a:grpSpLocks/>
            </p:cNvGrpSpPr>
            <p:nvPr/>
          </p:nvGrpSpPr>
          <p:grpSpPr bwMode="auto">
            <a:xfrm>
              <a:off x="762" y="1609"/>
              <a:ext cx="1536" cy="979"/>
              <a:chOff x="1260" y="1536"/>
              <a:chExt cx="1536" cy="979"/>
            </a:xfrm>
          </p:grpSpPr>
          <p:pic>
            <p:nvPicPr>
              <p:cNvPr id="9267"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0" y="1536"/>
                <a:ext cx="1536" cy="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68" name="Line 12"/>
              <p:cNvSpPr>
                <a:spLocks noChangeShapeType="1"/>
              </p:cNvSpPr>
              <p:nvPr/>
            </p:nvSpPr>
            <p:spPr bwMode="auto">
              <a:xfrm>
                <a:off x="2436" y="2361"/>
                <a:ext cx="0" cy="154"/>
              </a:xfrm>
              <a:prstGeom prst="line">
                <a:avLst/>
              </a:prstGeom>
              <a:noFill/>
              <a:ln w="9525">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269" name="Group 13"/>
              <p:cNvGrpSpPr>
                <a:grpSpLocks/>
              </p:cNvGrpSpPr>
              <p:nvPr/>
            </p:nvGrpSpPr>
            <p:grpSpPr bwMode="auto">
              <a:xfrm>
                <a:off x="1672" y="2252"/>
                <a:ext cx="690" cy="248"/>
                <a:chOff x="1540" y="1682"/>
                <a:chExt cx="690" cy="289"/>
              </a:xfrm>
            </p:grpSpPr>
            <p:sp>
              <p:nvSpPr>
                <p:cNvPr id="9270" name="Line 14"/>
                <p:cNvSpPr>
                  <a:spLocks noChangeShapeType="1"/>
                </p:cNvSpPr>
                <p:nvPr/>
              </p:nvSpPr>
              <p:spPr bwMode="auto">
                <a:xfrm>
                  <a:off x="2230" y="1682"/>
                  <a:ext cx="0" cy="288"/>
                </a:xfrm>
                <a:prstGeom prst="line">
                  <a:avLst/>
                </a:prstGeom>
                <a:noFill/>
                <a:ln w="9525" cap="rnd">
                  <a:solidFill>
                    <a:srgbClr val="66003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71" name="Line 15"/>
                <p:cNvSpPr>
                  <a:spLocks noChangeShapeType="1"/>
                </p:cNvSpPr>
                <p:nvPr/>
              </p:nvSpPr>
              <p:spPr bwMode="auto">
                <a:xfrm>
                  <a:off x="1540" y="1683"/>
                  <a:ext cx="0" cy="288"/>
                </a:xfrm>
                <a:prstGeom prst="line">
                  <a:avLst/>
                </a:prstGeom>
                <a:noFill/>
                <a:ln w="9525" cap="rnd">
                  <a:solidFill>
                    <a:srgbClr val="66003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sp>
          <p:nvSpPr>
            <p:cNvPr id="9251" name="Text Box 40"/>
            <p:cNvSpPr txBox="1">
              <a:spLocks noChangeArrowheads="1"/>
            </p:cNvSpPr>
            <p:nvPr/>
          </p:nvSpPr>
          <p:spPr bwMode="auto">
            <a:xfrm>
              <a:off x="1443" y="2577"/>
              <a:ext cx="153" cy="131"/>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700"/>
                <a:t>0</a:t>
              </a:r>
              <a:endParaRPr lang="es-ES" altLang="es-ES" sz="700"/>
            </a:p>
          </p:txBody>
        </p:sp>
        <p:graphicFrame>
          <p:nvGraphicFramePr>
            <p:cNvPr id="9252" name="Object 41"/>
            <p:cNvGraphicFramePr>
              <a:graphicFrameLocks noChangeAspect="1"/>
            </p:cNvGraphicFramePr>
            <p:nvPr/>
          </p:nvGraphicFramePr>
          <p:xfrm>
            <a:off x="1845" y="2709"/>
            <a:ext cx="183" cy="166"/>
          </p:xfrm>
          <a:graphic>
            <a:graphicData uri="http://schemas.openxmlformats.org/presentationml/2006/ole">
              <mc:AlternateContent xmlns:mc="http://schemas.openxmlformats.org/markup-compatibility/2006">
                <mc:Choice xmlns:v="urn:schemas-microsoft-com:vml" Requires="v">
                  <p:oleObj name="Equation" r:id="rId3" imgW="266469" imgH="241091" progId="Equation.DSMT4">
                    <p:embed/>
                  </p:oleObj>
                </mc:Choice>
                <mc:Fallback>
                  <p:oleObj name="Equation" r:id="rId3" imgW="266469" imgH="241091" progId="Equation.DSMT4">
                    <p:embed/>
                    <p:pic>
                      <p:nvPicPr>
                        <p:cNvPr id="9252" name="Object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5" y="2709"/>
                          <a:ext cx="183" cy="1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53" name="Line 42"/>
            <p:cNvSpPr>
              <a:spLocks noChangeShapeType="1"/>
            </p:cNvSpPr>
            <p:nvPr/>
          </p:nvSpPr>
          <p:spPr bwMode="auto">
            <a:xfrm flipV="1">
              <a:off x="1866" y="2550"/>
              <a:ext cx="0" cy="45"/>
            </a:xfrm>
            <a:prstGeom prst="line">
              <a:avLst/>
            </a:prstGeom>
            <a:noFill/>
            <a:ln w="9525">
              <a:solidFill>
                <a:schemeClr val="tx1"/>
              </a:solidFill>
              <a:round/>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54" name="Line 43"/>
            <p:cNvSpPr>
              <a:spLocks noChangeShapeType="1"/>
            </p:cNvSpPr>
            <p:nvPr/>
          </p:nvSpPr>
          <p:spPr bwMode="auto">
            <a:xfrm flipV="1">
              <a:off x="1939" y="2550"/>
              <a:ext cx="0" cy="151"/>
            </a:xfrm>
            <a:prstGeom prst="line">
              <a:avLst/>
            </a:prstGeom>
            <a:noFill/>
            <a:ln w="9525">
              <a:solidFill>
                <a:schemeClr val="tx1"/>
              </a:solidFill>
              <a:round/>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9255" name="Object 44"/>
            <p:cNvGraphicFramePr>
              <a:graphicFrameLocks noChangeAspect="1"/>
            </p:cNvGraphicFramePr>
            <p:nvPr/>
          </p:nvGraphicFramePr>
          <p:xfrm>
            <a:off x="1794" y="2601"/>
            <a:ext cx="140" cy="158"/>
          </p:xfrm>
          <a:graphic>
            <a:graphicData uri="http://schemas.openxmlformats.org/presentationml/2006/ole">
              <mc:AlternateContent xmlns:mc="http://schemas.openxmlformats.org/markup-compatibility/2006">
                <mc:Choice xmlns:v="urn:schemas-microsoft-com:vml" Requires="v">
                  <p:oleObj name="Equation" r:id="rId5" imgW="203112" imgH="228501" progId="Equation.DSMT4">
                    <p:embed/>
                  </p:oleObj>
                </mc:Choice>
                <mc:Fallback>
                  <p:oleObj name="Equation" r:id="rId5" imgW="203112" imgH="228501" progId="Equation.DSMT4">
                    <p:embed/>
                    <p:pic>
                      <p:nvPicPr>
                        <p:cNvPr id="9255" name="Object 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4" y="2601"/>
                          <a:ext cx="140"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56" name="Text Box 45"/>
            <p:cNvSpPr txBox="1">
              <a:spLocks noChangeArrowheads="1"/>
            </p:cNvSpPr>
            <p:nvPr/>
          </p:nvSpPr>
          <p:spPr bwMode="auto">
            <a:xfrm>
              <a:off x="1890" y="2167"/>
              <a:ext cx="25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latin typeface="Symbol" pitchFamily="18" charset="2"/>
                </a:rPr>
                <a:t>a/2</a:t>
              </a:r>
              <a:endParaRPr lang="es-ES" altLang="es-ES">
                <a:latin typeface="Symbol" pitchFamily="18" charset="2"/>
              </a:endParaRPr>
            </a:p>
          </p:txBody>
        </p:sp>
        <p:sp>
          <p:nvSpPr>
            <p:cNvPr id="9257" name="Line 46"/>
            <p:cNvSpPr>
              <a:spLocks noChangeShapeType="1"/>
            </p:cNvSpPr>
            <p:nvPr/>
          </p:nvSpPr>
          <p:spPr bwMode="auto">
            <a:xfrm flipV="1">
              <a:off x="1890" y="2316"/>
              <a:ext cx="48" cy="96"/>
            </a:xfrm>
            <a:prstGeom prst="line">
              <a:avLst/>
            </a:prstGeom>
            <a:noFill/>
            <a:ln w="9525">
              <a:solidFill>
                <a:schemeClr val="tx1"/>
              </a:solidFill>
              <a:round/>
              <a:headEnd type="triangl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58" name="Text Box 47"/>
            <p:cNvSpPr txBox="1">
              <a:spLocks noChangeArrowheads="1"/>
            </p:cNvSpPr>
            <p:nvPr/>
          </p:nvSpPr>
          <p:spPr bwMode="auto">
            <a:xfrm>
              <a:off x="2126" y="2280"/>
              <a:ext cx="31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i="1">
                  <a:latin typeface="Times New Roman" pitchFamily="18" charset="0"/>
                </a:rPr>
                <a:t>p</a:t>
              </a:r>
              <a:r>
                <a:rPr lang="es-ES_tradnl" altLang="es-ES">
                  <a:latin typeface="Times New Roman" pitchFamily="18" charset="0"/>
                </a:rPr>
                <a:t>/2</a:t>
              </a:r>
              <a:endParaRPr lang="es-ES" altLang="es-ES">
                <a:latin typeface="Times New Roman" pitchFamily="18" charset="0"/>
              </a:endParaRPr>
            </a:p>
          </p:txBody>
        </p:sp>
        <p:sp>
          <p:nvSpPr>
            <p:cNvPr id="9259" name="Line 48"/>
            <p:cNvSpPr>
              <a:spLocks noChangeShapeType="1"/>
            </p:cNvSpPr>
            <p:nvPr/>
          </p:nvSpPr>
          <p:spPr bwMode="auto">
            <a:xfrm flipV="1">
              <a:off x="1970" y="2424"/>
              <a:ext cx="208" cy="96"/>
            </a:xfrm>
            <a:prstGeom prst="line">
              <a:avLst/>
            </a:prstGeom>
            <a:noFill/>
            <a:ln w="9525">
              <a:solidFill>
                <a:schemeClr val="tx1"/>
              </a:solidFill>
              <a:round/>
              <a:headEnd type="triangl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60" name="Text Box 49"/>
            <p:cNvSpPr txBox="1">
              <a:spLocks noChangeArrowheads="1"/>
            </p:cNvSpPr>
            <p:nvPr/>
          </p:nvSpPr>
          <p:spPr bwMode="auto">
            <a:xfrm>
              <a:off x="852" y="1440"/>
              <a:ext cx="13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b="1" dirty="0">
                  <a:solidFill>
                    <a:schemeClr val="bg2"/>
                  </a:solidFill>
                </a:rPr>
                <a:t>Distribución t de Student</a:t>
              </a:r>
              <a:endParaRPr lang="es-ES" altLang="es-ES" sz="1000" b="1" dirty="0">
                <a:solidFill>
                  <a:schemeClr val="bg2"/>
                </a:solidFill>
              </a:endParaRPr>
            </a:p>
          </p:txBody>
        </p:sp>
        <p:sp>
          <p:nvSpPr>
            <p:cNvPr id="9261" name="Text Box 36"/>
            <p:cNvSpPr txBox="1">
              <a:spLocks noChangeArrowheads="1"/>
            </p:cNvSpPr>
            <p:nvPr/>
          </p:nvSpPr>
          <p:spPr bwMode="auto">
            <a:xfrm>
              <a:off x="336" y="3289"/>
              <a:ext cx="2304"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100"/>
                <a:t>La probabilidad de cometer un error al asumir que </a:t>
              </a:r>
              <a:r>
                <a:rPr lang="es-ES_tradnl" altLang="es-ES" sz="1100">
                  <a:latin typeface="Symbol" pitchFamily="18" charset="2"/>
                </a:rPr>
                <a:t>m</a:t>
              </a:r>
              <a:r>
                <a:rPr lang="es-ES_tradnl" altLang="es-ES" sz="1100" baseline="-25000">
                  <a:latin typeface="Symbol" pitchFamily="18" charset="2"/>
                </a:rPr>
                <a:t>1 </a:t>
              </a:r>
              <a:r>
                <a:rPr lang="es-ES_tradnl" altLang="es-ES" sz="1100"/>
                <a:t>es diferente de </a:t>
              </a:r>
              <a:r>
                <a:rPr lang="es-ES_tradnl" altLang="es-ES" sz="1100" baseline="-25000"/>
                <a:t> </a:t>
              </a:r>
              <a:r>
                <a:rPr lang="es-ES_tradnl" altLang="es-ES" sz="1100">
                  <a:latin typeface="Symbol" pitchFamily="18" charset="2"/>
                </a:rPr>
                <a:t>m</a:t>
              </a:r>
              <a:r>
                <a:rPr lang="es-ES_tradnl" altLang="es-ES" sz="1100" baseline="-25000">
                  <a:latin typeface="Symbol" pitchFamily="18" charset="2"/>
                </a:rPr>
                <a:t>2</a:t>
              </a:r>
              <a:r>
                <a:rPr lang="es-ES_tradnl" altLang="es-ES" sz="1100"/>
                <a:t> con la muestra actual, es de </a:t>
              </a:r>
              <a:r>
                <a:rPr lang="es-ES_tradnl" altLang="es-ES" i="1">
                  <a:latin typeface="Times New Roman" pitchFamily="18" charset="0"/>
                </a:rPr>
                <a:t>p</a:t>
              </a:r>
              <a:r>
                <a:rPr lang="es-ES_tradnl" altLang="es-ES" sz="1100"/>
                <a:t> (%) (menor que el error </a:t>
              </a:r>
              <a:r>
                <a:rPr lang="es-ES_tradnl" altLang="es-ES" sz="1100">
                  <a:latin typeface="Symbol" pitchFamily="18" charset="2"/>
                </a:rPr>
                <a:t>a </a:t>
              </a:r>
              <a:r>
                <a:rPr lang="es-ES_tradnl" altLang="es-ES" sz="1100"/>
                <a:t>tolerable, luego </a:t>
              </a:r>
              <a:r>
                <a:rPr lang="es-ES_tradnl" altLang="es-ES" sz="1100" u="sng"/>
                <a:t>SI</a:t>
              </a:r>
              <a:r>
                <a:rPr lang="es-ES_tradnl" altLang="es-ES" sz="1100"/>
                <a:t> se puede asumir)</a:t>
              </a:r>
              <a:endParaRPr lang="es-ES" altLang="es-ES" sz="1100"/>
            </a:p>
          </p:txBody>
        </p:sp>
        <p:graphicFrame>
          <p:nvGraphicFramePr>
            <p:cNvPr id="9262" name="Object 50"/>
            <p:cNvGraphicFramePr>
              <a:graphicFrameLocks noChangeAspect="1"/>
            </p:cNvGraphicFramePr>
            <p:nvPr/>
          </p:nvGraphicFramePr>
          <p:xfrm>
            <a:off x="1313" y="2922"/>
            <a:ext cx="385" cy="175"/>
          </p:xfrm>
          <a:graphic>
            <a:graphicData uri="http://schemas.openxmlformats.org/presentationml/2006/ole">
              <mc:AlternateContent xmlns:mc="http://schemas.openxmlformats.org/markup-compatibility/2006">
                <mc:Choice xmlns:v="urn:schemas-microsoft-com:vml" Requires="v">
                  <p:oleObj name="Equation" r:id="rId7" imgW="419100" imgH="190500" progId="Equation.DSMT4">
                    <p:embed/>
                  </p:oleObj>
                </mc:Choice>
                <mc:Fallback>
                  <p:oleObj name="Equation" r:id="rId7" imgW="419100" imgH="190500" progId="Equation.DSMT4">
                    <p:embed/>
                    <p:pic>
                      <p:nvPicPr>
                        <p:cNvPr id="9262" name="Object 5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13" y="2922"/>
                          <a:ext cx="385" cy="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63" name="Text Box 51"/>
            <p:cNvSpPr txBox="1">
              <a:spLocks noChangeArrowheads="1"/>
            </p:cNvSpPr>
            <p:nvPr/>
          </p:nvSpPr>
          <p:spPr bwMode="auto">
            <a:xfrm>
              <a:off x="1179" y="3068"/>
              <a:ext cx="65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a:t>Rechazar </a:t>
              </a:r>
              <a:r>
                <a:rPr lang="es-ES_tradnl" altLang="es-ES">
                  <a:latin typeface="Times New Roman" pitchFamily="18" charset="0"/>
                </a:rPr>
                <a:t>H</a:t>
              </a:r>
              <a:r>
                <a:rPr lang="es-ES_tradnl" altLang="es-ES" baseline="-25000">
                  <a:latin typeface="Times New Roman" pitchFamily="18" charset="0"/>
                </a:rPr>
                <a:t>0</a:t>
              </a:r>
              <a:endParaRPr lang="es-ES" altLang="es-ES" baseline="-25000">
                <a:latin typeface="Times New Roman" pitchFamily="18" charset="0"/>
              </a:endParaRPr>
            </a:p>
          </p:txBody>
        </p:sp>
        <p:sp>
          <p:nvSpPr>
            <p:cNvPr id="9264" name="AutoShape 52"/>
            <p:cNvSpPr>
              <a:spLocks noChangeArrowheads="1"/>
            </p:cNvSpPr>
            <p:nvPr/>
          </p:nvSpPr>
          <p:spPr bwMode="auto">
            <a:xfrm>
              <a:off x="834" y="2905"/>
              <a:ext cx="1344" cy="342"/>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9265" name="Text Box 54"/>
            <p:cNvSpPr txBox="1">
              <a:spLocks noChangeArrowheads="1"/>
            </p:cNvSpPr>
            <p:nvPr/>
          </p:nvSpPr>
          <p:spPr bwMode="auto">
            <a:xfrm>
              <a:off x="1049" y="3811"/>
              <a:ext cx="888"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dirty="0"/>
                <a:t>Test </a:t>
              </a:r>
              <a:r>
                <a:rPr lang="es-ES_tradnl" altLang="es-ES" b="1" dirty="0"/>
                <a:t>significativo</a:t>
              </a:r>
              <a:endParaRPr lang="es-ES" altLang="es-ES" b="1" dirty="0"/>
            </a:p>
          </p:txBody>
        </p:sp>
        <p:sp>
          <p:nvSpPr>
            <p:cNvPr id="9266" name="Line 75"/>
            <p:cNvSpPr>
              <a:spLocks noChangeShapeType="1"/>
            </p:cNvSpPr>
            <p:nvPr/>
          </p:nvSpPr>
          <p:spPr bwMode="auto">
            <a:xfrm>
              <a:off x="1518" y="1670"/>
              <a:ext cx="0" cy="921"/>
            </a:xfrm>
            <a:prstGeom prst="line">
              <a:avLst/>
            </a:prstGeom>
            <a:noFill/>
            <a:ln w="9525">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9221" name="Group 79"/>
          <p:cNvGrpSpPr>
            <a:grpSpLocks/>
          </p:cNvGrpSpPr>
          <p:nvPr/>
        </p:nvGrpSpPr>
        <p:grpSpPr bwMode="auto">
          <a:xfrm>
            <a:off x="4114800" y="2513012"/>
            <a:ext cx="3657600" cy="4040188"/>
            <a:chOff x="2976" y="1440"/>
            <a:chExt cx="2304" cy="2545"/>
          </a:xfrm>
        </p:grpSpPr>
        <p:pic>
          <p:nvPicPr>
            <p:cNvPr id="9228"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63" y="1623"/>
              <a:ext cx="1518" cy="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9229" name="Object 26"/>
            <p:cNvGraphicFramePr>
              <a:graphicFrameLocks noChangeAspect="1"/>
            </p:cNvGraphicFramePr>
            <p:nvPr/>
          </p:nvGraphicFramePr>
          <p:xfrm>
            <a:off x="4242" y="2709"/>
            <a:ext cx="183" cy="166"/>
          </p:xfrm>
          <a:graphic>
            <a:graphicData uri="http://schemas.openxmlformats.org/presentationml/2006/ole">
              <mc:AlternateContent xmlns:mc="http://schemas.openxmlformats.org/markup-compatibility/2006">
                <mc:Choice xmlns:v="urn:schemas-microsoft-com:vml" Requires="v">
                  <p:oleObj name="Equation" r:id="rId10" imgW="266469" imgH="241091" progId="Equation.DSMT4">
                    <p:embed/>
                  </p:oleObj>
                </mc:Choice>
                <mc:Fallback>
                  <p:oleObj name="Equation" r:id="rId10" imgW="266469" imgH="241091" progId="Equation.DSMT4">
                    <p:embed/>
                    <p:pic>
                      <p:nvPicPr>
                        <p:cNvPr id="9229"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2" y="2709"/>
                          <a:ext cx="183" cy="1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0" name="Object 31"/>
            <p:cNvGraphicFramePr>
              <a:graphicFrameLocks noChangeAspect="1"/>
            </p:cNvGraphicFramePr>
            <p:nvPr/>
          </p:nvGraphicFramePr>
          <p:xfrm>
            <a:off x="3917" y="2934"/>
            <a:ext cx="385" cy="151"/>
          </p:xfrm>
          <a:graphic>
            <a:graphicData uri="http://schemas.openxmlformats.org/presentationml/2006/ole">
              <mc:AlternateContent xmlns:mc="http://schemas.openxmlformats.org/markup-compatibility/2006">
                <mc:Choice xmlns:v="urn:schemas-microsoft-com:vml" Requires="v">
                  <p:oleObj name="Equation" r:id="rId11" imgW="418918" imgH="165028" progId="Equation.DSMT4">
                    <p:embed/>
                  </p:oleObj>
                </mc:Choice>
                <mc:Fallback>
                  <p:oleObj name="Equation" r:id="rId11" imgW="418918" imgH="165028" progId="Equation.DSMT4">
                    <p:embed/>
                    <p:pic>
                      <p:nvPicPr>
                        <p:cNvPr id="9230" name="Object 3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17" y="2934"/>
                          <a:ext cx="385"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31" name="Text Box 32"/>
            <p:cNvSpPr txBox="1">
              <a:spLocks noChangeArrowheads="1"/>
            </p:cNvSpPr>
            <p:nvPr/>
          </p:nvSpPr>
          <p:spPr bwMode="auto">
            <a:xfrm>
              <a:off x="3529" y="3068"/>
              <a:ext cx="1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a:t>No se puede rechazar </a:t>
              </a:r>
              <a:r>
                <a:rPr lang="es-ES_tradnl" altLang="es-ES">
                  <a:latin typeface="Times New Roman" pitchFamily="18" charset="0"/>
                </a:rPr>
                <a:t>H</a:t>
              </a:r>
              <a:r>
                <a:rPr lang="es-ES_tradnl" altLang="es-ES" baseline="-25000">
                  <a:latin typeface="Times New Roman" pitchFamily="18" charset="0"/>
                </a:rPr>
                <a:t>0</a:t>
              </a:r>
              <a:endParaRPr lang="es-ES" altLang="es-ES" baseline="-25000">
                <a:latin typeface="Times New Roman" pitchFamily="18" charset="0"/>
              </a:endParaRPr>
            </a:p>
          </p:txBody>
        </p:sp>
        <p:sp>
          <p:nvSpPr>
            <p:cNvPr id="9232" name="Text Box 33"/>
            <p:cNvSpPr txBox="1">
              <a:spLocks noChangeArrowheads="1"/>
            </p:cNvSpPr>
            <p:nvPr/>
          </p:nvSpPr>
          <p:spPr bwMode="auto">
            <a:xfrm>
              <a:off x="2976" y="3289"/>
              <a:ext cx="2304" cy="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100"/>
                <a:t>La probabilidad de cometer un error al asumir que </a:t>
              </a:r>
              <a:r>
                <a:rPr lang="es-ES_tradnl" altLang="es-ES" sz="1100">
                  <a:latin typeface="Symbol" pitchFamily="18" charset="2"/>
                </a:rPr>
                <a:t>m</a:t>
              </a:r>
              <a:r>
                <a:rPr lang="es-ES_tradnl" altLang="es-ES" sz="1100" baseline="-25000">
                  <a:latin typeface="Symbol" pitchFamily="18" charset="2"/>
                </a:rPr>
                <a:t>1 </a:t>
              </a:r>
              <a:r>
                <a:rPr lang="es-ES_tradnl" altLang="es-ES" sz="1100"/>
                <a:t>es diferente de</a:t>
              </a:r>
              <a:r>
                <a:rPr lang="es-ES_tradnl" altLang="es-ES" sz="1100" baseline="-25000"/>
                <a:t> </a:t>
              </a:r>
              <a:r>
                <a:rPr lang="es-ES_tradnl" altLang="es-ES" sz="1100">
                  <a:latin typeface="Symbol" pitchFamily="18" charset="2"/>
                </a:rPr>
                <a:t>m</a:t>
              </a:r>
              <a:r>
                <a:rPr lang="es-ES_tradnl" altLang="es-ES" sz="1100" baseline="-25000">
                  <a:latin typeface="Symbol" pitchFamily="18" charset="2"/>
                </a:rPr>
                <a:t>2</a:t>
              </a:r>
              <a:r>
                <a:rPr lang="es-ES_tradnl" altLang="es-ES" sz="1100"/>
                <a:t> con la muestra actual, es de </a:t>
              </a:r>
              <a:r>
                <a:rPr lang="es-ES_tradnl" altLang="es-ES" i="1">
                  <a:latin typeface="Times New Roman" pitchFamily="18" charset="0"/>
                </a:rPr>
                <a:t>p</a:t>
              </a:r>
              <a:r>
                <a:rPr lang="es-ES_tradnl" altLang="es-ES" sz="1100"/>
                <a:t> (%) (mayor que el error </a:t>
              </a:r>
              <a:r>
                <a:rPr lang="es-ES_tradnl" altLang="es-ES">
                  <a:latin typeface="Symbol" pitchFamily="18" charset="2"/>
                </a:rPr>
                <a:t>a</a:t>
              </a:r>
              <a:r>
                <a:rPr lang="es-ES_tradnl" altLang="es-ES" sz="1100">
                  <a:latin typeface="Symbol" pitchFamily="18" charset="2"/>
                </a:rPr>
                <a:t> </a:t>
              </a:r>
              <a:r>
                <a:rPr lang="es-ES_tradnl" altLang="es-ES" sz="1100"/>
                <a:t>tolerable, luego </a:t>
              </a:r>
              <a:r>
                <a:rPr lang="es-ES_tradnl" altLang="es-ES" sz="1100" u="sng"/>
                <a:t>NO</a:t>
              </a:r>
              <a:r>
                <a:rPr lang="es-ES_tradnl" altLang="es-ES" sz="1100"/>
                <a:t> se puede  asumir)</a:t>
              </a:r>
              <a:endParaRPr lang="es-ES" altLang="es-ES" sz="1100"/>
            </a:p>
          </p:txBody>
        </p:sp>
        <p:sp>
          <p:nvSpPr>
            <p:cNvPr id="9233" name="AutoShape 34"/>
            <p:cNvSpPr>
              <a:spLocks noChangeArrowheads="1"/>
            </p:cNvSpPr>
            <p:nvPr/>
          </p:nvSpPr>
          <p:spPr bwMode="auto">
            <a:xfrm>
              <a:off x="3450" y="2905"/>
              <a:ext cx="1344" cy="342"/>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9234" name="Line 8"/>
            <p:cNvSpPr>
              <a:spLocks noChangeShapeType="1"/>
            </p:cNvSpPr>
            <p:nvPr/>
          </p:nvSpPr>
          <p:spPr bwMode="auto">
            <a:xfrm>
              <a:off x="4337" y="2049"/>
              <a:ext cx="0" cy="539"/>
            </a:xfrm>
            <a:prstGeom prst="line">
              <a:avLst/>
            </a:prstGeom>
            <a:noFill/>
            <a:ln w="9525">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35" name="Line 9"/>
            <p:cNvSpPr>
              <a:spLocks noChangeShapeType="1"/>
            </p:cNvSpPr>
            <p:nvPr/>
          </p:nvSpPr>
          <p:spPr bwMode="auto">
            <a:xfrm>
              <a:off x="4461" y="2328"/>
              <a:ext cx="0" cy="247"/>
            </a:xfrm>
            <a:prstGeom prst="line">
              <a:avLst/>
            </a:prstGeom>
            <a:noFill/>
            <a:ln w="9525" cap="rnd">
              <a:solidFill>
                <a:srgbClr val="66003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36" name="Line 10"/>
            <p:cNvSpPr>
              <a:spLocks noChangeShapeType="1"/>
            </p:cNvSpPr>
            <p:nvPr/>
          </p:nvSpPr>
          <p:spPr bwMode="auto">
            <a:xfrm>
              <a:off x="3771" y="2329"/>
              <a:ext cx="0" cy="247"/>
            </a:xfrm>
            <a:prstGeom prst="line">
              <a:avLst/>
            </a:prstGeom>
            <a:noFill/>
            <a:ln w="9525" cap="rnd">
              <a:solidFill>
                <a:srgbClr val="66003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37" name="Text Box 19"/>
            <p:cNvSpPr txBox="1">
              <a:spLocks noChangeArrowheads="1"/>
            </p:cNvSpPr>
            <p:nvPr/>
          </p:nvSpPr>
          <p:spPr bwMode="auto">
            <a:xfrm>
              <a:off x="4038" y="2577"/>
              <a:ext cx="153" cy="131"/>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700"/>
                <a:t>0</a:t>
              </a:r>
              <a:endParaRPr lang="es-ES" altLang="es-ES" sz="700"/>
            </a:p>
          </p:txBody>
        </p:sp>
        <p:sp>
          <p:nvSpPr>
            <p:cNvPr id="9238" name="Line 20"/>
            <p:cNvSpPr>
              <a:spLocks noChangeShapeType="1"/>
            </p:cNvSpPr>
            <p:nvPr/>
          </p:nvSpPr>
          <p:spPr bwMode="auto">
            <a:xfrm>
              <a:off x="4462" y="2329"/>
              <a:ext cx="0" cy="288"/>
            </a:xfrm>
            <a:prstGeom prst="line">
              <a:avLst/>
            </a:prstGeom>
            <a:noFill/>
            <a:ln w="9525">
              <a:solidFill>
                <a:srgbClr val="6600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39" name="Text Box 21"/>
            <p:cNvSpPr txBox="1">
              <a:spLocks noChangeArrowheads="1"/>
            </p:cNvSpPr>
            <p:nvPr/>
          </p:nvSpPr>
          <p:spPr bwMode="auto">
            <a:xfrm>
              <a:off x="4491" y="2167"/>
              <a:ext cx="25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latin typeface="Symbol" pitchFamily="18" charset="2"/>
                </a:rPr>
                <a:t>a/2</a:t>
              </a:r>
              <a:endParaRPr lang="es-ES" altLang="es-ES">
                <a:latin typeface="Symbol" pitchFamily="18" charset="2"/>
              </a:endParaRPr>
            </a:p>
          </p:txBody>
        </p:sp>
        <p:sp>
          <p:nvSpPr>
            <p:cNvPr id="9240" name="Line 22"/>
            <p:cNvSpPr>
              <a:spLocks noChangeShapeType="1"/>
            </p:cNvSpPr>
            <p:nvPr/>
          </p:nvSpPr>
          <p:spPr bwMode="auto">
            <a:xfrm flipV="1">
              <a:off x="4491" y="2316"/>
              <a:ext cx="48" cy="96"/>
            </a:xfrm>
            <a:prstGeom prst="line">
              <a:avLst/>
            </a:prstGeom>
            <a:noFill/>
            <a:ln w="9525">
              <a:solidFill>
                <a:schemeClr val="tx1"/>
              </a:solidFill>
              <a:round/>
              <a:headEnd type="triangl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9241" name="Object 23"/>
            <p:cNvGraphicFramePr>
              <a:graphicFrameLocks noChangeAspect="1"/>
            </p:cNvGraphicFramePr>
            <p:nvPr/>
          </p:nvGraphicFramePr>
          <p:xfrm>
            <a:off x="4393" y="2601"/>
            <a:ext cx="140" cy="158"/>
          </p:xfrm>
          <a:graphic>
            <a:graphicData uri="http://schemas.openxmlformats.org/presentationml/2006/ole">
              <mc:AlternateContent xmlns:mc="http://schemas.openxmlformats.org/markup-compatibility/2006">
                <mc:Choice xmlns:v="urn:schemas-microsoft-com:vml" Requires="v">
                  <p:oleObj name="Equation" r:id="rId13" imgW="203112" imgH="228501" progId="Equation.DSMT4">
                    <p:embed/>
                  </p:oleObj>
                </mc:Choice>
                <mc:Fallback>
                  <p:oleObj name="Equation" r:id="rId13" imgW="203112" imgH="228501" progId="Equation.DSMT4">
                    <p:embed/>
                    <p:pic>
                      <p:nvPicPr>
                        <p:cNvPr id="9241" name="Object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93" y="2601"/>
                          <a:ext cx="140"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42" name="Line 24"/>
            <p:cNvSpPr>
              <a:spLocks noChangeShapeType="1"/>
            </p:cNvSpPr>
            <p:nvPr/>
          </p:nvSpPr>
          <p:spPr bwMode="auto">
            <a:xfrm flipV="1">
              <a:off x="4463" y="2560"/>
              <a:ext cx="0" cy="48"/>
            </a:xfrm>
            <a:prstGeom prst="line">
              <a:avLst/>
            </a:prstGeom>
            <a:noFill/>
            <a:ln w="9525">
              <a:solidFill>
                <a:schemeClr val="tx1"/>
              </a:solidFill>
              <a:round/>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43" name="Line 25"/>
            <p:cNvSpPr>
              <a:spLocks noChangeShapeType="1"/>
            </p:cNvSpPr>
            <p:nvPr/>
          </p:nvSpPr>
          <p:spPr bwMode="auto">
            <a:xfrm flipV="1">
              <a:off x="4337" y="2558"/>
              <a:ext cx="0" cy="161"/>
            </a:xfrm>
            <a:prstGeom prst="line">
              <a:avLst/>
            </a:prstGeom>
            <a:noFill/>
            <a:ln w="9525">
              <a:solidFill>
                <a:schemeClr val="tx1"/>
              </a:solidFill>
              <a:round/>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244" name="Group 27"/>
            <p:cNvGrpSpPr>
              <a:grpSpLocks/>
            </p:cNvGrpSpPr>
            <p:nvPr/>
          </p:nvGrpSpPr>
          <p:grpSpPr bwMode="auto">
            <a:xfrm>
              <a:off x="4399" y="1896"/>
              <a:ext cx="392" cy="416"/>
              <a:chOff x="3820" y="1296"/>
              <a:chExt cx="392" cy="416"/>
            </a:xfrm>
          </p:grpSpPr>
          <p:sp>
            <p:nvSpPr>
              <p:cNvPr id="9248" name="Text Box 28"/>
              <p:cNvSpPr txBox="1">
                <a:spLocks noChangeArrowheads="1"/>
              </p:cNvSpPr>
              <p:nvPr/>
            </p:nvSpPr>
            <p:spPr bwMode="auto">
              <a:xfrm>
                <a:off x="3896" y="1296"/>
                <a:ext cx="31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i="1">
                    <a:latin typeface="Times New Roman" pitchFamily="18" charset="0"/>
                  </a:rPr>
                  <a:t>p</a:t>
                </a:r>
                <a:r>
                  <a:rPr lang="es-ES_tradnl" altLang="es-ES">
                    <a:latin typeface="Times New Roman" pitchFamily="18" charset="0"/>
                  </a:rPr>
                  <a:t>/2</a:t>
                </a:r>
                <a:endParaRPr lang="es-ES" altLang="es-ES">
                  <a:latin typeface="Times New Roman" pitchFamily="18" charset="0"/>
                </a:endParaRPr>
              </a:p>
            </p:txBody>
          </p:sp>
          <p:sp>
            <p:nvSpPr>
              <p:cNvPr id="9249" name="Line 29"/>
              <p:cNvSpPr>
                <a:spLocks noChangeShapeType="1"/>
              </p:cNvSpPr>
              <p:nvPr/>
            </p:nvSpPr>
            <p:spPr bwMode="auto">
              <a:xfrm flipV="1">
                <a:off x="3820" y="1472"/>
                <a:ext cx="144" cy="240"/>
              </a:xfrm>
              <a:prstGeom prst="line">
                <a:avLst/>
              </a:prstGeom>
              <a:noFill/>
              <a:ln w="9525">
                <a:solidFill>
                  <a:schemeClr val="tx1"/>
                </a:solidFill>
                <a:round/>
                <a:headEnd type="triangl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9245" name="Text Box 30"/>
            <p:cNvSpPr txBox="1">
              <a:spLocks noChangeArrowheads="1"/>
            </p:cNvSpPr>
            <p:nvPr/>
          </p:nvSpPr>
          <p:spPr bwMode="auto">
            <a:xfrm>
              <a:off x="3443" y="1440"/>
              <a:ext cx="13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b="1" dirty="0">
                  <a:solidFill>
                    <a:schemeClr val="bg2"/>
                  </a:solidFill>
                </a:rPr>
                <a:t>Distribución t de Student</a:t>
              </a:r>
              <a:endParaRPr lang="es-ES" altLang="es-ES" sz="1000" b="1" dirty="0">
                <a:solidFill>
                  <a:schemeClr val="bg2"/>
                </a:solidFill>
              </a:endParaRPr>
            </a:p>
          </p:txBody>
        </p:sp>
        <p:sp>
          <p:nvSpPr>
            <p:cNvPr id="9246" name="Text Box 55"/>
            <p:cNvSpPr txBox="1">
              <a:spLocks noChangeArrowheads="1"/>
            </p:cNvSpPr>
            <p:nvPr/>
          </p:nvSpPr>
          <p:spPr bwMode="auto">
            <a:xfrm>
              <a:off x="3598" y="3811"/>
              <a:ext cx="1035"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dirty="0"/>
                <a:t>Test </a:t>
              </a:r>
              <a:r>
                <a:rPr lang="es-ES_tradnl" altLang="es-ES" b="1" dirty="0"/>
                <a:t>no significativo</a:t>
              </a:r>
              <a:endParaRPr lang="es-ES" altLang="es-ES" b="1" dirty="0"/>
            </a:p>
          </p:txBody>
        </p:sp>
        <p:sp>
          <p:nvSpPr>
            <p:cNvPr id="9247" name="Line 76"/>
            <p:cNvSpPr>
              <a:spLocks noChangeShapeType="1"/>
            </p:cNvSpPr>
            <p:nvPr/>
          </p:nvSpPr>
          <p:spPr bwMode="auto">
            <a:xfrm>
              <a:off x="4116" y="1670"/>
              <a:ext cx="0" cy="921"/>
            </a:xfrm>
            <a:prstGeom prst="line">
              <a:avLst/>
            </a:prstGeom>
            <a:noFill/>
            <a:ln w="9525">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9222" name="Text Box 81"/>
          <p:cNvSpPr txBox="1">
            <a:spLocks noChangeArrowheads="1"/>
          </p:cNvSpPr>
          <p:nvPr/>
        </p:nvSpPr>
        <p:spPr bwMode="auto">
          <a:xfrm>
            <a:off x="457200" y="2741612"/>
            <a:ext cx="35401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[1]</a:t>
            </a:r>
            <a:endParaRPr lang="es-ES" altLang="es-ES"/>
          </a:p>
        </p:txBody>
      </p:sp>
      <p:sp>
        <p:nvSpPr>
          <p:cNvPr id="9223" name="Text Box 82"/>
          <p:cNvSpPr txBox="1">
            <a:spLocks noChangeArrowheads="1"/>
          </p:cNvSpPr>
          <p:nvPr/>
        </p:nvSpPr>
        <p:spPr bwMode="auto">
          <a:xfrm>
            <a:off x="4572000" y="2741612"/>
            <a:ext cx="35401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[2]</a:t>
            </a:r>
            <a:endParaRPr lang="es-ES" altLang="es-ES"/>
          </a:p>
        </p:txBody>
      </p:sp>
      <p:sp>
        <p:nvSpPr>
          <p:cNvPr id="9224" name="Text Box 84"/>
          <p:cNvSpPr txBox="1">
            <a:spLocks noChangeArrowheads="1"/>
          </p:cNvSpPr>
          <p:nvPr/>
        </p:nvSpPr>
        <p:spPr bwMode="auto">
          <a:xfrm>
            <a:off x="243352" y="1533525"/>
            <a:ext cx="6419850" cy="56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11125" indent="-111125"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lnSpc>
                <a:spcPct val="110000"/>
              </a:lnSpc>
              <a:buFontTx/>
              <a:buChar char="•"/>
            </a:pPr>
            <a:r>
              <a:rPr lang="es-ES_tradnl" altLang="es-ES" dirty="0"/>
              <a:t>En base a ella, se trata de determinar si realmente</a:t>
            </a:r>
            <a:r>
              <a:rPr lang="es-ES_tradnl" altLang="es-ES" dirty="0">
                <a:latin typeface="Times New Roman" pitchFamily="18" charset="0"/>
              </a:rPr>
              <a:t> </a:t>
            </a:r>
            <a:r>
              <a:rPr lang="es-ES_tradnl" altLang="es-ES" sz="1400" i="1" dirty="0">
                <a:latin typeface="Times New Roman" pitchFamily="18" charset="0"/>
              </a:rPr>
              <a:t>t</a:t>
            </a:r>
            <a:r>
              <a:rPr lang="es-ES_tradnl" altLang="es-ES" baseline="-25000" dirty="0">
                <a:latin typeface="Times New Roman" pitchFamily="18" charset="0"/>
              </a:rPr>
              <a:t>exp</a:t>
            </a:r>
            <a:r>
              <a:rPr lang="es-ES_tradnl" altLang="es-ES" dirty="0">
                <a:latin typeface="Times New Roman" pitchFamily="18" charset="0"/>
              </a:rPr>
              <a:t>→ 0. </a:t>
            </a:r>
            <a:r>
              <a:rPr lang="es-ES_tradnl" altLang="es-ES" b="1" dirty="0">
                <a:latin typeface="Times New Roman" pitchFamily="18" charset="0"/>
              </a:rPr>
              <a:t> </a:t>
            </a:r>
            <a:r>
              <a:rPr lang="es-ES_tradnl" altLang="es-ES" dirty="0"/>
              <a:t>El procedimiento a seguir será obtener el nivel de  significación </a:t>
            </a:r>
            <a:r>
              <a:rPr lang="es-ES_tradnl" altLang="es-ES" sz="1400" i="1" dirty="0">
                <a:latin typeface="Times New Roman" pitchFamily="18" charset="0"/>
              </a:rPr>
              <a:t>p</a:t>
            </a:r>
            <a:r>
              <a:rPr lang="es-ES_tradnl" altLang="es-ES" dirty="0"/>
              <a:t> y compararlo con el valor de </a:t>
            </a:r>
            <a:r>
              <a:rPr lang="es-ES_tradnl" altLang="es-ES" sz="1400" dirty="0">
                <a:latin typeface="Symbol" pitchFamily="18" charset="2"/>
              </a:rPr>
              <a:t>a</a:t>
            </a:r>
            <a:r>
              <a:rPr lang="es-ES_tradnl" altLang="es-ES" dirty="0"/>
              <a:t> fijado de antemano. </a:t>
            </a:r>
          </a:p>
        </p:txBody>
      </p:sp>
      <p:sp>
        <p:nvSpPr>
          <p:cNvPr id="9225" name="Line 85"/>
          <p:cNvSpPr>
            <a:spLocks noChangeShapeType="1"/>
          </p:cNvSpPr>
          <p:nvPr/>
        </p:nvSpPr>
        <p:spPr bwMode="auto">
          <a:xfrm>
            <a:off x="2324100" y="6170612"/>
            <a:ext cx="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26" name="Line 86"/>
          <p:cNvSpPr>
            <a:spLocks noChangeShapeType="1"/>
          </p:cNvSpPr>
          <p:nvPr/>
        </p:nvSpPr>
        <p:spPr bwMode="auto">
          <a:xfrm>
            <a:off x="6162675" y="6170612"/>
            <a:ext cx="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6" name="Text Box 2"/>
          <p:cNvSpPr txBox="1">
            <a:spLocks noChangeArrowheads="1"/>
          </p:cNvSpPr>
          <p:nvPr/>
        </p:nvSpPr>
        <p:spPr bwMode="auto">
          <a:xfrm>
            <a:off x="236537" y="411163"/>
            <a:ext cx="334486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Prueba de homogeneidad de medias</a:t>
            </a:r>
            <a:endParaRPr lang="es-ES" altLang="es-ES" sz="1400" b="1"/>
          </a:p>
        </p:txBody>
      </p:sp>
      <p:sp>
        <p:nvSpPr>
          <p:cNvPr id="57" name="Text Box 2"/>
          <p:cNvSpPr txBox="1">
            <a:spLocks noChangeArrowheads="1"/>
          </p:cNvSpPr>
          <p:nvPr/>
        </p:nvSpPr>
        <p:spPr bwMode="auto">
          <a:xfrm>
            <a:off x="236537" y="76200"/>
            <a:ext cx="40116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 Variable normal</a:t>
            </a:r>
            <a:endParaRPr lang="es-ES" altLang="es-ES" sz="1400" b="1" dirty="0"/>
          </a:p>
        </p:txBody>
      </p:sp>
      <p:sp>
        <p:nvSpPr>
          <p:cNvPr id="2" name="Rectángulo 1"/>
          <p:cNvSpPr/>
          <p:nvPr/>
        </p:nvSpPr>
        <p:spPr>
          <a:xfrm>
            <a:off x="219075" y="2014026"/>
            <a:ext cx="1984839" cy="295466"/>
          </a:xfrm>
          <a:prstGeom prst="rect">
            <a:avLst/>
          </a:prstGeom>
        </p:spPr>
        <p:txBody>
          <a:bodyPr wrap="none">
            <a:spAutoFit/>
          </a:bodyPr>
          <a:lstStyle/>
          <a:p>
            <a:pPr marL="85725" indent="-85725" eaLnBrk="1" hangingPunct="1">
              <a:lnSpc>
                <a:spcPct val="110000"/>
              </a:lnSpc>
              <a:tabLst>
                <a:tab pos="85725" algn="l"/>
              </a:tabLst>
            </a:pPr>
            <a:r>
              <a:rPr lang="es-ES_tradnl" altLang="es-ES" dirty="0"/>
              <a:t>	 Dos resultados posibles:</a:t>
            </a:r>
            <a:endParaRPr lang="es-ES" altLang="es-ES" dirty="0"/>
          </a:p>
        </p:txBody>
      </p:sp>
      <p:sp>
        <p:nvSpPr>
          <p:cNvPr id="4" name="Rectángulo 3"/>
          <p:cNvSpPr/>
          <p:nvPr/>
        </p:nvSpPr>
        <p:spPr>
          <a:xfrm>
            <a:off x="8482476" y="76200"/>
            <a:ext cx="585324" cy="307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nvGrpSpPr>
          <p:cNvPr id="7" name="Grupo 6"/>
          <p:cNvGrpSpPr/>
          <p:nvPr/>
        </p:nvGrpSpPr>
        <p:grpSpPr>
          <a:xfrm>
            <a:off x="6824664" y="19050"/>
            <a:ext cx="2184398" cy="2798763"/>
            <a:chOff x="6919914" y="76200"/>
            <a:chExt cx="2184398" cy="2798763"/>
          </a:xfrm>
        </p:grpSpPr>
        <p:grpSp>
          <p:nvGrpSpPr>
            <p:cNvPr id="6" name="Grupo 5"/>
            <p:cNvGrpSpPr/>
            <p:nvPr/>
          </p:nvGrpSpPr>
          <p:grpSpPr>
            <a:xfrm>
              <a:off x="6919914" y="228601"/>
              <a:ext cx="2184398" cy="2646362"/>
              <a:chOff x="6919914" y="228601"/>
              <a:chExt cx="2184398" cy="2646362"/>
            </a:xfrm>
          </p:grpSpPr>
          <p:pic>
            <p:nvPicPr>
              <p:cNvPr id="3" name="Imagen 2"/>
              <p:cNvPicPr>
                <a:picLocks noChangeAspect="1"/>
              </p:cNvPicPr>
              <p:nvPr/>
            </p:nvPicPr>
            <p:blipFill>
              <a:blip r:embed="rId14"/>
              <a:stretch>
                <a:fillRect/>
              </a:stretch>
            </p:blipFill>
            <p:spPr>
              <a:xfrm>
                <a:off x="6939756" y="366737"/>
                <a:ext cx="2144714" cy="2370091"/>
              </a:xfrm>
              <a:prstGeom prst="rect">
                <a:avLst/>
              </a:prstGeom>
            </p:spPr>
          </p:pic>
          <p:sp>
            <p:nvSpPr>
              <p:cNvPr id="5" name="Rectángulo: esquinas redondeadas 4"/>
              <p:cNvSpPr/>
              <p:nvPr/>
            </p:nvSpPr>
            <p:spPr>
              <a:xfrm>
                <a:off x="6919914" y="228601"/>
                <a:ext cx="2184398" cy="2646362"/>
              </a:xfrm>
              <a:prstGeom prst="roundRect">
                <a:avLst>
                  <a:gd name="adj" fmla="val 4754"/>
                </a:avLst>
              </a:prstGeom>
              <a:no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97" name="Text Box 55"/>
            <p:cNvSpPr txBox="1">
              <a:spLocks noChangeArrowheads="1"/>
            </p:cNvSpPr>
            <p:nvPr/>
          </p:nvSpPr>
          <p:spPr bwMode="auto">
            <a:xfrm>
              <a:off x="7164886" y="76200"/>
              <a:ext cx="1064714" cy="253916"/>
            </a:xfrm>
            <a:prstGeom prst="rect">
              <a:avLst/>
            </a:prstGeom>
            <a:solidFill>
              <a:schemeClr val="bg1"/>
            </a:solidFill>
            <a:ln>
              <a:noFill/>
            </a:ln>
            <a:effec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50" b="1" dirty="0">
                  <a:solidFill>
                    <a:srgbClr val="480000"/>
                  </a:solidFill>
                </a:rPr>
                <a:t>No confundir:</a:t>
              </a:r>
              <a:endParaRPr lang="es-ES" altLang="es-ES" sz="1050" b="1" dirty="0">
                <a:solidFill>
                  <a:srgbClr val="480000"/>
                </a:solidFill>
              </a:endParaRPr>
            </a:p>
          </p:txBody>
        </p:sp>
      </p:grpSp>
    </p:spTree>
    <p:extLst>
      <p:ext uri="{BB962C8B-B14F-4D97-AF65-F5344CB8AC3E}">
        <p14:creationId xmlns:p14="http://schemas.microsoft.com/office/powerpoint/2010/main" val="714298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3"/>
          <p:cNvSpPr txBox="1">
            <a:spLocks noChangeArrowheads="1"/>
          </p:cNvSpPr>
          <p:nvPr/>
        </p:nvSpPr>
        <p:spPr bwMode="auto">
          <a:xfrm>
            <a:off x="228600" y="981075"/>
            <a:ext cx="54006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4. Análisis de la significación: IC para la diferencia de medias </a:t>
            </a:r>
            <a:endParaRPr lang="es-ES" altLang="es-ES" sz="1400" b="1"/>
          </a:p>
        </p:txBody>
      </p:sp>
      <p:grpSp>
        <p:nvGrpSpPr>
          <p:cNvPr id="10243" name="Group 5"/>
          <p:cNvGrpSpPr>
            <a:grpSpLocks/>
          </p:cNvGrpSpPr>
          <p:nvPr/>
        </p:nvGrpSpPr>
        <p:grpSpPr bwMode="auto">
          <a:xfrm>
            <a:off x="5083175" y="1933575"/>
            <a:ext cx="3394075" cy="644525"/>
            <a:chOff x="864" y="960"/>
            <a:chExt cx="2138" cy="406"/>
          </a:xfrm>
        </p:grpSpPr>
        <p:graphicFrame>
          <p:nvGraphicFramePr>
            <p:cNvPr id="10302" name="Object 6"/>
            <p:cNvGraphicFramePr>
              <a:graphicFrameLocks noChangeAspect="1"/>
            </p:cNvGraphicFramePr>
            <p:nvPr/>
          </p:nvGraphicFramePr>
          <p:xfrm>
            <a:off x="864" y="960"/>
            <a:ext cx="777" cy="406"/>
          </p:xfrm>
          <a:graphic>
            <a:graphicData uri="http://schemas.openxmlformats.org/presentationml/2006/ole">
              <mc:AlternateContent xmlns:mc="http://schemas.openxmlformats.org/markup-compatibility/2006">
                <mc:Choice xmlns:v="urn:schemas-microsoft-com:vml" Requires="v">
                  <p:oleObj name="Equation" r:id="rId2" imgW="850531" imgH="444307" progId="Equation.DSMT4">
                    <p:embed/>
                  </p:oleObj>
                </mc:Choice>
                <mc:Fallback>
                  <p:oleObj name="Equation" r:id="rId2" imgW="850531" imgH="444307" progId="Equation.DSMT4">
                    <p:embed/>
                    <p:pic>
                      <p:nvPicPr>
                        <p:cNvPr id="10302"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 y="960"/>
                          <a:ext cx="777" cy="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03" name="Object 7"/>
            <p:cNvGraphicFramePr>
              <a:graphicFrameLocks noChangeAspect="1"/>
            </p:cNvGraphicFramePr>
            <p:nvPr/>
          </p:nvGraphicFramePr>
          <p:xfrm>
            <a:off x="2016" y="1050"/>
            <a:ext cx="986" cy="243"/>
          </p:xfrm>
          <a:graphic>
            <a:graphicData uri="http://schemas.openxmlformats.org/presentationml/2006/ole">
              <mc:AlternateContent xmlns:mc="http://schemas.openxmlformats.org/markup-compatibility/2006">
                <mc:Choice xmlns:v="urn:schemas-microsoft-com:vml" Requires="v">
                  <p:oleObj name="Equation" r:id="rId4" imgW="1079032" imgH="266584" progId="Equation.DSMT4">
                    <p:embed/>
                  </p:oleObj>
                </mc:Choice>
                <mc:Fallback>
                  <p:oleObj name="Equation" r:id="rId4" imgW="1079032" imgH="266584" progId="Equation.DSMT4">
                    <p:embed/>
                    <p:pic>
                      <p:nvPicPr>
                        <p:cNvPr id="10303"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6" y="1050"/>
                          <a:ext cx="986"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04" name="Line 8"/>
            <p:cNvSpPr>
              <a:spLocks noChangeShapeType="1"/>
            </p:cNvSpPr>
            <p:nvPr/>
          </p:nvSpPr>
          <p:spPr bwMode="auto">
            <a:xfrm>
              <a:off x="1686" y="1170"/>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10244" name="Text Box 9"/>
          <p:cNvSpPr txBox="1">
            <a:spLocks noChangeArrowheads="1"/>
          </p:cNvSpPr>
          <p:nvPr/>
        </p:nvSpPr>
        <p:spPr bwMode="auto">
          <a:xfrm>
            <a:off x="409575" y="1666875"/>
            <a:ext cx="27686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 Formato general del IC tras un t-test:</a:t>
            </a:r>
            <a:endParaRPr lang="es-ES" altLang="es-ES"/>
          </a:p>
        </p:txBody>
      </p:sp>
      <p:grpSp>
        <p:nvGrpSpPr>
          <p:cNvPr id="10245" name="Group 121"/>
          <p:cNvGrpSpPr>
            <a:grpSpLocks/>
          </p:cNvGrpSpPr>
          <p:nvPr/>
        </p:nvGrpSpPr>
        <p:grpSpPr bwMode="auto">
          <a:xfrm>
            <a:off x="550863" y="2027238"/>
            <a:ext cx="3487737" cy="457200"/>
            <a:chOff x="3323" y="1261"/>
            <a:chExt cx="2197" cy="288"/>
          </a:xfrm>
        </p:grpSpPr>
        <p:sp>
          <p:nvSpPr>
            <p:cNvPr id="10294" name="Text Box 14"/>
            <p:cNvSpPr txBox="1">
              <a:spLocks noChangeArrowheads="1"/>
            </p:cNvSpPr>
            <p:nvPr/>
          </p:nvSpPr>
          <p:spPr bwMode="auto">
            <a:xfrm>
              <a:off x="3638" y="1261"/>
              <a:ext cx="68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a:t>Numerador </a:t>
              </a:r>
            </a:p>
            <a:p>
              <a:pPr algn="ctr" eaLnBrk="1" hangingPunct="1"/>
              <a:r>
                <a:rPr lang="es-ES_tradnl" altLang="es-ES"/>
                <a:t>del test</a:t>
              </a:r>
              <a:endParaRPr lang="es-ES" altLang="es-ES"/>
            </a:p>
          </p:txBody>
        </p:sp>
        <p:graphicFrame>
          <p:nvGraphicFramePr>
            <p:cNvPr id="10295" name="Object 15"/>
            <p:cNvGraphicFramePr>
              <a:graphicFrameLocks noChangeAspect="1"/>
            </p:cNvGraphicFramePr>
            <p:nvPr/>
          </p:nvGraphicFramePr>
          <p:xfrm>
            <a:off x="4452" y="1279"/>
            <a:ext cx="264" cy="251"/>
          </p:xfrm>
          <a:graphic>
            <a:graphicData uri="http://schemas.openxmlformats.org/presentationml/2006/ole">
              <mc:AlternateContent xmlns:mc="http://schemas.openxmlformats.org/markup-compatibility/2006">
                <mc:Choice xmlns:v="urn:schemas-microsoft-com:vml" Requires="v">
                  <p:oleObj name="Equation" r:id="rId6" imgW="253890" imgH="241195" progId="Equation.DSMT4">
                    <p:embed/>
                  </p:oleObj>
                </mc:Choice>
                <mc:Fallback>
                  <p:oleObj name="Equation" r:id="rId6" imgW="253890" imgH="241195" progId="Equation.DSMT4">
                    <p:embed/>
                    <p:pic>
                      <p:nvPicPr>
                        <p:cNvPr id="10295"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52" y="1279"/>
                          <a:ext cx="264"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96" name="Object 16"/>
            <p:cNvGraphicFramePr>
              <a:graphicFrameLocks noChangeAspect="1"/>
            </p:cNvGraphicFramePr>
            <p:nvPr/>
          </p:nvGraphicFramePr>
          <p:xfrm>
            <a:off x="4338" y="1345"/>
            <a:ext cx="110" cy="120"/>
          </p:xfrm>
          <a:graphic>
            <a:graphicData uri="http://schemas.openxmlformats.org/presentationml/2006/ole">
              <mc:AlternateContent xmlns:mc="http://schemas.openxmlformats.org/markup-compatibility/2006">
                <mc:Choice xmlns:v="urn:schemas-microsoft-com:vml" Requires="v">
                  <p:oleObj name="Equation" r:id="rId8" imgW="139639" imgH="152334" progId="Equation.DSMT4">
                    <p:embed/>
                  </p:oleObj>
                </mc:Choice>
                <mc:Fallback>
                  <p:oleObj name="Equation" r:id="rId8" imgW="139639" imgH="152334" progId="Equation.DSMT4">
                    <p:embed/>
                    <p:pic>
                      <p:nvPicPr>
                        <p:cNvPr id="10296"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38" y="1345"/>
                          <a:ext cx="110" cy="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97" name="AutoShape 17"/>
            <p:cNvSpPr>
              <a:spLocks noChangeArrowheads="1"/>
            </p:cNvSpPr>
            <p:nvPr/>
          </p:nvSpPr>
          <p:spPr bwMode="auto">
            <a:xfrm>
              <a:off x="3682" y="1285"/>
              <a:ext cx="594" cy="240"/>
            </a:xfrm>
            <a:prstGeom prst="bracketPair">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10298" name="Group 120"/>
            <p:cNvGrpSpPr>
              <a:grpSpLocks/>
            </p:cNvGrpSpPr>
            <p:nvPr/>
          </p:nvGrpSpPr>
          <p:grpSpPr bwMode="auto">
            <a:xfrm>
              <a:off x="4752" y="1261"/>
              <a:ext cx="768" cy="288"/>
              <a:chOff x="4716" y="1261"/>
              <a:chExt cx="768" cy="288"/>
            </a:xfrm>
          </p:grpSpPr>
          <p:sp>
            <p:nvSpPr>
              <p:cNvPr id="10300" name="Text Box 19"/>
              <p:cNvSpPr txBox="1">
                <a:spLocks noChangeArrowheads="1"/>
              </p:cNvSpPr>
              <p:nvPr/>
            </p:nvSpPr>
            <p:spPr bwMode="auto">
              <a:xfrm>
                <a:off x="4716" y="1261"/>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a:t>Denominador </a:t>
                </a:r>
              </a:p>
              <a:p>
                <a:pPr algn="ctr" eaLnBrk="1" hangingPunct="1"/>
                <a:r>
                  <a:rPr lang="es-ES_tradnl" altLang="es-ES"/>
                  <a:t>del test</a:t>
                </a:r>
                <a:endParaRPr lang="es-ES" altLang="es-ES"/>
              </a:p>
            </p:txBody>
          </p:sp>
          <p:sp>
            <p:nvSpPr>
              <p:cNvPr id="10301" name="AutoShape 20"/>
              <p:cNvSpPr>
                <a:spLocks noChangeArrowheads="1"/>
              </p:cNvSpPr>
              <p:nvPr/>
            </p:nvSpPr>
            <p:spPr bwMode="auto">
              <a:xfrm>
                <a:off x="4740" y="1285"/>
                <a:ext cx="720" cy="240"/>
              </a:xfrm>
              <a:prstGeom prst="bracketPair">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10299" name="Text Box 21"/>
            <p:cNvSpPr txBox="1">
              <a:spLocks noChangeArrowheads="1"/>
            </p:cNvSpPr>
            <p:nvPr/>
          </p:nvSpPr>
          <p:spPr bwMode="auto">
            <a:xfrm>
              <a:off x="3323" y="1318"/>
              <a:ext cx="32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dirty="0" err="1"/>
                <a:t>IC</a:t>
              </a:r>
              <a:r>
                <a:rPr lang="es-ES_tradnl" altLang="es-ES" baseline="-25000" dirty="0" err="1">
                  <a:latin typeface="Symbol" pitchFamily="18" charset="2"/>
                </a:rPr>
                <a:t>a</a:t>
              </a:r>
              <a:r>
                <a:rPr lang="es-ES_tradnl" altLang="es-ES" baseline="-25000" dirty="0">
                  <a:latin typeface="Symbol" pitchFamily="18" charset="2"/>
                </a:rPr>
                <a:t> </a:t>
              </a:r>
              <a:r>
                <a:rPr lang="es-ES_tradnl" altLang="es-ES" dirty="0">
                  <a:latin typeface="Symbol" pitchFamily="18" charset="2"/>
                </a:rPr>
                <a:t>=</a:t>
              </a:r>
              <a:endParaRPr lang="es-ES" altLang="es-ES" dirty="0">
                <a:latin typeface="Symbol" pitchFamily="18" charset="2"/>
              </a:endParaRPr>
            </a:p>
          </p:txBody>
        </p:sp>
      </p:grpSp>
      <p:grpSp>
        <p:nvGrpSpPr>
          <p:cNvPr id="10246" name="Group 181"/>
          <p:cNvGrpSpPr>
            <a:grpSpLocks/>
          </p:cNvGrpSpPr>
          <p:nvPr/>
        </p:nvGrpSpPr>
        <p:grpSpPr bwMode="auto">
          <a:xfrm>
            <a:off x="514350" y="2590800"/>
            <a:ext cx="8177213" cy="290513"/>
            <a:chOff x="324" y="1797"/>
            <a:chExt cx="5151" cy="183"/>
          </a:xfrm>
        </p:grpSpPr>
        <p:sp>
          <p:nvSpPr>
            <p:cNvPr id="10292" name="Text Box 23"/>
            <p:cNvSpPr txBox="1">
              <a:spLocks noChangeArrowheads="1"/>
            </p:cNvSpPr>
            <p:nvPr/>
          </p:nvSpPr>
          <p:spPr bwMode="auto">
            <a:xfrm>
              <a:off x="324" y="1797"/>
              <a:ext cx="5151"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dirty="0"/>
                <a:t>con        y  </a:t>
              </a:r>
              <a:r>
                <a:rPr lang="es-ES_tradnl" altLang="es-ES" i="1" dirty="0">
                  <a:latin typeface="Times New Roman" pitchFamily="18" charset="0"/>
                </a:rPr>
                <a:t>f</a:t>
              </a:r>
              <a:r>
                <a:rPr lang="es-ES_tradnl" altLang="es-ES" dirty="0"/>
                <a:t>  los correspondientes al test de Student o de </a:t>
              </a:r>
              <a:r>
                <a:rPr lang="es-ES_tradnl" altLang="es-ES" dirty="0" err="1"/>
                <a:t>Welch</a:t>
              </a:r>
              <a:r>
                <a:rPr lang="es-ES_tradnl" altLang="es-ES" dirty="0"/>
                <a:t> que se haya utilizado y (1-</a:t>
              </a:r>
              <a:r>
                <a:rPr lang="es-ES_tradnl" altLang="es-ES" sz="1300" dirty="0">
                  <a:latin typeface="Symbol" pitchFamily="18" charset="2"/>
                </a:rPr>
                <a:t>a</a:t>
              </a:r>
              <a:r>
                <a:rPr lang="es-ES_tradnl" altLang="es-ES" dirty="0"/>
                <a:t>) la confianza del intervalo</a:t>
              </a:r>
              <a:endParaRPr lang="es-ES" altLang="es-ES" dirty="0"/>
            </a:p>
          </p:txBody>
        </p:sp>
        <p:graphicFrame>
          <p:nvGraphicFramePr>
            <p:cNvPr id="10293" name="Object 24"/>
            <p:cNvGraphicFramePr>
              <a:graphicFrameLocks noChangeAspect="1"/>
            </p:cNvGraphicFramePr>
            <p:nvPr/>
          </p:nvGraphicFramePr>
          <p:xfrm>
            <a:off x="576" y="1836"/>
            <a:ext cx="136" cy="136"/>
          </p:xfrm>
          <a:graphic>
            <a:graphicData uri="http://schemas.openxmlformats.org/presentationml/2006/ole">
              <mc:AlternateContent xmlns:mc="http://schemas.openxmlformats.org/markup-compatibility/2006">
                <mc:Choice xmlns:v="urn:schemas-microsoft-com:vml" Requires="v">
                  <p:oleObj name="Equation" r:id="rId10" imgW="215619" imgH="215619" progId="Equation.DSMT4">
                    <p:embed/>
                  </p:oleObj>
                </mc:Choice>
                <mc:Fallback>
                  <p:oleObj name="Equation" r:id="rId10" imgW="215619" imgH="215619" progId="Equation.DSMT4">
                    <p:embed/>
                    <p:pic>
                      <p:nvPicPr>
                        <p:cNvPr id="10293" name="Object 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6" y="1836"/>
                          <a:ext cx="13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0247" name="Group 25"/>
          <p:cNvGrpSpPr>
            <a:grpSpLocks/>
          </p:cNvGrpSpPr>
          <p:nvPr/>
        </p:nvGrpSpPr>
        <p:grpSpPr bwMode="auto">
          <a:xfrm>
            <a:off x="407988" y="1352554"/>
            <a:ext cx="6254750" cy="280989"/>
            <a:chOff x="263" y="762"/>
            <a:chExt cx="3940" cy="177"/>
          </a:xfrm>
        </p:grpSpPr>
        <p:graphicFrame>
          <p:nvGraphicFramePr>
            <p:cNvPr id="10290" name="Object 26"/>
            <p:cNvGraphicFramePr>
              <a:graphicFrameLocks noChangeAspect="1"/>
            </p:cNvGraphicFramePr>
            <p:nvPr>
              <p:extLst>
                <p:ext uri="{D42A27DB-BD31-4B8C-83A1-F6EECF244321}">
                  <p14:modId xmlns:p14="http://schemas.microsoft.com/office/powerpoint/2010/main" val="636900002"/>
                </p:ext>
              </p:extLst>
            </p:nvPr>
          </p:nvGraphicFramePr>
          <p:xfrm>
            <a:off x="3867" y="781"/>
            <a:ext cx="336" cy="158"/>
          </p:xfrm>
          <a:graphic>
            <a:graphicData uri="http://schemas.openxmlformats.org/presentationml/2006/ole">
              <mc:AlternateContent xmlns:mc="http://schemas.openxmlformats.org/markup-compatibility/2006">
                <mc:Choice xmlns:v="urn:schemas-microsoft-com:vml" Requires="v">
                  <p:oleObj name="Equation" r:id="rId12" imgW="774360" imgH="368280" progId="Equation.DSMT4">
                    <p:embed/>
                  </p:oleObj>
                </mc:Choice>
                <mc:Fallback>
                  <p:oleObj name="Equation" r:id="rId12" imgW="774360" imgH="368280" progId="Equation.DSMT4">
                    <p:embed/>
                    <p:pic>
                      <p:nvPicPr>
                        <p:cNvPr id="10290" name="Object 26"/>
                        <p:cNvPicPr>
                          <a:picLocks noChangeAspect="1" noChangeArrowheads="1"/>
                        </p:cNvPicPr>
                        <p:nvPr/>
                      </p:nvPicPr>
                      <p:blipFill>
                        <a:blip r:embed="rId13"/>
                        <a:srcRect/>
                        <a:stretch>
                          <a:fillRect/>
                        </a:stretch>
                      </p:blipFill>
                      <p:spPr bwMode="auto">
                        <a:xfrm>
                          <a:off x="3867" y="781"/>
                          <a:ext cx="336"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91" name="Text Box 27"/>
            <p:cNvSpPr txBox="1">
              <a:spLocks noChangeArrowheads="1"/>
            </p:cNvSpPr>
            <p:nvPr/>
          </p:nvSpPr>
          <p:spPr bwMode="auto">
            <a:xfrm>
              <a:off x="263" y="762"/>
              <a:ext cx="3694"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dirty="0"/>
                <a:t> Tras realizar el test debe darse el </a:t>
              </a:r>
              <a:r>
                <a:rPr lang="es-ES_tradnl" altLang="es-ES" b="1" dirty="0"/>
                <a:t>intervalo de confianza (IC) para la diferencia </a:t>
              </a:r>
              <a:endParaRPr lang="es-ES" altLang="es-ES" b="1" dirty="0"/>
            </a:p>
          </p:txBody>
        </p:sp>
      </p:grpSp>
      <p:grpSp>
        <p:nvGrpSpPr>
          <p:cNvPr id="10248" name="Group 35"/>
          <p:cNvGrpSpPr>
            <a:grpSpLocks/>
          </p:cNvGrpSpPr>
          <p:nvPr/>
        </p:nvGrpSpPr>
        <p:grpSpPr bwMode="auto">
          <a:xfrm>
            <a:off x="419100" y="4876800"/>
            <a:ext cx="4229100" cy="285750"/>
            <a:chOff x="264" y="2832"/>
            <a:chExt cx="2664" cy="180"/>
          </a:xfrm>
        </p:grpSpPr>
        <p:sp>
          <p:nvSpPr>
            <p:cNvPr id="10288" name="Text Box 36"/>
            <p:cNvSpPr txBox="1">
              <a:spLocks noChangeArrowheads="1"/>
            </p:cNvSpPr>
            <p:nvPr/>
          </p:nvSpPr>
          <p:spPr bwMode="auto">
            <a:xfrm>
              <a:off x="264" y="2832"/>
              <a:ext cx="217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latin typeface="+mj-lt"/>
                </a:rPr>
                <a:t>b) Si no se ha rechazado H</a:t>
              </a:r>
              <a:r>
                <a:rPr lang="es-ES_tradnl" altLang="es-ES" b="1" baseline="-25000">
                  <a:latin typeface="+mj-lt"/>
                </a:rPr>
                <a:t>0</a:t>
              </a:r>
              <a:r>
                <a:rPr lang="es-ES_tradnl" altLang="es-ES" b="1">
                  <a:latin typeface="+mj-lt"/>
                </a:rPr>
                <a:t> y se ha decidido </a:t>
              </a:r>
              <a:endParaRPr lang="es-ES" altLang="es-ES" b="1">
                <a:latin typeface="+mj-lt"/>
              </a:endParaRPr>
            </a:p>
          </p:txBody>
        </p:sp>
        <p:graphicFrame>
          <p:nvGraphicFramePr>
            <p:cNvPr id="10289" name="Object 37"/>
            <p:cNvGraphicFramePr>
              <a:graphicFrameLocks noChangeAspect="1"/>
            </p:cNvGraphicFramePr>
            <p:nvPr/>
          </p:nvGraphicFramePr>
          <p:xfrm>
            <a:off x="2400" y="2832"/>
            <a:ext cx="528" cy="180"/>
          </p:xfrm>
          <a:graphic>
            <a:graphicData uri="http://schemas.openxmlformats.org/presentationml/2006/ole">
              <mc:AlternateContent xmlns:mc="http://schemas.openxmlformats.org/markup-compatibility/2006">
                <mc:Choice xmlns:v="urn:schemas-microsoft-com:vml" Requires="v">
                  <p:oleObj name="Equation" r:id="rId14" imgW="1028254" imgH="342751" progId="Equation.DSMT4">
                    <p:embed/>
                  </p:oleObj>
                </mc:Choice>
                <mc:Fallback>
                  <p:oleObj name="Equation" r:id="rId14" imgW="1028254" imgH="342751" progId="Equation.DSMT4">
                    <p:embed/>
                    <p:pic>
                      <p:nvPicPr>
                        <p:cNvPr id="10289" name="Object 3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00" y="2832"/>
                          <a:ext cx="528"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0249" name="Group 101"/>
          <p:cNvGrpSpPr>
            <a:grpSpLocks/>
          </p:cNvGrpSpPr>
          <p:nvPr/>
        </p:nvGrpSpPr>
        <p:grpSpPr bwMode="auto">
          <a:xfrm>
            <a:off x="409575" y="3124200"/>
            <a:ext cx="4425950" cy="300038"/>
            <a:chOff x="258" y="1965"/>
            <a:chExt cx="2788" cy="189"/>
          </a:xfrm>
        </p:grpSpPr>
        <p:sp>
          <p:nvSpPr>
            <p:cNvPr id="10286" name="Text Box 28"/>
            <p:cNvSpPr txBox="1">
              <a:spLocks noChangeArrowheads="1"/>
            </p:cNvSpPr>
            <p:nvPr/>
          </p:nvSpPr>
          <p:spPr bwMode="auto">
            <a:xfrm>
              <a:off x="258" y="1965"/>
              <a:ext cx="27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Interés y particularidades del IC para                   tras el test</a:t>
              </a:r>
              <a:endParaRPr lang="es-ES" altLang="es-ES" b="1"/>
            </a:p>
          </p:txBody>
        </p:sp>
        <p:graphicFrame>
          <p:nvGraphicFramePr>
            <p:cNvPr id="10287" name="Object 100"/>
            <p:cNvGraphicFramePr>
              <a:graphicFrameLocks noChangeAspect="1"/>
            </p:cNvGraphicFramePr>
            <p:nvPr/>
          </p:nvGraphicFramePr>
          <p:xfrm>
            <a:off x="2040" y="1974"/>
            <a:ext cx="406" cy="180"/>
          </p:xfrm>
          <a:graphic>
            <a:graphicData uri="http://schemas.openxmlformats.org/presentationml/2006/ole">
              <mc:AlternateContent xmlns:mc="http://schemas.openxmlformats.org/markup-compatibility/2006">
                <mc:Choice xmlns:v="urn:schemas-microsoft-com:vml" Requires="v">
                  <p:oleObj name="Equation" r:id="rId16" imgW="774364" imgH="342751" progId="Equation.DSMT4">
                    <p:embed/>
                  </p:oleObj>
                </mc:Choice>
                <mc:Fallback>
                  <p:oleObj name="Equation" r:id="rId16" imgW="774364" imgH="342751" progId="Equation.DSMT4">
                    <p:embed/>
                    <p:pic>
                      <p:nvPicPr>
                        <p:cNvPr id="10287" name="Object 10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040" y="1974"/>
                          <a:ext cx="406"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0250" name="Text Box 39"/>
          <p:cNvSpPr txBox="1">
            <a:spLocks noChangeArrowheads="1"/>
          </p:cNvSpPr>
          <p:nvPr/>
        </p:nvSpPr>
        <p:spPr bwMode="auto">
          <a:xfrm>
            <a:off x="590550" y="5245100"/>
            <a:ext cx="37941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buFontTx/>
              <a:buChar char="•"/>
            </a:pPr>
            <a:r>
              <a:rPr lang="es-ES_tradnl" altLang="es-ES"/>
              <a:t> El error asociado a tal afirmación no es conocido (</a:t>
            </a:r>
            <a:r>
              <a:rPr lang="es-ES_tradnl" altLang="es-ES" b="1">
                <a:latin typeface="Symbol" pitchFamily="18" charset="2"/>
              </a:rPr>
              <a:t>b</a:t>
            </a:r>
            <a:r>
              <a:rPr lang="es-ES_tradnl" altLang="es-ES"/>
              <a:t>)</a:t>
            </a:r>
            <a:endParaRPr lang="es-ES" altLang="es-ES" sz="1300" i="1">
              <a:latin typeface="Times New Roman" pitchFamily="18" charset="0"/>
            </a:endParaRPr>
          </a:p>
        </p:txBody>
      </p:sp>
      <p:sp>
        <p:nvSpPr>
          <p:cNvPr id="10251" name="Text Box 40"/>
          <p:cNvSpPr txBox="1">
            <a:spLocks noChangeArrowheads="1"/>
          </p:cNvSpPr>
          <p:nvPr/>
        </p:nvSpPr>
        <p:spPr bwMode="auto">
          <a:xfrm>
            <a:off x="590550" y="5637213"/>
            <a:ext cx="39465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dirty="0"/>
              <a:t> Interesa  </a:t>
            </a:r>
            <a:r>
              <a:rPr lang="es-ES_tradnl" altLang="es-ES" b="1" dirty="0"/>
              <a:t>estudiar la fiabilidad de la decisión por </a:t>
            </a:r>
            <a:r>
              <a:rPr lang="es-ES_tradnl" altLang="es-ES" b="1" dirty="0">
                <a:latin typeface="Times New Roman" pitchFamily="18" charset="0"/>
              </a:rPr>
              <a:t>H</a:t>
            </a:r>
            <a:r>
              <a:rPr lang="es-ES_tradnl" altLang="es-ES" b="1" baseline="-25000" dirty="0">
                <a:latin typeface="Times New Roman" pitchFamily="18" charset="0"/>
              </a:rPr>
              <a:t>0</a:t>
            </a:r>
            <a:endParaRPr lang="es-ES" altLang="es-ES" sz="1300" b="1" i="1" baseline="-25000" dirty="0">
              <a:latin typeface="Times New Roman" pitchFamily="18" charset="0"/>
            </a:endParaRPr>
          </a:p>
        </p:txBody>
      </p:sp>
      <p:sp>
        <p:nvSpPr>
          <p:cNvPr id="10252" name="AutoShape 116"/>
          <p:cNvSpPr>
            <a:spLocks noChangeArrowheads="1"/>
          </p:cNvSpPr>
          <p:nvPr/>
        </p:nvSpPr>
        <p:spPr bwMode="auto">
          <a:xfrm>
            <a:off x="1371600" y="5607050"/>
            <a:ext cx="3200400" cy="304800"/>
          </a:xfrm>
          <a:prstGeom prst="roundRect">
            <a:avLst>
              <a:gd name="adj" fmla="val 16667"/>
            </a:avLst>
          </a:prstGeom>
          <a:noFill/>
          <a:ln w="6350">
            <a:solidFill>
              <a:srgbClr val="99CC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0253" name="Text Box 124"/>
          <p:cNvSpPr txBox="1">
            <a:spLocks noChangeArrowheads="1"/>
          </p:cNvSpPr>
          <p:nvPr/>
        </p:nvSpPr>
        <p:spPr bwMode="auto">
          <a:xfrm>
            <a:off x="4162425" y="2119313"/>
            <a:ext cx="9286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Es decir, si</a:t>
            </a:r>
            <a:endParaRPr lang="es-ES" altLang="es-ES"/>
          </a:p>
        </p:txBody>
      </p:sp>
      <p:sp>
        <p:nvSpPr>
          <p:cNvPr id="10254" name="AutoShape 127"/>
          <p:cNvSpPr>
            <a:spLocks noChangeArrowheads="1"/>
          </p:cNvSpPr>
          <p:nvPr/>
        </p:nvSpPr>
        <p:spPr bwMode="auto">
          <a:xfrm>
            <a:off x="6858000" y="1990725"/>
            <a:ext cx="1676400" cy="542925"/>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10255" name="Group 97"/>
          <p:cNvGrpSpPr>
            <a:grpSpLocks/>
          </p:cNvGrpSpPr>
          <p:nvPr/>
        </p:nvGrpSpPr>
        <p:grpSpPr bwMode="auto">
          <a:xfrm>
            <a:off x="419100" y="3602038"/>
            <a:ext cx="3981450" cy="285750"/>
            <a:chOff x="264" y="2064"/>
            <a:chExt cx="2508" cy="180"/>
          </a:xfrm>
        </p:grpSpPr>
        <p:sp>
          <p:nvSpPr>
            <p:cNvPr id="10284" name="Text Box 29"/>
            <p:cNvSpPr txBox="1">
              <a:spLocks noChangeArrowheads="1"/>
            </p:cNvSpPr>
            <p:nvPr/>
          </p:nvSpPr>
          <p:spPr bwMode="auto">
            <a:xfrm>
              <a:off x="264" y="2065"/>
              <a:ext cx="202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dirty="0">
                  <a:latin typeface="+mj-lt"/>
                </a:rPr>
                <a:t>a) Si se ha rechazado H</a:t>
              </a:r>
              <a:r>
                <a:rPr lang="es-ES_tradnl" altLang="es-ES" b="1" baseline="-25000" dirty="0">
                  <a:latin typeface="+mj-lt"/>
                </a:rPr>
                <a:t>0</a:t>
              </a:r>
              <a:r>
                <a:rPr lang="es-ES_tradnl" altLang="es-ES" b="1" dirty="0">
                  <a:latin typeface="+mj-lt"/>
                </a:rPr>
                <a:t> y se ha decidido </a:t>
              </a:r>
              <a:endParaRPr lang="es-ES" altLang="es-ES" b="1" dirty="0">
                <a:latin typeface="+mj-lt"/>
              </a:endParaRPr>
            </a:p>
          </p:txBody>
        </p:sp>
        <p:graphicFrame>
          <p:nvGraphicFramePr>
            <p:cNvPr id="10285" name="Object 30"/>
            <p:cNvGraphicFramePr>
              <a:graphicFrameLocks noChangeAspect="1"/>
            </p:cNvGraphicFramePr>
            <p:nvPr/>
          </p:nvGraphicFramePr>
          <p:xfrm>
            <a:off x="2226" y="2064"/>
            <a:ext cx="546" cy="180"/>
          </p:xfrm>
          <a:graphic>
            <a:graphicData uri="http://schemas.openxmlformats.org/presentationml/2006/ole">
              <mc:AlternateContent xmlns:mc="http://schemas.openxmlformats.org/markup-compatibility/2006">
                <mc:Choice xmlns:v="urn:schemas-microsoft-com:vml" Requires="v">
                  <p:oleObj name="Equation" r:id="rId18" imgW="1040948" imgH="342751" progId="Equation.DSMT4">
                    <p:embed/>
                  </p:oleObj>
                </mc:Choice>
                <mc:Fallback>
                  <p:oleObj name="Equation" r:id="rId18" imgW="1040948" imgH="342751" progId="Equation.DSMT4">
                    <p:embed/>
                    <p:pic>
                      <p:nvPicPr>
                        <p:cNvPr id="10285" name="Object 3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26" y="2064"/>
                          <a:ext cx="546"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0256" name="Text Box 33"/>
          <p:cNvSpPr txBox="1">
            <a:spLocks noChangeArrowheads="1"/>
          </p:cNvSpPr>
          <p:nvPr/>
        </p:nvSpPr>
        <p:spPr bwMode="auto">
          <a:xfrm>
            <a:off x="590550" y="3897313"/>
            <a:ext cx="3522663" cy="290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buFontTx/>
              <a:buChar char="•"/>
            </a:pPr>
            <a:r>
              <a:rPr lang="es-ES_tradnl" altLang="es-ES"/>
              <a:t> El error asociado a tal afirmación es conocido: </a:t>
            </a:r>
            <a:r>
              <a:rPr lang="es-ES_tradnl" altLang="es-ES" sz="1300" i="1">
                <a:latin typeface="Times New Roman" pitchFamily="18" charset="0"/>
              </a:rPr>
              <a:t>p</a:t>
            </a:r>
            <a:endParaRPr lang="es-ES" altLang="es-ES" sz="1300" i="1">
              <a:latin typeface="Times New Roman" pitchFamily="18" charset="0"/>
            </a:endParaRPr>
          </a:p>
        </p:txBody>
      </p:sp>
      <p:sp>
        <p:nvSpPr>
          <p:cNvPr id="10257" name="Text Box 34"/>
          <p:cNvSpPr txBox="1">
            <a:spLocks noChangeArrowheads="1"/>
          </p:cNvSpPr>
          <p:nvPr/>
        </p:nvSpPr>
        <p:spPr bwMode="auto">
          <a:xfrm>
            <a:off x="590549" y="4259263"/>
            <a:ext cx="507920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dirty="0"/>
              <a:t> Interesa estimar la magnitud de la diferencia, el   </a:t>
            </a:r>
            <a:r>
              <a:rPr lang="es-ES_tradnl" altLang="es-ES" b="1" dirty="0"/>
              <a:t>tamaño del efecto </a:t>
            </a:r>
            <a:r>
              <a:rPr lang="es-ES_tradnl" altLang="es-ES" b="1" dirty="0">
                <a:latin typeface="Symbol" panose="05050102010706020507" pitchFamily="18" charset="2"/>
              </a:rPr>
              <a:t>d</a:t>
            </a:r>
            <a:endParaRPr lang="es-ES" altLang="es-ES" sz="1300" b="1" dirty="0">
              <a:latin typeface="Symbol" panose="05050102010706020507" pitchFamily="18" charset="2"/>
            </a:endParaRPr>
          </a:p>
        </p:txBody>
      </p:sp>
      <p:sp>
        <p:nvSpPr>
          <p:cNvPr id="10258" name="AutoShape 106"/>
          <p:cNvSpPr>
            <a:spLocks noChangeArrowheads="1"/>
          </p:cNvSpPr>
          <p:nvPr/>
        </p:nvSpPr>
        <p:spPr bwMode="auto">
          <a:xfrm>
            <a:off x="4038600" y="4248150"/>
            <a:ext cx="1582322" cy="304800"/>
          </a:xfrm>
          <a:prstGeom prst="roundRect">
            <a:avLst>
              <a:gd name="adj" fmla="val 16667"/>
            </a:avLst>
          </a:prstGeom>
          <a:noFill/>
          <a:ln w="6350">
            <a:solidFill>
              <a:srgbClr val="99CC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0260" name="Line 178"/>
          <p:cNvSpPr>
            <a:spLocks noChangeShapeType="1"/>
          </p:cNvSpPr>
          <p:nvPr/>
        </p:nvSpPr>
        <p:spPr bwMode="auto">
          <a:xfrm>
            <a:off x="5666508" y="4391025"/>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0261" name="Group 187"/>
          <p:cNvGrpSpPr>
            <a:grpSpLocks/>
          </p:cNvGrpSpPr>
          <p:nvPr/>
        </p:nvGrpSpPr>
        <p:grpSpPr bwMode="auto">
          <a:xfrm>
            <a:off x="5105400" y="4495800"/>
            <a:ext cx="3276600" cy="1929106"/>
            <a:chOff x="3024" y="3099"/>
            <a:chExt cx="2016" cy="1179"/>
          </a:xfrm>
        </p:grpSpPr>
        <p:graphicFrame>
          <p:nvGraphicFramePr>
            <p:cNvPr id="10263" name="Object 155"/>
            <p:cNvGraphicFramePr>
              <a:graphicFrameLocks noChangeAspect="1"/>
            </p:cNvGraphicFramePr>
            <p:nvPr>
              <p:extLst>
                <p:ext uri="{D42A27DB-BD31-4B8C-83A1-F6EECF244321}">
                  <p14:modId xmlns:p14="http://schemas.microsoft.com/office/powerpoint/2010/main" val="755808638"/>
                </p:ext>
              </p:extLst>
            </p:nvPr>
          </p:nvGraphicFramePr>
          <p:xfrm>
            <a:off x="4118" y="4094"/>
            <a:ext cx="213" cy="184"/>
          </p:xfrm>
          <a:graphic>
            <a:graphicData uri="http://schemas.openxmlformats.org/presentationml/2006/ole">
              <mc:AlternateContent xmlns:mc="http://schemas.openxmlformats.org/markup-compatibility/2006">
                <mc:Choice xmlns:v="urn:schemas-microsoft-com:vml" Requires="v">
                  <p:oleObj name="Equation" r:id="rId20" imgW="253800" imgH="241200" progId="Equation.DSMT4">
                    <p:embed/>
                  </p:oleObj>
                </mc:Choice>
                <mc:Fallback>
                  <p:oleObj name="Equation" r:id="rId20" imgW="253800" imgH="241200" progId="Equation.DSMT4">
                    <p:embed/>
                    <p:pic>
                      <p:nvPicPr>
                        <p:cNvPr id="10263" name="Object 155"/>
                        <p:cNvPicPr>
                          <a:picLocks noChangeAspect="1" noChangeArrowheads="1"/>
                        </p:cNvPicPr>
                        <p:nvPr/>
                      </p:nvPicPr>
                      <p:blipFill>
                        <a:blip r:embed="rId21"/>
                        <a:srcRect/>
                        <a:stretch>
                          <a:fillRect/>
                        </a:stretch>
                      </p:blipFill>
                      <p:spPr bwMode="auto">
                        <a:xfrm>
                          <a:off x="4118" y="4094"/>
                          <a:ext cx="213" cy="184"/>
                        </a:xfrm>
                        <a:prstGeom prst="rect">
                          <a:avLst/>
                        </a:prstGeom>
                        <a:noFill/>
                        <a:ln>
                          <a:noFill/>
                        </a:ln>
                        <a:effectLst/>
                      </p:spPr>
                    </p:pic>
                  </p:oleObj>
                </mc:Fallback>
              </mc:AlternateContent>
            </a:graphicData>
          </a:graphic>
        </p:graphicFrame>
        <p:grpSp>
          <p:nvGrpSpPr>
            <p:cNvPr id="10264" name="Group 186"/>
            <p:cNvGrpSpPr>
              <a:grpSpLocks/>
            </p:cNvGrpSpPr>
            <p:nvPr/>
          </p:nvGrpSpPr>
          <p:grpSpPr bwMode="auto">
            <a:xfrm>
              <a:off x="3024" y="3099"/>
              <a:ext cx="2016" cy="1107"/>
              <a:chOff x="3024" y="3104"/>
              <a:chExt cx="2016" cy="1107"/>
            </a:xfrm>
          </p:grpSpPr>
          <p:pic>
            <p:nvPicPr>
              <p:cNvPr id="10265" name="Picture 18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144" y="3288"/>
                <a:ext cx="1740" cy="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66" name="Line 149"/>
              <p:cNvSpPr>
                <a:spLocks noChangeShapeType="1"/>
              </p:cNvSpPr>
              <p:nvPr/>
            </p:nvSpPr>
            <p:spPr bwMode="auto">
              <a:xfrm>
                <a:off x="3024" y="4062"/>
                <a:ext cx="2016"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0267" name="Line 159"/>
              <p:cNvSpPr>
                <a:spLocks noChangeShapeType="1"/>
              </p:cNvSpPr>
              <p:nvPr/>
            </p:nvSpPr>
            <p:spPr bwMode="auto">
              <a:xfrm>
                <a:off x="4190" y="4060"/>
                <a:ext cx="0" cy="68"/>
              </a:xfrm>
              <a:prstGeom prst="line">
                <a:avLst/>
              </a:prstGeom>
              <a:noFill/>
              <a:ln w="9525">
                <a:solidFill>
                  <a:schemeClr val="accent1">
                    <a:lumMod val="2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dirty="0"/>
              </a:p>
            </p:txBody>
          </p:sp>
          <p:sp>
            <p:nvSpPr>
              <p:cNvPr id="10268" name="Line 165"/>
              <p:cNvSpPr>
                <a:spLocks noChangeShapeType="1"/>
              </p:cNvSpPr>
              <p:nvPr/>
            </p:nvSpPr>
            <p:spPr bwMode="auto">
              <a:xfrm>
                <a:off x="3934" y="3236"/>
                <a:ext cx="0" cy="867"/>
              </a:xfrm>
              <a:prstGeom prst="line">
                <a:avLst/>
              </a:prstGeom>
              <a:noFill/>
              <a:ln w="9525">
                <a:solidFill>
                  <a:srgbClr val="8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10269" name="Object 170"/>
              <p:cNvGraphicFramePr>
                <a:graphicFrameLocks noChangeAspect="1"/>
              </p:cNvGraphicFramePr>
              <p:nvPr/>
            </p:nvGraphicFramePr>
            <p:xfrm>
              <a:off x="3945" y="3104"/>
              <a:ext cx="130" cy="133"/>
            </p:xfrm>
            <a:graphic>
              <a:graphicData uri="http://schemas.openxmlformats.org/presentationml/2006/ole">
                <mc:AlternateContent xmlns:mc="http://schemas.openxmlformats.org/markup-compatibility/2006">
                  <mc:Choice xmlns:v="urn:schemas-microsoft-com:vml" Requires="v">
                    <p:oleObj name="Equation" r:id="rId23" imgW="126725" imgH="177415" progId="Equation.DSMT4">
                      <p:embed/>
                    </p:oleObj>
                  </mc:Choice>
                  <mc:Fallback>
                    <p:oleObj name="Equation" r:id="rId23" imgW="126725" imgH="177415" progId="Equation.DSMT4">
                      <p:embed/>
                      <p:pic>
                        <p:nvPicPr>
                          <p:cNvPr id="10269" name="Object 17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945" y="3104"/>
                            <a:ext cx="130" cy="1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70" name="Line 172"/>
              <p:cNvSpPr>
                <a:spLocks noChangeShapeType="1"/>
              </p:cNvSpPr>
              <p:nvPr/>
            </p:nvSpPr>
            <p:spPr bwMode="auto">
              <a:xfrm>
                <a:off x="4086" y="3236"/>
                <a:ext cx="0" cy="840"/>
              </a:xfrm>
              <a:prstGeom prst="line">
                <a:avLst/>
              </a:prstGeom>
              <a:noFill/>
              <a:ln w="9525">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0271" name="Line 173"/>
              <p:cNvSpPr>
                <a:spLocks noChangeShapeType="1"/>
              </p:cNvSpPr>
              <p:nvPr/>
            </p:nvSpPr>
            <p:spPr bwMode="auto">
              <a:xfrm>
                <a:off x="3938" y="3250"/>
                <a:ext cx="144" cy="0"/>
              </a:xfrm>
              <a:prstGeom prst="line">
                <a:avLst/>
              </a:prstGeom>
              <a:noFill/>
              <a:ln w="9525">
                <a:solidFill>
                  <a:schemeClr val="tx1"/>
                </a:solidFill>
                <a:round/>
                <a:headEnd type="none" w="lg"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10272" name="Object 152"/>
              <p:cNvGraphicFramePr>
                <a:graphicFrameLocks noChangeAspect="1"/>
              </p:cNvGraphicFramePr>
              <p:nvPr/>
            </p:nvGraphicFramePr>
            <p:xfrm>
              <a:off x="3792" y="3840"/>
              <a:ext cx="122" cy="144"/>
            </p:xfrm>
            <a:graphic>
              <a:graphicData uri="http://schemas.openxmlformats.org/presentationml/2006/ole">
                <mc:AlternateContent xmlns:mc="http://schemas.openxmlformats.org/markup-compatibility/2006">
                  <mc:Choice xmlns:v="urn:schemas-microsoft-com:vml" Requires="v">
                    <p:oleObj name="Ecuación" r:id="rId25" imgW="126835" imgH="202936" progId="Equation.3">
                      <p:embed/>
                    </p:oleObj>
                  </mc:Choice>
                  <mc:Fallback>
                    <p:oleObj name="Ecuación" r:id="rId25" imgW="126835" imgH="202936" progId="Equation.3">
                      <p:embed/>
                      <p:pic>
                        <p:nvPicPr>
                          <p:cNvPr id="10272" name="Object 15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792" y="3840"/>
                            <a:ext cx="122"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73" name="Object 185"/>
              <p:cNvGraphicFramePr>
                <a:graphicFrameLocks noChangeAspect="1"/>
              </p:cNvGraphicFramePr>
              <p:nvPr/>
            </p:nvGraphicFramePr>
            <p:xfrm>
              <a:off x="3888" y="4085"/>
              <a:ext cx="122" cy="126"/>
            </p:xfrm>
            <a:graphic>
              <a:graphicData uri="http://schemas.openxmlformats.org/presentationml/2006/ole">
                <mc:AlternateContent xmlns:mc="http://schemas.openxmlformats.org/markup-compatibility/2006">
                  <mc:Choice xmlns:v="urn:schemas-microsoft-com:vml" Requires="v">
                    <p:oleObj name="Equation" r:id="rId27" imgW="126725" imgH="177415" progId="Equation.DSMT4">
                      <p:embed/>
                    </p:oleObj>
                  </mc:Choice>
                  <mc:Fallback>
                    <p:oleObj name="Equation" r:id="rId27" imgW="126725" imgH="177415" progId="Equation.DSMT4">
                      <p:embed/>
                      <p:pic>
                        <p:nvPicPr>
                          <p:cNvPr id="10273" name="Object 18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888" y="4085"/>
                            <a:ext cx="122" cy="1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65" name="Text Box 2"/>
          <p:cNvSpPr txBox="1">
            <a:spLocks noChangeArrowheads="1"/>
          </p:cNvSpPr>
          <p:nvPr/>
        </p:nvSpPr>
        <p:spPr bwMode="auto">
          <a:xfrm>
            <a:off x="236537" y="411163"/>
            <a:ext cx="334486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Prueba de homogeneidad de medias</a:t>
            </a:r>
            <a:endParaRPr lang="es-ES" altLang="es-ES" sz="1400" b="1"/>
          </a:p>
        </p:txBody>
      </p:sp>
      <p:sp>
        <p:nvSpPr>
          <p:cNvPr id="66" name="Text Box 2"/>
          <p:cNvSpPr txBox="1">
            <a:spLocks noChangeArrowheads="1"/>
          </p:cNvSpPr>
          <p:nvPr/>
        </p:nvSpPr>
        <p:spPr bwMode="auto">
          <a:xfrm>
            <a:off x="236537" y="76200"/>
            <a:ext cx="40116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 Variable normal</a:t>
            </a:r>
            <a:endParaRPr lang="es-ES" altLang="es-ES" sz="1400" b="1" dirty="0"/>
          </a:p>
        </p:txBody>
      </p:sp>
      <p:sp>
        <p:nvSpPr>
          <p:cNvPr id="2" name="CuadroTexto 1"/>
          <p:cNvSpPr txBox="1"/>
          <p:nvPr/>
        </p:nvSpPr>
        <p:spPr>
          <a:xfrm>
            <a:off x="5217527" y="6374301"/>
            <a:ext cx="2980831" cy="415498"/>
          </a:xfrm>
          <a:prstGeom prst="rect">
            <a:avLst/>
          </a:prstGeom>
          <a:noFill/>
        </p:spPr>
        <p:txBody>
          <a:bodyPr wrap="square" rtlCol="0">
            <a:spAutoFit/>
          </a:bodyPr>
          <a:lstStyle/>
          <a:p>
            <a:pPr algn="ctr"/>
            <a:r>
              <a:rPr lang="es-ES" sz="1050" dirty="0">
                <a:solidFill>
                  <a:schemeClr val="accent1">
                    <a:lumMod val="25000"/>
                  </a:schemeClr>
                </a:solidFill>
              </a:rPr>
              <a:t>Resultado no significativo ante un </a:t>
            </a:r>
            <a:r>
              <a:rPr lang="es-ES" sz="1050" b="1" dirty="0">
                <a:solidFill>
                  <a:schemeClr val="accent1">
                    <a:lumMod val="25000"/>
                  </a:schemeClr>
                </a:solidFill>
              </a:rPr>
              <a:t>efecto</a:t>
            </a:r>
            <a:r>
              <a:rPr lang="es-ES" sz="1050" dirty="0">
                <a:solidFill>
                  <a:schemeClr val="accent1">
                    <a:lumMod val="25000"/>
                  </a:schemeClr>
                </a:solidFill>
              </a:rPr>
              <a:t> </a:t>
            </a:r>
            <a:r>
              <a:rPr lang="es-ES" sz="1050" b="1" dirty="0">
                <a:solidFill>
                  <a:schemeClr val="accent1">
                    <a:lumMod val="25000"/>
                  </a:schemeClr>
                </a:solidFill>
                <a:latin typeface="Symbol" panose="05050102010706020507" pitchFamily="18" charset="2"/>
              </a:rPr>
              <a:t>d</a:t>
            </a:r>
            <a:r>
              <a:rPr lang="es-ES" sz="1050" dirty="0">
                <a:solidFill>
                  <a:schemeClr val="accent1">
                    <a:lumMod val="25000"/>
                  </a:schemeClr>
                </a:solidFill>
              </a:rPr>
              <a:t> </a:t>
            </a:r>
          </a:p>
          <a:p>
            <a:pPr algn="ctr"/>
            <a:r>
              <a:rPr lang="es-ES" sz="1050" dirty="0">
                <a:solidFill>
                  <a:schemeClr val="accent1">
                    <a:lumMod val="25000"/>
                  </a:schemeClr>
                </a:solidFill>
              </a:rPr>
              <a:t>¿es fiable la decisión </a:t>
            </a:r>
            <a:r>
              <a:rPr lang="es-ES" sz="1050" b="1" dirty="0">
                <a:solidFill>
                  <a:schemeClr val="accent1">
                    <a:lumMod val="25000"/>
                  </a:schemeClr>
                </a:solidFill>
                <a:latin typeface="Symbol" panose="05050102010706020507" pitchFamily="18" charset="2"/>
              </a:rPr>
              <a:t>d</a:t>
            </a:r>
            <a:r>
              <a:rPr lang="es-ES" sz="1050" b="1" dirty="0">
                <a:solidFill>
                  <a:schemeClr val="accent1">
                    <a:lumMod val="25000"/>
                  </a:schemeClr>
                </a:solidFill>
              </a:rPr>
              <a:t>=0</a:t>
            </a:r>
            <a:r>
              <a:rPr lang="es-ES" sz="1050" dirty="0">
                <a:solidFill>
                  <a:schemeClr val="accent1">
                    <a:lumMod val="25000"/>
                  </a:schemeClr>
                </a:solidFill>
              </a:rPr>
              <a:t>?</a:t>
            </a:r>
          </a:p>
        </p:txBody>
      </p:sp>
      <p:grpSp>
        <p:nvGrpSpPr>
          <p:cNvPr id="3" name="Grupo 2"/>
          <p:cNvGrpSpPr/>
          <p:nvPr/>
        </p:nvGrpSpPr>
        <p:grpSpPr>
          <a:xfrm>
            <a:off x="6343650" y="2971800"/>
            <a:ext cx="2343150" cy="1754147"/>
            <a:chOff x="6343650" y="3124201"/>
            <a:chExt cx="2343150" cy="1754147"/>
          </a:xfrm>
        </p:grpSpPr>
        <p:grpSp>
          <p:nvGrpSpPr>
            <p:cNvPr id="10274" name="Group 191"/>
            <p:cNvGrpSpPr>
              <a:grpSpLocks/>
            </p:cNvGrpSpPr>
            <p:nvPr/>
          </p:nvGrpSpPr>
          <p:grpSpPr bwMode="auto">
            <a:xfrm>
              <a:off x="6343650" y="3147235"/>
              <a:ext cx="2343150" cy="1190694"/>
              <a:chOff x="3996" y="2088"/>
              <a:chExt cx="1392" cy="672"/>
            </a:xfrm>
          </p:grpSpPr>
          <p:pic>
            <p:nvPicPr>
              <p:cNvPr id="10282" name="Picture 131"/>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106" y="2088"/>
                <a:ext cx="1188"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83" name="Line 132"/>
              <p:cNvSpPr>
                <a:spLocks noChangeShapeType="1"/>
              </p:cNvSpPr>
              <p:nvPr/>
            </p:nvSpPr>
            <p:spPr bwMode="auto">
              <a:xfrm>
                <a:off x="3996" y="2750"/>
                <a:ext cx="1392" cy="0"/>
              </a:xfrm>
              <a:prstGeom prst="line">
                <a:avLst/>
              </a:prstGeom>
              <a:noFill/>
              <a:ln w="1587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10276" name="Group 190"/>
            <p:cNvGrpSpPr>
              <a:grpSpLocks/>
            </p:cNvGrpSpPr>
            <p:nvPr/>
          </p:nvGrpSpPr>
          <p:grpSpPr bwMode="auto">
            <a:xfrm>
              <a:off x="7262730" y="3232285"/>
              <a:ext cx="333293" cy="1360793"/>
              <a:chOff x="4542" y="2136"/>
              <a:chExt cx="198" cy="768"/>
            </a:xfrm>
          </p:grpSpPr>
          <p:sp>
            <p:nvSpPr>
              <p:cNvPr id="10280" name="Line 134"/>
              <p:cNvSpPr>
                <a:spLocks noChangeShapeType="1"/>
              </p:cNvSpPr>
              <p:nvPr/>
            </p:nvSpPr>
            <p:spPr bwMode="auto">
              <a:xfrm>
                <a:off x="4542" y="2136"/>
                <a:ext cx="0" cy="768"/>
              </a:xfrm>
              <a:prstGeom prst="line">
                <a:avLst/>
              </a:prstGeom>
              <a:noFill/>
              <a:ln w="12700" cap="rnd">
                <a:solidFill>
                  <a:srgbClr val="33333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0281" name="Line 135"/>
              <p:cNvSpPr>
                <a:spLocks noChangeShapeType="1"/>
              </p:cNvSpPr>
              <p:nvPr/>
            </p:nvSpPr>
            <p:spPr bwMode="auto">
              <a:xfrm>
                <a:off x="4740" y="2136"/>
                <a:ext cx="0" cy="768"/>
              </a:xfrm>
              <a:prstGeom prst="line">
                <a:avLst/>
              </a:prstGeom>
              <a:noFill/>
              <a:ln w="12700" cap="rnd">
                <a:solidFill>
                  <a:srgbClr val="33333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10277" name="Rectangle 140"/>
            <p:cNvSpPr>
              <a:spLocks noChangeArrowheads="1"/>
            </p:cNvSpPr>
            <p:nvPr/>
          </p:nvSpPr>
          <p:spPr bwMode="auto">
            <a:xfrm>
              <a:off x="7513542" y="3124201"/>
              <a:ext cx="166646" cy="24806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0278" name="Line 142"/>
            <p:cNvSpPr>
              <a:spLocks noChangeShapeType="1"/>
            </p:cNvSpPr>
            <p:nvPr/>
          </p:nvSpPr>
          <p:spPr bwMode="auto">
            <a:xfrm>
              <a:off x="7262730" y="4593078"/>
              <a:ext cx="333293"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10279" name="Object 171"/>
            <p:cNvGraphicFramePr>
              <a:graphicFrameLocks noChangeAspect="1"/>
            </p:cNvGraphicFramePr>
            <p:nvPr>
              <p:extLst>
                <p:ext uri="{D42A27DB-BD31-4B8C-83A1-F6EECF244321}">
                  <p14:modId xmlns:p14="http://schemas.microsoft.com/office/powerpoint/2010/main" val="549052073"/>
                </p:ext>
              </p:extLst>
            </p:nvPr>
          </p:nvGraphicFramePr>
          <p:xfrm>
            <a:off x="7358678" y="4348560"/>
            <a:ext cx="139714" cy="242746"/>
          </p:xfrm>
          <a:graphic>
            <a:graphicData uri="http://schemas.openxmlformats.org/presentationml/2006/ole">
              <mc:AlternateContent xmlns:mc="http://schemas.openxmlformats.org/markup-compatibility/2006">
                <mc:Choice xmlns:v="urn:schemas-microsoft-com:vml" Requires="v">
                  <p:oleObj name="Equation" r:id="rId30" imgW="126725" imgH="177415" progId="Equation.DSMT4">
                    <p:embed/>
                  </p:oleObj>
                </mc:Choice>
                <mc:Fallback>
                  <p:oleObj name="Equation" r:id="rId30" imgW="126725" imgH="177415" progId="Equation.DSMT4">
                    <p:embed/>
                    <p:pic>
                      <p:nvPicPr>
                        <p:cNvPr id="10279" name="Object 17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358678" y="4348560"/>
                          <a:ext cx="139714" cy="2427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75" name="Object 137"/>
            <p:cNvGraphicFramePr>
              <a:graphicFrameLocks noChangeAspect="1"/>
            </p:cNvGraphicFramePr>
            <p:nvPr>
              <p:extLst>
                <p:ext uri="{D42A27DB-BD31-4B8C-83A1-F6EECF244321}">
                  <p14:modId xmlns:p14="http://schemas.microsoft.com/office/powerpoint/2010/main" val="3639257901"/>
                </p:ext>
              </p:extLst>
            </p:nvPr>
          </p:nvGraphicFramePr>
          <p:xfrm>
            <a:off x="7171832" y="4522203"/>
            <a:ext cx="590837" cy="356145"/>
          </p:xfrm>
          <a:graphic>
            <a:graphicData uri="http://schemas.openxmlformats.org/presentationml/2006/ole">
              <mc:AlternateContent xmlns:mc="http://schemas.openxmlformats.org/markup-compatibility/2006">
                <mc:Choice xmlns:v="urn:schemas-microsoft-com:vml" Requires="v">
                  <p:oleObj name="Equation" r:id="rId31" imgW="457200" imgH="241300" progId="Equation.DSMT4">
                    <p:embed/>
                  </p:oleObj>
                </mc:Choice>
                <mc:Fallback>
                  <p:oleObj name="Equation" r:id="rId31" imgW="457200" imgH="241300" progId="Equation.DSMT4">
                    <p:embed/>
                    <p:pic>
                      <p:nvPicPr>
                        <p:cNvPr id="10275" name="Object 137"/>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7171832" y="4522203"/>
                          <a:ext cx="590837" cy="356145"/>
                        </a:xfrm>
                        <a:prstGeom prst="rect">
                          <a:avLst/>
                        </a:prstGeom>
                        <a:noFill/>
                        <a:ln>
                          <a:noFill/>
                        </a:ln>
                        <a:effectLst/>
                      </p:spPr>
                    </p:pic>
                  </p:oleObj>
                </mc:Fallback>
              </mc:AlternateContent>
            </a:graphicData>
          </a:graphic>
        </p:graphicFrame>
      </p:grpSp>
      <p:graphicFrame>
        <p:nvGraphicFramePr>
          <p:cNvPr id="67" name="Object 19"/>
          <p:cNvGraphicFramePr>
            <a:graphicFrameLocks noChangeAspect="1"/>
          </p:cNvGraphicFramePr>
          <p:nvPr>
            <p:extLst>
              <p:ext uri="{D42A27DB-BD31-4B8C-83A1-F6EECF244321}">
                <p14:modId xmlns:p14="http://schemas.microsoft.com/office/powerpoint/2010/main" val="2549590520"/>
              </p:ext>
            </p:extLst>
          </p:nvPr>
        </p:nvGraphicFramePr>
        <p:xfrm>
          <a:off x="5604441" y="5245100"/>
          <a:ext cx="563563" cy="258762"/>
        </p:xfrm>
        <a:graphic>
          <a:graphicData uri="http://schemas.openxmlformats.org/presentationml/2006/ole">
            <mc:AlternateContent xmlns:mc="http://schemas.openxmlformats.org/markup-compatibility/2006">
              <mc:Choice xmlns:v="urn:schemas-microsoft-com:vml" Requires="v">
                <p:oleObj name="Equation" r:id="rId33" imgW="482400" imgH="228600" progId="Equation.DSMT4">
                  <p:embed/>
                </p:oleObj>
              </mc:Choice>
              <mc:Fallback>
                <p:oleObj name="Equation" r:id="rId33" imgW="482400" imgH="228600" progId="Equation.DSMT4">
                  <p:embed/>
                  <p:pic>
                    <p:nvPicPr>
                      <p:cNvPr id="5173" name="Object 19"/>
                      <p:cNvPicPr>
                        <a:picLocks noChangeAspect="1" noChangeArrowheads="1"/>
                      </p:cNvPicPr>
                      <p:nvPr/>
                    </p:nvPicPr>
                    <p:blipFill>
                      <a:blip r:embed="rId34"/>
                      <a:srcRect/>
                      <a:stretch>
                        <a:fillRect/>
                      </a:stretch>
                    </p:blipFill>
                    <p:spPr bwMode="auto">
                      <a:xfrm>
                        <a:off x="5604441" y="5245100"/>
                        <a:ext cx="563563" cy="258762"/>
                      </a:xfrm>
                      <a:prstGeom prst="rect">
                        <a:avLst/>
                      </a:prstGeom>
                      <a:noFill/>
                      <a:ln>
                        <a:noFill/>
                      </a:ln>
                      <a:effectLst/>
                    </p:spPr>
                  </p:pic>
                </p:oleObj>
              </mc:Fallback>
            </mc:AlternateContent>
          </a:graphicData>
        </a:graphic>
      </p:graphicFrame>
      <p:sp>
        <p:nvSpPr>
          <p:cNvPr id="69" name="Line 178"/>
          <p:cNvSpPr>
            <a:spLocks noChangeShapeType="1"/>
          </p:cNvSpPr>
          <p:nvPr/>
        </p:nvSpPr>
        <p:spPr bwMode="auto">
          <a:xfrm>
            <a:off x="4633913" y="57912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4" name="Objeto 3"/>
          <p:cNvGraphicFramePr>
            <a:graphicFrameLocks noChangeAspect="1"/>
          </p:cNvGraphicFramePr>
          <p:nvPr>
            <p:extLst>
              <p:ext uri="{D42A27DB-BD31-4B8C-83A1-F6EECF244321}">
                <p14:modId xmlns:p14="http://schemas.microsoft.com/office/powerpoint/2010/main" val="3425726073"/>
              </p:ext>
            </p:extLst>
          </p:nvPr>
        </p:nvGraphicFramePr>
        <p:xfrm>
          <a:off x="8477250" y="4208562"/>
          <a:ext cx="220278" cy="204544"/>
        </p:xfrm>
        <a:graphic>
          <a:graphicData uri="http://schemas.openxmlformats.org/presentationml/2006/ole">
            <mc:AlternateContent xmlns:mc="http://schemas.openxmlformats.org/markup-compatibility/2006">
              <mc:Choice xmlns:v="urn:schemas-microsoft-com:vml" Requires="v">
                <p:oleObj name="Equation" r:id="rId35" imgW="177480" imgH="164880" progId="Equation.DSMT4">
                  <p:embed/>
                </p:oleObj>
              </mc:Choice>
              <mc:Fallback>
                <p:oleObj name="Equation" r:id="rId35" imgW="177480" imgH="164880" progId="Equation.DSMT4">
                  <p:embed/>
                  <p:pic>
                    <p:nvPicPr>
                      <p:cNvPr id="0" name=""/>
                      <p:cNvPicPr/>
                      <p:nvPr/>
                    </p:nvPicPr>
                    <p:blipFill>
                      <a:blip r:embed="rId36"/>
                      <a:stretch>
                        <a:fillRect/>
                      </a:stretch>
                    </p:blipFill>
                    <p:spPr>
                      <a:xfrm>
                        <a:off x="8477250" y="4208562"/>
                        <a:ext cx="220278" cy="204544"/>
                      </a:xfrm>
                      <a:prstGeom prst="rect">
                        <a:avLst/>
                      </a:prstGeom>
                    </p:spPr>
                  </p:pic>
                </p:oleObj>
              </mc:Fallback>
            </mc:AlternateContent>
          </a:graphicData>
        </a:graphic>
      </p:graphicFrame>
      <p:graphicFrame>
        <p:nvGraphicFramePr>
          <p:cNvPr id="71" name="Objeto 70"/>
          <p:cNvGraphicFramePr>
            <a:graphicFrameLocks noChangeAspect="1"/>
          </p:cNvGraphicFramePr>
          <p:nvPr>
            <p:extLst>
              <p:ext uri="{D42A27DB-BD31-4B8C-83A1-F6EECF244321}">
                <p14:modId xmlns:p14="http://schemas.microsoft.com/office/powerpoint/2010/main" val="1528117725"/>
              </p:ext>
            </p:extLst>
          </p:nvPr>
        </p:nvGraphicFramePr>
        <p:xfrm>
          <a:off x="8266113" y="6078538"/>
          <a:ext cx="123825" cy="211137"/>
        </p:xfrm>
        <a:graphic>
          <a:graphicData uri="http://schemas.openxmlformats.org/presentationml/2006/ole">
            <mc:AlternateContent xmlns:mc="http://schemas.openxmlformats.org/markup-compatibility/2006">
              <mc:Choice xmlns:v="urn:schemas-microsoft-com:vml" Requires="v">
                <p:oleObj name="Equation" r:id="rId37" imgW="88560" imgH="152280" progId="Equation.DSMT4">
                  <p:embed/>
                </p:oleObj>
              </mc:Choice>
              <mc:Fallback>
                <p:oleObj name="Equation" r:id="rId37" imgW="88560" imgH="152280" progId="Equation.DSMT4">
                  <p:embed/>
                  <p:pic>
                    <p:nvPicPr>
                      <p:cNvPr id="4" name="Objeto 3"/>
                      <p:cNvPicPr/>
                      <p:nvPr/>
                    </p:nvPicPr>
                    <p:blipFill>
                      <a:blip r:embed="rId38"/>
                      <a:stretch>
                        <a:fillRect/>
                      </a:stretch>
                    </p:blipFill>
                    <p:spPr>
                      <a:xfrm>
                        <a:off x="8266113" y="6078538"/>
                        <a:ext cx="123825" cy="211137"/>
                      </a:xfrm>
                      <a:prstGeom prst="rect">
                        <a:avLst/>
                      </a:prstGeom>
                    </p:spPr>
                  </p:pic>
                </p:oleObj>
              </mc:Fallback>
            </mc:AlternateContent>
          </a:graphicData>
        </a:graphic>
      </p:graphicFrame>
      <p:sp>
        <p:nvSpPr>
          <p:cNvPr id="72" name="Text Box 21"/>
          <p:cNvSpPr txBox="1">
            <a:spLocks noChangeArrowheads="1"/>
          </p:cNvSpPr>
          <p:nvPr/>
        </p:nvSpPr>
        <p:spPr bwMode="auto">
          <a:xfrm>
            <a:off x="6205083" y="3101855"/>
            <a:ext cx="823233" cy="5515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lnSpc>
                <a:spcPct val="110000"/>
              </a:lnSpc>
            </a:pPr>
            <a:r>
              <a:rPr lang="es-ES_tradnl" altLang="es-ES" sz="900" dirty="0">
                <a:solidFill>
                  <a:schemeClr val="tx1">
                    <a:lumMod val="50000"/>
                    <a:lumOff val="50000"/>
                  </a:schemeClr>
                </a:solidFill>
              </a:rPr>
              <a:t>Distribución de X en la población 1</a:t>
            </a:r>
          </a:p>
        </p:txBody>
      </p:sp>
      <p:sp>
        <p:nvSpPr>
          <p:cNvPr id="73" name="Text Box 21"/>
          <p:cNvSpPr txBox="1">
            <a:spLocks noChangeArrowheads="1"/>
          </p:cNvSpPr>
          <p:nvPr/>
        </p:nvSpPr>
        <p:spPr bwMode="auto">
          <a:xfrm>
            <a:off x="7787818" y="3095413"/>
            <a:ext cx="823233" cy="5515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lnSpc>
                <a:spcPct val="110000"/>
              </a:lnSpc>
            </a:pPr>
            <a:r>
              <a:rPr lang="es-ES_tradnl" altLang="es-ES" sz="900" dirty="0">
                <a:solidFill>
                  <a:schemeClr val="tx1">
                    <a:lumMod val="50000"/>
                    <a:lumOff val="50000"/>
                  </a:schemeClr>
                </a:solidFill>
              </a:rPr>
              <a:t>Distribución de X en la población 2</a:t>
            </a:r>
          </a:p>
        </p:txBody>
      </p:sp>
    </p:spTree>
    <p:extLst>
      <p:ext uri="{BB962C8B-B14F-4D97-AF65-F5344CB8AC3E}">
        <p14:creationId xmlns:p14="http://schemas.microsoft.com/office/powerpoint/2010/main" val="624839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3"/>
          <p:cNvSpPr txBox="1">
            <a:spLocks noChangeArrowheads="1"/>
          </p:cNvSpPr>
          <p:nvPr/>
        </p:nvSpPr>
        <p:spPr bwMode="auto">
          <a:xfrm>
            <a:off x="228600" y="981075"/>
            <a:ext cx="54006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solidFill>
                  <a:schemeClr val="bg1">
                    <a:lumMod val="65000"/>
                  </a:schemeClr>
                </a:solidFill>
              </a:rPr>
              <a:t>4. Análisis de la significación: IC para la diferencia de medias </a:t>
            </a:r>
            <a:endParaRPr lang="es-ES" altLang="es-ES" sz="1400" b="1">
              <a:solidFill>
                <a:schemeClr val="bg1">
                  <a:lumMod val="65000"/>
                </a:schemeClr>
              </a:solidFill>
            </a:endParaRPr>
          </a:p>
        </p:txBody>
      </p:sp>
      <p:sp>
        <p:nvSpPr>
          <p:cNvPr id="11267" name="Text Box 32"/>
          <p:cNvSpPr txBox="1">
            <a:spLocks noChangeArrowheads="1"/>
          </p:cNvSpPr>
          <p:nvPr/>
        </p:nvSpPr>
        <p:spPr bwMode="auto">
          <a:xfrm>
            <a:off x="409575" y="1371600"/>
            <a:ext cx="5029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a)</a:t>
            </a:r>
            <a:r>
              <a:rPr lang="es-ES_tradnl" altLang="es-ES"/>
              <a:t> </a:t>
            </a:r>
            <a:r>
              <a:rPr lang="es-ES_tradnl" altLang="es-ES" b="1"/>
              <a:t>Si el test SI ha sido significativo: tamaño del efecto</a:t>
            </a:r>
            <a:endParaRPr lang="es-ES" altLang="es-ES" sz="1300" b="1">
              <a:latin typeface="Times New Roman" pitchFamily="18" charset="0"/>
            </a:endParaRPr>
          </a:p>
        </p:txBody>
      </p:sp>
      <p:sp>
        <p:nvSpPr>
          <p:cNvPr id="11268" name="Text Box 45"/>
          <p:cNvSpPr txBox="1">
            <a:spLocks noChangeArrowheads="1"/>
          </p:cNvSpPr>
          <p:nvPr/>
        </p:nvSpPr>
        <p:spPr bwMode="auto">
          <a:xfrm>
            <a:off x="415925" y="2335213"/>
            <a:ext cx="50704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El Intervalo de confianza se hace al nivel de error</a:t>
            </a:r>
            <a:r>
              <a:rPr lang="es-ES_tradnl" altLang="es-ES" sz="1400"/>
              <a:t> </a:t>
            </a:r>
            <a:r>
              <a:rPr lang="es-ES_tradnl" altLang="es-ES" sz="1400">
                <a:latin typeface="Symbol" pitchFamily="18" charset="2"/>
              </a:rPr>
              <a:t>a </a:t>
            </a:r>
            <a:r>
              <a:rPr lang="es-ES_tradnl" altLang="es-ES"/>
              <a:t>preestablecido</a:t>
            </a:r>
            <a:endParaRPr lang="es-ES" altLang="es-ES" sz="1400" i="1">
              <a:latin typeface="Symbol" pitchFamily="18" charset="2"/>
            </a:endParaRPr>
          </a:p>
        </p:txBody>
      </p:sp>
      <p:sp>
        <p:nvSpPr>
          <p:cNvPr id="11269" name="AutoShape 43"/>
          <p:cNvSpPr>
            <a:spLocks/>
          </p:cNvSpPr>
          <p:nvPr/>
        </p:nvSpPr>
        <p:spPr bwMode="auto">
          <a:xfrm>
            <a:off x="5943600" y="1524000"/>
            <a:ext cx="76200" cy="1371600"/>
          </a:xfrm>
          <a:prstGeom prst="leftBrace">
            <a:avLst>
              <a:gd name="adj1" fmla="val 15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1270" name="Text Box 82"/>
          <p:cNvSpPr txBox="1">
            <a:spLocks noChangeArrowheads="1"/>
          </p:cNvSpPr>
          <p:nvPr/>
        </p:nvSpPr>
        <p:spPr bwMode="auto">
          <a:xfrm>
            <a:off x="6019800" y="1565275"/>
            <a:ext cx="22098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7475" indent="-117475"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Denotamos así a la mínima</a:t>
            </a:r>
            <a:r>
              <a:rPr lang="es-ES_tradnl" altLang="es-ES" b="1"/>
              <a:t> diferencia relevante</a:t>
            </a:r>
          </a:p>
          <a:p>
            <a:pPr eaLnBrk="1" hangingPunct="1">
              <a:buFontTx/>
              <a:buChar char="•"/>
            </a:pPr>
            <a:endParaRPr lang="es-ES_tradnl" altLang="es-ES" b="1"/>
          </a:p>
          <a:p>
            <a:pPr eaLnBrk="1" hangingPunct="1">
              <a:buFontTx/>
              <a:buChar char="•"/>
            </a:pPr>
            <a:endParaRPr lang="es-ES_tradnl" altLang="es-ES" b="1"/>
          </a:p>
          <a:p>
            <a:pPr eaLnBrk="1" hangingPunct="1">
              <a:buFontTx/>
              <a:buChar char="•"/>
            </a:pPr>
            <a:endParaRPr lang="es-ES_tradnl" altLang="es-ES" b="1"/>
          </a:p>
          <a:p>
            <a:pPr eaLnBrk="1" hangingPunct="1">
              <a:buFontTx/>
              <a:buChar char="•"/>
            </a:pPr>
            <a:r>
              <a:rPr lang="es-ES_tradnl" altLang="es-ES"/>
              <a:t>La establece el investigador</a:t>
            </a:r>
            <a:endParaRPr lang="es-ES" altLang="es-ES" sz="1300" i="1">
              <a:latin typeface="Times New Roman" pitchFamily="18" charset="0"/>
            </a:endParaRPr>
          </a:p>
        </p:txBody>
      </p:sp>
      <p:grpSp>
        <p:nvGrpSpPr>
          <p:cNvPr id="11271" name="Group 197"/>
          <p:cNvGrpSpPr>
            <a:grpSpLocks/>
          </p:cNvGrpSpPr>
          <p:nvPr/>
        </p:nvGrpSpPr>
        <p:grpSpPr bwMode="auto">
          <a:xfrm>
            <a:off x="6211888" y="2114550"/>
            <a:ext cx="1636712" cy="427038"/>
            <a:chOff x="3913" y="1332"/>
            <a:chExt cx="1031" cy="269"/>
          </a:xfrm>
        </p:grpSpPr>
        <p:sp>
          <p:nvSpPr>
            <p:cNvPr id="11338" name="Text Box 68"/>
            <p:cNvSpPr txBox="1">
              <a:spLocks noChangeArrowheads="1"/>
            </p:cNvSpPr>
            <p:nvPr/>
          </p:nvSpPr>
          <p:spPr bwMode="auto">
            <a:xfrm>
              <a:off x="4010" y="1428"/>
              <a:ext cx="214"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sp>
          <p:nvSpPr>
            <p:cNvPr id="11339" name="Text Box 67"/>
            <p:cNvSpPr txBox="1">
              <a:spLocks noChangeArrowheads="1"/>
            </p:cNvSpPr>
            <p:nvPr/>
          </p:nvSpPr>
          <p:spPr bwMode="auto">
            <a:xfrm>
              <a:off x="4626" y="1428"/>
              <a:ext cx="213"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sp>
          <p:nvSpPr>
            <p:cNvPr id="11340" name="Text Box 69"/>
            <p:cNvSpPr txBox="1">
              <a:spLocks noChangeArrowheads="1"/>
            </p:cNvSpPr>
            <p:nvPr/>
          </p:nvSpPr>
          <p:spPr bwMode="auto">
            <a:xfrm>
              <a:off x="4351" y="1400"/>
              <a:ext cx="161"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0</a:t>
              </a:r>
            </a:p>
          </p:txBody>
        </p:sp>
        <p:grpSp>
          <p:nvGrpSpPr>
            <p:cNvPr id="11341" name="Group 155"/>
            <p:cNvGrpSpPr>
              <a:grpSpLocks/>
            </p:cNvGrpSpPr>
            <p:nvPr/>
          </p:nvGrpSpPr>
          <p:grpSpPr bwMode="auto">
            <a:xfrm>
              <a:off x="3913" y="1332"/>
              <a:ext cx="1031" cy="123"/>
              <a:chOff x="3913" y="1402"/>
              <a:chExt cx="1031" cy="123"/>
            </a:xfrm>
          </p:grpSpPr>
          <p:grpSp>
            <p:nvGrpSpPr>
              <p:cNvPr id="11342" name="Group 154"/>
              <p:cNvGrpSpPr>
                <a:grpSpLocks/>
              </p:cNvGrpSpPr>
              <p:nvPr/>
            </p:nvGrpSpPr>
            <p:grpSpPr bwMode="auto">
              <a:xfrm>
                <a:off x="4120" y="1402"/>
                <a:ext cx="624" cy="123"/>
                <a:chOff x="4120" y="1402"/>
                <a:chExt cx="624" cy="123"/>
              </a:xfrm>
            </p:grpSpPr>
            <p:sp>
              <p:nvSpPr>
                <p:cNvPr id="11344" name="Line 63"/>
                <p:cNvSpPr>
                  <a:spLocks noChangeShapeType="1"/>
                </p:cNvSpPr>
                <p:nvPr/>
              </p:nvSpPr>
              <p:spPr bwMode="auto">
                <a:xfrm flipV="1">
                  <a:off x="4120" y="1478"/>
                  <a:ext cx="624" cy="2"/>
                </a:xfrm>
                <a:prstGeom prst="line">
                  <a:avLst/>
                </a:prstGeom>
                <a:noFill/>
                <a:ln w="57150">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1345" name="Line 65"/>
                <p:cNvSpPr>
                  <a:spLocks noChangeShapeType="1"/>
                </p:cNvSpPr>
                <p:nvPr/>
              </p:nvSpPr>
              <p:spPr bwMode="auto">
                <a:xfrm>
                  <a:off x="4433" y="1402"/>
                  <a:ext cx="0" cy="115"/>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1346" name="AutoShape 66"/>
                <p:cNvSpPr>
                  <a:spLocks noChangeArrowheads="1"/>
                </p:cNvSpPr>
                <p:nvPr/>
              </p:nvSpPr>
              <p:spPr bwMode="auto">
                <a:xfrm>
                  <a:off x="4122" y="1434"/>
                  <a:ext cx="621" cy="91"/>
                </a:xfrm>
                <a:prstGeom prst="bracketPair">
                  <a:avLst>
                    <a:gd name="adj" fmla="val 16667"/>
                  </a:avLst>
                </a:prstGeom>
                <a:noFill/>
                <a:ln w="15875">
                  <a:solidFill>
                    <a:schemeClr val="accent2"/>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endParaRPr lang="es-ES" altLang="es-ES">
                    <a:cs typeface="Arial" pitchFamily="34" charset="0"/>
                  </a:endParaRPr>
                </a:p>
              </p:txBody>
            </p:sp>
          </p:grpSp>
          <p:sp>
            <p:nvSpPr>
              <p:cNvPr id="11343" name="Line 71"/>
              <p:cNvSpPr>
                <a:spLocks noChangeShapeType="1"/>
              </p:cNvSpPr>
              <p:nvPr/>
            </p:nvSpPr>
            <p:spPr bwMode="auto">
              <a:xfrm>
                <a:off x="3913" y="1464"/>
                <a:ext cx="1031"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grpSp>
      <p:sp>
        <p:nvSpPr>
          <p:cNvPr id="11272" name="Text Box 31"/>
          <p:cNvSpPr txBox="1">
            <a:spLocks noChangeArrowheads="1"/>
          </p:cNvSpPr>
          <p:nvPr/>
        </p:nvSpPr>
        <p:spPr bwMode="auto">
          <a:xfrm>
            <a:off x="415925" y="2001838"/>
            <a:ext cx="470376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 ¿cuál es la magnitud de la diferencia que se considera relevante?</a:t>
            </a:r>
            <a:endParaRPr lang="es-ES" altLang="es-ES" sz="1300" i="1">
              <a:latin typeface="Times New Roman" pitchFamily="18" charset="0"/>
            </a:endParaRPr>
          </a:p>
        </p:txBody>
      </p:sp>
      <p:sp>
        <p:nvSpPr>
          <p:cNvPr id="11273" name="Line 80"/>
          <p:cNvSpPr>
            <a:spLocks noChangeShapeType="1"/>
          </p:cNvSpPr>
          <p:nvPr/>
        </p:nvSpPr>
        <p:spPr bwMode="auto">
          <a:xfrm>
            <a:off x="5181600" y="2139950"/>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1274" name="Text Box 81"/>
          <p:cNvSpPr txBox="1">
            <a:spLocks noChangeArrowheads="1"/>
          </p:cNvSpPr>
          <p:nvPr/>
        </p:nvSpPr>
        <p:spPr bwMode="auto">
          <a:xfrm>
            <a:off x="5562600" y="2001838"/>
            <a:ext cx="3968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a:latin typeface="Symbol" pitchFamily="18" charset="2"/>
              </a:rPr>
              <a:t>d</a:t>
            </a:r>
            <a:endParaRPr lang="es-ES" altLang="es-ES" b="1">
              <a:latin typeface="Symbol" pitchFamily="18" charset="2"/>
            </a:endParaRPr>
          </a:p>
        </p:txBody>
      </p:sp>
      <p:grpSp>
        <p:nvGrpSpPr>
          <p:cNvPr id="11275" name="Group 159"/>
          <p:cNvGrpSpPr>
            <a:grpSpLocks/>
          </p:cNvGrpSpPr>
          <p:nvPr/>
        </p:nvGrpSpPr>
        <p:grpSpPr bwMode="auto">
          <a:xfrm>
            <a:off x="415925" y="1676400"/>
            <a:ext cx="8042275" cy="285750"/>
            <a:chOff x="262" y="1105"/>
            <a:chExt cx="5066" cy="180"/>
          </a:xfrm>
        </p:grpSpPr>
        <p:sp>
          <p:nvSpPr>
            <p:cNvPr id="11336" name="Text Box 91"/>
            <p:cNvSpPr txBox="1">
              <a:spLocks noChangeArrowheads="1"/>
            </p:cNvSpPr>
            <p:nvPr/>
          </p:nvSpPr>
          <p:spPr bwMode="auto">
            <a:xfrm>
              <a:off x="262" y="1105"/>
              <a:ext cx="506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 El intervalo                               representa el tamaño del efecto</a:t>
              </a:r>
              <a:endParaRPr lang="es-ES" altLang="es-ES"/>
            </a:p>
          </p:txBody>
        </p:sp>
        <p:graphicFrame>
          <p:nvGraphicFramePr>
            <p:cNvPr id="11337" name="Object 87"/>
            <p:cNvGraphicFramePr>
              <a:graphicFrameLocks noChangeAspect="1"/>
            </p:cNvGraphicFramePr>
            <p:nvPr/>
          </p:nvGraphicFramePr>
          <p:xfrm>
            <a:off x="910" y="1108"/>
            <a:ext cx="720" cy="177"/>
          </p:xfrm>
          <a:graphic>
            <a:graphicData uri="http://schemas.openxmlformats.org/presentationml/2006/ole">
              <mc:AlternateContent xmlns:mc="http://schemas.openxmlformats.org/markup-compatibility/2006">
                <mc:Choice xmlns:v="urn:schemas-microsoft-com:vml" Requires="v">
                  <p:oleObj name="Equation" r:id="rId2" imgW="1079032" imgH="266584" progId="Equation.DSMT4">
                    <p:embed/>
                  </p:oleObj>
                </mc:Choice>
                <mc:Fallback>
                  <p:oleObj name="Equation" r:id="rId2" imgW="1079032" imgH="266584" progId="Equation.DSMT4">
                    <p:embed/>
                    <p:pic>
                      <p:nvPicPr>
                        <p:cNvPr id="11337" name="Object 8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 y="1108"/>
                          <a:ext cx="720" cy="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1276" name="Text Box 118"/>
          <p:cNvSpPr txBox="1">
            <a:spLocks noChangeArrowheads="1"/>
          </p:cNvSpPr>
          <p:nvPr/>
        </p:nvSpPr>
        <p:spPr bwMode="auto">
          <a:xfrm>
            <a:off x="2162175" y="3324225"/>
            <a:ext cx="338138"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sp>
        <p:nvSpPr>
          <p:cNvPr id="11277" name="Text Box 119"/>
          <p:cNvSpPr txBox="1">
            <a:spLocks noChangeArrowheads="1"/>
          </p:cNvSpPr>
          <p:nvPr/>
        </p:nvSpPr>
        <p:spPr bwMode="auto">
          <a:xfrm>
            <a:off x="650875" y="3324225"/>
            <a:ext cx="339725"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grpSp>
        <p:nvGrpSpPr>
          <p:cNvPr id="11278" name="Group 195"/>
          <p:cNvGrpSpPr>
            <a:grpSpLocks/>
          </p:cNvGrpSpPr>
          <p:nvPr/>
        </p:nvGrpSpPr>
        <p:grpSpPr bwMode="auto">
          <a:xfrm>
            <a:off x="676275" y="2667000"/>
            <a:ext cx="7848600" cy="1819275"/>
            <a:chOff x="384" y="1674"/>
            <a:chExt cx="4944" cy="1146"/>
          </a:xfrm>
        </p:grpSpPr>
        <p:grpSp>
          <p:nvGrpSpPr>
            <p:cNvPr id="11300" name="Group 111"/>
            <p:cNvGrpSpPr>
              <a:grpSpLocks/>
            </p:cNvGrpSpPr>
            <p:nvPr/>
          </p:nvGrpSpPr>
          <p:grpSpPr bwMode="auto">
            <a:xfrm>
              <a:off x="1920" y="2406"/>
              <a:ext cx="3408" cy="327"/>
              <a:chOff x="1914" y="2928"/>
              <a:chExt cx="3408" cy="327"/>
            </a:xfrm>
          </p:grpSpPr>
          <p:sp>
            <p:nvSpPr>
              <p:cNvPr id="11334" name="Text Box 108"/>
              <p:cNvSpPr txBox="1">
                <a:spLocks noChangeArrowheads="1"/>
              </p:cNvSpPr>
              <p:nvPr/>
            </p:nvSpPr>
            <p:spPr bwMode="auto">
              <a:xfrm>
                <a:off x="1914" y="2928"/>
                <a:ext cx="240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Significación estadística  + No significación física</a:t>
                </a:r>
                <a:endParaRPr lang="es-ES" altLang="es-ES" b="1"/>
              </a:p>
            </p:txBody>
          </p:sp>
          <p:sp>
            <p:nvSpPr>
              <p:cNvPr id="11335" name="Text Box 110"/>
              <p:cNvSpPr txBox="1">
                <a:spLocks noChangeArrowheads="1"/>
              </p:cNvSpPr>
              <p:nvPr/>
            </p:nvSpPr>
            <p:spPr bwMode="auto">
              <a:xfrm>
                <a:off x="1914" y="3072"/>
                <a:ext cx="3408"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La magnitud de la diferencia detectada no es mayor a </a:t>
                </a:r>
                <a:r>
                  <a:rPr lang="es-ES_tradnl" altLang="es-ES" sz="1300">
                    <a:latin typeface="Symbol" pitchFamily="18" charset="2"/>
                  </a:rPr>
                  <a:t>d</a:t>
                </a:r>
                <a:endParaRPr lang="es-ES" altLang="es-ES" sz="1300">
                  <a:latin typeface="Symbol" pitchFamily="18" charset="2"/>
                </a:endParaRPr>
              </a:p>
            </p:txBody>
          </p:sp>
        </p:grpSp>
        <p:sp>
          <p:nvSpPr>
            <p:cNvPr id="11301" name="Text Box 107"/>
            <p:cNvSpPr txBox="1">
              <a:spLocks noChangeArrowheads="1"/>
            </p:cNvSpPr>
            <p:nvPr/>
          </p:nvSpPr>
          <p:spPr bwMode="auto">
            <a:xfrm>
              <a:off x="1920" y="1824"/>
              <a:ext cx="232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Significación</a:t>
              </a:r>
              <a:r>
                <a:rPr lang="es-ES_tradnl" altLang="es-ES"/>
                <a:t> </a:t>
              </a:r>
              <a:r>
                <a:rPr lang="es-ES_tradnl" altLang="es-ES" b="1"/>
                <a:t>estadística</a:t>
              </a:r>
              <a:r>
                <a:rPr lang="es-ES_tradnl" altLang="es-ES"/>
                <a:t> + </a:t>
              </a:r>
              <a:r>
                <a:rPr lang="es-ES_tradnl" altLang="es-ES" b="1"/>
                <a:t>Significación física</a:t>
              </a:r>
              <a:endParaRPr lang="es-ES" altLang="es-ES" b="1"/>
            </a:p>
          </p:txBody>
        </p:sp>
        <p:sp>
          <p:nvSpPr>
            <p:cNvPr id="11302" name="Text Box 109"/>
            <p:cNvSpPr txBox="1">
              <a:spLocks noChangeArrowheads="1"/>
            </p:cNvSpPr>
            <p:nvPr/>
          </p:nvSpPr>
          <p:spPr bwMode="auto">
            <a:xfrm>
              <a:off x="1920" y="2010"/>
              <a:ext cx="3408"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La magnitud de la diferencia detectada puede ser mayor a </a:t>
              </a:r>
              <a:r>
                <a:rPr lang="es-ES_tradnl" altLang="es-ES" sz="1300">
                  <a:latin typeface="Symbol" pitchFamily="18" charset="2"/>
                </a:rPr>
                <a:t>d</a:t>
              </a:r>
              <a:endParaRPr lang="es-ES" altLang="es-ES" sz="1300">
                <a:latin typeface="Symbol" pitchFamily="18" charset="2"/>
              </a:endParaRPr>
            </a:p>
          </p:txBody>
        </p:sp>
        <p:grpSp>
          <p:nvGrpSpPr>
            <p:cNvPr id="11303" name="Group 193"/>
            <p:cNvGrpSpPr>
              <a:grpSpLocks/>
            </p:cNvGrpSpPr>
            <p:nvPr/>
          </p:nvGrpSpPr>
          <p:grpSpPr bwMode="auto">
            <a:xfrm>
              <a:off x="384" y="1674"/>
              <a:ext cx="1374" cy="558"/>
              <a:chOff x="384" y="1674"/>
              <a:chExt cx="1374" cy="558"/>
            </a:xfrm>
          </p:grpSpPr>
          <p:sp>
            <p:nvSpPr>
              <p:cNvPr id="11320" name="Line 114"/>
              <p:cNvSpPr>
                <a:spLocks noChangeShapeType="1"/>
              </p:cNvSpPr>
              <p:nvPr/>
            </p:nvSpPr>
            <p:spPr bwMode="auto">
              <a:xfrm flipV="1">
                <a:off x="519" y="2016"/>
                <a:ext cx="957" cy="4"/>
              </a:xfrm>
              <a:prstGeom prst="line">
                <a:avLst/>
              </a:prstGeom>
              <a:noFill/>
              <a:ln w="57150">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nvGrpSpPr>
              <p:cNvPr id="11321" name="Group 115"/>
              <p:cNvGrpSpPr>
                <a:grpSpLocks/>
              </p:cNvGrpSpPr>
              <p:nvPr/>
            </p:nvGrpSpPr>
            <p:grpSpPr bwMode="auto">
              <a:xfrm>
                <a:off x="521" y="1915"/>
                <a:ext cx="953" cy="317"/>
                <a:chOff x="3545" y="2875"/>
                <a:chExt cx="953" cy="317"/>
              </a:xfrm>
            </p:grpSpPr>
            <p:sp>
              <p:nvSpPr>
                <p:cNvPr id="11332" name="Line 116"/>
                <p:cNvSpPr>
                  <a:spLocks noChangeShapeType="1"/>
                </p:cNvSpPr>
                <p:nvPr/>
              </p:nvSpPr>
              <p:spPr bwMode="auto">
                <a:xfrm>
                  <a:off x="4022" y="2875"/>
                  <a:ext cx="0" cy="317"/>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1333" name="AutoShape 117"/>
                <p:cNvSpPr>
                  <a:spLocks noChangeArrowheads="1"/>
                </p:cNvSpPr>
                <p:nvPr/>
              </p:nvSpPr>
              <p:spPr bwMode="auto">
                <a:xfrm>
                  <a:off x="3545" y="2898"/>
                  <a:ext cx="953" cy="166"/>
                </a:xfrm>
                <a:prstGeom prst="bracketPair">
                  <a:avLst>
                    <a:gd name="adj" fmla="val 16667"/>
                  </a:avLst>
                </a:prstGeom>
                <a:noFill/>
                <a:ln w="15875">
                  <a:solidFill>
                    <a:schemeClr val="accent2"/>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endParaRPr lang="es-ES" altLang="es-ES">
                    <a:cs typeface="Arial" pitchFamily="34" charset="0"/>
                  </a:endParaRPr>
                </a:p>
              </p:txBody>
            </p:sp>
          </p:grpSp>
          <p:grpSp>
            <p:nvGrpSpPr>
              <p:cNvPr id="11322" name="Group 188"/>
              <p:cNvGrpSpPr>
                <a:grpSpLocks/>
              </p:cNvGrpSpPr>
              <p:nvPr/>
            </p:nvGrpSpPr>
            <p:grpSpPr bwMode="auto">
              <a:xfrm>
                <a:off x="1147" y="1674"/>
                <a:ext cx="532" cy="409"/>
                <a:chOff x="1147" y="1770"/>
                <a:chExt cx="532" cy="409"/>
              </a:xfrm>
            </p:grpSpPr>
            <p:grpSp>
              <p:nvGrpSpPr>
                <p:cNvPr id="11324" name="Group 187"/>
                <p:cNvGrpSpPr>
                  <a:grpSpLocks/>
                </p:cNvGrpSpPr>
                <p:nvPr/>
              </p:nvGrpSpPr>
              <p:grpSpPr bwMode="auto">
                <a:xfrm>
                  <a:off x="1214" y="1901"/>
                  <a:ext cx="384" cy="278"/>
                  <a:chOff x="1214" y="1901"/>
                  <a:chExt cx="384" cy="278"/>
                </a:xfrm>
              </p:grpSpPr>
              <p:grpSp>
                <p:nvGrpSpPr>
                  <p:cNvPr id="11328" name="Group 186"/>
                  <p:cNvGrpSpPr>
                    <a:grpSpLocks/>
                  </p:cNvGrpSpPr>
                  <p:nvPr/>
                </p:nvGrpSpPr>
                <p:grpSpPr bwMode="auto">
                  <a:xfrm>
                    <a:off x="1214" y="1901"/>
                    <a:ext cx="384" cy="278"/>
                    <a:chOff x="1214" y="1901"/>
                    <a:chExt cx="384" cy="278"/>
                  </a:xfrm>
                </p:grpSpPr>
                <p:sp>
                  <p:nvSpPr>
                    <p:cNvPr id="11330" name="AutoShape 123"/>
                    <p:cNvSpPr>
                      <a:spLocks noChangeArrowheads="1"/>
                    </p:cNvSpPr>
                    <p:nvPr/>
                  </p:nvSpPr>
                  <p:spPr bwMode="auto">
                    <a:xfrm>
                      <a:off x="1214" y="1972"/>
                      <a:ext cx="384" cy="207"/>
                    </a:xfrm>
                    <a:prstGeom prst="bracketPair">
                      <a:avLst>
                        <a:gd name="adj" fmla="val 16667"/>
                      </a:avLst>
                    </a:prstGeom>
                    <a:noFill/>
                    <a:ln w="15875">
                      <a:solidFill>
                        <a:srgbClr val="8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1331" name="Line 124"/>
                    <p:cNvSpPr>
                      <a:spLocks noChangeShapeType="1"/>
                    </p:cNvSpPr>
                    <p:nvPr/>
                  </p:nvSpPr>
                  <p:spPr bwMode="auto">
                    <a:xfrm>
                      <a:off x="1406" y="1901"/>
                      <a:ext cx="0" cy="259"/>
                    </a:xfrm>
                    <a:prstGeom prst="line">
                      <a:avLst/>
                    </a:prstGeom>
                    <a:noFill/>
                    <a:ln w="12700" cap="rnd">
                      <a:solidFill>
                        <a:srgbClr val="8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sp>
                <p:nvSpPr>
                  <p:cNvPr id="11329" name="Rectangle 125"/>
                  <p:cNvSpPr>
                    <a:spLocks noChangeArrowheads="1"/>
                  </p:cNvSpPr>
                  <p:nvPr/>
                </p:nvSpPr>
                <p:spPr bwMode="auto">
                  <a:xfrm>
                    <a:off x="1215" y="2072"/>
                    <a:ext cx="382" cy="27"/>
                  </a:xfrm>
                  <a:prstGeom prst="rect">
                    <a:avLst/>
                  </a:prstGeom>
                  <a:solidFill>
                    <a:srgbClr val="800000">
                      <a:alpha val="59999"/>
                    </a:srgbClr>
                  </a:solidFill>
                  <a:ln>
                    <a:noFill/>
                  </a:ln>
                  <a:effectLst/>
                  <a:extLs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aphicFrame>
              <p:nvGraphicFramePr>
                <p:cNvPr id="11325" name="Object 126"/>
                <p:cNvGraphicFramePr>
                  <a:graphicFrameLocks noChangeAspect="1"/>
                </p:cNvGraphicFramePr>
                <p:nvPr/>
              </p:nvGraphicFramePr>
              <p:xfrm>
                <a:off x="1262" y="1770"/>
                <a:ext cx="288" cy="134"/>
              </p:xfrm>
              <a:graphic>
                <a:graphicData uri="http://schemas.openxmlformats.org/presentationml/2006/ole">
                  <mc:AlternateContent xmlns:mc="http://schemas.openxmlformats.org/markup-compatibility/2006">
                    <mc:Choice xmlns:v="urn:schemas-microsoft-com:vml" Requires="v">
                      <p:oleObj name="Equation" r:id="rId4" imgW="723586" imgH="342751" progId="Equation.DSMT4">
                        <p:embed/>
                      </p:oleObj>
                    </mc:Choice>
                    <mc:Fallback>
                      <p:oleObj name="Equation" r:id="rId4" imgW="723586" imgH="342751" progId="Equation.DSMT4">
                        <p:embed/>
                        <p:pic>
                          <p:nvPicPr>
                            <p:cNvPr id="11325" name="Object 1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62" y="1770"/>
                              <a:ext cx="288"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26" name="Object 127"/>
                <p:cNvGraphicFramePr>
                  <a:graphicFrameLocks noChangeAspect="1"/>
                </p:cNvGraphicFramePr>
                <p:nvPr/>
              </p:nvGraphicFramePr>
              <p:xfrm>
                <a:off x="1147" y="1851"/>
                <a:ext cx="144" cy="111"/>
              </p:xfrm>
              <a:graphic>
                <a:graphicData uri="http://schemas.openxmlformats.org/presentationml/2006/ole">
                  <mc:AlternateContent xmlns:mc="http://schemas.openxmlformats.org/markup-compatibility/2006">
                    <mc:Choice xmlns:v="urn:schemas-microsoft-com:vml" Requires="v">
                      <p:oleObj name="Equation" r:id="rId6" imgW="291973" imgH="228501" progId="Equation.DSMT4">
                        <p:embed/>
                      </p:oleObj>
                    </mc:Choice>
                    <mc:Fallback>
                      <p:oleObj name="Equation" r:id="rId6" imgW="291973" imgH="228501" progId="Equation.DSMT4">
                        <p:embed/>
                        <p:pic>
                          <p:nvPicPr>
                            <p:cNvPr id="11326" name="Object 1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7" y="1851"/>
                              <a:ext cx="144"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27" name="Object 128"/>
                <p:cNvGraphicFramePr>
                  <a:graphicFrameLocks noChangeAspect="1"/>
                </p:cNvGraphicFramePr>
                <p:nvPr/>
              </p:nvGraphicFramePr>
              <p:xfrm>
                <a:off x="1535" y="1854"/>
                <a:ext cx="144" cy="111"/>
              </p:xfrm>
              <a:graphic>
                <a:graphicData uri="http://schemas.openxmlformats.org/presentationml/2006/ole">
                  <mc:AlternateContent xmlns:mc="http://schemas.openxmlformats.org/markup-compatibility/2006">
                    <mc:Choice xmlns:v="urn:schemas-microsoft-com:vml" Requires="v">
                      <p:oleObj name="Equation" r:id="rId8" imgW="291973" imgH="228501" progId="Equation.DSMT4">
                        <p:embed/>
                      </p:oleObj>
                    </mc:Choice>
                    <mc:Fallback>
                      <p:oleObj name="Equation" r:id="rId8" imgW="291973" imgH="228501" progId="Equation.DSMT4">
                        <p:embed/>
                        <p:pic>
                          <p:nvPicPr>
                            <p:cNvPr id="11327" name="Object 1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35" y="1854"/>
                              <a:ext cx="144"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1323" name="Line 136"/>
              <p:cNvSpPr>
                <a:spLocks noChangeShapeType="1"/>
              </p:cNvSpPr>
              <p:nvPr/>
            </p:nvSpPr>
            <p:spPr bwMode="auto">
              <a:xfrm>
                <a:off x="384" y="2003"/>
                <a:ext cx="137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grpSp>
          <p:nvGrpSpPr>
            <p:cNvPr id="11304" name="Group 192"/>
            <p:cNvGrpSpPr>
              <a:grpSpLocks/>
            </p:cNvGrpSpPr>
            <p:nvPr/>
          </p:nvGrpSpPr>
          <p:grpSpPr bwMode="auto">
            <a:xfrm>
              <a:off x="384" y="2244"/>
              <a:ext cx="1374" cy="576"/>
              <a:chOff x="384" y="2304"/>
              <a:chExt cx="1374" cy="576"/>
            </a:xfrm>
          </p:grpSpPr>
          <p:sp>
            <p:nvSpPr>
              <p:cNvPr id="11305" name="Line 129"/>
              <p:cNvSpPr>
                <a:spLocks noChangeShapeType="1"/>
              </p:cNvSpPr>
              <p:nvPr/>
            </p:nvSpPr>
            <p:spPr bwMode="auto">
              <a:xfrm flipV="1">
                <a:off x="518" y="2565"/>
                <a:ext cx="957" cy="4"/>
              </a:xfrm>
              <a:prstGeom prst="line">
                <a:avLst/>
              </a:prstGeom>
              <a:noFill/>
              <a:ln w="57150">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nvGrpSpPr>
              <p:cNvPr id="11306" name="Group 130"/>
              <p:cNvGrpSpPr>
                <a:grpSpLocks/>
              </p:cNvGrpSpPr>
              <p:nvPr/>
            </p:nvGrpSpPr>
            <p:grpSpPr bwMode="auto">
              <a:xfrm>
                <a:off x="521" y="2464"/>
                <a:ext cx="953" cy="317"/>
                <a:chOff x="3565" y="3424"/>
                <a:chExt cx="953" cy="317"/>
              </a:xfrm>
            </p:grpSpPr>
            <p:sp>
              <p:nvSpPr>
                <p:cNvPr id="11318" name="Line 131"/>
                <p:cNvSpPr>
                  <a:spLocks noChangeShapeType="1"/>
                </p:cNvSpPr>
                <p:nvPr/>
              </p:nvSpPr>
              <p:spPr bwMode="auto">
                <a:xfrm>
                  <a:off x="4042" y="3424"/>
                  <a:ext cx="0" cy="317"/>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1319" name="AutoShape 132"/>
                <p:cNvSpPr>
                  <a:spLocks noChangeArrowheads="1"/>
                </p:cNvSpPr>
                <p:nvPr/>
              </p:nvSpPr>
              <p:spPr bwMode="auto">
                <a:xfrm>
                  <a:off x="3565" y="3447"/>
                  <a:ext cx="953" cy="166"/>
                </a:xfrm>
                <a:prstGeom prst="bracketPair">
                  <a:avLst>
                    <a:gd name="adj" fmla="val 16667"/>
                  </a:avLst>
                </a:prstGeom>
                <a:noFill/>
                <a:ln w="15875">
                  <a:solidFill>
                    <a:schemeClr val="accent2"/>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endParaRPr lang="es-ES" altLang="es-ES">
                    <a:cs typeface="Arial" pitchFamily="34" charset="0"/>
                  </a:endParaRPr>
                </a:p>
              </p:txBody>
            </p:sp>
          </p:grpSp>
          <p:sp>
            <p:nvSpPr>
              <p:cNvPr id="11307" name="Text Box 133"/>
              <p:cNvSpPr txBox="1">
                <a:spLocks noChangeArrowheads="1"/>
              </p:cNvSpPr>
              <p:nvPr/>
            </p:nvSpPr>
            <p:spPr bwMode="auto">
              <a:xfrm>
                <a:off x="1382" y="2643"/>
                <a:ext cx="213"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sp>
            <p:nvSpPr>
              <p:cNvPr id="11308" name="Text Box 134"/>
              <p:cNvSpPr txBox="1">
                <a:spLocks noChangeArrowheads="1"/>
              </p:cNvSpPr>
              <p:nvPr/>
            </p:nvSpPr>
            <p:spPr bwMode="auto">
              <a:xfrm>
                <a:off x="430" y="2643"/>
                <a:ext cx="214"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sp>
            <p:nvSpPr>
              <p:cNvPr id="11309" name="Text Box 135"/>
              <p:cNvSpPr txBox="1">
                <a:spLocks noChangeArrowheads="1"/>
              </p:cNvSpPr>
              <p:nvPr/>
            </p:nvSpPr>
            <p:spPr bwMode="auto">
              <a:xfrm>
                <a:off x="915" y="2707"/>
                <a:ext cx="161" cy="173"/>
              </a:xfrm>
              <a:prstGeom prst="rect">
                <a:avLst/>
              </a:prstGeom>
              <a:solidFill>
                <a:schemeClr val="bg1"/>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0</a:t>
                </a:r>
              </a:p>
            </p:txBody>
          </p:sp>
          <p:sp>
            <p:nvSpPr>
              <p:cNvPr id="11310" name="Line 137"/>
              <p:cNvSpPr>
                <a:spLocks noChangeShapeType="1"/>
              </p:cNvSpPr>
              <p:nvPr/>
            </p:nvSpPr>
            <p:spPr bwMode="auto">
              <a:xfrm>
                <a:off x="384" y="2552"/>
                <a:ext cx="137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nvGrpSpPr>
              <p:cNvPr id="11311" name="Group 138"/>
              <p:cNvGrpSpPr>
                <a:grpSpLocks/>
              </p:cNvGrpSpPr>
              <p:nvPr/>
            </p:nvGrpSpPr>
            <p:grpSpPr bwMode="auto">
              <a:xfrm>
                <a:off x="1044" y="2323"/>
                <a:ext cx="384" cy="317"/>
                <a:chOff x="1040" y="3642"/>
                <a:chExt cx="768" cy="317"/>
              </a:xfrm>
            </p:grpSpPr>
            <p:grpSp>
              <p:nvGrpSpPr>
                <p:cNvPr id="11314" name="Group 139"/>
                <p:cNvGrpSpPr>
                  <a:grpSpLocks/>
                </p:cNvGrpSpPr>
                <p:nvPr/>
              </p:nvGrpSpPr>
              <p:grpSpPr bwMode="auto">
                <a:xfrm>
                  <a:off x="1040" y="3642"/>
                  <a:ext cx="768" cy="317"/>
                  <a:chOff x="1040" y="3642"/>
                  <a:chExt cx="768" cy="317"/>
                </a:xfrm>
              </p:grpSpPr>
              <p:sp>
                <p:nvSpPr>
                  <p:cNvPr id="11316" name="AutoShape 140"/>
                  <p:cNvSpPr>
                    <a:spLocks noChangeArrowheads="1"/>
                  </p:cNvSpPr>
                  <p:nvPr/>
                </p:nvSpPr>
                <p:spPr bwMode="auto">
                  <a:xfrm>
                    <a:off x="1040" y="3744"/>
                    <a:ext cx="768" cy="207"/>
                  </a:xfrm>
                  <a:prstGeom prst="bracketPair">
                    <a:avLst>
                      <a:gd name="adj" fmla="val 16667"/>
                    </a:avLst>
                  </a:prstGeom>
                  <a:noFill/>
                  <a:ln w="15875">
                    <a:solidFill>
                      <a:srgbClr val="8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1317" name="Line 141"/>
                  <p:cNvSpPr>
                    <a:spLocks noChangeShapeType="1"/>
                  </p:cNvSpPr>
                  <p:nvPr/>
                </p:nvSpPr>
                <p:spPr bwMode="auto">
                  <a:xfrm>
                    <a:off x="1424" y="3642"/>
                    <a:ext cx="0" cy="317"/>
                  </a:xfrm>
                  <a:prstGeom prst="line">
                    <a:avLst/>
                  </a:prstGeom>
                  <a:noFill/>
                  <a:ln w="12700" cap="rnd">
                    <a:solidFill>
                      <a:srgbClr val="8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sp>
              <p:nvSpPr>
                <p:cNvPr id="11315" name="Rectangle 142"/>
                <p:cNvSpPr>
                  <a:spLocks noChangeArrowheads="1"/>
                </p:cNvSpPr>
                <p:nvPr/>
              </p:nvSpPr>
              <p:spPr bwMode="auto">
                <a:xfrm>
                  <a:off x="1041" y="3844"/>
                  <a:ext cx="764" cy="27"/>
                </a:xfrm>
                <a:prstGeom prst="rect">
                  <a:avLst/>
                </a:prstGeom>
                <a:solidFill>
                  <a:srgbClr val="800000">
                    <a:alpha val="59999"/>
                  </a:srgbClr>
                </a:solidFill>
                <a:ln>
                  <a:noFill/>
                </a:ln>
                <a:effectLst/>
                <a:extLs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aphicFrame>
            <p:nvGraphicFramePr>
              <p:cNvPr id="11312" name="Object 143"/>
              <p:cNvGraphicFramePr>
                <a:graphicFrameLocks noChangeAspect="1"/>
              </p:cNvGraphicFramePr>
              <p:nvPr/>
            </p:nvGraphicFramePr>
            <p:xfrm>
              <a:off x="981" y="2304"/>
              <a:ext cx="144" cy="111"/>
            </p:xfrm>
            <a:graphic>
              <a:graphicData uri="http://schemas.openxmlformats.org/presentationml/2006/ole">
                <mc:AlternateContent xmlns:mc="http://schemas.openxmlformats.org/markup-compatibility/2006">
                  <mc:Choice xmlns:v="urn:schemas-microsoft-com:vml" Requires="v">
                    <p:oleObj name="Equation" r:id="rId10" imgW="291973" imgH="228501" progId="Equation.DSMT4">
                      <p:embed/>
                    </p:oleObj>
                  </mc:Choice>
                  <mc:Fallback>
                    <p:oleObj name="Equation" r:id="rId10" imgW="291973" imgH="228501" progId="Equation.DSMT4">
                      <p:embed/>
                      <p:pic>
                        <p:nvPicPr>
                          <p:cNvPr id="11312" name="Object 14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1" y="2304"/>
                            <a:ext cx="144"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13" name="Object 144"/>
              <p:cNvGraphicFramePr>
                <a:graphicFrameLocks noChangeAspect="1"/>
              </p:cNvGraphicFramePr>
              <p:nvPr/>
            </p:nvGraphicFramePr>
            <p:xfrm>
              <a:off x="1369" y="2304"/>
              <a:ext cx="144" cy="111"/>
            </p:xfrm>
            <a:graphic>
              <a:graphicData uri="http://schemas.openxmlformats.org/presentationml/2006/ole">
                <mc:AlternateContent xmlns:mc="http://schemas.openxmlformats.org/markup-compatibility/2006">
                  <mc:Choice xmlns:v="urn:schemas-microsoft-com:vml" Requires="v">
                    <p:oleObj name="Equation" r:id="rId11" imgW="291973" imgH="228501" progId="Equation.DSMT4">
                      <p:embed/>
                    </p:oleObj>
                  </mc:Choice>
                  <mc:Fallback>
                    <p:oleObj name="Equation" r:id="rId11" imgW="291973" imgH="228501" progId="Equation.DSMT4">
                      <p:embed/>
                      <p:pic>
                        <p:nvPicPr>
                          <p:cNvPr id="11313" name="Object 14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69" y="2304"/>
                            <a:ext cx="144"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83" name="Group 194"/>
          <p:cNvGrpSpPr>
            <a:grpSpLocks/>
          </p:cNvGrpSpPr>
          <p:nvPr/>
        </p:nvGrpSpPr>
        <p:grpSpPr bwMode="auto">
          <a:xfrm>
            <a:off x="523875" y="4876800"/>
            <a:ext cx="8261350" cy="1447800"/>
            <a:chOff x="330" y="3162"/>
            <a:chExt cx="5204" cy="912"/>
          </a:xfrm>
        </p:grpSpPr>
        <p:grpSp>
          <p:nvGrpSpPr>
            <p:cNvPr id="84" name="Group 182"/>
            <p:cNvGrpSpPr>
              <a:grpSpLocks/>
            </p:cNvGrpSpPr>
            <p:nvPr/>
          </p:nvGrpSpPr>
          <p:grpSpPr bwMode="auto">
            <a:xfrm>
              <a:off x="336" y="3472"/>
              <a:ext cx="5198" cy="303"/>
              <a:chOff x="336" y="3431"/>
              <a:chExt cx="5198" cy="303"/>
            </a:xfrm>
          </p:grpSpPr>
          <p:sp>
            <p:nvSpPr>
              <p:cNvPr id="97" name="Text Box 161"/>
              <p:cNvSpPr txBox="1">
                <a:spLocks noChangeArrowheads="1"/>
              </p:cNvSpPr>
              <p:nvPr/>
            </p:nvSpPr>
            <p:spPr bwMode="auto">
              <a:xfrm>
                <a:off x="336" y="3495"/>
                <a:ext cx="113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Efecto de Cohen (1988)</a:t>
                </a:r>
                <a:endParaRPr lang="es-ES" altLang="es-ES"/>
              </a:p>
            </p:txBody>
          </p:sp>
          <p:graphicFrame>
            <p:nvGraphicFramePr>
              <p:cNvPr id="98" name="Object 165"/>
              <p:cNvGraphicFramePr>
                <a:graphicFrameLocks noChangeAspect="1"/>
              </p:cNvGraphicFramePr>
              <p:nvPr/>
            </p:nvGraphicFramePr>
            <p:xfrm>
              <a:off x="1584" y="3486"/>
              <a:ext cx="740" cy="191"/>
            </p:xfrm>
            <a:graphic>
              <a:graphicData uri="http://schemas.openxmlformats.org/presentationml/2006/ole">
                <mc:AlternateContent xmlns:mc="http://schemas.openxmlformats.org/markup-compatibility/2006">
                  <mc:Choice xmlns:v="urn:schemas-microsoft-com:vml" Requires="v">
                    <p:oleObj name="Equation" r:id="rId12" imgW="977476" imgH="253890" progId="Equation.DSMT4">
                      <p:embed/>
                    </p:oleObj>
                  </mc:Choice>
                  <mc:Fallback>
                    <p:oleObj name="Equation" r:id="rId12" imgW="977476" imgH="253890" progId="Equation.DSMT4">
                      <p:embed/>
                      <p:pic>
                        <p:nvPicPr>
                          <p:cNvPr id="98" name="Object 16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84" y="3486"/>
                            <a:ext cx="740"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9" name="Group 172"/>
              <p:cNvGrpSpPr>
                <a:grpSpLocks/>
              </p:cNvGrpSpPr>
              <p:nvPr/>
            </p:nvGrpSpPr>
            <p:grpSpPr bwMode="auto">
              <a:xfrm>
                <a:off x="2335" y="3431"/>
                <a:ext cx="3199" cy="303"/>
                <a:chOff x="2568" y="3519"/>
                <a:chExt cx="3199" cy="303"/>
              </a:xfrm>
            </p:grpSpPr>
            <p:graphicFrame>
              <p:nvGraphicFramePr>
                <p:cNvPr id="100" name="Object 169"/>
                <p:cNvGraphicFramePr>
                  <a:graphicFrameLocks noChangeAspect="1"/>
                </p:cNvGraphicFramePr>
                <p:nvPr/>
              </p:nvGraphicFramePr>
              <p:xfrm>
                <a:off x="2814" y="3522"/>
                <a:ext cx="116" cy="172"/>
              </p:xfrm>
              <a:graphic>
                <a:graphicData uri="http://schemas.openxmlformats.org/presentationml/2006/ole">
                  <mc:AlternateContent xmlns:mc="http://schemas.openxmlformats.org/markup-compatibility/2006">
                    <mc:Choice xmlns:v="urn:schemas-microsoft-com:vml" Requires="v">
                      <p:oleObj name="Equation" r:id="rId14" imgW="152334" imgH="228501" progId="Equation.DSMT4">
                        <p:embed/>
                      </p:oleObj>
                    </mc:Choice>
                    <mc:Fallback>
                      <p:oleObj name="Equation" r:id="rId14" imgW="152334" imgH="228501" progId="Equation.DSMT4">
                        <p:embed/>
                        <p:pic>
                          <p:nvPicPr>
                            <p:cNvPr id="100" name="Object 16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14" y="3522"/>
                              <a:ext cx="116"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 name="Text Box 171"/>
                <p:cNvSpPr txBox="1">
                  <a:spLocks noChangeArrowheads="1"/>
                </p:cNvSpPr>
                <p:nvPr/>
              </p:nvSpPr>
              <p:spPr bwMode="auto">
                <a:xfrm>
                  <a:off x="2568" y="3519"/>
                  <a:ext cx="3199"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dirty="0"/>
                    <a:t>con        la d.t. agrupada del test de Student, o la relativa al grupo de referencia</a:t>
                  </a:r>
                </a:p>
                <a:p>
                  <a:pPr eaLnBrk="1" hangingPunct="1">
                    <a:lnSpc>
                      <a:spcPct val="130000"/>
                    </a:lnSpc>
                  </a:pPr>
                  <a:r>
                    <a:rPr lang="es-ES_tradnl" altLang="es-ES" sz="1000" dirty="0"/>
                    <a:t>(</a:t>
                  </a:r>
                  <a:r>
                    <a:rPr lang="es-ES_tradnl" altLang="es-ES" sz="1100" i="1" dirty="0">
                      <a:latin typeface="Times New Roman" pitchFamily="18" charset="0"/>
                    </a:rPr>
                    <a:t>d </a:t>
                  </a:r>
                  <a:r>
                    <a:rPr lang="es-ES_tradnl" altLang="es-ES" sz="1000" dirty="0"/>
                    <a:t>~0.2 efecto no relevante; ~ 0.5 efecto moderado; &gt;0.8 efecto importante)</a:t>
                  </a:r>
                  <a:endParaRPr lang="es-ES" altLang="es-ES" sz="1000" dirty="0"/>
                </a:p>
              </p:txBody>
            </p:sp>
          </p:grpSp>
        </p:grpSp>
        <p:grpSp>
          <p:nvGrpSpPr>
            <p:cNvPr id="85" name="Group 183"/>
            <p:cNvGrpSpPr>
              <a:grpSpLocks/>
            </p:cNvGrpSpPr>
            <p:nvPr/>
          </p:nvGrpSpPr>
          <p:grpSpPr bwMode="auto">
            <a:xfrm>
              <a:off x="336" y="3840"/>
              <a:ext cx="4135" cy="191"/>
              <a:chOff x="336" y="3840"/>
              <a:chExt cx="4135" cy="191"/>
            </a:xfrm>
          </p:grpSpPr>
          <p:sp>
            <p:nvSpPr>
              <p:cNvPr id="92" name="Text Box 162"/>
              <p:cNvSpPr txBox="1">
                <a:spLocks noChangeArrowheads="1"/>
              </p:cNvSpPr>
              <p:nvPr/>
            </p:nvSpPr>
            <p:spPr bwMode="auto">
              <a:xfrm>
                <a:off x="336" y="3849"/>
                <a:ext cx="66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 de cambio</a:t>
                </a:r>
                <a:endParaRPr lang="es-ES" altLang="es-ES"/>
              </a:p>
            </p:txBody>
          </p:sp>
          <p:graphicFrame>
            <p:nvGraphicFramePr>
              <p:cNvPr id="93" name="Object 168"/>
              <p:cNvGraphicFramePr>
                <a:graphicFrameLocks noChangeAspect="1"/>
              </p:cNvGraphicFramePr>
              <p:nvPr/>
            </p:nvGraphicFramePr>
            <p:xfrm>
              <a:off x="1584" y="3840"/>
              <a:ext cx="1154" cy="191"/>
            </p:xfrm>
            <a:graphic>
              <a:graphicData uri="http://schemas.openxmlformats.org/presentationml/2006/ole">
                <mc:AlternateContent xmlns:mc="http://schemas.openxmlformats.org/markup-compatibility/2006">
                  <mc:Choice xmlns:v="urn:schemas-microsoft-com:vml" Requires="v">
                    <p:oleObj name="Equation" r:id="rId16" imgW="1524000" imgH="254000" progId="Equation.DSMT4">
                      <p:embed/>
                    </p:oleObj>
                  </mc:Choice>
                  <mc:Fallback>
                    <p:oleObj name="Equation" r:id="rId16" imgW="1524000" imgH="254000" progId="Equation.DSMT4">
                      <p:embed/>
                      <p:pic>
                        <p:nvPicPr>
                          <p:cNvPr id="93" name="Object 16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84" y="3840"/>
                            <a:ext cx="1154"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4" name="Group 177"/>
              <p:cNvGrpSpPr>
                <a:grpSpLocks/>
              </p:cNvGrpSpPr>
              <p:nvPr/>
            </p:nvGrpSpPr>
            <p:grpSpPr bwMode="auto">
              <a:xfrm>
                <a:off x="2784" y="3853"/>
                <a:ext cx="1687" cy="164"/>
                <a:chOff x="3223" y="2910"/>
                <a:chExt cx="1687" cy="164"/>
              </a:xfrm>
            </p:grpSpPr>
            <p:graphicFrame>
              <p:nvGraphicFramePr>
                <p:cNvPr id="95" name="Object 170"/>
                <p:cNvGraphicFramePr>
                  <a:graphicFrameLocks noChangeAspect="1"/>
                </p:cNvGraphicFramePr>
                <p:nvPr/>
              </p:nvGraphicFramePr>
              <p:xfrm>
                <a:off x="3456" y="2928"/>
                <a:ext cx="96" cy="144"/>
              </p:xfrm>
              <a:graphic>
                <a:graphicData uri="http://schemas.openxmlformats.org/presentationml/2006/ole">
                  <mc:AlternateContent xmlns:mc="http://schemas.openxmlformats.org/markup-compatibility/2006">
                    <mc:Choice xmlns:v="urn:schemas-microsoft-com:vml" Requires="v">
                      <p:oleObj name="Equation" r:id="rId18" imgW="152334" imgH="228501" progId="Equation.DSMT4">
                        <p:embed/>
                      </p:oleObj>
                    </mc:Choice>
                    <mc:Fallback>
                      <p:oleObj name="Equation" r:id="rId18" imgW="152334" imgH="228501" progId="Equation.DSMT4">
                        <p:embed/>
                        <p:pic>
                          <p:nvPicPr>
                            <p:cNvPr id="95" name="Object 17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56" y="2928"/>
                              <a:ext cx="96"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6" name="Text Box 175"/>
                <p:cNvSpPr txBox="1">
                  <a:spLocks noChangeArrowheads="1"/>
                </p:cNvSpPr>
                <p:nvPr/>
              </p:nvSpPr>
              <p:spPr bwMode="auto">
                <a:xfrm>
                  <a:off x="3223" y="2910"/>
                  <a:ext cx="1687"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a:t>con       la media del grupo de referencia</a:t>
                  </a:r>
                  <a:endParaRPr lang="es-ES" altLang="es-ES" sz="1100"/>
                </a:p>
              </p:txBody>
            </p:sp>
          </p:grpSp>
        </p:grpSp>
        <p:grpSp>
          <p:nvGrpSpPr>
            <p:cNvPr id="86" name="Group 184"/>
            <p:cNvGrpSpPr>
              <a:grpSpLocks/>
            </p:cNvGrpSpPr>
            <p:nvPr/>
          </p:nvGrpSpPr>
          <p:grpSpPr bwMode="auto">
            <a:xfrm>
              <a:off x="336" y="3192"/>
              <a:ext cx="5166" cy="269"/>
              <a:chOff x="336" y="3120"/>
              <a:chExt cx="5166" cy="269"/>
            </a:xfrm>
          </p:grpSpPr>
          <p:sp>
            <p:nvSpPr>
              <p:cNvPr id="88" name="Text Box 160"/>
              <p:cNvSpPr txBox="1">
                <a:spLocks noChangeArrowheads="1"/>
              </p:cNvSpPr>
              <p:nvPr/>
            </p:nvSpPr>
            <p:spPr bwMode="auto">
              <a:xfrm>
                <a:off x="336" y="3120"/>
                <a:ext cx="102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Omega cuadrado </a:t>
                </a:r>
              </a:p>
              <a:p>
                <a:pPr eaLnBrk="1" hangingPunct="1"/>
                <a:r>
                  <a:rPr lang="es-ES_tradnl" altLang="es-ES" sz="1000"/>
                  <a:t>(Thomas &amp; Nelson; 2001)</a:t>
                </a:r>
                <a:endParaRPr lang="es-ES" altLang="es-ES" sz="1000"/>
              </a:p>
            </p:txBody>
          </p:sp>
          <p:grpSp>
            <p:nvGrpSpPr>
              <p:cNvPr id="89" name="Group 181"/>
              <p:cNvGrpSpPr>
                <a:grpSpLocks/>
              </p:cNvGrpSpPr>
              <p:nvPr/>
            </p:nvGrpSpPr>
            <p:grpSpPr bwMode="auto">
              <a:xfrm>
                <a:off x="1584" y="3126"/>
                <a:ext cx="3918" cy="219"/>
                <a:chOff x="1584" y="3168"/>
                <a:chExt cx="3918" cy="219"/>
              </a:xfrm>
            </p:grpSpPr>
            <p:graphicFrame>
              <p:nvGraphicFramePr>
                <p:cNvPr id="90" name="Object 164"/>
                <p:cNvGraphicFramePr>
                  <a:graphicFrameLocks noChangeAspect="1"/>
                </p:cNvGraphicFramePr>
                <p:nvPr/>
              </p:nvGraphicFramePr>
              <p:xfrm>
                <a:off x="1584" y="3168"/>
                <a:ext cx="1536" cy="219"/>
              </p:xfrm>
              <a:graphic>
                <a:graphicData uri="http://schemas.openxmlformats.org/presentationml/2006/ole">
                  <mc:AlternateContent xmlns:mc="http://schemas.openxmlformats.org/markup-compatibility/2006">
                    <mc:Choice xmlns:v="urn:schemas-microsoft-com:vml" Requires="v">
                      <p:oleObj name="Equation" r:id="rId20" imgW="1955800" imgH="279400" progId="Equation.DSMT4">
                        <p:embed/>
                      </p:oleObj>
                    </mc:Choice>
                    <mc:Fallback>
                      <p:oleObj name="Equation" r:id="rId20" imgW="1955800" imgH="279400" progId="Equation.DSMT4">
                        <p:embed/>
                        <p:pic>
                          <p:nvPicPr>
                            <p:cNvPr id="90" name="Object 16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584" y="3168"/>
                              <a:ext cx="1536" cy="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 name="Text Box 180"/>
                <p:cNvSpPr txBox="1">
                  <a:spLocks noChangeArrowheads="1"/>
                </p:cNvSpPr>
                <p:nvPr/>
              </p:nvSpPr>
              <p:spPr bwMode="auto">
                <a:xfrm>
                  <a:off x="3120" y="3192"/>
                  <a:ext cx="238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a:t>% de variabilidad explicada por la variable de agrupación</a:t>
                  </a:r>
                  <a:endParaRPr lang="es-ES" altLang="es-ES" sz="1100"/>
                </a:p>
              </p:txBody>
            </p:sp>
          </p:grpSp>
        </p:grpSp>
        <p:sp>
          <p:nvSpPr>
            <p:cNvPr id="87" name="AutoShape 185"/>
            <p:cNvSpPr>
              <a:spLocks/>
            </p:cNvSpPr>
            <p:nvPr/>
          </p:nvSpPr>
          <p:spPr bwMode="auto">
            <a:xfrm>
              <a:off x="330" y="3162"/>
              <a:ext cx="48" cy="912"/>
            </a:xfrm>
            <a:prstGeom prst="leftBrace">
              <a:avLst>
                <a:gd name="adj1" fmla="val 15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102" name="101 Rectángulo redondeado"/>
          <p:cNvSpPr/>
          <p:nvPr/>
        </p:nvSpPr>
        <p:spPr bwMode="auto">
          <a:xfrm>
            <a:off x="409575" y="4642644"/>
            <a:ext cx="8429625" cy="1834356"/>
          </a:xfrm>
          <a:prstGeom prst="roundRect">
            <a:avLst>
              <a:gd name="adj" fmla="val 4345"/>
            </a:avLst>
          </a:prstGeom>
          <a:noFill/>
          <a:ln w="952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s-ES" sz="1200" b="0" i="0" u="none" strike="noStrike" cap="none" normalizeH="0" baseline="0">
              <a:ln>
                <a:noFill/>
              </a:ln>
              <a:solidFill>
                <a:schemeClr val="tx1"/>
              </a:solidFill>
              <a:effectLst/>
              <a:latin typeface="Arial" charset="0"/>
            </a:endParaRPr>
          </a:p>
        </p:txBody>
      </p:sp>
      <p:sp>
        <p:nvSpPr>
          <p:cNvPr id="103" name="Rectangle 153"/>
          <p:cNvSpPr>
            <a:spLocks noChangeArrowheads="1"/>
          </p:cNvSpPr>
          <p:nvPr/>
        </p:nvSpPr>
        <p:spPr bwMode="auto">
          <a:xfrm>
            <a:off x="574220" y="4518079"/>
            <a:ext cx="2571750" cy="274638"/>
          </a:xfrm>
          <a:prstGeom prst="rect">
            <a:avLst/>
          </a:prstGeom>
          <a:solidFill>
            <a:schemeClr val="bg1"/>
          </a:solidFill>
          <a:ln>
            <a:noFill/>
          </a:ln>
          <a:effec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i="1"/>
              <a:t>Medidas de efecto estandarizado</a:t>
            </a:r>
            <a:endParaRPr lang="es-ES" altLang="es-ES" b="1" i="1"/>
          </a:p>
        </p:txBody>
      </p:sp>
      <p:sp>
        <p:nvSpPr>
          <p:cNvPr id="104" name="Text Box 2"/>
          <p:cNvSpPr txBox="1">
            <a:spLocks noChangeArrowheads="1"/>
          </p:cNvSpPr>
          <p:nvPr/>
        </p:nvSpPr>
        <p:spPr bwMode="auto">
          <a:xfrm>
            <a:off x="236537" y="411163"/>
            <a:ext cx="334486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Prueba de homogeneidad de medias</a:t>
            </a:r>
            <a:endParaRPr lang="es-ES" altLang="es-ES" sz="1400" b="1"/>
          </a:p>
        </p:txBody>
      </p:sp>
      <p:sp>
        <p:nvSpPr>
          <p:cNvPr id="105" name="Text Box 2"/>
          <p:cNvSpPr txBox="1">
            <a:spLocks noChangeArrowheads="1"/>
          </p:cNvSpPr>
          <p:nvPr/>
        </p:nvSpPr>
        <p:spPr bwMode="auto">
          <a:xfrm>
            <a:off x="236537" y="76200"/>
            <a:ext cx="40116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 Variable normal</a:t>
            </a:r>
            <a:endParaRPr lang="es-ES" altLang="es-ES" sz="1400" b="1" dirty="0"/>
          </a:p>
        </p:txBody>
      </p:sp>
      <p:sp>
        <p:nvSpPr>
          <p:cNvPr id="106" name="CuadroTexto 105"/>
          <p:cNvSpPr txBox="1"/>
          <p:nvPr/>
        </p:nvSpPr>
        <p:spPr>
          <a:xfrm rot="1631544">
            <a:off x="8239871" y="4745432"/>
            <a:ext cx="686406" cy="169277"/>
          </a:xfrm>
          <a:prstGeom prst="rect">
            <a:avLst/>
          </a:prstGeom>
          <a:noFill/>
          <a:ln>
            <a:solidFill>
              <a:srgbClr val="C00000"/>
            </a:solidFill>
          </a:ln>
        </p:spPr>
        <p:txBody>
          <a:bodyPr wrap="none" rtlCol="0">
            <a:spAutoFit/>
          </a:bodyPr>
          <a:lstStyle/>
          <a:p>
            <a:r>
              <a:rPr lang="es-ES" sz="500" dirty="0">
                <a:solidFill>
                  <a:srgbClr val="FF0000"/>
                </a:solidFill>
              </a:rPr>
              <a:t>COMPLEMENTO</a:t>
            </a:r>
          </a:p>
        </p:txBody>
      </p:sp>
    </p:spTree>
    <p:extLst>
      <p:ext uri="{BB962C8B-B14F-4D97-AF65-F5344CB8AC3E}">
        <p14:creationId xmlns:p14="http://schemas.microsoft.com/office/powerpoint/2010/main" val="1092446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124"/>
          <p:cNvSpPr txBox="1">
            <a:spLocks noChangeArrowheads="1"/>
          </p:cNvSpPr>
          <p:nvPr/>
        </p:nvSpPr>
        <p:spPr bwMode="auto">
          <a:xfrm>
            <a:off x="409575" y="2605088"/>
            <a:ext cx="5591175" cy="290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 Para vincularlo a la potencia del test (1-</a:t>
            </a:r>
            <a:r>
              <a:rPr lang="es-ES_tradnl" altLang="es-ES" sz="1300">
                <a:latin typeface="Symbol" pitchFamily="18" charset="2"/>
              </a:rPr>
              <a:t>b</a:t>
            </a:r>
            <a:r>
              <a:rPr lang="es-ES_tradnl" altLang="es-ES"/>
              <a:t>), el IC se hace a nivel de error 2</a:t>
            </a:r>
            <a:r>
              <a:rPr lang="es-ES_tradnl" altLang="es-ES" sz="1300">
                <a:latin typeface="Symbol" pitchFamily="18" charset="2"/>
              </a:rPr>
              <a:t>b  </a:t>
            </a:r>
          </a:p>
        </p:txBody>
      </p:sp>
      <p:grpSp>
        <p:nvGrpSpPr>
          <p:cNvPr id="12291" name="Group 167"/>
          <p:cNvGrpSpPr>
            <a:grpSpLocks/>
          </p:cNvGrpSpPr>
          <p:nvPr/>
        </p:nvGrpSpPr>
        <p:grpSpPr bwMode="auto">
          <a:xfrm>
            <a:off x="409575" y="1743075"/>
            <a:ext cx="8277225" cy="771525"/>
            <a:chOff x="258" y="1050"/>
            <a:chExt cx="5214" cy="486"/>
          </a:xfrm>
        </p:grpSpPr>
        <p:sp>
          <p:nvSpPr>
            <p:cNvPr id="12374" name="AutoShape 126"/>
            <p:cNvSpPr>
              <a:spLocks/>
            </p:cNvSpPr>
            <p:nvPr/>
          </p:nvSpPr>
          <p:spPr bwMode="auto">
            <a:xfrm>
              <a:off x="2688" y="1056"/>
              <a:ext cx="48" cy="480"/>
            </a:xfrm>
            <a:prstGeom prst="leftBrace">
              <a:avLst>
                <a:gd name="adj1" fmla="val 8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2375" name="Text Box 127"/>
            <p:cNvSpPr txBox="1">
              <a:spLocks noChangeArrowheads="1"/>
            </p:cNvSpPr>
            <p:nvPr/>
          </p:nvSpPr>
          <p:spPr bwMode="auto">
            <a:xfrm>
              <a:off x="258" y="1200"/>
              <a:ext cx="2472"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 El estudio de la fiabilidad de </a:t>
              </a:r>
              <a:r>
                <a:rPr lang="es-ES_tradnl" altLang="es-ES" sz="1300">
                  <a:latin typeface="Times New Roman" pitchFamily="18" charset="0"/>
                </a:rPr>
                <a:t>H</a:t>
              </a:r>
              <a:r>
                <a:rPr lang="es-ES_tradnl" altLang="es-ES" baseline="-25000"/>
                <a:t>0</a:t>
              </a:r>
              <a:r>
                <a:rPr lang="es-ES_tradnl" altLang="es-ES"/>
                <a:t> requiere establecer:</a:t>
              </a:r>
              <a:endParaRPr lang="es-ES_tradnl" altLang="es-ES" sz="1000"/>
            </a:p>
          </p:txBody>
        </p:sp>
        <p:sp>
          <p:nvSpPr>
            <p:cNvPr id="12376" name="Text Box 128"/>
            <p:cNvSpPr txBox="1">
              <a:spLocks noChangeArrowheads="1"/>
            </p:cNvSpPr>
            <p:nvPr/>
          </p:nvSpPr>
          <p:spPr bwMode="auto">
            <a:xfrm>
              <a:off x="2736" y="1050"/>
              <a:ext cx="273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lnSpc>
                  <a:spcPct val="90000"/>
                </a:lnSpc>
                <a:buFontTx/>
                <a:buChar char="•"/>
              </a:pPr>
              <a:r>
                <a:rPr lang="es-ES_tradnl" altLang="es-ES"/>
                <a:t> La diferencia que se considere significativa </a:t>
              </a:r>
              <a:r>
                <a:rPr lang="es-ES_tradnl" altLang="es-ES" sz="1300">
                  <a:latin typeface="Symbol" pitchFamily="18" charset="2"/>
                </a:rPr>
                <a:t>d </a:t>
              </a:r>
              <a:r>
                <a:rPr lang="es-ES_tradnl" altLang="es-ES"/>
                <a:t>(como antes)</a:t>
              </a:r>
              <a:endParaRPr lang="es-ES_tradnl" altLang="es-ES">
                <a:latin typeface="Symbol" pitchFamily="18" charset="2"/>
              </a:endParaRPr>
            </a:p>
            <a:p>
              <a:pPr eaLnBrk="1" hangingPunct="1">
                <a:lnSpc>
                  <a:spcPct val="160000"/>
                </a:lnSpc>
                <a:buFontTx/>
                <a:buChar char="•"/>
              </a:pPr>
              <a:r>
                <a:rPr lang="es-ES_tradnl" altLang="es-ES"/>
                <a:t> El error de tipo II (</a:t>
              </a:r>
              <a:r>
                <a:rPr lang="es-ES_tradnl" altLang="es-ES">
                  <a:latin typeface="Symbol" pitchFamily="18" charset="2"/>
                </a:rPr>
                <a:t>b</a:t>
              </a:r>
              <a:r>
                <a:rPr lang="es-ES_tradnl" altLang="es-ES"/>
                <a:t>) máximo tolerable o equivalentemente</a:t>
              </a:r>
            </a:p>
            <a:p>
              <a:pPr eaLnBrk="1" hangingPunct="1"/>
              <a:r>
                <a:rPr lang="es-ES_tradnl" altLang="es-ES"/>
                <a:t>  La potencia (1-</a:t>
              </a:r>
              <a:r>
                <a:rPr lang="es-ES_tradnl" altLang="es-ES">
                  <a:latin typeface="Symbol" pitchFamily="18" charset="2"/>
                </a:rPr>
                <a:t>b</a:t>
              </a:r>
              <a:r>
                <a:rPr lang="es-ES_tradnl" altLang="es-ES"/>
                <a:t>) con que interesa detectar a </a:t>
              </a:r>
              <a:r>
                <a:rPr lang="es-ES_tradnl" altLang="es-ES" sz="1300">
                  <a:latin typeface="Symbol" pitchFamily="18" charset="2"/>
                </a:rPr>
                <a:t>d</a:t>
              </a:r>
              <a:endParaRPr lang="es-ES_tradnl" altLang="es-ES" sz="1000"/>
            </a:p>
          </p:txBody>
        </p:sp>
      </p:grpSp>
      <p:sp>
        <p:nvSpPr>
          <p:cNvPr id="12292" name="Text Box 136"/>
          <p:cNvSpPr txBox="1">
            <a:spLocks noChangeArrowheads="1"/>
          </p:cNvSpPr>
          <p:nvPr/>
        </p:nvSpPr>
        <p:spPr bwMode="auto">
          <a:xfrm>
            <a:off x="228600" y="981075"/>
            <a:ext cx="54006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solidFill>
                  <a:schemeClr val="bg1">
                    <a:lumMod val="65000"/>
                  </a:schemeClr>
                </a:solidFill>
              </a:rPr>
              <a:t>4. Análisis de la significación: IC para la diferencia de medias </a:t>
            </a:r>
            <a:endParaRPr lang="es-ES" altLang="es-ES" sz="1400" b="1">
              <a:solidFill>
                <a:schemeClr val="bg1">
                  <a:lumMod val="65000"/>
                </a:schemeClr>
              </a:solidFill>
            </a:endParaRPr>
          </a:p>
        </p:txBody>
      </p:sp>
      <p:sp>
        <p:nvSpPr>
          <p:cNvPr id="12293" name="Text Box 137"/>
          <p:cNvSpPr txBox="1">
            <a:spLocks noChangeArrowheads="1"/>
          </p:cNvSpPr>
          <p:nvPr/>
        </p:nvSpPr>
        <p:spPr bwMode="auto">
          <a:xfrm>
            <a:off x="409575" y="1371600"/>
            <a:ext cx="56102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b)</a:t>
            </a:r>
            <a:r>
              <a:rPr lang="es-ES_tradnl" altLang="es-ES"/>
              <a:t> </a:t>
            </a:r>
            <a:r>
              <a:rPr lang="es-ES_tradnl" altLang="es-ES" b="1"/>
              <a:t>Si el test NO ha sido significativo: Fiabilidad de la decisión por H</a:t>
            </a:r>
            <a:r>
              <a:rPr lang="es-ES_tradnl" altLang="es-ES" b="1" baseline="-25000"/>
              <a:t>0</a:t>
            </a:r>
            <a:endParaRPr lang="es-ES" altLang="es-ES" sz="1300" b="1" baseline="-25000"/>
          </a:p>
        </p:txBody>
      </p:sp>
      <p:sp>
        <p:nvSpPr>
          <p:cNvPr id="12294" name="Text Box 144"/>
          <p:cNvSpPr txBox="1">
            <a:spLocks noChangeArrowheads="1"/>
          </p:cNvSpPr>
          <p:nvPr/>
        </p:nvSpPr>
        <p:spPr bwMode="auto">
          <a:xfrm>
            <a:off x="504825" y="3335338"/>
            <a:ext cx="3429000"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i="1"/>
              <a:t>¿a qué le llamamos “no diferencia”?</a:t>
            </a:r>
            <a:endParaRPr lang="es-ES_tradnl" altLang="es-ES" sz="1100" i="1">
              <a:latin typeface="Symbol" pitchFamily="18" charset="2"/>
            </a:endParaRPr>
          </a:p>
        </p:txBody>
      </p:sp>
      <p:grpSp>
        <p:nvGrpSpPr>
          <p:cNvPr id="12295" name="Group 150"/>
          <p:cNvGrpSpPr>
            <a:grpSpLocks/>
          </p:cNvGrpSpPr>
          <p:nvPr/>
        </p:nvGrpSpPr>
        <p:grpSpPr bwMode="auto">
          <a:xfrm>
            <a:off x="409575" y="3059113"/>
            <a:ext cx="5029200" cy="290512"/>
            <a:chOff x="336" y="3696"/>
            <a:chExt cx="3168" cy="183"/>
          </a:xfrm>
        </p:grpSpPr>
        <p:sp>
          <p:nvSpPr>
            <p:cNvPr id="12372" name="Text Box 148"/>
            <p:cNvSpPr txBox="1">
              <a:spLocks noChangeArrowheads="1"/>
            </p:cNvSpPr>
            <p:nvPr/>
          </p:nvSpPr>
          <p:spPr bwMode="auto">
            <a:xfrm>
              <a:off x="336" y="3696"/>
              <a:ext cx="3168"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 ¿Qué valores toma el intervalo                               respecto a </a:t>
              </a:r>
              <a:r>
                <a:rPr lang="es-ES_tradnl" altLang="es-ES" sz="1300">
                  <a:latin typeface="Symbol" pitchFamily="18" charset="2"/>
                </a:rPr>
                <a:t>d</a:t>
              </a:r>
              <a:r>
                <a:rPr lang="es-ES_tradnl" altLang="es-ES"/>
                <a:t>?</a:t>
              </a:r>
              <a:endParaRPr lang="es-ES" altLang="es-ES"/>
            </a:p>
          </p:txBody>
        </p:sp>
        <p:graphicFrame>
          <p:nvGraphicFramePr>
            <p:cNvPr id="12373" name="Object 149"/>
            <p:cNvGraphicFramePr>
              <a:graphicFrameLocks noChangeAspect="1"/>
            </p:cNvGraphicFramePr>
            <p:nvPr/>
          </p:nvGraphicFramePr>
          <p:xfrm>
            <a:off x="1794" y="3696"/>
            <a:ext cx="745" cy="177"/>
          </p:xfrm>
          <a:graphic>
            <a:graphicData uri="http://schemas.openxmlformats.org/presentationml/2006/ole">
              <mc:AlternateContent xmlns:mc="http://schemas.openxmlformats.org/markup-compatibility/2006">
                <mc:Choice xmlns:v="urn:schemas-microsoft-com:vml" Requires="v">
                  <p:oleObj name="Equation" r:id="rId2" imgW="1117115" imgH="266584" progId="Equation.DSMT4">
                    <p:embed/>
                  </p:oleObj>
                </mc:Choice>
                <mc:Fallback>
                  <p:oleObj name="Equation" r:id="rId2" imgW="1117115" imgH="266584" progId="Equation.DSMT4">
                    <p:embed/>
                    <p:pic>
                      <p:nvPicPr>
                        <p:cNvPr id="12373" name="Object 1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4" y="3696"/>
                          <a:ext cx="745" cy="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2296" name="Group 169"/>
          <p:cNvGrpSpPr>
            <a:grpSpLocks/>
          </p:cNvGrpSpPr>
          <p:nvPr/>
        </p:nvGrpSpPr>
        <p:grpSpPr bwMode="auto">
          <a:xfrm>
            <a:off x="838200" y="3929063"/>
            <a:ext cx="8313738" cy="2209800"/>
            <a:chOff x="528" y="2448"/>
            <a:chExt cx="5237" cy="1392"/>
          </a:xfrm>
        </p:grpSpPr>
        <p:grpSp>
          <p:nvGrpSpPr>
            <p:cNvPr id="12322" name="Group 166"/>
            <p:cNvGrpSpPr>
              <a:grpSpLocks/>
            </p:cNvGrpSpPr>
            <p:nvPr/>
          </p:nvGrpSpPr>
          <p:grpSpPr bwMode="auto">
            <a:xfrm>
              <a:off x="528" y="2448"/>
              <a:ext cx="4295" cy="657"/>
              <a:chOff x="240" y="2094"/>
              <a:chExt cx="4295" cy="657"/>
            </a:xfrm>
          </p:grpSpPr>
          <p:grpSp>
            <p:nvGrpSpPr>
              <p:cNvPr id="12347" name="Group 22"/>
              <p:cNvGrpSpPr>
                <a:grpSpLocks/>
              </p:cNvGrpSpPr>
              <p:nvPr/>
            </p:nvGrpSpPr>
            <p:grpSpPr bwMode="auto">
              <a:xfrm>
                <a:off x="1463" y="2094"/>
                <a:ext cx="1564" cy="657"/>
                <a:chOff x="2400" y="3504"/>
                <a:chExt cx="1564" cy="657"/>
              </a:xfrm>
            </p:grpSpPr>
            <p:grpSp>
              <p:nvGrpSpPr>
                <p:cNvPr id="12354" name="Group 23"/>
                <p:cNvGrpSpPr>
                  <a:grpSpLocks/>
                </p:cNvGrpSpPr>
                <p:nvPr/>
              </p:nvGrpSpPr>
              <p:grpSpPr bwMode="auto">
                <a:xfrm>
                  <a:off x="2736" y="3646"/>
                  <a:ext cx="384" cy="317"/>
                  <a:chOff x="1040" y="3642"/>
                  <a:chExt cx="768" cy="317"/>
                </a:xfrm>
              </p:grpSpPr>
              <p:grpSp>
                <p:nvGrpSpPr>
                  <p:cNvPr id="12368" name="Group 24"/>
                  <p:cNvGrpSpPr>
                    <a:grpSpLocks/>
                  </p:cNvGrpSpPr>
                  <p:nvPr/>
                </p:nvGrpSpPr>
                <p:grpSpPr bwMode="auto">
                  <a:xfrm>
                    <a:off x="1040" y="3642"/>
                    <a:ext cx="768" cy="317"/>
                    <a:chOff x="1040" y="3642"/>
                    <a:chExt cx="768" cy="317"/>
                  </a:xfrm>
                </p:grpSpPr>
                <p:sp>
                  <p:nvSpPr>
                    <p:cNvPr id="12370" name="AutoShape 25"/>
                    <p:cNvSpPr>
                      <a:spLocks noChangeArrowheads="1"/>
                    </p:cNvSpPr>
                    <p:nvPr/>
                  </p:nvSpPr>
                  <p:spPr bwMode="auto">
                    <a:xfrm>
                      <a:off x="1040" y="3744"/>
                      <a:ext cx="768" cy="207"/>
                    </a:xfrm>
                    <a:prstGeom prst="bracketPair">
                      <a:avLst>
                        <a:gd name="adj" fmla="val 16667"/>
                      </a:avLst>
                    </a:prstGeom>
                    <a:noFill/>
                    <a:ln w="15875">
                      <a:solidFill>
                        <a:srgbClr val="8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2371" name="Line 26"/>
                    <p:cNvSpPr>
                      <a:spLocks noChangeShapeType="1"/>
                    </p:cNvSpPr>
                    <p:nvPr/>
                  </p:nvSpPr>
                  <p:spPr bwMode="auto">
                    <a:xfrm>
                      <a:off x="1424" y="3642"/>
                      <a:ext cx="0" cy="317"/>
                    </a:xfrm>
                    <a:prstGeom prst="line">
                      <a:avLst/>
                    </a:prstGeom>
                    <a:noFill/>
                    <a:ln w="12700" cap="rnd">
                      <a:solidFill>
                        <a:srgbClr val="8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sp>
                <p:nvSpPr>
                  <p:cNvPr id="12369" name="Rectangle 27"/>
                  <p:cNvSpPr>
                    <a:spLocks noChangeArrowheads="1"/>
                  </p:cNvSpPr>
                  <p:nvPr/>
                </p:nvSpPr>
                <p:spPr bwMode="auto">
                  <a:xfrm>
                    <a:off x="1041" y="3844"/>
                    <a:ext cx="764" cy="27"/>
                  </a:xfrm>
                  <a:prstGeom prst="rect">
                    <a:avLst/>
                  </a:prstGeom>
                  <a:solidFill>
                    <a:srgbClr val="800000">
                      <a:alpha val="59999"/>
                    </a:srgbClr>
                  </a:solidFill>
                  <a:ln>
                    <a:noFill/>
                  </a:ln>
                  <a:effectLst/>
                  <a:extLs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pSp>
              <p:nvGrpSpPr>
                <p:cNvPr id="12355" name="Group 28"/>
                <p:cNvGrpSpPr>
                  <a:grpSpLocks/>
                </p:cNvGrpSpPr>
                <p:nvPr/>
              </p:nvGrpSpPr>
              <p:grpSpPr bwMode="auto">
                <a:xfrm>
                  <a:off x="2541" y="3763"/>
                  <a:ext cx="848" cy="398"/>
                  <a:chOff x="909" y="3759"/>
                  <a:chExt cx="848" cy="398"/>
                </a:xfrm>
              </p:grpSpPr>
              <p:sp>
                <p:nvSpPr>
                  <p:cNvPr id="12360" name="Line 29"/>
                  <p:cNvSpPr>
                    <a:spLocks noChangeShapeType="1"/>
                  </p:cNvSpPr>
                  <p:nvPr/>
                </p:nvSpPr>
                <p:spPr bwMode="auto">
                  <a:xfrm>
                    <a:off x="1344" y="3759"/>
                    <a:ext cx="0" cy="259"/>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nvGrpSpPr>
                  <p:cNvPr id="12361" name="Group 30"/>
                  <p:cNvGrpSpPr>
                    <a:grpSpLocks/>
                  </p:cNvGrpSpPr>
                  <p:nvPr/>
                </p:nvGrpSpPr>
                <p:grpSpPr bwMode="auto">
                  <a:xfrm>
                    <a:off x="909" y="3819"/>
                    <a:ext cx="848" cy="338"/>
                    <a:chOff x="909" y="3819"/>
                    <a:chExt cx="848" cy="338"/>
                  </a:xfrm>
                </p:grpSpPr>
                <p:sp>
                  <p:nvSpPr>
                    <p:cNvPr id="12362" name="Line 31"/>
                    <p:cNvSpPr>
                      <a:spLocks noChangeShapeType="1"/>
                    </p:cNvSpPr>
                    <p:nvPr/>
                  </p:nvSpPr>
                  <p:spPr bwMode="auto">
                    <a:xfrm>
                      <a:off x="1022" y="3886"/>
                      <a:ext cx="644" cy="0"/>
                    </a:xfrm>
                    <a:prstGeom prst="line">
                      <a:avLst/>
                    </a:prstGeom>
                    <a:noFill/>
                    <a:ln w="57150">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2363" name="AutoShape 32"/>
                    <p:cNvSpPr>
                      <a:spLocks noChangeArrowheads="1"/>
                    </p:cNvSpPr>
                    <p:nvPr/>
                  </p:nvSpPr>
                  <p:spPr bwMode="auto">
                    <a:xfrm>
                      <a:off x="1015" y="3819"/>
                      <a:ext cx="658" cy="135"/>
                    </a:xfrm>
                    <a:prstGeom prst="bracketPair">
                      <a:avLst>
                        <a:gd name="adj" fmla="val 16667"/>
                      </a:avLst>
                    </a:prstGeom>
                    <a:noFill/>
                    <a:ln w="15875">
                      <a:solidFill>
                        <a:schemeClr val="accent2"/>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endParaRPr lang="es-ES" altLang="es-ES">
                        <a:cs typeface="Arial" pitchFamily="34" charset="0"/>
                      </a:endParaRPr>
                    </a:p>
                  </p:txBody>
                </p:sp>
                <p:grpSp>
                  <p:nvGrpSpPr>
                    <p:cNvPr id="12364" name="Group 33"/>
                    <p:cNvGrpSpPr>
                      <a:grpSpLocks/>
                    </p:cNvGrpSpPr>
                    <p:nvPr/>
                  </p:nvGrpSpPr>
                  <p:grpSpPr bwMode="auto">
                    <a:xfrm>
                      <a:off x="909" y="3959"/>
                      <a:ext cx="848" cy="198"/>
                      <a:chOff x="909" y="3959"/>
                      <a:chExt cx="848" cy="198"/>
                    </a:xfrm>
                  </p:grpSpPr>
                  <p:sp>
                    <p:nvSpPr>
                      <p:cNvPr id="12365" name="Text Box 34"/>
                      <p:cNvSpPr txBox="1">
                        <a:spLocks noChangeArrowheads="1"/>
                      </p:cNvSpPr>
                      <p:nvPr/>
                    </p:nvSpPr>
                    <p:spPr bwMode="auto">
                      <a:xfrm>
                        <a:off x="1544" y="3959"/>
                        <a:ext cx="213"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sp>
                    <p:nvSpPr>
                      <p:cNvPr id="12366" name="Text Box 35"/>
                      <p:cNvSpPr txBox="1">
                        <a:spLocks noChangeArrowheads="1"/>
                      </p:cNvSpPr>
                      <p:nvPr/>
                    </p:nvSpPr>
                    <p:spPr bwMode="auto">
                      <a:xfrm>
                        <a:off x="909" y="3959"/>
                        <a:ext cx="214"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sp>
                    <p:nvSpPr>
                      <p:cNvPr id="12367" name="Text Box 36"/>
                      <p:cNvSpPr txBox="1">
                        <a:spLocks noChangeArrowheads="1"/>
                      </p:cNvSpPr>
                      <p:nvPr/>
                    </p:nvSpPr>
                    <p:spPr bwMode="auto">
                      <a:xfrm>
                        <a:off x="1263" y="3984"/>
                        <a:ext cx="161" cy="173"/>
                      </a:xfrm>
                      <a:prstGeom prst="rect">
                        <a:avLst/>
                      </a:prstGeom>
                      <a:solidFill>
                        <a:schemeClr val="bg1">
                          <a:alpha val="25882"/>
                        </a:schemeClr>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0</a:t>
                        </a:r>
                      </a:p>
                    </p:txBody>
                  </p:sp>
                </p:grpSp>
              </p:grpSp>
            </p:grpSp>
            <p:sp>
              <p:nvSpPr>
                <p:cNvPr id="12356" name="Line 37"/>
                <p:cNvSpPr>
                  <a:spLocks noChangeShapeType="1"/>
                </p:cNvSpPr>
                <p:nvPr/>
              </p:nvSpPr>
              <p:spPr bwMode="auto">
                <a:xfrm>
                  <a:off x="2400" y="3875"/>
                  <a:ext cx="156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aphicFrame>
              <p:nvGraphicFramePr>
                <p:cNvPr id="12357" name="Object 38"/>
                <p:cNvGraphicFramePr>
                  <a:graphicFrameLocks noChangeAspect="1"/>
                </p:cNvGraphicFramePr>
                <p:nvPr/>
              </p:nvGraphicFramePr>
              <p:xfrm>
                <a:off x="2784" y="3504"/>
                <a:ext cx="288" cy="134"/>
              </p:xfrm>
              <a:graphic>
                <a:graphicData uri="http://schemas.openxmlformats.org/presentationml/2006/ole">
                  <mc:AlternateContent xmlns:mc="http://schemas.openxmlformats.org/markup-compatibility/2006">
                    <mc:Choice xmlns:v="urn:schemas-microsoft-com:vml" Requires="v">
                      <p:oleObj name="Equation" r:id="rId4" imgW="723586" imgH="342751" progId="Equation.DSMT4">
                        <p:embed/>
                      </p:oleObj>
                    </mc:Choice>
                    <mc:Fallback>
                      <p:oleObj name="Equation" r:id="rId4" imgW="723586" imgH="342751" progId="Equation.DSMT4">
                        <p:embed/>
                        <p:pic>
                          <p:nvPicPr>
                            <p:cNvPr id="12357" name="Object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4" y="3504"/>
                              <a:ext cx="288"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58" name="Object 39"/>
                <p:cNvGraphicFramePr>
                  <a:graphicFrameLocks noChangeAspect="1"/>
                </p:cNvGraphicFramePr>
                <p:nvPr/>
              </p:nvGraphicFramePr>
              <p:xfrm>
                <a:off x="2669" y="3627"/>
                <a:ext cx="144" cy="111"/>
              </p:xfrm>
              <a:graphic>
                <a:graphicData uri="http://schemas.openxmlformats.org/presentationml/2006/ole">
                  <mc:AlternateContent xmlns:mc="http://schemas.openxmlformats.org/markup-compatibility/2006">
                    <mc:Choice xmlns:v="urn:schemas-microsoft-com:vml" Requires="v">
                      <p:oleObj name="Equation" r:id="rId6" imgW="291973" imgH="228501" progId="Equation.DSMT4">
                        <p:embed/>
                      </p:oleObj>
                    </mc:Choice>
                    <mc:Fallback>
                      <p:oleObj name="Equation" r:id="rId6" imgW="291973" imgH="228501" progId="Equation.DSMT4">
                        <p:embed/>
                        <p:pic>
                          <p:nvPicPr>
                            <p:cNvPr id="12358" name="Object 3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69" y="3627"/>
                              <a:ext cx="144"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59" name="Object 40"/>
                <p:cNvGraphicFramePr>
                  <a:graphicFrameLocks noChangeAspect="1"/>
                </p:cNvGraphicFramePr>
                <p:nvPr/>
              </p:nvGraphicFramePr>
              <p:xfrm>
                <a:off x="3057" y="3600"/>
                <a:ext cx="144" cy="111"/>
              </p:xfrm>
              <a:graphic>
                <a:graphicData uri="http://schemas.openxmlformats.org/presentationml/2006/ole">
                  <mc:AlternateContent xmlns:mc="http://schemas.openxmlformats.org/markup-compatibility/2006">
                    <mc:Choice xmlns:v="urn:schemas-microsoft-com:vml" Requires="v">
                      <p:oleObj name="Equation" r:id="rId8" imgW="291973" imgH="228501" progId="Equation.DSMT4">
                        <p:embed/>
                      </p:oleObj>
                    </mc:Choice>
                    <mc:Fallback>
                      <p:oleObj name="Equation" r:id="rId8" imgW="291973" imgH="228501" progId="Equation.DSMT4">
                        <p:embed/>
                        <p:pic>
                          <p:nvPicPr>
                            <p:cNvPr id="12359" name="Object 4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57" y="3600"/>
                              <a:ext cx="144"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2348" name="Rectangle 133"/>
              <p:cNvSpPr>
                <a:spLocks noChangeArrowheads="1"/>
              </p:cNvSpPr>
              <p:nvPr/>
            </p:nvSpPr>
            <p:spPr bwMode="auto">
              <a:xfrm>
                <a:off x="240" y="2371"/>
                <a:ext cx="1057"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 Decisión por </a:t>
                </a:r>
                <a:r>
                  <a:rPr lang="es-ES_tradnl" altLang="es-ES">
                    <a:latin typeface="Times New Roman" pitchFamily="18" charset="0"/>
                  </a:rPr>
                  <a:t>H</a:t>
                </a:r>
                <a:r>
                  <a:rPr lang="es-ES_tradnl" altLang="es-ES" baseline="-25000">
                    <a:latin typeface="Times New Roman" pitchFamily="18" charset="0"/>
                  </a:rPr>
                  <a:t>0</a:t>
                </a:r>
                <a:r>
                  <a:rPr lang="es-ES_tradnl" altLang="es-ES"/>
                  <a:t> fiable</a:t>
                </a:r>
                <a:endParaRPr lang="es-ES" altLang="es-ES"/>
              </a:p>
            </p:txBody>
          </p:sp>
          <p:grpSp>
            <p:nvGrpSpPr>
              <p:cNvPr id="12349" name="Group 157"/>
              <p:cNvGrpSpPr>
                <a:grpSpLocks/>
              </p:cNvGrpSpPr>
              <p:nvPr/>
            </p:nvGrpSpPr>
            <p:grpSpPr bwMode="auto">
              <a:xfrm>
                <a:off x="3095" y="2295"/>
                <a:ext cx="1440" cy="314"/>
                <a:chOff x="3459" y="2400"/>
                <a:chExt cx="1440" cy="314"/>
              </a:xfrm>
            </p:grpSpPr>
            <p:graphicFrame>
              <p:nvGraphicFramePr>
                <p:cNvPr id="12350" name="Object 153"/>
                <p:cNvGraphicFramePr>
                  <a:graphicFrameLocks noChangeAspect="1"/>
                </p:cNvGraphicFramePr>
                <p:nvPr/>
              </p:nvGraphicFramePr>
              <p:xfrm>
                <a:off x="3504" y="2400"/>
                <a:ext cx="745" cy="177"/>
              </p:xfrm>
              <a:graphic>
                <a:graphicData uri="http://schemas.openxmlformats.org/presentationml/2006/ole">
                  <mc:AlternateContent xmlns:mc="http://schemas.openxmlformats.org/markup-compatibility/2006">
                    <mc:Choice xmlns:v="urn:schemas-microsoft-com:vml" Requires="v">
                      <p:oleObj name="Equation" r:id="rId10" imgW="1117115" imgH="266584" progId="Equation.DSMT4">
                        <p:embed/>
                      </p:oleObj>
                    </mc:Choice>
                    <mc:Fallback>
                      <p:oleObj name="Equation" r:id="rId10" imgW="1117115" imgH="266584" progId="Equation.DSMT4">
                        <p:embed/>
                        <p:pic>
                          <p:nvPicPr>
                            <p:cNvPr id="12350" name="Object 15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4" y="2400"/>
                              <a:ext cx="745" cy="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351" name="Group 156"/>
                <p:cNvGrpSpPr>
                  <a:grpSpLocks/>
                </p:cNvGrpSpPr>
                <p:nvPr/>
              </p:nvGrpSpPr>
              <p:grpSpPr bwMode="auto">
                <a:xfrm>
                  <a:off x="3459" y="2541"/>
                  <a:ext cx="1440" cy="173"/>
                  <a:chOff x="3459" y="2541"/>
                  <a:chExt cx="1440" cy="173"/>
                </a:xfrm>
              </p:grpSpPr>
              <p:sp>
                <p:nvSpPr>
                  <p:cNvPr id="12352" name="Text Box 152"/>
                  <p:cNvSpPr txBox="1">
                    <a:spLocks noChangeArrowheads="1"/>
                  </p:cNvSpPr>
                  <p:nvPr/>
                </p:nvSpPr>
                <p:spPr bwMode="auto">
                  <a:xfrm>
                    <a:off x="3459" y="2541"/>
                    <a:ext cx="14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no toma valores mas allá de </a:t>
                    </a:r>
                    <a:endParaRPr lang="es-ES" altLang="es-ES"/>
                  </a:p>
                </p:txBody>
              </p:sp>
              <p:graphicFrame>
                <p:nvGraphicFramePr>
                  <p:cNvPr id="12353" name="Object 155"/>
                  <p:cNvGraphicFramePr>
                    <a:graphicFrameLocks noChangeAspect="1"/>
                  </p:cNvGraphicFramePr>
                  <p:nvPr/>
                </p:nvGraphicFramePr>
                <p:xfrm>
                  <a:off x="4734" y="2568"/>
                  <a:ext cx="144" cy="118"/>
                </p:xfrm>
                <a:graphic>
                  <a:graphicData uri="http://schemas.openxmlformats.org/presentationml/2006/ole">
                    <mc:AlternateContent xmlns:mc="http://schemas.openxmlformats.org/markup-compatibility/2006">
                      <mc:Choice xmlns:v="urn:schemas-microsoft-com:vml" Requires="v">
                        <p:oleObj name="Equation" r:id="rId11" imgW="215619" imgH="177569" progId="Equation.DSMT4">
                          <p:embed/>
                        </p:oleObj>
                      </mc:Choice>
                      <mc:Fallback>
                        <p:oleObj name="Equation" r:id="rId11" imgW="215619" imgH="177569" progId="Equation.DSMT4">
                          <p:embed/>
                          <p:pic>
                            <p:nvPicPr>
                              <p:cNvPr id="12353" name="Object 15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34" y="2568"/>
                                <a:ext cx="144" cy="1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grpSp>
          <p:nvGrpSpPr>
            <p:cNvPr id="12323" name="Group 165"/>
            <p:cNvGrpSpPr>
              <a:grpSpLocks/>
            </p:cNvGrpSpPr>
            <p:nvPr/>
          </p:nvGrpSpPr>
          <p:grpSpPr bwMode="auto">
            <a:xfrm>
              <a:off x="528" y="3207"/>
              <a:ext cx="5237" cy="633"/>
              <a:chOff x="258" y="2775"/>
              <a:chExt cx="5237" cy="633"/>
            </a:xfrm>
          </p:grpSpPr>
          <p:sp>
            <p:nvSpPr>
              <p:cNvPr id="12324" name="Rectangle 132"/>
              <p:cNvSpPr>
                <a:spLocks noChangeArrowheads="1"/>
              </p:cNvSpPr>
              <p:nvPr/>
            </p:nvSpPr>
            <p:spPr bwMode="auto">
              <a:xfrm>
                <a:off x="258" y="3037"/>
                <a:ext cx="116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Decisión por </a:t>
                </a:r>
                <a:r>
                  <a:rPr lang="es-ES_tradnl" altLang="es-ES">
                    <a:latin typeface="Times New Roman" pitchFamily="18" charset="0"/>
                  </a:rPr>
                  <a:t>H</a:t>
                </a:r>
                <a:r>
                  <a:rPr lang="es-ES_tradnl" altLang="es-ES" baseline="-25000">
                    <a:latin typeface="Times New Roman" pitchFamily="18" charset="0"/>
                  </a:rPr>
                  <a:t>0</a:t>
                </a:r>
                <a:r>
                  <a:rPr lang="es-ES_tradnl" altLang="es-ES"/>
                  <a:t> no fiable</a:t>
                </a:r>
                <a:endParaRPr lang="es-ES" altLang="es-ES"/>
              </a:p>
            </p:txBody>
          </p:sp>
          <p:grpSp>
            <p:nvGrpSpPr>
              <p:cNvPr id="12325" name="Group 3"/>
              <p:cNvGrpSpPr>
                <a:grpSpLocks/>
              </p:cNvGrpSpPr>
              <p:nvPr/>
            </p:nvGrpSpPr>
            <p:grpSpPr bwMode="auto">
              <a:xfrm>
                <a:off x="1463" y="2775"/>
                <a:ext cx="1564" cy="633"/>
                <a:chOff x="768" y="3524"/>
                <a:chExt cx="1564" cy="633"/>
              </a:xfrm>
            </p:grpSpPr>
            <p:grpSp>
              <p:nvGrpSpPr>
                <p:cNvPr id="12329" name="Group 4"/>
                <p:cNvGrpSpPr>
                  <a:grpSpLocks/>
                </p:cNvGrpSpPr>
                <p:nvPr/>
              </p:nvGrpSpPr>
              <p:grpSpPr bwMode="auto">
                <a:xfrm>
                  <a:off x="1104" y="3642"/>
                  <a:ext cx="704" cy="317"/>
                  <a:chOff x="1040" y="3642"/>
                  <a:chExt cx="768" cy="317"/>
                </a:xfrm>
              </p:grpSpPr>
              <p:grpSp>
                <p:nvGrpSpPr>
                  <p:cNvPr id="12343" name="Group 5"/>
                  <p:cNvGrpSpPr>
                    <a:grpSpLocks/>
                  </p:cNvGrpSpPr>
                  <p:nvPr/>
                </p:nvGrpSpPr>
                <p:grpSpPr bwMode="auto">
                  <a:xfrm>
                    <a:off x="1040" y="3642"/>
                    <a:ext cx="768" cy="317"/>
                    <a:chOff x="1040" y="3642"/>
                    <a:chExt cx="768" cy="317"/>
                  </a:xfrm>
                </p:grpSpPr>
                <p:sp>
                  <p:nvSpPr>
                    <p:cNvPr id="12345" name="AutoShape 6"/>
                    <p:cNvSpPr>
                      <a:spLocks noChangeArrowheads="1"/>
                    </p:cNvSpPr>
                    <p:nvPr/>
                  </p:nvSpPr>
                  <p:spPr bwMode="auto">
                    <a:xfrm>
                      <a:off x="1040" y="3744"/>
                      <a:ext cx="768" cy="207"/>
                    </a:xfrm>
                    <a:prstGeom prst="bracketPair">
                      <a:avLst>
                        <a:gd name="adj" fmla="val 16667"/>
                      </a:avLst>
                    </a:prstGeom>
                    <a:noFill/>
                    <a:ln w="15875">
                      <a:solidFill>
                        <a:srgbClr val="8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2346" name="Line 7"/>
                    <p:cNvSpPr>
                      <a:spLocks noChangeShapeType="1"/>
                    </p:cNvSpPr>
                    <p:nvPr/>
                  </p:nvSpPr>
                  <p:spPr bwMode="auto">
                    <a:xfrm>
                      <a:off x="1424" y="3642"/>
                      <a:ext cx="0" cy="317"/>
                    </a:xfrm>
                    <a:prstGeom prst="line">
                      <a:avLst/>
                    </a:prstGeom>
                    <a:noFill/>
                    <a:ln w="12700" cap="rnd">
                      <a:solidFill>
                        <a:srgbClr val="8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sp>
                <p:nvSpPr>
                  <p:cNvPr id="12344" name="Rectangle 8"/>
                  <p:cNvSpPr>
                    <a:spLocks noChangeArrowheads="1"/>
                  </p:cNvSpPr>
                  <p:nvPr/>
                </p:nvSpPr>
                <p:spPr bwMode="auto">
                  <a:xfrm>
                    <a:off x="1041" y="3844"/>
                    <a:ext cx="764" cy="27"/>
                  </a:xfrm>
                  <a:prstGeom prst="rect">
                    <a:avLst/>
                  </a:prstGeom>
                  <a:solidFill>
                    <a:srgbClr val="800000">
                      <a:alpha val="59999"/>
                    </a:srgbClr>
                  </a:solidFill>
                  <a:ln>
                    <a:noFill/>
                  </a:ln>
                  <a:effectLst/>
                  <a:extLs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pSp>
              <p:nvGrpSpPr>
                <p:cNvPr id="12330" name="Group 9"/>
                <p:cNvGrpSpPr>
                  <a:grpSpLocks/>
                </p:cNvGrpSpPr>
                <p:nvPr/>
              </p:nvGrpSpPr>
              <p:grpSpPr bwMode="auto">
                <a:xfrm>
                  <a:off x="909" y="3759"/>
                  <a:ext cx="848" cy="398"/>
                  <a:chOff x="909" y="3759"/>
                  <a:chExt cx="848" cy="398"/>
                </a:xfrm>
              </p:grpSpPr>
              <p:sp>
                <p:nvSpPr>
                  <p:cNvPr id="12335" name="Line 10"/>
                  <p:cNvSpPr>
                    <a:spLocks noChangeShapeType="1"/>
                  </p:cNvSpPr>
                  <p:nvPr/>
                </p:nvSpPr>
                <p:spPr bwMode="auto">
                  <a:xfrm>
                    <a:off x="1344" y="3759"/>
                    <a:ext cx="0" cy="259"/>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nvGrpSpPr>
                  <p:cNvPr id="12336" name="Group 11"/>
                  <p:cNvGrpSpPr>
                    <a:grpSpLocks/>
                  </p:cNvGrpSpPr>
                  <p:nvPr/>
                </p:nvGrpSpPr>
                <p:grpSpPr bwMode="auto">
                  <a:xfrm>
                    <a:off x="909" y="3819"/>
                    <a:ext cx="848" cy="338"/>
                    <a:chOff x="909" y="3819"/>
                    <a:chExt cx="848" cy="338"/>
                  </a:xfrm>
                </p:grpSpPr>
                <p:sp>
                  <p:nvSpPr>
                    <p:cNvPr id="12337" name="Line 12"/>
                    <p:cNvSpPr>
                      <a:spLocks noChangeShapeType="1"/>
                    </p:cNvSpPr>
                    <p:nvPr/>
                  </p:nvSpPr>
                  <p:spPr bwMode="auto">
                    <a:xfrm>
                      <a:off x="1022" y="3886"/>
                      <a:ext cx="644" cy="0"/>
                    </a:xfrm>
                    <a:prstGeom prst="line">
                      <a:avLst/>
                    </a:prstGeom>
                    <a:noFill/>
                    <a:ln w="57150">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2338" name="AutoShape 13"/>
                    <p:cNvSpPr>
                      <a:spLocks noChangeArrowheads="1"/>
                    </p:cNvSpPr>
                    <p:nvPr/>
                  </p:nvSpPr>
                  <p:spPr bwMode="auto">
                    <a:xfrm>
                      <a:off x="1015" y="3819"/>
                      <a:ext cx="658" cy="135"/>
                    </a:xfrm>
                    <a:prstGeom prst="bracketPair">
                      <a:avLst>
                        <a:gd name="adj" fmla="val 16667"/>
                      </a:avLst>
                    </a:prstGeom>
                    <a:noFill/>
                    <a:ln w="15875">
                      <a:solidFill>
                        <a:schemeClr val="accent2"/>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endParaRPr lang="es-ES" altLang="es-ES">
                        <a:cs typeface="Arial" pitchFamily="34" charset="0"/>
                      </a:endParaRPr>
                    </a:p>
                  </p:txBody>
                </p:sp>
                <p:grpSp>
                  <p:nvGrpSpPr>
                    <p:cNvPr id="12339" name="Group 14"/>
                    <p:cNvGrpSpPr>
                      <a:grpSpLocks/>
                    </p:cNvGrpSpPr>
                    <p:nvPr/>
                  </p:nvGrpSpPr>
                  <p:grpSpPr bwMode="auto">
                    <a:xfrm>
                      <a:off x="909" y="3959"/>
                      <a:ext cx="848" cy="198"/>
                      <a:chOff x="909" y="3959"/>
                      <a:chExt cx="848" cy="198"/>
                    </a:xfrm>
                  </p:grpSpPr>
                  <p:sp>
                    <p:nvSpPr>
                      <p:cNvPr id="12340" name="Text Box 15"/>
                      <p:cNvSpPr txBox="1">
                        <a:spLocks noChangeArrowheads="1"/>
                      </p:cNvSpPr>
                      <p:nvPr/>
                    </p:nvSpPr>
                    <p:spPr bwMode="auto">
                      <a:xfrm>
                        <a:off x="1544" y="3959"/>
                        <a:ext cx="213"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sp>
                    <p:nvSpPr>
                      <p:cNvPr id="12341" name="Text Box 16"/>
                      <p:cNvSpPr txBox="1">
                        <a:spLocks noChangeArrowheads="1"/>
                      </p:cNvSpPr>
                      <p:nvPr/>
                    </p:nvSpPr>
                    <p:spPr bwMode="auto">
                      <a:xfrm>
                        <a:off x="909" y="3959"/>
                        <a:ext cx="214"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sp>
                    <p:nvSpPr>
                      <p:cNvPr id="12342" name="Text Box 17"/>
                      <p:cNvSpPr txBox="1">
                        <a:spLocks noChangeArrowheads="1"/>
                      </p:cNvSpPr>
                      <p:nvPr/>
                    </p:nvSpPr>
                    <p:spPr bwMode="auto">
                      <a:xfrm>
                        <a:off x="1263" y="3984"/>
                        <a:ext cx="161" cy="173"/>
                      </a:xfrm>
                      <a:prstGeom prst="rect">
                        <a:avLst/>
                      </a:prstGeom>
                      <a:solidFill>
                        <a:schemeClr val="bg1">
                          <a:alpha val="25882"/>
                        </a:schemeClr>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0</a:t>
                        </a:r>
                      </a:p>
                    </p:txBody>
                  </p:sp>
                </p:grpSp>
              </p:grpSp>
            </p:grpSp>
            <p:sp>
              <p:nvSpPr>
                <p:cNvPr id="12331" name="Line 18"/>
                <p:cNvSpPr>
                  <a:spLocks noChangeShapeType="1"/>
                </p:cNvSpPr>
                <p:nvPr/>
              </p:nvSpPr>
              <p:spPr bwMode="auto">
                <a:xfrm>
                  <a:off x="768" y="3871"/>
                  <a:ext cx="156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aphicFrame>
              <p:nvGraphicFramePr>
                <p:cNvPr id="12332" name="Object 19"/>
                <p:cNvGraphicFramePr>
                  <a:graphicFrameLocks noChangeAspect="1"/>
                </p:cNvGraphicFramePr>
                <p:nvPr/>
              </p:nvGraphicFramePr>
              <p:xfrm>
                <a:off x="1315" y="3524"/>
                <a:ext cx="288" cy="134"/>
              </p:xfrm>
              <a:graphic>
                <a:graphicData uri="http://schemas.openxmlformats.org/presentationml/2006/ole">
                  <mc:AlternateContent xmlns:mc="http://schemas.openxmlformats.org/markup-compatibility/2006">
                    <mc:Choice xmlns:v="urn:schemas-microsoft-com:vml" Requires="v">
                      <p:oleObj name="Equation" r:id="rId13" imgW="723586" imgH="342751" progId="Equation.DSMT4">
                        <p:embed/>
                      </p:oleObj>
                    </mc:Choice>
                    <mc:Fallback>
                      <p:oleObj name="Equation" r:id="rId13" imgW="723586" imgH="342751" progId="Equation.DSMT4">
                        <p:embed/>
                        <p:pic>
                          <p:nvPicPr>
                            <p:cNvPr id="12332"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5" y="3524"/>
                              <a:ext cx="288"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33" name="Object 20"/>
                <p:cNvGraphicFramePr>
                  <a:graphicFrameLocks noChangeAspect="1"/>
                </p:cNvGraphicFramePr>
                <p:nvPr/>
              </p:nvGraphicFramePr>
              <p:xfrm>
                <a:off x="1037" y="3623"/>
                <a:ext cx="144" cy="111"/>
              </p:xfrm>
              <a:graphic>
                <a:graphicData uri="http://schemas.openxmlformats.org/presentationml/2006/ole">
                  <mc:AlternateContent xmlns:mc="http://schemas.openxmlformats.org/markup-compatibility/2006">
                    <mc:Choice xmlns:v="urn:schemas-microsoft-com:vml" Requires="v">
                      <p:oleObj name="Equation" r:id="rId14" imgW="291973" imgH="228501" progId="Equation.DSMT4">
                        <p:embed/>
                      </p:oleObj>
                    </mc:Choice>
                    <mc:Fallback>
                      <p:oleObj name="Equation" r:id="rId14" imgW="291973" imgH="228501" progId="Equation.DSMT4">
                        <p:embed/>
                        <p:pic>
                          <p:nvPicPr>
                            <p:cNvPr id="12333"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7" y="3623"/>
                              <a:ext cx="144"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34" name="Object 21"/>
                <p:cNvGraphicFramePr>
                  <a:graphicFrameLocks noChangeAspect="1"/>
                </p:cNvGraphicFramePr>
                <p:nvPr/>
              </p:nvGraphicFramePr>
              <p:xfrm>
                <a:off x="1717" y="3623"/>
                <a:ext cx="144" cy="111"/>
              </p:xfrm>
              <a:graphic>
                <a:graphicData uri="http://schemas.openxmlformats.org/presentationml/2006/ole">
                  <mc:AlternateContent xmlns:mc="http://schemas.openxmlformats.org/markup-compatibility/2006">
                    <mc:Choice xmlns:v="urn:schemas-microsoft-com:vml" Requires="v">
                      <p:oleObj name="Equation" r:id="rId15" imgW="291973" imgH="228501" progId="Equation.DSMT4">
                        <p:embed/>
                      </p:oleObj>
                    </mc:Choice>
                    <mc:Fallback>
                      <p:oleObj name="Equation" r:id="rId15" imgW="291973" imgH="228501" progId="Equation.DSMT4">
                        <p:embed/>
                        <p:pic>
                          <p:nvPicPr>
                            <p:cNvPr id="12334"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17" y="3623"/>
                              <a:ext cx="144"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2326" name="Group 163"/>
              <p:cNvGrpSpPr>
                <a:grpSpLocks/>
              </p:cNvGrpSpPr>
              <p:nvPr/>
            </p:nvGrpSpPr>
            <p:grpSpPr bwMode="auto">
              <a:xfrm>
                <a:off x="3095" y="2963"/>
                <a:ext cx="2400" cy="314"/>
                <a:chOff x="3360" y="2998"/>
                <a:chExt cx="2400" cy="314"/>
              </a:xfrm>
            </p:grpSpPr>
            <p:graphicFrame>
              <p:nvGraphicFramePr>
                <p:cNvPr id="12327" name="Object 159"/>
                <p:cNvGraphicFramePr>
                  <a:graphicFrameLocks noChangeAspect="1"/>
                </p:cNvGraphicFramePr>
                <p:nvPr/>
              </p:nvGraphicFramePr>
              <p:xfrm>
                <a:off x="3405" y="2998"/>
                <a:ext cx="745" cy="177"/>
              </p:xfrm>
              <a:graphic>
                <a:graphicData uri="http://schemas.openxmlformats.org/presentationml/2006/ole">
                  <mc:AlternateContent xmlns:mc="http://schemas.openxmlformats.org/markup-compatibility/2006">
                    <mc:Choice xmlns:v="urn:schemas-microsoft-com:vml" Requires="v">
                      <p:oleObj name="Equation" r:id="rId16" imgW="1117115" imgH="266584" progId="Equation.DSMT4">
                        <p:embed/>
                      </p:oleObj>
                    </mc:Choice>
                    <mc:Fallback>
                      <p:oleObj name="Equation" r:id="rId16" imgW="1117115" imgH="266584" progId="Equation.DSMT4">
                        <p:embed/>
                        <p:pic>
                          <p:nvPicPr>
                            <p:cNvPr id="12327" name="Object 15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5" y="2998"/>
                              <a:ext cx="745" cy="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28" name="Text Box 161"/>
                <p:cNvSpPr txBox="1">
                  <a:spLocks noChangeArrowheads="1"/>
                </p:cNvSpPr>
                <p:nvPr/>
              </p:nvSpPr>
              <p:spPr bwMode="auto">
                <a:xfrm>
                  <a:off x="3360" y="3139"/>
                  <a:ext cx="240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toma valores mas allá de la  diferencia admisible</a:t>
                  </a:r>
                  <a:endParaRPr lang="es-ES" altLang="es-ES"/>
                </a:p>
              </p:txBody>
            </p:sp>
          </p:grpSp>
        </p:grpSp>
      </p:grpSp>
      <p:sp>
        <p:nvSpPr>
          <p:cNvPr id="12297" name="AutoShape 168"/>
          <p:cNvSpPr>
            <a:spLocks/>
          </p:cNvSpPr>
          <p:nvPr/>
        </p:nvSpPr>
        <p:spPr bwMode="auto">
          <a:xfrm>
            <a:off x="609600" y="4262438"/>
            <a:ext cx="200025" cy="1757362"/>
          </a:xfrm>
          <a:prstGeom prst="leftBrace">
            <a:avLst>
              <a:gd name="adj1" fmla="val 73214"/>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12298" name="Group 172"/>
          <p:cNvGrpSpPr>
            <a:grpSpLocks/>
          </p:cNvGrpSpPr>
          <p:nvPr/>
        </p:nvGrpSpPr>
        <p:grpSpPr bwMode="auto">
          <a:xfrm>
            <a:off x="5229225" y="3057525"/>
            <a:ext cx="3505200" cy="942975"/>
            <a:chOff x="3258" y="1920"/>
            <a:chExt cx="2208" cy="594"/>
          </a:xfrm>
        </p:grpSpPr>
        <p:grpSp>
          <p:nvGrpSpPr>
            <p:cNvPr id="12300" name="Group 146"/>
            <p:cNvGrpSpPr>
              <a:grpSpLocks/>
            </p:cNvGrpSpPr>
            <p:nvPr/>
          </p:nvGrpSpPr>
          <p:grpSpPr bwMode="auto">
            <a:xfrm>
              <a:off x="3306" y="1947"/>
              <a:ext cx="2112" cy="554"/>
              <a:chOff x="1578" y="1941"/>
              <a:chExt cx="2112" cy="554"/>
            </a:xfrm>
          </p:grpSpPr>
          <p:sp>
            <p:nvSpPr>
              <p:cNvPr id="12302" name="Line 91"/>
              <p:cNvSpPr>
                <a:spLocks noChangeShapeType="1"/>
              </p:cNvSpPr>
              <p:nvPr/>
            </p:nvSpPr>
            <p:spPr bwMode="auto">
              <a:xfrm>
                <a:off x="1578" y="2255"/>
                <a:ext cx="2112" cy="1"/>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nvGrpSpPr>
              <p:cNvPr id="12303" name="Group 145"/>
              <p:cNvGrpSpPr>
                <a:grpSpLocks/>
              </p:cNvGrpSpPr>
              <p:nvPr/>
            </p:nvGrpSpPr>
            <p:grpSpPr bwMode="auto">
              <a:xfrm>
                <a:off x="1626" y="1941"/>
                <a:ext cx="2016" cy="554"/>
                <a:chOff x="1632" y="1941"/>
                <a:chExt cx="2016" cy="554"/>
              </a:xfrm>
            </p:grpSpPr>
            <p:sp>
              <p:nvSpPr>
                <p:cNvPr id="12304" name="Line 83"/>
                <p:cNvSpPr>
                  <a:spLocks noChangeShapeType="1"/>
                </p:cNvSpPr>
                <p:nvPr/>
              </p:nvSpPr>
              <p:spPr bwMode="auto">
                <a:xfrm>
                  <a:off x="2645" y="2215"/>
                  <a:ext cx="0" cy="144"/>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2305" name="Line 85"/>
                <p:cNvSpPr>
                  <a:spLocks noChangeShapeType="1"/>
                </p:cNvSpPr>
                <p:nvPr/>
              </p:nvSpPr>
              <p:spPr bwMode="auto">
                <a:xfrm>
                  <a:off x="2329" y="2276"/>
                  <a:ext cx="644" cy="0"/>
                </a:xfrm>
                <a:prstGeom prst="line">
                  <a:avLst/>
                </a:prstGeom>
                <a:noFill/>
                <a:ln w="57150">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2306" name="AutoShape 86"/>
                <p:cNvSpPr>
                  <a:spLocks noChangeArrowheads="1"/>
                </p:cNvSpPr>
                <p:nvPr/>
              </p:nvSpPr>
              <p:spPr bwMode="auto">
                <a:xfrm>
                  <a:off x="2322" y="2209"/>
                  <a:ext cx="658" cy="135"/>
                </a:xfrm>
                <a:prstGeom prst="bracketPair">
                  <a:avLst>
                    <a:gd name="adj" fmla="val 16667"/>
                  </a:avLst>
                </a:prstGeom>
                <a:noFill/>
                <a:ln w="15875">
                  <a:solidFill>
                    <a:schemeClr val="accent2"/>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endParaRPr lang="es-ES" altLang="es-ES">
                    <a:cs typeface="Arial" pitchFamily="34" charset="0"/>
                  </a:endParaRPr>
                </a:p>
              </p:txBody>
            </p:sp>
            <p:sp>
              <p:nvSpPr>
                <p:cNvPr id="12307" name="Text Box 88"/>
                <p:cNvSpPr txBox="1">
                  <a:spLocks noChangeArrowheads="1"/>
                </p:cNvSpPr>
                <p:nvPr/>
              </p:nvSpPr>
              <p:spPr bwMode="auto">
                <a:xfrm>
                  <a:off x="2851" y="2322"/>
                  <a:ext cx="213"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sp>
              <p:nvSpPr>
                <p:cNvPr id="12308" name="Text Box 89"/>
                <p:cNvSpPr txBox="1">
                  <a:spLocks noChangeArrowheads="1"/>
                </p:cNvSpPr>
                <p:nvPr/>
              </p:nvSpPr>
              <p:spPr bwMode="auto">
                <a:xfrm>
                  <a:off x="2216" y="2322"/>
                  <a:ext cx="214"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sp>
              <p:nvSpPr>
                <p:cNvPr id="12309" name="Text Box 90"/>
                <p:cNvSpPr txBox="1">
                  <a:spLocks noChangeArrowheads="1"/>
                </p:cNvSpPr>
                <p:nvPr/>
              </p:nvSpPr>
              <p:spPr bwMode="auto">
                <a:xfrm>
                  <a:off x="2564" y="2304"/>
                  <a:ext cx="161" cy="164"/>
                </a:xfrm>
                <a:prstGeom prst="rect">
                  <a:avLst/>
                </a:prstGeom>
                <a:solidFill>
                  <a:schemeClr val="bg1">
                    <a:alpha val="25882"/>
                  </a:schemeClr>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a:solidFill>
                        <a:srgbClr val="000099"/>
                      </a:solidFill>
                      <a:latin typeface="Symbol" pitchFamily="18" charset="2"/>
                      <a:cs typeface="Arial" pitchFamily="34" charset="0"/>
                    </a:rPr>
                    <a:t>0</a:t>
                  </a:r>
                </a:p>
              </p:txBody>
            </p:sp>
            <p:sp>
              <p:nvSpPr>
                <p:cNvPr id="12310" name="Text Box 102"/>
                <p:cNvSpPr txBox="1">
                  <a:spLocks noChangeArrowheads="1"/>
                </p:cNvSpPr>
                <p:nvPr/>
              </p:nvSpPr>
              <p:spPr bwMode="auto">
                <a:xfrm>
                  <a:off x="2430" y="1941"/>
                  <a:ext cx="41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a:latin typeface="Times New Roman" pitchFamily="18" charset="0"/>
                    </a:rPr>
                    <a:t>H</a:t>
                  </a:r>
                  <a:r>
                    <a:rPr lang="es-ES_tradnl" altLang="es-ES" sz="1000" baseline="-25000"/>
                    <a:t>0</a:t>
                  </a:r>
                  <a:r>
                    <a:rPr lang="es-ES_tradnl" altLang="es-ES" sz="1000"/>
                    <a:t> fiable</a:t>
                  </a:r>
                  <a:endParaRPr lang="es-ES" altLang="es-ES" sz="1000"/>
                </a:p>
              </p:txBody>
            </p:sp>
            <p:sp>
              <p:nvSpPr>
                <p:cNvPr id="12311" name="Text Box 104"/>
                <p:cNvSpPr txBox="1">
                  <a:spLocks noChangeArrowheads="1"/>
                </p:cNvSpPr>
                <p:nvPr/>
              </p:nvSpPr>
              <p:spPr bwMode="auto">
                <a:xfrm>
                  <a:off x="3065" y="1942"/>
                  <a:ext cx="52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a:latin typeface="Times New Roman" pitchFamily="18" charset="0"/>
                    </a:rPr>
                    <a:t>H</a:t>
                  </a:r>
                  <a:r>
                    <a:rPr lang="es-ES_tradnl" altLang="es-ES" sz="1000" baseline="-25000"/>
                    <a:t>0</a:t>
                  </a:r>
                  <a:r>
                    <a:rPr lang="es-ES_tradnl" altLang="es-ES" sz="1000"/>
                    <a:t> no fiable</a:t>
                  </a:r>
                  <a:endParaRPr lang="es-ES" altLang="es-ES" sz="1000"/>
                </a:p>
              </p:txBody>
            </p:sp>
            <p:sp>
              <p:nvSpPr>
                <p:cNvPr id="12312" name="AutoShape 101"/>
                <p:cNvSpPr>
                  <a:spLocks/>
                </p:cNvSpPr>
                <p:nvPr/>
              </p:nvSpPr>
              <p:spPr bwMode="auto">
                <a:xfrm rot="5400000">
                  <a:off x="2600" y="1844"/>
                  <a:ext cx="96" cy="576"/>
                </a:xfrm>
                <a:prstGeom prst="leftBrace">
                  <a:avLst>
                    <a:gd name="adj1" fmla="val 5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12313" name="Group 139"/>
                <p:cNvGrpSpPr>
                  <a:grpSpLocks/>
                </p:cNvGrpSpPr>
                <p:nvPr/>
              </p:nvGrpSpPr>
              <p:grpSpPr bwMode="auto">
                <a:xfrm>
                  <a:off x="3006" y="2112"/>
                  <a:ext cx="642" cy="120"/>
                  <a:chOff x="3006" y="2088"/>
                  <a:chExt cx="642" cy="120"/>
                </a:xfrm>
              </p:grpSpPr>
              <p:sp>
                <p:nvSpPr>
                  <p:cNvPr id="12319" name="AutoShape 112"/>
                  <p:cNvSpPr>
                    <a:spLocks/>
                  </p:cNvSpPr>
                  <p:nvPr/>
                </p:nvSpPr>
                <p:spPr bwMode="auto">
                  <a:xfrm rot="16200000" flipH="1">
                    <a:off x="3255" y="1839"/>
                    <a:ext cx="96" cy="594"/>
                  </a:xfrm>
                  <a:prstGeom prst="leftBrace">
                    <a:avLst>
                      <a:gd name="adj1" fmla="val 5156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2320" name="Rectangle 113"/>
                  <p:cNvSpPr>
                    <a:spLocks noChangeArrowheads="1"/>
                  </p:cNvSpPr>
                  <p:nvPr/>
                </p:nvSpPr>
                <p:spPr bwMode="auto">
                  <a:xfrm flipH="1">
                    <a:off x="3552" y="2112"/>
                    <a:ext cx="96" cy="9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2321" name="Line 114"/>
                  <p:cNvSpPr>
                    <a:spLocks noChangeShapeType="1"/>
                  </p:cNvSpPr>
                  <p:nvPr/>
                </p:nvSpPr>
                <p:spPr bwMode="auto">
                  <a:xfrm>
                    <a:off x="3552" y="2136"/>
                    <a:ext cx="4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12314" name="Text Box 138"/>
                <p:cNvSpPr txBox="1">
                  <a:spLocks noChangeArrowheads="1"/>
                </p:cNvSpPr>
                <p:nvPr/>
              </p:nvSpPr>
              <p:spPr bwMode="auto">
                <a:xfrm>
                  <a:off x="1748" y="1941"/>
                  <a:ext cx="52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a:latin typeface="Times New Roman" pitchFamily="18" charset="0"/>
                    </a:rPr>
                    <a:t>H</a:t>
                  </a:r>
                  <a:r>
                    <a:rPr lang="es-ES_tradnl" altLang="es-ES" sz="1000" baseline="-25000"/>
                    <a:t>0</a:t>
                  </a:r>
                  <a:r>
                    <a:rPr lang="es-ES_tradnl" altLang="es-ES" sz="1000"/>
                    <a:t> no fiable</a:t>
                  </a:r>
                  <a:endParaRPr lang="es-ES" altLang="es-ES" sz="1000"/>
                </a:p>
              </p:txBody>
            </p:sp>
            <p:grpSp>
              <p:nvGrpSpPr>
                <p:cNvPr id="12315" name="Group 140"/>
                <p:cNvGrpSpPr>
                  <a:grpSpLocks/>
                </p:cNvGrpSpPr>
                <p:nvPr/>
              </p:nvGrpSpPr>
              <p:grpSpPr bwMode="auto">
                <a:xfrm flipH="1">
                  <a:off x="1632" y="2112"/>
                  <a:ext cx="642" cy="120"/>
                  <a:chOff x="3006" y="2088"/>
                  <a:chExt cx="642" cy="120"/>
                </a:xfrm>
              </p:grpSpPr>
              <p:sp>
                <p:nvSpPr>
                  <p:cNvPr id="12316" name="AutoShape 141"/>
                  <p:cNvSpPr>
                    <a:spLocks/>
                  </p:cNvSpPr>
                  <p:nvPr/>
                </p:nvSpPr>
                <p:spPr bwMode="auto">
                  <a:xfrm rot="16200000" flipH="1">
                    <a:off x="3255" y="1839"/>
                    <a:ext cx="96" cy="594"/>
                  </a:xfrm>
                  <a:prstGeom prst="leftBrace">
                    <a:avLst>
                      <a:gd name="adj1" fmla="val 5156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2317" name="Rectangle 142"/>
                  <p:cNvSpPr>
                    <a:spLocks noChangeArrowheads="1"/>
                  </p:cNvSpPr>
                  <p:nvPr/>
                </p:nvSpPr>
                <p:spPr bwMode="auto">
                  <a:xfrm flipH="1">
                    <a:off x="3552" y="2112"/>
                    <a:ext cx="96" cy="9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2318" name="Line 143"/>
                  <p:cNvSpPr>
                    <a:spLocks noChangeShapeType="1"/>
                  </p:cNvSpPr>
                  <p:nvPr/>
                </p:nvSpPr>
                <p:spPr bwMode="auto">
                  <a:xfrm>
                    <a:off x="3552" y="2136"/>
                    <a:ext cx="4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sp>
          <p:nvSpPr>
            <p:cNvPr id="12301" name="AutoShape 170"/>
            <p:cNvSpPr>
              <a:spLocks noChangeArrowheads="1"/>
            </p:cNvSpPr>
            <p:nvPr/>
          </p:nvSpPr>
          <p:spPr bwMode="auto">
            <a:xfrm>
              <a:off x="3258" y="1920"/>
              <a:ext cx="2208" cy="594"/>
            </a:xfrm>
            <a:prstGeom prst="roundRect">
              <a:avLst>
                <a:gd name="adj" fmla="val 16667"/>
              </a:avLst>
            </a:prstGeom>
            <a:solidFill>
              <a:srgbClr val="C0C0C0">
                <a:alpha val="14902"/>
              </a:srgbClr>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89" name="Text Box 2"/>
          <p:cNvSpPr txBox="1">
            <a:spLocks noChangeArrowheads="1"/>
          </p:cNvSpPr>
          <p:nvPr/>
        </p:nvSpPr>
        <p:spPr bwMode="auto">
          <a:xfrm>
            <a:off x="236537" y="411163"/>
            <a:ext cx="334486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Prueba de homogeneidad de medias</a:t>
            </a:r>
            <a:endParaRPr lang="es-ES" altLang="es-ES" sz="1400" b="1"/>
          </a:p>
        </p:txBody>
      </p:sp>
      <p:sp>
        <p:nvSpPr>
          <p:cNvPr id="90" name="Text Box 2"/>
          <p:cNvSpPr txBox="1">
            <a:spLocks noChangeArrowheads="1"/>
          </p:cNvSpPr>
          <p:nvPr/>
        </p:nvSpPr>
        <p:spPr bwMode="auto">
          <a:xfrm>
            <a:off x="236537" y="76200"/>
            <a:ext cx="40116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 Variable normal</a:t>
            </a:r>
            <a:endParaRPr lang="es-ES" altLang="es-ES" sz="1400" b="1" dirty="0"/>
          </a:p>
        </p:txBody>
      </p:sp>
    </p:spTree>
    <p:extLst>
      <p:ext uri="{BB962C8B-B14F-4D97-AF65-F5344CB8AC3E}">
        <p14:creationId xmlns:p14="http://schemas.microsoft.com/office/powerpoint/2010/main" val="3760420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6"/>
          <p:cNvSpPr txBox="1">
            <a:spLocks noChangeArrowheads="1"/>
          </p:cNvSpPr>
          <p:nvPr/>
        </p:nvSpPr>
        <p:spPr bwMode="auto">
          <a:xfrm>
            <a:off x="304800" y="1323975"/>
            <a:ext cx="56102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Propósito</a:t>
            </a:r>
            <a:endParaRPr lang="es-ES" altLang="es-ES" sz="1300" b="1" baseline="-25000">
              <a:latin typeface="Times New Roman" pitchFamily="18" charset="0"/>
            </a:endParaRPr>
          </a:p>
        </p:txBody>
      </p:sp>
      <p:grpSp>
        <p:nvGrpSpPr>
          <p:cNvPr id="13315" name="Group 25"/>
          <p:cNvGrpSpPr>
            <a:grpSpLocks/>
          </p:cNvGrpSpPr>
          <p:nvPr/>
        </p:nvGrpSpPr>
        <p:grpSpPr bwMode="auto">
          <a:xfrm>
            <a:off x="409575" y="1628775"/>
            <a:ext cx="7162800" cy="552450"/>
            <a:chOff x="258" y="1056"/>
            <a:chExt cx="4512" cy="348"/>
          </a:xfrm>
        </p:grpSpPr>
        <p:sp>
          <p:nvSpPr>
            <p:cNvPr id="13355" name="Text Box 5"/>
            <p:cNvSpPr txBox="1">
              <a:spLocks noChangeArrowheads="1"/>
            </p:cNvSpPr>
            <p:nvPr/>
          </p:nvSpPr>
          <p:spPr bwMode="auto">
            <a:xfrm>
              <a:off x="258" y="1056"/>
              <a:ext cx="4512" cy="3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lnSpc>
                  <a:spcPct val="110000"/>
                </a:lnSpc>
              </a:pPr>
              <a:r>
                <a:rPr lang="es-ES" altLang="es-ES">
                  <a:cs typeface="Arial" pitchFamily="34" charset="0"/>
                </a:rPr>
                <a:t>Se trata de determinar el tamaño de muestra (o muestras) necesario para que un test al error </a:t>
              </a:r>
              <a:r>
                <a:rPr lang="es-ES" altLang="es-ES" sz="1300">
                  <a:latin typeface="Symbol" pitchFamily="18" charset="2"/>
                  <a:cs typeface="Arial" pitchFamily="34" charset="0"/>
                </a:rPr>
                <a:t>a</a:t>
              </a:r>
              <a:r>
                <a:rPr lang="es-ES" altLang="es-ES">
                  <a:cs typeface="Arial" pitchFamily="34" charset="0"/>
                </a:rPr>
                <a:t>,  de significativo el (1-</a:t>
              </a:r>
              <a:r>
                <a:rPr lang="es-ES" altLang="es-ES" sz="1300">
                  <a:latin typeface="Symbol" pitchFamily="18" charset="2"/>
                  <a:cs typeface="Arial" pitchFamily="34" charset="0"/>
                </a:rPr>
                <a:t>b</a:t>
              </a:r>
              <a:r>
                <a:rPr lang="es-ES" altLang="es-ES">
                  <a:cs typeface="Arial" pitchFamily="34" charset="0"/>
                </a:rPr>
                <a:t>)x100% de las veces en que las medias difieran al menos</a:t>
              </a:r>
              <a:endParaRPr lang="es-ES" altLang="es-ES" sz="1300">
                <a:cs typeface="Arial" pitchFamily="34" charset="0"/>
              </a:endParaRPr>
            </a:p>
          </p:txBody>
        </p:sp>
        <p:graphicFrame>
          <p:nvGraphicFramePr>
            <p:cNvPr id="13356" name="Object 11"/>
            <p:cNvGraphicFramePr>
              <a:graphicFrameLocks noChangeAspect="1"/>
            </p:cNvGraphicFramePr>
            <p:nvPr/>
          </p:nvGraphicFramePr>
          <p:xfrm>
            <a:off x="3546" y="1219"/>
            <a:ext cx="564" cy="185"/>
          </p:xfrm>
          <a:graphic>
            <a:graphicData uri="http://schemas.openxmlformats.org/presentationml/2006/ole">
              <mc:AlternateContent xmlns:mc="http://schemas.openxmlformats.org/markup-compatibility/2006">
                <mc:Choice xmlns:v="urn:schemas-microsoft-com:vml" Requires="v">
                  <p:oleObj name="Equation" r:id="rId2" imgW="774364" imgH="253890" progId="Equation.DSMT4">
                    <p:embed/>
                  </p:oleObj>
                </mc:Choice>
                <mc:Fallback>
                  <p:oleObj name="Equation" r:id="rId2" imgW="774364" imgH="253890" progId="Equation.DSMT4">
                    <p:embed/>
                    <p:pic>
                      <p:nvPicPr>
                        <p:cNvPr id="13356"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6" y="1219"/>
                          <a:ext cx="564"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3316" name="Text Box 14"/>
          <p:cNvSpPr txBox="1">
            <a:spLocks noChangeArrowheads="1"/>
          </p:cNvSpPr>
          <p:nvPr/>
        </p:nvSpPr>
        <p:spPr bwMode="auto">
          <a:xfrm>
            <a:off x="304800" y="2257425"/>
            <a:ext cx="56102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Requisitos: </a:t>
            </a:r>
          </a:p>
        </p:txBody>
      </p:sp>
      <p:sp>
        <p:nvSpPr>
          <p:cNvPr id="13317" name="Text Box 15"/>
          <p:cNvSpPr txBox="1">
            <a:spLocks noChangeArrowheads="1"/>
          </p:cNvSpPr>
          <p:nvPr/>
        </p:nvSpPr>
        <p:spPr bwMode="auto">
          <a:xfrm>
            <a:off x="533400" y="2549525"/>
            <a:ext cx="40386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Muestras piloto </a:t>
            </a:r>
            <a:r>
              <a:rPr lang="es-ES_tradnl" altLang="es-ES"/>
              <a:t>que permitan inferir la variabilidad</a:t>
            </a:r>
            <a:r>
              <a:rPr lang="es-ES_tradnl" altLang="es-ES" b="1"/>
              <a:t> </a:t>
            </a:r>
            <a:endParaRPr lang="es-ES" altLang="es-ES" sz="1300" b="1" baseline="-25000">
              <a:latin typeface="Times New Roman" pitchFamily="18" charset="0"/>
            </a:endParaRPr>
          </a:p>
        </p:txBody>
      </p:sp>
      <p:sp>
        <p:nvSpPr>
          <p:cNvPr id="13318" name="Text Box 16"/>
          <p:cNvSpPr txBox="1">
            <a:spLocks noChangeArrowheads="1"/>
          </p:cNvSpPr>
          <p:nvPr/>
        </p:nvSpPr>
        <p:spPr bwMode="auto">
          <a:xfrm>
            <a:off x="533400" y="3335338"/>
            <a:ext cx="3124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Cantidades a fijar (por el investigador)</a:t>
            </a:r>
            <a:endParaRPr lang="es-ES" altLang="es-ES" sz="1300" b="1" baseline="-25000">
              <a:latin typeface="Times New Roman" pitchFamily="18" charset="0"/>
            </a:endParaRPr>
          </a:p>
        </p:txBody>
      </p:sp>
      <p:grpSp>
        <p:nvGrpSpPr>
          <p:cNvPr id="13319" name="Group 41"/>
          <p:cNvGrpSpPr>
            <a:grpSpLocks/>
          </p:cNvGrpSpPr>
          <p:nvPr/>
        </p:nvGrpSpPr>
        <p:grpSpPr bwMode="auto">
          <a:xfrm>
            <a:off x="3499751" y="3013867"/>
            <a:ext cx="4757739" cy="977900"/>
            <a:chOff x="2208" y="1880"/>
            <a:chExt cx="2997" cy="616"/>
          </a:xfrm>
        </p:grpSpPr>
        <p:sp>
          <p:nvSpPr>
            <p:cNvPr id="13350" name="Text Box 19"/>
            <p:cNvSpPr txBox="1">
              <a:spLocks noChangeArrowheads="1"/>
            </p:cNvSpPr>
            <p:nvPr/>
          </p:nvSpPr>
          <p:spPr bwMode="auto">
            <a:xfrm>
              <a:off x="2283" y="2296"/>
              <a:ext cx="1845" cy="17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 altLang="es-ES" b="1" dirty="0">
                  <a:cs typeface="Arial" pitchFamily="34" charset="0"/>
                </a:rPr>
                <a:t>Diferencia</a:t>
              </a:r>
              <a:r>
                <a:rPr lang="es-ES" altLang="es-ES" dirty="0">
                  <a:cs typeface="Arial" pitchFamily="34" charset="0"/>
                </a:rPr>
                <a:t> (=</a:t>
              </a:r>
              <a:r>
                <a:rPr lang="es-ES" altLang="es-ES" i="1" dirty="0">
                  <a:cs typeface="Arial" pitchFamily="34" charset="0"/>
                </a:rPr>
                <a:t>efecto</a:t>
              </a:r>
              <a:r>
                <a:rPr lang="es-ES" altLang="es-ES" dirty="0">
                  <a:cs typeface="Arial" pitchFamily="34" charset="0"/>
                </a:rPr>
                <a:t>) </a:t>
              </a:r>
              <a:r>
                <a:rPr lang="es-ES" altLang="es-ES" b="1" dirty="0">
                  <a:cs typeface="Arial" pitchFamily="34" charset="0"/>
                </a:rPr>
                <a:t>mínima</a:t>
              </a:r>
              <a:r>
                <a:rPr lang="es-ES" altLang="es-ES" dirty="0">
                  <a:cs typeface="Arial" pitchFamily="34" charset="0"/>
                </a:rPr>
                <a:t> a detectar:</a:t>
              </a:r>
            </a:p>
          </p:txBody>
        </p:sp>
        <p:sp>
          <p:nvSpPr>
            <p:cNvPr id="13351" name="Text Box 20"/>
            <p:cNvSpPr txBox="1">
              <a:spLocks noChangeArrowheads="1"/>
            </p:cNvSpPr>
            <p:nvPr/>
          </p:nvSpPr>
          <p:spPr bwMode="auto">
            <a:xfrm>
              <a:off x="2283" y="1880"/>
              <a:ext cx="1498" cy="1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 altLang="es-ES" dirty="0">
                  <a:cs typeface="Arial" pitchFamily="34" charset="0"/>
                </a:rPr>
                <a:t>Magnitud del </a:t>
              </a:r>
              <a:r>
                <a:rPr lang="es-ES" altLang="es-ES" b="1" dirty="0">
                  <a:cs typeface="Arial" pitchFamily="34" charset="0"/>
                </a:rPr>
                <a:t>error de tipo I</a:t>
              </a:r>
              <a:r>
                <a:rPr lang="es-ES" altLang="es-ES" dirty="0">
                  <a:cs typeface="Arial" pitchFamily="34" charset="0"/>
                </a:rPr>
                <a:t>:  </a:t>
              </a:r>
              <a:r>
                <a:rPr lang="es-ES" altLang="es-ES" sz="1300" dirty="0">
                  <a:cs typeface="Arial" pitchFamily="34" charset="0"/>
                </a:rPr>
                <a:t> </a:t>
              </a:r>
              <a:r>
                <a:rPr lang="es-ES" altLang="es-ES" sz="1300" b="1" dirty="0">
                  <a:latin typeface="Symbol" pitchFamily="18" charset="2"/>
                  <a:cs typeface="Arial" pitchFamily="34" charset="0"/>
                </a:rPr>
                <a:t>a</a:t>
              </a:r>
            </a:p>
          </p:txBody>
        </p:sp>
        <p:sp>
          <p:nvSpPr>
            <p:cNvPr id="13352" name="Text Box 21"/>
            <p:cNvSpPr txBox="1">
              <a:spLocks noChangeArrowheads="1"/>
            </p:cNvSpPr>
            <p:nvPr/>
          </p:nvSpPr>
          <p:spPr bwMode="auto">
            <a:xfrm>
              <a:off x="2283" y="2079"/>
              <a:ext cx="2922" cy="1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 altLang="es-ES" dirty="0">
                  <a:cs typeface="Arial" pitchFamily="34" charset="0"/>
                </a:rPr>
                <a:t>Magnitud del error de tipo II, o la </a:t>
              </a:r>
              <a:r>
                <a:rPr lang="es-ES" altLang="es-ES" b="1" dirty="0">
                  <a:cs typeface="Arial" pitchFamily="34" charset="0"/>
                </a:rPr>
                <a:t>potencia deseada</a:t>
              </a:r>
              <a:r>
                <a:rPr lang="es-ES" altLang="es-ES" dirty="0">
                  <a:cs typeface="Arial" pitchFamily="34" charset="0"/>
                </a:rPr>
                <a:t>:   </a:t>
              </a:r>
              <a:r>
                <a:rPr lang="es-ES" altLang="es-ES" sz="1300" dirty="0">
                  <a:latin typeface="Symbol" pitchFamily="18" charset="2"/>
                  <a:cs typeface="Arial" pitchFamily="34" charset="0"/>
                </a:rPr>
                <a:t>b  (</a:t>
              </a:r>
              <a:r>
                <a:rPr lang="es-ES" altLang="es-ES" sz="1300" dirty="0" err="1">
                  <a:cs typeface="Arial" pitchFamily="34" charset="0"/>
                </a:rPr>
                <a:t>ó</a:t>
              </a:r>
              <a:r>
                <a:rPr lang="es-ES" altLang="es-ES" sz="1300" dirty="0">
                  <a:latin typeface="Symbol" pitchFamily="18" charset="2"/>
                  <a:cs typeface="Arial" pitchFamily="34" charset="0"/>
                </a:rPr>
                <a:t> </a:t>
              </a:r>
              <a:r>
                <a:rPr lang="es-ES" altLang="es-ES" sz="1300" b="1" dirty="0">
                  <a:latin typeface="Symbol" pitchFamily="18" charset="2"/>
                  <a:cs typeface="Arial" pitchFamily="34" charset="0"/>
                </a:rPr>
                <a:t>1-b</a:t>
              </a:r>
              <a:r>
                <a:rPr lang="es-ES" altLang="es-ES" sz="1300" dirty="0">
                  <a:latin typeface="Symbol" pitchFamily="18" charset="2"/>
                  <a:cs typeface="Arial" pitchFamily="34" charset="0"/>
                </a:rPr>
                <a:t>)</a:t>
              </a:r>
            </a:p>
          </p:txBody>
        </p:sp>
        <p:sp>
          <p:nvSpPr>
            <p:cNvPr id="13353" name="AutoShape 23"/>
            <p:cNvSpPr>
              <a:spLocks/>
            </p:cNvSpPr>
            <p:nvPr/>
          </p:nvSpPr>
          <p:spPr bwMode="auto">
            <a:xfrm>
              <a:off x="2208" y="1895"/>
              <a:ext cx="59" cy="569"/>
            </a:xfrm>
            <a:prstGeom prst="leftBrace">
              <a:avLst>
                <a:gd name="adj1" fmla="val 803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aphicFrame>
          <p:nvGraphicFramePr>
            <p:cNvPr id="13354" name="Object 24"/>
            <p:cNvGraphicFramePr>
              <a:graphicFrameLocks noChangeAspect="1"/>
            </p:cNvGraphicFramePr>
            <p:nvPr>
              <p:extLst>
                <p:ext uri="{D42A27DB-BD31-4B8C-83A1-F6EECF244321}">
                  <p14:modId xmlns:p14="http://schemas.microsoft.com/office/powerpoint/2010/main" val="250159952"/>
                </p:ext>
              </p:extLst>
            </p:nvPr>
          </p:nvGraphicFramePr>
          <p:xfrm>
            <a:off x="4103" y="2311"/>
            <a:ext cx="545" cy="185"/>
          </p:xfrm>
          <a:graphic>
            <a:graphicData uri="http://schemas.openxmlformats.org/presentationml/2006/ole">
              <mc:AlternateContent xmlns:mc="http://schemas.openxmlformats.org/markup-compatibility/2006">
                <mc:Choice xmlns:v="urn:schemas-microsoft-com:vml" Requires="v">
                  <p:oleObj name="Equation" r:id="rId4" imgW="749160" imgH="253800" progId="Equation.DSMT4">
                    <p:embed/>
                  </p:oleObj>
                </mc:Choice>
                <mc:Fallback>
                  <p:oleObj name="Equation" r:id="rId4" imgW="749160" imgH="253800" progId="Equation.DSMT4">
                    <p:embed/>
                    <p:pic>
                      <p:nvPicPr>
                        <p:cNvPr id="13354" name="Object 24"/>
                        <p:cNvPicPr>
                          <a:picLocks noChangeAspect="1" noChangeArrowheads="1"/>
                        </p:cNvPicPr>
                        <p:nvPr/>
                      </p:nvPicPr>
                      <p:blipFill>
                        <a:blip r:embed="rId5"/>
                        <a:srcRect/>
                        <a:stretch>
                          <a:fillRect/>
                        </a:stretch>
                      </p:blipFill>
                      <p:spPr bwMode="auto">
                        <a:xfrm>
                          <a:off x="4103" y="2311"/>
                          <a:ext cx="545"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3320" name="Text Box 37"/>
          <p:cNvSpPr txBox="1">
            <a:spLocks noChangeArrowheads="1"/>
          </p:cNvSpPr>
          <p:nvPr/>
        </p:nvSpPr>
        <p:spPr bwMode="auto">
          <a:xfrm>
            <a:off x="304800" y="3743325"/>
            <a:ext cx="9715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dirty="0"/>
              <a:t>Situación: </a:t>
            </a:r>
          </a:p>
        </p:txBody>
      </p:sp>
      <p:grpSp>
        <p:nvGrpSpPr>
          <p:cNvPr id="13321" name="Group 42"/>
          <p:cNvGrpSpPr>
            <a:grpSpLocks/>
          </p:cNvGrpSpPr>
          <p:nvPr/>
        </p:nvGrpSpPr>
        <p:grpSpPr bwMode="auto">
          <a:xfrm>
            <a:off x="4191000" y="2409825"/>
            <a:ext cx="2574925" cy="552450"/>
            <a:chOff x="3924" y="1572"/>
            <a:chExt cx="1622" cy="348"/>
          </a:xfrm>
        </p:grpSpPr>
        <p:grpSp>
          <p:nvGrpSpPr>
            <p:cNvPr id="13344" name="Group 39"/>
            <p:cNvGrpSpPr>
              <a:grpSpLocks/>
            </p:cNvGrpSpPr>
            <p:nvPr/>
          </p:nvGrpSpPr>
          <p:grpSpPr bwMode="auto">
            <a:xfrm>
              <a:off x="3948" y="1572"/>
              <a:ext cx="1598" cy="348"/>
              <a:chOff x="3918" y="1572"/>
              <a:chExt cx="1598" cy="348"/>
            </a:xfrm>
          </p:grpSpPr>
          <p:sp>
            <p:nvSpPr>
              <p:cNvPr id="13346" name="Text Box 31"/>
              <p:cNvSpPr txBox="1">
                <a:spLocks noChangeArrowheads="1"/>
              </p:cNvSpPr>
              <p:nvPr/>
            </p:nvSpPr>
            <p:spPr bwMode="auto">
              <a:xfrm>
                <a:off x="3918" y="1574"/>
                <a:ext cx="1202" cy="34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 altLang="es-ES">
                    <a:cs typeface="Arial" pitchFamily="34" charset="0"/>
                  </a:rPr>
                  <a:t>- Estimación:                 y </a:t>
                </a:r>
              </a:p>
              <a:p>
                <a:pPr eaLnBrk="1" hangingPunct="1">
                  <a:spcBef>
                    <a:spcPct val="50000"/>
                  </a:spcBef>
                  <a:buFontTx/>
                  <a:buChar char="-"/>
                </a:pPr>
                <a:r>
                  <a:rPr lang="es-ES" altLang="es-ES">
                    <a:cs typeface="Arial" pitchFamily="34" charset="0"/>
                  </a:rPr>
                  <a:t> Saber si es admisible</a:t>
                </a:r>
              </a:p>
            </p:txBody>
          </p:sp>
          <p:graphicFrame>
            <p:nvGraphicFramePr>
              <p:cNvPr id="13347" name="Object 32"/>
              <p:cNvGraphicFramePr>
                <a:graphicFrameLocks noChangeAspect="1"/>
              </p:cNvGraphicFramePr>
              <p:nvPr/>
            </p:nvGraphicFramePr>
            <p:xfrm>
              <a:off x="5124" y="1572"/>
              <a:ext cx="336" cy="168"/>
            </p:xfrm>
            <a:graphic>
              <a:graphicData uri="http://schemas.openxmlformats.org/presentationml/2006/ole">
                <mc:AlternateContent xmlns:mc="http://schemas.openxmlformats.org/markup-compatibility/2006">
                  <mc:Choice xmlns:v="urn:schemas-microsoft-com:vml" Requires="v">
                    <p:oleObj name="Equation" r:id="rId6" imgW="532937" imgH="266469" progId="Equation.DSMT4">
                      <p:embed/>
                    </p:oleObj>
                  </mc:Choice>
                  <mc:Fallback>
                    <p:oleObj name="Equation" r:id="rId6" imgW="532937" imgH="266469" progId="Equation.DSMT4">
                      <p:embed/>
                      <p:pic>
                        <p:nvPicPr>
                          <p:cNvPr id="13347" name="Object 3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24" y="1572"/>
                            <a:ext cx="336" cy="1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48" name="Object 33"/>
              <p:cNvGraphicFramePr>
                <a:graphicFrameLocks noChangeAspect="1"/>
              </p:cNvGraphicFramePr>
              <p:nvPr/>
            </p:nvGraphicFramePr>
            <p:xfrm>
              <a:off x="4980" y="1752"/>
              <a:ext cx="536" cy="168"/>
            </p:xfrm>
            <a:graphic>
              <a:graphicData uri="http://schemas.openxmlformats.org/presentationml/2006/ole">
                <mc:AlternateContent xmlns:mc="http://schemas.openxmlformats.org/markup-compatibility/2006">
                  <mc:Choice xmlns:v="urn:schemas-microsoft-com:vml" Requires="v">
                    <p:oleObj name="Equation" r:id="rId8" imgW="850531" imgH="266584" progId="Equation.DSMT4">
                      <p:embed/>
                    </p:oleObj>
                  </mc:Choice>
                  <mc:Fallback>
                    <p:oleObj name="Equation" r:id="rId8" imgW="850531" imgH="266584" progId="Equation.DSMT4">
                      <p:embed/>
                      <p:pic>
                        <p:nvPicPr>
                          <p:cNvPr id="13348" name="Object 3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80" y="1752"/>
                            <a:ext cx="536" cy="1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49" name="Object 38"/>
              <p:cNvGraphicFramePr>
                <a:graphicFrameLocks noChangeAspect="1"/>
              </p:cNvGraphicFramePr>
              <p:nvPr/>
            </p:nvGraphicFramePr>
            <p:xfrm>
              <a:off x="4560" y="1572"/>
              <a:ext cx="336" cy="168"/>
            </p:xfrm>
            <a:graphic>
              <a:graphicData uri="http://schemas.openxmlformats.org/presentationml/2006/ole">
                <mc:AlternateContent xmlns:mc="http://schemas.openxmlformats.org/markup-compatibility/2006">
                  <mc:Choice xmlns:v="urn:schemas-microsoft-com:vml" Requires="v">
                    <p:oleObj name="Equation" r:id="rId10" imgW="532937" imgH="266469" progId="Equation.DSMT4">
                      <p:embed/>
                    </p:oleObj>
                  </mc:Choice>
                  <mc:Fallback>
                    <p:oleObj name="Equation" r:id="rId10" imgW="532937" imgH="266469" progId="Equation.DSMT4">
                      <p:embed/>
                      <p:pic>
                        <p:nvPicPr>
                          <p:cNvPr id="13349" name="Object 3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60" y="1572"/>
                            <a:ext cx="336" cy="1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3345" name="AutoShape 40"/>
            <p:cNvSpPr>
              <a:spLocks/>
            </p:cNvSpPr>
            <p:nvPr/>
          </p:nvSpPr>
          <p:spPr bwMode="auto">
            <a:xfrm>
              <a:off x="3924" y="1578"/>
              <a:ext cx="48" cy="336"/>
            </a:xfrm>
            <a:prstGeom prst="leftBrace">
              <a:avLst>
                <a:gd name="adj1" fmla="val 5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13322" name="Text Box 44"/>
          <p:cNvSpPr txBox="1">
            <a:spLocks noChangeArrowheads="1"/>
          </p:cNvSpPr>
          <p:nvPr/>
        </p:nvSpPr>
        <p:spPr bwMode="auto">
          <a:xfrm>
            <a:off x="5791200" y="4217988"/>
            <a:ext cx="27051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tabLst>
                <a:tab pos="2854325" algn="l"/>
                <a:tab pos="4175125" algn="l"/>
              </a:tabLst>
              <a:defRPr sz="1200">
                <a:solidFill>
                  <a:schemeClr val="tx1"/>
                </a:solidFill>
                <a:latin typeface="Arial" pitchFamily="34" charset="0"/>
              </a:defRPr>
            </a:lvl1pPr>
            <a:lvl2pPr marL="742950" indent="-285750" eaLnBrk="0" hangingPunct="0">
              <a:tabLst>
                <a:tab pos="2854325" algn="l"/>
                <a:tab pos="4175125" algn="l"/>
              </a:tabLst>
              <a:defRPr sz="1200">
                <a:solidFill>
                  <a:schemeClr val="tx1"/>
                </a:solidFill>
                <a:latin typeface="Arial" pitchFamily="34" charset="0"/>
              </a:defRPr>
            </a:lvl2pPr>
            <a:lvl3pPr marL="1143000" indent="-228600" eaLnBrk="0" hangingPunct="0">
              <a:tabLst>
                <a:tab pos="2854325" algn="l"/>
                <a:tab pos="4175125" algn="l"/>
              </a:tabLst>
              <a:defRPr sz="1200">
                <a:solidFill>
                  <a:schemeClr val="tx1"/>
                </a:solidFill>
                <a:latin typeface="Arial" pitchFamily="34" charset="0"/>
              </a:defRPr>
            </a:lvl3pPr>
            <a:lvl4pPr marL="1600200" indent="-228600" eaLnBrk="0" hangingPunct="0">
              <a:tabLst>
                <a:tab pos="2854325" algn="l"/>
                <a:tab pos="4175125" algn="l"/>
              </a:tabLst>
              <a:defRPr sz="1200">
                <a:solidFill>
                  <a:schemeClr val="tx1"/>
                </a:solidFill>
                <a:latin typeface="Arial" pitchFamily="34" charset="0"/>
              </a:defRPr>
            </a:lvl4pPr>
            <a:lvl5pPr marL="2057400" indent="-228600" eaLnBrk="0" hangingPunct="0">
              <a:tabLst>
                <a:tab pos="2854325" algn="l"/>
                <a:tab pos="4175125" algn="l"/>
              </a:tabLst>
              <a:defRPr sz="1200">
                <a:solidFill>
                  <a:schemeClr val="tx1"/>
                </a:solidFill>
                <a:latin typeface="Arial" pitchFamily="34" charset="0"/>
              </a:defRPr>
            </a:lvl5pPr>
            <a:lvl6pPr marL="25146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6pPr>
            <a:lvl7pPr marL="29718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7pPr>
            <a:lvl8pPr marL="34290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8pPr>
            <a:lvl9pPr marL="38862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9pPr>
          </a:lstStyle>
          <a:p>
            <a:pPr eaLnBrk="1" hangingPunct="1"/>
            <a:r>
              <a:rPr lang="es-ES" altLang="es-ES">
                <a:cs typeface="Arial" pitchFamily="34" charset="0"/>
              </a:rPr>
              <a:t>Es preferible que las muestras sean de igual tamaño</a:t>
            </a:r>
          </a:p>
        </p:txBody>
      </p:sp>
      <p:sp>
        <p:nvSpPr>
          <p:cNvPr id="13323" name="Text Box 49"/>
          <p:cNvSpPr txBox="1">
            <a:spLocks noChangeArrowheads="1"/>
          </p:cNvSpPr>
          <p:nvPr/>
        </p:nvSpPr>
        <p:spPr bwMode="auto">
          <a:xfrm>
            <a:off x="5791200" y="5272088"/>
            <a:ext cx="3086100" cy="971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tabLst>
                <a:tab pos="2854325" algn="l"/>
                <a:tab pos="4175125" algn="l"/>
              </a:tabLst>
              <a:defRPr sz="1200">
                <a:solidFill>
                  <a:schemeClr val="tx1"/>
                </a:solidFill>
                <a:latin typeface="Arial" pitchFamily="34" charset="0"/>
              </a:defRPr>
            </a:lvl1pPr>
            <a:lvl2pPr marL="742950" indent="-285750" eaLnBrk="0" hangingPunct="0">
              <a:tabLst>
                <a:tab pos="2854325" algn="l"/>
                <a:tab pos="4175125" algn="l"/>
              </a:tabLst>
              <a:defRPr sz="1200">
                <a:solidFill>
                  <a:schemeClr val="tx1"/>
                </a:solidFill>
                <a:latin typeface="Arial" pitchFamily="34" charset="0"/>
              </a:defRPr>
            </a:lvl2pPr>
            <a:lvl3pPr marL="1143000" indent="-228600" eaLnBrk="0" hangingPunct="0">
              <a:tabLst>
                <a:tab pos="2854325" algn="l"/>
                <a:tab pos="4175125" algn="l"/>
              </a:tabLst>
              <a:defRPr sz="1200">
                <a:solidFill>
                  <a:schemeClr val="tx1"/>
                </a:solidFill>
                <a:latin typeface="Arial" pitchFamily="34" charset="0"/>
              </a:defRPr>
            </a:lvl3pPr>
            <a:lvl4pPr marL="1600200" indent="-228600" eaLnBrk="0" hangingPunct="0">
              <a:tabLst>
                <a:tab pos="2854325" algn="l"/>
                <a:tab pos="4175125" algn="l"/>
              </a:tabLst>
              <a:defRPr sz="1200">
                <a:solidFill>
                  <a:schemeClr val="tx1"/>
                </a:solidFill>
                <a:latin typeface="Arial" pitchFamily="34" charset="0"/>
              </a:defRPr>
            </a:lvl4pPr>
            <a:lvl5pPr marL="2057400" indent="-228600" eaLnBrk="0" hangingPunct="0">
              <a:tabLst>
                <a:tab pos="2854325" algn="l"/>
                <a:tab pos="4175125" algn="l"/>
              </a:tabLst>
              <a:defRPr sz="1200">
                <a:solidFill>
                  <a:schemeClr val="tx1"/>
                </a:solidFill>
                <a:latin typeface="Arial" pitchFamily="34" charset="0"/>
              </a:defRPr>
            </a:lvl5pPr>
            <a:lvl6pPr marL="25146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6pPr>
            <a:lvl7pPr marL="29718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7pPr>
            <a:lvl8pPr marL="34290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8pPr>
            <a:lvl9pPr marL="38862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9pPr>
          </a:lstStyle>
          <a:p>
            <a:pPr eaLnBrk="1" hangingPunct="1"/>
            <a:r>
              <a:rPr lang="es-ES" altLang="es-ES">
                <a:cs typeface="Arial" pitchFamily="34" charset="0"/>
              </a:rPr>
              <a:t>La muestra con mayor varianza debe ser la mayor</a:t>
            </a:r>
          </a:p>
          <a:p>
            <a:pPr algn="just" eaLnBrk="1" hangingPunct="1"/>
            <a:r>
              <a:rPr lang="es-ES_tradnl" altLang="es-ES" sz="1100" i="1">
                <a:solidFill>
                  <a:srgbClr val="C00000"/>
                </a:solidFill>
                <a:cs typeface="Arial" pitchFamily="34" charset="0"/>
              </a:rPr>
              <a:t>A mayor variabilidad, mayor es la información necesaria para poder caracterizar a la población</a:t>
            </a:r>
            <a:endParaRPr lang="es-ES" altLang="es-ES" sz="1100" i="1">
              <a:solidFill>
                <a:srgbClr val="C00000"/>
              </a:solidFill>
              <a:cs typeface="Arial" pitchFamily="34" charset="0"/>
            </a:endParaRPr>
          </a:p>
        </p:txBody>
      </p:sp>
      <p:grpSp>
        <p:nvGrpSpPr>
          <p:cNvPr id="13324" name="Group 70"/>
          <p:cNvGrpSpPr>
            <a:grpSpLocks/>
          </p:cNvGrpSpPr>
          <p:nvPr/>
        </p:nvGrpSpPr>
        <p:grpSpPr bwMode="auto">
          <a:xfrm>
            <a:off x="685800" y="4038600"/>
            <a:ext cx="4343400" cy="2482850"/>
            <a:chOff x="432" y="2568"/>
            <a:chExt cx="2832" cy="1540"/>
          </a:xfrm>
        </p:grpSpPr>
        <p:grpSp>
          <p:nvGrpSpPr>
            <p:cNvPr id="13330" name="Group 68"/>
            <p:cNvGrpSpPr>
              <a:grpSpLocks/>
            </p:cNvGrpSpPr>
            <p:nvPr/>
          </p:nvGrpSpPr>
          <p:grpSpPr bwMode="auto">
            <a:xfrm>
              <a:off x="432" y="2568"/>
              <a:ext cx="2702" cy="576"/>
              <a:chOff x="384" y="2568"/>
              <a:chExt cx="2702" cy="576"/>
            </a:xfrm>
          </p:grpSpPr>
          <p:graphicFrame>
            <p:nvGraphicFramePr>
              <p:cNvPr id="13338" name="Object 36"/>
              <p:cNvGraphicFramePr>
                <a:graphicFrameLocks noChangeAspect="1"/>
              </p:cNvGraphicFramePr>
              <p:nvPr/>
            </p:nvGraphicFramePr>
            <p:xfrm>
              <a:off x="2550" y="2672"/>
              <a:ext cx="536" cy="160"/>
            </p:xfrm>
            <a:graphic>
              <a:graphicData uri="http://schemas.openxmlformats.org/presentationml/2006/ole">
                <mc:AlternateContent xmlns:mc="http://schemas.openxmlformats.org/markup-compatibility/2006">
                  <mc:Choice xmlns:v="urn:schemas-microsoft-com:vml" Requires="v">
                    <p:oleObj name="Equation" r:id="rId12" imgW="850531" imgH="253890" progId="Equation.DSMT4">
                      <p:embed/>
                    </p:oleObj>
                  </mc:Choice>
                  <mc:Fallback>
                    <p:oleObj name="Equation" r:id="rId12" imgW="850531" imgH="253890" progId="Equation.DSMT4">
                      <p:embed/>
                      <p:pic>
                        <p:nvPicPr>
                          <p:cNvPr id="13338" name="Object 3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50" y="2672"/>
                            <a:ext cx="536" cy="1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39" name="Text Box 48"/>
              <p:cNvSpPr txBox="1">
                <a:spLocks noChangeArrowheads="1"/>
              </p:cNvSpPr>
              <p:nvPr/>
            </p:nvSpPr>
            <p:spPr bwMode="auto">
              <a:xfrm>
                <a:off x="384" y="2757"/>
                <a:ext cx="1056" cy="17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tabLst>
                    <a:tab pos="2854325" algn="l"/>
                    <a:tab pos="4175125" algn="l"/>
                  </a:tabLst>
                  <a:defRPr sz="1200">
                    <a:solidFill>
                      <a:schemeClr val="tx1"/>
                    </a:solidFill>
                    <a:latin typeface="Arial" pitchFamily="34" charset="0"/>
                  </a:defRPr>
                </a:lvl1pPr>
                <a:lvl2pPr marL="742950" indent="-285750" eaLnBrk="0" hangingPunct="0">
                  <a:tabLst>
                    <a:tab pos="2854325" algn="l"/>
                    <a:tab pos="4175125" algn="l"/>
                  </a:tabLst>
                  <a:defRPr sz="1200">
                    <a:solidFill>
                      <a:schemeClr val="tx1"/>
                    </a:solidFill>
                    <a:latin typeface="Arial" pitchFamily="34" charset="0"/>
                  </a:defRPr>
                </a:lvl2pPr>
                <a:lvl3pPr marL="1143000" indent="-228600" eaLnBrk="0" hangingPunct="0">
                  <a:tabLst>
                    <a:tab pos="2854325" algn="l"/>
                    <a:tab pos="4175125" algn="l"/>
                  </a:tabLst>
                  <a:defRPr sz="1200">
                    <a:solidFill>
                      <a:schemeClr val="tx1"/>
                    </a:solidFill>
                    <a:latin typeface="Arial" pitchFamily="34" charset="0"/>
                  </a:defRPr>
                </a:lvl3pPr>
                <a:lvl4pPr marL="1600200" indent="-228600" eaLnBrk="0" hangingPunct="0">
                  <a:tabLst>
                    <a:tab pos="2854325" algn="l"/>
                    <a:tab pos="4175125" algn="l"/>
                  </a:tabLst>
                  <a:defRPr sz="1200">
                    <a:solidFill>
                      <a:schemeClr val="tx1"/>
                    </a:solidFill>
                    <a:latin typeface="Arial" pitchFamily="34" charset="0"/>
                  </a:defRPr>
                </a:lvl4pPr>
                <a:lvl5pPr marL="2057400" indent="-228600" eaLnBrk="0" hangingPunct="0">
                  <a:tabLst>
                    <a:tab pos="2854325" algn="l"/>
                    <a:tab pos="4175125" algn="l"/>
                  </a:tabLst>
                  <a:defRPr sz="1200">
                    <a:solidFill>
                      <a:schemeClr val="tx1"/>
                    </a:solidFill>
                    <a:latin typeface="Arial" pitchFamily="34" charset="0"/>
                  </a:defRPr>
                </a:lvl5pPr>
                <a:lvl6pPr marL="25146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6pPr>
                <a:lvl7pPr marL="29718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7pPr>
                <a:lvl8pPr marL="34290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8pPr>
                <a:lvl9pPr marL="38862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9pPr>
              </a:lstStyle>
              <a:p>
                <a:pPr eaLnBrk="1" hangingPunct="1"/>
                <a:r>
                  <a:rPr lang="es-ES" altLang="es-ES" b="1">
                    <a:cs typeface="Arial" pitchFamily="34" charset="0"/>
                  </a:rPr>
                  <a:t>Varianzas iguales</a:t>
                </a:r>
                <a:r>
                  <a:rPr lang="es-ES" altLang="es-ES">
                    <a:cs typeface="Arial" pitchFamily="34" charset="0"/>
                  </a:rPr>
                  <a:t> </a:t>
                </a:r>
              </a:p>
            </p:txBody>
          </p:sp>
          <p:grpSp>
            <p:nvGrpSpPr>
              <p:cNvPr id="13340" name="Group 57"/>
              <p:cNvGrpSpPr>
                <a:grpSpLocks/>
              </p:cNvGrpSpPr>
              <p:nvPr/>
            </p:nvGrpSpPr>
            <p:grpSpPr bwMode="auto">
              <a:xfrm>
                <a:off x="1550" y="2568"/>
                <a:ext cx="896" cy="552"/>
                <a:chOff x="1344" y="2592"/>
                <a:chExt cx="896" cy="552"/>
              </a:xfrm>
            </p:grpSpPr>
            <p:graphicFrame>
              <p:nvGraphicFramePr>
                <p:cNvPr id="13342" name="Object 34"/>
                <p:cNvGraphicFramePr>
                  <a:graphicFrameLocks noChangeAspect="1"/>
                </p:cNvGraphicFramePr>
                <p:nvPr/>
              </p:nvGraphicFramePr>
              <p:xfrm>
                <a:off x="1344" y="2592"/>
                <a:ext cx="896" cy="376"/>
              </p:xfrm>
              <a:graphic>
                <a:graphicData uri="http://schemas.openxmlformats.org/presentationml/2006/ole">
                  <mc:AlternateContent xmlns:mc="http://schemas.openxmlformats.org/markup-compatibility/2006">
                    <mc:Choice xmlns:v="urn:schemas-microsoft-com:vml" Requires="v">
                      <p:oleObj name="Equation" r:id="rId14" imgW="1422400" imgH="596900" progId="Equation.DSMT4">
                        <p:embed/>
                      </p:oleObj>
                    </mc:Choice>
                    <mc:Fallback>
                      <p:oleObj name="Equation" r:id="rId14" imgW="1422400" imgH="596900" progId="Equation.DSMT4">
                        <p:embed/>
                        <p:pic>
                          <p:nvPicPr>
                            <p:cNvPr id="13342" name="Object 3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44" y="2592"/>
                              <a:ext cx="896" cy="3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43" name="Object 51"/>
                <p:cNvGraphicFramePr>
                  <a:graphicFrameLocks noChangeAspect="1"/>
                </p:cNvGraphicFramePr>
                <p:nvPr/>
              </p:nvGraphicFramePr>
              <p:xfrm>
                <a:off x="1344" y="2976"/>
                <a:ext cx="720" cy="168"/>
              </p:xfrm>
              <a:graphic>
                <a:graphicData uri="http://schemas.openxmlformats.org/presentationml/2006/ole">
                  <mc:AlternateContent xmlns:mc="http://schemas.openxmlformats.org/markup-compatibility/2006">
                    <mc:Choice xmlns:v="urn:schemas-microsoft-com:vml" Requires="v">
                      <p:oleObj name="Equation" r:id="rId16" imgW="1143000" imgH="266700" progId="Equation.DSMT4">
                        <p:embed/>
                      </p:oleObj>
                    </mc:Choice>
                    <mc:Fallback>
                      <p:oleObj name="Equation" r:id="rId16" imgW="1143000" imgH="266700" progId="Equation.DSMT4">
                        <p:embed/>
                        <p:pic>
                          <p:nvPicPr>
                            <p:cNvPr id="13343" name="Object 5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44" y="2976"/>
                              <a:ext cx="720"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3341" name="AutoShape 56"/>
              <p:cNvSpPr>
                <a:spLocks/>
              </p:cNvSpPr>
              <p:nvPr/>
            </p:nvSpPr>
            <p:spPr bwMode="auto">
              <a:xfrm>
                <a:off x="1406" y="2568"/>
                <a:ext cx="48" cy="576"/>
              </a:xfrm>
              <a:prstGeom prst="leftBrace">
                <a:avLst>
                  <a:gd name="adj1" fmla="val 10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pSp>
          <p:nvGrpSpPr>
            <p:cNvPr id="13331" name="Group 67"/>
            <p:cNvGrpSpPr>
              <a:grpSpLocks/>
            </p:cNvGrpSpPr>
            <p:nvPr/>
          </p:nvGrpSpPr>
          <p:grpSpPr bwMode="auto">
            <a:xfrm>
              <a:off x="432" y="3216"/>
              <a:ext cx="2832" cy="892"/>
              <a:chOff x="384" y="3216"/>
              <a:chExt cx="2832" cy="892"/>
            </a:xfrm>
          </p:grpSpPr>
          <p:sp>
            <p:nvSpPr>
              <p:cNvPr id="13332" name="Text Box 45"/>
              <p:cNvSpPr txBox="1">
                <a:spLocks noChangeArrowheads="1"/>
              </p:cNvSpPr>
              <p:nvPr/>
            </p:nvSpPr>
            <p:spPr bwMode="auto">
              <a:xfrm>
                <a:off x="384" y="3595"/>
                <a:ext cx="1073" cy="17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spcAft>
                    <a:spcPct val="30000"/>
                  </a:spcAft>
                </a:pPr>
                <a:r>
                  <a:rPr lang="es-ES" altLang="es-ES" b="1">
                    <a:cs typeface="Arial" pitchFamily="34" charset="0"/>
                  </a:rPr>
                  <a:t>Varianzas distintas  </a:t>
                </a:r>
              </a:p>
            </p:txBody>
          </p:sp>
          <p:graphicFrame>
            <p:nvGraphicFramePr>
              <p:cNvPr id="13333" name="Object 46"/>
              <p:cNvGraphicFramePr>
                <a:graphicFrameLocks noChangeAspect="1"/>
              </p:cNvGraphicFramePr>
              <p:nvPr/>
            </p:nvGraphicFramePr>
            <p:xfrm>
              <a:off x="1546" y="3216"/>
              <a:ext cx="1128" cy="376"/>
            </p:xfrm>
            <a:graphic>
              <a:graphicData uri="http://schemas.openxmlformats.org/presentationml/2006/ole">
                <mc:AlternateContent xmlns:mc="http://schemas.openxmlformats.org/markup-compatibility/2006">
                  <mc:Choice xmlns:v="urn:schemas-microsoft-com:vml" Requires="v">
                    <p:oleObj name="Equation" r:id="rId18" imgW="1790700" imgH="596900" progId="Equation.DSMT4">
                      <p:embed/>
                    </p:oleObj>
                  </mc:Choice>
                  <mc:Fallback>
                    <p:oleObj name="Equation" r:id="rId18" imgW="1790700" imgH="596900" progId="Equation.DSMT4">
                      <p:embed/>
                      <p:pic>
                        <p:nvPicPr>
                          <p:cNvPr id="13333" name="Object 4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46" y="3216"/>
                            <a:ext cx="1128" cy="3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34" name="Object 47"/>
              <p:cNvGraphicFramePr>
                <a:graphicFrameLocks noChangeAspect="1"/>
              </p:cNvGraphicFramePr>
              <p:nvPr/>
            </p:nvGraphicFramePr>
            <p:xfrm>
              <a:off x="2720" y="3332"/>
              <a:ext cx="496" cy="160"/>
            </p:xfrm>
            <a:graphic>
              <a:graphicData uri="http://schemas.openxmlformats.org/presentationml/2006/ole">
                <mc:AlternateContent xmlns:mc="http://schemas.openxmlformats.org/markup-compatibility/2006">
                  <mc:Choice xmlns:v="urn:schemas-microsoft-com:vml" Requires="v">
                    <p:oleObj name="Equation" r:id="rId20" imgW="787058" imgH="253890" progId="Equation.DSMT4">
                      <p:embed/>
                    </p:oleObj>
                  </mc:Choice>
                  <mc:Fallback>
                    <p:oleObj name="Equation" r:id="rId20" imgW="787058" imgH="253890" progId="Equation.DSMT4">
                      <p:embed/>
                      <p:pic>
                        <p:nvPicPr>
                          <p:cNvPr id="13334" name="Object 4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20" y="3332"/>
                            <a:ext cx="496" cy="1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35" name="Object 50"/>
              <p:cNvGraphicFramePr>
                <a:graphicFrameLocks noChangeAspect="1"/>
              </p:cNvGraphicFramePr>
              <p:nvPr/>
            </p:nvGraphicFramePr>
            <p:xfrm>
              <a:off x="1546" y="3608"/>
              <a:ext cx="456" cy="152"/>
            </p:xfrm>
            <a:graphic>
              <a:graphicData uri="http://schemas.openxmlformats.org/presentationml/2006/ole">
                <mc:AlternateContent xmlns:mc="http://schemas.openxmlformats.org/markup-compatibility/2006">
                  <mc:Choice xmlns:v="urn:schemas-microsoft-com:vml" Requires="v">
                    <p:oleObj name="Equation" r:id="rId22" imgW="723586" imgH="241195" progId="Equation.DSMT4">
                      <p:embed/>
                    </p:oleObj>
                  </mc:Choice>
                  <mc:Fallback>
                    <p:oleObj name="Equation" r:id="rId22" imgW="723586" imgH="241195" progId="Equation.DSMT4">
                      <p:embed/>
                      <p:pic>
                        <p:nvPicPr>
                          <p:cNvPr id="13335" name="Object 5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546" y="3608"/>
                            <a:ext cx="456" cy="1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36" name="Object 53"/>
              <p:cNvGraphicFramePr>
                <a:graphicFrameLocks noChangeAspect="1"/>
              </p:cNvGraphicFramePr>
              <p:nvPr/>
            </p:nvGraphicFramePr>
            <p:xfrm>
              <a:off x="1546" y="3792"/>
              <a:ext cx="1271" cy="316"/>
            </p:xfrm>
            <a:graphic>
              <a:graphicData uri="http://schemas.openxmlformats.org/presentationml/2006/ole">
                <mc:AlternateContent xmlns:mc="http://schemas.openxmlformats.org/markup-compatibility/2006">
                  <mc:Choice xmlns:v="urn:schemas-microsoft-com:vml" Requires="v">
                    <p:oleObj name="Equation" r:id="rId24" imgW="2197100" imgH="546100" progId="Equation.DSMT4">
                      <p:embed/>
                    </p:oleObj>
                  </mc:Choice>
                  <mc:Fallback>
                    <p:oleObj name="Equation" r:id="rId24" imgW="2197100" imgH="546100" progId="Equation.DSMT4">
                      <p:embed/>
                      <p:pic>
                        <p:nvPicPr>
                          <p:cNvPr id="13336" name="Object 5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546" y="3792"/>
                            <a:ext cx="1271" cy="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37" name="AutoShape 58"/>
              <p:cNvSpPr>
                <a:spLocks/>
              </p:cNvSpPr>
              <p:nvPr/>
            </p:nvSpPr>
            <p:spPr bwMode="auto">
              <a:xfrm>
                <a:off x="1406" y="3282"/>
                <a:ext cx="48" cy="816"/>
              </a:xfrm>
              <a:prstGeom prst="leftBrace">
                <a:avLst>
                  <a:gd name="adj1" fmla="val 141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pSp>
      <p:sp>
        <p:nvSpPr>
          <p:cNvPr id="13325" name="AutoShape 62"/>
          <p:cNvSpPr>
            <a:spLocks/>
          </p:cNvSpPr>
          <p:nvPr/>
        </p:nvSpPr>
        <p:spPr bwMode="auto">
          <a:xfrm>
            <a:off x="508000" y="4140200"/>
            <a:ext cx="120650" cy="2317750"/>
          </a:xfrm>
          <a:prstGeom prst="leftBrace">
            <a:avLst>
              <a:gd name="adj1" fmla="val 160088"/>
              <a:gd name="adj2" fmla="val 50324"/>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3326" name="Line 63"/>
          <p:cNvSpPr>
            <a:spLocks noChangeShapeType="1"/>
          </p:cNvSpPr>
          <p:nvPr/>
        </p:nvSpPr>
        <p:spPr bwMode="auto">
          <a:xfrm flipH="1">
            <a:off x="5334000" y="5410200"/>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3327" name="Line 64"/>
          <p:cNvSpPr>
            <a:spLocks noChangeShapeType="1"/>
          </p:cNvSpPr>
          <p:nvPr/>
        </p:nvSpPr>
        <p:spPr bwMode="auto">
          <a:xfrm flipH="1">
            <a:off x="5334000" y="4343400"/>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3328" name="Text Box 66"/>
          <p:cNvSpPr txBox="1">
            <a:spLocks noChangeArrowheads="1"/>
          </p:cNvSpPr>
          <p:nvPr/>
        </p:nvSpPr>
        <p:spPr bwMode="auto">
          <a:xfrm>
            <a:off x="228600" y="981075"/>
            <a:ext cx="2105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5. Tamaño de muestra </a:t>
            </a:r>
            <a:endParaRPr lang="es-ES" altLang="es-ES" sz="1400" b="1"/>
          </a:p>
        </p:txBody>
      </p:sp>
      <p:sp>
        <p:nvSpPr>
          <p:cNvPr id="45" name="Text Box 2"/>
          <p:cNvSpPr txBox="1">
            <a:spLocks noChangeArrowheads="1"/>
          </p:cNvSpPr>
          <p:nvPr/>
        </p:nvSpPr>
        <p:spPr bwMode="auto">
          <a:xfrm>
            <a:off x="236537" y="411163"/>
            <a:ext cx="334486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Prueba de homogeneidad de medias</a:t>
            </a:r>
            <a:endParaRPr lang="es-ES" altLang="es-ES" sz="1400" b="1"/>
          </a:p>
        </p:txBody>
      </p:sp>
      <p:sp>
        <p:nvSpPr>
          <p:cNvPr id="46" name="Text Box 2"/>
          <p:cNvSpPr txBox="1">
            <a:spLocks noChangeArrowheads="1"/>
          </p:cNvSpPr>
          <p:nvPr/>
        </p:nvSpPr>
        <p:spPr bwMode="auto">
          <a:xfrm>
            <a:off x="236537" y="76200"/>
            <a:ext cx="40116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 Variable normal</a:t>
            </a:r>
            <a:endParaRPr lang="es-ES" altLang="es-ES" sz="1400" b="1" dirty="0"/>
          </a:p>
        </p:txBody>
      </p:sp>
      <p:sp>
        <p:nvSpPr>
          <p:cNvPr id="2" name="CuadroTexto 1"/>
          <p:cNvSpPr txBox="1"/>
          <p:nvPr/>
        </p:nvSpPr>
        <p:spPr>
          <a:xfrm rot="21138646">
            <a:off x="1290887" y="5355199"/>
            <a:ext cx="1063112" cy="261610"/>
          </a:xfrm>
          <a:prstGeom prst="rect">
            <a:avLst/>
          </a:prstGeom>
          <a:noFill/>
          <a:ln>
            <a:solidFill>
              <a:srgbClr val="C00000"/>
            </a:solidFill>
          </a:ln>
        </p:spPr>
        <p:txBody>
          <a:bodyPr wrap="none" rtlCol="0">
            <a:spAutoFit/>
          </a:bodyPr>
          <a:lstStyle/>
          <a:p>
            <a:r>
              <a:rPr lang="es-ES" sz="1050" dirty="0">
                <a:solidFill>
                  <a:srgbClr val="C00000"/>
                </a:solidFill>
              </a:rPr>
              <a:t>Complemento</a:t>
            </a:r>
          </a:p>
        </p:txBody>
      </p:sp>
    </p:spTree>
    <p:extLst>
      <p:ext uri="{BB962C8B-B14F-4D97-AF65-F5344CB8AC3E}">
        <p14:creationId xmlns:p14="http://schemas.microsoft.com/office/powerpoint/2010/main" val="1823233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43"/>
          <p:cNvSpPr txBox="1">
            <a:spLocks noChangeArrowheads="1"/>
          </p:cNvSpPr>
          <p:nvPr/>
        </p:nvSpPr>
        <p:spPr bwMode="auto">
          <a:xfrm>
            <a:off x="228600" y="425450"/>
            <a:ext cx="598272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solidFill>
                  <a:schemeClr val="accent5">
                    <a:lumMod val="25000"/>
                  </a:schemeClr>
                </a:solidFill>
              </a:rPr>
              <a:t>Ejemplo: ¿Cambia el nivel de proteína </a:t>
            </a:r>
            <a:r>
              <a:rPr lang="es-ES_tradnl" altLang="es-ES" sz="1400" b="1" dirty="0">
                <a:solidFill>
                  <a:schemeClr val="accent5">
                    <a:lumMod val="25000"/>
                  </a:schemeClr>
                </a:solidFill>
                <a:latin typeface="Symbol" panose="05050102010706020507" pitchFamily="18" charset="2"/>
              </a:rPr>
              <a:t>a</a:t>
            </a:r>
            <a:r>
              <a:rPr lang="es-ES_tradnl" altLang="es-ES" sz="1400" b="1" dirty="0">
                <a:solidFill>
                  <a:schemeClr val="accent5">
                    <a:lumMod val="25000"/>
                  </a:schemeClr>
                </a:solidFill>
                <a:latin typeface="+mn-lt"/>
              </a:rPr>
              <a:t>-</a:t>
            </a:r>
            <a:r>
              <a:rPr lang="es-ES_tradnl" altLang="es-ES" sz="1400" b="1" dirty="0" err="1">
                <a:solidFill>
                  <a:schemeClr val="accent5">
                    <a:lumMod val="25000"/>
                  </a:schemeClr>
                </a:solidFill>
                <a:latin typeface="+mn-lt"/>
              </a:rPr>
              <a:t>klotho</a:t>
            </a:r>
            <a:r>
              <a:rPr lang="es-ES_tradnl" altLang="es-ES" sz="1400" b="1" dirty="0">
                <a:solidFill>
                  <a:schemeClr val="accent5">
                    <a:lumMod val="25000"/>
                  </a:schemeClr>
                </a:solidFill>
                <a:latin typeface="+mn-lt"/>
              </a:rPr>
              <a:t> sérica con la edad?</a:t>
            </a:r>
            <a:endParaRPr lang="es-ES" altLang="es-ES" sz="1400" b="1" dirty="0">
              <a:solidFill>
                <a:schemeClr val="accent5">
                  <a:lumMod val="25000"/>
                </a:schemeClr>
              </a:solidFill>
            </a:endParaRPr>
          </a:p>
        </p:txBody>
      </p:sp>
      <p:graphicFrame>
        <p:nvGraphicFramePr>
          <p:cNvPr id="14339" name="Object 48"/>
          <p:cNvGraphicFramePr>
            <a:graphicFrameLocks noChangeAspect="1"/>
          </p:cNvGraphicFramePr>
          <p:nvPr>
            <p:extLst>
              <p:ext uri="{D42A27DB-BD31-4B8C-83A1-F6EECF244321}">
                <p14:modId xmlns:p14="http://schemas.microsoft.com/office/powerpoint/2010/main" val="83120680"/>
              </p:ext>
            </p:extLst>
          </p:nvPr>
        </p:nvGraphicFramePr>
        <p:xfrm>
          <a:off x="150813" y="1377868"/>
          <a:ext cx="2327323" cy="609680"/>
        </p:xfrm>
        <a:graphic>
          <a:graphicData uri="http://schemas.openxmlformats.org/presentationml/2006/ole">
            <mc:AlternateContent xmlns:mc="http://schemas.openxmlformats.org/markup-compatibility/2006">
              <mc:Choice xmlns:v="urn:schemas-microsoft-com:vml" Requires="v">
                <p:oleObj name="Equation" r:id="rId2" imgW="1765080" imgH="482400" progId="Equation.DSMT4">
                  <p:embed/>
                </p:oleObj>
              </mc:Choice>
              <mc:Fallback>
                <p:oleObj name="Equation" r:id="rId2" imgW="1765080" imgH="482400" progId="Equation.DSMT4">
                  <p:embed/>
                  <p:pic>
                    <p:nvPicPr>
                      <p:cNvPr id="14339" name="Object 48"/>
                      <p:cNvPicPr>
                        <a:picLocks noChangeAspect="1" noChangeArrowheads="1"/>
                      </p:cNvPicPr>
                      <p:nvPr/>
                    </p:nvPicPr>
                    <p:blipFill>
                      <a:blip r:embed="rId3"/>
                      <a:srcRect/>
                      <a:stretch>
                        <a:fillRect/>
                      </a:stretch>
                    </p:blipFill>
                    <p:spPr bwMode="auto">
                      <a:xfrm>
                        <a:off x="150813" y="1377868"/>
                        <a:ext cx="2327323" cy="609680"/>
                      </a:xfrm>
                      <a:prstGeom prst="rect">
                        <a:avLst/>
                      </a:prstGeom>
                      <a:noFill/>
                      <a:ln>
                        <a:noFill/>
                      </a:ln>
                      <a:effectLst/>
                    </p:spPr>
                  </p:pic>
                </p:oleObj>
              </mc:Fallback>
            </mc:AlternateContent>
          </a:graphicData>
        </a:graphic>
      </p:graphicFrame>
      <p:graphicFrame>
        <p:nvGraphicFramePr>
          <p:cNvPr id="14340" name="Object 49"/>
          <p:cNvGraphicFramePr>
            <a:graphicFrameLocks noChangeAspect="1"/>
          </p:cNvGraphicFramePr>
          <p:nvPr>
            <p:extLst>
              <p:ext uri="{D42A27DB-BD31-4B8C-83A1-F6EECF244321}">
                <p14:modId xmlns:p14="http://schemas.microsoft.com/office/powerpoint/2010/main" val="2661839680"/>
              </p:ext>
            </p:extLst>
          </p:nvPr>
        </p:nvGraphicFramePr>
        <p:xfrm>
          <a:off x="190500" y="2041525"/>
          <a:ext cx="3675494" cy="609679"/>
        </p:xfrm>
        <a:graphic>
          <a:graphicData uri="http://schemas.openxmlformats.org/presentationml/2006/ole">
            <mc:AlternateContent xmlns:mc="http://schemas.openxmlformats.org/markup-compatibility/2006">
              <mc:Choice xmlns:v="urn:schemas-microsoft-com:vml" Requires="v">
                <p:oleObj name="Equation" r:id="rId4" imgW="2831760" imgH="482400" progId="Equation.DSMT4">
                  <p:embed/>
                </p:oleObj>
              </mc:Choice>
              <mc:Fallback>
                <p:oleObj name="Equation" r:id="rId4" imgW="2831760" imgH="482400" progId="Equation.DSMT4">
                  <p:embed/>
                  <p:pic>
                    <p:nvPicPr>
                      <p:cNvPr id="14340" name="Object 49"/>
                      <p:cNvPicPr>
                        <a:picLocks noChangeAspect="1" noChangeArrowheads="1"/>
                      </p:cNvPicPr>
                      <p:nvPr/>
                    </p:nvPicPr>
                    <p:blipFill>
                      <a:blip r:embed="rId5"/>
                      <a:srcRect/>
                      <a:stretch>
                        <a:fillRect/>
                      </a:stretch>
                    </p:blipFill>
                    <p:spPr bwMode="auto">
                      <a:xfrm>
                        <a:off x="190500" y="2041525"/>
                        <a:ext cx="3675494" cy="609679"/>
                      </a:xfrm>
                      <a:prstGeom prst="rect">
                        <a:avLst/>
                      </a:prstGeom>
                      <a:noFill/>
                      <a:ln>
                        <a:noFill/>
                      </a:ln>
                      <a:effectLst/>
                    </p:spPr>
                  </p:pic>
                </p:oleObj>
              </mc:Fallback>
            </mc:AlternateContent>
          </a:graphicData>
        </a:graphic>
      </p:graphicFrame>
      <p:graphicFrame>
        <p:nvGraphicFramePr>
          <p:cNvPr id="14341" name="Object 50">
            <a:hlinkClick r:id="rId6" action="ppaction://hlinksldjump"/>
          </p:cNvPr>
          <p:cNvGraphicFramePr>
            <a:graphicFrameLocks noChangeAspect="1"/>
          </p:cNvGraphicFramePr>
          <p:nvPr>
            <p:extLst>
              <p:ext uri="{D42A27DB-BD31-4B8C-83A1-F6EECF244321}">
                <p14:modId xmlns:p14="http://schemas.microsoft.com/office/powerpoint/2010/main" val="1673982763"/>
              </p:ext>
            </p:extLst>
          </p:nvPr>
        </p:nvGraphicFramePr>
        <p:xfrm>
          <a:off x="1806575" y="3200400"/>
          <a:ext cx="3036888" cy="568325"/>
        </p:xfrm>
        <a:graphic>
          <a:graphicData uri="http://schemas.openxmlformats.org/presentationml/2006/ole">
            <mc:AlternateContent xmlns:mc="http://schemas.openxmlformats.org/markup-compatibility/2006">
              <mc:Choice xmlns:v="urn:schemas-microsoft-com:vml" Requires="v">
                <p:oleObj name="Equation" r:id="rId7" imgW="2514600" imgH="469800" progId="Equation.DSMT4">
                  <p:embed/>
                </p:oleObj>
              </mc:Choice>
              <mc:Fallback>
                <p:oleObj name="Equation" r:id="rId7" imgW="2514600" imgH="469800" progId="Equation.DSMT4">
                  <p:embed/>
                  <p:pic>
                    <p:nvPicPr>
                      <p:cNvPr id="14341" name="Object 50">
                        <a:hlinkClick r:id="" action="ppaction://noaction"/>
                      </p:cNvPr>
                      <p:cNvPicPr>
                        <a:picLocks noChangeAspect="1" noChangeArrowheads="1"/>
                      </p:cNvPicPr>
                      <p:nvPr/>
                    </p:nvPicPr>
                    <p:blipFill>
                      <a:blip r:embed="rId8"/>
                      <a:srcRect/>
                      <a:stretch>
                        <a:fillRect/>
                      </a:stretch>
                    </p:blipFill>
                    <p:spPr bwMode="auto">
                      <a:xfrm>
                        <a:off x="1806575" y="3200400"/>
                        <a:ext cx="3036888"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2" name="Object 51"/>
          <p:cNvGraphicFramePr>
            <a:graphicFrameLocks noChangeAspect="1"/>
          </p:cNvGraphicFramePr>
          <p:nvPr>
            <p:extLst>
              <p:ext uri="{D42A27DB-BD31-4B8C-83A1-F6EECF244321}">
                <p14:modId xmlns:p14="http://schemas.microsoft.com/office/powerpoint/2010/main" val="2732765432"/>
              </p:ext>
            </p:extLst>
          </p:nvPr>
        </p:nvGraphicFramePr>
        <p:xfrm>
          <a:off x="457201" y="4300070"/>
          <a:ext cx="2819400" cy="525929"/>
        </p:xfrm>
        <a:graphic>
          <a:graphicData uri="http://schemas.openxmlformats.org/presentationml/2006/ole">
            <mc:AlternateContent xmlns:mc="http://schemas.openxmlformats.org/markup-compatibility/2006">
              <mc:Choice xmlns:v="urn:schemas-microsoft-com:vml" Requires="v">
                <p:oleObj name="Equation" r:id="rId9" imgW="2247840" imgH="419040" progId="Equation.DSMT4">
                  <p:embed/>
                </p:oleObj>
              </mc:Choice>
              <mc:Fallback>
                <p:oleObj name="Equation" r:id="rId9" imgW="2247840" imgH="419040" progId="Equation.DSMT4">
                  <p:embed/>
                  <p:pic>
                    <p:nvPicPr>
                      <p:cNvPr id="14342" name="Object 51"/>
                      <p:cNvPicPr>
                        <a:picLocks noChangeAspect="1" noChangeArrowheads="1"/>
                      </p:cNvPicPr>
                      <p:nvPr/>
                    </p:nvPicPr>
                    <p:blipFill>
                      <a:blip r:embed="rId10"/>
                      <a:srcRect/>
                      <a:stretch>
                        <a:fillRect/>
                      </a:stretch>
                    </p:blipFill>
                    <p:spPr bwMode="auto">
                      <a:xfrm>
                        <a:off x="457201" y="4300070"/>
                        <a:ext cx="2819400" cy="525929"/>
                      </a:xfrm>
                      <a:prstGeom prst="rect">
                        <a:avLst/>
                      </a:prstGeom>
                      <a:noFill/>
                      <a:ln>
                        <a:noFill/>
                      </a:ln>
                      <a:effectLst/>
                    </p:spPr>
                  </p:pic>
                </p:oleObj>
              </mc:Fallback>
            </mc:AlternateContent>
          </a:graphicData>
        </a:graphic>
      </p:graphicFrame>
      <p:graphicFrame>
        <p:nvGraphicFramePr>
          <p:cNvPr id="14344" name="Object 54"/>
          <p:cNvGraphicFramePr>
            <a:graphicFrameLocks noChangeAspect="1"/>
          </p:cNvGraphicFramePr>
          <p:nvPr>
            <p:extLst>
              <p:ext uri="{D42A27DB-BD31-4B8C-83A1-F6EECF244321}">
                <p14:modId xmlns:p14="http://schemas.microsoft.com/office/powerpoint/2010/main" val="1314210858"/>
              </p:ext>
            </p:extLst>
          </p:nvPr>
        </p:nvGraphicFramePr>
        <p:xfrm>
          <a:off x="381000" y="3200400"/>
          <a:ext cx="1368425" cy="684213"/>
        </p:xfrm>
        <a:graphic>
          <a:graphicData uri="http://schemas.openxmlformats.org/presentationml/2006/ole">
            <mc:AlternateContent xmlns:mc="http://schemas.openxmlformats.org/markup-compatibility/2006">
              <mc:Choice xmlns:v="urn:schemas-microsoft-com:vml" Requires="v">
                <p:oleObj name="Equation" r:id="rId11" imgW="1016000" imgH="508000" progId="Equation.DSMT4">
                  <p:embed/>
                </p:oleObj>
              </mc:Choice>
              <mc:Fallback>
                <p:oleObj name="Equation" r:id="rId11" imgW="1016000" imgH="508000" progId="Equation.DSMT4">
                  <p:embed/>
                  <p:pic>
                    <p:nvPicPr>
                      <p:cNvPr id="14344" name="Object 5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 y="3200400"/>
                        <a:ext cx="1368425" cy="684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4345" name="Picture 57"/>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162800" y="406400"/>
            <a:ext cx="1752600" cy="134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4346" name="Object 58"/>
          <p:cNvGraphicFramePr>
            <a:graphicFrameLocks noChangeAspect="1"/>
          </p:cNvGraphicFramePr>
          <p:nvPr>
            <p:extLst>
              <p:ext uri="{D42A27DB-BD31-4B8C-83A1-F6EECF244321}">
                <p14:modId xmlns:p14="http://schemas.microsoft.com/office/powerpoint/2010/main" val="1481338805"/>
              </p:ext>
            </p:extLst>
          </p:nvPr>
        </p:nvGraphicFramePr>
        <p:xfrm>
          <a:off x="455613" y="4884738"/>
          <a:ext cx="4165600" cy="831850"/>
        </p:xfrm>
        <a:graphic>
          <a:graphicData uri="http://schemas.openxmlformats.org/presentationml/2006/ole">
            <mc:AlternateContent xmlns:mc="http://schemas.openxmlformats.org/markup-compatibility/2006">
              <mc:Choice xmlns:v="urn:schemas-microsoft-com:vml" Requires="v">
                <p:oleObj name="Equation" r:id="rId14" imgW="3504960" imgH="698400" progId="Equation.DSMT4">
                  <p:embed/>
                </p:oleObj>
              </mc:Choice>
              <mc:Fallback>
                <p:oleObj name="Equation" r:id="rId14" imgW="3504960" imgH="698400" progId="Equation.DSMT4">
                  <p:embed/>
                  <p:pic>
                    <p:nvPicPr>
                      <p:cNvPr id="14346" name="Object 58"/>
                      <p:cNvPicPr>
                        <a:picLocks noChangeAspect="1" noChangeArrowheads="1"/>
                      </p:cNvPicPr>
                      <p:nvPr/>
                    </p:nvPicPr>
                    <p:blipFill>
                      <a:blip r:embed="rId15"/>
                      <a:srcRect/>
                      <a:stretch>
                        <a:fillRect/>
                      </a:stretch>
                    </p:blipFill>
                    <p:spPr bwMode="auto">
                      <a:xfrm>
                        <a:off x="455613" y="4884738"/>
                        <a:ext cx="4165600" cy="831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72" name="Object 47"/>
          <p:cNvGraphicFramePr>
            <a:graphicFrameLocks noChangeAspect="1"/>
          </p:cNvGraphicFramePr>
          <p:nvPr>
            <p:extLst>
              <p:ext uri="{D42A27DB-BD31-4B8C-83A1-F6EECF244321}">
                <p14:modId xmlns:p14="http://schemas.microsoft.com/office/powerpoint/2010/main" val="2561899025"/>
              </p:ext>
            </p:extLst>
          </p:nvPr>
        </p:nvGraphicFramePr>
        <p:xfrm>
          <a:off x="228600" y="838200"/>
          <a:ext cx="6121401" cy="573087"/>
        </p:xfrm>
        <a:graphic>
          <a:graphicData uri="http://schemas.openxmlformats.org/presentationml/2006/ole">
            <mc:AlternateContent xmlns:mc="http://schemas.openxmlformats.org/markup-compatibility/2006">
              <mc:Choice xmlns:v="urn:schemas-microsoft-com:vml" Requires="v">
                <p:oleObj name="Equation" r:id="rId16" imgW="4876560" imgH="457200" progId="Equation.DSMT4">
                  <p:embed/>
                </p:oleObj>
              </mc:Choice>
              <mc:Fallback>
                <p:oleObj name="Equation" r:id="rId16" imgW="4876560" imgH="457200" progId="Equation.DSMT4">
                  <p:embed/>
                  <p:pic>
                    <p:nvPicPr>
                      <p:cNvPr id="14372" name="Object 47"/>
                      <p:cNvPicPr>
                        <a:picLocks noChangeAspect="1" noChangeArrowheads="1"/>
                      </p:cNvPicPr>
                      <p:nvPr/>
                    </p:nvPicPr>
                    <p:blipFill>
                      <a:blip r:embed="rId17"/>
                      <a:srcRect/>
                      <a:stretch>
                        <a:fillRect/>
                      </a:stretch>
                    </p:blipFill>
                    <p:spPr bwMode="auto">
                      <a:xfrm>
                        <a:off x="228600" y="838200"/>
                        <a:ext cx="6121401" cy="573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73" name="AutoShape 61"/>
          <p:cNvSpPr>
            <a:spLocks noChangeArrowheads="1"/>
          </p:cNvSpPr>
          <p:nvPr/>
        </p:nvSpPr>
        <p:spPr bwMode="auto">
          <a:xfrm>
            <a:off x="5715000" y="5866598"/>
            <a:ext cx="3352800" cy="793551"/>
          </a:xfrm>
          <a:prstGeom prst="roundRect">
            <a:avLst>
              <a:gd name="adj" fmla="val 16667"/>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aphicFrame>
        <p:nvGraphicFramePr>
          <p:cNvPr id="14348" name="Object 69">
            <a:hlinkClick r:id="rId6" action="ppaction://hlinksldjump"/>
          </p:cNvPr>
          <p:cNvGraphicFramePr>
            <a:graphicFrameLocks noChangeAspect="1"/>
          </p:cNvGraphicFramePr>
          <p:nvPr>
            <p:extLst>
              <p:ext uri="{D42A27DB-BD31-4B8C-83A1-F6EECF244321}">
                <p14:modId xmlns:p14="http://schemas.microsoft.com/office/powerpoint/2010/main" val="3461065681"/>
              </p:ext>
            </p:extLst>
          </p:nvPr>
        </p:nvGraphicFramePr>
        <p:xfrm>
          <a:off x="2846387" y="3689350"/>
          <a:ext cx="3173413" cy="292100"/>
        </p:xfrm>
        <a:graphic>
          <a:graphicData uri="http://schemas.openxmlformats.org/presentationml/2006/ole">
            <mc:AlternateContent xmlns:mc="http://schemas.openxmlformats.org/markup-compatibility/2006">
              <mc:Choice xmlns:v="urn:schemas-microsoft-com:vml" Requires="v">
                <p:oleObj name="Equation" r:id="rId18" imgW="2628720" imgH="241200" progId="Equation.DSMT4">
                  <p:embed/>
                </p:oleObj>
              </mc:Choice>
              <mc:Fallback>
                <p:oleObj name="Equation" r:id="rId18" imgW="2628720" imgH="241200" progId="Equation.DSMT4">
                  <p:embed/>
                  <p:pic>
                    <p:nvPicPr>
                      <p:cNvPr id="14348" name="Object 69">
                        <a:hlinkClick r:id="" action="ppaction://noaction"/>
                      </p:cNvPr>
                      <p:cNvPicPr>
                        <a:picLocks noChangeAspect="1" noChangeArrowheads="1"/>
                      </p:cNvPicPr>
                      <p:nvPr/>
                    </p:nvPicPr>
                    <p:blipFill>
                      <a:blip r:embed="rId19"/>
                      <a:srcRect/>
                      <a:stretch>
                        <a:fillRect/>
                      </a:stretch>
                    </p:blipFill>
                    <p:spPr bwMode="auto">
                      <a:xfrm>
                        <a:off x="2846387" y="3689350"/>
                        <a:ext cx="3173413"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70" name="Object 55"/>
          <p:cNvGraphicFramePr>
            <a:graphicFrameLocks noChangeAspect="1"/>
          </p:cNvGraphicFramePr>
          <p:nvPr>
            <p:extLst>
              <p:ext uri="{D42A27DB-BD31-4B8C-83A1-F6EECF244321}">
                <p14:modId xmlns:p14="http://schemas.microsoft.com/office/powerpoint/2010/main" val="1002162794"/>
              </p:ext>
            </p:extLst>
          </p:nvPr>
        </p:nvGraphicFramePr>
        <p:xfrm>
          <a:off x="455613" y="6181724"/>
          <a:ext cx="4895850" cy="296863"/>
        </p:xfrm>
        <a:graphic>
          <a:graphicData uri="http://schemas.openxmlformats.org/presentationml/2006/ole">
            <mc:AlternateContent xmlns:mc="http://schemas.openxmlformats.org/markup-compatibility/2006">
              <mc:Choice xmlns:v="urn:schemas-microsoft-com:vml" Requires="v">
                <p:oleObj name="Equation" r:id="rId20" imgW="3771720" imgH="228600" progId="Equation.DSMT4">
                  <p:embed/>
                </p:oleObj>
              </mc:Choice>
              <mc:Fallback>
                <p:oleObj name="Equation" r:id="rId20" imgW="3771720" imgH="228600" progId="Equation.DSMT4">
                  <p:embed/>
                  <p:pic>
                    <p:nvPicPr>
                      <p:cNvPr id="14370" name="Object 55"/>
                      <p:cNvPicPr>
                        <a:picLocks noChangeAspect="1" noChangeArrowheads="1"/>
                      </p:cNvPicPr>
                      <p:nvPr/>
                    </p:nvPicPr>
                    <p:blipFill>
                      <a:blip r:embed="rId21"/>
                      <a:srcRect/>
                      <a:stretch>
                        <a:fillRect/>
                      </a:stretch>
                    </p:blipFill>
                    <p:spPr bwMode="auto">
                      <a:xfrm>
                        <a:off x="455613" y="6181724"/>
                        <a:ext cx="4895850" cy="296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50" name="Rectangle 82"/>
          <p:cNvSpPr>
            <a:spLocks noChangeArrowheads="1"/>
          </p:cNvSpPr>
          <p:nvPr/>
        </p:nvSpPr>
        <p:spPr bwMode="auto">
          <a:xfrm>
            <a:off x="8240959" y="533400"/>
            <a:ext cx="598241"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800" b="1" dirty="0"/>
              <a:t>Jóvenes</a:t>
            </a:r>
            <a:endParaRPr lang="es-ES" altLang="es-ES" sz="800" b="1" dirty="0"/>
          </a:p>
        </p:txBody>
      </p:sp>
      <p:sp>
        <p:nvSpPr>
          <p:cNvPr id="14351" name="Rectangle 83"/>
          <p:cNvSpPr>
            <a:spLocks noChangeArrowheads="1"/>
          </p:cNvSpPr>
          <p:nvPr/>
        </p:nvSpPr>
        <p:spPr bwMode="auto">
          <a:xfrm>
            <a:off x="7402525" y="879931"/>
            <a:ext cx="64793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800" b="1" dirty="0"/>
              <a:t>Ancianos</a:t>
            </a:r>
            <a:endParaRPr lang="es-ES" altLang="es-ES" sz="800" b="1" dirty="0"/>
          </a:p>
        </p:txBody>
      </p:sp>
      <p:sp>
        <p:nvSpPr>
          <p:cNvPr id="14353" name="Text Box 87"/>
          <p:cNvSpPr txBox="1">
            <a:spLocks noChangeArrowheads="1"/>
          </p:cNvSpPr>
          <p:nvPr/>
        </p:nvSpPr>
        <p:spPr bwMode="auto">
          <a:xfrm>
            <a:off x="5715000" y="5940209"/>
            <a:ext cx="32575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 altLang="es-ES" dirty="0">
                <a:solidFill>
                  <a:srgbClr val="000066"/>
                </a:solidFill>
              </a:rPr>
              <a:t>La diferencia es un valor que, con un 95% de confianza, se espera que esté comprendido entre 7.18 y 132.81 </a:t>
            </a:r>
            <a:r>
              <a:rPr lang="es-ES" altLang="es-ES" dirty="0" err="1">
                <a:solidFill>
                  <a:srgbClr val="000066"/>
                </a:solidFill>
              </a:rPr>
              <a:t>pg</a:t>
            </a:r>
            <a:r>
              <a:rPr lang="es-ES" altLang="es-ES" dirty="0">
                <a:solidFill>
                  <a:srgbClr val="000066"/>
                </a:solidFill>
              </a:rPr>
              <a:t>/ml</a:t>
            </a:r>
          </a:p>
        </p:txBody>
      </p:sp>
      <p:sp>
        <p:nvSpPr>
          <p:cNvPr id="40" name="Text Box 2"/>
          <p:cNvSpPr txBox="1">
            <a:spLocks noChangeArrowheads="1"/>
          </p:cNvSpPr>
          <p:nvPr/>
        </p:nvSpPr>
        <p:spPr bwMode="auto">
          <a:xfrm>
            <a:off x="228600" y="65087"/>
            <a:ext cx="71723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 Variable normal // Prueba de homogeneidad de medias</a:t>
            </a:r>
            <a:endParaRPr lang="es-ES" altLang="es-ES" sz="1400" b="1" dirty="0"/>
          </a:p>
        </p:txBody>
      </p:sp>
      <p:sp>
        <p:nvSpPr>
          <p:cNvPr id="2" name="CuadroTexto 1"/>
          <p:cNvSpPr txBox="1"/>
          <p:nvPr/>
        </p:nvSpPr>
        <p:spPr>
          <a:xfrm>
            <a:off x="2514834" y="1401564"/>
            <a:ext cx="4495566" cy="461665"/>
          </a:xfrm>
          <a:prstGeom prst="rect">
            <a:avLst/>
          </a:prstGeom>
          <a:noFill/>
        </p:spPr>
        <p:txBody>
          <a:bodyPr wrap="square" rtlCol="0">
            <a:spAutoFit/>
          </a:bodyPr>
          <a:lstStyle/>
          <a:p>
            <a:r>
              <a:rPr lang="es-ES" dirty="0">
                <a:solidFill>
                  <a:srgbClr val="000066"/>
                </a:solidFill>
              </a:rPr>
              <a:t>Los dos grupos son </a:t>
            </a:r>
            <a:r>
              <a:rPr lang="es-ES" b="1" dirty="0">
                <a:solidFill>
                  <a:srgbClr val="000066"/>
                </a:solidFill>
              </a:rPr>
              <a:t>homogéneos</a:t>
            </a:r>
            <a:r>
              <a:rPr lang="es-ES" dirty="0">
                <a:solidFill>
                  <a:srgbClr val="000066"/>
                </a:solidFill>
              </a:rPr>
              <a:t> respecto al nivel de </a:t>
            </a:r>
          </a:p>
          <a:p>
            <a:r>
              <a:rPr lang="es-ES" dirty="0">
                <a:solidFill>
                  <a:srgbClr val="000066"/>
                </a:solidFill>
              </a:rPr>
              <a:t>proteína, es decir, el nivel de proteína no depende de la edad</a:t>
            </a:r>
          </a:p>
        </p:txBody>
      </p:sp>
      <p:graphicFrame>
        <p:nvGraphicFramePr>
          <p:cNvPr id="42" name="Object 49"/>
          <p:cNvGraphicFramePr>
            <a:graphicFrameLocks noChangeAspect="1"/>
          </p:cNvGraphicFramePr>
          <p:nvPr>
            <p:extLst>
              <p:ext uri="{D42A27DB-BD31-4B8C-83A1-F6EECF244321}">
                <p14:modId xmlns:p14="http://schemas.microsoft.com/office/powerpoint/2010/main" val="1575760350"/>
              </p:ext>
            </p:extLst>
          </p:nvPr>
        </p:nvGraphicFramePr>
        <p:xfrm>
          <a:off x="160338" y="2847587"/>
          <a:ext cx="2090737" cy="233397"/>
        </p:xfrm>
        <a:graphic>
          <a:graphicData uri="http://schemas.openxmlformats.org/presentationml/2006/ole">
            <mc:AlternateContent xmlns:mc="http://schemas.openxmlformats.org/markup-compatibility/2006">
              <mc:Choice xmlns:v="urn:schemas-microsoft-com:vml" Requires="v">
                <p:oleObj name="Equation" r:id="rId22" imgW="1663560" imgH="190440" progId="Equation.DSMT4">
                  <p:embed/>
                </p:oleObj>
              </mc:Choice>
              <mc:Fallback>
                <p:oleObj name="Equation" r:id="rId22" imgW="1663560" imgH="190440" progId="Equation.DSMT4">
                  <p:embed/>
                  <p:pic>
                    <p:nvPicPr>
                      <p:cNvPr id="14340" name="Object 49"/>
                      <p:cNvPicPr>
                        <a:picLocks noChangeAspect="1" noChangeArrowheads="1"/>
                      </p:cNvPicPr>
                      <p:nvPr/>
                    </p:nvPicPr>
                    <p:blipFill>
                      <a:blip r:embed="rId23"/>
                      <a:srcRect/>
                      <a:stretch>
                        <a:fillRect/>
                      </a:stretch>
                    </p:blipFill>
                    <p:spPr bwMode="auto">
                      <a:xfrm>
                        <a:off x="160338" y="2847587"/>
                        <a:ext cx="2090737" cy="233397"/>
                      </a:xfrm>
                      <a:prstGeom prst="rect">
                        <a:avLst/>
                      </a:prstGeom>
                      <a:noFill/>
                      <a:ln>
                        <a:noFill/>
                      </a:ln>
                      <a:effectLst/>
                    </p:spPr>
                  </p:pic>
                </p:oleObj>
              </mc:Fallback>
            </mc:AlternateContent>
          </a:graphicData>
        </a:graphic>
      </p:graphicFrame>
      <p:graphicFrame>
        <p:nvGraphicFramePr>
          <p:cNvPr id="43" name="Object 49"/>
          <p:cNvGraphicFramePr>
            <a:graphicFrameLocks noChangeAspect="1"/>
          </p:cNvGraphicFramePr>
          <p:nvPr>
            <p:extLst>
              <p:ext uri="{D42A27DB-BD31-4B8C-83A1-F6EECF244321}">
                <p14:modId xmlns:p14="http://schemas.microsoft.com/office/powerpoint/2010/main" val="2880128555"/>
              </p:ext>
            </p:extLst>
          </p:nvPr>
        </p:nvGraphicFramePr>
        <p:xfrm>
          <a:off x="3814762" y="2086885"/>
          <a:ext cx="3387877" cy="553822"/>
        </p:xfrm>
        <a:graphic>
          <a:graphicData uri="http://schemas.openxmlformats.org/presentationml/2006/ole">
            <mc:AlternateContent xmlns:mc="http://schemas.openxmlformats.org/markup-compatibility/2006">
              <mc:Choice xmlns:v="urn:schemas-microsoft-com:vml" Requires="v">
                <p:oleObj name="Equation" r:id="rId24" imgW="2476440" imgH="406080" progId="Equation.DSMT4">
                  <p:embed/>
                </p:oleObj>
              </mc:Choice>
              <mc:Fallback>
                <p:oleObj name="Equation" r:id="rId24" imgW="2476440" imgH="406080" progId="Equation.DSMT4">
                  <p:embed/>
                  <p:pic>
                    <p:nvPicPr>
                      <p:cNvPr id="42" name="Object 49"/>
                      <p:cNvPicPr>
                        <a:picLocks noChangeAspect="1" noChangeArrowheads="1"/>
                      </p:cNvPicPr>
                      <p:nvPr/>
                    </p:nvPicPr>
                    <p:blipFill>
                      <a:blip r:embed="rId25"/>
                      <a:srcRect/>
                      <a:stretch>
                        <a:fillRect/>
                      </a:stretch>
                    </p:blipFill>
                    <p:spPr bwMode="auto">
                      <a:xfrm>
                        <a:off x="3814762" y="2086885"/>
                        <a:ext cx="3387877" cy="553822"/>
                      </a:xfrm>
                      <a:prstGeom prst="rect">
                        <a:avLst/>
                      </a:prstGeom>
                      <a:noFill/>
                      <a:ln>
                        <a:noFill/>
                      </a:ln>
                      <a:effectLst/>
                    </p:spPr>
                  </p:pic>
                </p:oleObj>
              </mc:Fallback>
            </mc:AlternateContent>
          </a:graphicData>
        </a:graphic>
      </p:graphicFrame>
      <p:graphicFrame>
        <p:nvGraphicFramePr>
          <p:cNvPr id="44" name="Object 49"/>
          <p:cNvGraphicFramePr>
            <a:graphicFrameLocks noChangeAspect="1"/>
          </p:cNvGraphicFramePr>
          <p:nvPr>
            <p:extLst>
              <p:ext uri="{D42A27DB-BD31-4B8C-83A1-F6EECF244321}">
                <p14:modId xmlns:p14="http://schemas.microsoft.com/office/powerpoint/2010/main" val="2986303491"/>
              </p:ext>
            </p:extLst>
          </p:nvPr>
        </p:nvGraphicFramePr>
        <p:xfrm>
          <a:off x="160338" y="4014788"/>
          <a:ext cx="2752721" cy="245541"/>
        </p:xfrm>
        <a:graphic>
          <a:graphicData uri="http://schemas.openxmlformats.org/presentationml/2006/ole">
            <mc:AlternateContent xmlns:mc="http://schemas.openxmlformats.org/markup-compatibility/2006">
              <mc:Choice xmlns:v="urn:schemas-microsoft-com:vml" Requires="v">
                <p:oleObj name="Equation" r:id="rId26" imgW="2082600" imgH="190440" progId="Equation.DSMT4">
                  <p:embed/>
                </p:oleObj>
              </mc:Choice>
              <mc:Fallback>
                <p:oleObj name="Equation" r:id="rId26" imgW="2082600" imgH="190440" progId="Equation.DSMT4">
                  <p:embed/>
                  <p:pic>
                    <p:nvPicPr>
                      <p:cNvPr id="42" name="Object 49"/>
                      <p:cNvPicPr>
                        <a:picLocks noChangeAspect="1" noChangeArrowheads="1"/>
                      </p:cNvPicPr>
                      <p:nvPr/>
                    </p:nvPicPr>
                    <p:blipFill>
                      <a:blip r:embed="rId27"/>
                      <a:srcRect/>
                      <a:stretch>
                        <a:fillRect/>
                      </a:stretch>
                    </p:blipFill>
                    <p:spPr bwMode="auto">
                      <a:xfrm>
                        <a:off x="160338" y="4014788"/>
                        <a:ext cx="2752721" cy="245541"/>
                      </a:xfrm>
                      <a:prstGeom prst="rect">
                        <a:avLst/>
                      </a:prstGeom>
                      <a:noFill/>
                      <a:ln>
                        <a:noFill/>
                      </a:ln>
                      <a:effectLst/>
                    </p:spPr>
                  </p:pic>
                </p:oleObj>
              </mc:Fallback>
            </mc:AlternateContent>
          </a:graphicData>
        </a:graphic>
      </p:graphicFrame>
      <p:graphicFrame>
        <p:nvGraphicFramePr>
          <p:cNvPr id="46" name="Object 49"/>
          <p:cNvGraphicFramePr>
            <a:graphicFrameLocks noChangeAspect="1"/>
          </p:cNvGraphicFramePr>
          <p:nvPr>
            <p:extLst>
              <p:ext uri="{D42A27DB-BD31-4B8C-83A1-F6EECF244321}">
                <p14:modId xmlns:p14="http://schemas.microsoft.com/office/powerpoint/2010/main" val="1522708493"/>
              </p:ext>
            </p:extLst>
          </p:nvPr>
        </p:nvGraphicFramePr>
        <p:xfrm>
          <a:off x="185738" y="5740400"/>
          <a:ext cx="4224337" cy="251611"/>
        </p:xfrm>
        <a:graphic>
          <a:graphicData uri="http://schemas.openxmlformats.org/presentationml/2006/ole">
            <mc:AlternateContent xmlns:mc="http://schemas.openxmlformats.org/markup-compatibility/2006">
              <mc:Choice xmlns:v="urn:schemas-microsoft-com:vml" Requires="v">
                <p:oleObj name="Equation" r:id="rId28" imgW="3162240" imgH="190440" progId="Equation.DSMT4">
                  <p:embed/>
                </p:oleObj>
              </mc:Choice>
              <mc:Fallback>
                <p:oleObj name="Equation" r:id="rId28" imgW="3162240" imgH="190440" progId="Equation.DSMT4">
                  <p:embed/>
                  <p:pic>
                    <p:nvPicPr>
                      <p:cNvPr id="44" name="Object 49"/>
                      <p:cNvPicPr>
                        <a:picLocks noChangeAspect="1" noChangeArrowheads="1"/>
                      </p:cNvPicPr>
                      <p:nvPr/>
                    </p:nvPicPr>
                    <p:blipFill>
                      <a:blip r:embed="rId29"/>
                      <a:srcRect/>
                      <a:stretch>
                        <a:fillRect/>
                      </a:stretch>
                    </p:blipFill>
                    <p:spPr bwMode="auto">
                      <a:xfrm>
                        <a:off x="185738" y="5740400"/>
                        <a:ext cx="4224337" cy="251611"/>
                      </a:xfrm>
                      <a:prstGeom prst="rect">
                        <a:avLst/>
                      </a:prstGeom>
                      <a:noFill/>
                      <a:ln>
                        <a:noFill/>
                      </a:ln>
                      <a:effectLst/>
                    </p:spPr>
                  </p:pic>
                </p:oleObj>
              </mc:Fallback>
            </mc:AlternateContent>
          </a:graphicData>
        </a:graphic>
      </p:graphicFrame>
      <p:grpSp>
        <p:nvGrpSpPr>
          <p:cNvPr id="47" name="Grupo 46"/>
          <p:cNvGrpSpPr/>
          <p:nvPr/>
        </p:nvGrpSpPr>
        <p:grpSpPr>
          <a:xfrm>
            <a:off x="6460760" y="2798366"/>
            <a:ext cx="2530840" cy="2657992"/>
            <a:chOff x="6177370" y="2798366"/>
            <a:chExt cx="2530840" cy="2657992"/>
          </a:xfrm>
        </p:grpSpPr>
        <p:grpSp>
          <p:nvGrpSpPr>
            <p:cNvPr id="48" name="Grupo 47"/>
            <p:cNvGrpSpPr/>
            <p:nvPr/>
          </p:nvGrpSpPr>
          <p:grpSpPr>
            <a:xfrm>
              <a:off x="6177370" y="2798366"/>
              <a:ext cx="1414055" cy="2477294"/>
              <a:chOff x="6177370" y="2798366"/>
              <a:chExt cx="1414055" cy="2477294"/>
            </a:xfrm>
          </p:grpSpPr>
          <p:sp>
            <p:nvSpPr>
              <p:cNvPr id="53" name="Rectangle 35"/>
              <p:cNvSpPr>
                <a:spLocks noChangeArrowheads="1"/>
              </p:cNvSpPr>
              <p:nvPr/>
            </p:nvSpPr>
            <p:spPr bwMode="auto">
              <a:xfrm>
                <a:off x="6600826" y="3533776"/>
                <a:ext cx="285750" cy="1660721"/>
              </a:xfrm>
              <a:prstGeom prst="rect">
                <a:avLst/>
              </a:prstGeom>
              <a:solidFill>
                <a:srgbClr val="969696">
                  <a:alpha val="25882"/>
                </a:srgbClr>
              </a:soli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54" name="Rectangle 36"/>
              <p:cNvSpPr>
                <a:spLocks noChangeArrowheads="1"/>
              </p:cNvSpPr>
              <p:nvPr/>
            </p:nvSpPr>
            <p:spPr bwMode="auto">
              <a:xfrm>
                <a:off x="7081838" y="3787776"/>
                <a:ext cx="285750" cy="1403348"/>
              </a:xfrm>
              <a:prstGeom prst="rect">
                <a:avLst/>
              </a:prstGeom>
              <a:solidFill>
                <a:srgbClr val="969696">
                  <a:alpha val="25882"/>
                </a:srgbClr>
              </a:soli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aphicFrame>
            <p:nvGraphicFramePr>
              <p:cNvPr id="55" name="Gráfico 54"/>
              <p:cNvGraphicFramePr>
                <a:graphicFrameLocks/>
              </p:cNvGraphicFramePr>
              <p:nvPr>
                <p:extLst>
                  <p:ext uri="{D42A27DB-BD31-4B8C-83A1-F6EECF244321}">
                    <p14:modId xmlns:p14="http://schemas.microsoft.com/office/powerpoint/2010/main" val="2919291155"/>
                  </p:ext>
                </p:extLst>
              </p:nvPr>
            </p:nvGraphicFramePr>
            <p:xfrm>
              <a:off x="6177370" y="2798366"/>
              <a:ext cx="1285875" cy="2477294"/>
            </p:xfrm>
            <a:graphic>
              <a:graphicData uri="http://schemas.openxmlformats.org/drawingml/2006/chart">
                <c:chart xmlns:c="http://schemas.openxmlformats.org/drawingml/2006/chart" xmlns:r="http://schemas.openxmlformats.org/officeDocument/2006/relationships" r:id="rId30"/>
              </a:graphicData>
            </a:graphic>
          </p:graphicFrame>
          <p:sp>
            <p:nvSpPr>
              <p:cNvPr id="56" name="Line 37"/>
              <p:cNvSpPr>
                <a:spLocks noChangeShapeType="1"/>
              </p:cNvSpPr>
              <p:nvPr/>
            </p:nvSpPr>
            <p:spPr bwMode="auto">
              <a:xfrm>
                <a:off x="6464300" y="5191124"/>
                <a:ext cx="1127125"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49" name="Text Box 29"/>
            <p:cNvSpPr txBox="1">
              <a:spLocks noChangeArrowheads="1"/>
            </p:cNvSpPr>
            <p:nvPr/>
          </p:nvSpPr>
          <p:spPr bwMode="auto">
            <a:xfrm>
              <a:off x="6620635" y="5156320"/>
              <a:ext cx="26962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dirty="0"/>
                <a:t>J</a:t>
              </a:r>
              <a:endParaRPr lang="es-ES" altLang="es-ES" b="1" dirty="0"/>
            </a:p>
          </p:txBody>
        </p:sp>
        <p:sp>
          <p:nvSpPr>
            <p:cNvPr id="50" name="Text Box 30"/>
            <p:cNvSpPr txBox="1">
              <a:spLocks noChangeArrowheads="1"/>
            </p:cNvSpPr>
            <p:nvPr/>
          </p:nvSpPr>
          <p:spPr bwMode="auto">
            <a:xfrm>
              <a:off x="7094221" y="5156320"/>
              <a:ext cx="29527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dirty="0"/>
                <a:t>A</a:t>
              </a:r>
              <a:endParaRPr lang="es-ES" altLang="es-ES" b="1" dirty="0"/>
            </a:p>
          </p:txBody>
        </p:sp>
        <p:graphicFrame>
          <p:nvGraphicFramePr>
            <p:cNvPr id="51" name="Gráfico 50"/>
            <p:cNvGraphicFramePr>
              <a:graphicFrameLocks/>
            </p:cNvGraphicFramePr>
            <p:nvPr>
              <p:extLst>
                <p:ext uri="{D42A27DB-BD31-4B8C-83A1-F6EECF244321}">
                  <p14:modId xmlns:p14="http://schemas.microsoft.com/office/powerpoint/2010/main" val="1708091121"/>
                </p:ext>
              </p:extLst>
            </p:nvPr>
          </p:nvGraphicFramePr>
          <p:xfrm>
            <a:off x="7339509" y="2830553"/>
            <a:ext cx="1368701" cy="2557461"/>
          </p:xfrm>
          <a:graphic>
            <a:graphicData uri="http://schemas.openxmlformats.org/drawingml/2006/chart">
              <c:chart xmlns:c="http://schemas.openxmlformats.org/drawingml/2006/chart" xmlns:r="http://schemas.openxmlformats.org/officeDocument/2006/relationships" r:id="rId31"/>
            </a:graphicData>
          </a:graphic>
        </p:graphicFrame>
        <p:sp>
          <p:nvSpPr>
            <p:cNvPr id="52" name="Text Box 31"/>
            <p:cNvSpPr txBox="1">
              <a:spLocks noChangeArrowheads="1"/>
            </p:cNvSpPr>
            <p:nvPr/>
          </p:nvSpPr>
          <p:spPr bwMode="auto">
            <a:xfrm>
              <a:off x="7986713" y="5181720"/>
              <a:ext cx="463550" cy="274638"/>
            </a:xfrm>
            <a:prstGeom prst="rect">
              <a:avLst/>
            </a:prstGeom>
            <a:solidFill>
              <a:schemeClr val="bg1"/>
            </a:solidFill>
            <a:ln>
              <a:noFill/>
            </a:ln>
            <a:effec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dirty="0"/>
                <a:t>J-A</a:t>
              </a:r>
              <a:endParaRPr lang="es-ES" altLang="es-ES" b="1" dirty="0"/>
            </a:p>
          </p:txBody>
        </p:sp>
      </p:grpSp>
      <p:sp>
        <p:nvSpPr>
          <p:cNvPr id="5" name="Rectángulo 4"/>
          <p:cNvSpPr/>
          <p:nvPr/>
        </p:nvSpPr>
        <p:spPr>
          <a:xfrm>
            <a:off x="4872707" y="4157990"/>
            <a:ext cx="340158" cy="261610"/>
          </a:xfrm>
          <a:prstGeom prst="rect">
            <a:avLst/>
          </a:prstGeom>
        </p:spPr>
        <p:txBody>
          <a:bodyPr wrap="none">
            <a:spAutoFit/>
          </a:bodyPr>
          <a:lstStyle/>
          <a:p>
            <a:r>
              <a:rPr lang="es-ES" sz="1050" b="1" dirty="0"/>
              <a:t>H</a:t>
            </a:r>
            <a:r>
              <a:rPr lang="es-ES" sz="1050" b="1" baseline="-25000" dirty="0"/>
              <a:t>0</a:t>
            </a:r>
          </a:p>
        </p:txBody>
      </p:sp>
      <p:sp>
        <p:nvSpPr>
          <p:cNvPr id="9" name="CuadroTexto 8"/>
          <p:cNvSpPr txBox="1"/>
          <p:nvPr/>
        </p:nvSpPr>
        <p:spPr>
          <a:xfrm>
            <a:off x="5224351" y="4779134"/>
            <a:ext cx="227948" cy="152616"/>
          </a:xfrm>
          <a:prstGeom prst="rect">
            <a:avLst/>
          </a:prstGeom>
          <a:noFill/>
        </p:spPr>
        <p:txBody>
          <a:bodyPr wrap="none" rtlCol="0">
            <a:spAutoFit/>
          </a:bodyPr>
          <a:lstStyle/>
          <a:p>
            <a:pPr algn="ctr"/>
            <a:r>
              <a:rPr lang="es-ES" sz="600" dirty="0"/>
              <a:t>0</a:t>
            </a:r>
            <a:endParaRPr lang="es-ES" dirty="0"/>
          </a:p>
        </p:txBody>
      </p:sp>
      <p:grpSp>
        <p:nvGrpSpPr>
          <p:cNvPr id="11" name="Grupo 10"/>
          <p:cNvGrpSpPr/>
          <p:nvPr/>
        </p:nvGrpSpPr>
        <p:grpSpPr>
          <a:xfrm>
            <a:off x="4631533" y="4038600"/>
            <a:ext cx="1422558" cy="1248250"/>
            <a:chOff x="4631533" y="4038600"/>
            <a:chExt cx="1422558" cy="1248250"/>
          </a:xfrm>
        </p:grpSpPr>
        <p:grpSp>
          <p:nvGrpSpPr>
            <p:cNvPr id="4" name="Grupo 3"/>
            <p:cNvGrpSpPr/>
            <p:nvPr/>
          </p:nvGrpSpPr>
          <p:grpSpPr>
            <a:xfrm>
              <a:off x="4631533" y="4038600"/>
              <a:ext cx="1422558" cy="1248250"/>
              <a:chOff x="4676775" y="4114325"/>
              <a:chExt cx="1422558" cy="1248250"/>
            </a:xfrm>
          </p:grpSpPr>
          <p:sp>
            <p:nvSpPr>
              <p:cNvPr id="14343" name="Text Box 52">
                <a:hlinkClick r:id="rId32" action="ppaction://hlinksldjump"/>
              </p:cNvPr>
              <p:cNvSpPr txBox="1">
                <a:spLocks noChangeArrowheads="1"/>
              </p:cNvSpPr>
              <p:nvPr/>
            </p:nvSpPr>
            <p:spPr bwMode="auto">
              <a:xfrm>
                <a:off x="4676775" y="5048250"/>
                <a:ext cx="1397793" cy="314325"/>
              </a:xfrm>
              <a:prstGeom prst="rect">
                <a:avLst/>
              </a:prstGeom>
              <a:noFill/>
              <a:ln w="9525">
                <a:solidFill>
                  <a:srgbClr val="96969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a:spcBef>
                    <a:spcPct val="50000"/>
                  </a:spcBef>
                </a:pPr>
                <a:r>
                  <a:rPr lang="es-ES_tradnl" altLang="es-ES" sz="1400" dirty="0">
                    <a:solidFill>
                      <a:srgbClr val="000099"/>
                    </a:solidFill>
                    <a:latin typeface="Times New Roman" pitchFamily="18" charset="0"/>
                  </a:rPr>
                  <a:t>0.02 &lt; P &lt; 0.05</a:t>
                </a:r>
              </a:p>
            </p:txBody>
          </p:sp>
          <p:sp>
            <p:nvSpPr>
              <p:cNvPr id="3" name="Rectángulo 2"/>
              <p:cNvSpPr/>
              <p:nvPr/>
            </p:nvSpPr>
            <p:spPr>
              <a:xfrm>
                <a:off x="5713909" y="4946642"/>
                <a:ext cx="284162" cy="19283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grpSp>
            <p:nvGrpSpPr>
              <p:cNvPr id="35" name="Grupo 34"/>
              <p:cNvGrpSpPr/>
              <p:nvPr/>
            </p:nvGrpSpPr>
            <p:grpSpPr>
              <a:xfrm>
                <a:off x="4725216" y="4114325"/>
                <a:ext cx="1374117" cy="1008463"/>
                <a:chOff x="6531096" y="3250072"/>
                <a:chExt cx="1452582" cy="1119664"/>
              </a:xfrm>
            </p:grpSpPr>
            <p:sp>
              <p:nvSpPr>
                <p:cNvPr id="36" name="Freeform 34"/>
                <p:cNvSpPr>
                  <a:spLocks/>
                </p:cNvSpPr>
                <p:nvPr/>
              </p:nvSpPr>
              <p:spPr bwMode="auto">
                <a:xfrm>
                  <a:off x="6594463" y="3252256"/>
                  <a:ext cx="1254259" cy="804853"/>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1341980250 h 5006"/>
                    <a:gd name="T52" fmla="*/ 2147483647 w 9513"/>
                    <a:gd name="T53" fmla="*/ 0 h 5006"/>
                    <a:gd name="T54" fmla="*/ 2147483647 w 9513"/>
                    <a:gd name="T55" fmla="*/ 1341980250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800000"/>
                </a:solidFill>
                <a:ln>
                  <a:noFill/>
                </a:ln>
                <a:extLst>
                  <a:ext uri="{91240B29-F687-4F45-9708-019B960494DF}">
                    <a14:hiddenLine xmlns:a14="http://schemas.microsoft.com/office/drawing/2010/main" w="11176">
                      <a:solidFill>
                        <a:srgbClr val="000000"/>
                      </a:solidFill>
                      <a:prstDash val="solid"/>
                      <a:round/>
                      <a:headEnd/>
                      <a:tailEnd/>
                    </a14:hiddenLine>
                  </a:ext>
                </a:extLst>
              </p:spPr>
              <p:txBody>
                <a:bodyPr/>
                <a:lstStyle/>
                <a:p>
                  <a:endParaRPr lang="es-ES"/>
                </a:p>
              </p:txBody>
            </p:sp>
            <p:sp>
              <p:nvSpPr>
                <p:cNvPr id="37" name="Rectangle 48"/>
                <p:cNvSpPr>
                  <a:spLocks noChangeArrowheads="1"/>
                </p:cNvSpPr>
                <p:nvPr/>
              </p:nvSpPr>
              <p:spPr bwMode="auto">
                <a:xfrm>
                  <a:off x="6594461" y="3252256"/>
                  <a:ext cx="1072205" cy="822327"/>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baseline="-25000" dirty="0"/>
                </a:p>
              </p:txBody>
            </p:sp>
            <p:sp>
              <p:nvSpPr>
                <p:cNvPr id="38" name="Freeform 34"/>
                <p:cNvSpPr>
                  <a:spLocks/>
                </p:cNvSpPr>
                <p:nvPr/>
              </p:nvSpPr>
              <p:spPr bwMode="auto">
                <a:xfrm>
                  <a:off x="6597480" y="3250072"/>
                  <a:ext cx="1250236" cy="804853"/>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1341980250 h 5006"/>
                    <a:gd name="T52" fmla="*/ 2147483647 w 9513"/>
                    <a:gd name="T53" fmla="*/ 0 h 5006"/>
                    <a:gd name="T54" fmla="*/ 2147483647 w 9513"/>
                    <a:gd name="T55" fmla="*/ 1341980250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noFill/>
                <a:ln w="11176">
                  <a:solidFill>
                    <a:schemeClr val="accent1">
                      <a:lumMod val="10000"/>
                    </a:schemeClr>
                  </a:solidFill>
                  <a:prstDash val="solid"/>
                  <a:round/>
                  <a:headEnd/>
                  <a:tailEnd/>
                </a:ln>
              </p:spPr>
              <p:txBody>
                <a:bodyPr/>
                <a:lstStyle/>
                <a:p>
                  <a:endParaRPr lang="es-ES"/>
                </a:p>
              </p:txBody>
            </p:sp>
            <p:graphicFrame>
              <p:nvGraphicFramePr>
                <p:cNvPr id="39" name="Object 9"/>
                <p:cNvGraphicFramePr>
                  <a:graphicFrameLocks noChangeAspect="1"/>
                </p:cNvGraphicFramePr>
                <p:nvPr>
                  <p:extLst>
                    <p:ext uri="{D42A27DB-BD31-4B8C-83A1-F6EECF244321}">
                      <p14:modId xmlns:p14="http://schemas.microsoft.com/office/powerpoint/2010/main" val="4034721873"/>
                    </p:ext>
                  </p:extLst>
                </p:nvPr>
              </p:nvGraphicFramePr>
              <p:xfrm>
                <a:off x="7698025" y="3825806"/>
                <a:ext cx="285653" cy="131048"/>
              </p:xfrm>
              <a:graphic>
                <a:graphicData uri="http://schemas.openxmlformats.org/presentationml/2006/ole">
                  <mc:AlternateContent xmlns:mc="http://schemas.openxmlformats.org/markup-compatibility/2006">
                    <mc:Choice xmlns:v="urn:schemas-microsoft-com:vml" Requires="v">
                      <p:oleObj name="Equation" r:id="rId33" imgW="558720" imgH="228600" progId="Equation.DSMT4">
                        <p:embed/>
                      </p:oleObj>
                    </mc:Choice>
                    <mc:Fallback>
                      <p:oleObj name="Equation" r:id="rId33" imgW="558720" imgH="228600" progId="Equation.DSMT4">
                        <p:embed/>
                        <p:pic>
                          <p:nvPicPr>
                            <p:cNvPr id="66" name="Object 9"/>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7698025" y="3825806"/>
                              <a:ext cx="285653" cy="1310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 name="Object 29"/>
                <p:cNvGraphicFramePr>
                  <a:graphicFrameLocks noChangeAspect="1"/>
                </p:cNvGraphicFramePr>
                <p:nvPr>
                  <p:extLst>
                    <p:ext uri="{D42A27DB-BD31-4B8C-83A1-F6EECF244321}">
                      <p14:modId xmlns:p14="http://schemas.microsoft.com/office/powerpoint/2010/main" val="4088659135"/>
                    </p:ext>
                  </p:extLst>
                </p:nvPr>
              </p:nvGraphicFramePr>
              <p:xfrm>
                <a:off x="7616823" y="3867673"/>
                <a:ext cx="223749" cy="502063"/>
              </p:xfrm>
              <a:graphic>
                <a:graphicData uri="http://schemas.openxmlformats.org/presentationml/2006/ole">
                  <mc:AlternateContent xmlns:mc="http://schemas.openxmlformats.org/markup-compatibility/2006">
                    <mc:Choice xmlns:v="urn:schemas-microsoft-com:vml" Requires="v">
                      <p:oleObj name="Equation" r:id="rId35" imgW="215640" imgH="444240" progId="Equation.DSMT4">
                        <p:embed/>
                      </p:oleObj>
                    </mc:Choice>
                    <mc:Fallback>
                      <p:oleObj name="Equation" r:id="rId35" imgW="215640" imgH="444240" progId="Equation.DSMT4">
                        <p:embed/>
                        <p:pic>
                          <p:nvPicPr>
                            <p:cNvPr id="59" name="Object 29"/>
                            <p:cNvPicPr>
                              <a:picLocks noChangeAspect="1" noChangeArrowheads="1"/>
                            </p:cNvPicPr>
                            <p:nvPr/>
                          </p:nvPicPr>
                          <p:blipFill>
                            <a:blip r:embed="rId36"/>
                            <a:srcRect/>
                            <a:stretch>
                              <a:fillRect/>
                            </a:stretch>
                          </p:blipFill>
                          <p:spPr bwMode="auto">
                            <a:xfrm>
                              <a:off x="7616823" y="3867673"/>
                              <a:ext cx="223749" cy="502063"/>
                            </a:xfrm>
                            <a:prstGeom prst="rect">
                              <a:avLst/>
                            </a:prstGeom>
                            <a:noFill/>
                            <a:ln>
                              <a:noFill/>
                            </a:ln>
                          </p:spPr>
                        </p:pic>
                      </p:oleObj>
                    </mc:Fallback>
                  </mc:AlternateContent>
                </a:graphicData>
              </a:graphic>
            </p:graphicFrame>
            <p:cxnSp>
              <p:nvCxnSpPr>
                <p:cNvPr id="57" name="Conector recto 56"/>
                <p:cNvCxnSpPr/>
                <p:nvPr/>
              </p:nvCxnSpPr>
              <p:spPr>
                <a:xfrm>
                  <a:off x="6531096" y="4054526"/>
                  <a:ext cx="129776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Conector recto 59"/>
                <p:cNvCxnSpPr/>
                <p:nvPr/>
              </p:nvCxnSpPr>
              <p:spPr>
                <a:xfrm>
                  <a:off x="7624762" y="3800380"/>
                  <a:ext cx="790" cy="2660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8" name="Conector recto 7"/>
            <p:cNvCxnSpPr/>
            <p:nvPr/>
          </p:nvCxnSpPr>
          <p:spPr>
            <a:xfrm>
              <a:off x="5334000" y="4040585"/>
              <a:ext cx="0" cy="777153"/>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6" name="CuadroTexto 5">
            <a:extLst>
              <a:ext uri="{FF2B5EF4-FFF2-40B4-BE49-F238E27FC236}">
                <a16:creationId xmlns:a16="http://schemas.microsoft.com/office/drawing/2014/main" id="{E987D62F-2E54-4959-A0FD-0CCDB2291230}"/>
              </a:ext>
            </a:extLst>
          </p:cNvPr>
          <p:cNvSpPr txBox="1"/>
          <p:nvPr/>
        </p:nvSpPr>
        <p:spPr>
          <a:xfrm>
            <a:off x="6894500" y="5448203"/>
            <a:ext cx="813618" cy="253916"/>
          </a:xfrm>
          <a:prstGeom prst="rect">
            <a:avLst/>
          </a:prstGeom>
          <a:noFill/>
        </p:spPr>
        <p:txBody>
          <a:bodyPr wrap="square" rtlCol="0">
            <a:spAutoFit/>
          </a:bodyPr>
          <a:lstStyle/>
          <a:p>
            <a:pPr algn="ctr"/>
            <a:r>
              <a:rPr lang="es-ES" sz="1050" dirty="0">
                <a:solidFill>
                  <a:schemeClr val="tx1">
                    <a:lumMod val="50000"/>
                    <a:lumOff val="50000"/>
                  </a:schemeClr>
                </a:solidFill>
              </a:rPr>
              <a:t>+ habitual</a:t>
            </a:r>
          </a:p>
        </p:txBody>
      </p:sp>
      <p:sp>
        <p:nvSpPr>
          <p:cNvPr id="58" name="CuadroTexto 57">
            <a:extLst>
              <a:ext uri="{FF2B5EF4-FFF2-40B4-BE49-F238E27FC236}">
                <a16:creationId xmlns:a16="http://schemas.microsoft.com/office/drawing/2014/main" id="{A52C88BA-D76A-4830-B489-1052B72F5F0F}"/>
              </a:ext>
            </a:extLst>
          </p:cNvPr>
          <p:cNvSpPr txBox="1"/>
          <p:nvPr/>
        </p:nvSpPr>
        <p:spPr>
          <a:xfrm>
            <a:off x="7954212" y="5362102"/>
            <a:ext cx="1094541" cy="430887"/>
          </a:xfrm>
          <a:prstGeom prst="rect">
            <a:avLst/>
          </a:prstGeom>
          <a:noFill/>
        </p:spPr>
        <p:txBody>
          <a:bodyPr wrap="square" rtlCol="0">
            <a:spAutoFit/>
          </a:bodyPr>
          <a:lstStyle/>
          <a:p>
            <a:pPr algn="ctr"/>
            <a:r>
              <a:rPr lang="es-ES" sz="1050" dirty="0">
                <a:solidFill>
                  <a:schemeClr val="tx1">
                    <a:lumMod val="50000"/>
                    <a:lumOff val="50000"/>
                  </a:schemeClr>
                </a:solidFill>
              </a:rPr>
              <a:t>+ adecuado para comparar</a:t>
            </a:r>
          </a:p>
        </p:txBody>
      </p:sp>
      <p:sp>
        <p:nvSpPr>
          <p:cNvPr id="7" name="Rectángulo: esquinas redondeadas 6">
            <a:extLst>
              <a:ext uri="{FF2B5EF4-FFF2-40B4-BE49-F238E27FC236}">
                <a16:creationId xmlns:a16="http://schemas.microsoft.com/office/drawing/2014/main" id="{59319B25-5112-446E-AC21-366514DD66AC}"/>
              </a:ext>
            </a:extLst>
          </p:cNvPr>
          <p:cNvSpPr/>
          <p:nvPr/>
        </p:nvSpPr>
        <p:spPr>
          <a:xfrm>
            <a:off x="6371134" y="2781102"/>
            <a:ext cx="2696665" cy="3011887"/>
          </a:xfrm>
          <a:prstGeom prst="roundRect">
            <a:avLst>
              <a:gd name="adj" fmla="val 5483"/>
            </a:avLst>
          </a:prstGeom>
          <a:noFill/>
          <a:ln w="1270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5" name="Text Box 87"/>
          <p:cNvSpPr txBox="1">
            <a:spLocks noChangeArrowheads="1"/>
          </p:cNvSpPr>
          <p:nvPr/>
        </p:nvSpPr>
        <p:spPr bwMode="auto">
          <a:xfrm>
            <a:off x="3565525" y="5368926"/>
            <a:ext cx="3292475" cy="261610"/>
          </a:xfrm>
          <a:prstGeom prst="rect">
            <a:avLst/>
          </a:prstGeom>
          <a:solidFill>
            <a:schemeClr val="bg1">
              <a:alpha val="76000"/>
            </a:schemeClr>
          </a:solidFill>
          <a:ln>
            <a:noFill/>
          </a:ln>
          <a:effec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 altLang="es-ES" sz="1100" dirty="0">
                <a:solidFill>
                  <a:srgbClr val="000066"/>
                </a:solidFill>
              </a:rPr>
              <a:t>La diferencia es </a:t>
            </a:r>
            <a:r>
              <a:rPr lang="es-ES" altLang="es-ES" sz="1100" b="1" dirty="0">
                <a:solidFill>
                  <a:srgbClr val="000066"/>
                </a:solidFill>
              </a:rPr>
              <a:t>estadísticamente significativa</a:t>
            </a:r>
          </a:p>
        </p:txBody>
      </p:sp>
    </p:spTree>
    <p:extLst>
      <p:ext uri="{BB962C8B-B14F-4D97-AF65-F5344CB8AC3E}">
        <p14:creationId xmlns:p14="http://schemas.microsoft.com/office/powerpoint/2010/main" val="317447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4" name="Object 7"/>
          <p:cNvGraphicFramePr>
            <a:graphicFrameLocks noChangeAspect="1"/>
          </p:cNvGraphicFramePr>
          <p:nvPr>
            <p:extLst>
              <p:ext uri="{D42A27DB-BD31-4B8C-83A1-F6EECF244321}">
                <p14:modId xmlns:p14="http://schemas.microsoft.com/office/powerpoint/2010/main" val="1550268367"/>
              </p:ext>
            </p:extLst>
          </p:nvPr>
        </p:nvGraphicFramePr>
        <p:xfrm>
          <a:off x="366713" y="3276600"/>
          <a:ext cx="1860550" cy="609600"/>
        </p:xfrm>
        <a:graphic>
          <a:graphicData uri="http://schemas.openxmlformats.org/presentationml/2006/ole">
            <mc:AlternateContent xmlns:mc="http://schemas.openxmlformats.org/markup-compatibility/2006">
              <mc:Choice xmlns:v="urn:schemas-microsoft-com:vml" Requires="v">
                <p:oleObj name="Equation" r:id="rId2" imgW="1396800" imgH="457200" progId="Equation.DSMT4">
                  <p:embed/>
                </p:oleObj>
              </mc:Choice>
              <mc:Fallback>
                <p:oleObj name="Equation" r:id="rId2" imgW="1396800" imgH="457200" progId="Equation.DSMT4">
                  <p:embed/>
                  <p:pic>
                    <p:nvPicPr>
                      <p:cNvPr id="15364" name="Object 7"/>
                      <p:cNvPicPr>
                        <a:picLocks noChangeAspect="1" noChangeArrowheads="1"/>
                      </p:cNvPicPr>
                      <p:nvPr/>
                    </p:nvPicPr>
                    <p:blipFill>
                      <a:blip r:embed="rId3"/>
                      <a:srcRect/>
                      <a:stretch>
                        <a:fillRect/>
                      </a:stretch>
                    </p:blipFill>
                    <p:spPr bwMode="auto">
                      <a:xfrm>
                        <a:off x="366713" y="3276600"/>
                        <a:ext cx="186055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5" name="Text Box 8">
            <a:hlinkClick r:id="rId4" action="ppaction://hlinksldjump"/>
          </p:cNvPr>
          <p:cNvSpPr txBox="1">
            <a:spLocks noChangeArrowheads="1"/>
          </p:cNvSpPr>
          <p:nvPr/>
        </p:nvSpPr>
        <p:spPr bwMode="auto">
          <a:xfrm>
            <a:off x="6666345" y="4555748"/>
            <a:ext cx="1828800" cy="314325"/>
          </a:xfrm>
          <a:prstGeom prst="rect">
            <a:avLst/>
          </a:prstGeom>
          <a:noFill/>
          <a:ln w="9525">
            <a:solidFill>
              <a:srgbClr val="96969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a:spcBef>
                <a:spcPct val="50000"/>
              </a:spcBef>
            </a:pPr>
            <a:r>
              <a:rPr lang="es-ES_tradnl" altLang="es-ES" sz="1400" dirty="0">
                <a:solidFill>
                  <a:srgbClr val="000099"/>
                </a:solidFill>
                <a:latin typeface="Times New Roman" pitchFamily="18" charset="0"/>
              </a:rPr>
              <a:t>0.01 &lt; P &lt; 0.02</a:t>
            </a:r>
          </a:p>
        </p:txBody>
      </p:sp>
      <p:graphicFrame>
        <p:nvGraphicFramePr>
          <p:cNvPr id="15366" name="Object 9"/>
          <p:cNvGraphicFramePr>
            <a:graphicFrameLocks noChangeAspect="1"/>
          </p:cNvGraphicFramePr>
          <p:nvPr>
            <p:extLst>
              <p:ext uri="{D42A27DB-BD31-4B8C-83A1-F6EECF244321}">
                <p14:modId xmlns:p14="http://schemas.microsoft.com/office/powerpoint/2010/main" val="2131636978"/>
              </p:ext>
            </p:extLst>
          </p:nvPr>
        </p:nvGraphicFramePr>
        <p:xfrm>
          <a:off x="323850" y="2062541"/>
          <a:ext cx="1368425" cy="684213"/>
        </p:xfrm>
        <a:graphic>
          <a:graphicData uri="http://schemas.openxmlformats.org/presentationml/2006/ole">
            <mc:AlternateContent xmlns:mc="http://schemas.openxmlformats.org/markup-compatibility/2006">
              <mc:Choice xmlns:v="urn:schemas-microsoft-com:vml" Requires="v">
                <p:oleObj name="Equation" r:id="rId5" imgW="1016000" imgH="508000" progId="Equation.DSMT4">
                  <p:embed/>
                </p:oleObj>
              </mc:Choice>
              <mc:Fallback>
                <p:oleObj name="Equation" r:id="rId5" imgW="1016000" imgH="508000" progId="Equation.DSMT4">
                  <p:embed/>
                  <p:pic>
                    <p:nvPicPr>
                      <p:cNvPr id="15366"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 y="2062541"/>
                        <a:ext cx="1368425" cy="684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5370" name="Group 16"/>
          <p:cNvGrpSpPr>
            <a:grpSpLocks/>
          </p:cNvGrpSpPr>
          <p:nvPr/>
        </p:nvGrpSpPr>
        <p:grpSpPr bwMode="auto">
          <a:xfrm>
            <a:off x="366601" y="5808662"/>
            <a:ext cx="3814763" cy="820738"/>
            <a:chOff x="2027" y="3257"/>
            <a:chExt cx="2403" cy="517"/>
          </a:xfrm>
        </p:grpSpPr>
        <p:graphicFrame>
          <p:nvGraphicFramePr>
            <p:cNvPr id="15400" name="Object 17"/>
            <p:cNvGraphicFramePr>
              <a:graphicFrameLocks noChangeAspect="1"/>
            </p:cNvGraphicFramePr>
            <p:nvPr>
              <p:extLst>
                <p:ext uri="{D42A27DB-BD31-4B8C-83A1-F6EECF244321}">
                  <p14:modId xmlns:p14="http://schemas.microsoft.com/office/powerpoint/2010/main" val="4063238296"/>
                </p:ext>
              </p:extLst>
            </p:nvPr>
          </p:nvGraphicFramePr>
          <p:xfrm>
            <a:off x="2088" y="3318"/>
            <a:ext cx="2232" cy="374"/>
          </p:xfrm>
          <a:graphic>
            <a:graphicData uri="http://schemas.openxmlformats.org/presentationml/2006/ole">
              <mc:AlternateContent xmlns:mc="http://schemas.openxmlformats.org/markup-compatibility/2006">
                <mc:Choice xmlns:v="urn:schemas-microsoft-com:vml" Requires="v">
                  <p:oleObj name="Equation" r:id="rId7" imgW="2730240" imgH="457200" progId="Equation.DSMT4">
                    <p:embed/>
                  </p:oleObj>
                </mc:Choice>
                <mc:Fallback>
                  <p:oleObj name="Equation" r:id="rId7" imgW="2730240" imgH="457200" progId="Equation.DSMT4">
                    <p:embed/>
                    <p:pic>
                      <p:nvPicPr>
                        <p:cNvPr id="15400" name="Object 17"/>
                        <p:cNvPicPr>
                          <a:picLocks noChangeAspect="1" noChangeArrowheads="1"/>
                        </p:cNvPicPr>
                        <p:nvPr/>
                      </p:nvPicPr>
                      <p:blipFill>
                        <a:blip r:embed="rId8"/>
                        <a:srcRect/>
                        <a:stretch>
                          <a:fillRect/>
                        </a:stretch>
                      </p:blipFill>
                      <p:spPr bwMode="auto">
                        <a:xfrm>
                          <a:off x="2088" y="3318"/>
                          <a:ext cx="2232" cy="3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01" name="Rectangle 18"/>
            <p:cNvSpPr>
              <a:spLocks noChangeArrowheads="1"/>
            </p:cNvSpPr>
            <p:nvPr/>
          </p:nvSpPr>
          <p:spPr bwMode="auto">
            <a:xfrm>
              <a:off x="2027" y="3257"/>
              <a:ext cx="2403" cy="517"/>
            </a:xfrm>
            <a:prstGeom prst="rect">
              <a:avLst/>
            </a:prstGeom>
            <a:noFill/>
            <a:ln w="9525">
              <a:solidFill>
                <a:srgbClr val="969696"/>
              </a:solidFill>
              <a:miter lim="800000"/>
              <a:headEnd/>
              <a:tailEnd/>
            </a:ln>
            <a:effectLst/>
            <a:extLst>
              <a:ext uri="{909E8E84-426E-40DD-AFC4-6F175D3DCCD1}">
                <a14:hiddenFill xmlns:a14="http://schemas.microsoft.com/office/drawing/2010/main">
                  <a:solidFill>
                    <a:srgbClr val="EAEAEA">
                      <a:alpha val="0"/>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15374" name="Text Box 22"/>
          <p:cNvSpPr txBox="1">
            <a:spLocks noChangeArrowheads="1"/>
          </p:cNvSpPr>
          <p:nvPr/>
        </p:nvSpPr>
        <p:spPr bwMode="auto">
          <a:xfrm>
            <a:off x="4343400" y="5715000"/>
            <a:ext cx="45720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 altLang="es-ES" dirty="0">
                <a:solidFill>
                  <a:srgbClr val="000066"/>
                </a:solidFill>
              </a:rPr>
              <a:t>La diferencia es un valor que, con un 95% de confianza, se espera que esté comprendido entre 13.34 y 126.65 unidades.</a:t>
            </a:r>
          </a:p>
          <a:p>
            <a:pPr algn="just" eaLnBrk="1" hangingPunct="1"/>
            <a:r>
              <a:rPr lang="es-ES" altLang="es-ES" dirty="0">
                <a:solidFill>
                  <a:srgbClr val="000066"/>
                </a:solidFill>
              </a:rPr>
              <a:t>El aumento de la variabilidad y el hecho de que no sea homogénea en las dos muestras genera un intervalo menos preciso que en el ejemplo anterior. Se han perdido 11 </a:t>
            </a:r>
            <a:r>
              <a:rPr lang="es-ES" altLang="es-ES" dirty="0" err="1">
                <a:solidFill>
                  <a:srgbClr val="000066"/>
                </a:solidFill>
              </a:rPr>
              <a:t>gl</a:t>
            </a:r>
            <a:r>
              <a:rPr lang="es-ES" altLang="es-ES" dirty="0">
                <a:solidFill>
                  <a:srgbClr val="000066"/>
                </a:solidFill>
              </a:rPr>
              <a:t>.</a:t>
            </a:r>
          </a:p>
        </p:txBody>
      </p:sp>
      <p:graphicFrame>
        <p:nvGraphicFramePr>
          <p:cNvPr id="15377" name="Object 39"/>
          <p:cNvGraphicFramePr>
            <a:graphicFrameLocks noChangeAspect="1"/>
          </p:cNvGraphicFramePr>
          <p:nvPr>
            <p:extLst>
              <p:ext uri="{D42A27DB-BD31-4B8C-83A1-F6EECF244321}">
                <p14:modId xmlns:p14="http://schemas.microsoft.com/office/powerpoint/2010/main" val="1614502942"/>
              </p:ext>
            </p:extLst>
          </p:nvPr>
        </p:nvGraphicFramePr>
        <p:xfrm>
          <a:off x="2381250" y="3276600"/>
          <a:ext cx="1876425" cy="609600"/>
        </p:xfrm>
        <a:graphic>
          <a:graphicData uri="http://schemas.openxmlformats.org/presentationml/2006/ole">
            <mc:AlternateContent xmlns:mc="http://schemas.openxmlformats.org/markup-compatibility/2006">
              <mc:Choice xmlns:v="urn:schemas-microsoft-com:vml" Requires="v">
                <p:oleObj name="Equation" r:id="rId9" imgW="1409400" imgH="457200" progId="Equation.DSMT4">
                  <p:embed/>
                </p:oleObj>
              </mc:Choice>
              <mc:Fallback>
                <p:oleObj name="Equation" r:id="rId9" imgW="1409400" imgH="457200" progId="Equation.DSMT4">
                  <p:embed/>
                  <p:pic>
                    <p:nvPicPr>
                      <p:cNvPr id="15377" name="Object 39"/>
                      <p:cNvPicPr>
                        <a:picLocks noChangeAspect="1" noChangeArrowheads="1"/>
                      </p:cNvPicPr>
                      <p:nvPr/>
                    </p:nvPicPr>
                    <p:blipFill>
                      <a:blip r:embed="rId10"/>
                      <a:srcRect/>
                      <a:stretch>
                        <a:fillRect/>
                      </a:stretch>
                    </p:blipFill>
                    <p:spPr bwMode="auto">
                      <a:xfrm>
                        <a:off x="2381250" y="3276600"/>
                        <a:ext cx="1876425"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84" name="Object 11"/>
          <p:cNvGraphicFramePr>
            <a:graphicFrameLocks noChangeAspect="1"/>
          </p:cNvGraphicFramePr>
          <p:nvPr>
            <p:extLst>
              <p:ext uri="{D42A27DB-BD31-4B8C-83A1-F6EECF244321}">
                <p14:modId xmlns:p14="http://schemas.microsoft.com/office/powerpoint/2010/main" val="1848546285"/>
              </p:ext>
            </p:extLst>
          </p:nvPr>
        </p:nvGraphicFramePr>
        <p:xfrm>
          <a:off x="388938" y="3867150"/>
          <a:ext cx="3076575" cy="530225"/>
        </p:xfrm>
        <a:graphic>
          <a:graphicData uri="http://schemas.openxmlformats.org/presentationml/2006/ole">
            <mc:AlternateContent xmlns:mc="http://schemas.openxmlformats.org/markup-compatibility/2006">
              <mc:Choice xmlns:v="urn:schemas-microsoft-com:vml" Requires="v">
                <p:oleObj name="Equation" r:id="rId11" imgW="2590560" imgH="444240" progId="Equation.DSMT4">
                  <p:embed/>
                </p:oleObj>
              </mc:Choice>
              <mc:Fallback>
                <p:oleObj name="Equation" r:id="rId11" imgW="2590560" imgH="444240" progId="Equation.DSMT4">
                  <p:embed/>
                  <p:pic>
                    <p:nvPicPr>
                      <p:cNvPr id="15384" name="Object 11"/>
                      <p:cNvPicPr>
                        <a:picLocks noChangeAspect="1" noChangeArrowheads="1"/>
                      </p:cNvPicPr>
                      <p:nvPr/>
                    </p:nvPicPr>
                    <p:blipFill>
                      <a:blip r:embed="rId12"/>
                      <a:srcRect/>
                      <a:stretch>
                        <a:fillRect/>
                      </a:stretch>
                    </p:blipFill>
                    <p:spPr bwMode="auto">
                      <a:xfrm>
                        <a:off x="388938" y="3867150"/>
                        <a:ext cx="3076575"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85" name="Object 40"/>
          <p:cNvGraphicFramePr>
            <a:graphicFrameLocks noChangeAspect="1"/>
          </p:cNvGraphicFramePr>
          <p:nvPr>
            <p:extLst>
              <p:ext uri="{D42A27DB-BD31-4B8C-83A1-F6EECF244321}">
                <p14:modId xmlns:p14="http://schemas.microsoft.com/office/powerpoint/2010/main" val="3052193136"/>
              </p:ext>
            </p:extLst>
          </p:nvPr>
        </p:nvGraphicFramePr>
        <p:xfrm>
          <a:off x="368910" y="4419600"/>
          <a:ext cx="2868613" cy="785813"/>
        </p:xfrm>
        <a:graphic>
          <a:graphicData uri="http://schemas.openxmlformats.org/presentationml/2006/ole">
            <mc:AlternateContent xmlns:mc="http://schemas.openxmlformats.org/markup-compatibility/2006">
              <mc:Choice xmlns:v="urn:schemas-microsoft-com:vml" Requires="v">
                <p:oleObj name="Equation" r:id="rId13" imgW="2412720" imgH="660240" progId="Equation.DSMT4">
                  <p:embed/>
                </p:oleObj>
              </mc:Choice>
              <mc:Fallback>
                <p:oleObj name="Equation" r:id="rId13" imgW="2412720" imgH="660240" progId="Equation.DSMT4">
                  <p:embed/>
                  <p:pic>
                    <p:nvPicPr>
                      <p:cNvPr id="15385" name="Object 40"/>
                      <p:cNvPicPr>
                        <a:picLocks noChangeAspect="1" noChangeArrowheads="1"/>
                      </p:cNvPicPr>
                      <p:nvPr/>
                    </p:nvPicPr>
                    <p:blipFill>
                      <a:blip r:embed="rId14"/>
                      <a:srcRect/>
                      <a:stretch>
                        <a:fillRect/>
                      </a:stretch>
                    </p:blipFill>
                    <p:spPr bwMode="auto">
                      <a:xfrm>
                        <a:off x="368910" y="4419600"/>
                        <a:ext cx="2868613"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5379" name="Group 42"/>
          <p:cNvGrpSpPr>
            <a:grpSpLocks/>
          </p:cNvGrpSpPr>
          <p:nvPr/>
        </p:nvGrpSpPr>
        <p:grpSpPr bwMode="auto">
          <a:xfrm>
            <a:off x="288813" y="884379"/>
            <a:ext cx="3892550" cy="762000"/>
            <a:chOff x="220" y="1365"/>
            <a:chExt cx="2452" cy="480"/>
          </a:xfrm>
        </p:grpSpPr>
        <p:graphicFrame>
          <p:nvGraphicFramePr>
            <p:cNvPr id="15382" name="Object 5"/>
            <p:cNvGraphicFramePr>
              <a:graphicFrameLocks noChangeAspect="1"/>
            </p:cNvGraphicFramePr>
            <p:nvPr>
              <p:extLst>
                <p:ext uri="{D42A27DB-BD31-4B8C-83A1-F6EECF244321}">
                  <p14:modId xmlns:p14="http://schemas.microsoft.com/office/powerpoint/2010/main" val="1435092554"/>
                </p:ext>
              </p:extLst>
            </p:nvPr>
          </p:nvGraphicFramePr>
          <p:xfrm>
            <a:off x="220" y="1392"/>
            <a:ext cx="2452" cy="420"/>
          </p:xfrm>
          <a:graphic>
            <a:graphicData uri="http://schemas.openxmlformats.org/presentationml/2006/ole">
              <mc:AlternateContent xmlns:mc="http://schemas.openxmlformats.org/markup-compatibility/2006">
                <mc:Choice xmlns:v="urn:schemas-microsoft-com:vml" Requires="v">
                  <p:oleObj name="Equation" r:id="rId15" imgW="2743200" imgH="482400" progId="Equation.DSMT4">
                    <p:embed/>
                  </p:oleObj>
                </mc:Choice>
                <mc:Fallback>
                  <p:oleObj name="Equation" r:id="rId15" imgW="2743200" imgH="482400" progId="Equation.DSMT4">
                    <p:embed/>
                    <p:pic>
                      <p:nvPicPr>
                        <p:cNvPr id="15382" name="Object 5"/>
                        <p:cNvPicPr>
                          <a:picLocks noChangeAspect="1" noChangeArrowheads="1"/>
                        </p:cNvPicPr>
                        <p:nvPr/>
                      </p:nvPicPr>
                      <p:blipFill>
                        <a:blip r:embed="rId16"/>
                        <a:srcRect/>
                        <a:stretch>
                          <a:fillRect/>
                        </a:stretch>
                      </p:blipFill>
                      <p:spPr bwMode="auto">
                        <a:xfrm>
                          <a:off x="220" y="1392"/>
                          <a:ext cx="2452" cy="4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83" name="Oval 41"/>
            <p:cNvSpPr>
              <a:spLocks noChangeArrowheads="1"/>
            </p:cNvSpPr>
            <p:nvPr/>
          </p:nvSpPr>
          <p:spPr bwMode="auto">
            <a:xfrm>
              <a:off x="2224" y="1365"/>
              <a:ext cx="288" cy="480"/>
            </a:xfrm>
            <a:prstGeom prst="ellipse">
              <a:avLst/>
            </a:prstGeom>
            <a:solidFill>
              <a:srgbClr val="FFCC00">
                <a:alpha val="12157"/>
              </a:srgbClr>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15380" name="Text Box 44"/>
          <p:cNvSpPr txBox="1">
            <a:spLocks noChangeArrowheads="1"/>
          </p:cNvSpPr>
          <p:nvPr/>
        </p:nvSpPr>
        <p:spPr bwMode="auto">
          <a:xfrm>
            <a:off x="3319462" y="4566717"/>
            <a:ext cx="286007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 altLang="es-ES" sz="1300" dirty="0">
                <a:solidFill>
                  <a:srgbClr val="000066"/>
                </a:solidFill>
                <a:latin typeface="Times New Roman" pitchFamily="18" charset="0"/>
              </a:rPr>
              <a:t>¡Antes, en el test de </a:t>
            </a:r>
            <a:r>
              <a:rPr lang="es-ES" altLang="es-ES" sz="1300" dirty="0" err="1">
                <a:solidFill>
                  <a:srgbClr val="000066"/>
                </a:solidFill>
                <a:latin typeface="Times New Roman" pitchFamily="18" charset="0"/>
              </a:rPr>
              <a:t>Student</a:t>
            </a:r>
            <a:r>
              <a:rPr lang="es-ES" altLang="es-ES" sz="1300" dirty="0">
                <a:solidFill>
                  <a:srgbClr val="000066"/>
                </a:solidFill>
                <a:latin typeface="Times New Roman" pitchFamily="18" charset="0"/>
              </a:rPr>
              <a:t>, eran 34 </a:t>
            </a:r>
            <a:r>
              <a:rPr lang="es-ES" altLang="es-ES" sz="1300" i="1" dirty="0" err="1">
                <a:solidFill>
                  <a:srgbClr val="000066"/>
                </a:solidFill>
                <a:latin typeface="Times New Roman" pitchFamily="18" charset="0"/>
              </a:rPr>
              <a:t>gl</a:t>
            </a:r>
            <a:r>
              <a:rPr lang="es-ES" altLang="es-ES" sz="1300" dirty="0">
                <a:solidFill>
                  <a:srgbClr val="000066"/>
                </a:solidFill>
                <a:latin typeface="Times New Roman" pitchFamily="18" charset="0"/>
              </a:rPr>
              <a:t>!</a:t>
            </a:r>
          </a:p>
        </p:txBody>
      </p:sp>
      <p:sp>
        <p:nvSpPr>
          <p:cNvPr id="15381" name="Text Box 2"/>
          <p:cNvSpPr txBox="1">
            <a:spLocks noChangeArrowheads="1"/>
          </p:cNvSpPr>
          <p:nvPr/>
        </p:nvSpPr>
        <p:spPr bwMode="auto">
          <a:xfrm>
            <a:off x="204787" y="65087"/>
            <a:ext cx="71723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 Variable normal // Prueba de homogeneidad de medias</a:t>
            </a:r>
            <a:endParaRPr lang="es-ES" altLang="es-ES" sz="1400" b="1" dirty="0"/>
          </a:p>
        </p:txBody>
      </p:sp>
      <p:sp>
        <p:nvSpPr>
          <p:cNvPr id="45" name="Text Box 43"/>
          <p:cNvSpPr txBox="1">
            <a:spLocks noChangeArrowheads="1"/>
          </p:cNvSpPr>
          <p:nvPr/>
        </p:nvSpPr>
        <p:spPr bwMode="auto">
          <a:xfrm>
            <a:off x="228600" y="425450"/>
            <a:ext cx="719940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solidFill>
                  <a:schemeClr val="accent5">
                    <a:lumMod val="25000"/>
                  </a:schemeClr>
                </a:solidFill>
              </a:rPr>
              <a:t>Ejemplo</a:t>
            </a:r>
            <a:r>
              <a:rPr lang="es-ES_tradnl" altLang="es-ES" sz="1400" b="1" dirty="0">
                <a:solidFill>
                  <a:srgbClr val="006666"/>
                </a:solidFill>
              </a:rPr>
              <a:t>: </a:t>
            </a:r>
            <a:r>
              <a:rPr lang="es-ES" altLang="es-ES" sz="1400" b="1" dirty="0">
                <a:solidFill>
                  <a:srgbClr val="224B50"/>
                </a:solidFill>
              </a:rPr>
              <a:t>en el contexto del Ejemplo anterior ¿y si los datos hubieran sido estos?</a:t>
            </a:r>
          </a:p>
          <a:p>
            <a:pPr eaLnBrk="1" hangingPunct="1"/>
            <a:endParaRPr lang="es-ES" altLang="es-ES" sz="1400" b="1" dirty="0">
              <a:solidFill>
                <a:schemeClr val="accent5">
                  <a:lumMod val="25000"/>
                </a:schemeClr>
              </a:solidFill>
            </a:endParaRPr>
          </a:p>
        </p:txBody>
      </p:sp>
      <p:grpSp>
        <p:nvGrpSpPr>
          <p:cNvPr id="5" name="Grupo 4"/>
          <p:cNvGrpSpPr/>
          <p:nvPr/>
        </p:nvGrpSpPr>
        <p:grpSpPr>
          <a:xfrm>
            <a:off x="2117614" y="1905000"/>
            <a:ext cx="2867025" cy="851518"/>
            <a:chOff x="2006313" y="1996429"/>
            <a:chExt cx="2867025" cy="851518"/>
          </a:xfrm>
        </p:grpSpPr>
        <p:graphicFrame>
          <p:nvGraphicFramePr>
            <p:cNvPr id="15363" name="Object 6">
              <a:hlinkClick r:id="rId17" action="ppaction://hlinksldjump"/>
            </p:cNvPr>
            <p:cNvGraphicFramePr>
              <a:graphicFrameLocks noChangeAspect="1"/>
            </p:cNvGraphicFramePr>
            <p:nvPr>
              <p:extLst>
                <p:ext uri="{D42A27DB-BD31-4B8C-83A1-F6EECF244321}">
                  <p14:modId xmlns:p14="http://schemas.microsoft.com/office/powerpoint/2010/main" val="157748806"/>
                </p:ext>
              </p:extLst>
            </p:nvPr>
          </p:nvGraphicFramePr>
          <p:xfrm>
            <a:off x="2006313" y="1996429"/>
            <a:ext cx="2805113" cy="568325"/>
          </p:xfrm>
          <a:graphic>
            <a:graphicData uri="http://schemas.openxmlformats.org/presentationml/2006/ole">
              <mc:AlternateContent xmlns:mc="http://schemas.openxmlformats.org/markup-compatibility/2006">
                <mc:Choice xmlns:v="urn:schemas-microsoft-com:vml" Requires="v">
                  <p:oleObj name="Equation" r:id="rId18" imgW="2323800" imgH="469800" progId="Equation.DSMT4">
                    <p:embed/>
                  </p:oleObj>
                </mc:Choice>
                <mc:Fallback>
                  <p:oleObj name="Equation" r:id="rId18" imgW="2323800" imgH="469800" progId="Equation.DSMT4">
                    <p:embed/>
                    <p:pic>
                      <p:nvPicPr>
                        <p:cNvPr id="15363" name="Object 6">
                          <a:hlinkClick r:id="" action="ppaction://noaction"/>
                        </p:cNvPr>
                        <p:cNvPicPr>
                          <a:picLocks noChangeAspect="1" noChangeArrowheads="1"/>
                        </p:cNvPicPr>
                        <p:nvPr/>
                      </p:nvPicPr>
                      <p:blipFill>
                        <a:blip r:embed="rId19"/>
                        <a:srcRect/>
                        <a:stretch>
                          <a:fillRect/>
                        </a:stretch>
                      </p:blipFill>
                      <p:spPr bwMode="auto">
                        <a:xfrm>
                          <a:off x="2006313" y="1996429"/>
                          <a:ext cx="2805113"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69">
              <a:hlinkClick r:id="rId17" action="ppaction://hlinksldjump"/>
            </p:cNvPr>
            <p:cNvGraphicFramePr>
              <a:graphicFrameLocks noChangeAspect="1"/>
            </p:cNvGraphicFramePr>
            <p:nvPr>
              <p:extLst>
                <p:ext uri="{D42A27DB-BD31-4B8C-83A1-F6EECF244321}">
                  <p14:modId xmlns:p14="http://schemas.microsoft.com/office/powerpoint/2010/main" val="277903445"/>
                </p:ext>
              </p:extLst>
            </p:nvPr>
          </p:nvGraphicFramePr>
          <p:xfrm>
            <a:off x="2006313" y="2555847"/>
            <a:ext cx="2867025" cy="292100"/>
          </p:xfrm>
          <a:graphic>
            <a:graphicData uri="http://schemas.openxmlformats.org/presentationml/2006/ole">
              <mc:AlternateContent xmlns:mc="http://schemas.openxmlformats.org/markup-compatibility/2006">
                <mc:Choice xmlns:v="urn:schemas-microsoft-com:vml" Requires="v">
                  <p:oleObj name="Equation" r:id="rId20" imgW="2374560" imgH="241200" progId="Equation.DSMT4">
                    <p:embed/>
                  </p:oleObj>
                </mc:Choice>
                <mc:Fallback>
                  <p:oleObj name="Equation" r:id="rId20" imgW="2374560" imgH="241200" progId="Equation.DSMT4">
                    <p:embed/>
                    <p:pic>
                      <p:nvPicPr>
                        <p:cNvPr id="14348" name="Object 69">
                          <a:hlinkClick r:id="" action="ppaction://noaction"/>
                        </p:cNvPr>
                        <p:cNvPicPr>
                          <a:picLocks noChangeAspect="1" noChangeArrowheads="1"/>
                        </p:cNvPicPr>
                        <p:nvPr/>
                      </p:nvPicPr>
                      <p:blipFill>
                        <a:blip r:embed="rId21"/>
                        <a:srcRect/>
                        <a:stretch>
                          <a:fillRect/>
                        </a:stretch>
                      </p:blipFill>
                      <p:spPr bwMode="auto">
                        <a:xfrm>
                          <a:off x="2006313" y="2555847"/>
                          <a:ext cx="2867025"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1" name="Object 49"/>
          <p:cNvGraphicFramePr>
            <a:graphicFrameLocks noChangeAspect="1"/>
          </p:cNvGraphicFramePr>
          <p:nvPr>
            <p:extLst>
              <p:ext uri="{D42A27DB-BD31-4B8C-83A1-F6EECF244321}">
                <p14:modId xmlns:p14="http://schemas.microsoft.com/office/powerpoint/2010/main" val="3807725666"/>
              </p:ext>
            </p:extLst>
          </p:nvPr>
        </p:nvGraphicFramePr>
        <p:xfrm>
          <a:off x="288813" y="1752600"/>
          <a:ext cx="2360613" cy="263525"/>
        </p:xfrm>
        <a:graphic>
          <a:graphicData uri="http://schemas.openxmlformats.org/presentationml/2006/ole">
            <mc:AlternateContent xmlns:mc="http://schemas.openxmlformats.org/markup-compatibility/2006">
              <mc:Choice xmlns:v="urn:schemas-microsoft-com:vml" Requires="v">
                <p:oleObj name="Equation" r:id="rId22" imgW="1663560" imgH="190440" progId="Equation.DSMT4">
                  <p:embed/>
                </p:oleObj>
              </mc:Choice>
              <mc:Fallback>
                <p:oleObj name="Equation" r:id="rId22" imgW="1663560" imgH="190440" progId="Equation.DSMT4">
                  <p:embed/>
                  <p:pic>
                    <p:nvPicPr>
                      <p:cNvPr id="42" name="Object 49"/>
                      <p:cNvPicPr>
                        <a:picLocks noChangeAspect="1" noChangeArrowheads="1"/>
                      </p:cNvPicPr>
                      <p:nvPr/>
                    </p:nvPicPr>
                    <p:blipFill>
                      <a:blip r:embed="rId23"/>
                      <a:srcRect/>
                      <a:stretch>
                        <a:fillRect/>
                      </a:stretch>
                    </p:blipFill>
                    <p:spPr bwMode="auto">
                      <a:xfrm>
                        <a:off x="288813" y="1752600"/>
                        <a:ext cx="2360613" cy="263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 name="Object 49"/>
          <p:cNvGraphicFramePr>
            <a:graphicFrameLocks noChangeAspect="1"/>
          </p:cNvGraphicFramePr>
          <p:nvPr>
            <p:extLst>
              <p:ext uri="{D42A27DB-BD31-4B8C-83A1-F6EECF244321}">
                <p14:modId xmlns:p14="http://schemas.microsoft.com/office/powerpoint/2010/main" val="2006396880"/>
              </p:ext>
            </p:extLst>
          </p:nvPr>
        </p:nvGraphicFramePr>
        <p:xfrm>
          <a:off x="287337" y="2981325"/>
          <a:ext cx="3370263" cy="261938"/>
        </p:xfrm>
        <a:graphic>
          <a:graphicData uri="http://schemas.openxmlformats.org/presentationml/2006/ole">
            <mc:AlternateContent xmlns:mc="http://schemas.openxmlformats.org/markup-compatibility/2006">
              <mc:Choice xmlns:v="urn:schemas-microsoft-com:vml" Requires="v">
                <p:oleObj name="Equation" r:id="rId24" imgW="2374560" imgH="190440" progId="Equation.DSMT4">
                  <p:embed/>
                </p:oleObj>
              </mc:Choice>
              <mc:Fallback>
                <p:oleObj name="Equation" r:id="rId24" imgW="2374560" imgH="190440" progId="Equation.DSMT4">
                  <p:embed/>
                  <p:pic>
                    <p:nvPicPr>
                      <p:cNvPr id="31" name="Object 49"/>
                      <p:cNvPicPr>
                        <a:picLocks noChangeAspect="1" noChangeArrowheads="1"/>
                      </p:cNvPicPr>
                      <p:nvPr/>
                    </p:nvPicPr>
                    <p:blipFill>
                      <a:blip r:embed="rId25"/>
                      <a:srcRect/>
                      <a:stretch>
                        <a:fillRect/>
                      </a:stretch>
                    </p:blipFill>
                    <p:spPr bwMode="auto">
                      <a:xfrm>
                        <a:off x="287337" y="2981325"/>
                        <a:ext cx="3370263"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 name="Object 49"/>
          <p:cNvGraphicFramePr>
            <a:graphicFrameLocks noChangeAspect="1"/>
          </p:cNvGraphicFramePr>
          <p:nvPr>
            <p:extLst>
              <p:ext uri="{D42A27DB-BD31-4B8C-83A1-F6EECF244321}">
                <p14:modId xmlns:p14="http://schemas.microsoft.com/office/powerpoint/2010/main" val="698071444"/>
              </p:ext>
            </p:extLst>
          </p:nvPr>
        </p:nvGraphicFramePr>
        <p:xfrm>
          <a:off x="288813" y="5401613"/>
          <a:ext cx="4424362" cy="263525"/>
        </p:xfrm>
        <a:graphic>
          <a:graphicData uri="http://schemas.openxmlformats.org/presentationml/2006/ole">
            <mc:AlternateContent xmlns:mc="http://schemas.openxmlformats.org/markup-compatibility/2006">
              <mc:Choice xmlns:v="urn:schemas-microsoft-com:vml" Requires="v">
                <p:oleObj name="Equation" r:id="rId26" imgW="3162240" imgH="190440" progId="Equation.DSMT4">
                  <p:embed/>
                </p:oleObj>
              </mc:Choice>
              <mc:Fallback>
                <p:oleObj name="Equation" r:id="rId26" imgW="3162240" imgH="190440" progId="Equation.DSMT4">
                  <p:embed/>
                  <p:pic>
                    <p:nvPicPr>
                      <p:cNvPr id="46" name="Object 49"/>
                      <p:cNvPicPr>
                        <a:picLocks noChangeAspect="1" noChangeArrowheads="1"/>
                      </p:cNvPicPr>
                      <p:nvPr/>
                    </p:nvPicPr>
                    <p:blipFill>
                      <a:blip r:embed="rId27"/>
                      <a:srcRect/>
                      <a:stretch>
                        <a:fillRect/>
                      </a:stretch>
                    </p:blipFill>
                    <p:spPr bwMode="auto">
                      <a:xfrm>
                        <a:off x="288813" y="5401613"/>
                        <a:ext cx="4424362" cy="263525"/>
                      </a:xfrm>
                      <a:prstGeom prst="rect">
                        <a:avLst/>
                      </a:prstGeom>
                      <a:noFill/>
                      <a:ln>
                        <a:noFill/>
                      </a:ln>
                      <a:effectLst/>
                    </p:spPr>
                  </p:pic>
                </p:oleObj>
              </mc:Fallback>
            </mc:AlternateContent>
          </a:graphicData>
        </a:graphic>
      </p:graphicFrame>
      <p:grpSp>
        <p:nvGrpSpPr>
          <p:cNvPr id="7" name="Grupo 6"/>
          <p:cNvGrpSpPr/>
          <p:nvPr/>
        </p:nvGrpSpPr>
        <p:grpSpPr>
          <a:xfrm>
            <a:off x="5262676" y="1798309"/>
            <a:ext cx="1927233" cy="1173491"/>
            <a:chOff x="5031287" y="1798309"/>
            <a:chExt cx="1927233" cy="1173491"/>
          </a:xfrm>
        </p:grpSpPr>
        <p:grpSp>
          <p:nvGrpSpPr>
            <p:cNvPr id="3" name="Grupo 2"/>
            <p:cNvGrpSpPr/>
            <p:nvPr/>
          </p:nvGrpSpPr>
          <p:grpSpPr>
            <a:xfrm flipH="1">
              <a:off x="5031287" y="1798309"/>
              <a:ext cx="1826713" cy="889861"/>
              <a:chOff x="5212399" y="1798309"/>
              <a:chExt cx="1826713" cy="889861"/>
            </a:xfrm>
          </p:grpSpPr>
          <p:grpSp>
            <p:nvGrpSpPr>
              <p:cNvPr id="33" name="Group 46"/>
              <p:cNvGrpSpPr>
                <a:grpSpLocks/>
              </p:cNvGrpSpPr>
              <p:nvPr/>
            </p:nvGrpSpPr>
            <p:grpSpPr bwMode="auto">
              <a:xfrm>
                <a:off x="5212399" y="1798309"/>
                <a:ext cx="1826713" cy="857289"/>
                <a:chOff x="480" y="2016"/>
                <a:chExt cx="960" cy="585"/>
              </a:xfrm>
            </p:grpSpPr>
            <p:pic>
              <p:nvPicPr>
                <p:cNvPr id="40" name="Picture 47"/>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76" y="2016"/>
                  <a:ext cx="720"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 name="Line 48"/>
                <p:cNvSpPr>
                  <a:spLocks noChangeShapeType="1"/>
                </p:cNvSpPr>
                <p:nvPr/>
              </p:nvSpPr>
              <p:spPr bwMode="auto">
                <a:xfrm>
                  <a:off x="480" y="2592"/>
                  <a:ext cx="960" cy="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34" name="Group 49"/>
              <p:cNvGrpSpPr>
                <a:grpSpLocks/>
              </p:cNvGrpSpPr>
              <p:nvPr/>
            </p:nvGrpSpPr>
            <p:grpSpPr bwMode="auto">
              <a:xfrm>
                <a:off x="5902787" y="1858241"/>
                <a:ext cx="217783" cy="829929"/>
                <a:chOff x="843" y="2048"/>
                <a:chExt cx="114" cy="1105"/>
              </a:xfrm>
            </p:grpSpPr>
            <p:sp>
              <p:nvSpPr>
                <p:cNvPr id="38" name="Line 50"/>
                <p:cNvSpPr>
                  <a:spLocks noChangeShapeType="1"/>
                </p:cNvSpPr>
                <p:nvPr/>
              </p:nvSpPr>
              <p:spPr bwMode="auto">
                <a:xfrm>
                  <a:off x="843" y="2048"/>
                  <a:ext cx="0" cy="1105"/>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9" name="Line 51"/>
                <p:cNvSpPr>
                  <a:spLocks noChangeShapeType="1"/>
                </p:cNvSpPr>
                <p:nvPr/>
              </p:nvSpPr>
              <p:spPr bwMode="auto">
                <a:xfrm>
                  <a:off x="957" y="2048"/>
                  <a:ext cx="0" cy="1105"/>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aphicFrame>
          <p:nvGraphicFramePr>
            <p:cNvPr id="49" name="Object 69">
              <a:hlinkClick r:id="rId17" action="ppaction://hlinksldjump"/>
            </p:cNvPr>
            <p:cNvGraphicFramePr>
              <a:graphicFrameLocks noChangeAspect="1"/>
            </p:cNvGraphicFramePr>
            <p:nvPr>
              <p:extLst>
                <p:ext uri="{D42A27DB-BD31-4B8C-83A1-F6EECF244321}">
                  <p14:modId xmlns:p14="http://schemas.microsoft.com/office/powerpoint/2010/main" val="614800649"/>
                </p:ext>
              </p:extLst>
            </p:nvPr>
          </p:nvGraphicFramePr>
          <p:xfrm>
            <a:off x="5102611" y="2725737"/>
            <a:ext cx="1763712" cy="246063"/>
          </p:xfrm>
          <a:graphic>
            <a:graphicData uri="http://schemas.openxmlformats.org/presentationml/2006/ole">
              <mc:AlternateContent xmlns:mc="http://schemas.openxmlformats.org/markup-compatibility/2006">
                <mc:Choice xmlns:v="urn:schemas-microsoft-com:vml" Requires="v">
                  <p:oleObj name="Equation" r:id="rId29" imgW="1460160" imgH="203040" progId="Equation.DSMT4">
                    <p:embed/>
                  </p:oleObj>
                </mc:Choice>
                <mc:Fallback>
                  <p:oleObj name="Equation" r:id="rId29" imgW="1460160" imgH="203040" progId="Equation.DSMT4">
                    <p:embed/>
                    <p:pic>
                      <p:nvPicPr>
                        <p:cNvPr id="30" name="Object 69">
                          <a:hlinkClick r:id="rId17" action="ppaction://hlinksldjump"/>
                        </p:cNvPr>
                        <p:cNvPicPr>
                          <a:picLocks noChangeAspect="1" noChangeArrowheads="1"/>
                        </p:cNvPicPr>
                        <p:nvPr/>
                      </p:nvPicPr>
                      <p:blipFill>
                        <a:blip r:embed="rId30"/>
                        <a:srcRect/>
                        <a:stretch>
                          <a:fillRect/>
                        </a:stretch>
                      </p:blipFill>
                      <p:spPr bwMode="auto">
                        <a:xfrm>
                          <a:off x="5102611" y="2725737"/>
                          <a:ext cx="1763712" cy="246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 name="Rectangle 82"/>
            <p:cNvSpPr>
              <a:spLocks noChangeArrowheads="1"/>
            </p:cNvSpPr>
            <p:nvPr/>
          </p:nvSpPr>
          <p:spPr bwMode="auto">
            <a:xfrm>
              <a:off x="6360279" y="2317174"/>
              <a:ext cx="598241"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800" b="1" dirty="0"/>
                <a:t>Jóvenes</a:t>
              </a:r>
              <a:endParaRPr lang="es-ES" altLang="es-ES" sz="800" b="1" dirty="0"/>
            </a:p>
          </p:txBody>
        </p:sp>
        <p:sp>
          <p:nvSpPr>
            <p:cNvPr id="52" name="Rectangle 83"/>
            <p:cNvSpPr>
              <a:spLocks noChangeArrowheads="1"/>
            </p:cNvSpPr>
            <p:nvPr/>
          </p:nvSpPr>
          <p:spPr bwMode="auto">
            <a:xfrm>
              <a:off x="5119746" y="2172903"/>
              <a:ext cx="64793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800" b="1" dirty="0"/>
                <a:t>Ancianos</a:t>
              </a:r>
              <a:endParaRPr lang="es-ES" altLang="es-ES" sz="800" b="1" dirty="0"/>
            </a:p>
          </p:txBody>
        </p:sp>
      </p:grpSp>
      <p:grpSp>
        <p:nvGrpSpPr>
          <p:cNvPr id="6" name="Grupo 5"/>
          <p:cNvGrpSpPr/>
          <p:nvPr/>
        </p:nvGrpSpPr>
        <p:grpSpPr>
          <a:xfrm>
            <a:off x="7241086" y="1762846"/>
            <a:ext cx="1826714" cy="1191163"/>
            <a:chOff x="7164886" y="1762846"/>
            <a:chExt cx="1826714" cy="1191163"/>
          </a:xfrm>
        </p:grpSpPr>
        <p:grpSp>
          <p:nvGrpSpPr>
            <p:cNvPr id="4" name="Grupo 3"/>
            <p:cNvGrpSpPr/>
            <p:nvPr/>
          </p:nvGrpSpPr>
          <p:grpSpPr>
            <a:xfrm flipH="1">
              <a:off x="7176303" y="1830926"/>
              <a:ext cx="1809589" cy="861197"/>
              <a:chOff x="7176303" y="1830926"/>
              <a:chExt cx="1809589" cy="861197"/>
            </a:xfrm>
          </p:grpSpPr>
          <p:pic>
            <p:nvPicPr>
              <p:cNvPr id="43" name="Picture 54"/>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176303" y="1830926"/>
                <a:ext cx="1809589" cy="826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 name="Line 56"/>
              <p:cNvSpPr>
                <a:spLocks noChangeShapeType="1"/>
              </p:cNvSpPr>
              <p:nvPr/>
            </p:nvSpPr>
            <p:spPr bwMode="auto">
              <a:xfrm>
                <a:off x="7857515" y="1845572"/>
                <a:ext cx="0" cy="846551"/>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48" name="Line 57"/>
              <p:cNvSpPr>
                <a:spLocks noChangeShapeType="1"/>
              </p:cNvSpPr>
              <p:nvPr/>
            </p:nvSpPr>
            <p:spPr bwMode="auto">
              <a:xfrm>
                <a:off x="8074437" y="1845572"/>
                <a:ext cx="0" cy="846551"/>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46" name="Line 58"/>
            <p:cNvSpPr>
              <a:spLocks noChangeShapeType="1"/>
            </p:cNvSpPr>
            <p:nvPr/>
          </p:nvSpPr>
          <p:spPr bwMode="auto">
            <a:xfrm>
              <a:off x="7164886" y="2648184"/>
              <a:ext cx="1826714" cy="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50" name="Object 69">
              <a:hlinkClick r:id="rId17" action="ppaction://hlinksldjump"/>
            </p:cNvPr>
            <p:cNvGraphicFramePr>
              <a:graphicFrameLocks noChangeAspect="1"/>
            </p:cNvGraphicFramePr>
            <p:nvPr>
              <p:extLst>
                <p:ext uri="{D42A27DB-BD31-4B8C-83A1-F6EECF244321}">
                  <p14:modId xmlns:p14="http://schemas.microsoft.com/office/powerpoint/2010/main" val="290007302"/>
                </p:ext>
              </p:extLst>
            </p:nvPr>
          </p:nvGraphicFramePr>
          <p:xfrm>
            <a:off x="7464674" y="2738109"/>
            <a:ext cx="1227138" cy="215900"/>
          </p:xfrm>
          <a:graphic>
            <a:graphicData uri="http://schemas.openxmlformats.org/presentationml/2006/ole">
              <mc:AlternateContent xmlns:mc="http://schemas.openxmlformats.org/markup-compatibility/2006">
                <mc:Choice xmlns:v="urn:schemas-microsoft-com:vml" Requires="v">
                  <p:oleObj name="Equation" r:id="rId32" imgW="1015920" imgH="177480" progId="Equation.DSMT4">
                    <p:embed/>
                  </p:oleObj>
                </mc:Choice>
                <mc:Fallback>
                  <p:oleObj name="Equation" r:id="rId32" imgW="1015920" imgH="177480" progId="Equation.DSMT4">
                    <p:embed/>
                    <p:pic>
                      <p:nvPicPr>
                        <p:cNvPr id="49" name="Object 69">
                          <a:hlinkClick r:id="rId17" action="ppaction://hlinksldjump"/>
                        </p:cNvPr>
                        <p:cNvPicPr>
                          <a:picLocks noChangeAspect="1" noChangeArrowheads="1"/>
                        </p:cNvPicPr>
                        <p:nvPr/>
                      </p:nvPicPr>
                      <p:blipFill>
                        <a:blip r:embed="rId33"/>
                        <a:srcRect/>
                        <a:stretch>
                          <a:fillRect/>
                        </a:stretch>
                      </p:blipFill>
                      <p:spPr bwMode="auto">
                        <a:xfrm>
                          <a:off x="7464674" y="2738109"/>
                          <a:ext cx="1227138"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 name="Rectangle 82"/>
            <p:cNvSpPr>
              <a:spLocks noChangeArrowheads="1"/>
            </p:cNvSpPr>
            <p:nvPr/>
          </p:nvSpPr>
          <p:spPr bwMode="auto">
            <a:xfrm>
              <a:off x="7706439" y="1762846"/>
              <a:ext cx="598241"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800" b="1" dirty="0"/>
                <a:t>Jóvenes</a:t>
              </a:r>
              <a:endParaRPr lang="es-ES" altLang="es-ES" sz="800" b="1" dirty="0"/>
            </a:p>
          </p:txBody>
        </p:sp>
        <p:sp>
          <p:nvSpPr>
            <p:cNvPr id="56" name="Rectangle 83"/>
            <p:cNvSpPr>
              <a:spLocks noChangeArrowheads="1"/>
            </p:cNvSpPr>
            <p:nvPr/>
          </p:nvSpPr>
          <p:spPr bwMode="auto">
            <a:xfrm>
              <a:off x="7167312" y="2317174"/>
              <a:ext cx="64793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800" b="1" dirty="0"/>
                <a:t>Ancianos</a:t>
              </a:r>
              <a:endParaRPr lang="es-ES" altLang="es-ES" sz="800" b="1" dirty="0"/>
            </a:p>
          </p:txBody>
        </p:sp>
      </p:grpSp>
      <p:grpSp>
        <p:nvGrpSpPr>
          <p:cNvPr id="21" name="Grupo 20"/>
          <p:cNvGrpSpPr/>
          <p:nvPr/>
        </p:nvGrpSpPr>
        <p:grpSpPr>
          <a:xfrm>
            <a:off x="6959089" y="3584897"/>
            <a:ext cx="1374117" cy="1025150"/>
            <a:chOff x="6959089" y="3584897"/>
            <a:chExt cx="1374117" cy="1025150"/>
          </a:xfrm>
        </p:grpSpPr>
        <p:grpSp>
          <p:nvGrpSpPr>
            <p:cNvPr id="84" name="Grupo 83"/>
            <p:cNvGrpSpPr/>
            <p:nvPr/>
          </p:nvGrpSpPr>
          <p:grpSpPr>
            <a:xfrm>
              <a:off x="6959089" y="3584897"/>
              <a:ext cx="1374117" cy="1025150"/>
              <a:chOff x="4679974" y="4038600"/>
              <a:chExt cx="1374117" cy="1025150"/>
            </a:xfrm>
          </p:grpSpPr>
          <p:grpSp>
            <p:nvGrpSpPr>
              <p:cNvPr id="85" name="Grupo 84"/>
              <p:cNvGrpSpPr/>
              <p:nvPr/>
            </p:nvGrpSpPr>
            <p:grpSpPr>
              <a:xfrm>
                <a:off x="4679974" y="4038600"/>
                <a:ext cx="1374117" cy="1025150"/>
                <a:chOff x="4725216" y="4114325"/>
                <a:chExt cx="1374117" cy="1025150"/>
              </a:xfrm>
            </p:grpSpPr>
            <p:sp>
              <p:nvSpPr>
                <p:cNvPr id="88" name="Rectángulo 87"/>
                <p:cNvSpPr/>
                <p:nvPr/>
              </p:nvSpPr>
              <p:spPr>
                <a:xfrm>
                  <a:off x="5713909" y="4946642"/>
                  <a:ext cx="284162" cy="19283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grpSp>
              <p:nvGrpSpPr>
                <p:cNvPr id="89" name="Grupo 88"/>
                <p:cNvGrpSpPr/>
                <p:nvPr/>
              </p:nvGrpSpPr>
              <p:grpSpPr>
                <a:xfrm>
                  <a:off x="4725216" y="4114325"/>
                  <a:ext cx="1374117" cy="1008463"/>
                  <a:chOff x="6531096" y="3250072"/>
                  <a:chExt cx="1452582" cy="1119664"/>
                </a:xfrm>
              </p:grpSpPr>
              <p:sp>
                <p:nvSpPr>
                  <p:cNvPr id="90" name="Freeform 34"/>
                  <p:cNvSpPr>
                    <a:spLocks/>
                  </p:cNvSpPr>
                  <p:nvPr/>
                </p:nvSpPr>
                <p:spPr bwMode="auto">
                  <a:xfrm>
                    <a:off x="6594463" y="3252256"/>
                    <a:ext cx="1254259" cy="804853"/>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1341980250 h 5006"/>
                      <a:gd name="T52" fmla="*/ 2147483647 w 9513"/>
                      <a:gd name="T53" fmla="*/ 0 h 5006"/>
                      <a:gd name="T54" fmla="*/ 2147483647 w 9513"/>
                      <a:gd name="T55" fmla="*/ 1341980250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800000"/>
                  </a:solidFill>
                  <a:ln>
                    <a:noFill/>
                  </a:ln>
                  <a:extLst>
                    <a:ext uri="{91240B29-F687-4F45-9708-019B960494DF}">
                      <a14:hiddenLine xmlns:a14="http://schemas.microsoft.com/office/drawing/2010/main" w="11176">
                        <a:solidFill>
                          <a:srgbClr val="000000"/>
                        </a:solidFill>
                        <a:prstDash val="solid"/>
                        <a:round/>
                        <a:headEnd/>
                        <a:tailEnd/>
                      </a14:hiddenLine>
                    </a:ext>
                  </a:extLst>
                </p:spPr>
                <p:txBody>
                  <a:bodyPr/>
                  <a:lstStyle/>
                  <a:p>
                    <a:endParaRPr lang="es-ES"/>
                  </a:p>
                </p:txBody>
              </p:sp>
              <p:sp>
                <p:nvSpPr>
                  <p:cNvPr id="91" name="Rectangle 48"/>
                  <p:cNvSpPr>
                    <a:spLocks noChangeArrowheads="1"/>
                  </p:cNvSpPr>
                  <p:nvPr/>
                </p:nvSpPr>
                <p:spPr bwMode="auto">
                  <a:xfrm>
                    <a:off x="6594461" y="3252256"/>
                    <a:ext cx="1072205" cy="822327"/>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baseline="-25000" dirty="0"/>
                  </a:p>
                </p:txBody>
              </p:sp>
              <p:sp>
                <p:nvSpPr>
                  <p:cNvPr id="92" name="Freeform 34"/>
                  <p:cNvSpPr>
                    <a:spLocks/>
                  </p:cNvSpPr>
                  <p:nvPr/>
                </p:nvSpPr>
                <p:spPr bwMode="auto">
                  <a:xfrm>
                    <a:off x="6597480" y="3250072"/>
                    <a:ext cx="1250236" cy="804853"/>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1341980250 h 5006"/>
                      <a:gd name="T52" fmla="*/ 2147483647 w 9513"/>
                      <a:gd name="T53" fmla="*/ 0 h 5006"/>
                      <a:gd name="T54" fmla="*/ 2147483647 w 9513"/>
                      <a:gd name="T55" fmla="*/ 1341980250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noFill/>
                  <a:ln w="11176">
                    <a:solidFill>
                      <a:schemeClr val="accent1">
                        <a:lumMod val="10000"/>
                      </a:schemeClr>
                    </a:solidFill>
                    <a:prstDash val="solid"/>
                    <a:round/>
                    <a:headEnd/>
                    <a:tailEnd/>
                  </a:ln>
                </p:spPr>
                <p:txBody>
                  <a:bodyPr/>
                  <a:lstStyle/>
                  <a:p>
                    <a:endParaRPr lang="es-ES"/>
                  </a:p>
                </p:txBody>
              </p:sp>
              <p:graphicFrame>
                <p:nvGraphicFramePr>
                  <p:cNvPr id="93" name="Object 9"/>
                  <p:cNvGraphicFramePr>
                    <a:graphicFrameLocks noChangeAspect="1"/>
                  </p:cNvGraphicFramePr>
                  <p:nvPr>
                    <p:extLst>
                      <p:ext uri="{D42A27DB-BD31-4B8C-83A1-F6EECF244321}">
                        <p14:modId xmlns:p14="http://schemas.microsoft.com/office/powerpoint/2010/main" val="1760404154"/>
                      </p:ext>
                    </p:extLst>
                  </p:nvPr>
                </p:nvGraphicFramePr>
                <p:xfrm>
                  <a:off x="7698025" y="3825806"/>
                  <a:ext cx="285653" cy="131048"/>
                </p:xfrm>
                <a:graphic>
                  <a:graphicData uri="http://schemas.openxmlformats.org/presentationml/2006/ole">
                    <mc:AlternateContent xmlns:mc="http://schemas.openxmlformats.org/markup-compatibility/2006">
                      <mc:Choice xmlns:v="urn:schemas-microsoft-com:vml" Requires="v">
                        <p:oleObj name="Equation" r:id="rId34" imgW="558720" imgH="228600" progId="Equation.DSMT4">
                          <p:embed/>
                        </p:oleObj>
                      </mc:Choice>
                      <mc:Fallback>
                        <p:oleObj name="Equation" r:id="rId34" imgW="558720" imgH="228600" progId="Equation.DSMT4">
                          <p:embed/>
                          <p:pic>
                            <p:nvPicPr>
                              <p:cNvPr id="39" name="Object 9"/>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7698025" y="3825806"/>
                                <a:ext cx="285653" cy="1310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 name="Object 29"/>
                  <p:cNvGraphicFramePr>
                    <a:graphicFrameLocks noChangeAspect="1"/>
                  </p:cNvGraphicFramePr>
                  <p:nvPr>
                    <p:extLst>
                      <p:ext uri="{D42A27DB-BD31-4B8C-83A1-F6EECF244321}">
                        <p14:modId xmlns:p14="http://schemas.microsoft.com/office/powerpoint/2010/main" val="1097040324"/>
                      </p:ext>
                    </p:extLst>
                  </p:nvPr>
                </p:nvGraphicFramePr>
                <p:xfrm>
                  <a:off x="7616823" y="3867673"/>
                  <a:ext cx="223749" cy="502063"/>
                </p:xfrm>
                <a:graphic>
                  <a:graphicData uri="http://schemas.openxmlformats.org/presentationml/2006/ole">
                    <mc:AlternateContent xmlns:mc="http://schemas.openxmlformats.org/markup-compatibility/2006">
                      <mc:Choice xmlns:v="urn:schemas-microsoft-com:vml" Requires="v">
                        <p:oleObj name="Equation" r:id="rId36" imgW="215640" imgH="444240" progId="Equation.DSMT4">
                          <p:embed/>
                        </p:oleObj>
                      </mc:Choice>
                      <mc:Fallback>
                        <p:oleObj name="Equation" r:id="rId36" imgW="215640" imgH="444240" progId="Equation.DSMT4">
                          <p:embed/>
                          <p:pic>
                            <p:nvPicPr>
                              <p:cNvPr id="41" name="Object 29"/>
                              <p:cNvPicPr>
                                <a:picLocks noChangeAspect="1" noChangeArrowheads="1"/>
                              </p:cNvPicPr>
                              <p:nvPr/>
                            </p:nvPicPr>
                            <p:blipFill>
                              <a:blip r:embed="rId37"/>
                              <a:srcRect/>
                              <a:stretch>
                                <a:fillRect/>
                              </a:stretch>
                            </p:blipFill>
                            <p:spPr bwMode="auto">
                              <a:xfrm>
                                <a:off x="7616823" y="3867673"/>
                                <a:ext cx="223749" cy="502063"/>
                              </a:xfrm>
                              <a:prstGeom prst="rect">
                                <a:avLst/>
                              </a:prstGeom>
                              <a:noFill/>
                              <a:ln>
                                <a:noFill/>
                              </a:ln>
                            </p:spPr>
                          </p:pic>
                        </p:oleObj>
                      </mc:Fallback>
                    </mc:AlternateContent>
                  </a:graphicData>
                </a:graphic>
              </p:graphicFrame>
              <p:cxnSp>
                <p:nvCxnSpPr>
                  <p:cNvPr id="95" name="Conector recto 94"/>
                  <p:cNvCxnSpPr/>
                  <p:nvPr/>
                </p:nvCxnSpPr>
                <p:spPr>
                  <a:xfrm>
                    <a:off x="6531096" y="4054526"/>
                    <a:ext cx="129776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Conector recto 95"/>
                  <p:cNvCxnSpPr/>
                  <p:nvPr/>
                </p:nvCxnSpPr>
                <p:spPr>
                  <a:xfrm>
                    <a:off x="7624762" y="3800380"/>
                    <a:ext cx="790" cy="2660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86" name="Conector recto 85"/>
              <p:cNvCxnSpPr/>
              <p:nvPr/>
            </p:nvCxnSpPr>
            <p:spPr>
              <a:xfrm>
                <a:off x="5334000" y="4040585"/>
                <a:ext cx="0" cy="777153"/>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20" name="CuadroTexto 19"/>
            <p:cNvSpPr txBox="1"/>
            <p:nvPr/>
          </p:nvSpPr>
          <p:spPr>
            <a:xfrm>
              <a:off x="7485134" y="4315359"/>
              <a:ext cx="268216" cy="246221"/>
            </a:xfrm>
            <a:prstGeom prst="rect">
              <a:avLst/>
            </a:prstGeom>
            <a:noFill/>
          </p:spPr>
          <p:txBody>
            <a:bodyPr wrap="none" rtlCol="0">
              <a:spAutoFit/>
            </a:bodyPr>
            <a:lstStyle/>
            <a:p>
              <a:pPr algn="ctr"/>
              <a:r>
                <a:rPr lang="es-ES" sz="1000" dirty="0"/>
                <a:t>0</a:t>
              </a:r>
              <a:endParaRPr lang="es-ES" dirty="0"/>
            </a:p>
          </p:txBody>
        </p:sp>
      </p:grpSp>
    </p:spTree>
    <p:extLst>
      <p:ext uri="{BB962C8B-B14F-4D97-AF65-F5344CB8AC3E}">
        <p14:creationId xmlns:p14="http://schemas.microsoft.com/office/powerpoint/2010/main" val="22255670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7" name="Object 15"/>
          <p:cNvGraphicFramePr>
            <a:graphicFrameLocks noChangeAspect="1"/>
          </p:cNvGraphicFramePr>
          <p:nvPr>
            <p:extLst>
              <p:ext uri="{D42A27DB-BD31-4B8C-83A1-F6EECF244321}">
                <p14:modId xmlns:p14="http://schemas.microsoft.com/office/powerpoint/2010/main" val="2773511263"/>
              </p:ext>
            </p:extLst>
          </p:nvPr>
        </p:nvGraphicFramePr>
        <p:xfrm>
          <a:off x="238414" y="1295400"/>
          <a:ext cx="7256463" cy="642937"/>
        </p:xfrm>
        <a:graphic>
          <a:graphicData uri="http://schemas.openxmlformats.org/presentationml/2006/ole">
            <mc:AlternateContent xmlns:mc="http://schemas.openxmlformats.org/markup-compatibility/2006">
              <mc:Choice xmlns:v="urn:schemas-microsoft-com:vml" Requires="v">
                <p:oleObj name="Equation" r:id="rId2" imgW="5219640" imgH="482400" progId="Equation.DSMT4">
                  <p:embed/>
                </p:oleObj>
              </mc:Choice>
              <mc:Fallback>
                <p:oleObj name="Equation" r:id="rId2" imgW="5219640" imgH="482400" progId="Equation.DSMT4">
                  <p:embed/>
                  <p:pic>
                    <p:nvPicPr>
                      <p:cNvPr id="16387" name="Object 15"/>
                      <p:cNvPicPr>
                        <a:picLocks noChangeAspect="1" noChangeArrowheads="1"/>
                      </p:cNvPicPr>
                      <p:nvPr/>
                    </p:nvPicPr>
                    <p:blipFill>
                      <a:blip r:embed="rId3"/>
                      <a:srcRect/>
                      <a:stretch>
                        <a:fillRect/>
                      </a:stretch>
                    </p:blipFill>
                    <p:spPr bwMode="auto">
                      <a:xfrm>
                        <a:off x="238414" y="1295400"/>
                        <a:ext cx="7256463" cy="642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8" name="Object 18"/>
          <p:cNvGraphicFramePr>
            <a:graphicFrameLocks noChangeAspect="1"/>
          </p:cNvGraphicFramePr>
          <p:nvPr>
            <p:extLst>
              <p:ext uri="{D42A27DB-BD31-4B8C-83A1-F6EECF244321}">
                <p14:modId xmlns:p14="http://schemas.microsoft.com/office/powerpoint/2010/main" val="2022793399"/>
              </p:ext>
            </p:extLst>
          </p:nvPr>
        </p:nvGraphicFramePr>
        <p:xfrm>
          <a:off x="238845" y="3339539"/>
          <a:ext cx="2590800" cy="506412"/>
        </p:xfrm>
        <a:graphic>
          <a:graphicData uri="http://schemas.openxmlformats.org/presentationml/2006/ole">
            <mc:AlternateContent xmlns:mc="http://schemas.openxmlformats.org/markup-compatibility/2006">
              <mc:Choice xmlns:v="urn:schemas-microsoft-com:vml" Requires="v">
                <p:oleObj name="Equation" r:id="rId4" imgW="2146300" imgH="419100" progId="Equation.DSMT4">
                  <p:embed/>
                </p:oleObj>
              </mc:Choice>
              <mc:Fallback>
                <p:oleObj name="Equation" r:id="rId4" imgW="2146300" imgH="419100" progId="Equation.DSMT4">
                  <p:embed/>
                  <p:pic>
                    <p:nvPicPr>
                      <p:cNvPr id="16388"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8845" y="3339539"/>
                        <a:ext cx="2590800"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9" name="Object 22"/>
          <p:cNvGraphicFramePr>
            <a:graphicFrameLocks noChangeAspect="1"/>
          </p:cNvGraphicFramePr>
          <p:nvPr>
            <p:extLst>
              <p:ext uri="{D42A27DB-BD31-4B8C-83A1-F6EECF244321}">
                <p14:modId xmlns:p14="http://schemas.microsoft.com/office/powerpoint/2010/main" val="2872443972"/>
              </p:ext>
            </p:extLst>
          </p:nvPr>
        </p:nvGraphicFramePr>
        <p:xfrm>
          <a:off x="2971800" y="3335337"/>
          <a:ext cx="2851150" cy="768350"/>
        </p:xfrm>
        <a:graphic>
          <a:graphicData uri="http://schemas.openxmlformats.org/presentationml/2006/ole">
            <mc:AlternateContent xmlns:mc="http://schemas.openxmlformats.org/markup-compatibility/2006">
              <mc:Choice xmlns:v="urn:schemas-microsoft-com:vml" Requires="v">
                <p:oleObj name="Equation" r:id="rId6" imgW="2552700" imgH="685800" progId="Equation.DSMT4">
                  <p:embed/>
                </p:oleObj>
              </mc:Choice>
              <mc:Fallback>
                <p:oleObj name="Equation" r:id="rId6" imgW="2552700" imgH="685800" progId="Equation.DSMT4">
                  <p:embed/>
                  <p:pic>
                    <p:nvPicPr>
                      <p:cNvPr id="16389"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71800" y="3335337"/>
                        <a:ext cx="2851150" cy="76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35" name="Object 24"/>
          <p:cNvGraphicFramePr>
            <a:graphicFrameLocks noChangeAspect="1"/>
          </p:cNvGraphicFramePr>
          <p:nvPr>
            <p:extLst>
              <p:ext uri="{D42A27DB-BD31-4B8C-83A1-F6EECF244321}">
                <p14:modId xmlns:p14="http://schemas.microsoft.com/office/powerpoint/2010/main" val="535500133"/>
              </p:ext>
            </p:extLst>
          </p:nvPr>
        </p:nvGraphicFramePr>
        <p:xfrm>
          <a:off x="238413" y="805872"/>
          <a:ext cx="4857751" cy="509411"/>
        </p:xfrm>
        <a:graphic>
          <a:graphicData uri="http://schemas.openxmlformats.org/presentationml/2006/ole">
            <mc:AlternateContent xmlns:mc="http://schemas.openxmlformats.org/markup-compatibility/2006">
              <mc:Choice xmlns:v="urn:schemas-microsoft-com:vml" Requires="v">
                <p:oleObj name="Equation" r:id="rId8" imgW="4000320" imgH="457200" progId="Equation.DSMT4">
                  <p:embed/>
                </p:oleObj>
              </mc:Choice>
              <mc:Fallback>
                <p:oleObj name="Equation" r:id="rId8" imgW="4000320" imgH="457200" progId="Equation.DSMT4">
                  <p:embed/>
                  <p:pic>
                    <p:nvPicPr>
                      <p:cNvPr id="16435" name="Object 24"/>
                      <p:cNvPicPr>
                        <a:picLocks noChangeAspect="1" noChangeArrowheads="1"/>
                      </p:cNvPicPr>
                      <p:nvPr/>
                    </p:nvPicPr>
                    <p:blipFill>
                      <a:blip r:embed="rId9"/>
                      <a:srcRect/>
                      <a:stretch>
                        <a:fillRect/>
                      </a:stretch>
                    </p:blipFill>
                    <p:spPr bwMode="auto">
                      <a:xfrm>
                        <a:off x="238413" y="805872"/>
                        <a:ext cx="4857751" cy="509411"/>
                      </a:xfrm>
                      <a:prstGeom prst="rect">
                        <a:avLst/>
                      </a:prstGeom>
                      <a:noFill/>
                      <a:ln>
                        <a:noFill/>
                      </a:ln>
                      <a:effectLst/>
                    </p:spPr>
                  </p:pic>
                </p:oleObj>
              </mc:Fallback>
            </mc:AlternateContent>
          </a:graphicData>
        </a:graphic>
      </p:graphicFrame>
      <p:graphicFrame>
        <p:nvGraphicFramePr>
          <p:cNvPr id="16432" name="Object 17">
            <a:hlinkClick r:id="rId10" action="ppaction://hlinksldjump"/>
          </p:cNvPr>
          <p:cNvGraphicFramePr>
            <a:graphicFrameLocks noChangeAspect="1"/>
          </p:cNvGraphicFramePr>
          <p:nvPr>
            <p:extLst>
              <p:ext uri="{D42A27DB-BD31-4B8C-83A1-F6EECF244321}">
                <p14:modId xmlns:p14="http://schemas.microsoft.com/office/powerpoint/2010/main" val="2192716328"/>
              </p:ext>
            </p:extLst>
          </p:nvPr>
        </p:nvGraphicFramePr>
        <p:xfrm>
          <a:off x="2501106" y="2629566"/>
          <a:ext cx="2820988" cy="568326"/>
        </p:xfrm>
        <a:graphic>
          <a:graphicData uri="http://schemas.openxmlformats.org/presentationml/2006/ole">
            <mc:AlternateContent xmlns:mc="http://schemas.openxmlformats.org/markup-compatibility/2006">
              <mc:Choice xmlns:v="urn:schemas-microsoft-com:vml" Requires="v">
                <p:oleObj name="Equation" r:id="rId11" imgW="2336800" imgH="469900" progId="Equation.DSMT4">
                  <p:embed/>
                </p:oleObj>
              </mc:Choice>
              <mc:Fallback>
                <p:oleObj name="Equation" r:id="rId11" imgW="2336800" imgH="469900" progId="Equation.DSMT4">
                  <p:embed/>
                  <p:pic>
                    <p:nvPicPr>
                      <p:cNvPr id="16432" name="Object 17">
                        <a:hlinkClick r:id="" action="ppaction://noaction"/>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01106" y="2629566"/>
                        <a:ext cx="2820988" cy="568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33" name="Object 20"/>
          <p:cNvGraphicFramePr>
            <a:graphicFrameLocks noChangeAspect="1"/>
          </p:cNvGraphicFramePr>
          <p:nvPr>
            <p:extLst>
              <p:ext uri="{D42A27DB-BD31-4B8C-83A1-F6EECF244321}">
                <p14:modId xmlns:p14="http://schemas.microsoft.com/office/powerpoint/2010/main" val="1689696219"/>
              </p:ext>
            </p:extLst>
          </p:nvPr>
        </p:nvGraphicFramePr>
        <p:xfrm>
          <a:off x="169435" y="2600904"/>
          <a:ext cx="2257425" cy="684212"/>
        </p:xfrm>
        <a:graphic>
          <a:graphicData uri="http://schemas.openxmlformats.org/presentationml/2006/ole">
            <mc:AlternateContent xmlns:mc="http://schemas.openxmlformats.org/markup-compatibility/2006">
              <mc:Choice xmlns:v="urn:schemas-microsoft-com:vml" Requires="v">
                <p:oleObj name="Equation" r:id="rId13" imgW="1676160" imgH="507960" progId="Equation.DSMT4">
                  <p:embed/>
                </p:oleObj>
              </mc:Choice>
              <mc:Fallback>
                <p:oleObj name="Equation" r:id="rId13" imgW="1676160" imgH="507960" progId="Equation.DSMT4">
                  <p:embed/>
                  <p:pic>
                    <p:nvPicPr>
                      <p:cNvPr id="16433" name="Object 20"/>
                      <p:cNvPicPr>
                        <a:picLocks noChangeAspect="1" noChangeArrowheads="1"/>
                      </p:cNvPicPr>
                      <p:nvPr/>
                    </p:nvPicPr>
                    <p:blipFill>
                      <a:blip r:embed="rId14"/>
                      <a:srcRect/>
                      <a:stretch>
                        <a:fillRect/>
                      </a:stretch>
                    </p:blipFill>
                    <p:spPr bwMode="auto">
                      <a:xfrm>
                        <a:off x="169435" y="2600904"/>
                        <a:ext cx="2257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6392" name="Group 124"/>
          <p:cNvGrpSpPr>
            <a:grpSpLocks/>
          </p:cNvGrpSpPr>
          <p:nvPr/>
        </p:nvGrpSpPr>
        <p:grpSpPr bwMode="auto">
          <a:xfrm>
            <a:off x="5858094" y="3421396"/>
            <a:ext cx="1828800" cy="565150"/>
            <a:chOff x="4392" y="2402"/>
            <a:chExt cx="1152" cy="356"/>
          </a:xfrm>
        </p:grpSpPr>
        <p:sp>
          <p:nvSpPr>
            <p:cNvPr id="16430" name="Text Box 19">
              <a:hlinkClick r:id="rId15" action="ppaction://hlinksldjump"/>
            </p:cNvPr>
            <p:cNvSpPr txBox="1">
              <a:spLocks noChangeArrowheads="1"/>
            </p:cNvSpPr>
            <p:nvPr/>
          </p:nvSpPr>
          <p:spPr bwMode="auto">
            <a:xfrm>
              <a:off x="4392" y="2402"/>
              <a:ext cx="1152" cy="198"/>
            </a:xfrm>
            <a:prstGeom prst="rect">
              <a:avLst/>
            </a:prstGeom>
            <a:noFill/>
            <a:ln w="9525">
              <a:solidFill>
                <a:srgbClr val="96969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a:spcBef>
                  <a:spcPct val="50000"/>
                </a:spcBef>
              </a:pPr>
              <a:r>
                <a:rPr lang="es-ES_tradnl" altLang="es-ES" sz="1400">
                  <a:solidFill>
                    <a:srgbClr val="000099"/>
                  </a:solidFill>
                  <a:latin typeface="Times New Roman" pitchFamily="18" charset="0"/>
                </a:rPr>
                <a:t>0.30 &lt; P &lt; 0.40</a:t>
              </a:r>
            </a:p>
          </p:txBody>
        </p:sp>
        <p:graphicFrame>
          <p:nvGraphicFramePr>
            <p:cNvPr id="16431" name="Object 36">
              <a:hlinkClick r:id="rId10" action="ppaction://hlinksldjump"/>
            </p:cNvPr>
            <p:cNvGraphicFramePr>
              <a:graphicFrameLocks noChangeAspect="1"/>
            </p:cNvGraphicFramePr>
            <p:nvPr/>
          </p:nvGraphicFramePr>
          <p:xfrm>
            <a:off x="4603" y="2615"/>
            <a:ext cx="730" cy="143"/>
          </p:xfrm>
          <a:graphic>
            <a:graphicData uri="http://schemas.openxmlformats.org/presentationml/2006/ole">
              <mc:AlternateContent xmlns:mc="http://schemas.openxmlformats.org/markup-compatibility/2006">
                <mc:Choice xmlns:v="urn:schemas-microsoft-com:vml" Requires="v">
                  <p:oleObj name="Equation" r:id="rId16" imgW="1040948" imgH="203112" progId="Equation.DSMT4">
                    <p:embed/>
                  </p:oleObj>
                </mc:Choice>
                <mc:Fallback>
                  <p:oleObj name="Equation" r:id="rId16" imgW="1040948" imgH="203112" progId="Equation.DSMT4">
                    <p:embed/>
                    <p:pic>
                      <p:nvPicPr>
                        <p:cNvPr id="16431" name="Object 36">
                          <a:hlinkClick r:id="" action="ppaction://noaction"/>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03" y="2615"/>
                          <a:ext cx="730" cy="1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6393" name="Text Box 37"/>
          <p:cNvSpPr txBox="1">
            <a:spLocks noChangeArrowheads="1"/>
          </p:cNvSpPr>
          <p:nvPr/>
        </p:nvSpPr>
        <p:spPr bwMode="auto">
          <a:xfrm>
            <a:off x="136237" y="4135707"/>
            <a:ext cx="781335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s-ES"/>
            </a:defPPr>
            <a:lvl1pPr eaLnBrk="1" hangingPunct="1">
              <a:defRPr b="1">
                <a:solidFill>
                  <a:schemeClr val="accent5">
                    <a:lumMod val="25000"/>
                  </a:schemeClr>
                </a:solidFill>
                <a:latin typeface="Arial" pitchFamily="34" charset="0"/>
              </a:defRPr>
            </a:lvl1pPr>
            <a:lvl2pPr marL="742950" indent="-285750" eaLnBrk="0" hangingPunct="0">
              <a:defRPr>
                <a:latin typeface="Arial" pitchFamily="34" charset="0"/>
              </a:defRPr>
            </a:lvl2pPr>
            <a:lvl3pPr marL="1143000" indent="-228600" eaLnBrk="0" hangingPunct="0">
              <a:defRPr>
                <a:latin typeface="Arial" pitchFamily="34" charset="0"/>
              </a:defRPr>
            </a:lvl3pPr>
            <a:lvl4pPr marL="1600200" indent="-228600" eaLnBrk="0" hangingPunct="0">
              <a:defRPr>
                <a:latin typeface="Arial" pitchFamily="34" charset="0"/>
              </a:defRPr>
            </a:lvl4pPr>
            <a:lvl5pPr marL="2057400" indent="-228600" eaLnBrk="0" hangingPunct="0">
              <a:defRPr>
                <a:latin typeface="Arial" pitchFamily="34" charset="0"/>
              </a:defRPr>
            </a:lvl5pPr>
            <a:lvl6pPr marL="2514600" indent="-228600" eaLnBrk="0" fontAlgn="base" hangingPunct="0">
              <a:spcBef>
                <a:spcPct val="0"/>
              </a:spcBef>
              <a:spcAft>
                <a:spcPct val="0"/>
              </a:spcAft>
              <a:defRPr>
                <a:latin typeface="Arial" pitchFamily="34" charset="0"/>
              </a:defRPr>
            </a:lvl6pPr>
            <a:lvl7pPr marL="2971800" indent="-228600" eaLnBrk="0" fontAlgn="base" hangingPunct="0">
              <a:spcBef>
                <a:spcPct val="0"/>
              </a:spcBef>
              <a:spcAft>
                <a:spcPct val="0"/>
              </a:spcAft>
              <a:defRPr>
                <a:latin typeface="Arial" pitchFamily="34" charset="0"/>
              </a:defRPr>
            </a:lvl7pPr>
            <a:lvl8pPr marL="3429000" indent="-228600" eaLnBrk="0" fontAlgn="base" hangingPunct="0">
              <a:spcBef>
                <a:spcPct val="0"/>
              </a:spcBef>
              <a:spcAft>
                <a:spcPct val="0"/>
              </a:spcAft>
              <a:defRPr>
                <a:latin typeface="Arial" pitchFamily="34" charset="0"/>
              </a:defRPr>
            </a:lvl8pPr>
            <a:lvl9pPr marL="3886200" indent="-228600" eaLnBrk="0" fontAlgn="base" hangingPunct="0">
              <a:spcBef>
                <a:spcPct val="0"/>
              </a:spcBef>
              <a:spcAft>
                <a:spcPct val="0"/>
              </a:spcAft>
              <a:defRPr>
                <a:latin typeface="Arial" pitchFamily="34" charset="0"/>
              </a:defRPr>
            </a:lvl9pPr>
          </a:lstStyle>
          <a:p>
            <a:r>
              <a:rPr lang="es-ES" altLang="es-ES" dirty="0"/>
              <a:t>¿Es fiable el resultado si se desea detectar una diferencia de </a:t>
            </a:r>
            <a:r>
              <a:rPr lang="es-ES" altLang="es-ES" dirty="0">
                <a:latin typeface="Symbol" panose="05050102010706020507" pitchFamily="18" charset="2"/>
              </a:rPr>
              <a:t>d</a:t>
            </a:r>
            <a:r>
              <a:rPr lang="es-ES" altLang="es-ES" dirty="0"/>
              <a:t>=0.5 unidades con una potencia del 90%?</a:t>
            </a:r>
          </a:p>
        </p:txBody>
      </p:sp>
      <p:grpSp>
        <p:nvGrpSpPr>
          <p:cNvPr id="16394" name="Group 123"/>
          <p:cNvGrpSpPr>
            <a:grpSpLocks/>
          </p:cNvGrpSpPr>
          <p:nvPr/>
        </p:nvGrpSpPr>
        <p:grpSpPr bwMode="auto">
          <a:xfrm>
            <a:off x="219364" y="1938337"/>
            <a:ext cx="7739064" cy="649288"/>
            <a:chOff x="192" y="1392"/>
            <a:chExt cx="4875" cy="409"/>
          </a:xfrm>
        </p:grpSpPr>
        <p:graphicFrame>
          <p:nvGraphicFramePr>
            <p:cNvPr id="16427" name="Object 16"/>
            <p:cNvGraphicFramePr>
              <a:graphicFrameLocks noChangeAspect="1"/>
            </p:cNvGraphicFramePr>
            <p:nvPr>
              <p:extLst>
                <p:ext uri="{D42A27DB-BD31-4B8C-83A1-F6EECF244321}">
                  <p14:modId xmlns:p14="http://schemas.microsoft.com/office/powerpoint/2010/main" val="2642982078"/>
                </p:ext>
              </p:extLst>
            </p:nvPr>
          </p:nvGraphicFramePr>
          <p:xfrm>
            <a:off x="192" y="1392"/>
            <a:ext cx="2699" cy="409"/>
          </p:xfrm>
          <a:graphic>
            <a:graphicData uri="http://schemas.openxmlformats.org/presentationml/2006/ole">
              <mc:AlternateContent xmlns:mc="http://schemas.openxmlformats.org/markup-compatibility/2006">
                <mc:Choice xmlns:v="urn:schemas-microsoft-com:vml" Requires="v">
                  <p:oleObj name="Equation" r:id="rId18" imgW="3098520" imgH="482400" progId="Equation.DSMT4">
                    <p:embed/>
                  </p:oleObj>
                </mc:Choice>
                <mc:Fallback>
                  <p:oleObj name="Equation" r:id="rId18" imgW="3098520" imgH="482400" progId="Equation.DSMT4">
                    <p:embed/>
                    <p:pic>
                      <p:nvPicPr>
                        <p:cNvPr id="16427" name="Object 16"/>
                        <p:cNvPicPr>
                          <a:picLocks noChangeAspect="1" noChangeArrowheads="1"/>
                        </p:cNvPicPr>
                        <p:nvPr/>
                      </p:nvPicPr>
                      <p:blipFill>
                        <a:blip r:embed="rId19"/>
                        <a:srcRect/>
                        <a:stretch>
                          <a:fillRect/>
                        </a:stretch>
                      </p:blipFill>
                      <p:spPr bwMode="auto">
                        <a:xfrm>
                          <a:off x="192" y="1392"/>
                          <a:ext cx="2699" cy="4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28" name="Object 38">
              <a:hlinkClick r:id="rId10" action="ppaction://hlinksldjump"/>
            </p:cNvPr>
            <p:cNvGraphicFramePr>
              <a:graphicFrameLocks noChangeAspect="1"/>
            </p:cNvGraphicFramePr>
            <p:nvPr>
              <p:extLst>
                <p:ext uri="{D42A27DB-BD31-4B8C-83A1-F6EECF244321}">
                  <p14:modId xmlns:p14="http://schemas.microsoft.com/office/powerpoint/2010/main" val="1118831374"/>
                </p:ext>
              </p:extLst>
            </p:nvPr>
          </p:nvGraphicFramePr>
          <p:xfrm>
            <a:off x="3183" y="1445"/>
            <a:ext cx="1884" cy="302"/>
          </p:xfrm>
          <a:graphic>
            <a:graphicData uri="http://schemas.openxmlformats.org/presentationml/2006/ole">
              <mc:AlternateContent xmlns:mc="http://schemas.openxmlformats.org/markup-compatibility/2006">
                <mc:Choice xmlns:v="urn:schemas-microsoft-com:vml" Requires="v">
                  <p:oleObj name="Equation" r:id="rId20" imgW="2692080" imgH="431640" progId="Equation.DSMT4">
                    <p:embed/>
                  </p:oleObj>
                </mc:Choice>
                <mc:Fallback>
                  <p:oleObj name="Equation" r:id="rId20" imgW="2692080" imgH="431640" progId="Equation.DSMT4">
                    <p:embed/>
                    <p:pic>
                      <p:nvPicPr>
                        <p:cNvPr id="16428" name="Object 38">
                          <a:hlinkClick r:id="" action="ppaction://noaction"/>
                        </p:cNvPr>
                        <p:cNvPicPr>
                          <a:picLocks noChangeAspect="1" noChangeArrowheads="1"/>
                        </p:cNvPicPr>
                        <p:nvPr/>
                      </p:nvPicPr>
                      <p:blipFill>
                        <a:blip r:embed="rId21"/>
                        <a:srcRect/>
                        <a:stretch>
                          <a:fillRect/>
                        </a:stretch>
                      </p:blipFill>
                      <p:spPr bwMode="auto">
                        <a:xfrm>
                          <a:off x="3183" y="1445"/>
                          <a:ext cx="1884"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29" name="Text Box 40"/>
            <p:cNvSpPr txBox="1">
              <a:spLocks noChangeArrowheads="1"/>
            </p:cNvSpPr>
            <p:nvPr/>
          </p:nvSpPr>
          <p:spPr bwMode="auto">
            <a:xfrm>
              <a:off x="3068" y="1440"/>
              <a:ext cx="16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 altLang="es-ES" sz="1400" dirty="0"/>
                <a:t>*</a:t>
              </a:r>
            </a:p>
          </p:txBody>
        </p:sp>
      </p:grpSp>
      <p:grpSp>
        <p:nvGrpSpPr>
          <p:cNvPr id="16395" name="Group 115"/>
          <p:cNvGrpSpPr>
            <a:grpSpLocks/>
          </p:cNvGrpSpPr>
          <p:nvPr/>
        </p:nvGrpSpPr>
        <p:grpSpPr bwMode="auto">
          <a:xfrm>
            <a:off x="228600" y="4495800"/>
            <a:ext cx="2133600" cy="1220787"/>
            <a:chOff x="305" y="3263"/>
            <a:chExt cx="1344" cy="769"/>
          </a:xfrm>
        </p:grpSpPr>
        <p:graphicFrame>
          <p:nvGraphicFramePr>
            <p:cNvPr id="16425" name="Object 41"/>
            <p:cNvGraphicFramePr>
              <a:graphicFrameLocks noChangeAspect="1"/>
            </p:cNvGraphicFramePr>
            <p:nvPr>
              <p:extLst>
                <p:ext uri="{D42A27DB-BD31-4B8C-83A1-F6EECF244321}">
                  <p14:modId xmlns:p14="http://schemas.microsoft.com/office/powerpoint/2010/main" val="784475472"/>
                </p:ext>
              </p:extLst>
            </p:nvPr>
          </p:nvGraphicFramePr>
          <p:xfrm>
            <a:off x="380" y="3294"/>
            <a:ext cx="1194" cy="706"/>
          </p:xfrm>
          <a:graphic>
            <a:graphicData uri="http://schemas.openxmlformats.org/presentationml/2006/ole">
              <mc:AlternateContent xmlns:mc="http://schemas.openxmlformats.org/markup-compatibility/2006">
                <mc:Choice xmlns:v="urn:schemas-microsoft-com:vml" Requires="v">
                  <p:oleObj name="Equation" r:id="rId22" imgW="1460160" imgH="863280" progId="Equation.DSMT4">
                    <p:embed/>
                  </p:oleObj>
                </mc:Choice>
                <mc:Fallback>
                  <p:oleObj name="Equation" r:id="rId22" imgW="1460160" imgH="863280" progId="Equation.DSMT4">
                    <p:embed/>
                    <p:pic>
                      <p:nvPicPr>
                        <p:cNvPr id="16425" name="Object 41"/>
                        <p:cNvPicPr>
                          <a:picLocks noChangeAspect="1" noChangeArrowheads="1"/>
                        </p:cNvPicPr>
                        <p:nvPr/>
                      </p:nvPicPr>
                      <p:blipFill>
                        <a:blip r:embed="rId23"/>
                        <a:srcRect/>
                        <a:stretch>
                          <a:fillRect/>
                        </a:stretch>
                      </p:blipFill>
                      <p:spPr bwMode="auto">
                        <a:xfrm>
                          <a:off x="380" y="3294"/>
                          <a:ext cx="1194" cy="7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26" name="AutoShape 42"/>
            <p:cNvSpPr>
              <a:spLocks noChangeArrowheads="1"/>
            </p:cNvSpPr>
            <p:nvPr/>
          </p:nvSpPr>
          <p:spPr bwMode="auto">
            <a:xfrm>
              <a:off x="305" y="3263"/>
              <a:ext cx="1344" cy="769"/>
            </a:xfrm>
            <a:prstGeom prst="roundRect">
              <a:avLst>
                <a:gd name="adj" fmla="val 10940"/>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aphicFrame>
        <p:nvGraphicFramePr>
          <p:cNvPr id="16398" name="Object 43"/>
          <p:cNvGraphicFramePr>
            <a:graphicFrameLocks noChangeAspect="1"/>
          </p:cNvGraphicFramePr>
          <p:nvPr>
            <p:extLst>
              <p:ext uri="{D42A27DB-BD31-4B8C-83A1-F6EECF244321}">
                <p14:modId xmlns:p14="http://schemas.microsoft.com/office/powerpoint/2010/main" val="876486376"/>
              </p:ext>
            </p:extLst>
          </p:nvPr>
        </p:nvGraphicFramePr>
        <p:xfrm>
          <a:off x="2490787" y="4767983"/>
          <a:ext cx="3873500" cy="593725"/>
        </p:xfrm>
        <a:graphic>
          <a:graphicData uri="http://schemas.openxmlformats.org/presentationml/2006/ole">
            <mc:AlternateContent xmlns:mc="http://schemas.openxmlformats.org/markup-compatibility/2006">
              <mc:Choice xmlns:v="urn:schemas-microsoft-com:vml" Requires="v">
                <p:oleObj name="Equation" r:id="rId24" imgW="2984400" imgH="457200" progId="Equation.DSMT4">
                  <p:embed/>
                </p:oleObj>
              </mc:Choice>
              <mc:Fallback>
                <p:oleObj name="Equation" r:id="rId24" imgW="2984400" imgH="457200" progId="Equation.DSMT4">
                  <p:embed/>
                  <p:pic>
                    <p:nvPicPr>
                      <p:cNvPr id="16398" name="Object 43"/>
                      <p:cNvPicPr>
                        <a:picLocks noChangeAspect="1" noChangeArrowheads="1"/>
                      </p:cNvPicPr>
                      <p:nvPr/>
                    </p:nvPicPr>
                    <p:blipFill>
                      <a:blip r:embed="rId25"/>
                      <a:srcRect/>
                      <a:stretch>
                        <a:fillRect/>
                      </a:stretch>
                    </p:blipFill>
                    <p:spPr bwMode="auto">
                      <a:xfrm>
                        <a:off x="2490787" y="4767983"/>
                        <a:ext cx="3873500" cy="59372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9" name="Object 28"/>
          <p:cNvGraphicFramePr>
            <a:graphicFrameLocks noChangeAspect="1"/>
          </p:cNvGraphicFramePr>
          <p:nvPr>
            <p:extLst>
              <p:ext uri="{D42A27DB-BD31-4B8C-83A1-F6EECF244321}">
                <p14:modId xmlns:p14="http://schemas.microsoft.com/office/powerpoint/2010/main" val="4175808102"/>
              </p:ext>
            </p:extLst>
          </p:nvPr>
        </p:nvGraphicFramePr>
        <p:xfrm>
          <a:off x="2476500" y="4419600"/>
          <a:ext cx="5753100" cy="379413"/>
        </p:xfrm>
        <a:graphic>
          <a:graphicData uri="http://schemas.openxmlformats.org/presentationml/2006/ole">
            <mc:AlternateContent xmlns:mc="http://schemas.openxmlformats.org/markup-compatibility/2006">
              <mc:Choice xmlns:v="urn:schemas-microsoft-com:vml" Requires="v">
                <p:oleObj name="Equation" r:id="rId26" imgW="4431960" imgH="291960" progId="Equation.DSMT4">
                  <p:embed/>
                </p:oleObj>
              </mc:Choice>
              <mc:Fallback>
                <p:oleObj name="Equation" r:id="rId26" imgW="4431960" imgH="291960" progId="Equation.DSMT4">
                  <p:embed/>
                  <p:pic>
                    <p:nvPicPr>
                      <p:cNvPr id="16399" name="Object 28"/>
                      <p:cNvPicPr>
                        <a:picLocks noChangeAspect="1" noChangeArrowheads="1"/>
                      </p:cNvPicPr>
                      <p:nvPr/>
                    </p:nvPicPr>
                    <p:blipFill>
                      <a:blip r:embed="rId27"/>
                      <a:srcRect/>
                      <a:stretch>
                        <a:fillRect/>
                      </a:stretch>
                    </p:blipFill>
                    <p:spPr bwMode="auto">
                      <a:xfrm>
                        <a:off x="2476500" y="4419600"/>
                        <a:ext cx="5753100" cy="379413"/>
                      </a:xfrm>
                      <a:prstGeom prst="rect">
                        <a:avLst/>
                      </a:prstGeom>
                      <a:solidFill>
                        <a:schemeClr val="bg1"/>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00" name="Text Box 125"/>
          <p:cNvSpPr txBox="1">
            <a:spLocks noChangeArrowheads="1"/>
          </p:cNvSpPr>
          <p:nvPr/>
        </p:nvSpPr>
        <p:spPr bwMode="auto">
          <a:xfrm>
            <a:off x="1210903" y="440839"/>
            <a:ext cx="677140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 altLang="es-ES" b="1" dirty="0">
                <a:solidFill>
                  <a:schemeClr val="accent5">
                    <a:lumMod val="25000"/>
                  </a:schemeClr>
                </a:solidFill>
              </a:rPr>
              <a:t>¿Depende la concentración de glucocorticoides en orina (mg/24h) del sexo del individuo?</a:t>
            </a:r>
          </a:p>
        </p:txBody>
      </p:sp>
      <p:graphicFrame>
        <p:nvGraphicFramePr>
          <p:cNvPr id="16401" name="Object 126"/>
          <p:cNvGraphicFramePr>
            <a:graphicFrameLocks noChangeAspect="1"/>
          </p:cNvGraphicFramePr>
          <p:nvPr>
            <p:extLst>
              <p:ext uri="{D42A27DB-BD31-4B8C-83A1-F6EECF244321}">
                <p14:modId xmlns:p14="http://schemas.microsoft.com/office/powerpoint/2010/main" val="4016276675"/>
              </p:ext>
            </p:extLst>
          </p:nvPr>
        </p:nvGraphicFramePr>
        <p:xfrm>
          <a:off x="3300335" y="6478580"/>
          <a:ext cx="1466850" cy="334963"/>
        </p:xfrm>
        <a:graphic>
          <a:graphicData uri="http://schemas.openxmlformats.org/presentationml/2006/ole">
            <mc:AlternateContent xmlns:mc="http://schemas.openxmlformats.org/markup-compatibility/2006">
              <mc:Choice xmlns:v="urn:schemas-microsoft-com:vml" Requires="v">
                <p:oleObj name="Equation" r:id="rId28" imgW="1002960" imgH="228600" progId="Equation.DSMT4">
                  <p:embed/>
                </p:oleObj>
              </mc:Choice>
              <mc:Fallback>
                <p:oleObj name="Equation" r:id="rId28" imgW="1002960" imgH="228600" progId="Equation.DSMT4">
                  <p:embed/>
                  <p:pic>
                    <p:nvPicPr>
                      <p:cNvPr id="16401" name="Object 126"/>
                      <p:cNvPicPr>
                        <a:picLocks noChangeAspect="1" noChangeArrowheads="1"/>
                      </p:cNvPicPr>
                      <p:nvPr/>
                    </p:nvPicPr>
                    <p:blipFill>
                      <a:blip r:embed="rId29"/>
                      <a:srcRect/>
                      <a:stretch>
                        <a:fillRect/>
                      </a:stretch>
                    </p:blipFill>
                    <p:spPr bwMode="auto">
                      <a:xfrm>
                        <a:off x="3300335" y="6478580"/>
                        <a:ext cx="1466850"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402" name="Text Box 2"/>
          <p:cNvSpPr txBox="1">
            <a:spLocks noChangeArrowheads="1"/>
          </p:cNvSpPr>
          <p:nvPr/>
        </p:nvSpPr>
        <p:spPr bwMode="auto">
          <a:xfrm>
            <a:off x="239586" y="73024"/>
            <a:ext cx="71723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 Variable normal // Prueba de homogeneidad de medias</a:t>
            </a:r>
            <a:endParaRPr lang="es-ES" altLang="es-ES" sz="1400" b="1" dirty="0"/>
          </a:p>
        </p:txBody>
      </p:sp>
      <p:sp>
        <p:nvSpPr>
          <p:cNvPr id="53" name="Text Box 43"/>
          <p:cNvSpPr txBox="1">
            <a:spLocks noChangeArrowheads="1"/>
          </p:cNvSpPr>
          <p:nvPr/>
        </p:nvSpPr>
        <p:spPr bwMode="auto">
          <a:xfrm>
            <a:off x="228600" y="425450"/>
            <a:ext cx="94128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solidFill>
                  <a:schemeClr val="accent5">
                    <a:lumMod val="25000"/>
                  </a:schemeClr>
                </a:solidFill>
              </a:rPr>
              <a:t>Ejemplo:</a:t>
            </a:r>
            <a:endParaRPr lang="es-ES" altLang="es-ES" sz="1400" b="1" dirty="0">
              <a:solidFill>
                <a:schemeClr val="accent5">
                  <a:lumMod val="25000"/>
                </a:schemeClr>
              </a:solidFill>
            </a:endParaRPr>
          </a:p>
        </p:txBody>
      </p:sp>
      <p:graphicFrame>
        <p:nvGraphicFramePr>
          <p:cNvPr id="16434" name="Object 26">
            <a:hlinkClick r:id="rId10" action="ppaction://hlinksldjump"/>
          </p:cNvPr>
          <p:cNvGraphicFramePr>
            <a:graphicFrameLocks noChangeAspect="1"/>
          </p:cNvGraphicFramePr>
          <p:nvPr>
            <p:extLst>
              <p:ext uri="{D42A27DB-BD31-4B8C-83A1-F6EECF244321}">
                <p14:modId xmlns:p14="http://schemas.microsoft.com/office/powerpoint/2010/main" val="2307730635"/>
              </p:ext>
            </p:extLst>
          </p:nvPr>
        </p:nvGraphicFramePr>
        <p:xfrm>
          <a:off x="5454650" y="2667000"/>
          <a:ext cx="1976438" cy="227013"/>
        </p:xfrm>
        <a:graphic>
          <a:graphicData uri="http://schemas.openxmlformats.org/presentationml/2006/ole">
            <mc:AlternateContent xmlns:mc="http://schemas.openxmlformats.org/markup-compatibility/2006">
              <mc:Choice xmlns:v="urn:schemas-microsoft-com:vml" Requires="v">
                <p:oleObj name="Equation" r:id="rId30" imgW="1777680" imgH="203040" progId="Equation.DSMT4">
                  <p:embed/>
                </p:oleObj>
              </mc:Choice>
              <mc:Fallback>
                <p:oleObj name="Equation" r:id="rId30" imgW="1777680" imgH="203040" progId="Equation.DSMT4">
                  <p:embed/>
                  <p:pic>
                    <p:nvPicPr>
                      <p:cNvPr id="16434" name="Object 26">
                        <a:hlinkClick r:id="" action="ppaction://noaction"/>
                      </p:cNvPr>
                      <p:cNvPicPr>
                        <a:picLocks noChangeAspect="1" noChangeArrowheads="1"/>
                      </p:cNvPicPr>
                      <p:nvPr/>
                    </p:nvPicPr>
                    <p:blipFill>
                      <a:blip r:embed="rId31"/>
                      <a:srcRect/>
                      <a:stretch>
                        <a:fillRect/>
                      </a:stretch>
                    </p:blipFill>
                    <p:spPr bwMode="auto">
                      <a:xfrm>
                        <a:off x="5454650" y="2667000"/>
                        <a:ext cx="1976438" cy="22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 name="Object 26">
            <a:hlinkClick r:id="rId10" action="ppaction://hlinksldjump"/>
          </p:cNvPr>
          <p:cNvGraphicFramePr>
            <a:graphicFrameLocks noChangeAspect="1"/>
          </p:cNvGraphicFramePr>
          <p:nvPr>
            <p:extLst>
              <p:ext uri="{D42A27DB-BD31-4B8C-83A1-F6EECF244321}">
                <p14:modId xmlns:p14="http://schemas.microsoft.com/office/powerpoint/2010/main" val="3889279236"/>
              </p:ext>
            </p:extLst>
          </p:nvPr>
        </p:nvGraphicFramePr>
        <p:xfrm>
          <a:off x="5454650" y="2917684"/>
          <a:ext cx="2470150" cy="227012"/>
        </p:xfrm>
        <a:graphic>
          <a:graphicData uri="http://schemas.openxmlformats.org/presentationml/2006/ole">
            <mc:AlternateContent xmlns:mc="http://schemas.openxmlformats.org/markup-compatibility/2006">
              <mc:Choice xmlns:v="urn:schemas-microsoft-com:vml" Requires="v">
                <p:oleObj name="Equation" r:id="rId32" imgW="2222280" imgH="203040" progId="Equation.DSMT4">
                  <p:embed/>
                </p:oleObj>
              </mc:Choice>
              <mc:Fallback>
                <p:oleObj name="Equation" r:id="rId32" imgW="2222280" imgH="203040" progId="Equation.DSMT4">
                  <p:embed/>
                  <p:pic>
                    <p:nvPicPr>
                      <p:cNvPr id="16434" name="Object 26">
                        <a:hlinkClick r:id="rId10" action="ppaction://hlinksldjump"/>
                      </p:cNvPr>
                      <p:cNvPicPr>
                        <a:picLocks noChangeAspect="1" noChangeArrowheads="1"/>
                      </p:cNvPicPr>
                      <p:nvPr/>
                    </p:nvPicPr>
                    <p:blipFill>
                      <a:blip r:embed="rId33"/>
                      <a:srcRect/>
                      <a:stretch>
                        <a:fillRect/>
                      </a:stretch>
                    </p:blipFill>
                    <p:spPr bwMode="auto">
                      <a:xfrm>
                        <a:off x="5454650" y="2917684"/>
                        <a:ext cx="2470150" cy="227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 name="Object 26">
            <a:hlinkClick r:id="rId10" action="ppaction://hlinksldjump"/>
          </p:cNvPr>
          <p:cNvGraphicFramePr>
            <a:graphicFrameLocks noChangeAspect="1"/>
          </p:cNvGraphicFramePr>
          <p:nvPr>
            <p:extLst>
              <p:ext uri="{D42A27DB-BD31-4B8C-83A1-F6EECF244321}">
                <p14:modId xmlns:p14="http://schemas.microsoft.com/office/powerpoint/2010/main" val="670707426"/>
              </p:ext>
            </p:extLst>
          </p:nvPr>
        </p:nvGraphicFramePr>
        <p:xfrm>
          <a:off x="2363720" y="5320593"/>
          <a:ext cx="3060700" cy="511175"/>
        </p:xfrm>
        <a:graphic>
          <a:graphicData uri="http://schemas.openxmlformats.org/presentationml/2006/ole">
            <mc:AlternateContent xmlns:mc="http://schemas.openxmlformats.org/markup-compatibility/2006">
              <mc:Choice xmlns:v="urn:schemas-microsoft-com:vml" Requires="v">
                <p:oleObj name="Equation" r:id="rId34" imgW="2755800" imgH="457200" progId="Equation.DSMT4">
                  <p:embed/>
                </p:oleObj>
              </mc:Choice>
              <mc:Fallback>
                <p:oleObj name="Equation" r:id="rId34" imgW="2755800" imgH="457200" progId="Equation.DSMT4">
                  <p:embed/>
                  <p:pic>
                    <p:nvPicPr>
                      <p:cNvPr id="51" name="Object 26">
                        <a:hlinkClick r:id="rId10" action="ppaction://hlinksldjump"/>
                      </p:cNvPr>
                      <p:cNvPicPr>
                        <a:picLocks noChangeAspect="1" noChangeArrowheads="1"/>
                      </p:cNvPicPr>
                      <p:nvPr/>
                    </p:nvPicPr>
                    <p:blipFill>
                      <a:blip r:embed="rId35"/>
                      <a:srcRect/>
                      <a:stretch>
                        <a:fillRect/>
                      </a:stretch>
                    </p:blipFill>
                    <p:spPr bwMode="auto">
                      <a:xfrm>
                        <a:off x="2363720" y="5320593"/>
                        <a:ext cx="3060700"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6397" name="Group 127"/>
          <p:cNvGrpSpPr>
            <a:grpSpLocks/>
          </p:cNvGrpSpPr>
          <p:nvPr/>
        </p:nvGrpSpPr>
        <p:grpSpPr bwMode="auto">
          <a:xfrm>
            <a:off x="6134100" y="5181600"/>
            <a:ext cx="2895600" cy="1600200"/>
            <a:chOff x="3852" y="3222"/>
            <a:chExt cx="1824" cy="1008"/>
          </a:xfrm>
        </p:grpSpPr>
        <p:grpSp>
          <p:nvGrpSpPr>
            <p:cNvPr id="16403" name="Group 118"/>
            <p:cNvGrpSpPr>
              <a:grpSpLocks/>
            </p:cNvGrpSpPr>
            <p:nvPr/>
          </p:nvGrpSpPr>
          <p:grpSpPr bwMode="auto">
            <a:xfrm>
              <a:off x="3876" y="3252"/>
              <a:ext cx="1776" cy="949"/>
              <a:chOff x="4016" y="3408"/>
              <a:chExt cx="1564" cy="760"/>
            </a:xfrm>
          </p:grpSpPr>
          <p:sp>
            <p:nvSpPr>
              <p:cNvPr id="16405" name="Oval 116"/>
              <p:cNvSpPr>
                <a:spLocks noChangeArrowheads="1"/>
              </p:cNvSpPr>
              <p:nvPr/>
            </p:nvSpPr>
            <p:spPr bwMode="auto">
              <a:xfrm>
                <a:off x="4932" y="3816"/>
                <a:ext cx="480" cy="192"/>
              </a:xfrm>
              <a:prstGeom prst="ellipse">
                <a:avLst/>
              </a:prstGeom>
              <a:solidFill>
                <a:srgbClr val="FFCC99">
                  <a:alpha val="18823"/>
                </a:srgbClr>
              </a:solidFill>
              <a:ln w="12700">
                <a:solidFill>
                  <a:srgbClr val="FF660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16406" name="Group 96"/>
              <p:cNvGrpSpPr>
                <a:grpSpLocks/>
              </p:cNvGrpSpPr>
              <p:nvPr/>
            </p:nvGrpSpPr>
            <p:grpSpPr bwMode="auto">
              <a:xfrm>
                <a:off x="4016" y="3408"/>
                <a:ext cx="1564" cy="760"/>
                <a:chOff x="1733" y="3072"/>
                <a:chExt cx="1564" cy="760"/>
              </a:xfrm>
            </p:grpSpPr>
            <p:grpSp>
              <p:nvGrpSpPr>
                <p:cNvPr id="16407" name="Group 97"/>
                <p:cNvGrpSpPr>
                  <a:grpSpLocks/>
                </p:cNvGrpSpPr>
                <p:nvPr/>
              </p:nvGrpSpPr>
              <p:grpSpPr bwMode="auto">
                <a:xfrm>
                  <a:off x="2181" y="3352"/>
                  <a:ext cx="960" cy="317"/>
                  <a:chOff x="1040" y="3642"/>
                  <a:chExt cx="768" cy="317"/>
                </a:xfrm>
              </p:grpSpPr>
              <p:grpSp>
                <p:nvGrpSpPr>
                  <p:cNvPr id="16421" name="Group 98"/>
                  <p:cNvGrpSpPr>
                    <a:grpSpLocks/>
                  </p:cNvGrpSpPr>
                  <p:nvPr/>
                </p:nvGrpSpPr>
                <p:grpSpPr bwMode="auto">
                  <a:xfrm>
                    <a:off x="1040" y="3642"/>
                    <a:ext cx="768" cy="317"/>
                    <a:chOff x="1040" y="3642"/>
                    <a:chExt cx="768" cy="317"/>
                  </a:xfrm>
                </p:grpSpPr>
                <p:sp>
                  <p:nvSpPr>
                    <p:cNvPr id="16423" name="AutoShape 99"/>
                    <p:cNvSpPr>
                      <a:spLocks noChangeArrowheads="1"/>
                    </p:cNvSpPr>
                    <p:nvPr/>
                  </p:nvSpPr>
                  <p:spPr bwMode="auto">
                    <a:xfrm>
                      <a:off x="1040" y="3744"/>
                      <a:ext cx="768" cy="207"/>
                    </a:xfrm>
                    <a:prstGeom prst="bracketPair">
                      <a:avLst>
                        <a:gd name="adj" fmla="val 16667"/>
                      </a:avLst>
                    </a:prstGeom>
                    <a:noFill/>
                    <a:ln w="15875">
                      <a:solidFill>
                        <a:srgbClr val="8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6424" name="Line 100"/>
                    <p:cNvSpPr>
                      <a:spLocks noChangeShapeType="1"/>
                    </p:cNvSpPr>
                    <p:nvPr/>
                  </p:nvSpPr>
                  <p:spPr bwMode="auto">
                    <a:xfrm>
                      <a:off x="1424" y="3642"/>
                      <a:ext cx="0" cy="317"/>
                    </a:xfrm>
                    <a:prstGeom prst="line">
                      <a:avLst/>
                    </a:prstGeom>
                    <a:noFill/>
                    <a:ln w="12700" cap="rnd">
                      <a:solidFill>
                        <a:srgbClr val="8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sp>
                <p:nvSpPr>
                  <p:cNvPr id="16422" name="Rectangle 101"/>
                  <p:cNvSpPr>
                    <a:spLocks noChangeArrowheads="1"/>
                  </p:cNvSpPr>
                  <p:nvPr/>
                </p:nvSpPr>
                <p:spPr bwMode="auto">
                  <a:xfrm>
                    <a:off x="1041" y="3844"/>
                    <a:ext cx="764" cy="27"/>
                  </a:xfrm>
                  <a:prstGeom prst="rect">
                    <a:avLst/>
                  </a:prstGeom>
                  <a:solidFill>
                    <a:srgbClr val="800000">
                      <a:alpha val="59999"/>
                    </a:srgbClr>
                  </a:solidFill>
                  <a:ln>
                    <a:noFill/>
                  </a:ln>
                  <a:effectLst/>
                  <a:extLs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16408" name="Line 102"/>
                <p:cNvSpPr>
                  <a:spLocks noChangeShapeType="1"/>
                </p:cNvSpPr>
                <p:nvPr/>
              </p:nvSpPr>
              <p:spPr bwMode="auto">
                <a:xfrm>
                  <a:off x="2309" y="3469"/>
                  <a:ext cx="0" cy="259"/>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6409" name="Line 103"/>
                <p:cNvSpPr>
                  <a:spLocks noChangeShapeType="1"/>
                </p:cNvSpPr>
                <p:nvPr/>
              </p:nvSpPr>
              <p:spPr bwMode="auto">
                <a:xfrm>
                  <a:off x="1987" y="3596"/>
                  <a:ext cx="644" cy="0"/>
                </a:xfrm>
                <a:prstGeom prst="line">
                  <a:avLst/>
                </a:prstGeom>
                <a:noFill/>
                <a:ln w="57150">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6410" name="AutoShape 104"/>
                <p:cNvSpPr>
                  <a:spLocks noChangeArrowheads="1"/>
                </p:cNvSpPr>
                <p:nvPr/>
              </p:nvSpPr>
              <p:spPr bwMode="auto">
                <a:xfrm>
                  <a:off x="1980" y="3529"/>
                  <a:ext cx="658" cy="167"/>
                </a:xfrm>
                <a:prstGeom prst="bracketPair">
                  <a:avLst>
                    <a:gd name="adj" fmla="val 16667"/>
                  </a:avLst>
                </a:prstGeom>
                <a:noFill/>
                <a:ln w="15875">
                  <a:solidFill>
                    <a:schemeClr val="accent2"/>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endParaRPr lang="es-ES" altLang="es-ES">
                    <a:cs typeface="Arial" pitchFamily="34" charset="0"/>
                  </a:endParaRPr>
                </a:p>
              </p:txBody>
            </p:sp>
            <p:sp>
              <p:nvSpPr>
                <p:cNvPr id="16411" name="Text Box 105"/>
                <p:cNvSpPr txBox="1">
                  <a:spLocks noChangeArrowheads="1"/>
                </p:cNvSpPr>
                <p:nvPr/>
              </p:nvSpPr>
              <p:spPr bwMode="auto">
                <a:xfrm>
                  <a:off x="2228" y="3694"/>
                  <a:ext cx="161" cy="138"/>
                </a:xfrm>
                <a:prstGeom prst="rect">
                  <a:avLst/>
                </a:prstGeom>
                <a:solidFill>
                  <a:schemeClr val="bg1">
                    <a:alpha val="25882"/>
                  </a:schemeClr>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0</a:t>
                  </a:r>
                </a:p>
              </p:txBody>
            </p:sp>
            <p:sp>
              <p:nvSpPr>
                <p:cNvPr id="16412" name="Line 106"/>
                <p:cNvSpPr>
                  <a:spLocks noChangeShapeType="1"/>
                </p:cNvSpPr>
                <p:nvPr/>
              </p:nvSpPr>
              <p:spPr bwMode="auto">
                <a:xfrm>
                  <a:off x="1733" y="3581"/>
                  <a:ext cx="156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aphicFrame>
              <p:nvGraphicFramePr>
                <p:cNvPr id="16413" name="Object 107"/>
                <p:cNvGraphicFramePr>
                  <a:graphicFrameLocks noChangeAspect="1"/>
                </p:cNvGraphicFramePr>
                <p:nvPr/>
              </p:nvGraphicFramePr>
              <p:xfrm>
                <a:off x="2520" y="3072"/>
                <a:ext cx="288" cy="134"/>
              </p:xfrm>
              <a:graphic>
                <a:graphicData uri="http://schemas.openxmlformats.org/presentationml/2006/ole">
                  <mc:AlternateContent xmlns:mc="http://schemas.openxmlformats.org/markup-compatibility/2006">
                    <mc:Choice xmlns:v="urn:schemas-microsoft-com:vml" Requires="v">
                      <p:oleObj name="Equation" r:id="rId36" imgW="723586" imgH="342751" progId="Equation.DSMT4">
                        <p:embed/>
                      </p:oleObj>
                    </mc:Choice>
                    <mc:Fallback>
                      <p:oleObj name="Equation" r:id="rId36" imgW="723586" imgH="342751" progId="Equation.DSMT4">
                        <p:embed/>
                        <p:pic>
                          <p:nvPicPr>
                            <p:cNvPr id="16413" name="Object 107"/>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2520" y="3072"/>
                              <a:ext cx="288"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14" name="Object 108"/>
                <p:cNvGraphicFramePr>
                  <a:graphicFrameLocks noChangeAspect="1"/>
                </p:cNvGraphicFramePr>
                <p:nvPr/>
              </p:nvGraphicFramePr>
              <p:xfrm>
                <a:off x="2136" y="3168"/>
                <a:ext cx="144" cy="111"/>
              </p:xfrm>
              <a:graphic>
                <a:graphicData uri="http://schemas.openxmlformats.org/presentationml/2006/ole">
                  <mc:AlternateContent xmlns:mc="http://schemas.openxmlformats.org/markup-compatibility/2006">
                    <mc:Choice xmlns:v="urn:schemas-microsoft-com:vml" Requires="v">
                      <p:oleObj name="Equation" r:id="rId38" imgW="291973" imgH="228501" progId="Equation.DSMT4">
                        <p:embed/>
                      </p:oleObj>
                    </mc:Choice>
                    <mc:Fallback>
                      <p:oleObj name="Equation" r:id="rId38" imgW="291973" imgH="228501" progId="Equation.DSMT4">
                        <p:embed/>
                        <p:pic>
                          <p:nvPicPr>
                            <p:cNvPr id="16414" name="Object 108"/>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136" y="3168"/>
                              <a:ext cx="144"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15" name="Object 109"/>
                <p:cNvGraphicFramePr>
                  <a:graphicFrameLocks noChangeAspect="1"/>
                </p:cNvGraphicFramePr>
                <p:nvPr/>
              </p:nvGraphicFramePr>
              <p:xfrm>
                <a:off x="3042" y="3168"/>
                <a:ext cx="144" cy="111"/>
              </p:xfrm>
              <a:graphic>
                <a:graphicData uri="http://schemas.openxmlformats.org/presentationml/2006/ole">
                  <mc:AlternateContent xmlns:mc="http://schemas.openxmlformats.org/markup-compatibility/2006">
                    <mc:Choice xmlns:v="urn:schemas-microsoft-com:vml" Requires="v">
                      <p:oleObj name="Equation" r:id="rId40" imgW="291973" imgH="228501" progId="Equation.DSMT4">
                        <p:embed/>
                      </p:oleObj>
                    </mc:Choice>
                    <mc:Fallback>
                      <p:oleObj name="Equation" r:id="rId40" imgW="291973" imgH="228501" progId="Equation.DSMT4">
                        <p:embed/>
                        <p:pic>
                          <p:nvPicPr>
                            <p:cNvPr id="16415" name="Object 109"/>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3042" y="3168"/>
                              <a:ext cx="144"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16" name="Object 110"/>
                <p:cNvGraphicFramePr>
                  <a:graphicFrameLocks noChangeAspect="1"/>
                </p:cNvGraphicFramePr>
                <p:nvPr/>
              </p:nvGraphicFramePr>
              <p:xfrm>
                <a:off x="2066" y="3312"/>
                <a:ext cx="226" cy="93"/>
              </p:xfrm>
              <a:graphic>
                <a:graphicData uri="http://schemas.openxmlformats.org/presentationml/2006/ole">
                  <mc:AlternateContent xmlns:mc="http://schemas.openxmlformats.org/markup-compatibility/2006">
                    <mc:Choice xmlns:v="urn:schemas-microsoft-com:vml" Requires="v">
                      <p:oleObj name="Equation" r:id="rId42" imgW="457200" imgH="190500" progId="Equation.DSMT4">
                        <p:embed/>
                      </p:oleObj>
                    </mc:Choice>
                    <mc:Fallback>
                      <p:oleObj name="Equation" r:id="rId42" imgW="457200" imgH="190500" progId="Equation.DSMT4">
                        <p:embed/>
                        <p:pic>
                          <p:nvPicPr>
                            <p:cNvPr id="16416" name="Object 110"/>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2066" y="3312"/>
                              <a:ext cx="226" cy="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17" name="Object 111"/>
                <p:cNvGraphicFramePr>
                  <a:graphicFrameLocks noChangeAspect="1"/>
                </p:cNvGraphicFramePr>
                <p:nvPr/>
              </p:nvGraphicFramePr>
              <p:xfrm>
                <a:off x="3000" y="3312"/>
                <a:ext cx="226" cy="93"/>
              </p:xfrm>
              <a:graphic>
                <a:graphicData uri="http://schemas.openxmlformats.org/presentationml/2006/ole">
                  <mc:AlternateContent xmlns:mc="http://schemas.openxmlformats.org/markup-compatibility/2006">
                    <mc:Choice xmlns:v="urn:schemas-microsoft-com:vml" Requires="v">
                      <p:oleObj name="Equation" r:id="rId44" imgW="457200" imgH="190500" progId="Equation.DSMT4">
                        <p:embed/>
                      </p:oleObj>
                    </mc:Choice>
                    <mc:Fallback>
                      <p:oleObj name="Equation" r:id="rId44" imgW="457200" imgH="190500" progId="Equation.DSMT4">
                        <p:embed/>
                        <p:pic>
                          <p:nvPicPr>
                            <p:cNvPr id="16417" name="Object 111"/>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3000" y="3312"/>
                              <a:ext cx="226" cy="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18" name="Object 112"/>
                <p:cNvGraphicFramePr>
                  <a:graphicFrameLocks noChangeAspect="1"/>
                </p:cNvGraphicFramePr>
                <p:nvPr/>
              </p:nvGraphicFramePr>
              <p:xfrm>
                <a:off x="1824" y="3696"/>
                <a:ext cx="357" cy="93"/>
              </p:xfrm>
              <a:graphic>
                <a:graphicData uri="http://schemas.openxmlformats.org/presentationml/2006/ole">
                  <mc:AlternateContent xmlns:mc="http://schemas.openxmlformats.org/markup-compatibility/2006">
                    <mc:Choice xmlns:v="urn:schemas-microsoft-com:vml" Requires="v">
                      <p:oleObj name="Equation" r:id="rId46" imgW="723586" imgH="190417" progId="Equation.DSMT4">
                        <p:embed/>
                      </p:oleObj>
                    </mc:Choice>
                    <mc:Fallback>
                      <p:oleObj name="Equation" r:id="rId46" imgW="723586" imgH="190417" progId="Equation.DSMT4">
                        <p:embed/>
                        <p:pic>
                          <p:nvPicPr>
                            <p:cNvPr id="16418" name="Object 112"/>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1824" y="3696"/>
                              <a:ext cx="357" cy="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19" name="Object 113"/>
                <p:cNvGraphicFramePr>
                  <a:graphicFrameLocks noChangeAspect="1"/>
                </p:cNvGraphicFramePr>
                <p:nvPr/>
              </p:nvGraphicFramePr>
              <p:xfrm>
                <a:off x="2448" y="3696"/>
                <a:ext cx="357" cy="93"/>
              </p:xfrm>
              <a:graphic>
                <a:graphicData uri="http://schemas.openxmlformats.org/presentationml/2006/ole">
                  <mc:AlternateContent xmlns:mc="http://schemas.openxmlformats.org/markup-compatibility/2006">
                    <mc:Choice xmlns:v="urn:schemas-microsoft-com:vml" Requires="v">
                      <p:oleObj name="Equation" r:id="rId48" imgW="723586" imgH="190417" progId="Equation.DSMT4">
                        <p:embed/>
                      </p:oleObj>
                    </mc:Choice>
                    <mc:Fallback>
                      <p:oleObj name="Equation" r:id="rId48" imgW="723586" imgH="190417" progId="Equation.DSMT4">
                        <p:embed/>
                        <p:pic>
                          <p:nvPicPr>
                            <p:cNvPr id="16419" name="Object 113"/>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2448" y="3696"/>
                              <a:ext cx="357" cy="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20" name="Object 114"/>
                <p:cNvGraphicFramePr>
                  <a:graphicFrameLocks noChangeAspect="1"/>
                </p:cNvGraphicFramePr>
                <p:nvPr/>
              </p:nvGraphicFramePr>
              <p:xfrm>
                <a:off x="2551" y="3240"/>
                <a:ext cx="226" cy="93"/>
              </p:xfrm>
              <a:graphic>
                <a:graphicData uri="http://schemas.openxmlformats.org/presentationml/2006/ole">
                  <mc:AlternateContent xmlns:mc="http://schemas.openxmlformats.org/markup-compatibility/2006">
                    <mc:Choice xmlns:v="urn:schemas-microsoft-com:vml" Requires="v">
                      <p:oleObj name="Equation" r:id="rId50" imgW="457200" imgH="190500" progId="Equation.DSMT4">
                        <p:embed/>
                      </p:oleObj>
                    </mc:Choice>
                    <mc:Fallback>
                      <p:oleObj name="Equation" r:id="rId50" imgW="457200" imgH="190500" progId="Equation.DSMT4">
                        <p:embed/>
                        <p:pic>
                          <p:nvPicPr>
                            <p:cNvPr id="16420" name="Object 114"/>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2551" y="3240"/>
                              <a:ext cx="226" cy="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16404" name="AutoShape 121"/>
            <p:cNvSpPr>
              <a:spLocks noChangeArrowheads="1"/>
            </p:cNvSpPr>
            <p:nvPr/>
          </p:nvSpPr>
          <p:spPr bwMode="auto">
            <a:xfrm>
              <a:off x="3852" y="3222"/>
              <a:ext cx="1824" cy="1008"/>
            </a:xfrm>
            <a:prstGeom prst="roundRect">
              <a:avLst>
                <a:gd name="adj" fmla="val 10940"/>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aphicFrame>
        <p:nvGraphicFramePr>
          <p:cNvPr id="55" name="Object 43"/>
          <p:cNvGraphicFramePr>
            <a:graphicFrameLocks noChangeAspect="1"/>
          </p:cNvGraphicFramePr>
          <p:nvPr>
            <p:extLst>
              <p:ext uri="{D42A27DB-BD31-4B8C-83A1-F6EECF244321}">
                <p14:modId xmlns:p14="http://schemas.microsoft.com/office/powerpoint/2010/main" val="223049548"/>
              </p:ext>
            </p:extLst>
          </p:nvPr>
        </p:nvGraphicFramePr>
        <p:xfrm>
          <a:off x="322224" y="5924030"/>
          <a:ext cx="2538493" cy="788147"/>
        </p:xfrm>
        <a:graphic>
          <a:graphicData uri="http://schemas.openxmlformats.org/presentationml/2006/ole">
            <mc:AlternateContent xmlns:mc="http://schemas.openxmlformats.org/markup-compatibility/2006">
              <mc:Choice xmlns:v="urn:schemas-microsoft-com:vml" Requires="v">
                <p:oleObj name="Equation" r:id="rId52" imgW="2197080" imgH="660240" progId="Equation.DSMT4">
                  <p:embed/>
                </p:oleObj>
              </mc:Choice>
              <mc:Fallback>
                <p:oleObj name="Equation" r:id="rId52" imgW="2197080" imgH="660240" progId="Equation.DSMT4">
                  <p:embed/>
                  <p:pic>
                    <p:nvPicPr>
                      <p:cNvPr id="16398" name="Object 43"/>
                      <p:cNvPicPr>
                        <a:picLocks noChangeAspect="1" noChangeArrowheads="1"/>
                      </p:cNvPicPr>
                      <p:nvPr/>
                    </p:nvPicPr>
                    <p:blipFill>
                      <a:blip r:embed="rId53"/>
                      <a:srcRect/>
                      <a:stretch>
                        <a:fillRect/>
                      </a:stretch>
                    </p:blipFill>
                    <p:spPr bwMode="auto">
                      <a:xfrm>
                        <a:off x="322224" y="5924030"/>
                        <a:ext cx="2538493" cy="788147"/>
                      </a:xfrm>
                      <a:prstGeom prst="rect">
                        <a:avLst/>
                      </a:prstGeom>
                      <a:solidFill>
                        <a:schemeClr val="bg1"/>
                      </a:solidFill>
                      <a:ln>
                        <a:noFill/>
                      </a:ln>
                      <a:effectLst/>
                    </p:spPr>
                  </p:pic>
                </p:oleObj>
              </mc:Fallback>
            </mc:AlternateContent>
          </a:graphicData>
        </a:graphic>
      </p:graphicFrame>
      <p:graphicFrame>
        <p:nvGraphicFramePr>
          <p:cNvPr id="16396" name="Object 117"/>
          <p:cNvGraphicFramePr>
            <a:graphicFrameLocks noChangeAspect="1"/>
          </p:cNvGraphicFramePr>
          <p:nvPr>
            <p:extLst>
              <p:ext uri="{D42A27DB-BD31-4B8C-83A1-F6EECF244321}">
                <p14:modId xmlns:p14="http://schemas.microsoft.com/office/powerpoint/2010/main" val="4028685493"/>
              </p:ext>
            </p:extLst>
          </p:nvPr>
        </p:nvGraphicFramePr>
        <p:xfrm>
          <a:off x="3307783" y="5918054"/>
          <a:ext cx="2387600" cy="569913"/>
        </p:xfrm>
        <a:graphic>
          <a:graphicData uri="http://schemas.openxmlformats.org/presentationml/2006/ole">
            <mc:AlternateContent xmlns:mc="http://schemas.openxmlformats.org/markup-compatibility/2006">
              <mc:Choice xmlns:v="urn:schemas-microsoft-com:vml" Requires="v">
                <p:oleObj name="Equation" r:id="rId54" imgW="1968480" imgH="469800" progId="Equation.DSMT4">
                  <p:embed/>
                </p:oleObj>
              </mc:Choice>
              <mc:Fallback>
                <p:oleObj name="Equation" r:id="rId54" imgW="1968480" imgH="469800" progId="Equation.DSMT4">
                  <p:embed/>
                  <p:pic>
                    <p:nvPicPr>
                      <p:cNvPr id="16396" name="Object 117"/>
                      <p:cNvPicPr>
                        <a:picLocks noChangeAspect="1" noChangeArrowheads="1"/>
                      </p:cNvPicPr>
                      <p:nvPr/>
                    </p:nvPicPr>
                    <p:blipFill>
                      <a:blip r:embed="rId55"/>
                      <a:srcRect/>
                      <a:stretch>
                        <a:fillRect/>
                      </a:stretch>
                    </p:blipFill>
                    <p:spPr bwMode="auto">
                      <a:xfrm>
                        <a:off x="3307783" y="5918054"/>
                        <a:ext cx="2387600"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 name="AutoShape 42"/>
          <p:cNvSpPr>
            <a:spLocks noChangeArrowheads="1"/>
          </p:cNvSpPr>
          <p:nvPr/>
        </p:nvSpPr>
        <p:spPr bwMode="auto">
          <a:xfrm>
            <a:off x="235562" y="5831768"/>
            <a:ext cx="5588519" cy="960742"/>
          </a:xfrm>
          <a:prstGeom prst="roundRect">
            <a:avLst>
              <a:gd name="adj" fmla="val 10940"/>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Tree>
    <p:extLst>
      <p:ext uri="{BB962C8B-B14F-4D97-AF65-F5344CB8AC3E}">
        <p14:creationId xmlns:p14="http://schemas.microsoft.com/office/powerpoint/2010/main" val="1297615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10" name="Object 17"/>
          <p:cNvGraphicFramePr>
            <a:graphicFrameLocks noChangeAspect="1"/>
          </p:cNvGraphicFramePr>
          <p:nvPr/>
        </p:nvGraphicFramePr>
        <p:xfrm>
          <a:off x="517525" y="1276350"/>
          <a:ext cx="1725613" cy="720725"/>
        </p:xfrm>
        <a:graphic>
          <a:graphicData uri="http://schemas.openxmlformats.org/presentationml/2006/ole">
            <mc:AlternateContent xmlns:mc="http://schemas.openxmlformats.org/markup-compatibility/2006">
              <mc:Choice xmlns:v="urn:schemas-microsoft-com:vml" Requires="v">
                <p:oleObj name="Equation" r:id="rId2" imgW="1219200" imgH="508000" progId="Equation.DSMT4">
                  <p:embed/>
                </p:oleObj>
              </mc:Choice>
              <mc:Fallback>
                <p:oleObj name="Equation" r:id="rId2" imgW="1219200" imgH="508000" progId="Equation.DSMT4">
                  <p:embed/>
                  <p:pic>
                    <p:nvPicPr>
                      <p:cNvPr id="17410"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525" y="1276350"/>
                        <a:ext cx="1725613"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1" name="Text Box 18"/>
          <p:cNvSpPr txBox="1">
            <a:spLocks noChangeArrowheads="1"/>
          </p:cNvSpPr>
          <p:nvPr/>
        </p:nvSpPr>
        <p:spPr bwMode="auto">
          <a:xfrm>
            <a:off x="228600" y="971550"/>
            <a:ext cx="36671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1. Test de Student. Hipótesis a contrastar</a:t>
            </a:r>
            <a:endParaRPr lang="es-ES" altLang="es-ES" sz="1400" b="1" dirty="0"/>
          </a:p>
        </p:txBody>
      </p:sp>
      <p:graphicFrame>
        <p:nvGraphicFramePr>
          <p:cNvPr id="17412" name="Object 19"/>
          <p:cNvGraphicFramePr>
            <a:graphicFrameLocks noChangeAspect="1"/>
          </p:cNvGraphicFramePr>
          <p:nvPr/>
        </p:nvGraphicFramePr>
        <p:xfrm>
          <a:off x="2451100" y="1295400"/>
          <a:ext cx="2730500" cy="684213"/>
        </p:xfrm>
        <a:graphic>
          <a:graphicData uri="http://schemas.openxmlformats.org/presentationml/2006/ole">
            <mc:AlternateContent xmlns:mc="http://schemas.openxmlformats.org/markup-compatibility/2006">
              <mc:Choice xmlns:v="urn:schemas-microsoft-com:vml" Requires="v">
                <p:oleObj name="Equation" r:id="rId4" imgW="1930400" imgH="482600" progId="Equation.DSMT4">
                  <p:embed/>
                </p:oleObj>
              </mc:Choice>
              <mc:Fallback>
                <p:oleObj name="Equation" r:id="rId4" imgW="1930400" imgH="482600" progId="Equation.DSMT4">
                  <p:embed/>
                  <p:pic>
                    <p:nvPicPr>
                      <p:cNvPr id="17412"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51100" y="1295400"/>
                        <a:ext cx="2730500" cy="684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7413" name="Group 50"/>
          <p:cNvGrpSpPr>
            <a:grpSpLocks/>
          </p:cNvGrpSpPr>
          <p:nvPr/>
        </p:nvGrpSpPr>
        <p:grpSpPr bwMode="auto">
          <a:xfrm>
            <a:off x="417513" y="3913188"/>
            <a:ext cx="6221412" cy="354012"/>
            <a:chOff x="113" y="2580"/>
            <a:chExt cx="3919" cy="223"/>
          </a:xfrm>
        </p:grpSpPr>
        <p:sp>
          <p:nvSpPr>
            <p:cNvPr id="17454" name="Text Box 21"/>
            <p:cNvSpPr txBox="1">
              <a:spLocks noChangeArrowheads="1"/>
            </p:cNvSpPr>
            <p:nvPr/>
          </p:nvSpPr>
          <p:spPr bwMode="auto">
            <a:xfrm>
              <a:off x="113" y="2606"/>
              <a:ext cx="391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 Si H</a:t>
              </a:r>
              <a:r>
                <a:rPr lang="es-ES_tradnl" altLang="es-ES" baseline="-25000"/>
                <a:t>0 </a:t>
              </a:r>
              <a:r>
                <a:rPr lang="es-ES_tradnl" altLang="es-ES"/>
                <a:t>es cierta,                                       debe de ser una magnitud pequeña:      </a:t>
              </a:r>
              <a:endParaRPr lang="es-ES" altLang="es-ES"/>
            </a:p>
          </p:txBody>
        </p:sp>
        <p:graphicFrame>
          <p:nvGraphicFramePr>
            <p:cNvPr id="17455" name="Object 22"/>
            <p:cNvGraphicFramePr>
              <a:graphicFrameLocks noChangeAspect="1"/>
            </p:cNvGraphicFramePr>
            <p:nvPr/>
          </p:nvGraphicFramePr>
          <p:xfrm>
            <a:off x="923" y="2580"/>
            <a:ext cx="949" cy="223"/>
          </p:xfrm>
          <a:graphic>
            <a:graphicData uri="http://schemas.openxmlformats.org/presentationml/2006/ole">
              <mc:AlternateContent xmlns:mc="http://schemas.openxmlformats.org/markup-compatibility/2006">
                <mc:Choice xmlns:v="urn:schemas-microsoft-com:vml" Requires="v">
                  <p:oleObj name="Equation" r:id="rId6" imgW="1193800" imgH="279400" progId="Equation.DSMT4">
                    <p:embed/>
                  </p:oleObj>
                </mc:Choice>
                <mc:Fallback>
                  <p:oleObj name="Equation" r:id="rId6" imgW="1193800" imgH="279400" progId="Equation.DSMT4">
                    <p:embed/>
                    <p:pic>
                      <p:nvPicPr>
                        <p:cNvPr id="17455"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3" y="2580"/>
                          <a:ext cx="949"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56" name="Object 23"/>
            <p:cNvGraphicFramePr>
              <a:graphicFrameLocks noChangeAspect="1"/>
            </p:cNvGraphicFramePr>
            <p:nvPr/>
          </p:nvGraphicFramePr>
          <p:xfrm>
            <a:off x="3487" y="2592"/>
            <a:ext cx="353" cy="162"/>
          </p:xfrm>
          <a:graphic>
            <a:graphicData uri="http://schemas.openxmlformats.org/presentationml/2006/ole">
              <mc:AlternateContent xmlns:mc="http://schemas.openxmlformats.org/markup-compatibility/2006">
                <mc:Choice xmlns:v="urn:schemas-microsoft-com:vml" Requires="v">
                  <p:oleObj name="Equation" r:id="rId8" imgW="444307" imgH="203112" progId="Equation.DSMT4">
                    <p:embed/>
                  </p:oleObj>
                </mc:Choice>
                <mc:Fallback>
                  <p:oleObj name="Equation" r:id="rId8" imgW="444307" imgH="203112" progId="Equation.DSMT4">
                    <p:embed/>
                    <p:pic>
                      <p:nvPicPr>
                        <p:cNvPr id="17456" name="Object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87" y="2592"/>
                          <a:ext cx="353" cy="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7414" name="Text Box 24"/>
          <p:cNvSpPr txBox="1">
            <a:spLocks noChangeArrowheads="1"/>
          </p:cNvSpPr>
          <p:nvPr/>
        </p:nvSpPr>
        <p:spPr bwMode="auto">
          <a:xfrm>
            <a:off x="228600" y="2057400"/>
            <a:ext cx="4318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2. Evidencia empírica: el estadístico de contraste</a:t>
            </a:r>
            <a:endParaRPr lang="es-ES" altLang="es-ES" sz="1400" b="1"/>
          </a:p>
        </p:txBody>
      </p:sp>
      <p:grpSp>
        <p:nvGrpSpPr>
          <p:cNvPr id="17415" name="Group 41"/>
          <p:cNvGrpSpPr>
            <a:grpSpLocks/>
          </p:cNvGrpSpPr>
          <p:nvPr/>
        </p:nvGrpSpPr>
        <p:grpSpPr bwMode="auto">
          <a:xfrm>
            <a:off x="6096000" y="914400"/>
            <a:ext cx="2514600" cy="2971800"/>
            <a:chOff x="3792" y="720"/>
            <a:chExt cx="1584" cy="1872"/>
          </a:xfrm>
        </p:grpSpPr>
        <p:sp>
          <p:nvSpPr>
            <p:cNvPr id="17445" name="AutoShape 38"/>
            <p:cNvSpPr>
              <a:spLocks noChangeArrowheads="1"/>
            </p:cNvSpPr>
            <p:nvPr/>
          </p:nvSpPr>
          <p:spPr bwMode="auto">
            <a:xfrm>
              <a:off x="3792" y="720"/>
              <a:ext cx="1584" cy="1872"/>
            </a:xfrm>
            <a:prstGeom prst="roundRect">
              <a:avLst>
                <a:gd name="adj" fmla="val 8713"/>
              </a:avLst>
            </a:prstGeom>
            <a:solidFill>
              <a:srgbClr val="C0C0C0">
                <a:alpha val="14902"/>
              </a:srgbClr>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pic>
          <p:nvPicPr>
            <p:cNvPr id="17446" name="Picture 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76" y="1122"/>
              <a:ext cx="864" cy="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7447" name="Group 40"/>
            <p:cNvGrpSpPr>
              <a:grpSpLocks/>
            </p:cNvGrpSpPr>
            <p:nvPr/>
          </p:nvGrpSpPr>
          <p:grpSpPr bwMode="auto">
            <a:xfrm>
              <a:off x="3836" y="1872"/>
              <a:ext cx="1422" cy="617"/>
              <a:chOff x="3888" y="1983"/>
              <a:chExt cx="1422" cy="617"/>
            </a:xfrm>
          </p:grpSpPr>
          <p:sp>
            <p:nvSpPr>
              <p:cNvPr id="17449" name="Text Box 6"/>
              <p:cNvSpPr txBox="1">
                <a:spLocks noChangeArrowheads="1"/>
              </p:cNvSpPr>
              <p:nvPr/>
            </p:nvSpPr>
            <p:spPr bwMode="auto">
              <a:xfrm>
                <a:off x="4176" y="2005"/>
                <a:ext cx="1104" cy="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_tradnl" altLang="es-ES">
                  <a:latin typeface="Times New Roman" pitchFamily="18" charset="0"/>
                </a:endParaRPr>
              </a:p>
              <a:p>
                <a:pPr eaLnBrk="1" hangingPunct="1"/>
                <a:r>
                  <a:rPr lang="es-ES_tradnl" altLang="es-ES">
                    <a:latin typeface="Times New Roman" pitchFamily="18" charset="0"/>
                  </a:rPr>
                  <a:t>← Tamaño de muestra</a:t>
                </a:r>
              </a:p>
              <a:p>
                <a:pPr eaLnBrk="1" hangingPunct="1">
                  <a:lnSpc>
                    <a:spcPct val="140000"/>
                  </a:lnSpc>
                </a:pPr>
                <a:r>
                  <a:rPr lang="es-ES_tradnl" altLang="es-ES">
                    <a:latin typeface="Times New Roman" pitchFamily="18" charset="0"/>
                  </a:rPr>
                  <a:t>← Media</a:t>
                </a:r>
              </a:p>
              <a:p>
                <a:pPr eaLnBrk="1" hangingPunct="1">
                  <a:lnSpc>
                    <a:spcPct val="120000"/>
                  </a:lnSpc>
                </a:pPr>
                <a:r>
                  <a:rPr lang="es-ES_tradnl" altLang="es-ES">
                    <a:latin typeface="Times New Roman" pitchFamily="18" charset="0"/>
                  </a:rPr>
                  <a:t>← Varianza</a:t>
                </a:r>
                <a:endParaRPr lang="es-ES" altLang="es-ES">
                  <a:latin typeface="Times New Roman" pitchFamily="18" charset="0"/>
                </a:endParaRPr>
              </a:p>
            </p:txBody>
          </p:sp>
          <p:graphicFrame>
            <p:nvGraphicFramePr>
              <p:cNvPr id="17450" name="Object 9"/>
              <p:cNvGraphicFramePr>
                <a:graphicFrameLocks noChangeAspect="1"/>
              </p:cNvGraphicFramePr>
              <p:nvPr/>
            </p:nvGraphicFramePr>
            <p:xfrm>
              <a:off x="4030" y="2164"/>
              <a:ext cx="95" cy="104"/>
            </p:xfrm>
            <a:graphic>
              <a:graphicData uri="http://schemas.openxmlformats.org/presentationml/2006/ole">
                <mc:AlternateContent xmlns:mc="http://schemas.openxmlformats.org/markup-compatibility/2006">
                  <mc:Choice xmlns:v="urn:schemas-microsoft-com:vml" Requires="v">
                    <p:oleObj name="Equation" r:id="rId11" imgW="126835" imgH="139518" progId="Equation.DSMT4">
                      <p:embed/>
                    </p:oleObj>
                  </mc:Choice>
                  <mc:Fallback>
                    <p:oleObj name="Equation" r:id="rId11" imgW="126835" imgH="139518" progId="Equation.DSMT4">
                      <p:embed/>
                      <p:pic>
                        <p:nvPicPr>
                          <p:cNvPr id="1745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30" y="2164"/>
                            <a:ext cx="95" cy="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51" name="Object 10"/>
              <p:cNvGraphicFramePr>
                <a:graphicFrameLocks noChangeAspect="1"/>
              </p:cNvGraphicFramePr>
              <p:nvPr/>
            </p:nvGraphicFramePr>
            <p:xfrm>
              <a:off x="4021" y="2291"/>
              <a:ext cx="113" cy="151"/>
            </p:xfrm>
            <a:graphic>
              <a:graphicData uri="http://schemas.openxmlformats.org/presentationml/2006/ole">
                <mc:AlternateContent xmlns:mc="http://schemas.openxmlformats.org/markup-compatibility/2006">
                  <mc:Choice xmlns:v="urn:schemas-microsoft-com:vml" Requires="v">
                    <p:oleObj name="Equation" r:id="rId13" imgW="152268" imgH="203024" progId="Equation.DSMT4">
                      <p:embed/>
                    </p:oleObj>
                  </mc:Choice>
                  <mc:Fallback>
                    <p:oleObj name="Equation" r:id="rId13" imgW="152268" imgH="203024" progId="Equation.DSMT4">
                      <p:embed/>
                      <p:pic>
                        <p:nvPicPr>
                          <p:cNvPr id="17451"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21" y="2291"/>
                            <a:ext cx="113"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52" name="Object 11"/>
              <p:cNvGraphicFramePr>
                <a:graphicFrameLocks noChangeAspect="1"/>
              </p:cNvGraphicFramePr>
              <p:nvPr/>
            </p:nvGraphicFramePr>
            <p:xfrm>
              <a:off x="3998" y="2420"/>
              <a:ext cx="151" cy="180"/>
            </p:xfrm>
            <a:graphic>
              <a:graphicData uri="http://schemas.openxmlformats.org/presentationml/2006/ole">
                <mc:AlternateContent xmlns:mc="http://schemas.openxmlformats.org/markup-compatibility/2006">
                  <mc:Choice xmlns:v="urn:schemas-microsoft-com:vml" Requires="v">
                    <p:oleObj name="Equation" r:id="rId15" imgW="203112" imgH="241195" progId="Equation.DSMT4">
                      <p:embed/>
                    </p:oleObj>
                  </mc:Choice>
                  <mc:Fallback>
                    <p:oleObj name="Equation" r:id="rId15" imgW="203112" imgH="241195" progId="Equation.DSMT4">
                      <p:embed/>
                      <p:pic>
                        <p:nvPicPr>
                          <p:cNvPr id="17452"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98" y="2420"/>
                            <a:ext cx="151"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53" name="Text Box 35"/>
              <p:cNvSpPr txBox="1">
                <a:spLocks noChangeArrowheads="1"/>
              </p:cNvSpPr>
              <p:nvPr/>
            </p:nvSpPr>
            <p:spPr bwMode="auto">
              <a:xfrm>
                <a:off x="3888" y="1983"/>
                <a:ext cx="142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100"/>
                  <a:t>La información relevante es:</a:t>
                </a:r>
                <a:endParaRPr lang="es-ES" altLang="es-ES" sz="1100"/>
              </a:p>
            </p:txBody>
          </p:sp>
        </p:grpSp>
        <p:sp>
          <p:nvSpPr>
            <p:cNvPr id="17448" name="Text Box 36"/>
            <p:cNvSpPr txBox="1">
              <a:spLocks noChangeArrowheads="1"/>
            </p:cNvSpPr>
            <p:nvPr/>
          </p:nvSpPr>
          <p:spPr bwMode="auto">
            <a:xfrm>
              <a:off x="3836" y="792"/>
              <a:ext cx="1536" cy="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100"/>
                <a:t>Es la variable diferencia </a:t>
              </a:r>
              <a:r>
                <a:rPr lang="es-ES_tradnl" altLang="es-ES" i="1">
                  <a:latin typeface="Times New Roman" pitchFamily="18" charset="0"/>
                </a:rPr>
                <a:t>d</a:t>
              </a:r>
              <a:r>
                <a:rPr lang="es-ES_tradnl" altLang="es-ES" sz="1100"/>
                <a:t> la que debe tener distribución normal</a:t>
              </a:r>
              <a:endParaRPr lang="es-ES" altLang="es-ES" sz="1100"/>
            </a:p>
          </p:txBody>
        </p:sp>
      </p:grpSp>
      <p:sp>
        <p:nvSpPr>
          <p:cNvPr id="17416" name="Text Box 49"/>
          <p:cNvSpPr txBox="1">
            <a:spLocks noChangeArrowheads="1"/>
          </p:cNvSpPr>
          <p:nvPr/>
        </p:nvSpPr>
        <p:spPr bwMode="auto">
          <a:xfrm>
            <a:off x="419100" y="2362200"/>
            <a:ext cx="53054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 Con las muestras apareadas, lo que se estudia es la variable diferencia</a:t>
            </a:r>
            <a:endParaRPr lang="es-ES_tradnl" altLang="es-ES">
              <a:latin typeface="Symbol" pitchFamily="18" charset="2"/>
            </a:endParaRPr>
          </a:p>
        </p:txBody>
      </p:sp>
      <p:grpSp>
        <p:nvGrpSpPr>
          <p:cNvPr id="17417" name="Group 82"/>
          <p:cNvGrpSpPr>
            <a:grpSpLocks/>
          </p:cNvGrpSpPr>
          <p:nvPr/>
        </p:nvGrpSpPr>
        <p:grpSpPr bwMode="auto">
          <a:xfrm>
            <a:off x="4543425" y="4584700"/>
            <a:ext cx="3714750" cy="692150"/>
            <a:chOff x="2454" y="3158"/>
            <a:chExt cx="2340" cy="436"/>
          </a:xfrm>
        </p:grpSpPr>
        <p:graphicFrame>
          <p:nvGraphicFramePr>
            <p:cNvPr id="17437" name="Object 53"/>
            <p:cNvGraphicFramePr>
              <a:graphicFrameLocks noChangeAspect="1"/>
            </p:cNvGraphicFramePr>
            <p:nvPr/>
          </p:nvGraphicFramePr>
          <p:xfrm>
            <a:off x="2454" y="3164"/>
            <a:ext cx="336" cy="153"/>
          </p:xfrm>
          <a:graphic>
            <a:graphicData uri="http://schemas.openxmlformats.org/presentationml/2006/ole">
              <mc:AlternateContent xmlns:mc="http://schemas.openxmlformats.org/markup-compatibility/2006">
                <mc:Choice xmlns:v="urn:schemas-microsoft-com:vml" Requires="v">
                  <p:oleObj name="Equation" r:id="rId17" imgW="419100" imgH="190500" progId="Equation.DSMT4">
                    <p:embed/>
                  </p:oleObj>
                </mc:Choice>
                <mc:Fallback>
                  <p:oleObj name="Equation" r:id="rId17" imgW="419100" imgH="190500" progId="Equation.DSMT4">
                    <p:embed/>
                    <p:pic>
                      <p:nvPicPr>
                        <p:cNvPr id="17437" name="Object 5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454" y="3164"/>
                          <a:ext cx="336" cy="1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38" name="Text Box 54"/>
            <p:cNvSpPr txBox="1">
              <a:spLocks noChangeArrowheads="1"/>
            </p:cNvSpPr>
            <p:nvPr/>
          </p:nvSpPr>
          <p:spPr bwMode="auto">
            <a:xfrm>
              <a:off x="2802" y="3158"/>
              <a:ext cx="609"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100"/>
                <a:t>Rechazar </a:t>
              </a:r>
              <a:r>
                <a:rPr lang="es-ES_tradnl" altLang="es-ES" sz="1100">
                  <a:latin typeface="Times New Roman" pitchFamily="18" charset="0"/>
                </a:rPr>
                <a:t>H</a:t>
              </a:r>
              <a:r>
                <a:rPr lang="es-ES_tradnl" altLang="es-ES" sz="1100" baseline="-25000">
                  <a:latin typeface="Times New Roman" pitchFamily="18" charset="0"/>
                </a:rPr>
                <a:t>0</a:t>
              </a:r>
              <a:endParaRPr lang="es-ES" altLang="es-ES" sz="1100" baseline="-25000">
                <a:latin typeface="Times New Roman" pitchFamily="18" charset="0"/>
              </a:endParaRPr>
            </a:p>
          </p:txBody>
        </p:sp>
        <p:sp>
          <p:nvSpPr>
            <p:cNvPr id="17439" name="Text Box 64"/>
            <p:cNvSpPr txBox="1">
              <a:spLocks noChangeArrowheads="1"/>
            </p:cNvSpPr>
            <p:nvPr/>
          </p:nvSpPr>
          <p:spPr bwMode="auto">
            <a:xfrm>
              <a:off x="3642" y="3158"/>
              <a:ext cx="1141"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100"/>
                <a:t>Estimar el efecto con el IC</a:t>
              </a:r>
              <a:endParaRPr lang="es-ES" altLang="es-ES" sz="1100" baseline="-25000">
                <a:latin typeface="Times New Roman" pitchFamily="18" charset="0"/>
              </a:endParaRPr>
            </a:p>
          </p:txBody>
        </p:sp>
        <p:sp>
          <p:nvSpPr>
            <p:cNvPr id="17440" name="Line 66"/>
            <p:cNvSpPr>
              <a:spLocks noChangeShapeType="1"/>
            </p:cNvSpPr>
            <p:nvPr/>
          </p:nvSpPr>
          <p:spPr bwMode="auto">
            <a:xfrm>
              <a:off x="3402" y="3240"/>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17441" name="Object 56"/>
            <p:cNvGraphicFramePr>
              <a:graphicFrameLocks noChangeAspect="1"/>
            </p:cNvGraphicFramePr>
            <p:nvPr/>
          </p:nvGraphicFramePr>
          <p:xfrm>
            <a:off x="2454" y="3392"/>
            <a:ext cx="337" cy="132"/>
          </p:xfrm>
          <a:graphic>
            <a:graphicData uri="http://schemas.openxmlformats.org/presentationml/2006/ole">
              <mc:AlternateContent xmlns:mc="http://schemas.openxmlformats.org/markup-compatibility/2006">
                <mc:Choice xmlns:v="urn:schemas-microsoft-com:vml" Requires="v">
                  <p:oleObj name="Equation" r:id="rId19" imgW="418918" imgH="165028" progId="Equation.DSMT4">
                    <p:embed/>
                  </p:oleObj>
                </mc:Choice>
                <mc:Fallback>
                  <p:oleObj name="Equation" r:id="rId19" imgW="418918" imgH="165028" progId="Equation.DSMT4">
                    <p:embed/>
                    <p:pic>
                      <p:nvPicPr>
                        <p:cNvPr id="17441" name="Object 5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54" y="3392"/>
                          <a:ext cx="337" cy="1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42" name="Text Box 57"/>
            <p:cNvSpPr txBox="1">
              <a:spLocks noChangeArrowheads="1"/>
            </p:cNvSpPr>
            <p:nvPr/>
          </p:nvSpPr>
          <p:spPr bwMode="auto">
            <a:xfrm>
              <a:off x="2802" y="3323"/>
              <a:ext cx="816"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a:t>No se puede rechazar </a:t>
              </a:r>
              <a:r>
                <a:rPr lang="es-ES_tradnl" altLang="es-ES" sz="1100">
                  <a:latin typeface="Times New Roman" pitchFamily="18" charset="0"/>
                </a:rPr>
                <a:t>H</a:t>
              </a:r>
              <a:r>
                <a:rPr lang="es-ES_tradnl" altLang="es-ES" sz="1100" baseline="-25000">
                  <a:latin typeface="Times New Roman" pitchFamily="18" charset="0"/>
                </a:rPr>
                <a:t>0</a:t>
              </a:r>
              <a:endParaRPr lang="es-ES" altLang="es-ES" sz="1100" baseline="-25000">
                <a:latin typeface="Times New Roman" pitchFamily="18" charset="0"/>
              </a:endParaRPr>
            </a:p>
          </p:txBody>
        </p:sp>
        <p:sp>
          <p:nvSpPr>
            <p:cNvPr id="17443" name="Text Box 65"/>
            <p:cNvSpPr txBox="1">
              <a:spLocks noChangeArrowheads="1"/>
            </p:cNvSpPr>
            <p:nvPr/>
          </p:nvSpPr>
          <p:spPr bwMode="auto">
            <a:xfrm>
              <a:off x="3642" y="3324"/>
              <a:ext cx="1152"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a:t>Estudiar la fiabilidad de la decisión con el IC</a:t>
              </a:r>
              <a:endParaRPr lang="es-ES" altLang="es-ES" sz="1100" baseline="-25000">
                <a:latin typeface="Times New Roman" pitchFamily="18" charset="0"/>
              </a:endParaRPr>
            </a:p>
          </p:txBody>
        </p:sp>
        <p:sp>
          <p:nvSpPr>
            <p:cNvPr id="17444" name="Line 67"/>
            <p:cNvSpPr>
              <a:spLocks noChangeShapeType="1"/>
            </p:cNvSpPr>
            <p:nvPr/>
          </p:nvSpPr>
          <p:spPr bwMode="auto">
            <a:xfrm>
              <a:off x="3408" y="3458"/>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17418" name="AutoShape 74"/>
          <p:cNvSpPr>
            <a:spLocks/>
          </p:cNvSpPr>
          <p:nvPr/>
        </p:nvSpPr>
        <p:spPr bwMode="auto">
          <a:xfrm flipH="1">
            <a:off x="4267200" y="4305300"/>
            <a:ext cx="76200" cy="1066800"/>
          </a:xfrm>
          <a:prstGeom prst="leftBrace">
            <a:avLst>
              <a:gd name="adj1" fmla="val 116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7419" name="Text Box 30"/>
          <p:cNvSpPr txBox="1">
            <a:spLocks noChangeArrowheads="1"/>
          </p:cNvSpPr>
          <p:nvPr/>
        </p:nvSpPr>
        <p:spPr bwMode="auto">
          <a:xfrm>
            <a:off x="419100" y="4427538"/>
            <a:ext cx="22574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a) Estadístico de contraste:</a:t>
            </a:r>
            <a:endParaRPr lang="es-ES" altLang="es-ES" b="1"/>
          </a:p>
        </p:txBody>
      </p:sp>
      <p:graphicFrame>
        <p:nvGraphicFramePr>
          <p:cNvPr id="17420" name="Object 42"/>
          <p:cNvGraphicFramePr>
            <a:graphicFrameLocks noChangeAspect="1"/>
          </p:cNvGraphicFramePr>
          <p:nvPr/>
        </p:nvGraphicFramePr>
        <p:xfrm>
          <a:off x="2593975" y="4343400"/>
          <a:ext cx="1460500" cy="412750"/>
        </p:xfrm>
        <a:graphic>
          <a:graphicData uri="http://schemas.openxmlformats.org/presentationml/2006/ole">
            <mc:AlternateContent xmlns:mc="http://schemas.openxmlformats.org/markup-compatibility/2006">
              <mc:Choice xmlns:v="urn:schemas-microsoft-com:vml" Requires="v">
                <p:oleObj name="Equation" r:id="rId21" imgW="1079032" imgH="304668" progId="Equation.DSMT4">
                  <p:embed/>
                </p:oleObj>
              </mc:Choice>
              <mc:Fallback>
                <p:oleObj name="Equation" r:id="rId21" imgW="1079032" imgH="304668" progId="Equation.DSMT4">
                  <p:embed/>
                  <p:pic>
                    <p:nvPicPr>
                      <p:cNvPr id="17420" name="Object 4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593975" y="4343400"/>
                        <a:ext cx="14605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1" name="AutoShape 87"/>
          <p:cNvSpPr>
            <a:spLocks noChangeArrowheads="1"/>
          </p:cNvSpPr>
          <p:nvPr/>
        </p:nvSpPr>
        <p:spPr bwMode="auto">
          <a:xfrm>
            <a:off x="2562225" y="4305300"/>
            <a:ext cx="1524000" cy="493713"/>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7422" name="Text Box 43"/>
          <p:cNvSpPr txBox="1">
            <a:spLocks noChangeArrowheads="1"/>
          </p:cNvSpPr>
          <p:nvPr/>
        </p:nvSpPr>
        <p:spPr bwMode="auto">
          <a:xfrm>
            <a:off x="419100" y="5006975"/>
            <a:ext cx="22574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b) Intervalo de confianza:</a:t>
            </a:r>
            <a:endParaRPr lang="es-ES" altLang="es-ES" b="1"/>
          </a:p>
        </p:txBody>
      </p:sp>
      <p:graphicFrame>
        <p:nvGraphicFramePr>
          <p:cNvPr id="17423" name="Object 47"/>
          <p:cNvGraphicFramePr>
            <a:graphicFrameLocks noChangeAspect="1"/>
          </p:cNvGraphicFramePr>
          <p:nvPr/>
        </p:nvGraphicFramePr>
        <p:xfrm>
          <a:off x="2614613" y="4930775"/>
          <a:ext cx="1417637" cy="422275"/>
        </p:xfrm>
        <a:graphic>
          <a:graphicData uri="http://schemas.openxmlformats.org/presentationml/2006/ole">
            <mc:AlternateContent xmlns:mc="http://schemas.openxmlformats.org/markup-compatibility/2006">
              <mc:Choice xmlns:v="urn:schemas-microsoft-com:vml" Requires="v">
                <p:oleObj name="Equation" r:id="rId23" imgW="977476" imgH="291973" progId="Equation.DSMT4">
                  <p:embed/>
                </p:oleObj>
              </mc:Choice>
              <mc:Fallback>
                <p:oleObj name="Equation" r:id="rId23" imgW="977476" imgH="291973" progId="Equation.DSMT4">
                  <p:embed/>
                  <p:pic>
                    <p:nvPicPr>
                      <p:cNvPr id="17423" name="Object 4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614613" y="4930775"/>
                        <a:ext cx="1417637"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4" name="AutoShape 88"/>
          <p:cNvSpPr>
            <a:spLocks noChangeArrowheads="1"/>
          </p:cNvSpPr>
          <p:nvPr/>
        </p:nvSpPr>
        <p:spPr bwMode="auto">
          <a:xfrm>
            <a:off x="2562225" y="4887913"/>
            <a:ext cx="1524000" cy="493712"/>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7425" name="Text Box 99"/>
          <p:cNvSpPr txBox="1">
            <a:spLocks noChangeArrowheads="1"/>
          </p:cNvSpPr>
          <p:nvPr/>
        </p:nvSpPr>
        <p:spPr bwMode="auto">
          <a:xfrm>
            <a:off x="409575" y="5667375"/>
            <a:ext cx="19526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c) Tamaño de muestra:</a:t>
            </a:r>
            <a:endParaRPr lang="es-ES" altLang="es-ES" b="1"/>
          </a:p>
        </p:txBody>
      </p:sp>
      <p:graphicFrame>
        <p:nvGraphicFramePr>
          <p:cNvPr id="17426" name="Object 107"/>
          <p:cNvGraphicFramePr>
            <a:graphicFrameLocks noChangeAspect="1"/>
          </p:cNvGraphicFramePr>
          <p:nvPr/>
        </p:nvGraphicFramePr>
        <p:xfrm>
          <a:off x="2638425" y="5514975"/>
          <a:ext cx="1270000" cy="596900"/>
        </p:xfrm>
        <a:graphic>
          <a:graphicData uri="http://schemas.openxmlformats.org/presentationml/2006/ole">
            <mc:AlternateContent xmlns:mc="http://schemas.openxmlformats.org/markup-compatibility/2006">
              <mc:Choice xmlns:v="urn:schemas-microsoft-com:vml" Requires="v">
                <p:oleObj name="Equation" r:id="rId25" imgW="1270000" imgH="596900" progId="Equation.DSMT4">
                  <p:embed/>
                </p:oleObj>
              </mc:Choice>
              <mc:Fallback>
                <p:oleObj name="Equation" r:id="rId25" imgW="1270000" imgH="596900" progId="Equation.DSMT4">
                  <p:embed/>
                  <p:pic>
                    <p:nvPicPr>
                      <p:cNvPr id="17426" name="Object 10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638425" y="5514975"/>
                        <a:ext cx="12700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7" name="AutoShape 112"/>
          <p:cNvSpPr>
            <a:spLocks noChangeArrowheads="1"/>
          </p:cNvSpPr>
          <p:nvPr/>
        </p:nvSpPr>
        <p:spPr bwMode="auto">
          <a:xfrm>
            <a:off x="2562225" y="5478463"/>
            <a:ext cx="1524000" cy="646112"/>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17428" name="Group 120"/>
          <p:cNvGrpSpPr>
            <a:grpSpLocks/>
          </p:cNvGrpSpPr>
          <p:nvPr/>
        </p:nvGrpSpPr>
        <p:grpSpPr bwMode="auto">
          <a:xfrm>
            <a:off x="419100" y="6324600"/>
            <a:ext cx="5181600" cy="274638"/>
            <a:chOff x="336" y="3984"/>
            <a:chExt cx="3264" cy="173"/>
          </a:xfrm>
        </p:grpSpPr>
        <p:graphicFrame>
          <p:nvGraphicFramePr>
            <p:cNvPr id="17435" name="Object 114"/>
            <p:cNvGraphicFramePr>
              <a:graphicFrameLocks noChangeAspect="1"/>
            </p:cNvGraphicFramePr>
            <p:nvPr/>
          </p:nvGraphicFramePr>
          <p:xfrm>
            <a:off x="3128" y="3986"/>
            <a:ext cx="472" cy="168"/>
          </p:xfrm>
          <a:graphic>
            <a:graphicData uri="http://schemas.openxmlformats.org/presentationml/2006/ole">
              <mc:AlternateContent xmlns:mc="http://schemas.openxmlformats.org/markup-compatibility/2006">
                <mc:Choice xmlns:v="urn:schemas-microsoft-com:vml" Requires="v">
                  <p:oleObj name="Equation" r:id="rId27" imgW="748975" imgH="266584" progId="Equation.DSMT4">
                    <p:embed/>
                  </p:oleObj>
                </mc:Choice>
                <mc:Fallback>
                  <p:oleObj name="Equation" r:id="rId27" imgW="748975" imgH="266584" progId="Equation.DSMT4">
                    <p:embed/>
                    <p:pic>
                      <p:nvPicPr>
                        <p:cNvPr id="17435" name="Object 11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128" y="3986"/>
                          <a:ext cx="472"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36" name="Text Box 115"/>
            <p:cNvSpPr txBox="1">
              <a:spLocks noChangeArrowheads="1"/>
            </p:cNvSpPr>
            <p:nvPr/>
          </p:nvSpPr>
          <p:spPr bwMode="auto">
            <a:xfrm>
              <a:off x="336" y="3984"/>
              <a:ext cx="282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dirty="0"/>
                <a:t>* En todos los casos considerar la distribución t de Student con </a:t>
              </a:r>
              <a:endParaRPr lang="es-ES" altLang="es-ES" dirty="0"/>
            </a:p>
          </p:txBody>
        </p:sp>
      </p:grpSp>
      <p:sp>
        <p:nvSpPr>
          <p:cNvPr id="17429" name="Text Box 119"/>
          <p:cNvSpPr txBox="1">
            <a:spLocks noChangeArrowheads="1"/>
          </p:cNvSpPr>
          <p:nvPr/>
        </p:nvSpPr>
        <p:spPr bwMode="auto">
          <a:xfrm>
            <a:off x="4495800" y="4267200"/>
            <a:ext cx="27114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El proceso a seguir es como antes, si</a:t>
            </a:r>
            <a:endParaRPr lang="es-ES" altLang="es-ES"/>
          </a:p>
        </p:txBody>
      </p:sp>
      <p:grpSp>
        <p:nvGrpSpPr>
          <p:cNvPr id="17430" name="Group 122"/>
          <p:cNvGrpSpPr>
            <a:grpSpLocks/>
          </p:cNvGrpSpPr>
          <p:nvPr/>
        </p:nvGrpSpPr>
        <p:grpSpPr bwMode="auto">
          <a:xfrm>
            <a:off x="914400" y="2676525"/>
            <a:ext cx="4267200" cy="1209675"/>
            <a:chOff x="902" y="1680"/>
            <a:chExt cx="2592" cy="672"/>
          </a:xfrm>
        </p:grpSpPr>
        <p:graphicFrame>
          <p:nvGraphicFramePr>
            <p:cNvPr id="17433" name="Object 4"/>
            <p:cNvGraphicFramePr>
              <a:graphicFrameLocks noChangeAspect="1"/>
            </p:cNvGraphicFramePr>
            <p:nvPr/>
          </p:nvGraphicFramePr>
          <p:xfrm>
            <a:off x="904" y="1682"/>
            <a:ext cx="2586" cy="668"/>
          </p:xfrm>
          <a:graphic>
            <a:graphicData uri="http://schemas.openxmlformats.org/presentationml/2006/ole">
              <mc:AlternateContent xmlns:mc="http://schemas.openxmlformats.org/markup-compatibility/2006">
                <mc:Choice xmlns:v="urn:schemas-microsoft-com:vml" Requires="v">
                  <p:oleObj name="Equation" r:id="rId29" imgW="3987800" imgH="1016000" progId="Equation.DSMT4">
                    <p:embed/>
                  </p:oleObj>
                </mc:Choice>
                <mc:Fallback>
                  <p:oleObj name="Equation" r:id="rId29" imgW="3987800" imgH="1016000" progId="Equation.DSMT4">
                    <p:embed/>
                    <p:pic>
                      <p:nvPicPr>
                        <p:cNvPr id="17433" name="Object 4"/>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904" y="1682"/>
                          <a:ext cx="2586" cy="6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34" name="AutoShape 121"/>
            <p:cNvSpPr>
              <a:spLocks noChangeArrowheads="1"/>
            </p:cNvSpPr>
            <p:nvPr/>
          </p:nvSpPr>
          <p:spPr bwMode="auto">
            <a:xfrm>
              <a:off x="902" y="1680"/>
              <a:ext cx="2592" cy="672"/>
            </a:xfrm>
            <a:prstGeom prst="roundRect">
              <a:avLst>
                <a:gd name="adj" fmla="val 7889"/>
              </a:avLst>
            </a:prstGeom>
            <a:noFill/>
            <a:ln w="9525">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17431" name="Text Box 2"/>
          <p:cNvSpPr txBox="1">
            <a:spLocks noChangeArrowheads="1"/>
          </p:cNvSpPr>
          <p:nvPr/>
        </p:nvSpPr>
        <p:spPr bwMode="auto">
          <a:xfrm>
            <a:off x="228600" y="76200"/>
            <a:ext cx="3756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Relacionadas  // Variable normal</a:t>
            </a:r>
            <a:endParaRPr lang="es-ES" altLang="es-ES" sz="1400" b="1" dirty="0"/>
          </a:p>
        </p:txBody>
      </p:sp>
      <p:sp>
        <p:nvSpPr>
          <p:cNvPr id="17432" name="Text Box 2"/>
          <p:cNvSpPr txBox="1">
            <a:spLocks noChangeArrowheads="1"/>
          </p:cNvSpPr>
          <p:nvPr/>
        </p:nvSpPr>
        <p:spPr bwMode="auto">
          <a:xfrm>
            <a:off x="152400" y="454025"/>
            <a:ext cx="33464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 Prueba de homogeneidad de medias</a:t>
            </a:r>
            <a:endParaRPr lang="es-ES" altLang="es-ES" sz="1400" b="1" dirty="0"/>
          </a:p>
        </p:txBody>
      </p:sp>
    </p:spTree>
    <p:extLst>
      <p:ext uri="{BB962C8B-B14F-4D97-AF65-F5344CB8AC3E}">
        <p14:creationId xmlns:p14="http://schemas.microsoft.com/office/powerpoint/2010/main" val="13002171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1"/>
          <p:cNvSpPr>
            <a:spLocks noChangeArrowheads="1"/>
          </p:cNvSpPr>
          <p:nvPr/>
        </p:nvSpPr>
        <p:spPr bwMode="auto">
          <a:xfrm>
            <a:off x="152400" y="780275"/>
            <a:ext cx="87630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400" dirty="0">
                <a:solidFill>
                  <a:schemeClr val="accent5">
                    <a:lumMod val="25000"/>
                  </a:schemeClr>
                </a:solidFill>
              </a:rPr>
              <a:t>Se estudia si la práctica continuada de ejercicio físico permite reducir el nivel de colesterol en individuos con hipercolesterolemia familiar. Participaron en el estudio </a:t>
            </a:r>
            <a:r>
              <a:rPr lang="es-ES_tradnl" altLang="es-ES" sz="1600" i="1" dirty="0">
                <a:solidFill>
                  <a:schemeClr val="accent5">
                    <a:lumMod val="25000"/>
                  </a:schemeClr>
                </a:solidFill>
                <a:latin typeface="Times New Roman" panose="02020603050405020304" pitchFamily="18" charset="0"/>
                <a:cs typeface="Times New Roman" panose="02020603050405020304" pitchFamily="18" charset="0"/>
              </a:rPr>
              <a:t>n</a:t>
            </a:r>
            <a:r>
              <a:rPr lang="es-ES_tradnl" altLang="es-ES" sz="1400" dirty="0">
                <a:solidFill>
                  <a:schemeClr val="accent5">
                    <a:lumMod val="25000"/>
                  </a:schemeClr>
                </a:solidFill>
              </a:rPr>
              <a:t>=10 sujetos a los que se les determinó el nivel de colesterol antes y después de 6 meses de desarrollar un programa de práctica de actividad física regular.</a:t>
            </a:r>
            <a:endParaRPr lang="es-ES" altLang="es-ES" sz="1400" dirty="0">
              <a:solidFill>
                <a:schemeClr val="accent5">
                  <a:lumMod val="25000"/>
                </a:schemeClr>
              </a:solidFill>
            </a:endParaRPr>
          </a:p>
        </p:txBody>
      </p:sp>
      <p:grpSp>
        <p:nvGrpSpPr>
          <p:cNvPr id="4" name="Grupo 3">
            <a:extLst>
              <a:ext uri="{FF2B5EF4-FFF2-40B4-BE49-F238E27FC236}">
                <a16:creationId xmlns:a16="http://schemas.microsoft.com/office/drawing/2014/main" id="{5D1A966C-25C0-472D-93A4-B56B4E4A6150}"/>
              </a:ext>
            </a:extLst>
          </p:cNvPr>
          <p:cNvGrpSpPr/>
          <p:nvPr/>
        </p:nvGrpSpPr>
        <p:grpSpPr>
          <a:xfrm>
            <a:off x="1981200" y="1592262"/>
            <a:ext cx="5715000" cy="1303338"/>
            <a:chOff x="1981200" y="1562100"/>
            <a:chExt cx="5715000" cy="1303338"/>
          </a:xfrm>
        </p:grpSpPr>
        <p:pic>
          <p:nvPicPr>
            <p:cNvPr id="18455" name="Picture 8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600200"/>
              <a:ext cx="5572125" cy="1265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56" name="AutoShape 15"/>
            <p:cNvSpPr>
              <a:spLocks noChangeArrowheads="1"/>
            </p:cNvSpPr>
            <p:nvPr/>
          </p:nvSpPr>
          <p:spPr bwMode="auto">
            <a:xfrm>
              <a:off x="1981200" y="1562100"/>
              <a:ext cx="5715000" cy="990600"/>
            </a:xfrm>
            <a:prstGeom prst="roundRect">
              <a:avLst>
                <a:gd name="adj" fmla="val 10051"/>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aphicFrame>
        <p:nvGraphicFramePr>
          <p:cNvPr id="18437" name="Object 831"/>
          <p:cNvGraphicFramePr>
            <a:graphicFrameLocks noChangeAspect="1"/>
          </p:cNvGraphicFramePr>
          <p:nvPr>
            <p:extLst>
              <p:ext uri="{D42A27DB-BD31-4B8C-83A1-F6EECF244321}">
                <p14:modId xmlns:p14="http://schemas.microsoft.com/office/powerpoint/2010/main" val="3168197445"/>
              </p:ext>
            </p:extLst>
          </p:nvPr>
        </p:nvGraphicFramePr>
        <p:xfrm>
          <a:off x="381000" y="3733800"/>
          <a:ext cx="3581400" cy="341313"/>
        </p:xfrm>
        <a:graphic>
          <a:graphicData uri="http://schemas.openxmlformats.org/presentationml/2006/ole">
            <mc:AlternateContent xmlns:mc="http://schemas.openxmlformats.org/markup-compatibility/2006">
              <mc:Choice xmlns:v="urn:schemas-microsoft-com:vml" Requires="v">
                <p:oleObj name="Equation" r:id="rId4" imgW="2590800" imgH="254000" progId="Equation.DSMT4">
                  <p:embed/>
                </p:oleObj>
              </mc:Choice>
              <mc:Fallback>
                <p:oleObj name="Equation" r:id="rId4" imgW="2590800" imgH="254000" progId="Equation.DSMT4">
                  <p:embed/>
                  <p:pic>
                    <p:nvPicPr>
                      <p:cNvPr id="18437" name="Object 8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3733800"/>
                        <a:ext cx="3581400"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8438" name="Group 845"/>
          <p:cNvGrpSpPr>
            <a:grpSpLocks/>
          </p:cNvGrpSpPr>
          <p:nvPr/>
        </p:nvGrpSpPr>
        <p:grpSpPr bwMode="auto">
          <a:xfrm>
            <a:off x="317500" y="2971800"/>
            <a:ext cx="8359775" cy="720725"/>
            <a:chOff x="240" y="1993"/>
            <a:chExt cx="5266" cy="454"/>
          </a:xfrm>
        </p:grpSpPr>
        <p:graphicFrame>
          <p:nvGraphicFramePr>
            <p:cNvPr id="18451" name="Object 827"/>
            <p:cNvGraphicFramePr>
              <a:graphicFrameLocks noChangeAspect="1"/>
            </p:cNvGraphicFramePr>
            <p:nvPr/>
          </p:nvGraphicFramePr>
          <p:xfrm>
            <a:off x="1008" y="1993"/>
            <a:ext cx="2208" cy="454"/>
          </p:xfrm>
          <a:graphic>
            <a:graphicData uri="http://schemas.openxmlformats.org/presentationml/2006/ole">
              <mc:AlternateContent xmlns:mc="http://schemas.openxmlformats.org/markup-compatibility/2006">
                <mc:Choice xmlns:v="urn:schemas-microsoft-com:vml" Requires="v">
                  <p:oleObj name="Equation" r:id="rId6" imgW="2476500" imgH="508000" progId="Equation.DSMT4">
                    <p:embed/>
                  </p:oleObj>
                </mc:Choice>
                <mc:Fallback>
                  <p:oleObj name="Equation" r:id="rId6" imgW="2476500" imgH="508000" progId="Equation.DSMT4">
                    <p:embed/>
                    <p:pic>
                      <p:nvPicPr>
                        <p:cNvPr id="18451" name="Object 8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8" y="1993"/>
                          <a:ext cx="2208" cy="4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52" name="Text Box 828"/>
            <p:cNvSpPr txBox="1">
              <a:spLocks noChangeArrowheads="1"/>
            </p:cNvSpPr>
            <p:nvPr/>
          </p:nvSpPr>
          <p:spPr bwMode="auto">
            <a:xfrm>
              <a:off x="240" y="2124"/>
              <a:ext cx="65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solidFill>
                    <a:srgbClr val="000066"/>
                  </a:solidFill>
                </a:rPr>
                <a:t>Hipótesis:</a:t>
              </a:r>
              <a:endParaRPr lang="es-ES" altLang="es-ES" sz="1400" b="1">
                <a:solidFill>
                  <a:srgbClr val="000066"/>
                </a:solidFill>
              </a:endParaRPr>
            </a:p>
          </p:txBody>
        </p:sp>
        <p:graphicFrame>
          <p:nvGraphicFramePr>
            <p:cNvPr id="18453" name="Object 832">
              <a:hlinkClick r:id="rId8" action="ppaction://hlinksldjump"/>
            </p:cNvPr>
            <p:cNvGraphicFramePr>
              <a:graphicFrameLocks noChangeAspect="1"/>
            </p:cNvGraphicFramePr>
            <p:nvPr/>
          </p:nvGraphicFramePr>
          <p:xfrm>
            <a:off x="3408" y="2043"/>
            <a:ext cx="2098" cy="355"/>
          </p:xfrm>
          <a:graphic>
            <a:graphicData uri="http://schemas.openxmlformats.org/presentationml/2006/ole">
              <mc:AlternateContent xmlns:mc="http://schemas.openxmlformats.org/markup-compatibility/2006">
                <mc:Choice xmlns:v="urn:schemas-microsoft-com:vml" Requires="v">
                  <p:oleObj name="Equation" r:id="rId9" imgW="2997200" imgH="508000" progId="Equation.DSMT4">
                    <p:embed/>
                  </p:oleObj>
                </mc:Choice>
                <mc:Fallback>
                  <p:oleObj name="Equation" r:id="rId9" imgW="2997200" imgH="508000" progId="Equation.DSMT4">
                    <p:embed/>
                    <p:pic>
                      <p:nvPicPr>
                        <p:cNvPr id="18453" name="Object 832">
                          <a:hlinkClick r:id="" action="ppaction://noaction"/>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08" y="2043"/>
                          <a:ext cx="2098" cy="3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54" name="Text Box 833"/>
            <p:cNvSpPr txBox="1">
              <a:spLocks noChangeArrowheads="1"/>
            </p:cNvSpPr>
            <p:nvPr/>
          </p:nvSpPr>
          <p:spPr bwMode="auto">
            <a:xfrm>
              <a:off x="3280" y="2025"/>
              <a:ext cx="16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 altLang="es-ES" sz="1400"/>
                <a:t>*</a:t>
              </a:r>
            </a:p>
          </p:txBody>
        </p:sp>
      </p:grpSp>
      <p:sp>
        <p:nvSpPr>
          <p:cNvPr id="18439" name="Text Box 843"/>
          <p:cNvSpPr txBox="1">
            <a:spLocks noChangeArrowheads="1"/>
          </p:cNvSpPr>
          <p:nvPr/>
        </p:nvSpPr>
        <p:spPr bwMode="auto">
          <a:xfrm>
            <a:off x="1328737" y="4870038"/>
            <a:ext cx="73485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 altLang="es-ES" dirty="0">
                <a:solidFill>
                  <a:srgbClr val="000066"/>
                </a:solidFill>
              </a:rPr>
              <a:t>Con un 95% de confianza se puede esperar que la reducción del nivel de colesterol sea un valor comprendido entre 10 y 34 unidades (redondeando)</a:t>
            </a:r>
          </a:p>
        </p:txBody>
      </p:sp>
      <p:grpSp>
        <p:nvGrpSpPr>
          <p:cNvPr id="18440" name="Group 849"/>
          <p:cNvGrpSpPr>
            <a:grpSpLocks/>
          </p:cNvGrpSpPr>
          <p:nvPr/>
        </p:nvGrpSpPr>
        <p:grpSpPr bwMode="auto">
          <a:xfrm>
            <a:off x="381000" y="4038600"/>
            <a:ext cx="7243763" cy="735012"/>
            <a:chOff x="240" y="2897"/>
            <a:chExt cx="4563" cy="463"/>
          </a:xfrm>
        </p:grpSpPr>
        <p:graphicFrame>
          <p:nvGraphicFramePr>
            <p:cNvPr id="18447" name="Object 829"/>
            <p:cNvGraphicFramePr>
              <a:graphicFrameLocks noChangeAspect="1"/>
            </p:cNvGraphicFramePr>
            <p:nvPr/>
          </p:nvGraphicFramePr>
          <p:xfrm>
            <a:off x="864" y="2897"/>
            <a:ext cx="2392" cy="271"/>
          </p:xfrm>
          <a:graphic>
            <a:graphicData uri="http://schemas.openxmlformats.org/presentationml/2006/ole">
              <mc:AlternateContent xmlns:mc="http://schemas.openxmlformats.org/markup-compatibility/2006">
                <mc:Choice xmlns:v="urn:schemas-microsoft-com:vml" Requires="v">
                  <p:oleObj name="Equation" r:id="rId11" imgW="2806700" imgH="317500" progId="Equation.DSMT4">
                    <p:embed/>
                  </p:oleObj>
                </mc:Choice>
                <mc:Fallback>
                  <p:oleObj name="Equation" r:id="rId11" imgW="2806700" imgH="317500" progId="Equation.DSMT4">
                    <p:embed/>
                    <p:pic>
                      <p:nvPicPr>
                        <p:cNvPr id="18447" name="Object 8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64" y="2897"/>
                          <a:ext cx="2392" cy="2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8" name="Text Box 835">
              <a:hlinkClick r:id="rId13" action="ppaction://hlinksldjump"/>
            </p:cNvPr>
            <p:cNvSpPr txBox="1">
              <a:spLocks noChangeArrowheads="1"/>
            </p:cNvSpPr>
            <p:nvPr/>
          </p:nvSpPr>
          <p:spPr bwMode="auto">
            <a:xfrm>
              <a:off x="3582" y="2923"/>
              <a:ext cx="1152" cy="198"/>
            </a:xfrm>
            <a:prstGeom prst="rect">
              <a:avLst/>
            </a:prstGeom>
            <a:noFill/>
            <a:ln w="9525">
              <a:solidFill>
                <a:srgbClr val="96969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a:spcBef>
                  <a:spcPct val="50000"/>
                </a:spcBef>
              </a:pPr>
              <a:r>
                <a:rPr lang="es-ES_tradnl" altLang="es-ES" sz="1400">
                  <a:solidFill>
                    <a:srgbClr val="000099"/>
                  </a:solidFill>
                  <a:latin typeface="Times New Roman" pitchFamily="18" charset="0"/>
                </a:rPr>
                <a:t> P= 0.002</a:t>
              </a:r>
            </a:p>
          </p:txBody>
        </p:sp>
        <p:graphicFrame>
          <p:nvGraphicFramePr>
            <p:cNvPr id="18449" name="Object 839">
              <a:hlinkClick r:id="rId8" action="ppaction://hlinksldjump"/>
            </p:cNvPr>
            <p:cNvGraphicFramePr>
              <a:graphicFrameLocks noChangeAspect="1"/>
            </p:cNvGraphicFramePr>
            <p:nvPr/>
          </p:nvGraphicFramePr>
          <p:xfrm>
            <a:off x="3512" y="3217"/>
            <a:ext cx="1291" cy="143"/>
          </p:xfrm>
          <a:graphic>
            <a:graphicData uri="http://schemas.openxmlformats.org/presentationml/2006/ole">
              <mc:AlternateContent xmlns:mc="http://schemas.openxmlformats.org/markup-compatibility/2006">
                <mc:Choice xmlns:v="urn:schemas-microsoft-com:vml" Requires="v">
                  <p:oleObj name="Equation" r:id="rId14" imgW="1841500" imgH="203200" progId="Equation.DSMT4">
                    <p:embed/>
                  </p:oleObj>
                </mc:Choice>
                <mc:Fallback>
                  <p:oleObj name="Equation" r:id="rId14" imgW="1841500" imgH="203200" progId="Equation.DSMT4">
                    <p:embed/>
                    <p:pic>
                      <p:nvPicPr>
                        <p:cNvPr id="18449" name="Object 839">
                          <a:hlinkClick r:id="" action="ppaction://noaction"/>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12" y="3217"/>
                          <a:ext cx="1291" cy="1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50" name="Object 846"/>
            <p:cNvGraphicFramePr>
              <a:graphicFrameLocks noChangeAspect="1"/>
            </p:cNvGraphicFramePr>
            <p:nvPr/>
          </p:nvGraphicFramePr>
          <p:xfrm>
            <a:off x="240" y="2976"/>
            <a:ext cx="299" cy="140"/>
          </p:xfrm>
          <a:graphic>
            <a:graphicData uri="http://schemas.openxmlformats.org/presentationml/2006/ole">
              <mc:AlternateContent xmlns:mc="http://schemas.openxmlformats.org/markup-compatibility/2006">
                <mc:Choice xmlns:v="urn:schemas-microsoft-com:vml" Requires="v">
                  <p:oleObj name="Equation" r:id="rId16" imgW="342603" imgH="164957" progId="Equation.DSMT4">
                    <p:embed/>
                  </p:oleObj>
                </mc:Choice>
                <mc:Fallback>
                  <p:oleObj name="Equation" r:id="rId16" imgW="342603" imgH="164957" progId="Equation.DSMT4">
                    <p:embed/>
                    <p:pic>
                      <p:nvPicPr>
                        <p:cNvPr id="18450" name="Object 84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0" y="2976"/>
                          <a:ext cx="299" cy="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8445" name="Object 841"/>
          <p:cNvGraphicFramePr>
            <a:graphicFrameLocks noChangeAspect="1"/>
          </p:cNvGraphicFramePr>
          <p:nvPr>
            <p:extLst>
              <p:ext uri="{D42A27DB-BD31-4B8C-83A1-F6EECF244321}">
                <p14:modId xmlns:p14="http://schemas.microsoft.com/office/powerpoint/2010/main" val="2655238296"/>
              </p:ext>
            </p:extLst>
          </p:nvPr>
        </p:nvGraphicFramePr>
        <p:xfrm>
          <a:off x="1436688" y="4572000"/>
          <a:ext cx="3509963" cy="296863"/>
        </p:xfrm>
        <a:graphic>
          <a:graphicData uri="http://schemas.openxmlformats.org/presentationml/2006/ole">
            <mc:AlternateContent xmlns:mc="http://schemas.openxmlformats.org/markup-compatibility/2006">
              <mc:Choice xmlns:v="urn:schemas-microsoft-com:vml" Requires="v">
                <p:oleObj name="Equation" r:id="rId18" imgW="2705040" imgH="228600" progId="Equation.DSMT4">
                  <p:embed/>
                </p:oleObj>
              </mc:Choice>
              <mc:Fallback>
                <p:oleObj name="Equation" r:id="rId18" imgW="2705040" imgH="228600" progId="Equation.DSMT4">
                  <p:embed/>
                  <p:pic>
                    <p:nvPicPr>
                      <p:cNvPr id="18445" name="Object 841"/>
                      <p:cNvPicPr>
                        <a:picLocks noChangeAspect="1" noChangeArrowheads="1"/>
                      </p:cNvPicPr>
                      <p:nvPr/>
                    </p:nvPicPr>
                    <p:blipFill>
                      <a:blip r:embed="rId19"/>
                      <a:srcRect/>
                      <a:stretch>
                        <a:fillRect/>
                      </a:stretch>
                    </p:blipFill>
                    <p:spPr bwMode="auto">
                      <a:xfrm>
                        <a:off x="1436688" y="4572000"/>
                        <a:ext cx="3509963" cy="296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6" name="Rectangle 842"/>
          <p:cNvSpPr>
            <a:spLocks noChangeArrowheads="1"/>
          </p:cNvSpPr>
          <p:nvPr/>
        </p:nvSpPr>
        <p:spPr bwMode="auto">
          <a:xfrm>
            <a:off x="1347788" y="4506015"/>
            <a:ext cx="3695699" cy="390525"/>
          </a:xfrm>
          <a:prstGeom prst="rect">
            <a:avLst/>
          </a:prstGeom>
          <a:noFill/>
          <a:ln w="9525">
            <a:solidFill>
              <a:srgbClr val="969696"/>
            </a:solidFill>
            <a:miter lim="800000"/>
            <a:headEnd/>
            <a:tailEnd/>
          </a:ln>
          <a:effectLst/>
          <a:extLst>
            <a:ext uri="{909E8E84-426E-40DD-AFC4-6F175D3DCCD1}">
              <a14:hiddenFill xmlns:a14="http://schemas.microsoft.com/office/drawing/2010/main">
                <a:solidFill>
                  <a:srgbClr val="EAEAEA">
                    <a:alpha val="0"/>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aphicFrame>
        <p:nvGraphicFramePr>
          <p:cNvPr id="18444" name="Object 847"/>
          <p:cNvGraphicFramePr>
            <a:graphicFrameLocks noChangeAspect="1"/>
          </p:cNvGraphicFramePr>
          <p:nvPr>
            <p:extLst>
              <p:ext uri="{D42A27DB-BD31-4B8C-83A1-F6EECF244321}">
                <p14:modId xmlns:p14="http://schemas.microsoft.com/office/powerpoint/2010/main" val="3533612952"/>
              </p:ext>
            </p:extLst>
          </p:nvPr>
        </p:nvGraphicFramePr>
        <p:xfrm>
          <a:off x="381000" y="4600575"/>
          <a:ext cx="633413" cy="222250"/>
        </p:xfrm>
        <a:graphic>
          <a:graphicData uri="http://schemas.openxmlformats.org/presentationml/2006/ole">
            <mc:AlternateContent xmlns:mc="http://schemas.openxmlformats.org/markup-compatibility/2006">
              <mc:Choice xmlns:v="urn:schemas-microsoft-com:vml" Requires="v">
                <p:oleObj name="Equation" r:id="rId20" imgW="457002" imgH="165028" progId="Equation.DSMT4">
                  <p:embed/>
                </p:oleObj>
              </mc:Choice>
              <mc:Fallback>
                <p:oleObj name="Equation" r:id="rId20" imgW="457002" imgH="165028" progId="Equation.DSMT4">
                  <p:embed/>
                  <p:pic>
                    <p:nvPicPr>
                      <p:cNvPr id="18444" name="Object 84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81000" y="4600575"/>
                        <a:ext cx="633413" cy="222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2" name="Text Box 2"/>
          <p:cNvSpPr txBox="1">
            <a:spLocks noChangeArrowheads="1"/>
          </p:cNvSpPr>
          <p:nvPr/>
        </p:nvSpPr>
        <p:spPr bwMode="auto">
          <a:xfrm>
            <a:off x="228600" y="61912"/>
            <a:ext cx="71151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Relacionadas  // Variable normal  // Prueba de homogeneidad de medias</a:t>
            </a:r>
            <a:endParaRPr lang="es-ES" altLang="es-ES" sz="1400" b="1" dirty="0"/>
          </a:p>
        </p:txBody>
      </p:sp>
      <p:sp>
        <p:nvSpPr>
          <p:cNvPr id="25" name="Text Box 43"/>
          <p:cNvSpPr txBox="1">
            <a:spLocks noChangeArrowheads="1"/>
          </p:cNvSpPr>
          <p:nvPr/>
        </p:nvSpPr>
        <p:spPr bwMode="auto">
          <a:xfrm>
            <a:off x="228600" y="425450"/>
            <a:ext cx="88197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solidFill>
                  <a:schemeClr val="accent5">
                    <a:lumMod val="25000"/>
                  </a:schemeClr>
                </a:solidFill>
              </a:rPr>
              <a:t>Ejemplo</a:t>
            </a:r>
            <a:endParaRPr lang="es-ES" altLang="es-ES" sz="1400" b="1" dirty="0">
              <a:solidFill>
                <a:schemeClr val="accent5">
                  <a:lumMod val="25000"/>
                </a:schemeClr>
              </a:solidFill>
            </a:endParaRPr>
          </a:p>
        </p:txBody>
      </p:sp>
      <p:sp>
        <p:nvSpPr>
          <p:cNvPr id="2" name="CuadroTexto 1">
            <a:extLst>
              <a:ext uri="{FF2B5EF4-FFF2-40B4-BE49-F238E27FC236}">
                <a16:creationId xmlns:a16="http://schemas.microsoft.com/office/drawing/2014/main" id="{41C9D53F-527B-4E0A-9646-127CD710A3BC}"/>
              </a:ext>
            </a:extLst>
          </p:cNvPr>
          <p:cNvSpPr txBox="1"/>
          <p:nvPr/>
        </p:nvSpPr>
        <p:spPr>
          <a:xfrm>
            <a:off x="174829" y="6071026"/>
            <a:ext cx="5556329" cy="292388"/>
          </a:xfrm>
          <a:prstGeom prst="rect">
            <a:avLst/>
          </a:prstGeom>
          <a:noFill/>
        </p:spPr>
        <p:txBody>
          <a:bodyPr wrap="none" rtlCol="0">
            <a:spAutoFit/>
          </a:bodyPr>
          <a:lstStyle/>
          <a:p>
            <a:r>
              <a:rPr lang="es-ES" sz="1300" dirty="0">
                <a:solidFill>
                  <a:schemeClr val="accent5">
                    <a:lumMod val="25000"/>
                  </a:schemeClr>
                </a:solidFill>
              </a:rPr>
              <a:t>Si se considera clínicamente relevante una reducción de </a:t>
            </a:r>
            <a:r>
              <a:rPr lang="es-ES" sz="1300" b="1" dirty="0">
                <a:solidFill>
                  <a:schemeClr val="accent5">
                    <a:lumMod val="25000"/>
                  </a:schemeClr>
                </a:solidFill>
                <a:latin typeface="Symbol" panose="05050102010706020507" pitchFamily="18" charset="2"/>
              </a:rPr>
              <a:t>d</a:t>
            </a:r>
            <a:r>
              <a:rPr lang="es-ES" sz="1300" b="1" dirty="0">
                <a:solidFill>
                  <a:schemeClr val="accent5">
                    <a:lumMod val="25000"/>
                  </a:schemeClr>
                </a:solidFill>
              </a:rPr>
              <a:t>=50 </a:t>
            </a:r>
            <a:r>
              <a:rPr lang="es-ES" sz="1300" dirty="0">
                <a:solidFill>
                  <a:schemeClr val="accent5">
                    <a:lumMod val="25000"/>
                  </a:schemeClr>
                </a:solidFill>
              </a:rPr>
              <a:t>unidades:</a:t>
            </a:r>
          </a:p>
        </p:txBody>
      </p:sp>
      <p:sp>
        <p:nvSpPr>
          <p:cNvPr id="23" name="CuadroTexto 22">
            <a:extLst>
              <a:ext uri="{FF2B5EF4-FFF2-40B4-BE49-F238E27FC236}">
                <a16:creationId xmlns:a16="http://schemas.microsoft.com/office/drawing/2014/main" id="{1737927D-E730-4753-9A57-0DEDEE34E02F}"/>
              </a:ext>
            </a:extLst>
          </p:cNvPr>
          <p:cNvSpPr txBox="1"/>
          <p:nvPr/>
        </p:nvSpPr>
        <p:spPr>
          <a:xfrm>
            <a:off x="174829" y="5480476"/>
            <a:ext cx="5556329" cy="292388"/>
          </a:xfrm>
          <a:prstGeom prst="rect">
            <a:avLst/>
          </a:prstGeom>
          <a:noFill/>
        </p:spPr>
        <p:txBody>
          <a:bodyPr wrap="none" rtlCol="0">
            <a:spAutoFit/>
          </a:bodyPr>
          <a:lstStyle/>
          <a:p>
            <a:r>
              <a:rPr lang="es-ES" sz="1300" dirty="0">
                <a:solidFill>
                  <a:schemeClr val="accent5">
                    <a:lumMod val="25000"/>
                  </a:schemeClr>
                </a:solidFill>
              </a:rPr>
              <a:t>Si se considera clínicamente relevante una reducción de </a:t>
            </a:r>
            <a:r>
              <a:rPr lang="es-ES" sz="1300" b="1" dirty="0">
                <a:solidFill>
                  <a:schemeClr val="accent5">
                    <a:lumMod val="25000"/>
                  </a:schemeClr>
                </a:solidFill>
                <a:latin typeface="Symbol" panose="05050102010706020507" pitchFamily="18" charset="2"/>
              </a:rPr>
              <a:t>d</a:t>
            </a:r>
            <a:r>
              <a:rPr lang="es-ES" sz="1300" b="1" dirty="0">
                <a:solidFill>
                  <a:schemeClr val="accent5">
                    <a:lumMod val="25000"/>
                  </a:schemeClr>
                </a:solidFill>
              </a:rPr>
              <a:t>=25</a:t>
            </a:r>
            <a:r>
              <a:rPr lang="es-ES" sz="1300" dirty="0">
                <a:solidFill>
                  <a:schemeClr val="accent5">
                    <a:lumMod val="25000"/>
                  </a:schemeClr>
                </a:solidFill>
              </a:rPr>
              <a:t> unidades:</a:t>
            </a:r>
          </a:p>
        </p:txBody>
      </p:sp>
      <p:sp>
        <p:nvSpPr>
          <p:cNvPr id="3" name="CuadroTexto 2">
            <a:extLst>
              <a:ext uri="{FF2B5EF4-FFF2-40B4-BE49-F238E27FC236}">
                <a16:creationId xmlns:a16="http://schemas.microsoft.com/office/drawing/2014/main" id="{3827A71A-2111-4B1E-A580-4DA8FE6F2390}"/>
              </a:ext>
            </a:extLst>
          </p:cNvPr>
          <p:cNvSpPr txBox="1"/>
          <p:nvPr/>
        </p:nvSpPr>
        <p:spPr>
          <a:xfrm>
            <a:off x="174829" y="5721331"/>
            <a:ext cx="8674100" cy="276999"/>
          </a:xfrm>
          <a:prstGeom prst="rect">
            <a:avLst/>
          </a:prstGeom>
          <a:noFill/>
        </p:spPr>
        <p:txBody>
          <a:bodyPr wrap="square" rtlCol="0">
            <a:spAutoFit/>
          </a:bodyPr>
          <a:lstStyle/>
          <a:p>
            <a:r>
              <a:rPr lang="es-ES" dirty="0"/>
              <a:t>La reducción del nivel de colesterol debido a la AF es tanto estadística como clínicamente significativa </a:t>
            </a:r>
          </a:p>
        </p:txBody>
      </p:sp>
      <p:sp>
        <p:nvSpPr>
          <p:cNvPr id="26" name="CuadroTexto 25">
            <a:extLst>
              <a:ext uri="{FF2B5EF4-FFF2-40B4-BE49-F238E27FC236}">
                <a16:creationId xmlns:a16="http://schemas.microsoft.com/office/drawing/2014/main" id="{8B464843-3310-48F1-BD1C-AB8D658D4CE3}"/>
              </a:ext>
            </a:extLst>
          </p:cNvPr>
          <p:cNvSpPr txBox="1"/>
          <p:nvPr/>
        </p:nvSpPr>
        <p:spPr>
          <a:xfrm>
            <a:off x="174829" y="6293143"/>
            <a:ext cx="8674100" cy="461665"/>
          </a:xfrm>
          <a:prstGeom prst="rect">
            <a:avLst/>
          </a:prstGeom>
          <a:noFill/>
        </p:spPr>
        <p:txBody>
          <a:bodyPr wrap="square" rtlCol="0">
            <a:spAutoFit/>
          </a:bodyPr>
          <a:lstStyle/>
          <a:p>
            <a:r>
              <a:rPr lang="es-ES" dirty="0"/>
              <a:t>La reducción del nivel de colesterol debido a la AF es estadísticamente significativa, pero no tiene relevancia clínica. El efecto detectado es muy pequeño</a:t>
            </a:r>
          </a:p>
        </p:txBody>
      </p:sp>
    </p:spTree>
    <p:extLst>
      <p:ext uri="{BB962C8B-B14F-4D97-AF65-F5344CB8AC3E}">
        <p14:creationId xmlns:p14="http://schemas.microsoft.com/office/powerpoint/2010/main" val="23353241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210127" y="86447"/>
            <a:ext cx="53943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y apareadas // Variable No-normal </a:t>
            </a:r>
            <a:endParaRPr lang="es-ES" altLang="es-ES" sz="1400" b="1" dirty="0"/>
          </a:p>
        </p:txBody>
      </p:sp>
      <p:sp>
        <p:nvSpPr>
          <p:cNvPr id="19459" name="Text Box 8"/>
          <p:cNvSpPr txBox="1">
            <a:spLocks noChangeArrowheads="1"/>
          </p:cNvSpPr>
          <p:nvPr/>
        </p:nvSpPr>
        <p:spPr bwMode="auto">
          <a:xfrm>
            <a:off x="409575" y="1143000"/>
            <a:ext cx="91281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300" b="1"/>
              <a:t> Validez:</a:t>
            </a:r>
            <a:endParaRPr lang="es-ES" altLang="es-ES" sz="1300" b="1"/>
          </a:p>
        </p:txBody>
      </p:sp>
      <p:sp>
        <p:nvSpPr>
          <p:cNvPr id="19460" name="Text Box 10"/>
          <p:cNvSpPr txBox="1">
            <a:spLocks noChangeArrowheads="1"/>
          </p:cNvSpPr>
          <p:nvPr/>
        </p:nvSpPr>
        <p:spPr bwMode="auto">
          <a:xfrm>
            <a:off x="1141413" y="1144588"/>
            <a:ext cx="6471643"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dirty="0"/>
              <a:t>  Si los tamaños de muestra son </a:t>
            </a:r>
            <a:r>
              <a:rPr lang="es-ES_tradnl" altLang="es-ES" sz="1300" b="1" dirty="0"/>
              <a:t>mayores a 60 </a:t>
            </a:r>
            <a:r>
              <a:rPr lang="es-ES_tradnl" altLang="es-ES" sz="1300" dirty="0"/>
              <a:t>(o a 30 si la distribución es simétrica)</a:t>
            </a:r>
            <a:endParaRPr lang="es-ES" altLang="es-ES" sz="1300" dirty="0"/>
          </a:p>
        </p:txBody>
      </p:sp>
      <p:sp>
        <p:nvSpPr>
          <p:cNvPr id="19461" name="Text Box 21"/>
          <p:cNvSpPr txBox="1">
            <a:spLocks noChangeArrowheads="1"/>
          </p:cNvSpPr>
          <p:nvPr/>
        </p:nvSpPr>
        <p:spPr bwMode="auto">
          <a:xfrm>
            <a:off x="422275" y="4487863"/>
            <a:ext cx="326724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300" i="1" dirty="0"/>
              <a:t> </a:t>
            </a:r>
            <a:r>
              <a:rPr lang="es-ES_tradnl" altLang="es-ES" sz="1600" i="1" dirty="0">
                <a:latin typeface="Times New Roman" pitchFamily="18" charset="0"/>
              </a:rPr>
              <a:t>P</a:t>
            </a:r>
            <a:r>
              <a:rPr lang="es-ES_tradnl" altLang="es-ES" sz="1600" dirty="0"/>
              <a:t> </a:t>
            </a:r>
            <a:r>
              <a:rPr lang="es-ES_tradnl" altLang="es-ES" sz="1300" dirty="0"/>
              <a:t>se obtiene de la distribución </a:t>
            </a:r>
            <a:r>
              <a:rPr lang="es-ES_tradnl" altLang="es-ES" sz="1300" i="1" dirty="0"/>
              <a:t>t-Student</a:t>
            </a:r>
            <a:endParaRPr lang="es-ES" altLang="es-ES" sz="1300" i="1" dirty="0"/>
          </a:p>
        </p:txBody>
      </p:sp>
      <p:grpSp>
        <p:nvGrpSpPr>
          <p:cNvPr id="19462" name="Group 37"/>
          <p:cNvGrpSpPr>
            <a:grpSpLocks/>
          </p:cNvGrpSpPr>
          <p:nvPr/>
        </p:nvGrpSpPr>
        <p:grpSpPr bwMode="auto">
          <a:xfrm>
            <a:off x="533400" y="1920875"/>
            <a:ext cx="6934200" cy="2438400"/>
            <a:chOff x="624" y="1488"/>
            <a:chExt cx="4368" cy="1536"/>
          </a:xfrm>
        </p:grpSpPr>
        <p:sp>
          <p:nvSpPr>
            <p:cNvPr id="19483" name="Text Box 24"/>
            <p:cNvSpPr txBox="1">
              <a:spLocks noChangeArrowheads="1"/>
            </p:cNvSpPr>
            <p:nvPr/>
          </p:nvSpPr>
          <p:spPr bwMode="auto">
            <a:xfrm>
              <a:off x="1901" y="1488"/>
              <a:ext cx="917"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Variable continua</a:t>
              </a:r>
              <a:endParaRPr lang="es-ES" altLang="es-ES" b="1"/>
            </a:p>
          </p:txBody>
        </p:sp>
        <p:sp>
          <p:nvSpPr>
            <p:cNvPr id="19484" name="Text Box 25"/>
            <p:cNvSpPr txBox="1">
              <a:spLocks noChangeArrowheads="1"/>
            </p:cNvSpPr>
            <p:nvPr/>
          </p:nvSpPr>
          <p:spPr bwMode="auto">
            <a:xfrm>
              <a:off x="3690" y="1488"/>
              <a:ext cx="88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Variable discreta</a:t>
              </a:r>
              <a:endParaRPr lang="es-ES" altLang="es-ES" b="1"/>
            </a:p>
          </p:txBody>
        </p:sp>
        <p:graphicFrame>
          <p:nvGraphicFramePr>
            <p:cNvPr id="19485" name="Object 19"/>
            <p:cNvGraphicFramePr>
              <a:graphicFrameLocks noChangeAspect="1"/>
            </p:cNvGraphicFramePr>
            <p:nvPr>
              <p:extLst>
                <p:ext uri="{D42A27DB-BD31-4B8C-83A1-F6EECF244321}">
                  <p14:modId xmlns:p14="http://schemas.microsoft.com/office/powerpoint/2010/main" val="1389983516"/>
                </p:ext>
              </p:extLst>
            </p:nvPr>
          </p:nvGraphicFramePr>
          <p:xfrm>
            <a:off x="1793" y="1822"/>
            <a:ext cx="1070" cy="389"/>
          </p:xfrm>
          <a:graphic>
            <a:graphicData uri="http://schemas.openxmlformats.org/presentationml/2006/ole">
              <mc:AlternateContent xmlns:mc="http://schemas.openxmlformats.org/markup-compatibility/2006">
                <mc:Choice xmlns:v="urn:schemas-microsoft-com:vml" Requires="v">
                  <p:oleObj name="Equation" r:id="rId2" imgW="1358640" imgH="495000" progId="Equation.DSMT4">
                    <p:embed/>
                  </p:oleObj>
                </mc:Choice>
                <mc:Fallback>
                  <p:oleObj name="Equation" r:id="rId2" imgW="1358640" imgH="495000" progId="Equation.DSMT4">
                    <p:embed/>
                    <p:pic>
                      <p:nvPicPr>
                        <p:cNvPr id="19485" name="Object 19"/>
                        <p:cNvPicPr>
                          <a:picLocks noChangeAspect="1" noChangeArrowheads="1"/>
                        </p:cNvPicPr>
                        <p:nvPr/>
                      </p:nvPicPr>
                      <p:blipFill>
                        <a:blip r:embed="rId3"/>
                        <a:srcRect/>
                        <a:stretch>
                          <a:fillRect/>
                        </a:stretch>
                      </p:blipFill>
                      <p:spPr bwMode="auto">
                        <a:xfrm>
                          <a:off x="1793" y="1822"/>
                          <a:ext cx="1070" cy="3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86" name="Text Box 22"/>
            <p:cNvSpPr txBox="1">
              <a:spLocks noChangeArrowheads="1"/>
            </p:cNvSpPr>
            <p:nvPr/>
          </p:nvSpPr>
          <p:spPr bwMode="auto">
            <a:xfrm>
              <a:off x="624" y="1872"/>
              <a:ext cx="82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Muestras</a:t>
              </a:r>
            </a:p>
            <a:p>
              <a:pPr eaLnBrk="1" hangingPunct="1"/>
              <a:r>
                <a:rPr lang="es-ES_tradnl" altLang="es-ES" b="1"/>
                <a:t>independientes</a:t>
              </a:r>
              <a:endParaRPr lang="es-ES" altLang="es-ES" b="1"/>
            </a:p>
          </p:txBody>
        </p:sp>
        <p:graphicFrame>
          <p:nvGraphicFramePr>
            <p:cNvPr id="19487" name="Object 26"/>
            <p:cNvGraphicFramePr>
              <a:graphicFrameLocks noChangeAspect="1"/>
            </p:cNvGraphicFramePr>
            <p:nvPr>
              <p:extLst>
                <p:ext uri="{D42A27DB-BD31-4B8C-83A1-F6EECF244321}">
                  <p14:modId xmlns:p14="http://schemas.microsoft.com/office/powerpoint/2010/main" val="4264153356"/>
                </p:ext>
              </p:extLst>
            </p:nvPr>
          </p:nvGraphicFramePr>
          <p:xfrm>
            <a:off x="3589" y="1821"/>
            <a:ext cx="1030" cy="389"/>
          </p:xfrm>
          <a:graphic>
            <a:graphicData uri="http://schemas.openxmlformats.org/presentationml/2006/ole">
              <mc:AlternateContent xmlns:mc="http://schemas.openxmlformats.org/markup-compatibility/2006">
                <mc:Choice xmlns:v="urn:schemas-microsoft-com:vml" Requires="v">
                  <p:oleObj name="Equation" r:id="rId4" imgW="1307880" imgH="495000" progId="Equation.DSMT4">
                    <p:embed/>
                  </p:oleObj>
                </mc:Choice>
                <mc:Fallback>
                  <p:oleObj name="Equation" r:id="rId4" imgW="1307880" imgH="495000" progId="Equation.DSMT4">
                    <p:embed/>
                    <p:pic>
                      <p:nvPicPr>
                        <p:cNvPr id="19487" name="Object 26"/>
                        <p:cNvPicPr>
                          <a:picLocks noChangeAspect="1" noChangeArrowheads="1"/>
                        </p:cNvPicPr>
                        <p:nvPr/>
                      </p:nvPicPr>
                      <p:blipFill>
                        <a:blip r:embed="rId5"/>
                        <a:srcRect/>
                        <a:stretch>
                          <a:fillRect/>
                        </a:stretch>
                      </p:blipFill>
                      <p:spPr bwMode="auto">
                        <a:xfrm>
                          <a:off x="3589" y="1821"/>
                          <a:ext cx="1030" cy="3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88" name="Text Box 23"/>
            <p:cNvSpPr txBox="1">
              <a:spLocks noChangeArrowheads="1"/>
            </p:cNvSpPr>
            <p:nvPr/>
          </p:nvSpPr>
          <p:spPr bwMode="auto">
            <a:xfrm>
              <a:off x="624" y="2544"/>
              <a:ext cx="5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Muestras</a:t>
              </a:r>
            </a:p>
            <a:p>
              <a:pPr eaLnBrk="1" hangingPunct="1"/>
              <a:r>
                <a:rPr lang="es-ES_tradnl" altLang="es-ES" b="1"/>
                <a:t>apareadas</a:t>
              </a:r>
              <a:endParaRPr lang="es-ES" altLang="es-ES" b="1"/>
            </a:p>
          </p:txBody>
        </p:sp>
        <p:graphicFrame>
          <p:nvGraphicFramePr>
            <p:cNvPr id="19489" name="Object 27"/>
            <p:cNvGraphicFramePr>
              <a:graphicFrameLocks noChangeAspect="1"/>
            </p:cNvGraphicFramePr>
            <p:nvPr>
              <p:extLst>
                <p:ext uri="{D42A27DB-BD31-4B8C-83A1-F6EECF244321}">
                  <p14:modId xmlns:p14="http://schemas.microsoft.com/office/powerpoint/2010/main" val="275959919"/>
                </p:ext>
              </p:extLst>
            </p:nvPr>
          </p:nvGraphicFramePr>
          <p:xfrm>
            <a:off x="3762" y="2460"/>
            <a:ext cx="682" cy="455"/>
          </p:xfrm>
          <a:graphic>
            <a:graphicData uri="http://schemas.openxmlformats.org/presentationml/2006/ole">
              <mc:AlternateContent xmlns:mc="http://schemas.openxmlformats.org/markup-compatibility/2006">
                <mc:Choice xmlns:v="urn:schemas-microsoft-com:vml" Requires="v">
                  <p:oleObj name="Equation" r:id="rId6" imgW="799920" imgH="533160" progId="Equation.DSMT4">
                    <p:embed/>
                  </p:oleObj>
                </mc:Choice>
                <mc:Fallback>
                  <p:oleObj name="Equation" r:id="rId6" imgW="799920" imgH="533160" progId="Equation.DSMT4">
                    <p:embed/>
                    <p:pic>
                      <p:nvPicPr>
                        <p:cNvPr id="19489" name="Object 27"/>
                        <p:cNvPicPr>
                          <a:picLocks noChangeAspect="1" noChangeArrowheads="1"/>
                        </p:cNvPicPr>
                        <p:nvPr/>
                      </p:nvPicPr>
                      <p:blipFill>
                        <a:blip r:embed="rId7"/>
                        <a:srcRect/>
                        <a:stretch>
                          <a:fillRect/>
                        </a:stretch>
                      </p:blipFill>
                      <p:spPr bwMode="auto">
                        <a:xfrm>
                          <a:off x="3762" y="2460"/>
                          <a:ext cx="682" cy="4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90" name="Object 28"/>
            <p:cNvGraphicFramePr>
              <a:graphicFrameLocks noChangeAspect="1"/>
            </p:cNvGraphicFramePr>
            <p:nvPr>
              <p:extLst>
                <p:ext uri="{D42A27DB-BD31-4B8C-83A1-F6EECF244321}">
                  <p14:modId xmlns:p14="http://schemas.microsoft.com/office/powerpoint/2010/main" val="550793945"/>
                </p:ext>
              </p:extLst>
            </p:nvPr>
          </p:nvGraphicFramePr>
          <p:xfrm>
            <a:off x="1987" y="2460"/>
            <a:ext cx="682" cy="456"/>
          </p:xfrm>
          <a:graphic>
            <a:graphicData uri="http://schemas.openxmlformats.org/presentationml/2006/ole">
              <mc:AlternateContent xmlns:mc="http://schemas.openxmlformats.org/markup-compatibility/2006">
                <mc:Choice xmlns:v="urn:schemas-microsoft-com:vml" Requires="v">
                  <p:oleObj name="Equation" r:id="rId8" imgW="799920" imgH="533160" progId="Equation.DSMT4">
                    <p:embed/>
                  </p:oleObj>
                </mc:Choice>
                <mc:Fallback>
                  <p:oleObj name="Equation" r:id="rId8" imgW="799920" imgH="533160" progId="Equation.DSMT4">
                    <p:embed/>
                    <p:pic>
                      <p:nvPicPr>
                        <p:cNvPr id="19490" name="Object 28"/>
                        <p:cNvPicPr>
                          <a:picLocks noChangeAspect="1" noChangeArrowheads="1"/>
                        </p:cNvPicPr>
                        <p:nvPr/>
                      </p:nvPicPr>
                      <p:blipFill>
                        <a:blip r:embed="rId9"/>
                        <a:srcRect/>
                        <a:stretch>
                          <a:fillRect/>
                        </a:stretch>
                      </p:blipFill>
                      <p:spPr bwMode="auto">
                        <a:xfrm>
                          <a:off x="1987" y="2460"/>
                          <a:ext cx="682" cy="4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91" name="AutoShape 32"/>
            <p:cNvSpPr>
              <a:spLocks noChangeArrowheads="1"/>
            </p:cNvSpPr>
            <p:nvPr/>
          </p:nvSpPr>
          <p:spPr bwMode="auto">
            <a:xfrm>
              <a:off x="1440" y="1680"/>
              <a:ext cx="1776" cy="672"/>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9492" name="AutoShape 34"/>
            <p:cNvSpPr>
              <a:spLocks noChangeArrowheads="1"/>
            </p:cNvSpPr>
            <p:nvPr/>
          </p:nvSpPr>
          <p:spPr bwMode="auto">
            <a:xfrm>
              <a:off x="3216" y="1680"/>
              <a:ext cx="1776" cy="672"/>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9493" name="AutoShape 35"/>
            <p:cNvSpPr>
              <a:spLocks noChangeArrowheads="1"/>
            </p:cNvSpPr>
            <p:nvPr/>
          </p:nvSpPr>
          <p:spPr bwMode="auto">
            <a:xfrm>
              <a:off x="3216" y="2352"/>
              <a:ext cx="1776" cy="672"/>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9494" name="AutoShape 36"/>
            <p:cNvSpPr>
              <a:spLocks noChangeArrowheads="1"/>
            </p:cNvSpPr>
            <p:nvPr/>
          </p:nvSpPr>
          <p:spPr bwMode="auto">
            <a:xfrm>
              <a:off x="1440" y="2352"/>
              <a:ext cx="1776" cy="672"/>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19463" name="Text Box 38"/>
          <p:cNvSpPr txBox="1">
            <a:spLocks noChangeArrowheads="1"/>
          </p:cNvSpPr>
          <p:nvPr/>
        </p:nvSpPr>
        <p:spPr bwMode="auto">
          <a:xfrm>
            <a:off x="409575" y="1524000"/>
            <a:ext cx="68421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300" b="1"/>
              <a:t> Test:</a:t>
            </a:r>
            <a:endParaRPr lang="es-ES" altLang="es-ES" sz="1300" b="1"/>
          </a:p>
        </p:txBody>
      </p:sp>
      <p:sp>
        <p:nvSpPr>
          <p:cNvPr id="19464" name="Text Box 39"/>
          <p:cNvSpPr txBox="1">
            <a:spLocks noChangeArrowheads="1"/>
          </p:cNvSpPr>
          <p:nvPr/>
        </p:nvSpPr>
        <p:spPr bwMode="auto">
          <a:xfrm>
            <a:off x="409575" y="5276850"/>
            <a:ext cx="10334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300" b="1"/>
              <a:t> Intervalo:</a:t>
            </a:r>
            <a:endParaRPr lang="es-ES" altLang="es-ES" sz="1300" b="1"/>
          </a:p>
        </p:txBody>
      </p:sp>
      <p:sp>
        <p:nvSpPr>
          <p:cNvPr id="19465" name="Text Box 42"/>
          <p:cNvSpPr txBox="1">
            <a:spLocks noChangeArrowheads="1"/>
          </p:cNvSpPr>
          <p:nvPr/>
        </p:nvSpPr>
        <p:spPr bwMode="auto">
          <a:xfrm>
            <a:off x="422275" y="4792663"/>
            <a:ext cx="44148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300"/>
              <a:t> La cantidad </a:t>
            </a:r>
            <a:r>
              <a:rPr lang="es-ES_tradnl" altLang="es-ES" sz="1400" i="1">
                <a:latin typeface="Times New Roman" pitchFamily="18" charset="0"/>
              </a:rPr>
              <a:t>c</a:t>
            </a:r>
            <a:r>
              <a:rPr lang="es-ES_tradnl" altLang="es-ES" sz="1300"/>
              <a:t> es una corrección para variables discretas</a:t>
            </a:r>
            <a:endParaRPr lang="es-ES" altLang="es-ES" sz="1300"/>
          </a:p>
        </p:txBody>
      </p:sp>
      <p:sp>
        <p:nvSpPr>
          <p:cNvPr id="19466" name="Rectangle 46"/>
          <p:cNvSpPr>
            <a:spLocks noChangeArrowheads="1"/>
          </p:cNvSpPr>
          <p:nvPr/>
        </p:nvSpPr>
        <p:spPr bwMode="auto">
          <a:xfrm>
            <a:off x="228600" y="455686"/>
            <a:ext cx="64881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Inferencias sobre la diferencia de las medias por aproximación a la Normal</a:t>
            </a:r>
            <a:endParaRPr lang="es-ES" altLang="es-ES" sz="1400" b="1" dirty="0"/>
          </a:p>
        </p:txBody>
      </p:sp>
      <p:grpSp>
        <p:nvGrpSpPr>
          <p:cNvPr id="19467" name="Group 51"/>
          <p:cNvGrpSpPr>
            <a:grpSpLocks/>
          </p:cNvGrpSpPr>
          <p:nvPr/>
        </p:nvGrpSpPr>
        <p:grpSpPr bwMode="auto">
          <a:xfrm>
            <a:off x="4895849" y="4649792"/>
            <a:ext cx="2952750" cy="601663"/>
            <a:chOff x="3024" y="3151"/>
            <a:chExt cx="1860" cy="379"/>
          </a:xfrm>
        </p:grpSpPr>
        <p:graphicFrame>
          <p:nvGraphicFramePr>
            <p:cNvPr id="19478" name="Object 40"/>
            <p:cNvGraphicFramePr>
              <a:graphicFrameLocks noChangeAspect="1"/>
            </p:cNvGraphicFramePr>
            <p:nvPr>
              <p:extLst>
                <p:ext uri="{D42A27DB-BD31-4B8C-83A1-F6EECF244321}">
                  <p14:modId xmlns:p14="http://schemas.microsoft.com/office/powerpoint/2010/main" val="4090919430"/>
                </p:ext>
              </p:extLst>
            </p:nvPr>
          </p:nvGraphicFramePr>
          <p:xfrm>
            <a:off x="3965" y="3151"/>
            <a:ext cx="919" cy="200"/>
          </p:xfrm>
          <a:graphic>
            <a:graphicData uri="http://schemas.openxmlformats.org/presentationml/2006/ole">
              <mc:AlternateContent xmlns:mc="http://schemas.openxmlformats.org/markup-compatibility/2006">
                <mc:Choice xmlns:v="urn:schemas-microsoft-com:vml" Requires="v">
                  <p:oleObj name="Equation" r:id="rId10" imgW="1168200" imgH="253800" progId="Equation.DSMT4">
                    <p:embed/>
                  </p:oleObj>
                </mc:Choice>
                <mc:Fallback>
                  <p:oleObj name="Equation" r:id="rId10" imgW="1168200" imgH="253800" progId="Equation.DSMT4">
                    <p:embed/>
                    <p:pic>
                      <p:nvPicPr>
                        <p:cNvPr id="19478" name="Object 40"/>
                        <p:cNvPicPr>
                          <a:picLocks noChangeAspect="1" noChangeArrowheads="1"/>
                        </p:cNvPicPr>
                        <p:nvPr/>
                      </p:nvPicPr>
                      <p:blipFill>
                        <a:blip r:embed="rId11"/>
                        <a:srcRect/>
                        <a:stretch>
                          <a:fillRect/>
                        </a:stretch>
                      </p:blipFill>
                      <p:spPr bwMode="auto">
                        <a:xfrm>
                          <a:off x="3965" y="3151"/>
                          <a:ext cx="919" cy="200"/>
                        </a:xfrm>
                        <a:prstGeom prst="rect">
                          <a:avLst/>
                        </a:prstGeom>
                        <a:noFill/>
                        <a:ln>
                          <a:noFill/>
                        </a:ln>
                        <a:effectLst/>
                      </p:spPr>
                    </p:pic>
                  </p:oleObj>
                </mc:Fallback>
              </mc:AlternateContent>
            </a:graphicData>
          </a:graphic>
        </p:graphicFrame>
        <p:sp>
          <p:nvSpPr>
            <p:cNvPr id="19479" name="Rectangle 48"/>
            <p:cNvSpPr>
              <a:spLocks noChangeArrowheads="1"/>
            </p:cNvSpPr>
            <p:nvPr/>
          </p:nvSpPr>
          <p:spPr bwMode="auto">
            <a:xfrm>
              <a:off x="3024" y="3168"/>
              <a:ext cx="957"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 en independientes</a:t>
              </a:r>
              <a:endParaRPr lang="es-ES" altLang="es-ES"/>
            </a:p>
          </p:txBody>
        </p:sp>
        <p:grpSp>
          <p:nvGrpSpPr>
            <p:cNvPr id="19480" name="Group 50"/>
            <p:cNvGrpSpPr>
              <a:grpSpLocks/>
            </p:cNvGrpSpPr>
            <p:nvPr/>
          </p:nvGrpSpPr>
          <p:grpSpPr bwMode="auto">
            <a:xfrm>
              <a:off x="3024" y="3355"/>
              <a:ext cx="1359" cy="175"/>
              <a:chOff x="3024" y="3463"/>
              <a:chExt cx="1359" cy="175"/>
            </a:xfrm>
          </p:grpSpPr>
          <p:graphicFrame>
            <p:nvGraphicFramePr>
              <p:cNvPr id="19481" name="Object 41"/>
              <p:cNvGraphicFramePr>
                <a:graphicFrameLocks noChangeAspect="1"/>
              </p:cNvGraphicFramePr>
              <p:nvPr>
                <p:extLst>
                  <p:ext uri="{D42A27DB-BD31-4B8C-83A1-F6EECF244321}">
                    <p14:modId xmlns:p14="http://schemas.microsoft.com/office/powerpoint/2010/main" val="2747244826"/>
                  </p:ext>
                </p:extLst>
              </p:nvPr>
            </p:nvGraphicFramePr>
            <p:xfrm>
              <a:off x="3965" y="3463"/>
              <a:ext cx="418" cy="169"/>
            </p:xfrm>
            <a:graphic>
              <a:graphicData uri="http://schemas.openxmlformats.org/presentationml/2006/ole">
                <mc:AlternateContent xmlns:mc="http://schemas.openxmlformats.org/markup-compatibility/2006">
                  <mc:Choice xmlns:v="urn:schemas-microsoft-com:vml" Requires="v">
                    <p:oleObj name="Equation" r:id="rId12" imgW="532937" imgH="215713" progId="Equation.DSMT4">
                      <p:embed/>
                    </p:oleObj>
                  </mc:Choice>
                  <mc:Fallback>
                    <p:oleObj name="Equation" r:id="rId12" imgW="532937" imgH="215713" progId="Equation.DSMT4">
                      <p:embed/>
                      <p:pic>
                        <p:nvPicPr>
                          <p:cNvPr id="19481" name="Object 4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65" y="3463"/>
                            <a:ext cx="418" cy="169"/>
                          </a:xfrm>
                          <a:prstGeom prst="rect">
                            <a:avLst/>
                          </a:prstGeom>
                          <a:noFill/>
                          <a:ln>
                            <a:noFill/>
                          </a:ln>
                          <a:effectLst/>
                        </p:spPr>
                      </p:pic>
                    </p:oleObj>
                  </mc:Fallback>
                </mc:AlternateContent>
              </a:graphicData>
            </a:graphic>
          </p:graphicFrame>
          <p:sp>
            <p:nvSpPr>
              <p:cNvPr id="19482" name="Rectangle 49"/>
              <p:cNvSpPr>
                <a:spLocks noChangeArrowheads="1"/>
              </p:cNvSpPr>
              <p:nvPr/>
            </p:nvSpPr>
            <p:spPr bwMode="auto">
              <a:xfrm>
                <a:off x="3024" y="3465"/>
                <a:ext cx="76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 en apareadas</a:t>
                </a:r>
                <a:endParaRPr lang="es-ES" altLang="es-ES"/>
              </a:p>
            </p:txBody>
          </p:sp>
        </p:grpSp>
      </p:grpSp>
      <p:sp>
        <p:nvSpPr>
          <p:cNvPr id="19468" name="AutoShape 52"/>
          <p:cNvSpPr>
            <a:spLocks/>
          </p:cNvSpPr>
          <p:nvPr/>
        </p:nvSpPr>
        <p:spPr bwMode="auto">
          <a:xfrm>
            <a:off x="4829175" y="4638675"/>
            <a:ext cx="84138" cy="647700"/>
          </a:xfrm>
          <a:prstGeom prst="leftBrace">
            <a:avLst>
              <a:gd name="adj1" fmla="val 6415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9469" name="Text Box 53"/>
          <p:cNvSpPr txBox="1">
            <a:spLocks noChangeArrowheads="1"/>
          </p:cNvSpPr>
          <p:nvPr/>
        </p:nvSpPr>
        <p:spPr bwMode="auto">
          <a:xfrm>
            <a:off x="533400" y="5684838"/>
            <a:ext cx="150653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Variable continua:</a:t>
            </a:r>
            <a:endParaRPr lang="es-ES" altLang="es-ES" b="1"/>
          </a:p>
        </p:txBody>
      </p:sp>
      <p:sp>
        <p:nvSpPr>
          <p:cNvPr id="19470" name="Text Box 54"/>
          <p:cNvSpPr txBox="1">
            <a:spLocks noChangeArrowheads="1"/>
          </p:cNvSpPr>
          <p:nvPr/>
        </p:nvSpPr>
        <p:spPr bwMode="auto">
          <a:xfrm>
            <a:off x="533400" y="6102350"/>
            <a:ext cx="145256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Variable discreta:</a:t>
            </a:r>
            <a:endParaRPr lang="es-ES" altLang="es-ES" b="1"/>
          </a:p>
        </p:txBody>
      </p:sp>
      <p:graphicFrame>
        <p:nvGraphicFramePr>
          <p:cNvPr id="19471" name="Object 57"/>
          <p:cNvGraphicFramePr>
            <a:graphicFrameLocks noChangeAspect="1"/>
          </p:cNvGraphicFramePr>
          <p:nvPr>
            <p:extLst>
              <p:ext uri="{D42A27DB-BD31-4B8C-83A1-F6EECF244321}">
                <p14:modId xmlns:p14="http://schemas.microsoft.com/office/powerpoint/2010/main" val="2821608071"/>
              </p:ext>
            </p:extLst>
          </p:nvPr>
        </p:nvGraphicFramePr>
        <p:xfrm>
          <a:off x="2087563" y="5629275"/>
          <a:ext cx="1547812" cy="385763"/>
        </p:xfrm>
        <a:graphic>
          <a:graphicData uri="http://schemas.openxmlformats.org/presentationml/2006/ole">
            <mc:AlternateContent xmlns:mc="http://schemas.openxmlformats.org/markup-compatibility/2006">
              <mc:Choice xmlns:v="urn:schemas-microsoft-com:vml" Requires="v">
                <p:oleObj name="Equation" r:id="rId14" imgW="1066680" imgH="266400" progId="Equation.DSMT4">
                  <p:embed/>
                </p:oleObj>
              </mc:Choice>
              <mc:Fallback>
                <p:oleObj name="Equation" r:id="rId14" imgW="1066680" imgH="266400" progId="Equation.DSMT4">
                  <p:embed/>
                  <p:pic>
                    <p:nvPicPr>
                      <p:cNvPr id="19471" name="Object 57"/>
                      <p:cNvPicPr>
                        <a:picLocks noChangeAspect="1" noChangeArrowheads="1"/>
                      </p:cNvPicPr>
                      <p:nvPr/>
                    </p:nvPicPr>
                    <p:blipFill>
                      <a:blip r:embed="rId15"/>
                      <a:srcRect/>
                      <a:stretch>
                        <a:fillRect/>
                      </a:stretch>
                    </p:blipFill>
                    <p:spPr bwMode="auto">
                      <a:xfrm>
                        <a:off x="2087563" y="5629275"/>
                        <a:ext cx="1547812"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72" name="Object 63"/>
          <p:cNvGraphicFramePr>
            <a:graphicFrameLocks noChangeAspect="1"/>
          </p:cNvGraphicFramePr>
          <p:nvPr>
            <p:extLst>
              <p:ext uri="{D42A27DB-BD31-4B8C-83A1-F6EECF244321}">
                <p14:modId xmlns:p14="http://schemas.microsoft.com/office/powerpoint/2010/main" val="2492819903"/>
              </p:ext>
            </p:extLst>
          </p:nvPr>
        </p:nvGraphicFramePr>
        <p:xfrm>
          <a:off x="2087563" y="6019800"/>
          <a:ext cx="2009775" cy="439738"/>
        </p:xfrm>
        <a:graphic>
          <a:graphicData uri="http://schemas.openxmlformats.org/presentationml/2006/ole">
            <mc:AlternateContent xmlns:mc="http://schemas.openxmlformats.org/markup-compatibility/2006">
              <mc:Choice xmlns:v="urn:schemas-microsoft-com:vml" Requires="v">
                <p:oleObj name="Equation" r:id="rId16" imgW="1384200" imgH="304560" progId="Equation.DSMT4">
                  <p:embed/>
                </p:oleObj>
              </mc:Choice>
              <mc:Fallback>
                <p:oleObj name="Equation" r:id="rId16" imgW="1384200" imgH="304560" progId="Equation.DSMT4">
                  <p:embed/>
                  <p:pic>
                    <p:nvPicPr>
                      <p:cNvPr id="19472" name="Object 63"/>
                      <p:cNvPicPr>
                        <a:picLocks noChangeAspect="1" noChangeArrowheads="1"/>
                      </p:cNvPicPr>
                      <p:nvPr/>
                    </p:nvPicPr>
                    <p:blipFill>
                      <a:blip r:embed="rId17"/>
                      <a:srcRect/>
                      <a:stretch>
                        <a:fillRect/>
                      </a:stretch>
                    </p:blipFill>
                    <p:spPr bwMode="auto">
                      <a:xfrm>
                        <a:off x="2087563" y="6019800"/>
                        <a:ext cx="2009775"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9473" name="Group 66"/>
          <p:cNvGrpSpPr>
            <a:grpSpLocks/>
          </p:cNvGrpSpPr>
          <p:nvPr/>
        </p:nvGrpSpPr>
        <p:grpSpPr bwMode="auto">
          <a:xfrm>
            <a:off x="4876801" y="5715009"/>
            <a:ext cx="3443288" cy="307976"/>
            <a:chOff x="3264" y="3710"/>
            <a:chExt cx="2169" cy="194"/>
          </a:xfrm>
        </p:grpSpPr>
        <p:graphicFrame>
          <p:nvGraphicFramePr>
            <p:cNvPr id="19476" name="Object 64"/>
            <p:cNvGraphicFramePr>
              <a:graphicFrameLocks noChangeAspect="1"/>
            </p:cNvGraphicFramePr>
            <p:nvPr/>
          </p:nvGraphicFramePr>
          <p:xfrm>
            <a:off x="3264" y="3744"/>
            <a:ext cx="144" cy="144"/>
          </p:xfrm>
          <a:graphic>
            <a:graphicData uri="http://schemas.openxmlformats.org/presentationml/2006/ole">
              <mc:AlternateContent xmlns:mc="http://schemas.openxmlformats.org/markup-compatibility/2006">
                <mc:Choice xmlns:v="urn:schemas-microsoft-com:vml" Requires="v">
                  <p:oleObj name="Equation" r:id="rId18" imgW="215619" imgH="215619" progId="Equation.DSMT4">
                    <p:embed/>
                  </p:oleObj>
                </mc:Choice>
                <mc:Fallback>
                  <p:oleObj name="Equation" r:id="rId18" imgW="215619" imgH="215619" progId="Equation.DSMT4">
                    <p:embed/>
                    <p:pic>
                      <p:nvPicPr>
                        <p:cNvPr id="19476" name="Object 6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264" y="3744"/>
                          <a:ext cx="144"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77" name="Text Box 65"/>
            <p:cNvSpPr txBox="1">
              <a:spLocks noChangeArrowheads="1"/>
            </p:cNvSpPr>
            <p:nvPr/>
          </p:nvSpPr>
          <p:spPr bwMode="auto">
            <a:xfrm>
              <a:off x="3398" y="3710"/>
              <a:ext cx="2035"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dirty="0"/>
                <a:t>Es el denominador de la</a:t>
              </a:r>
              <a:r>
                <a:rPr lang="es-ES_tradnl" altLang="es-ES" sz="1300" dirty="0">
                  <a:latin typeface="Times New Roman" pitchFamily="18" charset="0"/>
                </a:rPr>
                <a:t> </a:t>
              </a:r>
              <a:r>
                <a:rPr lang="es-ES_tradnl" altLang="es-ES" sz="1400" i="1" dirty="0" err="1">
                  <a:latin typeface="Times New Roman" pitchFamily="18" charset="0"/>
                </a:rPr>
                <a:t>t</a:t>
              </a:r>
              <a:r>
                <a:rPr lang="es-ES_tradnl" altLang="es-ES" sz="1300" baseline="-25000" dirty="0" err="1">
                  <a:latin typeface="Times New Roman" pitchFamily="18" charset="0"/>
                </a:rPr>
                <a:t>exp</a:t>
              </a:r>
              <a:r>
                <a:rPr lang="es-ES_tradnl" altLang="es-ES" sz="1300" dirty="0">
                  <a:latin typeface="Times New Roman" pitchFamily="18" charset="0"/>
                </a:rPr>
                <a:t> </a:t>
              </a:r>
              <a:r>
                <a:rPr lang="es-ES_tradnl" altLang="es-ES" dirty="0"/>
                <a:t>correspondiente</a:t>
              </a:r>
              <a:endParaRPr lang="es-ES" altLang="es-ES" dirty="0"/>
            </a:p>
          </p:txBody>
        </p:sp>
      </p:grpSp>
      <p:sp>
        <p:nvSpPr>
          <p:cNvPr id="19474" name="Text Box 69"/>
          <p:cNvSpPr txBox="1">
            <a:spLocks noChangeArrowheads="1"/>
          </p:cNvSpPr>
          <p:nvPr/>
        </p:nvSpPr>
        <p:spPr bwMode="auto">
          <a:xfrm>
            <a:off x="5097464" y="6079837"/>
            <a:ext cx="38523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dirty="0">
                <a:latin typeface="Times New Roman" pitchFamily="18" charset="0"/>
              </a:rPr>
              <a:t> </a:t>
            </a:r>
            <a:r>
              <a:rPr lang="es-ES_tradnl" altLang="es-ES" dirty="0"/>
              <a:t>en la distribución </a:t>
            </a:r>
            <a:r>
              <a:rPr lang="es-ES_tradnl" altLang="es-ES" i="1" dirty="0"/>
              <a:t>t-Student</a:t>
            </a:r>
            <a:r>
              <a:rPr lang="es-ES_tradnl" altLang="es-ES" dirty="0"/>
              <a:t> con los </a:t>
            </a:r>
            <a:r>
              <a:rPr lang="es-ES_tradnl" altLang="es-ES" dirty="0" err="1"/>
              <a:t>gl</a:t>
            </a:r>
            <a:r>
              <a:rPr lang="es-ES_tradnl" altLang="es-ES" dirty="0"/>
              <a:t> ( </a:t>
            </a:r>
            <a:r>
              <a:rPr lang="es-ES_tradnl" altLang="es-ES" sz="1400" i="1" dirty="0">
                <a:latin typeface="Times New Roman" panose="02020603050405020304" pitchFamily="18" charset="0"/>
                <a:cs typeface="Times New Roman" panose="02020603050405020304" pitchFamily="18" charset="0"/>
              </a:rPr>
              <a:t>f </a:t>
            </a:r>
            <a:r>
              <a:rPr lang="es-ES_tradnl" altLang="es-ES" dirty="0"/>
              <a:t>) adecuados </a:t>
            </a:r>
            <a:endParaRPr lang="es-ES" altLang="es-ES" i="1" dirty="0"/>
          </a:p>
        </p:txBody>
      </p:sp>
      <p:sp>
        <p:nvSpPr>
          <p:cNvPr id="19475" name="AutoShape 70"/>
          <p:cNvSpPr>
            <a:spLocks/>
          </p:cNvSpPr>
          <p:nvPr/>
        </p:nvSpPr>
        <p:spPr bwMode="auto">
          <a:xfrm>
            <a:off x="4648200" y="5724525"/>
            <a:ext cx="84138" cy="647700"/>
          </a:xfrm>
          <a:prstGeom prst="leftBrace">
            <a:avLst>
              <a:gd name="adj1" fmla="val 6415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aphicFrame>
        <p:nvGraphicFramePr>
          <p:cNvPr id="3" name="Objeto 2"/>
          <p:cNvGraphicFramePr>
            <a:graphicFrameLocks noChangeAspect="1"/>
          </p:cNvGraphicFramePr>
          <p:nvPr>
            <p:extLst>
              <p:ext uri="{D42A27DB-BD31-4B8C-83A1-F6EECF244321}">
                <p14:modId xmlns:p14="http://schemas.microsoft.com/office/powerpoint/2010/main" val="90655466"/>
              </p:ext>
            </p:extLst>
          </p:nvPr>
        </p:nvGraphicFramePr>
        <p:xfrm>
          <a:off x="4914901" y="6116638"/>
          <a:ext cx="279400" cy="266700"/>
        </p:xfrm>
        <a:graphic>
          <a:graphicData uri="http://schemas.openxmlformats.org/presentationml/2006/ole">
            <mc:AlternateContent xmlns:mc="http://schemas.openxmlformats.org/markup-compatibility/2006">
              <mc:Choice xmlns:v="urn:schemas-microsoft-com:vml" Requires="v">
                <p:oleObj name="Equation" r:id="rId20" imgW="279360" imgH="266400" progId="Equation.DSMT4">
                  <p:embed/>
                </p:oleObj>
              </mc:Choice>
              <mc:Fallback>
                <p:oleObj name="Equation" r:id="rId20" imgW="279360" imgH="266400" progId="Equation.DSMT4">
                  <p:embed/>
                  <p:pic>
                    <p:nvPicPr>
                      <p:cNvPr id="0" name=""/>
                      <p:cNvPicPr/>
                      <p:nvPr/>
                    </p:nvPicPr>
                    <p:blipFill>
                      <a:blip r:embed="rId21"/>
                      <a:stretch>
                        <a:fillRect/>
                      </a:stretch>
                    </p:blipFill>
                    <p:spPr>
                      <a:xfrm>
                        <a:off x="4914901" y="6116638"/>
                        <a:ext cx="279400" cy="266700"/>
                      </a:xfrm>
                      <a:prstGeom prst="rect">
                        <a:avLst/>
                      </a:prstGeom>
                    </p:spPr>
                  </p:pic>
                </p:oleObj>
              </mc:Fallback>
            </mc:AlternateContent>
          </a:graphicData>
        </a:graphic>
      </p:graphicFrame>
    </p:spTree>
    <p:extLst>
      <p:ext uri="{BB962C8B-B14F-4D97-AF65-F5344CB8AC3E}">
        <p14:creationId xmlns:p14="http://schemas.microsoft.com/office/powerpoint/2010/main" val="20385783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252419" y="246629"/>
            <a:ext cx="26356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600" b="1" dirty="0"/>
              <a:t>Pruebas no paramétricas</a:t>
            </a:r>
            <a:endParaRPr lang="es-ES" altLang="es-ES" sz="1600" b="1" dirty="0"/>
          </a:p>
        </p:txBody>
      </p:sp>
      <p:grpSp>
        <p:nvGrpSpPr>
          <p:cNvPr id="20483" name="Group 245"/>
          <p:cNvGrpSpPr>
            <a:grpSpLocks/>
          </p:cNvGrpSpPr>
          <p:nvPr/>
        </p:nvGrpSpPr>
        <p:grpSpPr bwMode="auto">
          <a:xfrm>
            <a:off x="838200" y="1276225"/>
            <a:ext cx="7086610" cy="3121026"/>
            <a:chOff x="528" y="816"/>
            <a:chExt cx="4464" cy="1872"/>
          </a:xfrm>
        </p:grpSpPr>
        <p:sp>
          <p:nvSpPr>
            <p:cNvPr id="20550" name="AutoShape 129"/>
            <p:cNvSpPr>
              <a:spLocks noChangeArrowheads="1"/>
            </p:cNvSpPr>
            <p:nvPr/>
          </p:nvSpPr>
          <p:spPr bwMode="auto">
            <a:xfrm>
              <a:off x="528" y="816"/>
              <a:ext cx="4464" cy="1872"/>
            </a:xfrm>
            <a:prstGeom prst="roundRect">
              <a:avLst>
                <a:gd name="adj" fmla="val 4329"/>
              </a:avLst>
            </a:prstGeom>
            <a:solidFill>
              <a:srgbClr val="EAEAEA">
                <a:alpha val="43137"/>
              </a:srgbClr>
            </a:solidFill>
            <a:ln w="9525">
              <a:solidFill>
                <a:srgbClr val="CC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51" name="Text Box 109"/>
            <p:cNvSpPr txBox="1">
              <a:spLocks noChangeArrowheads="1"/>
            </p:cNvSpPr>
            <p:nvPr/>
          </p:nvSpPr>
          <p:spPr bwMode="auto">
            <a:xfrm>
              <a:off x="540" y="821"/>
              <a:ext cx="445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dirty="0"/>
                <a:t>Supongamos una carrera entre el equipo azul y el naranja ¿Cuál gana en cada situación si se considera al equipo en su conjunto (no de forma individual)?</a:t>
              </a:r>
              <a:endParaRPr lang="es-ES" altLang="es-ES" b="1" dirty="0"/>
            </a:p>
          </p:txBody>
        </p:sp>
        <p:sp>
          <p:nvSpPr>
            <p:cNvPr id="20552" name="Text Box 110"/>
            <p:cNvSpPr txBox="1">
              <a:spLocks noChangeArrowheads="1"/>
            </p:cNvSpPr>
            <p:nvPr/>
          </p:nvSpPr>
          <p:spPr bwMode="auto">
            <a:xfrm>
              <a:off x="3708" y="1267"/>
              <a:ext cx="120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dirty="0"/>
                <a:t>El equipo </a:t>
              </a:r>
              <a:r>
                <a:rPr lang="es-ES_tradnl" altLang="es-ES" sz="1000" b="1" dirty="0"/>
                <a:t>naranja</a:t>
              </a:r>
              <a:r>
                <a:rPr lang="es-ES_tradnl" altLang="es-ES" sz="1000" dirty="0"/>
                <a:t> </a:t>
              </a:r>
              <a:r>
                <a:rPr lang="es-ES_tradnl" altLang="es-ES" sz="1000" b="1" dirty="0"/>
                <a:t>domina</a:t>
              </a:r>
              <a:r>
                <a:rPr lang="es-ES_tradnl" altLang="es-ES" sz="1000" dirty="0"/>
                <a:t> los primeros puestos, el orden es</a:t>
              </a:r>
              <a:endParaRPr lang="es-ES" altLang="es-ES" sz="1000" dirty="0"/>
            </a:p>
          </p:txBody>
        </p:sp>
        <p:sp>
          <p:nvSpPr>
            <p:cNvPr id="20553" name="Text Box 111"/>
            <p:cNvSpPr txBox="1">
              <a:spLocks noChangeArrowheads="1"/>
            </p:cNvSpPr>
            <p:nvPr/>
          </p:nvSpPr>
          <p:spPr bwMode="auto">
            <a:xfrm>
              <a:off x="3679" y="1733"/>
              <a:ext cx="125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dirty="0"/>
                <a:t>El equipo </a:t>
              </a:r>
              <a:r>
                <a:rPr lang="es-ES_tradnl" altLang="es-ES" sz="1000" b="1" dirty="0"/>
                <a:t>azul</a:t>
              </a:r>
              <a:r>
                <a:rPr lang="es-ES_tradnl" altLang="es-ES" sz="1000" dirty="0"/>
                <a:t> </a:t>
              </a:r>
              <a:r>
                <a:rPr lang="es-ES_tradnl" altLang="es-ES" sz="1000" b="1" dirty="0"/>
                <a:t>domina</a:t>
              </a:r>
              <a:r>
                <a:rPr lang="es-ES_tradnl" altLang="es-ES" sz="1000" dirty="0"/>
                <a:t> los primeros puestos, el orden es</a:t>
              </a:r>
              <a:endParaRPr lang="es-ES" altLang="es-ES" sz="1000" dirty="0"/>
            </a:p>
          </p:txBody>
        </p:sp>
        <p:sp>
          <p:nvSpPr>
            <p:cNvPr id="20554" name="Rectangle 102"/>
            <p:cNvSpPr>
              <a:spLocks noChangeArrowheads="1"/>
            </p:cNvSpPr>
            <p:nvPr/>
          </p:nvSpPr>
          <p:spPr bwMode="auto">
            <a:xfrm>
              <a:off x="787" y="1745"/>
              <a:ext cx="2880" cy="341"/>
            </a:xfrm>
            <a:prstGeom prst="rect">
              <a:avLst/>
            </a:prstGeom>
            <a:solidFill>
              <a:srgbClr val="C0C0C0">
                <a:alpha val="3294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55" name="Rectangle 103"/>
            <p:cNvSpPr>
              <a:spLocks noChangeArrowheads="1"/>
            </p:cNvSpPr>
            <p:nvPr/>
          </p:nvSpPr>
          <p:spPr bwMode="auto">
            <a:xfrm>
              <a:off x="787" y="1277"/>
              <a:ext cx="2880" cy="341"/>
            </a:xfrm>
            <a:prstGeom prst="rect">
              <a:avLst/>
            </a:prstGeom>
            <a:solidFill>
              <a:srgbClr val="C0C0C0">
                <a:alpha val="3294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56" name="Rectangle 101"/>
            <p:cNvSpPr>
              <a:spLocks noChangeArrowheads="1"/>
            </p:cNvSpPr>
            <p:nvPr/>
          </p:nvSpPr>
          <p:spPr bwMode="auto">
            <a:xfrm>
              <a:off x="787" y="2214"/>
              <a:ext cx="2880" cy="341"/>
            </a:xfrm>
            <a:prstGeom prst="rect">
              <a:avLst/>
            </a:prstGeom>
            <a:solidFill>
              <a:srgbClr val="C0C0C0">
                <a:alpha val="3294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20557" name="Group 135"/>
            <p:cNvGrpSpPr>
              <a:grpSpLocks/>
            </p:cNvGrpSpPr>
            <p:nvPr/>
          </p:nvGrpSpPr>
          <p:grpSpPr bwMode="auto">
            <a:xfrm>
              <a:off x="835" y="1382"/>
              <a:ext cx="2736" cy="130"/>
              <a:chOff x="996" y="1581"/>
              <a:chExt cx="2736" cy="147"/>
            </a:xfrm>
          </p:grpSpPr>
          <p:sp>
            <p:nvSpPr>
              <p:cNvPr id="20616" name="Rectangle 3"/>
              <p:cNvSpPr>
                <a:spLocks noChangeArrowheads="1"/>
              </p:cNvSpPr>
              <p:nvPr/>
            </p:nvSpPr>
            <p:spPr bwMode="auto">
              <a:xfrm>
                <a:off x="3636" y="1632"/>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17" name="Rectangle 4"/>
              <p:cNvSpPr>
                <a:spLocks noChangeArrowheads="1"/>
              </p:cNvSpPr>
              <p:nvPr/>
            </p:nvSpPr>
            <p:spPr bwMode="auto">
              <a:xfrm>
                <a:off x="3510" y="1632"/>
                <a:ext cx="96" cy="96"/>
              </a:xfrm>
              <a:prstGeom prst="rect">
                <a:avLst/>
              </a:prstGeom>
              <a:solidFill>
                <a:srgbClr val="99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18" name="Rectangle 5"/>
              <p:cNvSpPr>
                <a:spLocks noChangeArrowheads="1"/>
              </p:cNvSpPr>
              <p:nvPr/>
            </p:nvSpPr>
            <p:spPr bwMode="auto">
              <a:xfrm>
                <a:off x="3258" y="1632"/>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19" name="Rectangle 6"/>
              <p:cNvSpPr>
                <a:spLocks noChangeArrowheads="1"/>
              </p:cNvSpPr>
              <p:nvPr/>
            </p:nvSpPr>
            <p:spPr bwMode="auto">
              <a:xfrm>
                <a:off x="3384" y="1581"/>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20" name="Rectangle 7"/>
              <p:cNvSpPr>
                <a:spLocks noChangeArrowheads="1"/>
              </p:cNvSpPr>
              <p:nvPr/>
            </p:nvSpPr>
            <p:spPr bwMode="auto">
              <a:xfrm>
                <a:off x="996" y="1632"/>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21" name="Rectangle 8"/>
              <p:cNvSpPr>
                <a:spLocks noChangeArrowheads="1"/>
              </p:cNvSpPr>
              <p:nvPr/>
            </p:nvSpPr>
            <p:spPr bwMode="auto">
              <a:xfrm>
                <a:off x="1373" y="1581"/>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22" name="Rectangle 9"/>
              <p:cNvSpPr>
                <a:spLocks noChangeArrowheads="1"/>
              </p:cNvSpPr>
              <p:nvPr/>
            </p:nvSpPr>
            <p:spPr bwMode="auto">
              <a:xfrm>
                <a:off x="3133" y="1632"/>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23" name="Rectangle 10"/>
              <p:cNvSpPr>
                <a:spLocks noChangeArrowheads="1"/>
              </p:cNvSpPr>
              <p:nvPr/>
            </p:nvSpPr>
            <p:spPr bwMode="auto">
              <a:xfrm>
                <a:off x="1247" y="1581"/>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24" name="Rectangle 11"/>
              <p:cNvSpPr>
                <a:spLocks noChangeArrowheads="1"/>
              </p:cNvSpPr>
              <p:nvPr/>
            </p:nvSpPr>
            <p:spPr bwMode="auto">
              <a:xfrm>
                <a:off x="3007" y="1632"/>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25" name="Rectangle 12"/>
              <p:cNvSpPr>
                <a:spLocks noChangeArrowheads="1"/>
              </p:cNvSpPr>
              <p:nvPr/>
            </p:nvSpPr>
            <p:spPr bwMode="auto">
              <a:xfrm>
                <a:off x="1121" y="1581"/>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26" name="Rectangle 13"/>
              <p:cNvSpPr>
                <a:spLocks noChangeArrowheads="1"/>
              </p:cNvSpPr>
              <p:nvPr/>
            </p:nvSpPr>
            <p:spPr bwMode="auto">
              <a:xfrm>
                <a:off x="2881" y="1632"/>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27" name="Rectangle 14"/>
              <p:cNvSpPr>
                <a:spLocks noChangeArrowheads="1"/>
              </p:cNvSpPr>
              <p:nvPr/>
            </p:nvSpPr>
            <p:spPr bwMode="auto">
              <a:xfrm>
                <a:off x="2630" y="1581"/>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28" name="Rectangle 15"/>
              <p:cNvSpPr>
                <a:spLocks noChangeArrowheads="1"/>
              </p:cNvSpPr>
              <p:nvPr/>
            </p:nvSpPr>
            <p:spPr bwMode="auto">
              <a:xfrm>
                <a:off x="1498" y="1632"/>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29" name="Rectangle 16"/>
              <p:cNvSpPr>
                <a:spLocks noChangeArrowheads="1"/>
              </p:cNvSpPr>
              <p:nvPr/>
            </p:nvSpPr>
            <p:spPr bwMode="auto">
              <a:xfrm>
                <a:off x="1624" y="1581"/>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30" name="Rectangle 17"/>
              <p:cNvSpPr>
                <a:spLocks noChangeArrowheads="1"/>
              </p:cNvSpPr>
              <p:nvPr/>
            </p:nvSpPr>
            <p:spPr bwMode="auto">
              <a:xfrm>
                <a:off x="2756" y="1632"/>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31" name="Rectangle 18"/>
              <p:cNvSpPr>
                <a:spLocks noChangeArrowheads="1"/>
              </p:cNvSpPr>
              <p:nvPr/>
            </p:nvSpPr>
            <p:spPr bwMode="auto">
              <a:xfrm>
                <a:off x="2253" y="1581"/>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32" name="Rectangle 19"/>
              <p:cNvSpPr>
                <a:spLocks noChangeArrowheads="1"/>
              </p:cNvSpPr>
              <p:nvPr/>
            </p:nvSpPr>
            <p:spPr bwMode="auto">
              <a:xfrm>
                <a:off x="2378" y="1632"/>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33" name="Rectangle 20"/>
              <p:cNvSpPr>
                <a:spLocks noChangeArrowheads="1"/>
              </p:cNvSpPr>
              <p:nvPr/>
            </p:nvSpPr>
            <p:spPr bwMode="auto">
              <a:xfrm>
                <a:off x="2127" y="1581"/>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34" name="Rectangle 21"/>
              <p:cNvSpPr>
                <a:spLocks noChangeArrowheads="1"/>
              </p:cNvSpPr>
              <p:nvPr/>
            </p:nvSpPr>
            <p:spPr bwMode="auto">
              <a:xfrm>
                <a:off x="2504" y="1632"/>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35" name="Rectangle 22"/>
              <p:cNvSpPr>
                <a:spLocks noChangeArrowheads="1"/>
              </p:cNvSpPr>
              <p:nvPr/>
            </p:nvSpPr>
            <p:spPr bwMode="auto">
              <a:xfrm>
                <a:off x="2001" y="1581"/>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36" name="Rectangle 23"/>
              <p:cNvSpPr>
                <a:spLocks noChangeArrowheads="1"/>
              </p:cNvSpPr>
              <p:nvPr/>
            </p:nvSpPr>
            <p:spPr bwMode="auto">
              <a:xfrm>
                <a:off x="1876" y="1581"/>
                <a:ext cx="96" cy="96"/>
              </a:xfrm>
              <a:prstGeom prst="rect">
                <a:avLst/>
              </a:prstGeom>
              <a:solidFill>
                <a:srgbClr val="FF99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37" name="Rectangle 24"/>
              <p:cNvSpPr>
                <a:spLocks noChangeArrowheads="1"/>
              </p:cNvSpPr>
              <p:nvPr/>
            </p:nvSpPr>
            <p:spPr bwMode="auto">
              <a:xfrm>
                <a:off x="1750" y="1581"/>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pSp>
          <p:nvGrpSpPr>
            <p:cNvPr id="20558" name="Group 134"/>
            <p:cNvGrpSpPr>
              <a:grpSpLocks/>
            </p:cNvGrpSpPr>
            <p:nvPr/>
          </p:nvGrpSpPr>
          <p:grpSpPr bwMode="auto">
            <a:xfrm>
              <a:off x="835" y="1855"/>
              <a:ext cx="2736" cy="122"/>
              <a:chOff x="996" y="2097"/>
              <a:chExt cx="2736" cy="138"/>
            </a:xfrm>
          </p:grpSpPr>
          <p:sp>
            <p:nvSpPr>
              <p:cNvPr id="20594" name="Rectangle 51"/>
              <p:cNvSpPr>
                <a:spLocks noChangeArrowheads="1"/>
              </p:cNvSpPr>
              <p:nvPr/>
            </p:nvSpPr>
            <p:spPr bwMode="auto">
              <a:xfrm flipH="1">
                <a:off x="996" y="2139"/>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95" name="Rectangle 52"/>
              <p:cNvSpPr>
                <a:spLocks noChangeArrowheads="1"/>
              </p:cNvSpPr>
              <p:nvPr/>
            </p:nvSpPr>
            <p:spPr bwMode="auto">
              <a:xfrm flipH="1">
                <a:off x="1121" y="2097"/>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96" name="Rectangle 53"/>
              <p:cNvSpPr>
                <a:spLocks noChangeArrowheads="1"/>
              </p:cNvSpPr>
              <p:nvPr/>
            </p:nvSpPr>
            <p:spPr bwMode="auto">
              <a:xfrm flipH="1">
                <a:off x="1373" y="2139"/>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97" name="Rectangle 54"/>
              <p:cNvSpPr>
                <a:spLocks noChangeArrowheads="1"/>
              </p:cNvSpPr>
              <p:nvPr/>
            </p:nvSpPr>
            <p:spPr bwMode="auto">
              <a:xfrm flipH="1">
                <a:off x="1247" y="2097"/>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98" name="Rectangle 55"/>
              <p:cNvSpPr>
                <a:spLocks noChangeArrowheads="1"/>
              </p:cNvSpPr>
              <p:nvPr/>
            </p:nvSpPr>
            <p:spPr bwMode="auto">
              <a:xfrm flipH="1">
                <a:off x="3636" y="2139"/>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99" name="Rectangle 56"/>
              <p:cNvSpPr>
                <a:spLocks noChangeArrowheads="1"/>
              </p:cNvSpPr>
              <p:nvPr/>
            </p:nvSpPr>
            <p:spPr bwMode="auto">
              <a:xfrm flipH="1">
                <a:off x="3258" y="2097"/>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00" name="Rectangle 57"/>
              <p:cNvSpPr>
                <a:spLocks noChangeArrowheads="1"/>
              </p:cNvSpPr>
              <p:nvPr/>
            </p:nvSpPr>
            <p:spPr bwMode="auto">
              <a:xfrm flipH="1">
                <a:off x="1498" y="2139"/>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01" name="Rectangle 58"/>
              <p:cNvSpPr>
                <a:spLocks noChangeArrowheads="1"/>
              </p:cNvSpPr>
              <p:nvPr/>
            </p:nvSpPr>
            <p:spPr bwMode="auto">
              <a:xfrm flipH="1">
                <a:off x="3384" y="2097"/>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02" name="Rectangle 59"/>
              <p:cNvSpPr>
                <a:spLocks noChangeArrowheads="1"/>
              </p:cNvSpPr>
              <p:nvPr/>
            </p:nvSpPr>
            <p:spPr bwMode="auto">
              <a:xfrm flipH="1">
                <a:off x="1624" y="2139"/>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03" name="Rectangle 60"/>
              <p:cNvSpPr>
                <a:spLocks noChangeArrowheads="1"/>
              </p:cNvSpPr>
              <p:nvPr/>
            </p:nvSpPr>
            <p:spPr bwMode="auto">
              <a:xfrm flipH="1">
                <a:off x="3510" y="2097"/>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04" name="Rectangle 61"/>
              <p:cNvSpPr>
                <a:spLocks noChangeArrowheads="1"/>
              </p:cNvSpPr>
              <p:nvPr/>
            </p:nvSpPr>
            <p:spPr bwMode="auto">
              <a:xfrm flipH="1">
                <a:off x="1750" y="2139"/>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05" name="Rectangle 62"/>
              <p:cNvSpPr>
                <a:spLocks noChangeArrowheads="1"/>
              </p:cNvSpPr>
              <p:nvPr/>
            </p:nvSpPr>
            <p:spPr bwMode="auto">
              <a:xfrm flipH="1">
                <a:off x="2001" y="2097"/>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06" name="Rectangle 63"/>
              <p:cNvSpPr>
                <a:spLocks noChangeArrowheads="1"/>
              </p:cNvSpPr>
              <p:nvPr/>
            </p:nvSpPr>
            <p:spPr bwMode="auto">
              <a:xfrm flipH="1">
                <a:off x="3133" y="2097"/>
                <a:ext cx="96" cy="96"/>
              </a:xfrm>
              <a:prstGeom prst="rect">
                <a:avLst/>
              </a:prstGeom>
              <a:solidFill>
                <a:srgbClr val="FF99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07" name="Rectangle 64"/>
              <p:cNvSpPr>
                <a:spLocks noChangeArrowheads="1"/>
              </p:cNvSpPr>
              <p:nvPr/>
            </p:nvSpPr>
            <p:spPr bwMode="auto">
              <a:xfrm flipH="1">
                <a:off x="3007" y="2097"/>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08" name="Rectangle 65"/>
              <p:cNvSpPr>
                <a:spLocks noChangeArrowheads="1"/>
              </p:cNvSpPr>
              <p:nvPr/>
            </p:nvSpPr>
            <p:spPr bwMode="auto">
              <a:xfrm flipH="1">
                <a:off x="1876" y="2139"/>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09" name="Rectangle 66"/>
              <p:cNvSpPr>
                <a:spLocks noChangeArrowheads="1"/>
              </p:cNvSpPr>
              <p:nvPr/>
            </p:nvSpPr>
            <p:spPr bwMode="auto">
              <a:xfrm flipH="1">
                <a:off x="2378" y="2139"/>
                <a:ext cx="96" cy="96"/>
              </a:xfrm>
              <a:prstGeom prst="rect">
                <a:avLst/>
              </a:prstGeom>
              <a:solidFill>
                <a:srgbClr val="99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10" name="Rectangle 67"/>
              <p:cNvSpPr>
                <a:spLocks noChangeArrowheads="1"/>
              </p:cNvSpPr>
              <p:nvPr/>
            </p:nvSpPr>
            <p:spPr bwMode="auto">
              <a:xfrm flipH="1">
                <a:off x="2253" y="2139"/>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11" name="Rectangle 68"/>
              <p:cNvSpPr>
                <a:spLocks noChangeArrowheads="1"/>
              </p:cNvSpPr>
              <p:nvPr/>
            </p:nvSpPr>
            <p:spPr bwMode="auto">
              <a:xfrm flipH="1">
                <a:off x="2504" y="2097"/>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12" name="Rectangle 69"/>
              <p:cNvSpPr>
                <a:spLocks noChangeArrowheads="1"/>
              </p:cNvSpPr>
              <p:nvPr/>
            </p:nvSpPr>
            <p:spPr bwMode="auto">
              <a:xfrm flipH="1">
                <a:off x="2127" y="2139"/>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13" name="Rectangle 70"/>
              <p:cNvSpPr>
                <a:spLocks noChangeArrowheads="1"/>
              </p:cNvSpPr>
              <p:nvPr/>
            </p:nvSpPr>
            <p:spPr bwMode="auto">
              <a:xfrm flipH="1">
                <a:off x="2630" y="2097"/>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14" name="Rectangle 71"/>
              <p:cNvSpPr>
                <a:spLocks noChangeArrowheads="1"/>
              </p:cNvSpPr>
              <p:nvPr/>
            </p:nvSpPr>
            <p:spPr bwMode="auto">
              <a:xfrm flipH="1">
                <a:off x="2756" y="2139"/>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15" name="Rectangle 72"/>
              <p:cNvSpPr>
                <a:spLocks noChangeArrowheads="1"/>
              </p:cNvSpPr>
              <p:nvPr/>
            </p:nvSpPr>
            <p:spPr bwMode="auto">
              <a:xfrm flipH="1">
                <a:off x="2881" y="2097"/>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pSp>
          <p:nvGrpSpPr>
            <p:cNvPr id="20559" name="Group 133"/>
            <p:cNvGrpSpPr>
              <a:grpSpLocks/>
            </p:cNvGrpSpPr>
            <p:nvPr/>
          </p:nvGrpSpPr>
          <p:grpSpPr bwMode="auto">
            <a:xfrm>
              <a:off x="835" y="2315"/>
              <a:ext cx="2736" cy="139"/>
              <a:chOff x="996" y="2610"/>
              <a:chExt cx="2736" cy="156"/>
            </a:xfrm>
          </p:grpSpPr>
          <p:sp>
            <p:nvSpPr>
              <p:cNvPr id="20572" name="Rectangle 74"/>
              <p:cNvSpPr>
                <a:spLocks noChangeArrowheads="1"/>
              </p:cNvSpPr>
              <p:nvPr/>
            </p:nvSpPr>
            <p:spPr bwMode="auto">
              <a:xfrm>
                <a:off x="3636" y="2670"/>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73" name="Rectangle 75"/>
              <p:cNvSpPr>
                <a:spLocks noChangeArrowheads="1"/>
              </p:cNvSpPr>
              <p:nvPr/>
            </p:nvSpPr>
            <p:spPr bwMode="auto">
              <a:xfrm>
                <a:off x="3510" y="2610"/>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74" name="Rectangle 76"/>
              <p:cNvSpPr>
                <a:spLocks noChangeArrowheads="1"/>
              </p:cNvSpPr>
              <p:nvPr/>
            </p:nvSpPr>
            <p:spPr bwMode="auto">
              <a:xfrm>
                <a:off x="3258" y="2670"/>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75" name="Rectangle 77"/>
              <p:cNvSpPr>
                <a:spLocks noChangeArrowheads="1"/>
              </p:cNvSpPr>
              <p:nvPr/>
            </p:nvSpPr>
            <p:spPr bwMode="auto">
              <a:xfrm>
                <a:off x="3384" y="2610"/>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76" name="Rectangle 78"/>
              <p:cNvSpPr>
                <a:spLocks noChangeArrowheads="1"/>
              </p:cNvSpPr>
              <p:nvPr/>
            </p:nvSpPr>
            <p:spPr bwMode="auto">
              <a:xfrm>
                <a:off x="996" y="2670"/>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77" name="Rectangle 79"/>
              <p:cNvSpPr>
                <a:spLocks noChangeArrowheads="1"/>
              </p:cNvSpPr>
              <p:nvPr/>
            </p:nvSpPr>
            <p:spPr bwMode="auto">
              <a:xfrm>
                <a:off x="1373" y="2670"/>
                <a:ext cx="96" cy="96"/>
              </a:xfrm>
              <a:prstGeom prst="rect">
                <a:avLst/>
              </a:prstGeom>
              <a:solidFill>
                <a:srgbClr val="99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78" name="Rectangle 80"/>
              <p:cNvSpPr>
                <a:spLocks noChangeArrowheads="1"/>
              </p:cNvSpPr>
              <p:nvPr/>
            </p:nvSpPr>
            <p:spPr bwMode="auto">
              <a:xfrm>
                <a:off x="3133" y="2610"/>
                <a:ext cx="96" cy="96"/>
              </a:xfrm>
              <a:prstGeom prst="rect">
                <a:avLst/>
              </a:prstGeom>
              <a:solidFill>
                <a:srgbClr val="FF99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79" name="Rectangle 81"/>
              <p:cNvSpPr>
                <a:spLocks noChangeArrowheads="1"/>
              </p:cNvSpPr>
              <p:nvPr/>
            </p:nvSpPr>
            <p:spPr bwMode="auto">
              <a:xfrm>
                <a:off x="1247" y="2610"/>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80" name="Rectangle 82"/>
              <p:cNvSpPr>
                <a:spLocks noChangeArrowheads="1"/>
              </p:cNvSpPr>
              <p:nvPr/>
            </p:nvSpPr>
            <p:spPr bwMode="auto">
              <a:xfrm>
                <a:off x="3007" y="2670"/>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81" name="Rectangle 83"/>
              <p:cNvSpPr>
                <a:spLocks noChangeArrowheads="1"/>
              </p:cNvSpPr>
              <p:nvPr/>
            </p:nvSpPr>
            <p:spPr bwMode="auto">
              <a:xfrm>
                <a:off x="1121" y="2610"/>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82" name="Rectangle 84"/>
              <p:cNvSpPr>
                <a:spLocks noChangeArrowheads="1"/>
              </p:cNvSpPr>
              <p:nvPr/>
            </p:nvSpPr>
            <p:spPr bwMode="auto">
              <a:xfrm>
                <a:off x="2881" y="2610"/>
                <a:ext cx="96" cy="96"/>
              </a:xfrm>
              <a:prstGeom prst="rect">
                <a:avLst/>
              </a:prstGeom>
              <a:solidFill>
                <a:srgbClr val="FF99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83" name="Rectangle 85"/>
              <p:cNvSpPr>
                <a:spLocks noChangeArrowheads="1"/>
              </p:cNvSpPr>
              <p:nvPr/>
            </p:nvSpPr>
            <p:spPr bwMode="auto">
              <a:xfrm>
                <a:off x="2630" y="2610"/>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84" name="Rectangle 86"/>
              <p:cNvSpPr>
                <a:spLocks noChangeArrowheads="1"/>
              </p:cNvSpPr>
              <p:nvPr/>
            </p:nvSpPr>
            <p:spPr bwMode="auto">
              <a:xfrm>
                <a:off x="1498" y="2610"/>
                <a:ext cx="96" cy="96"/>
              </a:xfrm>
              <a:prstGeom prst="rect">
                <a:avLst/>
              </a:prstGeom>
              <a:solidFill>
                <a:srgbClr val="FF99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85" name="Rectangle 87"/>
              <p:cNvSpPr>
                <a:spLocks noChangeArrowheads="1"/>
              </p:cNvSpPr>
              <p:nvPr/>
            </p:nvSpPr>
            <p:spPr bwMode="auto">
              <a:xfrm>
                <a:off x="1624" y="2610"/>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86" name="Rectangle 88"/>
              <p:cNvSpPr>
                <a:spLocks noChangeArrowheads="1"/>
              </p:cNvSpPr>
              <p:nvPr/>
            </p:nvSpPr>
            <p:spPr bwMode="auto">
              <a:xfrm>
                <a:off x="2756" y="2670"/>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87" name="Rectangle 89"/>
              <p:cNvSpPr>
                <a:spLocks noChangeArrowheads="1"/>
              </p:cNvSpPr>
              <p:nvPr/>
            </p:nvSpPr>
            <p:spPr bwMode="auto">
              <a:xfrm>
                <a:off x="2253" y="2610"/>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88" name="Rectangle 90"/>
              <p:cNvSpPr>
                <a:spLocks noChangeArrowheads="1"/>
              </p:cNvSpPr>
              <p:nvPr/>
            </p:nvSpPr>
            <p:spPr bwMode="auto">
              <a:xfrm>
                <a:off x="2378" y="2670"/>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89" name="Rectangle 91"/>
              <p:cNvSpPr>
                <a:spLocks noChangeArrowheads="1"/>
              </p:cNvSpPr>
              <p:nvPr/>
            </p:nvSpPr>
            <p:spPr bwMode="auto">
              <a:xfrm>
                <a:off x="2127" y="2670"/>
                <a:ext cx="96" cy="96"/>
              </a:xfrm>
              <a:prstGeom prst="rect">
                <a:avLst/>
              </a:prstGeom>
              <a:solidFill>
                <a:srgbClr val="99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90" name="Rectangle 92"/>
              <p:cNvSpPr>
                <a:spLocks noChangeArrowheads="1"/>
              </p:cNvSpPr>
              <p:nvPr/>
            </p:nvSpPr>
            <p:spPr bwMode="auto">
              <a:xfrm>
                <a:off x="2504" y="2670"/>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91" name="Rectangle 93"/>
              <p:cNvSpPr>
                <a:spLocks noChangeArrowheads="1"/>
              </p:cNvSpPr>
              <p:nvPr/>
            </p:nvSpPr>
            <p:spPr bwMode="auto">
              <a:xfrm>
                <a:off x="2001" y="2610"/>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92" name="Rectangle 94"/>
              <p:cNvSpPr>
                <a:spLocks noChangeArrowheads="1"/>
              </p:cNvSpPr>
              <p:nvPr/>
            </p:nvSpPr>
            <p:spPr bwMode="auto">
              <a:xfrm>
                <a:off x="1876" y="2670"/>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93" name="Rectangle 95"/>
              <p:cNvSpPr>
                <a:spLocks noChangeArrowheads="1"/>
              </p:cNvSpPr>
              <p:nvPr/>
            </p:nvSpPr>
            <p:spPr bwMode="auto">
              <a:xfrm>
                <a:off x="1750" y="2670"/>
                <a:ext cx="96" cy="96"/>
              </a:xfrm>
              <a:prstGeom prst="rect">
                <a:avLst/>
              </a:prstGeom>
              <a:solidFill>
                <a:srgbClr val="99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20560" name="Line 98"/>
            <p:cNvSpPr>
              <a:spLocks noChangeShapeType="1"/>
            </p:cNvSpPr>
            <p:nvPr/>
          </p:nvSpPr>
          <p:spPr bwMode="auto">
            <a:xfrm flipV="1">
              <a:off x="815" y="1200"/>
              <a:ext cx="1" cy="1344"/>
            </a:xfrm>
            <a:prstGeom prst="line">
              <a:avLst/>
            </a:prstGeom>
            <a:noFill/>
            <a:ln w="9525">
              <a:solidFill>
                <a:srgbClr val="8000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0561" name="Text Box 104"/>
            <p:cNvSpPr txBox="1">
              <a:spLocks noChangeArrowheads="1"/>
            </p:cNvSpPr>
            <p:nvPr/>
          </p:nvSpPr>
          <p:spPr bwMode="auto">
            <a:xfrm>
              <a:off x="1984" y="1153"/>
              <a:ext cx="557" cy="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dirty="0">
                  <a:solidFill>
                    <a:srgbClr val="663300"/>
                  </a:solidFill>
                </a:rPr>
                <a:t>Situación 1</a:t>
              </a:r>
              <a:endParaRPr lang="es-ES" altLang="es-ES" sz="1100" dirty="0">
                <a:solidFill>
                  <a:srgbClr val="663300"/>
                </a:solidFill>
              </a:endParaRPr>
            </a:p>
          </p:txBody>
        </p:sp>
        <p:sp>
          <p:nvSpPr>
            <p:cNvPr id="20562" name="Text Box 105"/>
            <p:cNvSpPr txBox="1">
              <a:spLocks noChangeArrowheads="1"/>
            </p:cNvSpPr>
            <p:nvPr/>
          </p:nvSpPr>
          <p:spPr bwMode="auto">
            <a:xfrm>
              <a:off x="1984" y="1618"/>
              <a:ext cx="557" cy="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dirty="0">
                  <a:solidFill>
                    <a:srgbClr val="663300"/>
                  </a:solidFill>
                </a:rPr>
                <a:t>Situación 2</a:t>
              </a:r>
              <a:endParaRPr lang="es-ES" altLang="es-ES" sz="1100" dirty="0">
                <a:solidFill>
                  <a:srgbClr val="663300"/>
                </a:solidFill>
              </a:endParaRPr>
            </a:p>
          </p:txBody>
        </p:sp>
        <p:sp>
          <p:nvSpPr>
            <p:cNvPr id="20563" name="Text Box 106"/>
            <p:cNvSpPr txBox="1">
              <a:spLocks noChangeArrowheads="1"/>
            </p:cNvSpPr>
            <p:nvPr/>
          </p:nvSpPr>
          <p:spPr bwMode="auto">
            <a:xfrm>
              <a:off x="1984" y="2083"/>
              <a:ext cx="557" cy="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dirty="0">
                  <a:solidFill>
                    <a:srgbClr val="663300"/>
                  </a:solidFill>
                </a:rPr>
                <a:t>Situación 3</a:t>
              </a:r>
              <a:endParaRPr lang="es-ES" altLang="es-ES" sz="1100" dirty="0">
                <a:solidFill>
                  <a:srgbClr val="663300"/>
                </a:solidFill>
              </a:endParaRPr>
            </a:p>
          </p:txBody>
        </p:sp>
        <p:sp>
          <p:nvSpPr>
            <p:cNvPr id="20564" name="Text Box 99"/>
            <p:cNvSpPr txBox="1">
              <a:spLocks noChangeArrowheads="1"/>
            </p:cNvSpPr>
            <p:nvPr/>
          </p:nvSpPr>
          <p:spPr bwMode="auto">
            <a:xfrm>
              <a:off x="563" y="1020"/>
              <a:ext cx="503"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a:solidFill>
                    <a:srgbClr val="663300"/>
                  </a:solidFill>
                </a:rPr>
                <a:t>1</a:t>
              </a:r>
              <a:r>
                <a:rPr lang="es-ES_tradnl" altLang="es-ES" sz="1100" baseline="30000">
                  <a:solidFill>
                    <a:srgbClr val="663300"/>
                  </a:solidFill>
                </a:rPr>
                <a:t>er</a:t>
              </a:r>
              <a:r>
                <a:rPr lang="es-ES_tradnl" altLang="es-ES" sz="1100">
                  <a:solidFill>
                    <a:srgbClr val="663300"/>
                  </a:solidFill>
                </a:rPr>
                <a:t> puesto</a:t>
              </a:r>
              <a:endParaRPr lang="es-ES" altLang="es-ES" sz="1100">
                <a:solidFill>
                  <a:srgbClr val="663300"/>
                </a:solidFill>
              </a:endParaRPr>
            </a:p>
          </p:txBody>
        </p:sp>
        <p:sp>
          <p:nvSpPr>
            <p:cNvPr id="20565" name="Text Box 112"/>
            <p:cNvSpPr txBox="1">
              <a:spLocks noChangeArrowheads="1"/>
            </p:cNvSpPr>
            <p:nvPr/>
          </p:nvSpPr>
          <p:spPr bwMode="auto">
            <a:xfrm>
              <a:off x="3679" y="2308"/>
              <a:ext cx="1066" cy="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dirty="0"/>
                <a:t>¿Quién </a:t>
              </a:r>
              <a:r>
                <a:rPr lang="es-ES_tradnl" altLang="es-ES" sz="1000" b="1" dirty="0"/>
                <a:t>domina</a:t>
              </a:r>
              <a:r>
                <a:rPr lang="es-ES_tradnl" altLang="es-ES" sz="1000" dirty="0"/>
                <a:t>?</a:t>
              </a:r>
              <a:endParaRPr lang="es-ES" altLang="es-ES" sz="1000" dirty="0"/>
            </a:p>
          </p:txBody>
        </p:sp>
        <p:sp>
          <p:nvSpPr>
            <p:cNvPr id="20566" name="Rectangle 113"/>
            <p:cNvSpPr>
              <a:spLocks noChangeArrowheads="1"/>
            </p:cNvSpPr>
            <p:nvPr/>
          </p:nvSpPr>
          <p:spPr bwMode="auto">
            <a:xfrm>
              <a:off x="4142" y="1513"/>
              <a:ext cx="96" cy="8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67" name="Rectangle 114"/>
            <p:cNvSpPr>
              <a:spLocks noChangeArrowheads="1"/>
            </p:cNvSpPr>
            <p:nvPr/>
          </p:nvSpPr>
          <p:spPr bwMode="auto">
            <a:xfrm>
              <a:off x="4358" y="1513"/>
              <a:ext cx="96" cy="8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68" name="Text Box 118"/>
            <p:cNvSpPr txBox="1">
              <a:spLocks noChangeArrowheads="1"/>
            </p:cNvSpPr>
            <p:nvPr/>
          </p:nvSpPr>
          <p:spPr bwMode="auto">
            <a:xfrm>
              <a:off x="4210" y="1469"/>
              <a:ext cx="17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&lt;</a:t>
              </a:r>
              <a:endParaRPr lang="es-ES" altLang="es-ES" b="1"/>
            </a:p>
          </p:txBody>
        </p:sp>
        <p:sp>
          <p:nvSpPr>
            <p:cNvPr id="20569" name="Rectangle 121"/>
            <p:cNvSpPr>
              <a:spLocks noChangeArrowheads="1"/>
            </p:cNvSpPr>
            <p:nvPr/>
          </p:nvSpPr>
          <p:spPr bwMode="auto">
            <a:xfrm flipH="1">
              <a:off x="4358" y="1980"/>
              <a:ext cx="96" cy="8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70" name="Rectangle 122"/>
            <p:cNvSpPr>
              <a:spLocks noChangeArrowheads="1"/>
            </p:cNvSpPr>
            <p:nvPr/>
          </p:nvSpPr>
          <p:spPr bwMode="auto">
            <a:xfrm flipH="1">
              <a:off x="4142" y="1980"/>
              <a:ext cx="96" cy="8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71" name="Text Box 123"/>
            <p:cNvSpPr txBox="1">
              <a:spLocks noChangeArrowheads="1"/>
            </p:cNvSpPr>
            <p:nvPr/>
          </p:nvSpPr>
          <p:spPr bwMode="auto">
            <a:xfrm flipH="1">
              <a:off x="4214" y="1942"/>
              <a:ext cx="17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&lt;</a:t>
              </a:r>
              <a:endParaRPr lang="es-ES" altLang="es-ES" b="1"/>
            </a:p>
          </p:txBody>
        </p:sp>
      </p:grpSp>
      <p:sp>
        <p:nvSpPr>
          <p:cNvPr id="20484" name="Text Box 130"/>
          <p:cNvSpPr txBox="1">
            <a:spLocks noChangeArrowheads="1"/>
          </p:cNvSpPr>
          <p:nvPr/>
        </p:nvSpPr>
        <p:spPr bwMode="auto">
          <a:xfrm>
            <a:off x="237836" y="880183"/>
            <a:ext cx="443102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dirty="0"/>
              <a:t>En qué consiste un test de homogeneidad </a:t>
            </a:r>
            <a:r>
              <a:rPr lang="es-ES_tradnl" altLang="es-ES" b="1" i="1" dirty="0"/>
              <a:t>no</a:t>
            </a:r>
            <a:r>
              <a:rPr lang="es-ES_tradnl" altLang="es-ES" b="1" dirty="0"/>
              <a:t> </a:t>
            </a:r>
            <a:r>
              <a:rPr lang="es-ES_tradnl" altLang="es-ES" b="1" i="1" dirty="0"/>
              <a:t>paramétrico</a:t>
            </a:r>
            <a:endParaRPr lang="es-ES" altLang="es-ES" b="1" i="1" dirty="0"/>
          </a:p>
        </p:txBody>
      </p:sp>
      <p:grpSp>
        <p:nvGrpSpPr>
          <p:cNvPr id="20485" name="Group 244"/>
          <p:cNvGrpSpPr>
            <a:grpSpLocks/>
          </p:cNvGrpSpPr>
          <p:nvPr/>
        </p:nvGrpSpPr>
        <p:grpSpPr bwMode="auto">
          <a:xfrm>
            <a:off x="781050" y="4511552"/>
            <a:ext cx="7316788" cy="1463675"/>
            <a:chOff x="492" y="2827"/>
            <a:chExt cx="4609" cy="922"/>
          </a:xfrm>
        </p:grpSpPr>
        <p:grpSp>
          <p:nvGrpSpPr>
            <p:cNvPr id="20487" name="Group 174"/>
            <p:cNvGrpSpPr>
              <a:grpSpLocks/>
            </p:cNvGrpSpPr>
            <p:nvPr/>
          </p:nvGrpSpPr>
          <p:grpSpPr bwMode="auto">
            <a:xfrm>
              <a:off x="2076" y="2827"/>
              <a:ext cx="1441" cy="552"/>
              <a:chOff x="2064" y="1872"/>
              <a:chExt cx="1441" cy="552"/>
            </a:xfrm>
          </p:grpSpPr>
          <p:grpSp>
            <p:nvGrpSpPr>
              <p:cNvPr id="20536" name="Group 175"/>
              <p:cNvGrpSpPr>
                <a:grpSpLocks/>
              </p:cNvGrpSpPr>
              <p:nvPr/>
            </p:nvGrpSpPr>
            <p:grpSpPr bwMode="auto">
              <a:xfrm>
                <a:off x="2112" y="1995"/>
                <a:ext cx="1393" cy="429"/>
                <a:chOff x="528" y="1986"/>
                <a:chExt cx="1513" cy="429"/>
              </a:xfrm>
            </p:grpSpPr>
            <p:sp>
              <p:nvSpPr>
                <p:cNvPr id="20546" name="Text Box 176"/>
                <p:cNvSpPr txBox="1">
                  <a:spLocks noChangeArrowheads="1"/>
                </p:cNvSpPr>
                <p:nvPr/>
              </p:nvSpPr>
              <p:spPr bwMode="auto">
                <a:xfrm>
                  <a:off x="720" y="1986"/>
                  <a:ext cx="1321"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900"/>
                    <a:t>1   2   3    ………. 14  15  16  …… </a:t>
                  </a:r>
                  <a:endParaRPr lang="es-ES" altLang="es-ES" sz="900"/>
                </a:p>
              </p:txBody>
            </p:sp>
            <p:grpSp>
              <p:nvGrpSpPr>
                <p:cNvPr id="20547" name="Group 177"/>
                <p:cNvGrpSpPr>
                  <a:grpSpLocks/>
                </p:cNvGrpSpPr>
                <p:nvPr/>
              </p:nvGrpSpPr>
              <p:grpSpPr bwMode="auto">
                <a:xfrm>
                  <a:off x="528" y="2111"/>
                  <a:ext cx="184" cy="304"/>
                  <a:chOff x="528" y="2111"/>
                  <a:chExt cx="184" cy="304"/>
                </a:xfrm>
              </p:grpSpPr>
              <p:sp>
                <p:nvSpPr>
                  <p:cNvPr id="20548" name="Text Box 178"/>
                  <p:cNvSpPr txBox="1">
                    <a:spLocks noChangeArrowheads="1"/>
                  </p:cNvSpPr>
                  <p:nvPr/>
                </p:nvSpPr>
                <p:spPr bwMode="auto">
                  <a:xfrm>
                    <a:off x="528" y="2111"/>
                    <a:ext cx="18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a:t>A</a:t>
                    </a:r>
                    <a:endParaRPr lang="es-ES" altLang="es-ES" sz="1000"/>
                  </a:p>
                </p:txBody>
              </p:sp>
              <p:sp>
                <p:nvSpPr>
                  <p:cNvPr id="20549" name="Text Box 179"/>
                  <p:cNvSpPr txBox="1">
                    <a:spLocks noChangeArrowheads="1"/>
                  </p:cNvSpPr>
                  <p:nvPr/>
                </p:nvSpPr>
                <p:spPr bwMode="auto">
                  <a:xfrm>
                    <a:off x="528" y="2261"/>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a:t>B</a:t>
                    </a:r>
                    <a:endParaRPr lang="es-ES" altLang="es-ES" sz="1000"/>
                  </a:p>
                </p:txBody>
              </p:sp>
            </p:grpSp>
          </p:grpSp>
          <p:grpSp>
            <p:nvGrpSpPr>
              <p:cNvPr id="20537" name="Group 180"/>
              <p:cNvGrpSpPr>
                <a:grpSpLocks/>
              </p:cNvGrpSpPr>
              <p:nvPr/>
            </p:nvGrpSpPr>
            <p:grpSpPr bwMode="auto">
              <a:xfrm flipV="1">
                <a:off x="2352" y="2160"/>
                <a:ext cx="1073" cy="208"/>
                <a:chOff x="2352" y="2160"/>
                <a:chExt cx="1073" cy="208"/>
              </a:xfrm>
            </p:grpSpPr>
            <p:sp>
              <p:nvSpPr>
                <p:cNvPr id="20544" name="Oval 181"/>
                <p:cNvSpPr>
                  <a:spLocks noChangeArrowheads="1"/>
                </p:cNvSpPr>
                <p:nvPr/>
              </p:nvSpPr>
              <p:spPr bwMode="auto">
                <a:xfrm>
                  <a:off x="2352" y="2160"/>
                  <a:ext cx="497" cy="64"/>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45" name="Oval 182"/>
                <p:cNvSpPr>
                  <a:spLocks noChangeArrowheads="1"/>
                </p:cNvSpPr>
                <p:nvPr/>
              </p:nvSpPr>
              <p:spPr bwMode="auto">
                <a:xfrm>
                  <a:off x="2928" y="2304"/>
                  <a:ext cx="497" cy="64"/>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20538" name="Line 183"/>
              <p:cNvSpPr>
                <a:spLocks noChangeShapeType="1"/>
              </p:cNvSpPr>
              <p:nvPr/>
            </p:nvSpPr>
            <p:spPr bwMode="auto">
              <a:xfrm>
                <a:off x="2304" y="1999"/>
                <a:ext cx="0" cy="40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20539" name="Group 184"/>
              <p:cNvGrpSpPr>
                <a:grpSpLocks/>
              </p:cNvGrpSpPr>
              <p:nvPr/>
            </p:nvGrpSpPr>
            <p:grpSpPr bwMode="auto">
              <a:xfrm>
                <a:off x="2064" y="2121"/>
                <a:ext cx="1344" cy="288"/>
                <a:chOff x="666" y="2112"/>
                <a:chExt cx="1500" cy="432"/>
              </a:xfrm>
            </p:grpSpPr>
            <p:sp>
              <p:nvSpPr>
                <p:cNvPr id="20541" name="Line 185"/>
                <p:cNvSpPr>
                  <a:spLocks noChangeShapeType="1"/>
                </p:cNvSpPr>
                <p:nvPr/>
              </p:nvSpPr>
              <p:spPr bwMode="auto">
                <a:xfrm>
                  <a:off x="666" y="2328"/>
                  <a:ext cx="149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0542" name="Line 186"/>
                <p:cNvSpPr>
                  <a:spLocks noChangeShapeType="1"/>
                </p:cNvSpPr>
                <p:nvPr/>
              </p:nvSpPr>
              <p:spPr bwMode="auto">
                <a:xfrm>
                  <a:off x="672" y="2112"/>
                  <a:ext cx="149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0543" name="Line 187"/>
                <p:cNvSpPr>
                  <a:spLocks noChangeShapeType="1"/>
                </p:cNvSpPr>
                <p:nvPr/>
              </p:nvSpPr>
              <p:spPr bwMode="auto">
                <a:xfrm>
                  <a:off x="672" y="2544"/>
                  <a:ext cx="149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20540" name="Text Box 188"/>
              <p:cNvSpPr txBox="1">
                <a:spLocks noChangeArrowheads="1"/>
              </p:cNvSpPr>
              <p:nvPr/>
            </p:nvSpPr>
            <p:spPr bwMode="auto">
              <a:xfrm>
                <a:off x="2304" y="1872"/>
                <a:ext cx="110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a:t>Posición</a:t>
                </a:r>
                <a:endParaRPr lang="es-ES" altLang="es-ES" sz="1000"/>
              </a:p>
            </p:txBody>
          </p:sp>
        </p:grpSp>
        <p:grpSp>
          <p:nvGrpSpPr>
            <p:cNvPr id="20488" name="Group 189"/>
            <p:cNvGrpSpPr>
              <a:grpSpLocks/>
            </p:cNvGrpSpPr>
            <p:nvPr/>
          </p:nvGrpSpPr>
          <p:grpSpPr bwMode="auto">
            <a:xfrm>
              <a:off x="3660" y="2827"/>
              <a:ext cx="1441" cy="552"/>
              <a:chOff x="3648" y="1872"/>
              <a:chExt cx="1441" cy="552"/>
            </a:xfrm>
          </p:grpSpPr>
          <p:sp>
            <p:nvSpPr>
              <p:cNvPr id="20510" name="Text Box 190"/>
              <p:cNvSpPr txBox="1">
                <a:spLocks noChangeArrowheads="1"/>
              </p:cNvSpPr>
              <p:nvPr/>
            </p:nvSpPr>
            <p:spPr bwMode="auto">
              <a:xfrm>
                <a:off x="3873" y="1995"/>
                <a:ext cx="1216"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900"/>
                  <a:t>1   2   3    ………. 14  15  16  …… </a:t>
                </a:r>
                <a:endParaRPr lang="es-ES" altLang="es-ES" sz="900"/>
              </a:p>
            </p:txBody>
          </p:sp>
          <p:grpSp>
            <p:nvGrpSpPr>
              <p:cNvPr id="20511" name="Group 191"/>
              <p:cNvGrpSpPr>
                <a:grpSpLocks/>
              </p:cNvGrpSpPr>
              <p:nvPr/>
            </p:nvGrpSpPr>
            <p:grpSpPr bwMode="auto">
              <a:xfrm>
                <a:off x="3696" y="2120"/>
                <a:ext cx="169" cy="304"/>
                <a:chOff x="528" y="2111"/>
                <a:chExt cx="184" cy="304"/>
              </a:xfrm>
            </p:grpSpPr>
            <p:sp>
              <p:nvSpPr>
                <p:cNvPr id="20534" name="Text Box 192"/>
                <p:cNvSpPr txBox="1">
                  <a:spLocks noChangeArrowheads="1"/>
                </p:cNvSpPr>
                <p:nvPr/>
              </p:nvSpPr>
              <p:spPr bwMode="auto">
                <a:xfrm>
                  <a:off x="528" y="2111"/>
                  <a:ext cx="18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a:t>A</a:t>
                  </a:r>
                  <a:endParaRPr lang="es-ES" altLang="es-ES" sz="1000"/>
                </a:p>
              </p:txBody>
            </p:sp>
            <p:sp>
              <p:nvSpPr>
                <p:cNvPr id="20535" name="Text Box 193"/>
                <p:cNvSpPr txBox="1">
                  <a:spLocks noChangeArrowheads="1"/>
                </p:cNvSpPr>
                <p:nvPr/>
              </p:nvSpPr>
              <p:spPr bwMode="auto">
                <a:xfrm>
                  <a:off x="528" y="2261"/>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a:t>B</a:t>
                  </a:r>
                  <a:endParaRPr lang="es-ES" altLang="es-ES" sz="1000"/>
                </a:p>
              </p:txBody>
            </p:sp>
          </p:grpSp>
          <p:sp>
            <p:nvSpPr>
              <p:cNvPr id="20512" name="Oval 194"/>
              <p:cNvSpPr>
                <a:spLocks noChangeArrowheads="1"/>
              </p:cNvSpPr>
              <p:nvPr/>
            </p:nvSpPr>
            <p:spPr bwMode="auto">
              <a:xfrm>
                <a:off x="3936" y="2160"/>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13" name="Oval 195"/>
              <p:cNvSpPr>
                <a:spLocks noChangeArrowheads="1"/>
              </p:cNvSpPr>
              <p:nvPr/>
            </p:nvSpPr>
            <p:spPr bwMode="auto">
              <a:xfrm>
                <a:off x="3984" y="2304"/>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14" name="Line 196"/>
              <p:cNvSpPr>
                <a:spLocks noChangeShapeType="1"/>
              </p:cNvSpPr>
              <p:nvPr/>
            </p:nvSpPr>
            <p:spPr bwMode="auto">
              <a:xfrm>
                <a:off x="3888" y="1999"/>
                <a:ext cx="0" cy="40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0515" name="Line 197"/>
              <p:cNvSpPr>
                <a:spLocks noChangeShapeType="1"/>
              </p:cNvSpPr>
              <p:nvPr/>
            </p:nvSpPr>
            <p:spPr bwMode="auto">
              <a:xfrm>
                <a:off x="3648" y="2265"/>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0516" name="Line 198"/>
              <p:cNvSpPr>
                <a:spLocks noChangeShapeType="1"/>
              </p:cNvSpPr>
              <p:nvPr/>
            </p:nvSpPr>
            <p:spPr bwMode="auto">
              <a:xfrm>
                <a:off x="3653" y="2121"/>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0517" name="Line 199"/>
              <p:cNvSpPr>
                <a:spLocks noChangeShapeType="1"/>
              </p:cNvSpPr>
              <p:nvPr/>
            </p:nvSpPr>
            <p:spPr bwMode="auto">
              <a:xfrm>
                <a:off x="3653" y="2409"/>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0518" name="Text Box 200"/>
              <p:cNvSpPr txBox="1">
                <a:spLocks noChangeArrowheads="1"/>
              </p:cNvSpPr>
              <p:nvPr/>
            </p:nvSpPr>
            <p:spPr bwMode="auto">
              <a:xfrm>
                <a:off x="3888" y="1872"/>
                <a:ext cx="110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a:t>Posición</a:t>
                </a:r>
                <a:endParaRPr lang="es-ES" altLang="es-ES" sz="1000"/>
              </a:p>
            </p:txBody>
          </p:sp>
          <p:sp>
            <p:nvSpPr>
              <p:cNvPr id="20519" name="Oval 201"/>
              <p:cNvSpPr>
                <a:spLocks noChangeArrowheads="1"/>
              </p:cNvSpPr>
              <p:nvPr/>
            </p:nvSpPr>
            <p:spPr bwMode="auto">
              <a:xfrm>
                <a:off x="4032" y="2160"/>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20" name="Oval 202"/>
              <p:cNvSpPr>
                <a:spLocks noChangeArrowheads="1"/>
              </p:cNvSpPr>
              <p:nvPr/>
            </p:nvSpPr>
            <p:spPr bwMode="auto">
              <a:xfrm>
                <a:off x="4080" y="2304"/>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21" name="Oval 203"/>
              <p:cNvSpPr>
                <a:spLocks noChangeArrowheads="1"/>
              </p:cNvSpPr>
              <p:nvPr/>
            </p:nvSpPr>
            <p:spPr bwMode="auto">
              <a:xfrm>
                <a:off x="4128" y="2160"/>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22" name="Oval 204"/>
              <p:cNvSpPr>
                <a:spLocks noChangeArrowheads="1"/>
              </p:cNvSpPr>
              <p:nvPr/>
            </p:nvSpPr>
            <p:spPr bwMode="auto">
              <a:xfrm>
                <a:off x="4176" y="2304"/>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20523" name="Group 205"/>
              <p:cNvGrpSpPr>
                <a:grpSpLocks/>
              </p:cNvGrpSpPr>
              <p:nvPr/>
            </p:nvGrpSpPr>
            <p:grpSpPr bwMode="auto">
              <a:xfrm flipV="1">
                <a:off x="4268" y="2160"/>
                <a:ext cx="96" cy="192"/>
                <a:chOff x="4224" y="2160"/>
                <a:chExt cx="96" cy="192"/>
              </a:xfrm>
            </p:grpSpPr>
            <p:sp>
              <p:nvSpPr>
                <p:cNvPr id="20532" name="Oval 206"/>
                <p:cNvSpPr>
                  <a:spLocks noChangeArrowheads="1"/>
                </p:cNvSpPr>
                <p:nvPr/>
              </p:nvSpPr>
              <p:spPr bwMode="auto">
                <a:xfrm flipV="1">
                  <a:off x="4224" y="2160"/>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33" name="Oval 207"/>
                <p:cNvSpPr>
                  <a:spLocks noChangeArrowheads="1"/>
                </p:cNvSpPr>
                <p:nvPr/>
              </p:nvSpPr>
              <p:spPr bwMode="auto">
                <a:xfrm flipV="1">
                  <a:off x="4272" y="2304"/>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pSp>
            <p:nvGrpSpPr>
              <p:cNvPr id="20524" name="Group 208"/>
              <p:cNvGrpSpPr>
                <a:grpSpLocks/>
              </p:cNvGrpSpPr>
              <p:nvPr/>
            </p:nvGrpSpPr>
            <p:grpSpPr bwMode="auto">
              <a:xfrm flipV="1">
                <a:off x="4464" y="2160"/>
                <a:ext cx="96" cy="192"/>
                <a:chOff x="4464" y="2160"/>
                <a:chExt cx="96" cy="192"/>
              </a:xfrm>
            </p:grpSpPr>
            <p:sp>
              <p:nvSpPr>
                <p:cNvPr id="20530" name="Oval 209"/>
                <p:cNvSpPr>
                  <a:spLocks noChangeArrowheads="1"/>
                </p:cNvSpPr>
                <p:nvPr/>
              </p:nvSpPr>
              <p:spPr bwMode="auto">
                <a:xfrm>
                  <a:off x="4464" y="2160"/>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31" name="Oval 210"/>
                <p:cNvSpPr>
                  <a:spLocks noChangeArrowheads="1"/>
                </p:cNvSpPr>
                <p:nvPr/>
              </p:nvSpPr>
              <p:spPr bwMode="auto">
                <a:xfrm>
                  <a:off x="4512" y="2304"/>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20525" name="Oval 211"/>
              <p:cNvSpPr>
                <a:spLocks noChangeArrowheads="1"/>
              </p:cNvSpPr>
              <p:nvPr/>
            </p:nvSpPr>
            <p:spPr bwMode="auto">
              <a:xfrm>
                <a:off x="4608" y="2160"/>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26" name="Oval 212"/>
              <p:cNvSpPr>
                <a:spLocks noChangeArrowheads="1"/>
              </p:cNvSpPr>
              <p:nvPr/>
            </p:nvSpPr>
            <p:spPr bwMode="auto">
              <a:xfrm>
                <a:off x="4656" y="2304"/>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20527" name="Group 213"/>
              <p:cNvGrpSpPr>
                <a:grpSpLocks/>
              </p:cNvGrpSpPr>
              <p:nvPr/>
            </p:nvGrpSpPr>
            <p:grpSpPr bwMode="auto">
              <a:xfrm flipV="1">
                <a:off x="4748" y="2160"/>
                <a:ext cx="96" cy="192"/>
                <a:chOff x="4224" y="2160"/>
                <a:chExt cx="96" cy="192"/>
              </a:xfrm>
            </p:grpSpPr>
            <p:sp>
              <p:nvSpPr>
                <p:cNvPr id="20528" name="Oval 214"/>
                <p:cNvSpPr>
                  <a:spLocks noChangeArrowheads="1"/>
                </p:cNvSpPr>
                <p:nvPr/>
              </p:nvSpPr>
              <p:spPr bwMode="auto">
                <a:xfrm flipV="1">
                  <a:off x="4224" y="2160"/>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29" name="Oval 215"/>
                <p:cNvSpPr>
                  <a:spLocks noChangeArrowheads="1"/>
                </p:cNvSpPr>
                <p:nvPr/>
              </p:nvSpPr>
              <p:spPr bwMode="auto">
                <a:xfrm flipV="1">
                  <a:off x="4272" y="2304"/>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pSp>
        <p:grpSp>
          <p:nvGrpSpPr>
            <p:cNvPr id="20489" name="Group 216"/>
            <p:cNvGrpSpPr>
              <a:grpSpLocks/>
            </p:cNvGrpSpPr>
            <p:nvPr/>
          </p:nvGrpSpPr>
          <p:grpSpPr bwMode="auto">
            <a:xfrm>
              <a:off x="492" y="2827"/>
              <a:ext cx="1441" cy="552"/>
              <a:chOff x="480" y="1872"/>
              <a:chExt cx="1441" cy="552"/>
            </a:xfrm>
          </p:grpSpPr>
          <p:grpSp>
            <p:nvGrpSpPr>
              <p:cNvPr id="20496" name="Group 217"/>
              <p:cNvGrpSpPr>
                <a:grpSpLocks/>
              </p:cNvGrpSpPr>
              <p:nvPr/>
            </p:nvGrpSpPr>
            <p:grpSpPr bwMode="auto">
              <a:xfrm>
                <a:off x="528" y="1995"/>
                <a:ext cx="1393" cy="429"/>
                <a:chOff x="528" y="1986"/>
                <a:chExt cx="1513" cy="429"/>
              </a:xfrm>
            </p:grpSpPr>
            <p:sp>
              <p:nvSpPr>
                <p:cNvPr id="20506" name="Text Box 218"/>
                <p:cNvSpPr txBox="1">
                  <a:spLocks noChangeArrowheads="1"/>
                </p:cNvSpPr>
                <p:nvPr/>
              </p:nvSpPr>
              <p:spPr bwMode="auto">
                <a:xfrm>
                  <a:off x="720" y="1986"/>
                  <a:ext cx="1321"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900"/>
                    <a:t>1   2   3    ………. 14  15  16  …… </a:t>
                  </a:r>
                  <a:endParaRPr lang="es-ES" altLang="es-ES" sz="900"/>
                </a:p>
              </p:txBody>
            </p:sp>
            <p:grpSp>
              <p:nvGrpSpPr>
                <p:cNvPr id="20507" name="Group 219"/>
                <p:cNvGrpSpPr>
                  <a:grpSpLocks/>
                </p:cNvGrpSpPr>
                <p:nvPr/>
              </p:nvGrpSpPr>
              <p:grpSpPr bwMode="auto">
                <a:xfrm>
                  <a:off x="528" y="2111"/>
                  <a:ext cx="184" cy="304"/>
                  <a:chOff x="528" y="2111"/>
                  <a:chExt cx="184" cy="304"/>
                </a:xfrm>
              </p:grpSpPr>
              <p:sp>
                <p:nvSpPr>
                  <p:cNvPr id="20508" name="Text Box 220"/>
                  <p:cNvSpPr txBox="1">
                    <a:spLocks noChangeArrowheads="1"/>
                  </p:cNvSpPr>
                  <p:nvPr/>
                </p:nvSpPr>
                <p:spPr bwMode="auto">
                  <a:xfrm>
                    <a:off x="528" y="2111"/>
                    <a:ext cx="18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a:t>A</a:t>
                    </a:r>
                    <a:endParaRPr lang="es-ES" altLang="es-ES" sz="1000"/>
                  </a:p>
                </p:txBody>
              </p:sp>
              <p:sp>
                <p:nvSpPr>
                  <p:cNvPr id="20509" name="Text Box 221"/>
                  <p:cNvSpPr txBox="1">
                    <a:spLocks noChangeArrowheads="1"/>
                  </p:cNvSpPr>
                  <p:nvPr/>
                </p:nvSpPr>
                <p:spPr bwMode="auto">
                  <a:xfrm>
                    <a:off x="528" y="2261"/>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a:t>B</a:t>
                    </a:r>
                    <a:endParaRPr lang="es-ES" altLang="es-ES" sz="1000"/>
                  </a:p>
                </p:txBody>
              </p:sp>
            </p:grpSp>
          </p:grpSp>
          <p:grpSp>
            <p:nvGrpSpPr>
              <p:cNvPr id="20497" name="Group 222"/>
              <p:cNvGrpSpPr>
                <a:grpSpLocks/>
              </p:cNvGrpSpPr>
              <p:nvPr/>
            </p:nvGrpSpPr>
            <p:grpSpPr bwMode="auto">
              <a:xfrm>
                <a:off x="480" y="1872"/>
                <a:ext cx="1361" cy="537"/>
                <a:chOff x="480" y="1872"/>
                <a:chExt cx="1361" cy="537"/>
              </a:xfrm>
            </p:grpSpPr>
            <p:sp>
              <p:nvSpPr>
                <p:cNvPr id="20498" name="Oval 223"/>
                <p:cNvSpPr>
                  <a:spLocks noChangeArrowheads="1"/>
                </p:cNvSpPr>
                <p:nvPr/>
              </p:nvSpPr>
              <p:spPr bwMode="auto">
                <a:xfrm>
                  <a:off x="768" y="2160"/>
                  <a:ext cx="497" cy="64"/>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499" name="Oval 224"/>
                <p:cNvSpPr>
                  <a:spLocks noChangeArrowheads="1"/>
                </p:cNvSpPr>
                <p:nvPr/>
              </p:nvSpPr>
              <p:spPr bwMode="auto">
                <a:xfrm>
                  <a:off x="1344" y="2304"/>
                  <a:ext cx="497" cy="64"/>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00" name="Line 225"/>
                <p:cNvSpPr>
                  <a:spLocks noChangeShapeType="1"/>
                </p:cNvSpPr>
                <p:nvPr/>
              </p:nvSpPr>
              <p:spPr bwMode="auto">
                <a:xfrm>
                  <a:off x="720" y="1999"/>
                  <a:ext cx="0" cy="40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20501" name="Group 226"/>
                <p:cNvGrpSpPr>
                  <a:grpSpLocks/>
                </p:cNvGrpSpPr>
                <p:nvPr/>
              </p:nvGrpSpPr>
              <p:grpSpPr bwMode="auto">
                <a:xfrm>
                  <a:off x="480" y="2121"/>
                  <a:ext cx="1344" cy="288"/>
                  <a:chOff x="666" y="2112"/>
                  <a:chExt cx="1500" cy="432"/>
                </a:xfrm>
              </p:grpSpPr>
              <p:sp>
                <p:nvSpPr>
                  <p:cNvPr id="20503" name="Line 227"/>
                  <p:cNvSpPr>
                    <a:spLocks noChangeShapeType="1"/>
                  </p:cNvSpPr>
                  <p:nvPr/>
                </p:nvSpPr>
                <p:spPr bwMode="auto">
                  <a:xfrm>
                    <a:off x="666" y="2328"/>
                    <a:ext cx="149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0504" name="Line 228"/>
                  <p:cNvSpPr>
                    <a:spLocks noChangeShapeType="1"/>
                  </p:cNvSpPr>
                  <p:nvPr/>
                </p:nvSpPr>
                <p:spPr bwMode="auto">
                  <a:xfrm>
                    <a:off x="672" y="2112"/>
                    <a:ext cx="149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0505" name="Line 229"/>
                  <p:cNvSpPr>
                    <a:spLocks noChangeShapeType="1"/>
                  </p:cNvSpPr>
                  <p:nvPr/>
                </p:nvSpPr>
                <p:spPr bwMode="auto">
                  <a:xfrm>
                    <a:off x="672" y="2544"/>
                    <a:ext cx="149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20502" name="Text Box 230"/>
                <p:cNvSpPr txBox="1">
                  <a:spLocks noChangeArrowheads="1"/>
                </p:cNvSpPr>
                <p:nvPr/>
              </p:nvSpPr>
              <p:spPr bwMode="auto">
                <a:xfrm>
                  <a:off x="720" y="1872"/>
                  <a:ext cx="110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a:t>Posición</a:t>
                  </a:r>
                  <a:endParaRPr lang="es-ES" altLang="es-ES" sz="1000"/>
                </a:p>
              </p:txBody>
            </p:sp>
          </p:grpSp>
        </p:grpSp>
        <p:sp>
          <p:nvSpPr>
            <p:cNvPr id="20490" name="Text Box 231"/>
            <p:cNvSpPr txBox="1">
              <a:spLocks noChangeArrowheads="1"/>
            </p:cNvSpPr>
            <p:nvPr/>
          </p:nvSpPr>
          <p:spPr bwMode="auto">
            <a:xfrm>
              <a:off x="564" y="3379"/>
              <a:ext cx="12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a:t>A domina las posiciones bajas y B las posiciones altas</a:t>
              </a:r>
              <a:endParaRPr lang="es-ES" altLang="es-ES" sz="1000"/>
            </a:p>
          </p:txBody>
        </p:sp>
        <p:sp>
          <p:nvSpPr>
            <p:cNvPr id="20491" name="Text Box 232"/>
            <p:cNvSpPr txBox="1">
              <a:spLocks noChangeArrowheads="1"/>
            </p:cNvSpPr>
            <p:nvPr/>
          </p:nvSpPr>
          <p:spPr bwMode="auto">
            <a:xfrm>
              <a:off x="1056" y="3595"/>
              <a:ext cx="31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a:t>A &lt; B</a:t>
              </a:r>
              <a:endParaRPr lang="es-ES" altLang="es-ES" sz="1000"/>
            </a:p>
          </p:txBody>
        </p:sp>
        <p:sp>
          <p:nvSpPr>
            <p:cNvPr id="20492" name="Text Box 233"/>
            <p:cNvSpPr txBox="1">
              <a:spLocks noChangeArrowheads="1"/>
            </p:cNvSpPr>
            <p:nvPr/>
          </p:nvSpPr>
          <p:spPr bwMode="auto">
            <a:xfrm>
              <a:off x="2148" y="3379"/>
              <a:ext cx="12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a:t>A domina las posiciones altas y B las posiciones bajas</a:t>
              </a:r>
              <a:endParaRPr lang="es-ES" altLang="es-ES" sz="1000"/>
            </a:p>
          </p:txBody>
        </p:sp>
        <p:sp>
          <p:nvSpPr>
            <p:cNvPr id="20493" name="Text Box 234"/>
            <p:cNvSpPr txBox="1">
              <a:spLocks noChangeArrowheads="1"/>
            </p:cNvSpPr>
            <p:nvPr/>
          </p:nvSpPr>
          <p:spPr bwMode="auto">
            <a:xfrm>
              <a:off x="2640" y="3595"/>
              <a:ext cx="31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a:t>A &gt; B</a:t>
              </a:r>
              <a:endParaRPr lang="es-ES" altLang="es-ES" sz="1000"/>
            </a:p>
          </p:txBody>
        </p:sp>
        <p:sp>
          <p:nvSpPr>
            <p:cNvPr id="20494" name="Text Box 235"/>
            <p:cNvSpPr txBox="1">
              <a:spLocks noChangeArrowheads="1"/>
            </p:cNvSpPr>
            <p:nvPr/>
          </p:nvSpPr>
          <p:spPr bwMode="auto">
            <a:xfrm>
              <a:off x="3732" y="3379"/>
              <a:ext cx="12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a:t>Ni A ni B dominan posiciones concretas de la escala</a:t>
              </a:r>
              <a:endParaRPr lang="es-ES" altLang="es-ES" sz="1000"/>
            </a:p>
          </p:txBody>
        </p:sp>
        <p:sp>
          <p:nvSpPr>
            <p:cNvPr id="20495" name="Text Box 236"/>
            <p:cNvSpPr txBox="1">
              <a:spLocks noChangeArrowheads="1"/>
            </p:cNvSpPr>
            <p:nvPr/>
          </p:nvSpPr>
          <p:spPr bwMode="auto">
            <a:xfrm>
              <a:off x="4224" y="3595"/>
              <a:ext cx="31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a:t>A = B</a:t>
              </a:r>
              <a:endParaRPr lang="es-ES" altLang="es-ES" sz="1000"/>
            </a:p>
          </p:txBody>
        </p:sp>
      </p:grpSp>
      <p:sp>
        <p:nvSpPr>
          <p:cNvPr id="20486" name="Text Box 239"/>
          <p:cNvSpPr txBox="1">
            <a:spLocks noChangeArrowheads="1"/>
          </p:cNvSpPr>
          <p:nvPr/>
        </p:nvSpPr>
        <p:spPr bwMode="auto">
          <a:xfrm>
            <a:off x="1052540" y="6054602"/>
            <a:ext cx="7019870" cy="49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dirty="0"/>
              <a:t>¿Cómo se cuantifica esto? </a:t>
            </a:r>
          </a:p>
          <a:p>
            <a:pPr algn="ctr" eaLnBrk="1" hangingPunct="1">
              <a:lnSpc>
                <a:spcPct val="120000"/>
              </a:lnSpc>
            </a:pPr>
            <a:r>
              <a:rPr lang="es-ES_tradnl" altLang="es-ES" b="1" dirty="0"/>
              <a:t>¿qué criterio permite decidir si una de las muestras domina una parte de la escala ordenada?</a:t>
            </a:r>
            <a:endParaRPr lang="es-ES" altLang="es-ES" b="1" dirty="0"/>
          </a:p>
        </p:txBody>
      </p:sp>
    </p:spTree>
    <p:extLst>
      <p:ext uri="{BB962C8B-B14F-4D97-AF65-F5344CB8AC3E}">
        <p14:creationId xmlns:p14="http://schemas.microsoft.com/office/powerpoint/2010/main" val="22458931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228600" y="79539"/>
            <a:ext cx="415184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 Variable No normal</a:t>
            </a:r>
            <a:endParaRPr lang="es-ES" altLang="es-ES" sz="1400" b="1" dirty="0"/>
          </a:p>
        </p:txBody>
      </p:sp>
      <p:graphicFrame>
        <p:nvGraphicFramePr>
          <p:cNvPr id="21507" name="Object 3"/>
          <p:cNvGraphicFramePr>
            <a:graphicFrameLocks noChangeAspect="1"/>
          </p:cNvGraphicFramePr>
          <p:nvPr>
            <p:extLst>
              <p:ext uri="{D42A27DB-BD31-4B8C-83A1-F6EECF244321}">
                <p14:modId xmlns:p14="http://schemas.microsoft.com/office/powerpoint/2010/main" val="1674397928"/>
              </p:ext>
            </p:extLst>
          </p:nvPr>
        </p:nvGraphicFramePr>
        <p:xfrm>
          <a:off x="876300" y="4343400"/>
          <a:ext cx="6354763" cy="1222375"/>
        </p:xfrm>
        <a:graphic>
          <a:graphicData uri="http://schemas.openxmlformats.org/presentationml/2006/ole">
            <mc:AlternateContent xmlns:mc="http://schemas.openxmlformats.org/markup-compatibility/2006">
              <mc:Choice xmlns:v="urn:schemas-microsoft-com:vml" Requires="v">
                <p:oleObj name="Equation" r:id="rId2" imgW="5867400" imgH="1168400" progId="Equation.DSMT4">
                  <p:embed/>
                </p:oleObj>
              </mc:Choice>
              <mc:Fallback>
                <p:oleObj name="Equation" r:id="rId2" imgW="5867400" imgH="1168400" progId="Equation.DSMT4">
                  <p:embed/>
                  <p:pic>
                    <p:nvPicPr>
                      <p:cNvPr id="2150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300" y="4343400"/>
                        <a:ext cx="6354763" cy="1222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08" name="Object 4"/>
          <p:cNvGraphicFramePr>
            <a:graphicFrameLocks noChangeAspect="1"/>
          </p:cNvGraphicFramePr>
          <p:nvPr>
            <p:extLst>
              <p:ext uri="{D42A27DB-BD31-4B8C-83A1-F6EECF244321}">
                <p14:modId xmlns:p14="http://schemas.microsoft.com/office/powerpoint/2010/main" val="2867103340"/>
              </p:ext>
            </p:extLst>
          </p:nvPr>
        </p:nvGraphicFramePr>
        <p:xfrm>
          <a:off x="896938" y="5627688"/>
          <a:ext cx="1458912" cy="239712"/>
        </p:xfrm>
        <a:graphic>
          <a:graphicData uri="http://schemas.openxmlformats.org/presentationml/2006/ole">
            <mc:AlternateContent xmlns:mc="http://schemas.openxmlformats.org/markup-compatibility/2006">
              <mc:Choice xmlns:v="urn:schemas-microsoft-com:vml" Requires="v">
                <p:oleObj name="Equation" r:id="rId4" imgW="1447800" imgH="241300" progId="Equation.DSMT4">
                  <p:embed/>
                </p:oleObj>
              </mc:Choice>
              <mc:Fallback>
                <p:oleObj name="Equation" r:id="rId4" imgW="1447800" imgH="241300" progId="Equation.DSMT4">
                  <p:embed/>
                  <p:pic>
                    <p:nvPicPr>
                      <p:cNvPr id="2150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6938" y="5627688"/>
                        <a:ext cx="1458912" cy="239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09" name="Text Box 5"/>
          <p:cNvSpPr txBox="1">
            <a:spLocks noChangeArrowheads="1"/>
          </p:cNvSpPr>
          <p:nvPr/>
        </p:nvSpPr>
        <p:spPr bwMode="auto">
          <a:xfrm>
            <a:off x="228600" y="857250"/>
            <a:ext cx="2241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1. Hipótesis a contrastar</a:t>
            </a:r>
            <a:endParaRPr lang="es-ES" altLang="es-ES" sz="1400" b="1"/>
          </a:p>
        </p:txBody>
      </p:sp>
      <p:grpSp>
        <p:nvGrpSpPr>
          <p:cNvPr id="21510" name="Group 6"/>
          <p:cNvGrpSpPr>
            <a:grpSpLocks/>
          </p:cNvGrpSpPr>
          <p:nvPr/>
        </p:nvGrpSpPr>
        <p:grpSpPr bwMode="auto">
          <a:xfrm>
            <a:off x="533400" y="1133475"/>
            <a:ext cx="5710238" cy="684213"/>
            <a:chOff x="384" y="816"/>
            <a:chExt cx="3597" cy="431"/>
          </a:xfrm>
        </p:grpSpPr>
        <p:graphicFrame>
          <p:nvGraphicFramePr>
            <p:cNvPr id="21521" name="Object 7"/>
            <p:cNvGraphicFramePr>
              <a:graphicFrameLocks noChangeAspect="1"/>
            </p:cNvGraphicFramePr>
            <p:nvPr/>
          </p:nvGraphicFramePr>
          <p:xfrm>
            <a:off x="384" y="816"/>
            <a:ext cx="317" cy="431"/>
          </p:xfrm>
          <a:graphic>
            <a:graphicData uri="http://schemas.openxmlformats.org/presentationml/2006/ole">
              <mc:AlternateContent xmlns:mc="http://schemas.openxmlformats.org/markup-compatibility/2006">
                <mc:Choice xmlns:v="urn:schemas-microsoft-com:vml" Requires="v">
                  <p:oleObj name="Equation" r:id="rId6" imgW="355446" imgH="482391" progId="Equation.DSMT4">
                    <p:embed/>
                  </p:oleObj>
                </mc:Choice>
                <mc:Fallback>
                  <p:oleObj name="Equation" r:id="rId6" imgW="355446" imgH="482391" progId="Equation.DSMT4">
                    <p:embed/>
                    <p:pic>
                      <p:nvPicPr>
                        <p:cNvPr id="21521"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 y="816"/>
                          <a:ext cx="317" cy="4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22" name="Text Box 8"/>
            <p:cNvSpPr txBox="1">
              <a:spLocks noChangeArrowheads="1"/>
            </p:cNvSpPr>
            <p:nvPr/>
          </p:nvSpPr>
          <p:spPr bwMode="auto">
            <a:xfrm>
              <a:off x="672" y="833"/>
              <a:ext cx="1673"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latin typeface="Times New Roman" pitchFamily="18" charset="0"/>
                </a:rPr>
                <a:t>Las dos poblaciones son homogéneas</a:t>
              </a:r>
              <a:endParaRPr lang="es-ES" altLang="es-ES" sz="1300">
                <a:latin typeface="Times New Roman" pitchFamily="18" charset="0"/>
              </a:endParaRPr>
            </a:p>
          </p:txBody>
        </p:sp>
        <p:sp>
          <p:nvSpPr>
            <p:cNvPr id="21523" name="Text Box 9"/>
            <p:cNvSpPr txBox="1">
              <a:spLocks noChangeArrowheads="1"/>
            </p:cNvSpPr>
            <p:nvPr/>
          </p:nvSpPr>
          <p:spPr bwMode="auto">
            <a:xfrm>
              <a:off x="672" y="1043"/>
              <a:ext cx="3309"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latin typeface="Times New Roman" pitchFamily="18" charset="0"/>
                </a:rPr>
                <a:t>Una de las poblaciones tiende a dar valores mas altos o mas bajos que la otra</a:t>
              </a:r>
              <a:endParaRPr lang="es-ES" altLang="es-ES" sz="1300">
                <a:latin typeface="Times New Roman" pitchFamily="18" charset="0"/>
              </a:endParaRPr>
            </a:p>
          </p:txBody>
        </p:sp>
      </p:grpSp>
      <p:sp>
        <p:nvSpPr>
          <p:cNvPr id="21511" name="Text Box 10"/>
          <p:cNvSpPr txBox="1">
            <a:spLocks noChangeArrowheads="1"/>
          </p:cNvSpPr>
          <p:nvPr/>
        </p:nvSpPr>
        <p:spPr bwMode="auto">
          <a:xfrm>
            <a:off x="561975" y="2276475"/>
            <a:ext cx="14478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t>Lo vemos con</a:t>
            </a:r>
          </a:p>
          <a:p>
            <a:pPr eaLnBrk="1" hangingPunct="1"/>
            <a:r>
              <a:rPr lang="es-ES_tradnl" altLang="es-ES" sz="1300"/>
              <a:t>un ejemplo:</a:t>
            </a:r>
            <a:endParaRPr lang="es-ES" altLang="es-ES" sz="1300"/>
          </a:p>
        </p:txBody>
      </p:sp>
      <p:grpSp>
        <p:nvGrpSpPr>
          <p:cNvPr id="2" name="Grupo 1"/>
          <p:cNvGrpSpPr/>
          <p:nvPr/>
        </p:nvGrpSpPr>
        <p:grpSpPr>
          <a:xfrm>
            <a:off x="2590800" y="1828800"/>
            <a:ext cx="6248400" cy="1480799"/>
            <a:chOff x="2590800" y="1981200"/>
            <a:chExt cx="6248400" cy="1480799"/>
          </a:xfrm>
        </p:grpSpPr>
        <p:graphicFrame>
          <p:nvGraphicFramePr>
            <p:cNvPr id="21519" name="Object 13"/>
            <p:cNvGraphicFramePr>
              <a:graphicFrameLocks noChangeAspect="1"/>
            </p:cNvGraphicFramePr>
            <p:nvPr>
              <p:extLst>
                <p:ext uri="{D42A27DB-BD31-4B8C-83A1-F6EECF244321}">
                  <p14:modId xmlns:p14="http://schemas.microsoft.com/office/powerpoint/2010/main" val="1092369593"/>
                </p:ext>
              </p:extLst>
            </p:nvPr>
          </p:nvGraphicFramePr>
          <p:xfrm>
            <a:off x="3287713" y="2917411"/>
            <a:ext cx="4854575" cy="466969"/>
          </p:xfrm>
          <a:graphic>
            <a:graphicData uri="http://schemas.openxmlformats.org/presentationml/2006/ole">
              <mc:AlternateContent xmlns:mc="http://schemas.openxmlformats.org/markup-compatibility/2006">
                <mc:Choice xmlns:v="urn:schemas-microsoft-com:vml" Requires="v">
                  <p:oleObj name="Equation" r:id="rId8" imgW="4686120" imgH="482400" progId="Equation.DSMT4">
                    <p:embed/>
                  </p:oleObj>
                </mc:Choice>
                <mc:Fallback>
                  <p:oleObj name="Equation" r:id="rId8" imgW="4686120" imgH="482400" progId="Equation.DSMT4">
                    <p:embed/>
                    <p:pic>
                      <p:nvPicPr>
                        <p:cNvPr id="21519" name="Object 13"/>
                        <p:cNvPicPr>
                          <a:picLocks noChangeAspect="1" noChangeArrowheads="1"/>
                        </p:cNvPicPr>
                        <p:nvPr/>
                      </p:nvPicPr>
                      <p:blipFill>
                        <a:blip r:embed="rId9"/>
                        <a:srcRect/>
                        <a:stretch>
                          <a:fillRect/>
                        </a:stretch>
                      </p:blipFill>
                      <p:spPr bwMode="auto">
                        <a:xfrm>
                          <a:off x="3287713" y="2917411"/>
                          <a:ext cx="4854575" cy="466969"/>
                        </a:xfrm>
                        <a:prstGeom prst="rect">
                          <a:avLst/>
                        </a:prstGeom>
                        <a:noFill/>
                        <a:ln>
                          <a:noFill/>
                        </a:ln>
                        <a:effectLst/>
                      </p:spPr>
                    </p:pic>
                  </p:oleObj>
                </mc:Fallback>
              </mc:AlternateContent>
            </a:graphicData>
          </a:graphic>
        </p:graphicFrame>
        <p:sp>
          <p:nvSpPr>
            <p:cNvPr id="21520" name="Text Box 14"/>
            <p:cNvSpPr txBox="1">
              <a:spLocks noChangeArrowheads="1"/>
            </p:cNvSpPr>
            <p:nvPr/>
          </p:nvSpPr>
          <p:spPr bwMode="auto">
            <a:xfrm>
              <a:off x="2609056" y="2038350"/>
              <a:ext cx="621188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dirty="0">
                  <a:solidFill>
                    <a:srgbClr val="006666"/>
                  </a:solidFill>
                </a:rPr>
                <a:t># Se estudia si el personal sanitario adscrito a un centro de atención primaria A, percibe el mismo nivel de sobrecarga que el personal adscrito a un centro de atención B. Se utilizó una escala con puntuaciones enteras de 1 a 40 puntos (mayor puntuación indica mayor sobrecarga). Los datos obtenidos se indican a continuación  </a:t>
              </a:r>
              <a:endParaRPr lang="es-ES" altLang="es-ES" dirty="0">
                <a:solidFill>
                  <a:srgbClr val="006666"/>
                </a:solidFill>
              </a:endParaRPr>
            </a:p>
          </p:txBody>
        </p:sp>
        <p:sp>
          <p:nvSpPr>
            <p:cNvPr id="21518" name="AutoShape 15"/>
            <p:cNvSpPr>
              <a:spLocks noChangeArrowheads="1"/>
            </p:cNvSpPr>
            <p:nvPr/>
          </p:nvSpPr>
          <p:spPr bwMode="auto">
            <a:xfrm>
              <a:off x="2590800" y="1981200"/>
              <a:ext cx="6248400" cy="1480799"/>
            </a:xfrm>
            <a:prstGeom prst="roundRect">
              <a:avLst>
                <a:gd name="adj" fmla="val 7019"/>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21513" name="Text Box 16"/>
          <p:cNvSpPr txBox="1">
            <a:spLocks noChangeArrowheads="1"/>
          </p:cNvSpPr>
          <p:nvPr/>
        </p:nvSpPr>
        <p:spPr bwMode="auto">
          <a:xfrm>
            <a:off x="466725" y="3505200"/>
            <a:ext cx="7275513" cy="914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eaLnBrk="1" hangingPunct="1">
              <a:buFontTx/>
              <a:buAutoNum type="arabicParenR"/>
            </a:pPr>
            <a:r>
              <a:rPr lang="es-ES_tradnl" altLang="es-ES">
                <a:cs typeface="Arial" pitchFamily="34" charset="0"/>
              </a:rPr>
              <a:t>Ordenar las observaciones de menor a mayor (sabiendo cual es la muestra de procedencia)</a:t>
            </a:r>
          </a:p>
          <a:p>
            <a:pPr eaLnBrk="1" hangingPunct="1">
              <a:lnSpc>
                <a:spcPct val="110000"/>
              </a:lnSpc>
              <a:buFontTx/>
              <a:buAutoNum type="arabicParenR"/>
            </a:pPr>
            <a:r>
              <a:rPr lang="es-ES_tradnl" altLang="es-ES">
                <a:cs typeface="Arial" pitchFamily="34" charset="0"/>
              </a:rPr>
              <a:t>Asignar </a:t>
            </a:r>
            <a:r>
              <a:rPr lang="es-ES_tradnl" altLang="es-ES" b="1" i="1">
                <a:cs typeface="Arial" pitchFamily="34" charset="0"/>
              </a:rPr>
              <a:t>rangos</a:t>
            </a:r>
            <a:r>
              <a:rPr lang="es-ES_tradnl" altLang="es-ES">
                <a:cs typeface="Arial" pitchFamily="34" charset="0"/>
              </a:rPr>
              <a:t> = nº de orden si no hay empates o el nº de orden promedio del grupo empatado</a:t>
            </a:r>
          </a:p>
          <a:p>
            <a:pPr eaLnBrk="1" hangingPunct="1">
              <a:lnSpc>
                <a:spcPct val="110000"/>
              </a:lnSpc>
              <a:buFontTx/>
              <a:buAutoNum type="arabicParenR"/>
            </a:pPr>
            <a:r>
              <a:rPr lang="es-ES_tradnl" altLang="es-ES">
                <a:cs typeface="Arial" pitchFamily="34" charset="0"/>
              </a:rPr>
              <a:t>La suma de rangos de la muestra de menor tamaño es el estadístico de contraste: </a:t>
            </a:r>
            <a:r>
              <a:rPr lang="es-ES_tradnl" altLang="es-ES" sz="1300">
                <a:latin typeface="Times New Roman" pitchFamily="18" charset="0"/>
                <a:cs typeface="Arial" pitchFamily="34" charset="0"/>
              </a:rPr>
              <a:t>R</a:t>
            </a:r>
            <a:r>
              <a:rPr lang="es-ES_tradnl" altLang="es-ES" sz="1300" baseline="-25000">
                <a:latin typeface="Times New Roman" pitchFamily="18" charset="0"/>
                <a:cs typeface="Arial" pitchFamily="34" charset="0"/>
              </a:rPr>
              <a:t>exp</a:t>
            </a:r>
          </a:p>
          <a:p>
            <a:pPr eaLnBrk="1" hangingPunct="1">
              <a:lnSpc>
                <a:spcPct val="110000"/>
              </a:lnSpc>
              <a:buFontTx/>
              <a:buAutoNum type="arabicParenR"/>
            </a:pPr>
            <a:r>
              <a:rPr lang="es-ES_tradnl" altLang="es-ES">
                <a:cs typeface="Arial" pitchFamily="34" charset="0"/>
              </a:rPr>
              <a:t>Obtener el nivel de significación  </a:t>
            </a:r>
            <a:r>
              <a:rPr lang="es-ES_tradnl" altLang="es-ES" sz="1300" i="1">
                <a:latin typeface="Times New Roman" pitchFamily="18" charset="0"/>
                <a:cs typeface="Arial" pitchFamily="34" charset="0"/>
              </a:rPr>
              <a:t>p</a:t>
            </a:r>
          </a:p>
        </p:txBody>
      </p:sp>
      <p:sp>
        <p:nvSpPr>
          <p:cNvPr id="21514" name="Text Box 17"/>
          <p:cNvSpPr txBox="1">
            <a:spLocks noChangeArrowheads="1"/>
          </p:cNvSpPr>
          <p:nvPr/>
        </p:nvSpPr>
        <p:spPr bwMode="auto">
          <a:xfrm>
            <a:off x="244475" y="3048000"/>
            <a:ext cx="16129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cs typeface="Arial" pitchFamily="34" charset="0"/>
              </a:rPr>
              <a:t>3. Procedimiento</a:t>
            </a:r>
          </a:p>
        </p:txBody>
      </p:sp>
      <p:sp>
        <p:nvSpPr>
          <p:cNvPr id="21515" name="Text Box 18"/>
          <p:cNvSpPr txBox="1">
            <a:spLocks noChangeArrowheads="1"/>
          </p:cNvSpPr>
          <p:nvPr/>
        </p:nvSpPr>
        <p:spPr bwMode="auto">
          <a:xfrm>
            <a:off x="228600" y="1895475"/>
            <a:ext cx="2184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2. Información muestral</a:t>
            </a:r>
            <a:endParaRPr lang="es-ES" altLang="es-ES" sz="1400" b="1"/>
          </a:p>
        </p:txBody>
      </p:sp>
      <p:sp>
        <p:nvSpPr>
          <p:cNvPr id="21516" name="Text Box 19"/>
          <p:cNvSpPr txBox="1">
            <a:spLocks noChangeArrowheads="1"/>
          </p:cNvSpPr>
          <p:nvPr/>
        </p:nvSpPr>
        <p:spPr bwMode="auto">
          <a:xfrm>
            <a:off x="2438400" y="5605463"/>
            <a:ext cx="556260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dirty="0">
                <a:solidFill>
                  <a:srgbClr val="000066"/>
                </a:solidFill>
                <a:latin typeface="Times New Roman" pitchFamily="18" charset="0"/>
              </a:rPr>
              <a:t>No hay evidencia de que en un centro se de mayor sobrecarga que en el otro</a:t>
            </a:r>
            <a:endParaRPr lang="es-ES" altLang="es-ES" sz="1100" dirty="0">
              <a:solidFill>
                <a:srgbClr val="000066"/>
              </a:solidFill>
              <a:latin typeface="Times New Roman" pitchFamily="18" charset="0"/>
            </a:endParaRPr>
          </a:p>
        </p:txBody>
      </p:sp>
      <p:sp>
        <p:nvSpPr>
          <p:cNvPr id="20" name="Text Box 2"/>
          <p:cNvSpPr txBox="1">
            <a:spLocks noChangeArrowheads="1"/>
          </p:cNvSpPr>
          <p:nvPr/>
        </p:nvSpPr>
        <p:spPr bwMode="auto">
          <a:xfrm>
            <a:off x="228600" y="404812"/>
            <a:ext cx="42734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Test de </a:t>
            </a:r>
            <a:r>
              <a:rPr lang="es-ES_tradnl" altLang="es-ES" sz="1400" b="1" dirty="0" err="1"/>
              <a:t>Wilcoxon</a:t>
            </a:r>
            <a:r>
              <a:rPr lang="es-ES_tradnl" altLang="es-ES" sz="1400" b="1" dirty="0"/>
              <a:t> para muestras independientes</a:t>
            </a:r>
            <a:endParaRPr lang="es-ES" altLang="es-ES" sz="1400" b="1" dirty="0"/>
          </a:p>
        </p:txBody>
      </p:sp>
      <p:grpSp>
        <p:nvGrpSpPr>
          <p:cNvPr id="34" name="Grupo 33">
            <a:extLst>
              <a:ext uri="{FF2B5EF4-FFF2-40B4-BE49-F238E27FC236}">
                <a16:creationId xmlns:a16="http://schemas.microsoft.com/office/drawing/2014/main" id="{9840DCBB-5900-4E5B-BE04-D100A4F82E70}"/>
              </a:ext>
            </a:extLst>
          </p:cNvPr>
          <p:cNvGrpSpPr/>
          <p:nvPr/>
        </p:nvGrpSpPr>
        <p:grpSpPr>
          <a:xfrm>
            <a:off x="818356" y="5876925"/>
            <a:ext cx="6553200" cy="632456"/>
            <a:chOff x="827881" y="6009644"/>
            <a:chExt cx="6553200" cy="632456"/>
          </a:xfrm>
        </p:grpSpPr>
        <p:grpSp>
          <p:nvGrpSpPr>
            <p:cNvPr id="35" name="Grupo 34">
              <a:extLst>
                <a:ext uri="{FF2B5EF4-FFF2-40B4-BE49-F238E27FC236}">
                  <a16:creationId xmlns:a16="http://schemas.microsoft.com/office/drawing/2014/main" id="{69CB9883-E068-478D-9CB5-CF8C8BB30F29}"/>
                </a:ext>
              </a:extLst>
            </p:cNvPr>
            <p:cNvGrpSpPr/>
            <p:nvPr/>
          </p:nvGrpSpPr>
          <p:grpSpPr>
            <a:xfrm>
              <a:off x="827881" y="6009644"/>
              <a:ext cx="6553200" cy="430887"/>
              <a:chOff x="827881" y="6009644"/>
              <a:chExt cx="6553200" cy="430887"/>
            </a:xfrm>
          </p:grpSpPr>
          <p:sp>
            <p:nvSpPr>
              <p:cNvPr id="40" name="Text Box 19">
                <a:extLst>
                  <a:ext uri="{FF2B5EF4-FFF2-40B4-BE49-F238E27FC236}">
                    <a16:creationId xmlns:a16="http://schemas.microsoft.com/office/drawing/2014/main" id="{BB400F4F-2A55-4D57-819E-5D4FB2AAEAC3}"/>
                  </a:ext>
                </a:extLst>
              </p:cNvPr>
              <p:cNvSpPr txBox="1">
                <a:spLocks noChangeArrowheads="1"/>
              </p:cNvSpPr>
              <p:nvPr/>
            </p:nvSpPr>
            <p:spPr bwMode="auto">
              <a:xfrm>
                <a:off x="827881" y="6009644"/>
                <a:ext cx="65532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100" dirty="0">
                    <a:solidFill>
                      <a:srgbClr val="000066"/>
                    </a:solidFill>
                    <a:latin typeface="Times New Roman" pitchFamily="18" charset="0"/>
                  </a:rPr>
                  <a:t>En caso de haberse dado diferencias significativas, la conclusión habría sido B&gt;A, ya que se observa que                   </a:t>
                </a:r>
              </a:p>
              <a:p>
                <a:pPr algn="just" eaLnBrk="1" hangingPunct="1"/>
                <a:r>
                  <a:rPr lang="es-ES_tradnl" altLang="es-ES" sz="1100" dirty="0">
                    <a:solidFill>
                      <a:srgbClr val="000066"/>
                    </a:solidFill>
                    <a:latin typeface="Times New Roman" pitchFamily="18" charset="0"/>
                  </a:rPr>
                  <a:t>Siendo                   los rangos promedio: </a:t>
                </a:r>
                <a:endParaRPr lang="es-ES" altLang="es-ES" sz="1100" dirty="0">
                  <a:solidFill>
                    <a:srgbClr val="000066"/>
                  </a:solidFill>
                  <a:latin typeface="Times New Roman" pitchFamily="18" charset="0"/>
                </a:endParaRPr>
              </a:p>
            </p:txBody>
          </p:sp>
          <p:graphicFrame>
            <p:nvGraphicFramePr>
              <p:cNvPr id="41" name="Objeto 40">
                <a:extLst>
                  <a:ext uri="{FF2B5EF4-FFF2-40B4-BE49-F238E27FC236}">
                    <a16:creationId xmlns:a16="http://schemas.microsoft.com/office/drawing/2014/main" id="{488FF0EE-986F-4874-9EE9-61DAE31D8C98}"/>
                  </a:ext>
                </a:extLst>
              </p:cNvPr>
              <p:cNvGraphicFramePr>
                <a:graphicFrameLocks noChangeAspect="1"/>
              </p:cNvGraphicFramePr>
              <p:nvPr>
                <p:extLst>
                  <p:ext uri="{D42A27DB-BD31-4B8C-83A1-F6EECF244321}">
                    <p14:modId xmlns:p14="http://schemas.microsoft.com/office/powerpoint/2010/main" val="3221245916"/>
                  </p:ext>
                </p:extLst>
              </p:nvPr>
            </p:nvGraphicFramePr>
            <p:xfrm>
              <a:off x="6790139" y="6026150"/>
              <a:ext cx="471086" cy="235543"/>
            </p:xfrm>
            <a:graphic>
              <a:graphicData uri="http://schemas.openxmlformats.org/presentationml/2006/ole">
                <mc:AlternateContent xmlns:mc="http://schemas.openxmlformats.org/markup-compatibility/2006">
                  <mc:Choice xmlns:v="urn:schemas-microsoft-com:vml" Requires="v">
                    <p:oleObj name="Equation" r:id="rId10" imgW="482400" imgH="241200" progId="Equation.DSMT4">
                      <p:embed/>
                    </p:oleObj>
                  </mc:Choice>
                  <mc:Fallback>
                    <p:oleObj name="Equation" r:id="rId10" imgW="482400" imgH="241200" progId="Equation.DSMT4">
                      <p:embed/>
                      <p:pic>
                        <p:nvPicPr>
                          <p:cNvPr id="22" name="Objeto 21">
                            <a:extLst>
                              <a:ext uri="{FF2B5EF4-FFF2-40B4-BE49-F238E27FC236}">
                                <a16:creationId xmlns:a16="http://schemas.microsoft.com/office/drawing/2014/main" id="{B8EE9218-7123-45E9-BB9C-DE0874A4B6B7}"/>
                              </a:ext>
                            </a:extLst>
                          </p:cNvPr>
                          <p:cNvPicPr/>
                          <p:nvPr/>
                        </p:nvPicPr>
                        <p:blipFill>
                          <a:blip r:embed="rId11"/>
                          <a:stretch>
                            <a:fillRect/>
                          </a:stretch>
                        </p:blipFill>
                        <p:spPr>
                          <a:xfrm>
                            <a:off x="6790139" y="6026150"/>
                            <a:ext cx="471086" cy="235543"/>
                          </a:xfrm>
                          <a:prstGeom prst="rect">
                            <a:avLst/>
                          </a:prstGeom>
                        </p:spPr>
                      </p:pic>
                    </p:oleObj>
                  </mc:Fallback>
                </mc:AlternateContent>
              </a:graphicData>
            </a:graphic>
          </p:graphicFrame>
        </p:grpSp>
        <p:graphicFrame>
          <p:nvGraphicFramePr>
            <p:cNvPr id="36" name="Objeto 35">
              <a:extLst>
                <a:ext uri="{FF2B5EF4-FFF2-40B4-BE49-F238E27FC236}">
                  <a16:creationId xmlns:a16="http://schemas.microsoft.com/office/drawing/2014/main" id="{A0C53428-AE89-43F2-9DE3-0AE4C0AD5249}"/>
                </a:ext>
              </a:extLst>
            </p:cNvPr>
            <p:cNvGraphicFramePr>
              <a:graphicFrameLocks noChangeAspect="1"/>
            </p:cNvGraphicFramePr>
            <p:nvPr>
              <p:extLst>
                <p:ext uri="{D42A27DB-BD31-4B8C-83A1-F6EECF244321}">
                  <p14:modId xmlns:p14="http://schemas.microsoft.com/office/powerpoint/2010/main" val="2037107599"/>
                </p:ext>
              </p:extLst>
            </p:nvPr>
          </p:nvGraphicFramePr>
          <p:xfrm>
            <a:off x="1330325" y="6208285"/>
            <a:ext cx="600864" cy="219546"/>
          </p:xfrm>
          <a:graphic>
            <a:graphicData uri="http://schemas.openxmlformats.org/presentationml/2006/ole">
              <mc:AlternateContent xmlns:mc="http://schemas.openxmlformats.org/markup-compatibility/2006">
                <mc:Choice xmlns:v="urn:schemas-microsoft-com:vml" Requires="v">
                  <p:oleObj name="Equation" r:id="rId12" imgW="660240" imgH="241200" progId="Equation.DSMT4">
                    <p:embed/>
                  </p:oleObj>
                </mc:Choice>
                <mc:Fallback>
                  <p:oleObj name="Equation" r:id="rId12" imgW="660240" imgH="241200" progId="Equation.DSMT4">
                    <p:embed/>
                    <p:pic>
                      <p:nvPicPr>
                        <p:cNvPr id="3" name="Objeto 2">
                          <a:extLst>
                            <a:ext uri="{FF2B5EF4-FFF2-40B4-BE49-F238E27FC236}">
                              <a16:creationId xmlns:a16="http://schemas.microsoft.com/office/drawing/2014/main" id="{A08FAD17-04DE-4C89-A32A-B8AF46191C9D}"/>
                            </a:ext>
                          </a:extLst>
                        </p:cNvPr>
                        <p:cNvPicPr/>
                        <p:nvPr/>
                      </p:nvPicPr>
                      <p:blipFill>
                        <a:blip r:embed="rId13"/>
                        <a:stretch>
                          <a:fillRect/>
                        </a:stretch>
                      </p:blipFill>
                      <p:spPr>
                        <a:xfrm>
                          <a:off x="1330325" y="6208285"/>
                          <a:ext cx="600864" cy="219546"/>
                        </a:xfrm>
                        <a:prstGeom prst="rect">
                          <a:avLst/>
                        </a:prstGeom>
                      </p:spPr>
                    </p:pic>
                  </p:oleObj>
                </mc:Fallback>
              </mc:AlternateContent>
            </a:graphicData>
          </a:graphic>
        </p:graphicFrame>
        <p:grpSp>
          <p:nvGrpSpPr>
            <p:cNvPr id="37" name="Grupo 36">
              <a:extLst>
                <a:ext uri="{FF2B5EF4-FFF2-40B4-BE49-F238E27FC236}">
                  <a16:creationId xmlns:a16="http://schemas.microsoft.com/office/drawing/2014/main" id="{CC734EB3-BAF7-42B5-A047-E50D125E4BC5}"/>
                </a:ext>
              </a:extLst>
            </p:cNvPr>
            <p:cNvGrpSpPr/>
            <p:nvPr/>
          </p:nvGrpSpPr>
          <p:grpSpPr>
            <a:xfrm>
              <a:off x="3414866" y="6400800"/>
              <a:ext cx="2277274" cy="241300"/>
              <a:chOff x="2474913" y="6434159"/>
              <a:chExt cx="2277274" cy="241300"/>
            </a:xfrm>
          </p:grpSpPr>
          <p:graphicFrame>
            <p:nvGraphicFramePr>
              <p:cNvPr id="38" name="Objeto 37">
                <a:extLst>
                  <a:ext uri="{FF2B5EF4-FFF2-40B4-BE49-F238E27FC236}">
                    <a16:creationId xmlns:a16="http://schemas.microsoft.com/office/drawing/2014/main" id="{A0698B3C-22AB-4A38-B5D8-55FE7DE74670}"/>
                  </a:ext>
                </a:extLst>
              </p:cNvPr>
              <p:cNvGraphicFramePr>
                <a:graphicFrameLocks noChangeAspect="1"/>
              </p:cNvGraphicFramePr>
              <p:nvPr>
                <p:extLst>
                  <p:ext uri="{D42A27DB-BD31-4B8C-83A1-F6EECF244321}">
                    <p14:modId xmlns:p14="http://schemas.microsoft.com/office/powerpoint/2010/main" val="1697311225"/>
                  </p:ext>
                </p:extLst>
              </p:nvPr>
            </p:nvGraphicFramePr>
            <p:xfrm>
              <a:off x="3799687" y="6434159"/>
              <a:ext cx="952500" cy="241300"/>
            </p:xfrm>
            <a:graphic>
              <a:graphicData uri="http://schemas.openxmlformats.org/presentationml/2006/ole">
                <mc:AlternateContent xmlns:mc="http://schemas.openxmlformats.org/markup-compatibility/2006">
                  <mc:Choice xmlns:v="urn:schemas-microsoft-com:vml" Requires="v">
                    <p:oleObj name="Equation" r:id="rId14" imgW="952200" imgH="241200" progId="Equation.DSMT4">
                      <p:embed/>
                    </p:oleObj>
                  </mc:Choice>
                  <mc:Fallback>
                    <p:oleObj name="Equation" r:id="rId14" imgW="952200" imgH="241200" progId="Equation.DSMT4">
                      <p:embed/>
                      <p:pic>
                        <p:nvPicPr>
                          <p:cNvPr id="7" name="Objeto 6">
                            <a:extLst>
                              <a:ext uri="{FF2B5EF4-FFF2-40B4-BE49-F238E27FC236}">
                                <a16:creationId xmlns:a16="http://schemas.microsoft.com/office/drawing/2014/main" id="{3017E02B-7D89-4E96-A04F-3FA3D67AAA3C}"/>
                              </a:ext>
                            </a:extLst>
                          </p:cNvPr>
                          <p:cNvPicPr/>
                          <p:nvPr/>
                        </p:nvPicPr>
                        <p:blipFill>
                          <a:blip r:embed="rId15"/>
                          <a:stretch>
                            <a:fillRect/>
                          </a:stretch>
                        </p:blipFill>
                        <p:spPr>
                          <a:xfrm>
                            <a:off x="3799687" y="6434159"/>
                            <a:ext cx="952500" cy="241300"/>
                          </a:xfrm>
                          <a:prstGeom prst="rect">
                            <a:avLst/>
                          </a:prstGeom>
                        </p:spPr>
                      </p:pic>
                    </p:oleObj>
                  </mc:Fallback>
                </mc:AlternateContent>
              </a:graphicData>
            </a:graphic>
          </p:graphicFrame>
          <p:graphicFrame>
            <p:nvGraphicFramePr>
              <p:cNvPr id="39" name="Objeto 38">
                <a:extLst>
                  <a:ext uri="{FF2B5EF4-FFF2-40B4-BE49-F238E27FC236}">
                    <a16:creationId xmlns:a16="http://schemas.microsoft.com/office/drawing/2014/main" id="{CD196D5B-4D0B-4D83-B27E-D23CD8489706}"/>
                  </a:ext>
                </a:extLst>
              </p:cNvPr>
              <p:cNvGraphicFramePr>
                <a:graphicFrameLocks noChangeAspect="1"/>
              </p:cNvGraphicFramePr>
              <p:nvPr>
                <p:extLst>
                  <p:ext uri="{D42A27DB-BD31-4B8C-83A1-F6EECF244321}">
                    <p14:modId xmlns:p14="http://schemas.microsoft.com/office/powerpoint/2010/main" val="2947085114"/>
                  </p:ext>
                </p:extLst>
              </p:nvPr>
            </p:nvGraphicFramePr>
            <p:xfrm>
              <a:off x="2474913" y="6434159"/>
              <a:ext cx="1257300" cy="241300"/>
            </p:xfrm>
            <a:graphic>
              <a:graphicData uri="http://schemas.openxmlformats.org/presentationml/2006/ole">
                <mc:AlternateContent xmlns:mc="http://schemas.openxmlformats.org/markup-compatibility/2006">
                  <mc:Choice xmlns:v="urn:schemas-microsoft-com:vml" Requires="v">
                    <p:oleObj name="Equation" r:id="rId16" imgW="1257120" imgH="241200" progId="Equation.DSMT4">
                      <p:embed/>
                    </p:oleObj>
                  </mc:Choice>
                  <mc:Fallback>
                    <p:oleObj name="Equation" r:id="rId16" imgW="1257120" imgH="241200" progId="Equation.DSMT4">
                      <p:embed/>
                      <p:pic>
                        <p:nvPicPr>
                          <p:cNvPr id="27" name="Objeto 26">
                            <a:extLst>
                              <a:ext uri="{FF2B5EF4-FFF2-40B4-BE49-F238E27FC236}">
                                <a16:creationId xmlns:a16="http://schemas.microsoft.com/office/drawing/2014/main" id="{F55B700A-6F1B-45DF-A602-B6FF4623CE5F}"/>
                              </a:ext>
                            </a:extLst>
                          </p:cNvPr>
                          <p:cNvPicPr/>
                          <p:nvPr/>
                        </p:nvPicPr>
                        <p:blipFill>
                          <a:blip r:embed="rId17"/>
                          <a:stretch>
                            <a:fillRect/>
                          </a:stretch>
                        </p:blipFill>
                        <p:spPr>
                          <a:xfrm>
                            <a:off x="2474913" y="6434159"/>
                            <a:ext cx="1257300" cy="241300"/>
                          </a:xfrm>
                          <a:prstGeom prst="rect">
                            <a:avLst/>
                          </a:prstGeom>
                        </p:spPr>
                      </p:pic>
                    </p:oleObj>
                  </mc:Fallback>
                </mc:AlternateContent>
              </a:graphicData>
            </a:graphic>
          </p:graphicFrame>
        </p:grpSp>
      </p:grpSp>
    </p:spTree>
    <p:extLst>
      <p:ext uri="{BB962C8B-B14F-4D97-AF65-F5344CB8AC3E}">
        <p14:creationId xmlns:p14="http://schemas.microsoft.com/office/powerpoint/2010/main" val="40673630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3"/>
          <p:cNvSpPr txBox="1">
            <a:spLocks noChangeArrowheads="1"/>
          </p:cNvSpPr>
          <p:nvPr/>
        </p:nvSpPr>
        <p:spPr bwMode="auto">
          <a:xfrm>
            <a:off x="228600" y="857250"/>
            <a:ext cx="2241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1. Hipótesis a contrastar</a:t>
            </a:r>
            <a:endParaRPr lang="es-ES" altLang="es-ES" sz="1400" b="1"/>
          </a:p>
        </p:txBody>
      </p:sp>
      <p:grpSp>
        <p:nvGrpSpPr>
          <p:cNvPr id="22531" name="Group 4"/>
          <p:cNvGrpSpPr>
            <a:grpSpLocks/>
          </p:cNvGrpSpPr>
          <p:nvPr/>
        </p:nvGrpSpPr>
        <p:grpSpPr bwMode="auto">
          <a:xfrm>
            <a:off x="533400" y="1133475"/>
            <a:ext cx="8064504" cy="684213"/>
            <a:chOff x="384" y="816"/>
            <a:chExt cx="5080" cy="431"/>
          </a:xfrm>
        </p:grpSpPr>
        <p:graphicFrame>
          <p:nvGraphicFramePr>
            <p:cNvPr id="22610" name="Object 5"/>
            <p:cNvGraphicFramePr>
              <a:graphicFrameLocks noChangeAspect="1"/>
            </p:cNvGraphicFramePr>
            <p:nvPr/>
          </p:nvGraphicFramePr>
          <p:xfrm>
            <a:off x="384" y="816"/>
            <a:ext cx="317" cy="431"/>
          </p:xfrm>
          <a:graphic>
            <a:graphicData uri="http://schemas.openxmlformats.org/presentationml/2006/ole">
              <mc:AlternateContent xmlns:mc="http://schemas.openxmlformats.org/markup-compatibility/2006">
                <mc:Choice xmlns:v="urn:schemas-microsoft-com:vml" Requires="v">
                  <p:oleObj name="Equation" r:id="rId2" imgW="355446" imgH="482391" progId="Equation.DSMT4">
                    <p:embed/>
                  </p:oleObj>
                </mc:Choice>
                <mc:Fallback>
                  <p:oleObj name="Equation" r:id="rId2" imgW="355446" imgH="482391" progId="Equation.DSMT4">
                    <p:embed/>
                    <p:pic>
                      <p:nvPicPr>
                        <p:cNvPr id="2261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 y="816"/>
                          <a:ext cx="317" cy="4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611" name="Text Box 6"/>
            <p:cNvSpPr txBox="1">
              <a:spLocks noChangeArrowheads="1"/>
            </p:cNvSpPr>
            <p:nvPr/>
          </p:nvSpPr>
          <p:spPr bwMode="auto">
            <a:xfrm>
              <a:off x="672" y="833"/>
              <a:ext cx="3324" cy="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dirty="0">
                  <a:latin typeface="Times New Roman" pitchFamily="18" charset="0"/>
                </a:rPr>
                <a:t>Las medidas antes (pre) y después (post) de la intervención son equivalentes</a:t>
              </a:r>
              <a:endParaRPr lang="es-ES" altLang="es-ES" sz="1300" dirty="0">
                <a:latin typeface="Times New Roman" pitchFamily="18" charset="0"/>
              </a:endParaRPr>
            </a:p>
          </p:txBody>
        </p:sp>
        <p:sp>
          <p:nvSpPr>
            <p:cNvPr id="22612" name="Text Box 7"/>
            <p:cNvSpPr txBox="1">
              <a:spLocks noChangeArrowheads="1"/>
            </p:cNvSpPr>
            <p:nvPr/>
          </p:nvSpPr>
          <p:spPr bwMode="auto">
            <a:xfrm>
              <a:off x="672" y="1043"/>
              <a:ext cx="4792" cy="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dirty="0">
                  <a:latin typeface="Times New Roman" pitchFamily="18" charset="0"/>
                </a:rPr>
                <a:t>Las observaciones post-tratamiento toman valores que tienden a ser mayores o menores que las pre-tratamiento</a:t>
              </a:r>
              <a:endParaRPr lang="es-ES" altLang="es-ES" sz="1300" dirty="0">
                <a:latin typeface="Times New Roman" pitchFamily="18" charset="0"/>
              </a:endParaRPr>
            </a:p>
          </p:txBody>
        </p:sp>
      </p:grpSp>
      <p:sp>
        <p:nvSpPr>
          <p:cNvPr id="22532" name="Text Box 8"/>
          <p:cNvSpPr txBox="1">
            <a:spLocks noChangeArrowheads="1"/>
          </p:cNvSpPr>
          <p:nvPr/>
        </p:nvSpPr>
        <p:spPr bwMode="auto">
          <a:xfrm>
            <a:off x="561975" y="2276475"/>
            <a:ext cx="14478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t>Lo vemos con</a:t>
            </a:r>
          </a:p>
          <a:p>
            <a:pPr eaLnBrk="1" hangingPunct="1"/>
            <a:r>
              <a:rPr lang="es-ES_tradnl" altLang="es-ES" sz="1300"/>
              <a:t>un ejemplo:</a:t>
            </a:r>
            <a:endParaRPr lang="es-ES" altLang="es-ES" sz="1300"/>
          </a:p>
        </p:txBody>
      </p:sp>
      <p:sp>
        <p:nvSpPr>
          <p:cNvPr id="22533" name="Text Box 9"/>
          <p:cNvSpPr txBox="1">
            <a:spLocks noChangeArrowheads="1"/>
          </p:cNvSpPr>
          <p:nvPr/>
        </p:nvSpPr>
        <p:spPr bwMode="auto">
          <a:xfrm>
            <a:off x="244475" y="3009900"/>
            <a:ext cx="16129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cs typeface="Arial" pitchFamily="34" charset="0"/>
              </a:rPr>
              <a:t>3. Procedimiento</a:t>
            </a:r>
          </a:p>
        </p:txBody>
      </p:sp>
      <p:sp>
        <p:nvSpPr>
          <p:cNvPr id="22534" name="Text Box 10"/>
          <p:cNvSpPr txBox="1">
            <a:spLocks noChangeArrowheads="1"/>
          </p:cNvSpPr>
          <p:nvPr/>
        </p:nvSpPr>
        <p:spPr bwMode="auto">
          <a:xfrm>
            <a:off x="228600" y="1895475"/>
            <a:ext cx="2184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2. Información muestral</a:t>
            </a:r>
            <a:endParaRPr lang="es-ES" altLang="es-ES" sz="1400" b="1"/>
          </a:p>
        </p:txBody>
      </p:sp>
      <p:sp>
        <p:nvSpPr>
          <p:cNvPr id="22535" name="Text Box 11"/>
          <p:cNvSpPr txBox="1">
            <a:spLocks noChangeArrowheads="1"/>
          </p:cNvSpPr>
          <p:nvPr/>
        </p:nvSpPr>
        <p:spPr bwMode="auto">
          <a:xfrm>
            <a:off x="447675" y="3314700"/>
            <a:ext cx="3057525"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28600" indent="-2286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100" dirty="0"/>
              <a:t>1) 	Obtener la variable diferencia (como en el test de Student). Si una diferencia es nula, se quita (y se corrige n).</a:t>
            </a:r>
            <a:endParaRPr lang="es-ES" altLang="es-ES" sz="1100" dirty="0"/>
          </a:p>
        </p:txBody>
      </p:sp>
      <p:grpSp>
        <p:nvGrpSpPr>
          <p:cNvPr id="22536" name="Group 12"/>
          <p:cNvGrpSpPr>
            <a:grpSpLocks/>
          </p:cNvGrpSpPr>
          <p:nvPr/>
        </p:nvGrpSpPr>
        <p:grpSpPr bwMode="auto">
          <a:xfrm>
            <a:off x="2590800" y="1828800"/>
            <a:ext cx="6248400" cy="1446213"/>
            <a:chOff x="1632" y="1344"/>
            <a:chExt cx="3936" cy="911"/>
          </a:xfrm>
        </p:grpSpPr>
        <p:sp>
          <p:nvSpPr>
            <p:cNvPr id="22606" name="AutoShape 13"/>
            <p:cNvSpPr>
              <a:spLocks noChangeArrowheads="1"/>
            </p:cNvSpPr>
            <p:nvPr/>
          </p:nvSpPr>
          <p:spPr bwMode="auto">
            <a:xfrm>
              <a:off x="1632" y="1344"/>
              <a:ext cx="3936" cy="864"/>
            </a:xfrm>
            <a:prstGeom prst="roundRect">
              <a:avLst>
                <a:gd name="adj" fmla="val 10051"/>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22607" name="Group 14"/>
            <p:cNvGrpSpPr>
              <a:grpSpLocks/>
            </p:cNvGrpSpPr>
            <p:nvPr/>
          </p:nvGrpSpPr>
          <p:grpSpPr bwMode="auto">
            <a:xfrm>
              <a:off x="1680" y="1374"/>
              <a:ext cx="3840" cy="881"/>
              <a:chOff x="1680" y="1374"/>
              <a:chExt cx="3840" cy="881"/>
            </a:xfrm>
          </p:grpSpPr>
          <p:graphicFrame>
            <p:nvGraphicFramePr>
              <p:cNvPr id="22608" name="Object 15"/>
              <p:cNvGraphicFramePr>
                <a:graphicFrameLocks noChangeAspect="1"/>
              </p:cNvGraphicFramePr>
              <p:nvPr>
                <p:extLst>
                  <p:ext uri="{D42A27DB-BD31-4B8C-83A1-F6EECF244321}">
                    <p14:modId xmlns:p14="http://schemas.microsoft.com/office/powerpoint/2010/main" val="1990897551"/>
                  </p:ext>
                </p:extLst>
              </p:nvPr>
            </p:nvGraphicFramePr>
            <p:xfrm>
              <a:off x="2356" y="1758"/>
              <a:ext cx="2945" cy="497"/>
            </p:xfrm>
            <a:graphic>
              <a:graphicData uri="http://schemas.openxmlformats.org/presentationml/2006/ole">
                <mc:AlternateContent xmlns:mc="http://schemas.openxmlformats.org/markup-compatibility/2006">
                  <mc:Choice xmlns:v="urn:schemas-microsoft-com:vml" Requires="v">
                    <p:oleObj name="Equation" r:id="rId4" imgW="5092560" imgH="914400" progId="Equation.DSMT4">
                      <p:embed/>
                    </p:oleObj>
                  </mc:Choice>
                  <mc:Fallback>
                    <p:oleObj name="Equation" r:id="rId4" imgW="5092560" imgH="914400" progId="Equation.DSMT4">
                      <p:embed/>
                      <p:pic>
                        <p:nvPicPr>
                          <p:cNvPr id="22608" name="Object 15"/>
                          <p:cNvPicPr>
                            <a:picLocks noChangeAspect="1" noChangeArrowheads="1"/>
                          </p:cNvPicPr>
                          <p:nvPr/>
                        </p:nvPicPr>
                        <p:blipFill>
                          <a:blip r:embed="rId5"/>
                          <a:srcRect/>
                          <a:stretch>
                            <a:fillRect/>
                          </a:stretch>
                        </p:blipFill>
                        <p:spPr bwMode="auto">
                          <a:xfrm>
                            <a:off x="2356" y="1758"/>
                            <a:ext cx="2945" cy="4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609" name="Rectangle 16"/>
              <p:cNvSpPr>
                <a:spLocks noChangeArrowheads="1"/>
              </p:cNvSpPr>
              <p:nvPr/>
            </p:nvSpPr>
            <p:spPr bwMode="auto">
              <a:xfrm>
                <a:off x="1680" y="1374"/>
                <a:ext cx="3840" cy="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100" dirty="0">
                    <a:solidFill>
                      <a:srgbClr val="006666"/>
                    </a:solidFill>
                  </a:rPr>
                  <a:t># Se estudia si la frecuencia cardiaca (FC) cambia como respuesta a un tratamiento antihipertensivo. A continuación figuran los valores de FC (en ppm) correspondientes a n=10 pacientes tomados antes y después de dicho entrenamiento.</a:t>
                </a:r>
                <a:endParaRPr lang="es-ES" altLang="es-ES" sz="1100" dirty="0">
                  <a:solidFill>
                    <a:srgbClr val="006666"/>
                  </a:solidFill>
                </a:endParaRPr>
              </a:p>
            </p:txBody>
          </p:sp>
        </p:grpSp>
      </p:grpSp>
      <p:sp>
        <p:nvSpPr>
          <p:cNvPr id="22537" name="Text Box 17"/>
          <p:cNvSpPr txBox="1">
            <a:spLocks noChangeArrowheads="1"/>
          </p:cNvSpPr>
          <p:nvPr/>
        </p:nvSpPr>
        <p:spPr bwMode="auto">
          <a:xfrm>
            <a:off x="447675" y="4000500"/>
            <a:ext cx="3048000"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28600" indent="-2286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100"/>
              <a:t>2) 	Ordenar las diferencias por su magnitud pero clasificándolas por su signo</a:t>
            </a:r>
            <a:endParaRPr lang="es-ES" altLang="es-ES" sz="1100"/>
          </a:p>
        </p:txBody>
      </p:sp>
      <p:sp>
        <p:nvSpPr>
          <p:cNvPr id="22538" name="Text Box 18"/>
          <p:cNvSpPr txBox="1">
            <a:spLocks noChangeArrowheads="1"/>
          </p:cNvSpPr>
          <p:nvPr/>
        </p:nvSpPr>
        <p:spPr bwMode="auto">
          <a:xfrm>
            <a:off x="447675" y="4429125"/>
            <a:ext cx="3048000"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28600" indent="-2286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100"/>
              <a:t>3) 	Aplicar el test de Wilcoxon para muestras independientes a las “muestras” de diferencias positivas y negativas</a:t>
            </a:r>
            <a:endParaRPr lang="es-ES" altLang="es-ES" sz="1100"/>
          </a:p>
        </p:txBody>
      </p:sp>
      <p:graphicFrame>
        <p:nvGraphicFramePr>
          <p:cNvPr id="22539" name="Object 19"/>
          <p:cNvGraphicFramePr>
            <a:graphicFrameLocks noChangeAspect="1"/>
          </p:cNvGraphicFramePr>
          <p:nvPr/>
        </p:nvGraphicFramePr>
        <p:xfrm>
          <a:off x="5867400" y="5029200"/>
          <a:ext cx="1809750" cy="227013"/>
        </p:xfrm>
        <a:graphic>
          <a:graphicData uri="http://schemas.openxmlformats.org/presentationml/2006/ole">
            <mc:AlternateContent xmlns:mc="http://schemas.openxmlformats.org/markup-compatibility/2006">
              <mc:Choice xmlns:v="urn:schemas-microsoft-com:vml" Requires="v">
                <p:oleObj name="Equation" r:id="rId6" imgW="1892300" imgH="241300" progId="Equation.DSMT4">
                  <p:embed/>
                </p:oleObj>
              </mc:Choice>
              <mc:Fallback>
                <p:oleObj name="Equation" r:id="rId6" imgW="1892300" imgH="241300" progId="Equation.DSMT4">
                  <p:embed/>
                  <p:pic>
                    <p:nvPicPr>
                      <p:cNvPr id="22539"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67400" y="5029200"/>
                        <a:ext cx="1809750" cy="22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40" name="Text Box 20"/>
          <p:cNvSpPr txBox="1">
            <a:spLocks noChangeArrowheads="1"/>
          </p:cNvSpPr>
          <p:nvPr/>
        </p:nvSpPr>
        <p:spPr bwMode="auto">
          <a:xfrm>
            <a:off x="5791200" y="5257800"/>
            <a:ext cx="21336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a:solidFill>
                  <a:srgbClr val="000066"/>
                </a:solidFill>
                <a:latin typeface="Times New Roman" pitchFamily="18" charset="0"/>
              </a:rPr>
              <a:t>Hay indicios de significación</a:t>
            </a:r>
            <a:endParaRPr lang="es-ES" altLang="es-ES">
              <a:solidFill>
                <a:srgbClr val="000066"/>
              </a:solidFill>
              <a:latin typeface="Times New Roman" pitchFamily="18" charset="0"/>
            </a:endParaRPr>
          </a:p>
        </p:txBody>
      </p:sp>
      <p:graphicFrame>
        <p:nvGraphicFramePr>
          <p:cNvPr id="22541" name="Object 21"/>
          <p:cNvGraphicFramePr>
            <a:graphicFrameLocks noChangeAspect="1"/>
          </p:cNvGraphicFramePr>
          <p:nvPr>
            <p:extLst>
              <p:ext uri="{D42A27DB-BD31-4B8C-83A1-F6EECF244321}">
                <p14:modId xmlns:p14="http://schemas.microsoft.com/office/powerpoint/2010/main" val="3575814101"/>
              </p:ext>
            </p:extLst>
          </p:nvPr>
        </p:nvGraphicFramePr>
        <p:xfrm>
          <a:off x="3875088" y="3352800"/>
          <a:ext cx="4314825" cy="439738"/>
        </p:xfrm>
        <a:graphic>
          <a:graphicData uri="http://schemas.openxmlformats.org/presentationml/2006/ole">
            <mc:AlternateContent xmlns:mc="http://schemas.openxmlformats.org/markup-compatibility/2006">
              <mc:Choice xmlns:v="urn:schemas-microsoft-com:vml" Requires="v">
                <p:oleObj name="Equation" r:id="rId8" imgW="4698720" imgH="507960" progId="Equation.DSMT4">
                  <p:embed/>
                </p:oleObj>
              </mc:Choice>
              <mc:Fallback>
                <p:oleObj name="Equation" r:id="rId8" imgW="4698720" imgH="507960" progId="Equation.DSMT4">
                  <p:embed/>
                  <p:pic>
                    <p:nvPicPr>
                      <p:cNvPr id="22541" name="Object 21"/>
                      <p:cNvPicPr>
                        <a:picLocks noChangeAspect="1" noChangeArrowheads="1"/>
                      </p:cNvPicPr>
                      <p:nvPr/>
                    </p:nvPicPr>
                    <p:blipFill>
                      <a:blip r:embed="rId9"/>
                      <a:srcRect/>
                      <a:stretch>
                        <a:fillRect/>
                      </a:stretch>
                    </p:blipFill>
                    <p:spPr bwMode="auto">
                      <a:xfrm>
                        <a:off x="3875088" y="3352800"/>
                        <a:ext cx="4314825"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42" name="Object 22"/>
          <p:cNvGraphicFramePr>
            <a:graphicFrameLocks noChangeAspect="1"/>
          </p:cNvGraphicFramePr>
          <p:nvPr/>
        </p:nvGraphicFramePr>
        <p:xfrm>
          <a:off x="3956050" y="3790950"/>
          <a:ext cx="4662488" cy="1200150"/>
        </p:xfrm>
        <a:graphic>
          <a:graphicData uri="http://schemas.openxmlformats.org/presentationml/2006/ole">
            <mc:AlternateContent xmlns:mc="http://schemas.openxmlformats.org/markup-compatibility/2006">
              <mc:Choice xmlns:v="urn:schemas-microsoft-com:vml" Requires="v">
                <p:oleObj name="Equation" r:id="rId10" imgW="4267200" imgH="1168400" progId="Equation.DSMT4">
                  <p:embed/>
                </p:oleObj>
              </mc:Choice>
              <mc:Fallback>
                <p:oleObj name="Equation" r:id="rId10" imgW="4267200" imgH="1168400" progId="Equation.DSMT4">
                  <p:embed/>
                  <p:pic>
                    <p:nvPicPr>
                      <p:cNvPr id="22542" name="Object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56050" y="3790950"/>
                        <a:ext cx="4662488" cy="1200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2543" name="Group 23"/>
          <p:cNvGrpSpPr>
            <a:grpSpLocks/>
          </p:cNvGrpSpPr>
          <p:nvPr/>
        </p:nvGrpSpPr>
        <p:grpSpPr bwMode="auto">
          <a:xfrm>
            <a:off x="787400" y="5372100"/>
            <a:ext cx="1557338" cy="960438"/>
            <a:chOff x="496" y="3384"/>
            <a:chExt cx="981" cy="605"/>
          </a:xfrm>
        </p:grpSpPr>
        <p:sp>
          <p:nvSpPr>
            <p:cNvPr id="22592" name="Text Box 24"/>
            <p:cNvSpPr txBox="1">
              <a:spLocks noChangeArrowheads="1"/>
            </p:cNvSpPr>
            <p:nvPr/>
          </p:nvSpPr>
          <p:spPr bwMode="auto">
            <a:xfrm>
              <a:off x="678" y="3467"/>
              <a:ext cx="7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800"/>
                <a:t>1…         15 .. 18  … </a:t>
              </a:r>
              <a:endParaRPr lang="es-ES" altLang="es-ES" sz="800"/>
            </a:p>
          </p:txBody>
        </p:sp>
        <p:sp>
          <p:nvSpPr>
            <p:cNvPr id="22593" name="Text Box 25"/>
            <p:cNvSpPr txBox="1">
              <a:spLocks noChangeArrowheads="1"/>
            </p:cNvSpPr>
            <p:nvPr/>
          </p:nvSpPr>
          <p:spPr bwMode="auto">
            <a:xfrm>
              <a:off x="699" y="3384"/>
              <a:ext cx="768"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900"/>
                <a:t>Posición</a:t>
              </a:r>
              <a:endParaRPr lang="es-ES" altLang="es-ES" sz="900"/>
            </a:p>
          </p:txBody>
        </p:sp>
        <p:grpSp>
          <p:nvGrpSpPr>
            <p:cNvPr id="22594" name="Group 26"/>
            <p:cNvGrpSpPr>
              <a:grpSpLocks/>
            </p:cNvGrpSpPr>
            <p:nvPr/>
          </p:nvGrpSpPr>
          <p:grpSpPr bwMode="auto">
            <a:xfrm>
              <a:off x="496" y="3553"/>
              <a:ext cx="217" cy="274"/>
              <a:chOff x="853" y="1369"/>
              <a:chExt cx="217" cy="274"/>
            </a:xfrm>
          </p:grpSpPr>
          <p:sp>
            <p:nvSpPr>
              <p:cNvPr id="22604" name="Text Box 27"/>
              <p:cNvSpPr txBox="1">
                <a:spLocks noChangeArrowheads="1"/>
              </p:cNvSpPr>
              <p:nvPr/>
            </p:nvSpPr>
            <p:spPr bwMode="auto">
              <a:xfrm>
                <a:off x="853" y="1369"/>
                <a:ext cx="21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b="1"/>
                  <a:t>(+)</a:t>
                </a:r>
                <a:endParaRPr lang="es-ES" altLang="es-ES" sz="1000" b="1"/>
              </a:p>
            </p:txBody>
          </p:sp>
          <p:sp>
            <p:nvSpPr>
              <p:cNvPr id="22605" name="Text Box 28"/>
              <p:cNvSpPr txBox="1">
                <a:spLocks noChangeArrowheads="1"/>
              </p:cNvSpPr>
              <p:nvPr/>
            </p:nvSpPr>
            <p:spPr bwMode="auto">
              <a:xfrm>
                <a:off x="853" y="1489"/>
                <a:ext cx="21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b="1"/>
                  <a:t>(</a:t>
                </a:r>
                <a:r>
                  <a:rPr lang="es-ES_tradnl" altLang="es-ES" sz="1000" b="1">
                    <a:cs typeface="Arial" pitchFamily="34" charset="0"/>
                  </a:rPr>
                  <a:t>–)</a:t>
                </a:r>
              </a:p>
            </p:txBody>
          </p:sp>
        </p:grpSp>
        <p:grpSp>
          <p:nvGrpSpPr>
            <p:cNvPr id="22595" name="Group 29"/>
            <p:cNvGrpSpPr>
              <a:grpSpLocks/>
            </p:cNvGrpSpPr>
            <p:nvPr/>
          </p:nvGrpSpPr>
          <p:grpSpPr bwMode="auto">
            <a:xfrm>
              <a:off x="507" y="3510"/>
              <a:ext cx="970" cy="306"/>
              <a:chOff x="854" y="1326"/>
              <a:chExt cx="1162" cy="306"/>
            </a:xfrm>
          </p:grpSpPr>
          <p:sp>
            <p:nvSpPr>
              <p:cNvPr id="22599" name="Line 30"/>
              <p:cNvSpPr>
                <a:spLocks noChangeShapeType="1"/>
              </p:cNvSpPr>
              <p:nvPr/>
            </p:nvSpPr>
            <p:spPr bwMode="auto">
              <a:xfrm>
                <a:off x="1056" y="1326"/>
                <a:ext cx="0" cy="30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22600" name="Group 31"/>
              <p:cNvGrpSpPr>
                <a:grpSpLocks/>
              </p:cNvGrpSpPr>
              <p:nvPr/>
            </p:nvGrpSpPr>
            <p:grpSpPr bwMode="auto">
              <a:xfrm>
                <a:off x="854" y="1392"/>
                <a:ext cx="1162" cy="240"/>
                <a:chOff x="854" y="1392"/>
                <a:chExt cx="1340" cy="240"/>
              </a:xfrm>
            </p:grpSpPr>
            <p:sp>
              <p:nvSpPr>
                <p:cNvPr id="22601" name="Line 32"/>
                <p:cNvSpPr>
                  <a:spLocks noChangeShapeType="1"/>
                </p:cNvSpPr>
                <p:nvPr/>
              </p:nvSpPr>
              <p:spPr bwMode="auto">
                <a:xfrm>
                  <a:off x="854" y="1514"/>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2602" name="Line 33"/>
                <p:cNvSpPr>
                  <a:spLocks noChangeShapeType="1"/>
                </p:cNvSpPr>
                <p:nvPr/>
              </p:nvSpPr>
              <p:spPr bwMode="auto">
                <a:xfrm>
                  <a:off x="855" y="1392"/>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2603" name="Line 34"/>
                <p:cNvSpPr>
                  <a:spLocks noChangeShapeType="1"/>
                </p:cNvSpPr>
                <p:nvPr/>
              </p:nvSpPr>
              <p:spPr bwMode="auto">
                <a:xfrm>
                  <a:off x="855" y="1632"/>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sp>
          <p:nvSpPr>
            <p:cNvPr id="22596" name="Oval 35"/>
            <p:cNvSpPr>
              <a:spLocks noChangeArrowheads="1"/>
            </p:cNvSpPr>
            <p:nvPr/>
          </p:nvSpPr>
          <p:spPr bwMode="auto">
            <a:xfrm>
              <a:off x="741" y="3606"/>
              <a:ext cx="336" cy="64"/>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97" name="Oval 36"/>
            <p:cNvSpPr>
              <a:spLocks noChangeArrowheads="1"/>
            </p:cNvSpPr>
            <p:nvPr/>
          </p:nvSpPr>
          <p:spPr bwMode="auto">
            <a:xfrm>
              <a:off x="1083" y="3724"/>
              <a:ext cx="336" cy="64"/>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98" name="Text Box 37"/>
            <p:cNvSpPr txBox="1">
              <a:spLocks noChangeArrowheads="1"/>
            </p:cNvSpPr>
            <p:nvPr/>
          </p:nvSpPr>
          <p:spPr bwMode="auto">
            <a:xfrm>
              <a:off x="859" y="3816"/>
              <a:ext cx="46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a:t>
              </a:r>
              <a:r>
                <a:rPr lang="es-ES_tradnl" altLang="es-ES" b="1">
                  <a:cs typeface="Arial" pitchFamily="34" charset="0"/>
                </a:rPr>
                <a:t>–</a:t>
              </a:r>
              <a:r>
                <a:rPr lang="es-ES_tradnl" altLang="es-ES" b="1"/>
                <a:t>) &gt; (+)</a:t>
              </a:r>
              <a:endParaRPr lang="es-ES" altLang="es-ES" b="1"/>
            </a:p>
          </p:txBody>
        </p:sp>
      </p:grpSp>
      <p:grpSp>
        <p:nvGrpSpPr>
          <p:cNvPr id="22544" name="Group 38"/>
          <p:cNvGrpSpPr>
            <a:grpSpLocks/>
          </p:cNvGrpSpPr>
          <p:nvPr/>
        </p:nvGrpSpPr>
        <p:grpSpPr bwMode="auto">
          <a:xfrm>
            <a:off x="2481263" y="5372100"/>
            <a:ext cx="1557337" cy="960438"/>
            <a:chOff x="1515" y="3384"/>
            <a:chExt cx="981" cy="605"/>
          </a:xfrm>
        </p:grpSpPr>
        <p:sp>
          <p:nvSpPr>
            <p:cNvPr id="22577" name="Text Box 39"/>
            <p:cNvSpPr txBox="1">
              <a:spLocks noChangeArrowheads="1"/>
            </p:cNvSpPr>
            <p:nvPr/>
          </p:nvSpPr>
          <p:spPr bwMode="auto">
            <a:xfrm>
              <a:off x="1697" y="3467"/>
              <a:ext cx="694"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800"/>
                <a:t>1…         15.. 18  … </a:t>
              </a:r>
              <a:endParaRPr lang="es-ES" altLang="es-ES" sz="800"/>
            </a:p>
          </p:txBody>
        </p:sp>
        <p:sp>
          <p:nvSpPr>
            <p:cNvPr id="22578" name="Text Box 40"/>
            <p:cNvSpPr txBox="1">
              <a:spLocks noChangeArrowheads="1"/>
            </p:cNvSpPr>
            <p:nvPr/>
          </p:nvSpPr>
          <p:spPr bwMode="auto">
            <a:xfrm>
              <a:off x="1718" y="3384"/>
              <a:ext cx="768"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900"/>
                <a:t>Posición</a:t>
              </a:r>
              <a:endParaRPr lang="es-ES" altLang="es-ES" sz="900"/>
            </a:p>
          </p:txBody>
        </p:sp>
        <p:grpSp>
          <p:nvGrpSpPr>
            <p:cNvPr id="22579" name="Group 41"/>
            <p:cNvGrpSpPr>
              <a:grpSpLocks/>
            </p:cNvGrpSpPr>
            <p:nvPr/>
          </p:nvGrpSpPr>
          <p:grpSpPr bwMode="auto">
            <a:xfrm>
              <a:off x="1515" y="3553"/>
              <a:ext cx="217" cy="274"/>
              <a:chOff x="853" y="1369"/>
              <a:chExt cx="217" cy="274"/>
            </a:xfrm>
          </p:grpSpPr>
          <p:sp>
            <p:nvSpPr>
              <p:cNvPr id="22590" name="Text Box 42"/>
              <p:cNvSpPr txBox="1">
                <a:spLocks noChangeArrowheads="1"/>
              </p:cNvSpPr>
              <p:nvPr/>
            </p:nvSpPr>
            <p:spPr bwMode="auto">
              <a:xfrm>
                <a:off x="853" y="1369"/>
                <a:ext cx="21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b="1"/>
                  <a:t>(+)</a:t>
                </a:r>
                <a:endParaRPr lang="es-ES" altLang="es-ES" sz="1000" b="1"/>
              </a:p>
            </p:txBody>
          </p:sp>
          <p:sp>
            <p:nvSpPr>
              <p:cNvPr id="22591" name="Text Box 43"/>
              <p:cNvSpPr txBox="1">
                <a:spLocks noChangeArrowheads="1"/>
              </p:cNvSpPr>
              <p:nvPr/>
            </p:nvSpPr>
            <p:spPr bwMode="auto">
              <a:xfrm>
                <a:off x="853" y="1489"/>
                <a:ext cx="21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b="1"/>
                  <a:t>(</a:t>
                </a:r>
                <a:r>
                  <a:rPr lang="es-ES_tradnl" altLang="es-ES" sz="1000" b="1">
                    <a:cs typeface="Arial" pitchFamily="34" charset="0"/>
                  </a:rPr>
                  <a:t>–)</a:t>
                </a:r>
              </a:p>
            </p:txBody>
          </p:sp>
        </p:grpSp>
        <p:grpSp>
          <p:nvGrpSpPr>
            <p:cNvPr id="22580" name="Group 44"/>
            <p:cNvGrpSpPr>
              <a:grpSpLocks/>
            </p:cNvGrpSpPr>
            <p:nvPr/>
          </p:nvGrpSpPr>
          <p:grpSpPr bwMode="auto">
            <a:xfrm>
              <a:off x="1526" y="3510"/>
              <a:ext cx="970" cy="306"/>
              <a:chOff x="854" y="1326"/>
              <a:chExt cx="1162" cy="306"/>
            </a:xfrm>
          </p:grpSpPr>
          <p:sp>
            <p:nvSpPr>
              <p:cNvPr id="22585" name="Line 45"/>
              <p:cNvSpPr>
                <a:spLocks noChangeShapeType="1"/>
              </p:cNvSpPr>
              <p:nvPr/>
            </p:nvSpPr>
            <p:spPr bwMode="auto">
              <a:xfrm>
                <a:off x="1056" y="1326"/>
                <a:ext cx="0" cy="30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22586" name="Group 46"/>
              <p:cNvGrpSpPr>
                <a:grpSpLocks/>
              </p:cNvGrpSpPr>
              <p:nvPr/>
            </p:nvGrpSpPr>
            <p:grpSpPr bwMode="auto">
              <a:xfrm>
                <a:off x="854" y="1392"/>
                <a:ext cx="1162" cy="240"/>
                <a:chOff x="854" y="1392"/>
                <a:chExt cx="1340" cy="240"/>
              </a:xfrm>
            </p:grpSpPr>
            <p:sp>
              <p:nvSpPr>
                <p:cNvPr id="22587" name="Line 47"/>
                <p:cNvSpPr>
                  <a:spLocks noChangeShapeType="1"/>
                </p:cNvSpPr>
                <p:nvPr/>
              </p:nvSpPr>
              <p:spPr bwMode="auto">
                <a:xfrm>
                  <a:off x="854" y="1514"/>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2588" name="Line 48"/>
                <p:cNvSpPr>
                  <a:spLocks noChangeShapeType="1"/>
                </p:cNvSpPr>
                <p:nvPr/>
              </p:nvSpPr>
              <p:spPr bwMode="auto">
                <a:xfrm>
                  <a:off x="855" y="1392"/>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2589" name="Line 49"/>
                <p:cNvSpPr>
                  <a:spLocks noChangeShapeType="1"/>
                </p:cNvSpPr>
                <p:nvPr/>
              </p:nvSpPr>
              <p:spPr bwMode="auto">
                <a:xfrm>
                  <a:off x="855" y="1632"/>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22581" name="Group 50"/>
            <p:cNvGrpSpPr>
              <a:grpSpLocks/>
            </p:cNvGrpSpPr>
            <p:nvPr/>
          </p:nvGrpSpPr>
          <p:grpSpPr bwMode="auto">
            <a:xfrm flipV="1">
              <a:off x="1760" y="3606"/>
              <a:ext cx="678" cy="182"/>
              <a:chOff x="2117" y="1422"/>
              <a:chExt cx="678" cy="182"/>
            </a:xfrm>
          </p:grpSpPr>
          <p:sp>
            <p:nvSpPr>
              <p:cNvPr id="22583" name="Oval 51"/>
              <p:cNvSpPr>
                <a:spLocks noChangeArrowheads="1"/>
              </p:cNvSpPr>
              <p:nvPr/>
            </p:nvSpPr>
            <p:spPr bwMode="auto">
              <a:xfrm>
                <a:off x="2117" y="1422"/>
                <a:ext cx="336" cy="64"/>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84" name="Oval 52"/>
              <p:cNvSpPr>
                <a:spLocks noChangeArrowheads="1"/>
              </p:cNvSpPr>
              <p:nvPr/>
            </p:nvSpPr>
            <p:spPr bwMode="auto">
              <a:xfrm>
                <a:off x="2459" y="1540"/>
                <a:ext cx="336" cy="64"/>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22582" name="Text Box 53"/>
            <p:cNvSpPr txBox="1">
              <a:spLocks noChangeArrowheads="1"/>
            </p:cNvSpPr>
            <p:nvPr/>
          </p:nvSpPr>
          <p:spPr bwMode="auto">
            <a:xfrm>
              <a:off x="1927" y="3816"/>
              <a:ext cx="46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 &gt; (</a:t>
              </a:r>
              <a:r>
                <a:rPr lang="es-ES_tradnl" altLang="es-ES" b="1">
                  <a:cs typeface="Arial" pitchFamily="34" charset="0"/>
                </a:rPr>
                <a:t>–</a:t>
              </a:r>
              <a:r>
                <a:rPr lang="es-ES_tradnl" altLang="es-ES" b="1"/>
                <a:t>)</a:t>
              </a:r>
              <a:endParaRPr lang="es-ES" altLang="es-ES" b="1"/>
            </a:p>
          </p:txBody>
        </p:sp>
      </p:grpSp>
      <p:grpSp>
        <p:nvGrpSpPr>
          <p:cNvPr id="22545" name="Group 54"/>
          <p:cNvGrpSpPr>
            <a:grpSpLocks/>
          </p:cNvGrpSpPr>
          <p:nvPr/>
        </p:nvGrpSpPr>
        <p:grpSpPr bwMode="auto">
          <a:xfrm>
            <a:off x="4157663" y="5372100"/>
            <a:ext cx="1557337" cy="960438"/>
            <a:chOff x="2523" y="3384"/>
            <a:chExt cx="981" cy="605"/>
          </a:xfrm>
        </p:grpSpPr>
        <p:grpSp>
          <p:nvGrpSpPr>
            <p:cNvPr id="22550" name="Group 55"/>
            <p:cNvGrpSpPr>
              <a:grpSpLocks/>
            </p:cNvGrpSpPr>
            <p:nvPr/>
          </p:nvGrpSpPr>
          <p:grpSpPr bwMode="auto">
            <a:xfrm>
              <a:off x="2781" y="3624"/>
              <a:ext cx="630" cy="144"/>
              <a:chOff x="3150" y="1437"/>
              <a:chExt cx="630" cy="144"/>
            </a:xfrm>
          </p:grpSpPr>
          <p:sp>
            <p:nvSpPr>
              <p:cNvPr id="22563" name="Oval 56"/>
              <p:cNvSpPr>
                <a:spLocks noChangeArrowheads="1"/>
              </p:cNvSpPr>
              <p:nvPr/>
            </p:nvSpPr>
            <p:spPr bwMode="auto">
              <a:xfrm>
                <a:off x="3150" y="1437"/>
                <a:ext cx="30"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64" name="Oval 57"/>
              <p:cNvSpPr>
                <a:spLocks noChangeArrowheads="1"/>
              </p:cNvSpPr>
              <p:nvPr/>
            </p:nvSpPr>
            <p:spPr bwMode="auto">
              <a:xfrm>
                <a:off x="3195" y="1545"/>
                <a:ext cx="31"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65" name="Oval 58"/>
              <p:cNvSpPr>
                <a:spLocks noChangeArrowheads="1"/>
              </p:cNvSpPr>
              <p:nvPr/>
            </p:nvSpPr>
            <p:spPr bwMode="auto">
              <a:xfrm>
                <a:off x="3242" y="1437"/>
                <a:ext cx="30"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66" name="Oval 59"/>
              <p:cNvSpPr>
                <a:spLocks noChangeArrowheads="1"/>
              </p:cNvSpPr>
              <p:nvPr/>
            </p:nvSpPr>
            <p:spPr bwMode="auto">
              <a:xfrm>
                <a:off x="3287" y="1545"/>
                <a:ext cx="31"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67" name="Oval 60"/>
              <p:cNvSpPr>
                <a:spLocks noChangeArrowheads="1"/>
              </p:cNvSpPr>
              <p:nvPr/>
            </p:nvSpPr>
            <p:spPr bwMode="auto">
              <a:xfrm>
                <a:off x="3334" y="1437"/>
                <a:ext cx="30"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68" name="Oval 61"/>
              <p:cNvSpPr>
                <a:spLocks noChangeArrowheads="1"/>
              </p:cNvSpPr>
              <p:nvPr/>
            </p:nvSpPr>
            <p:spPr bwMode="auto">
              <a:xfrm>
                <a:off x="3380" y="1545"/>
                <a:ext cx="31"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69" name="Oval 62"/>
              <p:cNvSpPr>
                <a:spLocks noChangeArrowheads="1"/>
              </p:cNvSpPr>
              <p:nvPr/>
            </p:nvSpPr>
            <p:spPr bwMode="auto">
              <a:xfrm>
                <a:off x="3426" y="1545"/>
                <a:ext cx="31"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70" name="Oval 63"/>
              <p:cNvSpPr>
                <a:spLocks noChangeArrowheads="1"/>
              </p:cNvSpPr>
              <p:nvPr/>
            </p:nvSpPr>
            <p:spPr bwMode="auto">
              <a:xfrm>
                <a:off x="3473" y="1437"/>
                <a:ext cx="30"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71" name="Oval 64"/>
              <p:cNvSpPr>
                <a:spLocks noChangeArrowheads="1"/>
              </p:cNvSpPr>
              <p:nvPr/>
            </p:nvSpPr>
            <p:spPr bwMode="auto">
              <a:xfrm>
                <a:off x="3518" y="1437"/>
                <a:ext cx="31"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72" name="Oval 65"/>
              <p:cNvSpPr>
                <a:spLocks noChangeArrowheads="1"/>
              </p:cNvSpPr>
              <p:nvPr/>
            </p:nvSpPr>
            <p:spPr bwMode="auto">
              <a:xfrm>
                <a:off x="3565" y="1545"/>
                <a:ext cx="30"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73" name="Oval 66"/>
              <p:cNvSpPr>
                <a:spLocks noChangeArrowheads="1"/>
              </p:cNvSpPr>
              <p:nvPr/>
            </p:nvSpPr>
            <p:spPr bwMode="auto">
              <a:xfrm>
                <a:off x="3611" y="1437"/>
                <a:ext cx="31"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74" name="Oval 67"/>
              <p:cNvSpPr>
                <a:spLocks noChangeArrowheads="1"/>
              </p:cNvSpPr>
              <p:nvPr/>
            </p:nvSpPr>
            <p:spPr bwMode="auto">
              <a:xfrm>
                <a:off x="3657" y="1545"/>
                <a:ext cx="30"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75" name="Oval 68"/>
              <p:cNvSpPr>
                <a:spLocks noChangeArrowheads="1"/>
              </p:cNvSpPr>
              <p:nvPr/>
            </p:nvSpPr>
            <p:spPr bwMode="auto">
              <a:xfrm>
                <a:off x="3703" y="1545"/>
                <a:ext cx="31"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76" name="Oval 69"/>
              <p:cNvSpPr>
                <a:spLocks noChangeArrowheads="1"/>
              </p:cNvSpPr>
              <p:nvPr/>
            </p:nvSpPr>
            <p:spPr bwMode="auto">
              <a:xfrm>
                <a:off x="3750" y="1437"/>
                <a:ext cx="30"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22551" name="Text Box 70"/>
            <p:cNvSpPr txBox="1">
              <a:spLocks noChangeArrowheads="1"/>
            </p:cNvSpPr>
            <p:nvPr/>
          </p:nvSpPr>
          <p:spPr bwMode="auto">
            <a:xfrm>
              <a:off x="2705" y="3467"/>
              <a:ext cx="74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800"/>
                <a:t>1…            15   18  … </a:t>
              </a:r>
              <a:endParaRPr lang="es-ES" altLang="es-ES" sz="800"/>
            </a:p>
          </p:txBody>
        </p:sp>
        <p:sp>
          <p:nvSpPr>
            <p:cNvPr id="22552" name="Text Box 71"/>
            <p:cNvSpPr txBox="1">
              <a:spLocks noChangeArrowheads="1"/>
            </p:cNvSpPr>
            <p:nvPr/>
          </p:nvSpPr>
          <p:spPr bwMode="auto">
            <a:xfrm>
              <a:off x="2726" y="3384"/>
              <a:ext cx="768"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900"/>
                <a:t>Posición</a:t>
              </a:r>
              <a:endParaRPr lang="es-ES" altLang="es-ES" sz="900"/>
            </a:p>
          </p:txBody>
        </p:sp>
        <p:grpSp>
          <p:nvGrpSpPr>
            <p:cNvPr id="22553" name="Group 72"/>
            <p:cNvGrpSpPr>
              <a:grpSpLocks/>
            </p:cNvGrpSpPr>
            <p:nvPr/>
          </p:nvGrpSpPr>
          <p:grpSpPr bwMode="auto">
            <a:xfrm>
              <a:off x="2523" y="3553"/>
              <a:ext cx="217" cy="274"/>
              <a:chOff x="853" y="1369"/>
              <a:chExt cx="217" cy="274"/>
            </a:xfrm>
          </p:grpSpPr>
          <p:sp>
            <p:nvSpPr>
              <p:cNvPr id="22561" name="Text Box 73"/>
              <p:cNvSpPr txBox="1">
                <a:spLocks noChangeArrowheads="1"/>
              </p:cNvSpPr>
              <p:nvPr/>
            </p:nvSpPr>
            <p:spPr bwMode="auto">
              <a:xfrm>
                <a:off x="853" y="1369"/>
                <a:ext cx="21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b="1"/>
                  <a:t>(+)</a:t>
                </a:r>
                <a:endParaRPr lang="es-ES" altLang="es-ES" sz="1000" b="1"/>
              </a:p>
            </p:txBody>
          </p:sp>
          <p:sp>
            <p:nvSpPr>
              <p:cNvPr id="22562" name="Text Box 74"/>
              <p:cNvSpPr txBox="1">
                <a:spLocks noChangeArrowheads="1"/>
              </p:cNvSpPr>
              <p:nvPr/>
            </p:nvSpPr>
            <p:spPr bwMode="auto">
              <a:xfrm>
                <a:off x="853" y="1489"/>
                <a:ext cx="21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b="1"/>
                  <a:t>(</a:t>
                </a:r>
                <a:r>
                  <a:rPr lang="es-ES_tradnl" altLang="es-ES" sz="1000" b="1">
                    <a:cs typeface="Arial" pitchFamily="34" charset="0"/>
                  </a:rPr>
                  <a:t>–)</a:t>
                </a:r>
              </a:p>
            </p:txBody>
          </p:sp>
        </p:grpSp>
        <p:grpSp>
          <p:nvGrpSpPr>
            <p:cNvPr id="22554" name="Group 75"/>
            <p:cNvGrpSpPr>
              <a:grpSpLocks/>
            </p:cNvGrpSpPr>
            <p:nvPr/>
          </p:nvGrpSpPr>
          <p:grpSpPr bwMode="auto">
            <a:xfrm>
              <a:off x="2534" y="3510"/>
              <a:ext cx="970" cy="306"/>
              <a:chOff x="854" y="1326"/>
              <a:chExt cx="1162" cy="306"/>
            </a:xfrm>
          </p:grpSpPr>
          <p:sp>
            <p:nvSpPr>
              <p:cNvPr id="22556" name="Line 76"/>
              <p:cNvSpPr>
                <a:spLocks noChangeShapeType="1"/>
              </p:cNvSpPr>
              <p:nvPr/>
            </p:nvSpPr>
            <p:spPr bwMode="auto">
              <a:xfrm>
                <a:off x="1056" y="1326"/>
                <a:ext cx="0" cy="30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22557" name="Group 77"/>
              <p:cNvGrpSpPr>
                <a:grpSpLocks/>
              </p:cNvGrpSpPr>
              <p:nvPr/>
            </p:nvGrpSpPr>
            <p:grpSpPr bwMode="auto">
              <a:xfrm>
                <a:off x="854" y="1392"/>
                <a:ext cx="1162" cy="240"/>
                <a:chOff x="854" y="1392"/>
                <a:chExt cx="1340" cy="240"/>
              </a:xfrm>
            </p:grpSpPr>
            <p:sp>
              <p:nvSpPr>
                <p:cNvPr id="22558" name="Line 78"/>
                <p:cNvSpPr>
                  <a:spLocks noChangeShapeType="1"/>
                </p:cNvSpPr>
                <p:nvPr/>
              </p:nvSpPr>
              <p:spPr bwMode="auto">
                <a:xfrm>
                  <a:off x="854" y="1514"/>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2559" name="Line 79"/>
                <p:cNvSpPr>
                  <a:spLocks noChangeShapeType="1"/>
                </p:cNvSpPr>
                <p:nvPr/>
              </p:nvSpPr>
              <p:spPr bwMode="auto">
                <a:xfrm>
                  <a:off x="855" y="1392"/>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2560" name="Line 80"/>
                <p:cNvSpPr>
                  <a:spLocks noChangeShapeType="1"/>
                </p:cNvSpPr>
                <p:nvPr/>
              </p:nvSpPr>
              <p:spPr bwMode="auto">
                <a:xfrm>
                  <a:off x="855" y="1632"/>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sp>
          <p:nvSpPr>
            <p:cNvPr id="22555" name="Text Box 81"/>
            <p:cNvSpPr txBox="1">
              <a:spLocks noChangeArrowheads="1"/>
            </p:cNvSpPr>
            <p:nvPr/>
          </p:nvSpPr>
          <p:spPr bwMode="auto">
            <a:xfrm>
              <a:off x="2896" y="3816"/>
              <a:ext cx="46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 = (</a:t>
              </a:r>
              <a:r>
                <a:rPr lang="es-ES_tradnl" altLang="es-ES" b="1">
                  <a:cs typeface="Arial" pitchFamily="34" charset="0"/>
                </a:rPr>
                <a:t>–</a:t>
              </a:r>
              <a:r>
                <a:rPr lang="es-ES_tradnl" altLang="es-ES" b="1"/>
                <a:t>)</a:t>
              </a:r>
              <a:endParaRPr lang="es-ES" altLang="es-ES" b="1"/>
            </a:p>
          </p:txBody>
        </p:sp>
      </p:grpSp>
      <p:sp>
        <p:nvSpPr>
          <p:cNvPr id="22546" name="Text Box 82"/>
          <p:cNvSpPr txBox="1">
            <a:spLocks noChangeArrowheads="1"/>
          </p:cNvSpPr>
          <p:nvPr/>
        </p:nvSpPr>
        <p:spPr bwMode="auto">
          <a:xfrm>
            <a:off x="457200" y="5073650"/>
            <a:ext cx="4114800"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28600" indent="-2286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100"/>
              <a:t>4) 	Interpretación. A partir de cómo se obtuvo la diferencia:</a:t>
            </a:r>
            <a:endParaRPr lang="es-ES" altLang="es-ES" sz="1100"/>
          </a:p>
        </p:txBody>
      </p:sp>
      <p:sp>
        <p:nvSpPr>
          <p:cNvPr id="22547" name="Text Box 83"/>
          <p:cNvSpPr txBox="1">
            <a:spLocks noChangeArrowheads="1"/>
          </p:cNvSpPr>
          <p:nvPr/>
        </p:nvSpPr>
        <p:spPr bwMode="auto">
          <a:xfrm>
            <a:off x="5791200" y="5532438"/>
            <a:ext cx="274320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a:solidFill>
                  <a:srgbClr val="000066"/>
                </a:solidFill>
                <a:latin typeface="Times New Roman" pitchFamily="18" charset="0"/>
              </a:rPr>
              <a:t>Como es  R</a:t>
            </a:r>
            <a:r>
              <a:rPr lang="es-ES_tradnl" altLang="es-ES" baseline="30000">
                <a:solidFill>
                  <a:srgbClr val="000066"/>
                </a:solidFill>
                <a:latin typeface="Times New Roman" pitchFamily="18" charset="0"/>
              </a:rPr>
              <a:t>+ </a:t>
            </a:r>
            <a:r>
              <a:rPr lang="es-ES_tradnl" altLang="es-ES">
                <a:solidFill>
                  <a:srgbClr val="000066"/>
                </a:solidFill>
                <a:latin typeface="Times New Roman" pitchFamily="18" charset="0"/>
              </a:rPr>
              <a:t>&gt; R</a:t>
            </a:r>
            <a:r>
              <a:rPr lang="es-ES_tradnl" altLang="es-ES" baseline="30000">
                <a:solidFill>
                  <a:srgbClr val="000066"/>
                </a:solidFill>
                <a:latin typeface="Times New Roman" pitchFamily="18" charset="0"/>
                <a:cs typeface="Times New Roman" pitchFamily="18" charset="0"/>
              </a:rPr>
              <a:t>– </a:t>
            </a:r>
            <a:r>
              <a:rPr lang="es-ES_tradnl" altLang="es-ES">
                <a:solidFill>
                  <a:srgbClr val="000066"/>
                </a:solidFill>
                <a:latin typeface="Times New Roman" pitchFamily="18" charset="0"/>
                <a:cs typeface="Times New Roman" pitchFamily="18" charset="0"/>
              </a:rPr>
              <a:t> el cambio sugerido es que se reduce la FC (ya que se ha hecho Antes–Después)</a:t>
            </a:r>
            <a:endParaRPr lang="es-ES_tradnl" altLang="es-ES" baseline="30000">
              <a:solidFill>
                <a:srgbClr val="000066"/>
              </a:solidFill>
              <a:latin typeface="Times New Roman" pitchFamily="18" charset="0"/>
              <a:cs typeface="Times New Roman" pitchFamily="18" charset="0"/>
            </a:endParaRPr>
          </a:p>
        </p:txBody>
      </p:sp>
      <p:sp>
        <p:nvSpPr>
          <p:cNvPr id="22548" name="AutoShape 84"/>
          <p:cNvSpPr>
            <a:spLocks noChangeArrowheads="1"/>
          </p:cNvSpPr>
          <p:nvPr/>
        </p:nvSpPr>
        <p:spPr bwMode="auto">
          <a:xfrm>
            <a:off x="2438400" y="5410200"/>
            <a:ext cx="1676400" cy="914400"/>
          </a:xfrm>
          <a:prstGeom prst="roundRect">
            <a:avLst>
              <a:gd name="adj" fmla="val 16667"/>
            </a:avLst>
          </a:prstGeom>
          <a:noFill/>
          <a:ln w="635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49" name="Text Box 2"/>
          <p:cNvSpPr txBox="1">
            <a:spLocks noChangeArrowheads="1"/>
          </p:cNvSpPr>
          <p:nvPr/>
        </p:nvSpPr>
        <p:spPr bwMode="auto">
          <a:xfrm>
            <a:off x="216190" y="69851"/>
            <a:ext cx="377674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apareadas  // Variable No normal</a:t>
            </a:r>
            <a:endParaRPr lang="es-ES" altLang="es-ES" sz="1400" b="1" dirty="0"/>
          </a:p>
        </p:txBody>
      </p:sp>
      <p:sp>
        <p:nvSpPr>
          <p:cNvPr id="86" name="Text Box 2"/>
          <p:cNvSpPr txBox="1">
            <a:spLocks noChangeArrowheads="1"/>
          </p:cNvSpPr>
          <p:nvPr/>
        </p:nvSpPr>
        <p:spPr bwMode="auto">
          <a:xfrm>
            <a:off x="228600" y="404812"/>
            <a:ext cx="384861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Test de </a:t>
            </a:r>
            <a:r>
              <a:rPr lang="es-ES_tradnl" altLang="es-ES" sz="1400" b="1" dirty="0" err="1"/>
              <a:t>Wilcoxon</a:t>
            </a:r>
            <a:r>
              <a:rPr lang="es-ES_tradnl" altLang="es-ES" sz="1400" b="1" dirty="0"/>
              <a:t> para muestras apareadas</a:t>
            </a:r>
            <a:endParaRPr lang="es-ES" altLang="es-ES" sz="1400" b="1" dirty="0"/>
          </a:p>
        </p:txBody>
      </p:sp>
    </p:spTree>
    <p:extLst>
      <p:ext uri="{BB962C8B-B14F-4D97-AF65-F5344CB8AC3E}">
        <p14:creationId xmlns:p14="http://schemas.microsoft.com/office/powerpoint/2010/main" val="13030137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228600" y="224558"/>
            <a:ext cx="667682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600" b="1" dirty="0"/>
              <a:t>Comparativa entre las pruebas paramétricas y las no paramétricas</a:t>
            </a:r>
            <a:endParaRPr lang="es-ES" altLang="es-ES" sz="1600" b="1" dirty="0"/>
          </a:p>
        </p:txBody>
      </p:sp>
      <p:sp>
        <p:nvSpPr>
          <p:cNvPr id="23555" name="Text Box 5"/>
          <p:cNvSpPr txBox="1">
            <a:spLocks noChangeArrowheads="1"/>
          </p:cNvSpPr>
          <p:nvPr/>
        </p:nvSpPr>
        <p:spPr bwMode="auto">
          <a:xfrm>
            <a:off x="514350" y="2062163"/>
            <a:ext cx="3657600" cy="6492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b="1" i="1" dirty="0">
                <a:cs typeface="Arial" pitchFamily="34" charset="0"/>
              </a:rPr>
              <a:t>Métodos paramétricos (MP)</a:t>
            </a:r>
            <a:r>
              <a:rPr lang="es-ES_tradnl" altLang="es-ES" b="1" dirty="0">
                <a:solidFill>
                  <a:srgbClr val="000099"/>
                </a:solidFill>
                <a:cs typeface="Arial" pitchFamily="34" charset="0"/>
              </a:rPr>
              <a:t>:</a:t>
            </a:r>
            <a:r>
              <a:rPr lang="es-ES_tradnl" altLang="es-ES" b="1" dirty="0">
                <a:cs typeface="Arial" pitchFamily="34" charset="0"/>
              </a:rPr>
              <a:t> </a:t>
            </a:r>
            <a:r>
              <a:rPr lang="es-ES_tradnl" altLang="es-ES" dirty="0">
                <a:cs typeface="Arial" pitchFamily="34" charset="0"/>
              </a:rPr>
              <a:t>Dependen que los supuestos sobre el </a:t>
            </a:r>
            <a:r>
              <a:rPr lang="es-ES_tradnl" altLang="es-ES" b="1" dirty="0">
                <a:cs typeface="Arial" pitchFamily="34" charset="0"/>
              </a:rPr>
              <a:t>modelo</a:t>
            </a:r>
            <a:r>
              <a:rPr lang="es-ES_tradnl" altLang="es-ES" dirty="0">
                <a:cs typeface="Arial" pitchFamily="34" charset="0"/>
              </a:rPr>
              <a:t> sean correctos y por tanto deben de comprobarse.</a:t>
            </a:r>
            <a:endParaRPr lang="es-ES_tradnl" altLang="es-ES" sz="1300" i="1" dirty="0">
              <a:latin typeface="Times New Roman" pitchFamily="18" charset="0"/>
              <a:cs typeface="Arial" pitchFamily="34" charset="0"/>
            </a:endParaRPr>
          </a:p>
        </p:txBody>
      </p:sp>
      <p:sp>
        <p:nvSpPr>
          <p:cNvPr id="23556" name="Text Box 6"/>
          <p:cNvSpPr txBox="1">
            <a:spLocks noChangeArrowheads="1"/>
          </p:cNvSpPr>
          <p:nvPr/>
        </p:nvSpPr>
        <p:spPr bwMode="auto">
          <a:xfrm>
            <a:off x="4629150" y="2062163"/>
            <a:ext cx="3852863" cy="833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b="1" i="1" dirty="0">
                <a:cs typeface="Arial" pitchFamily="34" charset="0"/>
              </a:rPr>
              <a:t>Métodos no paramétricos (MNP)</a:t>
            </a:r>
            <a:r>
              <a:rPr lang="es-ES_tradnl" altLang="es-ES" dirty="0">
                <a:cs typeface="Arial" pitchFamily="34" charset="0"/>
              </a:rPr>
              <a:t>: No se especifica ningún </a:t>
            </a:r>
            <a:r>
              <a:rPr lang="es-ES_tradnl" altLang="es-ES" b="1" dirty="0">
                <a:cs typeface="Arial" pitchFamily="34" charset="0"/>
              </a:rPr>
              <a:t>modelo</a:t>
            </a:r>
            <a:r>
              <a:rPr lang="es-ES_tradnl" altLang="es-ES" dirty="0">
                <a:cs typeface="Arial" pitchFamily="34" charset="0"/>
              </a:rPr>
              <a:t> relativo a la distribución de la población cuyas observaciones componen la muestra. Son aplicables siempre.</a:t>
            </a:r>
            <a:endParaRPr lang="es-ES_tradnl" altLang="es-ES" sz="1300" i="1" dirty="0">
              <a:latin typeface="Times New Roman" pitchFamily="18" charset="0"/>
              <a:cs typeface="Arial" pitchFamily="34" charset="0"/>
            </a:endParaRPr>
          </a:p>
        </p:txBody>
      </p:sp>
      <p:sp>
        <p:nvSpPr>
          <p:cNvPr id="23557" name="Text Box 7"/>
          <p:cNvSpPr txBox="1">
            <a:spLocks noChangeArrowheads="1"/>
          </p:cNvSpPr>
          <p:nvPr/>
        </p:nvSpPr>
        <p:spPr bwMode="auto">
          <a:xfrm>
            <a:off x="514350" y="1562100"/>
            <a:ext cx="8001000" cy="495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cs typeface="Arial" pitchFamily="34" charset="0"/>
              </a:rPr>
              <a:t>Los supuestos mas básicos se deben mantener en ambos</a:t>
            </a:r>
            <a:r>
              <a:rPr lang="es-ES_tradnl" altLang="es-ES">
                <a:latin typeface="Times New Roman" pitchFamily="18" charset="0"/>
                <a:cs typeface="Arial" pitchFamily="34" charset="0"/>
              </a:rPr>
              <a:t> </a:t>
            </a:r>
            <a:r>
              <a:rPr lang="es-ES_tradnl" altLang="es-ES" sz="1400">
                <a:latin typeface="Times New Roman" pitchFamily="18" charset="0"/>
                <a:cs typeface="Arial" pitchFamily="34" charset="0"/>
              </a:rPr>
              <a:t>→</a:t>
            </a:r>
            <a:r>
              <a:rPr lang="es-ES_tradnl" altLang="es-ES">
                <a:cs typeface="Arial" pitchFamily="34" charset="0"/>
              </a:rPr>
              <a:t> la muestra debe ser aleatoria, las observaciones deben ser independientes</a:t>
            </a:r>
            <a:endParaRPr lang="es-ES_tradnl" altLang="es-ES" sz="1300" i="1">
              <a:latin typeface="Times New Roman" pitchFamily="18" charset="0"/>
              <a:cs typeface="Arial" pitchFamily="34" charset="0"/>
            </a:endParaRPr>
          </a:p>
        </p:txBody>
      </p:sp>
      <p:sp>
        <p:nvSpPr>
          <p:cNvPr id="23558" name="Text Box 8"/>
          <p:cNvSpPr txBox="1">
            <a:spLocks noChangeArrowheads="1"/>
          </p:cNvSpPr>
          <p:nvPr/>
        </p:nvSpPr>
        <p:spPr bwMode="auto">
          <a:xfrm>
            <a:off x="514350" y="3246438"/>
            <a:ext cx="3657600" cy="6485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b="1" i="1" dirty="0">
                <a:cs typeface="Arial" pitchFamily="34" charset="0"/>
              </a:rPr>
              <a:t>MP</a:t>
            </a:r>
            <a:r>
              <a:rPr lang="es-ES_tradnl" altLang="es-ES" dirty="0">
                <a:cs typeface="Arial" pitchFamily="34" charset="0"/>
              </a:rPr>
              <a:t>: requieren mayor sofisticación de la </a:t>
            </a:r>
            <a:r>
              <a:rPr lang="es-ES_tradnl" altLang="es-ES" b="1" dirty="0">
                <a:cs typeface="Arial" pitchFamily="34" charset="0"/>
              </a:rPr>
              <a:t>medida</a:t>
            </a:r>
            <a:r>
              <a:rPr lang="es-ES_tradnl" altLang="es-ES" dirty="0">
                <a:cs typeface="Arial" pitchFamily="34" charset="0"/>
              </a:rPr>
              <a:t>. Por ejemplo, el modelo normal es para variables continuas. </a:t>
            </a:r>
            <a:endParaRPr lang="es-ES_tradnl" altLang="es-ES" sz="1300" i="1" dirty="0">
              <a:latin typeface="Times New Roman" pitchFamily="18" charset="0"/>
              <a:cs typeface="Arial" pitchFamily="34" charset="0"/>
            </a:endParaRPr>
          </a:p>
        </p:txBody>
      </p:sp>
      <p:sp>
        <p:nvSpPr>
          <p:cNvPr id="23559" name="Text Box 9"/>
          <p:cNvSpPr txBox="1">
            <a:spLocks noChangeArrowheads="1"/>
          </p:cNvSpPr>
          <p:nvPr/>
        </p:nvSpPr>
        <p:spPr bwMode="auto">
          <a:xfrm>
            <a:off x="4629150" y="3246438"/>
            <a:ext cx="3852863" cy="6485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b="1" i="1" dirty="0">
                <a:cs typeface="Arial" pitchFamily="34" charset="0"/>
              </a:rPr>
              <a:t>MNP</a:t>
            </a:r>
            <a:r>
              <a:rPr lang="es-ES_tradnl" altLang="es-ES" dirty="0">
                <a:cs typeface="Arial" pitchFamily="34" charset="0"/>
              </a:rPr>
              <a:t>: No requieren mediciones tan ‘fuertes’. En general, son </a:t>
            </a:r>
            <a:r>
              <a:rPr lang="es-ES_tradnl" altLang="es-ES" b="1" dirty="0">
                <a:cs typeface="Arial" pitchFamily="34" charset="0"/>
              </a:rPr>
              <a:t>aplicables</a:t>
            </a:r>
            <a:r>
              <a:rPr lang="es-ES_tradnl" altLang="es-ES" dirty="0">
                <a:cs typeface="Arial" pitchFamily="34" charset="0"/>
              </a:rPr>
              <a:t> </a:t>
            </a:r>
            <a:r>
              <a:rPr lang="es-ES_tradnl" altLang="es-ES" b="1" dirty="0">
                <a:cs typeface="Arial" pitchFamily="34" charset="0"/>
              </a:rPr>
              <a:t>siempre</a:t>
            </a:r>
            <a:r>
              <a:rPr lang="es-ES_tradnl" altLang="es-ES" dirty="0">
                <a:cs typeface="Arial" pitchFamily="34" charset="0"/>
              </a:rPr>
              <a:t> (sobre datos en escala ordinal, e incluso nominal)</a:t>
            </a:r>
          </a:p>
        </p:txBody>
      </p:sp>
      <p:sp>
        <p:nvSpPr>
          <p:cNvPr id="23560" name="Text Box 10"/>
          <p:cNvSpPr txBox="1">
            <a:spLocks noChangeArrowheads="1"/>
          </p:cNvSpPr>
          <p:nvPr/>
        </p:nvSpPr>
        <p:spPr bwMode="auto">
          <a:xfrm>
            <a:off x="228600" y="4076700"/>
            <a:ext cx="1685925"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b="1">
                <a:cs typeface="Arial" pitchFamily="34" charset="0"/>
              </a:rPr>
              <a:t>3. Potencia del test</a:t>
            </a:r>
          </a:p>
        </p:txBody>
      </p:sp>
      <p:sp>
        <p:nvSpPr>
          <p:cNvPr id="23561" name="Text Box 12"/>
          <p:cNvSpPr txBox="1">
            <a:spLocks noChangeArrowheads="1"/>
          </p:cNvSpPr>
          <p:nvPr/>
        </p:nvSpPr>
        <p:spPr bwMode="auto">
          <a:xfrm>
            <a:off x="228600" y="849312"/>
            <a:ext cx="6096000" cy="2936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dirty="0">
                <a:cs typeface="Arial" pitchFamily="34" charset="0"/>
              </a:rPr>
              <a:t>La clave es</a:t>
            </a:r>
            <a:r>
              <a:rPr lang="es-ES_tradnl" altLang="es-ES" sz="1300" b="1" dirty="0">
                <a:cs typeface="Arial" pitchFamily="34" charset="0"/>
              </a:rPr>
              <a:t> “qué información se tiene y qué método la aprovecha mejor”</a:t>
            </a:r>
            <a:endParaRPr lang="es-ES_tradnl" altLang="es-ES" sz="1300" b="1" i="1" dirty="0">
              <a:latin typeface="Times New Roman" pitchFamily="18" charset="0"/>
              <a:cs typeface="Arial" pitchFamily="34" charset="0"/>
            </a:endParaRPr>
          </a:p>
        </p:txBody>
      </p:sp>
      <p:sp>
        <p:nvSpPr>
          <p:cNvPr id="23562" name="Text Box 13"/>
          <p:cNvSpPr txBox="1">
            <a:spLocks noChangeArrowheads="1"/>
          </p:cNvSpPr>
          <p:nvPr/>
        </p:nvSpPr>
        <p:spPr bwMode="auto">
          <a:xfrm>
            <a:off x="514350" y="5407025"/>
            <a:ext cx="3657600" cy="6485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b="1" i="1" dirty="0">
                <a:cs typeface="Arial" pitchFamily="34" charset="0"/>
              </a:rPr>
              <a:t>MP</a:t>
            </a:r>
            <a:r>
              <a:rPr lang="es-ES_tradnl" altLang="es-ES" dirty="0">
                <a:cs typeface="Arial" pitchFamily="34" charset="0"/>
              </a:rPr>
              <a:t> permiten </a:t>
            </a:r>
            <a:r>
              <a:rPr lang="es-ES_tradnl" altLang="es-ES" b="1" dirty="0">
                <a:cs typeface="Arial" pitchFamily="34" charset="0"/>
              </a:rPr>
              <a:t>mayor</a:t>
            </a:r>
            <a:r>
              <a:rPr lang="es-ES_tradnl" altLang="es-ES" dirty="0">
                <a:cs typeface="Arial" pitchFamily="34" charset="0"/>
              </a:rPr>
              <a:t> </a:t>
            </a:r>
            <a:r>
              <a:rPr lang="es-ES_tradnl" altLang="es-ES" b="1" dirty="0">
                <a:cs typeface="Arial" pitchFamily="34" charset="0"/>
              </a:rPr>
              <a:t>profundidad en el análisis </a:t>
            </a:r>
            <a:r>
              <a:rPr lang="es-ES_tradnl" altLang="es-ES" dirty="0">
                <a:cs typeface="Arial" pitchFamily="34" charset="0"/>
              </a:rPr>
              <a:t>y resultados que suelen ser mas intuitivos (por ejemplo, diferencia de efecto, IC, </a:t>
            </a:r>
            <a:r>
              <a:rPr lang="es-ES_tradnl" altLang="es-ES" dirty="0" err="1">
                <a:cs typeface="Arial" pitchFamily="34" charset="0"/>
              </a:rPr>
              <a:t>etc</a:t>
            </a:r>
            <a:r>
              <a:rPr lang="es-ES_tradnl" altLang="es-ES" dirty="0">
                <a:cs typeface="Arial" pitchFamily="34" charset="0"/>
              </a:rPr>
              <a:t>) </a:t>
            </a:r>
          </a:p>
        </p:txBody>
      </p:sp>
      <p:sp>
        <p:nvSpPr>
          <p:cNvPr id="23563" name="Text Box 14"/>
          <p:cNvSpPr txBox="1">
            <a:spLocks noChangeArrowheads="1"/>
          </p:cNvSpPr>
          <p:nvPr/>
        </p:nvSpPr>
        <p:spPr bwMode="auto">
          <a:xfrm>
            <a:off x="4629150" y="5407025"/>
            <a:ext cx="3852863" cy="8223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b="1" i="1">
                <a:cs typeface="Arial" pitchFamily="34" charset="0"/>
              </a:rPr>
              <a:t>MNP</a:t>
            </a:r>
            <a:r>
              <a:rPr lang="es-ES_tradnl" altLang="es-ES">
                <a:cs typeface="Arial" pitchFamily="34" charset="0"/>
              </a:rPr>
              <a:t>. Los métodos no paramétricos no ofrecen resultados tan intuitivos. No se puede cuantificar el tamaño del efecto, solo decir que una población da valores (de una escala) mayores que la otra.</a:t>
            </a:r>
            <a:endParaRPr lang="es-ES_tradnl" altLang="es-ES" sz="1300" i="1">
              <a:latin typeface="Times New Roman" pitchFamily="18" charset="0"/>
              <a:cs typeface="Arial" pitchFamily="34" charset="0"/>
            </a:endParaRPr>
          </a:p>
        </p:txBody>
      </p:sp>
      <p:sp>
        <p:nvSpPr>
          <p:cNvPr id="23564" name="Text Box 15"/>
          <p:cNvSpPr txBox="1">
            <a:spLocks noChangeArrowheads="1"/>
          </p:cNvSpPr>
          <p:nvPr/>
        </p:nvSpPr>
        <p:spPr bwMode="auto">
          <a:xfrm>
            <a:off x="514350" y="4352925"/>
            <a:ext cx="8001000" cy="6485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dirty="0">
                <a:cs typeface="Arial" pitchFamily="34" charset="0"/>
              </a:rPr>
              <a:t>Los </a:t>
            </a:r>
            <a:r>
              <a:rPr lang="es-ES_tradnl" altLang="es-ES" b="1" dirty="0">
                <a:cs typeface="Arial" pitchFamily="34" charset="0"/>
              </a:rPr>
              <a:t>MP</a:t>
            </a:r>
            <a:r>
              <a:rPr lang="es-ES_tradnl" altLang="es-ES" dirty="0">
                <a:cs typeface="Arial" pitchFamily="34" charset="0"/>
              </a:rPr>
              <a:t> en general son </a:t>
            </a:r>
            <a:r>
              <a:rPr lang="es-ES_tradnl" altLang="es-ES" b="1" dirty="0">
                <a:cs typeface="Arial" pitchFamily="34" charset="0"/>
              </a:rPr>
              <a:t>más</a:t>
            </a:r>
            <a:r>
              <a:rPr lang="es-ES_tradnl" altLang="es-ES" dirty="0">
                <a:cs typeface="Arial" pitchFamily="34" charset="0"/>
              </a:rPr>
              <a:t> </a:t>
            </a:r>
            <a:r>
              <a:rPr lang="es-ES_tradnl" altLang="es-ES" b="1" dirty="0">
                <a:cs typeface="Arial" pitchFamily="34" charset="0"/>
              </a:rPr>
              <a:t>potentes</a:t>
            </a:r>
            <a:r>
              <a:rPr lang="es-ES_tradnl" altLang="es-ES" dirty="0">
                <a:cs typeface="Arial" pitchFamily="34" charset="0"/>
              </a:rPr>
              <a:t> que los MNP. Si se satisfacen los supuestos paramétricos, una prueba paramétrica requiere 95 datos por cada 100 que necesita una paramétrica para poder rechazar una hipótesis nula falsa. </a:t>
            </a:r>
            <a:endParaRPr lang="es-ES_tradnl" altLang="es-ES" sz="1300" i="1" dirty="0">
              <a:latin typeface="Times New Roman" pitchFamily="18" charset="0"/>
              <a:cs typeface="Arial" pitchFamily="34" charset="0"/>
            </a:endParaRPr>
          </a:p>
        </p:txBody>
      </p:sp>
      <p:sp>
        <p:nvSpPr>
          <p:cNvPr id="23565" name="Text Box 16"/>
          <p:cNvSpPr txBox="1">
            <a:spLocks noChangeArrowheads="1"/>
          </p:cNvSpPr>
          <p:nvPr/>
        </p:nvSpPr>
        <p:spPr bwMode="auto">
          <a:xfrm>
            <a:off x="228600" y="1230313"/>
            <a:ext cx="2487613" cy="290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b="1"/>
              <a:t>1. Supuestos sobre los datos</a:t>
            </a:r>
            <a:endParaRPr lang="es-ES" altLang="es-ES" sz="1300" b="1"/>
          </a:p>
        </p:txBody>
      </p:sp>
      <p:sp>
        <p:nvSpPr>
          <p:cNvPr id="23566" name="Text Box 17"/>
          <p:cNvSpPr txBox="1">
            <a:spLocks noChangeArrowheads="1"/>
          </p:cNvSpPr>
          <p:nvPr/>
        </p:nvSpPr>
        <p:spPr bwMode="auto">
          <a:xfrm>
            <a:off x="228600" y="2971800"/>
            <a:ext cx="1628775"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b="1"/>
              <a:t>2. Nivel de medida</a:t>
            </a:r>
            <a:endParaRPr lang="es-ES" altLang="es-ES" sz="1300" b="1"/>
          </a:p>
        </p:txBody>
      </p:sp>
      <p:sp>
        <p:nvSpPr>
          <p:cNvPr id="23567" name="Text Box 18"/>
          <p:cNvSpPr txBox="1">
            <a:spLocks noChangeArrowheads="1"/>
          </p:cNvSpPr>
          <p:nvPr/>
        </p:nvSpPr>
        <p:spPr bwMode="auto">
          <a:xfrm>
            <a:off x="228600" y="5140325"/>
            <a:ext cx="21002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b="1">
                <a:cs typeface="Arial" pitchFamily="34" charset="0"/>
              </a:rPr>
              <a:t>4. Capacidad de análisis</a:t>
            </a:r>
          </a:p>
        </p:txBody>
      </p:sp>
      <p:sp>
        <p:nvSpPr>
          <p:cNvPr id="23568" name="AutoShape 19"/>
          <p:cNvSpPr>
            <a:spLocks noChangeArrowheads="1"/>
          </p:cNvSpPr>
          <p:nvPr/>
        </p:nvSpPr>
        <p:spPr bwMode="auto">
          <a:xfrm>
            <a:off x="419100" y="1524000"/>
            <a:ext cx="8305800" cy="1371600"/>
          </a:xfrm>
          <a:prstGeom prst="roundRect">
            <a:avLst>
              <a:gd name="adj" fmla="val 16667"/>
            </a:avLst>
          </a:prstGeom>
          <a:noFill/>
          <a:ln w="6350">
            <a:solidFill>
              <a:srgbClr val="C0C0C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3569" name="AutoShape 20"/>
          <p:cNvSpPr>
            <a:spLocks noChangeArrowheads="1"/>
          </p:cNvSpPr>
          <p:nvPr/>
        </p:nvSpPr>
        <p:spPr bwMode="auto">
          <a:xfrm>
            <a:off x="419100" y="3228975"/>
            <a:ext cx="8305800" cy="762000"/>
          </a:xfrm>
          <a:prstGeom prst="roundRect">
            <a:avLst>
              <a:gd name="adj" fmla="val 16667"/>
            </a:avLst>
          </a:prstGeom>
          <a:noFill/>
          <a:ln w="6350">
            <a:solidFill>
              <a:srgbClr val="C0C0C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3570" name="AutoShape 21"/>
          <p:cNvSpPr>
            <a:spLocks noChangeArrowheads="1"/>
          </p:cNvSpPr>
          <p:nvPr/>
        </p:nvSpPr>
        <p:spPr bwMode="auto">
          <a:xfrm>
            <a:off x="419100" y="4324350"/>
            <a:ext cx="8305800" cy="685800"/>
          </a:xfrm>
          <a:prstGeom prst="roundRect">
            <a:avLst>
              <a:gd name="adj" fmla="val 16667"/>
            </a:avLst>
          </a:prstGeom>
          <a:noFill/>
          <a:ln w="6350">
            <a:solidFill>
              <a:srgbClr val="C0C0C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3571" name="AutoShape 22"/>
          <p:cNvSpPr>
            <a:spLocks noChangeArrowheads="1"/>
          </p:cNvSpPr>
          <p:nvPr/>
        </p:nvSpPr>
        <p:spPr bwMode="auto">
          <a:xfrm>
            <a:off x="419100" y="5410200"/>
            <a:ext cx="8305800" cy="914400"/>
          </a:xfrm>
          <a:prstGeom prst="roundRect">
            <a:avLst>
              <a:gd name="adj" fmla="val 16667"/>
            </a:avLst>
          </a:prstGeom>
          <a:noFill/>
          <a:ln w="6350">
            <a:solidFill>
              <a:srgbClr val="C0C0C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Tree>
    <p:extLst>
      <p:ext uri="{BB962C8B-B14F-4D97-AF65-F5344CB8AC3E}">
        <p14:creationId xmlns:p14="http://schemas.microsoft.com/office/powerpoint/2010/main" val="1441662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11 Rectángulo redondeado">
            <a:extLst>
              <a:ext uri="{FF2B5EF4-FFF2-40B4-BE49-F238E27FC236}">
                <a16:creationId xmlns:a16="http://schemas.microsoft.com/office/drawing/2014/main" id="{08647E1F-3250-4AC8-9821-3789A898F6FA}"/>
              </a:ext>
            </a:extLst>
          </p:cNvPr>
          <p:cNvSpPr/>
          <p:nvPr/>
        </p:nvSpPr>
        <p:spPr bwMode="auto">
          <a:xfrm>
            <a:off x="5811190" y="2590799"/>
            <a:ext cx="3256610" cy="4175125"/>
          </a:xfrm>
          <a:prstGeom prst="roundRect">
            <a:avLst>
              <a:gd name="adj" fmla="val 4392"/>
            </a:avLst>
          </a:prstGeom>
          <a:solidFill>
            <a:schemeClr val="bg1">
              <a:lumMod val="85000"/>
              <a:alpha val="20000"/>
            </a:schemeClr>
          </a:solidFill>
          <a:ln w="9525" cap="flat" cmpd="sng" algn="ctr">
            <a:solidFill>
              <a:srgbClr val="C0C0C0"/>
            </a:solidFill>
            <a:prstDash val="solid"/>
            <a:round/>
            <a:headEnd type="none" w="med" len="med"/>
            <a:tailEnd type="none" w="med" len="med"/>
          </a:ln>
          <a:effectLst/>
        </p:spPr>
        <p:txBody>
          <a:bodyPr/>
          <a:lstStyle/>
          <a:p>
            <a:pPr eaLnBrk="1" hangingPunct="1">
              <a:defRPr/>
            </a:pPr>
            <a:endParaRPr lang="es-ES">
              <a:latin typeface="Arial" charset="0"/>
            </a:endParaRPr>
          </a:p>
        </p:txBody>
      </p:sp>
      <p:sp>
        <p:nvSpPr>
          <p:cNvPr id="8214" name="Text Box 67">
            <a:extLst>
              <a:ext uri="{FF2B5EF4-FFF2-40B4-BE49-F238E27FC236}">
                <a16:creationId xmlns:a16="http://schemas.microsoft.com/office/drawing/2014/main" id="{F47BABD6-9D7D-4616-9F36-F6F669C01C6F}"/>
              </a:ext>
            </a:extLst>
          </p:cNvPr>
          <p:cNvSpPr txBox="1">
            <a:spLocks noChangeArrowheads="1"/>
          </p:cNvSpPr>
          <p:nvPr/>
        </p:nvSpPr>
        <p:spPr bwMode="auto">
          <a:xfrm>
            <a:off x="55563" y="295555"/>
            <a:ext cx="538160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600" b="1" dirty="0"/>
              <a:t>Comparación de dos proporciones: esquema general</a:t>
            </a:r>
            <a:endParaRPr lang="es-ES" altLang="es-ES" sz="1600" b="1" dirty="0"/>
          </a:p>
        </p:txBody>
      </p:sp>
      <p:grpSp>
        <p:nvGrpSpPr>
          <p:cNvPr id="19" name="Grupo 18">
            <a:extLst>
              <a:ext uri="{FF2B5EF4-FFF2-40B4-BE49-F238E27FC236}">
                <a16:creationId xmlns:a16="http://schemas.microsoft.com/office/drawing/2014/main" id="{29393E2C-09F9-4AC9-90B1-30DF32D93C9E}"/>
              </a:ext>
            </a:extLst>
          </p:cNvPr>
          <p:cNvGrpSpPr/>
          <p:nvPr/>
        </p:nvGrpSpPr>
        <p:grpSpPr>
          <a:xfrm>
            <a:off x="5867400" y="2638425"/>
            <a:ext cx="3151835" cy="3990975"/>
            <a:chOff x="5790774" y="2334928"/>
            <a:chExt cx="3151835" cy="3990975"/>
          </a:xfrm>
        </p:grpSpPr>
        <p:pic>
          <p:nvPicPr>
            <p:cNvPr id="51" name="Picture 35">
              <a:extLst>
                <a:ext uri="{FF2B5EF4-FFF2-40B4-BE49-F238E27FC236}">
                  <a16:creationId xmlns:a16="http://schemas.microsoft.com/office/drawing/2014/main" id="{63313A93-779B-4BDB-BD09-40AB12597A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6977" y="3338928"/>
              <a:ext cx="1264423" cy="2986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Lst>
          </p:spPr>
        </p:pic>
        <p:grpSp>
          <p:nvGrpSpPr>
            <p:cNvPr id="52" name="Group 22">
              <a:extLst>
                <a:ext uri="{FF2B5EF4-FFF2-40B4-BE49-F238E27FC236}">
                  <a16:creationId xmlns:a16="http://schemas.microsoft.com/office/drawing/2014/main" id="{410B05B5-B80E-44B7-A291-5590C50E4282}"/>
                </a:ext>
              </a:extLst>
            </p:cNvPr>
            <p:cNvGrpSpPr>
              <a:grpSpLocks/>
            </p:cNvGrpSpPr>
            <p:nvPr/>
          </p:nvGrpSpPr>
          <p:grpSpPr bwMode="auto">
            <a:xfrm flipH="1">
              <a:off x="6019375" y="4419819"/>
              <a:ext cx="229025" cy="956531"/>
              <a:chOff x="4120" y="2592"/>
              <a:chExt cx="226" cy="629"/>
            </a:xfrm>
          </p:grpSpPr>
          <p:sp>
            <p:nvSpPr>
              <p:cNvPr id="54" name="Line 21">
                <a:extLst>
                  <a:ext uri="{FF2B5EF4-FFF2-40B4-BE49-F238E27FC236}">
                    <a16:creationId xmlns:a16="http://schemas.microsoft.com/office/drawing/2014/main" id="{58FBCCB6-4973-45DD-9DF2-E161DEF67C2E}"/>
                  </a:ext>
                </a:extLst>
              </p:cNvPr>
              <p:cNvSpPr>
                <a:spLocks noChangeShapeType="1"/>
              </p:cNvSpPr>
              <p:nvPr/>
            </p:nvSpPr>
            <p:spPr bwMode="auto">
              <a:xfrm>
                <a:off x="4298" y="2907"/>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5" name="Freeform 19">
                <a:extLst>
                  <a:ext uri="{FF2B5EF4-FFF2-40B4-BE49-F238E27FC236}">
                    <a16:creationId xmlns:a16="http://schemas.microsoft.com/office/drawing/2014/main" id="{238141D6-FD77-410A-ACE3-35EE74C942F7}"/>
                  </a:ext>
                </a:extLst>
              </p:cNvPr>
              <p:cNvSpPr>
                <a:spLocks/>
              </p:cNvSpPr>
              <p:nvPr/>
            </p:nvSpPr>
            <p:spPr bwMode="auto">
              <a:xfrm flipH="1">
                <a:off x="4120" y="2592"/>
                <a:ext cx="179" cy="629"/>
              </a:xfrm>
              <a:custGeom>
                <a:avLst/>
                <a:gdLst>
                  <a:gd name="T0" fmla="*/ 178 w 179"/>
                  <a:gd name="T1" fmla="*/ 0 h 629"/>
                  <a:gd name="T2" fmla="*/ 0 w 179"/>
                  <a:gd name="T3" fmla="*/ 0 h 629"/>
                  <a:gd name="T4" fmla="*/ 0 w 179"/>
                  <a:gd name="T5" fmla="*/ 629 h 629"/>
                  <a:gd name="T6" fmla="*/ 179 w 179"/>
                  <a:gd name="T7" fmla="*/ 624 h 6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9" h="629">
                    <a:moveTo>
                      <a:pt x="178" y="0"/>
                    </a:moveTo>
                    <a:lnTo>
                      <a:pt x="0" y="0"/>
                    </a:lnTo>
                    <a:lnTo>
                      <a:pt x="0" y="629"/>
                    </a:lnTo>
                    <a:lnTo>
                      <a:pt x="179" y="624"/>
                    </a:lnTo>
                  </a:path>
                </a:pathLst>
              </a:custGeom>
              <a:noFill/>
              <a:ln w="9525">
                <a:solidFill>
                  <a:srgbClr val="008000"/>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53" name="Text Box 27">
              <a:extLst>
                <a:ext uri="{FF2B5EF4-FFF2-40B4-BE49-F238E27FC236}">
                  <a16:creationId xmlns:a16="http://schemas.microsoft.com/office/drawing/2014/main" id="{E924DAB1-B358-4780-B7CD-F279758FDA6E}"/>
                </a:ext>
              </a:extLst>
            </p:cNvPr>
            <p:cNvSpPr txBox="1">
              <a:spLocks noChangeArrowheads="1"/>
            </p:cNvSpPr>
            <p:nvPr/>
          </p:nvSpPr>
          <p:spPr bwMode="auto">
            <a:xfrm rot="16200000">
              <a:off x="5511080" y="4814674"/>
              <a:ext cx="788414" cy="22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_tradnl" altLang="es-ES" sz="900" dirty="0">
                  <a:solidFill>
                    <a:srgbClr val="006600"/>
                  </a:solidFill>
                </a:rPr>
                <a:t>Comparación</a:t>
              </a:r>
              <a:endParaRPr lang="es-ES" altLang="es-ES" sz="900" dirty="0">
                <a:solidFill>
                  <a:srgbClr val="006600"/>
                </a:solidFill>
              </a:endParaRPr>
            </a:p>
          </p:txBody>
        </p:sp>
        <p:sp>
          <p:nvSpPr>
            <p:cNvPr id="49" name="Freeform 24">
              <a:extLst>
                <a:ext uri="{FF2B5EF4-FFF2-40B4-BE49-F238E27FC236}">
                  <a16:creationId xmlns:a16="http://schemas.microsoft.com/office/drawing/2014/main" id="{5A93CDF0-F6F5-47AE-A7DE-7A4E18AD707F}"/>
                </a:ext>
              </a:extLst>
            </p:cNvPr>
            <p:cNvSpPr>
              <a:spLocks/>
            </p:cNvSpPr>
            <p:nvPr/>
          </p:nvSpPr>
          <p:spPr bwMode="auto">
            <a:xfrm rot="5400000" flipH="1">
              <a:off x="8340955" y="5500562"/>
              <a:ext cx="128952" cy="335425"/>
            </a:xfrm>
            <a:custGeom>
              <a:avLst/>
              <a:gdLst>
                <a:gd name="T0" fmla="*/ 178 w 179"/>
                <a:gd name="T1" fmla="*/ 0 h 629"/>
                <a:gd name="T2" fmla="*/ 0 w 179"/>
                <a:gd name="T3" fmla="*/ 0 h 629"/>
                <a:gd name="T4" fmla="*/ 0 w 179"/>
                <a:gd name="T5" fmla="*/ 629 h 629"/>
                <a:gd name="T6" fmla="*/ 179 w 179"/>
                <a:gd name="T7" fmla="*/ 624 h 6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9" h="629">
                  <a:moveTo>
                    <a:pt x="178" y="0"/>
                  </a:moveTo>
                  <a:lnTo>
                    <a:pt x="0" y="0"/>
                  </a:lnTo>
                  <a:lnTo>
                    <a:pt x="0" y="629"/>
                  </a:lnTo>
                  <a:lnTo>
                    <a:pt x="179" y="624"/>
                  </a:lnTo>
                </a:path>
              </a:pathLst>
            </a:custGeom>
            <a:noFill/>
            <a:ln w="9525">
              <a:solidFill>
                <a:srgbClr val="008000"/>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0" name="Line 25">
              <a:extLst>
                <a:ext uri="{FF2B5EF4-FFF2-40B4-BE49-F238E27FC236}">
                  <a16:creationId xmlns:a16="http://schemas.microsoft.com/office/drawing/2014/main" id="{1D2B818E-F258-461B-9D11-65A63395AAD5}"/>
                </a:ext>
              </a:extLst>
            </p:cNvPr>
            <p:cNvSpPr>
              <a:spLocks noChangeShapeType="1"/>
            </p:cNvSpPr>
            <p:nvPr/>
          </p:nvSpPr>
          <p:spPr bwMode="auto">
            <a:xfrm rot="5400000">
              <a:off x="8387875" y="5749319"/>
              <a:ext cx="34579" cy="0"/>
            </a:xfrm>
            <a:prstGeom prst="line">
              <a:avLst/>
            </a:prstGeom>
            <a:noFill/>
            <a:ln w="95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48" name="Text Box 26">
              <a:extLst>
                <a:ext uri="{FF2B5EF4-FFF2-40B4-BE49-F238E27FC236}">
                  <a16:creationId xmlns:a16="http://schemas.microsoft.com/office/drawing/2014/main" id="{31F919D8-8F85-4649-93F2-7EBFCF721CDE}"/>
                </a:ext>
              </a:extLst>
            </p:cNvPr>
            <p:cNvSpPr txBox="1">
              <a:spLocks noChangeArrowheads="1"/>
            </p:cNvSpPr>
            <p:nvPr/>
          </p:nvSpPr>
          <p:spPr bwMode="auto">
            <a:xfrm>
              <a:off x="7992793" y="5732373"/>
              <a:ext cx="865130" cy="208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_tradnl" altLang="es-ES" sz="900">
                  <a:solidFill>
                    <a:srgbClr val="006600"/>
                  </a:solidFill>
                </a:rPr>
                <a:t>Comparación</a:t>
              </a:r>
              <a:endParaRPr lang="es-ES" altLang="es-ES" sz="900">
                <a:solidFill>
                  <a:srgbClr val="006600"/>
                </a:solidFill>
              </a:endParaRPr>
            </a:p>
          </p:txBody>
        </p:sp>
        <p:grpSp>
          <p:nvGrpSpPr>
            <p:cNvPr id="15" name="Grupo 14">
              <a:extLst>
                <a:ext uri="{FF2B5EF4-FFF2-40B4-BE49-F238E27FC236}">
                  <a16:creationId xmlns:a16="http://schemas.microsoft.com/office/drawing/2014/main" id="{94D345AA-8B87-45E9-9A02-FE8F35CBE0B9}"/>
                </a:ext>
              </a:extLst>
            </p:cNvPr>
            <p:cNvGrpSpPr/>
            <p:nvPr/>
          </p:nvGrpSpPr>
          <p:grpSpPr>
            <a:xfrm>
              <a:off x="5946843" y="2724861"/>
              <a:ext cx="1673157" cy="614067"/>
              <a:chOff x="5567065" y="2724861"/>
              <a:chExt cx="1673157" cy="614067"/>
            </a:xfrm>
          </p:grpSpPr>
          <p:sp>
            <p:nvSpPr>
              <p:cNvPr id="39" name="Text Box 31">
                <a:extLst>
                  <a:ext uri="{FF2B5EF4-FFF2-40B4-BE49-F238E27FC236}">
                    <a16:creationId xmlns:a16="http://schemas.microsoft.com/office/drawing/2014/main" id="{396C6EBF-8B02-474D-9BE1-7CA97B9920C4}"/>
                  </a:ext>
                </a:extLst>
              </p:cNvPr>
              <p:cNvSpPr txBox="1">
                <a:spLocks noChangeArrowheads="1"/>
              </p:cNvSpPr>
              <p:nvPr/>
            </p:nvSpPr>
            <p:spPr bwMode="auto">
              <a:xfrm>
                <a:off x="5719717" y="2902692"/>
                <a:ext cx="702838" cy="307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defRPr/>
                </a:pPr>
                <a:r>
                  <a:rPr lang="es-ES_tradnl" altLang="es-ES" sz="800" dirty="0">
                    <a:solidFill>
                      <a:schemeClr val="tx1">
                        <a:lumMod val="50000"/>
                        <a:lumOff val="50000"/>
                      </a:schemeClr>
                    </a:solidFill>
                  </a:rPr>
                  <a:t>Variable de</a:t>
                </a:r>
              </a:p>
              <a:p>
                <a:pPr algn="just" eaLnBrk="1" hangingPunct="1">
                  <a:defRPr/>
                </a:pPr>
                <a:r>
                  <a:rPr lang="es-ES_tradnl" altLang="es-ES" sz="800" dirty="0">
                    <a:solidFill>
                      <a:schemeClr val="tx1">
                        <a:lumMod val="50000"/>
                        <a:lumOff val="50000"/>
                      </a:schemeClr>
                    </a:solidFill>
                  </a:rPr>
                  <a:t>agrupación</a:t>
                </a:r>
                <a:endParaRPr lang="es-ES" altLang="es-ES" sz="800" dirty="0">
                  <a:solidFill>
                    <a:schemeClr val="tx1">
                      <a:lumMod val="50000"/>
                      <a:lumOff val="50000"/>
                    </a:schemeClr>
                  </a:solidFill>
                </a:endParaRPr>
              </a:p>
            </p:txBody>
          </p:sp>
          <p:sp>
            <p:nvSpPr>
              <p:cNvPr id="40" name="Text Box 32">
                <a:extLst>
                  <a:ext uri="{FF2B5EF4-FFF2-40B4-BE49-F238E27FC236}">
                    <a16:creationId xmlns:a16="http://schemas.microsoft.com/office/drawing/2014/main" id="{84DB6E34-71B4-4277-880B-CD799E5F881B}"/>
                  </a:ext>
                </a:extLst>
              </p:cNvPr>
              <p:cNvSpPr txBox="1">
                <a:spLocks noChangeArrowheads="1"/>
              </p:cNvSpPr>
              <p:nvPr/>
            </p:nvSpPr>
            <p:spPr bwMode="auto">
              <a:xfrm>
                <a:off x="6462309" y="2908489"/>
                <a:ext cx="647183" cy="307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defRPr/>
                </a:pPr>
                <a:r>
                  <a:rPr lang="es-ES_tradnl" altLang="es-ES" sz="800" dirty="0">
                    <a:solidFill>
                      <a:schemeClr val="tx1">
                        <a:lumMod val="50000"/>
                        <a:lumOff val="50000"/>
                      </a:schemeClr>
                    </a:solidFill>
                  </a:rPr>
                  <a:t>Variable a</a:t>
                </a:r>
              </a:p>
              <a:p>
                <a:pPr algn="just" eaLnBrk="1" hangingPunct="1">
                  <a:defRPr/>
                </a:pPr>
                <a:r>
                  <a:rPr lang="es-ES_tradnl" altLang="es-ES" sz="800" dirty="0">
                    <a:solidFill>
                      <a:schemeClr val="tx1">
                        <a:lumMod val="50000"/>
                        <a:lumOff val="50000"/>
                      </a:schemeClr>
                    </a:solidFill>
                  </a:rPr>
                  <a:t>comparar</a:t>
                </a:r>
                <a:endParaRPr lang="es-ES" altLang="es-ES" sz="800" dirty="0">
                  <a:solidFill>
                    <a:schemeClr val="tx1">
                      <a:lumMod val="50000"/>
                      <a:lumOff val="50000"/>
                    </a:schemeClr>
                  </a:solidFill>
                </a:endParaRPr>
              </a:p>
            </p:txBody>
          </p:sp>
          <p:sp>
            <p:nvSpPr>
              <p:cNvPr id="42" name="Text Box 36">
                <a:extLst>
                  <a:ext uri="{FF2B5EF4-FFF2-40B4-BE49-F238E27FC236}">
                    <a16:creationId xmlns:a16="http://schemas.microsoft.com/office/drawing/2014/main" id="{D60EEB08-74C7-4177-8E46-A05F4F840075}"/>
                  </a:ext>
                </a:extLst>
              </p:cNvPr>
              <p:cNvSpPr txBox="1">
                <a:spLocks noChangeArrowheads="1"/>
              </p:cNvSpPr>
              <p:nvPr/>
            </p:nvSpPr>
            <p:spPr bwMode="auto">
              <a:xfrm>
                <a:off x="5567065" y="2724861"/>
                <a:ext cx="1673157" cy="238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sz="1100" b="1" dirty="0">
                    <a:solidFill>
                      <a:srgbClr val="005800"/>
                    </a:solidFill>
                  </a:rPr>
                  <a:t>M. independientes</a:t>
                </a:r>
                <a:endParaRPr lang="es-ES_tradnl" altLang="es-ES" sz="1100" b="1" dirty="0">
                  <a:solidFill>
                    <a:srgbClr val="005800"/>
                  </a:solidFill>
                  <a:latin typeface="Symbol" panose="05050102010706020507" pitchFamily="18" charset="2"/>
                </a:endParaRPr>
              </a:p>
            </p:txBody>
          </p:sp>
          <p:cxnSp>
            <p:nvCxnSpPr>
              <p:cNvPr id="44" name="3 Conector recto de flecha">
                <a:extLst>
                  <a:ext uri="{FF2B5EF4-FFF2-40B4-BE49-F238E27FC236}">
                    <a16:creationId xmlns:a16="http://schemas.microsoft.com/office/drawing/2014/main" id="{EEE2B81D-E513-4630-A807-5F8BAEB59159}"/>
                  </a:ext>
                </a:extLst>
              </p:cNvPr>
              <p:cNvCxnSpPr>
                <a:cxnSpLocks noChangeShapeType="1"/>
              </p:cNvCxnSpPr>
              <p:nvPr/>
            </p:nvCxnSpPr>
            <p:spPr bwMode="auto">
              <a:xfrm>
                <a:off x="6248186" y="3199796"/>
                <a:ext cx="34865" cy="132611"/>
              </a:xfrm>
              <a:prstGeom prst="straightConnector1">
                <a:avLst/>
              </a:prstGeom>
              <a:noFill/>
              <a:ln w="9525" algn="ctr">
                <a:solidFill>
                  <a:srgbClr val="C0C0C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41 Conector recto de flecha">
                <a:extLst>
                  <a:ext uri="{FF2B5EF4-FFF2-40B4-BE49-F238E27FC236}">
                    <a16:creationId xmlns:a16="http://schemas.microsoft.com/office/drawing/2014/main" id="{C2538967-54D7-45CF-80E0-EB80CD77295D}"/>
                  </a:ext>
                </a:extLst>
              </p:cNvPr>
              <p:cNvCxnSpPr>
                <a:cxnSpLocks noChangeShapeType="1"/>
              </p:cNvCxnSpPr>
              <p:nvPr/>
            </p:nvCxnSpPr>
            <p:spPr bwMode="auto">
              <a:xfrm>
                <a:off x="6770331" y="3216171"/>
                <a:ext cx="0" cy="122757"/>
              </a:xfrm>
              <a:prstGeom prst="straightConnector1">
                <a:avLst/>
              </a:prstGeom>
              <a:noFill/>
              <a:ln w="9525" algn="ctr">
                <a:solidFill>
                  <a:srgbClr val="C0C0C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35" name="Picture 38">
              <a:extLst>
                <a:ext uri="{FF2B5EF4-FFF2-40B4-BE49-F238E27FC236}">
                  <a16:creationId xmlns:a16="http://schemas.microsoft.com/office/drawing/2014/main" id="{EB6CAB5E-0FF2-4AB5-AA3A-837EFC9692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17851" y="3233193"/>
              <a:ext cx="1239735" cy="23632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Lst>
          </p:spPr>
        </p:pic>
        <p:sp>
          <p:nvSpPr>
            <p:cNvPr id="41" name="Text Box 35">
              <a:extLst>
                <a:ext uri="{FF2B5EF4-FFF2-40B4-BE49-F238E27FC236}">
                  <a16:creationId xmlns:a16="http://schemas.microsoft.com/office/drawing/2014/main" id="{B6A4C23E-AE4E-44FA-BA6C-54B93A5A88C9}"/>
                </a:ext>
              </a:extLst>
            </p:cNvPr>
            <p:cNvSpPr txBox="1">
              <a:spLocks noChangeArrowheads="1"/>
            </p:cNvSpPr>
            <p:nvPr/>
          </p:nvSpPr>
          <p:spPr bwMode="auto">
            <a:xfrm>
              <a:off x="6626346" y="2334928"/>
              <a:ext cx="1833793" cy="393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sz="1100" b="1" dirty="0">
                  <a:solidFill>
                    <a:srgbClr val="005800"/>
                  </a:solidFill>
                </a:rPr>
                <a:t>Formato computacional de las comparaciones</a:t>
              </a:r>
              <a:endParaRPr lang="es-ES_tradnl" altLang="es-ES" sz="1100" b="1" dirty="0">
                <a:solidFill>
                  <a:srgbClr val="005800"/>
                </a:solidFill>
                <a:latin typeface="Symbol" panose="05050102010706020507" pitchFamily="18" charset="2"/>
              </a:endParaRPr>
            </a:p>
          </p:txBody>
        </p:sp>
        <p:sp>
          <p:nvSpPr>
            <p:cNvPr id="43" name="Text Box 37">
              <a:extLst>
                <a:ext uri="{FF2B5EF4-FFF2-40B4-BE49-F238E27FC236}">
                  <a16:creationId xmlns:a16="http://schemas.microsoft.com/office/drawing/2014/main" id="{34DB224B-36B0-4A68-A50E-80A73C7E5DC3}"/>
                </a:ext>
              </a:extLst>
            </p:cNvPr>
            <p:cNvSpPr txBox="1">
              <a:spLocks noChangeArrowheads="1"/>
            </p:cNvSpPr>
            <p:nvPr/>
          </p:nvSpPr>
          <p:spPr bwMode="auto">
            <a:xfrm>
              <a:off x="7668656" y="2730340"/>
              <a:ext cx="1114908" cy="238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sz="1100" b="1">
                  <a:solidFill>
                    <a:srgbClr val="005800"/>
                  </a:solidFill>
                </a:rPr>
                <a:t>M. apareadas</a:t>
              </a:r>
              <a:endParaRPr lang="es-ES_tradnl" altLang="es-ES" sz="1100" b="1">
                <a:solidFill>
                  <a:srgbClr val="005800"/>
                </a:solidFill>
                <a:latin typeface="Symbol" panose="05050102010706020507" pitchFamily="18" charset="2"/>
              </a:endParaRPr>
            </a:p>
          </p:txBody>
        </p:sp>
        <p:sp>
          <p:nvSpPr>
            <p:cNvPr id="46" name="10 Rectángulo redondeado">
              <a:extLst>
                <a:ext uri="{FF2B5EF4-FFF2-40B4-BE49-F238E27FC236}">
                  <a16:creationId xmlns:a16="http://schemas.microsoft.com/office/drawing/2014/main" id="{52C8786A-9D36-4EF7-8B10-26DC827732F5}"/>
                </a:ext>
              </a:extLst>
            </p:cNvPr>
            <p:cNvSpPr>
              <a:spLocks noChangeArrowheads="1"/>
            </p:cNvSpPr>
            <p:nvPr/>
          </p:nvSpPr>
          <p:spPr bwMode="auto">
            <a:xfrm>
              <a:off x="7533749" y="3482408"/>
              <a:ext cx="1408860" cy="69566"/>
            </a:xfrm>
            <a:prstGeom prst="roundRect">
              <a:avLst>
                <a:gd name="adj" fmla="val 16667"/>
              </a:avLst>
            </a:prstGeom>
            <a:solidFill>
              <a:schemeClr val="accent1">
                <a:alpha val="41960"/>
              </a:schemeClr>
            </a:solidFill>
            <a:ln w="9525" algn="ctr">
              <a:solidFill>
                <a:srgbClr val="C0C0C0"/>
              </a:solidFill>
              <a:round/>
              <a:headEnd/>
              <a:tailEnd/>
            </a:ln>
          </p:spPr>
          <p:txBody>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a:p>
          </p:txBody>
        </p:sp>
      </p:grpSp>
      <p:sp>
        <p:nvSpPr>
          <p:cNvPr id="97" name="Text Box 42">
            <a:extLst>
              <a:ext uri="{FF2B5EF4-FFF2-40B4-BE49-F238E27FC236}">
                <a16:creationId xmlns:a16="http://schemas.microsoft.com/office/drawing/2014/main" id="{399FE089-C1C9-4EF8-B754-D0F93115AA79}"/>
              </a:ext>
            </a:extLst>
          </p:cNvPr>
          <p:cNvSpPr txBox="1">
            <a:spLocks noChangeArrowheads="1"/>
          </p:cNvSpPr>
          <p:nvPr/>
        </p:nvSpPr>
        <p:spPr bwMode="auto">
          <a:xfrm>
            <a:off x="239701" y="3810000"/>
            <a:ext cx="534291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19063" indent="-119063">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marL="0" indent="0" algn="just" eaLnBrk="1" hangingPunct="1"/>
            <a:endParaRPr lang="es-ES_tradnl" altLang="es-ES" sz="1400" b="1" dirty="0"/>
          </a:p>
          <a:p>
            <a:pPr algn="just" eaLnBrk="1" hangingPunct="1">
              <a:buFont typeface="Arial" panose="020B0604020202020204" pitchFamily="34" charset="0"/>
              <a:buChar char="•"/>
            </a:pPr>
            <a:r>
              <a:rPr lang="es-ES_tradnl" altLang="es-ES" sz="1400" dirty="0"/>
              <a:t>Como en el caso de las medias</a:t>
            </a:r>
          </a:p>
          <a:p>
            <a:pPr algn="just" eaLnBrk="1" hangingPunct="1">
              <a:buFont typeface="Arial" panose="020B0604020202020204" pitchFamily="34" charset="0"/>
              <a:buChar char="•"/>
            </a:pPr>
            <a:endParaRPr lang="es-ES_tradnl" altLang="es-ES" sz="1400" dirty="0"/>
          </a:p>
          <a:p>
            <a:pPr algn="just" eaLnBrk="1" hangingPunct="1">
              <a:buFont typeface="Arial" panose="020B0604020202020204" pitchFamily="34" charset="0"/>
              <a:buChar char="•"/>
            </a:pPr>
            <a:endParaRPr lang="es-ES_tradnl" altLang="es-ES" sz="1400" dirty="0"/>
          </a:p>
          <a:p>
            <a:pPr algn="just" eaLnBrk="1" hangingPunct="1">
              <a:buFont typeface="Arial" panose="020B0604020202020204" pitchFamily="34" charset="0"/>
              <a:buChar char="•"/>
            </a:pPr>
            <a:endParaRPr lang="es-ES_tradnl" altLang="es-ES" sz="1400" dirty="0"/>
          </a:p>
          <a:p>
            <a:pPr marL="0" indent="0" algn="just" eaLnBrk="1" hangingPunct="1"/>
            <a:r>
              <a:rPr lang="es-ES_tradnl" altLang="es-ES" sz="1400" dirty="0"/>
              <a:t> </a:t>
            </a:r>
          </a:p>
          <a:p>
            <a:pPr marL="0" indent="0" algn="just" eaLnBrk="1" hangingPunct="1"/>
            <a:endParaRPr lang="es-ES_tradnl" altLang="es-ES" sz="1400" dirty="0"/>
          </a:p>
          <a:p>
            <a:pPr marL="0" indent="0" algn="just" eaLnBrk="1" hangingPunct="1"/>
            <a:endParaRPr lang="es-ES_tradnl" altLang="es-ES" sz="1400" dirty="0"/>
          </a:p>
          <a:p>
            <a:pPr algn="just" eaLnBrk="1" hangingPunct="1">
              <a:buFont typeface="Arial" panose="020B0604020202020204" pitchFamily="34" charset="0"/>
              <a:buChar char="•"/>
            </a:pPr>
            <a:r>
              <a:rPr lang="es-ES_tradnl" altLang="es-ES" sz="1400" dirty="0"/>
              <a:t>La inferencia con proporciones siempre </a:t>
            </a:r>
            <a:r>
              <a:rPr lang="es-ES" altLang="es-ES" sz="1400" dirty="0"/>
              <a:t>requiere del cumplimiento de unas </a:t>
            </a:r>
            <a:r>
              <a:rPr lang="es-ES" altLang="es-ES" sz="1400" b="1" dirty="0"/>
              <a:t>condiciones de validez</a:t>
            </a:r>
          </a:p>
          <a:p>
            <a:pPr algn="just" eaLnBrk="1" hangingPunct="1">
              <a:buFont typeface="Arial" panose="020B0604020202020204" pitchFamily="34" charset="0"/>
              <a:buChar char="•"/>
            </a:pPr>
            <a:endParaRPr lang="es-ES" altLang="es-ES" sz="1400" dirty="0"/>
          </a:p>
          <a:p>
            <a:pPr algn="just" eaLnBrk="1" hangingPunct="1">
              <a:buFont typeface="Arial" panose="020B0604020202020204" pitchFamily="34" charset="0"/>
              <a:buChar char="•"/>
            </a:pPr>
            <a:r>
              <a:rPr lang="es-ES" altLang="es-ES" sz="1400" dirty="0"/>
              <a:t>El estadístico de contraste vendrá afectado por una </a:t>
            </a:r>
            <a:r>
              <a:rPr lang="es-ES" altLang="es-ES" sz="1400" dirty="0" err="1"/>
              <a:t>cpc</a:t>
            </a:r>
            <a:r>
              <a:rPr lang="es-ES" altLang="es-ES" sz="1400" dirty="0"/>
              <a:t> </a:t>
            </a:r>
            <a:endParaRPr lang="es-ES_tradnl" altLang="es-ES" sz="1400" dirty="0"/>
          </a:p>
        </p:txBody>
      </p:sp>
      <p:grpSp>
        <p:nvGrpSpPr>
          <p:cNvPr id="30" name="Grupo 29">
            <a:extLst>
              <a:ext uri="{FF2B5EF4-FFF2-40B4-BE49-F238E27FC236}">
                <a16:creationId xmlns:a16="http://schemas.microsoft.com/office/drawing/2014/main" id="{BB3C9F8D-1C48-4158-BB5B-21DED1CE662E}"/>
              </a:ext>
            </a:extLst>
          </p:cNvPr>
          <p:cNvGrpSpPr/>
          <p:nvPr/>
        </p:nvGrpSpPr>
        <p:grpSpPr>
          <a:xfrm>
            <a:off x="66840" y="825500"/>
            <a:ext cx="6074387" cy="2658803"/>
            <a:chOff x="66840" y="825500"/>
            <a:chExt cx="6074387" cy="2658803"/>
          </a:xfrm>
        </p:grpSpPr>
        <p:sp>
          <p:nvSpPr>
            <p:cNvPr id="29" name="Rectángulo 28">
              <a:extLst>
                <a:ext uri="{FF2B5EF4-FFF2-40B4-BE49-F238E27FC236}">
                  <a16:creationId xmlns:a16="http://schemas.microsoft.com/office/drawing/2014/main" id="{6A684E4E-0837-4F0E-B5C3-C18AF75BAC34}"/>
                </a:ext>
              </a:extLst>
            </p:cNvPr>
            <p:cNvSpPr/>
            <p:nvPr/>
          </p:nvSpPr>
          <p:spPr>
            <a:xfrm>
              <a:off x="127614" y="825500"/>
              <a:ext cx="5931063" cy="2468685"/>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22" name="Grupo 21">
              <a:extLst>
                <a:ext uri="{FF2B5EF4-FFF2-40B4-BE49-F238E27FC236}">
                  <a16:creationId xmlns:a16="http://schemas.microsoft.com/office/drawing/2014/main" id="{F297B46B-C483-48DB-A4DC-BE1ACC37E0BE}"/>
                </a:ext>
              </a:extLst>
            </p:cNvPr>
            <p:cNvGrpSpPr/>
            <p:nvPr/>
          </p:nvGrpSpPr>
          <p:grpSpPr>
            <a:xfrm>
              <a:off x="66840" y="3253471"/>
              <a:ext cx="3810000" cy="230832"/>
              <a:chOff x="228600" y="6491288"/>
              <a:chExt cx="3810000" cy="230832"/>
            </a:xfrm>
          </p:grpSpPr>
          <p:sp>
            <p:nvSpPr>
              <p:cNvPr id="8195" name="Text Box 3">
                <a:extLst>
                  <a:ext uri="{FF2B5EF4-FFF2-40B4-BE49-F238E27FC236}">
                    <a16:creationId xmlns:a16="http://schemas.microsoft.com/office/drawing/2014/main" id="{D269BD4F-2254-47D2-940A-14CC0EA77F6E}"/>
                  </a:ext>
                </a:extLst>
              </p:cNvPr>
              <p:cNvSpPr txBox="1">
                <a:spLocks noChangeArrowheads="1"/>
              </p:cNvSpPr>
              <p:nvPr/>
            </p:nvSpPr>
            <p:spPr bwMode="auto">
              <a:xfrm>
                <a:off x="228600" y="6491288"/>
                <a:ext cx="3810000"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900" dirty="0"/>
                  <a:t>* O bien las alternativas unilaterales:                    o </a:t>
                </a:r>
                <a:endParaRPr lang="es-ES" altLang="es-ES" sz="900" dirty="0"/>
              </a:p>
            </p:txBody>
          </p:sp>
          <p:grpSp>
            <p:nvGrpSpPr>
              <p:cNvPr id="21" name="Grupo 20">
                <a:extLst>
                  <a:ext uri="{FF2B5EF4-FFF2-40B4-BE49-F238E27FC236}">
                    <a16:creationId xmlns:a16="http://schemas.microsoft.com/office/drawing/2014/main" id="{94304A2F-E1E7-475B-9A6C-E0F97A692D86}"/>
                  </a:ext>
                </a:extLst>
              </p:cNvPr>
              <p:cNvGrpSpPr/>
              <p:nvPr/>
            </p:nvGrpSpPr>
            <p:grpSpPr>
              <a:xfrm>
                <a:off x="2177223" y="6532415"/>
                <a:ext cx="1324983" cy="189705"/>
                <a:chOff x="2177223" y="6532415"/>
                <a:chExt cx="1324983" cy="189705"/>
              </a:xfrm>
            </p:grpSpPr>
            <p:graphicFrame>
              <p:nvGraphicFramePr>
                <p:cNvPr id="8196" name="Object 4">
                  <a:extLst>
                    <a:ext uri="{FF2B5EF4-FFF2-40B4-BE49-F238E27FC236}">
                      <a16:creationId xmlns:a16="http://schemas.microsoft.com/office/drawing/2014/main" id="{9475C68F-DF89-4CC9-A2CC-B32CC7A88E21}"/>
                    </a:ext>
                  </a:extLst>
                </p:cNvPr>
                <p:cNvGraphicFramePr>
                  <a:graphicFrameLocks noChangeAspect="1"/>
                </p:cNvGraphicFramePr>
                <p:nvPr>
                  <p:extLst>
                    <p:ext uri="{D42A27DB-BD31-4B8C-83A1-F6EECF244321}">
                      <p14:modId xmlns:p14="http://schemas.microsoft.com/office/powerpoint/2010/main" val="1236443725"/>
                    </p:ext>
                  </p:extLst>
                </p:nvPr>
              </p:nvGraphicFramePr>
              <p:xfrm>
                <a:off x="2177223" y="6532827"/>
                <a:ext cx="570418" cy="189293"/>
              </p:xfrm>
              <a:graphic>
                <a:graphicData uri="http://schemas.openxmlformats.org/presentationml/2006/ole">
                  <mc:AlternateContent xmlns:mc="http://schemas.openxmlformats.org/markup-compatibility/2006">
                    <mc:Choice xmlns:v="urn:schemas-microsoft-com:vml" Requires="v">
                      <p:oleObj name="Equation" r:id="rId5" imgW="685800" imgH="228600" progId="Equation.DSMT4">
                        <p:embed/>
                      </p:oleObj>
                    </mc:Choice>
                    <mc:Fallback>
                      <p:oleObj name="Equation" r:id="rId5" imgW="685800" imgH="228600" progId="Equation.DSMT4">
                        <p:embed/>
                        <p:pic>
                          <p:nvPicPr>
                            <p:cNvPr id="8196" name="Object 4">
                              <a:extLst>
                                <a:ext uri="{FF2B5EF4-FFF2-40B4-BE49-F238E27FC236}">
                                  <a16:creationId xmlns:a16="http://schemas.microsoft.com/office/drawing/2014/main" id="{9475C68F-DF89-4CC9-A2CC-B32CC7A88E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77223" y="6532827"/>
                              <a:ext cx="570418" cy="189293"/>
                            </a:xfrm>
                            <a:prstGeom prst="rect">
                              <a:avLst/>
                            </a:prstGeom>
                            <a:noFill/>
                            <a:ln>
                              <a:noFill/>
                            </a:ln>
                            <a:effectLst/>
                          </p:spPr>
                        </p:pic>
                      </p:oleObj>
                    </mc:Fallback>
                  </mc:AlternateContent>
                </a:graphicData>
              </a:graphic>
            </p:graphicFrame>
            <p:graphicFrame>
              <p:nvGraphicFramePr>
                <p:cNvPr id="8197" name="Object 5">
                  <a:extLst>
                    <a:ext uri="{FF2B5EF4-FFF2-40B4-BE49-F238E27FC236}">
                      <a16:creationId xmlns:a16="http://schemas.microsoft.com/office/drawing/2014/main" id="{EBE54D64-F78C-4615-A91F-840C12915CC3}"/>
                    </a:ext>
                  </a:extLst>
                </p:cNvPr>
                <p:cNvGraphicFramePr>
                  <a:graphicFrameLocks noChangeAspect="1"/>
                </p:cNvGraphicFramePr>
                <p:nvPr>
                  <p:extLst>
                    <p:ext uri="{D42A27DB-BD31-4B8C-83A1-F6EECF244321}">
                      <p14:modId xmlns:p14="http://schemas.microsoft.com/office/powerpoint/2010/main" val="2362885398"/>
                    </p:ext>
                  </p:extLst>
                </p:nvPr>
              </p:nvGraphicFramePr>
              <p:xfrm>
                <a:off x="2934328" y="6532415"/>
                <a:ext cx="567878" cy="189293"/>
              </p:xfrm>
              <a:graphic>
                <a:graphicData uri="http://schemas.openxmlformats.org/presentationml/2006/ole">
                  <mc:AlternateContent xmlns:mc="http://schemas.openxmlformats.org/markup-compatibility/2006">
                    <mc:Choice xmlns:v="urn:schemas-microsoft-com:vml" Requires="v">
                      <p:oleObj name="Equation" r:id="rId7" imgW="685800" imgH="228600" progId="Equation.DSMT4">
                        <p:embed/>
                      </p:oleObj>
                    </mc:Choice>
                    <mc:Fallback>
                      <p:oleObj name="Equation" r:id="rId7" imgW="685800" imgH="228600" progId="Equation.DSMT4">
                        <p:embed/>
                        <p:pic>
                          <p:nvPicPr>
                            <p:cNvPr id="8197" name="Object 5">
                              <a:extLst>
                                <a:ext uri="{FF2B5EF4-FFF2-40B4-BE49-F238E27FC236}">
                                  <a16:creationId xmlns:a16="http://schemas.microsoft.com/office/drawing/2014/main" id="{EBE54D64-F78C-4615-A91F-840C12915CC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34328" y="6532415"/>
                              <a:ext cx="567878" cy="189293"/>
                            </a:xfrm>
                            <a:prstGeom prst="rect">
                              <a:avLst/>
                            </a:prstGeom>
                            <a:noFill/>
                            <a:ln>
                              <a:noFill/>
                            </a:ln>
                            <a:effectLst/>
                          </p:spPr>
                        </p:pic>
                      </p:oleObj>
                    </mc:Fallback>
                  </mc:AlternateContent>
                </a:graphicData>
              </a:graphic>
            </p:graphicFrame>
          </p:grpSp>
        </p:grpSp>
        <p:sp>
          <p:nvSpPr>
            <p:cNvPr id="8203" name="Rectangle 17">
              <a:extLst>
                <a:ext uri="{FF2B5EF4-FFF2-40B4-BE49-F238E27FC236}">
                  <a16:creationId xmlns:a16="http://schemas.microsoft.com/office/drawing/2014/main" id="{5176389C-BC1F-4BCF-8889-1066EB479F82}"/>
                </a:ext>
              </a:extLst>
            </p:cNvPr>
            <p:cNvSpPr>
              <a:spLocks noChangeArrowheads="1"/>
            </p:cNvSpPr>
            <p:nvPr/>
          </p:nvSpPr>
          <p:spPr bwMode="auto">
            <a:xfrm>
              <a:off x="139701" y="1170009"/>
              <a:ext cx="1033462" cy="2076448"/>
            </a:xfrm>
            <a:prstGeom prst="rect">
              <a:avLst/>
            </a:prstGeom>
            <a:solidFill>
              <a:srgbClr val="C0C0C0">
                <a:alpha val="2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sz="1100"/>
            </a:p>
          </p:txBody>
        </p:sp>
        <p:sp>
          <p:nvSpPr>
            <p:cNvPr id="8204" name="Text Box 18">
              <a:extLst>
                <a:ext uri="{FF2B5EF4-FFF2-40B4-BE49-F238E27FC236}">
                  <a16:creationId xmlns:a16="http://schemas.microsoft.com/office/drawing/2014/main" id="{A72B8621-F57A-46F2-933E-96F6D014B346}"/>
                </a:ext>
              </a:extLst>
            </p:cNvPr>
            <p:cNvSpPr txBox="1">
              <a:spLocks noChangeArrowheads="1"/>
            </p:cNvSpPr>
            <p:nvPr/>
          </p:nvSpPr>
          <p:spPr bwMode="auto">
            <a:xfrm>
              <a:off x="139700" y="884834"/>
              <a:ext cx="103346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dirty="0"/>
                <a:t>Hipótesis</a:t>
              </a:r>
              <a:endParaRPr lang="es-ES" altLang="es-ES" dirty="0"/>
            </a:p>
          </p:txBody>
        </p:sp>
        <p:sp>
          <p:nvSpPr>
            <p:cNvPr id="8205" name="Text Box 20">
              <a:extLst>
                <a:ext uri="{FF2B5EF4-FFF2-40B4-BE49-F238E27FC236}">
                  <a16:creationId xmlns:a16="http://schemas.microsoft.com/office/drawing/2014/main" id="{ABBD229C-2208-4D92-993B-13E958C0780D}"/>
                </a:ext>
              </a:extLst>
            </p:cNvPr>
            <p:cNvSpPr txBox="1">
              <a:spLocks noChangeArrowheads="1"/>
            </p:cNvSpPr>
            <p:nvPr/>
          </p:nvSpPr>
          <p:spPr bwMode="auto">
            <a:xfrm>
              <a:off x="533400" y="2514600"/>
              <a:ext cx="319088"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900" dirty="0"/>
                <a:t>(*)</a:t>
              </a:r>
              <a:endParaRPr lang="es-ES" altLang="es-ES" sz="900" dirty="0"/>
            </a:p>
          </p:txBody>
        </p:sp>
        <p:sp>
          <p:nvSpPr>
            <p:cNvPr id="8222" name="Freeform 21">
              <a:extLst>
                <a:ext uri="{FF2B5EF4-FFF2-40B4-BE49-F238E27FC236}">
                  <a16:creationId xmlns:a16="http://schemas.microsoft.com/office/drawing/2014/main" id="{2915B648-B76E-47DA-9594-166E740742F8}"/>
                </a:ext>
              </a:extLst>
            </p:cNvPr>
            <p:cNvSpPr>
              <a:spLocks/>
            </p:cNvSpPr>
            <p:nvPr/>
          </p:nvSpPr>
          <p:spPr bwMode="auto">
            <a:xfrm>
              <a:off x="1209675" y="1785103"/>
              <a:ext cx="179388" cy="904875"/>
            </a:xfrm>
            <a:custGeom>
              <a:avLst/>
              <a:gdLst>
                <a:gd name="T0" fmla="*/ 104 w 113"/>
                <a:gd name="T1" fmla="*/ 0 h 1524"/>
                <a:gd name="T2" fmla="*/ 0 w 113"/>
                <a:gd name="T3" fmla="*/ 0 h 1524"/>
                <a:gd name="T4" fmla="*/ 0 w 113"/>
                <a:gd name="T5" fmla="*/ 1230 h 1524"/>
                <a:gd name="T6" fmla="*/ 113 w 113"/>
                <a:gd name="T7" fmla="*/ 1230 h 15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3" h="1524">
                  <a:moveTo>
                    <a:pt x="104" y="0"/>
                  </a:moveTo>
                  <a:lnTo>
                    <a:pt x="0" y="0"/>
                  </a:lnTo>
                  <a:lnTo>
                    <a:pt x="0" y="1524"/>
                  </a:lnTo>
                  <a:lnTo>
                    <a:pt x="113" y="1524"/>
                  </a:lnTo>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sz="1100"/>
            </a:p>
          </p:txBody>
        </p:sp>
        <p:sp>
          <p:nvSpPr>
            <p:cNvPr id="8223" name="Line 23">
              <a:extLst>
                <a:ext uri="{FF2B5EF4-FFF2-40B4-BE49-F238E27FC236}">
                  <a16:creationId xmlns:a16="http://schemas.microsoft.com/office/drawing/2014/main" id="{5AF863DE-61AD-4610-AAF7-EAF4C81CDDC4}"/>
                </a:ext>
              </a:extLst>
            </p:cNvPr>
            <p:cNvSpPr>
              <a:spLocks noChangeShapeType="1"/>
            </p:cNvSpPr>
            <p:nvPr/>
          </p:nvSpPr>
          <p:spPr bwMode="auto">
            <a:xfrm>
              <a:off x="1130300" y="2236316"/>
              <a:ext cx="7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sz="1100"/>
            </a:p>
          </p:txBody>
        </p:sp>
        <p:sp>
          <p:nvSpPr>
            <p:cNvPr id="8207" name="Text Box 26">
              <a:extLst>
                <a:ext uri="{FF2B5EF4-FFF2-40B4-BE49-F238E27FC236}">
                  <a16:creationId xmlns:a16="http://schemas.microsoft.com/office/drawing/2014/main" id="{292FB94D-3274-4445-B498-2D2791C3F1AC}"/>
                </a:ext>
              </a:extLst>
            </p:cNvPr>
            <p:cNvSpPr txBox="1">
              <a:spLocks noChangeArrowheads="1"/>
            </p:cNvSpPr>
            <p:nvPr/>
          </p:nvSpPr>
          <p:spPr bwMode="auto">
            <a:xfrm>
              <a:off x="1389063" y="884834"/>
              <a:ext cx="10956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dirty="0"/>
                <a:t>Diseño</a:t>
              </a:r>
              <a:endParaRPr lang="es-ES" altLang="es-ES" dirty="0"/>
            </a:p>
          </p:txBody>
        </p:sp>
        <p:sp>
          <p:nvSpPr>
            <p:cNvPr id="8208" name="Rectangle 27">
              <a:extLst>
                <a:ext uri="{FF2B5EF4-FFF2-40B4-BE49-F238E27FC236}">
                  <a16:creationId xmlns:a16="http://schemas.microsoft.com/office/drawing/2014/main" id="{8EAB79BF-7D40-4770-93DB-9C43E9E8220C}"/>
                </a:ext>
              </a:extLst>
            </p:cNvPr>
            <p:cNvSpPr>
              <a:spLocks noChangeArrowheads="1"/>
            </p:cNvSpPr>
            <p:nvPr/>
          </p:nvSpPr>
          <p:spPr bwMode="auto">
            <a:xfrm>
              <a:off x="1368425" y="1170009"/>
              <a:ext cx="1133475" cy="2076448"/>
            </a:xfrm>
            <a:prstGeom prst="rect">
              <a:avLst/>
            </a:prstGeom>
            <a:solidFill>
              <a:srgbClr val="C0C0C0">
                <a:alpha val="2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sz="1100"/>
            </a:p>
          </p:txBody>
        </p:sp>
        <p:sp>
          <p:nvSpPr>
            <p:cNvPr id="8211" name="Text Box 38">
              <a:extLst>
                <a:ext uri="{FF2B5EF4-FFF2-40B4-BE49-F238E27FC236}">
                  <a16:creationId xmlns:a16="http://schemas.microsoft.com/office/drawing/2014/main" id="{A4B6F7F5-500C-4B59-9052-D660E288B058}"/>
                </a:ext>
              </a:extLst>
            </p:cNvPr>
            <p:cNvSpPr txBox="1">
              <a:spLocks noChangeArrowheads="1"/>
            </p:cNvSpPr>
            <p:nvPr/>
          </p:nvSpPr>
          <p:spPr bwMode="auto">
            <a:xfrm>
              <a:off x="2700587" y="884834"/>
              <a:ext cx="134277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dirty="0"/>
                <a:t>Supuestos</a:t>
              </a:r>
              <a:endParaRPr lang="es-ES" altLang="es-ES" dirty="0"/>
            </a:p>
          </p:txBody>
        </p:sp>
        <p:graphicFrame>
          <p:nvGraphicFramePr>
            <p:cNvPr id="8215" name="47 Objeto">
              <a:extLst>
                <a:ext uri="{FF2B5EF4-FFF2-40B4-BE49-F238E27FC236}">
                  <a16:creationId xmlns:a16="http://schemas.microsoft.com/office/drawing/2014/main" id="{7387C988-9D26-492F-BB43-8D46DF356F37}"/>
                </a:ext>
              </a:extLst>
            </p:cNvPr>
            <p:cNvGraphicFramePr>
              <a:graphicFrameLocks noChangeAspect="1"/>
            </p:cNvGraphicFramePr>
            <p:nvPr>
              <p:extLst>
                <p:ext uri="{D42A27DB-BD31-4B8C-83A1-F6EECF244321}">
                  <p14:modId xmlns:p14="http://schemas.microsoft.com/office/powerpoint/2010/main" val="1796229693"/>
                </p:ext>
              </p:extLst>
            </p:nvPr>
          </p:nvGraphicFramePr>
          <p:xfrm>
            <a:off x="179377" y="1951058"/>
            <a:ext cx="950923" cy="549028"/>
          </p:xfrm>
          <a:graphic>
            <a:graphicData uri="http://schemas.openxmlformats.org/presentationml/2006/ole">
              <mc:AlternateContent xmlns:mc="http://schemas.openxmlformats.org/markup-compatibility/2006">
                <mc:Choice xmlns:v="urn:schemas-microsoft-com:vml" Requires="v">
                  <p:oleObj name="Equation" r:id="rId9" imgW="837836" imgH="482391" progId="Equation.DSMT4">
                    <p:embed/>
                  </p:oleObj>
                </mc:Choice>
                <mc:Fallback>
                  <p:oleObj name="Equation" r:id="rId9" imgW="837836" imgH="482391" progId="Equation.DSMT4">
                    <p:embed/>
                    <p:pic>
                      <p:nvPicPr>
                        <p:cNvPr id="8215" name="47 Objeto">
                          <a:extLst>
                            <a:ext uri="{FF2B5EF4-FFF2-40B4-BE49-F238E27FC236}">
                              <a16:creationId xmlns:a16="http://schemas.microsoft.com/office/drawing/2014/main" id="{7387C988-9D26-492F-BB43-8D46DF356F3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9377" y="1951058"/>
                          <a:ext cx="950923" cy="549028"/>
                        </a:xfrm>
                        <a:prstGeom prst="rect">
                          <a:avLst/>
                        </a:prstGeom>
                        <a:noFill/>
                        <a:ln>
                          <a:noFill/>
                        </a:ln>
                      </p:spPr>
                    </p:pic>
                  </p:oleObj>
                </mc:Fallback>
              </mc:AlternateContent>
            </a:graphicData>
          </a:graphic>
        </p:graphicFrame>
        <p:sp>
          <p:nvSpPr>
            <p:cNvPr id="8210" name="Text Box 29">
              <a:extLst>
                <a:ext uri="{FF2B5EF4-FFF2-40B4-BE49-F238E27FC236}">
                  <a16:creationId xmlns:a16="http://schemas.microsoft.com/office/drawing/2014/main" id="{7AE06FBB-ABFC-4763-A896-D7EEAF7B18B2}"/>
                </a:ext>
              </a:extLst>
            </p:cNvPr>
            <p:cNvSpPr txBox="1">
              <a:spLocks noChangeArrowheads="1"/>
            </p:cNvSpPr>
            <p:nvPr/>
          </p:nvSpPr>
          <p:spPr bwMode="auto">
            <a:xfrm>
              <a:off x="1358900" y="1619101"/>
              <a:ext cx="135255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100" dirty="0"/>
                <a:t>2 Muestras independientes</a:t>
              </a:r>
              <a:endParaRPr lang="es-ES" altLang="es-ES" sz="1100" dirty="0"/>
            </a:p>
          </p:txBody>
        </p:sp>
        <p:sp>
          <p:nvSpPr>
            <p:cNvPr id="8209" name="Text Box 28">
              <a:extLst>
                <a:ext uri="{FF2B5EF4-FFF2-40B4-BE49-F238E27FC236}">
                  <a16:creationId xmlns:a16="http://schemas.microsoft.com/office/drawing/2014/main" id="{62BAAC6B-13D4-4ADC-B663-FED4F669DBCA}"/>
                </a:ext>
              </a:extLst>
            </p:cNvPr>
            <p:cNvSpPr txBox="1">
              <a:spLocks noChangeArrowheads="1"/>
            </p:cNvSpPr>
            <p:nvPr/>
          </p:nvSpPr>
          <p:spPr bwMode="auto">
            <a:xfrm>
              <a:off x="1358900" y="2499478"/>
              <a:ext cx="10668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100" dirty="0"/>
                <a:t>2 Muestras relacionadas</a:t>
              </a:r>
              <a:endParaRPr lang="es-ES" altLang="es-ES" sz="1100" dirty="0"/>
            </a:p>
          </p:txBody>
        </p:sp>
        <p:grpSp>
          <p:nvGrpSpPr>
            <p:cNvPr id="13" name="Grupo 12">
              <a:extLst>
                <a:ext uri="{FF2B5EF4-FFF2-40B4-BE49-F238E27FC236}">
                  <a16:creationId xmlns:a16="http://schemas.microsoft.com/office/drawing/2014/main" id="{8C59C094-825D-42F5-A4B7-A10ECE71875A}"/>
                </a:ext>
              </a:extLst>
            </p:cNvPr>
            <p:cNvGrpSpPr/>
            <p:nvPr/>
          </p:nvGrpSpPr>
          <p:grpSpPr>
            <a:xfrm>
              <a:off x="4017968" y="1641631"/>
              <a:ext cx="304176" cy="646331"/>
              <a:chOff x="4039224" y="1621536"/>
              <a:chExt cx="631825" cy="646331"/>
            </a:xfrm>
          </p:grpSpPr>
          <p:sp>
            <p:nvSpPr>
              <p:cNvPr id="8220" name="Line 58">
                <a:extLst>
                  <a:ext uri="{FF2B5EF4-FFF2-40B4-BE49-F238E27FC236}">
                    <a16:creationId xmlns:a16="http://schemas.microsoft.com/office/drawing/2014/main" id="{C8294E22-4A4C-4ADE-BA1E-0EFC35F8EEA5}"/>
                  </a:ext>
                </a:extLst>
              </p:cNvPr>
              <p:cNvSpPr>
                <a:spLocks noChangeShapeType="1"/>
              </p:cNvSpPr>
              <p:nvPr/>
            </p:nvSpPr>
            <p:spPr bwMode="auto">
              <a:xfrm flipV="1">
                <a:off x="4039224" y="1621536"/>
                <a:ext cx="631825" cy="26930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sz="1100"/>
              </a:p>
            </p:txBody>
          </p:sp>
          <p:sp>
            <p:nvSpPr>
              <p:cNvPr id="8221" name="Line 58">
                <a:extLst>
                  <a:ext uri="{FF2B5EF4-FFF2-40B4-BE49-F238E27FC236}">
                    <a16:creationId xmlns:a16="http://schemas.microsoft.com/office/drawing/2014/main" id="{C2C76B0B-2156-4A46-8897-AC3E638F8529}"/>
                  </a:ext>
                </a:extLst>
              </p:cNvPr>
              <p:cNvSpPr>
                <a:spLocks noChangeShapeType="1"/>
              </p:cNvSpPr>
              <p:nvPr/>
            </p:nvSpPr>
            <p:spPr bwMode="auto">
              <a:xfrm>
                <a:off x="4039224" y="1890841"/>
                <a:ext cx="631825" cy="37702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sz="1100"/>
              </a:p>
            </p:txBody>
          </p:sp>
        </p:grpSp>
        <p:sp>
          <p:nvSpPr>
            <p:cNvPr id="8212" name="Text Box 40">
              <a:extLst>
                <a:ext uri="{FF2B5EF4-FFF2-40B4-BE49-F238E27FC236}">
                  <a16:creationId xmlns:a16="http://schemas.microsoft.com/office/drawing/2014/main" id="{5255BFDB-16F8-4B33-B7B6-A6A71E889303}"/>
                </a:ext>
              </a:extLst>
            </p:cNvPr>
            <p:cNvSpPr txBox="1">
              <a:spLocks noChangeArrowheads="1"/>
            </p:cNvSpPr>
            <p:nvPr/>
          </p:nvSpPr>
          <p:spPr bwMode="auto">
            <a:xfrm>
              <a:off x="2833519" y="1707015"/>
              <a:ext cx="1083467"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 altLang="es-ES" sz="1100" dirty="0"/>
                <a:t>Deben verificarse las </a:t>
              </a:r>
              <a:r>
                <a:rPr lang="es-ES" altLang="es-ES" sz="1100" b="1" dirty="0"/>
                <a:t>condiciones de validez</a:t>
              </a:r>
              <a:r>
                <a:rPr lang="es-ES" altLang="es-ES" sz="1100" dirty="0"/>
                <a:t> propias de cada test</a:t>
              </a:r>
            </a:p>
          </p:txBody>
        </p:sp>
        <p:grpSp>
          <p:nvGrpSpPr>
            <p:cNvPr id="11" name="Grupo 10">
              <a:extLst>
                <a:ext uri="{FF2B5EF4-FFF2-40B4-BE49-F238E27FC236}">
                  <a16:creationId xmlns:a16="http://schemas.microsoft.com/office/drawing/2014/main" id="{39EF7C92-EB9A-489A-910D-F5506C448341}"/>
                </a:ext>
              </a:extLst>
            </p:cNvPr>
            <p:cNvGrpSpPr/>
            <p:nvPr/>
          </p:nvGrpSpPr>
          <p:grpSpPr>
            <a:xfrm>
              <a:off x="2720975" y="1179624"/>
              <a:ext cx="1322387" cy="2076448"/>
              <a:chOff x="3228351" y="1295308"/>
              <a:chExt cx="1322387" cy="2076448"/>
            </a:xfrm>
          </p:grpSpPr>
          <p:sp>
            <p:nvSpPr>
              <p:cNvPr id="8194" name="Rectangle 27">
                <a:extLst>
                  <a:ext uri="{FF2B5EF4-FFF2-40B4-BE49-F238E27FC236}">
                    <a16:creationId xmlns:a16="http://schemas.microsoft.com/office/drawing/2014/main" id="{1BFF97B6-7798-4021-AD18-CA7C58DA2FFA}"/>
                  </a:ext>
                </a:extLst>
              </p:cNvPr>
              <p:cNvSpPr>
                <a:spLocks noChangeArrowheads="1"/>
              </p:cNvSpPr>
              <p:nvPr/>
            </p:nvSpPr>
            <p:spPr bwMode="auto">
              <a:xfrm>
                <a:off x="3228351" y="1295308"/>
                <a:ext cx="1322387" cy="2076448"/>
              </a:xfrm>
              <a:prstGeom prst="rect">
                <a:avLst/>
              </a:prstGeom>
              <a:solidFill>
                <a:srgbClr val="C0C0C0">
                  <a:alpha val="2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sz="1100"/>
              </a:p>
            </p:txBody>
          </p:sp>
          <p:sp>
            <p:nvSpPr>
              <p:cNvPr id="8218" name="Rectangle 76">
                <a:extLst>
                  <a:ext uri="{FF2B5EF4-FFF2-40B4-BE49-F238E27FC236}">
                    <a16:creationId xmlns:a16="http://schemas.microsoft.com/office/drawing/2014/main" id="{C533D1F8-597A-4AAF-8BC1-01F52467030E}"/>
                  </a:ext>
                </a:extLst>
              </p:cNvPr>
              <p:cNvSpPr>
                <a:spLocks noChangeArrowheads="1"/>
              </p:cNvSpPr>
              <p:nvPr/>
            </p:nvSpPr>
            <p:spPr bwMode="auto">
              <a:xfrm>
                <a:off x="3279944" y="1617176"/>
                <a:ext cx="1219200" cy="1432713"/>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sz="1100"/>
              </a:p>
            </p:txBody>
          </p:sp>
        </p:grpSp>
        <p:grpSp>
          <p:nvGrpSpPr>
            <p:cNvPr id="20" name="Grupo 19">
              <a:extLst>
                <a:ext uri="{FF2B5EF4-FFF2-40B4-BE49-F238E27FC236}">
                  <a16:creationId xmlns:a16="http://schemas.microsoft.com/office/drawing/2014/main" id="{FB574D1B-92FD-4429-A466-EA07C61376A3}"/>
                </a:ext>
              </a:extLst>
            </p:cNvPr>
            <p:cNvGrpSpPr/>
            <p:nvPr/>
          </p:nvGrpSpPr>
          <p:grpSpPr>
            <a:xfrm>
              <a:off x="4102725" y="884834"/>
              <a:ext cx="2038502" cy="2361624"/>
              <a:chOff x="4115425" y="991176"/>
              <a:chExt cx="2038502" cy="2361624"/>
            </a:xfrm>
          </p:grpSpPr>
          <p:sp>
            <p:nvSpPr>
              <p:cNvPr id="8198" name="Rectangle 9">
                <a:extLst>
                  <a:ext uri="{FF2B5EF4-FFF2-40B4-BE49-F238E27FC236}">
                    <a16:creationId xmlns:a16="http://schemas.microsoft.com/office/drawing/2014/main" id="{48C47C7F-7B68-4306-860E-A7A98CFE44D1}"/>
                  </a:ext>
                </a:extLst>
              </p:cNvPr>
              <p:cNvSpPr>
                <a:spLocks noChangeArrowheads="1"/>
              </p:cNvSpPr>
              <p:nvPr/>
            </p:nvSpPr>
            <p:spPr bwMode="auto">
              <a:xfrm>
                <a:off x="4343400" y="1285966"/>
                <a:ext cx="1670050" cy="2066834"/>
              </a:xfrm>
              <a:prstGeom prst="rect">
                <a:avLst/>
              </a:prstGeom>
              <a:solidFill>
                <a:srgbClr val="C0C0C0">
                  <a:alpha val="2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sz="1100" dirty="0"/>
              </a:p>
            </p:txBody>
          </p:sp>
          <p:sp>
            <p:nvSpPr>
              <p:cNvPr id="8199" name="Text Box 10">
                <a:extLst>
                  <a:ext uri="{FF2B5EF4-FFF2-40B4-BE49-F238E27FC236}">
                    <a16:creationId xmlns:a16="http://schemas.microsoft.com/office/drawing/2014/main" id="{ABC22C3C-DCD0-44DC-A1BF-D0D997D47748}"/>
                  </a:ext>
                </a:extLst>
              </p:cNvPr>
              <p:cNvSpPr txBox="1">
                <a:spLocks noChangeArrowheads="1"/>
              </p:cNvSpPr>
              <p:nvPr/>
            </p:nvSpPr>
            <p:spPr bwMode="auto">
              <a:xfrm>
                <a:off x="4343400" y="991176"/>
                <a:ext cx="167005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dirty="0"/>
                  <a:t>Método</a:t>
                </a:r>
                <a:endParaRPr lang="es-ES" altLang="es-ES" dirty="0"/>
              </a:p>
            </p:txBody>
          </p:sp>
          <p:sp>
            <p:nvSpPr>
              <p:cNvPr id="8200" name="Text Box 11">
                <a:extLst>
                  <a:ext uri="{FF2B5EF4-FFF2-40B4-BE49-F238E27FC236}">
                    <a16:creationId xmlns:a16="http://schemas.microsoft.com/office/drawing/2014/main" id="{4ADDAA98-3492-4021-B0F9-063534EBDD39}"/>
                  </a:ext>
                </a:extLst>
              </p:cNvPr>
              <p:cNvSpPr txBox="1">
                <a:spLocks noChangeArrowheads="1"/>
              </p:cNvSpPr>
              <p:nvPr/>
            </p:nvSpPr>
            <p:spPr bwMode="auto">
              <a:xfrm>
                <a:off x="4401327" y="1447801"/>
                <a:ext cx="1752600"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100" b="1" dirty="0"/>
                  <a:t>Test de comparación de dos</a:t>
                </a:r>
                <a:r>
                  <a:rPr lang="es-ES" altLang="es-ES" sz="1100" b="1" dirty="0"/>
                  <a:t> proporciones independientes</a:t>
                </a:r>
                <a:endParaRPr lang="es-ES_tradnl" altLang="es-ES" sz="1100" dirty="0"/>
              </a:p>
            </p:txBody>
          </p:sp>
          <p:sp>
            <p:nvSpPr>
              <p:cNvPr id="8201" name="Text Box 12">
                <a:extLst>
                  <a:ext uri="{FF2B5EF4-FFF2-40B4-BE49-F238E27FC236}">
                    <a16:creationId xmlns:a16="http://schemas.microsoft.com/office/drawing/2014/main" id="{382D1104-369E-43EA-8921-FBFD34CE125B}"/>
                  </a:ext>
                </a:extLst>
              </p:cNvPr>
              <p:cNvSpPr txBox="1">
                <a:spLocks noChangeArrowheads="1"/>
              </p:cNvSpPr>
              <p:nvPr/>
            </p:nvSpPr>
            <p:spPr bwMode="auto">
              <a:xfrm>
                <a:off x="4401327" y="2177196"/>
                <a:ext cx="167005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100" b="1" dirty="0"/>
                  <a:t>Test de homogeneidad </a:t>
                </a:r>
                <a:r>
                  <a:rPr lang="es-ES_tradnl" altLang="es-ES" sz="1100" b="1" dirty="0">
                    <a:latin typeface="Symbol" panose="05050102010706020507" pitchFamily="18" charset="2"/>
                  </a:rPr>
                  <a:t>c</a:t>
                </a:r>
                <a:r>
                  <a:rPr lang="es-ES_tradnl" altLang="es-ES" sz="1100" b="1" baseline="30000" dirty="0"/>
                  <a:t>2</a:t>
                </a:r>
              </a:p>
            </p:txBody>
          </p:sp>
          <p:sp>
            <p:nvSpPr>
              <p:cNvPr id="8202" name="Text Box 14">
                <a:extLst>
                  <a:ext uri="{FF2B5EF4-FFF2-40B4-BE49-F238E27FC236}">
                    <a16:creationId xmlns:a16="http://schemas.microsoft.com/office/drawing/2014/main" id="{2CB23209-12B9-42F5-97B1-7520C3625E74}"/>
                  </a:ext>
                </a:extLst>
              </p:cNvPr>
              <p:cNvSpPr txBox="1">
                <a:spLocks noChangeArrowheads="1"/>
              </p:cNvSpPr>
              <p:nvPr/>
            </p:nvSpPr>
            <p:spPr bwMode="auto">
              <a:xfrm>
                <a:off x="4407677" y="2773302"/>
                <a:ext cx="167005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100" b="1" dirty="0"/>
                  <a:t>Test de </a:t>
                </a:r>
                <a:r>
                  <a:rPr lang="es-ES_tradnl" altLang="es-ES" sz="1100" b="1" dirty="0" err="1"/>
                  <a:t>McNemar</a:t>
                </a:r>
                <a:endParaRPr lang="es-ES_tradnl" altLang="es-ES" sz="1100" b="1" dirty="0"/>
              </a:p>
            </p:txBody>
          </p:sp>
          <p:sp>
            <p:nvSpPr>
              <p:cNvPr id="8219" name="Line 60">
                <a:extLst>
                  <a:ext uri="{FF2B5EF4-FFF2-40B4-BE49-F238E27FC236}">
                    <a16:creationId xmlns:a16="http://schemas.microsoft.com/office/drawing/2014/main" id="{239BC2CE-1FAB-474D-A4F8-CB80AB999431}"/>
                  </a:ext>
                </a:extLst>
              </p:cNvPr>
              <p:cNvSpPr>
                <a:spLocks noChangeShapeType="1"/>
              </p:cNvSpPr>
              <p:nvPr/>
            </p:nvSpPr>
            <p:spPr bwMode="auto">
              <a:xfrm>
                <a:off x="4115425" y="2825078"/>
                <a:ext cx="227976" cy="934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sz="1100"/>
              </a:p>
            </p:txBody>
          </p:sp>
        </p:grpSp>
        <p:grpSp>
          <p:nvGrpSpPr>
            <p:cNvPr id="10" name="Grupo 9">
              <a:extLst>
                <a:ext uri="{FF2B5EF4-FFF2-40B4-BE49-F238E27FC236}">
                  <a16:creationId xmlns:a16="http://schemas.microsoft.com/office/drawing/2014/main" id="{185FC575-F7FC-4EDA-AE2B-68CCB82E3006}"/>
                </a:ext>
              </a:extLst>
            </p:cNvPr>
            <p:cNvGrpSpPr/>
            <p:nvPr/>
          </p:nvGrpSpPr>
          <p:grpSpPr>
            <a:xfrm>
              <a:off x="2425700" y="1847701"/>
              <a:ext cx="406592" cy="880377"/>
              <a:chOff x="2667000" y="1954043"/>
              <a:chExt cx="533400" cy="880377"/>
            </a:xfrm>
          </p:grpSpPr>
          <p:sp>
            <p:nvSpPr>
              <p:cNvPr id="8213" name="Line 60">
                <a:extLst>
                  <a:ext uri="{FF2B5EF4-FFF2-40B4-BE49-F238E27FC236}">
                    <a16:creationId xmlns:a16="http://schemas.microsoft.com/office/drawing/2014/main" id="{5C751B58-983B-467A-BE08-EE2A30B05E6E}"/>
                  </a:ext>
                </a:extLst>
              </p:cNvPr>
              <p:cNvSpPr>
                <a:spLocks noChangeShapeType="1"/>
              </p:cNvSpPr>
              <p:nvPr/>
            </p:nvSpPr>
            <p:spPr bwMode="auto">
              <a:xfrm>
                <a:off x="2667000" y="1954043"/>
                <a:ext cx="533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sz="1100"/>
              </a:p>
            </p:txBody>
          </p:sp>
          <p:sp>
            <p:nvSpPr>
              <p:cNvPr id="8216" name="Line 60">
                <a:extLst>
                  <a:ext uri="{FF2B5EF4-FFF2-40B4-BE49-F238E27FC236}">
                    <a16:creationId xmlns:a16="http://schemas.microsoft.com/office/drawing/2014/main" id="{9EB72B81-AF43-49C9-991D-23CD7EBBA0D5}"/>
                  </a:ext>
                </a:extLst>
              </p:cNvPr>
              <p:cNvSpPr>
                <a:spLocks noChangeShapeType="1"/>
              </p:cNvSpPr>
              <p:nvPr/>
            </p:nvSpPr>
            <p:spPr bwMode="auto">
              <a:xfrm>
                <a:off x="2667000" y="2834420"/>
                <a:ext cx="533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sz="1100"/>
              </a:p>
            </p:txBody>
          </p:sp>
        </p:grpSp>
      </p:grpSp>
      <p:grpSp>
        <p:nvGrpSpPr>
          <p:cNvPr id="28" name="Grupo 27">
            <a:extLst>
              <a:ext uri="{FF2B5EF4-FFF2-40B4-BE49-F238E27FC236}">
                <a16:creationId xmlns:a16="http://schemas.microsoft.com/office/drawing/2014/main" id="{73D3B7F8-05F6-4CC9-8009-7E39D1BAD30D}"/>
              </a:ext>
            </a:extLst>
          </p:cNvPr>
          <p:cNvGrpSpPr/>
          <p:nvPr/>
        </p:nvGrpSpPr>
        <p:grpSpPr>
          <a:xfrm>
            <a:off x="401627" y="4413801"/>
            <a:ext cx="4531999" cy="628650"/>
            <a:chOff x="401627" y="4718601"/>
            <a:chExt cx="4531999" cy="628650"/>
          </a:xfrm>
        </p:grpSpPr>
        <p:graphicFrame>
          <p:nvGraphicFramePr>
            <p:cNvPr id="24" name="Objeto 23">
              <a:extLst>
                <a:ext uri="{FF2B5EF4-FFF2-40B4-BE49-F238E27FC236}">
                  <a16:creationId xmlns:a16="http://schemas.microsoft.com/office/drawing/2014/main" id="{7F8380C0-C149-4ED1-A0B9-39644604F75B}"/>
                </a:ext>
              </a:extLst>
            </p:cNvPr>
            <p:cNvGraphicFramePr>
              <a:graphicFrameLocks noChangeAspect="1"/>
            </p:cNvGraphicFramePr>
            <p:nvPr>
              <p:extLst>
                <p:ext uri="{D42A27DB-BD31-4B8C-83A1-F6EECF244321}">
                  <p14:modId xmlns:p14="http://schemas.microsoft.com/office/powerpoint/2010/main" val="1281286059"/>
                </p:ext>
              </p:extLst>
            </p:nvPr>
          </p:nvGraphicFramePr>
          <p:xfrm>
            <a:off x="401627" y="4718601"/>
            <a:ext cx="2257425" cy="628650"/>
          </p:xfrm>
          <a:graphic>
            <a:graphicData uri="http://schemas.openxmlformats.org/presentationml/2006/ole">
              <mc:AlternateContent xmlns:mc="http://schemas.openxmlformats.org/markup-compatibility/2006">
                <mc:Choice xmlns:v="urn:schemas-microsoft-com:vml" Requires="v">
                  <p:oleObj name="Equation" r:id="rId11" imgW="2257358" imgH="628548" progId="Equation.DSMT4">
                    <p:embed/>
                  </p:oleObj>
                </mc:Choice>
                <mc:Fallback>
                  <p:oleObj name="Equation" r:id="rId11" imgW="2257358" imgH="628548" progId="Equation.DSMT4">
                    <p:embed/>
                    <p:pic>
                      <p:nvPicPr>
                        <p:cNvPr id="0" name=""/>
                        <p:cNvPicPr/>
                        <p:nvPr/>
                      </p:nvPicPr>
                      <p:blipFill>
                        <a:blip r:embed="rId12"/>
                        <a:stretch>
                          <a:fillRect/>
                        </a:stretch>
                      </p:blipFill>
                      <p:spPr>
                        <a:xfrm>
                          <a:off x="401627" y="4718601"/>
                          <a:ext cx="2257425" cy="628650"/>
                        </a:xfrm>
                        <a:prstGeom prst="rect">
                          <a:avLst/>
                        </a:prstGeom>
                      </p:spPr>
                    </p:pic>
                  </p:oleObj>
                </mc:Fallback>
              </mc:AlternateContent>
            </a:graphicData>
          </a:graphic>
        </p:graphicFrame>
        <p:graphicFrame>
          <p:nvGraphicFramePr>
            <p:cNvPr id="102" name="Objeto 101">
              <a:extLst>
                <a:ext uri="{FF2B5EF4-FFF2-40B4-BE49-F238E27FC236}">
                  <a16:creationId xmlns:a16="http://schemas.microsoft.com/office/drawing/2014/main" id="{04F9F258-1CE4-45E5-93B8-9A0065B74375}"/>
                </a:ext>
              </a:extLst>
            </p:cNvPr>
            <p:cNvGraphicFramePr>
              <a:graphicFrameLocks noChangeAspect="1"/>
            </p:cNvGraphicFramePr>
            <p:nvPr>
              <p:extLst>
                <p:ext uri="{D42A27DB-BD31-4B8C-83A1-F6EECF244321}">
                  <p14:modId xmlns:p14="http://schemas.microsoft.com/office/powerpoint/2010/main" val="610878674"/>
                </p:ext>
              </p:extLst>
            </p:nvPr>
          </p:nvGraphicFramePr>
          <p:xfrm>
            <a:off x="4031688" y="4721347"/>
            <a:ext cx="901938" cy="623158"/>
          </p:xfrm>
          <a:graphic>
            <a:graphicData uri="http://schemas.openxmlformats.org/presentationml/2006/ole">
              <mc:AlternateContent xmlns:mc="http://schemas.openxmlformats.org/markup-compatibility/2006">
                <mc:Choice xmlns:v="urn:schemas-microsoft-com:vml" Requires="v">
                  <p:oleObj name="Equation" r:id="rId13" imgW="698400" imgH="482400" progId="Equation.DSMT4">
                    <p:embed/>
                  </p:oleObj>
                </mc:Choice>
                <mc:Fallback>
                  <p:oleObj name="Equation" r:id="rId13" imgW="698400" imgH="482400" progId="Equation.DSMT4">
                    <p:embed/>
                    <p:pic>
                      <p:nvPicPr>
                        <p:cNvPr id="24" name="Objeto 23">
                          <a:extLst>
                            <a:ext uri="{FF2B5EF4-FFF2-40B4-BE49-F238E27FC236}">
                              <a16:creationId xmlns:a16="http://schemas.microsoft.com/office/drawing/2014/main" id="{7F8380C0-C149-4ED1-A0B9-39644604F75B}"/>
                            </a:ext>
                          </a:extLst>
                        </p:cNvPr>
                        <p:cNvPicPr/>
                        <p:nvPr/>
                      </p:nvPicPr>
                      <p:blipFill>
                        <a:blip r:embed="rId14"/>
                        <a:stretch>
                          <a:fillRect/>
                        </a:stretch>
                      </p:blipFill>
                      <p:spPr>
                        <a:xfrm>
                          <a:off x="4031688" y="4721347"/>
                          <a:ext cx="901938" cy="623158"/>
                        </a:xfrm>
                        <a:prstGeom prst="rect">
                          <a:avLst/>
                        </a:prstGeom>
                      </p:spPr>
                    </p:pic>
                  </p:oleObj>
                </mc:Fallback>
              </mc:AlternateContent>
            </a:graphicData>
          </a:graphic>
        </p:graphicFrame>
        <p:graphicFrame>
          <p:nvGraphicFramePr>
            <p:cNvPr id="103" name="Objeto 102">
              <a:extLst>
                <a:ext uri="{FF2B5EF4-FFF2-40B4-BE49-F238E27FC236}">
                  <a16:creationId xmlns:a16="http://schemas.microsoft.com/office/drawing/2014/main" id="{5A146B7C-284B-42F8-940E-7EFE55AA0F12}"/>
                </a:ext>
              </a:extLst>
            </p:cNvPr>
            <p:cNvGraphicFramePr>
              <a:graphicFrameLocks noChangeAspect="1"/>
            </p:cNvGraphicFramePr>
            <p:nvPr>
              <p:extLst>
                <p:ext uri="{D42A27DB-BD31-4B8C-83A1-F6EECF244321}">
                  <p14:modId xmlns:p14="http://schemas.microsoft.com/office/powerpoint/2010/main" val="3542344694"/>
                </p:ext>
              </p:extLst>
            </p:nvPr>
          </p:nvGraphicFramePr>
          <p:xfrm>
            <a:off x="2919412" y="4719727"/>
            <a:ext cx="885825" cy="296863"/>
          </p:xfrm>
          <a:graphic>
            <a:graphicData uri="http://schemas.openxmlformats.org/presentationml/2006/ole">
              <mc:AlternateContent xmlns:mc="http://schemas.openxmlformats.org/markup-compatibility/2006">
                <mc:Choice xmlns:v="urn:schemas-microsoft-com:vml" Requires="v">
                  <p:oleObj name="Equation" r:id="rId15" imgW="685800" imgH="228600" progId="Equation.DSMT4">
                    <p:embed/>
                  </p:oleObj>
                </mc:Choice>
                <mc:Fallback>
                  <p:oleObj name="Equation" r:id="rId15" imgW="685800" imgH="228600" progId="Equation.DSMT4">
                    <p:embed/>
                    <p:pic>
                      <p:nvPicPr>
                        <p:cNvPr id="102" name="Objeto 101">
                          <a:extLst>
                            <a:ext uri="{FF2B5EF4-FFF2-40B4-BE49-F238E27FC236}">
                              <a16:creationId xmlns:a16="http://schemas.microsoft.com/office/drawing/2014/main" id="{04F9F258-1CE4-45E5-93B8-9A0065B74375}"/>
                            </a:ext>
                          </a:extLst>
                        </p:cNvPr>
                        <p:cNvPicPr/>
                        <p:nvPr/>
                      </p:nvPicPr>
                      <p:blipFill>
                        <a:blip r:embed="rId16"/>
                        <a:stretch>
                          <a:fillRect/>
                        </a:stretch>
                      </p:blipFill>
                      <p:spPr>
                        <a:xfrm>
                          <a:off x="2919412" y="4719727"/>
                          <a:ext cx="885825" cy="296863"/>
                        </a:xfrm>
                        <a:prstGeom prst="rect">
                          <a:avLst/>
                        </a:prstGeom>
                      </p:spPr>
                    </p:pic>
                  </p:oleObj>
                </mc:Fallback>
              </mc:AlternateContent>
            </a:graphicData>
          </a:graphic>
        </p:graphicFrame>
        <p:sp>
          <p:nvSpPr>
            <p:cNvPr id="111" name="Line 60">
              <a:extLst>
                <a:ext uri="{FF2B5EF4-FFF2-40B4-BE49-F238E27FC236}">
                  <a16:creationId xmlns:a16="http://schemas.microsoft.com/office/drawing/2014/main" id="{311F80FD-372D-4E73-A13B-3A5B331FDE81}"/>
                </a:ext>
              </a:extLst>
            </p:cNvPr>
            <p:cNvSpPr>
              <a:spLocks noChangeShapeType="1"/>
            </p:cNvSpPr>
            <p:nvPr/>
          </p:nvSpPr>
          <p:spPr bwMode="auto">
            <a:xfrm flipV="1">
              <a:off x="2882470" y="5012991"/>
              <a:ext cx="1047216" cy="1822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sz="1100"/>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a:extLst>
              <a:ext uri="{FF2B5EF4-FFF2-40B4-BE49-F238E27FC236}">
                <a16:creationId xmlns:a16="http://schemas.microsoft.com/office/drawing/2014/main" id="{92FF4EEC-B0A8-46E1-93C2-12C97FB9414F}"/>
              </a:ext>
            </a:extLst>
          </p:cNvPr>
          <p:cNvSpPr txBox="1">
            <a:spLocks noChangeArrowheads="1"/>
          </p:cNvSpPr>
          <p:nvPr/>
        </p:nvSpPr>
        <p:spPr bwMode="auto">
          <a:xfrm>
            <a:off x="36512" y="426226"/>
            <a:ext cx="24003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dirty="0"/>
              <a:t>Presentación de los datos</a:t>
            </a:r>
            <a:endParaRPr lang="es-ES" altLang="es-ES" sz="1400" b="1" dirty="0"/>
          </a:p>
        </p:txBody>
      </p:sp>
      <p:graphicFrame>
        <p:nvGraphicFramePr>
          <p:cNvPr id="10243" name="1 Objeto">
            <a:extLst>
              <a:ext uri="{FF2B5EF4-FFF2-40B4-BE49-F238E27FC236}">
                <a16:creationId xmlns:a16="http://schemas.microsoft.com/office/drawing/2014/main" id="{424AE661-1392-45BF-AE63-3A9CB2895967}"/>
              </a:ext>
            </a:extLst>
          </p:cNvPr>
          <p:cNvGraphicFramePr>
            <a:graphicFrameLocks noChangeAspect="1"/>
          </p:cNvGraphicFramePr>
          <p:nvPr/>
        </p:nvGraphicFramePr>
        <p:xfrm>
          <a:off x="420688" y="1085850"/>
          <a:ext cx="4111625" cy="1414463"/>
        </p:xfrm>
        <a:graphic>
          <a:graphicData uri="http://schemas.openxmlformats.org/presentationml/2006/ole">
            <mc:AlternateContent xmlns:mc="http://schemas.openxmlformats.org/markup-compatibility/2006">
              <mc:Choice xmlns:v="urn:schemas-microsoft-com:vml" Requires="v">
                <p:oleObj name="Equation" r:id="rId3" imgW="3340100" imgH="1193800" progId="Equation.DSMT4">
                  <p:embed/>
                </p:oleObj>
              </mc:Choice>
              <mc:Fallback>
                <p:oleObj name="Equation" r:id="rId3" imgW="3340100" imgH="1193800" progId="Equation.DSMT4">
                  <p:embed/>
                  <p:pic>
                    <p:nvPicPr>
                      <p:cNvPr id="10243" name="1 Objeto">
                        <a:extLst>
                          <a:ext uri="{FF2B5EF4-FFF2-40B4-BE49-F238E27FC236}">
                            <a16:creationId xmlns:a16="http://schemas.microsoft.com/office/drawing/2014/main" id="{424AE661-1392-45BF-AE63-3A9CB28959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688" y="1085850"/>
                        <a:ext cx="4111625" cy="1414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4" name="54 Objeto">
            <a:extLst>
              <a:ext uri="{FF2B5EF4-FFF2-40B4-BE49-F238E27FC236}">
                <a16:creationId xmlns:a16="http://schemas.microsoft.com/office/drawing/2014/main" id="{E7386CF8-6092-47C4-9D4C-7FBF4DDEFF68}"/>
              </a:ext>
            </a:extLst>
          </p:cNvPr>
          <p:cNvGraphicFramePr>
            <a:graphicFrameLocks noChangeAspect="1"/>
          </p:cNvGraphicFramePr>
          <p:nvPr/>
        </p:nvGraphicFramePr>
        <p:xfrm>
          <a:off x="687388" y="2924175"/>
          <a:ext cx="3579812" cy="1114425"/>
        </p:xfrm>
        <a:graphic>
          <a:graphicData uri="http://schemas.openxmlformats.org/presentationml/2006/ole">
            <mc:AlternateContent xmlns:mc="http://schemas.openxmlformats.org/markup-compatibility/2006">
              <mc:Choice xmlns:v="urn:schemas-microsoft-com:vml" Requires="v">
                <p:oleObj name="Equation" r:id="rId5" imgW="2908300" imgH="939800" progId="Equation.DSMT4">
                  <p:embed/>
                </p:oleObj>
              </mc:Choice>
              <mc:Fallback>
                <p:oleObj name="Equation" r:id="rId5" imgW="2908300" imgH="939800" progId="Equation.DSMT4">
                  <p:embed/>
                  <p:pic>
                    <p:nvPicPr>
                      <p:cNvPr id="10244" name="54 Objeto">
                        <a:extLst>
                          <a:ext uri="{FF2B5EF4-FFF2-40B4-BE49-F238E27FC236}">
                            <a16:creationId xmlns:a16="http://schemas.microsoft.com/office/drawing/2014/main" id="{E7386CF8-6092-47C4-9D4C-7FBF4DDEFF6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7388" y="2924175"/>
                        <a:ext cx="3579812" cy="1114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5" name="55 Objeto">
            <a:extLst>
              <a:ext uri="{FF2B5EF4-FFF2-40B4-BE49-F238E27FC236}">
                <a16:creationId xmlns:a16="http://schemas.microsoft.com/office/drawing/2014/main" id="{5434D76F-958F-4EC2-AB96-9A1D59B52331}"/>
              </a:ext>
            </a:extLst>
          </p:cNvPr>
          <p:cNvGraphicFramePr>
            <a:graphicFrameLocks noChangeAspect="1"/>
          </p:cNvGraphicFramePr>
          <p:nvPr/>
        </p:nvGraphicFramePr>
        <p:xfrm>
          <a:off x="827088" y="4908550"/>
          <a:ext cx="3298825" cy="1414463"/>
        </p:xfrm>
        <a:graphic>
          <a:graphicData uri="http://schemas.openxmlformats.org/presentationml/2006/ole">
            <mc:AlternateContent xmlns:mc="http://schemas.openxmlformats.org/markup-compatibility/2006">
              <mc:Choice xmlns:v="urn:schemas-microsoft-com:vml" Requires="v">
                <p:oleObj name="Equation" r:id="rId7" imgW="2679700" imgH="1193800" progId="Equation.DSMT4">
                  <p:embed/>
                </p:oleObj>
              </mc:Choice>
              <mc:Fallback>
                <p:oleObj name="Equation" r:id="rId7" imgW="2679700" imgH="1193800" progId="Equation.DSMT4">
                  <p:embed/>
                  <p:pic>
                    <p:nvPicPr>
                      <p:cNvPr id="10245" name="55 Objeto">
                        <a:extLst>
                          <a:ext uri="{FF2B5EF4-FFF2-40B4-BE49-F238E27FC236}">
                            <a16:creationId xmlns:a16="http://schemas.microsoft.com/office/drawing/2014/main" id="{5434D76F-958F-4EC2-AB96-9A1D59B5233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4908550"/>
                        <a:ext cx="3298825" cy="1414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6" name="1 CuadroTexto">
            <a:extLst>
              <a:ext uri="{FF2B5EF4-FFF2-40B4-BE49-F238E27FC236}">
                <a16:creationId xmlns:a16="http://schemas.microsoft.com/office/drawing/2014/main" id="{30CD9502-F246-404C-B5AC-E9DD590785AF}"/>
              </a:ext>
            </a:extLst>
          </p:cNvPr>
          <p:cNvSpPr txBox="1">
            <a:spLocks noChangeArrowheads="1"/>
          </p:cNvSpPr>
          <p:nvPr/>
        </p:nvSpPr>
        <p:spPr bwMode="auto">
          <a:xfrm>
            <a:off x="1173163" y="792163"/>
            <a:ext cx="28209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dirty="0"/>
              <a:t>MUESTRAS INDEPENDIENTES</a:t>
            </a:r>
          </a:p>
        </p:txBody>
      </p:sp>
      <p:sp>
        <p:nvSpPr>
          <p:cNvPr id="10247" name="6 CuadroTexto">
            <a:extLst>
              <a:ext uri="{FF2B5EF4-FFF2-40B4-BE49-F238E27FC236}">
                <a16:creationId xmlns:a16="http://schemas.microsoft.com/office/drawing/2014/main" id="{1D7D7183-159B-4C74-8497-74D78670AED6}"/>
              </a:ext>
            </a:extLst>
          </p:cNvPr>
          <p:cNvSpPr txBox="1">
            <a:spLocks noChangeArrowheads="1"/>
          </p:cNvSpPr>
          <p:nvPr/>
        </p:nvSpPr>
        <p:spPr bwMode="auto">
          <a:xfrm>
            <a:off x="5842000" y="787400"/>
            <a:ext cx="2362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a:t>MUESTRAS APAREADAS</a:t>
            </a:r>
          </a:p>
        </p:txBody>
      </p:sp>
      <p:grpSp>
        <p:nvGrpSpPr>
          <p:cNvPr id="10248" name="18 Grupo">
            <a:extLst>
              <a:ext uri="{FF2B5EF4-FFF2-40B4-BE49-F238E27FC236}">
                <a16:creationId xmlns:a16="http://schemas.microsoft.com/office/drawing/2014/main" id="{7849F9A0-3E48-491E-8A44-B24766BF16D0}"/>
              </a:ext>
            </a:extLst>
          </p:cNvPr>
          <p:cNvGrpSpPr>
            <a:grpSpLocks/>
          </p:cNvGrpSpPr>
          <p:nvPr/>
        </p:nvGrpSpPr>
        <p:grpSpPr bwMode="auto">
          <a:xfrm>
            <a:off x="5448300" y="1343025"/>
            <a:ext cx="3067050" cy="1084263"/>
            <a:chOff x="5586919" y="1676400"/>
            <a:chExt cx="3068131" cy="1084263"/>
          </a:xfrm>
        </p:grpSpPr>
        <p:graphicFrame>
          <p:nvGraphicFramePr>
            <p:cNvPr id="10270" name="54 Objeto">
              <a:extLst>
                <a:ext uri="{FF2B5EF4-FFF2-40B4-BE49-F238E27FC236}">
                  <a16:creationId xmlns:a16="http://schemas.microsoft.com/office/drawing/2014/main" id="{08060328-9EB4-4896-8B9A-AF86F3DD38E9}"/>
                </a:ext>
              </a:extLst>
            </p:cNvPr>
            <p:cNvGraphicFramePr>
              <a:graphicFrameLocks noChangeAspect="1"/>
            </p:cNvGraphicFramePr>
            <p:nvPr/>
          </p:nvGraphicFramePr>
          <p:xfrm>
            <a:off x="5638800" y="1706563"/>
            <a:ext cx="3016250" cy="1054100"/>
          </p:xfrm>
          <a:graphic>
            <a:graphicData uri="http://schemas.openxmlformats.org/presentationml/2006/ole">
              <mc:AlternateContent xmlns:mc="http://schemas.openxmlformats.org/markup-compatibility/2006">
                <mc:Choice xmlns:v="urn:schemas-microsoft-com:vml" Requires="v">
                  <p:oleObj name="Equation" r:id="rId9" imgW="2451100" imgH="889000" progId="Equation.DSMT4">
                    <p:embed/>
                  </p:oleObj>
                </mc:Choice>
                <mc:Fallback>
                  <p:oleObj name="Equation" r:id="rId9" imgW="2451100" imgH="889000" progId="Equation.DSMT4">
                    <p:embed/>
                    <p:pic>
                      <p:nvPicPr>
                        <p:cNvPr id="10270" name="54 Objeto">
                          <a:extLst>
                            <a:ext uri="{FF2B5EF4-FFF2-40B4-BE49-F238E27FC236}">
                              <a16:creationId xmlns:a16="http://schemas.microsoft.com/office/drawing/2014/main" id="{08060328-9EB4-4896-8B9A-AF86F3DD38E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38800" y="1706563"/>
                          <a:ext cx="301625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10271" name="4 Conector recto">
              <a:extLst>
                <a:ext uri="{FF2B5EF4-FFF2-40B4-BE49-F238E27FC236}">
                  <a16:creationId xmlns:a16="http://schemas.microsoft.com/office/drawing/2014/main" id="{2F9AC223-A2C7-4AF8-BC83-91B871C46F92}"/>
                </a:ext>
              </a:extLst>
            </p:cNvPr>
            <p:cNvCxnSpPr>
              <a:cxnSpLocks noChangeShapeType="1"/>
            </p:cNvCxnSpPr>
            <p:nvPr/>
          </p:nvCxnSpPr>
          <p:spPr bwMode="auto">
            <a:xfrm>
              <a:off x="5586919" y="1943104"/>
              <a:ext cx="2642681"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72" name="13 Conector recto">
              <a:extLst>
                <a:ext uri="{FF2B5EF4-FFF2-40B4-BE49-F238E27FC236}">
                  <a16:creationId xmlns:a16="http://schemas.microsoft.com/office/drawing/2014/main" id="{9B09ABB2-7758-4A2B-9A7A-CF1B87C5030D}"/>
                </a:ext>
              </a:extLst>
            </p:cNvPr>
            <p:cNvCxnSpPr>
              <a:cxnSpLocks noChangeShapeType="1"/>
            </p:cNvCxnSpPr>
            <p:nvPr/>
          </p:nvCxnSpPr>
          <p:spPr bwMode="auto">
            <a:xfrm>
              <a:off x="5586919" y="2514600"/>
              <a:ext cx="2947481"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73" name="12 Conector recto">
              <a:extLst>
                <a:ext uri="{FF2B5EF4-FFF2-40B4-BE49-F238E27FC236}">
                  <a16:creationId xmlns:a16="http://schemas.microsoft.com/office/drawing/2014/main" id="{C63E3BDD-C166-4D1B-8F1A-4EA2DE746291}"/>
                </a:ext>
              </a:extLst>
            </p:cNvPr>
            <p:cNvCxnSpPr>
              <a:cxnSpLocks noChangeShapeType="1"/>
            </p:cNvCxnSpPr>
            <p:nvPr/>
          </p:nvCxnSpPr>
          <p:spPr bwMode="auto">
            <a:xfrm>
              <a:off x="6534156" y="1676400"/>
              <a:ext cx="0" cy="83820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74" name="19 Conector recto">
              <a:extLst>
                <a:ext uri="{FF2B5EF4-FFF2-40B4-BE49-F238E27FC236}">
                  <a16:creationId xmlns:a16="http://schemas.microsoft.com/office/drawing/2014/main" id="{3A9E47B9-622A-4832-8274-A0F4D4FC3EA0}"/>
                </a:ext>
              </a:extLst>
            </p:cNvPr>
            <p:cNvCxnSpPr>
              <a:cxnSpLocks noChangeShapeType="1"/>
            </p:cNvCxnSpPr>
            <p:nvPr/>
          </p:nvCxnSpPr>
          <p:spPr bwMode="auto">
            <a:xfrm>
              <a:off x="8229600" y="1676400"/>
              <a:ext cx="0" cy="106680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75" name="21 Conector recto">
              <a:extLst>
                <a:ext uri="{FF2B5EF4-FFF2-40B4-BE49-F238E27FC236}">
                  <a16:creationId xmlns:a16="http://schemas.microsoft.com/office/drawing/2014/main" id="{0429E128-31FB-47D1-8B12-7484A71B26B2}"/>
                </a:ext>
              </a:extLst>
            </p:cNvPr>
            <p:cNvCxnSpPr>
              <a:cxnSpLocks noChangeShapeType="1"/>
            </p:cNvCxnSpPr>
            <p:nvPr/>
          </p:nvCxnSpPr>
          <p:spPr bwMode="auto">
            <a:xfrm>
              <a:off x="5586919" y="1943104"/>
              <a:ext cx="0" cy="571496"/>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76" name="23 Conector recto">
              <a:extLst>
                <a:ext uri="{FF2B5EF4-FFF2-40B4-BE49-F238E27FC236}">
                  <a16:creationId xmlns:a16="http://schemas.microsoft.com/office/drawing/2014/main" id="{EF05AE57-36AD-4AC1-9256-C7EA4ED69847}"/>
                </a:ext>
              </a:extLst>
            </p:cNvPr>
            <p:cNvCxnSpPr>
              <a:cxnSpLocks noChangeShapeType="1"/>
            </p:cNvCxnSpPr>
            <p:nvPr/>
          </p:nvCxnSpPr>
          <p:spPr bwMode="auto">
            <a:xfrm>
              <a:off x="6534156" y="1676400"/>
              <a:ext cx="1695443"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249" name="26 CuadroTexto">
            <a:extLst>
              <a:ext uri="{FF2B5EF4-FFF2-40B4-BE49-F238E27FC236}">
                <a16:creationId xmlns:a16="http://schemas.microsoft.com/office/drawing/2014/main" id="{CB9C0AA6-2F85-4EF5-8915-D998D864B393}"/>
              </a:ext>
            </a:extLst>
          </p:cNvPr>
          <p:cNvSpPr txBox="1">
            <a:spLocks noChangeArrowheads="1"/>
          </p:cNvSpPr>
          <p:nvPr/>
        </p:nvSpPr>
        <p:spPr bwMode="auto">
          <a:xfrm>
            <a:off x="6184900" y="1066800"/>
            <a:ext cx="13462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 altLang="es-ES" b="1"/>
              <a:t>Característica B</a:t>
            </a:r>
          </a:p>
        </p:txBody>
      </p:sp>
      <p:grpSp>
        <p:nvGrpSpPr>
          <p:cNvPr id="10250" name="7 Grupo">
            <a:extLst>
              <a:ext uri="{FF2B5EF4-FFF2-40B4-BE49-F238E27FC236}">
                <a16:creationId xmlns:a16="http://schemas.microsoft.com/office/drawing/2014/main" id="{7BA58D11-1770-4469-8CCC-1E749BEFDE78}"/>
              </a:ext>
            </a:extLst>
          </p:cNvPr>
          <p:cNvGrpSpPr>
            <a:grpSpLocks/>
          </p:cNvGrpSpPr>
          <p:nvPr/>
        </p:nvGrpSpPr>
        <p:grpSpPr bwMode="auto">
          <a:xfrm>
            <a:off x="4743450" y="2609850"/>
            <a:ext cx="4476750" cy="1862138"/>
            <a:chOff x="4560651" y="2667000"/>
            <a:chExt cx="4476987" cy="1862435"/>
          </a:xfrm>
        </p:grpSpPr>
        <p:grpSp>
          <p:nvGrpSpPr>
            <p:cNvPr id="10260" name="6 Grupo">
              <a:extLst>
                <a:ext uri="{FF2B5EF4-FFF2-40B4-BE49-F238E27FC236}">
                  <a16:creationId xmlns:a16="http://schemas.microsoft.com/office/drawing/2014/main" id="{CA0E9471-5D83-4AF5-89FE-D5076FDD02FF}"/>
                </a:ext>
              </a:extLst>
            </p:cNvPr>
            <p:cNvGrpSpPr>
              <a:grpSpLocks/>
            </p:cNvGrpSpPr>
            <p:nvPr/>
          </p:nvGrpSpPr>
          <p:grpSpPr bwMode="auto">
            <a:xfrm>
              <a:off x="4724400" y="2971800"/>
              <a:ext cx="4313238" cy="1557635"/>
              <a:chOff x="4724400" y="3047999"/>
              <a:chExt cx="4313238" cy="1557635"/>
            </a:xfrm>
          </p:grpSpPr>
          <p:graphicFrame>
            <p:nvGraphicFramePr>
              <p:cNvPr id="10263" name="54 Objeto">
                <a:extLst>
                  <a:ext uri="{FF2B5EF4-FFF2-40B4-BE49-F238E27FC236}">
                    <a16:creationId xmlns:a16="http://schemas.microsoft.com/office/drawing/2014/main" id="{5665277A-4AD2-491A-B1CB-DCFB2A0F7BC9}"/>
                  </a:ext>
                </a:extLst>
              </p:cNvPr>
              <p:cNvGraphicFramePr>
                <a:graphicFrameLocks noChangeAspect="1"/>
              </p:cNvGraphicFramePr>
              <p:nvPr/>
            </p:nvGraphicFramePr>
            <p:xfrm>
              <a:off x="4724400" y="3099097"/>
              <a:ext cx="4313238" cy="1506537"/>
            </p:xfrm>
            <a:graphic>
              <a:graphicData uri="http://schemas.openxmlformats.org/presentationml/2006/ole">
                <mc:AlternateContent xmlns:mc="http://schemas.openxmlformats.org/markup-compatibility/2006">
                  <mc:Choice xmlns:v="urn:schemas-microsoft-com:vml" Requires="v">
                    <p:oleObj name="Equation" r:id="rId11" imgW="3505200" imgH="1270000" progId="Equation.DSMT4">
                      <p:embed/>
                    </p:oleObj>
                  </mc:Choice>
                  <mc:Fallback>
                    <p:oleObj name="Equation" r:id="rId11" imgW="3505200" imgH="1270000" progId="Equation.DSMT4">
                      <p:embed/>
                      <p:pic>
                        <p:nvPicPr>
                          <p:cNvPr id="10263" name="54 Objeto">
                            <a:extLst>
                              <a:ext uri="{FF2B5EF4-FFF2-40B4-BE49-F238E27FC236}">
                                <a16:creationId xmlns:a16="http://schemas.microsoft.com/office/drawing/2014/main" id="{5665277A-4AD2-491A-B1CB-DCFB2A0F7BC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24400" y="3099097"/>
                            <a:ext cx="4313238" cy="1506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10264" name="34 Conector recto">
                <a:extLst>
                  <a:ext uri="{FF2B5EF4-FFF2-40B4-BE49-F238E27FC236}">
                    <a16:creationId xmlns:a16="http://schemas.microsoft.com/office/drawing/2014/main" id="{88A59BFF-128D-4AF6-9CB9-40195810B34A}"/>
                  </a:ext>
                </a:extLst>
              </p:cNvPr>
              <p:cNvCxnSpPr>
                <a:cxnSpLocks noChangeShapeType="1"/>
              </p:cNvCxnSpPr>
              <p:nvPr/>
            </p:nvCxnSpPr>
            <p:spPr bwMode="auto">
              <a:xfrm>
                <a:off x="4725190" y="3404296"/>
                <a:ext cx="4175945"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65" name="35 Conector recto">
                <a:extLst>
                  <a:ext uri="{FF2B5EF4-FFF2-40B4-BE49-F238E27FC236}">
                    <a16:creationId xmlns:a16="http://schemas.microsoft.com/office/drawing/2014/main" id="{AA8A3182-1933-47EA-9B35-B942362E6F72}"/>
                  </a:ext>
                </a:extLst>
              </p:cNvPr>
              <p:cNvCxnSpPr>
                <a:cxnSpLocks noChangeShapeType="1"/>
              </p:cNvCxnSpPr>
              <p:nvPr/>
            </p:nvCxnSpPr>
            <p:spPr bwMode="auto">
              <a:xfrm>
                <a:off x="4725190" y="4167771"/>
                <a:ext cx="4175945"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66" name="36 Conector recto">
                <a:extLst>
                  <a:ext uri="{FF2B5EF4-FFF2-40B4-BE49-F238E27FC236}">
                    <a16:creationId xmlns:a16="http://schemas.microsoft.com/office/drawing/2014/main" id="{3E17EBB2-A947-4BD6-9BAC-83A231FD6511}"/>
                  </a:ext>
                </a:extLst>
              </p:cNvPr>
              <p:cNvCxnSpPr>
                <a:cxnSpLocks noChangeShapeType="1"/>
              </p:cNvCxnSpPr>
              <p:nvPr/>
            </p:nvCxnSpPr>
            <p:spPr bwMode="auto">
              <a:xfrm>
                <a:off x="5638800" y="3047999"/>
                <a:ext cx="0" cy="1119771"/>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67" name="37 Conector recto">
                <a:extLst>
                  <a:ext uri="{FF2B5EF4-FFF2-40B4-BE49-F238E27FC236}">
                    <a16:creationId xmlns:a16="http://schemas.microsoft.com/office/drawing/2014/main" id="{AF0C487A-06E3-42AB-B3FB-AFBF7F237F38}"/>
                  </a:ext>
                </a:extLst>
              </p:cNvPr>
              <p:cNvCxnSpPr>
                <a:cxnSpLocks noChangeShapeType="1"/>
              </p:cNvCxnSpPr>
              <p:nvPr/>
            </p:nvCxnSpPr>
            <p:spPr bwMode="auto">
              <a:xfrm>
                <a:off x="7780217" y="3048000"/>
                <a:ext cx="0" cy="1425163"/>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68" name="38 Conector recto">
                <a:extLst>
                  <a:ext uri="{FF2B5EF4-FFF2-40B4-BE49-F238E27FC236}">
                    <a16:creationId xmlns:a16="http://schemas.microsoft.com/office/drawing/2014/main" id="{AF09DC21-9A52-4459-AB45-2EE70CD11C9A}"/>
                  </a:ext>
                </a:extLst>
              </p:cNvPr>
              <p:cNvCxnSpPr>
                <a:cxnSpLocks noChangeShapeType="1"/>
              </p:cNvCxnSpPr>
              <p:nvPr/>
            </p:nvCxnSpPr>
            <p:spPr bwMode="auto">
              <a:xfrm>
                <a:off x="4725190" y="3404296"/>
                <a:ext cx="0" cy="763475"/>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69" name="39 Conector recto">
                <a:extLst>
                  <a:ext uri="{FF2B5EF4-FFF2-40B4-BE49-F238E27FC236}">
                    <a16:creationId xmlns:a16="http://schemas.microsoft.com/office/drawing/2014/main" id="{F3DA54FD-12C5-4BDE-86B8-C489BC9B4118}"/>
                  </a:ext>
                </a:extLst>
              </p:cNvPr>
              <p:cNvCxnSpPr>
                <a:cxnSpLocks noChangeShapeType="1"/>
              </p:cNvCxnSpPr>
              <p:nvPr/>
            </p:nvCxnSpPr>
            <p:spPr bwMode="auto">
              <a:xfrm>
                <a:off x="5638800" y="3048000"/>
                <a:ext cx="2141415"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261" name="31 CuadroTexto">
              <a:extLst>
                <a:ext uri="{FF2B5EF4-FFF2-40B4-BE49-F238E27FC236}">
                  <a16:creationId xmlns:a16="http://schemas.microsoft.com/office/drawing/2014/main" id="{48A645D9-ACDD-418A-9265-F5275F997B2E}"/>
                </a:ext>
              </a:extLst>
            </p:cNvPr>
            <p:cNvSpPr txBox="1">
              <a:spLocks noChangeArrowheads="1"/>
            </p:cNvSpPr>
            <p:nvPr/>
          </p:nvSpPr>
          <p:spPr bwMode="auto">
            <a:xfrm>
              <a:off x="6058154" y="2667000"/>
              <a:ext cx="1345946" cy="2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 altLang="es-ES" b="1"/>
                <a:t>Característica B</a:t>
              </a:r>
            </a:p>
          </p:txBody>
        </p:sp>
        <p:sp>
          <p:nvSpPr>
            <p:cNvPr id="10262" name="32 CuadroTexto">
              <a:extLst>
                <a:ext uri="{FF2B5EF4-FFF2-40B4-BE49-F238E27FC236}">
                  <a16:creationId xmlns:a16="http://schemas.microsoft.com/office/drawing/2014/main" id="{584CC163-5553-4D30-A71E-9D55944ADCDE}"/>
                </a:ext>
              </a:extLst>
            </p:cNvPr>
            <p:cNvSpPr txBox="1">
              <a:spLocks noChangeArrowheads="1"/>
            </p:cNvSpPr>
            <p:nvPr/>
          </p:nvSpPr>
          <p:spPr bwMode="auto">
            <a:xfrm>
              <a:off x="4560651" y="2667000"/>
              <a:ext cx="1197764" cy="461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b="1" dirty="0"/>
                <a:t>Característica</a:t>
              </a:r>
            </a:p>
            <a:p>
              <a:pPr eaLnBrk="1" hangingPunct="1"/>
              <a:r>
                <a:rPr lang="es-ES" altLang="es-ES" b="1" dirty="0"/>
                <a:t> A</a:t>
              </a:r>
            </a:p>
          </p:txBody>
        </p:sp>
      </p:grpSp>
      <p:graphicFrame>
        <p:nvGraphicFramePr>
          <p:cNvPr id="10251" name="54 Objeto">
            <a:extLst>
              <a:ext uri="{FF2B5EF4-FFF2-40B4-BE49-F238E27FC236}">
                <a16:creationId xmlns:a16="http://schemas.microsoft.com/office/drawing/2014/main" id="{3F6D34FF-2619-4B87-8C54-6262E9329CBE}"/>
              </a:ext>
            </a:extLst>
          </p:cNvPr>
          <p:cNvGraphicFramePr>
            <a:graphicFrameLocks noChangeAspect="1"/>
          </p:cNvGraphicFramePr>
          <p:nvPr/>
        </p:nvGraphicFramePr>
        <p:xfrm>
          <a:off x="5181600" y="5143500"/>
          <a:ext cx="2874963" cy="1416050"/>
        </p:xfrm>
        <a:graphic>
          <a:graphicData uri="http://schemas.openxmlformats.org/presentationml/2006/ole">
            <mc:AlternateContent xmlns:mc="http://schemas.openxmlformats.org/markup-compatibility/2006">
              <mc:Choice xmlns:v="urn:schemas-microsoft-com:vml" Requires="v">
                <p:oleObj name="Equation" r:id="rId13" imgW="2336800" imgH="1193800" progId="Equation.DSMT4">
                  <p:embed/>
                </p:oleObj>
              </mc:Choice>
              <mc:Fallback>
                <p:oleObj name="Equation" r:id="rId13" imgW="2336800" imgH="1193800" progId="Equation.DSMT4">
                  <p:embed/>
                  <p:pic>
                    <p:nvPicPr>
                      <p:cNvPr id="10251" name="54 Objeto">
                        <a:extLst>
                          <a:ext uri="{FF2B5EF4-FFF2-40B4-BE49-F238E27FC236}">
                            <a16:creationId xmlns:a16="http://schemas.microsoft.com/office/drawing/2014/main" id="{3F6D34FF-2619-4B87-8C54-6262E9329CB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81600" y="5143500"/>
                        <a:ext cx="2874963" cy="1416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52" name="59 CuadroTexto">
            <a:extLst>
              <a:ext uri="{FF2B5EF4-FFF2-40B4-BE49-F238E27FC236}">
                <a16:creationId xmlns:a16="http://schemas.microsoft.com/office/drawing/2014/main" id="{376E599A-E919-4338-8062-C84A8CD96541}"/>
              </a:ext>
            </a:extLst>
          </p:cNvPr>
          <p:cNvSpPr txBox="1">
            <a:spLocks noChangeArrowheads="1"/>
          </p:cNvSpPr>
          <p:nvPr/>
        </p:nvSpPr>
        <p:spPr bwMode="auto">
          <a:xfrm>
            <a:off x="4924425" y="4681538"/>
            <a:ext cx="4114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 altLang="es-ES" b="1"/>
              <a:t>Respuesta a dos tratamientos, A y B,  para paliar el dolor crónico en pacientes con fibromialgia</a:t>
            </a:r>
          </a:p>
        </p:txBody>
      </p:sp>
      <p:sp>
        <p:nvSpPr>
          <p:cNvPr id="10253" name="54 Rectángulo redondeado">
            <a:extLst>
              <a:ext uri="{FF2B5EF4-FFF2-40B4-BE49-F238E27FC236}">
                <a16:creationId xmlns:a16="http://schemas.microsoft.com/office/drawing/2014/main" id="{D07F7076-2203-4019-8FDE-C625111F434A}"/>
              </a:ext>
            </a:extLst>
          </p:cNvPr>
          <p:cNvSpPr>
            <a:spLocks noChangeArrowheads="1"/>
          </p:cNvSpPr>
          <p:nvPr/>
        </p:nvSpPr>
        <p:spPr bwMode="auto">
          <a:xfrm>
            <a:off x="4924425" y="4572000"/>
            <a:ext cx="4114800" cy="2057400"/>
          </a:xfrm>
          <a:prstGeom prst="roundRect">
            <a:avLst>
              <a:gd name="adj" fmla="val 3949"/>
            </a:avLst>
          </a:prstGeom>
          <a:noFill/>
          <a:ln w="9525" algn="ctr">
            <a:solidFill>
              <a:srgbClr val="D6A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a:p>
        </p:txBody>
      </p:sp>
      <p:sp>
        <p:nvSpPr>
          <p:cNvPr id="10254" name="61 Rectángulo redondeado">
            <a:extLst>
              <a:ext uri="{FF2B5EF4-FFF2-40B4-BE49-F238E27FC236}">
                <a16:creationId xmlns:a16="http://schemas.microsoft.com/office/drawing/2014/main" id="{8946B246-E266-4677-9ADA-3200CC0703B4}"/>
              </a:ext>
            </a:extLst>
          </p:cNvPr>
          <p:cNvSpPr>
            <a:spLocks noChangeArrowheads="1"/>
          </p:cNvSpPr>
          <p:nvPr/>
        </p:nvSpPr>
        <p:spPr bwMode="auto">
          <a:xfrm>
            <a:off x="457200" y="4572000"/>
            <a:ext cx="4114800" cy="2057400"/>
          </a:xfrm>
          <a:prstGeom prst="roundRect">
            <a:avLst>
              <a:gd name="adj" fmla="val 3949"/>
            </a:avLst>
          </a:prstGeom>
          <a:noFill/>
          <a:ln w="9525" algn="ctr">
            <a:solidFill>
              <a:srgbClr val="D6A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a:p>
        </p:txBody>
      </p:sp>
      <p:cxnSp>
        <p:nvCxnSpPr>
          <p:cNvPr id="10255" name="57 Conector recto">
            <a:extLst>
              <a:ext uri="{FF2B5EF4-FFF2-40B4-BE49-F238E27FC236}">
                <a16:creationId xmlns:a16="http://schemas.microsoft.com/office/drawing/2014/main" id="{8525DA30-E110-42AE-9E6A-8BB830DE9E4A}"/>
              </a:ext>
            </a:extLst>
          </p:cNvPr>
          <p:cNvCxnSpPr>
            <a:cxnSpLocks noChangeShapeType="1"/>
          </p:cNvCxnSpPr>
          <p:nvPr/>
        </p:nvCxnSpPr>
        <p:spPr bwMode="auto">
          <a:xfrm>
            <a:off x="4724400" y="685800"/>
            <a:ext cx="0" cy="6070600"/>
          </a:xfrm>
          <a:prstGeom prst="line">
            <a:avLst/>
          </a:prstGeom>
          <a:noFill/>
          <a:ln w="9525" algn="ctr">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56" name="32 CuadroTexto">
            <a:extLst>
              <a:ext uri="{FF2B5EF4-FFF2-40B4-BE49-F238E27FC236}">
                <a16:creationId xmlns:a16="http://schemas.microsoft.com/office/drawing/2014/main" id="{5CF0B9FC-7A44-470D-A5D2-91A1E455FD4E}"/>
              </a:ext>
            </a:extLst>
          </p:cNvPr>
          <p:cNvSpPr txBox="1">
            <a:spLocks noChangeArrowheads="1"/>
          </p:cNvSpPr>
          <p:nvPr/>
        </p:nvSpPr>
        <p:spPr bwMode="auto">
          <a:xfrm>
            <a:off x="4740275" y="1277938"/>
            <a:ext cx="11985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b="1"/>
              <a:t>Característica</a:t>
            </a:r>
          </a:p>
          <a:p>
            <a:pPr eaLnBrk="1" hangingPunct="1"/>
            <a:r>
              <a:rPr lang="es-ES" altLang="es-ES" b="1"/>
              <a:t> A</a:t>
            </a:r>
          </a:p>
        </p:txBody>
      </p:sp>
      <p:sp>
        <p:nvSpPr>
          <p:cNvPr id="10257" name="8 CuadroTexto">
            <a:extLst>
              <a:ext uri="{FF2B5EF4-FFF2-40B4-BE49-F238E27FC236}">
                <a16:creationId xmlns:a16="http://schemas.microsoft.com/office/drawing/2014/main" id="{6D4C915F-5137-4B5F-BD68-24781FF5C1D0}"/>
              </a:ext>
            </a:extLst>
          </p:cNvPr>
          <p:cNvSpPr txBox="1">
            <a:spLocks noChangeArrowheads="1"/>
          </p:cNvSpPr>
          <p:nvPr/>
        </p:nvSpPr>
        <p:spPr bwMode="auto">
          <a:xfrm rot="-5400000">
            <a:off x="-467519" y="1848645"/>
            <a:ext cx="12858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b="1"/>
              <a:t>Observaciones</a:t>
            </a:r>
          </a:p>
        </p:txBody>
      </p:sp>
      <p:sp>
        <p:nvSpPr>
          <p:cNvPr id="10258" name="54 CuadroTexto">
            <a:extLst>
              <a:ext uri="{FF2B5EF4-FFF2-40B4-BE49-F238E27FC236}">
                <a16:creationId xmlns:a16="http://schemas.microsoft.com/office/drawing/2014/main" id="{A37985A0-0D69-42E8-83F3-0CB18ACCFBB9}"/>
              </a:ext>
            </a:extLst>
          </p:cNvPr>
          <p:cNvSpPr txBox="1">
            <a:spLocks noChangeArrowheads="1"/>
          </p:cNvSpPr>
          <p:nvPr/>
        </p:nvSpPr>
        <p:spPr bwMode="auto">
          <a:xfrm rot="-5400000">
            <a:off x="-352425" y="3436938"/>
            <a:ext cx="105568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b="1"/>
              <a:t>Porcentajes</a:t>
            </a:r>
          </a:p>
        </p:txBody>
      </p:sp>
      <p:sp>
        <p:nvSpPr>
          <p:cNvPr id="10259" name="55 CuadroTexto">
            <a:extLst>
              <a:ext uri="{FF2B5EF4-FFF2-40B4-BE49-F238E27FC236}">
                <a16:creationId xmlns:a16="http://schemas.microsoft.com/office/drawing/2014/main" id="{09C0DC56-AD08-4479-AB9C-12F3A03B3752}"/>
              </a:ext>
            </a:extLst>
          </p:cNvPr>
          <p:cNvSpPr txBox="1">
            <a:spLocks noChangeArrowheads="1"/>
          </p:cNvSpPr>
          <p:nvPr/>
        </p:nvSpPr>
        <p:spPr bwMode="auto">
          <a:xfrm rot="-5400000">
            <a:off x="-216694" y="5488782"/>
            <a:ext cx="78422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b="1"/>
              <a:t>Ejemplo</a:t>
            </a:r>
          </a:p>
        </p:txBody>
      </p:sp>
      <p:cxnSp>
        <p:nvCxnSpPr>
          <p:cNvPr id="3" name="Conector recto 2">
            <a:extLst>
              <a:ext uri="{FF2B5EF4-FFF2-40B4-BE49-F238E27FC236}">
                <a16:creationId xmlns:a16="http://schemas.microsoft.com/office/drawing/2014/main" id="{0B97A35F-CFC6-4683-B955-8EA82839CE8D}"/>
              </a:ext>
            </a:extLst>
          </p:cNvPr>
          <p:cNvCxnSpPr/>
          <p:nvPr/>
        </p:nvCxnSpPr>
        <p:spPr bwMode="auto">
          <a:xfrm flipV="1">
            <a:off x="-76200" y="2601914"/>
            <a:ext cx="9183688" cy="36511"/>
          </a:xfrm>
          <a:prstGeom prst="line">
            <a:avLst/>
          </a:prstGeom>
          <a:noFill/>
          <a:ln w="9525" cap="flat" cmpd="sng" algn="ctr">
            <a:solidFill>
              <a:srgbClr val="C0C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Conector recto 40">
            <a:extLst>
              <a:ext uri="{FF2B5EF4-FFF2-40B4-BE49-F238E27FC236}">
                <a16:creationId xmlns:a16="http://schemas.microsoft.com/office/drawing/2014/main" id="{9281F016-29E9-4B5D-93A9-6EC6A01040A8}"/>
              </a:ext>
            </a:extLst>
          </p:cNvPr>
          <p:cNvCxnSpPr/>
          <p:nvPr/>
        </p:nvCxnSpPr>
        <p:spPr bwMode="auto">
          <a:xfrm flipV="1">
            <a:off x="-1588" y="4477311"/>
            <a:ext cx="9183688" cy="36511"/>
          </a:xfrm>
          <a:prstGeom prst="line">
            <a:avLst/>
          </a:prstGeom>
          <a:noFill/>
          <a:ln w="9525" cap="flat" cmpd="sng" algn="ctr">
            <a:solidFill>
              <a:srgbClr val="C0C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Text Box 67">
            <a:extLst>
              <a:ext uri="{FF2B5EF4-FFF2-40B4-BE49-F238E27FC236}">
                <a16:creationId xmlns:a16="http://schemas.microsoft.com/office/drawing/2014/main" id="{7587DA77-F6C7-4959-8BF9-D5F913C2E694}"/>
              </a:ext>
            </a:extLst>
          </p:cNvPr>
          <p:cNvSpPr txBox="1">
            <a:spLocks noChangeArrowheads="1"/>
          </p:cNvSpPr>
          <p:nvPr/>
        </p:nvSpPr>
        <p:spPr bwMode="auto">
          <a:xfrm>
            <a:off x="36512" y="129561"/>
            <a:ext cx="31470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dirty="0"/>
              <a:t>Comparación de dos proporciones</a:t>
            </a:r>
            <a:endParaRPr lang="es-ES" altLang="es-ES" sz="1400"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a:extLst>
              <a:ext uri="{FF2B5EF4-FFF2-40B4-BE49-F238E27FC236}">
                <a16:creationId xmlns:a16="http://schemas.microsoft.com/office/drawing/2014/main" id="{B0D535C6-8EB8-47FC-8842-CC8C8C18EBD4}"/>
              </a:ext>
            </a:extLst>
          </p:cNvPr>
          <p:cNvSpPr txBox="1">
            <a:spLocks noChangeArrowheads="1"/>
          </p:cNvSpPr>
          <p:nvPr/>
        </p:nvSpPr>
        <p:spPr bwMode="auto">
          <a:xfrm>
            <a:off x="19050" y="301625"/>
            <a:ext cx="51371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a:t>Test de comparación de dos proporciones independientes</a:t>
            </a:r>
            <a:endParaRPr lang="es-ES" altLang="es-ES" sz="1400" b="1"/>
          </a:p>
        </p:txBody>
      </p:sp>
      <p:graphicFrame>
        <p:nvGraphicFramePr>
          <p:cNvPr id="12291" name="55 Objeto">
            <a:extLst>
              <a:ext uri="{FF2B5EF4-FFF2-40B4-BE49-F238E27FC236}">
                <a16:creationId xmlns:a16="http://schemas.microsoft.com/office/drawing/2014/main" id="{9A212EC8-C1F7-429C-BB98-BAE5A7EFAA9C}"/>
              </a:ext>
            </a:extLst>
          </p:cNvPr>
          <p:cNvGraphicFramePr>
            <a:graphicFrameLocks noChangeAspect="1"/>
          </p:cNvGraphicFramePr>
          <p:nvPr/>
        </p:nvGraphicFramePr>
        <p:xfrm>
          <a:off x="5334000" y="3287713"/>
          <a:ext cx="3198813" cy="1076325"/>
        </p:xfrm>
        <a:graphic>
          <a:graphicData uri="http://schemas.openxmlformats.org/presentationml/2006/ole">
            <mc:AlternateContent xmlns:mc="http://schemas.openxmlformats.org/markup-compatibility/2006">
              <mc:Choice xmlns:v="urn:schemas-microsoft-com:vml" Requires="v">
                <p:oleObj name="Equation" r:id="rId3" imgW="3416300" imgH="1193800" progId="Equation.DSMT4">
                  <p:embed/>
                </p:oleObj>
              </mc:Choice>
              <mc:Fallback>
                <p:oleObj name="Equation" r:id="rId3" imgW="3416300" imgH="1193800" progId="Equation.DSMT4">
                  <p:embed/>
                  <p:pic>
                    <p:nvPicPr>
                      <p:cNvPr id="12291" name="55 Objeto">
                        <a:extLst>
                          <a:ext uri="{FF2B5EF4-FFF2-40B4-BE49-F238E27FC236}">
                            <a16:creationId xmlns:a16="http://schemas.microsoft.com/office/drawing/2014/main" id="{9A212EC8-C1F7-429C-BB98-BAE5A7EFAA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3287713"/>
                        <a:ext cx="319881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2" name="Rectangle 21">
            <a:extLst>
              <a:ext uri="{FF2B5EF4-FFF2-40B4-BE49-F238E27FC236}">
                <a16:creationId xmlns:a16="http://schemas.microsoft.com/office/drawing/2014/main" id="{86EEFC1C-B2BB-43D6-80AA-C19EB0464DDE}"/>
              </a:ext>
            </a:extLst>
          </p:cNvPr>
          <p:cNvSpPr>
            <a:spLocks noChangeArrowheads="1"/>
          </p:cNvSpPr>
          <p:nvPr/>
        </p:nvSpPr>
        <p:spPr bwMode="auto">
          <a:xfrm>
            <a:off x="304800" y="838200"/>
            <a:ext cx="8610600" cy="109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_tradnl" altLang="es-ES" sz="1300" dirty="0">
                <a:solidFill>
                  <a:srgbClr val="006666"/>
                </a:solidFill>
              </a:rPr>
              <a:t># EJEMPLO:  Se estudia la asociación entre el riesgo cardiovascular (medido en términos de indicadores como la calcificación coronaria, el índice aterogénico, </a:t>
            </a:r>
            <a:r>
              <a:rPr lang="es-ES_tradnl" altLang="es-ES" sz="1300" dirty="0" err="1">
                <a:solidFill>
                  <a:srgbClr val="006666"/>
                </a:solidFill>
              </a:rPr>
              <a:t>etc</a:t>
            </a:r>
            <a:r>
              <a:rPr lang="es-ES_tradnl" altLang="es-ES" sz="1300" dirty="0">
                <a:solidFill>
                  <a:srgbClr val="006666"/>
                </a:solidFill>
              </a:rPr>
              <a:t>) y el consumo de tabaco. Para ello se consideró una muestra de 105 fumadores de los cuales 45 resultaron ser individuos de alto riesgo cardiovascular. En otra muestra (control) de 119 individuos no fumadores se observaron a 15 individuos con alto riesgo cardiovascular. ¿Puede decirse que la presencia de riesgo cardiovascular alto es diferente en fumadores  y no fumadores?</a:t>
            </a:r>
            <a:endParaRPr lang="es-ES" altLang="es-ES" sz="1300" dirty="0">
              <a:solidFill>
                <a:srgbClr val="006666"/>
              </a:solidFill>
            </a:endParaRPr>
          </a:p>
        </p:txBody>
      </p:sp>
      <p:sp>
        <p:nvSpPr>
          <p:cNvPr id="12293" name="2 CuadroTexto">
            <a:extLst>
              <a:ext uri="{FF2B5EF4-FFF2-40B4-BE49-F238E27FC236}">
                <a16:creationId xmlns:a16="http://schemas.microsoft.com/office/drawing/2014/main" id="{D45FE25B-1CBF-41CC-8001-77375C333906}"/>
              </a:ext>
            </a:extLst>
          </p:cNvPr>
          <p:cNvSpPr txBox="1">
            <a:spLocks noChangeArrowheads="1"/>
          </p:cNvSpPr>
          <p:nvPr/>
        </p:nvSpPr>
        <p:spPr bwMode="auto">
          <a:xfrm>
            <a:off x="334963" y="3276600"/>
            <a:ext cx="225414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dirty="0"/>
              <a:t>2.</a:t>
            </a:r>
            <a:r>
              <a:rPr lang="es-ES" altLang="es-ES" sz="1400" b="1" dirty="0"/>
              <a:t> Información muestral</a:t>
            </a:r>
            <a:r>
              <a:rPr lang="es-ES" altLang="es-ES" sz="1400" dirty="0"/>
              <a:t>:</a:t>
            </a:r>
          </a:p>
        </p:txBody>
      </p:sp>
      <p:sp>
        <p:nvSpPr>
          <p:cNvPr id="12294" name="7 CuadroTexto">
            <a:extLst>
              <a:ext uri="{FF2B5EF4-FFF2-40B4-BE49-F238E27FC236}">
                <a16:creationId xmlns:a16="http://schemas.microsoft.com/office/drawing/2014/main" id="{F3CDFF0B-F324-46FE-B0D9-78BBCF9AF2FC}"/>
              </a:ext>
            </a:extLst>
          </p:cNvPr>
          <p:cNvSpPr txBox="1">
            <a:spLocks noChangeArrowheads="1"/>
          </p:cNvSpPr>
          <p:nvPr/>
        </p:nvSpPr>
        <p:spPr bwMode="auto">
          <a:xfrm>
            <a:off x="334963" y="2054225"/>
            <a:ext cx="27478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dirty="0"/>
              <a:t>1. </a:t>
            </a:r>
            <a:r>
              <a:rPr lang="es-ES" altLang="es-ES" sz="1400" b="1" dirty="0"/>
              <a:t>Identificación del problema</a:t>
            </a:r>
            <a:r>
              <a:rPr lang="es-ES" altLang="es-ES" sz="1400" dirty="0"/>
              <a:t>:</a:t>
            </a:r>
          </a:p>
        </p:txBody>
      </p:sp>
      <p:sp>
        <p:nvSpPr>
          <p:cNvPr id="12295" name="8 CuadroTexto">
            <a:extLst>
              <a:ext uri="{FF2B5EF4-FFF2-40B4-BE49-F238E27FC236}">
                <a16:creationId xmlns:a16="http://schemas.microsoft.com/office/drawing/2014/main" id="{8B45B0FE-B5DE-492E-B9E9-495D1CCC655A}"/>
              </a:ext>
            </a:extLst>
          </p:cNvPr>
          <p:cNvSpPr txBox="1">
            <a:spLocks noChangeArrowheads="1"/>
          </p:cNvSpPr>
          <p:nvPr/>
        </p:nvSpPr>
        <p:spPr bwMode="auto">
          <a:xfrm>
            <a:off x="533400" y="2308225"/>
            <a:ext cx="830580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a:t>Se trata comparar la </a:t>
            </a:r>
            <a:r>
              <a:rPr lang="es-ES" altLang="es-ES" b="1"/>
              <a:t>proporción</a:t>
            </a:r>
            <a:r>
              <a:rPr lang="es-ES" altLang="es-ES"/>
              <a:t> de individuos con alto riesgo en la población de fumadores (=</a:t>
            </a:r>
            <a:r>
              <a:rPr lang="es-ES" altLang="es-ES" sz="1400" i="1">
                <a:latin typeface="Times New Roman" panose="02020603050405020304" pitchFamily="18" charset="0"/>
                <a:cs typeface="Times New Roman" panose="02020603050405020304" pitchFamily="18" charset="0"/>
              </a:rPr>
              <a:t>p</a:t>
            </a:r>
            <a:r>
              <a:rPr lang="es-ES" altLang="es-ES" baseline="-25000"/>
              <a:t>1</a:t>
            </a:r>
            <a:r>
              <a:rPr lang="es-ES" altLang="es-ES"/>
              <a:t>) con la </a:t>
            </a:r>
            <a:r>
              <a:rPr lang="es-ES" altLang="es-ES" b="1"/>
              <a:t>proporción</a:t>
            </a:r>
            <a:r>
              <a:rPr lang="es-ES" altLang="es-ES"/>
              <a:t> de individuos de alto riesgo en la población de no fumadores (=</a:t>
            </a:r>
            <a:r>
              <a:rPr lang="es-ES" altLang="es-ES" sz="1400" i="1">
                <a:latin typeface="Times New Roman" panose="02020603050405020304" pitchFamily="18" charset="0"/>
                <a:cs typeface="Times New Roman" panose="02020603050405020304" pitchFamily="18" charset="0"/>
              </a:rPr>
              <a:t>p</a:t>
            </a:r>
            <a:r>
              <a:rPr lang="es-ES" altLang="es-ES" baseline="-25000"/>
              <a:t>2</a:t>
            </a:r>
            <a:r>
              <a:rPr lang="es-ES" altLang="es-ES"/>
              <a:t>). Se han tomado dos </a:t>
            </a:r>
            <a:r>
              <a:rPr lang="es-ES" altLang="es-ES" b="1"/>
              <a:t>muestras</a:t>
            </a:r>
            <a:r>
              <a:rPr lang="es-ES" altLang="es-ES"/>
              <a:t> </a:t>
            </a:r>
            <a:r>
              <a:rPr lang="es-ES" altLang="es-ES" b="1"/>
              <a:t>independientes</a:t>
            </a:r>
            <a:r>
              <a:rPr lang="es-ES" altLang="es-ES"/>
              <a:t> correspondientes a cada una de ellas, por lo tanto se trata de realizar un</a:t>
            </a:r>
            <a:r>
              <a:rPr lang="es-ES" altLang="es-ES" b="1"/>
              <a:t> test de homogeneidad de dos proporciones independientes</a:t>
            </a:r>
          </a:p>
        </p:txBody>
      </p:sp>
      <p:graphicFrame>
        <p:nvGraphicFramePr>
          <p:cNvPr id="12296" name="9 Objeto">
            <a:extLst>
              <a:ext uri="{FF2B5EF4-FFF2-40B4-BE49-F238E27FC236}">
                <a16:creationId xmlns:a16="http://schemas.microsoft.com/office/drawing/2014/main" id="{F2E8B0B9-A5B4-4677-8274-0C96C3D7EF81}"/>
              </a:ext>
            </a:extLst>
          </p:cNvPr>
          <p:cNvGraphicFramePr>
            <a:graphicFrameLocks noChangeAspect="1"/>
          </p:cNvGraphicFramePr>
          <p:nvPr/>
        </p:nvGraphicFramePr>
        <p:xfrm>
          <a:off x="609600" y="3657600"/>
          <a:ext cx="3487738" cy="541338"/>
        </p:xfrm>
        <a:graphic>
          <a:graphicData uri="http://schemas.openxmlformats.org/presentationml/2006/ole">
            <mc:AlternateContent xmlns:mc="http://schemas.openxmlformats.org/markup-compatibility/2006">
              <mc:Choice xmlns:v="urn:schemas-microsoft-com:vml" Requires="v">
                <p:oleObj name="Equation" r:id="rId5" imgW="2832100" imgH="457200" progId="Equation.DSMT4">
                  <p:embed/>
                </p:oleObj>
              </mc:Choice>
              <mc:Fallback>
                <p:oleObj name="Equation" r:id="rId5" imgW="2832100" imgH="457200" progId="Equation.DSMT4">
                  <p:embed/>
                  <p:pic>
                    <p:nvPicPr>
                      <p:cNvPr id="12296" name="9 Objeto">
                        <a:extLst>
                          <a:ext uri="{FF2B5EF4-FFF2-40B4-BE49-F238E27FC236}">
                            <a16:creationId xmlns:a16="http://schemas.microsoft.com/office/drawing/2014/main" id="{F2E8B0B9-A5B4-4677-8274-0C96C3D7EF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3657600"/>
                        <a:ext cx="3487738" cy="541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12297" name="4 Conector recto de flecha">
            <a:extLst>
              <a:ext uri="{FF2B5EF4-FFF2-40B4-BE49-F238E27FC236}">
                <a16:creationId xmlns:a16="http://schemas.microsoft.com/office/drawing/2014/main" id="{035B3609-F94C-4C33-82F8-C88347B8A13B}"/>
              </a:ext>
            </a:extLst>
          </p:cNvPr>
          <p:cNvCxnSpPr>
            <a:cxnSpLocks noChangeShapeType="1"/>
          </p:cNvCxnSpPr>
          <p:nvPr/>
        </p:nvCxnSpPr>
        <p:spPr bwMode="auto">
          <a:xfrm>
            <a:off x="4267200" y="3962400"/>
            <a:ext cx="533400"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2298" name="13 Objeto">
            <a:extLst>
              <a:ext uri="{FF2B5EF4-FFF2-40B4-BE49-F238E27FC236}">
                <a16:creationId xmlns:a16="http://schemas.microsoft.com/office/drawing/2014/main" id="{140008C3-FDC5-468C-8392-CEEC144D39D6}"/>
              </a:ext>
            </a:extLst>
          </p:cNvPr>
          <p:cNvGraphicFramePr>
            <a:graphicFrameLocks noChangeAspect="1"/>
          </p:cNvGraphicFramePr>
          <p:nvPr/>
        </p:nvGraphicFramePr>
        <p:xfrm>
          <a:off x="609600" y="4564063"/>
          <a:ext cx="1595438" cy="541337"/>
        </p:xfrm>
        <a:graphic>
          <a:graphicData uri="http://schemas.openxmlformats.org/presentationml/2006/ole">
            <mc:AlternateContent xmlns:mc="http://schemas.openxmlformats.org/markup-compatibility/2006">
              <mc:Choice xmlns:v="urn:schemas-microsoft-com:vml" Requires="v">
                <p:oleObj name="Equation" r:id="rId7" imgW="1295400" imgH="457200" progId="Equation.DSMT4">
                  <p:embed/>
                </p:oleObj>
              </mc:Choice>
              <mc:Fallback>
                <p:oleObj name="Equation" r:id="rId7" imgW="1295400" imgH="457200" progId="Equation.DSMT4">
                  <p:embed/>
                  <p:pic>
                    <p:nvPicPr>
                      <p:cNvPr id="12298" name="13 Objeto">
                        <a:extLst>
                          <a:ext uri="{FF2B5EF4-FFF2-40B4-BE49-F238E27FC236}">
                            <a16:creationId xmlns:a16="http://schemas.microsoft.com/office/drawing/2014/main" id="{140008C3-FDC5-468C-8392-CEEC144D39D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 y="4564063"/>
                        <a:ext cx="1595438" cy="541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9" name="14 CuadroTexto">
            <a:extLst>
              <a:ext uri="{FF2B5EF4-FFF2-40B4-BE49-F238E27FC236}">
                <a16:creationId xmlns:a16="http://schemas.microsoft.com/office/drawing/2014/main" id="{8FB7981F-325E-4B77-97F1-73BAE58D9F96}"/>
              </a:ext>
            </a:extLst>
          </p:cNvPr>
          <p:cNvSpPr txBox="1">
            <a:spLocks noChangeArrowheads="1"/>
          </p:cNvSpPr>
          <p:nvPr/>
        </p:nvSpPr>
        <p:spPr bwMode="auto">
          <a:xfrm>
            <a:off x="533400" y="4267200"/>
            <a:ext cx="4038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a:t>La estimación puntual de las proporciones de interés es:</a:t>
            </a:r>
          </a:p>
        </p:txBody>
      </p:sp>
      <p:sp>
        <p:nvSpPr>
          <p:cNvPr id="12300" name="15 CuadroTexto">
            <a:extLst>
              <a:ext uri="{FF2B5EF4-FFF2-40B4-BE49-F238E27FC236}">
                <a16:creationId xmlns:a16="http://schemas.microsoft.com/office/drawing/2014/main" id="{3C74F8DC-B281-4F9D-83FD-F815012FE913}"/>
              </a:ext>
            </a:extLst>
          </p:cNvPr>
          <p:cNvSpPr txBox="1">
            <a:spLocks noChangeArrowheads="1"/>
          </p:cNvSpPr>
          <p:nvPr/>
        </p:nvSpPr>
        <p:spPr bwMode="auto">
          <a:xfrm>
            <a:off x="2247900" y="4572000"/>
            <a:ext cx="6591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a:t>Puntualmente, el riesgo elevado se observa en el 42.9% de los fumadores y en el 12.6% de los no fumadores. </a:t>
            </a:r>
          </a:p>
        </p:txBody>
      </p:sp>
      <p:sp>
        <p:nvSpPr>
          <p:cNvPr id="12301" name="16 CuadroTexto">
            <a:extLst>
              <a:ext uri="{FF2B5EF4-FFF2-40B4-BE49-F238E27FC236}">
                <a16:creationId xmlns:a16="http://schemas.microsoft.com/office/drawing/2014/main" id="{7D3BF512-F330-44BC-A8B9-2ACD80910D09}"/>
              </a:ext>
            </a:extLst>
          </p:cNvPr>
          <p:cNvSpPr txBox="1">
            <a:spLocks noChangeArrowheads="1"/>
          </p:cNvSpPr>
          <p:nvPr/>
        </p:nvSpPr>
        <p:spPr bwMode="auto">
          <a:xfrm>
            <a:off x="334963" y="5257800"/>
            <a:ext cx="118814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dirty="0"/>
              <a:t>3. </a:t>
            </a:r>
            <a:r>
              <a:rPr lang="es-ES" altLang="es-ES" sz="1400" b="1" dirty="0"/>
              <a:t>Hipótesis</a:t>
            </a:r>
          </a:p>
        </p:txBody>
      </p:sp>
      <p:graphicFrame>
        <p:nvGraphicFramePr>
          <p:cNvPr id="12302" name="17 Objeto">
            <a:extLst>
              <a:ext uri="{FF2B5EF4-FFF2-40B4-BE49-F238E27FC236}">
                <a16:creationId xmlns:a16="http://schemas.microsoft.com/office/drawing/2014/main" id="{03DFA1D7-B37A-4274-9DE8-3F7E3FA0A962}"/>
              </a:ext>
            </a:extLst>
          </p:cNvPr>
          <p:cNvGraphicFramePr>
            <a:graphicFrameLocks noChangeAspect="1"/>
          </p:cNvGraphicFramePr>
          <p:nvPr/>
        </p:nvGraphicFramePr>
        <p:xfrm>
          <a:off x="609600" y="5638800"/>
          <a:ext cx="8070850" cy="571500"/>
        </p:xfrm>
        <a:graphic>
          <a:graphicData uri="http://schemas.openxmlformats.org/presentationml/2006/ole">
            <mc:AlternateContent xmlns:mc="http://schemas.openxmlformats.org/markup-compatibility/2006">
              <mc:Choice xmlns:v="urn:schemas-microsoft-com:vml" Requires="v">
                <p:oleObj name="Equation" r:id="rId9" imgW="6553200" imgH="482600" progId="Equation.DSMT4">
                  <p:embed/>
                </p:oleObj>
              </mc:Choice>
              <mc:Fallback>
                <p:oleObj name="Equation" r:id="rId9" imgW="6553200" imgH="482600" progId="Equation.DSMT4">
                  <p:embed/>
                  <p:pic>
                    <p:nvPicPr>
                      <p:cNvPr id="12302" name="17 Objeto">
                        <a:extLst>
                          <a:ext uri="{FF2B5EF4-FFF2-40B4-BE49-F238E27FC236}">
                            <a16:creationId xmlns:a16="http://schemas.microsoft.com/office/drawing/2014/main" id="{03DFA1D7-B37A-4274-9DE8-3F7E3FA0A96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600" y="5638800"/>
                        <a:ext cx="80708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04" name="18 CuadroTexto">
            <a:extLst>
              <a:ext uri="{FF2B5EF4-FFF2-40B4-BE49-F238E27FC236}">
                <a16:creationId xmlns:a16="http://schemas.microsoft.com/office/drawing/2014/main" id="{E719DE08-53E0-472D-A3FA-B599FD551EAF}"/>
              </a:ext>
            </a:extLst>
          </p:cNvPr>
          <p:cNvSpPr txBox="1">
            <a:spLocks noChangeArrowheads="1"/>
          </p:cNvSpPr>
          <p:nvPr/>
        </p:nvSpPr>
        <p:spPr bwMode="auto">
          <a:xfrm>
            <a:off x="533400" y="6269038"/>
            <a:ext cx="82438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a:t>Declararemos significativo al test si  </a:t>
            </a:r>
            <a:r>
              <a:rPr lang="es-ES" altLang="es-ES" i="1"/>
              <a:t>P </a:t>
            </a:r>
            <a:r>
              <a:rPr lang="es-ES" altLang="es-ES"/>
              <a:t>≤ </a:t>
            </a:r>
            <a:r>
              <a:rPr lang="es-ES" altLang="es-ES" sz="1600">
                <a:latin typeface="Symbol" panose="05050102010706020507" pitchFamily="18" charset="2"/>
              </a:rPr>
              <a:t>a</a:t>
            </a:r>
            <a:r>
              <a:rPr lang="es-ES" altLang="es-ES" sz="1400">
                <a:latin typeface="Symbol" panose="05050102010706020507" pitchFamily="18" charset="2"/>
              </a:rPr>
              <a:t> </a:t>
            </a:r>
            <a:r>
              <a:rPr lang="es-ES" altLang="es-ES"/>
              <a:t>= 0.05</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2 CuadroTexto">
            <a:extLst>
              <a:ext uri="{FF2B5EF4-FFF2-40B4-BE49-F238E27FC236}">
                <a16:creationId xmlns:a16="http://schemas.microsoft.com/office/drawing/2014/main" id="{1BC73551-002D-4E16-BE65-03FFC9CEC9B3}"/>
              </a:ext>
            </a:extLst>
          </p:cNvPr>
          <p:cNvSpPr txBox="1">
            <a:spLocks noChangeArrowheads="1"/>
          </p:cNvSpPr>
          <p:nvPr/>
        </p:nvSpPr>
        <p:spPr bwMode="auto">
          <a:xfrm>
            <a:off x="334963" y="2438400"/>
            <a:ext cx="44582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dirty="0"/>
              <a:t>5. </a:t>
            </a:r>
            <a:r>
              <a:rPr lang="es-ES" altLang="es-ES" sz="1400" b="1" dirty="0"/>
              <a:t>Estadístico de contraste </a:t>
            </a:r>
            <a:r>
              <a:rPr lang="es-ES" altLang="es-ES" sz="1400" dirty="0"/>
              <a:t>(método incondicionado)</a:t>
            </a:r>
          </a:p>
        </p:txBody>
      </p:sp>
      <p:sp>
        <p:nvSpPr>
          <p:cNvPr id="14339" name="7 CuadroTexto">
            <a:extLst>
              <a:ext uri="{FF2B5EF4-FFF2-40B4-BE49-F238E27FC236}">
                <a16:creationId xmlns:a16="http://schemas.microsoft.com/office/drawing/2014/main" id="{6D41D8AA-4099-4106-916D-DBEEA591C7D6}"/>
              </a:ext>
            </a:extLst>
          </p:cNvPr>
          <p:cNvSpPr txBox="1">
            <a:spLocks noChangeArrowheads="1"/>
          </p:cNvSpPr>
          <p:nvPr/>
        </p:nvSpPr>
        <p:spPr bwMode="auto">
          <a:xfrm>
            <a:off x="334963" y="762000"/>
            <a:ext cx="47704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4625" indent="-174625">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a:t>4.</a:t>
            </a:r>
            <a:r>
              <a:rPr lang="es-ES" altLang="es-ES" sz="1400" b="1"/>
              <a:t>	Condiciones de validez </a:t>
            </a:r>
            <a:r>
              <a:rPr lang="es-ES" altLang="es-ES" sz="1400"/>
              <a:t>del test de comparación de dos proporciones independientes</a:t>
            </a:r>
          </a:p>
        </p:txBody>
      </p:sp>
      <p:sp>
        <p:nvSpPr>
          <p:cNvPr id="14340" name="15 CuadroTexto">
            <a:extLst>
              <a:ext uri="{FF2B5EF4-FFF2-40B4-BE49-F238E27FC236}">
                <a16:creationId xmlns:a16="http://schemas.microsoft.com/office/drawing/2014/main" id="{9DD9E1CC-0092-49DF-B62F-61875EDE24C6}"/>
              </a:ext>
            </a:extLst>
          </p:cNvPr>
          <p:cNvSpPr txBox="1">
            <a:spLocks noChangeArrowheads="1"/>
          </p:cNvSpPr>
          <p:nvPr/>
        </p:nvSpPr>
        <p:spPr bwMode="auto">
          <a:xfrm>
            <a:off x="904875" y="3994150"/>
            <a:ext cx="7400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i="1" dirty="0"/>
              <a:t>P</a:t>
            </a:r>
            <a:r>
              <a:rPr lang="es-ES" altLang="es-ES" sz="1400" dirty="0"/>
              <a:t>&lt;0.001 (en la tabla de la distribución normal estándar)</a:t>
            </a:r>
          </a:p>
        </p:txBody>
      </p:sp>
      <p:graphicFrame>
        <p:nvGraphicFramePr>
          <p:cNvPr id="14341" name="18 Objeto">
            <a:extLst>
              <a:ext uri="{FF2B5EF4-FFF2-40B4-BE49-F238E27FC236}">
                <a16:creationId xmlns:a16="http://schemas.microsoft.com/office/drawing/2014/main" id="{CD55BEEE-256A-4BF6-ACDF-F127027A5AE7}"/>
              </a:ext>
            </a:extLst>
          </p:cNvPr>
          <p:cNvGraphicFramePr>
            <a:graphicFrameLocks noChangeAspect="1"/>
          </p:cNvGraphicFramePr>
          <p:nvPr/>
        </p:nvGraphicFramePr>
        <p:xfrm>
          <a:off x="585788" y="1371600"/>
          <a:ext cx="4348162" cy="496888"/>
        </p:xfrm>
        <a:graphic>
          <a:graphicData uri="http://schemas.openxmlformats.org/presentationml/2006/ole">
            <mc:AlternateContent xmlns:mc="http://schemas.openxmlformats.org/markup-compatibility/2006">
              <mc:Choice xmlns:v="urn:schemas-microsoft-com:vml" Requires="v">
                <p:oleObj name="Equation" r:id="rId3" imgW="3530600" imgH="419100" progId="Equation.DSMT4">
                  <p:embed/>
                </p:oleObj>
              </mc:Choice>
              <mc:Fallback>
                <p:oleObj name="Equation" r:id="rId3" imgW="3530600" imgH="419100" progId="Equation.DSMT4">
                  <p:embed/>
                  <p:pic>
                    <p:nvPicPr>
                      <p:cNvPr id="14341" name="18 Objeto">
                        <a:extLst>
                          <a:ext uri="{FF2B5EF4-FFF2-40B4-BE49-F238E27FC236}">
                            <a16:creationId xmlns:a16="http://schemas.microsoft.com/office/drawing/2014/main" id="{CD55BEEE-256A-4BF6-ACDF-F127027A5A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5788" y="1371600"/>
                        <a:ext cx="4348162" cy="49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2" name="19 CuadroTexto">
            <a:extLst>
              <a:ext uri="{FF2B5EF4-FFF2-40B4-BE49-F238E27FC236}">
                <a16:creationId xmlns:a16="http://schemas.microsoft.com/office/drawing/2014/main" id="{6027526C-A04C-478A-BA79-78BAF912E614}"/>
              </a:ext>
            </a:extLst>
          </p:cNvPr>
          <p:cNvSpPr txBox="1">
            <a:spLocks noChangeArrowheads="1"/>
          </p:cNvSpPr>
          <p:nvPr/>
        </p:nvSpPr>
        <p:spPr bwMode="auto">
          <a:xfrm>
            <a:off x="503238" y="1876425"/>
            <a:ext cx="5897562"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dirty="0"/>
              <a:t>Cómo 28.1&gt;7.7, el método que sigue a continuación es aplicable</a:t>
            </a:r>
          </a:p>
        </p:txBody>
      </p:sp>
      <p:grpSp>
        <p:nvGrpSpPr>
          <p:cNvPr id="14343" name="3 Grupo">
            <a:extLst>
              <a:ext uri="{FF2B5EF4-FFF2-40B4-BE49-F238E27FC236}">
                <a16:creationId xmlns:a16="http://schemas.microsoft.com/office/drawing/2014/main" id="{DA935836-F2E0-4B60-9BEA-802F0AB810F7}"/>
              </a:ext>
            </a:extLst>
          </p:cNvPr>
          <p:cNvGrpSpPr>
            <a:grpSpLocks/>
          </p:cNvGrpSpPr>
          <p:nvPr/>
        </p:nvGrpSpPr>
        <p:grpSpPr bwMode="auto">
          <a:xfrm>
            <a:off x="585788" y="2798763"/>
            <a:ext cx="7185025" cy="812800"/>
            <a:chOff x="585788" y="2677905"/>
            <a:chExt cx="7185024" cy="812800"/>
          </a:xfrm>
        </p:grpSpPr>
        <p:graphicFrame>
          <p:nvGraphicFramePr>
            <p:cNvPr id="14352" name="9 Objeto">
              <a:extLst>
                <a:ext uri="{FF2B5EF4-FFF2-40B4-BE49-F238E27FC236}">
                  <a16:creationId xmlns:a16="http://schemas.microsoft.com/office/drawing/2014/main" id="{1BBF633B-C0C1-435E-8102-90F426B8D265}"/>
                </a:ext>
              </a:extLst>
            </p:cNvPr>
            <p:cNvGraphicFramePr>
              <a:graphicFrameLocks noChangeAspect="1"/>
            </p:cNvGraphicFramePr>
            <p:nvPr/>
          </p:nvGraphicFramePr>
          <p:xfrm>
            <a:off x="585788" y="2677905"/>
            <a:ext cx="3567112" cy="812800"/>
          </p:xfrm>
          <a:graphic>
            <a:graphicData uri="http://schemas.openxmlformats.org/presentationml/2006/ole">
              <mc:AlternateContent xmlns:mc="http://schemas.openxmlformats.org/markup-compatibility/2006">
                <mc:Choice xmlns:v="urn:schemas-microsoft-com:vml" Requires="v">
                  <p:oleObj name="Equation" r:id="rId5" imgW="2895480" imgH="685800" progId="Equation.DSMT4">
                    <p:embed/>
                  </p:oleObj>
                </mc:Choice>
                <mc:Fallback>
                  <p:oleObj name="Equation" r:id="rId5" imgW="2895480" imgH="685800" progId="Equation.DSMT4">
                    <p:embed/>
                    <p:pic>
                      <p:nvPicPr>
                        <p:cNvPr id="14352" name="9 Objeto">
                          <a:extLst>
                            <a:ext uri="{FF2B5EF4-FFF2-40B4-BE49-F238E27FC236}">
                              <a16:creationId xmlns:a16="http://schemas.microsoft.com/office/drawing/2014/main" id="{1BBF633B-C0C1-435E-8102-90F426B8D265}"/>
                            </a:ext>
                          </a:extLst>
                        </p:cNvPr>
                        <p:cNvPicPr>
                          <a:picLocks noChangeAspect="1" noChangeArrowheads="1"/>
                        </p:cNvPicPr>
                        <p:nvPr/>
                      </p:nvPicPr>
                      <p:blipFill>
                        <a:blip r:embed="rId6"/>
                        <a:srcRect/>
                        <a:stretch>
                          <a:fillRect/>
                        </a:stretch>
                      </p:blipFill>
                      <p:spPr bwMode="auto">
                        <a:xfrm>
                          <a:off x="585788" y="2677905"/>
                          <a:ext cx="3567112"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14353" name="4 Conector recto de flecha">
              <a:extLst>
                <a:ext uri="{FF2B5EF4-FFF2-40B4-BE49-F238E27FC236}">
                  <a16:creationId xmlns:a16="http://schemas.microsoft.com/office/drawing/2014/main" id="{4893E7BD-E3B4-4E58-8798-F6872CB24EF6}"/>
                </a:ext>
              </a:extLst>
            </p:cNvPr>
            <p:cNvCxnSpPr>
              <a:cxnSpLocks noChangeShapeType="1"/>
            </p:cNvCxnSpPr>
            <p:nvPr/>
          </p:nvCxnSpPr>
          <p:spPr bwMode="auto">
            <a:xfrm>
              <a:off x="4343400" y="2981528"/>
              <a:ext cx="381000"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4354" name="20 Objeto">
              <a:extLst>
                <a:ext uri="{FF2B5EF4-FFF2-40B4-BE49-F238E27FC236}">
                  <a16:creationId xmlns:a16="http://schemas.microsoft.com/office/drawing/2014/main" id="{0AD67F96-471D-42F2-9568-B2B7236A1A36}"/>
                </a:ext>
              </a:extLst>
            </p:cNvPr>
            <p:cNvGraphicFramePr>
              <a:graphicFrameLocks noChangeAspect="1"/>
            </p:cNvGraphicFramePr>
            <p:nvPr/>
          </p:nvGraphicFramePr>
          <p:xfrm>
            <a:off x="4876800" y="2700724"/>
            <a:ext cx="2894012" cy="768350"/>
          </p:xfrm>
          <a:graphic>
            <a:graphicData uri="http://schemas.openxmlformats.org/presentationml/2006/ole">
              <mc:AlternateContent xmlns:mc="http://schemas.openxmlformats.org/markup-compatibility/2006">
                <mc:Choice xmlns:v="urn:schemas-microsoft-com:vml" Requires="v">
                  <p:oleObj name="Equation" r:id="rId7" imgW="2349500" imgH="647700" progId="Equation.DSMT4">
                    <p:embed/>
                  </p:oleObj>
                </mc:Choice>
                <mc:Fallback>
                  <p:oleObj name="Equation" r:id="rId7" imgW="2349500" imgH="647700" progId="Equation.DSMT4">
                    <p:embed/>
                    <p:pic>
                      <p:nvPicPr>
                        <p:cNvPr id="14354" name="20 Objeto">
                          <a:extLst>
                            <a:ext uri="{FF2B5EF4-FFF2-40B4-BE49-F238E27FC236}">
                              <a16:creationId xmlns:a16="http://schemas.microsoft.com/office/drawing/2014/main" id="{0AD67F96-471D-42F2-9568-B2B7236A1A3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6800" y="2700724"/>
                          <a:ext cx="2894012" cy="76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cxnSp>
        <p:nvCxnSpPr>
          <p:cNvPr id="14344" name="10 Conector recto de flecha">
            <a:extLst>
              <a:ext uri="{FF2B5EF4-FFF2-40B4-BE49-F238E27FC236}">
                <a16:creationId xmlns:a16="http://schemas.microsoft.com/office/drawing/2014/main" id="{34C4FBBC-0747-4CDA-926A-A11636B51A63}"/>
              </a:ext>
            </a:extLst>
          </p:cNvPr>
          <p:cNvCxnSpPr>
            <a:cxnSpLocks noChangeShapeType="1"/>
          </p:cNvCxnSpPr>
          <p:nvPr/>
        </p:nvCxnSpPr>
        <p:spPr bwMode="auto">
          <a:xfrm>
            <a:off x="609600" y="4146550"/>
            <a:ext cx="219075"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45" name="21 CuadroTexto">
            <a:extLst>
              <a:ext uri="{FF2B5EF4-FFF2-40B4-BE49-F238E27FC236}">
                <a16:creationId xmlns:a16="http://schemas.microsoft.com/office/drawing/2014/main" id="{784C8EBA-DC4C-4629-BECB-ADC172701F77}"/>
              </a:ext>
            </a:extLst>
          </p:cNvPr>
          <p:cNvSpPr txBox="1">
            <a:spLocks noChangeArrowheads="1"/>
          </p:cNvSpPr>
          <p:nvPr/>
        </p:nvSpPr>
        <p:spPr bwMode="auto">
          <a:xfrm>
            <a:off x="533400" y="4308475"/>
            <a:ext cx="8305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Suponiendo cierta la hipótesis (nula) de que la proporción de casos con alto riesgo cardiovascular es la misma en fumadores y no fumadores, la probabilidad de encontrar unos datos tan discrepantes o más con dicha hipótesis como los actuales es menor al 0.001 (menor al 1 por mil). Por tanto rechazamos dicha hipótesis asumiendo que las proporciones comparadas son diferentes</a:t>
            </a:r>
            <a:endParaRPr lang="es-ES" altLang="es-ES" sz="1400" b="1"/>
          </a:p>
        </p:txBody>
      </p:sp>
      <p:sp>
        <p:nvSpPr>
          <p:cNvPr id="14346" name="22 CuadroTexto">
            <a:extLst>
              <a:ext uri="{FF2B5EF4-FFF2-40B4-BE49-F238E27FC236}">
                <a16:creationId xmlns:a16="http://schemas.microsoft.com/office/drawing/2014/main" id="{B442E7F5-4E2A-4283-B695-4D140D2097AD}"/>
              </a:ext>
            </a:extLst>
          </p:cNvPr>
          <p:cNvSpPr txBox="1">
            <a:spLocks noChangeArrowheads="1"/>
          </p:cNvSpPr>
          <p:nvPr/>
        </p:nvSpPr>
        <p:spPr bwMode="auto">
          <a:xfrm>
            <a:off x="334963" y="5251450"/>
            <a:ext cx="411843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dirty="0"/>
              <a:t>6. </a:t>
            </a:r>
            <a:r>
              <a:rPr lang="es-ES" altLang="es-ES" sz="1400" b="1" dirty="0"/>
              <a:t>Magnitud de la diferencia </a:t>
            </a:r>
            <a:r>
              <a:rPr lang="es-ES" altLang="es-ES" sz="1400" dirty="0"/>
              <a:t>(tamaño del </a:t>
            </a:r>
            <a:r>
              <a:rPr lang="es-ES" altLang="es-ES" sz="1400" i="1" dirty="0"/>
              <a:t>efecto</a:t>
            </a:r>
            <a:r>
              <a:rPr lang="es-ES" altLang="es-ES" sz="1400" dirty="0"/>
              <a:t>)</a:t>
            </a:r>
          </a:p>
        </p:txBody>
      </p:sp>
      <p:graphicFrame>
        <p:nvGraphicFramePr>
          <p:cNvPr id="14347" name="24 Objeto">
            <a:extLst>
              <a:ext uri="{FF2B5EF4-FFF2-40B4-BE49-F238E27FC236}">
                <a16:creationId xmlns:a16="http://schemas.microsoft.com/office/drawing/2014/main" id="{AB018ED1-7F8A-4A59-ABA5-4891E601232E}"/>
              </a:ext>
            </a:extLst>
          </p:cNvPr>
          <p:cNvGraphicFramePr>
            <a:graphicFrameLocks noChangeAspect="1"/>
          </p:cNvGraphicFramePr>
          <p:nvPr/>
        </p:nvGraphicFramePr>
        <p:xfrm>
          <a:off x="1870075" y="5867400"/>
          <a:ext cx="5630863" cy="631825"/>
        </p:xfrm>
        <a:graphic>
          <a:graphicData uri="http://schemas.openxmlformats.org/presentationml/2006/ole">
            <mc:AlternateContent xmlns:mc="http://schemas.openxmlformats.org/markup-compatibility/2006">
              <mc:Choice xmlns:v="urn:schemas-microsoft-com:vml" Requires="v">
                <p:oleObj name="Equation" r:id="rId9" imgW="4572000" imgH="533160" progId="Equation.DSMT4">
                  <p:embed/>
                </p:oleObj>
              </mc:Choice>
              <mc:Fallback>
                <p:oleObj name="Equation" r:id="rId9" imgW="4572000" imgH="533160" progId="Equation.DSMT4">
                  <p:embed/>
                  <p:pic>
                    <p:nvPicPr>
                      <p:cNvPr id="14347" name="24 Objeto">
                        <a:extLst>
                          <a:ext uri="{FF2B5EF4-FFF2-40B4-BE49-F238E27FC236}">
                            <a16:creationId xmlns:a16="http://schemas.microsoft.com/office/drawing/2014/main" id="{AB018ED1-7F8A-4A59-ABA5-4891E601232E}"/>
                          </a:ext>
                        </a:extLst>
                      </p:cNvPr>
                      <p:cNvPicPr>
                        <a:picLocks noChangeAspect="1" noChangeArrowheads="1"/>
                      </p:cNvPicPr>
                      <p:nvPr/>
                    </p:nvPicPr>
                    <p:blipFill>
                      <a:blip r:embed="rId10"/>
                      <a:srcRect/>
                      <a:stretch>
                        <a:fillRect/>
                      </a:stretch>
                    </p:blipFill>
                    <p:spPr bwMode="auto">
                      <a:xfrm>
                        <a:off x="1870075" y="5867400"/>
                        <a:ext cx="5630863" cy="631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8" name="25 CuadroTexto">
            <a:extLst>
              <a:ext uri="{FF2B5EF4-FFF2-40B4-BE49-F238E27FC236}">
                <a16:creationId xmlns:a16="http://schemas.microsoft.com/office/drawing/2014/main" id="{18227B55-A049-484A-A7C0-57375C7237C8}"/>
              </a:ext>
            </a:extLst>
          </p:cNvPr>
          <p:cNvSpPr txBox="1">
            <a:spLocks noChangeArrowheads="1"/>
          </p:cNvSpPr>
          <p:nvPr/>
        </p:nvSpPr>
        <p:spPr bwMode="auto">
          <a:xfrm>
            <a:off x="533400" y="5559425"/>
            <a:ext cx="8305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Considerando el método de Agresti-Caffo:  </a:t>
            </a:r>
            <a:endParaRPr lang="es-ES" altLang="es-ES" sz="1400" b="1"/>
          </a:p>
        </p:txBody>
      </p:sp>
      <p:sp>
        <p:nvSpPr>
          <p:cNvPr id="14349" name="Text Box 2">
            <a:extLst>
              <a:ext uri="{FF2B5EF4-FFF2-40B4-BE49-F238E27FC236}">
                <a16:creationId xmlns:a16="http://schemas.microsoft.com/office/drawing/2014/main" id="{9BA078FC-571D-4E55-B87B-1E19D9D5154A}"/>
              </a:ext>
            </a:extLst>
          </p:cNvPr>
          <p:cNvSpPr txBox="1">
            <a:spLocks noChangeArrowheads="1"/>
          </p:cNvSpPr>
          <p:nvPr/>
        </p:nvSpPr>
        <p:spPr bwMode="auto">
          <a:xfrm>
            <a:off x="19050" y="301625"/>
            <a:ext cx="51371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a:t>Test de comparación de dos proporciones independientes</a:t>
            </a:r>
            <a:endParaRPr lang="es-ES" altLang="es-ES" sz="1400" b="1"/>
          </a:p>
        </p:txBody>
      </p:sp>
      <p:graphicFrame>
        <p:nvGraphicFramePr>
          <p:cNvPr id="14350" name="11 Objeto">
            <a:extLst>
              <a:ext uri="{FF2B5EF4-FFF2-40B4-BE49-F238E27FC236}">
                <a16:creationId xmlns:a16="http://schemas.microsoft.com/office/drawing/2014/main" id="{595B332C-C233-44CC-990E-6B4033E0229F}"/>
              </a:ext>
            </a:extLst>
          </p:cNvPr>
          <p:cNvGraphicFramePr>
            <a:graphicFrameLocks noChangeAspect="1"/>
          </p:cNvGraphicFramePr>
          <p:nvPr/>
        </p:nvGraphicFramePr>
        <p:xfrm>
          <a:off x="5716588" y="838200"/>
          <a:ext cx="3198812" cy="1076325"/>
        </p:xfrm>
        <a:graphic>
          <a:graphicData uri="http://schemas.openxmlformats.org/presentationml/2006/ole">
            <mc:AlternateContent xmlns:mc="http://schemas.openxmlformats.org/markup-compatibility/2006">
              <mc:Choice xmlns:v="urn:schemas-microsoft-com:vml" Requires="v">
                <p:oleObj name="Equation" r:id="rId11" imgW="3416300" imgH="1193800" progId="Equation.DSMT4">
                  <p:embed/>
                </p:oleObj>
              </mc:Choice>
              <mc:Fallback>
                <p:oleObj name="Equation" r:id="rId11" imgW="3416300" imgH="1193800" progId="Equation.DSMT4">
                  <p:embed/>
                  <p:pic>
                    <p:nvPicPr>
                      <p:cNvPr id="14350" name="11 Objeto">
                        <a:extLst>
                          <a:ext uri="{FF2B5EF4-FFF2-40B4-BE49-F238E27FC236}">
                            <a16:creationId xmlns:a16="http://schemas.microsoft.com/office/drawing/2014/main" id="{595B332C-C233-44CC-990E-6B4033E0229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16588" y="838200"/>
                        <a:ext cx="3198812"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51" name="12 Objeto">
            <a:extLst>
              <a:ext uri="{FF2B5EF4-FFF2-40B4-BE49-F238E27FC236}">
                <a16:creationId xmlns:a16="http://schemas.microsoft.com/office/drawing/2014/main" id="{BA02044F-5D83-428F-A021-F33659511E27}"/>
              </a:ext>
            </a:extLst>
          </p:cNvPr>
          <p:cNvGraphicFramePr>
            <a:graphicFrameLocks noChangeAspect="1"/>
          </p:cNvGraphicFramePr>
          <p:nvPr/>
        </p:nvGraphicFramePr>
        <p:xfrm>
          <a:off x="7315200" y="2001838"/>
          <a:ext cx="1563688" cy="512762"/>
        </p:xfrm>
        <a:graphic>
          <a:graphicData uri="http://schemas.openxmlformats.org/presentationml/2006/ole">
            <mc:AlternateContent xmlns:mc="http://schemas.openxmlformats.org/markup-compatibility/2006">
              <mc:Choice xmlns:v="urn:schemas-microsoft-com:vml" Requires="v">
                <p:oleObj name="Equation" r:id="rId13" imgW="1269449" imgH="431613" progId="Equation.DSMT4">
                  <p:embed/>
                </p:oleObj>
              </mc:Choice>
              <mc:Fallback>
                <p:oleObj name="Equation" r:id="rId13" imgW="1269449" imgH="431613" progId="Equation.DSMT4">
                  <p:embed/>
                  <p:pic>
                    <p:nvPicPr>
                      <p:cNvPr id="14351" name="12 Objeto">
                        <a:extLst>
                          <a:ext uri="{FF2B5EF4-FFF2-40B4-BE49-F238E27FC236}">
                            <a16:creationId xmlns:a16="http://schemas.microsoft.com/office/drawing/2014/main" id="{BA02044F-5D83-428F-A021-F33659511E2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15200" y="2001838"/>
                        <a:ext cx="1563688" cy="512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19 CuadroTexto">
            <a:extLst>
              <a:ext uri="{FF2B5EF4-FFF2-40B4-BE49-F238E27FC236}">
                <a16:creationId xmlns:a16="http://schemas.microsoft.com/office/drawing/2014/main" id="{BBAB8651-6F08-4616-97B4-D1DE47A7D125}"/>
              </a:ext>
            </a:extLst>
          </p:cNvPr>
          <p:cNvSpPr txBox="1">
            <a:spLocks noChangeArrowheads="1"/>
          </p:cNvSpPr>
          <p:nvPr/>
        </p:nvSpPr>
        <p:spPr bwMode="auto">
          <a:xfrm>
            <a:off x="503238" y="2124868"/>
            <a:ext cx="58975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dirty="0"/>
              <a:t>* Si hubiera sido </a:t>
            </a:r>
            <a:r>
              <a:rPr lang="es-ES" altLang="es-ES" sz="1400" i="1" dirty="0">
                <a:latin typeface="Times New Roman" panose="02020603050405020304" pitchFamily="18" charset="0"/>
                <a:cs typeface="Times New Roman" panose="02020603050405020304" pitchFamily="18" charset="0"/>
              </a:rPr>
              <a:t>N</a:t>
            </a:r>
            <a:r>
              <a:rPr lang="es-ES" altLang="es-ES" dirty="0"/>
              <a:t>&gt;500, debería verificarse </a:t>
            </a:r>
            <a:r>
              <a:rPr lang="es-ES" altLang="es-ES" sz="1400" i="1" dirty="0">
                <a:latin typeface="Times New Roman" panose="02020603050405020304" pitchFamily="18" charset="0"/>
                <a:cs typeface="Times New Roman" panose="02020603050405020304" pitchFamily="18" charset="0"/>
              </a:rPr>
              <a:t>E </a:t>
            </a:r>
            <a:r>
              <a:rPr lang="es-ES" altLang="es-ES" dirty="0"/>
              <a:t>≥14,9</a:t>
            </a:r>
          </a:p>
        </p:txBody>
      </p:sp>
      <p:grpSp>
        <p:nvGrpSpPr>
          <p:cNvPr id="6" name="Grupo 5">
            <a:extLst>
              <a:ext uri="{FF2B5EF4-FFF2-40B4-BE49-F238E27FC236}">
                <a16:creationId xmlns:a16="http://schemas.microsoft.com/office/drawing/2014/main" id="{9D60BC6E-4384-444D-B2BE-1773FF3DBE53}"/>
              </a:ext>
            </a:extLst>
          </p:cNvPr>
          <p:cNvGrpSpPr/>
          <p:nvPr/>
        </p:nvGrpSpPr>
        <p:grpSpPr>
          <a:xfrm>
            <a:off x="503238" y="3632298"/>
            <a:ext cx="3395662" cy="311393"/>
            <a:chOff x="503238" y="3632298"/>
            <a:chExt cx="3395662" cy="311393"/>
          </a:xfrm>
        </p:grpSpPr>
        <p:sp>
          <p:nvSpPr>
            <p:cNvPr id="22" name="19 CuadroTexto">
              <a:extLst>
                <a:ext uri="{FF2B5EF4-FFF2-40B4-BE49-F238E27FC236}">
                  <a16:creationId xmlns:a16="http://schemas.microsoft.com/office/drawing/2014/main" id="{1B111095-D58A-4EEA-B3FC-B752B848E937}"/>
                </a:ext>
              </a:extLst>
            </p:cNvPr>
            <p:cNvSpPr txBox="1">
              <a:spLocks noChangeArrowheads="1"/>
            </p:cNvSpPr>
            <p:nvPr/>
          </p:nvSpPr>
          <p:spPr bwMode="auto">
            <a:xfrm>
              <a:off x="503238" y="3632298"/>
              <a:ext cx="30781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dirty="0"/>
                <a:t>* Si hubiera sido </a:t>
              </a:r>
              <a:r>
                <a:rPr lang="es-ES" altLang="es-ES" sz="1400" i="1" dirty="0">
                  <a:latin typeface="Times New Roman" panose="02020603050405020304" pitchFamily="18" charset="0"/>
                  <a:cs typeface="Times New Roman" panose="02020603050405020304" pitchFamily="18" charset="0"/>
                </a:rPr>
                <a:t>n</a:t>
              </a:r>
              <a:r>
                <a:rPr lang="es-ES" altLang="es-ES" sz="1400" baseline="-25000" dirty="0">
                  <a:latin typeface="Times New Roman" panose="02020603050405020304" pitchFamily="18" charset="0"/>
                  <a:cs typeface="Times New Roman" panose="02020603050405020304" pitchFamily="18" charset="0"/>
                </a:rPr>
                <a:t>1</a:t>
              </a:r>
              <a:r>
                <a:rPr lang="es-ES" altLang="es-ES" sz="1400" i="1" dirty="0">
                  <a:latin typeface="Times New Roman" panose="02020603050405020304" pitchFamily="18" charset="0"/>
                  <a:cs typeface="Times New Roman" panose="02020603050405020304" pitchFamily="18" charset="0"/>
                </a:rPr>
                <a:t>=n</a:t>
              </a:r>
              <a:r>
                <a:rPr lang="es-ES" altLang="es-ES" sz="1400" baseline="-25000" dirty="0">
                  <a:latin typeface="Times New Roman" panose="02020603050405020304" pitchFamily="18" charset="0"/>
                  <a:cs typeface="Times New Roman" panose="02020603050405020304" pitchFamily="18" charset="0"/>
                </a:rPr>
                <a:t>2</a:t>
              </a:r>
              <a:r>
                <a:rPr lang="es-ES" altLang="es-ES" dirty="0"/>
                <a:t>, la </a:t>
              </a:r>
              <a:r>
                <a:rPr lang="es-ES" altLang="es-ES" i="1" dirty="0" err="1"/>
                <a:t>cpc</a:t>
              </a:r>
              <a:r>
                <a:rPr lang="es-ES" altLang="es-ES" dirty="0"/>
                <a:t> sería</a:t>
              </a:r>
            </a:p>
          </p:txBody>
        </p:sp>
        <p:graphicFrame>
          <p:nvGraphicFramePr>
            <p:cNvPr id="4" name="Objeto 3">
              <a:extLst>
                <a:ext uri="{FF2B5EF4-FFF2-40B4-BE49-F238E27FC236}">
                  <a16:creationId xmlns:a16="http://schemas.microsoft.com/office/drawing/2014/main" id="{E476066E-0492-4D87-B24E-3654FC353820}"/>
                </a:ext>
              </a:extLst>
            </p:cNvPr>
            <p:cNvGraphicFramePr>
              <a:graphicFrameLocks noChangeAspect="1"/>
            </p:cNvGraphicFramePr>
            <p:nvPr/>
          </p:nvGraphicFramePr>
          <p:xfrm>
            <a:off x="3081338" y="3675063"/>
            <a:ext cx="817562" cy="268628"/>
          </p:xfrm>
          <a:graphic>
            <a:graphicData uri="http://schemas.openxmlformats.org/presentationml/2006/ole">
              <mc:AlternateContent xmlns:mc="http://schemas.openxmlformats.org/markup-compatibility/2006">
                <mc:Choice xmlns:v="urn:schemas-microsoft-com:vml" Requires="v">
                  <p:oleObj name="Equation" r:id="rId15" imgW="736560" imgH="241200" progId="Equation.DSMT4">
                    <p:embed/>
                  </p:oleObj>
                </mc:Choice>
                <mc:Fallback>
                  <p:oleObj name="Equation" r:id="rId15" imgW="736560" imgH="241200" progId="Equation.DSMT4">
                    <p:embed/>
                    <p:pic>
                      <p:nvPicPr>
                        <p:cNvPr id="4" name="Objeto 3">
                          <a:extLst>
                            <a:ext uri="{FF2B5EF4-FFF2-40B4-BE49-F238E27FC236}">
                              <a16:creationId xmlns:a16="http://schemas.microsoft.com/office/drawing/2014/main" id="{E476066E-0492-4D87-B24E-3654FC353820}"/>
                            </a:ext>
                          </a:extLst>
                        </p:cNvPr>
                        <p:cNvPicPr/>
                        <p:nvPr/>
                      </p:nvPicPr>
                      <p:blipFill>
                        <a:blip r:embed="rId16"/>
                        <a:stretch>
                          <a:fillRect/>
                        </a:stretch>
                      </p:blipFill>
                      <p:spPr>
                        <a:xfrm>
                          <a:off x="3081338" y="3675063"/>
                          <a:ext cx="817562" cy="268628"/>
                        </a:xfrm>
                        <a:prstGeom prst="rect">
                          <a:avLst/>
                        </a:prstGeom>
                      </p:spPr>
                    </p:pic>
                  </p:oleObj>
                </mc:Fallback>
              </mc:AlternateContent>
            </a:graphicData>
          </a:graphic>
        </p:graphicFrame>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6" name="55 Objeto">
            <a:extLst>
              <a:ext uri="{FF2B5EF4-FFF2-40B4-BE49-F238E27FC236}">
                <a16:creationId xmlns:a16="http://schemas.microsoft.com/office/drawing/2014/main" id="{E1D4CEE3-82F4-4090-956E-31F874919168}"/>
              </a:ext>
            </a:extLst>
          </p:cNvPr>
          <p:cNvGraphicFramePr>
            <a:graphicFrameLocks noChangeAspect="1"/>
          </p:cNvGraphicFramePr>
          <p:nvPr/>
        </p:nvGraphicFramePr>
        <p:xfrm>
          <a:off x="5716588" y="838200"/>
          <a:ext cx="3198812" cy="1076325"/>
        </p:xfrm>
        <a:graphic>
          <a:graphicData uri="http://schemas.openxmlformats.org/presentationml/2006/ole">
            <mc:AlternateContent xmlns:mc="http://schemas.openxmlformats.org/markup-compatibility/2006">
              <mc:Choice xmlns:v="urn:schemas-microsoft-com:vml" Requires="v">
                <p:oleObj name="Equation" r:id="rId3" imgW="3416300" imgH="1193800" progId="Equation.DSMT4">
                  <p:embed/>
                </p:oleObj>
              </mc:Choice>
              <mc:Fallback>
                <p:oleObj name="Equation" r:id="rId3" imgW="3416300" imgH="1193800" progId="Equation.DSMT4">
                  <p:embed/>
                  <p:pic>
                    <p:nvPicPr>
                      <p:cNvPr id="16386" name="55 Objeto">
                        <a:extLst>
                          <a:ext uri="{FF2B5EF4-FFF2-40B4-BE49-F238E27FC236}">
                            <a16:creationId xmlns:a16="http://schemas.microsoft.com/office/drawing/2014/main" id="{E1D4CEE3-82F4-4090-956E-31F8749191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588" y="838200"/>
                        <a:ext cx="3198812"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87" name="22 CuadroTexto">
            <a:extLst>
              <a:ext uri="{FF2B5EF4-FFF2-40B4-BE49-F238E27FC236}">
                <a16:creationId xmlns:a16="http://schemas.microsoft.com/office/drawing/2014/main" id="{41A7C1BE-794F-4222-8808-3A739F8A54C3}"/>
              </a:ext>
            </a:extLst>
          </p:cNvPr>
          <p:cNvSpPr txBox="1">
            <a:spLocks noChangeArrowheads="1"/>
          </p:cNvSpPr>
          <p:nvPr/>
        </p:nvSpPr>
        <p:spPr bwMode="auto">
          <a:xfrm>
            <a:off x="304800" y="825500"/>
            <a:ext cx="3556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dirty="0"/>
              <a:t>6. Magnitud de la diferencia (continuación)</a:t>
            </a:r>
          </a:p>
        </p:txBody>
      </p:sp>
      <p:graphicFrame>
        <p:nvGraphicFramePr>
          <p:cNvPr id="16388" name="24 Objeto">
            <a:extLst>
              <a:ext uri="{FF2B5EF4-FFF2-40B4-BE49-F238E27FC236}">
                <a16:creationId xmlns:a16="http://schemas.microsoft.com/office/drawing/2014/main" id="{5903409A-317D-4E81-8BD3-043DE5D17977}"/>
              </a:ext>
            </a:extLst>
          </p:cNvPr>
          <p:cNvGraphicFramePr>
            <a:graphicFrameLocks noChangeAspect="1"/>
          </p:cNvGraphicFramePr>
          <p:nvPr/>
        </p:nvGraphicFramePr>
        <p:xfrm>
          <a:off x="609600" y="1905000"/>
          <a:ext cx="4349750" cy="301625"/>
        </p:xfrm>
        <a:graphic>
          <a:graphicData uri="http://schemas.openxmlformats.org/presentationml/2006/ole">
            <mc:AlternateContent xmlns:mc="http://schemas.openxmlformats.org/markup-compatibility/2006">
              <mc:Choice xmlns:v="urn:schemas-microsoft-com:vml" Requires="v">
                <p:oleObj name="Equation" r:id="rId5" imgW="3530600" imgH="254000" progId="Equation.DSMT4">
                  <p:embed/>
                </p:oleObj>
              </mc:Choice>
              <mc:Fallback>
                <p:oleObj name="Equation" r:id="rId5" imgW="3530600" imgH="254000" progId="Equation.DSMT4">
                  <p:embed/>
                  <p:pic>
                    <p:nvPicPr>
                      <p:cNvPr id="16388" name="24 Objeto">
                        <a:extLst>
                          <a:ext uri="{FF2B5EF4-FFF2-40B4-BE49-F238E27FC236}">
                            <a16:creationId xmlns:a16="http://schemas.microsoft.com/office/drawing/2014/main" id="{5903409A-317D-4E81-8BD3-043DE5D1797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1905000"/>
                        <a:ext cx="4349750" cy="301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9" name="25 CuadroTexto">
            <a:extLst>
              <a:ext uri="{FF2B5EF4-FFF2-40B4-BE49-F238E27FC236}">
                <a16:creationId xmlns:a16="http://schemas.microsoft.com/office/drawing/2014/main" id="{0AEB6B04-87EB-4D8B-AD80-1E0DA9BEF534}"/>
              </a:ext>
            </a:extLst>
          </p:cNvPr>
          <p:cNvSpPr txBox="1">
            <a:spLocks noChangeArrowheads="1"/>
          </p:cNvSpPr>
          <p:nvPr/>
        </p:nvSpPr>
        <p:spPr bwMode="auto">
          <a:xfrm>
            <a:off x="571500" y="1293813"/>
            <a:ext cx="2387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Al 95% de confianza</a:t>
            </a:r>
            <a:endParaRPr lang="es-ES" altLang="es-ES" sz="1400" b="1"/>
          </a:p>
        </p:txBody>
      </p:sp>
      <p:graphicFrame>
        <p:nvGraphicFramePr>
          <p:cNvPr id="16390" name="17 Objeto">
            <a:extLst>
              <a:ext uri="{FF2B5EF4-FFF2-40B4-BE49-F238E27FC236}">
                <a16:creationId xmlns:a16="http://schemas.microsoft.com/office/drawing/2014/main" id="{5133466E-114F-45AC-8CC6-6683157929EB}"/>
              </a:ext>
            </a:extLst>
          </p:cNvPr>
          <p:cNvGraphicFramePr>
            <a:graphicFrameLocks noChangeAspect="1"/>
          </p:cNvGraphicFramePr>
          <p:nvPr>
            <p:extLst>
              <p:ext uri="{D42A27DB-BD31-4B8C-83A1-F6EECF244321}">
                <p14:modId xmlns:p14="http://schemas.microsoft.com/office/powerpoint/2010/main" val="3270761266"/>
              </p:ext>
            </p:extLst>
          </p:nvPr>
        </p:nvGraphicFramePr>
        <p:xfrm>
          <a:off x="2333625" y="1166813"/>
          <a:ext cx="2330450" cy="601662"/>
        </p:xfrm>
        <a:graphic>
          <a:graphicData uri="http://schemas.openxmlformats.org/presentationml/2006/ole">
            <mc:AlternateContent xmlns:mc="http://schemas.openxmlformats.org/markup-compatibility/2006">
              <mc:Choice xmlns:v="urn:schemas-microsoft-com:vml" Requires="v">
                <p:oleObj name="Equation" r:id="rId7" imgW="1892300" imgH="508000" progId="Equation.DSMT4">
                  <p:embed/>
                </p:oleObj>
              </mc:Choice>
              <mc:Fallback>
                <p:oleObj name="Equation" r:id="rId7" imgW="1892300" imgH="508000" progId="Equation.DSMT4">
                  <p:embed/>
                  <p:pic>
                    <p:nvPicPr>
                      <p:cNvPr id="16390" name="17 Objeto">
                        <a:extLst>
                          <a:ext uri="{FF2B5EF4-FFF2-40B4-BE49-F238E27FC236}">
                            <a16:creationId xmlns:a16="http://schemas.microsoft.com/office/drawing/2014/main" id="{5133466E-114F-45AC-8CC6-6683157929E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33625" y="1166813"/>
                        <a:ext cx="2330450" cy="601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91" name="23 CuadroTexto">
            <a:extLst>
              <a:ext uri="{FF2B5EF4-FFF2-40B4-BE49-F238E27FC236}">
                <a16:creationId xmlns:a16="http://schemas.microsoft.com/office/drawing/2014/main" id="{EC11DD3E-EBAE-4129-82B0-158CC06A7308}"/>
              </a:ext>
            </a:extLst>
          </p:cNvPr>
          <p:cNvSpPr txBox="1">
            <a:spLocks noChangeArrowheads="1"/>
          </p:cNvSpPr>
          <p:nvPr/>
        </p:nvSpPr>
        <p:spPr bwMode="auto">
          <a:xfrm>
            <a:off x="533400" y="2438400"/>
            <a:ext cx="8305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Con un 95% de confianza, la proporción de casos con alto riesgo cardiovascular es un valor comprendido entre 18.3% y  41.2% veces mayor en fumadores que en no fumadores.</a:t>
            </a:r>
            <a:endParaRPr lang="es-ES" altLang="es-ES" sz="1400" b="1"/>
          </a:p>
        </p:txBody>
      </p:sp>
      <p:sp>
        <p:nvSpPr>
          <p:cNvPr id="16392" name="26 CuadroTexto">
            <a:extLst>
              <a:ext uri="{FF2B5EF4-FFF2-40B4-BE49-F238E27FC236}">
                <a16:creationId xmlns:a16="http://schemas.microsoft.com/office/drawing/2014/main" id="{B5AEFDDB-DDA6-4892-A222-91A4F3119CA7}"/>
              </a:ext>
            </a:extLst>
          </p:cNvPr>
          <p:cNvSpPr txBox="1">
            <a:spLocks noChangeArrowheads="1"/>
          </p:cNvSpPr>
          <p:nvPr/>
        </p:nvSpPr>
        <p:spPr bwMode="auto">
          <a:xfrm>
            <a:off x="533400" y="3425825"/>
            <a:ext cx="8305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dirty="0"/>
              <a:t>Observaciones:</a:t>
            </a:r>
            <a:endParaRPr lang="es-ES" altLang="es-ES" sz="1400" b="1" dirty="0"/>
          </a:p>
        </p:txBody>
      </p:sp>
      <p:grpSp>
        <p:nvGrpSpPr>
          <p:cNvPr id="16393" name="5 Grupo">
            <a:extLst>
              <a:ext uri="{FF2B5EF4-FFF2-40B4-BE49-F238E27FC236}">
                <a16:creationId xmlns:a16="http://schemas.microsoft.com/office/drawing/2014/main" id="{F08DB297-F83F-43FC-976A-1A25273BB54C}"/>
              </a:ext>
            </a:extLst>
          </p:cNvPr>
          <p:cNvGrpSpPr>
            <a:grpSpLocks/>
          </p:cNvGrpSpPr>
          <p:nvPr/>
        </p:nvGrpSpPr>
        <p:grpSpPr bwMode="auto">
          <a:xfrm>
            <a:off x="571500" y="3848100"/>
            <a:ext cx="8305800" cy="2571750"/>
            <a:chOff x="571661" y="3466528"/>
            <a:chExt cx="8305800" cy="2571638"/>
          </a:xfrm>
        </p:grpSpPr>
        <p:sp>
          <p:nvSpPr>
            <p:cNvPr id="28" name="27 CuadroTexto">
              <a:extLst>
                <a:ext uri="{FF2B5EF4-FFF2-40B4-BE49-F238E27FC236}">
                  <a16:creationId xmlns:a16="http://schemas.microsoft.com/office/drawing/2014/main" id="{5ACAE370-0444-4364-9E98-58D72635D003}"/>
                </a:ext>
              </a:extLst>
            </p:cNvPr>
            <p:cNvSpPr txBox="1"/>
            <p:nvPr/>
          </p:nvSpPr>
          <p:spPr>
            <a:xfrm>
              <a:off x="571661" y="3576061"/>
              <a:ext cx="8305800" cy="2462105"/>
            </a:xfrm>
            <a:prstGeom prst="rect">
              <a:avLst/>
            </a:prstGeom>
            <a:noFill/>
          </p:spPr>
          <p:txBody>
            <a:bodyPr>
              <a:spAutoFit/>
            </a:bodyPr>
            <a:lstStyle/>
            <a:p>
              <a:pPr marL="285750" indent="-285750" algn="just" eaLnBrk="1" hangingPunct="1">
                <a:buFont typeface="Arial" panose="020B0604020202020204" pitchFamily="34" charset="0"/>
                <a:buChar char="•"/>
                <a:defRPr/>
              </a:pPr>
              <a:r>
                <a:rPr lang="es-ES" sz="1400" dirty="0">
                  <a:latin typeface="Arial" charset="0"/>
                </a:rPr>
                <a:t>Vemos que el porcentaje de alto RC es mayor en fumadores:</a:t>
              </a:r>
            </a:p>
            <a:p>
              <a:pPr algn="just" eaLnBrk="1" hangingPunct="1">
                <a:defRPr/>
              </a:pPr>
              <a:endParaRPr lang="es-ES" sz="1400" dirty="0">
                <a:latin typeface="Arial" charset="0"/>
              </a:endParaRPr>
            </a:p>
            <a:p>
              <a:pPr marL="285750" indent="-285750" algn="just" eaLnBrk="1" hangingPunct="1">
                <a:lnSpc>
                  <a:spcPct val="150000"/>
                </a:lnSpc>
                <a:buFont typeface="Arial" panose="020B0604020202020204" pitchFamily="34" charset="0"/>
                <a:buChar char="•"/>
                <a:defRPr/>
              </a:pPr>
              <a:r>
                <a:rPr lang="es-ES" sz="1400" dirty="0">
                  <a:latin typeface="Arial" charset="0"/>
                </a:rPr>
                <a:t>Como el test ha resultado significativo (</a:t>
              </a:r>
              <a:r>
                <a:rPr lang="es-ES" sz="1400" i="1" dirty="0">
                  <a:latin typeface="Arial" charset="0"/>
                </a:rPr>
                <a:t>P</a:t>
              </a:r>
              <a:r>
                <a:rPr lang="es-ES" sz="1400" dirty="0">
                  <a:latin typeface="Arial" charset="0"/>
                </a:rPr>
                <a:t>&lt;0.001), el intervalo de confianza no contiene el valor propuesto por la hipótesis nula:                    .</a:t>
              </a:r>
            </a:p>
            <a:p>
              <a:pPr marL="285750" indent="-285750" algn="just" eaLnBrk="1" hangingPunct="1">
                <a:lnSpc>
                  <a:spcPct val="150000"/>
                </a:lnSpc>
                <a:buFont typeface="Arial" panose="020B0604020202020204" pitchFamily="34" charset="0"/>
                <a:buChar char="•"/>
                <a:defRPr/>
              </a:pPr>
              <a:r>
                <a:rPr lang="es-ES" sz="1400" dirty="0">
                  <a:latin typeface="Arial" charset="0"/>
                </a:rPr>
                <a:t>Como el resultado es </a:t>
              </a:r>
              <a:r>
                <a:rPr lang="es-ES" sz="1400" b="1" dirty="0">
                  <a:latin typeface="Arial" charset="0"/>
                </a:rPr>
                <a:t>significativo</a:t>
              </a:r>
              <a:r>
                <a:rPr lang="es-ES" sz="1400" dirty="0">
                  <a:latin typeface="Arial" charset="0"/>
                </a:rPr>
                <a:t>, no es necesario plantear un aumento del tamaño de muestra para detectar la diferencia entre las proporciones estudiadas. No obstante, si que se podría hacer tal consideración si lo que se desea es aumentar la precisión del intervalo obtenido para                .</a:t>
              </a:r>
            </a:p>
            <a:p>
              <a:pPr marL="285750" indent="-285750" algn="just" eaLnBrk="1" hangingPunct="1">
                <a:lnSpc>
                  <a:spcPct val="150000"/>
                </a:lnSpc>
                <a:buFont typeface="Arial" panose="020B0604020202020204" pitchFamily="34" charset="0"/>
                <a:buChar char="•"/>
                <a:defRPr/>
              </a:pPr>
              <a:r>
                <a:rPr lang="es-ES" sz="1400" dirty="0">
                  <a:latin typeface="Arial" charset="0"/>
                </a:rPr>
                <a:t>El </a:t>
              </a:r>
              <a:r>
                <a:rPr lang="es-ES" sz="1400" b="1" dirty="0">
                  <a:latin typeface="Arial" charset="0"/>
                </a:rPr>
                <a:t>test</a:t>
              </a:r>
              <a:r>
                <a:rPr lang="es-ES" sz="1400" dirty="0">
                  <a:latin typeface="Arial" charset="0"/>
                </a:rPr>
                <a:t> también se podría haber resuelto mediante la </a:t>
              </a:r>
              <a:r>
                <a:rPr lang="es-ES" sz="1400" b="1" dirty="0">
                  <a:latin typeface="Arial" charset="0"/>
                </a:rPr>
                <a:t>prueba </a:t>
              </a:r>
              <a:r>
                <a:rPr lang="es-ES" sz="1400" b="1" dirty="0">
                  <a:latin typeface="Symbol" panose="05050102010706020507" pitchFamily="18" charset="2"/>
                </a:rPr>
                <a:t>c</a:t>
              </a:r>
              <a:r>
                <a:rPr lang="es-ES" sz="1400" b="1" baseline="30000" dirty="0">
                  <a:latin typeface="Arial" charset="0"/>
                </a:rPr>
                <a:t>2</a:t>
              </a:r>
              <a:r>
                <a:rPr lang="es-ES" sz="1400" b="1" dirty="0">
                  <a:latin typeface="Arial" charset="0"/>
                </a:rPr>
                <a:t> </a:t>
              </a:r>
              <a:r>
                <a:rPr lang="es-ES" sz="1400" dirty="0">
                  <a:latin typeface="Arial" charset="0"/>
                </a:rPr>
                <a:t>del capítulo siguiente a este.</a:t>
              </a:r>
              <a:endParaRPr lang="es-ES" sz="1400" baseline="30000" dirty="0">
                <a:latin typeface="Arial" charset="0"/>
              </a:endParaRPr>
            </a:p>
          </p:txBody>
        </p:sp>
        <p:graphicFrame>
          <p:nvGraphicFramePr>
            <p:cNvPr id="16396" name="1 Objeto">
              <a:extLst>
                <a:ext uri="{FF2B5EF4-FFF2-40B4-BE49-F238E27FC236}">
                  <a16:creationId xmlns:a16="http://schemas.microsoft.com/office/drawing/2014/main" id="{223BE00C-9E3E-4134-94E4-DAE5C4599C02}"/>
                </a:ext>
              </a:extLst>
            </p:cNvPr>
            <p:cNvGraphicFramePr>
              <a:graphicFrameLocks noChangeAspect="1"/>
            </p:cNvGraphicFramePr>
            <p:nvPr/>
          </p:nvGraphicFramePr>
          <p:xfrm>
            <a:off x="5826901" y="3466528"/>
            <a:ext cx="1062037" cy="571500"/>
          </p:xfrm>
          <a:graphic>
            <a:graphicData uri="http://schemas.openxmlformats.org/presentationml/2006/ole">
              <mc:AlternateContent xmlns:mc="http://schemas.openxmlformats.org/markup-compatibility/2006">
                <mc:Choice xmlns:v="urn:schemas-microsoft-com:vml" Requires="v">
                  <p:oleObj name="Equation" r:id="rId9" imgW="863225" imgH="482391" progId="Equation.DSMT4">
                    <p:embed/>
                  </p:oleObj>
                </mc:Choice>
                <mc:Fallback>
                  <p:oleObj name="Equation" r:id="rId9" imgW="863225" imgH="482391" progId="Equation.DSMT4">
                    <p:embed/>
                    <p:pic>
                      <p:nvPicPr>
                        <p:cNvPr id="16396" name="1 Objeto">
                          <a:extLst>
                            <a:ext uri="{FF2B5EF4-FFF2-40B4-BE49-F238E27FC236}">
                              <a16:creationId xmlns:a16="http://schemas.microsoft.com/office/drawing/2014/main" id="{223BE00C-9E3E-4134-94E4-DAE5C4599C0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26901" y="3466528"/>
                          <a:ext cx="1062037"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7" name="28 Objeto">
              <a:extLst>
                <a:ext uri="{FF2B5EF4-FFF2-40B4-BE49-F238E27FC236}">
                  <a16:creationId xmlns:a16="http://schemas.microsoft.com/office/drawing/2014/main" id="{0D84BB90-E3FC-479D-B05C-28192B515850}"/>
                </a:ext>
              </a:extLst>
            </p:cNvPr>
            <p:cNvGraphicFramePr>
              <a:graphicFrameLocks noChangeAspect="1"/>
            </p:cNvGraphicFramePr>
            <p:nvPr/>
          </p:nvGraphicFramePr>
          <p:xfrm>
            <a:off x="3429000" y="4419600"/>
            <a:ext cx="968375" cy="271463"/>
          </p:xfrm>
          <a:graphic>
            <a:graphicData uri="http://schemas.openxmlformats.org/presentationml/2006/ole">
              <mc:AlternateContent xmlns:mc="http://schemas.openxmlformats.org/markup-compatibility/2006">
                <mc:Choice xmlns:v="urn:schemas-microsoft-com:vml" Requires="v">
                  <p:oleObj name="Equation" r:id="rId11" imgW="787400" imgH="228600" progId="Equation.DSMT4">
                    <p:embed/>
                  </p:oleObj>
                </mc:Choice>
                <mc:Fallback>
                  <p:oleObj name="Equation" r:id="rId11" imgW="787400" imgH="228600" progId="Equation.DSMT4">
                    <p:embed/>
                    <p:pic>
                      <p:nvPicPr>
                        <p:cNvPr id="16397" name="28 Objeto">
                          <a:extLst>
                            <a:ext uri="{FF2B5EF4-FFF2-40B4-BE49-F238E27FC236}">
                              <a16:creationId xmlns:a16="http://schemas.microsoft.com/office/drawing/2014/main" id="{0D84BB90-E3FC-479D-B05C-28192B51585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29000" y="4419600"/>
                          <a:ext cx="968375" cy="271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8" name="29 Objeto">
              <a:extLst>
                <a:ext uri="{FF2B5EF4-FFF2-40B4-BE49-F238E27FC236}">
                  <a16:creationId xmlns:a16="http://schemas.microsoft.com/office/drawing/2014/main" id="{0B498C8F-DA1A-4471-B72D-5FEA274B4F79}"/>
                </a:ext>
              </a:extLst>
            </p:cNvPr>
            <p:cNvGraphicFramePr>
              <a:graphicFrameLocks noChangeAspect="1"/>
            </p:cNvGraphicFramePr>
            <p:nvPr/>
          </p:nvGraphicFramePr>
          <p:xfrm>
            <a:off x="7887512" y="5363184"/>
            <a:ext cx="779462" cy="301625"/>
          </p:xfrm>
          <a:graphic>
            <a:graphicData uri="http://schemas.openxmlformats.org/presentationml/2006/ole">
              <mc:AlternateContent xmlns:mc="http://schemas.openxmlformats.org/markup-compatibility/2006">
                <mc:Choice xmlns:v="urn:schemas-microsoft-com:vml" Requires="v">
                  <p:oleObj name="Equation" r:id="rId13" imgW="634725" imgH="253890" progId="Equation.DSMT4">
                    <p:embed/>
                  </p:oleObj>
                </mc:Choice>
                <mc:Fallback>
                  <p:oleObj name="Equation" r:id="rId13" imgW="634725" imgH="253890" progId="Equation.DSMT4">
                    <p:embed/>
                    <p:pic>
                      <p:nvPicPr>
                        <p:cNvPr id="16398" name="29 Objeto">
                          <a:extLst>
                            <a:ext uri="{FF2B5EF4-FFF2-40B4-BE49-F238E27FC236}">
                              <a16:creationId xmlns:a16="http://schemas.microsoft.com/office/drawing/2014/main" id="{0B498C8F-DA1A-4471-B72D-5FEA274B4F7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887512" y="5363184"/>
                          <a:ext cx="779462" cy="301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6394" name="Text Box 2">
            <a:extLst>
              <a:ext uri="{FF2B5EF4-FFF2-40B4-BE49-F238E27FC236}">
                <a16:creationId xmlns:a16="http://schemas.microsoft.com/office/drawing/2014/main" id="{8F6B9F6C-B312-4FDB-B1A9-0BD9FC72D2B1}"/>
              </a:ext>
            </a:extLst>
          </p:cNvPr>
          <p:cNvSpPr txBox="1">
            <a:spLocks noChangeArrowheads="1"/>
          </p:cNvSpPr>
          <p:nvPr/>
        </p:nvSpPr>
        <p:spPr bwMode="auto">
          <a:xfrm>
            <a:off x="19050" y="301625"/>
            <a:ext cx="51371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a:t>Test de comparación de dos proporciones independientes</a:t>
            </a:r>
            <a:endParaRPr lang="es-ES" altLang="es-ES" sz="1400" b="1"/>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1">
            <a:extLst>
              <a:ext uri="{FF2B5EF4-FFF2-40B4-BE49-F238E27FC236}">
                <a16:creationId xmlns:a16="http://schemas.microsoft.com/office/drawing/2014/main" id="{6F86386C-9817-4411-A05C-C40ED837E0AE}"/>
              </a:ext>
            </a:extLst>
          </p:cNvPr>
          <p:cNvSpPr>
            <a:spLocks noChangeArrowheads="1"/>
          </p:cNvSpPr>
          <p:nvPr/>
        </p:nvSpPr>
        <p:spPr bwMode="auto">
          <a:xfrm>
            <a:off x="304800" y="927100"/>
            <a:ext cx="8610600"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_tradnl" altLang="es-ES" sz="1300">
                <a:solidFill>
                  <a:srgbClr val="006666"/>
                </a:solidFill>
              </a:rPr>
              <a:t># Supongamos que los datos del ejemplo anterior hubieran sido estos →</a:t>
            </a:r>
            <a:endParaRPr lang="es-ES" altLang="es-ES" sz="1300">
              <a:solidFill>
                <a:srgbClr val="006666"/>
              </a:solidFill>
            </a:endParaRPr>
          </a:p>
        </p:txBody>
      </p:sp>
      <p:graphicFrame>
        <p:nvGraphicFramePr>
          <p:cNvPr id="18435" name="1 Objeto">
            <a:extLst>
              <a:ext uri="{FF2B5EF4-FFF2-40B4-BE49-F238E27FC236}">
                <a16:creationId xmlns:a16="http://schemas.microsoft.com/office/drawing/2014/main" id="{1703E6A8-8734-4178-A0F8-0D947E7DAFA6}"/>
              </a:ext>
            </a:extLst>
          </p:cNvPr>
          <p:cNvGraphicFramePr>
            <a:graphicFrameLocks noChangeAspect="1"/>
          </p:cNvGraphicFramePr>
          <p:nvPr>
            <p:extLst>
              <p:ext uri="{D42A27DB-BD31-4B8C-83A1-F6EECF244321}">
                <p14:modId xmlns:p14="http://schemas.microsoft.com/office/powerpoint/2010/main" val="2096977228"/>
              </p:ext>
            </p:extLst>
          </p:nvPr>
        </p:nvGraphicFramePr>
        <p:xfrm>
          <a:off x="5943600" y="990600"/>
          <a:ext cx="2830513" cy="1100138"/>
        </p:xfrm>
        <a:graphic>
          <a:graphicData uri="http://schemas.openxmlformats.org/presentationml/2006/ole">
            <mc:AlternateContent xmlns:mc="http://schemas.openxmlformats.org/markup-compatibility/2006">
              <mc:Choice xmlns:v="urn:schemas-microsoft-com:vml" Requires="v">
                <p:oleObj name="Equation" r:id="rId3" imgW="3022600" imgH="1219200" progId="Equation.DSMT4">
                  <p:embed/>
                </p:oleObj>
              </mc:Choice>
              <mc:Fallback>
                <p:oleObj name="Equation" r:id="rId3" imgW="3022600" imgH="1219200" progId="Equation.DSMT4">
                  <p:embed/>
                  <p:pic>
                    <p:nvPicPr>
                      <p:cNvPr id="18435" name="1 Objeto">
                        <a:extLst>
                          <a:ext uri="{FF2B5EF4-FFF2-40B4-BE49-F238E27FC236}">
                            <a16:creationId xmlns:a16="http://schemas.microsoft.com/office/drawing/2014/main" id="{1703E6A8-8734-4178-A0F8-0D947E7DAF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990600"/>
                        <a:ext cx="2830513" cy="110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8436" name="5 Grupo">
            <a:extLst>
              <a:ext uri="{FF2B5EF4-FFF2-40B4-BE49-F238E27FC236}">
                <a16:creationId xmlns:a16="http://schemas.microsoft.com/office/drawing/2014/main" id="{119B6613-FB13-4C17-AC96-926FF5FA3C94}"/>
              </a:ext>
            </a:extLst>
          </p:cNvPr>
          <p:cNvGrpSpPr>
            <a:grpSpLocks/>
          </p:cNvGrpSpPr>
          <p:nvPr/>
        </p:nvGrpSpPr>
        <p:grpSpPr bwMode="auto">
          <a:xfrm>
            <a:off x="496888" y="1431925"/>
            <a:ext cx="4627562" cy="1216025"/>
            <a:chOff x="496112" y="1203227"/>
            <a:chExt cx="4627677" cy="1215717"/>
          </a:xfrm>
        </p:grpSpPr>
        <p:sp>
          <p:nvSpPr>
            <p:cNvPr id="18444" name="43 CuadroTexto">
              <a:extLst>
                <a:ext uri="{FF2B5EF4-FFF2-40B4-BE49-F238E27FC236}">
                  <a16:creationId xmlns:a16="http://schemas.microsoft.com/office/drawing/2014/main" id="{D70D9471-634D-47E5-BDC9-8F83E92763B1}"/>
                </a:ext>
              </a:extLst>
            </p:cNvPr>
            <p:cNvSpPr txBox="1">
              <a:spLocks noChangeArrowheads="1"/>
            </p:cNvSpPr>
            <p:nvPr/>
          </p:nvSpPr>
          <p:spPr bwMode="auto">
            <a:xfrm>
              <a:off x="496112" y="1203227"/>
              <a:ext cx="4627677" cy="121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5750" indent="-285750">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lnSpc>
                  <a:spcPct val="200000"/>
                </a:lnSpc>
                <a:buFont typeface="Arial" panose="020B0604020202020204" pitchFamily="34" charset="0"/>
                <a:buChar char="•"/>
              </a:pPr>
              <a:r>
                <a:rPr lang="es-ES" altLang="es-ES" sz="1400" dirty="0"/>
                <a:t>Validez:                                        el método es válido</a:t>
              </a:r>
            </a:p>
            <a:p>
              <a:pPr eaLnBrk="1" hangingPunct="1">
                <a:lnSpc>
                  <a:spcPct val="150000"/>
                </a:lnSpc>
                <a:buFont typeface="Arial" panose="020B0604020202020204" pitchFamily="34" charset="0"/>
                <a:buChar char="•"/>
              </a:pPr>
              <a:r>
                <a:rPr lang="es-ES" altLang="es-ES" sz="1400" dirty="0"/>
                <a:t>Estadístico de contraste:  </a:t>
              </a:r>
            </a:p>
            <a:p>
              <a:pPr eaLnBrk="1" hangingPunct="1">
                <a:lnSpc>
                  <a:spcPct val="150000"/>
                </a:lnSpc>
                <a:buFont typeface="Arial" panose="020B0604020202020204" pitchFamily="34" charset="0"/>
                <a:buChar char="•"/>
              </a:pPr>
              <a:r>
                <a:rPr lang="es-ES" altLang="es-ES" sz="1400" dirty="0"/>
                <a:t>Significación: </a:t>
              </a:r>
              <a:r>
                <a:rPr lang="es-ES" altLang="es-ES" sz="1400" i="1" dirty="0"/>
                <a:t>P </a:t>
              </a:r>
              <a:r>
                <a:rPr lang="es-ES" altLang="es-ES" sz="1400" dirty="0"/>
                <a:t>= 0.135 &gt; 0.05 (=</a:t>
              </a:r>
              <a:r>
                <a:rPr lang="es-ES" altLang="es-ES" sz="1600" dirty="0">
                  <a:latin typeface="Symbol" panose="05050102010706020507" pitchFamily="18" charset="2"/>
                </a:rPr>
                <a:t>a</a:t>
              </a:r>
              <a:r>
                <a:rPr lang="es-ES" altLang="es-ES" sz="1400" dirty="0"/>
                <a:t>)</a:t>
              </a:r>
            </a:p>
          </p:txBody>
        </p:sp>
        <p:graphicFrame>
          <p:nvGraphicFramePr>
            <p:cNvPr id="18445" name="2 Objeto">
              <a:extLst>
                <a:ext uri="{FF2B5EF4-FFF2-40B4-BE49-F238E27FC236}">
                  <a16:creationId xmlns:a16="http://schemas.microsoft.com/office/drawing/2014/main" id="{90C5BDF4-E374-4A73-A2B4-8326CF2FA341}"/>
                </a:ext>
              </a:extLst>
            </p:cNvPr>
            <p:cNvGraphicFramePr>
              <a:graphicFrameLocks noChangeAspect="1"/>
            </p:cNvGraphicFramePr>
            <p:nvPr/>
          </p:nvGraphicFramePr>
          <p:xfrm>
            <a:off x="1595338" y="1286844"/>
            <a:ext cx="1719263" cy="466725"/>
          </p:xfrm>
          <a:graphic>
            <a:graphicData uri="http://schemas.openxmlformats.org/presentationml/2006/ole">
              <mc:AlternateContent xmlns:mc="http://schemas.openxmlformats.org/markup-compatibility/2006">
                <mc:Choice xmlns:v="urn:schemas-microsoft-com:vml" Requires="v">
                  <p:oleObj name="Equation" r:id="rId5" imgW="1396394" imgH="393529" progId="Equation.DSMT4">
                    <p:embed/>
                  </p:oleObj>
                </mc:Choice>
                <mc:Fallback>
                  <p:oleObj name="Equation" r:id="rId5" imgW="1396394" imgH="393529" progId="Equation.DSMT4">
                    <p:embed/>
                    <p:pic>
                      <p:nvPicPr>
                        <p:cNvPr id="18445" name="2 Objeto">
                          <a:extLst>
                            <a:ext uri="{FF2B5EF4-FFF2-40B4-BE49-F238E27FC236}">
                              <a16:creationId xmlns:a16="http://schemas.microsoft.com/office/drawing/2014/main" id="{90C5BDF4-E374-4A73-A2B4-8326CF2FA34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5338" y="1286844"/>
                          <a:ext cx="1719263"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46" name="45 Objeto">
              <a:extLst>
                <a:ext uri="{FF2B5EF4-FFF2-40B4-BE49-F238E27FC236}">
                  <a16:creationId xmlns:a16="http://schemas.microsoft.com/office/drawing/2014/main" id="{B2D54DBC-FFD4-4986-A7A8-CC9500C624E7}"/>
                </a:ext>
              </a:extLst>
            </p:cNvPr>
            <p:cNvGraphicFramePr>
              <a:graphicFrameLocks noChangeAspect="1"/>
            </p:cNvGraphicFramePr>
            <p:nvPr/>
          </p:nvGraphicFramePr>
          <p:xfrm>
            <a:off x="2867738" y="1744496"/>
            <a:ext cx="1033462" cy="300038"/>
          </p:xfrm>
          <a:graphic>
            <a:graphicData uri="http://schemas.openxmlformats.org/presentationml/2006/ole">
              <mc:AlternateContent xmlns:mc="http://schemas.openxmlformats.org/markup-compatibility/2006">
                <mc:Choice xmlns:v="urn:schemas-microsoft-com:vml" Requires="v">
                  <p:oleObj name="Equation" r:id="rId7" imgW="837836" imgH="253890" progId="Equation.DSMT4">
                    <p:embed/>
                  </p:oleObj>
                </mc:Choice>
                <mc:Fallback>
                  <p:oleObj name="Equation" r:id="rId7" imgW="837836" imgH="253890" progId="Equation.DSMT4">
                    <p:embed/>
                    <p:pic>
                      <p:nvPicPr>
                        <p:cNvPr id="18446" name="45 Objeto">
                          <a:extLst>
                            <a:ext uri="{FF2B5EF4-FFF2-40B4-BE49-F238E27FC236}">
                              <a16:creationId xmlns:a16="http://schemas.microsoft.com/office/drawing/2014/main" id="{B2D54DBC-FFD4-4986-A7A8-CC9500C624E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67738" y="1744496"/>
                          <a:ext cx="1033462" cy="300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8437" name="47 CuadroTexto">
            <a:extLst>
              <a:ext uri="{FF2B5EF4-FFF2-40B4-BE49-F238E27FC236}">
                <a16:creationId xmlns:a16="http://schemas.microsoft.com/office/drawing/2014/main" id="{0C54DCDF-B99B-4DBA-9166-B23C005E6E46}"/>
              </a:ext>
            </a:extLst>
          </p:cNvPr>
          <p:cNvSpPr txBox="1">
            <a:spLocks noChangeArrowheads="1"/>
          </p:cNvSpPr>
          <p:nvPr/>
        </p:nvSpPr>
        <p:spPr bwMode="auto">
          <a:xfrm>
            <a:off x="381000" y="2571750"/>
            <a:ext cx="8428038"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dirty="0"/>
              <a:t>Suponiendo cierta la hipótesis nula de homogeneidad de las proporciones, la probabilidad de observar una discrepancia igual o mayor que la actual con dicha hipótesis es del 13.5%. Por tanto, para un error de tipo I fijado de antemano al 5%, no se puede rechazar la hipótesis nula de homogeneidad (no podemos decir que haya diferencia entre los porcentajes estudiados).</a:t>
            </a:r>
            <a:endParaRPr lang="es-ES" altLang="es-ES" sz="1300" b="1" dirty="0"/>
          </a:p>
        </p:txBody>
      </p:sp>
      <p:sp>
        <p:nvSpPr>
          <p:cNvPr id="18438" name="48 CuadroTexto">
            <a:extLst>
              <a:ext uri="{FF2B5EF4-FFF2-40B4-BE49-F238E27FC236}">
                <a16:creationId xmlns:a16="http://schemas.microsoft.com/office/drawing/2014/main" id="{4760FA4C-E8D4-4B42-9F5D-C6C6B96A0F76}"/>
              </a:ext>
            </a:extLst>
          </p:cNvPr>
          <p:cNvSpPr txBox="1">
            <a:spLocks noChangeArrowheads="1"/>
          </p:cNvSpPr>
          <p:nvPr/>
        </p:nvSpPr>
        <p:spPr bwMode="auto">
          <a:xfrm>
            <a:off x="381000" y="3486150"/>
            <a:ext cx="84280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dirty="0"/>
              <a:t>Como el nivel de significación no es inferior al 5% pero tampoco tiene una magnitud grande (es menor al 15%) todo apunta a que el test pueda estar resultando poco potente (decisión por H</a:t>
            </a:r>
            <a:r>
              <a:rPr lang="es-ES" altLang="es-ES" sz="1300" baseline="-25000" dirty="0"/>
              <a:t>0</a:t>
            </a:r>
            <a:r>
              <a:rPr lang="es-ES" altLang="es-ES" sz="1300" dirty="0"/>
              <a:t> no fiable).</a:t>
            </a:r>
            <a:endParaRPr lang="es-ES" altLang="es-ES" sz="1300" b="1" dirty="0"/>
          </a:p>
        </p:txBody>
      </p:sp>
      <p:sp>
        <p:nvSpPr>
          <p:cNvPr id="50" name="49 CuadroTexto">
            <a:extLst>
              <a:ext uri="{FF2B5EF4-FFF2-40B4-BE49-F238E27FC236}">
                <a16:creationId xmlns:a16="http://schemas.microsoft.com/office/drawing/2014/main" id="{CF943894-4ED4-42B9-A1FB-FBC1CEB94874}"/>
              </a:ext>
            </a:extLst>
          </p:cNvPr>
          <p:cNvSpPr txBox="1"/>
          <p:nvPr/>
        </p:nvSpPr>
        <p:spPr>
          <a:xfrm>
            <a:off x="493713" y="4362450"/>
            <a:ext cx="8305800" cy="2266950"/>
          </a:xfrm>
          <a:prstGeom prst="rect">
            <a:avLst/>
          </a:prstGeom>
          <a:noFill/>
        </p:spPr>
        <p:txBody>
          <a:bodyPr>
            <a:spAutoFit/>
          </a:bodyPr>
          <a:lstStyle/>
          <a:p>
            <a:pPr marL="285750" indent="-285750" algn="just" eaLnBrk="1" hangingPunct="1">
              <a:buFont typeface="Arial" panose="020B0604020202020204" pitchFamily="34" charset="0"/>
              <a:buChar char="•"/>
              <a:defRPr/>
            </a:pPr>
            <a:r>
              <a:rPr lang="es-ES" sz="1400" dirty="0">
                <a:latin typeface="Arial" charset="0"/>
              </a:rPr>
              <a:t>Como se no se ha rechazado H</a:t>
            </a:r>
            <a:r>
              <a:rPr lang="es-ES" sz="1400" baseline="-25000" dirty="0">
                <a:latin typeface="Arial" charset="0"/>
              </a:rPr>
              <a:t>0 </a:t>
            </a:r>
            <a:r>
              <a:rPr lang="es-ES" sz="1400" dirty="0">
                <a:latin typeface="Arial" charset="0"/>
              </a:rPr>
              <a:t>el interés de este intervalo es </a:t>
            </a:r>
            <a:r>
              <a:rPr lang="es-ES" sz="1400" b="1" dirty="0">
                <a:latin typeface="Arial" charset="0"/>
              </a:rPr>
              <a:t>estudiar la fiabilidad </a:t>
            </a:r>
            <a:r>
              <a:rPr lang="es-ES" sz="1400" dirty="0">
                <a:latin typeface="Arial" charset="0"/>
              </a:rPr>
              <a:t>de la decisión de aceptar la hipótesis nula. </a:t>
            </a:r>
          </a:p>
          <a:p>
            <a:pPr marL="285750" indent="-285750" algn="just" eaLnBrk="1" hangingPunct="1">
              <a:buFont typeface="Arial" panose="020B0604020202020204" pitchFamily="34" charset="0"/>
              <a:buChar char="•"/>
              <a:defRPr/>
            </a:pPr>
            <a:r>
              <a:rPr lang="es-ES" sz="1400" dirty="0">
                <a:latin typeface="Arial" charset="0"/>
              </a:rPr>
              <a:t>De forma rigurosa deberíamos fijar la diferencia a detectar </a:t>
            </a:r>
            <a:r>
              <a:rPr lang="es-ES" sz="1600" dirty="0">
                <a:latin typeface="Symbol" panose="05050102010706020507" pitchFamily="18" charset="2"/>
              </a:rPr>
              <a:t>d</a:t>
            </a:r>
            <a:r>
              <a:rPr lang="es-ES" sz="1400" dirty="0">
                <a:latin typeface="Arial" charset="0"/>
              </a:rPr>
              <a:t> y la potencia deseada para el test 1-</a:t>
            </a:r>
            <a:r>
              <a:rPr lang="es-ES" sz="1600" dirty="0">
                <a:latin typeface="Symbol" panose="05050102010706020507" pitchFamily="18" charset="2"/>
              </a:rPr>
              <a:t>b</a:t>
            </a:r>
            <a:r>
              <a:rPr lang="es-ES" sz="1400" dirty="0">
                <a:latin typeface="Arial" charset="0"/>
              </a:rPr>
              <a:t> y obtener el IC al 1-2</a:t>
            </a:r>
            <a:r>
              <a:rPr lang="es-ES" sz="1600" dirty="0">
                <a:latin typeface="Symbol" panose="05050102010706020507" pitchFamily="18" charset="2"/>
              </a:rPr>
              <a:t>b</a:t>
            </a:r>
            <a:r>
              <a:rPr lang="es-ES" sz="1400" dirty="0">
                <a:latin typeface="Arial" charset="0"/>
              </a:rPr>
              <a:t> de confianza. No lo hacemos y construimos el IC al 95% de confianza:</a:t>
            </a:r>
          </a:p>
          <a:p>
            <a:pPr marL="285750" indent="-285750" algn="just" eaLnBrk="1" hangingPunct="1">
              <a:buFont typeface="Arial" panose="020B0604020202020204" pitchFamily="34" charset="0"/>
              <a:buChar char="•"/>
              <a:defRPr/>
            </a:pPr>
            <a:endParaRPr lang="es-ES" sz="1400" b="1" baseline="-25000" dirty="0">
              <a:latin typeface="Arial" charset="0"/>
            </a:endParaRPr>
          </a:p>
          <a:p>
            <a:pPr marL="285750" indent="-285750" algn="just" eaLnBrk="1" hangingPunct="1">
              <a:buFont typeface="Arial" panose="020B0604020202020204" pitchFamily="34" charset="0"/>
              <a:buChar char="•"/>
              <a:defRPr/>
            </a:pPr>
            <a:endParaRPr lang="es-ES" sz="1400" b="1" baseline="-25000" dirty="0">
              <a:latin typeface="Arial" charset="0"/>
            </a:endParaRPr>
          </a:p>
          <a:p>
            <a:pPr marL="285750" indent="-285750" algn="just" eaLnBrk="1" hangingPunct="1">
              <a:buFont typeface="Arial" panose="020B0604020202020204" pitchFamily="34" charset="0"/>
              <a:buChar char="•"/>
              <a:defRPr/>
            </a:pPr>
            <a:endParaRPr lang="es-ES" sz="1400" b="1" baseline="-25000" dirty="0">
              <a:latin typeface="Arial" charset="0"/>
            </a:endParaRPr>
          </a:p>
          <a:p>
            <a:pPr marL="285750" indent="-285750" algn="just" eaLnBrk="1" hangingPunct="1">
              <a:buFont typeface="Arial" panose="020B0604020202020204" pitchFamily="34" charset="0"/>
              <a:buChar char="•"/>
              <a:defRPr/>
            </a:pPr>
            <a:endParaRPr lang="es-ES" sz="1400" b="1" baseline="-25000" dirty="0">
              <a:latin typeface="Arial" charset="0"/>
            </a:endParaRPr>
          </a:p>
          <a:p>
            <a:pPr marL="285750" indent="-285750" algn="just" eaLnBrk="1" hangingPunct="1">
              <a:buFont typeface="Arial" panose="020B0604020202020204" pitchFamily="34" charset="0"/>
              <a:buChar char="•"/>
              <a:defRPr/>
            </a:pPr>
            <a:r>
              <a:rPr lang="es-ES" sz="1400" dirty="0">
                <a:latin typeface="Arial" charset="0"/>
              </a:rPr>
              <a:t>EL IC contiene al valor </a:t>
            </a:r>
            <a:r>
              <a:rPr lang="es-ES" sz="1600" i="1" dirty="0">
                <a:latin typeface="Times New Roman" panose="02020603050405020304" pitchFamily="18" charset="0"/>
                <a:cs typeface="Times New Roman" panose="02020603050405020304" pitchFamily="18" charset="0"/>
              </a:rPr>
              <a:t>p</a:t>
            </a:r>
            <a:r>
              <a:rPr lang="es-ES" sz="1600" baseline="-25000" dirty="0">
                <a:latin typeface="Times New Roman" panose="02020603050405020304" pitchFamily="18" charset="0"/>
                <a:cs typeface="Times New Roman" panose="02020603050405020304" pitchFamily="18" charset="0"/>
              </a:rPr>
              <a:t>1</a:t>
            </a:r>
            <a:r>
              <a:rPr lang="es-ES" sz="1600" dirty="0">
                <a:latin typeface="Times New Roman" panose="02020603050405020304" pitchFamily="18" charset="0"/>
                <a:cs typeface="Times New Roman" panose="02020603050405020304" pitchFamily="18" charset="0"/>
              </a:rPr>
              <a:t>-</a:t>
            </a:r>
            <a:r>
              <a:rPr lang="es-ES" sz="1600" i="1" dirty="0">
                <a:latin typeface="Times New Roman" panose="02020603050405020304" pitchFamily="18" charset="0"/>
                <a:cs typeface="Times New Roman" panose="02020603050405020304" pitchFamily="18" charset="0"/>
              </a:rPr>
              <a:t>p</a:t>
            </a:r>
            <a:r>
              <a:rPr lang="es-ES" sz="1600" baseline="-25000" dirty="0">
                <a:latin typeface="Times New Roman" panose="02020603050405020304" pitchFamily="18" charset="0"/>
                <a:cs typeface="Times New Roman" panose="02020603050405020304" pitchFamily="18" charset="0"/>
              </a:rPr>
              <a:t>2</a:t>
            </a:r>
            <a:r>
              <a:rPr lang="es-ES" sz="1600" dirty="0">
                <a:latin typeface="Times New Roman" panose="02020603050405020304" pitchFamily="18" charset="0"/>
                <a:cs typeface="Times New Roman" panose="02020603050405020304" pitchFamily="18" charset="0"/>
              </a:rPr>
              <a:t>=0 </a:t>
            </a:r>
            <a:r>
              <a:rPr lang="es-ES" sz="1400" dirty="0">
                <a:latin typeface="+mj-lt"/>
                <a:cs typeface="Times New Roman" panose="02020603050405020304" pitchFamily="18" charset="0"/>
              </a:rPr>
              <a:t> coherentemente con la aceptación de H</a:t>
            </a:r>
            <a:r>
              <a:rPr lang="es-ES" sz="1400" baseline="-25000" dirty="0">
                <a:latin typeface="+mj-lt"/>
                <a:cs typeface="Times New Roman" panose="02020603050405020304" pitchFamily="18" charset="0"/>
              </a:rPr>
              <a:t>0</a:t>
            </a:r>
            <a:r>
              <a:rPr lang="es-ES" sz="1400" dirty="0">
                <a:latin typeface="+mj-lt"/>
                <a:cs typeface="Times New Roman" panose="02020603050405020304" pitchFamily="18" charset="0"/>
              </a:rPr>
              <a:t> (aunque ¡por poco!)</a:t>
            </a:r>
          </a:p>
          <a:p>
            <a:pPr marL="285750" indent="-285750" algn="just" eaLnBrk="1" hangingPunct="1">
              <a:buFont typeface="Arial" panose="020B0604020202020204" pitchFamily="34" charset="0"/>
              <a:buChar char="•"/>
              <a:defRPr/>
            </a:pPr>
            <a:r>
              <a:rPr lang="es-ES" sz="1400" dirty="0">
                <a:latin typeface="+mj-lt"/>
                <a:cs typeface="Times New Roman" panose="02020603050405020304" pitchFamily="18" charset="0"/>
              </a:rPr>
              <a:t>Observemos el límite más discrepante de 0: el 33.17%. El test considera que una diferencia del 33% ¡no es diferencia!</a:t>
            </a:r>
            <a:endParaRPr lang="es-ES" sz="1400" dirty="0">
              <a:latin typeface="Times New Roman" panose="02020603050405020304" pitchFamily="18" charset="0"/>
              <a:cs typeface="Times New Roman" panose="02020603050405020304" pitchFamily="18" charset="0"/>
            </a:endParaRPr>
          </a:p>
        </p:txBody>
      </p:sp>
      <p:sp>
        <p:nvSpPr>
          <p:cNvPr id="18440" name="50 CuadroTexto">
            <a:extLst>
              <a:ext uri="{FF2B5EF4-FFF2-40B4-BE49-F238E27FC236}">
                <a16:creationId xmlns:a16="http://schemas.microsoft.com/office/drawing/2014/main" id="{6129FB21-7EFB-4296-9C75-1D612A06928A}"/>
              </a:ext>
            </a:extLst>
          </p:cNvPr>
          <p:cNvSpPr txBox="1">
            <a:spLocks noChangeArrowheads="1"/>
          </p:cNvSpPr>
          <p:nvPr/>
        </p:nvSpPr>
        <p:spPr bwMode="auto">
          <a:xfrm>
            <a:off x="304800" y="4024313"/>
            <a:ext cx="83058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b="1" dirty="0"/>
              <a:t>IC(</a:t>
            </a:r>
            <a:r>
              <a:rPr lang="es-ES" altLang="es-ES" sz="1600" b="1" i="1" dirty="0">
                <a:latin typeface="Times New Roman" panose="02020603050405020304" pitchFamily="18" charset="0"/>
                <a:cs typeface="Times New Roman" panose="02020603050405020304" pitchFamily="18" charset="0"/>
              </a:rPr>
              <a:t>p</a:t>
            </a:r>
            <a:r>
              <a:rPr lang="es-ES" altLang="es-ES" sz="1400" b="1" baseline="-25000" dirty="0"/>
              <a:t>1</a:t>
            </a:r>
            <a:r>
              <a:rPr lang="es-ES" altLang="es-ES" sz="1400" b="1" dirty="0"/>
              <a:t>−</a:t>
            </a:r>
            <a:r>
              <a:rPr lang="es-ES" altLang="es-ES" sz="1600" b="1" i="1" dirty="0">
                <a:latin typeface="Times New Roman" panose="02020603050405020304" pitchFamily="18" charset="0"/>
                <a:cs typeface="Times New Roman" panose="02020603050405020304" pitchFamily="18" charset="0"/>
              </a:rPr>
              <a:t>p</a:t>
            </a:r>
            <a:r>
              <a:rPr lang="es-ES" altLang="es-ES" sz="1400" b="1" baseline="-25000" dirty="0"/>
              <a:t>2</a:t>
            </a:r>
            <a:r>
              <a:rPr lang="es-ES" altLang="es-ES" sz="1400" b="1" dirty="0"/>
              <a:t>)    </a:t>
            </a:r>
            <a:r>
              <a:rPr lang="es-ES" altLang="es-ES" sz="1400" dirty="0"/>
              <a:t> (método de </a:t>
            </a:r>
            <a:r>
              <a:rPr lang="es-ES" altLang="es-ES" sz="1400" dirty="0" err="1"/>
              <a:t>Agresti-Caffo</a:t>
            </a:r>
            <a:r>
              <a:rPr lang="es-ES" altLang="es-ES" sz="1400" dirty="0"/>
              <a:t>)</a:t>
            </a:r>
          </a:p>
        </p:txBody>
      </p:sp>
      <p:graphicFrame>
        <p:nvGraphicFramePr>
          <p:cNvPr id="18441" name="4 Objeto">
            <a:extLst>
              <a:ext uri="{FF2B5EF4-FFF2-40B4-BE49-F238E27FC236}">
                <a16:creationId xmlns:a16="http://schemas.microsoft.com/office/drawing/2014/main" id="{76ED3583-ECCF-4D5A-979A-300B3F153566}"/>
              </a:ext>
            </a:extLst>
          </p:cNvPr>
          <p:cNvGraphicFramePr>
            <a:graphicFrameLocks noChangeAspect="1"/>
          </p:cNvGraphicFramePr>
          <p:nvPr>
            <p:extLst>
              <p:ext uri="{D42A27DB-BD31-4B8C-83A1-F6EECF244321}">
                <p14:modId xmlns:p14="http://schemas.microsoft.com/office/powerpoint/2010/main" val="2995999810"/>
              </p:ext>
            </p:extLst>
          </p:nvPr>
        </p:nvGraphicFramePr>
        <p:xfrm>
          <a:off x="2273300" y="5451475"/>
          <a:ext cx="4976813" cy="347663"/>
        </p:xfrm>
        <a:graphic>
          <a:graphicData uri="http://schemas.openxmlformats.org/presentationml/2006/ole">
            <mc:AlternateContent xmlns:mc="http://schemas.openxmlformats.org/markup-compatibility/2006">
              <mc:Choice xmlns:v="urn:schemas-microsoft-com:vml" Requires="v">
                <p:oleObj name="Equation" r:id="rId9" imgW="4038480" imgH="291960" progId="Equation.DSMT4">
                  <p:embed/>
                </p:oleObj>
              </mc:Choice>
              <mc:Fallback>
                <p:oleObj name="Equation" r:id="rId9" imgW="4038480" imgH="291960" progId="Equation.DSMT4">
                  <p:embed/>
                  <p:pic>
                    <p:nvPicPr>
                      <p:cNvPr id="18441" name="4 Objeto">
                        <a:extLst>
                          <a:ext uri="{FF2B5EF4-FFF2-40B4-BE49-F238E27FC236}">
                            <a16:creationId xmlns:a16="http://schemas.microsoft.com/office/drawing/2014/main" id="{76ED3583-ECCF-4D5A-979A-300B3F153566}"/>
                          </a:ext>
                        </a:extLst>
                      </p:cNvPr>
                      <p:cNvPicPr>
                        <a:picLocks noChangeAspect="1" noChangeArrowheads="1"/>
                      </p:cNvPicPr>
                      <p:nvPr/>
                    </p:nvPicPr>
                    <p:blipFill>
                      <a:blip r:embed="rId10"/>
                      <a:srcRect/>
                      <a:stretch>
                        <a:fillRect/>
                      </a:stretch>
                    </p:blipFill>
                    <p:spPr bwMode="auto">
                      <a:xfrm>
                        <a:off x="2273300" y="5451475"/>
                        <a:ext cx="4976813"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2" name="52 CuadroTexto">
            <a:extLst>
              <a:ext uri="{FF2B5EF4-FFF2-40B4-BE49-F238E27FC236}">
                <a16:creationId xmlns:a16="http://schemas.microsoft.com/office/drawing/2014/main" id="{F193130A-57B3-409E-A7B8-836DA77D8420}"/>
              </a:ext>
            </a:extLst>
          </p:cNvPr>
          <p:cNvSpPr txBox="1">
            <a:spLocks noChangeArrowheads="1"/>
          </p:cNvSpPr>
          <p:nvPr/>
        </p:nvSpPr>
        <p:spPr bwMode="auto">
          <a:xfrm>
            <a:off x="304800" y="1219200"/>
            <a:ext cx="45577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dirty="0"/>
              <a:t>Test</a:t>
            </a:r>
            <a:r>
              <a:rPr lang="es-ES" altLang="es-ES" sz="1400" dirty="0"/>
              <a:t>: (el planteamiento y las hipótesis son como antes)</a:t>
            </a:r>
          </a:p>
        </p:txBody>
      </p:sp>
      <p:sp>
        <p:nvSpPr>
          <p:cNvPr id="18443" name="Text Box 2">
            <a:extLst>
              <a:ext uri="{FF2B5EF4-FFF2-40B4-BE49-F238E27FC236}">
                <a16:creationId xmlns:a16="http://schemas.microsoft.com/office/drawing/2014/main" id="{8FE39D8E-51A0-4CB3-8029-27ECFB1F1FA5}"/>
              </a:ext>
            </a:extLst>
          </p:cNvPr>
          <p:cNvSpPr txBox="1">
            <a:spLocks noChangeArrowheads="1"/>
          </p:cNvSpPr>
          <p:nvPr/>
        </p:nvSpPr>
        <p:spPr bwMode="auto">
          <a:xfrm>
            <a:off x="19050" y="301625"/>
            <a:ext cx="51371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dirty="0"/>
              <a:t>Test de comparación de dos proporciones independientes</a:t>
            </a:r>
            <a:endParaRPr lang="es-ES" altLang="es-ES" sz="1400" b="1"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5" name="1 Objeto">
            <a:extLst>
              <a:ext uri="{FF2B5EF4-FFF2-40B4-BE49-F238E27FC236}">
                <a16:creationId xmlns:a16="http://schemas.microsoft.com/office/drawing/2014/main" id="{1703E6A8-8734-4178-A0F8-0D947E7DAFA6}"/>
              </a:ext>
            </a:extLst>
          </p:cNvPr>
          <p:cNvGraphicFramePr>
            <a:graphicFrameLocks noChangeAspect="1"/>
          </p:cNvGraphicFramePr>
          <p:nvPr/>
        </p:nvGraphicFramePr>
        <p:xfrm>
          <a:off x="5943600" y="685800"/>
          <a:ext cx="2830513" cy="1100138"/>
        </p:xfrm>
        <a:graphic>
          <a:graphicData uri="http://schemas.openxmlformats.org/presentationml/2006/ole">
            <mc:AlternateContent xmlns:mc="http://schemas.openxmlformats.org/markup-compatibility/2006">
              <mc:Choice xmlns:v="urn:schemas-microsoft-com:vml" Requires="v">
                <p:oleObj name="Equation" r:id="rId3" imgW="3022600" imgH="1219200" progId="Equation.DSMT4">
                  <p:embed/>
                </p:oleObj>
              </mc:Choice>
              <mc:Fallback>
                <p:oleObj name="Equation" r:id="rId3" imgW="3022600" imgH="1219200" progId="Equation.DSMT4">
                  <p:embed/>
                  <p:pic>
                    <p:nvPicPr>
                      <p:cNvPr id="18435" name="1 Objeto">
                        <a:extLst>
                          <a:ext uri="{FF2B5EF4-FFF2-40B4-BE49-F238E27FC236}">
                            <a16:creationId xmlns:a16="http://schemas.microsoft.com/office/drawing/2014/main" id="{1703E6A8-8734-4178-A0F8-0D947E7DAF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685800"/>
                        <a:ext cx="2830513" cy="110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1" name="4 Objeto">
            <a:extLst>
              <a:ext uri="{FF2B5EF4-FFF2-40B4-BE49-F238E27FC236}">
                <a16:creationId xmlns:a16="http://schemas.microsoft.com/office/drawing/2014/main" id="{76ED3583-ECCF-4D5A-979A-300B3F153566}"/>
              </a:ext>
            </a:extLst>
          </p:cNvPr>
          <p:cNvGraphicFramePr>
            <a:graphicFrameLocks noChangeAspect="1"/>
          </p:cNvGraphicFramePr>
          <p:nvPr/>
        </p:nvGraphicFramePr>
        <p:xfrm>
          <a:off x="381000" y="1271891"/>
          <a:ext cx="4572000" cy="319384"/>
        </p:xfrm>
        <a:graphic>
          <a:graphicData uri="http://schemas.openxmlformats.org/presentationml/2006/ole">
            <mc:AlternateContent xmlns:mc="http://schemas.openxmlformats.org/markup-compatibility/2006">
              <mc:Choice xmlns:v="urn:schemas-microsoft-com:vml" Requires="v">
                <p:oleObj name="Equation" r:id="rId5" imgW="4038600" imgH="292100" progId="Equation.DSMT4">
                  <p:embed/>
                </p:oleObj>
              </mc:Choice>
              <mc:Fallback>
                <p:oleObj name="Equation" r:id="rId5" imgW="4038600" imgH="292100" progId="Equation.DSMT4">
                  <p:embed/>
                  <p:pic>
                    <p:nvPicPr>
                      <p:cNvPr id="18441" name="4 Objeto">
                        <a:extLst>
                          <a:ext uri="{FF2B5EF4-FFF2-40B4-BE49-F238E27FC236}">
                            <a16:creationId xmlns:a16="http://schemas.microsoft.com/office/drawing/2014/main" id="{76ED3583-ECCF-4D5A-979A-300B3F1535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1271891"/>
                        <a:ext cx="4572000" cy="319384"/>
                      </a:xfrm>
                      <a:prstGeom prst="rect">
                        <a:avLst/>
                      </a:prstGeom>
                      <a:noFill/>
                      <a:ln>
                        <a:noFill/>
                      </a:ln>
                    </p:spPr>
                  </p:pic>
                </p:oleObj>
              </mc:Fallback>
            </mc:AlternateContent>
          </a:graphicData>
        </a:graphic>
      </p:graphicFrame>
      <p:sp>
        <p:nvSpPr>
          <p:cNvPr id="18443" name="Text Box 2">
            <a:extLst>
              <a:ext uri="{FF2B5EF4-FFF2-40B4-BE49-F238E27FC236}">
                <a16:creationId xmlns:a16="http://schemas.microsoft.com/office/drawing/2014/main" id="{8FE39D8E-51A0-4CB3-8029-27ECFB1F1FA5}"/>
              </a:ext>
            </a:extLst>
          </p:cNvPr>
          <p:cNvSpPr txBox="1">
            <a:spLocks noChangeArrowheads="1"/>
          </p:cNvSpPr>
          <p:nvPr/>
        </p:nvSpPr>
        <p:spPr bwMode="auto">
          <a:xfrm>
            <a:off x="19050" y="301625"/>
            <a:ext cx="51371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a:t>Test de comparación de dos proporciones independientes</a:t>
            </a:r>
            <a:endParaRPr lang="es-ES" altLang="es-ES" sz="1400" b="1"/>
          </a:p>
        </p:txBody>
      </p:sp>
      <p:sp>
        <p:nvSpPr>
          <p:cNvPr id="17" name="52 CuadroTexto">
            <a:extLst>
              <a:ext uri="{FF2B5EF4-FFF2-40B4-BE49-F238E27FC236}">
                <a16:creationId xmlns:a16="http://schemas.microsoft.com/office/drawing/2014/main" id="{EE4C8CF2-E97F-43A4-8BC4-EFDEA971955E}"/>
              </a:ext>
            </a:extLst>
          </p:cNvPr>
          <p:cNvSpPr txBox="1">
            <a:spLocks noChangeArrowheads="1"/>
          </p:cNvSpPr>
          <p:nvPr/>
        </p:nvSpPr>
        <p:spPr bwMode="auto">
          <a:xfrm>
            <a:off x="308768" y="1981200"/>
            <a:ext cx="587962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dirty="0"/>
              <a:t>Tamaño de muestra</a:t>
            </a:r>
            <a:r>
              <a:rPr lang="es-ES" altLang="es-ES" sz="1400" dirty="0"/>
              <a:t>: sin considerar información previa (muestra piloto)</a:t>
            </a:r>
          </a:p>
        </p:txBody>
      </p:sp>
      <p:sp>
        <p:nvSpPr>
          <p:cNvPr id="19" name="47 CuadroTexto">
            <a:extLst>
              <a:ext uri="{FF2B5EF4-FFF2-40B4-BE49-F238E27FC236}">
                <a16:creationId xmlns:a16="http://schemas.microsoft.com/office/drawing/2014/main" id="{BFCD59BA-6549-48A0-9897-DB774AE6A43F}"/>
              </a:ext>
            </a:extLst>
          </p:cNvPr>
          <p:cNvSpPr txBox="1">
            <a:spLocks noChangeArrowheads="1"/>
          </p:cNvSpPr>
          <p:nvPr/>
        </p:nvSpPr>
        <p:spPr bwMode="auto">
          <a:xfrm>
            <a:off x="371475" y="2422327"/>
            <a:ext cx="842803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dirty="0"/>
              <a:t>Para detectar una diferencia (un </a:t>
            </a:r>
            <a:r>
              <a:rPr lang="es-ES" altLang="es-ES" sz="1300" i="1" dirty="0"/>
              <a:t>efecto</a:t>
            </a:r>
            <a:r>
              <a:rPr lang="es-ES" altLang="es-ES" sz="1300" dirty="0"/>
              <a:t>) </a:t>
            </a:r>
            <a:endParaRPr lang="es-ES" altLang="es-ES" sz="1300" b="1" dirty="0"/>
          </a:p>
        </p:txBody>
      </p:sp>
      <p:graphicFrame>
        <p:nvGraphicFramePr>
          <p:cNvPr id="21" name="4 Objeto">
            <a:extLst>
              <a:ext uri="{FF2B5EF4-FFF2-40B4-BE49-F238E27FC236}">
                <a16:creationId xmlns:a16="http://schemas.microsoft.com/office/drawing/2014/main" id="{A8D082E3-D328-4268-A0A2-D461784EBA9D}"/>
              </a:ext>
            </a:extLst>
          </p:cNvPr>
          <p:cNvGraphicFramePr>
            <a:graphicFrameLocks noChangeAspect="1"/>
          </p:cNvGraphicFramePr>
          <p:nvPr/>
        </p:nvGraphicFramePr>
        <p:xfrm>
          <a:off x="3519488" y="2441377"/>
          <a:ext cx="892175" cy="271463"/>
        </p:xfrm>
        <a:graphic>
          <a:graphicData uri="http://schemas.openxmlformats.org/presentationml/2006/ole">
            <mc:AlternateContent xmlns:mc="http://schemas.openxmlformats.org/markup-compatibility/2006">
              <mc:Choice xmlns:v="urn:schemas-microsoft-com:vml" Requires="v">
                <p:oleObj name="Equation" r:id="rId7" imgW="723600" imgH="228600" progId="Equation.DSMT4">
                  <p:embed/>
                </p:oleObj>
              </mc:Choice>
              <mc:Fallback>
                <p:oleObj name="Equation" r:id="rId7" imgW="723600" imgH="228600" progId="Equation.DSMT4">
                  <p:embed/>
                  <p:pic>
                    <p:nvPicPr>
                      <p:cNvPr id="21" name="4 Objeto">
                        <a:extLst>
                          <a:ext uri="{FF2B5EF4-FFF2-40B4-BE49-F238E27FC236}">
                            <a16:creationId xmlns:a16="http://schemas.microsoft.com/office/drawing/2014/main" id="{A8D082E3-D328-4268-A0A2-D461784EBA9D}"/>
                          </a:ext>
                        </a:extLst>
                      </p:cNvPr>
                      <p:cNvPicPr>
                        <a:picLocks noChangeAspect="1" noChangeArrowheads="1"/>
                      </p:cNvPicPr>
                      <p:nvPr/>
                    </p:nvPicPr>
                    <p:blipFill>
                      <a:blip r:embed="rId8"/>
                      <a:srcRect/>
                      <a:stretch>
                        <a:fillRect/>
                      </a:stretch>
                    </p:blipFill>
                    <p:spPr bwMode="auto">
                      <a:xfrm>
                        <a:off x="3519488" y="2441377"/>
                        <a:ext cx="892175"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4 Objeto">
            <a:extLst>
              <a:ext uri="{FF2B5EF4-FFF2-40B4-BE49-F238E27FC236}">
                <a16:creationId xmlns:a16="http://schemas.microsoft.com/office/drawing/2014/main" id="{6E91E3C9-2D6B-41BA-83D3-D1CA4A6F3F89}"/>
              </a:ext>
            </a:extLst>
          </p:cNvPr>
          <p:cNvGraphicFramePr>
            <a:graphicFrameLocks noChangeAspect="1"/>
          </p:cNvGraphicFramePr>
          <p:nvPr/>
        </p:nvGraphicFramePr>
        <p:xfrm>
          <a:off x="2667000" y="2866125"/>
          <a:ext cx="2375780" cy="778273"/>
        </p:xfrm>
        <a:graphic>
          <a:graphicData uri="http://schemas.openxmlformats.org/presentationml/2006/ole">
            <mc:AlternateContent xmlns:mc="http://schemas.openxmlformats.org/markup-compatibility/2006">
              <mc:Choice xmlns:v="urn:schemas-microsoft-com:vml" Requires="v">
                <p:oleObj name="Equation" r:id="rId9" imgW="1790640" imgH="609480" progId="Equation.DSMT4">
                  <p:embed/>
                </p:oleObj>
              </mc:Choice>
              <mc:Fallback>
                <p:oleObj name="Equation" r:id="rId9" imgW="1790640" imgH="609480" progId="Equation.DSMT4">
                  <p:embed/>
                  <p:pic>
                    <p:nvPicPr>
                      <p:cNvPr id="22" name="4 Objeto">
                        <a:extLst>
                          <a:ext uri="{FF2B5EF4-FFF2-40B4-BE49-F238E27FC236}">
                            <a16:creationId xmlns:a16="http://schemas.microsoft.com/office/drawing/2014/main" id="{6E91E3C9-2D6B-41BA-83D3-D1CA4A6F3F89}"/>
                          </a:ext>
                        </a:extLst>
                      </p:cNvPr>
                      <p:cNvPicPr>
                        <a:picLocks noChangeAspect="1" noChangeArrowheads="1"/>
                      </p:cNvPicPr>
                      <p:nvPr/>
                    </p:nvPicPr>
                    <p:blipFill>
                      <a:blip r:embed="rId10"/>
                      <a:srcRect/>
                      <a:stretch>
                        <a:fillRect/>
                      </a:stretch>
                    </p:blipFill>
                    <p:spPr bwMode="auto">
                      <a:xfrm>
                        <a:off x="2667000" y="2866125"/>
                        <a:ext cx="2375780" cy="778273"/>
                      </a:xfrm>
                      <a:prstGeom prst="rect">
                        <a:avLst/>
                      </a:prstGeom>
                      <a:noFill/>
                      <a:ln>
                        <a:noFill/>
                      </a:ln>
                    </p:spPr>
                  </p:pic>
                </p:oleObj>
              </mc:Fallback>
            </mc:AlternateContent>
          </a:graphicData>
        </a:graphic>
      </p:graphicFrame>
      <p:sp>
        <p:nvSpPr>
          <p:cNvPr id="23" name="47 CuadroTexto">
            <a:extLst>
              <a:ext uri="{FF2B5EF4-FFF2-40B4-BE49-F238E27FC236}">
                <a16:creationId xmlns:a16="http://schemas.microsoft.com/office/drawing/2014/main" id="{4D4B83B6-ADB9-4BA4-A8AA-6394CF1C82C7}"/>
              </a:ext>
            </a:extLst>
          </p:cNvPr>
          <p:cNvSpPr txBox="1">
            <a:spLocks noChangeArrowheads="1"/>
          </p:cNvSpPr>
          <p:nvPr/>
        </p:nvSpPr>
        <p:spPr bwMode="auto">
          <a:xfrm>
            <a:off x="371475" y="2699996"/>
            <a:ext cx="83518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dirty="0"/>
              <a:t>con una potencia </a:t>
            </a:r>
            <a:r>
              <a:rPr lang="es-ES" altLang="es-ES" sz="1400" dirty="0">
                <a:latin typeface="Symbol" panose="05050102010706020507" pitchFamily="18" charset="2"/>
              </a:rPr>
              <a:t>q</a:t>
            </a:r>
            <a:endParaRPr lang="es-ES" altLang="es-ES" sz="1300" dirty="0">
              <a:latin typeface="Symbol" panose="05050102010706020507" pitchFamily="18" charset="2"/>
            </a:endParaRPr>
          </a:p>
          <a:p>
            <a:pPr algn="just" eaLnBrk="1" hangingPunct="1"/>
            <a:r>
              <a:rPr lang="es-ES" altLang="es-ES" sz="1300" dirty="0">
                <a:latin typeface="+mn-lt"/>
              </a:rPr>
              <a:t>a un error </a:t>
            </a:r>
            <a:r>
              <a:rPr lang="es-ES" altLang="es-ES" sz="1400" dirty="0">
                <a:latin typeface="Symbol" panose="05050102010706020507" pitchFamily="18" charset="2"/>
              </a:rPr>
              <a:t>a</a:t>
            </a:r>
            <a:endParaRPr lang="es-ES" altLang="es-ES" sz="1300" dirty="0">
              <a:latin typeface="Symbol" panose="05050102010706020507" pitchFamily="18" charset="2"/>
            </a:endParaRPr>
          </a:p>
        </p:txBody>
      </p:sp>
      <p:sp>
        <p:nvSpPr>
          <p:cNvPr id="24" name="47 CuadroTexto">
            <a:extLst>
              <a:ext uri="{FF2B5EF4-FFF2-40B4-BE49-F238E27FC236}">
                <a16:creationId xmlns:a16="http://schemas.microsoft.com/office/drawing/2014/main" id="{A7752A92-24FD-4C13-81D5-CAE8AB35DF37}"/>
              </a:ext>
            </a:extLst>
          </p:cNvPr>
          <p:cNvSpPr txBox="1">
            <a:spLocks noChangeArrowheads="1"/>
          </p:cNvSpPr>
          <p:nvPr/>
        </p:nvSpPr>
        <p:spPr bwMode="auto">
          <a:xfrm>
            <a:off x="346075" y="3995456"/>
            <a:ext cx="842803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dirty="0"/>
              <a:t>Para declarar significativa una diferencia del 10% (</a:t>
            </a:r>
            <a:r>
              <a:rPr lang="es-ES" altLang="es-ES" sz="1300" dirty="0">
                <a:latin typeface="Symbol" panose="05050102010706020507" pitchFamily="18" charset="2"/>
              </a:rPr>
              <a:t>d</a:t>
            </a:r>
            <a:r>
              <a:rPr lang="es-ES" altLang="es-ES" sz="1300" dirty="0"/>
              <a:t>=0.1) con una potencia del 80% (</a:t>
            </a:r>
            <a:r>
              <a:rPr lang="es-ES" altLang="es-ES" sz="1300" dirty="0">
                <a:latin typeface="Symbol" panose="05050102010706020507" pitchFamily="18" charset="2"/>
              </a:rPr>
              <a:t>b</a:t>
            </a:r>
            <a:r>
              <a:rPr lang="es-ES" altLang="es-ES" sz="1300" dirty="0"/>
              <a:t>=0.20) a un error del 5% (</a:t>
            </a:r>
            <a:r>
              <a:rPr lang="es-ES" altLang="es-ES" sz="1400" dirty="0">
                <a:latin typeface="Symbol" panose="05050102010706020507" pitchFamily="18" charset="2"/>
              </a:rPr>
              <a:t>a</a:t>
            </a:r>
            <a:r>
              <a:rPr lang="es-ES" altLang="es-ES" sz="1300" dirty="0"/>
              <a:t>=0.05) son necesarios 392 casos en cada muestra:</a:t>
            </a:r>
            <a:endParaRPr lang="es-ES" altLang="es-ES" sz="1300" b="1" dirty="0"/>
          </a:p>
        </p:txBody>
      </p:sp>
      <p:graphicFrame>
        <p:nvGraphicFramePr>
          <p:cNvPr id="25" name="4 Objeto">
            <a:extLst>
              <a:ext uri="{FF2B5EF4-FFF2-40B4-BE49-F238E27FC236}">
                <a16:creationId xmlns:a16="http://schemas.microsoft.com/office/drawing/2014/main" id="{36C5D041-7D4A-46A2-8F50-FE8DCF1633ED}"/>
              </a:ext>
            </a:extLst>
          </p:cNvPr>
          <p:cNvGraphicFramePr>
            <a:graphicFrameLocks noChangeAspect="1"/>
          </p:cNvGraphicFramePr>
          <p:nvPr/>
        </p:nvGraphicFramePr>
        <p:xfrm>
          <a:off x="419100" y="4669807"/>
          <a:ext cx="5229225" cy="712787"/>
        </p:xfrm>
        <a:graphic>
          <a:graphicData uri="http://schemas.openxmlformats.org/presentationml/2006/ole">
            <mc:AlternateContent xmlns:mc="http://schemas.openxmlformats.org/markup-compatibility/2006">
              <mc:Choice xmlns:v="urn:schemas-microsoft-com:vml" Requires="v">
                <p:oleObj name="Equation" r:id="rId11" imgW="4038480" imgH="571320" progId="Equation.DSMT4">
                  <p:embed/>
                </p:oleObj>
              </mc:Choice>
              <mc:Fallback>
                <p:oleObj name="Equation" r:id="rId11" imgW="4038480" imgH="571320" progId="Equation.DSMT4">
                  <p:embed/>
                  <p:pic>
                    <p:nvPicPr>
                      <p:cNvPr id="25" name="4 Objeto">
                        <a:extLst>
                          <a:ext uri="{FF2B5EF4-FFF2-40B4-BE49-F238E27FC236}">
                            <a16:creationId xmlns:a16="http://schemas.microsoft.com/office/drawing/2014/main" id="{36C5D041-7D4A-46A2-8F50-FE8DCF1633ED}"/>
                          </a:ext>
                        </a:extLst>
                      </p:cNvPr>
                      <p:cNvPicPr>
                        <a:picLocks noChangeAspect="1" noChangeArrowheads="1"/>
                      </p:cNvPicPr>
                      <p:nvPr/>
                    </p:nvPicPr>
                    <p:blipFill>
                      <a:blip r:embed="rId12"/>
                      <a:srcRect/>
                      <a:stretch>
                        <a:fillRect/>
                      </a:stretch>
                    </p:blipFill>
                    <p:spPr bwMode="auto">
                      <a:xfrm>
                        <a:off x="419100" y="4669807"/>
                        <a:ext cx="5229225" cy="712787"/>
                      </a:xfrm>
                      <a:prstGeom prst="rect">
                        <a:avLst/>
                      </a:prstGeom>
                      <a:noFill/>
                      <a:ln>
                        <a:noFill/>
                      </a:ln>
                    </p:spPr>
                  </p:pic>
                </p:oleObj>
              </mc:Fallback>
            </mc:AlternateContent>
          </a:graphicData>
        </a:graphic>
      </p:graphicFrame>
      <p:graphicFrame>
        <p:nvGraphicFramePr>
          <p:cNvPr id="26" name="4 Objeto">
            <a:extLst>
              <a:ext uri="{FF2B5EF4-FFF2-40B4-BE49-F238E27FC236}">
                <a16:creationId xmlns:a16="http://schemas.microsoft.com/office/drawing/2014/main" id="{6A61ACD2-742A-47DE-888A-8FF8E501DD4E}"/>
              </a:ext>
            </a:extLst>
          </p:cNvPr>
          <p:cNvGraphicFramePr>
            <a:graphicFrameLocks noChangeAspect="1"/>
          </p:cNvGraphicFramePr>
          <p:nvPr/>
        </p:nvGraphicFramePr>
        <p:xfrm>
          <a:off x="6178866" y="4582494"/>
          <a:ext cx="2268537" cy="887413"/>
        </p:xfrm>
        <a:graphic>
          <a:graphicData uri="http://schemas.openxmlformats.org/presentationml/2006/ole">
            <mc:AlternateContent xmlns:mc="http://schemas.openxmlformats.org/markup-compatibility/2006">
              <mc:Choice xmlns:v="urn:schemas-microsoft-com:vml" Requires="v">
                <p:oleObj name="Equation" r:id="rId13" imgW="1752480" imgH="711000" progId="Equation.DSMT4">
                  <p:embed/>
                </p:oleObj>
              </mc:Choice>
              <mc:Fallback>
                <p:oleObj name="Equation" r:id="rId13" imgW="1752480" imgH="711000" progId="Equation.DSMT4">
                  <p:embed/>
                  <p:pic>
                    <p:nvPicPr>
                      <p:cNvPr id="26" name="4 Objeto">
                        <a:extLst>
                          <a:ext uri="{FF2B5EF4-FFF2-40B4-BE49-F238E27FC236}">
                            <a16:creationId xmlns:a16="http://schemas.microsoft.com/office/drawing/2014/main" id="{6A61ACD2-742A-47DE-888A-8FF8E501DD4E}"/>
                          </a:ext>
                        </a:extLst>
                      </p:cNvPr>
                      <p:cNvPicPr>
                        <a:picLocks noChangeAspect="1" noChangeArrowheads="1"/>
                      </p:cNvPicPr>
                      <p:nvPr/>
                    </p:nvPicPr>
                    <p:blipFill>
                      <a:blip r:embed="rId14"/>
                      <a:srcRect/>
                      <a:stretch>
                        <a:fillRect/>
                      </a:stretch>
                    </p:blipFill>
                    <p:spPr bwMode="auto">
                      <a:xfrm>
                        <a:off x="6178866" y="4582494"/>
                        <a:ext cx="2268537" cy="88741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7926454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a:extLst>
              <a:ext uri="{FF2B5EF4-FFF2-40B4-BE49-F238E27FC236}">
                <a16:creationId xmlns:a16="http://schemas.microsoft.com/office/drawing/2014/main" id="{D30778B3-BEE0-4D8B-81A1-2674E299AE7D}"/>
              </a:ext>
            </a:extLst>
          </p:cNvPr>
          <p:cNvSpPr txBox="1">
            <a:spLocks noChangeArrowheads="1"/>
          </p:cNvSpPr>
          <p:nvPr/>
        </p:nvSpPr>
        <p:spPr bwMode="auto">
          <a:xfrm>
            <a:off x="19050" y="301625"/>
            <a:ext cx="630525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dirty="0"/>
              <a:t>Test de comparación de dos proporciones Apareadas. Test de </a:t>
            </a:r>
            <a:r>
              <a:rPr lang="es-ES_tradnl" altLang="es-ES" sz="1400" b="1" dirty="0" err="1"/>
              <a:t>McNemar</a:t>
            </a:r>
            <a:endParaRPr lang="es-ES" altLang="es-ES" sz="1400" b="1" dirty="0"/>
          </a:p>
        </p:txBody>
      </p:sp>
      <p:sp>
        <p:nvSpPr>
          <p:cNvPr id="20483" name="Rectangle 21">
            <a:extLst>
              <a:ext uri="{FF2B5EF4-FFF2-40B4-BE49-F238E27FC236}">
                <a16:creationId xmlns:a16="http://schemas.microsoft.com/office/drawing/2014/main" id="{4947CC8B-1852-4434-AA54-2B568C8E461B}"/>
              </a:ext>
            </a:extLst>
          </p:cNvPr>
          <p:cNvSpPr>
            <a:spLocks noChangeArrowheads="1"/>
          </p:cNvSpPr>
          <p:nvPr/>
        </p:nvSpPr>
        <p:spPr bwMode="auto">
          <a:xfrm>
            <a:off x="304800" y="749300"/>
            <a:ext cx="8610600" cy="138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_tradnl" altLang="es-ES" sz="1400" b="1">
                <a:solidFill>
                  <a:srgbClr val="006666"/>
                </a:solidFill>
              </a:rPr>
              <a:t>Ejemplo: </a:t>
            </a:r>
            <a:r>
              <a:rPr lang="es-ES_tradnl" altLang="es-ES" sz="1400">
                <a:solidFill>
                  <a:srgbClr val="006666"/>
                </a:solidFill>
              </a:rPr>
              <a:t>Se estudia la eficacia de dos terapias alternativas, A (analgésica) y B (terapia física)  para paliar el dolor crónico en pacientes con fibromialgia. En el estudio han participado 166 mujeres que fueron sometidas durante dos periodos de 6 meses a cada uno de los métodos. El orden en que se aplicaron las terapias fue aleatorizado. Del conjunto de pacientes considerado, 38 respondieron a ambos métodos, 82 no respondieron a ninguno y 15 de los que respondieron al método A no respondieron al B ¿Puede considerarse una terapia más eficaz que la otra?</a:t>
            </a:r>
            <a:endParaRPr lang="es-ES" altLang="es-ES" sz="1400">
              <a:solidFill>
                <a:srgbClr val="006666"/>
              </a:solidFill>
            </a:endParaRPr>
          </a:p>
        </p:txBody>
      </p:sp>
      <p:sp>
        <p:nvSpPr>
          <p:cNvPr id="20484" name="7 CuadroTexto">
            <a:extLst>
              <a:ext uri="{FF2B5EF4-FFF2-40B4-BE49-F238E27FC236}">
                <a16:creationId xmlns:a16="http://schemas.microsoft.com/office/drawing/2014/main" id="{7676F5D5-2810-4D41-9429-BE685A7338CE}"/>
              </a:ext>
            </a:extLst>
          </p:cNvPr>
          <p:cNvSpPr txBox="1">
            <a:spLocks noChangeArrowheads="1"/>
          </p:cNvSpPr>
          <p:nvPr/>
        </p:nvSpPr>
        <p:spPr bwMode="auto">
          <a:xfrm>
            <a:off x="334963" y="2282825"/>
            <a:ext cx="27574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a:t>1. Identificación del problema:</a:t>
            </a:r>
          </a:p>
        </p:txBody>
      </p:sp>
      <p:sp>
        <p:nvSpPr>
          <p:cNvPr id="20485" name="8 CuadroTexto">
            <a:extLst>
              <a:ext uri="{FF2B5EF4-FFF2-40B4-BE49-F238E27FC236}">
                <a16:creationId xmlns:a16="http://schemas.microsoft.com/office/drawing/2014/main" id="{736AD3CD-68A3-42A9-B602-9B622C5B58A3}"/>
              </a:ext>
            </a:extLst>
          </p:cNvPr>
          <p:cNvSpPr txBox="1">
            <a:spLocks noChangeArrowheads="1"/>
          </p:cNvSpPr>
          <p:nvPr/>
        </p:nvSpPr>
        <p:spPr bwMode="auto">
          <a:xfrm>
            <a:off x="533400" y="2536825"/>
            <a:ext cx="830580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a:t>Cada paciente aporta dos observaciones: su respuesta a la terapia A y su respuesta a la terapia B, se trata por tanto de </a:t>
            </a:r>
            <a:r>
              <a:rPr lang="es-ES" altLang="es-ES" sz="1300" b="1"/>
              <a:t>muestras apareadas.</a:t>
            </a:r>
            <a:r>
              <a:rPr lang="es-ES" altLang="es-ES" sz="1300"/>
              <a:t> Como los parámetros de interés son las proporciones de casos que responden a cada terapia, el problema consiste en </a:t>
            </a:r>
            <a:r>
              <a:rPr lang="es-ES" altLang="es-ES" sz="1300" b="1"/>
              <a:t>contrastar la homogeneidad de dos proporciones de muestras apareadas</a:t>
            </a:r>
          </a:p>
        </p:txBody>
      </p:sp>
      <p:graphicFrame>
        <p:nvGraphicFramePr>
          <p:cNvPr id="20486" name="1 Objeto">
            <a:extLst>
              <a:ext uri="{FF2B5EF4-FFF2-40B4-BE49-F238E27FC236}">
                <a16:creationId xmlns:a16="http://schemas.microsoft.com/office/drawing/2014/main" id="{F7C25D5D-29D4-45CC-8DA5-F937D62B7602}"/>
              </a:ext>
            </a:extLst>
          </p:cNvPr>
          <p:cNvGraphicFramePr>
            <a:graphicFrameLocks noChangeAspect="1"/>
          </p:cNvGraphicFramePr>
          <p:nvPr/>
        </p:nvGraphicFramePr>
        <p:xfrm>
          <a:off x="549275" y="4087813"/>
          <a:ext cx="2178050" cy="1054100"/>
        </p:xfrm>
        <a:graphic>
          <a:graphicData uri="http://schemas.openxmlformats.org/presentationml/2006/ole">
            <mc:AlternateContent xmlns:mc="http://schemas.openxmlformats.org/markup-compatibility/2006">
              <mc:Choice xmlns:v="urn:schemas-microsoft-com:vml" Requires="v">
                <p:oleObj name="Equation" r:id="rId3" imgW="1917360" imgH="965160" progId="Equation.DSMT4">
                  <p:embed/>
                </p:oleObj>
              </mc:Choice>
              <mc:Fallback>
                <p:oleObj name="Equation" r:id="rId3" imgW="1917360" imgH="965160" progId="Equation.DSMT4">
                  <p:embed/>
                  <p:pic>
                    <p:nvPicPr>
                      <p:cNvPr id="20486" name="1 Objeto">
                        <a:extLst>
                          <a:ext uri="{FF2B5EF4-FFF2-40B4-BE49-F238E27FC236}">
                            <a16:creationId xmlns:a16="http://schemas.microsoft.com/office/drawing/2014/main" id="{F7C25D5D-29D4-45CC-8DA5-F937D62B76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275" y="4087813"/>
                        <a:ext cx="217805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7" name="8 CuadroTexto">
            <a:extLst>
              <a:ext uri="{FF2B5EF4-FFF2-40B4-BE49-F238E27FC236}">
                <a16:creationId xmlns:a16="http://schemas.microsoft.com/office/drawing/2014/main" id="{D5AB5099-C8DE-4AAB-A9B9-466F1CA9A351}"/>
              </a:ext>
            </a:extLst>
          </p:cNvPr>
          <p:cNvSpPr txBox="1">
            <a:spLocks noChangeArrowheads="1"/>
          </p:cNvSpPr>
          <p:nvPr/>
        </p:nvSpPr>
        <p:spPr bwMode="auto">
          <a:xfrm>
            <a:off x="533400" y="3746500"/>
            <a:ext cx="83058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a:t>Podríamos pensar en dos tipos de tabla:</a:t>
            </a:r>
          </a:p>
        </p:txBody>
      </p:sp>
      <p:sp>
        <p:nvSpPr>
          <p:cNvPr id="20488" name="2 CuadroTexto">
            <a:extLst>
              <a:ext uri="{FF2B5EF4-FFF2-40B4-BE49-F238E27FC236}">
                <a16:creationId xmlns:a16="http://schemas.microsoft.com/office/drawing/2014/main" id="{3F44C039-29FE-48BB-AE81-178AF836D6B4}"/>
              </a:ext>
            </a:extLst>
          </p:cNvPr>
          <p:cNvSpPr txBox="1">
            <a:spLocks noChangeArrowheads="1"/>
          </p:cNvSpPr>
          <p:nvPr/>
        </p:nvSpPr>
        <p:spPr bwMode="auto">
          <a:xfrm>
            <a:off x="334963" y="3448050"/>
            <a:ext cx="2263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a:t>2. Información muestral:</a:t>
            </a:r>
          </a:p>
        </p:txBody>
      </p:sp>
      <p:sp>
        <p:nvSpPr>
          <p:cNvPr id="20489" name="8 CuadroTexto">
            <a:extLst>
              <a:ext uri="{FF2B5EF4-FFF2-40B4-BE49-F238E27FC236}">
                <a16:creationId xmlns:a16="http://schemas.microsoft.com/office/drawing/2014/main" id="{D2216568-2974-4A1E-8E1E-49577440C7A8}"/>
              </a:ext>
            </a:extLst>
          </p:cNvPr>
          <p:cNvSpPr txBox="1">
            <a:spLocks noChangeArrowheads="1"/>
          </p:cNvSpPr>
          <p:nvPr/>
        </p:nvSpPr>
        <p:spPr bwMode="auto">
          <a:xfrm>
            <a:off x="3124200" y="4165600"/>
            <a:ext cx="5715000"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a:t>No es la tabla que interesa, se pierde la información apareada: no es posible saber cuál es la respuesta a la terapia B por parte de un paciente que ha respondido positiva o negativamente a la A.  Además, obsérvese que con este planteamento, la suma de frecuencias es 332 (el doble que el número de pacientes)</a:t>
            </a:r>
          </a:p>
        </p:txBody>
      </p:sp>
      <p:sp>
        <p:nvSpPr>
          <p:cNvPr id="20490" name="8 CuadroTexto">
            <a:extLst>
              <a:ext uri="{FF2B5EF4-FFF2-40B4-BE49-F238E27FC236}">
                <a16:creationId xmlns:a16="http://schemas.microsoft.com/office/drawing/2014/main" id="{F2E306D7-2BA1-47ED-BDB3-55199E719F45}"/>
              </a:ext>
            </a:extLst>
          </p:cNvPr>
          <p:cNvSpPr txBox="1">
            <a:spLocks noChangeArrowheads="1"/>
          </p:cNvSpPr>
          <p:nvPr/>
        </p:nvSpPr>
        <p:spPr bwMode="auto">
          <a:xfrm>
            <a:off x="3124200" y="5632450"/>
            <a:ext cx="57150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a:t>Este formato </a:t>
            </a:r>
            <a:r>
              <a:rPr lang="es-ES" altLang="es-ES" sz="1300" b="1"/>
              <a:t>anidado</a:t>
            </a:r>
            <a:r>
              <a:rPr lang="es-ES" altLang="es-ES" sz="1300"/>
              <a:t>  (la respuesta esta anidada en cada modalidad de la terapia) si que permite conservar la información apareada y es por tanto el formato apropiado.</a:t>
            </a:r>
          </a:p>
        </p:txBody>
      </p:sp>
      <p:graphicFrame>
        <p:nvGraphicFramePr>
          <p:cNvPr id="20491" name="1 Objeto">
            <a:extLst>
              <a:ext uri="{FF2B5EF4-FFF2-40B4-BE49-F238E27FC236}">
                <a16:creationId xmlns:a16="http://schemas.microsoft.com/office/drawing/2014/main" id="{3C542CB9-3746-4864-A857-7C54677D9435}"/>
              </a:ext>
            </a:extLst>
          </p:cNvPr>
          <p:cNvGraphicFramePr>
            <a:graphicFrameLocks noChangeAspect="1"/>
          </p:cNvGraphicFramePr>
          <p:nvPr/>
        </p:nvGraphicFramePr>
        <p:xfrm>
          <a:off x="360363" y="5213350"/>
          <a:ext cx="2763837" cy="1339850"/>
        </p:xfrm>
        <a:graphic>
          <a:graphicData uri="http://schemas.openxmlformats.org/presentationml/2006/ole">
            <mc:AlternateContent xmlns:mc="http://schemas.openxmlformats.org/markup-compatibility/2006">
              <mc:Choice xmlns:v="urn:schemas-microsoft-com:vml" Requires="v">
                <p:oleObj name="Equation" r:id="rId5" imgW="2374560" imgH="1193760" progId="Equation.DSMT4">
                  <p:embed/>
                </p:oleObj>
              </mc:Choice>
              <mc:Fallback>
                <p:oleObj name="Equation" r:id="rId5" imgW="2374560" imgH="1193760" progId="Equation.DSMT4">
                  <p:embed/>
                  <p:pic>
                    <p:nvPicPr>
                      <p:cNvPr id="20491" name="1 Objeto">
                        <a:extLst>
                          <a:ext uri="{FF2B5EF4-FFF2-40B4-BE49-F238E27FC236}">
                            <a16:creationId xmlns:a16="http://schemas.microsoft.com/office/drawing/2014/main" id="{3C542CB9-3746-4864-A857-7C54677D943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363" y="5213350"/>
                        <a:ext cx="2763837"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a:extLst>
              <a:ext uri="{FF2B5EF4-FFF2-40B4-BE49-F238E27FC236}">
                <a16:creationId xmlns:a16="http://schemas.microsoft.com/office/drawing/2014/main" id="{AE86D8A1-44F0-4B5B-8BDC-121402004502}"/>
              </a:ext>
            </a:extLst>
          </p:cNvPr>
          <p:cNvSpPr txBox="1">
            <a:spLocks noChangeArrowheads="1"/>
          </p:cNvSpPr>
          <p:nvPr/>
        </p:nvSpPr>
        <p:spPr bwMode="auto">
          <a:xfrm>
            <a:off x="19050" y="301625"/>
            <a:ext cx="47371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a:t>Test de comparación de dos proporciones Apareadas</a:t>
            </a:r>
            <a:endParaRPr lang="es-ES" altLang="es-ES" sz="1400" b="1"/>
          </a:p>
        </p:txBody>
      </p:sp>
      <p:sp>
        <p:nvSpPr>
          <p:cNvPr id="22531" name="8 CuadroTexto">
            <a:extLst>
              <a:ext uri="{FF2B5EF4-FFF2-40B4-BE49-F238E27FC236}">
                <a16:creationId xmlns:a16="http://schemas.microsoft.com/office/drawing/2014/main" id="{EC85B188-8CD3-454A-BF7D-A8D2D422EBF8}"/>
              </a:ext>
            </a:extLst>
          </p:cNvPr>
          <p:cNvSpPr txBox="1">
            <a:spLocks noChangeArrowheads="1"/>
          </p:cNvSpPr>
          <p:nvPr/>
        </p:nvSpPr>
        <p:spPr bwMode="auto">
          <a:xfrm>
            <a:off x="3581400" y="3744913"/>
            <a:ext cx="5257800"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Por tanto, se trata de comparar si la proporción de casos que SI supera la terapia A y NO la B es igual a la proporción de casos que NO supera la A y SI la B: </a:t>
            </a:r>
            <a:r>
              <a:rPr lang="es-ES" altLang="es-ES" sz="1400" b="1">
                <a:solidFill>
                  <a:srgbClr val="C00000"/>
                </a:solidFill>
              </a:rPr>
              <a:t>Test de McNemar</a:t>
            </a:r>
            <a:endParaRPr lang="es-ES" altLang="es-ES" sz="1400" b="1"/>
          </a:p>
        </p:txBody>
      </p:sp>
      <p:sp>
        <p:nvSpPr>
          <p:cNvPr id="22532" name="16 CuadroTexto">
            <a:extLst>
              <a:ext uri="{FF2B5EF4-FFF2-40B4-BE49-F238E27FC236}">
                <a16:creationId xmlns:a16="http://schemas.microsoft.com/office/drawing/2014/main" id="{64FE7976-09F5-4BDE-98CF-E9A68FEF5F42}"/>
              </a:ext>
            </a:extLst>
          </p:cNvPr>
          <p:cNvSpPr txBox="1">
            <a:spLocks noChangeArrowheads="1"/>
          </p:cNvSpPr>
          <p:nvPr/>
        </p:nvSpPr>
        <p:spPr bwMode="auto">
          <a:xfrm>
            <a:off x="76200" y="827087"/>
            <a:ext cx="38623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dirty="0"/>
              <a:t>3. Planteamiento de la inferencia. Hipótesis</a:t>
            </a:r>
          </a:p>
        </p:txBody>
      </p:sp>
      <p:graphicFrame>
        <p:nvGraphicFramePr>
          <p:cNvPr id="22533" name="17 Objeto">
            <a:extLst>
              <a:ext uri="{FF2B5EF4-FFF2-40B4-BE49-F238E27FC236}">
                <a16:creationId xmlns:a16="http://schemas.microsoft.com/office/drawing/2014/main" id="{47C5C886-94D6-44FF-9C81-F633CB55DBF2}"/>
              </a:ext>
            </a:extLst>
          </p:cNvPr>
          <p:cNvGraphicFramePr>
            <a:graphicFrameLocks noChangeAspect="1"/>
          </p:cNvGraphicFramePr>
          <p:nvPr/>
        </p:nvGraphicFramePr>
        <p:xfrm>
          <a:off x="381000" y="3817938"/>
          <a:ext cx="3048000" cy="601662"/>
        </p:xfrm>
        <a:graphic>
          <a:graphicData uri="http://schemas.openxmlformats.org/presentationml/2006/ole">
            <mc:AlternateContent xmlns:mc="http://schemas.openxmlformats.org/markup-compatibility/2006">
              <mc:Choice xmlns:v="urn:schemas-microsoft-com:vml" Requires="v">
                <p:oleObj name="Equation" r:id="rId3" imgW="2476500" imgH="508000" progId="Equation.DSMT4">
                  <p:embed/>
                </p:oleObj>
              </mc:Choice>
              <mc:Fallback>
                <p:oleObj name="Equation" r:id="rId3" imgW="2476500" imgH="508000" progId="Equation.DSMT4">
                  <p:embed/>
                  <p:pic>
                    <p:nvPicPr>
                      <p:cNvPr id="22533" name="17 Objeto">
                        <a:extLst>
                          <a:ext uri="{FF2B5EF4-FFF2-40B4-BE49-F238E27FC236}">
                            <a16:creationId xmlns:a16="http://schemas.microsoft.com/office/drawing/2014/main" id="{47C5C886-94D6-44FF-9C81-F633CB55DB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3817938"/>
                        <a:ext cx="3048000"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4" name="8 CuadroTexto">
            <a:extLst>
              <a:ext uri="{FF2B5EF4-FFF2-40B4-BE49-F238E27FC236}">
                <a16:creationId xmlns:a16="http://schemas.microsoft.com/office/drawing/2014/main" id="{6E8BF937-93EF-4D76-8929-10E5693E2F1F}"/>
              </a:ext>
            </a:extLst>
          </p:cNvPr>
          <p:cNvSpPr txBox="1">
            <a:spLocks noChangeArrowheads="1"/>
          </p:cNvSpPr>
          <p:nvPr/>
        </p:nvSpPr>
        <p:spPr bwMode="auto">
          <a:xfrm>
            <a:off x="304800" y="4953000"/>
            <a:ext cx="84947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Declararemos el test significativo si</a:t>
            </a:r>
            <a:r>
              <a:rPr lang="es-ES" altLang="es-ES" sz="1600"/>
              <a:t> </a:t>
            </a:r>
            <a:r>
              <a:rPr lang="es-ES" altLang="es-ES" sz="1600" i="1">
                <a:latin typeface="Times New Roman" panose="02020603050405020304" pitchFamily="18" charset="0"/>
                <a:cs typeface="Times New Roman" panose="02020603050405020304" pitchFamily="18" charset="0"/>
              </a:rPr>
              <a:t>P </a:t>
            </a:r>
            <a:r>
              <a:rPr lang="es-ES" altLang="es-ES" sz="1800" i="1">
                <a:latin typeface="Times New Roman" panose="02020603050405020304" pitchFamily="18" charset="0"/>
                <a:cs typeface="Times New Roman" panose="02020603050405020304" pitchFamily="18" charset="0"/>
              </a:rPr>
              <a:t>≤ </a:t>
            </a:r>
            <a:r>
              <a:rPr lang="es-ES" altLang="es-ES" sz="1600">
                <a:latin typeface="Symbol" panose="05050102010706020507" pitchFamily="18" charset="2"/>
              </a:rPr>
              <a:t>a</a:t>
            </a:r>
            <a:r>
              <a:rPr lang="es-ES" altLang="es-ES" sz="1400"/>
              <a:t>=0.05</a:t>
            </a:r>
          </a:p>
        </p:txBody>
      </p:sp>
      <p:graphicFrame>
        <p:nvGraphicFramePr>
          <p:cNvPr id="22535" name="1 Objeto">
            <a:extLst>
              <a:ext uri="{FF2B5EF4-FFF2-40B4-BE49-F238E27FC236}">
                <a16:creationId xmlns:a16="http://schemas.microsoft.com/office/drawing/2014/main" id="{8CF1F77D-0F7B-4156-BD64-0F52AE2C1CA5}"/>
              </a:ext>
            </a:extLst>
          </p:cNvPr>
          <p:cNvGraphicFramePr>
            <a:graphicFrameLocks noChangeAspect="1"/>
          </p:cNvGraphicFramePr>
          <p:nvPr>
            <p:extLst>
              <p:ext uri="{D42A27DB-BD31-4B8C-83A1-F6EECF244321}">
                <p14:modId xmlns:p14="http://schemas.microsoft.com/office/powerpoint/2010/main" val="425546146"/>
              </p:ext>
            </p:extLst>
          </p:nvPr>
        </p:nvGraphicFramePr>
        <p:xfrm>
          <a:off x="5487988" y="950913"/>
          <a:ext cx="3413125" cy="1339850"/>
        </p:xfrm>
        <a:graphic>
          <a:graphicData uri="http://schemas.openxmlformats.org/presentationml/2006/ole">
            <mc:AlternateContent xmlns:mc="http://schemas.openxmlformats.org/markup-compatibility/2006">
              <mc:Choice xmlns:v="urn:schemas-microsoft-com:vml" Requires="v">
                <p:oleObj name="Equation" r:id="rId5" imgW="2933700" imgH="1193800" progId="Equation.DSMT4">
                  <p:embed/>
                </p:oleObj>
              </mc:Choice>
              <mc:Fallback>
                <p:oleObj name="Equation" r:id="rId5" imgW="2933700" imgH="1193800" progId="Equation.DSMT4">
                  <p:embed/>
                  <p:pic>
                    <p:nvPicPr>
                      <p:cNvPr id="22535" name="1 Objeto">
                        <a:extLst>
                          <a:ext uri="{FF2B5EF4-FFF2-40B4-BE49-F238E27FC236}">
                            <a16:creationId xmlns:a16="http://schemas.microsoft.com/office/drawing/2014/main" id="{8CF1F77D-0F7B-4156-BD64-0F52AE2C1CA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7988" y="950913"/>
                        <a:ext cx="3413125"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6" name="17 Objeto">
            <a:extLst>
              <a:ext uri="{FF2B5EF4-FFF2-40B4-BE49-F238E27FC236}">
                <a16:creationId xmlns:a16="http://schemas.microsoft.com/office/drawing/2014/main" id="{54DB7394-FCD0-475F-82AA-4EA9E080218F}"/>
              </a:ext>
            </a:extLst>
          </p:cNvPr>
          <p:cNvGraphicFramePr>
            <a:graphicFrameLocks noChangeAspect="1"/>
          </p:cNvGraphicFramePr>
          <p:nvPr>
            <p:extLst>
              <p:ext uri="{D42A27DB-BD31-4B8C-83A1-F6EECF244321}">
                <p14:modId xmlns:p14="http://schemas.microsoft.com/office/powerpoint/2010/main" val="3382891956"/>
              </p:ext>
            </p:extLst>
          </p:nvPr>
        </p:nvGraphicFramePr>
        <p:xfrm>
          <a:off x="381000" y="1254125"/>
          <a:ext cx="4560888" cy="782637"/>
        </p:xfrm>
        <a:graphic>
          <a:graphicData uri="http://schemas.openxmlformats.org/presentationml/2006/ole">
            <mc:AlternateContent xmlns:mc="http://schemas.openxmlformats.org/markup-compatibility/2006">
              <mc:Choice xmlns:v="urn:schemas-microsoft-com:vml" Requires="v">
                <p:oleObj name="Equation" r:id="rId7" imgW="3708400" imgH="660400" progId="Equation.DSMT4">
                  <p:embed/>
                </p:oleObj>
              </mc:Choice>
              <mc:Fallback>
                <p:oleObj name="Equation" r:id="rId7" imgW="3708400" imgH="660400" progId="Equation.DSMT4">
                  <p:embed/>
                  <p:pic>
                    <p:nvPicPr>
                      <p:cNvPr id="22536" name="17 Objeto">
                        <a:extLst>
                          <a:ext uri="{FF2B5EF4-FFF2-40B4-BE49-F238E27FC236}">
                            <a16:creationId xmlns:a16="http://schemas.microsoft.com/office/drawing/2014/main" id="{54DB7394-FCD0-475F-82AA-4EA9E080218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 y="1254125"/>
                        <a:ext cx="4560888"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7" name="17 Objeto">
            <a:extLst>
              <a:ext uri="{FF2B5EF4-FFF2-40B4-BE49-F238E27FC236}">
                <a16:creationId xmlns:a16="http://schemas.microsoft.com/office/drawing/2014/main" id="{9E1E36F4-6B5B-43E5-9CEB-6FC70DC18CE4}"/>
              </a:ext>
            </a:extLst>
          </p:cNvPr>
          <p:cNvGraphicFramePr>
            <a:graphicFrameLocks noChangeAspect="1"/>
          </p:cNvGraphicFramePr>
          <p:nvPr>
            <p:extLst>
              <p:ext uri="{D42A27DB-BD31-4B8C-83A1-F6EECF244321}">
                <p14:modId xmlns:p14="http://schemas.microsoft.com/office/powerpoint/2010/main" val="1183402183"/>
              </p:ext>
            </p:extLst>
          </p:nvPr>
        </p:nvGraphicFramePr>
        <p:xfrm>
          <a:off x="381000" y="2189162"/>
          <a:ext cx="4576763" cy="782638"/>
        </p:xfrm>
        <a:graphic>
          <a:graphicData uri="http://schemas.openxmlformats.org/presentationml/2006/ole">
            <mc:AlternateContent xmlns:mc="http://schemas.openxmlformats.org/markup-compatibility/2006">
              <mc:Choice xmlns:v="urn:schemas-microsoft-com:vml" Requires="v">
                <p:oleObj name="Equation" r:id="rId9" imgW="3721100" imgH="660400" progId="Equation.DSMT4">
                  <p:embed/>
                </p:oleObj>
              </mc:Choice>
              <mc:Fallback>
                <p:oleObj name="Equation" r:id="rId9" imgW="3721100" imgH="660400" progId="Equation.DSMT4">
                  <p:embed/>
                  <p:pic>
                    <p:nvPicPr>
                      <p:cNvPr id="22537" name="17 Objeto">
                        <a:extLst>
                          <a:ext uri="{FF2B5EF4-FFF2-40B4-BE49-F238E27FC236}">
                            <a16:creationId xmlns:a16="http://schemas.microsoft.com/office/drawing/2014/main" id="{9E1E36F4-6B5B-43E5-9CEB-6FC70DC18CE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 y="2189162"/>
                        <a:ext cx="4576763"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8" name="8 CuadroTexto">
            <a:extLst>
              <a:ext uri="{FF2B5EF4-FFF2-40B4-BE49-F238E27FC236}">
                <a16:creationId xmlns:a16="http://schemas.microsoft.com/office/drawing/2014/main" id="{567E5475-FF16-4CA2-9C76-3265C7752497}"/>
              </a:ext>
            </a:extLst>
          </p:cNvPr>
          <p:cNvSpPr txBox="1">
            <a:spLocks noChangeArrowheads="1"/>
          </p:cNvSpPr>
          <p:nvPr/>
        </p:nvSpPr>
        <p:spPr bwMode="auto">
          <a:xfrm>
            <a:off x="304800" y="3352800"/>
            <a:ext cx="86280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Los casos que superan ambas terapias (o los que no superan ninguna) no aportan información diferencial</a:t>
            </a:r>
          </a:p>
        </p:txBody>
      </p:sp>
      <p:graphicFrame>
        <p:nvGraphicFramePr>
          <p:cNvPr id="22539" name="17 Objeto">
            <a:extLst>
              <a:ext uri="{FF2B5EF4-FFF2-40B4-BE49-F238E27FC236}">
                <a16:creationId xmlns:a16="http://schemas.microsoft.com/office/drawing/2014/main" id="{04E802A8-A55C-4C8A-96EA-5AB745A8FA98}"/>
              </a:ext>
            </a:extLst>
          </p:cNvPr>
          <p:cNvGraphicFramePr>
            <a:graphicFrameLocks noChangeAspect="1"/>
          </p:cNvGraphicFramePr>
          <p:nvPr/>
        </p:nvGraphicFramePr>
        <p:xfrm>
          <a:off x="373063" y="3048000"/>
          <a:ext cx="4373562" cy="269875"/>
        </p:xfrm>
        <a:graphic>
          <a:graphicData uri="http://schemas.openxmlformats.org/presentationml/2006/ole">
            <mc:AlternateContent xmlns:mc="http://schemas.openxmlformats.org/markup-compatibility/2006">
              <mc:Choice xmlns:v="urn:schemas-microsoft-com:vml" Requires="v">
                <p:oleObj name="Equation" r:id="rId11" imgW="3556000" imgH="228600" progId="Equation.DSMT4">
                  <p:embed/>
                </p:oleObj>
              </mc:Choice>
              <mc:Fallback>
                <p:oleObj name="Equation" r:id="rId11" imgW="3556000" imgH="228600" progId="Equation.DSMT4">
                  <p:embed/>
                  <p:pic>
                    <p:nvPicPr>
                      <p:cNvPr id="22539" name="17 Objeto">
                        <a:extLst>
                          <a:ext uri="{FF2B5EF4-FFF2-40B4-BE49-F238E27FC236}">
                            <a16:creationId xmlns:a16="http://schemas.microsoft.com/office/drawing/2014/main" id="{04E802A8-A55C-4C8A-96EA-5AB745A8FA9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3063" y="3048000"/>
                        <a:ext cx="4373562"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40" name="17 Objeto">
            <a:extLst>
              <a:ext uri="{FF2B5EF4-FFF2-40B4-BE49-F238E27FC236}">
                <a16:creationId xmlns:a16="http://schemas.microsoft.com/office/drawing/2014/main" id="{6D94F641-6CE8-4367-99EA-63983E52E4F9}"/>
              </a:ext>
            </a:extLst>
          </p:cNvPr>
          <p:cNvGraphicFramePr>
            <a:graphicFrameLocks noChangeAspect="1"/>
          </p:cNvGraphicFramePr>
          <p:nvPr>
            <p:extLst>
              <p:ext uri="{D42A27DB-BD31-4B8C-83A1-F6EECF244321}">
                <p14:modId xmlns:p14="http://schemas.microsoft.com/office/powerpoint/2010/main" val="3615146553"/>
              </p:ext>
            </p:extLst>
          </p:nvPr>
        </p:nvGraphicFramePr>
        <p:xfrm>
          <a:off x="6172200" y="2311400"/>
          <a:ext cx="2185988" cy="965200"/>
        </p:xfrm>
        <a:graphic>
          <a:graphicData uri="http://schemas.openxmlformats.org/presentationml/2006/ole">
            <mc:AlternateContent xmlns:mc="http://schemas.openxmlformats.org/markup-compatibility/2006">
              <mc:Choice xmlns:v="urn:schemas-microsoft-com:vml" Requires="v">
                <p:oleObj name="Equation" r:id="rId13" imgW="1777229" imgH="812447" progId="Equation.DSMT4">
                  <p:embed/>
                </p:oleObj>
              </mc:Choice>
              <mc:Fallback>
                <p:oleObj name="Equation" r:id="rId13" imgW="1777229" imgH="812447" progId="Equation.DSMT4">
                  <p:embed/>
                  <p:pic>
                    <p:nvPicPr>
                      <p:cNvPr id="22540" name="17 Objeto">
                        <a:extLst>
                          <a:ext uri="{FF2B5EF4-FFF2-40B4-BE49-F238E27FC236}">
                            <a16:creationId xmlns:a16="http://schemas.microsoft.com/office/drawing/2014/main" id="{6D94F641-6CE8-4367-99EA-63983E52E4F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72200" y="2311400"/>
                        <a:ext cx="2185988"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2 Rectángulo redondeado">
            <a:extLst>
              <a:ext uri="{FF2B5EF4-FFF2-40B4-BE49-F238E27FC236}">
                <a16:creationId xmlns:a16="http://schemas.microsoft.com/office/drawing/2014/main" id="{4AEF46BA-7A86-478B-B876-E78B8565C83D}"/>
              </a:ext>
            </a:extLst>
          </p:cNvPr>
          <p:cNvSpPr/>
          <p:nvPr/>
        </p:nvSpPr>
        <p:spPr bwMode="auto">
          <a:xfrm>
            <a:off x="5410200" y="827087"/>
            <a:ext cx="3429000" cy="2525713"/>
          </a:xfrm>
          <a:prstGeom prst="roundRect">
            <a:avLst>
              <a:gd name="adj" fmla="val 6052"/>
            </a:avLst>
          </a:prstGeom>
          <a:noFill/>
          <a:ln w="9525" cap="flat" cmpd="sng" algn="ctr">
            <a:solidFill>
              <a:schemeClr val="bg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endParaRPr lang="es-ES">
              <a:latin typeface="Arial" charset="0"/>
            </a:endParaRPr>
          </a:p>
        </p:txBody>
      </p:sp>
      <p:sp>
        <p:nvSpPr>
          <p:cNvPr id="22542" name="16 CuadroTexto">
            <a:extLst>
              <a:ext uri="{FF2B5EF4-FFF2-40B4-BE49-F238E27FC236}">
                <a16:creationId xmlns:a16="http://schemas.microsoft.com/office/drawing/2014/main" id="{DFEC0D02-5BB9-4A31-8094-F2F602F25712}"/>
              </a:ext>
            </a:extLst>
          </p:cNvPr>
          <p:cNvSpPr txBox="1">
            <a:spLocks noChangeArrowheads="1"/>
          </p:cNvSpPr>
          <p:nvPr/>
        </p:nvSpPr>
        <p:spPr bwMode="auto">
          <a:xfrm>
            <a:off x="76200" y="5486400"/>
            <a:ext cx="21605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a:t>4. Condición de validez</a:t>
            </a:r>
          </a:p>
        </p:txBody>
      </p:sp>
      <p:grpSp>
        <p:nvGrpSpPr>
          <p:cNvPr id="22543" name="3 Grupo">
            <a:extLst>
              <a:ext uri="{FF2B5EF4-FFF2-40B4-BE49-F238E27FC236}">
                <a16:creationId xmlns:a16="http://schemas.microsoft.com/office/drawing/2014/main" id="{E57988C0-6D79-4CFE-8B7E-CE9D7D04B1BA}"/>
              </a:ext>
            </a:extLst>
          </p:cNvPr>
          <p:cNvGrpSpPr>
            <a:grpSpLocks/>
          </p:cNvGrpSpPr>
          <p:nvPr/>
        </p:nvGrpSpPr>
        <p:grpSpPr bwMode="auto">
          <a:xfrm>
            <a:off x="276225" y="5791200"/>
            <a:ext cx="7543800" cy="307975"/>
            <a:chOff x="332361" y="5561300"/>
            <a:chExt cx="7543800" cy="307777"/>
          </a:xfrm>
        </p:grpSpPr>
        <p:graphicFrame>
          <p:nvGraphicFramePr>
            <p:cNvPr id="22545" name="2 Objeto">
              <a:extLst>
                <a:ext uri="{FF2B5EF4-FFF2-40B4-BE49-F238E27FC236}">
                  <a16:creationId xmlns:a16="http://schemas.microsoft.com/office/drawing/2014/main" id="{B033115C-6682-4049-AE68-E47246933FBA}"/>
                </a:ext>
              </a:extLst>
            </p:cNvPr>
            <p:cNvGraphicFramePr>
              <a:graphicFrameLocks noChangeAspect="1"/>
            </p:cNvGraphicFramePr>
            <p:nvPr/>
          </p:nvGraphicFramePr>
          <p:xfrm>
            <a:off x="1275538" y="5564514"/>
            <a:ext cx="1112062" cy="301348"/>
          </p:xfrm>
          <a:graphic>
            <a:graphicData uri="http://schemas.openxmlformats.org/presentationml/2006/ole">
              <mc:AlternateContent xmlns:mc="http://schemas.openxmlformats.org/markup-compatibility/2006">
                <mc:Choice xmlns:v="urn:schemas-microsoft-com:vml" Requires="v">
                  <p:oleObj name="Equation" r:id="rId15" imgW="812447" imgH="228501" progId="Equation.DSMT4">
                    <p:embed/>
                  </p:oleObj>
                </mc:Choice>
                <mc:Fallback>
                  <p:oleObj name="Equation" r:id="rId15" imgW="812447" imgH="228501" progId="Equation.DSMT4">
                    <p:embed/>
                    <p:pic>
                      <p:nvPicPr>
                        <p:cNvPr id="22545" name="2 Objeto">
                          <a:extLst>
                            <a:ext uri="{FF2B5EF4-FFF2-40B4-BE49-F238E27FC236}">
                              <a16:creationId xmlns:a16="http://schemas.microsoft.com/office/drawing/2014/main" id="{B033115C-6682-4049-AE68-E47246933FBA}"/>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75538" y="5564514"/>
                          <a:ext cx="1112062" cy="301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46" name="8 CuadroTexto">
              <a:extLst>
                <a:ext uri="{FF2B5EF4-FFF2-40B4-BE49-F238E27FC236}">
                  <a16:creationId xmlns:a16="http://schemas.microsoft.com/office/drawing/2014/main" id="{4FC09070-8D12-4B07-AC36-8AEF09B4A47F}"/>
                </a:ext>
              </a:extLst>
            </p:cNvPr>
            <p:cNvSpPr txBox="1">
              <a:spLocks noChangeArrowheads="1"/>
            </p:cNvSpPr>
            <p:nvPr/>
          </p:nvSpPr>
          <p:spPr bwMode="auto">
            <a:xfrm>
              <a:off x="332361" y="5561300"/>
              <a:ext cx="7543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Debe ser                         . Como                                                         el método es aplicable.  </a:t>
              </a:r>
            </a:p>
          </p:txBody>
        </p:sp>
        <p:graphicFrame>
          <p:nvGraphicFramePr>
            <p:cNvPr id="22547" name="32 Objeto">
              <a:extLst>
                <a:ext uri="{FF2B5EF4-FFF2-40B4-BE49-F238E27FC236}">
                  <a16:creationId xmlns:a16="http://schemas.microsoft.com/office/drawing/2014/main" id="{48F2FDE4-536F-475B-B4D8-F47EE2BE8F0F}"/>
                </a:ext>
              </a:extLst>
            </p:cNvPr>
            <p:cNvGraphicFramePr>
              <a:graphicFrameLocks noChangeAspect="1"/>
            </p:cNvGraphicFramePr>
            <p:nvPr/>
          </p:nvGraphicFramePr>
          <p:xfrm>
            <a:off x="3048000" y="5564613"/>
            <a:ext cx="2603687" cy="301151"/>
          </p:xfrm>
          <a:graphic>
            <a:graphicData uri="http://schemas.openxmlformats.org/presentationml/2006/ole">
              <mc:AlternateContent xmlns:mc="http://schemas.openxmlformats.org/markup-compatibility/2006">
                <mc:Choice xmlns:v="urn:schemas-microsoft-com:vml" Requires="v">
                  <p:oleObj name="Equation" r:id="rId17" imgW="1905000" imgH="228600" progId="Equation.DSMT4">
                    <p:embed/>
                  </p:oleObj>
                </mc:Choice>
                <mc:Fallback>
                  <p:oleObj name="Equation" r:id="rId17" imgW="1905000" imgH="228600" progId="Equation.DSMT4">
                    <p:embed/>
                    <p:pic>
                      <p:nvPicPr>
                        <p:cNvPr id="22547" name="32 Objeto">
                          <a:extLst>
                            <a:ext uri="{FF2B5EF4-FFF2-40B4-BE49-F238E27FC236}">
                              <a16:creationId xmlns:a16="http://schemas.microsoft.com/office/drawing/2014/main" id="{48F2FDE4-536F-475B-B4D8-F47EE2BE8F0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48000" y="5564613"/>
                          <a:ext cx="2603687" cy="301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2544" name="17 Objeto">
            <a:extLst>
              <a:ext uri="{FF2B5EF4-FFF2-40B4-BE49-F238E27FC236}">
                <a16:creationId xmlns:a16="http://schemas.microsoft.com/office/drawing/2014/main" id="{3CE14DBF-1C3D-418C-AC5F-95E485339E8B}"/>
              </a:ext>
            </a:extLst>
          </p:cNvPr>
          <p:cNvGraphicFramePr>
            <a:graphicFrameLocks noChangeAspect="1"/>
          </p:cNvGraphicFramePr>
          <p:nvPr/>
        </p:nvGraphicFramePr>
        <p:xfrm>
          <a:off x="4848225" y="4495800"/>
          <a:ext cx="3013075" cy="468313"/>
        </p:xfrm>
        <a:graphic>
          <a:graphicData uri="http://schemas.openxmlformats.org/presentationml/2006/ole">
            <mc:AlternateContent xmlns:mc="http://schemas.openxmlformats.org/markup-compatibility/2006">
              <mc:Choice xmlns:v="urn:schemas-microsoft-com:vml" Requires="v">
                <p:oleObj name="Equation" r:id="rId19" imgW="2451100" imgH="393700" progId="Equation.DSMT4">
                  <p:embed/>
                </p:oleObj>
              </mc:Choice>
              <mc:Fallback>
                <p:oleObj name="Equation" r:id="rId19" imgW="2451100" imgH="393700" progId="Equation.DSMT4">
                  <p:embed/>
                  <p:pic>
                    <p:nvPicPr>
                      <p:cNvPr id="22544" name="17 Objeto">
                        <a:extLst>
                          <a:ext uri="{FF2B5EF4-FFF2-40B4-BE49-F238E27FC236}">
                            <a16:creationId xmlns:a16="http://schemas.microsoft.com/office/drawing/2014/main" id="{3CE14DBF-1C3D-418C-AC5F-95E485339E8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48225" y="4495800"/>
                        <a:ext cx="3013075"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CuadroTexto 1">
            <a:extLst>
              <a:ext uri="{FF2B5EF4-FFF2-40B4-BE49-F238E27FC236}">
                <a16:creationId xmlns:a16="http://schemas.microsoft.com/office/drawing/2014/main" id="{28D1BC12-CBE7-4EA0-B4CC-456A7E668883}"/>
              </a:ext>
            </a:extLst>
          </p:cNvPr>
          <p:cNvSpPr txBox="1"/>
          <p:nvPr/>
        </p:nvSpPr>
        <p:spPr>
          <a:xfrm>
            <a:off x="9144000" y="4676001"/>
            <a:ext cx="3834832" cy="276999"/>
          </a:xfrm>
          <a:prstGeom prst="rect">
            <a:avLst/>
          </a:prstGeom>
          <a:noFill/>
        </p:spPr>
        <p:txBody>
          <a:bodyPr wrap="none" rtlCol="0">
            <a:spAutoFit/>
          </a:bodyPr>
          <a:lstStyle/>
          <a:p>
            <a:r>
              <a:rPr lang="es-ES" dirty="0">
                <a:solidFill>
                  <a:srgbClr val="FF0000"/>
                </a:solidFill>
              </a:rPr>
              <a:t>Test equivalente al de 1 proporción, ver aptes Antonio</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a:extLst>
              <a:ext uri="{FF2B5EF4-FFF2-40B4-BE49-F238E27FC236}">
                <a16:creationId xmlns:a16="http://schemas.microsoft.com/office/drawing/2014/main" id="{FAB1556E-4E1E-4885-AAD2-E4E1D697D7DE}"/>
              </a:ext>
            </a:extLst>
          </p:cNvPr>
          <p:cNvSpPr txBox="1">
            <a:spLocks noChangeArrowheads="1"/>
          </p:cNvSpPr>
          <p:nvPr/>
        </p:nvSpPr>
        <p:spPr bwMode="auto">
          <a:xfrm>
            <a:off x="19050" y="292100"/>
            <a:ext cx="47371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dirty="0"/>
              <a:t>Test de comparación de dos proporciones Apareadas</a:t>
            </a:r>
            <a:endParaRPr lang="es-ES" altLang="es-ES" sz="1400" b="1" dirty="0"/>
          </a:p>
        </p:txBody>
      </p:sp>
      <p:sp>
        <p:nvSpPr>
          <p:cNvPr id="24579" name="16 CuadroTexto">
            <a:extLst>
              <a:ext uri="{FF2B5EF4-FFF2-40B4-BE49-F238E27FC236}">
                <a16:creationId xmlns:a16="http://schemas.microsoft.com/office/drawing/2014/main" id="{934DA2CF-6FA2-4EA8-B9DD-33B6723617B8}"/>
              </a:ext>
            </a:extLst>
          </p:cNvPr>
          <p:cNvSpPr txBox="1">
            <a:spLocks noChangeArrowheads="1"/>
          </p:cNvSpPr>
          <p:nvPr/>
        </p:nvSpPr>
        <p:spPr bwMode="auto">
          <a:xfrm>
            <a:off x="93663" y="844550"/>
            <a:ext cx="45053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dirty="0"/>
              <a:t>5. Estadístico de contraste y nivel de significación </a:t>
            </a:r>
          </a:p>
        </p:txBody>
      </p:sp>
      <p:graphicFrame>
        <p:nvGraphicFramePr>
          <p:cNvPr id="24580" name="9 Objeto">
            <a:extLst>
              <a:ext uri="{FF2B5EF4-FFF2-40B4-BE49-F238E27FC236}">
                <a16:creationId xmlns:a16="http://schemas.microsoft.com/office/drawing/2014/main" id="{08454E73-2267-474E-8CB1-616FE5B17E4A}"/>
              </a:ext>
            </a:extLst>
          </p:cNvPr>
          <p:cNvGraphicFramePr>
            <a:graphicFrameLocks noChangeAspect="1"/>
          </p:cNvGraphicFramePr>
          <p:nvPr>
            <p:extLst>
              <p:ext uri="{D42A27DB-BD31-4B8C-83A1-F6EECF244321}">
                <p14:modId xmlns:p14="http://schemas.microsoft.com/office/powerpoint/2010/main" val="1222917384"/>
              </p:ext>
            </p:extLst>
          </p:nvPr>
        </p:nvGraphicFramePr>
        <p:xfrm>
          <a:off x="457200" y="1301750"/>
          <a:ext cx="3863975" cy="660400"/>
        </p:xfrm>
        <a:graphic>
          <a:graphicData uri="http://schemas.openxmlformats.org/presentationml/2006/ole">
            <mc:AlternateContent xmlns:mc="http://schemas.openxmlformats.org/markup-compatibility/2006">
              <mc:Choice xmlns:v="urn:schemas-microsoft-com:vml" Requires="v">
                <p:oleObj name="Equation" r:id="rId3" imgW="2717800" imgH="482600" progId="Equation.DSMT4">
                  <p:embed/>
                </p:oleObj>
              </mc:Choice>
              <mc:Fallback>
                <p:oleObj name="Equation" r:id="rId3" imgW="2717800" imgH="482600" progId="Equation.DSMT4">
                  <p:embed/>
                  <p:pic>
                    <p:nvPicPr>
                      <p:cNvPr id="24580" name="9 Objeto">
                        <a:extLst>
                          <a:ext uri="{FF2B5EF4-FFF2-40B4-BE49-F238E27FC236}">
                            <a16:creationId xmlns:a16="http://schemas.microsoft.com/office/drawing/2014/main" id="{08454E73-2267-474E-8CB1-616FE5B17E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301750"/>
                        <a:ext cx="3863975"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1" name="9 Objeto">
            <a:extLst>
              <a:ext uri="{FF2B5EF4-FFF2-40B4-BE49-F238E27FC236}">
                <a16:creationId xmlns:a16="http://schemas.microsoft.com/office/drawing/2014/main" id="{196727D1-B4A3-4940-AA5C-D5E4EB36D615}"/>
              </a:ext>
            </a:extLst>
          </p:cNvPr>
          <p:cNvGraphicFramePr>
            <a:graphicFrameLocks noChangeAspect="1"/>
          </p:cNvGraphicFramePr>
          <p:nvPr>
            <p:extLst>
              <p:ext uri="{D42A27DB-BD31-4B8C-83A1-F6EECF244321}">
                <p14:modId xmlns:p14="http://schemas.microsoft.com/office/powerpoint/2010/main" val="1927469233"/>
              </p:ext>
            </p:extLst>
          </p:nvPr>
        </p:nvGraphicFramePr>
        <p:xfrm>
          <a:off x="4913313" y="1758950"/>
          <a:ext cx="1411287" cy="179388"/>
        </p:xfrm>
        <a:graphic>
          <a:graphicData uri="http://schemas.openxmlformats.org/presentationml/2006/ole">
            <mc:AlternateContent xmlns:mc="http://schemas.openxmlformats.org/markup-compatibility/2006">
              <mc:Choice xmlns:v="urn:schemas-microsoft-com:vml" Requires="v">
                <p:oleObj name="Equation" r:id="rId5" imgW="1167893" imgH="152334" progId="Equation.DSMT4">
                  <p:embed/>
                </p:oleObj>
              </mc:Choice>
              <mc:Fallback>
                <p:oleObj name="Equation" r:id="rId5" imgW="1167893" imgH="152334" progId="Equation.DSMT4">
                  <p:embed/>
                  <p:pic>
                    <p:nvPicPr>
                      <p:cNvPr id="24581" name="9 Objeto">
                        <a:extLst>
                          <a:ext uri="{FF2B5EF4-FFF2-40B4-BE49-F238E27FC236}">
                            <a16:creationId xmlns:a16="http://schemas.microsoft.com/office/drawing/2014/main" id="{196727D1-B4A3-4940-AA5C-D5E4EB36D61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13313" y="1758950"/>
                        <a:ext cx="141128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2" name="9 Objeto">
            <a:extLst>
              <a:ext uri="{FF2B5EF4-FFF2-40B4-BE49-F238E27FC236}">
                <a16:creationId xmlns:a16="http://schemas.microsoft.com/office/drawing/2014/main" id="{A036EA0B-31DB-42AB-868B-D55D0E11A310}"/>
              </a:ext>
            </a:extLst>
          </p:cNvPr>
          <p:cNvGraphicFramePr>
            <a:graphicFrameLocks noChangeAspect="1"/>
          </p:cNvGraphicFramePr>
          <p:nvPr>
            <p:extLst>
              <p:ext uri="{D42A27DB-BD31-4B8C-83A1-F6EECF244321}">
                <p14:modId xmlns:p14="http://schemas.microsoft.com/office/powerpoint/2010/main" val="1947131032"/>
              </p:ext>
            </p:extLst>
          </p:nvPr>
        </p:nvGraphicFramePr>
        <p:xfrm>
          <a:off x="5005388" y="1498600"/>
          <a:ext cx="1228725" cy="215900"/>
        </p:xfrm>
        <a:graphic>
          <a:graphicData uri="http://schemas.openxmlformats.org/presentationml/2006/ole">
            <mc:AlternateContent xmlns:mc="http://schemas.openxmlformats.org/markup-compatibility/2006">
              <mc:Choice xmlns:v="urn:schemas-microsoft-com:vml" Requires="v">
                <p:oleObj name="Equation" r:id="rId7" imgW="977476" imgH="177723" progId="Equation.DSMT4">
                  <p:embed/>
                </p:oleObj>
              </mc:Choice>
              <mc:Fallback>
                <p:oleObj name="Equation" r:id="rId7" imgW="977476" imgH="177723" progId="Equation.DSMT4">
                  <p:embed/>
                  <p:pic>
                    <p:nvPicPr>
                      <p:cNvPr id="24582" name="9 Objeto">
                        <a:extLst>
                          <a:ext uri="{FF2B5EF4-FFF2-40B4-BE49-F238E27FC236}">
                            <a16:creationId xmlns:a16="http://schemas.microsoft.com/office/drawing/2014/main" id="{A036EA0B-31DB-42AB-868B-D55D0E11A31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05388" y="1498600"/>
                        <a:ext cx="12287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3" name="8 CuadroTexto">
            <a:extLst>
              <a:ext uri="{FF2B5EF4-FFF2-40B4-BE49-F238E27FC236}">
                <a16:creationId xmlns:a16="http://schemas.microsoft.com/office/drawing/2014/main" id="{8B543A01-86FE-4D33-B094-ACE86E5A5854}"/>
              </a:ext>
            </a:extLst>
          </p:cNvPr>
          <p:cNvSpPr txBox="1">
            <a:spLocks noChangeArrowheads="1"/>
          </p:cNvSpPr>
          <p:nvPr/>
        </p:nvSpPr>
        <p:spPr bwMode="auto">
          <a:xfrm>
            <a:off x="285750" y="2149475"/>
            <a:ext cx="6877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No puede aceptar la homogeneidad de las dos terapias. A una se responde más que a la otra (la probabilidad de error implícita en esta afirmación es menor al 3%):</a:t>
            </a:r>
          </a:p>
        </p:txBody>
      </p:sp>
      <p:graphicFrame>
        <p:nvGraphicFramePr>
          <p:cNvPr id="24584" name="2 Objeto">
            <a:extLst>
              <a:ext uri="{FF2B5EF4-FFF2-40B4-BE49-F238E27FC236}">
                <a16:creationId xmlns:a16="http://schemas.microsoft.com/office/drawing/2014/main" id="{8CF91B04-7035-4952-9184-A7D535C7BCAD}"/>
              </a:ext>
            </a:extLst>
          </p:cNvPr>
          <p:cNvGraphicFramePr>
            <a:graphicFrameLocks noChangeAspect="1"/>
          </p:cNvGraphicFramePr>
          <p:nvPr>
            <p:extLst>
              <p:ext uri="{D42A27DB-BD31-4B8C-83A1-F6EECF244321}">
                <p14:modId xmlns:p14="http://schemas.microsoft.com/office/powerpoint/2010/main" val="413998427"/>
              </p:ext>
            </p:extLst>
          </p:nvPr>
        </p:nvGraphicFramePr>
        <p:xfrm>
          <a:off x="381000" y="2768600"/>
          <a:ext cx="1030288" cy="573088"/>
        </p:xfrm>
        <a:graphic>
          <a:graphicData uri="http://schemas.openxmlformats.org/presentationml/2006/ole">
            <mc:AlternateContent xmlns:mc="http://schemas.openxmlformats.org/markup-compatibility/2006">
              <mc:Choice xmlns:v="urn:schemas-microsoft-com:vml" Requires="v">
                <p:oleObj name="Equation" r:id="rId9" imgW="837836" imgH="482391" progId="Equation.DSMT4">
                  <p:embed/>
                </p:oleObj>
              </mc:Choice>
              <mc:Fallback>
                <p:oleObj name="Equation" r:id="rId9" imgW="837836" imgH="482391" progId="Equation.DSMT4">
                  <p:embed/>
                  <p:pic>
                    <p:nvPicPr>
                      <p:cNvPr id="24584" name="2 Objeto">
                        <a:extLst>
                          <a:ext uri="{FF2B5EF4-FFF2-40B4-BE49-F238E27FC236}">
                            <a16:creationId xmlns:a16="http://schemas.microsoft.com/office/drawing/2014/main" id="{8CF91B04-7035-4952-9184-A7D535C7BCA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 y="2768600"/>
                        <a:ext cx="103028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24585" name="4 Conector recto de flecha">
            <a:extLst>
              <a:ext uri="{FF2B5EF4-FFF2-40B4-BE49-F238E27FC236}">
                <a16:creationId xmlns:a16="http://schemas.microsoft.com/office/drawing/2014/main" id="{27DCD6B6-6C5C-4922-B8E5-4363B8B0A8D3}"/>
              </a:ext>
            </a:extLst>
          </p:cNvPr>
          <p:cNvCxnSpPr>
            <a:cxnSpLocks noChangeShapeType="1"/>
          </p:cNvCxnSpPr>
          <p:nvPr/>
        </p:nvCxnSpPr>
        <p:spPr bwMode="auto">
          <a:xfrm>
            <a:off x="1600200" y="3206750"/>
            <a:ext cx="228600" cy="0"/>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586" name="8 CuadroTexto">
            <a:extLst>
              <a:ext uri="{FF2B5EF4-FFF2-40B4-BE49-F238E27FC236}">
                <a16:creationId xmlns:a16="http://schemas.microsoft.com/office/drawing/2014/main" id="{33938680-2739-4FFD-BD60-3EC827854F77}"/>
              </a:ext>
            </a:extLst>
          </p:cNvPr>
          <p:cNvSpPr txBox="1">
            <a:spLocks noChangeArrowheads="1"/>
          </p:cNvSpPr>
          <p:nvPr/>
        </p:nvSpPr>
        <p:spPr bwMode="auto">
          <a:xfrm>
            <a:off x="1885950" y="3044825"/>
            <a:ext cx="5867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A la terapia B se responde en mayor proporción que a la A</a:t>
            </a:r>
          </a:p>
        </p:txBody>
      </p:sp>
      <p:cxnSp>
        <p:nvCxnSpPr>
          <p:cNvPr id="24587" name="23 Conector recto de flecha">
            <a:extLst>
              <a:ext uri="{FF2B5EF4-FFF2-40B4-BE49-F238E27FC236}">
                <a16:creationId xmlns:a16="http://schemas.microsoft.com/office/drawing/2014/main" id="{D938BAC9-535A-4143-9C15-F196378F165B}"/>
              </a:ext>
            </a:extLst>
          </p:cNvPr>
          <p:cNvCxnSpPr>
            <a:cxnSpLocks noChangeShapeType="1"/>
          </p:cNvCxnSpPr>
          <p:nvPr/>
        </p:nvCxnSpPr>
        <p:spPr bwMode="auto">
          <a:xfrm>
            <a:off x="4495800" y="1524000"/>
            <a:ext cx="342900" cy="0"/>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4588" name="6 Objeto">
            <a:extLst>
              <a:ext uri="{FF2B5EF4-FFF2-40B4-BE49-F238E27FC236}">
                <a16:creationId xmlns:a16="http://schemas.microsoft.com/office/drawing/2014/main" id="{BCD3F1D4-2E21-4663-94B4-7D616787364B}"/>
              </a:ext>
            </a:extLst>
          </p:cNvPr>
          <p:cNvGraphicFramePr>
            <a:graphicFrameLocks noChangeAspect="1"/>
          </p:cNvGraphicFramePr>
          <p:nvPr>
            <p:extLst>
              <p:ext uri="{D42A27DB-BD31-4B8C-83A1-F6EECF244321}">
                <p14:modId xmlns:p14="http://schemas.microsoft.com/office/powerpoint/2010/main" val="2971774359"/>
              </p:ext>
            </p:extLst>
          </p:nvPr>
        </p:nvGraphicFramePr>
        <p:xfrm>
          <a:off x="5313363" y="1939925"/>
          <a:ext cx="609600" cy="165100"/>
        </p:xfrm>
        <a:graphic>
          <a:graphicData uri="http://schemas.openxmlformats.org/presentationml/2006/ole">
            <mc:AlternateContent xmlns:mc="http://schemas.openxmlformats.org/markup-compatibility/2006">
              <mc:Choice xmlns:v="urn:schemas-microsoft-com:vml" Requires="v">
                <p:oleObj name="Equation" r:id="rId11" imgW="609336" imgH="165028" progId="Equation.DSMT4">
                  <p:embed/>
                </p:oleObj>
              </mc:Choice>
              <mc:Fallback>
                <p:oleObj name="Equation" r:id="rId11" imgW="609336" imgH="165028" progId="Equation.DSMT4">
                  <p:embed/>
                  <p:pic>
                    <p:nvPicPr>
                      <p:cNvPr id="24588" name="6 Objeto">
                        <a:extLst>
                          <a:ext uri="{FF2B5EF4-FFF2-40B4-BE49-F238E27FC236}">
                            <a16:creationId xmlns:a16="http://schemas.microsoft.com/office/drawing/2014/main" id="{BCD3F1D4-2E21-4663-94B4-7D616787364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13363" y="1939925"/>
                        <a:ext cx="609600"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9" name="16 CuadroTexto">
            <a:extLst>
              <a:ext uri="{FF2B5EF4-FFF2-40B4-BE49-F238E27FC236}">
                <a16:creationId xmlns:a16="http://schemas.microsoft.com/office/drawing/2014/main" id="{485BE839-339E-4E34-B2F1-6E7D943D7AB7}"/>
              </a:ext>
            </a:extLst>
          </p:cNvPr>
          <p:cNvSpPr txBox="1">
            <a:spLocks noChangeArrowheads="1"/>
          </p:cNvSpPr>
          <p:nvPr/>
        </p:nvSpPr>
        <p:spPr bwMode="auto">
          <a:xfrm>
            <a:off x="93663" y="3425825"/>
            <a:ext cx="83645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a:t>6. Estimación de la diferencia de porcentajes (efecto diferencial de la terapia B respecto a la A)</a:t>
            </a:r>
          </a:p>
        </p:txBody>
      </p:sp>
      <p:graphicFrame>
        <p:nvGraphicFramePr>
          <p:cNvPr id="24590" name="9 Objeto">
            <a:extLst>
              <a:ext uri="{FF2B5EF4-FFF2-40B4-BE49-F238E27FC236}">
                <a16:creationId xmlns:a16="http://schemas.microsoft.com/office/drawing/2014/main" id="{FBE4A10F-BDA0-47B7-83E1-69F9E27741F1}"/>
              </a:ext>
            </a:extLst>
          </p:cNvPr>
          <p:cNvGraphicFramePr>
            <a:graphicFrameLocks noChangeAspect="1"/>
          </p:cNvGraphicFramePr>
          <p:nvPr/>
        </p:nvGraphicFramePr>
        <p:xfrm>
          <a:off x="379413" y="3886200"/>
          <a:ext cx="5000625" cy="677863"/>
        </p:xfrm>
        <a:graphic>
          <a:graphicData uri="http://schemas.openxmlformats.org/presentationml/2006/ole">
            <mc:AlternateContent xmlns:mc="http://schemas.openxmlformats.org/markup-compatibility/2006">
              <mc:Choice xmlns:v="urn:schemas-microsoft-com:vml" Requires="v">
                <p:oleObj name="Equation" r:id="rId13" imgW="3517900" imgH="495300" progId="Equation.DSMT4">
                  <p:embed/>
                </p:oleObj>
              </mc:Choice>
              <mc:Fallback>
                <p:oleObj name="Equation" r:id="rId13" imgW="3517900" imgH="495300" progId="Equation.DSMT4">
                  <p:embed/>
                  <p:pic>
                    <p:nvPicPr>
                      <p:cNvPr id="24590" name="9 Objeto">
                        <a:extLst>
                          <a:ext uri="{FF2B5EF4-FFF2-40B4-BE49-F238E27FC236}">
                            <a16:creationId xmlns:a16="http://schemas.microsoft.com/office/drawing/2014/main" id="{FBE4A10F-BDA0-47B7-83E1-69F9E27741F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9413" y="3886200"/>
                        <a:ext cx="5000625"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91" name="9 Objeto">
            <a:extLst>
              <a:ext uri="{FF2B5EF4-FFF2-40B4-BE49-F238E27FC236}">
                <a16:creationId xmlns:a16="http://schemas.microsoft.com/office/drawing/2014/main" id="{586A4F54-2308-46EA-BBD7-0A5015C9DEE2}"/>
              </a:ext>
            </a:extLst>
          </p:cNvPr>
          <p:cNvGraphicFramePr>
            <a:graphicFrameLocks noChangeAspect="1"/>
          </p:cNvGraphicFramePr>
          <p:nvPr/>
        </p:nvGraphicFramePr>
        <p:xfrm>
          <a:off x="379413" y="5105400"/>
          <a:ext cx="4964112" cy="347663"/>
        </p:xfrm>
        <a:graphic>
          <a:graphicData uri="http://schemas.openxmlformats.org/presentationml/2006/ole">
            <mc:AlternateContent xmlns:mc="http://schemas.openxmlformats.org/markup-compatibility/2006">
              <mc:Choice xmlns:v="urn:schemas-microsoft-com:vml" Requires="v">
                <p:oleObj name="Equation" r:id="rId15" imgW="3492500" imgH="254000" progId="Equation.DSMT4">
                  <p:embed/>
                </p:oleObj>
              </mc:Choice>
              <mc:Fallback>
                <p:oleObj name="Equation" r:id="rId15" imgW="3492500" imgH="254000" progId="Equation.DSMT4">
                  <p:embed/>
                  <p:pic>
                    <p:nvPicPr>
                      <p:cNvPr id="24591" name="9 Objeto">
                        <a:extLst>
                          <a:ext uri="{FF2B5EF4-FFF2-40B4-BE49-F238E27FC236}">
                            <a16:creationId xmlns:a16="http://schemas.microsoft.com/office/drawing/2014/main" id="{586A4F54-2308-46EA-BBD7-0A5015C9DEE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9413" y="5105400"/>
                        <a:ext cx="4964112"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92" name="8 CuadroTexto">
            <a:extLst>
              <a:ext uri="{FF2B5EF4-FFF2-40B4-BE49-F238E27FC236}">
                <a16:creationId xmlns:a16="http://schemas.microsoft.com/office/drawing/2014/main" id="{85009D10-966F-4AC3-B154-7E3C23FAFBE3}"/>
              </a:ext>
            </a:extLst>
          </p:cNvPr>
          <p:cNvSpPr txBox="1">
            <a:spLocks noChangeArrowheads="1"/>
          </p:cNvSpPr>
          <p:nvPr/>
        </p:nvSpPr>
        <p:spPr bwMode="auto">
          <a:xfrm>
            <a:off x="304800" y="4648200"/>
            <a:ext cx="5867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Para un nivel de confianza del 95% (</a:t>
            </a:r>
            <a:r>
              <a:rPr lang="es-ES" altLang="es-ES" sz="1600" i="1">
                <a:latin typeface="Times New Roman" panose="02020603050405020304" pitchFamily="18" charset="0"/>
                <a:cs typeface="Times New Roman" panose="02020603050405020304" pitchFamily="18" charset="0"/>
              </a:rPr>
              <a:t>z</a:t>
            </a:r>
            <a:r>
              <a:rPr lang="es-ES" altLang="es-ES" sz="1600" baseline="-25000">
                <a:latin typeface="Symbol" panose="05050102010706020507" pitchFamily="18" charset="2"/>
              </a:rPr>
              <a:t>a</a:t>
            </a:r>
            <a:r>
              <a:rPr lang="es-ES" altLang="es-ES" sz="1400"/>
              <a:t>=1.96)</a:t>
            </a:r>
          </a:p>
        </p:txBody>
      </p:sp>
      <p:sp>
        <p:nvSpPr>
          <p:cNvPr id="24593" name="8 CuadroTexto">
            <a:extLst>
              <a:ext uri="{FF2B5EF4-FFF2-40B4-BE49-F238E27FC236}">
                <a16:creationId xmlns:a16="http://schemas.microsoft.com/office/drawing/2014/main" id="{5168C1E5-454C-4FBE-B036-EDDA9A6BA0EA}"/>
              </a:ext>
            </a:extLst>
          </p:cNvPr>
          <p:cNvSpPr txBox="1">
            <a:spLocks noChangeArrowheads="1"/>
          </p:cNvSpPr>
          <p:nvPr/>
        </p:nvSpPr>
        <p:spPr bwMode="auto">
          <a:xfrm>
            <a:off x="5524500" y="4114800"/>
            <a:ext cx="29337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 altLang="es-ES" sz="1400"/>
              <a:t>(método de Agresti-Min)</a:t>
            </a:r>
          </a:p>
        </p:txBody>
      </p:sp>
      <p:sp>
        <p:nvSpPr>
          <p:cNvPr id="24594" name="8 CuadroTexto">
            <a:extLst>
              <a:ext uri="{FF2B5EF4-FFF2-40B4-BE49-F238E27FC236}">
                <a16:creationId xmlns:a16="http://schemas.microsoft.com/office/drawing/2014/main" id="{9BFBA216-0AD3-4B88-85F6-7E890B9B51DA}"/>
              </a:ext>
            </a:extLst>
          </p:cNvPr>
          <p:cNvSpPr txBox="1">
            <a:spLocks noChangeArrowheads="1"/>
          </p:cNvSpPr>
          <p:nvPr/>
        </p:nvSpPr>
        <p:spPr bwMode="auto">
          <a:xfrm>
            <a:off x="304800" y="5661025"/>
            <a:ext cx="8534400"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La terapia B tiene mayor respuesta positiva que la A, puntualmente la diferencia es de un 9.5% de pacientes que responden a la B más que a la A. Con un 95% de confianza, esta diferencia es un valor superior al 1.66% e inferior al 17.39%</a:t>
            </a:r>
          </a:p>
        </p:txBody>
      </p:sp>
      <p:sp>
        <p:nvSpPr>
          <p:cNvPr id="24595" name="8 CuadroTexto">
            <a:extLst>
              <a:ext uri="{FF2B5EF4-FFF2-40B4-BE49-F238E27FC236}">
                <a16:creationId xmlns:a16="http://schemas.microsoft.com/office/drawing/2014/main" id="{805EC5D4-FF81-4D85-9A30-D91507934C70}"/>
              </a:ext>
            </a:extLst>
          </p:cNvPr>
          <p:cNvSpPr txBox="1">
            <a:spLocks noChangeArrowheads="1"/>
          </p:cNvSpPr>
          <p:nvPr/>
        </p:nvSpPr>
        <p:spPr bwMode="auto">
          <a:xfrm>
            <a:off x="5524500" y="4648200"/>
            <a:ext cx="32385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a:t>Obsérvese que como se ha rechazado la hipótesis de que los dos porcentajes sean homogéneos (iguales), la diferencia=“cero” no está contenida en el intervalo</a:t>
            </a:r>
          </a:p>
        </p:txBody>
      </p:sp>
      <p:sp>
        <p:nvSpPr>
          <p:cNvPr id="24596" name="7 Rectángulo redondeado">
            <a:extLst>
              <a:ext uri="{FF2B5EF4-FFF2-40B4-BE49-F238E27FC236}">
                <a16:creationId xmlns:a16="http://schemas.microsoft.com/office/drawing/2014/main" id="{6E03CB89-5CA5-4607-B2AB-A4D93E3343C8}"/>
              </a:ext>
            </a:extLst>
          </p:cNvPr>
          <p:cNvSpPr>
            <a:spLocks noChangeArrowheads="1"/>
          </p:cNvSpPr>
          <p:nvPr/>
        </p:nvSpPr>
        <p:spPr bwMode="auto">
          <a:xfrm>
            <a:off x="5486400" y="4629150"/>
            <a:ext cx="3352800" cy="874713"/>
          </a:xfrm>
          <a:prstGeom prst="roundRect">
            <a:avLst>
              <a:gd name="adj" fmla="val 10347"/>
            </a:avLst>
          </a:prstGeom>
          <a:noFill/>
          <a:ln w="9525" algn="ctr">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a:p>
        </p:txBody>
      </p:sp>
      <p:graphicFrame>
        <p:nvGraphicFramePr>
          <p:cNvPr id="24597" name="1 Objeto">
            <a:extLst>
              <a:ext uri="{FF2B5EF4-FFF2-40B4-BE49-F238E27FC236}">
                <a16:creationId xmlns:a16="http://schemas.microsoft.com/office/drawing/2014/main" id="{0017772C-A5A0-4A94-AE3D-682584C71E03}"/>
              </a:ext>
            </a:extLst>
          </p:cNvPr>
          <p:cNvGraphicFramePr>
            <a:graphicFrameLocks noChangeAspect="1"/>
          </p:cNvGraphicFramePr>
          <p:nvPr>
            <p:extLst>
              <p:ext uri="{D42A27DB-BD31-4B8C-83A1-F6EECF244321}">
                <p14:modId xmlns:p14="http://schemas.microsoft.com/office/powerpoint/2010/main" val="4205269912"/>
              </p:ext>
            </p:extLst>
          </p:nvPr>
        </p:nvGraphicFramePr>
        <p:xfrm>
          <a:off x="6400800" y="762000"/>
          <a:ext cx="2763838" cy="1339850"/>
        </p:xfrm>
        <a:graphic>
          <a:graphicData uri="http://schemas.openxmlformats.org/presentationml/2006/ole">
            <mc:AlternateContent xmlns:mc="http://schemas.openxmlformats.org/markup-compatibility/2006">
              <mc:Choice xmlns:v="urn:schemas-microsoft-com:vml" Requires="v">
                <p:oleObj name="Equation" r:id="rId17" imgW="2374560" imgH="1193760" progId="Equation.DSMT4">
                  <p:embed/>
                </p:oleObj>
              </mc:Choice>
              <mc:Fallback>
                <p:oleObj name="Equation" r:id="rId17" imgW="2374560" imgH="1193760" progId="Equation.DSMT4">
                  <p:embed/>
                  <p:pic>
                    <p:nvPicPr>
                      <p:cNvPr id="24597" name="1 Objeto">
                        <a:extLst>
                          <a:ext uri="{FF2B5EF4-FFF2-40B4-BE49-F238E27FC236}">
                            <a16:creationId xmlns:a16="http://schemas.microsoft.com/office/drawing/2014/main" id="{0017772C-A5A0-4A94-AE3D-682584C71E03}"/>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400800" y="762000"/>
                        <a:ext cx="2763838"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228600" y="238125"/>
            <a:ext cx="268214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600" b="1" dirty="0"/>
              <a:t>Comparaciones múltiples</a:t>
            </a:r>
            <a:endParaRPr lang="es-ES" altLang="es-ES" sz="1600" b="1" dirty="0"/>
          </a:p>
        </p:txBody>
      </p:sp>
      <p:sp>
        <p:nvSpPr>
          <p:cNvPr id="24579" name="Text Box 3"/>
          <p:cNvSpPr txBox="1">
            <a:spLocks noChangeArrowheads="1"/>
          </p:cNvSpPr>
          <p:nvPr/>
        </p:nvSpPr>
        <p:spPr bwMode="auto">
          <a:xfrm>
            <a:off x="4657725" y="5181600"/>
            <a:ext cx="4105275" cy="7794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114300" indent="-114300"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algn="just" eaLnBrk="1" hangingPunct="1">
              <a:buFontTx/>
              <a:buChar char="•"/>
            </a:pPr>
            <a:r>
              <a:rPr lang="es-ES_tradnl" altLang="es-ES" sz="1100">
                <a:cs typeface="Arial" pitchFamily="34" charset="0"/>
              </a:rPr>
              <a:t>Si al aplicar el método de Bonferroni, se eliminan las variables que han resultado significativas y se repite con las que quedan (cambiando </a:t>
            </a:r>
            <a:r>
              <a:rPr lang="es-ES_tradnl" altLang="es-ES" i="1">
                <a:latin typeface="Times New Roman" pitchFamily="18" charset="0"/>
                <a:cs typeface="Arial" pitchFamily="34" charset="0"/>
              </a:rPr>
              <a:t>k</a:t>
            </a:r>
            <a:r>
              <a:rPr lang="es-ES_tradnl" altLang="es-ES" sz="1100">
                <a:cs typeface="Arial" pitchFamily="34" charset="0"/>
              </a:rPr>
              <a:t> en consecuencia) el método se llama de </a:t>
            </a:r>
            <a:r>
              <a:rPr lang="es-ES_tradnl" altLang="es-ES" sz="1100" b="1">
                <a:cs typeface="Arial" pitchFamily="34" charset="0"/>
              </a:rPr>
              <a:t>Newman-Keuls</a:t>
            </a:r>
            <a:endParaRPr lang="es-ES_tradnl" altLang="es-ES" sz="1100" b="1" i="1">
              <a:latin typeface="Times New Roman" pitchFamily="18" charset="0"/>
              <a:cs typeface="Arial" pitchFamily="34" charset="0"/>
            </a:endParaRPr>
          </a:p>
        </p:txBody>
      </p:sp>
      <p:sp>
        <p:nvSpPr>
          <p:cNvPr id="24580" name="Text Box 5"/>
          <p:cNvSpPr txBox="1">
            <a:spLocks noChangeArrowheads="1"/>
          </p:cNvSpPr>
          <p:nvPr/>
        </p:nvSpPr>
        <p:spPr bwMode="auto">
          <a:xfrm>
            <a:off x="514350" y="1408113"/>
            <a:ext cx="8096250" cy="2905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114300" indent="-114300"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algn="just" eaLnBrk="1" hangingPunct="1">
              <a:buFontTx/>
              <a:buChar char="•"/>
            </a:pPr>
            <a:r>
              <a:rPr lang="es-ES_tradnl" altLang="es-ES">
                <a:cs typeface="Arial" pitchFamily="34" charset="0"/>
              </a:rPr>
              <a:t> El propósito es comparar dos grupos entre sí, pero a través de </a:t>
            </a:r>
            <a:r>
              <a:rPr lang="es-ES_tradnl" altLang="es-ES" sz="1300" i="1">
                <a:latin typeface="Times New Roman" pitchFamily="18" charset="0"/>
                <a:cs typeface="Arial" pitchFamily="34" charset="0"/>
              </a:rPr>
              <a:t>k</a:t>
            </a:r>
            <a:r>
              <a:rPr lang="es-ES_tradnl" altLang="es-ES">
                <a:cs typeface="Arial" pitchFamily="34" charset="0"/>
              </a:rPr>
              <a:t> variables (no una como hasta ahora)</a:t>
            </a:r>
            <a:endParaRPr lang="es-ES_tradnl" altLang="es-ES" sz="1300" i="1">
              <a:latin typeface="Times New Roman" pitchFamily="18" charset="0"/>
              <a:cs typeface="Arial" pitchFamily="34" charset="0"/>
            </a:endParaRPr>
          </a:p>
        </p:txBody>
      </p:sp>
      <p:sp>
        <p:nvSpPr>
          <p:cNvPr id="24581" name="Text Box 13"/>
          <p:cNvSpPr txBox="1">
            <a:spLocks noChangeArrowheads="1"/>
          </p:cNvSpPr>
          <p:nvPr/>
        </p:nvSpPr>
        <p:spPr bwMode="auto">
          <a:xfrm>
            <a:off x="228600" y="1143000"/>
            <a:ext cx="257651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b="1"/>
              <a:t>1. Planteamiento del problema</a:t>
            </a:r>
            <a:endParaRPr lang="es-ES" altLang="es-ES" sz="1300" b="1"/>
          </a:p>
        </p:txBody>
      </p:sp>
      <p:sp>
        <p:nvSpPr>
          <p:cNvPr id="24582" name="Text Box 14"/>
          <p:cNvSpPr txBox="1">
            <a:spLocks noChangeArrowheads="1"/>
          </p:cNvSpPr>
          <p:nvPr/>
        </p:nvSpPr>
        <p:spPr bwMode="auto">
          <a:xfrm>
            <a:off x="228600" y="2820988"/>
            <a:ext cx="2200275" cy="290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b="1"/>
              <a:t>2. Solución de Bonferroni</a:t>
            </a:r>
            <a:endParaRPr lang="es-ES" altLang="es-ES" sz="1300" b="1"/>
          </a:p>
        </p:txBody>
      </p:sp>
      <p:graphicFrame>
        <p:nvGraphicFramePr>
          <p:cNvPr id="24583" name="Object 23"/>
          <p:cNvGraphicFramePr>
            <a:graphicFrameLocks noChangeAspect="1"/>
          </p:cNvGraphicFramePr>
          <p:nvPr/>
        </p:nvGraphicFramePr>
        <p:xfrm>
          <a:off x="3857625" y="2514600"/>
          <a:ext cx="1409700" cy="333375"/>
        </p:xfrm>
        <a:graphic>
          <a:graphicData uri="http://schemas.openxmlformats.org/presentationml/2006/ole">
            <mc:AlternateContent xmlns:mc="http://schemas.openxmlformats.org/markup-compatibility/2006">
              <mc:Choice xmlns:v="urn:schemas-microsoft-com:vml" Requires="v">
                <p:oleObj name="Equation" r:id="rId3" imgW="1180588" imgH="279279" progId="Equation.DSMT4">
                  <p:embed/>
                </p:oleObj>
              </mc:Choice>
              <mc:Fallback>
                <p:oleObj name="Equation" r:id="rId3" imgW="1180588" imgH="279279" progId="Equation.DSMT4">
                  <p:embed/>
                  <p:pic>
                    <p:nvPicPr>
                      <p:cNvPr id="24583"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7625" y="2514600"/>
                        <a:ext cx="1409700" cy="333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4" name="Rectangle 28"/>
          <p:cNvSpPr>
            <a:spLocks noChangeArrowheads="1"/>
          </p:cNvSpPr>
          <p:nvPr/>
        </p:nvSpPr>
        <p:spPr bwMode="auto">
          <a:xfrm>
            <a:off x="220663" y="838200"/>
            <a:ext cx="43227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El peligro de comparar muchas variables a la vez</a:t>
            </a:r>
            <a:endParaRPr lang="es-ES" altLang="es-ES" sz="1400" b="1" dirty="0"/>
          </a:p>
        </p:txBody>
      </p:sp>
      <p:pic>
        <p:nvPicPr>
          <p:cNvPr id="24585" name="Picture 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39000" y="2971800"/>
            <a:ext cx="1430338"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86" name="Picture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7675" y="4800600"/>
            <a:ext cx="4114800" cy="137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4587" name="Group 46"/>
          <p:cNvGrpSpPr>
            <a:grpSpLocks/>
          </p:cNvGrpSpPr>
          <p:nvPr/>
        </p:nvGrpSpPr>
        <p:grpSpPr bwMode="auto">
          <a:xfrm>
            <a:off x="1371600" y="3533775"/>
            <a:ext cx="5791200" cy="866775"/>
            <a:chOff x="864" y="2286"/>
            <a:chExt cx="3456" cy="546"/>
          </a:xfrm>
        </p:grpSpPr>
        <p:sp>
          <p:nvSpPr>
            <p:cNvPr id="24597" name="Text Box 34"/>
            <p:cNvSpPr txBox="1">
              <a:spLocks noChangeArrowheads="1"/>
            </p:cNvSpPr>
            <p:nvPr/>
          </p:nvSpPr>
          <p:spPr bwMode="auto">
            <a:xfrm>
              <a:off x="912" y="2300"/>
              <a:ext cx="3360" cy="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dirty="0">
                  <a:solidFill>
                    <a:srgbClr val="006666"/>
                  </a:solidFill>
                  <a:cs typeface="Arial" pitchFamily="34" charset="0"/>
                </a:rPr>
                <a:t># Una batería de 6 test de coordinación motora, TD-1 a TD-6, cada uno de los cuales mide una habilidad motora, se aplica a un total de 15 niños afectados de parálisis cerebral antes y después de un programa rehabilitación. Se trata de saber en cuál de las habilidades ha habido un cambio</a:t>
              </a:r>
              <a:endParaRPr lang="es-ES_tradnl" altLang="es-ES" sz="1300" i="1" dirty="0">
                <a:solidFill>
                  <a:srgbClr val="006666"/>
                </a:solidFill>
                <a:latin typeface="Times New Roman" pitchFamily="18" charset="0"/>
                <a:cs typeface="Arial" pitchFamily="34" charset="0"/>
              </a:endParaRPr>
            </a:p>
          </p:txBody>
        </p:sp>
        <p:sp>
          <p:nvSpPr>
            <p:cNvPr id="24598" name="AutoShape 39"/>
            <p:cNvSpPr>
              <a:spLocks noChangeArrowheads="1"/>
            </p:cNvSpPr>
            <p:nvPr/>
          </p:nvSpPr>
          <p:spPr bwMode="auto">
            <a:xfrm>
              <a:off x="864" y="2286"/>
              <a:ext cx="3456" cy="546"/>
            </a:xfrm>
            <a:prstGeom prst="roundRect">
              <a:avLst>
                <a:gd name="adj" fmla="val 16667"/>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24588" name="Text Box 41"/>
          <p:cNvSpPr txBox="1">
            <a:spLocks noChangeArrowheads="1"/>
          </p:cNvSpPr>
          <p:nvPr/>
        </p:nvSpPr>
        <p:spPr bwMode="auto">
          <a:xfrm>
            <a:off x="533400" y="1655763"/>
            <a:ext cx="8096250" cy="5302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114300" indent="-114300"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algn="just" eaLnBrk="1" hangingPunct="1">
              <a:lnSpc>
                <a:spcPct val="110000"/>
              </a:lnSpc>
              <a:buFontTx/>
              <a:buChar char="•"/>
            </a:pPr>
            <a:r>
              <a:rPr lang="es-ES_tradnl" altLang="es-ES">
                <a:cs typeface="Arial" pitchFamily="34" charset="0"/>
              </a:rPr>
              <a:t>Una comparación individual se declara significativa cuando se obtenga  </a:t>
            </a:r>
            <a:r>
              <a:rPr lang="es-ES_tradnl" altLang="es-ES" sz="1300" i="1">
                <a:latin typeface="Times New Roman" pitchFamily="18" charset="0"/>
                <a:cs typeface="Arial" pitchFamily="34" charset="0"/>
              </a:rPr>
              <a:t>p</a:t>
            </a:r>
            <a:r>
              <a:rPr lang="es-ES_tradnl" altLang="es-ES">
                <a:cs typeface="Arial" pitchFamily="34" charset="0"/>
              </a:rPr>
              <a:t>&lt;</a:t>
            </a:r>
            <a:r>
              <a:rPr lang="es-ES_tradnl" altLang="es-ES" sz="1300">
                <a:latin typeface="Symbol" pitchFamily="18" charset="2"/>
                <a:cs typeface="Arial" pitchFamily="34" charset="0"/>
              </a:rPr>
              <a:t>a </a:t>
            </a:r>
            <a:r>
              <a:rPr lang="es-ES_tradnl" altLang="es-ES">
                <a:cs typeface="Arial" pitchFamily="34" charset="0"/>
              </a:rPr>
              <a:t>pero esto supone que por cada 100 comparaciones realizadas en  </a:t>
            </a:r>
            <a:r>
              <a:rPr lang="es-ES_tradnl" altLang="es-ES" sz="1300">
                <a:latin typeface="Symbol" pitchFamily="18" charset="2"/>
                <a:cs typeface="Arial" pitchFamily="34" charset="0"/>
              </a:rPr>
              <a:t>a</a:t>
            </a:r>
            <a:r>
              <a:rPr lang="es-ES_tradnl" altLang="es-ES">
                <a:cs typeface="Arial" pitchFamily="34" charset="0"/>
              </a:rPr>
              <a:t> ×100% de ellas se dirá que hay diferencias por error</a:t>
            </a:r>
            <a:endParaRPr lang="es-ES_tradnl" altLang="es-ES" sz="1300" i="1">
              <a:latin typeface="Symbol" pitchFamily="18" charset="2"/>
              <a:cs typeface="Arial" pitchFamily="34" charset="0"/>
            </a:endParaRPr>
          </a:p>
        </p:txBody>
      </p:sp>
      <p:sp>
        <p:nvSpPr>
          <p:cNvPr id="24589" name="Text Box 42"/>
          <p:cNvSpPr txBox="1">
            <a:spLocks noChangeArrowheads="1"/>
          </p:cNvSpPr>
          <p:nvPr/>
        </p:nvSpPr>
        <p:spPr bwMode="auto">
          <a:xfrm>
            <a:off x="533400" y="2144713"/>
            <a:ext cx="8096250" cy="512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114300" indent="-114300" eaLnBrk="0" hangingPunct="0">
              <a:tabLst>
                <a:tab pos="114300" algn="l"/>
              </a:tabLst>
              <a:defRPr sz="1200">
                <a:solidFill>
                  <a:schemeClr val="tx1"/>
                </a:solidFill>
                <a:latin typeface="Arial" pitchFamily="34" charset="0"/>
              </a:defRPr>
            </a:lvl1pPr>
            <a:lvl2pPr marL="800100" indent="-342900" eaLnBrk="0" hangingPunct="0">
              <a:tabLst>
                <a:tab pos="114300" algn="l"/>
              </a:tabLst>
              <a:defRPr sz="1200">
                <a:solidFill>
                  <a:schemeClr val="tx1"/>
                </a:solidFill>
                <a:latin typeface="Arial" pitchFamily="34" charset="0"/>
              </a:defRPr>
            </a:lvl2pPr>
            <a:lvl3pPr marL="1257300" indent="-342900" eaLnBrk="0" hangingPunct="0">
              <a:tabLst>
                <a:tab pos="114300" algn="l"/>
              </a:tabLst>
              <a:defRPr sz="1200">
                <a:solidFill>
                  <a:schemeClr val="tx1"/>
                </a:solidFill>
                <a:latin typeface="Arial" pitchFamily="34" charset="0"/>
              </a:defRPr>
            </a:lvl3pPr>
            <a:lvl4pPr marL="1714500" indent="-342900" eaLnBrk="0" hangingPunct="0">
              <a:tabLst>
                <a:tab pos="114300" algn="l"/>
              </a:tabLst>
              <a:defRPr sz="1200">
                <a:solidFill>
                  <a:schemeClr val="tx1"/>
                </a:solidFill>
                <a:latin typeface="Arial" pitchFamily="34" charset="0"/>
              </a:defRPr>
            </a:lvl4pPr>
            <a:lvl5pPr marL="2171700" indent="-342900" eaLnBrk="0" hangingPunct="0">
              <a:tabLst>
                <a:tab pos="114300" algn="l"/>
              </a:tabLst>
              <a:defRPr sz="1200">
                <a:solidFill>
                  <a:schemeClr val="tx1"/>
                </a:solidFill>
                <a:latin typeface="Arial" pitchFamily="34" charset="0"/>
              </a:defRPr>
            </a:lvl5pPr>
            <a:lvl6pPr marL="2628900" indent="-342900" eaLnBrk="0" fontAlgn="base" hangingPunct="0">
              <a:spcBef>
                <a:spcPct val="0"/>
              </a:spcBef>
              <a:spcAft>
                <a:spcPct val="0"/>
              </a:spcAft>
              <a:tabLst>
                <a:tab pos="114300" algn="l"/>
              </a:tabLst>
              <a:defRPr sz="1200">
                <a:solidFill>
                  <a:schemeClr val="tx1"/>
                </a:solidFill>
                <a:latin typeface="Arial" pitchFamily="34" charset="0"/>
              </a:defRPr>
            </a:lvl6pPr>
            <a:lvl7pPr marL="3086100" indent="-342900" eaLnBrk="0" fontAlgn="base" hangingPunct="0">
              <a:spcBef>
                <a:spcPct val="0"/>
              </a:spcBef>
              <a:spcAft>
                <a:spcPct val="0"/>
              </a:spcAft>
              <a:tabLst>
                <a:tab pos="114300" algn="l"/>
              </a:tabLst>
              <a:defRPr sz="1200">
                <a:solidFill>
                  <a:schemeClr val="tx1"/>
                </a:solidFill>
                <a:latin typeface="Arial" pitchFamily="34" charset="0"/>
              </a:defRPr>
            </a:lvl7pPr>
            <a:lvl8pPr marL="3543300" indent="-342900" eaLnBrk="0" fontAlgn="base" hangingPunct="0">
              <a:spcBef>
                <a:spcPct val="0"/>
              </a:spcBef>
              <a:spcAft>
                <a:spcPct val="0"/>
              </a:spcAft>
              <a:tabLst>
                <a:tab pos="114300" algn="l"/>
              </a:tabLst>
              <a:defRPr sz="1200">
                <a:solidFill>
                  <a:schemeClr val="tx1"/>
                </a:solidFill>
                <a:latin typeface="Arial" pitchFamily="34" charset="0"/>
              </a:defRPr>
            </a:lvl8pPr>
            <a:lvl9pPr marL="4000500" indent="-342900" eaLnBrk="0" fontAlgn="base" hangingPunct="0">
              <a:spcBef>
                <a:spcPct val="0"/>
              </a:spcBef>
              <a:spcAft>
                <a:spcPct val="0"/>
              </a:spcAft>
              <a:tabLst>
                <a:tab pos="114300" algn="l"/>
              </a:tabLst>
              <a:defRPr sz="1200">
                <a:solidFill>
                  <a:schemeClr val="tx1"/>
                </a:solidFill>
                <a:latin typeface="Arial" pitchFamily="34" charset="0"/>
              </a:defRPr>
            </a:lvl9pPr>
          </a:lstStyle>
          <a:p>
            <a:pPr algn="just" eaLnBrk="1" hangingPunct="1">
              <a:lnSpc>
                <a:spcPct val="110000"/>
              </a:lnSpc>
              <a:buFontTx/>
              <a:buChar char="•"/>
            </a:pPr>
            <a:r>
              <a:rPr lang="es-ES_tradnl" altLang="es-ES">
                <a:cs typeface="Arial" pitchFamily="34" charset="0"/>
              </a:rPr>
              <a:t>Cuando se comparan </a:t>
            </a:r>
            <a:r>
              <a:rPr lang="es-ES_tradnl" altLang="es-ES" sz="1300" i="1">
                <a:latin typeface="Times New Roman" pitchFamily="18" charset="0"/>
                <a:cs typeface="Arial" pitchFamily="34" charset="0"/>
              </a:rPr>
              <a:t>k</a:t>
            </a:r>
            <a:r>
              <a:rPr lang="es-ES_tradnl" altLang="es-ES">
                <a:cs typeface="Arial" pitchFamily="34" charset="0"/>
              </a:rPr>
              <a:t> variables de forma simultánea, el error asociado a la afirmación global  no será </a:t>
            </a:r>
            <a:r>
              <a:rPr lang="es-ES_tradnl" altLang="es-ES" sz="1300">
                <a:latin typeface="Symbol" pitchFamily="18" charset="2"/>
                <a:cs typeface="Arial" pitchFamily="34" charset="0"/>
              </a:rPr>
              <a:t>a</a:t>
            </a:r>
            <a:r>
              <a:rPr lang="es-ES_tradnl" altLang="es-ES">
                <a:cs typeface="Arial" pitchFamily="34" charset="0"/>
              </a:rPr>
              <a:t> sino mucho mayor. Concretamente</a:t>
            </a:r>
            <a:endParaRPr lang="es-ES_tradnl" altLang="es-ES" sz="1300" i="1">
              <a:latin typeface="Symbol" pitchFamily="18" charset="2"/>
              <a:cs typeface="Arial" pitchFamily="34" charset="0"/>
            </a:endParaRPr>
          </a:p>
        </p:txBody>
      </p:sp>
      <p:sp>
        <p:nvSpPr>
          <p:cNvPr id="24590" name="Text Box 43"/>
          <p:cNvSpPr txBox="1">
            <a:spLocks noChangeArrowheads="1"/>
          </p:cNvSpPr>
          <p:nvPr/>
        </p:nvSpPr>
        <p:spPr bwMode="auto">
          <a:xfrm>
            <a:off x="228600" y="3476625"/>
            <a:ext cx="1011238"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b="1"/>
              <a:t>3. Ejemplo</a:t>
            </a:r>
            <a:endParaRPr lang="es-ES" altLang="es-ES" sz="1300" b="1"/>
          </a:p>
        </p:txBody>
      </p:sp>
      <p:grpSp>
        <p:nvGrpSpPr>
          <p:cNvPr id="24591" name="Group 45"/>
          <p:cNvGrpSpPr>
            <a:grpSpLocks/>
          </p:cNvGrpSpPr>
          <p:nvPr/>
        </p:nvGrpSpPr>
        <p:grpSpPr bwMode="auto">
          <a:xfrm>
            <a:off x="523875" y="3059113"/>
            <a:ext cx="5572125" cy="293687"/>
            <a:chOff x="330" y="1980"/>
            <a:chExt cx="3510" cy="185"/>
          </a:xfrm>
        </p:grpSpPr>
        <p:graphicFrame>
          <p:nvGraphicFramePr>
            <p:cNvPr id="24595" name="Object 25"/>
            <p:cNvGraphicFramePr>
              <a:graphicFrameLocks noChangeAspect="1"/>
            </p:cNvGraphicFramePr>
            <p:nvPr/>
          </p:nvGraphicFramePr>
          <p:xfrm>
            <a:off x="3408" y="1985"/>
            <a:ext cx="432" cy="175"/>
          </p:xfrm>
          <a:graphic>
            <a:graphicData uri="http://schemas.openxmlformats.org/presentationml/2006/ole">
              <mc:AlternateContent xmlns:mc="http://schemas.openxmlformats.org/markup-compatibility/2006">
                <mc:Choice xmlns:v="urn:schemas-microsoft-com:vml" Requires="v">
                  <p:oleObj name="Equation" r:id="rId7" imgW="532937" imgH="215713" progId="Equation.DSMT4">
                    <p:embed/>
                  </p:oleObj>
                </mc:Choice>
                <mc:Fallback>
                  <p:oleObj name="Equation" r:id="rId7" imgW="532937" imgH="215713" progId="Equation.DSMT4">
                    <p:embed/>
                    <p:pic>
                      <p:nvPicPr>
                        <p:cNvPr id="24595"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08" y="1985"/>
                          <a:ext cx="432" cy="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96" name="Text Box 44"/>
            <p:cNvSpPr txBox="1">
              <a:spLocks noChangeArrowheads="1"/>
            </p:cNvSpPr>
            <p:nvPr/>
          </p:nvSpPr>
          <p:spPr bwMode="auto">
            <a:xfrm>
              <a:off x="330" y="1980"/>
              <a:ext cx="3174" cy="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114300" indent="-114300" eaLnBrk="0" hangingPunct="0">
                <a:tabLst>
                  <a:tab pos="114300" algn="l"/>
                </a:tabLst>
                <a:defRPr sz="1200">
                  <a:solidFill>
                    <a:schemeClr val="tx1"/>
                  </a:solidFill>
                  <a:latin typeface="Arial" pitchFamily="34" charset="0"/>
                </a:defRPr>
              </a:lvl1pPr>
              <a:lvl2pPr marL="800100" indent="-342900" eaLnBrk="0" hangingPunct="0">
                <a:tabLst>
                  <a:tab pos="114300" algn="l"/>
                </a:tabLst>
                <a:defRPr sz="1200">
                  <a:solidFill>
                    <a:schemeClr val="tx1"/>
                  </a:solidFill>
                  <a:latin typeface="Arial" pitchFamily="34" charset="0"/>
                </a:defRPr>
              </a:lvl2pPr>
              <a:lvl3pPr marL="1257300" indent="-342900" eaLnBrk="0" hangingPunct="0">
                <a:tabLst>
                  <a:tab pos="114300" algn="l"/>
                </a:tabLst>
                <a:defRPr sz="1200">
                  <a:solidFill>
                    <a:schemeClr val="tx1"/>
                  </a:solidFill>
                  <a:latin typeface="Arial" pitchFamily="34" charset="0"/>
                </a:defRPr>
              </a:lvl3pPr>
              <a:lvl4pPr marL="1714500" indent="-342900" eaLnBrk="0" hangingPunct="0">
                <a:tabLst>
                  <a:tab pos="114300" algn="l"/>
                </a:tabLst>
                <a:defRPr sz="1200">
                  <a:solidFill>
                    <a:schemeClr val="tx1"/>
                  </a:solidFill>
                  <a:latin typeface="Arial" pitchFamily="34" charset="0"/>
                </a:defRPr>
              </a:lvl4pPr>
              <a:lvl5pPr marL="2171700" indent="-342900" eaLnBrk="0" hangingPunct="0">
                <a:tabLst>
                  <a:tab pos="114300" algn="l"/>
                </a:tabLst>
                <a:defRPr sz="1200">
                  <a:solidFill>
                    <a:schemeClr val="tx1"/>
                  </a:solidFill>
                  <a:latin typeface="Arial" pitchFamily="34" charset="0"/>
                </a:defRPr>
              </a:lvl5pPr>
              <a:lvl6pPr marL="2628900" indent="-342900" eaLnBrk="0" fontAlgn="base" hangingPunct="0">
                <a:spcBef>
                  <a:spcPct val="0"/>
                </a:spcBef>
                <a:spcAft>
                  <a:spcPct val="0"/>
                </a:spcAft>
                <a:tabLst>
                  <a:tab pos="114300" algn="l"/>
                </a:tabLst>
                <a:defRPr sz="1200">
                  <a:solidFill>
                    <a:schemeClr val="tx1"/>
                  </a:solidFill>
                  <a:latin typeface="Arial" pitchFamily="34" charset="0"/>
                </a:defRPr>
              </a:lvl6pPr>
              <a:lvl7pPr marL="3086100" indent="-342900" eaLnBrk="0" fontAlgn="base" hangingPunct="0">
                <a:spcBef>
                  <a:spcPct val="0"/>
                </a:spcBef>
                <a:spcAft>
                  <a:spcPct val="0"/>
                </a:spcAft>
                <a:tabLst>
                  <a:tab pos="114300" algn="l"/>
                </a:tabLst>
                <a:defRPr sz="1200">
                  <a:solidFill>
                    <a:schemeClr val="tx1"/>
                  </a:solidFill>
                  <a:latin typeface="Arial" pitchFamily="34" charset="0"/>
                </a:defRPr>
              </a:lvl7pPr>
              <a:lvl8pPr marL="3543300" indent="-342900" eaLnBrk="0" fontAlgn="base" hangingPunct="0">
                <a:spcBef>
                  <a:spcPct val="0"/>
                </a:spcBef>
                <a:spcAft>
                  <a:spcPct val="0"/>
                </a:spcAft>
                <a:tabLst>
                  <a:tab pos="114300" algn="l"/>
                </a:tabLst>
                <a:defRPr sz="1200">
                  <a:solidFill>
                    <a:schemeClr val="tx1"/>
                  </a:solidFill>
                  <a:latin typeface="Arial" pitchFamily="34" charset="0"/>
                </a:defRPr>
              </a:lvl8pPr>
              <a:lvl9pPr marL="4000500" indent="-342900" eaLnBrk="0" fontAlgn="base" hangingPunct="0">
                <a:spcBef>
                  <a:spcPct val="0"/>
                </a:spcBef>
                <a:spcAft>
                  <a:spcPct val="0"/>
                </a:spcAft>
                <a:tabLst>
                  <a:tab pos="114300" algn="l"/>
                </a:tabLst>
                <a:defRPr sz="1200">
                  <a:solidFill>
                    <a:schemeClr val="tx1"/>
                  </a:solidFill>
                  <a:latin typeface="Arial" pitchFamily="34" charset="0"/>
                </a:defRPr>
              </a:lvl9pPr>
            </a:lstStyle>
            <a:p>
              <a:pPr algn="just" eaLnBrk="1" hangingPunct="1">
                <a:lnSpc>
                  <a:spcPct val="110000"/>
                </a:lnSpc>
                <a:buFontTx/>
                <a:buChar char="•"/>
              </a:pPr>
              <a:r>
                <a:rPr lang="es-ES_tradnl" altLang="es-ES">
                  <a:cs typeface="Arial" pitchFamily="34" charset="0"/>
                </a:rPr>
                <a:t>Declarar cada comparación individual como significativa cuando sea</a:t>
              </a:r>
              <a:endParaRPr lang="es-ES_tradnl" altLang="es-ES" sz="1300" i="1">
                <a:latin typeface="Symbol" pitchFamily="18" charset="2"/>
                <a:cs typeface="Arial" pitchFamily="34" charset="0"/>
              </a:endParaRPr>
            </a:p>
          </p:txBody>
        </p:sp>
      </p:grpSp>
      <p:sp>
        <p:nvSpPr>
          <p:cNvPr id="24592" name="Text Box 50"/>
          <p:cNvSpPr txBox="1">
            <a:spLocks noChangeArrowheads="1"/>
          </p:cNvSpPr>
          <p:nvPr/>
        </p:nvSpPr>
        <p:spPr bwMode="auto">
          <a:xfrm>
            <a:off x="4648200" y="4876800"/>
            <a:ext cx="4114800" cy="2778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114300" indent="-114300" eaLnBrk="0" hangingPunct="0">
              <a:tabLst>
                <a:tab pos="114300" algn="l"/>
              </a:tabLst>
              <a:defRPr sz="1200">
                <a:solidFill>
                  <a:schemeClr val="tx1"/>
                </a:solidFill>
                <a:latin typeface="Arial" pitchFamily="34" charset="0"/>
              </a:defRPr>
            </a:lvl1pPr>
            <a:lvl2pPr marL="800100" indent="-342900" eaLnBrk="0" hangingPunct="0">
              <a:tabLst>
                <a:tab pos="114300" algn="l"/>
              </a:tabLst>
              <a:defRPr sz="1200">
                <a:solidFill>
                  <a:schemeClr val="tx1"/>
                </a:solidFill>
                <a:latin typeface="Arial" pitchFamily="34" charset="0"/>
              </a:defRPr>
            </a:lvl2pPr>
            <a:lvl3pPr marL="1257300" indent="-342900" eaLnBrk="0" hangingPunct="0">
              <a:tabLst>
                <a:tab pos="114300" algn="l"/>
              </a:tabLst>
              <a:defRPr sz="1200">
                <a:solidFill>
                  <a:schemeClr val="tx1"/>
                </a:solidFill>
                <a:latin typeface="Arial" pitchFamily="34" charset="0"/>
              </a:defRPr>
            </a:lvl3pPr>
            <a:lvl4pPr marL="1714500" indent="-342900" eaLnBrk="0" hangingPunct="0">
              <a:tabLst>
                <a:tab pos="114300" algn="l"/>
              </a:tabLst>
              <a:defRPr sz="1200">
                <a:solidFill>
                  <a:schemeClr val="tx1"/>
                </a:solidFill>
                <a:latin typeface="Arial" pitchFamily="34" charset="0"/>
              </a:defRPr>
            </a:lvl4pPr>
            <a:lvl5pPr marL="2171700" indent="-342900" eaLnBrk="0" hangingPunct="0">
              <a:tabLst>
                <a:tab pos="114300" algn="l"/>
              </a:tabLst>
              <a:defRPr sz="1200">
                <a:solidFill>
                  <a:schemeClr val="tx1"/>
                </a:solidFill>
                <a:latin typeface="Arial" pitchFamily="34" charset="0"/>
              </a:defRPr>
            </a:lvl5pPr>
            <a:lvl6pPr marL="2628900" indent="-342900" eaLnBrk="0" fontAlgn="base" hangingPunct="0">
              <a:spcBef>
                <a:spcPct val="0"/>
              </a:spcBef>
              <a:spcAft>
                <a:spcPct val="0"/>
              </a:spcAft>
              <a:tabLst>
                <a:tab pos="114300" algn="l"/>
              </a:tabLst>
              <a:defRPr sz="1200">
                <a:solidFill>
                  <a:schemeClr val="tx1"/>
                </a:solidFill>
                <a:latin typeface="Arial" pitchFamily="34" charset="0"/>
              </a:defRPr>
            </a:lvl6pPr>
            <a:lvl7pPr marL="3086100" indent="-342900" eaLnBrk="0" fontAlgn="base" hangingPunct="0">
              <a:spcBef>
                <a:spcPct val="0"/>
              </a:spcBef>
              <a:spcAft>
                <a:spcPct val="0"/>
              </a:spcAft>
              <a:tabLst>
                <a:tab pos="114300" algn="l"/>
              </a:tabLst>
              <a:defRPr sz="1200">
                <a:solidFill>
                  <a:schemeClr val="tx1"/>
                </a:solidFill>
                <a:latin typeface="Arial" pitchFamily="34" charset="0"/>
              </a:defRPr>
            </a:lvl7pPr>
            <a:lvl8pPr marL="3543300" indent="-342900" eaLnBrk="0" fontAlgn="base" hangingPunct="0">
              <a:spcBef>
                <a:spcPct val="0"/>
              </a:spcBef>
              <a:spcAft>
                <a:spcPct val="0"/>
              </a:spcAft>
              <a:tabLst>
                <a:tab pos="114300" algn="l"/>
              </a:tabLst>
              <a:defRPr sz="1200">
                <a:solidFill>
                  <a:schemeClr val="tx1"/>
                </a:solidFill>
                <a:latin typeface="Arial" pitchFamily="34" charset="0"/>
              </a:defRPr>
            </a:lvl8pPr>
            <a:lvl9pPr marL="4000500" indent="-342900" eaLnBrk="0" fontAlgn="base" hangingPunct="0">
              <a:spcBef>
                <a:spcPct val="0"/>
              </a:spcBef>
              <a:spcAft>
                <a:spcPct val="0"/>
              </a:spcAft>
              <a:tabLst>
                <a:tab pos="114300" algn="l"/>
              </a:tabLst>
              <a:defRPr sz="1200">
                <a:solidFill>
                  <a:schemeClr val="tx1"/>
                </a:solidFill>
                <a:latin typeface="Arial" pitchFamily="34" charset="0"/>
              </a:defRPr>
            </a:lvl9pPr>
          </a:lstStyle>
          <a:p>
            <a:pPr algn="just" eaLnBrk="1" hangingPunct="1">
              <a:lnSpc>
                <a:spcPct val="110000"/>
              </a:lnSpc>
              <a:buFontTx/>
              <a:buChar char="•"/>
            </a:pPr>
            <a:r>
              <a:rPr lang="es-ES_tradnl" altLang="es-ES" sz="1100">
                <a:cs typeface="Arial" pitchFamily="34" charset="0"/>
              </a:rPr>
              <a:t>Bonferroni es un método muy severo (corrige demasiado)</a:t>
            </a:r>
            <a:endParaRPr lang="es-ES_tradnl" altLang="es-ES" sz="1100" i="1">
              <a:latin typeface="Symbol" pitchFamily="18" charset="2"/>
              <a:cs typeface="Arial" pitchFamily="34" charset="0"/>
            </a:endParaRPr>
          </a:p>
        </p:txBody>
      </p:sp>
      <p:sp>
        <p:nvSpPr>
          <p:cNvPr id="24593" name="Text Box 53"/>
          <p:cNvSpPr txBox="1">
            <a:spLocks noChangeArrowheads="1"/>
          </p:cNvSpPr>
          <p:nvPr/>
        </p:nvSpPr>
        <p:spPr bwMode="auto">
          <a:xfrm>
            <a:off x="381000" y="4448175"/>
            <a:ext cx="4267200" cy="3111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114300" indent="-114300" eaLnBrk="0" hangingPunct="0">
              <a:tabLst>
                <a:tab pos="114300" algn="l"/>
              </a:tabLst>
              <a:defRPr sz="1200">
                <a:solidFill>
                  <a:schemeClr val="tx1"/>
                </a:solidFill>
                <a:latin typeface="Arial" pitchFamily="34" charset="0"/>
              </a:defRPr>
            </a:lvl1pPr>
            <a:lvl2pPr marL="800100" indent="-342900" eaLnBrk="0" hangingPunct="0">
              <a:tabLst>
                <a:tab pos="114300" algn="l"/>
              </a:tabLst>
              <a:defRPr sz="1200">
                <a:solidFill>
                  <a:schemeClr val="tx1"/>
                </a:solidFill>
                <a:latin typeface="Arial" pitchFamily="34" charset="0"/>
              </a:defRPr>
            </a:lvl2pPr>
            <a:lvl3pPr marL="1257300" indent="-342900" eaLnBrk="0" hangingPunct="0">
              <a:tabLst>
                <a:tab pos="114300" algn="l"/>
              </a:tabLst>
              <a:defRPr sz="1200">
                <a:solidFill>
                  <a:schemeClr val="tx1"/>
                </a:solidFill>
                <a:latin typeface="Arial" pitchFamily="34" charset="0"/>
              </a:defRPr>
            </a:lvl3pPr>
            <a:lvl4pPr marL="1714500" indent="-342900" eaLnBrk="0" hangingPunct="0">
              <a:tabLst>
                <a:tab pos="114300" algn="l"/>
              </a:tabLst>
              <a:defRPr sz="1200">
                <a:solidFill>
                  <a:schemeClr val="tx1"/>
                </a:solidFill>
                <a:latin typeface="Arial" pitchFamily="34" charset="0"/>
              </a:defRPr>
            </a:lvl4pPr>
            <a:lvl5pPr marL="2171700" indent="-342900" eaLnBrk="0" hangingPunct="0">
              <a:tabLst>
                <a:tab pos="114300" algn="l"/>
              </a:tabLst>
              <a:defRPr sz="1200">
                <a:solidFill>
                  <a:schemeClr val="tx1"/>
                </a:solidFill>
                <a:latin typeface="Arial" pitchFamily="34" charset="0"/>
              </a:defRPr>
            </a:lvl5pPr>
            <a:lvl6pPr marL="2628900" indent="-342900" eaLnBrk="0" fontAlgn="base" hangingPunct="0">
              <a:spcBef>
                <a:spcPct val="0"/>
              </a:spcBef>
              <a:spcAft>
                <a:spcPct val="0"/>
              </a:spcAft>
              <a:tabLst>
                <a:tab pos="114300" algn="l"/>
              </a:tabLst>
              <a:defRPr sz="1200">
                <a:solidFill>
                  <a:schemeClr val="tx1"/>
                </a:solidFill>
                <a:latin typeface="Arial" pitchFamily="34" charset="0"/>
              </a:defRPr>
            </a:lvl6pPr>
            <a:lvl7pPr marL="3086100" indent="-342900" eaLnBrk="0" fontAlgn="base" hangingPunct="0">
              <a:spcBef>
                <a:spcPct val="0"/>
              </a:spcBef>
              <a:spcAft>
                <a:spcPct val="0"/>
              </a:spcAft>
              <a:tabLst>
                <a:tab pos="114300" algn="l"/>
              </a:tabLst>
              <a:defRPr sz="1200">
                <a:solidFill>
                  <a:schemeClr val="tx1"/>
                </a:solidFill>
                <a:latin typeface="Arial" pitchFamily="34" charset="0"/>
              </a:defRPr>
            </a:lvl7pPr>
            <a:lvl8pPr marL="3543300" indent="-342900" eaLnBrk="0" fontAlgn="base" hangingPunct="0">
              <a:spcBef>
                <a:spcPct val="0"/>
              </a:spcBef>
              <a:spcAft>
                <a:spcPct val="0"/>
              </a:spcAft>
              <a:tabLst>
                <a:tab pos="114300" algn="l"/>
              </a:tabLst>
              <a:defRPr sz="1200">
                <a:solidFill>
                  <a:schemeClr val="tx1"/>
                </a:solidFill>
                <a:latin typeface="Arial" pitchFamily="34" charset="0"/>
              </a:defRPr>
            </a:lvl8pPr>
            <a:lvl9pPr marL="4000500" indent="-342900" eaLnBrk="0" fontAlgn="base" hangingPunct="0">
              <a:spcBef>
                <a:spcPct val="0"/>
              </a:spcBef>
              <a:spcAft>
                <a:spcPct val="0"/>
              </a:spcAft>
              <a:tabLst>
                <a:tab pos="114300" algn="l"/>
              </a:tabLst>
              <a:defRPr sz="1200">
                <a:solidFill>
                  <a:schemeClr val="tx1"/>
                </a:solidFill>
                <a:latin typeface="Arial" pitchFamily="34" charset="0"/>
              </a:defRPr>
            </a:lvl9pPr>
          </a:lstStyle>
          <a:p>
            <a:pPr algn="just" eaLnBrk="1" hangingPunct="1">
              <a:lnSpc>
                <a:spcPct val="110000"/>
              </a:lnSpc>
            </a:pPr>
            <a:r>
              <a:rPr lang="es-ES_tradnl" altLang="es-ES" sz="1300">
                <a:solidFill>
                  <a:srgbClr val="000099"/>
                </a:solidFill>
                <a:latin typeface="Times New Roman" pitchFamily="18" charset="0"/>
                <a:cs typeface="Arial" pitchFamily="34" charset="0"/>
              </a:rPr>
              <a:t>H</a:t>
            </a:r>
            <a:r>
              <a:rPr lang="es-ES_tradnl" altLang="es-ES" sz="1300" baseline="-25000">
                <a:solidFill>
                  <a:srgbClr val="000099"/>
                </a:solidFill>
                <a:latin typeface="Times New Roman" pitchFamily="18" charset="0"/>
                <a:cs typeface="Arial" pitchFamily="34" charset="0"/>
              </a:rPr>
              <a:t>0</a:t>
            </a:r>
            <a:r>
              <a:rPr lang="es-ES_tradnl" altLang="es-ES" sz="1300">
                <a:solidFill>
                  <a:srgbClr val="000099"/>
                </a:solidFill>
                <a:latin typeface="Times New Roman" pitchFamily="18" charset="0"/>
                <a:cs typeface="Arial" pitchFamily="34" charset="0"/>
              </a:rPr>
              <a:t>: En ninguno de los test de destreza hay cambio</a:t>
            </a:r>
            <a:endParaRPr lang="es-ES_tradnl" altLang="es-ES" sz="1300" i="1">
              <a:solidFill>
                <a:srgbClr val="000099"/>
              </a:solidFill>
              <a:latin typeface="Times New Roman" pitchFamily="18" charset="0"/>
              <a:cs typeface="Arial" pitchFamily="34" charset="0"/>
            </a:endParaRPr>
          </a:p>
        </p:txBody>
      </p:sp>
      <p:sp>
        <p:nvSpPr>
          <p:cNvPr id="24594" name="Text Box 54"/>
          <p:cNvSpPr txBox="1">
            <a:spLocks noChangeArrowheads="1"/>
          </p:cNvSpPr>
          <p:nvPr/>
        </p:nvSpPr>
        <p:spPr bwMode="auto">
          <a:xfrm>
            <a:off x="409575" y="6172200"/>
            <a:ext cx="4619625" cy="3111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114300" indent="-114300" eaLnBrk="0" hangingPunct="0">
              <a:tabLst>
                <a:tab pos="114300" algn="l"/>
              </a:tabLst>
              <a:defRPr sz="1200">
                <a:solidFill>
                  <a:schemeClr val="tx1"/>
                </a:solidFill>
                <a:latin typeface="Arial" pitchFamily="34" charset="0"/>
              </a:defRPr>
            </a:lvl1pPr>
            <a:lvl2pPr marL="800100" indent="-342900" eaLnBrk="0" hangingPunct="0">
              <a:tabLst>
                <a:tab pos="114300" algn="l"/>
              </a:tabLst>
              <a:defRPr sz="1200">
                <a:solidFill>
                  <a:schemeClr val="tx1"/>
                </a:solidFill>
                <a:latin typeface="Arial" pitchFamily="34" charset="0"/>
              </a:defRPr>
            </a:lvl2pPr>
            <a:lvl3pPr marL="1257300" indent="-342900" eaLnBrk="0" hangingPunct="0">
              <a:tabLst>
                <a:tab pos="114300" algn="l"/>
              </a:tabLst>
              <a:defRPr sz="1200">
                <a:solidFill>
                  <a:schemeClr val="tx1"/>
                </a:solidFill>
                <a:latin typeface="Arial" pitchFamily="34" charset="0"/>
              </a:defRPr>
            </a:lvl3pPr>
            <a:lvl4pPr marL="1714500" indent="-342900" eaLnBrk="0" hangingPunct="0">
              <a:tabLst>
                <a:tab pos="114300" algn="l"/>
              </a:tabLst>
              <a:defRPr sz="1200">
                <a:solidFill>
                  <a:schemeClr val="tx1"/>
                </a:solidFill>
                <a:latin typeface="Arial" pitchFamily="34" charset="0"/>
              </a:defRPr>
            </a:lvl4pPr>
            <a:lvl5pPr marL="2171700" indent="-342900" eaLnBrk="0" hangingPunct="0">
              <a:tabLst>
                <a:tab pos="114300" algn="l"/>
              </a:tabLst>
              <a:defRPr sz="1200">
                <a:solidFill>
                  <a:schemeClr val="tx1"/>
                </a:solidFill>
                <a:latin typeface="Arial" pitchFamily="34" charset="0"/>
              </a:defRPr>
            </a:lvl5pPr>
            <a:lvl6pPr marL="2628900" indent="-342900" eaLnBrk="0" fontAlgn="base" hangingPunct="0">
              <a:spcBef>
                <a:spcPct val="0"/>
              </a:spcBef>
              <a:spcAft>
                <a:spcPct val="0"/>
              </a:spcAft>
              <a:tabLst>
                <a:tab pos="114300" algn="l"/>
              </a:tabLst>
              <a:defRPr sz="1200">
                <a:solidFill>
                  <a:schemeClr val="tx1"/>
                </a:solidFill>
                <a:latin typeface="Arial" pitchFamily="34" charset="0"/>
              </a:defRPr>
            </a:lvl6pPr>
            <a:lvl7pPr marL="3086100" indent="-342900" eaLnBrk="0" fontAlgn="base" hangingPunct="0">
              <a:spcBef>
                <a:spcPct val="0"/>
              </a:spcBef>
              <a:spcAft>
                <a:spcPct val="0"/>
              </a:spcAft>
              <a:tabLst>
                <a:tab pos="114300" algn="l"/>
              </a:tabLst>
              <a:defRPr sz="1200">
                <a:solidFill>
                  <a:schemeClr val="tx1"/>
                </a:solidFill>
                <a:latin typeface="Arial" pitchFamily="34" charset="0"/>
              </a:defRPr>
            </a:lvl7pPr>
            <a:lvl8pPr marL="3543300" indent="-342900" eaLnBrk="0" fontAlgn="base" hangingPunct="0">
              <a:spcBef>
                <a:spcPct val="0"/>
              </a:spcBef>
              <a:spcAft>
                <a:spcPct val="0"/>
              </a:spcAft>
              <a:tabLst>
                <a:tab pos="114300" algn="l"/>
              </a:tabLst>
              <a:defRPr sz="1200">
                <a:solidFill>
                  <a:schemeClr val="tx1"/>
                </a:solidFill>
                <a:latin typeface="Arial" pitchFamily="34" charset="0"/>
              </a:defRPr>
            </a:lvl8pPr>
            <a:lvl9pPr marL="4000500" indent="-342900" eaLnBrk="0" fontAlgn="base" hangingPunct="0">
              <a:spcBef>
                <a:spcPct val="0"/>
              </a:spcBef>
              <a:spcAft>
                <a:spcPct val="0"/>
              </a:spcAft>
              <a:tabLst>
                <a:tab pos="114300" algn="l"/>
              </a:tabLst>
              <a:defRPr sz="1200">
                <a:solidFill>
                  <a:schemeClr val="tx1"/>
                </a:solidFill>
                <a:latin typeface="Arial" pitchFamily="34" charset="0"/>
              </a:defRPr>
            </a:lvl9pPr>
          </a:lstStyle>
          <a:p>
            <a:pPr algn="just" eaLnBrk="1" hangingPunct="1">
              <a:lnSpc>
                <a:spcPct val="110000"/>
              </a:lnSpc>
            </a:pPr>
            <a:r>
              <a:rPr lang="es-ES_tradnl" altLang="es-ES" sz="1300">
                <a:solidFill>
                  <a:srgbClr val="000099"/>
                </a:solidFill>
                <a:latin typeface="Times New Roman" pitchFamily="18" charset="0"/>
                <a:cs typeface="Arial" pitchFamily="34" charset="0"/>
              </a:rPr>
              <a:t>A nivel global del 5%, hay cambio en</a:t>
            </a:r>
            <a:r>
              <a:rPr lang="es-ES_tradnl" altLang="es-ES" sz="1100">
                <a:solidFill>
                  <a:srgbClr val="000099"/>
                </a:solidFill>
                <a:cs typeface="Arial" pitchFamily="34" charset="0"/>
              </a:rPr>
              <a:t> TD-1, TD-2, TD-3 </a:t>
            </a:r>
            <a:r>
              <a:rPr lang="es-ES_tradnl" altLang="es-ES" sz="1300">
                <a:solidFill>
                  <a:srgbClr val="000099"/>
                </a:solidFill>
                <a:latin typeface="Times New Roman" pitchFamily="18" charset="0"/>
                <a:cs typeface="Arial" pitchFamily="34" charset="0"/>
              </a:rPr>
              <a:t>y</a:t>
            </a:r>
            <a:r>
              <a:rPr lang="es-ES_tradnl" altLang="es-ES" sz="1100">
                <a:solidFill>
                  <a:srgbClr val="000099"/>
                </a:solidFill>
                <a:cs typeface="Arial" pitchFamily="34" charset="0"/>
              </a:rPr>
              <a:t> TD-5</a:t>
            </a:r>
            <a:endParaRPr lang="es-ES_tradnl" altLang="es-ES" sz="1100" i="1">
              <a:solidFill>
                <a:srgbClr val="000099"/>
              </a:solidFill>
              <a:latin typeface="Symbol" pitchFamily="18" charset="2"/>
              <a:cs typeface="Arial" pitchFamily="34" charset="0"/>
            </a:endParaRPr>
          </a:p>
        </p:txBody>
      </p:sp>
    </p:spTree>
    <p:extLst>
      <p:ext uri="{BB962C8B-B14F-4D97-AF65-F5344CB8AC3E}">
        <p14:creationId xmlns:p14="http://schemas.microsoft.com/office/powerpoint/2010/main" val="995605998"/>
      </p:ext>
    </p:extLst>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rgbClr val="FFC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5912</TotalTime>
  <Words>5749</Words>
  <Application>Microsoft Macintosh PowerPoint</Application>
  <PresentationFormat>On-screen Show (4:3)</PresentationFormat>
  <Paragraphs>622</Paragraphs>
  <Slides>36</Slides>
  <Notes>16</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2</vt:i4>
      </vt:variant>
      <vt:variant>
        <vt:lpstr>Slide Titles</vt:lpstr>
      </vt:variant>
      <vt:variant>
        <vt:i4>36</vt:i4>
      </vt:variant>
    </vt:vector>
  </HeadingPairs>
  <TitlesOfParts>
    <vt:vector size="42" baseType="lpstr">
      <vt:lpstr>Arial</vt:lpstr>
      <vt:lpstr>Symbol</vt:lpstr>
      <vt:lpstr>Times New Roman</vt:lpstr>
      <vt:lpstr>Diseño predeterminado</vt:lpstr>
      <vt:lpstr>Equation</vt:lpstr>
      <vt:lpstr>Ecuación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Porto Alegre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Pedro Femia</dc:creator>
  <cp:lastModifiedBy>Miguel-Angel  Luque</cp:lastModifiedBy>
  <cp:revision>295</cp:revision>
  <cp:lastPrinted>2016-09-20T17:21:39Z</cp:lastPrinted>
  <dcterms:created xsi:type="dcterms:W3CDTF">2012-06-20T17:39:24Z</dcterms:created>
  <dcterms:modified xsi:type="dcterms:W3CDTF">2023-08-18T11:03:55Z</dcterms:modified>
</cp:coreProperties>
</file>