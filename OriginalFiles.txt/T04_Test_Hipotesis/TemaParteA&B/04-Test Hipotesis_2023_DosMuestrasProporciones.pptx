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99" r:id="rId2"/>
    <p:sldId id="300" r:id="rId3"/>
    <p:sldId id="290" r:id="rId4"/>
    <p:sldId id="260" r:id="rId5"/>
    <p:sldId id="301" r:id="rId6"/>
    <p:sldId id="302" r:id="rId7"/>
    <p:sldId id="303" r:id="rId8"/>
    <p:sldId id="268" r:id="rId9"/>
    <p:sldId id="306" r:id="rId10"/>
    <p:sldId id="304" r:id="rId11"/>
    <p:sldId id="278" r:id="rId12"/>
    <p:sldId id="305" r:id="rId13"/>
  </p:sldIdLst>
  <p:sldSz cx="9144000" cy="6858000" type="screen4x3"/>
  <p:notesSz cx="7099300" cy="10234613"/>
  <p:defaultTextStyle>
    <a:defPPr>
      <a:defRPr lang="es-E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352">
          <p15:clr>
            <a:srgbClr val="A4A3A4"/>
          </p15:clr>
        </p15:guide>
        <p15:guide id="2" pos="24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D5D"/>
    <a:srgbClr val="D6A300"/>
    <a:srgbClr val="006666"/>
    <a:srgbClr val="006600"/>
    <a:srgbClr val="000066"/>
    <a:srgbClr val="0000CC"/>
    <a:srgbClr val="EAEAEA"/>
    <a:srgbClr val="000099"/>
    <a:srgbClr val="2A54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4" autoAdjust="0"/>
    <p:restoredTop sz="92727" autoAdjust="0"/>
  </p:normalViewPr>
  <p:slideViewPr>
    <p:cSldViewPr showGuides="1">
      <p:cViewPr varScale="1">
        <p:scale>
          <a:sx n="87" d="100"/>
          <a:sy n="87" d="100"/>
        </p:scale>
        <p:origin x="1520" y="184"/>
      </p:cViewPr>
      <p:guideLst>
        <p:guide orient="horz" pos="2352"/>
        <p:guide pos="24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1" d="100"/>
          <a:sy n="71" d="100"/>
        </p:scale>
        <p:origin x="-3372"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46FABA7-379F-4378-80DC-0DA2926944BF}"/>
              </a:ext>
            </a:extLst>
          </p:cNvPr>
          <p:cNvSpPr txBox="1">
            <a:spLocks noChangeArrowheads="1"/>
          </p:cNvSpPr>
          <p:nvPr/>
        </p:nvSpPr>
        <p:spPr bwMode="auto">
          <a:xfrm>
            <a:off x="0" y="0"/>
            <a:ext cx="31845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289" tIns="53644" rIns="107289" bIns="53644"/>
          <a:lstStyle>
            <a:defPPr>
              <a:defRPr lang="es-ES"/>
            </a:defPPr>
            <a:lvl1pPr algn="l" rtl="0" eaLnBrk="1" fontAlgn="base" hangingPunct="1">
              <a:spcBef>
                <a:spcPct val="0"/>
              </a:spcBef>
              <a:spcAft>
                <a:spcPct val="0"/>
              </a:spcAft>
              <a:defRPr sz="1000" kern="1200">
                <a:solidFill>
                  <a:schemeClr val="tx1"/>
                </a:solidFill>
                <a:latin typeface="Arial"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Arial"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Arial"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Arial"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Arial"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Arial"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Arial"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Arial"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Arial" pitchFamily="34" charset="0"/>
                <a:ea typeface="+mn-ea"/>
                <a:cs typeface="+mn-cs"/>
              </a:defRPr>
            </a:lvl9pPr>
          </a:lstStyle>
          <a:p>
            <a:pPr>
              <a:defRPr/>
            </a:pPr>
            <a:r>
              <a:rPr lang="es-ES_tradnl" altLang="es-ES" dirty="0"/>
              <a:t>Pedro Fe</a:t>
            </a:r>
            <a:r>
              <a:rPr lang="es-ES" altLang="es-ES" dirty="0" err="1"/>
              <a:t>mia</a:t>
            </a:r>
            <a:r>
              <a:rPr lang="es-ES" altLang="es-ES" dirty="0"/>
              <a:t> (pfemia@ugr.es)</a:t>
            </a:r>
          </a:p>
          <a:p>
            <a:pPr>
              <a:defRPr/>
            </a:pPr>
            <a:r>
              <a:rPr lang="es-ES_tradnl" altLang="es-ES" dirty="0"/>
              <a:t>Bioestadística . Universidad de Granada</a:t>
            </a:r>
            <a:endParaRPr lang="es-ES" altLang="es-ES" dirty="0"/>
          </a:p>
        </p:txBody>
      </p:sp>
      <p:sp>
        <p:nvSpPr>
          <p:cNvPr id="6" name="Rectangle 3">
            <a:extLst>
              <a:ext uri="{FF2B5EF4-FFF2-40B4-BE49-F238E27FC236}">
                <a16:creationId xmlns:a16="http://schemas.microsoft.com/office/drawing/2014/main" id="{AA57A394-5BC6-4315-A7E4-F80C1B4AADBB}"/>
              </a:ext>
            </a:extLst>
          </p:cNvPr>
          <p:cNvSpPr txBox="1">
            <a:spLocks noChangeArrowheads="1"/>
          </p:cNvSpPr>
          <p:nvPr/>
        </p:nvSpPr>
        <p:spPr bwMode="auto">
          <a:xfrm>
            <a:off x="4162425" y="0"/>
            <a:ext cx="29368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289" tIns="53644" rIns="107289" bIns="53644"/>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defRPr/>
            </a:pPr>
            <a:r>
              <a:rPr lang="es-ES" altLang="es-ES" sz="1000" dirty="0"/>
              <a:t>Estadística - Grado en Enfermería</a:t>
            </a:r>
          </a:p>
          <a:p>
            <a:pPr algn="r" eaLnBrk="1" hangingPunct="1">
              <a:defRPr/>
            </a:pPr>
            <a:r>
              <a:rPr lang="es-ES" altLang="es-ES" sz="1000" dirty="0"/>
              <a:t>2013/14</a:t>
            </a:r>
          </a:p>
          <a:p>
            <a:pPr algn="r" eaLnBrk="1" hangingPunct="1">
              <a:defRPr/>
            </a:pPr>
            <a:endParaRPr lang="es-ES" altLang="es-ES" sz="1000" dirty="0"/>
          </a:p>
        </p:txBody>
      </p:sp>
      <p:sp>
        <p:nvSpPr>
          <p:cNvPr id="14340" name="Text Box 5">
            <a:extLst>
              <a:ext uri="{FF2B5EF4-FFF2-40B4-BE49-F238E27FC236}">
                <a16:creationId xmlns:a16="http://schemas.microsoft.com/office/drawing/2014/main" id="{7F266005-AC65-4F06-8FF9-AD747F860D17}"/>
              </a:ext>
            </a:extLst>
          </p:cNvPr>
          <p:cNvSpPr txBox="1">
            <a:spLocks noChangeArrowheads="1"/>
          </p:cNvSpPr>
          <p:nvPr/>
        </p:nvSpPr>
        <p:spPr bwMode="auto">
          <a:xfrm>
            <a:off x="3324225" y="9766300"/>
            <a:ext cx="4508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anose="020B0604020202020204" pitchFamily="34" charset="0"/>
              </a:defRPr>
            </a:lvl1pPr>
            <a:lvl2pPr marL="742950" indent="-285750" eaLnBrk="0" hangingPunct="0">
              <a:defRPr sz="1200">
                <a:solidFill>
                  <a:schemeClr val="tx1"/>
                </a:solidFill>
                <a:latin typeface="Arial" panose="020B0604020202020204" pitchFamily="34" charset="0"/>
              </a:defRPr>
            </a:lvl2pPr>
            <a:lvl3pPr marL="1143000" indent="-228600" eaLnBrk="0" hangingPunct="0">
              <a:defRPr sz="1200">
                <a:solidFill>
                  <a:schemeClr val="tx1"/>
                </a:solidFill>
                <a:latin typeface="Arial" panose="020B0604020202020204" pitchFamily="34" charset="0"/>
              </a:defRPr>
            </a:lvl3pPr>
            <a:lvl4pPr marL="1600200" indent="-228600" eaLnBrk="0" hangingPunct="0">
              <a:defRPr sz="1200">
                <a:solidFill>
                  <a:schemeClr val="tx1"/>
                </a:solidFill>
                <a:latin typeface="Arial" panose="020B0604020202020204" pitchFamily="34" charset="0"/>
              </a:defRPr>
            </a:lvl4pPr>
            <a:lvl5pPr marL="2057400" indent="-228600"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defRPr/>
            </a:pPr>
            <a:fld id="{69D65474-0E14-4C29-93B3-BD7E959013E5}" type="slidenum">
              <a:rPr lang="es-ES" altLang="es-ES" smtClean="0"/>
              <a:pPr eaLnBrk="1" hangingPunct="1">
                <a:defRPr/>
              </a:pPr>
              <a:t>‹#›</a:t>
            </a:fld>
            <a:endParaRPr lang="es-ES" altLang="es-E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EB7BB35-7B16-47BE-93DF-B4A7D24E6E0F}"/>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latin typeface="Arial" charset="0"/>
              </a:defRPr>
            </a:lvl1pPr>
          </a:lstStyle>
          <a:p>
            <a:pPr>
              <a:defRPr/>
            </a:pPr>
            <a:endParaRPr lang="es-ES" altLang="es-ES"/>
          </a:p>
        </p:txBody>
      </p:sp>
      <p:sp>
        <p:nvSpPr>
          <p:cNvPr id="44035" name="Rectangle 3">
            <a:extLst>
              <a:ext uri="{FF2B5EF4-FFF2-40B4-BE49-F238E27FC236}">
                <a16:creationId xmlns:a16="http://schemas.microsoft.com/office/drawing/2014/main" id="{5E4E5AA9-153B-43E0-8D90-344FFF8D50A7}"/>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latin typeface="Arial" charset="0"/>
              </a:defRPr>
            </a:lvl1pPr>
          </a:lstStyle>
          <a:p>
            <a:pPr>
              <a:defRPr/>
            </a:pPr>
            <a:endParaRPr lang="es-ES" altLang="es-ES"/>
          </a:p>
        </p:txBody>
      </p:sp>
      <p:sp>
        <p:nvSpPr>
          <p:cNvPr id="2052" name="Rectangle 4">
            <a:extLst>
              <a:ext uri="{FF2B5EF4-FFF2-40B4-BE49-F238E27FC236}">
                <a16:creationId xmlns:a16="http://schemas.microsoft.com/office/drawing/2014/main" id="{89A55531-42D2-4130-AA34-69684D40F5A9}"/>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a:extLst>
              <a:ext uri="{FF2B5EF4-FFF2-40B4-BE49-F238E27FC236}">
                <a16:creationId xmlns:a16="http://schemas.microsoft.com/office/drawing/2014/main" id="{CFBDE1A9-F79F-442A-9CE5-EA5413F5D09A}"/>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s-ES" altLang="es-ES" noProof="0"/>
              <a:t>Haga clic para modificar el estilo de texto del patrón</a:t>
            </a:r>
          </a:p>
          <a:p>
            <a:pPr lvl="1"/>
            <a:r>
              <a:rPr lang="es-ES" altLang="es-ES" noProof="0"/>
              <a:t>Segundo nivel</a:t>
            </a:r>
          </a:p>
          <a:p>
            <a:pPr lvl="2"/>
            <a:r>
              <a:rPr lang="es-ES" altLang="es-ES" noProof="0"/>
              <a:t>Tercer nivel</a:t>
            </a:r>
          </a:p>
          <a:p>
            <a:pPr lvl="3"/>
            <a:r>
              <a:rPr lang="es-ES" altLang="es-ES" noProof="0"/>
              <a:t>Cuarto nivel</a:t>
            </a:r>
          </a:p>
          <a:p>
            <a:pPr lvl="4"/>
            <a:r>
              <a:rPr lang="es-ES" altLang="es-ES" noProof="0"/>
              <a:t>Quinto nivel</a:t>
            </a:r>
          </a:p>
        </p:txBody>
      </p:sp>
      <p:sp>
        <p:nvSpPr>
          <p:cNvPr id="44038" name="Rectangle 6">
            <a:extLst>
              <a:ext uri="{FF2B5EF4-FFF2-40B4-BE49-F238E27FC236}">
                <a16:creationId xmlns:a16="http://schemas.microsoft.com/office/drawing/2014/main" id="{C735C7C9-2568-44E9-A66A-0845CE38C6AC}"/>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latin typeface="Arial" charset="0"/>
              </a:defRPr>
            </a:lvl1pPr>
          </a:lstStyle>
          <a:p>
            <a:pPr>
              <a:defRPr/>
            </a:pPr>
            <a:endParaRPr lang="es-ES" altLang="es-ES"/>
          </a:p>
        </p:txBody>
      </p:sp>
      <p:sp>
        <p:nvSpPr>
          <p:cNvPr id="44039" name="Rectangle 7">
            <a:extLst>
              <a:ext uri="{FF2B5EF4-FFF2-40B4-BE49-F238E27FC236}">
                <a16:creationId xmlns:a16="http://schemas.microsoft.com/office/drawing/2014/main" id="{8639276B-1EE4-4A80-AE8B-0738FF7A6221}"/>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smtClean="0"/>
            </a:lvl1pPr>
          </a:lstStyle>
          <a:p>
            <a:pPr>
              <a:defRPr/>
            </a:pPr>
            <a:fld id="{3AF8168B-DD22-4DF6-9B59-06B9E2A00DB2}" type="slidenum">
              <a:rPr lang="es-ES" altLang="es-ES"/>
              <a:pPr>
                <a:defRPr/>
              </a:pPr>
              <a:t>‹#›</a:t>
            </a:fld>
            <a:endParaRPr lang="es-E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Marcador de imagen de diapositiva">
            <a:extLst>
              <a:ext uri="{FF2B5EF4-FFF2-40B4-BE49-F238E27FC236}">
                <a16:creationId xmlns:a16="http://schemas.microsoft.com/office/drawing/2014/main" id="{AE34C300-C4C3-41CE-A367-D016153CE01F}"/>
              </a:ext>
            </a:extLst>
          </p:cNvPr>
          <p:cNvSpPr>
            <a:spLocks noGrp="1" noRot="1" noChangeAspect="1" noTextEdit="1"/>
          </p:cNvSpPr>
          <p:nvPr>
            <p:ph type="sldImg"/>
          </p:nvPr>
        </p:nvSpPr>
        <p:spPr>
          <a:xfrm>
            <a:off x="992188" y="768350"/>
            <a:ext cx="5114925" cy="3836988"/>
          </a:xfrm>
          <a:ln/>
        </p:spPr>
      </p:sp>
      <p:sp>
        <p:nvSpPr>
          <p:cNvPr id="5123" name="2 Marcador de notas">
            <a:extLst>
              <a:ext uri="{FF2B5EF4-FFF2-40B4-BE49-F238E27FC236}">
                <a16:creationId xmlns:a16="http://schemas.microsoft.com/office/drawing/2014/main" id="{F71702AA-A8AE-4E38-A872-817FE47DF2CC}"/>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5124" name="3 Marcador de número de diapositiva">
            <a:extLst>
              <a:ext uri="{FF2B5EF4-FFF2-40B4-BE49-F238E27FC236}">
                <a16:creationId xmlns:a16="http://schemas.microsoft.com/office/drawing/2014/main" id="{885EA3A9-816F-47B9-B75A-AA0263FF20CF}"/>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8FDD1FC-E2A1-4D99-85F7-70590F9968D9}" type="slidenum">
              <a:rPr lang="es-ES" altLang="es-ES" sz="1300"/>
              <a:pPr>
                <a:spcBef>
                  <a:spcPct val="0"/>
                </a:spcBef>
              </a:pPr>
              <a:t>1</a:t>
            </a:fld>
            <a:endParaRPr lang="es-ES" altLang="es-ES"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1 Marcador de imagen de diapositiva">
            <a:extLst>
              <a:ext uri="{FF2B5EF4-FFF2-40B4-BE49-F238E27FC236}">
                <a16:creationId xmlns:a16="http://schemas.microsoft.com/office/drawing/2014/main" id="{A3D5846A-81E5-4DF8-8CC4-6B94E06DD5D4}"/>
              </a:ext>
            </a:extLst>
          </p:cNvPr>
          <p:cNvSpPr>
            <a:spLocks noGrp="1" noRot="1" noChangeAspect="1" noTextEdit="1"/>
          </p:cNvSpPr>
          <p:nvPr>
            <p:ph type="sldImg"/>
          </p:nvPr>
        </p:nvSpPr>
        <p:spPr>
          <a:xfrm>
            <a:off x="992188" y="768350"/>
            <a:ext cx="5114925" cy="3836988"/>
          </a:xfrm>
          <a:ln/>
        </p:spPr>
      </p:sp>
      <p:sp>
        <p:nvSpPr>
          <p:cNvPr id="7171" name="2 Marcador de notas">
            <a:extLst>
              <a:ext uri="{FF2B5EF4-FFF2-40B4-BE49-F238E27FC236}">
                <a16:creationId xmlns:a16="http://schemas.microsoft.com/office/drawing/2014/main" id="{3F7E1CCB-1495-474B-805A-C924609CA5B0}"/>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7172" name="3 Marcador de número de diapositiva">
            <a:extLst>
              <a:ext uri="{FF2B5EF4-FFF2-40B4-BE49-F238E27FC236}">
                <a16:creationId xmlns:a16="http://schemas.microsoft.com/office/drawing/2014/main" id="{02110602-9EA3-4052-A0E7-1DAE510F7475}"/>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932089E-82F6-4769-9879-4F3DBDCBE851}" type="slidenum">
              <a:rPr lang="es-ES" altLang="es-ES" sz="1300"/>
              <a:pPr>
                <a:spcBef>
                  <a:spcPct val="0"/>
                </a:spcBef>
              </a:pPr>
              <a:t>2</a:t>
            </a:fld>
            <a:endParaRPr lang="es-ES" altLang="es-ES"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Marcador de imagen de diapositiva">
            <a:extLst>
              <a:ext uri="{FF2B5EF4-FFF2-40B4-BE49-F238E27FC236}">
                <a16:creationId xmlns:a16="http://schemas.microsoft.com/office/drawing/2014/main" id="{A1440B45-6F05-4878-A089-E7B9852081E9}"/>
              </a:ext>
            </a:extLst>
          </p:cNvPr>
          <p:cNvSpPr>
            <a:spLocks noGrp="1" noRot="1" noChangeAspect="1" noTextEdit="1"/>
          </p:cNvSpPr>
          <p:nvPr>
            <p:ph type="sldImg"/>
          </p:nvPr>
        </p:nvSpPr>
        <p:spPr>
          <a:xfrm>
            <a:off x="992188" y="768350"/>
            <a:ext cx="5114925" cy="3836988"/>
          </a:xfrm>
          <a:ln/>
        </p:spPr>
      </p:sp>
      <p:sp>
        <p:nvSpPr>
          <p:cNvPr id="9219" name="2 Marcador de notas">
            <a:extLst>
              <a:ext uri="{FF2B5EF4-FFF2-40B4-BE49-F238E27FC236}">
                <a16:creationId xmlns:a16="http://schemas.microsoft.com/office/drawing/2014/main" id="{C0BCAD02-6553-4FCD-A126-DB7302EA659B}"/>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9220" name="3 Marcador de número de diapositiva">
            <a:extLst>
              <a:ext uri="{FF2B5EF4-FFF2-40B4-BE49-F238E27FC236}">
                <a16:creationId xmlns:a16="http://schemas.microsoft.com/office/drawing/2014/main" id="{7AF9BCF8-1F42-4988-B6F9-D5D36011FA43}"/>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FE56844-9E9F-428D-84EF-4CE0293A5F9B}" type="slidenum">
              <a:rPr lang="es-ES" altLang="es-ES" sz="1300"/>
              <a:pPr>
                <a:spcBef>
                  <a:spcPct val="0"/>
                </a:spcBef>
              </a:pPr>
              <a:t>3</a:t>
            </a:fld>
            <a:endParaRPr lang="es-ES" altLang="es-ES"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Marcador de imagen de diapositiva">
            <a:extLst>
              <a:ext uri="{FF2B5EF4-FFF2-40B4-BE49-F238E27FC236}">
                <a16:creationId xmlns:a16="http://schemas.microsoft.com/office/drawing/2014/main" id="{EDB39378-FDFB-4C0C-9980-8D782E438A5D}"/>
              </a:ext>
            </a:extLst>
          </p:cNvPr>
          <p:cNvSpPr>
            <a:spLocks noGrp="1" noRot="1" noChangeAspect="1" noTextEdit="1"/>
          </p:cNvSpPr>
          <p:nvPr>
            <p:ph type="sldImg"/>
          </p:nvPr>
        </p:nvSpPr>
        <p:spPr>
          <a:xfrm>
            <a:off x="992188" y="768350"/>
            <a:ext cx="5114925" cy="3836988"/>
          </a:xfrm>
          <a:ln/>
        </p:spPr>
      </p:sp>
      <p:sp>
        <p:nvSpPr>
          <p:cNvPr id="11267" name="2 Marcador de notas">
            <a:extLst>
              <a:ext uri="{FF2B5EF4-FFF2-40B4-BE49-F238E27FC236}">
                <a16:creationId xmlns:a16="http://schemas.microsoft.com/office/drawing/2014/main" id="{A6149436-B0B9-4C2C-8FFE-300128234A0A}"/>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1268" name="3 Marcador de número de diapositiva">
            <a:extLst>
              <a:ext uri="{FF2B5EF4-FFF2-40B4-BE49-F238E27FC236}">
                <a16:creationId xmlns:a16="http://schemas.microsoft.com/office/drawing/2014/main" id="{9843A17A-DAA6-4155-AF5B-91FC39D0F0A8}"/>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D5A2A8F-5A97-4E7A-BDFC-CFD4F0B338ED}" type="slidenum">
              <a:rPr lang="es-ES" altLang="es-ES" sz="1300"/>
              <a:pPr>
                <a:spcBef>
                  <a:spcPct val="0"/>
                </a:spcBef>
              </a:pPr>
              <a:t>4</a:t>
            </a:fld>
            <a:endParaRPr lang="es-ES" altLang="es-ES"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a:extLst>
              <a:ext uri="{FF2B5EF4-FFF2-40B4-BE49-F238E27FC236}">
                <a16:creationId xmlns:a16="http://schemas.microsoft.com/office/drawing/2014/main" id="{4C50AF2F-9960-4A92-9957-916349FFE4F3}"/>
              </a:ext>
            </a:extLst>
          </p:cNvPr>
          <p:cNvSpPr>
            <a:spLocks noGrp="1" noRot="1" noChangeAspect="1" noTextEdit="1"/>
          </p:cNvSpPr>
          <p:nvPr>
            <p:ph type="sldImg"/>
          </p:nvPr>
        </p:nvSpPr>
        <p:spPr>
          <a:xfrm>
            <a:off x="992188" y="768350"/>
            <a:ext cx="5114925" cy="3836988"/>
          </a:xfrm>
          <a:ln/>
        </p:spPr>
      </p:sp>
      <p:sp>
        <p:nvSpPr>
          <p:cNvPr id="13315" name="2 Marcador de notas">
            <a:extLst>
              <a:ext uri="{FF2B5EF4-FFF2-40B4-BE49-F238E27FC236}">
                <a16:creationId xmlns:a16="http://schemas.microsoft.com/office/drawing/2014/main" id="{9063BBFD-19C1-4D57-9149-1971685F357D}"/>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3316" name="3 Marcador de número de diapositiva">
            <a:extLst>
              <a:ext uri="{FF2B5EF4-FFF2-40B4-BE49-F238E27FC236}">
                <a16:creationId xmlns:a16="http://schemas.microsoft.com/office/drawing/2014/main" id="{D5F36AE6-5193-4F27-98DA-156D70654B1D}"/>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868B2D-45D0-4F1A-96F5-E1906A10D7C7}" type="slidenum">
              <a:rPr lang="es-ES" altLang="es-ES" sz="1300"/>
              <a:pPr>
                <a:spcBef>
                  <a:spcPct val="0"/>
                </a:spcBef>
              </a:pPr>
              <a:t>5</a:t>
            </a:fld>
            <a:endParaRPr lang="es-ES" altLang="es-ES"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Marcador de imagen de diapositiva">
            <a:extLst>
              <a:ext uri="{FF2B5EF4-FFF2-40B4-BE49-F238E27FC236}">
                <a16:creationId xmlns:a16="http://schemas.microsoft.com/office/drawing/2014/main" id="{CE261C0B-6823-4814-A8FF-407138638F91}"/>
              </a:ext>
            </a:extLst>
          </p:cNvPr>
          <p:cNvSpPr>
            <a:spLocks noGrp="1" noRot="1" noChangeAspect="1" noTextEdit="1"/>
          </p:cNvSpPr>
          <p:nvPr>
            <p:ph type="sldImg"/>
          </p:nvPr>
        </p:nvSpPr>
        <p:spPr>
          <a:xfrm>
            <a:off x="992188" y="768350"/>
            <a:ext cx="5114925" cy="3836988"/>
          </a:xfrm>
          <a:ln/>
        </p:spPr>
      </p:sp>
      <p:sp>
        <p:nvSpPr>
          <p:cNvPr id="15363" name="2 Marcador de notas">
            <a:extLst>
              <a:ext uri="{FF2B5EF4-FFF2-40B4-BE49-F238E27FC236}">
                <a16:creationId xmlns:a16="http://schemas.microsoft.com/office/drawing/2014/main" id="{5D8DBCB6-D062-4343-A1BB-CDF562807FB9}"/>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5364" name="3 Marcador de número de diapositiva">
            <a:extLst>
              <a:ext uri="{FF2B5EF4-FFF2-40B4-BE49-F238E27FC236}">
                <a16:creationId xmlns:a16="http://schemas.microsoft.com/office/drawing/2014/main" id="{2B02C3C9-D481-4C40-BCD7-2393653DC53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53FA93-1A4A-451F-80CC-E9908959AEC5}" type="slidenum">
              <a:rPr lang="es-ES" altLang="es-ES" sz="1300"/>
              <a:pPr>
                <a:spcBef>
                  <a:spcPct val="0"/>
                </a:spcBef>
              </a:pPr>
              <a:t>6</a:t>
            </a:fld>
            <a:endParaRPr lang="es-ES" altLang="es-ES"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Marcador de imagen de diapositiva">
            <a:extLst>
              <a:ext uri="{FF2B5EF4-FFF2-40B4-BE49-F238E27FC236}">
                <a16:creationId xmlns:a16="http://schemas.microsoft.com/office/drawing/2014/main" id="{2304E3D4-A1AA-49E3-88E3-C2134588A533}"/>
              </a:ext>
            </a:extLst>
          </p:cNvPr>
          <p:cNvSpPr>
            <a:spLocks noGrp="1" noRot="1" noChangeAspect="1" noTextEdit="1"/>
          </p:cNvSpPr>
          <p:nvPr>
            <p:ph type="sldImg"/>
          </p:nvPr>
        </p:nvSpPr>
        <p:spPr>
          <a:xfrm>
            <a:off x="992188" y="768350"/>
            <a:ext cx="5114925" cy="3836988"/>
          </a:xfrm>
          <a:ln/>
        </p:spPr>
      </p:sp>
      <p:sp>
        <p:nvSpPr>
          <p:cNvPr id="17411" name="2 Marcador de notas">
            <a:extLst>
              <a:ext uri="{FF2B5EF4-FFF2-40B4-BE49-F238E27FC236}">
                <a16:creationId xmlns:a16="http://schemas.microsoft.com/office/drawing/2014/main" id="{81B42AED-AB95-4287-95D0-75D630C792DF}"/>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7412" name="3 Marcador de número de diapositiva">
            <a:extLst>
              <a:ext uri="{FF2B5EF4-FFF2-40B4-BE49-F238E27FC236}">
                <a16:creationId xmlns:a16="http://schemas.microsoft.com/office/drawing/2014/main" id="{A1FDB148-C8CC-457E-8D4C-653C10087A18}"/>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2D59AB-019B-42C5-B0E1-E391F7143F06}" type="slidenum">
              <a:rPr lang="es-ES" altLang="es-ES" sz="1300"/>
              <a:pPr>
                <a:spcBef>
                  <a:spcPct val="0"/>
                </a:spcBef>
              </a:pPr>
              <a:t>7</a:t>
            </a:fld>
            <a:endParaRPr lang="es-ES" altLang="es-E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86EACCD-41C3-453A-9C3E-16473DA3419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E3740A-1647-40D2-AC50-1EE78F1E7C49}" type="slidenum">
              <a:rPr lang="es-ES" altLang="es-ES" sz="1300"/>
              <a:pPr>
                <a:spcBef>
                  <a:spcPct val="0"/>
                </a:spcBef>
              </a:pPr>
              <a:t>8</a:t>
            </a:fld>
            <a:endParaRPr lang="es-ES" altLang="es-ES" sz="1300"/>
          </a:p>
        </p:txBody>
      </p:sp>
      <p:sp>
        <p:nvSpPr>
          <p:cNvPr id="19459" name="Rectangle 2">
            <a:extLst>
              <a:ext uri="{FF2B5EF4-FFF2-40B4-BE49-F238E27FC236}">
                <a16:creationId xmlns:a16="http://schemas.microsoft.com/office/drawing/2014/main" id="{9D6BD19E-DBB5-48D9-9EAE-596AB008C8AE}"/>
              </a:ext>
            </a:extLst>
          </p:cNvPr>
          <p:cNvSpPr>
            <a:spLocks noGrp="1" noRot="1" noChangeAspect="1" noChangeArrowheads="1" noTextEdit="1"/>
          </p:cNvSpPr>
          <p:nvPr>
            <p:ph type="sldImg"/>
          </p:nvPr>
        </p:nvSpPr>
        <p:spPr>
          <a:xfrm>
            <a:off x="992188" y="768350"/>
            <a:ext cx="5114925" cy="3836988"/>
          </a:xfrm>
          <a:ln/>
        </p:spPr>
      </p:sp>
      <p:sp>
        <p:nvSpPr>
          <p:cNvPr id="19460" name="Rectangle 3">
            <a:extLst>
              <a:ext uri="{FF2B5EF4-FFF2-40B4-BE49-F238E27FC236}">
                <a16:creationId xmlns:a16="http://schemas.microsoft.com/office/drawing/2014/main" id="{84B6CB87-073A-48EE-9890-B2DB0D803C7D}"/>
              </a:ext>
            </a:extLst>
          </p:cNvPr>
          <p:cNvSpPr>
            <a:spLocks noGrp="1" noChangeArrowheads="1"/>
          </p:cNvSpPr>
          <p:nvPr>
            <p:ph type="body" idx="1"/>
          </p:nvPr>
        </p:nvSpPr>
        <p:spPr>
          <a:noFill/>
        </p:spPr>
        <p:txBody>
          <a:bodyPr/>
          <a:lstStyle/>
          <a:p>
            <a:pPr eaLnBrk="1" hangingPunct="1"/>
            <a:r>
              <a:rPr lang="es-ES_tradnl" altLang="es-ES">
                <a:latin typeface="Arial" panose="020B0604020202020204" pitchFamily="34" charset="0"/>
              </a:rPr>
              <a:t>Los gl en el test de welch son una v.a., pues implican a las varianzas muestrales</a:t>
            </a:r>
          </a:p>
          <a:p>
            <a:pPr eaLnBrk="1" hangingPunct="1"/>
            <a:endParaRPr lang="es-ES" altLang="es-ES">
              <a:latin typeface="Arial" panose="020B0604020202020204" pitchFamily="34" charset="0"/>
            </a:endParaRPr>
          </a:p>
          <a:p>
            <a:pPr eaLnBrk="1" hangingPunct="1"/>
            <a:r>
              <a:rPr lang="es-ES" altLang="es-ES">
                <a:latin typeface="Arial" panose="020B0604020202020204" pitchFamily="34" charset="0"/>
              </a:rPr>
              <a:t>Si las varianzas son iguales y los tamaños de muestra pequeños y desiguales, el método de Welch es conservador y es preferible el de student</a:t>
            </a:r>
          </a:p>
          <a:p>
            <a:pPr eaLnBrk="1" hangingPunct="1"/>
            <a:r>
              <a:rPr lang="es-ES" altLang="es-ES">
                <a:latin typeface="Arial" panose="020B0604020202020204" pitchFamily="34" charset="0"/>
              </a:rPr>
              <a:t>Requena dice que el test de Welch funciona siempre bien, incluso para varianzas y tamaños de muestra iguales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86EACCD-41C3-453A-9C3E-16473DA3419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E3740A-1647-40D2-AC50-1EE78F1E7C49}" type="slidenum">
              <a:rPr lang="es-ES" altLang="es-ES" sz="1300"/>
              <a:pPr>
                <a:spcBef>
                  <a:spcPct val="0"/>
                </a:spcBef>
              </a:pPr>
              <a:t>9</a:t>
            </a:fld>
            <a:endParaRPr lang="es-ES" altLang="es-ES" sz="1300"/>
          </a:p>
        </p:txBody>
      </p:sp>
      <p:sp>
        <p:nvSpPr>
          <p:cNvPr id="19459" name="Rectangle 2">
            <a:extLst>
              <a:ext uri="{FF2B5EF4-FFF2-40B4-BE49-F238E27FC236}">
                <a16:creationId xmlns:a16="http://schemas.microsoft.com/office/drawing/2014/main" id="{9D6BD19E-DBB5-48D9-9EAE-596AB008C8AE}"/>
              </a:ext>
            </a:extLst>
          </p:cNvPr>
          <p:cNvSpPr>
            <a:spLocks noGrp="1" noRot="1" noChangeAspect="1" noChangeArrowheads="1" noTextEdit="1"/>
          </p:cNvSpPr>
          <p:nvPr>
            <p:ph type="sldImg"/>
          </p:nvPr>
        </p:nvSpPr>
        <p:spPr>
          <a:xfrm>
            <a:off x="992188" y="768350"/>
            <a:ext cx="5114925" cy="3836988"/>
          </a:xfrm>
          <a:ln/>
        </p:spPr>
      </p:sp>
      <p:sp>
        <p:nvSpPr>
          <p:cNvPr id="19460" name="Rectangle 3">
            <a:extLst>
              <a:ext uri="{FF2B5EF4-FFF2-40B4-BE49-F238E27FC236}">
                <a16:creationId xmlns:a16="http://schemas.microsoft.com/office/drawing/2014/main" id="{84B6CB87-073A-48EE-9890-B2DB0D803C7D}"/>
              </a:ext>
            </a:extLst>
          </p:cNvPr>
          <p:cNvSpPr>
            <a:spLocks noGrp="1" noChangeArrowheads="1"/>
          </p:cNvSpPr>
          <p:nvPr>
            <p:ph type="body" idx="1"/>
          </p:nvPr>
        </p:nvSpPr>
        <p:spPr>
          <a:noFill/>
        </p:spPr>
        <p:txBody>
          <a:bodyPr/>
          <a:lstStyle/>
          <a:p>
            <a:pPr eaLnBrk="1" hangingPunct="1"/>
            <a:r>
              <a:rPr lang="es-ES_tradnl" altLang="es-ES">
                <a:latin typeface="Arial" panose="020B0604020202020204" pitchFamily="34" charset="0"/>
              </a:rPr>
              <a:t>Los gl en el test de welch son una v.a., pues implican a las varianzas muestrales</a:t>
            </a:r>
          </a:p>
          <a:p>
            <a:pPr eaLnBrk="1" hangingPunct="1"/>
            <a:endParaRPr lang="es-ES" altLang="es-ES">
              <a:latin typeface="Arial" panose="020B0604020202020204" pitchFamily="34" charset="0"/>
            </a:endParaRPr>
          </a:p>
          <a:p>
            <a:pPr eaLnBrk="1" hangingPunct="1"/>
            <a:r>
              <a:rPr lang="es-ES" altLang="es-ES">
                <a:latin typeface="Arial" panose="020B0604020202020204" pitchFamily="34" charset="0"/>
              </a:rPr>
              <a:t>Si las varianzas son iguales y los tamaños de muestra pequeños y desiguales, el método de Welch es conservador y es preferible el de student</a:t>
            </a:r>
          </a:p>
          <a:p>
            <a:pPr eaLnBrk="1" hangingPunct="1"/>
            <a:r>
              <a:rPr lang="es-ES" altLang="es-ES">
                <a:latin typeface="Arial" panose="020B0604020202020204" pitchFamily="34" charset="0"/>
              </a:rPr>
              <a:t>Requena dice que el test de Welch funciona siempre bien, incluso para varianzas y tamaños de muestra iguales </a:t>
            </a:r>
          </a:p>
        </p:txBody>
      </p:sp>
    </p:spTree>
    <p:extLst>
      <p:ext uri="{BB962C8B-B14F-4D97-AF65-F5344CB8AC3E}">
        <p14:creationId xmlns:p14="http://schemas.microsoft.com/office/powerpoint/2010/main" val="2306980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Marcador de imagen de diapositiva">
            <a:extLst>
              <a:ext uri="{FF2B5EF4-FFF2-40B4-BE49-F238E27FC236}">
                <a16:creationId xmlns:a16="http://schemas.microsoft.com/office/drawing/2014/main" id="{6B7F30EC-A4DC-4C5B-BECB-499FDD5BE0AA}"/>
              </a:ext>
            </a:extLst>
          </p:cNvPr>
          <p:cNvSpPr>
            <a:spLocks noGrp="1" noRot="1" noChangeAspect="1" noTextEdit="1"/>
          </p:cNvSpPr>
          <p:nvPr>
            <p:ph type="sldImg"/>
          </p:nvPr>
        </p:nvSpPr>
        <p:spPr>
          <a:xfrm>
            <a:off x="992188" y="768350"/>
            <a:ext cx="5114925" cy="3836988"/>
          </a:xfrm>
          <a:ln/>
        </p:spPr>
      </p:sp>
      <p:sp>
        <p:nvSpPr>
          <p:cNvPr id="21507" name="2 Marcador de notas">
            <a:extLst>
              <a:ext uri="{FF2B5EF4-FFF2-40B4-BE49-F238E27FC236}">
                <a16:creationId xmlns:a16="http://schemas.microsoft.com/office/drawing/2014/main" id="{12D1E72D-CE40-402E-B410-FE273D597FEA}"/>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1508" name="3 Marcador de número de diapositiva">
            <a:extLst>
              <a:ext uri="{FF2B5EF4-FFF2-40B4-BE49-F238E27FC236}">
                <a16:creationId xmlns:a16="http://schemas.microsoft.com/office/drawing/2014/main" id="{7D39F7DD-676F-4241-A4E7-18752408067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003DBD7-4498-428B-B65A-2F6E850D4938}" type="slidenum">
              <a:rPr lang="es-ES" altLang="es-ES" sz="1300"/>
              <a:pPr>
                <a:spcBef>
                  <a:spcPct val="0"/>
                </a:spcBef>
              </a:pPr>
              <a:t>10</a:t>
            </a:fld>
            <a:endParaRPr lang="es-ES" altLang="es-E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Marcador de imagen de diapositiva">
            <a:extLst>
              <a:ext uri="{FF2B5EF4-FFF2-40B4-BE49-F238E27FC236}">
                <a16:creationId xmlns:a16="http://schemas.microsoft.com/office/drawing/2014/main" id="{4D7FBA5D-1082-4BB3-99E5-079C4510161B}"/>
              </a:ext>
            </a:extLst>
          </p:cNvPr>
          <p:cNvSpPr>
            <a:spLocks noGrp="1" noRot="1" noChangeAspect="1" noTextEdit="1"/>
          </p:cNvSpPr>
          <p:nvPr>
            <p:ph type="sldImg"/>
          </p:nvPr>
        </p:nvSpPr>
        <p:spPr>
          <a:xfrm>
            <a:off x="992188" y="768350"/>
            <a:ext cx="5114925" cy="3836988"/>
          </a:xfrm>
          <a:ln/>
        </p:spPr>
      </p:sp>
      <p:sp>
        <p:nvSpPr>
          <p:cNvPr id="23555" name="2 Marcador de notas">
            <a:extLst>
              <a:ext uri="{FF2B5EF4-FFF2-40B4-BE49-F238E27FC236}">
                <a16:creationId xmlns:a16="http://schemas.microsoft.com/office/drawing/2014/main" id="{F16888A8-B1C5-4ADA-BC53-C075D99B506D}"/>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3556" name="3 Marcador de número de diapositiva">
            <a:extLst>
              <a:ext uri="{FF2B5EF4-FFF2-40B4-BE49-F238E27FC236}">
                <a16:creationId xmlns:a16="http://schemas.microsoft.com/office/drawing/2014/main" id="{6812C6F8-52B2-43DC-948B-C5768CC27BC0}"/>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14E15CA-5626-4FC3-B777-A0287D20CFB4}" type="slidenum">
              <a:rPr lang="es-ES" altLang="es-ES" sz="1300"/>
              <a:pPr>
                <a:spcBef>
                  <a:spcPct val="0"/>
                </a:spcBef>
              </a:pPr>
              <a:t>11</a:t>
            </a:fld>
            <a:endParaRPr lang="es-ES" altLang="es-ES"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Marcador de imagen de diapositiva">
            <a:extLst>
              <a:ext uri="{FF2B5EF4-FFF2-40B4-BE49-F238E27FC236}">
                <a16:creationId xmlns:a16="http://schemas.microsoft.com/office/drawing/2014/main" id="{CC9049C7-8FDF-46C7-97F3-8EB49F391928}"/>
              </a:ext>
            </a:extLst>
          </p:cNvPr>
          <p:cNvSpPr>
            <a:spLocks noGrp="1" noRot="1" noChangeAspect="1" noTextEdit="1"/>
          </p:cNvSpPr>
          <p:nvPr>
            <p:ph type="sldImg"/>
          </p:nvPr>
        </p:nvSpPr>
        <p:spPr>
          <a:xfrm>
            <a:off x="992188" y="768350"/>
            <a:ext cx="5114925" cy="3836988"/>
          </a:xfrm>
          <a:ln/>
        </p:spPr>
      </p:sp>
      <p:sp>
        <p:nvSpPr>
          <p:cNvPr id="25603" name="2 Marcador de notas">
            <a:extLst>
              <a:ext uri="{FF2B5EF4-FFF2-40B4-BE49-F238E27FC236}">
                <a16:creationId xmlns:a16="http://schemas.microsoft.com/office/drawing/2014/main" id="{57912C42-0106-4E30-A54C-8A60C17AF641}"/>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5604" name="3 Marcador de número de diapositiva">
            <a:extLst>
              <a:ext uri="{FF2B5EF4-FFF2-40B4-BE49-F238E27FC236}">
                <a16:creationId xmlns:a16="http://schemas.microsoft.com/office/drawing/2014/main" id="{7B857BAC-0A83-44E3-99B0-5ADBFC7F086D}"/>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BFFB62-F558-4108-BA34-6E8488D160E5}" type="slidenum">
              <a:rPr lang="es-ES" altLang="es-ES" sz="1300"/>
              <a:pPr>
                <a:spcBef>
                  <a:spcPct val="0"/>
                </a:spcBef>
              </a:pPr>
              <a:t>12</a:t>
            </a:fld>
            <a:endParaRPr lang="es-ES" altLang="es-ES"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Tree>
    <p:extLst>
      <p:ext uri="{BB962C8B-B14F-4D97-AF65-F5344CB8AC3E}">
        <p14:creationId xmlns:p14="http://schemas.microsoft.com/office/powerpoint/2010/main" val="4026242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936455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473947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69675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2681085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Tree>
    <p:extLst>
      <p:ext uri="{BB962C8B-B14F-4D97-AF65-F5344CB8AC3E}">
        <p14:creationId xmlns:p14="http://schemas.microsoft.com/office/powerpoint/2010/main" val="1400974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914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944361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974737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2412911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2000077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Box 8">
            <a:extLst>
              <a:ext uri="{FF2B5EF4-FFF2-40B4-BE49-F238E27FC236}">
                <a16:creationId xmlns:a16="http://schemas.microsoft.com/office/drawing/2014/main" id="{9F1FF912-F02D-4649-A261-40895557A740}"/>
              </a:ext>
            </a:extLst>
          </p:cNvPr>
          <p:cNvSpPr txBox="1">
            <a:spLocks noChangeArrowheads="1"/>
          </p:cNvSpPr>
          <p:nvPr userDrawn="1"/>
        </p:nvSpPr>
        <p:spPr bwMode="auto">
          <a:xfrm>
            <a:off x="20638" y="1588"/>
            <a:ext cx="63198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defRPr/>
            </a:pPr>
            <a:r>
              <a:rPr lang="es-ES_tradnl" altLang="es-ES" sz="1400" b="1"/>
              <a:t>Estudios comparativos con dos muestras</a:t>
            </a:r>
            <a:r>
              <a:rPr lang="es-ES_tradnl" altLang="es-ES" sz="1400" b="1">
                <a:solidFill>
                  <a:schemeClr val="bg1"/>
                </a:solidFill>
              </a:rPr>
              <a:t>// Comparación de dos medias</a:t>
            </a:r>
            <a:endParaRPr lang="es-ES" altLang="es-ES" sz="1400" b="1">
              <a:solidFill>
                <a:schemeClr val="bg1"/>
              </a:solidFill>
            </a:endParaRPr>
          </a:p>
        </p:txBody>
      </p:sp>
      <p:sp>
        <p:nvSpPr>
          <p:cNvPr id="1027" name="Text Box 9">
            <a:extLst>
              <a:ext uri="{FF2B5EF4-FFF2-40B4-BE49-F238E27FC236}">
                <a16:creationId xmlns:a16="http://schemas.microsoft.com/office/drawing/2014/main" id="{4CC92771-2740-43B0-8D48-32C18BD2DF14}"/>
              </a:ext>
            </a:extLst>
          </p:cNvPr>
          <p:cNvSpPr txBox="1">
            <a:spLocks noChangeArrowheads="1"/>
          </p:cNvSpPr>
          <p:nvPr userDrawn="1"/>
        </p:nvSpPr>
        <p:spPr bwMode="auto">
          <a:xfrm>
            <a:off x="8305800" y="90488"/>
            <a:ext cx="4508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anose="020B0604020202020204" pitchFamily="34" charset="0"/>
              </a:defRPr>
            </a:lvl1pPr>
            <a:lvl2pPr marL="742950" indent="-285750" eaLnBrk="0" hangingPunct="0">
              <a:defRPr sz="1200">
                <a:solidFill>
                  <a:schemeClr val="tx1"/>
                </a:solidFill>
                <a:latin typeface="Arial" panose="020B0604020202020204" pitchFamily="34" charset="0"/>
              </a:defRPr>
            </a:lvl2pPr>
            <a:lvl3pPr marL="1143000" indent="-228600" eaLnBrk="0" hangingPunct="0">
              <a:defRPr sz="1200">
                <a:solidFill>
                  <a:schemeClr val="tx1"/>
                </a:solidFill>
                <a:latin typeface="Arial" panose="020B0604020202020204" pitchFamily="34" charset="0"/>
              </a:defRPr>
            </a:lvl3pPr>
            <a:lvl4pPr marL="1600200" indent="-228600" eaLnBrk="0" hangingPunct="0">
              <a:defRPr sz="1200">
                <a:solidFill>
                  <a:schemeClr val="tx1"/>
                </a:solidFill>
                <a:latin typeface="Arial" panose="020B0604020202020204" pitchFamily="34" charset="0"/>
              </a:defRPr>
            </a:lvl4pPr>
            <a:lvl5pPr marL="2057400" indent="-228600"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defRPr/>
            </a:pPr>
            <a:fld id="{3C6FD260-4141-474C-B9C3-E8EC35DCB1E0}" type="slidenum">
              <a:rPr lang="es-ES" altLang="es-ES" b="1" smtClean="0">
                <a:solidFill>
                  <a:schemeClr val="bg1"/>
                </a:solidFill>
              </a:rPr>
              <a:pPr eaLnBrk="1" hangingPunct="1">
                <a:defRPr/>
              </a:pPr>
              <a:t>‹#›</a:t>
            </a:fld>
            <a:endParaRPr lang="es-ES" altLang="es-ES" b="1">
              <a:solidFill>
                <a:schemeClr val="bg1"/>
              </a:solidFill>
            </a:endParaRPr>
          </a:p>
        </p:txBody>
      </p:sp>
      <p:cxnSp>
        <p:nvCxnSpPr>
          <p:cNvPr id="8" name="Conector recto 7">
            <a:extLst>
              <a:ext uri="{FF2B5EF4-FFF2-40B4-BE49-F238E27FC236}">
                <a16:creationId xmlns:a16="http://schemas.microsoft.com/office/drawing/2014/main" id="{1E5907C8-D9CC-4206-AAE3-E729B2E995A4}"/>
              </a:ext>
            </a:extLst>
          </p:cNvPr>
          <p:cNvCxnSpPr/>
          <p:nvPr userDrawn="1"/>
        </p:nvCxnSpPr>
        <p:spPr>
          <a:xfrm>
            <a:off x="0" y="603744"/>
            <a:ext cx="9144000" cy="0"/>
          </a:xfrm>
          <a:prstGeom prst="line">
            <a:avLst/>
          </a:prstGeom>
          <a:ln>
            <a:gradFill flip="none" rotWithShape="1">
              <a:gsLst>
                <a:gs pos="34000">
                  <a:schemeClr val="bg1"/>
                </a:gs>
                <a:gs pos="55000">
                  <a:schemeClr val="accent4">
                    <a:lumMod val="89000"/>
                  </a:schemeClr>
                </a:gs>
                <a:gs pos="81000">
                  <a:schemeClr val="accent4">
                    <a:lumMod val="75000"/>
                  </a:schemeClr>
                </a:gs>
                <a:gs pos="100000">
                  <a:schemeClr val="accent4">
                    <a:lumMod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s>
</file>

<file path=ppt/slides/_rels/slide4.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3.w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9.bin"/><Relationship Id="rId14" Type="http://schemas.openxmlformats.org/officeDocument/2006/relationships/image" Target="../media/image14.wmf"/></Relationships>
</file>

<file path=ppt/slides/_rels/slide5.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wmf"/><Relationship Id="rId5" Type="http://schemas.openxmlformats.org/officeDocument/2006/relationships/oleObject" Target="../embeddings/oleObject13.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5.bin"/></Relationships>
</file>

<file path=ppt/slides/_rels/slide6.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15.wmf"/><Relationship Id="rId2" Type="http://schemas.openxmlformats.org/officeDocument/2006/relationships/notesSlide" Target="../notesSlides/notesSlide6.xml"/><Relationship Id="rId16" Type="http://schemas.openxmlformats.org/officeDocument/2006/relationships/image" Target="../media/image24.wmf"/><Relationship Id="rId1" Type="http://schemas.openxmlformats.org/officeDocument/2006/relationships/slideLayout" Target="../slideLayouts/slideLayout1.xml"/><Relationship Id="rId6" Type="http://schemas.openxmlformats.org/officeDocument/2006/relationships/image" Target="../media/image20.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19.bin"/><Relationship Id="rId14" Type="http://schemas.openxmlformats.org/officeDocument/2006/relationships/image" Target="../media/image23.wmf"/></Relationships>
</file>

<file path=ppt/slides/_rels/slide7.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8.bin"/><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28.w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w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27.wmf"/><Relationship Id="rId4" Type="http://schemas.openxmlformats.org/officeDocument/2006/relationships/image" Target="../media/image15.wmf"/><Relationship Id="rId9" Type="http://schemas.openxmlformats.org/officeDocument/2006/relationships/oleObject" Target="../embeddings/oleObject26.bin"/><Relationship Id="rId14" Type="http://schemas.openxmlformats.org/officeDocument/2006/relationships/image" Target="../media/image29.wmf"/></Relationships>
</file>

<file path=ppt/slides/_rels/slide8.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wmf"/><Relationship Id="rId5" Type="http://schemas.openxmlformats.org/officeDocument/2006/relationships/oleObject" Target="../embeddings/oleObject30.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32.bin"/></Relationships>
</file>

<file path=ppt/slides/_rels/slide9.xml.rels><?xml version="1.0" encoding="UTF-8" standalone="yes"?>
<Relationships xmlns="http://schemas.openxmlformats.org/package/2006/relationships"><Relationship Id="rId8" Type="http://schemas.openxmlformats.org/officeDocument/2006/relationships/image" Target="../media/image35.wmf"/><Relationship Id="rId13" Type="http://schemas.openxmlformats.org/officeDocument/2006/relationships/oleObject" Target="../embeddings/oleObject37.bin"/><Relationship Id="rId3" Type="http://schemas.openxmlformats.org/officeDocument/2006/relationships/oleObject" Target="../embeddings/oleObject29.bin"/><Relationship Id="rId7" Type="http://schemas.openxmlformats.org/officeDocument/2006/relationships/oleObject" Target="../embeddings/oleObject34.bin"/><Relationship Id="rId12" Type="http://schemas.openxmlformats.org/officeDocument/2006/relationships/image" Target="../media/image37.wmf"/><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4.wmf"/><Relationship Id="rId11" Type="http://schemas.openxmlformats.org/officeDocument/2006/relationships/oleObject" Target="../embeddings/oleObject36.bin"/><Relationship Id="rId5" Type="http://schemas.openxmlformats.org/officeDocument/2006/relationships/oleObject" Target="../embeddings/oleObject33.bin"/><Relationship Id="rId10" Type="http://schemas.openxmlformats.org/officeDocument/2006/relationships/image" Target="../media/image36.wmf"/><Relationship Id="rId4" Type="http://schemas.openxmlformats.org/officeDocument/2006/relationships/image" Target="../media/image30.wmf"/><Relationship Id="rId9" Type="http://schemas.openxmlformats.org/officeDocument/2006/relationships/oleObject" Target="../embeddings/oleObject35.bin"/><Relationship Id="rId14" Type="http://schemas.openxmlformats.org/officeDocument/2006/relationships/image" Target="../media/image38.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wmf"/><Relationship Id="rId5" Type="http://schemas.openxmlformats.org/officeDocument/2006/relationships/oleObject" Target="../embeddings/oleObject39.bin"/><Relationship Id="rId4" Type="http://schemas.openxmlformats.org/officeDocument/2006/relationships/image" Target="../media/image39.wmf"/></Relationships>
</file>

<file path=ppt/slides/_rels/slide11.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45.bin"/><Relationship Id="rId18" Type="http://schemas.openxmlformats.org/officeDocument/2006/relationships/image" Target="../media/image48.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45.wmf"/><Relationship Id="rId17" Type="http://schemas.openxmlformats.org/officeDocument/2006/relationships/oleObject" Target="../embeddings/oleObject47.bin"/><Relationship Id="rId2" Type="http://schemas.openxmlformats.org/officeDocument/2006/relationships/notesSlide" Target="../notesSlides/notesSlide11.xml"/><Relationship Id="rId16" Type="http://schemas.openxmlformats.org/officeDocument/2006/relationships/image" Target="../media/image47.wmf"/><Relationship Id="rId20" Type="http://schemas.openxmlformats.org/officeDocument/2006/relationships/image" Target="../media/image49.wmf"/><Relationship Id="rId1" Type="http://schemas.openxmlformats.org/officeDocument/2006/relationships/slideLayout" Target="../slideLayouts/slideLayout1.xml"/><Relationship Id="rId6" Type="http://schemas.openxmlformats.org/officeDocument/2006/relationships/image" Target="../media/image42.wmf"/><Relationship Id="rId11" Type="http://schemas.openxmlformats.org/officeDocument/2006/relationships/oleObject" Target="../embeddings/oleObject44.bin"/><Relationship Id="rId5" Type="http://schemas.openxmlformats.org/officeDocument/2006/relationships/oleObject" Target="../embeddings/oleObject41.bin"/><Relationship Id="rId15" Type="http://schemas.openxmlformats.org/officeDocument/2006/relationships/oleObject" Target="../embeddings/oleObject46.bin"/><Relationship Id="rId10" Type="http://schemas.openxmlformats.org/officeDocument/2006/relationships/image" Target="../media/image44.wmf"/><Relationship Id="rId19" Type="http://schemas.openxmlformats.org/officeDocument/2006/relationships/oleObject" Target="../embeddings/oleObject48.bin"/><Relationship Id="rId4" Type="http://schemas.openxmlformats.org/officeDocument/2006/relationships/image" Target="../media/image41.wmf"/><Relationship Id="rId9" Type="http://schemas.openxmlformats.org/officeDocument/2006/relationships/oleObject" Target="../embeddings/oleObject43.bin"/><Relationship Id="rId14" Type="http://schemas.openxmlformats.org/officeDocument/2006/relationships/image" Target="../media/image46.wmf"/></Relationships>
</file>

<file path=ppt/slides/_rels/slide12.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54.bin"/><Relationship Id="rId18" Type="http://schemas.openxmlformats.org/officeDocument/2006/relationships/image" Target="../media/image40.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54.wmf"/><Relationship Id="rId17" Type="http://schemas.openxmlformats.org/officeDocument/2006/relationships/oleObject" Target="../embeddings/oleObject56.bin"/><Relationship Id="rId2" Type="http://schemas.openxmlformats.org/officeDocument/2006/relationships/notesSlide" Target="../notesSlides/notesSlide12.xml"/><Relationship Id="rId16" Type="http://schemas.openxmlformats.org/officeDocument/2006/relationships/image" Target="../media/image56.wmf"/><Relationship Id="rId1" Type="http://schemas.openxmlformats.org/officeDocument/2006/relationships/slideLayout" Target="../slideLayouts/slideLayout1.xml"/><Relationship Id="rId6" Type="http://schemas.openxmlformats.org/officeDocument/2006/relationships/image" Target="../media/image51.w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oleObject" Target="../embeddings/oleObject55.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52.bin"/><Relationship Id="rId14" Type="http://schemas.openxmlformats.org/officeDocument/2006/relationships/image" Target="../media/image5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28">
            <a:extLst>
              <a:ext uri="{FF2B5EF4-FFF2-40B4-BE49-F238E27FC236}">
                <a16:creationId xmlns:a16="http://schemas.microsoft.com/office/drawing/2014/main" id="{C1B6C8FA-36AE-40D0-B535-4ECDAC5B6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000" cy="708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9" name="AutoShape 120">
            <a:extLst>
              <a:ext uri="{FF2B5EF4-FFF2-40B4-BE49-F238E27FC236}">
                <a16:creationId xmlns:a16="http://schemas.microsoft.com/office/drawing/2014/main" id="{56399B7D-0DF6-4438-B21D-4A3E0D9F40D4}"/>
              </a:ext>
            </a:extLst>
          </p:cNvPr>
          <p:cNvSpPr>
            <a:spLocks noChangeArrowheads="1"/>
          </p:cNvSpPr>
          <p:nvPr/>
        </p:nvSpPr>
        <p:spPr bwMode="auto">
          <a:xfrm>
            <a:off x="1685925" y="2514600"/>
            <a:ext cx="5791200" cy="1676400"/>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cs typeface="Arial" panose="020B0604020202020204" pitchFamily="34" charset="0"/>
            </a:endParaRPr>
          </a:p>
        </p:txBody>
      </p:sp>
      <p:sp>
        <p:nvSpPr>
          <p:cNvPr id="4100" name="Text Box 115">
            <a:extLst>
              <a:ext uri="{FF2B5EF4-FFF2-40B4-BE49-F238E27FC236}">
                <a16:creationId xmlns:a16="http://schemas.microsoft.com/office/drawing/2014/main" id="{2012F645-BDC9-41E1-B006-CFD77099A8D0}"/>
              </a:ext>
            </a:extLst>
          </p:cNvPr>
          <p:cNvSpPr txBox="1">
            <a:spLocks noChangeArrowheads="1"/>
          </p:cNvSpPr>
          <p:nvPr/>
        </p:nvSpPr>
        <p:spPr bwMode="auto">
          <a:xfrm>
            <a:off x="1900238" y="1720850"/>
            <a:ext cx="5362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600" b="1" dirty="0">
                <a:cs typeface="Arial" panose="020B0604020202020204" pitchFamily="34" charset="0"/>
              </a:rPr>
              <a:t>Grado en Fisioterapia</a:t>
            </a:r>
            <a:endParaRPr lang="es-ES" altLang="es-ES" sz="1600" b="1" dirty="0">
              <a:cs typeface="Arial" panose="020B0604020202020204" pitchFamily="34" charset="0"/>
            </a:endParaRPr>
          </a:p>
        </p:txBody>
      </p:sp>
      <p:sp>
        <p:nvSpPr>
          <p:cNvPr id="4101" name="Text Box 117">
            <a:extLst>
              <a:ext uri="{FF2B5EF4-FFF2-40B4-BE49-F238E27FC236}">
                <a16:creationId xmlns:a16="http://schemas.microsoft.com/office/drawing/2014/main" id="{DAED5B54-CCC6-443E-BD37-14035905D67F}"/>
              </a:ext>
            </a:extLst>
          </p:cNvPr>
          <p:cNvSpPr txBox="1">
            <a:spLocks noChangeArrowheads="1"/>
          </p:cNvSpPr>
          <p:nvPr/>
        </p:nvSpPr>
        <p:spPr bwMode="auto">
          <a:xfrm>
            <a:off x="4098925" y="2819400"/>
            <a:ext cx="9572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600" b="1">
                <a:cs typeface="Arial" panose="020B0604020202020204" pitchFamily="34" charset="0"/>
              </a:rPr>
              <a:t>Tema VI</a:t>
            </a:r>
            <a:endParaRPr lang="es-ES" altLang="es-ES" sz="1600" b="1">
              <a:cs typeface="Arial" panose="020B0604020202020204" pitchFamily="34" charset="0"/>
            </a:endParaRPr>
          </a:p>
        </p:txBody>
      </p:sp>
      <p:sp>
        <p:nvSpPr>
          <p:cNvPr id="4102" name="Rectangle 118">
            <a:extLst>
              <a:ext uri="{FF2B5EF4-FFF2-40B4-BE49-F238E27FC236}">
                <a16:creationId xmlns:a16="http://schemas.microsoft.com/office/drawing/2014/main" id="{99E9A860-61BB-428D-B9F7-A05D170EE2ED}"/>
              </a:ext>
            </a:extLst>
          </p:cNvPr>
          <p:cNvSpPr>
            <a:spLocks noChangeArrowheads="1"/>
          </p:cNvSpPr>
          <p:nvPr/>
        </p:nvSpPr>
        <p:spPr bwMode="auto">
          <a:xfrm>
            <a:off x="2114550" y="3284538"/>
            <a:ext cx="49815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sz="1900" b="1">
                <a:cs typeface="Arial" panose="020B0604020202020204" pitchFamily="34" charset="0"/>
              </a:rPr>
              <a:t>Estudios comparativos con dos muestras</a:t>
            </a:r>
          </a:p>
          <a:p>
            <a:pPr algn="ctr" eaLnBrk="1" hangingPunct="1">
              <a:lnSpc>
                <a:spcPct val="130000"/>
              </a:lnSpc>
            </a:pPr>
            <a:r>
              <a:rPr lang="es-ES_tradnl" altLang="es-ES" sz="1500" b="1">
                <a:cs typeface="Arial" panose="020B0604020202020204" pitchFamily="34" charset="0"/>
              </a:rPr>
              <a:t>(2ª parte: comparación de dos proporciones)</a:t>
            </a:r>
            <a:endParaRPr lang="es-ES" altLang="es-ES" sz="1500" b="1">
              <a:cs typeface="Arial" panose="020B0604020202020204" pitchFamily="34" charset="0"/>
            </a:endParaRPr>
          </a:p>
        </p:txBody>
      </p:sp>
      <p:sp>
        <p:nvSpPr>
          <p:cNvPr id="4103" name="Text Box 119">
            <a:extLst>
              <a:ext uri="{FF2B5EF4-FFF2-40B4-BE49-F238E27FC236}">
                <a16:creationId xmlns:a16="http://schemas.microsoft.com/office/drawing/2014/main" id="{71DFB07C-7874-4EF9-98D5-2EB894D3F4AC}"/>
              </a:ext>
            </a:extLst>
          </p:cNvPr>
          <p:cNvSpPr txBox="1">
            <a:spLocks noChangeArrowheads="1"/>
          </p:cNvSpPr>
          <p:nvPr/>
        </p:nvSpPr>
        <p:spPr bwMode="auto">
          <a:xfrm>
            <a:off x="3727450" y="1339850"/>
            <a:ext cx="170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400" b="1">
                <a:cs typeface="Arial" panose="020B0604020202020204" pitchFamily="34" charset="0"/>
              </a:rPr>
              <a:t>ESTADÍSTICA</a:t>
            </a:r>
            <a:endParaRPr lang="es-ES" altLang="es-ES" sz="1400" b="1">
              <a:cs typeface="Arial" panose="020B0604020202020204" pitchFamily="34" charset="0"/>
            </a:endParaRPr>
          </a:p>
        </p:txBody>
      </p:sp>
      <p:sp>
        <p:nvSpPr>
          <p:cNvPr id="4104" name="Text Box 127">
            <a:extLst>
              <a:ext uri="{FF2B5EF4-FFF2-40B4-BE49-F238E27FC236}">
                <a16:creationId xmlns:a16="http://schemas.microsoft.com/office/drawing/2014/main" id="{5B3A9E0E-93FD-4EB9-996B-81FA8B265592}"/>
              </a:ext>
            </a:extLst>
          </p:cNvPr>
          <p:cNvSpPr txBox="1">
            <a:spLocks noChangeArrowheads="1"/>
          </p:cNvSpPr>
          <p:nvPr/>
        </p:nvSpPr>
        <p:spPr bwMode="auto">
          <a:xfrm>
            <a:off x="3276600" y="6521450"/>
            <a:ext cx="252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600" b="1">
                <a:solidFill>
                  <a:srgbClr val="000066"/>
                </a:solidFill>
                <a:cs typeface="Arial" panose="020B0604020202020204" pitchFamily="34" charset="0"/>
              </a:rPr>
              <a:t>Universidad de Granada</a:t>
            </a:r>
            <a:endParaRPr lang="es-ES" altLang="es-ES" sz="1600" b="1">
              <a:solidFill>
                <a:srgbClr val="000066"/>
              </a:solidFill>
              <a:cs typeface="Arial" panose="020B0604020202020204" pitchFamily="34" charset="0"/>
            </a:endParaRPr>
          </a:p>
        </p:txBody>
      </p:sp>
      <p:sp>
        <p:nvSpPr>
          <p:cNvPr id="4105" name="Text Box 129">
            <a:extLst>
              <a:ext uri="{FF2B5EF4-FFF2-40B4-BE49-F238E27FC236}">
                <a16:creationId xmlns:a16="http://schemas.microsoft.com/office/drawing/2014/main" id="{3C233AE4-7BA9-4482-B9CC-153420129B0B}"/>
              </a:ext>
            </a:extLst>
          </p:cNvPr>
          <p:cNvSpPr txBox="1">
            <a:spLocks noChangeArrowheads="1"/>
          </p:cNvSpPr>
          <p:nvPr/>
        </p:nvSpPr>
        <p:spPr bwMode="auto">
          <a:xfrm>
            <a:off x="1079509" y="5972175"/>
            <a:ext cx="698499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600" b="1" dirty="0">
                <a:solidFill>
                  <a:srgbClr val="000066"/>
                </a:solidFill>
                <a:cs typeface="Arial" panose="020B0604020202020204" pitchFamily="34" charset="0"/>
              </a:rPr>
              <a:t>Pedro </a:t>
            </a:r>
            <a:r>
              <a:rPr lang="es-ES_tradnl" altLang="es-ES" sz="1600" b="1" dirty="0" err="1">
                <a:solidFill>
                  <a:srgbClr val="000066"/>
                </a:solidFill>
                <a:cs typeface="Arial" panose="020B0604020202020204" pitchFamily="34" charset="0"/>
              </a:rPr>
              <a:t>Femia</a:t>
            </a:r>
            <a:r>
              <a:rPr lang="es-ES_tradnl" altLang="es-ES" sz="1600" b="1" dirty="0">
                <a:solidFill>
                  <a:srgbClr val="000066"/>
                </a:solidFill>
                <a:cs typeface="Arial" panose="020B0604020202020204" pitchFamily="34" charset="0"/>
              </a:rPr>
              <a:t> Marzo (Autor) &amp; Miguel Angel Luque Fernandez (</a:t>
            </a:r>
            <a:r>
              <a:rPr lang="es-ES_tradnl" altLang="es-ES" sz="1600" b="1" dirty="0" err="1">
                <a:solidFill>
                  <a:srgbClr val="000066"/>
                </a:solidFill>
                <a:cs typeface="Arial" panose="020B0604020202020204" pitchFamily="34" charset="0"/>
              </a:rPr>
              <a:t>Update</a:t>
            </a:r>
            <a:r>
              <a:rPr lang="es-ES_tradnl" altLang="es-ES" sz="1600" b="1" dirty="0">
                <a:solidFill>
                  <a:srgbClr val="000066"/>
                </a:solidFill>
                <a:cs typeface="Arial" panose="020B0604020202020204" pitchFamily="34" charset="0"/>
              </a:rPr>
              <a:t>)</a:t>
            </a:r>
          </a:p>
          <a:p>
            <a:pPr algn="ctr" eaLnBrk="1" hangingPunct="1"/>
            <a:r>
              <a:rPr lang="es-ES_tradnl" altLang="es-ES" sz="1600" b="1" dirty="0">
                <a:solidFill>
                  <a:srgbClr val="000066"/>
                </a:solidFill>
                <a:cs typeface="Arial" panose="020B0604020202020204" pitchFamily="34" charset="0"/>
              </a:rPr>
              <a:t>Unidad de Bioestadística – Facultad de Medicina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26C796F9-049E-423D-ABE2-AB81463BE83D}"/>
              </a:ext>
            </a:extLst>
          </p:cNvPr>
          <p:cNvSpPr txBox="1">
            <a:spLocks noChangeArrowheads="1"/>
          </p:cNvSpPr>
          <p:nvPr/>
        </p:nvSpPr>
        <p:spPr bwMode="auto">
          <a:xfrm>
            <a:off x="28575" y="301625"/>
            <a:ext cx="17176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Pruebas a realizar</a:t>
            </a:r>
            <a:endParaRPr lang="es-ES" altLang="es-ES" sz="1400" b="1"/>
          </a:p>
        </p:txBody>
      </p:sp>
      <p:sp>
        <p:nvSpPr>
          <p:cNvPr id="6147" name="Text Box 42">
            <a:extLst>
              <a:ext uri="{FF2B5EF4-FFF2-40B4-BE49-F238E27FC236}">
                <a16:creationId xmlns:a16="http://schemas.microsoft.com/office/drawing/2014/main" id="{5EB1B729-D833-499E-A395-F1ECC8B0B64C}"/>
              </a:ext>
            </a:extLst>
          </p:cNvPr>
          <p:cNvSpPr txBox="1">
            <a:spLocks noChangeArrowheads="1"/>
          </p:cNvSpPr>
          <p:nvPr/>
        </p:nvSpPr>
        <p:spPr bwMode="auto">
          <a:xfrm>
            <a:off x="304800" y="852013"/>
            <a:ext cx="2438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400" b="1" dirty="0"/>
              <a:t>Comparación de medias</a:t>
            </a:r>
            <a:endParaRPr lang="es-ES_tradnl" altLang="es-ES" sz="1400" dirty="0">
              <a:solidFill>
                <a:schemeClr val="tx1">
                  <a:lumMod val="50000"/>
                  <a:lumOff val="50000"/>
                </a:schemeClr>
              </a:solidFill>
              <a:latin typeface="Symbol" panose="05050102010706020507" pitchFamily="18" charset="2"/>
            </a:endParaRPr>
          </a:p>
        </p:txBody>
      </p:sp>
      <p:sp>
        <p:nvSpPr>
          <p:cNvPr id="6148" name="Text Box 42">
            <a:extLst>
              <a:ext uri="{FF2B5EF4-FFF2-40B4-BE49-F238E27FC236}">
                <a16:creationId xmlns:a16="http://schemas.microsoft.com/office/drawing/2014/main" id="{6BF50486-E44B-48DC-B451-CCE6973871E3}"/>
              </a:ext>
            </a:extLst>
          </p:cNvPr>
          <p:cNvSpPr txBox="1">
            <a:spLocks noChangeArrowheads="1"/>
          </p:cNvSpPr>
          <p:nvPr/>
        </p:nvSpPr>
        <p:spPr bwMode="auto">
          <a:xfrm>
            <a:off x="304800" y="2624138"/>
            <a:ext cx="419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400" b="1"/>
              <a:t>Comparación de proporciones</a:t>
            </a:r>
            <a:endParaRPr lang="es-ES_tradnl" altLang="es-ES" sz="1400" b="1">
              <a:latin typeface="Symbol" panose="05050102010706020507" pitchFamily="18" charset="2"/>
            </a:endParaRPr>
          </a:p>
        </p:txBody>
      </p:sp>
      <p:sp>
        <p:nvSpPr>
          <p:cNvPr id="6149" name="Text Box 42">
            <a:extLst>
              <a:ext uri="{FF2B5EF4-FFF2-40B4-BE49-F238E27FC236}">
                <a16:creationId xmlns:a16="http://schemas.microsoft.com/office/drawing/2014/main" id="{2EB419D9-6AF5-43D2-84E6-BF01CDB93F93}"/>
              </a:ext>
            </a:extLst>
          </p:cNvPr>
          <p:cNvSpPr txBox="1">
            <a:spLocks noChangeArrowheads="1"/>
          </p:cNvSpPr>
          <p:nvPr/>
        </p:nvSpPr>
        <p:spPr bwMode="auto">
          <a:xfrm>
            <a:off x="457200" y="1157287"/>
            <a:ext cx="5867400" cy="98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9063" indent="-119063">
              <a:tabLst>
                <a:tab pos="119063" algn="l"/>
              </a:tabLst>
              <a:defRPr sz="1200">
                <a:solidFill>
                  <a:schemeClr val="tx1"/>
                </a:solidFill>
                <a:latin typeface="Arial" panose="020B0604020202020204" pitchFamily="34" charset="0"/>
              </a:defRPr>
            </a:lvl1pPr>
            <a:lvl2pPr marL="742950" indent="-285750">
              <a:tabLst>
                <a:tab pos="119063" algn="l"/>
              </a:tabLst>
              <a:defRPr sz="1200">
                <a:solidFill>
                  <a:schemeClr val="tx1"/>
                </a:solidFill>
                <a:latin typeface="Arial" panose="020B0604020202020204" pitchFamily="34" charset="0"/>
              </a:defRPr>
            </a:lvl2pPr>
            <a:lvl3pPr marL="1143000" indent="-228600">
              <a:tabLst>
                <a:tab pos="119063" algn="l"/>
              </a:tabLst>
              <a:defRPr sz="1200">
                <a:solidFill>
                  <a:schemeClr val="tx1"/>
                </a:solidFill>
                <a:latin typeface="Arial" panose="020B0604020202020204" pitchFamily="34" charset="0"/>
              </a:defRPr>
            </a:lvl3pPr>
            <a:lvl4pPr marL="1600200" indent="-228600">
              <a:tabLst>
                <a:tab pos="119063" algn="l"/>
              </a:tabLst>
              <a:defRPr sz="1200">
                <a:solidFill>
                  <a:schemeClr val="tx1"/>
                </a:solidFill>
                <a:latin typeface="Arial" panose="020B0604020202020204" pitchFamily="34" charset="0"/>
              </a:defRPr>
            </a:lvl4pPr>
            <a:lvl5pPr marL="2057400" indent="-228600">
              <a:tabLst>
                <a:tab pos="119063" algn="l"/>
              </a:tabLst>
              <a:defRPr sz="1200">
                <a:solidFill>
                  <a:schemeClr val="tx1"/>
                </a:solidFill>
                <a:latin typeface="Arial" panose="020B0604020202020204" pitchFamily="34" charset="0"/>
              </a:defRPr>
            </a:lvl5pPr>
            <a:lvl6pPr marL="2514600" indent="-228600" eaLnBrk="0" fontAlgn="base" hangingPunct="0">
              <a:spcBef>
                <a:spcPct val="0"/>
              </a:spcBef>
              <a:spcAft>
                <a:spcPct val="0"/>
              </a:spcAft>
              <a:tabLst>
                <a:tab pos="119063" algn="l"/>
              </a:tabLst>
              <a:defRPr sz="1200">
                <a:solidFill>
                  <a:schemeClr val="tx1"/>
                </a:solidFill>
                <a:latin typeface="Arial" panose="020B0604020202020204" pitchFamily="34" charset="0"/>
              </a:defRPr>
            </a:lvl6pPr>
            <a:lvl7pPr marL="2971800" indent="-228600" eaLnBrk="0" fontAlgn="base" hangingPunct="0">
              <a:spcBef>
                <a:spcPct val="0"/>
              </a:spcBef>
              <a:spcAft>
                <a:spcPct val="0"/>
              </a:spcAft>
              <a:tabLst>
                <a:tab pos="119063" algn="l"/>
              </a:tabLst>
              <a:defRPr sz="1200">
                <a:solidFill>
                  <a:schemeClr val="tx1"/>
                </a:solidFill>
                <a:latin typeface="Arial" panose="020B0604020202020204" pitchFamily="34" charset="0"/>
              </a:defRPr>
            </a:lvl7pPr>
            <a:lvl8pPr marL="3429000" indent="-228600" eaLnBrk="0" fontAlgn="base" hangingPunct="0">
              <a:spcBef>
                <a:spcPct val="0"/>
              </a:spcBef>
              <a:spcAft>
                <a:spcPct val="0"/>
              </a:spcAft>
              <a:tabLst>
                <a:tab pos="119063" algn="l"/>
              </a:tabLst>
              <a:defRPr sz="1200">
                <a:solidFill>
                  <a:schemeClr val="tx1"/>
                </a:solidFill>
                <a:latin typeface="Arial" panose="020B0604020202020204" pitchFamily="34" charset="0"/>
              </a:defRPr>
            </a:lvl8pPr>
            <a:lvl9pPr marL="3886200" indent="-228600" eaLnBrk="0" fontAlgn="base" hangingPunct="0">
              <a:spcBef>
                <a:spcPct val="0"/>
              </a:spcBef>
              <a:spcAft>
                <a:spcPct val="0"/>
              </a:spcAft>
              <a:tabLst>
                <a:tab pos="119063" algn="l"/>
              </a:tabLst>
              <a:defRPr sz="1200">
                <a:solidFill>
                  <a:schemeClr val="tx1"/>
                </a:solidFill>
                <a:latin typeface="Arial" panose="020B0604020202020204" pitchFamily="34" charset="0"/>
              </a:defRPr>
            </a:lvl9pPr>
          </a:lstStyle>
          <a:p>
            <a:pPr algn="just" eaLnBrk="1" hangingPunct="1">
              <a:lnSpc>
                <a:spcPct val="150000"/>
              </a:lnSpc>
            </a:pPr>
            <a:r>
              <a:rPr lang="es-ES_tradnl" altLang="es-ES" sz="1300"/>
              <a:t>Implicaba considerar:</a:t>
            </a:r>
          </a:p>
          <a:p>
            <a:pPr algn="just" eaLnBrk="1" hangingPunct="1">
              <a:buFont typeface="Arial" panose="020B0604020202020204" pitchFamily="34" charset="0"/>
              <a:buChar char="•"/>
            </a:pPr>
            <a:r>
              <a:rPr lang="es-ES_tradnl" altLang="es-ES" sz="1300"/>
              <a:t>El tipo de muestreo: muestras </a:t>
            </a:r>
            <a:r>
              <a:rPr lang="es-ES_tradnl" altLang="es-ES" sz="1300" b="1"/>
              <a:t>independientes</a:t>
            </a:r>
            <a:r>
              <a:rPr lang="es-ES_tradnl" altLang="es-ES" sz="1300"/>
              <a:t> o muestras </a:t>
            </a:r>
            <a:r>
              <a:rPr lang="es-ES_tradnl" altLang="es-ES" sz="1300" b="1"/>
              <a:t>relacionadas</a:t>
            </a:r>
          </a:p>
          <a:p>
            <a:pPr algn="just" eaLnBrk="1" hangingPunct="1">
              <a:buFont typeface="Arial" panose="020B0604020202020204" pitchFamily="34" charset="0"/>
              <a:buChar char="•"/>
            </a:pPr>
            <a:r>
              <a:rPr lang="es-ES_tradnl" altLang="es-ES" sz="1300"/>
              <a:t>La </a:t>
            </a:r>
            <a:r>
              <a:rPr lang="es-ES_tradnl" altLang="es-ES" sz="1300" b="1"/>
              <a:t>normalidad</a:t>
            </a:r>
          </a:p>
          <a:p>
            <a:pPr algn="just" eaLnBrk="1" hangingPunct="1">
              <a:buFont typeface="Arial" panose="020B0604020202020204" pitchFamily="34" charset="0"/>
              <a:buChar char="•"/>
            </a:pPr>
            <a:r>
              <a:rPr lang="es-ES_tradnl" altLang="es-ES" sz="1300"/>
              <a:t>La </a:t>
            </a:r>
            <a:r>
              <a:rPr lang="es-ES_tradnl" altLang="es-ES" sz="1300" b="1"/>
              <a:t>homogeneidad de las varianzas</a:t>
            </a:r>
            <a:r>
              <a:rPr lang="es-ES" altLang="es-ES" sz="1300"/>
              <a:t> (si se verifica la normalidad)</a:t>
            </a:r>
            <a:endParaRPr lang="es-ES_tradnl" altLang="es-ES" sz="1300"/>
          </a:p>
        </p:txBody>
      </p:sp>
      <p:graphicFrame>
        <p:nvGraphicFramePr>
          <p:cNvPr id="6150" name="3 Objeto">
            <a:extLst>
              <a:ext uri="{FF2B5EF4-FFF2-40B4-BE49-F238E27FC236}">
                <a16:creationId xmlns:a16="http://schemas.microsoft.com/office/drawing/2014/main" id="{EC9F3115-1442-44C2-810A-AF73CACDD65C}"/>
              </a:ext>
            </a:extLst>
          </p:cNvPr>
          <p:cNvGraphicFramePr>
            <a:graphicFrameLocks noChangeAspect="1"/>
          </p:cNvGraphicFramePr>
          <p:nvPr>
            <p:extLst>
              <p:ext uri="{D42A27DB-BD31-4B8C-83A1-F6EECF244321}">
                <p14:modId xmlns:p14="http://schemas.microsoft.com/office/powerpoint/2010/main" val="760148336"/>
              </p:ext>
            </p:extLst>
          </p:nvPr>
        </p:nvGraphicFramePr>
        <p:xfrm>
          <a:off x="2590800" y="690562"/>
          <a:ext cx="2233612" cy="639763"/>
        </p:xfrm>
        <a:graphic>
          <a:graphicData uri="http://schemas.openxmlformats.org/presentationml/2006/ole">
            <mc:AlternateContent xmlns:mc="http://schemas.openxmlformats.org/markup-compatibility/2006">
              <mc:Choice xmlns:v="urn:schemas-microsoft-com:vml" Requires="v">
                <p:oleObj name="Equation" r:id="rId3" imgW="1688760" imgH="482400" progId="Equation.DSMT4">
                  <p:embed/>
                </p:oleObj>
              </mc:Choice>
              <mc:Fallback>
                <p:oleObj name="Equation" r:id="rId3" imgW="1688760" imgH="482400" progId="Equation.DSMT4">
                  <p:embed/>
                  <p:pic>
                    <p:nvPicPr>
                      <p:cNvPr id="0" name="3 Objeto"/>
                      <p:cNvPicPr>
                        <a:picLocks noChangeAspect="1" noChangeArrowheads="1"/>
                      </p:cNvPicPr>
                      <p:nvPr/>
                    </p:nvPicPr>
                    <p:blipFill>
                      <a:blip r:embed="rId4"/>
                      <a:srcRect/>
                      <a:stretch>
                        <a:fillRect/>
                      </a:stretch>
                    </p:blipFill>
                    <p:spPr bwMode="auto">
                      <a:xfrm>
                        <a:off x="2590800" y="690562"/>
                        <a:ext cx="2233612"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1" name="47 Objeto">
            <a:extLst>
              <a:ext uri="{FF2B5EF4-FFF2-40B4-BE49-F238E27FC236}">
                <a16:creationId xmlns:a16="http://schemas.microsoft.com/office/drawing/2014/main" id="{056124A6-1BFC-49B2-9709-7C2FAFB2DE7A}"/>
              </a:ext>
            </a:extLst>
          </p:cNvPr>
          <p:cNvGraphicFramePr>
            <a:graphicFrameLocks noChangeAspect="1"/>
          </p:cNvGraphicFramePr>
          <p:nvPr>
            <p:extLst>
              <p:ext uri="{D42A27DB-BD31-4B8C-83A1-F6EECF244321}">
                <p14:modId xmlns:p14="http://schemas.microsoft.com/office/powerpoint/2010/main" val="3419663478"/>
              </p:ext>
            </p:extLst>
          </p:nvPr>
        </p:nvGraphicFramePr>
        <p:xfrm>
          <a:off x="2992437" y="2471738"/>
          <a:ext cx="2265363" cy="639762"/>
        </p:xfrm>
        <a:graphic>
          <a:graphicData uri="http://schemas.openxmlformats.org/presentationml/2006/ole">
            <mc:AlternateContent xmlns:mc="http://schemas.openxmlformats.org/markup-compatibility/2006">
              <mc:Choice xmlns:v="urn:schemas-microsoft-com:vml" Requires="v">
                <p:oleObj name="Equation" r:id="rId5" imgW="1714320" imgH="482400" progId="Equation.DSMT4">
                  <p:embed/>
                </p:oleObj>
              </mc:Choice>
              <mc:Fallback>
                <p:oleObj name="Equation" r:id="rId5" imgW="1714320" imgH="482400" progId="Equation.DSMT4">
                  <p:embed/>
                  <p:pic>
                    <p:nvPicPr>
                      <p:cNvPr id="0" name="47 Objeto"/>
                      <p:cNvPicPr>
                        <a:picLocks noChangeAspect="1" noChangeArrowheads="1"/>
                      </p:cNvPicPr>
                      <p:nvPr/>
                    </p:nvPicPr>
                    <p:blipFill>
                      <a:blip r:embed="rId6"/>
                      <a:srcRect/>
                      <a:stretch>
                        <a:fillRect/>
                      </a:stretch>
                    </p:blipFill>
                    <p:spPr bwMode="auto">
                      <a:xfrm>
                        <a:off x="2992437" y="2471738"/>
                        <a:ext cx="2265363"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2" name="Text Box 42">
            <a:extLst>
              <a:ext uri="{FF2B5EF4-FFF2-40B4-BE49-F238E27FC236}">
                <a16:creationId xmlns:a16="http://schemas.microsoft.com/office/drawing/2014/main" id="{041F2869-A43D-4018-BCD2-5FC864F6B705}"/>
              </a:ext>
            </a:extLst>
          </p:cNvPr>
          <p:cNvSpPr txBox="1">
            <a:spLocks noChangeArrowheads="1"/>
          </p:cNvSpPr>
          <p:nvPr/>
        </p:nvSpPr>
        <p:spPr bwMode="auto">
          <a:xfrm>
            <a:off x="457200" y="3186113"/>
            <a:ext cx="4800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300" dirty="0"/>
              <a:t>La hipótesis de homogeneidad de las proporciones (</a:t>
            </a:r>
            <a:r>
              <a:rPr lang="es-ES_tradnl" altLang="es-ES" sz="1400" i="1" dirty="0">
                <a:latin typeface="Times New Roman" panose="02020603050405020304" pitchFamily="18" charset="0"/>
                <a:cs typeface="Times New Roman" panose="02020603050405020304" pitchFamily="18" charset="0"/>
              </a:rPr>
              <a:t>p</a:t>
            </a:r>
            <a:r>
              <a:rPr lang="es-ES_tradnl" altLang="es-ES" sz="1400" baseline="-25000" dirty="0"/>
              <a:t>1</a:t>
            </a:r>
            <a:r>
              <a:rPr lang="es-ES_tradnl" altLang="es-ES" sz="1300" dirty="0"/>
              <a:t> = </a:t>
            </a:r>
            <a:r>
              <a:rPr lang="es-ES_tradnl" altLang="es-ES" sz="1400" i="1" dirty="0">
                <a:latin typeface="Times New Roman" panose="02020603050405020304" pitchFamily="18" charset="0"/>
                <a:cs typeface="Times New Roman" panose="02020603050405020304" pitchFamily="18" charset="0"/>
              </a:rPr>
              <a:t>p</a:t>
            </a:r>
            <a:r>
              <a:rPr lang="es-ES_tradnl" altLang="es-ES" sz="1400" baseline="-25000" dirty="0"/>
              <a:t>2</a:t>
            </a:r>
            <a:r>
              <a:rPr lang="es-ES_tradnl" altLang="es-ES" sz="1300" dirty="0"/>
              <a:t>) equivale a la de independencia de la variable binomial estudiada respecto a la variable dicotómica que divide a esta en dos grupos (con proporciones </a:t>
            </a:r>
            <a:r>
              <a:rPr lang="es-ES_tradnl" altLang="es-ES" sz="1400" i="1" dirty="0">
                <a:latin typeface="Times New Roman" panose="02020603050405020304" pitchFamily="18" charset="0"/>
                <a:cs typeface="Times New Roman" panose="02020603050405020304" pitchFamily="18" charset="0"/>
              </a:rPr>
              <a:t>p</a:t>
            </a:r>
            <a:r>
              <a:rPr lang="es-ES_tradnl" altLang="es-ES" sz="1400" baseline="-25000" dirty="0"/>
              <a:t>1</a:t>
            </a:r>
            <a:r>
              <a:rPr lang="es-ES_tradnl" altLang="es-ES" sz="1300" dirty="0"/>
              <a:t> y </a:t>
            </a:r>
            <a:r>
              <a:rPr lang="es-ES_tradnl" altLang="es-ES" sz="1400" i="1" dirty="0">
                <a:latin typeface="Times New Roman" panose="02020603050405020304" pitchFamily="18" charset="0"/>
                <a:cs typeface="Times New Roman" panose="02020603050405020304" pitchFamily="18" charset="0"/>
              </a:rPr>
              <a:t>p</a:t>
            </a:r>
            <a:r>
              <a:rPr lang="es-ES_tradnl" altLang="es-ES" sz="1400" baseline="-25000" dirty="0"/>
              <a:t>2</a:t>
            </a:r>
            <a:r>
              <a:rPr lang="es-ES_tradnl" altLang="es-ES" sz="1300" dirty="0"/>
              <a:t>) </a:t>
            </a:r>
            <a:endParaRPr lang="es-ES_tradnl" altLang="es-ES" sz="1300" dirty="0">
              <a:latin typeface="Symbol" panose="05050102010706020507" pitchFamily="18" charset="2"/>
            </a:endParaRPr>
          </a:p>
        </p:txBody>
      </p:sp>
      <p:sp>
        <p:nvSpPr>
          <p:cNvPr id="6153" name="Text Box 42">
            <a:extLst>
              <a:ext uri="{FF2B5EF4-FFF2-40B4-BE49-F238E27FC236}">
                <a16:creationId xmlns:a16="http://schemas.microsoft.com/office/drawing/2014/main" id="{84023622-80BA-44D2-9E36-3FEA07E66CEE}"/>
              </a:ext>
            </a:extLst>
          </p:cNvPr>
          <p:cNvSpPr txBox="1">
            <a:spLocks noChangeArrowheads="1"/>
          </p:cNvSpPr>
          <p:nvPr/>
        </p:nvSpPr>
        <p:spPr bwMode="auto">
          <a:xfrm>
            <a:off x="457200" y="4376738"/>
            <a:ext cx="4800600" cy="149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9063" indent="-119063">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lnSpc>
                <a:spcPct val="150000"/>
              </a:lnSpc>
            </a:pPr>
            <a:r>
              <a:rPr lang="es-ES_tradnl" altLang="es-ES" sz="1400" dirty="0"/>
              <a:t>Implica considerar:</a:t>
            </a:r>
          </a:p>
          <a:p>
            <a:pPr algn="just" eaLnBrk="1" hangingPunct="1">
              <a:buFont typeface="Arial" panose="020B0604020202020204" pitchFamily="34" charset="0"/>
              <a:buChar char="•"/>
            </a:pPr>
            <a:r>
              <a:rPr lang="es-ES_tradnl" altLang="es-ES" sz="1400" dirty="0"/>
              <a:t>El tipo de muestreo: muestras </a:t>
            </a:r>
            <a:r>
              <a:rPr lang="es-ES_tradnl" altLang="es-ES" sz="1400" b="1" dirty="0"/>
              <a:t>independientes</a:t>
            </a:r>
            <a:r>
              <a:rPr lang="es-ES_tradnl" altLang="es-ES" sz="1400" dirty="0"/>
              <a:t> o muestras </a:t>
            </a:r>
            <a:r>
              <a:rPr lang="es-ES_tradnl" altLang="es-ES" sz="1400" b="1" dirty="0"/>
              <a:t>relacionadas</a:t>
            </a:r>
          </a:p>
          <a:p>
            <a:pPr algn="just" eaLnBrk="1" hangingPunct="1">
              <a:buFont typeface="Arial" panose="020B0604020202020204" pitchFamily="34" charset="0"/>
              <a:buChar char="•"/>
            </a:pPr>
            <a:endParaRPr lang="es-ES_tradnl" altLang="es-ES" sz="1400" b="1" dirty="0"/>
          </a:p>
          <a:p>
            <a:pPr algn="just" eaLnBrk="1" hangingPunct="1">
              <a:buFont typeface="Arial" panose="020B0604020202020204" pitchFamily="34" charset="0"/>
              <a:buChar char="•"/>
            </a:pPr>
            <a:r>
              <a:rPr lang="es-ES_tradnl" altLang="es-ES" sz="1400" dirty="0"/>
              <a:t>La inferencia con proporciones siempre </a:t>
            </a:r>
            <a:r>
              <a:rPr lang="es-ES" altLang="es-ES" sz="1400" dirty="0"/>
              <a:t>requiere del cumplimiento de unas </a:t>
            </a:r>
            <a:r>
              <a:rPr lang="es-ES" altLang="es-ES" sz="1400" b="1" dirty="0"/>
              <a:t>condiciones de validez</a:t>
            </a:r>
            <a:endParaRPr lang="es-ES_tradnl" altLang="es-ES" sz="1400" b="1" dirty="0"/>
          </a:p>
        </p:txBody>
      </p:sp>
      <p:grpSp>
        <p:nvGrpSpPr>
          <p:cNvPr id="6154" name="12 Grupo">
            <a:extLst>
              <a:ext uri="{FF2B5EF4-FFF2-40B4-BE49-F238E27FC236}">
                <a16:creationId xmlns:a16="http://schemas.microsoft.com/office/drawing/2014/main" id="{E7FDD6EE-47A2-466D-9A84-9D3957AD0924}"/>
              </a:ext>
            </a:extLst>
          </p:cNvPr>
          <p:cNvGrpSpPr>
            <a:grpSpLocks/>
          </p:cNvGrpSpPr>
          <p:nvPr/>
        </p:nvGrpSpPr>
        <p:grpSpPr bwMode="auto">
          <a:xfrm>
            <a:off x="5410200" y="2357438"/>
            <a:ext cx="3487738" cy="4348162"/>
            <a:chOff x="5428368" y="2052638"/>
            <a:chExt cx="3487032" cy="4348162"/>
          </a:xfrm>
        </p:grpSpPr>
        <p:pic>
          <p:nvPicPr>
            <p:cNvPr id="6155" name="Picture 38">
              <a:extLst>
                <a:ext uri="{FF2B5EF4-FFF2-40B4-BE49-F238E27FC236}">
                  <a16:creationId xmlns:a16="http://schemas.microsoft.com/office/drawing/2014/main" id="{F9DEDF39-1AF8-4203-B41F-FB6816C3E9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75346" y="2660719"/>
              <a:ext cx="1237432" cy="2588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Lst>
          </p:spPr>
        </p:pic>
        <p:grpSp>
          <p:nvGrpSpPr>
            <p:cNvPr id="6156" name="1 Grupo">
              <a:extLst>
                <a:ext uri="{FF2B5EF4-FFF2-40B4-BE49-F238E27FC236}">
                  <a16:creationId xmlns:a16="http://schemas.microsoft.com/office/drawing/2014/main" id="{4094E60F-01BC-4867-9F18-EEDC53FBD80F}"/>
                </a:ext>
              </a:extLst>
            </p:cNvPr>
            <p:cNvGrpSpPr>
              <a:grpSpLocks/>
            </p:cNvGrpSpPr>
            <p:nvPr/>
          </p:nvGrpSpPr>
          <p:grpSpPr bwMode="auto">
            <a:xfrm>
              <a:off x="5581052" y="2776538"/>
              <a:ext cx="1745967" cy="3271825"/>
              <a:chOff x="5543144" y="2496768"/>
              <a:chExt cx="1745967" cy="3271825"/>
            </a:xfrm>
          </p:grpSpPr>
          <p:pic>
            <p:nvPicPr>
              <p:cNvPr id="6171" name="Picture 35">
                <a:extLst>
                  <a:ext uri="{FF2B5EF4-FFF2-40B4-BE49-F238E27FC236}">
                    <a16:creationId xmlns:a16="http://schemas.microsoft.com/office/drawing/2014/main" id="{5E0ACAE6-B43F-4C90-BF6E-F54EE556FF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43144" y="2496768"/>
                <a:ext cx="1262075" cy="327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Lst>
            </p:spPr>
          </p:pic>
          <p:grpSp>
            <p:nvGrpSpPr>
              <p:cNvPr id="6172" name="Group 22">
                <a:extLst>
                  <a:ext uri="{FF2B5EF4-FFF2-40B4-BE49-F238E27FC236}">
                    <a16:creationId xmlns:a16="http://schemas.microsoft.com/office/drawing/2014/main" id="{28403C7E-E430-407A-AD44-8A19465FF049}"/>
                  </a:ext>
                </a:extLst>
              </p:cNvPr>
              <p:cNvGrpSpPr>
                <a:grpSpLocks/>
              </p:cNvGrpSpPr>
              <p:nvPr/>
            </p:nvGrpSpPr>
            <p:grpSpPr bwMode="auto">
              <a:xfrm>
                <a:off x="6659293" y="3680737"/>
                <a:ext cx="330200" cy="1047750"/>
                <a:chOff x="4120" y="2592"/>
                <a:chExt cx="226" cy="629"/>
              </a:xfrm>
            </p:grpSpPr>
            <p:sp>
              <p:nvSpPr>
                <p:cNvPr id="6174" name="Line 21">
                  <a:extLst>
                    <a:ext uri="{FF2B5EF4-FFF2-40B4-BE49-F238E27FC236}">
                      <a16:creationId xmlns:a16="http://schemas.microsoft.com/office/drawing/2014/main" id="{5A6ED5DD-C117-4012-9CC9-3AB5407912C7}"/>
                    </a:ext>
                  </a:extLst>
                </p:cNvPr>
                <p:cNvSpPr>
                  <a:spLocks noChangeShapeType="1"/>
                </p:cNvSpPr>
                <p:nvPr/>
              </p:nvSpPr>
              <p:spPr bwMode="auto">
                <a:xfrm>
                  <a:off x="4298" y="2907"/>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75" name="Freeform 19">
                  <a:extLst>
                    <a:ext uri="{FF2B5EF4-FFF2-40B4-BE49-F238E27FC236}">
                      <a16:creationId xmlns:a16="http://schemas.microsoft.com/office/drawing/2014/main" id="{DDFBF9B0-5878-44E7-B100-5949B4EEF116}"/>
                    </a:ext>
                  </a:extLst>
                </p:cNvPr>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6173" name="Text Box 27">
                <a:extLst>
                  <a:ext uri="{FF2B5EF4-FFF2-40B4-BE49-F238E27FC236}">
                    <a16:creationId xmlns:a16="http://schemas.microsoft.com/office/drawing/2014/main" id="{44A0C567-9441-4AA8-BE63-BB3744B3B150}"/>
                  </a:ext>
                </a:extLst>
              </p:cNvPr>
              <p:cNvSpPr txBox="1">
                <a:spLocks noChangeArrowheads="1"/>
              </p:cNvSpPr>
              <p:nvPr/>
            </p:nvSpPr>
            <p:spPr bwMode="auto">
              <a:xfrm rot="-5400000">
                <a:off x="6743011" y="4099941"/>
                <a:ext cx="863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grpSp>
        <p:sp>
          <p:nvSpPr>
            <p:cNvPr id="12" name="11 Rectángulo redondeado">
              <a:extLst>
                <a:ext uri="{FF2B5EF4-FFF2-40B4-BE49-F238E27FC236}">
                  <a16:creationId xmlns:a16="http://schemas.microsoft.com/office/drawing/2014/main" id="{7F08B014-E6EE-4699-9E25-24C8115F22C4}"/>
                </a:ext>
              </a:extLst>
            </p:cNvPr>
            <p:cNvSpPr/>
            <p:nvPr/>
          </p:nvSpPr>
          <p:spPr bwMode="auto">
            <a:xfrm>
              <a:off x="5428368" y="2052638"/>
              <a:ext cx="3487032" cy="4348162"/>
            </a:xfrm>
            <a:prstGeom prst="roundRect">
              <a:avLst>
                <a:gd name="adj" fmla="val 4392"/>
              </a:avLst>
            </a:prstGeom>
            <a:solidFill>
              <a:schemeClr val="bg1">
                <a:lumMod val="85000"/>
                <a:alpha val="20000"/>
              </a:schemeClr>
            </a:solidFill>
            <a:ln w="9525" cap="flat" cmpd="sng" algn="ctr">
              <a:solidFill>
                <a:srgbClr val="C0C0C0"/>
              </a:solidFill>
              <a:prstDash val="solid"/>
              <a:round/>
              <a:headEnd type="none" w="med" len="med"/>
              <a:tailEnd type="none" w="med" len="med"/>
            </a:ln>
            <a:effectLst/>
          </p:spPr>
          <p:txBody>
            <a:bodyPr/>
            <a:lstStyle/>
            <a:p>
              <a:pPr eaLnBrk="1" hangingPunct="1">
                <a:defRPr/>
              </a:pPr>
              <a:endParaRPr lang="es-ES">
                <a:latin typeface="Arial" charset="0"/>
              </a:endParaRPr>
            </a:p>
          </p:txBody>
        </p:sp>
        <p:grpSp>
          <p:nvGrpSpPr>
            <p:cNvPr id="6158" name="Group 29">
              <a:extLst>
                <a:ext uri="{FF2B5EF4-FFF2-40B4-BE49-F238E27FC236}">
                  <a16:creationId xmlns:a16="http://schemas.microsoft.com/office/drawing/2014/main" id="{5E6070A4-B02D-42E5-BE11-D57BC7BB873D}"/>
                </a:ext>
              </a:extLst>
            </p:cNvPr>
            <p:cNvGrpSpPr>
              <a:grpSpLocks/>
            </p:cNvGrpSpPr>
            <p:nvPr/>
          </p:nvGrpSpPr>
          <p:grpSpPr bwMode="auto">
            <a:xfrm>
              <a:off x="7849591" y="5256561"/>
              <a:ext cx="863523" cy="370008"/>
              <a:chOff x="4752" y="3253"/>
              <a:chExt cx="521" cy="222"/>
            </a:xfrm>
          </p:grpSpPr>
          <p:grpSp>
            <p:nvGrpSpPr>
              <p:cNvPr id="6167" name="Group 23">
                <a:extLst>
                  <a:ext uri="{FF2B5EF4-FFF2-40B4-BE49-F238E27FC236}">
                    <a16:creationId xmlns:a16="http://schemas.microsoft.com/office/drawing/2014/main" id="{C4BFCB52-5CB6-4F65-935E-F680BE12C83F}"/>
                  </a:ext>
                </a:extLst>
              </p:cNvPr>
              <p:cNvGrpSpPr>
                <a:grpSpLocks/>
              </p:cNvGrpSpPr>
              <p:nvPr/>
            </p:nvGrpSpPr>
            <p:grpSpPr bwMode="auto">
              <a:xfrm rot="5400000">
                <a:off x="4947" y="3206"/>
                <a:ext cx="107" cy="202"/>
                <a:chOff x="4120" y="2592"/>
                <a:chExt cx="226" cy="629"/>
              </a:xfrm>
            </p:grpSpPr>
            <p:sp>
              <p:nvSpPr>
                <p:cNvPr id="6169" name="Freeform 24">
                  <a:extLst>
                    <a:ext uri="{FF2B5EF4-FFF2-40B4-BE49-F238E27FC236}">
                      <a16:creationId xmlns:a16="http://schemas.microsoft.com/office/drawing/2014/main" id="{A6075D30-72D9-45BF-91BA-048264BDA225}"/>
                    </a:ext>
                  </a:extLst>
                </p:cNvPr>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70" name="Line 25">
                  <a:extLst>
                    <a:ext uri="{FF2B5EF4-FFF2-40B4-BE49-F238E27FC236}">
                      <a16:creationId xmlns:a16="http://schemas.microsoft.com/office/drawing/2014/main" id="{6F7574B6-3223-4AE8-AB2B-94C67EDA368A}"/>
                    </a:ext>
                  </a:extLst>
                </p:cNvPr>
                <p:cNvSpPr>
                  <a:spLocks noChangeShapeType="1"/>
                </p:cNvSpPr>
                <p:nvPr/>
              </p:nvSpPr>
              <p:spPr bwMode="auto">
                <a:xfrm>
                  <a:off x="4298" y="2907"/>
                  <a:ext cx="48"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6168" name="Text Box 26">
                <a:extLst>
                  <a:ext uri="{FF2B5EF4-FFF2-40B4-BE49-F238E27FC236}">
                    <a16:creationId xmlns:a16="http://schemas.microsoft.com/office/drawing/2014/main" id="{D2486086-D45A-4F53-9983-9358E01D268D}"/>
                  </a:ext>
                </a:extLst>
              </p:cNvPr>
              <p:cNvSpPr txBox="1">
                <a:spLocks noChangeArrowheads="1"/>
              </p:cNvSpPr>
              <p:nvPr/>
            </p:nvSpPr>
            <p:spPr bwMode="auto">
              <a:xfrm>
                <a:off x="4752" y="3338"/>
                <a:ext cx="521"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grpSp>
        <p:sp>
          <p:nvSpPr>
            <p:cNvPr id="3088" name="Text Box 31">
              <a:extLst>
                <a:ext uri="{FF2B5EF4-FFF2-40B4-BE49-F238E27FC236}">
                  <a16:creationId xmlns:a16="http://schemas.microsoft.com/office/drawing/2014/main" id="{BD82A3F0-B2CC-4696-AB4E-7647B69EE921}"/>
                </a:ext>
              </a:extLst>
            </p:cNvPr>
            <p:cNvSpPr txBox="1">
              <a:spLocks noChangeArrowheads="1"/>
            </p:cNvSpPr>
            <p:nvPr/>
          </p:nvSpPr>
          <p:spPr bwMode="auto">
            <a:xfrm>
              <a:off x="5580737" y="2298700"/>
              <a:ext cx="70153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defRPr/>
              </a:pPr>
              <a:r>
                <a:rPr lang="es-ES_tradnl" altLang="es-ES" sz="800" dirty="0">
                  <a:solidFill>
                    <a:schemeClr val="tx1">
                      <a:lumMod val="50000"/>
                      <a:lumOff val="50000"/>
                    </a:schemeClr>
                  </a:solidFill>
                </a:rPr>
                <a:t>Variable de</a:t>
              </a:r>
            </a:p>
            <a:p>
              <a:pPr algn="just" eaLnBrk="1" hangingPunct="1">
                <a:defRPr/>
              </a:pPr>
              <a:r>
                <a:rPr lang="es-ES_tradnl" altLang="es-ES" sz="800" dirty="0">
                  <a:solidFill>
                    <a:schemeClr val="tx1">
                      <a:lumMod val="50000"/>
                      <a:lumOff val="50000"/>
                    </a:schemeClr>
                  </a:solidFill>
                </a:rPr>
                <a:t>agrupación</a:t>
              </a:r>
              <a:endParaRPr lang="es-ES" altLang="es-ES" sz="800" dirty="0">
                <a:solidFill>
                  <a:schemeClr val="tx1">
                    <a:lumMod val="50000"/>
                    <a:lumOff val="50000"/>
                  </a:schemeClr>
                </a:solidFill>
              </a:endParaRPr>
            </a:p>
          </p:txBody>
        </p:sp>
        <p:sp>
          <p:nvSpPr>
            <p:cNvPr id="3089" name="Text Box 32">
              <a:extLst>
                <a:ext uri="{FF2B5EF4-FFF2-40B4-BE49-F238E27FC236}">
                  <a16:creationId xmlns:a16="http://schemas.microsoft.com/office/drawing/2014/main" id="{7159A4F0-FE4B-46D2-8D23-3DDEE61E1B03}"/>
                </a:ext>
              </a:extLst>
            </p:cNvPr>
            <p:cNvSpPr txBox="1">
              <a:spLocks noChangeArrowheads="1"/>
            </p:cNvSpPr>
            <p:nvPr/>
          </p:nvSpPr>
          <p:spPr bwMode="auto">
            <a:xfrm>
              <a:off x="6321950" y="2305050"/>
              <a:ext cx="645981"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defRPr/>
              </a:pPr>
              <a:r>
                <a:rPr lang="es-ES_tradnl" altLang="es-ES" sz="800" dirty="0">
                  <a:solidFill>
                    <a:schemeClr val="tx1">
                      <a:lumMod val="50000"/>
                      <a:lumOff val="50000"/>
                    </a:schemeClr>
                  </a:solidFill>
                </a:rPr>
                <a:t>Variable a</a:t>
              </a:r>
            </a:p>
            <a:p>
              <a:pPr algn="just" eaLnBrk="1" hangingPunct="1">
                <a:defRPr/>
              </a:pPr>
              <a:r>
                <a:rPr lang="es-ES_tradnl" altLang="es-ES" sz="800" dirty="0">
                  <a:solidFill>
                    <a:schemeClr val="tx1">
                      <a:lumMod val="50000"/>
                      <a:lumOff val="50000"/>
                    </a:schemeClr>
                  </a:solidFill>
                </a:rPr>
                <a:t>comparar</a:t>
              </a:r>
              <a:endParaRPr lang="es-ES" altLang="es-ES" sz="800" dirty="0">
                <a:solidFill>
                  <a:schemeClr val="tx1">
                    <a:lumMod val="50000"/>
                    <a:lumOff val="50000"/>
                  </a:schemeClr>
                </a:solidFill>
              </a:endParaRPr>
            </a:p>
          </p:txBody>
        </p:sp>
        <p:sp>
          <p:nvSpPr>
            <p:cNvPr id="6161" name="Text Box 35">
              <a:extLst>
                <a:ext uri="{FF2B5EF4-FFF2-40B4-BE49-F238E27FC236}">
                  <a16:creationId xmlns:a16="http://schemas.microsoft.com/office/drawing/2014/main" id="{69BB419E-984B-4FA8-99BE-4B70D5D75315}"/>
                </a:ext>
              </a:extLst>
            </p:cNvPr>
            <p:cNvSpPr txBox="1">
              <a:spLocks noChangeArrowheads="1"/>
            </p:cNvSpPr>
            <p:nvPr/>
          </p:nvSpPr>
          <p:spPr bwMode="auto">
            <a:xfrm>
              <a:off x="6967256" y="5893713"/>
              <a:ext cx="18303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a:solidFill>
                    <a:srgbClr val="005800"/>
                  </a:solidFill>
                </a:rPr>
                <a:t>Formato computacional de las comparaciones</a:t>
              </a:r>
              <a:endParaRPr lang="es-ES_tradnl" altLang="es-ES" sz="1100" b="1">
                <a:solidFill>
                  <a:srgbClr val="005800"/>
                </a:solidFill>
                <a:latin typeface="Symbol" panose="05050102010706020507" pitchFamily="18" charset="2"/>
              </a:endParaRPr>
            </a:p>
          </p:txBody>
        </p:sp>
        <p:sp>
          <p:nvSpPr>
            <p:cNvPr id="6162" name="Text Box 36">
              <a:extLst>
                <a:ext uri="{FF2B5EF4-FFF2-40B4-BE49-F238E27FC236}">
                  <a16:creationId xmlns:a16="http://schemas.microsoft.com/office/drawing/2014/main" id="{E3305169-0E18-4962-9807-E20F9D45E79A}"/>
                </a:ext>
              </a:extLst>
            </p:cNvPr>
            <p:cNvSpPr txBox="1">
              <a:spLocks noChangeArrowheads="1"/>
            </p:cNvSpPr>
            <p:nvPr/>
          </p:nvSpPr>
          <p:spPr bwMode="auto">
            <a:xfrm>
              <a:off x="5428368" y="2103911"/>
              <a:ext cx="167005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a:solidFill>
                    <a:srgbClr val="005800"/>
                  </a:solidFill>
                </a:rPr>
                <a:t>M. independientes</a:t>
              </a:r>
              <a:endParaRPr lang="es-ES_tradnl" altLang="es-ES" sz="1100" b="1">
                <a:solidFill>
                  <a:srgbClr val="005800"/>
                </a:solidFill>
                <a:latin typeface="Symbol" panose="05050102010706020507" pitchFamily="18" charset="2"/>
              </a:endParaRPr>
            </a:p>
          </p:txBody>
        </p:sp>
        <p:sp>
          <p:nvSpPr>
            <p:cNvPr id="6163" name="Text Box 37">
              <a:extLst>
                <a:ext uri="{FF2B5EF4-FFF2-40B4-BE49-F238E27FC236}">
                  <a16:creationId xmlns:a16="http://schemas.microsoft.com/office/drawing/2014/main" id="{CB5F6D81-2756-49E6-B45E-481E8EDD673E}"/>
                </a:ext>
              </a:extLst>
            </p:cNvPr>
            <p:cNvSpPr txBox="1">
              <a:spLocks noChangeArrowheads="1"/>
            </p:cNvSpPr>
            <p:nvPr/>
          </p:nvSpPr>
          <p:spPr bwMode="auto">
            <a:xfrm>
              <a:off x="7526056" y="2109912"/>
              <a:ext cx="111283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a:solidFill>
                    <a:srgbClr val="005800"/>
                  </a:solidFill>
                </a:rPr>
                <a:t>M. apareadas</a:t>
              </a:r>
              <a:endParaRPr lang="es-ES_tradnl" altLang="es-ES" sz="1100" b="1">
                <a:solidFill>
                  <a:srgbClr val="005800"/>
                </a:solidFill>
                <a:latin typeface="Symbol" panose="05050102010706020507" pitchFamily="18" charset="2"/>
              </a:endParaRPr>
            </a:p>
          </p:txBody>
        </p:sp>
        <p:cxnSp>
          <p:nvCxnSpPr>
            <p:cNvPr id="6164" name="3 Conector recto de flecha">
              <a:extLst>
                <a:ext uri="{FF2B5EF4-FFF2-40B4-BE49-F238E27FC236}">
                  <a16:creationId xmlns:a16="http://schemas.microsoft.com/office/drawing/2014/main" id="{C261519E-21BB-4B85-A540-09FAAB94D1DD}"/>
                </a:ext>
              </a:extLst>
            </p:cNvPr>
            <p:cNvCxnSpPr>
              <a:cxnSpLocks noChangeShapeType="1"/>
            </p:cNvCxnSpPr>
            <p:nvPr/>
          </p:nvCxnSpPr>
          <p:spPr bwMode="auto">
            <a:xfrm>
              <a:off x="6108224" y="2624138"/>
              <a:ext cx="34800" cy="145257"/>
            </a:xfrm>
            <a:prstGeom prst="straightConnector1">
              <a:avLst/>
            </a:prstGeom>
            <a:noFill/>
            <a:ln w="9525" algn="ctr">
              <a:solidFill>
                <a:srgbClr val="C0C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5" name="41 Conector recto de flecha">
              <a:extLst>
                <a:ext uri="{FF2B5EF4-FFF2-40B4-BE49-F238E27FC236}">
                  <a16:creationId xmlns:a16="http://schemas.microsoft.com/office/drawing/2014/main" id="{C84E5C70-E5C4-4C90-8F03-82B9BE116619}"/>
                </a:ext>
              </a:extLst>
            </p:cNvPr>
            <p:cNvCxnSpPr>
              <a:cxnSpLocks noChangeShapeType="1"/>
            </p:cNvCxnSpPr>
            <p:nvPr/>
          </p:nvCxnSpPr>
          <p:spPr bwMode="auto">
            <a:xfrm>
              <a:off x="6629400" y="2642074"/>
              <a:ext cx="0" cy="134464"/>
            </a:xfrm>
            <a:prstGeom prst="straightConnector1">
              <a:avLst/>
            </a:prstGeom>
            <a:noFill/>
            <a:ln w="9525" algn="ctr">
              <a:solidFill>
                <a:srgbClr val="C0C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66" name="10 Rectángulo redondeado">
              <a:extLst>
                <a:ext uri="{FF2B5EF4-FFF2-40B4-BE49-F238E27FC236}">
                  <a16:creationId xmlns:a16="http://schemas.microsoft.com/office/drawing/2014/main" id="{976F53E5-2C37-46AA-BDEE-46CF0C6B7C5D}"/>
                </a:ext>
              </a:extLst>
            </p:cNvPr>
            <p:cNvSpPr>
              <a:spLocks noChangeArrowheads="1"/>
            </p:cNvSpPr>
            <p:nvPr/>
          </p:nvSpPr>
          <p:spPr bwMode="auto">
            <a:xfrm>
              <a:off x="7391400" y="2933700"/>
              <a:ext cx="1406243" cy="76200"/>
            </a:xfrm>
            <a:prstGeom prst="roundRect">
              <a:avLst>
                <a:gd name="adj" fmla="val 16667"/>
              </a:avLst>
            </a:prstGeom>
            <a:solidFill>
              <a:schemeClr val="accent1">
                <a:alpha val="41960"/>
              </a:schemeClr>
            </a:solidFill>
            <a:ln w="9525" algn="ctr">
              <a:solidFill>
                <a:srgbClr val="C0C0C0"/>
              </a:solidFill>
              <a:round/>
              <a:headEnd/>
              <a:tailEnd/>
            </a:ln>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grpSp>
      <p:sp>
        <p:nvSpPr>
          <p:cNvPr id="2" name="Rectángulo: esquinas redondeadas 1">
            <a:extLst>
              <a:ext uri="{FF2B5EF4-FFF2-40B4-BE49-F238E27FC236}">
                <a16:creationId xmlns:a16="http://schemas.microsoft.com/office/drawing/2014/main" id="{B450DE31-6F26-42A2-9934-A3F39763BF1F}"/>
              </a:ext>
            </a:extLst>
          </p:cNvPr>
          <p:cNvSpPr/>
          <p:nvPr/>
        </p:nvSpPr>
        <p:spPr bwMode="auto">
          <a:xfrm>
            <a:off x="304800" y="647700"/>
            <a:ext cx="8593138" cy="1490663"/>
          </a:xfrm>
          <a:prstGeom prst="roundRect">
            <a:avLst>
              <a:gd name="adj" fmla="val 12833"/>
            </a:avLst>
          </a:pr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ES" sz="1200" b="0" i="0" u="none" strike="noStrike" cap="none" normalizeH="0" baseline="0">
              <a:ln>
                <a:noFill/>
              </a:ln>
              <a:solidFill>
                <a:schemeClr val="tx1"/>
              </a:solidFill>
              <a:effectLst/>
              <a:latin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7">
            <a:extLst>
              <a:ext uri="{FF2B5EF4-FFF2-40B4-BE49-F238E27FC236}">
                <a16:creationId xmlns:a16="http://schemas.microsoft.com/office/drawing/2014/main" id="{1BFF97B6-7798-4021-AD18-CA7C58DA2FFA}"/>
              </a:ext>
            </a:extLst>
          </p:cNvPr>
          <p:cNvSpPr>
            <a:spLocks noChangeArrowheads="1"/>
          </p:cNvSpPr>
          <p:nvPr/>
        </p:nvSpPr>
        <p:spPr bwMode="auto">
          <a:xfrm>
            <a:off x="3895725" y="1295400"/>
            <a:ext cx="1514475" cy="495300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8195" name="Text Box 3">
            <a:extLst>
              <a:ext uri="{FF2B5EF4-FFF2-40B4-BE49-F238E27FC236}">
                <a16:creationId xmlns:a16="http://schemas.microsoft.com/office/drawing/2014/main" id="{D269BD4F-2254-47D2-940A-14CC0EA77F6E}"/>
              </a:ext>
            </a:extLst>
          </p:cNvPr>
          <p:cNvSpPr txBox="1">
            <a:spLocks noChangeArrowheads="1"/>
          </p:cNvSpPr>
          <p:nvPr/>
        </p:nvSpPr>
        <p:spPr bwMode="auto">
          <a:xfrm>
            <a:off x="228600" y="6491288"/>
            <a:ext cx="3810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a:t>* O bien las alternativas unilaterales:                 ; o </a:t>
            </a:r>
            <a:endParaRPr lang="es-ES" altLang="es-ES"/>
          </a:p>
        </p:txBody>
      </p:sp>
      <p:graphicFrame>
        <p:nvGraphicFramePr>
          <p:cNvPr id="8196" name="Object 4">
            <a:extLst>
              <a:ext uri="{FF2B5EF4-FFF2-40B4-BE49-F238E27FC236}">
                <a16:creationId xmlns:a16="http://schemas.microsoft.com/office/drawing/2014/main" id="{9475C68F-DF89-4CC9-A2CC-B32CC7A88E21}"/>
              </a:ext>
            </a:extLst>
          </p:cNvPr>
          <p:cNvGraphicFramePr>
            <a:graphicFrameLocks noChangeAspect="1"/>
          </p:cNvGraphicFramePr>
          <p:nvPr/>
        </p:nvGraphicFramePr>
        <p:xfrm>
          <a:off x="2792413" y="6530975"/>
          <a:ext cx="712787" cy="236538"/>
        </p:xfrm>
        <a:graphic>
          <a:graphicData uri="http://schemas.openxmlformats.org/presentationml/2006/ole">
            <mc:AlternateContent xmlns:mc="http://schemas.openxmlformats.org/markup-compatibility/2006">
              <mc:Choice xmlns:v="urn:schemas-microsoft-com:vml" Requires="v">
                <p:oleObj name="Equation" r:id="rId3" imgW="685800" imgH="228600" progId="Equation.DSMT4">
                  <p:embed/>
                </p:oleObj>
              </mc:Choice>
              <mc:Fallback>
                <p:oleObj name="Equation" r:id="rId3" imgW="68580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2413" y="6530975"/>
                        <a:ext cx="712787" cy="236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7" name="Object 5">
            <a:extLst>
              <a:ext uri="{FF2B5EF4-FFF2-40B4-BE49-F238E27FC236}">
                <a16:creationId xmlns:a16="http://schemas.microsoft.com/office/drawing/2014/main" id="{EBE54D64-F78C-4615-A91F-840C12915CC3}"/>
              </a:ext>
            </a:extLst>
          </p:cNvPr>
          <p:cNvGraphicFramePr>
            <a:graphicFrameLocks noChangeAspect="1"/>
          </p:cNvGraphicFramePr>
          <p:nvPr/>
        </p:nvGraphicFramePr>
        <p:xfrm>
          <a:off x="3721100" y="6543675"/>
          <a:ext cx="709613" cy="236538"/>
        </p:xfrm>
        <a:graphic>
          <a:graphicData uri="http://schemas.openxmlformats.org/presentationml/2006/ole">
            <mc:AlternateContent xmlns:mc="http://schemas.openxmlformats.org/markup-compatibility/2006">
              <mc:Choice xmlns:v="urn:schemas-microsoft-com:vml" Requires="v">
                <p:oleObj name="Equation" r:id="rId5" imgW="685800" imgH="228600" progId="Equation.DSMT4">
                  <p:embed/>
                </p:oleObj>
              </mc:Choice>
              <mc:Fallback>
                <p:oleObj name="Equation" r:id="rId5" imgW="685800" imgH="228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1100" y="6543675"/>
                        <a:ext cx="709613" cy="236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8" name="Rectangle 9">
            <a:extLst>
              <a:ext uri="{FF2B5EF4-FFF2-40B4-BE49-F238E27FC236}">
                <a16:creationId xmlns:a16="http://schemas.microsoft.com/office/drawing/2014/main" id="{48C47C7F-7B68-4306-860E-A7A98CFE44D1}"/>
              </a:ext>
            </a:extLst>
          </p:cNvPr>
          <p:cNvSpPr>
            <a:spLocks noChangeArrowheads="1"/>
          </p:cNvSpPr>
          <p:nvPr/>
        </p:nvSpPr>
        <p:spPr bwMode="auto">
          <a:xfrm>
            <a:off x="6181725" y="1276350"/>
            <a:ext cx="2105025" cy="495300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8199" name="Text Box 10">
            <a:extLst>
              <a:ext uri="{FF2B5EF4-FFF2-40B4-BE49-F238E27FC236}">
                <a16:creationId xmlns:a16="http://schemas.microsoft.com/office/drawing/2014/main" id="{ABC22C3C-DCD0-44DC-A1BF-D0D997D47748}"/>
              </a:ext>
            </a:extLst>
          </p:cNvPr>
          <p:cNvSpPr txBox="1">
            <a:spLocks noChangeArrowheads="1"/>
          </p:cNvSpPr>
          <p:nvPr/>
        </p:nvSpPr>
        <p:spPr bwMode="auto">
          <a:xfrm>
            <a:off x="6181725" y="981075"/>
            <a:ext cx="2105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400"/>
              <a:t>Método</a:t>
            </a:r>
            <a:endParaRPr lang="es-ES" altLang="es-ES" sz="1400"/>
          </a:p>
        </p:txBody>
      </p:sp>
      <p:sp>
        <p:nvSpPr>
          <p:cNvPr id="8200" name="Text Box 11">
            <a:extLst>
              <a:ext uri="{FF2B5EF4-FFF2-40B4-BE49-F238E27FC236}">
                <a16:creationId xmlns:a16="http://schemas.microsoft.com/office/drawing/2014/main" id="{4ADDAA98-3492-4021-B0F9-063534EBDD39}"/>
              </a:ext>
            </a:extLst>
          </p:cNvPr>
          <p:cNvSpPr txBox="1">
            <a:spLocks noChangeArrowheads="1"/>
          </p:cNvSpPr>
          <p:nvPr/>
        </p:nvSpPr>
        <p:spPr bwMode="auto">
          <a:xfrm>
            <a:off x="6400800" y="1692275"/>
            <a:ext cx="16700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b="1"/>
              <a:t>Test de comparación de dos</a:t>
            </a:r>
            <a:r>
              <a:rPr lang="es-ES" altLang="es-ES" b="1"/>
              <a:t> proporciones independientes</a:t>
            </a:r>
            <a:endParaRPr lang="es-ES_tradnl" altLang="es-ES"/>
          </a:p>
        </p:txBody>
      </p:sp>
      <p:sp>
        <p:nvSpPr>
          <p:cNvPr id="8201" name="Text Box 12">
            <a:extLst>
              <a:ext uri="{FF2B5EF4-FFF2-40B4-BE49-F238E27FC236}">
                <a16:creationId xmlns:a16="http://schemas.microsoft.com/office/drawing/2014/main" id="{382D1104-369E-43EA-8921-FBFD34CE125B}"/>
              </a:ext>
            </a:extLst>
          </p:cNvPr>
          <p:cNvSpPr txBox="1">
            <a:spLocks noChangeArrowheads="1"/>
          </p:cNvSpPr>
          <p:nvPr/>
        </p:nvSpPr>
        <p:spPr bwMode="auto">
          <a:xfrm>
            <a:off x="6400800" y="2790825"/>
            <a:ext cx="1670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b="1"/>
              <a:t>Test de homogeneidad </a:t>
            </a:r>
            <a:r>
              <a:rPr lang="es-ES_tradnl" altLang="es-ES" b="1">
                <a:latin typeface="Symbol" panose="05050102010706020507" pitchFamily="18" charset="2"/>
              </a:rPr>
              <a:t>c</a:t>
            </a:r>
            <a:r>
              <a:rPr lang="es-ES_tradnl" altLang="es-ES" b="1" baseline="30000"/>
              <a:t>2</a:t>
            </a:r>
          </a:p>
        </p:txBody>
      </p:sp>
      <p:sp>
        <p:nvSpPr>
          <p:cNvPr id="8202" name="Text Box 14">
            <a:extLst>
              <a:ext uri="{FF2B5EF4-FFF2-40B4-BE49-F238E27FC236}">
                <a16:creationId xmlns:a16="http://schemas.microsoft.com/office/drawing/2014/main" id="{2CB23209-12B9-42F5-97B1-7520C3625E74}"/>
              </a:ext>
            </a:extLst>
          </p:cNvPr>
          <p:cNvSpPr txBox="1">
            <a:spLocks noChangeArrowheads="1"/>
          </p:cNvSpPr>
          <p:nvPr/>
        </p:nvSpPr>
        <p:spPr bwMode="auto">
          <a:xfrm>
            <a:off x="6330950" y="4648200"/>
            <a:ext cx="16700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b="1"/>
              <a:t>Test de McNemar</a:t>
            </a:r>
          </a:p>
        </p:txBody>
      </p:sp>
      <p:sp>
        <p:nvSpPr>
          <p:cNvPr id="8203" name="Rectangle 17">
            <a:extLst>
              <a:ext uri="{FF2B5EF4-FFF2-40B4-BE49-F238E27FC236}">
                <a16:creationId xmlns:a16="http://schemas.microsoft.com/office/drawing/2014/main" id="{5176389C-BC1F-4BCF-8889-1066EB479F82}"/>
              </a:ext>
            </a:extLst>
          </p:cNvPr>
          <p:cNvSpPr>
            <a:spLocks noChangeArrowheads="1"/>
          </p:cNvSpPr>
          <p:nvPr/>
        </p:nvSpPr>
        <p:spPr bwMode="auto">
          <a:xfrm>
            <a:off x="533400" y="1276350"/>
            <a:ext cx="1524000" cy="495300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8204" name="Text Box 18">
            <a:extLst>
              <a:ext uri="{FF2B5EF4-FFF2-40B4-BE49-F238E27FC236}">
                <a16:creationId xmlns:a16="http://schemas.microsoft.com/office/drawing/2014/main" id="{A72B8621-F57A-46F2-933E-96F6D014B346}"/>
              </a:ext>
            </a:extLst>
          </p:cNvPr>
          <p:cNvSpPr txBox="1">
            <a:spLocks noChangeArrowheads="1"/>
          </p:cNvSpPr>
          <p:nvPr/>
        </p:nvSpPr>
        <p:spPr bwMode="auto">
          <a:xfrm>
            <a:off x="533400" y="981075"/>
            <a:ext cx="1524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400"/>
              <a:t>Hipótesis</a:t>
            </a:r>
            <a:endParaRPr lang="es-ES" altLang="es-ES" sz="1400"/>
          </a:p>
        </p:txBody>
      </p:sp>
      <p:sp>
        <p:nvSpPr>
          <p:cNvPr id="8205" name="Text Box 20">
            <a:extLst>
              <a:ext uri="{FF2B5EF4-FFF2-40B4-BE49-F238E27FC236}">
                <a16:creationId xmlns:a16="http://schemas.microsoft.com/office/drawing/2014/main" id="{ABBD229C-2208-4D92-993B-13E958C0780D}"/>
              </a:ext>
            </a:extLst>
          </p:cNvPr>
          <p:cNvSpPr txBox="1">
            <a:spLocks noChangeArrowheads="1"/>
          </p:cNvSpPr>
          <p:nvPr/>
        </p:nvSpPr>
        <p:spPr bwMode="auto">
          <a:xfrm>
            <a:off x="1143000" y="4038600"/>
            <a:ext cx="3190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000"/>
              <a:t>(*)</a:t>
            </a:r>
            <a:endParaRPr lang="es-ES" altLang="es-ES" sz="1000"/>
          </a:p>
        </p:txBody>
      </p:sp>
      <p:grpSp>
        <p:nvGrpSpPr>
          <p:cNvPr id="8206" name="Group 70">
            <a:extLst>
              <a:ext uri="{FF2B5EF4-FFF2-40B4-BE49-F238E27FC236}">
                <a16:creationId xmlns:a16="http://schemas.microsoft.com/office/drawing/2014/main" id="{F6132FEC-F9E8-4FC8-A912-0FD77AEA20C5}"/>
              </a:ext>
            </a:extLst>
          </p:cNvPr>
          <p:cNvGrpSpPr>
            <a:grpSpLocks/>
          </p:cNvGrpSpPr>
          <p:nvPr/>
        </p:nvGrpSpPr>
        <p:grpSpPr bwMode="auto">
          <a:xfrm>
            <a:off x="1905000" y="2447925"/>
            <a:ext cx="258763" cy="2346325"/>
            <a:chOff x="930" y="1555"/>
            <a:chExt cx="163" cy="1478"/>
          </a:xfrm>
        </p:grpSpPr>
        <p:sp>
          <p:nvSpPr>
            <p:cNvPr id="8222" name="Freeform 21">
              <a:extLst>
                <a:ext uri="{FF2B5EF4-FFF2-40B4-BE49-F238E27FC236}">
                  <a16:creationId xmlns:a16="http://schemas.microsoft.com/office/drawing/2014/main" id="{2915B648-B76E-47DA-9594-166E740742F8}"/>
                </a:ext>
              </a:extLst>
            </p:cNvPr>
            <p:cNvSpPr>
              <a:spLocks/>
            </p:cNvSpPr>
            <p:nvPr/>
          </p:nvSpPr>
          <p:spPr bwMode="auto">
            <a:xfrm>
              <a:off x="980" y="1555"/>
              <a:ext cx="113" cy="1478"/>
            </a:xfrm>
            <a:custGeom>
              <a:avLst/>
              <a:gdLst>
                <a:gd name="T0" fmla="*/ 104 w 113"/>
                <a:gd name="T1" fmla="*/ 0 h 1524"/>
                <a:gd name="T2" fmla="*/ 0 w 113"/>
                <a:gd name="T3" fmla="*/ 0 h 1524"/>
                <a:gd name="T4" fmla="*/ 0 w 113"/>
                <a:gd name="T5" fmla="*/ 1230 h 1524"/>
                <a:gd name="T6" fmla="*/ 113 w 113"/>
                <a:gd name="T7" fmla="*/ 1230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23" name="Line 23">
              <a:extLst>
                <a:ext uri="{FF2B5EF4-FFF2-40B4-BE49-F238E27FC236}">
                  <a16:creationId xmlns:a16="http://schemas.microsoft.com/office/drawing/2014/main" id="{5AF863DE-61AD-4610-AAF7-EAF4C81CDDC4}"/>
                </a:ext>
              </a:extLst>
            </p:cNvPr>
            <p:cNvSpPr>
              <a:spLocks noChangeShapeType="1"/>
            </p:cNvSpPr>
            <p:nvPr/>
          </p:nvSpPr>
          <p:spPr bwMode="auto">
            <a:xfrm>
              <a:off x="930" y="2292"/>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8207" name="Text Box 26">
            <a:extLst>
              <a:ext uri="{FF2B5EF4-FFF2-40B4-BE49-F238E27FC236}">
                <a16:creationId xmlns:a16="http://schemas.microsoft.com/office/drawing/2014/main" id="{292FB94D-3274-4445-B498-2D2791C3F1AC}"/>
              </a:ext>
            </a:extLst>
          </p:cNvPr>
          <p:cNvSpPr txBox="1">
            <a:spLocks noChangeArrowheads="1"/>
          </p:cNvSpPr>
          <p:nvPr/>
        </p:nvSpPr>
        <p:spPr bwMode="auto">
          <a:xfrm>
            <a:off x="2219325" y="981075"/>
            <a:ext cx="1362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400"/>
              <a:t>Diseño</a:t>
            </a:r>
            <a:endParaRPr lang="es-ES" altLang="es-ES" sz="1400"/>
          </a:p>
        </p:txBody>
      </p:sp>
      <p:sp>
        <p:nvSpPr>
          <p:cNvPr id="8208" name="Rectangle 27">
            <a:extLst>
              <a:ext uri="{FF2B5EF4-FFF2-40B4-BE49-F238E27FC236}">
                <a16:creationId xmlns:a16="http://schemas.microsoft.com/office/drawing/2014/main" id="{8EAB79BF-7D40-4770-93DB-9C43E9E8220C}"/>
              </a:ext>
            </a:extLst>
          </p:cNvPr>
          <p:cNvSpPr>
            <a:spLocks noChangeArrowheads="1"/>
          </p:cNvSpPr>
          <p:nvPr/>
        </p:nvSpPr>
        <p:spPr bwMode="auto">
          <a:xfrm>
            <a:off x="2219325" y="1276350"/>
            <a:ext cx="1362075" cy="495300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8209" name="Text Box 28">
            <a:extLst>
              <a:ext uri="{FF2B5EF4-FFF2-40B4-BE49-F238E27FC236}">
                <a16:creationId xmlns:a16="http://schemas.microsoft.com/office/drawing/2014/main" id="{62BAAC6B-13D4-4ADC-B663-FED4F669DBCA}"/>
              </a:ext>
            </a:extLst>
          </p:cNvPr>
          <p:cNvSpPr txBox="1">
            <a:spLocks noChangeArrowheads="1"/>
          </p:cNvSpPr>
          <p:nvPr/>
        </p:nvSpPr>
        <p:spPr bwMode="auto">
          <a:xfrm>
            <a:off x="2209800" y="455295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a:t>2 Muestras relacionadas</a:t>
            </a:r>
            <a:endParaRPr lang="es-ES" altLang="es-ES"/>
          </a:p>
        </p:txBody>
      </p:sp>
      <p:sp>
        <p:nvSpPr>
          <p:cNvPr id="8210" name="Text Box 29">
            <a:extLst>
              <a:ext uri="{FF2B5EF4-FFF2-40B4-BE49-F238E27FC236}">
                <a16:creationId xmlns:a16="http://schemas.microsoft.com/office/drawing/2014/main" id="{7AE06FBB-ABFC-4763-A896-D7EEAF7B18B2}"/>
              </a:ext>
            </a:extLst>
          </p:cNvPr>
          <p:cNvSpPr txBox="1">
            <a:spLocks noChangeArrowheads="1"/>
          </p:cNvSpPr>
          <p:nvPr/>
        </p:nvSpPr>
        <p:spPr bwMode="auto">
          <a:xfrm>
            <a:off x="2209800" y="2228850"/>
            <a:ext cx="135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a:t>2 Muestras independientes</a:t>
            </a:r>
            <a:endParaRPr lang="es-ES" altLang="es-ES"/>
          </a:p>
        </p:txBody>
      </p:sp>
      <p:sp>
        <p:nvSpPr>
          <p:cNvPr id="8211" name="Text Box 38">
            <a:extLst>
              <a:ext uri="{FF2B5EF4-FFF2-40B4-BE49-F238E27FC236}">
                <a16:creationId xmlns:a16="http://schemas.microsoft.com/office/drawing/2014/main" id="{A4B6F7F5-500C-4B59-9052-D660E288B058}"/>
              </a:ext>
            </a:extLst>
          </p:cNvPr>
          <p:cNvSpPr txBox="1">
            <a:spLocks noChangeArrowheads="1"/>
          </p:cNvSpPr>
          <p:nvPr/>
        </p:nvSpPr>
        <p:spPr bwMode="auto">
          <a:xfrm>
            <a:off x="3095625" y="981075"/>
            <a:ext cx="304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400"/>
              <a:t>Supuestos</a:t>
            </a:r>
            <a:endParaRPr lang="es-ES" altLang="es-ES" sz="1400"/>
          </a:p>
        </p:txBody>
      </p:sp>
      <p:sp>
        <p:nvSpPr>
          <p:cNvPr id="8212" name="Text Box 40">
            <a:extLst>
              <a:ext uri="{FF2B5EF4-FFF2-40B4-BE49-F238E27FC236}">
                <a16:creationId xmlns:a16="http://schemas.microsoft.com/office/drawing/2014/main" id="{5255BFDB-16F8-4B33-B7B6-A6A71E889303}"/>
              </a:ext>
            </a:extLst>
          </p:cNvPr>
          <p:cNvSpPr txBox="1">
            <a:spLocks noChangeArrowheads="1"/>
          </p:cNvSpPr>
          <p:nvPr/>
        </p:nvSpPr>
        <p:spPr bwMode="auto">
          <a:xfrm>
            <a:off x="4071938" y="2803525"/>
            <a:ext cx="1176337" cy="194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a:t>Deben verificarse las </a:t>
            </a:r>
            <a:r>
              <a:rPr lang="es-ES" altLang="es-ES" b="1"/>
              <a:t>condiciones de validez</a:t>
            </a:r>
            <a:r>
              <a:rPr lang="es-ES" altLang="es-ES"/>
              <a:t> propias de cada test y que son relativas a</a:t>
            </a:r>
          </a:p>
          <a:p>
            <a:pPr algn="ctr" eaLnBrk="1" hangingPunct="1"/>
            <a:r>
              <a:rPr lang="es-ES" altLang="es-ES"/>
              <a:t> </a:t>
            </a:r>
            <a:r>
              <a:rPr lang="es-ES" altLang="es-ES" sz="1300" i="1">
                <a:latin typeface="Times New Roman" panose="02020603050405020304" pitchFamily="18" charset="0"/>
              </a:rPr>
              <a:t>x</a:t>
            </a:r>
            <a:r>
              <a:rPr lang="es-ES" altLang="es-ES" sz="1300" baseline="-25000">
                <a:latin typeface="Times New Roman" panose="02020603050405020304" pitchFamily="18" charset="0"/>
              </a:rPr>
              <a:t>1</a:t>
            </a:r>
            <a:r>
              <a:rPr lang="es-ES" altLang="es-ES" sz="1300">
                <a:latin typeface="Times New Roman" panose="02020603050405020304" pitchFamily="18" charset="0"/>
              </a:rPr>
              <a:t>, </a:t>
            </a:r>
            <a:r>
              <a:rPr lang="es-ES" altLang="es-ES" sz="1300" i="1">
                <a:latin typeface="Times New Roman" panose="02020603050405020304" pitchFamily="18" charset="0"/>
              </a:rPr>
              <a:t>x</a:t>
            </a:r>
            <a:r>
              <a:rPr lang="es-ES" altLang="es-ES" sz="1300" baseline="-25000">
                <a:latin typeface="Times New Roman" panose="02020603050405020304" pitchFamily="18" charset="0"/>
              </a:rPr>
              <a:t>2</a:t>
            </a:r>
            <a:r>
              <a:rPr lang="es-ES" altLang="es-ES" sz="1300">
                <a:latin typeface="Times New Roman" panose="02020603050405020304" pitchFamily="18" charset="0"/>
              </a:rPr>
              <a:t>,</a:t>
            </a:r>
          </a:p>
          <a:p>
            <a:pPr algn="ctr" eaLnBrk="1" hangingPunct="1"/>
            <a:r>
              <a:rPr lang="es-ES" altLang="es-ES" sz="1300">
                <a:latin typeface="Times New Roman" panose="02020603050405020304" pitchFamily="18" charset="0"/>
              </a:rPr>
              <a:t> </a:t>
            </a:r>
            <a:r>
              <a:rPr lang="es-ES" altLang="es-ES" sz="1300" i="1">
                <a:latin typeface="Times New Roman" panose="02020603050405020304" pitchFamily="18" charset="0"/>
              </a:rPr>
              <a:t>n</a:t>
            </a:r>
            <a:r>
              <a:rPr lang="es-ES" altLang="es-ES" sz="1300" baseline="-25000">
                <a:latin typeface="Times New Roman" panose="02020603050405020304" pitchFamily="18" charset="0"/>
              </a:rPr>
              <a:t>1</a:t>
            </a:r>
            <a:r>
              <a:rPr lang="es-ES" altLang="es-ES"/>
              <a:t>–</a:t>
            </a:r>
            <a:r>
              <a:rPr lang="es-ES" altLang="es-ES" sz="1300" i="1">
                <a:latin typeface="Times New Roman" panose="02020603050405020304" pitchFamily="18" charset="0"/>
              </a:rPr>
              <a:t>x</a:t>
            </a:r>
            <a:r>
              <a:rPr lang="es-ES" altLang="es-ES" sz="1300" baseline="-25000">
                <a:latin typeface="Times New Roman" panose="02020603050405020304" pitchFamily="18" charset="0"/>
              </a:rPr>
              <a:t>1</a:t>
            </a:r>
            <a:r>
              <a:rPr lang="es-ES" altLang="es-ES" sz="1300">
                <a:latin typeface="Times New Roman" panose="02020603050405020304" pitchFamily="18" charset="0"/>
              </a:rPr>
              <a:t> </a:t>
            </a:r>
            <a:r>
              <a:rPr lang="es-ES" altLang="es-ES"/>
              <a:t>y</a:t>
            </a:r>
            <a:r>
              <a:rPr lang="es-ES" altLang="es-ES" sz="1300">
                <a:latin typeface="Times New Roman" panose="02020603050405020304" pitchFamily="18" charset="0"/>
              </a:rPr>
              <a:t> </a:t>
            </a:r>
            <a:r>
              <a:rPr lang="es-ES" altLang="es-ES" sz="1300" i="1">
                <a:latin typeface="Times New Roman" panose="02020603050405020304" pitchFamily="18" charset="0"/>
              </a:rPr>
              <a:t>n</a:t>
            </a:r>
            <a:r>
              <a:rPr lang="es-ES" altLang="es-ES" sz="1300" baseline="-25000">
                <a:latin typeface="Times New Roman" panose="02020603050405020304" pitchFamily="18" charset="0"/>
              </a:rPr>
              <a:t>2 </a:t>
            </a:r>
            <a:r>
              <a:rPr lang="es-ES" altLang="es-ES" sz="1300">
                <a:latin typeface="Times New Roman" panose="02020603050405020304" pitchFamily="18" charset="0"/>
                <a:cs typeface="Times New Roman" panose="02020603050405020304" pitchFamily="18" charset="0"/>
              </a:rPr>
              <a:t>–</a:t>
            </a:r>
            <a:r>
              <a:rPr lang="es-ES" altLang="es-ES" sz="1300" i="1">
                <a:latin typeface="Times New Roman" panose="02020603050405020304" pitchFamily="18" charset="0"/>
              </a:rPr>
              <a:t>x</a:t>
            </a:r>
            <a:r>
              <a:rPr lang="es-ES" altLang="es-ES" sz="1300" baseline="-25000">
                <a:latin typeface="Times New Roman" panose="02020603050405020304" pitchFamily="18" charset="0"/>
              </a:rPr>
              <a:t>2</a:t>
            </a:r>
            <a:r>
              <a:rPr lang="es-ES" altLang="es-ES" sz="1300">
                <a:latin typeface="Times New Roman" panose="02020603050405020304" pitchFamily="18" charset="0"/>
              </a:rPr>
              <a:t> </a:t>
            </a:r>
          </a:p>
        </p:txBody>
      </p:sp>
      <p:sp>
        <p:nvSpPr>
          <p:cNvPr id="8213" name="Line 60">
            <a:extLst>
              <a:ext uri="{FF2B5EF4-FFF2-40B4-BE49-F238E27FC236}">
                <a16:creationId xmlns:a16="http://schemas.microsoft.com/office/drawing/2014/main" id="{5C751B58-983B-467A-BE08-EE2A30B05E6E}"/>
              </a:ext>
            </a:extLst>
          </p:cNvPr>
          <p:cNvSpPr>
            <a:spLocks noChangeShapeType="1"/>
          </p:cNvSpPr>
          <p:nvPr/>
        </p:nvSpPr>
        <p:spPr bwMode="auto">
          <a:xfrm>
            <a:off x="3429000" y="2524125"/>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14" name="Text Box 67">
            <a:extLst>
              <a:ext uri="{FF2B5EF4-FFF2-40B4-BE49-F238E27FC236}">
                <a16:creationId xmlns:a16="http://schemas.microsoft.com/office/drawing/2014/main" id="{F47BABD6-9D7D-4616-9F36-F6F669C01C6F}"/>
              </a:ext>
            </a:extLst>
          </p:cNvPr>
          <p:cNvSpPr txBox="1">
            <a:spLocks noChangeArrowheads="1"/>
          </p:cNvSpPr>
          <p:nvPr/>
        </p:nvSpPr>
        <p:spPr bwMode="auto">
          <a:xfrm>
            <a:off x="17463" y="304800"/>
            <a:ext cx="5648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Comparación de dos proporciones bi</a:t>
            </a:r>
            <a:r>
              <a:rPr lang="es-ES" altLang="es-ES" sz="1400" b="1"/>
              <a:t>nomiales</a:t>
            </a:r>
            <a:r>
              <a:rPr lang="es-ES_tradnl" altLang="es-ES" sz="1400" b="1"/>
              <a:t>: esquema general</a:t>
            </a:r>
            <a:endParaRPr lang="es-ES" altLang="es-ES" sz="1400" b="1"/>
          </a:p>
        </p:txBody>
      </p:sp>
      <p:graphicFrame>
        <p:nvGraphicFramePr>
          <p:cNvPr id="8215" name="47 Objeto">
            <a:extLst>
              <a:ext uri="{FF2B5EF4-FFF2-40B4-BE49-F238E27FC236}">
                <a16:creationId xmlns:a16="http://schemas.microsoft.com/office/drawing/2014/main" id="{7387C988-9D26-492F-BB43-8D46DF356F37}"/>
              </a:ext>
            </a:extLst>
          </p:cNvPr>
          <p:cNvGraphicFramePr>
            <a:graphicFrameLocks noChangeAspect="1"/>
          </p:cNvGraphicFramePr>
          <p:nvPr/>
        </p:nvGraphicFramePr>
        <p:xfrm>
          <a:off x="666750" y="3284538"/>
          <a:ext cx="1108075" cy="639762"/>
        </p:xfrm>
        <a:graphic>
          <a:graphicData uri="http://schemas.openxmlformats.org/presentationml/2006/ole">
            <mc:AlternateContent xmlns:mc="http://schemas.openxmlformats.org/markup-compatibility/2006">
              <mc:Choice xmlns:v="urn:schemas-microsoft-com:vml" Requires="v">
                <p:oleObj name="Equation" r:id="rId7" imgW="837836" imgH="482391" progId="Equation.DSMT4">
                  <p:embed/>
                </p:oleObj>
              </mc:Choice>
              <mc:Fallback>
                <p:oleObj name="Equation" r:id="rId7" imgW="837836" imgH="482391" progId="Equation.DSMT4">
                  <p:embed/>
                  <p:pic>
                    <p:nvPicPr>
                      <p:cNvPr id="0" name="47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6750" y="3284538"/>
                        <a:ext cx="1108075"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16" name="Line 60">
            <a:extLst>
              <a:ext uri="{FF2B5EF4-FFF2-40B4-BE49-F238E27FC236}">
                <a16:creationId xmlns:a16="http://schemas.microsoft.com/office/drawing/2014/main" id="{9EB72B81-AF43-49C9-991D-23CD7EBBA0D5}"/>
              </a:ext>
            </a:extLst>
          </p:cNvPr>
          <p:cNvSpPr>
            <a:spLocks noChangeShapeType="1"/>
          </p:cNvSpPr>
          <p:nvPr/>
        </p:nvSpPr>
        <p:spPr bwMode="auto">
          <a:xfrm>
            <a:off x="3429000" y="4786313"/>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8217" name="Group 78">
            <a:extLst>
              <a:ext uri="{FF2B5EF4-FFF2-40B4-BE49-F238E27FC236}">
                <a16:creationId xmlns:a16="http://schemas.microsoft.com/office/drawing/2014/main" id="{181D63A6-0118-4B18-8E45-432E87DE99D5}"/>
              </a:ext>
            </a:extLst>
          </p:cNvPr>
          <p:cNvGrpSpPr>
            <a:grpSpLocks/>
          </p:cNvGrpSpPr>
          <p:nvPr/>
        </p:nvGrpSpPr>
        <p:grpSpPr bwMode="auto">
          <a:xfrm>
            <a:off x="5334000" y="2066925"/>
            <a:ext cx="990600" cy="914400"/>
            <a:chOff x="3360" y="1296"/>
            <a:chExt cx="576" cy="576"/>
          </a:xfrm>
        </p:grpSpPr>
        <p:sp>
          <p:nvSpPr>
            <p:cNvPr id="8220" name="Line 58">
              <a:extLst>
                <a:ext uri="{FF2B5EF4-FFF2-40B4-BE49-F238E27FC236}">
                  <a16:creationId xmlns:a16="http://schemas.microsoft.com/office/drawing/2014/main" id="{C8294E22-4A4C-4ADE-BA1E-0EFC35F8EEA5}"/>
                </a:ext>
              </a:extLst>
            </p:cNvPr>
            <p:cNvSpPr>
              <a:spLocks noChangeShapeType="1"/>
            </p:cNvSpPr>
            <p:nvPr/>
          </p:nvSpPr>
          <p:spPr bwMode="auto">
            <a:xfrm flipV="1">
              <a:off x="3360" y="1296"/>
              <a:ext cx="57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21" name="Line 58">
              <a:extLst>
                <a:ext uri="{FF2B5EF4-FFF2-40B4-BE49-F238E27FC236}">
                  <a16:creationId xmlns:a16="http://schemas.microsoft.com/office/drawing/2014/main" id="{C2C76B0B-2156-4A46-8897-AC3E638F8529}"/>
                </a:ext>
              </a:extLst>
            </p:cNvPr>
            <p:cNvSpPr>
              <a:spLocks noChangeShapeType="1"/>
            </p:cNvSpPr>
            <p:nvPr/>
          </p:nvSpPr>
          <p:spPr bwMode="auto">
            <a:xfrm>
              <a:off x="3360" y="1536"/>
              <a:ext cx="57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8218" name="Rectangle 76">
            <a:extLst>
              <a:ext uri="{FF2B5EF4-FFF2-40B4-BE49-F238E27FC236}">
                <a16:creationId xmlns:a16="http://schemas.microsoft.com/office/drawing/2014/main" id="{C533D1F8-597A-4AAF-8BC1-01F52467030E}"/>
              </a:ext>
            </a:extLst>
          </p:cNvPr>
          <p:cNvSpPr>
            <a:spLocks noChangeArrowheads="1"/>
          </p:cNvSpPr>
          <p:nvPr/>
        </p:nvSpPr>
        <p:spPr bwMode="auto">
          <a:xfrm>
            <a:off x="4043363" y="2057400"/>
            <a:ext cx="1219200" cy="3429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8219" name="Line 60">
            <a:extLst>
              <a:ext uri="{FF2B5EF4-FFF2-40B4-BE49-F238E27FC236}">
                <a16:creationId xmlns:a16="http://schemas.microsoft.com/office/drawing/2014/main" id="{239BC2CE-1FAB-474D-A4F8-CB80AB999431}"/>
              </a:ext>
            </a:extLst>
          </p:cNvPr>
          <p:cNvSpPr>
            <a:spLocks noChangeShapeType="1"/>
          </p:cNvSpPr>
          <p:nvPr/>
        </p:nvSpPr>
        <p:spPr bwMode="auto">
          <a:xfrm>
            <a:off x="5410200" y="4786313"/>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92FF4EEC-B0A8-46E1-93C2-12C97FB9414F}"/>
              </a:ext>
            </a:extLst>
          </p:cNvPr>
          <p:cNvSpPr txBox="1">
            <a:spLocks noChangeArrowheads="1"/>
          </p:cNvSpPr>
          <p:nvPr/>
        </p:nvSpPr>
        <p:spPr bwMode="auto">
          <a:xfrm>
            <a:off x="19050" y="301625"/>
            <a:ext cx="24003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Presentación de los datos</a:t>
            </a:r>
            <a:endParaRPr lang="es-ES" altLang="es-ES" sz="1400" b="1"/>
          </a:p>
        </p:txBody>
      </p:sp>
      <p:graphicFrame>
        <p:nvGraphicFramePr>
          <p:cNvPr id="10243" name="1 Objeto">
            <a:extLst>
              <a:ext uri="{FF2B5EF4-FFF2-40B4-BE49-F238E27FC236}">
                <a16:creationId xmlns:a16="http://schemas.microsoft.com/office/drawing/2014/main" id="{424AE661-1392-45BF-AE63-3A9CB2895967}"/>
              </a:ext>
            </a:extLst>
          </p:cNvPr>
          <p:cNvGraphicFramePr>
            <a:graphicFrameLocks noChangeAspect="1"/>
          </p:cNvGraphicFramePr>
          <p:nvPr>
            <p:extLst>
              <p:ext uri="{D42A27DB-BD31-4B8C-83A1-F6EECF244321}">
                <p14:modId xmlns:p14="http://schemas.microsoft.com/office/powerpoint/2010/main" val="1424363242"/>
              </p:ext>
            </p:extLst>
          </p:nvPr>
        </p:nvGraphicFramePr>
        <p:xfrm>
          <a:off x="420688" y="1085850"/>
          <a:ext cx="4111625" cy="1414463"/>
        </p:xfrm>
        <a:graphic>
          <a:graphicData uri="http://schemas.openxmlformats.org/presentationml/2006/ole">
            <mc:AlternateContent xmlns:mc="http://schemas.openxmlformats.org/markup-compatibility/2006">
              <mc:Choice xmlns:v="urn:schemas-microsoft-com:vml" Requires="v">
                <p:oleObj name="Equation" r:id="rId3" imgW="3340100" imgH="1193800" progId="Equation.DSMT4">
                  <p:embed/>
                </p:oleObj>
              </mc:Choice>
              <mc:Fallback>
                <p:oleObj name="Equation" r:id="rId3" imgW="3340100" imgH="1193800" progId="Equation.DSMT4">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88" y="1085850"/>
                        <a:ext cx="4111625"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54 Objeto">
            <a:extLst>
              <a:ext uri="{FF2B5EF4-FFF2-40B4-BE49-F238E27FC236}">
                <a16:creationId xmlns:a16="http://schemas.microsoft.com/office/drawing/2014/main" id="{E7386CF8-6092-47C4-9D4C-7FBF4DDEFF68}"/>
              </a:ext>
            </a:extLst>
          </p:cNvPr>
          <p:cNvGraphicFramePr>
            <a:graphicFrameLocks noChangeAspect="1"/>
          </p:cNvGraphicFramePr>
          <p:nvPr/>
        </p:nvGraphicFramePr>
        <p:xfrm>
          <a:off x="687388" y="2924175"/>
          <a:ext cx="3579812" cy="1114425"/>
        </p:xfrm>
        <a:graphic>
          <a:graphicData uri="http://schemas.openxmlformats.org/presentationml/2006/ole">
            <mc:AlternateContent xmlns:mc="http://schemas.openxmlformats.org/markup-compatibility/2006">
              <mc:Choice xmlns:v="urn:schemas-microsoft-com:vml" Requires="v">
                <p:oleObj name="Equation" r:id="rId5" imgW="2908300" imgH="939800" progId="Equation.DSMT4">
                  <p:embed/>
                </p:oleObj>
              </mc:Choice>
              <mc:Fallback>
                <p:oleObj name="Equation" r:id="rId5" imgW="2908300" imgH="939800" progId="Equation.DSMT4">
                  <p:embed/>
                  <p:pic>
                    <p:nvPicPr>
                      <p:cNvPr id="0" name="54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388" y="2924175"/>
                        <a:ext cx="3579812"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55 Objeto">
            <a:extLst>
              <a:ext uri="{FF2B5EF4-FFF2-40B4-BE49-F238E27FC236}">
                <a16:creationId xmlns:a16="http://schemas.microsoft.com/office/drawing/2014/main" id="{5434D76F-958F-4EC2-AB96-9A1D59B52331}"/>
              </a:ext>
            </a:extLst>
          </p:cNvPr>
          <p:cNvGraphicFramePr>
            <a:graphicFrameLocks noChangeAspect="1"/>
          </p:cNvGraphicFramePr>
          <p:nvPr/>
        </p:nvGraphicFramePr>
        <p:xfrm>
          <a:off x="827088" y="4908550"/>
          <a:ext cx="3298825" cy="1414463"/>
        </p:xfrm>
        <a:graphic>
          <a:graphicData uri="http://schemas.openxmlformats.org/presentationml/2006/ole">
            <mc:AlternateContent xmlns:mc="http://schemas.openxmlformats.org/markup-compatibility/2006">
              <mc:Choice xmlns:v="urn:schemas-microsoft-com:vml" Requires="v">
                <p:oleObj name="Equation" r:id="rId7" imgW="2679700" imgH="1193800" progId="Equation.DSMT4">
                  <p:embed/>
                </p:oleObj>
              </mc:Choice>
              <mc:Fallback>
                <p:oleObj name="Equation" r:id="rId7" imgW="2679700" imgH="1193800" progId="Equation.DSMT4">
                  <p:embed/>
                  <p:pic>
                    <p:nvPicPr>
                      <p:cNvPr id="0" name="55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4908550"/>
                        <a:ext cx="3298825"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1 CuadroTexto">
            <a:extLst>
              <a:ext uri="{FF2B5EF4-FFF2-40B4-BE49-F238E27FC236}">
                <a16:creationId xmlns:a16="http://schemas.microsoft.com/office/drawing/2014/main" id="{30CD9502-F246-404C-B5AC-E9DD590785AF}"/>
              </a:ext>
            </a:extLst>
          </p:cNvPr>
          <p:cNvSpPr txBox="1">
            <a:spLocks noChangeArrowheads="1"/>
          </p:cNvSpPr>
          <p:nvPr/>
        </p:nvSpPr>
        <p:spPr bwMode="auto">
          <a:xfrm>
            <a:off x="1173163" y="792163"/>
            <a:ext cx="2820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MUESTRAS INDEPENDIENTES</a:t>
            </a:r>
          </a:p>
        </p:txBody>
      </p:sp>
      <p:sp>
        <p:nvSpPr>
          <p:cNvPr id="10247" name="6 CuadroTexto">
            <a:extLst>
              <a:ext uri="{FF2B5EF4-FFF2-40B4-BE49-F238E27FC236}">
                <a16:creationId xmlns:a16="http://schemas.microsoft.com/office/drawing/2014/main" id="{1D7D7183-159B-4C74-8497-74D78670AED6}"/>
              </a:ext>
            </a:extLst>
          </p:cNvPr>
          <p:cNvSpPr txBox="1">
            <a:spLocks noChangeArrowheads="1"/>
          </p:cNvSpPr>
          <p:nvPr/>
        </p:nvSpPr>
        <p:spPr bwMode="auto">
          <a:xfrm>
            <a:off x="5842000" y="787400"/>
            <a:ext cx="2362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MUESTRAS APAREADAS</a:t>
            </a:r>
          </a:p>
        </p:txBody>
      </p:sp>
      <p:grpSp>
        <p:nvGrpSpPr>
          <p:cNvPr id="10248" name="18 Grupo">
            <a:extLst>
              <a:ext uri="{FF2B5EF4-FFF2-40B4-BE49-F238E27FC236}">
                <a16:creationId xmlns:a16="http://schemas.microsoft.com/office/drawing/2014/main" id="{7849F9A0-3E48-491E-8A44-B24766BF16D0}"/>
              </a:ext>
            </a:extLst>
          </p:cNvPr>
          <p:cNvGrpSpPr>
            <a:grpSpLocks/>
          </p:cNvGrpSpPr>
          <p:nvPr/>
        </p:nvGrpSpPr>
        <p:grpSpPr bwMode="auto">
          <a:xfrm>
            <a:off x="5448300" y="1343025"/>
            <a:ext cx="3067050" cy="1084263"/>
            <a:chOff x="5586919" y="1676400"/>
            <a:chExt cx="3068131" cy="1084263"/>
          </a:xfrm>
        </p:grpSpPr>
        <p:graphicFrame>
          <p:nvGraphicFramePr>
            <p:cNvPr id="10270" name="54 Objeto">
              <a:extLst>
                <a:ext uri="{FF2B5EF4-FFF2-40B4-BE49-F238E27FC236}">
                  <a16:creationId xmlns:a16="http://schemas.microsoft.com/office/drawing/2014/main" id="{08060328-9EB4-4896-8B9A-AF86F3DD38E9}"/>
                </a:ext>
              </a:extLst>
            </p:cNvPr>
            <p:cNvGraphicFramePr>
              <a:graphicFrameLocks noChangeAspect="1"/>
            </p:cNvGraphicFramePr>
            <p:nvPr/>
          </p:nvGraphicFramePr>
          <p:xfrm>
            <a:off x="5638800" y="1706563"/>
            <a:ext cx="3016250" cy="1054100"/>
          </p:xfrm>
          <a:graphic>
            <a:graphicData uri="http://schemas.openxmlformats.org/presentationml/2006/ole">
              <mc:AlternateContent xmlns:mc="http://schemas.openxmlformats.org/markup-compatibility/2006">
                <mc:Choice xmlns:v="urn:schemas-microsoft-com:vml" Requires="v">
                  <p:oleObj name="Equation" r:id="rId9" imgW="2451100" imgH="889000" progId="Equation.DSMT4">
                    <p:embed/>
                  </p:oleObj>
                </mc:Choice>
                <mc:Fallback>
                  <p:oleObj name="Equation" r:id="rId9" imgW="2451100" imgH="889000" progId="Equation.DSMT4">
                    <p:embed/>
                    <p:pic>
                      <p:nvPicPr>
                        <p:cNvPr id="0" name="54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1706563"/>
                          <a:ext cx="301625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271" name="4 Conector recto">
              <a:extLst>
                <a:ext uri="{FF2B5EF4-FFF2-40B4-BE49-F238E27FC236}">
                  <a16:creationId xmlns:a16="http://schemas.microsoft.com/office/drawing/2014/main" id="{2F9AC223-A2C7-4AF8-BC83-91B871C46F92}"/>
                </a:ext>
              </a:extLst>
            </p:cNvPr>
            <p:cNvCxnSpPr>
              <a:cxnSpLocks noChangeShapeType="1"/>
            </p:cNvCxnSpPr>
            <p:nvPr/>
          </p:nvCxnSpPr>
          <p:spPr bwMode="auto">
            <a:xfrm>
              <a:off x="5586919" y="1943104"/>
              <a:ext cx="264268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2" name="13 Conector recto">
              <a:extLst>
                <a:ext uri="{FF2B5EF4-FFF2-40B4-BE49-F238E27FC236}">
                  <a16:creationId xmlns:a16="http://schemas.microsoft.com/office/drawing/2014/main" id="{9B09ABB2-7758-4A2B-9A7A-CF1B87C5030D}"/>
                </a:ext>
              </a:extLst>
            </p:cNvPr>
            <p:cNvCxnSpPr>
              <a:cxnSpLocks noChangeShapeType="1"/>
            </p:cNvCxnSpPr>
            <p:nvPr/>
          </p:nvCxnSpPr>
          <p:spPr bwMode="auto">
            <a:xfrm>
              <a:off x="5586919" y="2514600"/>
              <a:ext cx="294748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3" name="12 Conector recto">
              <a:extLst>
                <a:ext uri="{FF2B5EF4-FFF2-40B4-BE49-F238E27FC236}">
                  <a16:creationId xmlns:a16="http://schemas.microsoft.com/office/drawing/2014/main" id="{C63E3BDD-C166-4D1B-8F1A-4EA2DE746291}"/>
                </a:ext>
              </a:extLst>
            </p:cNvPr>
            <p:cNvCxnSpPr>
              <a:cxnSpLocks noChangeShapeType="1"/>
            </p:cNvCxnSpPr>
            <p:nvPr/>
          </p:nvCxnSpPr>
          <p:spPr bwMode="auto">
            <a:xfrm>
              <a:off x="6534156" y="1676400"/>
              <a:ext cx="0" cy="8382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4" name="19 Conector recto">
              <a:extLst>
                <a:ext uri="{FF2B5EF4-FFF2-40B4-BE49-F238E27FC236}">
                  <a16:creationId xmlns:a16="http://schemas.microsoft.com/office/drawing/2014/main" id="{3A9E47B9-622A-4832-8274-A0F4D4FC3EA0}"/>
                </a:ext>
              </a:extLst>
            </p:cNvPr>
            <p:cNvCxnSpPr>
              <a:cxnSpLocks noChangeShapeType="1"/>
            </p:cNvCxnSpPr>
            <p:nvPr/>
          </p:nvCxnSpPr>
          <p:spPr bwMode="auto">
            <a:xfrm>
              <a:off x="8229600" y="1676400"/>
              <a:ext cx="0" cy="10668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5" name="21 Conector recto">
              <a:extLst>
                <a:ext uri="{FF2B5EF4-FFF2-40B4-BE49-F238E27FC236}">
                  <a16:creationId xmlns:a16="http://schemas.microsoft.com/office/drawing/2014/main" id="{0429E128-31FB-47D1-8B12-7484A71B26B2}"/>
                </a:ext>
              </a:extLst>
            </p:cNvPr>
            <p:cNvCxnSpPr>
              <a:cxnSpLocks noChangeShapeType="1"/>
            </p:cNvCxnSpPr>
            <p:nvPr/>
          </p:nvCxnSpPr>
          <p:spPr bwMode="auto">
            <a:xfrm>
              <a:off x="5586919" y="1943104"/>
              <a:ext cx="0" cy="57149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6" name="23 Conector recto">
              <a:extLst>
                <a:ext uri="{FF2B5EF4-FFF2-40B4-BE49-F238E27FC236}">
                  <a16:creationId xmlns:a16="http://schemas.microsoft.com/office/drawing/2014/main" id="{EF05AE57-36AD-4AC1-9256-C7EA4ED69847}"/>
                </a:ext>
              </a:extLst>
            </p:cNvPr>
            <p:cNvCxnSpPr>
              <a:cxnSpLocks noChangeShapeType="1"/>
            </p:cNvCxnSpPr>
            <p:nvPr/>
          </p:nvCxnSpPr>
          <p:spPr bwMode="auto">
            <a:xfrm>
              <a:off x="6534156" y="1676400"/>
              <a:ext cx="1695443"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49" name="26 CuadroTexto">
            <a:extLst>
              <a:ext uri="{FF2B5EF4-FFF2-40B4-BE49-F238E27FC236}">
                <a16:creationId xmlns:a16="http://schemas.microsoft.com/office/drawing/2014/main" id="{CB9C0AA6-2F85-4EF5-8915-D998D864B393}"/>
              </a:ext>
            </a:extLst>
          </p:cNvPr>
          <p:cNvSpPr txBox="1">
            <a:spLocks noChangeArrowheads="1"/>
          </p:cNvSpPr>
          <p:nvPr/>
        </p:nvSpPr>
        <p:spPr bwMode="auto">
          <a:xfrm>
            <a:off x="6184900" y="1066800"/>
            <a:ext cx="1346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Característica B</a:t>
            </a:r>
          </a:p>
        </p:txBody>
      </p:sp>
      <p:grpSp>
        <p:nvGrpSpPr>
          <p:cNvPr id="10250" name="7 Grupo">
            <a:extLst>
              <a:ext uri="{FF2B5EF4-FFF2-40B4-BE49-F238E27FC236}">
                <a16:creationId xmlns:a16="http://schemas.microsoft.com/office/drawing/2014/main" id="{7BA58D11-1770-4469-8CCC-1E749BEFDE78}"/>
              </a:ext>
            </a:extLst>
          </p:cNvPr>
          <p:cNvGrpSpPr>
            <a:grpSpLocks/>
          </p:cNvGrpSpPr>
          <p:nvPr/>
        </p:nvGrpSpPr>
        <p:grpSpPr bwMode="auto">
          <a:xfrm>
            <a:off x="4743450" y="2609850"/>
            <a:ext cx="4476750" cy="1862138"/>
            <a:chOff x="4560651" y="2667000"/>
            <a:chExt cx="4476987" cy="1862435"/>
          </a:xfrm>
        </p:grpSpPr>
        <p:grpSp>
          <p:nvGrpSpPr>
            <p:cNvPr id="10260" name="6 Grupo">
              <a:extLst>
                <a:ext uri="{FF2B5EF4-FFF2-40B4-BE49-F238E27FC236}">
                  <a16:creationId xmlns:a16="http://schemas.microsoft.com/office/drawing/2014/main" id="{CA0E9471-5D83-4AF5-89FE-D5076FDD02FF}"/>
                </a:ext>
              </a:extLst>
            </p:cNvPr>
            <p:cNvGrpSpPr>
              <a:grpSpLocks/>
            </p:cNvGrpSpPr>
            <p:nvPr/>
          </p:nvGrpSpPr>
          <p:grpSpPr bwMode="auto">
            <a:xfrm>
              <a:off x="4724400" y="2971800"/>
              <a:ext cx="4313238" cy="1557635"/>
              <a:chOff x="4724400" y="3047999"/>
              <a:chExt cx="4313238" cy="1557635"/>
            </a:xfrm>
          </p:grpSpPr>
          <p:graphicFrame>
            <p:nvGraphicFramePr>
              <p:cNvPr id="10263" name="54 Objeto">
                <a:extLst>
                  <a:ext uri="{FF2B5EF4-FFF2-40B4-BE49-F238E27FC236}">
                    <a16:creationId xmlns:a16="http://schemas.microsoft.com/office/drawing/2014/main" id="{5665277A-4AD2-491A-B1CB-DCFB2A0F7BC9}"/>
                  </a:ext>
                </a:extLst>
              </p:cNvPr>
              <p:cNvGraphicFramePr>
                <a:graphicFrameLocks noChangeAspect="1"/>
              </p:cNvGraphicFramePr>
              <p:nvPr/>
            </p:nvGraphicFramePr>
            <p:xfrm>
              <a:off x="4724400" y="3099097"/>
              <a:ext cx="4313238" cy="1506537"/>
            </p:xfrm>
            <a:graphic>
              <a:graphicData uri="http://schemas.openxmlformats.org/presentationml/2006/ole">
                <mc:AlternateContent xmlns:mc="http://schemas.openxmlformats.org/markup-compatibility/2006">
                  <mc:Choice xmlns:v="urn:schemas-microsoft-com:vml" Requires="v">
                    <p:oleObj name="Equation" r:id="rId11" imgW="3505200" imgH="1270000" progId="Equation.DSMT4">
                      <p:embed/>
                    </p:oleObj>
                  </mc:Choice>
                  <mc:Fallback>
                    <p:oleObj name="Equation" r:id="rId11" imgW="3505200" imgH="1270000" progId="Equation.DSMT4">
                      <p:embed/>
                      <p:pic>
                        <p:nvPicPr>
                          <p:cNvPr id="0" name="54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4400" y="3099097"/>
                            <a:ext cx="4313238" cy="1506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264" name="34 Conector recto">
                <a:extLst>
                  <a:ext uri="{FF2B5EF4-FFF2-40B4-BE49-F238E27FC236}">
                    <a16:creationId xmlns:a16="http://schemas.microsoft.com/office/drawing/2014/main" id="{88A59BFF-128D-4AF6-9CB9-40195810B34A}"/>
                  </a:ext>
                </a:extLst>
              </p:cNvPr>
              <p:cNvCxnSpPr>
                <a:cxnSpLocks noChangeShapeType="1"/>
              </p:cNvCxnSpPr>
              <p:nvPr/>
            </p:nvCxnSpPr>
            <p:spPr bwMode="auto">
              <a:xfrm>
                <a:off x="4725190" y="3404296"/>
                <a:ext cx="417594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5" name="35 Conector recto">
                <a:extLst>
                  <a:ext uri="{FF2B5EF4-FFF2-40B4-BE49-F238E27FC236}">
                    <a16:creationId xmlns:a16="http://schemas.microsoft.com/office/drawing/2014/main" id="{AA8A3182-1933-47EA-9B35-B942362E6F72}"/>
                  </a:ext>
                </a:extLst>
              </p:cNvPr>
              <p:cNvCxnSpPr>
                <a:cxnSpLocks noChangeShapeType="1"/>
              </p:cNvCxnSpPr>
              <p:nvPr/>
            </p:nvCxnSpPr>
            <p:spPr bwMode="auto">
              <a:xfrm>
                <a:off x="4725190" y="4167771"/>
                <a:ext cx="417594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6" name="36 Conector recto">
                <a:extLst>
                  <a:ext uri="{FF2B5EF4-FFF2-40B4-BE49-F238E27FC236}">
                    <a16:creationId xmlns:a16="http://schemas.microsoft.com/office/drawing/2014/main" id="{3E17EBB2-A947-4BD6-9BAC-83A231FD6511}"/>
                  </a:ext>
                </a:extLst>
              </p:cNvPr>
              <p:cNvCxnSpPr>
                <a:cxnSpLocks noChangeShapeType="1"/>
              </p:cNvCxnSpPr>
              <p:nvPr/>
            </p:nvCxnSpPr>
            <p:spPr bwMode="auto">
              <a:xfrm>
                <a:off x="5638800" y="3047999"/>
                <a:ext cx="0" cy="1119771"/>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7" name="37 Conector recto">
                <a:extLst>
                  <a:ext uri="{FF2B5EF4-FFF2-40B4-BE49-F238E27FC236}">
                    <a16:creationId xmlns:a16="http://schemas.microsoft.com/office/drawing/2014/main" id="{AF0C487A-06E3-42AB-B3FB-AFBF7F237F38}"/>
                  </a:ext>
                </a:extLst>
              </p:cNvPr>
              <p:cNvCxnSpPr>
                <a:cxnSpLocks noChangeShapeType="1"/>
              </p:cNvCxnSpPr>
              <p:nvPr/>
            </p:nvCxnSpPr>
            <p:spPr bwMode="auto">
              <a:xfrm>
                <a:off x="7780217" y="3048000"/>
                <a:ext cx="0" cy="1425163"/>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8" name="38 Conector recto">
                <a:extLst>
                  <a:ext uri="{FF2B5EF4-FFF2-40B4-BE49-F238E27FC236}">
                    <a16:creationId xmlns:a16="http://schemas.microsoft.com/office/drawing/2014/main" id="{AF09DC21-9A52-4459-AB45-2EE70CD11C9A}"/>
                  </a:ext>
                </a:extLst>
              </p:cNvPr>
              <p:cNvCxnSpPr>
                <a:cxnSpLocks noChangeShapeType="1"/>
              </p:cNvCxnSpPr>
              <p:nvPr/>
            </p:nvCxnSpPr>
            <p:spPr bwMode="auto">
              <a:xfrm>
                <a:off x="4725190" y="3404296"/>
                <a:ext cx="0" cy="76347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9" name="39 Conector recto">
                <a:extLst>
                  <a:ext uri="{FF2B5EF4-FFF2-40B4-BE49-F238E27FC236}">
                    <a16:creationId xmlns:a16="http://schemas.microsoft.com/office/drawing/2014/main" id="{F3DA54FD-12C5-4BDE-86B8-C489BC9B4118}"/>
                  </a:ext>
                </a:extLst>
              </p:cNvPr>
              <p:cNvCxnSpPr>
                <a:cxnSpLocks noChangeShapeType="1"/>
              </p:cNvCxnSpPr>
              <p:nvPr/>
            </p:nvCxnSpPr>
            <p:spPr bwMode="auto">
              <a:xfrm>
                <a:off x="5638800" y="3048000"/>
                <a:ext cx="214141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61" name="31 CuadroTexto">
              <a:extLst>
                <a:ext uri="{FF2B5EF4-FFF2-40B4-BE49-F238E27FC236}">
                  <a16:creationId xmlns:a16="http://schemas.microsoft.com/office/drawing/2014/main" id="{48A645D9-ACDD-418A-9265-F5275F997B2E}"/>
                </a:ext>
              </a:extLst>
            </p:cNvPr>
            <p:cNvSpPr txBox="1">
              <a:spLocks noChangeArrowheads="1"/>
            </p:cNvSpPr>
            <p:nvPr/>
          </p:nvSpPr>
          <p:spPr bwMode="auto">
            <a:xfrm>
              <a:off x="6058154" y="2667000"/>
              <a:ext cx="1345946" cy="2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Característica B</a:t>
              </a:r>
            </a:p>
          </p:txBody>
        </p:sp>
        <p:sp>
          <p:nvSpPr>
            <p:cNvPr id="10262" name="32 CuadroTexto">
              <a:extLst>
                <a:ext uri="{FF2B5EF4-FFF2-40B4-BE49-F238E27FC236}">
                  <a16:creationId xmlns:a16="http://schemas.microsoft.com/office/drawing/2014/main" id="{584CC163-5553-4D30-A71E-9D55944ADCDE}"/>
                </a:ext>
              </a:extLst>
            </p:cNvPr>
            <p:cNvSpPr txBox="1">
              <a:spLocks noChangeArrowheads="1"/>
            </p:cNvSpPr>
            <p:nvPr/>
          </p:nvSpPr>
          <p:spPr bwMode="auto">
            <a:xfrm>
              <a:off x="4560651" y="2667000"/>
              <a:ext cx="1197764" cy="461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dirty="0"/>
                <a:t>Característica</a:t>
              </a:r>
            </a:p>
            <a:p>
              <a:pPr eaLnBrk="1" hangingPunct="1"/>
              <a:r>
                <a:rPr lang="es-ES" altLang="es-ES" b="1" dirty="0"/>
                <a:t> A</a:t>
              </a:r>
            </a:p>
          </p:txBody>
        </p:sp>
      </p:grpSp>
      <p:graphicFrame>
        <p:nvGraphicFramePr>
          <p:cNvPr id="10251" name="54 Objeto">
            <a:extLst>
              <a:ext uri="{FF2B5EF4-FFF2-40B4-BE49-F238E27FC236}">
                <a16:creationId xmlns:a16="http://schemas.microsoft.com/office/drawing/2014/main" id="{3F6D34FF-2619-4B87-8C54-6262E9329CBE}"/>
              </a:ext>
            </a:extLst>
          </p:cNvPr>
          <p:cNvGraphicFramePr>
            <a:graphicFrameLocks noChangeAspect="1"/>
          </p:cNvGraphicFramePr>
          <p:nvPr/>
        </p:nvGraphicFramePr>
        <p:xfrm>
          <a:off x="5181600" y="5143500"/>
          <a:ext cx="2874963" cy="1416050"/>
        </p:xfrm>
        <a:graphic>
          <a:graphicData uri="http://schemas.openxmlformats.org/presentationml/2006/ole">
            <mc:AlternateContent xmlns:mc="http://schemas.openxmlformats.org/markup-compatibility/2006">
              <mc:Choice xmlns:v="urn:schemas-microsoft-com:vml" Requires="v">
                <p:oleObj name="Equation" r:id="rId13" imgW="2336800" imgH="1193800" progId="Equation.DSMT4">
                  <p:embed/>
                </p:oleObj>
              </mc:Choice>
              <mc:Fallback>
                <p:oleObj name="Equation" r:id="rId13" imgW="2336800" imgH="1193800" progId="Equation.DSMT4">
                  <p:embed/>
                  <p:pic>
                    <p:nvPicPr>
                      <p:cNvPr id="0" name="54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1600" y="5143500"/>
                        <a:ext cx="2874963" cy="141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2" name="59 CuadroTexto">
            <a:extLst>
              <a:ext uri="{FF2B5EF4-FFF2-40B4-BE49-F238E27FC236}">
                <a16:creationId xmlns:a16="http://schemas.microsoft.com/office/drawing/2014/main" id="{376E599A-E919-4338-8062-C84A8CD96541}"/>
              </a:ext>
            </a:extLst>
          </p:cNvPr>
          <p:cNvSpPr txBox="1">
            <a:spLocks noChangeArrowheads="1"/>
          </p:cNvSpPr>
          <p:nvPr/>
        </p:nvSpPr>
        <p:spPr bwMode="auto">
          <a:xfrm>
            <a:off x="4924425" y="4681538"/>
            <a:ext cx="411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Respuesta a dos tratamientos, A y B,  para paliar el dolor crónico en pacientes con fibromialgia</a:t>
            </a:r>
          </a:p>
        </p:txBody>
      </p:sp>
      <p:sp>
        <p:nvSpPr>
          <p:cNvPr id="10253" name="54 Rectángulo redondeado">
            <a:extLst>
              <a:ext uri="{FF2B5EF4-FFF2-40B4-BE49-F238E27FC236}">
                <a16:creationId xmlns:a16="http://schemas.microsoft.com/office/drawing/2014/main" id="{D07F7076-2203-4019-8FDE-C625111F434A}"/>
              </a:ext>
            </a:extLst>
          </p:cNvPr>
          <p:cNvSpPr>
            <a:spLocks noChangeArrowheads="1"/>
          </p:cNvSpPr>
          <p:nvPr/>
        </p:nvSpPr>
        <p:spPr bwMode="auto">
          <a:xfrm>
            <a:off x="4924425" y="4572000"/>
            <a:ext cx="4114800" cy="2057400"/>
          </a:xfrm>
          <a:prstGeom prst="roundRect">
            <a:avLst>
              <a:gd name="adj" fmla="val 3949"/>
            </a:avLst>
          </a:prstGeom>
          <a:noFill/>
          <a:ln w="9525" algn="ctr">
            <a:solidFill>
              <a:srgbClr val="D6A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10254" name="61 Rectángulo redondeado">
            <a:extLst>
              <a:ext uri="{FF2B5EF4-FFF2-40B4-BE49-F238E27FC236}">
                <a16:creationId xmlns:a16="http://schemas.microsoft.com/office/drawing/2014/main" id="{8946B246-E266-4677-9ADA-3200CC0703B4}"/>
              </a:ext>
            </a:extLst>
          </p:cNvPr>
          <p:cNvSpPr>
            <a:spLocks noChangeArrowheads="1"/>
          </p:cNvSpPr>
          <p:nvPr/>
        </p:nvSpPr>
        <p:spPr bwMode="auto">
          <a:xfrm>
            <a:off x="457200" y="4572000"/>
            <a:ext cx="4114800" cy="2057400"/>
          </a:xfrm>
          <a:prstGeom prst="roundRect">
            <a:avLst>
              <a:gd name="adj" fmla="val 3949"/>
            </a:avLst>
          </a:prstGeom>
          <a:noFill/>
          <a:ln w="9525" algn="ctr">
            <a:solidFill>
              <a:srgbClr val="D6A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cxnSp>
        <p:nvCxnSpPr>
          <p:cNvPr id="10255" name="57 Conector recto">
            <a:extLst>
              <a:ext uri="{FF2B5EF4-FFF2-40B4-BE49-F238E27FC236}">
                <a16:creationId xmlns:a16="http://schemas.microsoft.com/office/drawing/2014/main" id="{8525DA30-E110-42AE-9E6A-8BB830DE9E4A}"/>
              </a:ext>
            </a:extLst>
          </p:cNvPr>
          <p:cNvCxnSpPr>
            <a:cxnSpLocks noChangeShapeType="1"/>
          </p:cNvCxnSpPr>
          <p:nvPr/>
        </p:nvCxnSpPr>
        <p:spPr bwMode="auto">
          <a:xfrm>
            <a:off x="4724400" y="685800"/>
            <a:ext cx="0" cy="6070600"/>
          </a:xfrm>
          <a:prstGeom prst="line">
            <a:avLst/>
          </a:prstGeom>
          <a:noFill/>
          <a:ln w="9525" algn="ctr">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6" name="32 CuadroTexto">
            <a:extLst>
              <a:ext uri="{FF2B5EF4-FFF2-40B4-BE49-F238E27FC236}">
                <a16:creationId xmlns:a16="http://schemas.microsoft.com/office/drawing/2014/main" id="{5CF0B9FC-7A44-470D-A5D2-91A1E455FD4E}"/>
              </a:ext>
            </a:extLst>
          </p:cNvPr>
          <p:cNvSpPr txBox="1">
            <a:spLocks noChangeArrowheads="1"/>
          </p:cNvSpPr>
          <p:nvPr/>
        </p:nvSpPr>
        <p:spPr bwMode="auto">
          <a:xfrm>
            <a:off x="4740275" y="1277938"/>
            <a:ext cx="1198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Característica</a:t>
            </a:r>
          </a:p>
          <a:p>
            <a:pPr eaLnBrk="1" hangingPunct="1"/>
            <a:r>
              <a:rPr lang="es-ES" altLang="es-ES" b="1"/>
              <a:t> A</a:t>
            </a:r>
          </a:p>
        </p:txBody>
      </p:sp>
      <p:sp>
        <p:nvSpPr>
          <p:cNvPr id="10257" name="8 CuadroTexto">
            <a:extLst>
              <a:ext uri="{FF2B5EF4-FFF2-40B4-BE49-F238E27FC236}">
                <a16:creationId xmlns:a16="http://schemas.microsoft.com/office/drawing/2014/main" id="{6D4C915F-5137-4B5F-BD68-24781FF5C1D0}"/>
              </a:ext>
            </a:extLst>
          </p:cNvPr>
          <p:cNvSpPr txBox="1">
            <a:spLocks noChangeArrowheads="1"/>
          </p:cNvSpPr>
          <p:nvPr/>
        </p:nvSpPr>
        <p:spPr bwMode="auto">
          <a:xfrm rot="-5400000">
            <a:off x="-467519" y="1848645"/>
            <a:ext cx="12858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Observaciones</a:t>
            </a:r>
          </a:p>
        </p:txBody>
      </p:sp>
      <p:sp>
        <p:nvSpPr>
          <p:cNvPr id="10258" name="54 CuadroTexto">
            <a:extLst>
              <a:ext uri="{FF2B5EF4-FFF2-40B4-BE49-F238E27FC236}">
                <a16:creationId xmlns:a16="http://schemas.microsoft.com/office/drawing/2014/main" id="{A37985A0-0D69-42E8-83F3-0CB18ACCFBB9}"/>
              </a:ext>
            </a:extLst>
          </p:cNvPr>
          <p:cNvSpPr txBox="1">
            <a:spLocks noChangeArrowheads="1"/>
          </p:cNvSpPr>
          <p:nvPr/>
        </p:nvSpPr>
        <p:spPr bwMode="auto">
          <a:xfrm rot="-5400000">
            <a:off x="-352425" y="3436938"/>
            <a:ext cx="1055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Porcentajes</a:t>
            </a:r>
          </a:p>
        </p:txBody>
      </p:sp>
      <p:sp>
        <p:nvSpPr>
          <p:cNvPr id="10259" name="55 CuadroTexto">
            <a:extLst>
              <a:ext uri="{FF2B5EF4-FFF2-40B4-BE49-F238E27FC236}">
                <a16:creationId xmlns:a16="http://schemas.microsoft.com/office/drawing/2014/main" id="{09C0DC56-AD08-4479-AB9C-12F3A03B3752}"/>
              </a:ext>
            </a:extLst>
          </p:cNvPr>
          <p:cNvSpPr txBox="1">
            <a:spLocks noChangeArrowheads="1"/>
          </p:cNvSpPr>
          <p:nvPr/>
        </p:nvSpPr>
        <p:spPr bwMode="auto">
          <a:xfrm rot="-5400000">
            <a:off x="-216694" y="5488782"/>
            <a:ext cx="7842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Ejemplo</a:t>
            </a:r>
          </a:p>
        </p:txBody>
      </p:sp>
      <p:cxnSp>
        <p:nvCxnSpPr>
          <p:cNvPr id="3" name="Conector recto 2">
            <a:extLst>
              <a:ext uri="{FF2B5EF4-FFF2-40B4-BE49-F238E27FC236}">
                <a16:creationId xmlns:a16="http://schemas.microsoft.com/office/drawing/2014/main" id="{0B97A35F-CFC6-4683-B955-8EA82839CE8D}"/>
              </a:ext>
            </a:extLst>
          </p:cNvPr>
          <p:cNvCxnSpPr/>
          <p:nvPr/>
        </p:nvCxnSpPr>
        <p:spPr bwMode="auto">
          <a:xfrm flipV="1">
            <a:off x="-76200" y="2601914"/>
            <a:ext cx="9183688" cy="36511"/>
          </a:xfrm>
          <a:prstGeom prst="line">
            <a:avLst/>
          </a:pr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ector recto 40">
            <a:extLst>
              <a:ext uri="{FF2B5EF4-FFF2-40B4-BE49-F238E27FC236}">
                <a16:creationId xmlns:a16="http://schemas.microsoft.com/office/drawing/2014/main" id="{9281F016-29E9-4B5D-93A9-6EC6A01040A8}"/>
              </a:ext>
            </a:extLst>
          </p:cNvPr>
          <p:cNvCxnSpPr/>
          <p:nvPr/>
        </p:nvCxnSpPr>
        <p:spPr bwMode="auto">
          <a:xfrm flipV="1">
            <a:off x="-1588" y="4477311"/>
            <a:ext cx="9183688" cy="36511"/>
          </a:xfrm>
          <a:prstGeom prst="line">
            <a:avLst/>
          </a:pr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B0D535C6-8EB8-47FC-8842-CC8C8C18EBD4}"/>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graphicFrame>
        <p:nvGraphicFramePr>
          <p:cNvPr id="12291" name="55 Objeto">
            <a:extLst>
              <a:ext uri="{FF2B5EF4-FFF2-40B4-BE49-F238E27FC236}">
                <a16:creationId xmlns:a16="http://schemas.microsoft.com/office/drawing/2014/main" id="{9A212EC8-C1F7-429C-BB98-BAE5A7EFAA9C}"/>
              </a:ext>
            </a:extLst>
          </p:cNvPr>
          <p:cNvGraphicFramePr>
            <a:graphicFrameLocks noChangeAspect="1"/>
          </p:cNvGraphicFramePr>
          <p:nvPr/>
        </p:nvGraphicFramePr>
        <p:xfrm>
          <a:off x="5334000" y="3287713"/>
          <a:ext cx="3198813" cy="1076325"/>
        </p:xfrm>
        <a:graphic>
          <a:graphicData uri="http://schemas.openxmlformats.org/presentationml/2006/ole">
            <mc:AlternateContent xmlns:mc="http://schemas.openxmlformats.org/markup-compatibility/2006">
              <mc:Choice xmlns:v="urn:schemas-microsoft-com:vml" Requires="v">
                <p:oleObj name="Equation" r:id="rId3" imgW="3416300" imgH="1193800" progId="Equation.DSMT4">
                  <p:embed/>
                </p:oleObj>
              </mc:Choice>
              <mc:Fallback>
                <p:oleObj name="Equation" r:id="rId3" imgW="3416300" imgH="1193800" progId="Equation.DSMT4">
                  <p:embed/>
                  <p:pic>
                    <p:nvPicPr>
                      <p:cNvPr id="0" name="55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287713"/>
                        <a:ext cx="319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2" name="Rectangle 21">
            <a:extLst>
              <a:ext uri="{FF2B5EF4-FFF2-40B4-BE49-F238E27FC236}">
                <a16:creationId xmlns:a16="http://schemas.microsoft.com/office/drawing/2014/main" id="{86EEFC1C-B2BB-43D6-80AA-C19EB0464DDE}"/>
              </a:ext>
            </a:extLst>
          </p:cNvPr>
          <p:cNvSpPr>
            <a:spLocks noChangeArrowheads="1"/>
          </p:cNvSpPr>
          <p:nvPr/>
        </p:nvSpPr>
        <p:spPr bwMode="auto">
          <a:xfrm>
            <a:off x="304800" y="838200"/>
            <a:ext cx="8610600"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300">
                <a:solidFill>
                  <a:srgbClr val="006666"/>
                </a:solidFill>
              </a:rPr>
              <a:t># Se estudia la asociación entre el riesgo cardiovascular (medido en términos de indicadores como la calcificación coronaria, el índice aterogénico, etc) y el consumo de tabaco. Para ello se consideró una muestra de 105 fumadores de los cuales 45 resultaron ser individuos de alto riesgo cardiovascular. En otra muestra (control) de 119 individuos no fumadores se observaron a 15 individuos con alto riesgo cardiovascular. ¿Puede decirse que la presencia de riesgo cardiovascular alto es diferente en fumadores  y no fumadores?</a:t>
            </a:r>
            <a:endParaRPr lang="es-ES" altLang="es-ES" sz="1300">
              <a:solidFill>
                <a:srgbClr val="006666"/>
              </a:solidFill>
            </a:endParaRPr>
          </a:p>
        </p:txBody>
      </p:sp>
      <p:sp>
        <p:nvSpPr>
          <p:cNvPr id="12293" name="2 CuadroTexto">
            <a:extLst>
              <a:ext uri="{FF2B5EF4-FFF2-40B4-BE49-F238E27FC236}">
                <a16:creationId xmlns:a16="http://schemas.microsoft.com/office/drawing/2014/main" id="{D45FE25B-1CBF-41CC-8001-77375C333906}"/>
              </a:ext>
            </a:extLst>
          </p:cNvPr>
          <p:cNvSpPr txBox="1">
            <a:spLocks noChangeArrowheads="1"/>
          </p:cNvSpPr>
          <p:nvPr/>
        </p:nvSpPr>
        <p:spPr bwMode="auto">
          <a:xfrm>
            <a:off x="334963" y="3276600"/>
            <a:ext cx="2103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a:t>2. Información muestral:</a:t>
            </a:r>
          </a:p>
        </p:txBody>
      </p:sp>
      <p:sp>
        <p:nvSpPr>
          <p:cNvPr id="12294" name="7 CuadroTexto">
            <a:extLst>
              <a:ext uri="{FF2B5EF4-FFF2-40B4-BE49-F238E27FC236}">
                <a16:creationId xmlns:a16="http://schemas.microsoft.com/office/drawing/2014/main" id="{F3CDFF0B-F324-46FE-B0D9-78BBCF9AF2FC}"/>
              </a:ext>
            </a:extLst>
          </p:cNvPr>
          <p:cNvSpPr txBox="1">
            <a:spLocks noChangeArrowheads="1"/>
          </p:cNvSpPr>
          <p:nvPr/>
        </p:nvSpPr>
        <p:spPr bwMode="auto">
          <a:xfrm>
            <a:off x="334963" y="2054225"/>
            <a:ext cx="2562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a:t>1. Identificación del problema:</a:t>
            </a:r>
          </a:p>
        </p:txBody>
      </p:sp>
      <p:sp>
        <p:nvSpPr>
          <p:cNvPr id="12295" name="8 CuadroTexto">
            <a:extLst>
              <a:ext uri="{FF2B5EF4-FFF2-40B4-BE49-F238E27FC236}">
                <a16:creationId xmlns:a16="http://schemas.microsoft.com/office/drawing/2014/main" id="{8B45B0FE-B5DE-492E-B9E9-495D1CCC655A}"/>
              </a:ext>
            </a:extLst>
          </p:cNvPr>
          <p:cNvSpPr txBox="1">
            <a:spLocks noChangeArrowheads="1"/>
          </p:cNvSpPr>
          <p:nvPr/>
        </p:nvSpPr>
        <p:spPr bwMode="auto">
          <a:xfrm>
            <a:off x="533400" y="2308225"/>
            <a:ext cx="83058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Se trata comparar la </a:t>
            </a:r>
            <a:r>
              <a:rPr lang="es-ES" altLang="es-ES" b="1"/>
              <a:t>proporción</a:t>
            </a:r>
            <a:r>
              <a:rPr lang="es-ES" altLang="es-ES"/>
              <a:t> de individuos con alto riesgo en la población de fumadores (=</a:t>
            </a:r>
            <a:r>
              <a:rPr lang="es-ES" altLang="es-ES" sz="1400" i="1">
                <a:latin typeface="Times New Roman" panose="02020603050405020304" pitchFamily="18" charset="0"/>
                <a:cs typeface="Times New Roman" panose="02020603050405020304" pitchFamily="18" charset="0"/>
              </a:rPr>
              <a:t>p</a:t>
            </a:r>
            <a:r>
              <a:rPr lang="es-ES" altLang="es-ES" baseline="-25000"/>
              <a:t>1</a:t>
            </a:r>
            <a:r>
              <a:rPr lang="es-ES" altLang="es-ES"/>
              <a:t>) con la </a:t>
            </a:r>
            <a:r>
              <a:rPr lang="es-ES" altLang="es-ES" b="1"/>
              <a:t>proporción</a:t>
            </a:r>
            <a:r>
              <a:rPr lang="es-ES" altLang="es-ES"/>
              <a:t> de individuos de alto riesgo en la población de no fumadores (=</a:t>
            </a:r>
            <a:r>
              <a:rPr lang="es-ES" altLang="es-ES" sz="1400" i="1">
                <a:latin typeface="Times New Roman" panose="02020603050405020304" pitchFamily="18" charset="0"/>
                <a:cs typeface="Times New Roman" panose="02020603050405020304" pitchFamily="18" charset="0"/>
              </a:rPr>
              <a:t>p</a:t>
            </a:r>
            <a:r>
              <a:rPr lang="es-ES" altLang="es-ES" baseline="-25000"/>
              <a:t>2</a:t>
            </a:r>
            <a:r>
              <a:rPr lang="es-ES" altLang="es-ES"/>
              <a:t>). Se han tomado dos </a:t>
            </a:r>
            <a:r>
              <a:rPr lang="es-ES" altLang="es-ES" b="1"/>
              <a:t>muestras</a:t>
            </a:r>
            <a:r>
              <a:rPr lang="es-ES" altLang="es-ES"/>
              <a:t> </a:t>
            </a:r>
            <a:r>
              <a:rPr lang="es-ES" altLang="es-ES" b="1"/>
              <a:t>independientes</a:t>
            </a:r>
            <a:r>
              <a:rPr lang="es-ES" altLang="es-ES"/>
              <a:t> correspondientes a cada una de ellas, por lo tanto se trata de realizar un</a:t>
            </a:r>
            <a:r>
              <a:rPr lang="es-ES" altLang="es-ES" b="1"/>
              <a:t> test de homogeneidad de dos proporciones independientes</a:t>
            </a:r>
          </a:p>
        </p:txBody>
      </p:sp>
      <p:graphicFrame>
        <p:nvGraphicFramePr>
          <p:cNvPr id="12296" name="9 Objeto">
            <a:extLst>
              <a:ext uri="{FF2B5EF4-FFF2-40B4-BE49-F238E27FC236}">
                <a16:creationId xmlns:a16="http://schemas.microsoft.com/office/drawing/2014/main" id="{F2E8B0B9-A5B4-4677-8274-0C96C3D7EF81}"/>
              </a:ext>
            </a:extLst>
          </p:cNvPr>
          <p:cNvGraphicFramePr>
            <a:graphicFrameLocks noChangeAspect="1"/>
          </p:cNvGraphicFramePr>
          <p:nvPr/>
        </p:nvGraphicFramePr>
        <p:xfrm>
          <a:off x="609600" y="3657600"/>
          <a:ext cx="3487738" cy="541338"/>
        </p:xfrm>
        <a:graphic>
          <a:graphicData uri="http://schemas.openxmlformats.org/presentationml/2006/ole">
            <mc:AlternateContent xmlns:mc="http://schemas.openxmlformats.org/markup-compatibility/2006">
              <mc:Choice xmlns:v="urn:schemas-microsoft-com:vml" Requires="v">
                <p:oleObj name="Equation" r:id="rId5" imgW="2832100" imgH="457200" progId="Equation.DSMT4">
                  <p:embed/>
                </p:oleObj>
              </mc:Choice>
              <mc:Fallback>
                <p:oleObj name="Equation" r:id="rId5" imgW="2832100" imgH="457200" progId="Equation.DSMT4">
                  <p:embed/>
                  <p:pic>
                    <p:nvPicPr>
                      <p:cNvPr id="0" name="9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657600"/>
                        <a:ext cx="3487738"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297" name="4 Conector recto de flecha">
            <a:extLst>
              <a:ext uri="{FF2B5EF4-FFF2-40B4-BE49-F238E27FC236}">
                <a16:creationId xmlns:a16="http://schemas.microsoft.com/office/drawing/2014/main" id="{035B3609-F94C-4C33-82F8-C88347B8A13B}"/>
              </a:ext>
            </a:extLst>
          </p:cNvPr>
          <p:cNvCxnSpPr>
            <a:cxnSpLocks noChangeShapeType="1"/>
          </p:cNvCxnSpPr>
          <p:nvPr/>
        </p:nvCxnSpPr>
        <p:spPr bwMode="auto">
          <a:xfrm>
            <a:off x="4267200" y="3962400"/>
            <a:ext cx="533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2298" name="13 Objeto">
            <a:extLst>
              <a:ext uri="{FF2B5EF4-FFF2-40B4-BE49-F238E27FC236}">
                <a16:creationId xmlns:a16="http://schemas.microsoft.com/office/drawing/2014/main" id="{140008C3-FDC5-468C-8392-CEEC144D39D6}"/>
              </a:ext>
            </a:extLst>
          </p:cNvPr>
          <p:cNvGraphicFramePr>
            <a:graphicFrameLocks noChangeAspect="1"/>
          </p:cNvGraphicFramePr>
          <p:nvPr/>
        </p:nvGraphicFramePr>
        <p:xfrm>
          <a:off x="609600" y="4564063"/>
          <a:ext cx="1595438" cy="541337"/>
        </p:xfrm>
        <a:graphic>
          <a:graphicData uri="http://schemas.openxmlformats.org/presentationml/2006/ole">
            <mc:AlternateContent xmlns:mc="http://schemas.openxmlformats.org/markup-compatibility/2006">
              <mc:Choice xmlns:v="urn:schemas-microsoft-com:vml" Requires="v">
                <p:oleObj name="Equation" r:id="rId7" imgW="1295400" imgH="457200" progId="Equation.DSMT4">
                  <p:embed/>
                </p:oleObj>
              </mc:Choice>
              <mc:Fallback>
                <p:oleObj name="Equation" r:id="rId7" imgW="1295400" imgH="457200" progId="Equation.DSMT4">
                  <p:embed/>
                  <p:pic>
                    <p:nvPicPr>
                      <p:cNvPr id="0" name="13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4564063"/>
                        <a:ext cx="1595438"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9" name="14 CuadroTexto">
            <a:extLst>
              <a:ext uri="{FF2B5EF4-FFF2-40B4-BE49-F238E27FC236}">
                <a16:creationId xmlns:a16="http://schemas.microsoft.com/office/drawing/2014/main" id="{8FB7981F-325E-4B77-97F1-73BAE58D9F96}"/>
              </a:ext>
            </a:extLst>
          </p:cNvPr>
          <p:cNvSpPr txBox="1">
            <a:spLocks noChangeArrowheads="1"/>
          </p:cNvSpPr>
          <p:nvPr/>
        </p:nvSpPr>
        <p:spPr bwMode="auto">
          <a:xfrm>
            <a:off x="533400" y="4267200"/>
            <a:ext cx="403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La estimación puntual de las proporciones de interés es:</a:t>
            </a:r>
          </a:p>
        </p:txBody>
      </p:sp>
      <p:sp>
        <p:nvSpPr>
          <p:cNvPr id="12300" name="15 CuadroTexto">
            <a:extLst>
              <a:ext uri="{FF2B5EF4-FFF2-40B4-BE49-F238E27FC236}">
                <a16:creationId xmlns:a16="http://schemas.microsoft.com/office/drawing/2014/main" id="{3C74F8DC-B281-4F9D-83FD-F815012FE913}"/>
              </a:ext>
            </a:extLst>
          </p:cNvPr>
          <p:cNvSpPr txBox="1">
            <a:spLocks noChangeArrowheads="1"/>
          </p:cNvSpPr>
          <p:nvPr/>
        </p:nvSpPr>
        <p:spPr bwMode="auto">
          <a:xfrm>
            <a:off x="2247900" y="4572000"/>
            <a:ext cx="6591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Puntualmente, el riesgo elevado se observa en el 42.9% de los fumadores y en el 12.6% de los no fumadores. </a:t>
            </a:r>
          </a:p>
        </p:txBody>
      </p:sp>
      <p:sp>
        <p:nvSpPr>
          <p:cNvPr id="12301" name="16 CuadroTexto">
            <a:extLst>
              <a:ext uri="{FF2B5EF4-FFF2-40B4-BE49-F238E27FC236}">
                <a16:creationId xmlns:a16="http://schemas.microsoft.com/office/drawing/2014/main" id="{7D3BF512-F330-44BC-A8B9-2ACD80910D09}"/>
              </a:ext>
            </a:extLst>
          </p:cNvPr>
          <p:cNvSpPr txBox="1">
            <a:spLocks noChangeArrowheads="1"/>
          </p:cNvSpPr>
          <p:nvPr/>
        </p:nvSpPr>
        <p:spPr bwMode="auto">
          <a:xfrm>
            <a:off x="334963" y="5257800"/>
            <a:ext cx="1120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a:t>3. Hipótesis</a:t>
            </a:r>
          </a:p>
        </p:txBody>
      </p:sp>
      <p:graphicFrame>
        <p:nvGraphicFramePr>
          <p:cNvPr id="12302" name="17 Objeto">
            <a:extLst>
              <a:ext uri="{FF2B5EF4-FFF2-40B4-BE49-F238E27FC236}">
                <a16:creationId xmlns:a16="http://schemas.microsoft.com/office/drawing/2014/main" id="{03DFA1D7-B37A-4274-9DE8-3F7E3FA0A962}"/>
              </a:ext>
            </a:extLst>
          </p:cNvPr>
          <p:cNvGraphicFramePr>
            <a:graphicFrameLocks noChangeAspect="1"/>
          </p:cNvGraphicFramePr>
          <p:nvPr/>
        </p:nvGraphicFramePr>
        <p:xfrm>
          <a:off x="609600" y="5638800"/>
          <a:ext cx="8070850" cy="571500"/>
        </p:xfrm>
        <a:graphic>
          <a:graphicData uri="http://schemas.openxmlformats.org/presentationml/2006/ole">
            <mc:AlternateContent xmlns:mc="http://schemas.openxmlformats.org/markup-compatibility/2006">
              <mc:Choice xmlns:v="urn:schemas-microsoft-com:vml" Requires="v">
                <p:oleObj name="Equation" r:id="rId9" imgW="6553200" imgH="482600" progId="Equation.DSMT4">
                  <p:embed/>
                </p:oleObj>
              </mc:Choice>
              <mc:Fallback>
                <p:oleObj name="Equation" r:id="rId9" imgW="6553200" imgH="482600" progId="Equation.DSMT4">
                  <p:embed/>
                  <p:pic>
                    <p:nvPicPr>
                      <p:cNvPr id="0" name="17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5638800"/>
                        <a:ext cx="80708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4" name="18 CuadroTexto">
            <a:extLst>
              <a:ext uri="{FF2B5EF4-FFF2-40B4-BE49-F238E27FC236}">
                <a16:creationId xmlns:a16="http://schemas.microsoft.com/office/drawing/2014/main" id="{E719DE08-53E0-472D-A3FA-B599FD551EAF}"/>
              </a:ext>
            </a:extLst>
          </p:cNvPr>
          <p:cNvSpPr txBox="1">
            <a:spLocks noChangeArrowheads="1"/>
          </p:cNvSpPr>
          <p:nvPr/>
        </p:nvSpPr>
        <p:spPr bwMode="auto">
          <a:xfrm>
            <a:off x="533400" y="6269038"/>
            <a:ext cx="82438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Declararemos significativo al test si  </a:t>
            </a:r>
            <a:r>
              <a:rPr lang="es-ES" altLang="es-ES" i="1"/>
              <a:t>P </a:t>
            </a:r>
            <a:r>
              <a:rPr lang="es-ES" altLang="es-ES"/>
              <a:t>≤ </a:t>
            </a:r>
            <a:r>
              <a:rPr lang="es-ES" altLang="es-ES" sz="1600">
                <a:latin typeface="Symbol" panose="05050102010706020507" pitchFamily="18" charset="2"/>
              </a:rPr>
              <a:t>a</a:t>
            </a:r>
            <a:r>
              <a:rPr lang="es-ES" altLang="es-ES" sz="1400">
                <a:latin typeface="Symbol" panose="05050102010706020507" pitchFamily="18" charset="2"/>
              </a:rPr>
              <a:t> </a:t>
            </a:r>
            <a:r>
              <a:rPr lang="es-ES" altLang="es-ES"/>
              <a:t>= 0.05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2 CuadroTexto">
            <a:extLst>
              <a:ext uri="{FF2B5EF4-FFF2-40B4-BE49-F238E27FC236}">
                <a16:creationId xmlns:a16="http://schemas.microsoft.com/office/drawing/2014/main" id="{1BC73551-002D-4E16-BE65-03FFC9CEC9B3}"/>
              </a:ext>
            </a:extLst>
          </p:cNvPr>
          <p:cNvSpPr txBox="1">
            <a:spLocks noChangeArrowheads="1"/>
          </p:cNvSpPr>
          <p:nvPr/>
        </p:nvSpPr>
        <p:spPr bwMode="auto">
          <a:xfrm>
            <a:off x="334963" y="2438400"/>
            <a:ext cx="44582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5. </a:t>
            </a:r>
            <a:r>
              <a:rPr lang="es-ES" altLang="es-ES" sz="1400" b="1" dirty="0"/>
              <a:t>Estadístico de contraste </a:t>
            </a:r>
            <a:r>
              <a:rPr lang="es-ES" altLang="es-ES" sz="1400" dirty="0"/>
              <a:t>(método incondicionado)</a:t>
            </a:r>
          </a:p>
        </p:txBody>
      </p:sp>
      <p:sp>
        <p:nvSpPr>
          <p:cNvPr id="14339" name="7 CuadroTexto">
            <a:extLst>
              <a:ext uri="{FF2B5EF4-FFF2-40B4-BE49-F238E27FC236}">
                <a16:creationId xmlns:a16="http://schemas.microsoft.com/office/drawing/2014/main" id="{6D41D8AA-4099-4106-916D-DBEEA591C7D6}"/>
              </a:ext>
            </a:extLst>
          </p:cNvPr>
          <p:cNvSpPr txBox="1">
            <a:spLocks noChangeArrowheads="1"/>
          </p:cNvSpPr>
          <p:nvPr/>
        </p:nvSpPr>
        <p:spPr bwMode="auto">
          <a:xfrm>
            <a:off x="334963" y="762000"/>
            <a:ext cx="4770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a:t>4.</a:t>
            </a:r>
            <a:r>
              <a:rPr lang="es-ES" altLang="es-ES" sz="1400" b="1"/>
              <a:t>	Condiciones de validez </a:t>
            </a:r>
            <a:r>
              <a:rPr lang="es-ES" altLang="es-ES" sz="1400"/>
              <a:t>del test de comparación de dos proporciones independientes</a:t>
            </a:r>
          </a:p>
        </p:txBody>
      </p:sp>
      <p:sp>
        <p:nvSpPr>
          <p:cNvPr id="14340" name="15 CuadroTexto">
            <a:extLst>
              <a:ext uri="{FF2B5EF4-FFF2-40B4-BE49-F238E27FC236}">
                <a16:creationId xmlns:a16="http://schemas.microsoft.com/office/drawing/2014/main" id="{9DD9E1CC-0092-49DF-B62F-61875EDE24C6}"/>
              </a:ext>
            </a:extLst>
          </p:cNvPr>
          <p:cNvSpPr txBox="1">
            <a:spLocks noChangeArrowheads="1"/>
          </p:cNvSpPr>
          <p:nvPr/>
        </p:nvSpPr>
        <p:spPr bwMode="auto">
          <a:xfrm>
            <a:off x="904875" y="3994150"/>
            <a:ext cx="7400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i="1" dirty="0"/>
              <a:t>P</a:t>
            </a:r>
            <a:r>
              <a:rPr lang="es-ES" altLang="es-ES" sz="1400" dirty="0"/>
              <a:t>&lt;0.001 (en la tabla de la distribución normal estándar)</a:t>
            </a:r>
          </a:p>
        </p:txBody>
      </p:sp>
      <p:graphicFrame>
        <p:nvGraphicFramePr>
          <p:cNvPr id="14341" name="18 Objeto">
            <a:extLst>
              <a:ext uri="{FF2B5EF4-FFF2-40B4-BE49-F238E27FC236}">
                <a16:creationId xmlns:a16="http://schemas.microsoft.com/office/drawing/2014/main" id="{CD55BEEE-256A-4BF6-ACDF-F127027A5AE7}"/>
              </a:ext>
            </a:extLst>
          </p:cNvPr>
          <p:cNvGraphicFramePr>
            <a:graphicFrameLocks noChangeAspect="1"/>
          </p:cNvGraphicFramePr>
          <p:nvPr/>
        </p:nvGraphicFramePr>
        <p:xfrm>
          <a:off x="585788" y="1371600"/>
          <a:ext cx="4348162" cy="496888"/>
        </p:xfrm>
        <a:graphic>
          <a:graphicData uri="http://schemas.openxmlformats.org/presentationml/2006/ole">
            <mc:AlternateContent xmlns:mc="http://schemas.openxmlformats.org/markup-compatibility/2006">
              <mc:Choice xmlns:v="urn:schemas-microsoft-com:vml" Requires="v">
                <p:oleObj name="Equation" r:id="rId3" imgW="3530600" imgH="419100" progId="Equation.DSMT4">
                  <p:embed/>
                </p:oleObj>
              </mc:Choice>
              <mc:Fallback>
                <p:oleObj name="Equation" r:id="rId3" imgW="3530600" imgH="419100" progId="Equation.DSMT4">
                  <p:embed/>
                  <p:pic>
                    <p:nvPicPr>
                      <p:cNvPr id="0" name="18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788" y="1371600"/>
                        <a:ext cx="4348162"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2" name="19 CuadroTexto">
            <a:extLst>
              <a:ext uri="{FF2B5EF4-FFF2-40B4-BE49-F238E27FC236}">
                <a16:creationId xmlns:a16="http://schemas.microsoft.com/office/drawing/2014/main" id="{6027526C-A04C-478A-BA79-78BAF912E614}"/>
              </a:ext>
            </a:extLst>
          </p:cNvPr>
          <p:cNvSpPr txBox="1">
            <a:spLocks noChangeArrowheads="1"/>
          </p:cNvSpPr>
          <p:nvPr/>
        </p:nvSpPr>
        <p:spPr bwMode="auto">
          <a:xfrm>
            <a:off x="503238" y="1876425"/>
            <a:ext cx="5897562"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Cómo 28.1&gt;7.7, el método que sigue a continuación es aplicable</a:t>
            </a:r>
          </a:p>
        </p:txBody>
      </p:sp>
      <p:grpSp>
        <p:nvGrpSpPr>
          <p:cNvPr id="14343" name="3 Grupo">
            <a:extLst>
              <a:ext uri="{FF2B5EF4-FFF2-40B4-BE49-F238E27FC236}">
                <a16:creationId xmlns:a16="http://schemas.microsoft.com/office/drawing/2014/main" id="{DA935836-F2E0-4B60-9BEA-802F0AB810F7}"/>
              </a:ext>
            </a:extLst>
          </p:cNvPr>
          <p:cNvGrpSpPr>
            <a:grpSpLocks/>
          </p:cNvGrpSpPr>
          <p:nvPr/>
        </p:nvGrpSpPr>
        <p:grpSpPr bwMode="auto">
          <a:xfrm>
            <a:off x="585788" y="2798763"/>
            <a:ext cx="7185025" cy="812800"/>
            <a:chOff x="585788" y="2677905"/>
            <a:chExt cx="7185024" cy="812800"/>
          </a:xfrm>
        </p:grpSpPr>
        <p:graphicFrame>
          <p:nvGraphicFramePr>
            <p:cNvPr id="14352" name="9 Objeto">
              <a:extLst>
                <a:ext uri="{FF2B5EF4-FFF2-40B4-BE49-F238E27FC236}">
                  <a16:creationId xmlns:a16="http://schemas.microsoft.com/office/drawing/2014/main" id="{1BBF633B-C0C1-435E-8102-90F426B8D265}"/>
                </a:ext>
              </a:extLst>
            </p:cNvPr>
            <p:cNvGraphicFramePr>
              <a:graphicFrameLocks noChangeAspect="1"/>
            </p:cNvGraphicFramePr>
            <p:nvPr>
              <p:extLst>
                <p:ext uri="{D42A27DB-BD31-4B8C-83A1-F6EECF244321}">
                  <p14:modId xmlns:p14="http://schemas.microsoft.com/office/powerpoint/2010/main" val="3686458430"/>
                </p:ext>
              </p:extLst>
            </p:nvPr>
          </p:nvGraphicFramePr>
          <p:xfrm>
            <a:off x="585788" y="2677905"/>
            <a:ext cx="3567112" cy="812800"/>
          </p:xfrm>
          <a:graphic>
            <a:graphicData uri="http://schemas.openxmlformats.org/presentationml/2006/ole">
              <mc:AlternateContent xmlns:mc="http://schemas.openxmlformats.org/markup-compatibility/2006">
                <mc:Choice xmlns:v="urn:schemas-microsoft-com:vml" Requires="v">
                  <p:oleObj name="Equation" r:id="rId5" imgW="2895480" imgH="685800" progId="Equation.DSMT4">
                    <p:embed/>
                  </p:oleObj>
                </mc:Choice>
                <mc:Fallback>
                  <p:oleObj name="Equation" r:id="rId5" imgW="2895480" imgH="685800" progId="Equation.DSMT4">
                    <p:embed/>
                    <p:pic>
                      <p:nvPicPr>
                        <p:cNvPr id="0" name="9 Objeto"/>
                        <p:cNvPicPr>
                          <a:picLocks noChangeAspect="1" noChangeArrowheads="1"/>
                        </p:cNvPicPr>
                        <p:nvPr/>
                      </p:nvPicPr>
                      <p:blipFill>
                        <a:blip r:embed="rId6"/>
                        <a:srcRect/>
                        <a:stretch>
                          <a:fillRect/>
                        </a:stretch>
                      </p:blipFill>
                      <p:spPr bwMode="auto">
                        <a:xfrm>
                          <a:off x="585788" y="2677905"/>
                          <a:ext cx="35671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4353" name="4 Conector recto de flecha">
              <a:extLst>
                <a:ext uri="{FF2B5EF4-FFF2-40B4-BE49-F238E27FC236}">
                  <a16:creationId xmlns:a16="http://schemas.microsoft.com/office/drawing/2014/main" id="{4893E7BD-E3B4-4E58-8798-F6872CB24EF6}"/>
                </a:ext>
              </a:extLst>
            </p:cNvPr>
            <p:cNvCxnSpPr>
              <a:cxnSpLocks noChangeShapeType="1"/>
            </p:cNvCxnSpPr>
            <p:nvPr/>
          </p:nvCxnSpPr>
          <p:spPr bwMode="auto">
            <a:xfrm>
              <a:off x="4343400" y="2981528"/>
              <a:ext cx="3810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354" name="20 Objeto">
              <a:extLst>
                <a:ext uri="{FF2B5EF4-FFF2-40B4-BE49-F238E27FC236}">
                  <a16:creationId xmlns:a16="http://schemas.microsoft.com/office/drawing/2014/main" id="{0AD67F96-471D-42F2-9568-B2B7236A1A36}"/>
                </a:ext>
              </a:extLst>
            </p:cNvPr>
            <p:cNvGraphicFramePr>
              <a:graphicFrameLocks noChangeAspect="1"/>
            </p:cNvGraphicFramePr>
            <p:nvPr/>
          </p:nvGraphicFramePr>
          <p:xfrm>
            <a:off x="4876800" y="2700724"/>
            <a:ext cx="2894012" cy="768350"/>
          </p:xfrm>
          <a:graphic>
            <a:graphicData uri="http://schemas.openxmlformats.org/presentationml/2006/ole">
              <mc:AlternateContent xmlns:mc="http://schemas.openxmlformats.org/markup-compatibility/2006">
                <mc:Choice xmlns:v="urn:schemas-microsoft-com:vml" Requires="v">
                  <p:oleObj name="Equation" r:id="rId7" imgW="2349500" imgH="647700" progId="Equation.DSMT4">
                    <p:embed/>
                  </p:oleObj>
                </mc:Choice>
                <mc:Fallback>
                  <p:oleObj name="Equation" r:id="rId7" imgW="2349500" imgH="647700" progId="Equation.DSMT4">
                    <p:embed/>
                    <p:pic>
                      <p:nvPicPr>
                        <p:cNvPr id="0" name="20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2700724"/>
                          <a:ext cx="2894012"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14344" name="10 Conector recto de flecha">
            <a:extLst>
              <a:ext uri="{FF2B5EF4-FFF2-40B4-BE49-F238E27FC236}">
                <a16:creationId xmlns:a16="http://schemas.microsoft.com/office/drawing/2014/main" id="{34C4FBBC-0747-4CDA-926A-A11636B51A63}"/>
              </a:ext>
            </a:extLst>
          </p:cNvPr>
          <p:cNvCxnSpPr>
            <a:cxnSpLocks noChangeShapeType="1"/>
          </p:cNvCxnSpPr>
          <p:nvPr/>
        </p:nvCxnSpPr>
        <p:spPr bwMode="auto">
          <a:xfrm>
            <a:off x="609600" y="4146550"/>
            <a:ext cx="21907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45" name="21 CuadroTexto">
            <a:extLst>
              <a:ext uri="{FF2B5EF4-FFF2-40B4-BE49-F238E27FC236}">
                <a16:creationId xmlns:a16="http://schemas.microsoft.com/office/drawing/2014/main" id="{784C8EBA-DC4C-4629-BECB-ADC172701F77}"/>
              </a:ext>
            </a:extLst>
          </p:cNvPr>
          <p:cNvSpPr txBox="1">
            <a:spLocks noChangeArrowheads="1"/>
          </p:cNvSpPr>
          <p:nvPr/>
        </p:nvSpPr>
        <p:spPr bwMode="auto">
          <a:xfrm>
            <a:off x="533400" y="4308475"/>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Suponiendo cierta la hipótesis (nula) de que la proporción de casos con alto riesgo cardiovascular es la misma en fumadores y no fumadores, la probabilidad de encontrar unos datos tan discrepantes o más con dicha hipótesis como los actuales es menor al 0.001 (menor al 1 por mil). Por tanto rechazamos dicha hipótesis asumiendo que las proporciones comparadas son diferentes</a:t>
            </a:r>
            <a:endParaRPr lang="es-ES" altLang="es-ES" sz="1400" b="1"/>
          </a:p>
        </p:txBody>
      </p:sp>
      <p:sp>
        <p:nvSpPr>
          <p:cNvPr id="14346" name="22 CuadroTexto">
            <a:extLst>
              <a:ext uri="{FF2B5EF4-FFF2-40B4-BE49-F238E27FC236}">
                <a16:creationId xmlns:a16="http://schemas.microsoft.com/office/drawing/2014/main" id="{B442E7F5-4E2A-4283-B695-4D140D2097AD}"/>
              </a:ext>
            </a:extLst>
          </p:cNvPr>
          <p:cNvSpPr txBox="1">
            <a:spLocks noChangeArrowheads="1"/>
          </p:cNvSpPr>
          <p:nvPr/>
        </p:nvSpPr>
        <p:spPr bwMode="auto">
          <a:xfrm>
            <a:off x="334963" y="5251450"/>
            <a:ext cx="4118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6. </a:t>
            </a:r>
            <a:r>
              <a:rPr lang="es-ES" altLang="es-ES" sz="1400" b="1" dirty="0"/>
              <a:t>Magnitud de la diferencia </a:t>
            </a:r>
            <a:r>
              <a:rPr lang="es-ES" altLang="es-ES" sz="1400" dirty="0"/>
              <a:t>(tamaño del </a:t>
            </a:r>
            <a:r>
              <a:rPr lang="es-ES" altLang="es-ES" sz="1400" i="1" dirty="0"/>
              <a:t>efecto</a:t>
            </a:r>
            <a:r>
              <a:rPr lang="es-ES" altLang="es-ES" sz="1400" dirty="0"/>
              <a:t>)</a:t>
            </a:r>
          </a:p>
        </p:txBody>
      </p:sp>
      <p:graphicFrame>
        <p:nvGraphicFramePr>
          <p:cNvPr id="14347" name="24 Objeto">
            <a:extLst>
              <a:ext uri="{FF2B5EF4-FFF2-40B4-BE49-F238E27FC236}">
                <a16:creationId xmlns:a16="http://schemas.microsoft.com/office/drawing/2014/main" id="{AB018ED1-7F8A-4A59-ABA5-4891E601232E}"/>
              </a:ext>
            </a:extLst>
          </p:cNvPr>
          <p:cNvGraphicFramePr>
            <a:graphicFrameLocks noChangeAspect="1"/>
          </p:cNvGraphicFramePr>
          <p:nvPr>
            <p:extLst>
              <p:ext uri="{D42A27DB-BD31-4B8C-83A1-F6EECF244321}">
                <p14:modId xmlns:p14="http://schemas.microsoft.com/office/powerpoint/2010/main" val="56081957"/>
              </p:ext>
            </p:extLst>
          </p:nvPr>
        </p:nvGraphicFramePr>
        <p:xfrm>
          <a:off x="1870075" y="5867400"/>
          <a:ext cx="5630863" cy="631825"/>
        </p:xfrm>
        <a:graphic>
          <a:graphicData uri="http://schemas.openxmlformats.org/presentationml/2006/ole">
            <mc:AlternateContent xmlns:mc="http://schemas.openxmlformats.org/markup-compatibility/2006">
              <mc:Choice xmlns:v="urn:schemas-microsoft-com:vml" Requires="v">
                <p:oleObj name="Equation" r:id="rId9" imgW="4572000" imgH="533160" progId="Equation.DSMT4">
                  <p:embed/>
                </p:oleObj>
              </mc:Choice>
              <mc:Fallback>
                <p:oleObj name="Equation" r:id="rId9" imgW="4572000" imgH="533160" progId="Equation.DSMT4">
                  <p:embed/>
                  <p:pic>
                    <p:nvPicPr>
                      <p:cNvPr id="0" name="24 Objeto"/>
                      <p:cNvPicPr>
                        <a:picLocks noChangeAspect="1" noChangeArrowheads="1"/>
                      </p:cNvPicPr>
                      <p:nvPr/>
                    </p:nvPicPr>
                    <p:blipFill>
                      <a:blip r:embed="rId10"/>
                      <a:srcRect/>
                      <a:stretch>
                        <a:fillRect/>
                      </a:stretch>
                    </p:blipFill>
                    <p:spPr bwMode="auto">
                      <a:xfrm>
                        <a:off x="1870075" y="5867400"/>
                        <a:ext cx="5630863"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8" name="25 CuadroTexto">
            <a:extLst>
              <a:ext uri="{FF2B5EF4-FFF2-40B4-BE49-F238E27FC236}">
                <a16:creationId xmlns:a16="http://schemas.microsoft.com/office/drawing/2014/main" id="{18227B55-A049-484A-A7C0-57375C7237C8}"/>
              </a:ext>
            </a:extLst>
          </p:cNvPr>
          <p:cNvSpPr txBox="1">
            <a:spLocks noChangeArrowheads="1"/>
          </p:cNvSpPr>
          <p:nvPr/>
        </p:nvSpPr>
        <p:spPr bwMode="auto">
          <a:xfrm>
            <a:off x="533400" y="5559425"/>
            <a:ext cx="830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Considerando el método de Agresti-Caffo:  </a:t>
            </a:r>
            <a:endParaRPr lang="es-ES" altLang="es-ES" sz="1400" b="1"/>
          </a:p>
        </p:txBody>
      </p:sp>
      <p:sp>
        <p:nvSpPr>
          <p:cNvPr id="14349" name="Text Box 2">
            <a:extLst>
              <a:ext uri="{FF2B5EF4-FFF2-40B4-BE49-F238E27FC236}">
                <a16:creationId xmlns:a16="http://schemas.microsoft.com/office/drawing/2014/main" id="{9BA078FC-571D-4E55-B87B-1E19D9D5154A}"/>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graphicFrame>
        <p:nvGraphicFramePr>
          <p:cNvPr id="14350" name="11 Objeto">
            <a:extLst>
              <a:ext uri="{FF2B5EF4-FFF2-40B4-BE49-F238E27FC236}">
                <a16:creationId xmlns:a16="http://schemas.microsoft.com/office/drawing/2014/main" id="{595B332C-C233-44CC-990E-6B4033E0229F}"/>
              </a:ext>
            </a:extLst>
          </p:cNvPr>
          <p:cNvGraphicFramePr>
            <a:graphicFrameLocks noChangeAspect="1"/>
          </p:cNvGraphicFramePr>
          <p:nvPr/>
        </p:nvGraphicFramePr>
        <p:xfrm>
          <a:off x="5716588" y="838200"/>
          <a:ext cx="3198812" cy="1076325"/>
        </p:xfrm>
        <a:graphic>
          <a:graphicData uri="http://schemas.openxmlformats.org/presentationml/2006/ole">
            <mc:AlternateContent xmlns:mc="http://schemas.openxmlformats.org/markup-compatibility/2006">
              <mc:Choice xmlns:v="urn:schemas-microsoft-com:vml" Requires="v">
                <p:oleObj name="Equation" r:id="rId11" imgW="3416300" imgH="1193800" progId="Equation.DSMT4">
                  <p:embed/>
                </p:oleObj>
              </mc:Choice>
              <mc:Fallback>
                <p:oleObj name="Equation" r:id="rId11" imgW="3416300" imgH="1193800" progId="Equation.DSMT4">
                  <p:embed/>
                  <p:pic>
                    <p:nvPicPr>
                      <p:cNvPr id="0" name="11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6588" y="838200"/>
                        <a:ext cx="31988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1" name="12 Objeto">
            <a:extLst>
              <a:ext uri="{FF2B5EF4-FFF2-40B4-BE49-F238E27FC236}">
                <a16:creationId xmlns:a16="http://schemas.microsoft.com/office/drawing/2014/main" id="{BA02044F-5D83-428F-A021-F33659511E27}"/>
              </a:ext>
            </a:extLst>
          </p:cNvPr>
          <p:cNvGraphicFramePr>
            <a:graphicFrameLocks noChangeAspect="1"/>
          </p:cNvGraphicFramePr>
          <p:nvPr/>
        </p:nvGraphicFramePr>
        <p:xfrm>
          <a:off x="7315200" y="2001838"/>
          <a:ext cx="1563688" cy="512762"/>
        </p:xfrm>
        <a:graphic>
          <a:graphicData uri="http://schemas.openxmlformats.org/presentationml/2006/ole">
            <mc:AlternateContent xmlns:mc="http://schemas.openxmlformats.org/markup-compatibility/2006">
              <mc:Choice xmlns:v="urn:schemas-microsoft-com:vml" Requires="v">
                <p:oleObj name="Equation" r:id="rId13" imgW="1269449" imgH="431613" progId="Equation.DSMT4">
                  <p:embed/>
                </p:oleObj>
              </mc:Choice>
              <mc:Fallback>
                <p:oleObj name="Equation" r:id="rId13" imgW="1269449" imgH="431613" progId="Equation.DSMT4">
                  <p:embed/>
                  <p:pic>
                    <p:nvPicPr>
                      <p:cNvPr id="0" name="12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15200" y="2001838"/>
                        <a:ext cx="1563688"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19 CuadroTexto">
            <a:extLst>
              <a:ext uri="{FF2B5EF4-FFF2-40B4-BE49-F238E27FC236}">
                <a16:creationId xmlns:a16="http://schemas.microsoft.com/office/drawing/2014/main" id="{BBAB8651-6F08-4616-97B4-D1DE47A7D125}"/>
              </a:ext>
            </a:extLst>
          </p:cNvPr>
          <p:cNvSpPr txBox="1">
            <a:spLocks noChangeArrowheads="1"/>
          </p:cNvSpPr>
          <p:nvPr/>
        </p:nvSpPr>
        <p:spPr bwMode="auto">
          <a:xfrm>
            <a:off x="503238" y="2124868"/>
            <a:ext cx="58975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dirty="0"/>
              <a:t>* Si hubiera sido </a:t>
            </a:r>
            <a:r>
              <a:rPr lang="es-ES" altLang="es-ES" sz="1400" i="1" dirty="0">
                <a:latin typeface="Times New Roman" panose="02020603050405020304" pitchFamily="18" charset="0"/>
                <a:cs typeface="Times New Roman" panose="02020603050405020304" pitchFamily="18" charset="0"/>
              </a:rPr>
              <a:t>N</a:t>
            </a:r>
            <a:r>
              <a:rPr lang="es-ES" altLang="es-ES" dirty="0"/>
              <a:t>&gt;500, debería verificarse </a:t>
            </a:r>
            <a:r>
              <a:rPr lang="es-ES" altLang="es-ES" sz="1400" i="1" dirty="0">
                <a:latin typeface="Times New Roman" panose="02020603050405020304" pitchFamily="18" charset="0"/>
                <a:cs typeface="Times New Roman" panose="02020603050405020304" pitchFamily="18" charset="0"/>
              </a:rPr>
              <a:t>E </a:t>
            </a:r>
            <a:r>
              <a:rPr lang="es-ES" altLang="es-ES" dirty="0"/>
              <a:t>≥14,9</a:t>
            </a:r>
          </a:p>
        </p:txBody>
      </p:sp>
      <p:grpSp>
        <p:nvGrpSpPr>
          <p:cNvPr id="6" name="Grupo 5">
            <a:extLst>
              <a:ext uri="{FF2B5EF4-FFF2-40B4-BE49-F238E27FC236}">
                <a16:creationId xmlns:a16="http://schemas.microsoft.com/office/drawing/2014/main" id="{9D60BC6E-4384-444D-B2BE-1773FF3DBE53}"/>
              </a:ext>
            </a:extLst>
          </p:cNvPr>
          <p:cNvGrpSpPr/>
          <p:nvPr/>
        </p:nvGrpSpPr>
        <p:grpSpPr>
          <a:xfrm>
            <a:off x="503238" y="3632298"/>
            <a:ext cx="3395662" cy="311393"/>
            <a:chOff x="503238" y="3632298"/>
            <a:chExt cx="3395662" cy="311393"/>
          </a:xfrm>
        </p:grpSpPr>
        <p:sp>
          <p:nvSpPr>
            <p:cNvPr id="22" name="19 CuadroTexto">
              <a:extLst>
                <a:ext uri="{FF2B5EF4-FFF2-40B4-BE49-F238E27FC236}">
                  <a16:creationId xmlns:a16="http://schemas.microsoft.com/office/drawing/2014/main" id="{1B111095-D58A-4EEA-B3FC-B752B848E937}"/>
                </a:ext>
              </a:extLst>
            </p:cNvPr>
            <p:cNvSpPr txBox="1">
              <a:spLocks noChangeArrowheads="1"/>
            </p:cNvSpPr>
            <p:nvPr/>
          </p:nvSpPr>
          <p:spPr bwMode="auto">
            <a:xfrm>
              <a:off x="503238" y="3632298"/>
              <a:ext cx="30781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dirty="0"/>
                <a:t>* Si hubiera sido </a:t>
              </a:r>
              <a:r>
                <a:rPr lang="es-ES" altLang="es-ES" sz="1400" i="1" dirty="0">
                  <a:latin typeface="Times New Roman" panose="02020603050405020304" pitchFamily="18" charset="0"/>
                  <a:cs typeface="Times New Roman" panose="02020603050405020304" pitchFamily="18" charset="0"/>
                </a:rPr>
                <a:t>n</a:t>
              </a:r>
              <a:r>
                <a:rPr lang="es-ES" altLang="es-ES" sz="1400" baseline="-25000" dirty="0">
                  <a:latin typeface="Times New Roman" panose="02020603050405020304" pitchFamily="18" charset="0"/>
                  <a:cs typeface="Times New Roman" panose="02020603050405020304" pitchFamily="18" charset="0"/>
                </a:rPr>
                <a:t>1</a:t>
              </a:r>
              <a:r>
                <a:rPr lang="es-ES" altLang="es-ES" sz="1400" i="1" dirty="0">
                  <a:latin typeface="Times New Roman" panose="02020603050405020304" pitchFamily="18" charset="0"/>
                  <a:cs typeface="Times New Roman" panose="02020603050405020304" pitchFamily="18" charset="0"/>
                </a:rPr>
                <a:t>=n</a:t>
              </a:r>
              <a:r>
                <a:rPr lang="es-ES" altLang="es-ES" sz="1400" baseline="-25000" dirty="0">
                  <a:latin typeface="Times New Roman" panose="02020603050405020304" pitchFamily="18" charset="0"/>
                  <a:cs typeface="Times New Roman" panose="02020603050405020304" pitchFamily="18" charset="0"/>
                </a:rPr>
                <a:t>2</a:t>
              </a:r>
              <a:r>
                <a:rPr lang="es-ES" altLang="es-ES" dirty="0"/>
                <a:t>, la </a:t>
              </a:r>
              <a:r>
                <a:rPr lang="es-ES" altLang="es-ES" i="1" dirty="0" err="1"/>
                <a:t>cpc</a:t>
              </a:r>
              <a:r>
                <a:rPr lang="es-ES" altLang="es-ES" dirty="0"/>
                <a:t> sería</a:t>
              </a:r>
            </a:p>
          </p:txBody>
        </p:sp>
        <p:graphicFrame>
          <p:nvGraphicFramePr>
            <p:cNvPr id="4" name="Objeto 3">
              <a:extLst>
                <a:ext uri="{FF2B5EF4-FFF2-40B4-BE49-F238E27FC236}">
                  <a16:creationId xmlns:a16="http://schemas.microsoft.com/office/drawing/2014/main" id="{E476066E-0492-4D87-B24E-3654FC353820}"/>
                </a:ext>
              </a:extLst>
            </p:cNvPr>
            <p:cNvGraphicFramePr>
              <a:graphicFrameLocks noChangeAspect="1"/>
            </p:cNvGraphicFramePr>
            <p:nvPr>
              <p:extLst>
                <p:ext uri="{D42A27DB-BD31-4B8C-83A1-F6EECF244321}">
                  <p14:modId xmlns:p14="http://schemas.microsoft.com/office/powerpoint/2010/main" val="1914780449"/>
                </p:ext>
              </p:extLst>
            </p:nvPr>
          </p:nvGraphicFramePr>
          <p:xfrm>
            <a:off x="3081338" y="3675063"/>
            <a:ext cx="817562" cy="268628"/>
          </p:xfrm>
          <a:graphic>
            <a:graphicData uri="http://schemas.openxmlformats.org/presentationml/2006/ole">
              <mc:AlternateContent xmlns:mc="http://schemas.openxmlformats.org/markup-compatibility/2006">
                <mc:Choice xmlns:v="urn:schemas-microsoft-com:vml" Requires="v">
                  <p:oleObj name="Equation" r:id="rId15" imgW="736560" imgH="241200" progId="Equation.DSMT4">
                    <p:embed/>
                  </p:oleObj>
                </mc:Choice>
                <mc:Fallback>
                  <p:oleObj name="Equation" r:id="rId15" imgW="736560" imgH="241200" progId="Equation.DSMT4">
                    <p:embed/>
                    <p:pic>
                      <p:nvPicPr>
                        <p:cNvPr id="0" name=""/>
                        <p:cNvPicPr/>
                        <p:nvPr/>
                      </p:nvPicPr>
                      <p:blipFill>
                        <a:blip r:embed="rId16"/>
                        <a:stretch>
                          <a:fillRect/>
                        </a:stretch>
                      </p:blipFill>
                      <p:spPr>
                        <a:xfrm>
                          <a:off x="3081338" y="3675063"/>
                          <a:ext cx="817562" cy="268628"/>
                        </a:xfrm>
                        <a:prstGeom prst="rect">
                          <a:avLst/>
                        </a:prstGeom>
                      </p:spPr>
                    </p:pic>
                  </p:oleObj>
                </mc:Fallback>
              </mc:AlternateContent>
            </a:graphicData>
          </a:graphic>
        </p:graphicFrame>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55 Objeto">
            <a:extLst>
              <a:ext uri="{FF2B5EF4-FFF2-40B4-BE49-F238E27FC236}">
                <a16:creationId xmlns:a16="http://schemas.microsoft.com/office/drawing/2014/main" id="{E1D4CEE3-82F4-4090-956E-31F874919168}"/>
              </a:ext>
            </a:extLst>
          </p:cNvPr>
          <p:cNvGraphicFramePr>
            <a:graphicFrameLocks noChangeAspect="1"/>
          </p:cNvGraphicFramePr>
          <p:nvPr/>
        </p:nvGraphicFramePr>
        <p:xfrm>
          <a:off x="5716588" y="838200"/>
          <a:ext cx="3198812" cy="1076325"/>
        </p:xfrm>
        <a:graphic>
          <a:graphicData uri="http://schemas.openxmlformats.org/presentationml/2006/ole">
            <mc:AlternateContent xmlns:mc="http://schemas.openxmlformats.org/markup-compatibility/2006">
              <mc:Choice xmlns:v="urn:schemas-microsoft-com:vml" Requires="v">
                <p:oleObj name="Equation" r:id="rId3" imgW="3416300" imgH="1193800" progId="Equation.DSMT4">
                  <p:embed/>
                </p:oleObj>
              </mc:Choice>
              <mc:Fallback>
                <p:oleObj name="Equation" r:id="rId3" imgW="3416300" imgH="1193800" progId="Equation.DSMT4">
                  <p:embed/>
                  <p:pic>
                    <p:nvPicPr>
                      <p:cNvPr id="0" name="55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588" y="838200"/>
                        <a:ext cx="31988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7" name="22 CuadroTexto">
            <a:extLst>
              <a:ext uri="{FF2B5EF4-FFF2-40B4-BE49-F238E27FC236}">
                <a16:creationId xmlns:a16="http://schemas.microsoft.com/office/drawing/2014/main" id="{41A7C1BE-794F-4222-8808-3A739F8A54C3}"/>
              </a:ext>
            </a:extLst>
          </p:cNvPr>
          <p:cNvSpPr txBox="1">
            <a:spLocks noChangeArrowheads="1"/>
          </p:cNvSpPr>
          <p:nvPr/>
        </p:nvSpPr>
        <p:spPr bwMode="auto">
          <a:xfrm>
            <a:off x="304800" y="685800"/>
            <a:ext cx="3556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a:t>6. Magnitud de la diferencia (continuación)</a:t>
            </a:r>
          </a:p>
        </p:txBody>
      </p:sp>
      <p:graphicFrame>
        <p:nvGraphicFramePr>
          <p:cNvPr id="16388" name="24 Objeto">
            <a:extLst>
              <a:ext uri="{FF2B5EF4-FFF2-40B4-BE49-F238E27FC236}">
                <a16:creationId xmlns:a16="http://schemas.microsoft.com/office/drawing/2014/main" id="{5903409A-317D-4E81-8BD3-043DE5D17977}"/>
              </a:ext>
            </a:extLst>
          </p:cNvPr>
          <p:cNvGraphicFramePr>
            <a:graphicFrameLocks noChangeAspect="1"/>
          </p:cNvGraphicFramePr>
          <p:nvPr/>
        </p:nvGraphicFramePr>
        <p:xfrm>
          <a:off x="609600" y="1905000"/>
          <a:ext cx="4349750" cy="301625"/>
        </p:xfrm>
        <a:graphic>
          <a:graphicData uri="http://schemas.openxmlformats.org/presentationml/2006/ole">
            <mc:AlternateContent xmlns:mc="http://schemas.openxmlformats.org/markup-compatibility/2006">
              <mc:Choice xmlns:v="urn:schemas-microsoft-com:vml" Requires="v">
                <p:oleObj name="Equation" r:id="rId5" imgW="3530600" imgH="254000" progId="Equation.DSMT4">
                  <p:embed/>
                </p:oleObj>
              </mc:Choice>
              <mc:Fallback>
                <p:oleObj name="Equation" r:id="rId5" imgW="3530600" imgH="254000" progId="Equation.DSMT4">
                  <p:embed/>
                  <p:pic>
                    <p:nvPicPr>
                      <p:cNvPr id="0" name="24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1905000"/>
                        <a:ext cx="4349750"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25 CuadroTexto">
            <a:extLst>
              <a:ext uri="{FF2B5EF4-FFF2-40B4-BE49-F238E27FC236}">
                <a16:creationId xmlns:a16="http://schemas.microsoft.com/office/drawing/2014/main" id="{0AEB6B04-87EB-4D8B-AD80-1E0DA9BEF534}"/>
              </a:ext>
            </a:extLst>
          </p:cNvPr>
          <p:cNvSpPr txBox="1">
            <a:spLocks noChangeArrowheads="1"/>
          </p:cNvSpPr>
          <p:nvPr/>
        </p:nvSpPr>
        <p:spPr bwMode="auto">
          <a:xfrm>
            <a:off x="571500" y="1141413"/>
            <a:ext cx="2387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Al 95% de confianza</a:t>
            </a:r>
            <a:endParaRPr lang="es-ES" altLang="es-ES" sz="1400" b="1"/>
          </a:p>
        </p:txBody>
      </p:sp>
      <p:graphicFrame>
        <p:nvGraphicFramePr>
          <p:cNvPr id="16390" name="17 Objeto">
            <a:extLst>
              <a:ext uri="{FF2B5EF4-FFF2-40B4-BE49-F238E27FC236}">
                <a16:creationId xmlns:a16="http://schemas.microsoft.com/office/drawing/2014/main" id="{5133466E-114F-45AC-8CC6-6683157929EB}"/>
              </a:ext>
            </a:extLst>
          </p:cNvPr>
          <p:cNvGraphicFramePr>
            <a:graphicFrameLocks noChangeAspect="1"/>
          </p:cNvGraphicFramePr>
          <p:nvPr/>
        </p:nvGraphicFramePr>
        <p:xfrm>
          <a:off x="2333625" y="1014413"/>
          <a:ext cx="2330450" cy="601662"/>
        </p:xfrm>
        <a:graphic>
          <a:graphicData uri="http://schemas.openxmlformats.org/presentationml/2006/ole">
            <mc:AlternateContent xmlns:mc="http://schemas.openxmlformats.org/markup-compatibility/2006">
              <mc:Choice xmlns:v="urn:schemas-microsoft-com:vml" Requires="v">
                <p:oleObj name="Equation" r:id="rId7" imgW="1892300" imgH="508000" progId="Equation.DSMT4">
                  <p:embed/>
                </p:oleObj>
              </mc:Choice>
              <mc:Fallback>
                <p:oleObj name="Equation" r:id="rId7" imgW="1892300" imgH="508000" progId="Equation.DSMT4">
                  <p:embed/>
                  <p:pic>
                    <p:nvPicPr>
                      <p:cNvPr id="0" name="17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3625" y="1014413"/>
                        <a:ext cx="233045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1" name="23 CuadroTexto">
            <a:extLst>
              <a:ext uri="{FF2B5EF4-FFF2-40B4-BE49-F238E27FC236}">
                <a16:creationId xmlns:a16="http://schemas.microsoft.com/office/drawing/2014/main" id="{EC11DD3E-EBAE-4129-82B0-158CC06A7308}"/>
              </a:ext>
            </a:extLst>
          </p:cNvPr>
          <p:cNvSpPr txBox="1">
            <a:spLocks noChangeArrowheads="1"/>
          </p:cNvSpPr>
          <p:nvPr/>
        </p:nvSpPr>
        <p:spPr bwMode="auto">
          <a:xfrm>
            <a:off x="533400" y="2438400"/>
            <a:ext cx="8305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Con un 95% de confianza, la proporción de casos con alto riesgo cardiovascular es un valor comprendido entre 18.3% y  41.2% veces mayor en fumadores que en no fumadores.</a:t>
            </a:r>
            <a:endParaRPr lang="es-ES" altLang="es-ES" sz="1400" b="1"/>
          </a:p>
        </p:txBody>
      </p:sp>
      <p:sp>
        <p:nvSpPr>
          <p:cNvPr id="16392" name="26 CuadroTexto">
            <a:extLst>
              <a:ext uri="{FF2B5EF4-FFF2-40B4-BE49-F238E27FC236}">
                <a16:creationId xmlns:a16="http://schemas.microsoft.com/office/drawing/2014/main" id="{B5AEFDDB-DDA6-4892-A222-91A4F3119CA7}"/>
              </a:ext>
            </a:extLst>
          </p:cNvPr>
          <p:cNvSpPr txBox="1">
            <a:spLocks noChangeArrowheads="1"/>
          </p:cNvSpPr>
          <p:nvPr/>
        </p:nvSpPr>
        <p:spPr bwMode="auto">
          <a:xfrm>
            <a:off x="533400" y="3425825"/>
            <a:ext cx="830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dirty="0"/>
              <a:t>Observaciones:</a:t>
            </a:r>
            <a:endParaRPr lang="es-ES" altLang="es-ES" sz="1400" b="1" dirty="0"/>
          </a:p>
        </p:txBody>
      </p:sp>
      <p:grpSp>
        <p:nvGrpSpPr>
          <p:cNvPr id="16393" name="5 Grupo">
            <a:extLst>
              <a:ext uri="{FF2B5EF4-FFF2-40B4-BE49-F238E27FC236}">
                <a16:creationId xmlns:a16="http://schemas.microsoft.com/office/drawing/2014/main" id="{F08DB297-F83F-43FC-976A-1A25273BB54C}"/>
              </a:ext>
            </a:extLst>
          </p:cNvPr>
          <p:cNvGrpSpPr>
            <a:grpSpLocks/>
          </p:cNvGrpSpPr>
          <p:nvPr/>
        </p:nvGrpSpPr>
        <p:grpSpPr bwMode="auto">
          <a:xfrm>
            <a:off x="571500" y="3848100"/>
            <a:ext cx="8305800" cy="2571750"/>
            <a:chOff x="571661" y="3466528"/>
            <a:chExt cx="8305800" cy="2571638"/>
          </a:xfrm>
        </p:grpSpPr>
        <p:sp>
          <p:nvSpPr>
            <p:cNvPr id="28" name="27 CuadroTexto">
              <a:extLst>
                <a:ext uri="{FF2B5EF4-FFF2-40B4-BE49-F238E27FC236}">
                  <a16:creationId xmlns:a16="http://schemas.microsoft.com/office/drawing/2014/main" id="{5ACAE370-0444-4364-9E98-58D72635D003}"/>
                </a:ext>
              </a:extLst>
            </p:cNvPr>
            <p:cNvSpPr txBox="1"/>
            <p:nvPr/>
          </p:nvSpPr>
          <p:spPr>
            <a:xfrm>
              <a:off x="571661" y="3576061"/>
              <a:ext cx="8305800" cy="2462105"/>
            </a:xfrm>
            <a:prstGeom prst="rect">
              <a:avLst/>
            </a:prstGeom>
            <a:noFill/>
          </p:spPr>
          <p:txBody>
            <a:bodyPr>
              <a:spAutoFit/>
            </a:bodyPr>
            <a:lstStyle/>
            <a:p>
              <a:pPr marL="285750" indent="-285750" algn="just" eaLnBrk="1" hangingPunct="1">
                <a:buFont typeface="Arial" panose="020B0604020202020204" pitchFamily="34" charset="0"/>
                <a:buChar char="•"/>
                <a:defRPr/>
              </a:pPr>
              <a:r>
                <a:rPr lang="es-ES" sz="1400" dirty="0">
                  <a:latin typeface="Arial" charset="0"/>
                </a:rPr>
                <a:t>Vemos que el porcentaje de alto RC es mayor en fumadores:</a:t>
              </a:r>
            </a:p>
            <a:p>
              <a:pPr algn="just" eaLnBrk="1" hangingPunct="1">
                <a:defRPr/>
              </a:pPr>
              <a:endParaRPr lang="es-ES" sz="1400" dirty="0">
                <a:latin typeface="Arial" charset="0"/>
              </a:endParaRPr>
            </a:p>
            <a:p>
              <a:pPr marL="285750" indent="-285750" algn="just" eaLnBrk="1" hangingPunct="1">
                <a:lnSpc>
                  <a:spcPct val="150000"/>
                </a:lnSpc>
                <a:buFont typeface="Arial" panose="020B0604020202020204" pitchFamily="34" charset="0"/>
                <a:buChar char="•"/>
                <a:defRPr/>
              </a:pPr>
              <a:r>
                <a:rPr lang="es-ES" sz="1400" dirty="0">
                  <a:latin typeface="Arial" charset="0"/>
                </a:rPr>
                <a:t>Como el test ha resultado significativo (</a:t>
              </a:r>
              <a:r>
                <a:rPr lang="es-ES" sz="1400" i="1" dirty="0">
                  <a:latin typeface="Arial" charset="0"/>
                </a:rPr>
                <a:t>P</a:t>
              </a:r>
              <a:r>
                <a:rPr lang="es-ES" sz="1400" dirty="0">
                  <a:latin typeface="Arial" charset="0"/>
                </a:rPr>
                <a:t>&lt;0.001), el intervalo de confianza no contiene el valor propuesto por la hipótesis nula:                    .</a:t>
              </a:r>
            </a:p>
            <a:p>
              <a:pPr marL="285750" indent="-285750" algn="just" eaLnBrk="1" hangingPunct="1">
                <a:lnSpc>
                  <a:spcPct val="150000"/>
                </a:lnSpc>
                <a:buFont typeface="Arial" panose="020B0604020202020204" pitchFamily="34" charset="0"/>
                <a:buChar char="•"/>
                <a:defRPr/>
              </a:pPr>
              <a:r>
                <a:rPr lang="es-ES" sz="1400" dirty="0">
                  <a:latin typeface="Arial" charset="0"/>
                </a:rPr>
                <a:t>Como el resultado es </a:t>
              </a:r>
              <a:r>
                <a:rPr lang="es-ES" sz="1400" b="1" dirty="0">
                  <a:latin typeface="Arial" charset="0"/>
                </a:rPr>
                <a:t>significativo</a:t>
              </a:r>
              <a:r>
                <a:rPr lang="es-ES" sz="1400" dirty="0">
                  <a:latin typeface="Arial" charset="0"/>
                </a:rPr>
                <a:t>, no es necesario plantear un aumento del tamaño de muestra para detectar la diferencia entre las proporciones estudiadas. No obstante, si que se podría hacer tal consideración si lo que se desea es aumentar la precisión del intervalo obtenido para                .</a:t>
              </a:r>
            </a:p>
            <a:p>
              <a:pPr marL="285750" indent="-285750" algn="just" eaLnBrk="1" hangingPunct="1">
                <a:lnSpc>
                  <a:spcPct val="150000"/>
                </a:lnSpc>
                <a:buFont typeface="Arial" panose="020B0604020202020204" pitchFamily="34" charset="0"/>
                <a:buChar char="•"/>
                <a:defRPr/>
              </a:pPr>
              <a:r>
                <a:rPr lang="es-ES" sz="1400" dirty="0">
                  <a:latin typeface="Arial" charset="0"/>
                </a:rPr>
                <a:t>El </a:t>
              </a:r>
              <a:r>
                <a:rPr lang="es-ES" sz="1400" b="1" dirty="0">
                  <a:latin typeface="Arial" charset="0"/>
                </a:rPr>
                <a:t>test</a:t>
              </a:r>
              <a:r>
                <a:rPr lang="es-ES" sz="1400" dirty="0">
                  <a:latin typeface="Arial" charset="0"/>
                </a:rPr>
                <a:t> también se podría haber resuelto mediante la </a:t>
              </a:r>
              <a:r>
                <a:rPr lang="es-ES" sz="1400" b="1" dirty="0">
                  <a:latin typeface="Arial" charset="0"/>
                </a:rPr>
                <a:t>prueba </a:t>
              </a:r>
              <a:r>
                <a:rPr lang="es-ES" sz="1400" b="1" dirty="0">
                  <a:latin typeface="Symbol" panose="05050102010706020507" pitchFamily="18" charset="2"/>
                </a:rPr>
                <a:t>c</a:t>
              </a:r>
              <a:r>
                <a:rPr lang="es-ES" sz="1400" b="1" baseline="30000" dirty="0">
                  <a:latin typeface="Arial" charset="0"/>
                </a:rPr>
                <a:t>2</a:t>
              </a:r>
              <a:r>
                <a:rPr lang="es-ES" sz="1400" b="1" dirty="0">
                  <a:latin typeface="Arial" charset="0"/>
                </a:rPr>
                <a:t> </a:t>
              </a:r>
              <a:r>
                <a:rPr lang="es-ES" sz="1400" dirty="0">
                  <a:latin typeface="Arial" charset="0"/>
                </a:rPr>
                <a:t>del capítulo siguiente a este.</a:t>
              </a:r>
              <a:endParaRPr lang="es-ES" sz="1400" baseline="30000" dirty="0">
                <a:latin typeface="Arial" charset="0"/>
              </a:endParaRPr>
            </a:p>
          </p:txBody>
        </p:sp>
        <p:graphicFrame>
          <p:nvGraphicFramePr>
            <p:cNvPr id="16396" name="1 Objeto">
              <a:extLst>
                <a:ext uri="{FF2B5EF4-FFF2-40B4-BE49-F238E27FC236}">
                  <a16:creationId xmlns:a16="http://schemas.microsoft.com/office/drawing/2014/main" id="{223BE00C-9E3E-4134-94E4-DAE5C4599C02}"/>
                </a:ext>
              </a:extLst>
            </p:cNvPr>
            <p:cNvGraphicFramePr>
              <a:graphicFrameLocks noChangeAspect="1"/>
            </p:cNvGraphicFramePr>
            <p:nvPr/>
          </p:nvGraphicFramePr>
          <p:xfrm>
            <a:off x="5826901" y="3466528"/>
            <a:ext cx="1062037" cy="571500"/>
          </p:xfrm>
          <a:graphic>
            <a:graphicData uri="http://schemas.openxmlformats.org/presentationml/2006/ole">
              <mc:AlternateContent xmlns:mc="http://schemas.openxmlformats.org/markup-compatibility/2006">
                <mc:Choice xmlns:v="urn:schemas-microsoft-com:vml" Requires="v">
                  <p:oleObj name="Equation" r:id="rId9" imgW="863225" imgH="482391" progId="Equation.DSMT4">
                    <p:embed/>
                  </p:oleObj>
                </mc:Choice>
                <mc:Fallback>
                  <p:oleObj name="Equation" r:id="rId9" imgW="863225" imgH="482391" progId="Equation.DSMT4">
                    <p:embed/>
                    <p:pic>
                      <p:nvPicPr>
                        <p:cNvPr id="0" name="1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6901" y="3466528"/>
                          <a:ext cx="1062037"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7" name="28 Objeto">
              <a:extLst>
                <a:ext uri="{FF2B5EF4-FFF2-40B4-BE49-F238E27FC236}">
                  <a16:creationId xmlns:a16="http://schemas.microsoft.com/office/drawing/2014/main" id="{0D84BB90-E3FC-479D-B05C-28192B515850}"/>
                </a:ext>
              </a:extLst>
            </p:cNvPr>
            <p:cNvGraphicFramePr>
              <a:graphicFrameLocks noChangeAspect="1"/>
            </p:cNvGraphicFramePr>
            <p:nvPr/>
          </p:nvGraphicFramePr>
          <p:xfrm>
            <a:off x="3429000" y="4419600"/>
            <a:ext cx="968375" cy="271463"/>
          </p:xfrm>
          <a:graphic>
            <a:graphicData uri="http://schemas.openxmlformats.org/presentationml/2006/ole">
              <mc:AlternateContent xmlns:mc="http://schemas.openxmlformats.org/markup-compatibility/2006">
                <mc:Choice xmlns:v="urn:schemas-microsoft-com:vml" Requires="v">
                  <p:oleObj name="Equation" r:id="rId11" imgW="787400" imgH="228600" progId="Equation.DSMT4">
                    <p:embed/>
                  </p:oleObj>
                </mc:Choice>
                <mc:Fallback>
                  <p:oleObj name="Equation" r:id="rId11" imgW="787400" imgH="228600" progId="Equation.DSMT4">
                    <p:embed/>
                    <p:pic>
                      <p:nvPicPr>
                        <p:cNvPr id="0" name="28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9000" y="4419600"/>
                          <a:ext cx="968375"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8" name="29 Objeto">
              <a:extLst>
                <a:ext uri="{FF2B5EF4-FFF2-40B4-BE49-F238E27FC236}">
                  <a16:creationId xmlns:a16="http://schemas.microsoft.com/office/drawing/2014/main" id="{0B498C8F-DA1A-4471-B72D-5FEA274B4F79}"/>
                </a:ext>
              </a:extLst>
            </p:cNvPr>
            <p:cNvGraphicFramePr>
              <a:graphicFrameLocks noChangeAspect="1"/>
            </p:cNvGraphicFramePr>
            <p:nvPr/>
          </p:nvGraphicFramePr>
          <p:xfrm>
            <a:off x="7887512" y="5363184"/>
            <a:ext cx="779462" cy="301625"/>
          </p:xfrm>
          <a:graphic>
            <a:graphicData uri="http://schemas.openxmlformats.org/presentationml/2006/ole">
              <mc:AlternateContent xmlns:mc="http://schemas.openxmlformats.org/markup-compatibility/2006">
                <mc:Choice xmlns:v="urn:schemas-microsoft-com:vml" Requires="v">
                  <p:oleObj name="Equation" r:id="rId13" imgW="634725" imgH="253890" progId="Equation.DSMT4">
                    <p:embed/>
                  </p:oleObj>
                </mc:Choice>
                <mc:Fallback>
                  <p:oleObj name="Equation" r:id="rId13" imgW="634725" imgH="253890" progId="Equation.DSMT4">
                    <p:embed/>
                    <p:pic>
                      <p:nvPicPr>
                        <p:cNvPr id="0" name="29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87512" y="5363184"/>
                          <a:ext cx="779462"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94" name="Text Box 2">
            <a:extLst>
              <a:ext uri="{FF2B5EF4-FFF2-40B4-BE49-F238E27FC236}">
                <a16:creationId xmlns:a16="http://schemas.microsoft.com/office/drawing/2014/main" id="{8F6B9F6C-B312-4FDB-B1A9-0BD9FC72D2B1}"/>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1">
            <a:extLst>
              <a:ext uri="{FF2B5EF4-FFF2-40B4-BE49-F238E27FC236}">
                <a16:creationId xmlns:a16="http://schemas.microsoft.com/office/drawing/2014/main" id="{6F86386C-9817-4411-A05C-C40ED837E0AE}"/>
              </a:ext>
            </a:extLst>
          </p:cNvPr>
          <p:cNvSpPr>
            <a:spLocks noChangeArrowheads="1"/>
          </p:cNvSpPr>
          <p:nvPr/>
        </p:nvSpPr>
        <p:spPr bwMode="auto">
          <a:xfrm>
            <a:off x="304800" y="622300"/>
            <a:ext cx="86106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300">
                <a:solidFill>
                  <a:srgbClr val="006666"/>
                </a:solidFill>
              </a:rPr>
              <a:t># Supongamos que los datos del ejemplo anterior hubieran sido estos →</a:t>
            </a:r>
            <a:endParaRPr lang="es-ES" altLang="es-ES" sz="1300">
              <a:solidFill>
                <a:srgbClr val="006666"/>
              </a:solidFill>
            </a:endParaRPr>
          </a:p>
        </p:txBody>
      </p:sp>
      <p:graphicFrame>
        <p:nvGraphicFramePr>
          <p:cNvPr id="18435" name="1 Objeto">
            <a:extLst>
              <a:ext uri="{FF2B5EF4-FFF2-40B4-BE49-F238E27FC236}">
                <a16:creationId xmlns:a16="http://schemas.microsoft.com/office/drawing/2014/main" id="{1703E6A8-8734-4178-A0F8-0D947E7DAFA6}"/>
              </a:ext>
            </a:extLst>
          </p:cNvPr>
          <p:cNvGraphicFramePr>
            <a:graphicFrameLocks noChangeAspect="1"/>
          </p:cNvGraphicFramePr>
          <p:nvPr/>
        </p:nvGraphicFramePr>
        <p:xfrm>
          <a:off x="5943600" y="685800"/>
          <a:ext cx="2830513" cy="1100138"/>
        </p:xfrm>
        <a:graphic>
          <a:graphicData uri="http://schemas.openxmlformats.org/presentationml/2006/ole">
            <mc:AlternateContent xmlns:mc="http://schemas.openxmlformats.org/markup-compatibility/2006">
              <mc:Choice xmlns:v="urn:schemas-microsoft-com:vml" Requires="v">
                <p:oleObj name="Equation" r:id="rId3" imgW="3022600" imgH="1219200" progId="Equation.DSMT4">
                  <p:embed/>
                </p:oleObj>
              </mc:Choice>
              <mc:Fallback>
                <p:oleObj name="Equation" r:id="rId3" imgW="3022600" imgH="1219200" progId="Equation.DSMT4">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685800"/>
                        <a:ext cx="2830513"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436" name="5 Grupo">
            <a:extLst>
              <a:ext uri="{FF2B5EF4-FFF2-40B4-BE49-F238E27FC236}">
                <a16:creationId xmlns:a16="http://schemas.microsoft.com/office/drawing/2014/main" id="{119B6613-FB13-4C17-AC96-926FF5FA3C94}"/>
              </a:ext>
            </a:extLst>
          </p:cNvPr>
          <p:cNvGrpSpPr>
            <a:grpSpLocks/>
          </p:cNvGrpSpPr>
          <p:nvPr/>
        </p:nvGrpSpPr>
        <p:grpSpPr bwMode="auto">
          <a:xfrm>
            <a:off x="496888" y="1127125"/>
            <a:ext cx="4627562" cy="1216025"/>
            <a:chOff x="496112" y="1203227"/>
            <a:chExt cx="4627677" cy="1215717"/>
          </a:xfrm>
        </p:grpSpPr>
        <p:sp>
          <p:nvSpPr>
            <p:cNvPr id="18444" name="43 CuadroTexto">
              <a:extLst>
                <a:ext uri="{FF2B5EF4-FFF2-40B4-BE49-F238E27FC236}">
                  <a16:creationId xmlns:a16="http://schemas.microsoft.com/office/drawing/2014/main" id="{D70D9471-634D-47E5-BDC9-8F83E92763B1}"/>
                </a:ext>
              </a:extLst>
            </p:cNvPr>
            <p:cNvSpPr txBox="1">
              <a:spLocks noChangeArrowheads="1"/>
            </p:cNvSpPr>
            <p:nvPr/>
          </p:nvSpPr>
          <p:spPr bwMode="auto">
            <a:xfrm>
              <a:off x="496112" y="1203227"/>
              <a:ext cx="4627677"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lnSpc>
                  <a:spcPct val="200000"/>
                </a:lnSpc>
                <a:buFont typeface="Arial" panose="020B0604020202020204" pitchFamily="34" charset="0"/>
                <a:buChar char="•"/>
              </a:pPr>
              <a:r>
                <a:rPr lang="es-ES" altLang="es-ES" sz="1400" dirty="0"/>
                <a:t>Validez:                                        el método es válido</a:t>
              </a:r>
            </a:p>
            <a:p>
              <a:pPr eaLnBrk="1" hangingPunct="1">
                <a:lnSpc>
                  <a:spcPct val="150000"/>
                </a:lnSpc>
                <a:buFont typeface="Arial" panose="020B0604020202020204" pitchFamily="34" charset="0"/>
                <a:buChar char="•"/>
              </a:pPr>
              <a:r>
                <a:rPr lang="es-ES" altLang="es-ES" sz="1400" dirty="0"/>
                <a:t>Estadístico de contraste:  </a:t>
              </a:r>
            </a:p>
            <a:p>
              <a:pPr eaLnBrk="1" hangingPunct="1">
                <a:lnSpc>
                  <a:spcPct val="150000"/>
                </a:lnSpc>
                <a:buFont typeface="Arial" panose="020B0604020202020204" pitchFamily="34" charset="0"/>
                <a:buChar char="•"/>
              </a:pPr>
              <a:r>
                <a:rPr lang="es-ES" altLang="es-ES" sz="1400" dirty="0"/>
                <a:t>Significación: </a:t>
              </a:r>
              <a:r>
                <a:rPr lang="es-ES" altLang="es-ES" sz="1400" i="1" dirty="0"/>
                <a:t>P </a:t>
              </a:r>
              <a:r>
                <a:rPr lang="es-ES" altLang="es-ES" sz="1400" dirty="0"/>
                <a:t>= 0.135 &gt; 0.05 (=</a:t>
              </a:r>
              <a:r>
                <a:rPr lang="es-ES" altLang="es-ES" sz="1600" dirty="0">
                  <a:latin typeface="Symbol" panose="05050102010706020507" pitchFamily="18" charset="2"/>
                </a:rPr>
                <a:t>a</a:t>
              </a:r>
              <a:r>
                <a:rPr lang="es-ES" altLang="es-ES" sz="1400" dirty="0"/>
                <a:t>)</a:t>
              </a:r>
            </a:p>
          </p:txBody>
        </p:sp>
        <p:graphicFrame>
          <p:nvGraphicFramePr>
            <p:cNvPr id="18445" name="2 Objeto">
              <a:extLst>
                <a:ext uri="{FF2B5EF4-FFF2-40B4-BE49-F238E27FC236}">
                  <a16:creationId xmlns:a16="http://schemas.microsoft.com/office/drawing/2014/main" id="{90C5BDF4-E374-4A73-A2B4-8326CF2FA341}"/>
                </a:ext>
              </a:extLst>
            </p:cNvPr>
            <p:cNvGraphicFramePr>
              <a:graphicFrameLocks noChangeAspect="1"/>
            </p:cNvGraphicFramePr>
            <p:nvPr/>
          </p:nvGraphicFramePr>
          <p:xfrm>
            <a:off x="1595338" y="1286844"/>
            <a:ext cx="1719263" cy="466725"/>
          </p:xfrm>
          <a:graphic>
            <a:graphicData uri="http://schemas.openxmlformats.org/presentationml/2006/ole">
              <mc:AlternateContent xmlns:mc="http://schemas.openxmlformats.org/markup-compatibility/2006">
                <mc:Choice xmlns:v="urn:schemas-microsoft-com:vml" Requires="v">
                  <p:oleObj name="Equation" r:id="rId5" imgW="1396394" imgH="393529" progId="Equation.DSMT4">
                    <p:embed/>
                  </p:oleObj>
                </mc:Choice>
                <mc:Fallback>
                  <p:oleObj name="Equation" r:id="rId5" imgW="1396394" imgH="393529" progId="Equation.DSMT4">
                    <p:embed/>
                    <p:pic>
                      <p:nvPicPr>
                        <p:cNvPr id="0" name="2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5338" y="1286844"/>
                          <a:ext cx="1719263"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6" name="45 Objeto">
              <a:extLst>
                <a:ext uri="{FF2B5EF4-FFF2-40B4-BE49-F238E27FC236}">
                  <a16:creationId xmlns:a16="http://schemas.microsoft.com/office/drawing/2014/main" id="{B2D54DBC-FFD4-4986-A7A8-CC9500C624E7}"/>
                </a:ext>
              </a:extLst>
            </p:cNvPr>
            <p:cNvGraphicFramePr>
              <a:graphicFrameLocks noChangeAspect="1"/>
            </p:cNvGraphicFramePr>
            <p:nvPr/>
          </p:nvGraphicFramePr>
          <p:xfrm>
            <a:off x="2867738" y="1744496"/>
            <a:ext cx="1033462" cy="300038"/>
          </p:xfrm>
          <a:graphic>
            <a:graphicData uri="http://schemas.openxmlformats.org/presentationml/2006/ole">
              <mc:AlternateContent xmlns:mc="http://schemas.openxmlformats.org/markup-compatibility/2006">
                <mc:Choice xmlns:v="urn:schemas-microsoft-com:vml" Requires="v">
                  <p:oleObj name="Equation" r:id="rId7" imgW="837836" imgH="253890" progId="Equation.DSMT4">
                    <p:embed/>
                  </p:oleObj>
                </mc:Choice>
                <mc:Fallback>
                  <p:oleObj name="Equation" r:id="rId7" imgW="837836" imgH="253890" progId="Equation.DSMT4">
                    <p:embed/>
                    <p:pic>
                      <p:nvPicPr>
                        <p:cNvPr id="0" name="45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7738" y="1744496"/>
                          <a:ext cx="1033462" cy="30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37" name="47 CuadroTexto">
            <a:extLst>
              <a:ext uri="{FF2B5EF4-FFF2-40B4-BE49-F238E27FC236}">
                <a16:creationId xmlns:a16="http://schemas.microsoft.com/office/drawing/2014/main" id="{0C54DCDF-B99B-4DBA-9166-B23C005E6E46}"/>
              </a:ext>
            </a:extLst>
          </p:cNvPr>
          <p:cNvSpPr txBox="1">
            <a:spLocks noChangeArrowheads="1"/>
          </p:cNvSpPr>
          <p:nvPr/>
        </p:nvSpPr>
        <p:spPr bwMode="auto">
          <a:xfrm>
            <a:off x="381000" y="2266950"/>
            <a:ext cx="84280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Suponiendo cierta la hipótesis nula de homogeneidad de las proporciones, la probabilidad de observar una discrepancia igual o mayor que la actual con dicha hipótesis es del 13.5%. Por tanto, para un error de tipo I fijado de antemano al 5%, no se puede rechazar la hipótesis nula de homogeneidad (no podemos decir que haya diferencia entre los porcentajes estudiados).</a:t>
            </a:r>
            <a:endParaRPr lang="es-ES" altLang="es-ES" sz="1300" b="1" dirty="0"/>
          </a:p>
        </p:txBody>
      </p:sp>
      <p:sp>
        <p:nvSpPr>
          <p:cNvPr id="18438" name="48 CuadroTexto">
            <a:extLst>
              <a:ext uri="{FF2B5EF4-FFF2-40B4-BE49-F238E27FC236}">
                <a16:creationId xmlns:a16="http://schemas.microsoft.com/office/drawing/2014/main" id="{4760FA4C-E8D4-4B42-9F5D-C6C6B96A0F76}"/>
              </a:ext>
            </a:extLst>
          </p:cNvPr>
          <p:cNvSpPr txBox="1">
            <a:spLocks noChangeArrowheads="1"/>
          </p:cNvSpPr>
          <p:nvPr/>
        </p:nvSpPr>
        <p:spPr bwMode="auto">
          <a:xfrm>
            <a:off x="381000" y="3181350"/>
            <a:ext cx="84280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Como el nivel de significación no es inferior al 5% pero tampoco tiene una magnitud grande (es menor al 15%) todo apunta a que el test pueda estar resultando poco potente (decisión por H</a:t>
            </a:r>
            <a:r>
              <a:rPr lang="es-ES" altLang="es-ES" sz="1300" baseline="-25000" dirty="0"/>
              <a:t>0</a:t>
            </a:r>
            <a:r>
              <a:rPr lang="es-ES" altLang="es-ES" sz="1300" dirty="0"/>
              <a:t> no fiable).</a:t>
            </a:r>
            <a:endParaRPr lang="es-ES" altLang="es-ES" sz="1300" b="1" dirty="0"/>
          </a:p>
        </p:txBody>
      </p:sp>
      <p:sp>
        <p:nvSpPr>
          <p:cNvPr id="50" name="49 CuadroTexto">
            <a:extLst>
              <a:ext uri="{FF2B5EF4-FFF2-40B4-BE49-F238E27FC236}">
                <a16:creationId xmlns:a16="http://schemas.microsoft.com/office/drawing/2014/main" id="{CF943894-4ED4-42B9-A1FB-FBC1CEB94874}"/>
              </a:ext>
            </a:extLst>
          </p:cNvPr>
          <p:cNvSpPr txBox="1"/>
          <p:nvPr/>
        </p:nvSpPr>
        <p:spPr>
          <a:xfrm>
            <a:off x="493713" y="4057650"/>
            <a:ext cx="8305800" cy="2266950"/>
          </a:xfrm>
          <a:prstGeom prst="rect">
            <a:avLst/>
          </a:prstGeom>
          <a:noFill/>
        </p:spPr>
        <p:txBody>
          <a:bodyPr>
            <a:spAutoFit/>
          </a:bodyPr>
          <a:lstStyle/>
          <a:p>
            <a:pPr marL="285750" indent="-285750" algn="just" eaLnBrk="1" hangingPunct="1">
              <a:buFont typeface="Arial" panose="020B0604020202020204" pitchFamily="34" charset="0"/>
              <a:buChar char="•"/>
              <a:defRPr/>
            </a:pPr>
            <a:r>
              <a:rPr lang="es-ES" sz="1400" dirty="0">
                <a:latin typeface="Arial" charset="0"/>
              </a:rPr>
              <a:t>Como se no se ha rechazado H</a:t>
            </a:r>
            <a:r>
              <a:rPr lang="es-ES" sz="1400" baseline="-25000" dirty="0">
                <a:latin typeface="Arial" charset="0"/>
              </a:rPr>
              <a:t>0 </a:t>
            </a:r>
            <a:r>
              <a:rPr lang="es-ES" sz="1400" dirty="0">
                <a:latin typeface="Arial" charset="0"/>
              </a:rPr>
              <a:t>el interés de este intervalo es </a:t>
            </a:r>
            <a:r>
              <a:rPr lang="es-ES" sz="1400" b="1" dirty="0">
                <a:latin typeface="Arial" charset="0"/>
              </a:rPr>
              <a:t>estudiar la fiabilidad </a:t>
            </a:r>
            <a:r>
              <a:rPr lang="es-ES" sz="1400" dirty="0">
                <a:latin typeface="Arial" charset="0"/>
              </a:rPr>
              <a:t>de la decisión de aceptar la hipótesis nula. </a:t>
            </a:r>
          </a:p>
          <a:p>
            <a:pPr marL="285750" indent="-285750" algn="just" eaLnBrk="1" hangingPunct="1">
              <a:buFont typeface="Arial" panose="020B0604020202020204" pitchFamily="34" charset="0"/>
              <a:buChar char="•"/>
              <a:defRPr/>
            </a:pPr>
            <a:r>
              <a:rPr lang="es-ES" sz="1400" dirty="0">
                <a:latin typeface="Arial" charset="0"/>
              </a:rPr>
              <a:t>De forma rigurosa deberíamos fijar la diferencia a detectar </a:t>
            </a:r>
            <a:r>
              <a:rPr lang="es-ES" sz="1600" dirty="0">
                <a:latin typeface="Symbol" panose="05050102010706020507" pitchFamily="18" charset="2"/>
              </a:rPr>
              <a:t>d</a:t>
            </a:r>
            <a:r>
              <a:rPr lang="es-ES" sz="1400" dirty="0">
                <a:latin typeface="Arial" charset="0"/>
              </a:rPr>
              <a:t> y la potencia deseada para el test 1-</a:t>
            </a:r>
            <a:r>
              <a:rPr lang="es-ES" sz="1600" dirty="0">
                <a:latin typeface="Symbol" panose="05050102010706020507" pitchFamily="18" charset="2"/>
              </a:rPr>
              <a:t>b</a:t>
            </a:r>
            <a:r>
              <a:rPr lang="es-ES" sz="1400" dirty="0">
                <a:latin typeface="Arial" charset="0"/>
              </a:rPr>
              <a:t> y obtener el IC al 1-2</a:t>
            </a:r>
            <a:r>
              <a:rPr lang="es-ES" sz="1600" dirty="0">
                <a:latin typeface="Symbol" panose="05050102010706020507" pitchFamily="18" charset="2"/>
              </a:rPr>
              <a:t>b</a:t>
            </a:r>
            <a:r>
              <a:rPr lang="es-ES" sz="1400" dirty="0">
                <a:latin typeface="Arial" charset="0"/>
              </a:rPr>
              <a:t> de confianza. No lo hacemos y construimos el IC al 95% de confianza:</a:t>
            </a: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r>
              <a:rPr lang="es-ES" sz="1400" dirty="0">
                <a:latin typeface="Arial" charset="0"/>
              </a:rPr>
              <a:t>EL IC contiene al valor </a:t>
            </a:r>
            <a:r>
              <a:rPr lang="es-ES" sz="1600" i="1" dirty="0">
                <a:latin typeface="Times New Roman" panose="02020603050405020304" pitchFamily="18" charset="0"/>
                <a:cs typeface="Times New Roman" panose="02020603050405020304" pitchFamily="18" charset="0"/>
              </a:rPr>
              <a:t>p</a:t>
            </a:r>
            <a:r>
              <a:rPr lang="es-ES" sz="1600" baseline="-25000" dirty="0">
                <a:latin typeface="Times New Roman" panose="02020603050405020304" pitchFamily="18" charset="0"/>
                <a:cs typeface="Times New Roman" panose="02020603050405020304" pitchFamily="18" charset="0"/>
              </a:rPr>
              <a:t>1</a:t>
            </a:r>
            <a:r>
              <a:rPr lang="es-ES" sz="1600" dirty="0">
                <a:latin typeface="Times New Roman" panose="02020603050405020304" pitchFamily="18" charset="0"/>
                <a:cs typeface="Times New Roman" panose="02020603050405020304" pitchFamily="18" charset="0"/>
              </a:rPr>
              <a:t>-</a:t>
            </a:r>
            <a:r>
              <a:rPr lang="es-ES" sz="1600" i="1" dirty="0">
                <a:latin typeface="Times New Roman" panose="02020603050405020304" pitchFamily="18" charset="0"/>
                <a:cs typeface="Times New Roman" panose="02020603050405020304" pitchFamily="18" charset="0"/>
              </a:rPr>
              <a:t>p</a:t>
            </a:r>
            <a:r>
              <a:rPr lang="es-ES" sz="1600" baseline="-25000" dirty="0">
                <a:latin typeface="Times New Roman" panose="02020603050405020304" pitchFamily="18" charset="0"/>
                <a:cs typeface="Times New Roman" panose="02020603050405020304" pitchFamily="18" charset="0"/>
              </a:rPr>
              <a:t>2</a:t>
            </a:r>
            <a:r>
              <a:rPr lang="es-ES" sz="1600" dirty="0">
                <a:latin typeface="Times New Roman" panose="02020603050405020304" pitchFamily="18" charset="0"/>
                <a:cs typeface="Times New Roman" panose="02020603050405020304" pitchFamily="18" charset="0"/>
              </a:rPr>
              <a:t>=0 </a:t>
            </a:r>
            <a:r>
              <a:rPr lang="es-ES" sz="1400" dirty="0">
                <a:latin typeface="+mj-lt"/>
                <a:cs typeface="Times New Roman" panose="02020603050405020304" pitchFamily="18" charset="0"/>
              </a:rPr>
              <a:t> coherentemente con la aceptación de H</a:t>
            </a:r>
            <a:r>
              <a:rPr lang="es-ES" sz="1400" baseline="-25000" dirty="0">
                <a:latin typeface="+mj-lt"/>
                <a:cs typeface="Times New Roman" panose="02020603050405020304" pitchFamily="18" charset="0"/>
              </a:rPr>
              <a:t>0</a:t>
            </a:r>
            <a:r>
              <a:rPr lang="es-ES" sz="1400" dirty="0">
                <a:latin typeface="+mj-lt"/>
                <a:cs typeface="Times New Roman" panose="02020603050405020304" pitchFamily="18" charset="0"/>
              </a:rPr>
              <a:t> (aunque ¡por poco!)</a:t>
            </a:r>
          </a:p>
          <a:p>
            <a:pPr marL="285750" indent="-285750" algn="just" eaLnBrk="1" hangingPunct="1">
              <a:buFont typeface="Arial" panose="020B0604020202020204" pitchFamily="34" charset="0"/>
              <a:buChar char="•"/>
              <a:defRPr/>
            </a:pPr>
            <a:r>
              <a:rPr lang="es-ES" sz="1400" dirty="0">
                <a:latin typeface="+mj-lt"/>
                <a:cs typeface="Times New Roman" panose="02020603050405020304" pitchFamily="18" charset="0"/>
              </a:rPr>
              <a:t>Observemos el límite más discrepante de 0: el 33.17%. El test considera que una diferencia del 33% ¡no es diferencia!</a:t>
            </a:r>
            <a:endParaRPr lang="es-ES" sz="1400" dirty="0">
              <a:latin typeface="Times New Roman" panose="02020603050405020304" pitchFamily="18" charset="0"/>
              <a:cs typeface="Times New Roman" panose="02020603050405020304" pitchFamily="18" charset="0"/>
            </a:endParaRPr>
          </a:p>
        </p:txBody>
      </p:sp>
      <p:sp>
        <p:nvSpPr>
          <p:cNvPr id="18440" name="50 CuadroTexto">
            <a:extLst>
              <a:ext uri="{FF2B5EF4-FFF2-40B4-BE49-F238E27FC236}">
                <a16:creationId xmlns:a16="http://schemas.microsoft.com/office/drawing/2014/main" id="{6129FB21-7EFB-4296-9C75-1D612A06928A}"/>
              </a:ext>
            </a:extLst>
          </p:cNvPr>
          <p:cNvSpPr txBox="1">
            <a:spLocks noChangeArrowheads="1"/>
          </p:cNvSpPr>
          <p:nvPr/>
        </p:nvSpPr>
        <p:spPr bwMode="auto">
          <a:xfrm>
            <a:off x="304800" y="3719513"/>
            <a:ext cx="8305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b="1" dirty="0"/>
              <a:t>IC(</a:t>
            </a:r>
            <a:r>
              <a:rPr lang="es-ES" altLang="es-ES" sz="1600" b="1" i="1" dirty="0">
                <a:latin typeface="Times New Roman" panose="02020603050405020304" pitchFamily="18" charset="0"/>
                <a:cs typeface="Times New Roman" panose="02020603050405020304" pitchFamily="18" charset="0"/>
              </a:rPr>
              <a:t>p</a:t>
            </a:r>
            <a:r>
              <a:rPr lang="es-ES" altLang="es-ES" sz="1400" b="1" baseline="-25000" dirty="0"/>
              <a:t>1</a:t>
            </a:r>
            <a:r>
              <a:rPr lang="es-ES" altLang="es-ES" sz="1400" b="1" dirty="0"/>
              <a:t>−</a:t>
            </a:r>
            <a:r>
              <a:rPr lang="es-ES" altLang="es-ES" sz="1600" b="1" i="1" dirty="0">
                <a:latin typeface="Times New Roman" panose="02020603050405020304" pitchFamily="18" charset="0"/>
                <a:cs typeface="Times New Roman" panose="02020603050405020304" pitchFamily="18" charset="0"/>
              </a:rPr>
              <a:t>p</a:t>
            </a:r>
            <a:r>
              <a:rPr lang="es-ES" altLang="es-ES" sz="1400" b="1" baseline="-25000" dirty="0"/>
              <a:t>2</a:t>
            </a:r>
            <a:r>
              <a:rPr lang="es-ES" altLang="es-ES" sz="1400" b="1" dirty="0"/>
              <a:t>)    </a:t>
            </a:r>
            <a:r>
              <a:rPr lang="es-ES" altLang="es-ES" sz="1400" dirty="0"/>
              <a:t> (método de </a:t>
            </a:r>
            <a:r>
              <a:rPr lang="es-ES" altLang="es-ES" sz="1400" dirty="0" err="1"/>
              <a:t>Agresti-Caffo</a:t>
            </a:r>
            <a:r>
              <a:rPr lang="es-ES" altLang="es-ES" sz="1400" dirty="0"/>
              <a:t>)</a:t>
            </a:r>
          </a:p>
        </p:txBody>
      </p:sp>
      <p:graphicFrame>
        <p:nvGraphicFramePr>
          <p:cNvPr id="18441" name="4 Objeto">
            <a:extLst>
              <a:ext uri="{FF2B5EF4-FFF2-40B4-BE49-F238E27FC236}">
                <a16:creationId xmlns:a16="http://schemas.microsoft.com/office/drawing/2014/main" id="{76ED3583-ECCF-4D5A-979A-300B3F153566}"/>
              </a:ext>
            </a:extLst>
          </p:cNvPr>
          <p:cNvGraphicFramePr>
            <a:graphicFrameLocks noChangeAspect="1"/>
          </p:cNvGraphicFramePr>
          <p:nvPr>
            <p:extLst>
              <p:ext uri="{D42A27DB-BD31-4B8C-83A1-F6EECF244321}">
                <p14:modId xmlns:p14="http://schemas.microsoft.com/office/powerpoint/2010/main" val="3134815630"/>
              </p:ext>
            </p:extLst>
          </p:nvPr>
        </p:nvGraphicFramePr>
        <p:xfrm>
          <a:off x="2273300" y="5146675"/>
          <a:ext cx="4976813" cy="347663"/>
        </p:xfrm>
        <a:graphic>
          <a:graphicData uri="http://schemas.openxmlformats.org/presentationml/2006/ole">
            <mc:AlternateContent xmlns:mc="http://schemas.openxmlformats.org/markup-compatibility/2006">
              <mc:Choice xmlns:v="urn:schemas-microsoft-com:vml" Requires="v">
                <p:oleObj name="Equation" r:id="rId9" imgW="4038480" imgH="291960" progId="Equation.DSMT4">
                  <p:embed/>
                </p:oleObj>
              </mc:Choice>
              <mc:Fallback>
                <p:oleObj name="Equation" r:id="rId9" imgW="4038480" imgH="291960" progId="Equation.DSMT4">
                  <p:embed/>
                  <p:pic>
                    <p:nvPicPr>
                      <p:cNvPr id="0" name="4 Objeto"/>
                      <p:cNvPicPr>
                        <a:picLocks noChangeAspect="1" noChangeArrowheads="1"/>
                      </p:cNvPicPr>
                      <p:nvPr/>
                    </p:nvPicPr>
                    <p:blipFill>
                      <a:blip r:embed="rId10"/>
                      <a:srcRect/>
                      <a:stretch>
                        <a:fillRect/>
                      </a:stretch>
                    </p:blipFill>
                    <p:spPr bwMode="auto">
                      <a:xfrm>
                        <a:off x="2273300" y="5146675"/>
                        <a:ext cx="497681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2" name="52 CuadroTexto">
            <a:extLst>
              <a:ext uri="{FF2B5EF4-FFF2-40B4-BE49-F238E27FC236}">
                <a16:creationId xmlns:a16="http://schemas.microsoft.com/office/drawing/2014/main" id="{F193130A-57B3-409E-A7B8-836DA77D8420}"/>
              </a:ext>
            </a:extLst>
          </p:cNvPr>
          <p:cNvSpPr txBox="1">
            <a:spLocks noChangeArrowheads="1"/>
          </p:cNvSpPr>
          <p:nvPr/>
        </p:nvSpPr>
        <p:spPr bwMode="auto">
          <a:xfrm>
            <a:off x="304800" y="914400"/>
            <a:ext cx="4557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Test</a:t>
            </a:r>
            <a:r>
              <a:rPr lang="es-ES" altLang="es-ES" sz="1400" dirty="0"/>
              <a:t>: (el planteamiento y las hipótesis son como antes)</a:t>
            </a:r>
          </a:p>
        </p:txBody>
      </p:sp>
      <p:sp>
        <p:nvSpPr>
          <p:cNvPr id="18443" name="Text Box 2">
            <a:extLst>
              <a:ext uri="{FF2B5EF4-FFF2-40B4-BE49-F238E27FC236}">
                <a16:creationId xmlns:a16="http://schemas.microsoft.com/office/drawing/2014/main" id="{8FE39D8E-51A0-4CB3-8029-27ECFB1F1FA5}"/>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5" name="1 Objeto">
            <a:extLst>
              <a:ext uri="{FF2B5EF4-FFF2-40B4-BE49-F238E27FC236}">
                <a16:creationId xmlns:a16="http://schemas.microsoft.com/office/drawing/2014/main" id="{1703E6A8-8734-4178-A0F8-0D947E7DAFA6}"/>
              </a:ext>
            </a:extLst>
          </p:cNvPr>
          <p:cNvGraphicFramePr>
            <a:graphicFrameLocks noChangeAspect="1"/>
          </p:cNvGraphicFramePr>
          <p:nvPr/>
        </p:nvGraphicFramePr>
        <p:xfrm>
          <a:off x="5943600" y="685800"/>
          <a:ext cx="2830513" cy="1100138"/>
        </p:xfrm>
        <a:graphic>
          <a:graphicData uri="http://schemas.openxmlformats.org/presentationml/2006/ole">
            <mc:AlternateContent xmlns:mc="http://schemas.openxmlformats.org/markup-compatibility/2006">
              <mc:Choice xmlns:v="urn:schemas-microsoft-com:vml" Requires="v">
                <p:oleObj name="Equation" r:id="rId3" imgW="3022600" imgH="1219200" progId="Equation.DSMT4">
                  <p:embed/>
                </p:oleObj>
              </mc:Choice>
              <mc:Fallback>
                <p:oleObj name="Equation" r:id="rId3" imgW="3022600" imgH="1219200" progId="Equation.DSMT4">
                  <p:embed/>
                  <p:pic>
                    <p:nvPicPr>
                      <p:cNvPr id="18435" name="1 Objeto">
                        <a:extLst>
                          <a:ext uri="{FF2B5EF4-FFF2-40B4-BE49-F238E27FC236}">
                            <a16:creationId xmlns:a16="http://schemas.microsoft.com/office/drawing/2014/main" id="{1703E6A8-8734-4178-A0F8-0D947E7DA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685800"/>
                        <a:ext cx="2830513"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4 Objeto">
            <a:extLst>
              <a:ext uri="{FF2B5EF4-FFF2-40B4-BE49-F238E27FC236}">
                <a16:creationId xmlns:a16="http://schemas.microsoft.com/office/drawing/2014/main" id="{76ED3583-ECCF-4D5A-979A-300B3F153566}"/>
              </a:ext>
            </a:extLst>
          </p:cNvPr>
          <p:cNvGraphicFramePr>
            <a:graphicFrameLocks noChangeAspect="1"/>
          </p:cNvGraphicFramePr>
          <p:nvPr>
            <p:extLst>
              <p:ext uri="{D42A27DB-BD31-4B8C-83A1-F6EECF244321}">
                <p14:modId xmlns:p14="http://schemas.microsoft.com/office/powerpoint/2010/main" val="4093704428"/>
              </p:ext>
            </p:extLst>
          </p:nvPr>
        </p:nvGraphicFramePr>
        <p:xfrm>
          <a:off x="381000" y="1271891"/>
          <a:ext cx="4572000" cy="319384"/>
        </p:xfrm>
        <a:graphic>
          <a:graphicData uri="http://schemas.openxmlformats.org/presentationml/2006/ole">
            <mc:AlternateContent xmlns:mc="http://schemas.openxmlformats.org/markup-compatibility/2006">
              <mc:Choice xmlns:v="urn:schemas-microsoft-com:vml" Requires="v">
                <p:oleObj name="Equation" r:id="rId5" imgW="4038600" imgH="292100" progId="Equation.DSMT4">
                  <p:embed/>
                </p:oleObj>
              </mc:Choice>
              <mc:Fallback>
                <p:oleObj name="Equation" r:id="rId5" imgW="4038600" imgH="292100" progId="Equation.DSMT4">
                  <p:embed/>
                  <p:pic>
                    <p:nvPicPr>
                      <p:cNvPr id="18441" name="4 Objeto">
                        <a:extLst>
                          <a:ext uri="{FF2B5EF4-FFF2-40B4-BE49-F238E27FC236}">
                            <a16:creationId xmlns:a16="http://schemas.microsoft.com/office/drawing/2014/main" id="{76ED3583-ECCF-4D5A-979A-300B3F1535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271891"/>
                        <a:ext cx="4572000" cy="319384"/>
                      </a:xfrm>
                      <a:prstGeom prst="rect">
                        <a:avLst/>
                      </a:prstGeom>
                      <a:noFill/>
                      <a:ln>
                        <a:noFill/>
                      </a:ln>
                    </p:spPr>
                  </p:pic>
                </p:oleObj>
              </mc:Fallback>
            </mc:AlternateContent>
          </a:graphicData>
        </a:graphic>
      </p:graphicFrame>
      <p:sp>
        <p:nvSpPr>
          <p:cNvPr id="18443" name="Text Box 2">
            <a:extLst>
              <a:ext uri="{FF2B5EF4-FFF2-40B4-BE49-F238E27FC236}">
                <a16:creationId xmlns:a16="http://schemas.microsoft.com/office/drawing/2014/main" id="{8FE39D8E-51A0-4CB3-8029-27ECFB1F1FA5}"/>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sp>
        <p:nvSpPr>
          <p:cNvPr id="17" name="52 CuadroTexto">
            <a:extLst>
              <a:ext uri="{FF2B5EF4-FFF2-40B4-BE49-F238E27FC236}">
                <a16:creationId xmlns:a16="http://schemas.microsoft.com/office/drawing/2014/main" id="{EE4C8CF2-E97F-43A4-8BC4-EFDEA971955E}"/>
              </a:ext>
            </a:extLst>
          </p:cNvPr>
          <p:cNvSpPr txBox="1">
            <a:spLocks noChangeArrowheads="1"/>
          </p:cNvSpPr>
          <p:nvPr/>
        </p:nvSpPr>
        <p:spPr bwMode="auto">
          <a:xfrm>
            <a:off x="308768" y="1981200"/>
            <a:ext cx="5879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Tamaño de muestra</a:t>
            </a:r>
            <a:r>
              <a:rPr lang="es-ES" altLang="es-ES" sz="1400" dirty="0"/>
              <a:t>: sin considerar información previa (muestra piloto)</a:t>
            </a:r>
          </a:p>
        </p:txBody>
      </p:sp>
      <p:sp>
        <p:nvSpPr>
          <p:cNvPr id="19" name="47 CuadroTexto">
            <a:extLst>
              <a:ext uri="{FF2B5EF4-FFF2-40B4-BE49-F238E27FC236}">
                <a16:creationId xmlns:a16="http://schemas.microsoft.com/office/drawing/2014/main" id="{BFCD59BA-6549-48A0-9897-DB774AE6A43F}"/>
              </a:ext>
            </a:extLst>
          </p:cNvPr>
          <p:cNvSpPr txBox="1">
            <a:spLocks noChangeArrowheads="1"/>
          </p:cNvSpPr>
          <p:nvPr/>
        </p:nvSpPr>
        <p:spPr bwMode="auto">
          <a:xfrm>
            <a:off x="371475" y="2422327"/>
            <a:ext cx="842803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Para detectar una diferencia (un </a:t>
            </a:r>
            <a:r>
              <a:rPr lang="es-ES" altLang="es-ES" sz="1300" i="1" dirty="0"/>
              <a:t>efecto</a:t>
            </a:r>
            <a:r>
              <a:rPr lang="es-ES" altLang="es-ES" sz="1300" dirty="0"/>
              <a:t>) </a:t>
            </a:r>
            <a:endParaRPr lang="es-ES" altLang="es-ES" sz="1300" b="1" dirty="0"/>
          </a:p>
        </p:txBody>
      </p:sp>
      <p:graphicFrame>
        <p:nvGraphicFramePr>
          <p:cNvPr id="21" name="4 Objeto">
            <a:extLst>
              <a:ext uri="{FF2B5EF4-FFF2-40B4-BE49-F238E27FC236}">
                <a16:creationId xmlns:a16="http://schemas.microsoft.com/office/drawing/2014/main" id="{A8D082E3-D328-4268-A0A2-D461784EBA9D}"/>
              </a:ext>
            </a:extLst>
          </p:cNvPr>
          <p:cNvGraphicFramePr>
            <a:graphicFrameLocks noChangeAspect="1"/>
          </p:cNvGraphicFramePr>
          <p:nvPr>
            <p:extLst>
              <p:ext uri="{D42A27DB-BD31-4B8C-83A1-F6EECF244321}">
                <p14:modId xmlns:p14="http://schemas.microsoft.com/office/powerpoint/2010/main" val="149290272"/>
              </p:ext>
            </p:extLst>
          </p:nvPr>
        </p:nvGraphicFramePr>
        <p:xfrm>
          <a:off x="3519488" y="2441377"/>
          <a:ext cx="892175" cy="271463"/>
        </p:xfrm>
        <a:graphic>
          <a:graphicData uri="http://schemas.openxmlformats.org/presentationml/2006/ole">
            <mc:AlternateContent xmlns:mc="http://schemas.openxmlformats.org/markup-compatibility/2006">
              <mc:Choice xmlns:v="urn:schemas-microsoft-com:vml" Requires="v">
                <p:oleObj name="Equation" r:id="rId7" imgW="723600" imgH="228600" progId="Equation.DSMT4">
                  <p:embed/>
                </p:oleObj>
              </mc:Choice>
              <mc:Fallback>
                <p:oleObj name="Equation" r:id="rId7" imgW="723600" imgH="228600" progId="Equation.DSMT4">
                  <p:embed/>
                  <p:pic>
                    <p:nvPicPr>
                      <p:cNvPr id="18441" name="4 Objeto">
                        <a:extLst>
                          <a:ext uri="{FF2B5EF4-FFF2-40B4-BE49-F238E27FC236}">
                            <a16:creationId xmlns:a16="http://schemas.microsoft.com/office/drawing/2014/main" id="{76ED3583-ECCF-4D5A-979A-300B3F153566}"/>
                          </a:ext>
                        </a:extLst>
                      </p:cNvPr>
                      <p:cNvPicPr>
                        <a:picLocks noChangeAspect="1" noChangeArrowheads="1"/>
                      </p:cNvPicPr>
                      <p:nvPr/>
                    </p:nvPicPr>
                    <p:blipFill>
                      <a:blip r:embed="rId8"/>
                      <a:srcRect/>
                      <a:stretch>
                        <a:fillRect/>
                      </a:stretch>
                    </p:blipFill>
                    <p:spPr bwMode="auto">
                      <a:xfrm>
                        <a:off x="3519488" y="2441377"/>
                        <a:ext cx="8921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4 Objeto">
            <a:extLst>
              <a:ext uri="{FF2B5EF4-FFF2-40B4-BE49-F238E27FC236}">
                <a16:creationId xmlns:a16="http://schemas.microsoft.com/office/drawing/2014/main" id="{6E91E3C9-2D6B-41BA-83D3-D1CA4A6F3F89}"/>
              </a:ext>
            </a:extLst>
          </p:cNvPr>
          <p:cNvGraphicFramePr>
            <a:graphicFrameLocks noChangeAspect="1"/>
          </p:cNvGraphicFramePr>
          <p:nvPr>
            <p:extLst>
              <p:ext uri="{D42A27DB-BD31-4B8C-83A1-F6EECF244321}">
                <p14:modId xmlns:p14="http://schemas.microsoft.com/office/powerpoint/2010/main" val="2278380528"/>
              </p:ext>
            </p:extLst>
          </p:nvPr>
        </p:nvGraphicFramePr>
        <p:xfrm>
          <a:off x="2667000" y="2866125"/>
          <a:ext cx="2375780" cy="778273"/>
        </p:xfrm>
        <a:graphic>
          <a:graphicData uri="http://schemas.openxmlformats.org/presentationml/2006/ole">
            <mc:AlternateContent xmlns:mc="http://schemas.openxmlformats.org/markup-compatibility/2006">
              <mc:Choice xmlns:v="urn:schemas-microsoft-com:vml" Requires="v">
                <p:oleObj name="Equation" r:id="rId9" imgW="1790640" imgH="609480" progId="Equation.DSMT4">
                  <p:embed/>
                </p:oleObj>
              </mc:Choice>
              <mc:Fallback>
                <p:oleObj name="Equation" r:id="rId9" imgW="1790640" imgH="609480" progId="Equation.DSMT4">
                  <p:embed/>
                  <p:pic>
                    <p:nvPicPr>
                      <p:cNvPr id="21" name="4 Objeto">
                        <a:extLst>
                          <a:ext uri="{FF2B5EF4-FFF2-40B4-BE49-F238E27FC236}">
                            <a16:creationId xmlns:a16="http://schemas.microsoft.com/office/drawing/2014/main" id="{A8D082E3-D328-4268-A0A2-D461784EBA9D}"/>
                          </a:ext>
                        </a:extLst>
                      </p:cNvPr>
                      <p:cNvPicPr>
                        <a:picLocks noChangeAspect="1" noChangeArrowheads="1"/>
                      </p:cNvPicPr>
                      <p:nvPr/>
                    </p:nvPicPr>
                    <p:blipFill>
                      <a:blip r:embed="rId10"/>
                      <a:srcRect/>
                      <a:stretch>
                        <a:fillRect/>
                      </a:stretch>
                    </p:blipFill>
                    <p:spPr bwMode="auto">
                      <a:xfrm>
                        <a:off x="2667000" y="2866125"/>
                        <a:ext cx="2375780" cy="778273"/>
                      </a:xfrm>
                      <a:prstGeom prst="rect">
                        <a:avLst/>
                      </a:prstGeom>
                      <a:noFill/>
                      <a:ln>
                        <a:noFill/>
                      </a:ln>
                    </p:spPr>
                  </p:pic>
                </p:oleObj>
              </mc:Fallback>
            </mc:AlternateContent>
          </a:graphicData>
        </a:graphic>
      </p:graphicFrame>
      <p:sp>
        <p:nvSpPr>
          <p:cNvPr id="23" name="47 CuadroTexto">
            <a:extLst>
              <a:ext uri="{FF2B5EF4-FFF2-40B4-BE49-F238E27FC236}">
                <a16:creationId xmlns:a16="http://schemas.microsoft.com/office/drawing/2014/main" id="{4D4B83B6-ADB9-4BA4-A8AA-6394CF1C82C7}"/>
              </a:ext>
            </a:extLst>
          </p:cNvPr>
          <p:cNvSpPr txBox="1">
            <a:spLocks noChangeArrowheads="1"/>
          </p:cNvSpPr>
          <p:nvPr/>
        </p:nvSpPr>
        <p:spPr bwMode="auto">
          <a:xfrm>
            <a:off x="371475" y="2699996"/>
            <a:ext cx="83518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con una potencia </a:t>
            </a:r>
            <a:r>
              <a:rPr lang="es-ES" altLang="es-ES" sz="1400" dirty="0">
                <a:latin typeface="Symbol" panose="05050102010706020507" pitchFamily="18" charset="2"/>
              </a:rPr>
              <a:t>q</a:t>
            </a:r>
            <a:endParaRPr lang="es-ES" altLang="es-ES" sz="1300" dirty="0">
              <a:latin typeface="Symbol" panose="05050102010706020507" pitchFamily="18" charset="2"/>
            </a:endParaRPr>
          </a:p>
          <a:p>
            <a:pPr algn="just" eaLnBrk="1" hangingPunct="1"/>
            <a:r>
              <a:rPr lang="es-ES" altLang="es-ES" sz="1300" dirty="0">
                <a:latin typeface="+mn-lt"/>
              </a:rPr>
              <a:t>a un error </a:t>
            </a:r>
            <a:r>
              <a:rPr lang="es-ES" altLang="es-ES" sz="1400" dirty="0">
                <a:latin typeface="Symbol" panose="05050102010706020507" pitchFamily="18" charset="2"/>
              </a:rPr>
              <a:t>a</a:t>
            </a:r>
            <a:endParaRPr lang="es-ES" altLang="es-ES" sz="1300" dirty="0">
              <a:latin typeface="Symbol" panose="05050102010706020507" pitchFamily="18" charset="2"/>
            </a:endParaRPr>
          </a:p>
        </p:txBody>
      </p:sp>
      <p:sp>
        <p:nvSpPr>
          <p:cNvPr id="24" name="47 CuadroTexto">
            <a:extLst>
              <a:ext uri="{FF2B5EF4-FFF2-40B4-BE49-F238E27FC236}">
                <a16:creationId xmlns:a16="http://schemas.microsoft.com/office/drawing/2014/main" id="{A7752A92-24FD-4C13-81D5-CAE8AB35DF37}"/>
              </a:ext>
            </a:extLst>
          </p:cNvPr>
          <p:cNvSpPr txBox="1">
            <a:spLocks noChangeArrowheads="1"/>
          </p:cNvSpPr>
          <p:nvPr/>
        </p:nvSpPr>
        <p:spPr bwMode="auto">
          <a:xfrm>
            <a:off x="346075" y="3995456"/>
            <a:ext cx="842803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Para declarar significativa una diferencia del 10% (</a:t>
            </a:r>
            <a:r>
              <a:rPr lang="es-ES" altLang="es-ES" sz="1300" dirty="0">
                <a:latin typeface="Symbol" panose="05050102010706020507" pitchFamily="18" charset="2"/>
              </a:rPr>
              <a:t>d</a:t>
            </a:r>
            <a:r>
              <a:rPr lang="es-ES" altLang="es-ES" sz="1300" dirty="0"/>
              <a:t>=0.1) con una potencia del 80% (</a:t>
            </a:r>
            <a:r>
              <a:rPr lang="es-ES" altLang="es-ES" sz="1300" dirty="0">
                <a:latin typeface="Symbol" panose="05050102010706020507" pitchFamily="18" charset="2"/>
              </a:rPr>
              <a:t>b</a:t>
            </a:r>
            <a:r>
              <a:rPr lang="es-ES" altLang="es-ES" sz="1300" dirty="0"/>
              <a:t>=0.20) a un error del 5% (</a:t>
            </a:r>
            <a:r>
              <a:rPr lang="es-ES" altLang="es-ES" sz="1400" dirty="0">
                <a:latin typeface="Symbol" panose="05050102010706020507" pitchFamily="18" charset="2"/>
              </a:rPr>
              <a:t>a</a:t>
            </a:r>
            <a:r>
              <a:rPr lang="es-ES" altLang="es-ES" sz="1300" dirty="0"/>
              <a:t>=0.05) son necesarios 392 casos en cada muestra:</a:t>
            </a:r>
            <a:endParaRPr lang="es-ES" altLang="es-ES" sz="1300" b="1" dirty="0"/>
          </a:p>
        </p:txBody>
      </p:sp>
      <p:graphicFrame>
        <p:nvGraphicFramePr>
          <p:cNvPr id="25" name="4 Objeto">
            <a:extLst>
              <a:ext uri="{FF2B5EF4-FFF2-40B4-BE49-F238E27FC236}">
                <a16:creationId xmlns:a16="http://schemas.microsoft.com/office/drawing/2014/main" id="{36C5D041-7D4A-46A2-8F50-FE8DCF1633ED}"/>
              </a:ext>
            </a:extLst>
          </p:cNvPr>
          <p:cNvGraphicFramePr>
            <a:graphicFrameLocks noChangeAspect="1"/>
          </p:cNvGraphicFramePr>
          <p:nvPr>
            <p:extLst>
              <p:ext uri="{D42A27DB-BD31-4B8C-83A1-F6EECF244321}">
                <p14:modId xmlns:p14="http://schemas.microsoft.com/office/powerpoint/2010/main" val="1599794064"/>
              </p:ext>
            </p:extLst>
          </p:nvPr>
        </p:nvGraphicFramePr>
        <p:xfrm>
          <a:off x="419100" y="4669807"/>
          <a:ext cx="5229225" cy="712787"/>
        </p:xfrm>
        <a:graphic>
          <a:graphicData uri="http://schemas.openxmlformats.org/presentationml/2006/ole">
            <mc:AlternateContent xmlns:mc="http://schemas.openxmlformats.org/markup-compatibility/2006">
              <mc:Choice xmlns:v="urn:schemas-microsoft-com:vml" Requires="v">
                <p:oleObj name="Equation" r:id="rId11" imgW="4038480" imgH="571320" progId="Equation.DSMT4">
                  <p:embed/>
                </p:oleObj>
              </mc:Choice>
              <mc:Fallback>
                <p:oleObj name="Equation" r:id="rId11" imgW="4038480" imgH="571320" progId="Equation.DSMT4">
                  <p:embed/>
                  <p:pic>
                    <p:nvPicPr>
                      <p:cNvPr id="22" name="4 Objeto">
                        <a:extLst>
                          <a:ext uri="{FF2B5EF4-FFF2-40B4-BE49-F238E27FC236}">
                            <a16:creationId xmlns:a16="http://schemas.microsoft.com/office/drawing/2014/main" id="{6E91E3C9-2D6B-41BA-83D3-D1CA4A6F3F89}"/>
                          </a:ext>
                        </a:extLst>
                      </p:cNvPr>
                      <p:cNvPicPr>
                        <a:picLocks noChangeAspect="1" noChangeArrowheads="1"/>
                      </p:cNvPicPr>
                      <p:nvPr/>
                    </p:nvPicPr>
                    <p:blipFill>
                      <a:blip r:embed="rId12"/>
                      <a:srcRect/>
                      <a:stretch>
                        <a:fillRect/>
                      </a:stretch>
                    </p:blipFill>
                    <p:spPr bwMode="auto">
                      <a:xfrm>
                        <a:off x="419100" y="4669807"/>
                        <a:ext cx="5229225" cy="712787"/>
                      </a:xfrm>
                      <a:prstGeom prst="rect">
                        <a:avLst/>
                      </a:prstGeom>
                      <a:noFill/>
                      <a:ln>
                        <a:noFill/>
                      </a:ln>
                    </p:spPr>
                  </p:pic>
                </p:oleObj>
              </mc:Fallback>
            </mc:AlternateContent>
          </a:graphicData>
        </a:graphic>
      </p:graphicFrame>
      <p:graphicFrame>
        <p:nvGraphicFramePr>
          <p:cNvPr id="26" name="4 Objeto">
            <a:extLst>
              <a:ext uri="{FF2B5EF4-FFF2-40B4-BE49-F238E27FC236}">
                <a16:creationId xmlns:a16="http://schemas.microsoft.com/office/drawing/2014/main" id="{6A61ACD2-742A-47DE-888A-8FF8E501DD4E}"/>
              </a:ext>
            </a:extLst>
          </p:cNvPr>
          <p:cNvGraphicFramePr>
            <a:graphicFrameLocks noChangeAspect="1"/>
          </p:cNvGraphicFramePr>
          <p:nvPr>
            <p:extLst>
              <p:ext uri="{D42A27DB-BD31-4B8C-83A1-F6EECF244321}">
                <p14:modId xmlns:p14="http://schemas.microsoft.com/office/powerpoint/2010/main" val="3564941787"/>
              </p:ext>
            </p:extLst>
          </p:nvPr>
        </p:nvGraphicFramePr>
        <p:xfrm>
          <a:off x="6178866" y="4582494"/>
          <a:ext cx="2268537" cy="887413"/>
        </p:xfrm>
        <a:graphic>
          <a:graphicData uri="http://schemas.openxmlformats.org/presentationml/2006/ole">
            <mc:AlternateContent xmlns:mc="http://schemas.openxmlformats.org/markup-compatibility/2006">
              <mc:Choice xmlns:v="urn:schemas-microsoft-com:vml" Requires="v">
                <p:oleObj name="Equation" r:id="rId13" imgW="1752480" imgH="711000" progId="Equation.DSMT4">
                  <p:embed/>
                </p:oleObj>
              </mc:Choice>
              <mc:Fallback>
                <p:oleObj name="Equation" r:id="rId13" imgW="1752480" imgH="711000" progId="Equation.DSMT4">
                  <p:embed/>
                  <p:pic>
                    <p:nvPicPr>
                      <p:cNvPr id="25" name="4 Objeto">
                        <a:extLst>
                          <a:ext uri="{FF2B5EF4-FFF2-40B4-BE49-F238E27FC236}">
                            <a16:creationId xmlns:a16="http://schemas.microsoft.com/office/drawing/2014/main" id="{36C5D041-7D4A-46A2-8F50-FE8DCF1633ED}"/>
                          </a:ext>
                        </a:extLst>
                      </p:cNvPr>
                      <p:cNvPicPr>
                        <a:picLocks noChangeAspect="1" noChangeArrowheads="1"/>
                      </p:cNvPicPr>
                      <p:nvPr/>
                    </p:nvPicPr>
                    <p:blipFill>
                      <a:blip r:embed="rId14"/>
                      <a:srcRect/>
                      <a:stretch>
                        <a:fillRect/>
                      </a:stretch>
                    </p:blipFill>
                    <p:spPr bwMode="auto">
                      <a:xfrm>
                        <a:off x="6178866" y="4582494"/>
                        <a:ext cx="2268537" cy="88741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92645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D30778B3-BEE0-4D8B-81A1-2674E299AE7D}"/>
              </a:ext>
            </a:extLst>
          </p:cNvPr>
          <p:cNvSpPr txBox="1">
            <a:spLocks noChangeArrowheads="1"/>
          </p:cNvSpPr>
          <p:nvPr/>
        </p:nvSpPr>
        <p:spPr bwMode="auto">
          <a:xfrm>
            <a:off x="19050" y="301625"/>
            <a:ext cx="4737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Apareadas</a:t>
            </a:r>
            <a:endParaRPr lang="es-ES" altLang="es-ES" sz="1400" b="1"/>
          </a:p>
        </p:txBody>
      </p:sp>
      <p:sp>
        <p:nvSpPr>
          <p:cNvPr id="20483" name="Rectangle 21">
            <a:extLst>
              <a:ext uri="{FF2B5EF4-FFF2-40B4-BE49-F238E27FC236}">
                <a16:creationId xmlns:a16="http://schemas.microsoft.com/office/drawing/2014/main" id="{4947CC8B-1852-4434-AA54-2B568C8E461B}"/>
              </a:ext>
            </a:extLst>
          </p:cNvPr>
          <p:cNvSpPr>
            <a:spLocks noChangeArrowheads="1"/>
          </p:cNvSpPr>
          <p:nvPr/>
        </p:nvSpPr>
        <p:spPr bwMode="auto">
          <a:xfrm>
            <a:off x="304800" y="749300"/>
            <a:ext cx="86106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400" b="1">
                <a:solidFill>
                  <a:srgbClr val="006666"/>
                </a:solidFill>
              </a:rPr>
              <a:t>Ejemplo: </a:t>
            </a:r>
            <a:r>
              <a:rPr lang="es-ES_tradnl" altLang="es-ES" sz="1400">
                <a:solidFill>
                  <a:srgbClr val="006666"/>
                </a:solidFill>
              </a:rPr>
              <a:t>Se estudia la eficacia de dos terapias alternativas, A (analgésica) y B (terapia física)  para paliar el dolor crónico en pacientes con fibromialgia. En el estudio han participado 166 mujeres que fueron sometidas durante dos periodos de 6 meses a cada uno de los métodos. El orden en que se aplicaron las terapias fue aleatorizado. Del conjunto de pacientes considerado, 38 respondieron a ambos métodos, 82 no respondieron a ninguno y 15 de los que respondieron al método A no respondieron al B ¿Puede considerarse una terapia más eficaz que la otra?</a:t>
            </a:r>
            <a:endParaRPr lang="es-ES" altLang="es-ES" sz="1400">
              <a:solidFill>
                <a:srgbClr val="006666"/>
              </a:solidFill>
            </a:endParaRPr>
          </a:p>
        </p:txBody>
      </p:sp>
      <p:sp>
        <p:nvSpPr>
          <p:cNvPr id="20484" name="7 CuadroTexto">
            <a:extLst>
              <a:ext uri="{FF2B5EF4-FFF2-40B4-BE49-F238E27FC236}">
                <a16:creationId xmlns:a16="http://schemas.microsoft.com/office/drawing/2014/main" id="{7676F5D5-2810-4D41-9429-BE685A7338CE}"/>
              </a:ext>
            </a:extLst>
          </p:cNvPr>
          <p:cNvSpPr txBox="1">
            <a:spLocks noChangeArrowheads="1"/>
          </p:cNvSpPr>
          <p:nvPr/>
        </p:nvSpPr>
        <p:spPr bwMode="auto">
          <a:xfrm>
            <a:off x="334963" y="2282825"/>
            <a:ext cx="27574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1. Identificación del problema:</a:t>
            </a:r>
          </a:p>
        </p:txBody>
      </p:sp>
      <p:sp>
        <p:nvSpPr>
          <p:cNvPr id="20485" name="8 CuadroTexto">
            <a:extLst>
              <a:ext uri="{FF2B5EF4-FFF2-40B4-BE49-F238E27FC236}">
                <a16:creationId xmlns:a16="http://schemas.microsoft.com/office/drawing/2014/main" id="{736AD3CD-68A3-42A9-B602-9B622C5B58A3}"/>
              </a:ext>
            </a:extLst>
          </p:cNvPr>
          <p:cNvSpPr txBox="1">
            <a:spLocks noChangeArrowheads="1"/>
          </p:cNvSpPr>
          <p:nvPr/>
        </p:nvSpPr>
        <p:spPr bwMode="auto">
          <a:xfrm>
            <a:off x="533400" y="2536825"/>
            <a:ext cx="83058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Cada paciente aporta dos observaciones: su respuesta a la terapia A y su respuesta a la terapia B, se trata por tanto de </a:t>
            </a:r>
            <a:r>
              <a:rPr lang="es-ES" altLang="es-ES" sz="1300" b="1"/>
              <a:t>muestras apareadas.</a:t>
            </a:r>
            <a:r>
              <a:rPr lang="es-ES" altLang="es-ES" sz="1300"/>
              <a:t> Como los parámetros de interés son las proporciones de casos que responden a cada terapia, el problema consiste en </a:t>
            </a:r>
            <a:r>
              <a:rPr lang="es-ES" altLang="es-ES" sz="1300" b="1"/>
              <a:t>contrastar la homogeneidad de dos proporciones de muestras apareadas</a:t>
            </a:r>
          </a:p>
        </p:txBody>
      </p:sp>
      <p:graphicFrame>
        <p:nvGraphicFramePr>
          <p:cNvPr id="20486" name="1 Objeto">
            <a:extLst>
              <a:ext uri="{FF2B5EF4-FFF2-40B4-BE49-F238E27FC236}">
                <a16:creationId xmlns:a16="http://schemas.microsoft.com/office/drawing/2014/main" id="{F7C25D5D-29D4-45CC-8DA5-F937D62B7602}"/>
              </a:ext>
            </a:extLst>
          </p:cNvPr>
          <p:cNvGraphicFramePr>
            <a:graphicFrameLocks noChangeAspect="1"/>
          </p:cNvGraphicFramePr>
          <p:nvPr/>
        </p:nvGraphicFramePr>
        <p:xfrm>
          <a:off x="549275" y="4087813"/>
          <a:ext cx="2178050" cy="1054100"/>
        </p:xfrm>
        <a:graphic>
          <a:graphicData uri="http://schemas.openxmlformats.org/presentationml/2006/ole">
            <mc:AlternateContent xmlns:mc="http://schemas.openxmlformats.org/markup-compatibility/2006">
              <mc:Choice xmlns:v="urn:schemas-microsoft-com:vml" Requires="v">
                <p:oleObj name="Equation" r:id="rId3" imgW="1917360" imgH="965160" progId="Equation.DSMT4">
                  <p:embed/>
                </p:oleObj>
              </mc:Choice>
              <mc:Fallback>
                <p:oleObj name="Equation" r:id="rId3" imgW="1917360" imgH="965160" progId="Equation.DSMT4">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275" y="4087813"/>
                        <a:ext cx="217805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 name="8 CuadroTexto">
            <a:extLst>
              <a:ext uri="{FF2B5EF4-FFF2-40B4-BE49-F238E27FC236}">
                <a16:creationId xmlns:a16="http://schemas.microsoft.com/office/drawing/2014/main" id="{D5AB5099-C8DE-4AAB-A9B9-466F1CA9A351}"/>
              </a:ext>
            </a:extLst>
          </p:cNvPr>
          <p:cNvSpPr txBox="1">
            <a:spLocks noChangeArrowheads="1"/>
          </p:cNvSpPr>
          <p:nvPr/>
        </p:nvSpPr>
        <p:spPr bwMode="auto">
          <a:xfrm>
            <a:off x="533400" y="3746500"/>
            <a:ext cx="8305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Podríamos pensar en dos tipos de tabla:</a:t>
            </a:r>
          </a:p>
        </p:txBody>
      </p:sp>
      <p:sp>
        <p:nvSpPr>
          <p:cNvPr id="20488" name="2 CuadroTexto">
            <a:extLst>
              <a:ext uri="{FF2B5EF4-FFF2-40B4-BE49-F238E27FC236}">
                <a16:creationId xmlns:a16="http://schemas.microsoft.com/office/drawing/2014/main" id="{3F44C039-29FE-48BB-AE81-178AF836D6B4}"/>
              </a:ext>
            </a:extLst>
          </p:cNvPr>
          <p:cNvSpPr txBox="1">
            <a:spLocks noChangeArrowheads="1"/>
          </p:cNvSpPr>
          <p:nvPr/>
        </p:nvSpPr>
        <p:spPr bwMode="auto">
          <a:xfrm>
            <a:off x="334963" y="3448050"/>
            <a:ext cx="226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2. Información muestral:</a:t>
            </a:r>
          </a:p>
        </p:txBody>
      </p:sp>
      <p:sp>
        <p:nvSpPr>
          <p:cNvPr id="20489" name="8 CuadroTexto">
            <a:extLst>
              <a:ext uri="{FF2B5EF4-FFF2-40B4-BE49-F238E27FC236}">
                <a16:creationId xmlns:a16="http://schemas.microsoft.com/office/drawing/2014/main" id="{D2216568-2974-4A1E-8E1E-49577440C7A8}"/>
              </a:ext>
            </a:extLst>
          </p:cNvPr>
          <p:cNvSpPr txBox="1">
            <a:spLocks noChangeArrowheads="1"/>
          </p:cNvSpPr>
          <p:nvPr/>
        </p:nvSpPr>
        <p:spPr bwMode="auto">
          <a:xfrm>
            <a:off x="3124200" y="4165600"/>
            <a:ext cx="57150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No es la tabla que interesa, se pierde la información apareada: no es posible saber cuál es la respuesta a la terapia B por parte de un paciente que ha respondido positiva o negativamente a la A.  Además, obsérvese que con este planteamento, la suma de frecuencias es 332 (el doble que el número de pacientes)</a:t>
            </a:r>
          </a:p>
        </p:txBody>
      </p:sp>
      <p:sp>
        <p:nvSpPr>
          <p:cNvPr id="20490" name="8 CuadroTexto">
            <a:extLst>
              <a:ext uri="{FF2B5EF4-FFF2-40B4-BE49-F238E27FC236}">
                <a16:creationId xmlns:a16="http://schemas.microsoft.com/office/drawing/2014/main" id="{F2E306D7-2BA1-47ED-BDB3-55199E719F45}"/>
              </a:ext>
            </a:extLst>
          </p:cNvPr>
          <p:cNvSpPr txBox="1">
            <a:spLocks noChangeArrowheads="1"/>
          </p:cNvSpPr>
          <p:nvPr/>
        </p:nvSpPr>
        <p:spPr bwMode="auto">
          <a:xfrm>
            <a:off x="3124200" y="5632450"/>
            <a:ext cx="5715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Este formato </a:t>
            </a:r>
            <a:r>
              <a:rPr lang="es-ES" altLang="es-ES" sz="1300" b="1"/>
              <a:t>anidado</a:t>
            </a:r>
            <a:r>
              <a:rPr lang="es-ES" altLang="es-ES" sz="1300"/>
              <a:t>  (la respuesta esta anidada en cada modalidad de la terapia) si que permite conservar la información apareada y es por tanto el formato apropiado.</a:t>
            </a:r>
          </a:p>
        </p:txBody>
      </p:sp>
      <p:graphicFrame>
        <p:nvGraphicFramePr>
          <p:cNvPr id="20491" name="1 Objeto">
            <a:extLst>
              <a:ext uri="{FF2B5EF4-FFF2-40B4-BE49-F238E27FC236}">
                <a16:creationId xmlns:a16="http://schemas.microsoft.com/office/drawing/2014/main" id="{3C542CB9-3746-4864-A857-7C54677D9435}"/>
              </a:ext>
            </a:extLst>
          </p:cNvPr>
          <p:cNvGraphicFramePr>
            <a:graphicFrameLocks noChangeAspect="1"/>
          </p:cNvGraphicFramePr>
          <p:nvPr/>
        </p:nvGraphicFramePr>
        <p:xfrm>
          <a:off x="360363" y="5213350"/>
          <a:ext cx="2763837" cy="1339850"/>
        </p:xfrm>
        <a:graphic>
          <a:graphicData uri="http://schemas.openxmlformats.org/presentationml/2006/ole">
            <mc:AlternateContent xmlns:mc="http://schemas.openxmlformats.org/markup-compatibility/2006">
              <mc:Choice xmlns:v="urn:schemas-microsoft-com:vml" Requires="v">
                <p:oleObj name="Equation" r:id="rId5" imgW="2374560" imgH="1193760" progId="Equation.DSMT4">
                  <p:embed/>
                </p:oleObj>
              </mc:Choice>
              <mc:Fallback>
                <p:oleObj name="Equation" r:id="rId5" imgW="2374560" imgH="1193760" progId="Equation.DSMT4">
                  <p:embed/>
                  <p:pic>
                    <p:nvPicPr>
                      <p:cNvPr id="0" name="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363" y="5213350"/>
                        <a:ext cx="2763837"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AE86D8A1-44F0-4B5B-8BDC-121402004502}"/>
              </a:ext>
            </a:extLst>
          </p:cNvPr>
          <p:cNvSpPr txBox="1">
            <a:spLocks noChangeArrowheads="1"/>
          </p:cNvSpPr>
          <p:nvPr/>
        </p:nvSpPr>
        <p:spPr bwMode="auto">
          <a:xfrm>
            <a:off x="19050" y="301625"/>
            <a:ext cx="4737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Apareadas</a:t>
            </a:r>
            <a:endParaRPr lang="es-ES" altLang="es-ES" sz="1400" b="1"/>
          </a:p>
        </p:txBody>
      </p:sp>
      <p:sp>
        <p:nvSpPr>
          <p:cNvPr id="22531" name="8 CuadroTexto">
            <a:extLst>
              <a:ext uri="{FF2B5EF4-FFF2-40B4-BE49-F238E27FC236}">
                <a16:creationId xmlns:a16="http://schemas.microsoft.com/office/drawing/2014/main" id="{EC85B188-8CD3-454A-BF7D-A8D2D422EBF8}"/>
              </a:ext>
            </a:extLst>
          </p:cNvPr>
          <p:cNvSpPr txBox="1">
            <a:spLocks noChangeArrowheads="1"/>
          </p:cNvSpPr>
          <p:nvPr/>
        </p:nvSpPr>
        <p:spPr bwMode="auto">
          <a:xfrm>
            <a:off x="3581400" y="3744913"/>
            <a:ext cx="52578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Por tanto, se trata de comparar si la proporción de casos que SI supera la terapia A y NO la B es igual a la proporción de casos que NO supera la A y SI la B: </a:t>
            </a:r>
            <a:r>
              <a:rPr lang="es-ES" altLang="es-ES" sz="1400" b="1">
                <a:solidFill>
                  <a:srgbClr val="C00000"/>
                </a:solidFill>
              </a:rPr>
              <a:t>Test de McNemar</a:t>
            </a:r>
            <a:endParaRPr lang="es-ES" altLang="es-ES" sz="1400" b="1"/>
          </a:p>
        </p:txBody>
      </p:sp>
      <p:sp>
        <p:nvSpPr>
          <p:cNvPr id="22532" name="16 CuadroTexto">
            <a:extLst>
              <a:ext uri="{FF2B5EF4-FFF2-40B4-BE49-F238E27FC236}">
                <a16:creationId xmlns:a16="http://schemas.microsoft.com/office/drawing/2014/main" id="{64FE7976-09F5-4BDE-98CF-E9A68FEF5F42}"/>
              </a:ext>
            </a:extLst>
          </p:cNvPr>
          <p:cNvSpPr txBox="1">
            <a:spLocks noChangeArrowheads="1"/>
          </p:cNvSpPr>
          <p:nvPr/>
        </p:nvSpPr>
        <p:spPr bwMode="auto">
          <a:xfrm>
            <a:off x="76200" y="695325"/>
            <a:ext cx="3862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3. Planteamiento de la inferencia. Hipótesis</a:t>
            </a:r>
          </a:p>
        </p:txBody>
      </p:sp>
      <p:graphicFrame>
        <p:nvGraphicFramePr>
          <p:cNvPr id="22533" name="17 Objeto">
            <a:extLst>
              <a:ext uri="{FF2B5EF4-FFF2-40B4-BE49-F238E27FC236}">
                <a16:creationId xmlns:a16="http://schemas.microsoft.com/office/drawing/2014/main" id="{47C5C886-94D6-44FF-9C81-F633CB55DBF2}"/>
              </a:ext>
            </a:extLst>
          </p:cNvPr>
          <p:cNvGraphicFramePr>
            <a:graphicFrameLocks noChangeAspect="1"/>
          </p:cNvGraphicFramePr>
          <p:nvPr/>
        </p:nvGraphicFramePr>
        <p:xfrm>
          <a:off x="381000" y="3817938"/>
          <a:ext cx="3048000" cy="601662"/>
        </p:xfrm>
        <a:graphic>
          <a:graphicData uri="http://schemas.openxmlformats.org/presentationml/2006/ole">
            <mc:AlternateContent xmlns:mc="http://schemas.openxmlformats.org/markup-compatibility/2006">
              <mc:Choice xmlns:v="urn:schemas-microsoft-com:vml" Requires="v">
                <p:oleObj name="Equation" r:id="rId3" imgW="2476500" imgH="508000" progId="Equation.DSMT4">
                  <p:embed/>
                </p:oleObj>
              </mc:Choice>
              <mc:Fallback>
                <p:oleObj name="Equation" r:id="rId3" imgW="2476500" imgH="508000" progId="Equation.DSMT4">
                  <p:embed/>
                  <p:pic>
                    <p:nvPicPr>
                      <p:cNvPr id="0" name="17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817938"/>
                        <a:ext cx="3048000"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4" name="8 CuadroTexto">
            <a:extLst>
              <a:ext uri="{FF2B5EF4-FFF2-40B4-BE49-F238E27FC236}">
                <a16:creationId xmlns:a16="http://schemas.microsoft.com/office/drawing/2014/main" id="{6E8BF937-93EF-4D76-8929-10E5693E2F1F}"/>
              </a:ext>
            </a:extLst>
          </p:cNvPr>
          <p:cNvSpPr txBox="1">
            <a:spLocks noChangeArrowheads="1"/>
          </p:cNvSpPr>
          <p:nvPr/>
        </p:nvSpPr>
        <p:spPr bwMode="auto">
          <a:xfrm>
            <a:off x="304800" y="4953000"/>
            <a:ext cx="84947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Declararemos el test significativo si</a:t>
            </a:r>
            <a:r>
              <a:rPr lang="es-ES" altLang="es-ES" sz="1600"/>
              <a:t> </a:t>
            </a:r>
            <a:r>
              <a:rPr lang="es-ES" altLang="es-ES" sz="1600" i="1">
                <a:latin typeface="Times New Roman" panose="02020603050405020304" pitchFamily="18" charset="0"/>
                <a:cs typeface="Times New Roman" panose="02020603050405020304" pitchFamily="18" charset="0"/>
              </a:rPr>
              <a:t>P </a:t>
            </a:r>
            <a:r>
              <a:rPr lang="es-ES" altLang="es-ES" sz="1800" i="1">
                <a:latin typeface="Times New Roman" panose="02020603050405020304" pitchFamily="18" charset="0"/>
                <a:cs typeface="Times New Roman" panose="02020603050405020304" pitchFamily="18" charset="0"/>
              </a:rPr>
              <a:t>≤ </a:t>
            </a:r>
            <a:r>
              <a:rPr lang="es-ES" altLang="es-ES" sz="1600">
                <a:latin typeface="Symbol" panose="05050102010706020507" pitchFamily="18" charset="2"/>
              </a:rPr>
              <a:t>a</a:t>
            </a:r>
            <a:r>
              <a:rPr lang="es-ES" altLang="es-ES" sz="1400"/>
              <a:t>=0.05</a:t>
            </a:r>
          </a:p>
        </p:txBody>
      </p:sp>
      <p:graphicFrame>
        <p:nvGraphicFramePr>
          <p:cNvPr id="22535" name="1 Objeto">
            <a:extLst>
              <a:ext uri="{FF2B5EF4-FFF2-40B4-BE49-F238E27FC236}">
                <a16:creationId xmlns:a16="http://schemas.microsoft.com/office/drawing/2014/main" id="{8CF1F77D-0F7B-4156-BD64-0F52AE2C1CA5}"/>
              </a:ext>
            </a:extLst>
          </p:cNvPr>
          <p:cNvGraphicFramePr>
            <a:graphicFrameLocks noChangeAspect="1"/>
          </p:cNvGraphicFramePr>
          <p:nvPr/>
        </p:nvGraphicFramePr>
        <p:xfrm>
          <a:off x="5487988" y="849313"/>
          <a:ext cx="3413125" cy="1339850"/>
        </p:xfrm>
        <a:graphic>
          <a:graphicData uri="http://schemas.openxmlformats.org/presentationml/2006/ole">
            <mc:AlternateContent xmlns:mc="http://schemas.openxmlformats.org/markup-compatibility/2006">
              <mc:Choice xmlns:v="urn:schemas-microsoft-com:vml" Requires="v">
                <p:oleObj name="Equation" r:id="rId5" imgW="2933700" imgH="1193800" progId="Equation.DSMT4">
                  <p:embed/>
                </p:oleObj>
              </mc:Choice>
              <mc:Fallback>
                <p:oleObj name="Equation" r:id="rId5" imgW="2933700" imgH="1193800" progId="Equation.DSMT4">
                  <p:embed/>
                  <p:pic>
                    <p:nvPicPr>
                      <p:cNvPr id="0" name="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7988" y="849313"/>
                        <a:ext cx="3413125"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6" name="17 Objeto">
            <a:extLst>
              <a:ext uri="{FF2B5EF4-FFF2-40B4-BE49-F238E27FC236}">
                <a16:creationId xmlns:a16="http://schemas.microsoft.com/office/drawing/2014/main" id="{54DB7394-FCD0-475F-82AA-4EA9E080218F}"/>
              </a:ext>
            </a:extLst>
          </p:cNvPr>
          <p:cNvGraphicFramePr>
            <a:graphicFrameLocks noChangeAspect="1"/>
          </p:cNvGraphicFramePr>
          <p:nvPr/>
        </p:nvGraphicFramePr>
        <p:xfrm>
          <a:off x="381000" y="1122363"/>
          <a:ext cx="4560888" cy="782637"/>
        </p:xfrm>
        <a:graphic>
          <a:graphicData uri="http://schemas.openxmlformats.org/presentationml/2006/ole">
            <mc:AlternateContent xmlns:mc="http://schemas.openxmlformats.org/markup-compatibility/2006">
              <mc:Choice xmlns:v="urn:schemas-microsoft-com:vml" Requires="v">
                <p:oleObj name="Equation" r:id="rId7" imgW="3708400" imgH="660400" progId="Equation.DSMT4">
                  <p:embed/>
                </p:oleObj>
              </mc:Choice>
              <mc:Fallback>
                <p:oleObj name="Equation" r:id="rId7" imgW="3708400" imgH="660400" progId="Equation.DSMT4">
                  <p:embed/>
                  <p:pic>
                    <p:nvPicPr>
                      <p:cNvPr id="0" name="17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1122363"/>
                        <a:ext cx="4560888"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7" name="17 Objeto">
            <a:extLst>
              <a:ext uri="{FF2B5EF4-FFF2-40B4-BE49-F238E27FC236}">
                <a16:creationId xmlns:a16="http://schemas.microsoft.com/office/drawing/2014/main" id="{9E1E36F4-6B5B-43E5-9CEB-6FC70DC18CE4}"/>
              </a:ext>
            </a:extLst>
          </p:cNvPr>
          <p:cNvGraphicFramePr>
            <a:graphicFrameLocks noChangeAspect="1"/>
          </p:cNvGraphicFramePr>
          <p:nvPr/>
        </p:nvGraphicFramePr>
        <p:xfrm>
          <a:off x="381000" y="2057400"/>
          <a:ext cx="4576763" cy="782638"/>
        </p:xfrm>
        <a:graphic>
          <a:graphicData uri="http://schemas.openxmlformats.org/presentationml/2006/ole">
            <mc:AlternateContent xmlns:mc="http://schemas.openxmlformats.org/markup-compatibility/2006">
              <mc:Choice xmlns:v="urn:schemas-microsoft-com:vml" Requires="v">
                <p:oleObj name="Equation" r:id="rId9" imgW="3721100" imgH="660400" progId="Equation.DSMT4">
                  <p:embed/>
                </p:oleObj>
              </mc:Choice>
              <mc:Fallback>
                <p:oleObj name="Equation" r:id="rId9" imgW="3721100" imgH="660400" progId="Equation.DSMT4">
                  <p:embed/>
                  <p:pic>
                    <p:nvPicPr>
                      <p:cNvPr id="0" name="17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057400"/>
                        <a:ext cx="457676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8" name="8 CuadroTexto">
            <a:extLst>
              <a:ext uri="{FF2B5EF4-FFF2-40B4-BE49-F238E27FC236}">
                <a16:creationId xmlns:a16="http://schemas.microsoft.com/office/drawing/2014/main" id="{567E5475-FF16-4CA2-9C76-3265C7752497}"/>
              </a:ext>
            </a:extLst>
          </p:cNvPr>
          <p:cNvSpPr txBox="1">
            <a:spLocks noChangeArrowheads="1"/>
          </p:cNvSpPr>
          <p:nvPr/>
        </p:nvSpPr>
        <p:spPr bwMode="auto">
          <a:xfrm>
            <a:off x="304800" y="3352800"/>
            <a:ext cx="86280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Los casos que superan ambas terapias (o los que no superan ninguna) no aportan información diferencial</a:t>
            </a:r>
          </a:p>
        </p:txBody>
      </p:sp>
      <p:graphicFrame>
        <p:nvGraphicFramePr>
          <p:cNvPr id="22539" name="17 Objeto">
            <a:extLst>
              <a:ext uri="{FF2B5EF4-FFF2-40B4-BE49-F238E27FC236}">
                <a16:creationId xmlns:a16="http://schemas.microsoft.com/office/drawing/2014/main" id="{04E802A8-A55C-4C8A-96EA-5AB745A8FA98}"/>
              </a:ext>
            </a:extLst>
          </p:cNvPr>
          <p:cNvGraphicFramePr>
            <a:graphicFrameLocks noChangeAspect="1"/>
          </p:cNvGraphicFramePr>
          <p:nvPr/>
        </p:nvGraphicFramePr>
        <p:xfrm>
          <a:off x="373063" y="3048000"/>
          <a:ext cx="4373562" cy="269875"/>
        </p:xfrm>
        <a:graphic>
          <a:graphicData uri="http://schemas.openxmlformats.org/presentationml/2006/ole">
            <mc:AlternateContent xmlns:mc="http://schemas.openxmlformats.org/markup-compatibility/2006">
              <mc:Choice xmlns:v="urn:schemas-microsoft-com:vml" Requires="v">
                <p:oleObj name="Equation" r:id="rId11" imgW="3556000" imgH="228600" progId="Equation.DSMT4">
                  <p:embed/>
                </p:oleObj>
              </mc:Choice>
              <mc:Fallback>
                <p:oleObj name="Equation" r:id="rId11" imgW="3556000" imgH="228600" progId="Equation.DSMT4">
                  <p:embed/>
                  <p:pic>
                    <p:nvPicPr>
                      <p:cNvPr id="0" name="17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063" y="3048000"/>
                        <a:ext cx="4373562"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0" name="17 Objeto">
            <a:extLst>
              <a:ext uri="{FF2B5EF4-FFF2-40B4-BE49-F238E27FC236}">
                <a16:creationId xmlns:a16="http://schemas.microsoft.com/office/drawing/2014/main" id="{6D94F641-6CE8-4367-99EA-63983E52E4F9}"/>
              </a:ext>
            </a:extLst>
          </p:cNvPr>
          <p:cNvGraphicFramePr>
            <a:graphicFrameLocks noChangeAspect="1"/>
          </p:cNvGraphicFramePr>
          <p:nvPr/>
        </p:nvGraphicFramePr>
        <p:xfrm>
          <a:off x="6172200" y="2209800"/>
          <a:ext cx="2185988" cy="965200"/>
        </p:xfrm>
        <a:graphic>
          <a:graphicData uri="http://schemas.openxmlformats.org/presentationml/2006/ole">
            <mc:AlternateContent xmlns:mc="http://schemas.openxmlformats.org/markup-compatibility/2006">
              <mc:Choice xmlns:v="urn:schemas-microsoft-com:vml" Requires="v">
                <p:oleObj name="Equation" r:id="rId13" imgW="1777229" imgH="812447" progId="Equation.DSMT4">
                  <p:embed/>
                </p:oleObj>
              </mc:Choice>
              <mc:Fallback>
                <p:oleObj name="Equation" r:id="rId13" imgW="1777229" imgH="812447" progId="Equation.DSMT4">
                  <p:embed/>
                  <p:pic>
                    <p:nvPicPr>
                      <p:cNvPr id="0" name="17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72200" y="2209800"/>
                        <a:ext cx="2185988"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2 Rectángulo redondeado">
            <a:extLst>
              <a:ext uri="{FF2B5EF4-FFF2-40B4-BE49-F238E27FC236}">
                <a16:creationId xmlns:a16="http://schemas.microsoft.com/office/drawing/2014/main" id="{4AEF46BA-7A86-478B-B876-E78B8565C83D}"/>
              </a:ext>
            </a:extLst>
          </p:cNvPr>
          <p:cNvSpPr/>
          <p:nvPr/>
        </p:nvSpPr>
        <p:spPr bwMode="auto">
          <a:xfrm>
            <a:off x="5410200" y="695325"/>
            <a:ext cx="3429000" cy="2657475"/>
          </a:xfrm>
          <a:prstGeom prst="roundRect">
            <a:avLst>
              <a:gd name="adj" fmla="val 6052"/>
            </a:avLst>
          </a:prstGeom>
          <a:noFill/>
          <a:ln w="9525" cap="flat" cmpd="sng" algn="ctr">
            <a:solidFill>
              <a:schemeClr val="bg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s-ES">
              <a:latin typeface="Arial" charset="0"/>
            </a:endParaRPr>
          </a:p>
        </p:txBody>
      </p:sp>
      <p:sp>
        <p:nvSpPr>
          <p:cNvPr id="22542" name="16 CuadroTexto">
            <a:extLst>
              <a:ext uri="{FF2B5EF4-FFF2-40B4-BE49-F238E27FC236}">
                <a16:creationId xmlns:a16="http://schemas.microsoft.com/office/drawing/2014/main" id="{DFEC0D02-5BB9-4A31-8094-F2F602F25712}"/>
              </a:ext>
            </a:extLst>
          </p:cNvPr>
          <p:cNvSpPr txBox="1">
            <a:spLocks noChangeArrowheads="1"/>
          </p:cNvSpPr>
          <p:nvPr/>
        </p:nvSpPr>
        <p:spPr bwMode="auto">
          <a:xfrm>
            <a:off x="76200" y="5486400"/>
            <a:ext cx="2160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4. Condición de validez</a:t>
            </a:r>
          </a:p>
        </p:txBody>
      </p:sp>
      <p:grpSp>
        <p:nvGrpSpPr>
          <p:cNvPr id="22543" name="3 Grupo">
            <a:extLst>
              <a:ext uri="{FF2B5EF4-FFF2-40B4-BE49-F238E27FC236}">
                <a16:creationId xmlns:a16="http://schemas.microsoft.com/office/drawing/2014/main" id="{E57988C0-6D79-4CFE-8B7E-CE9D7D04B1BA}"/>
              </a:ext>
            </a:extLst>
          </p:cNvPr>
          <p:cNvGrpSpPr>
            <a:grpSpLocks/>
          </p:cNvGrpSpPr>
          <p:nvPr/>
        </p:nvGrpSpPr>
        <p:grpSpPr bwMode="auto">
          <a:xfrm>
            <a:off x="276225" y="5791200"/>
            <a:ext cx="7543800" cy="307975"/>
            <a:chOff x="332361" y="5561300"/>
            <a:chExt cx="7543800" cy="307777"/>
          </a:xfrm>
        </p:grpSpPr>
        <p:graphicFrame>
          <p:nvGraphicFramePr>
            <p:cNvPr id="22545" name="2 Objeto">
              <a:extLst>
                <a:ext uri="{FF2B5EF4-FFF2-40B4-BE49-F238E27FC236}">
                  <a16:creationId xmlns:a16="http://schemas.microsoft.com/office/drawing/2014/main" id="{B033115C-6682-4049-AE68-E47246933FBA}"/>
                </a:ext>
              </a:extLst>
            </p:cNvPr>
            <p:cNvGraphicFramePr>
              <a:graphicFrameLocks noChangeAspect="1"/>
            </p:cNvGraphicFramePr>
            <p:nvPr/>
          </p:nvGraphicFramePr>
          <p:xfrm>
            <a:off x="1275538" y="5564514"/>
            <a:ext cx="1112062" cy="301348"/>
          </p:xfrm>
          <a:graphic>
            <a:graphicData uri="http://schemas.openxmlformats.org/presentationml/2006/ole">
              <mc:AlternateContent xmlns:mc="http://schemas.openxmlformats.org/markup-compatibility/2006">
                <mc:Choice xmlns:v="urn:schemas-microsoft-com:vml" Requires="v">
                  <p:oleObj name="Equation" r:id="rId15" imgW="812447" imgH="228501" progId="Equation.DSMT4">
                    <p:embed/>
                  </p:oleObj>
                </mc:Choice>
                <mc:Fallback>
                  <p:oleObj name="Equation" r:id="rId15" imgW="812447" imgH="228501" progId="Equation.DSMT4">
                    <p:embed/>
                    <p:pic>
                      <p:nvPicPr>
                        <p:cNvPr id="0" name="2 Objeto"/>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5538" y="5564514"/>
                          <a:ext cx="1112062" cy="30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6" name="8 CuadroTexto">
              <a:extLst>
                <a:ext uri="{FF2B5EF4-FFF2-40B4-BE49-F238E27FC236}">
                  <a16:creationId xmlns:a16="http://schemas.microsoft.com/office/drawing/2014/main" id="{4FC09070-8D12-4B07-AC36-8AEF09B4A47F}"/>
                </a:ext>
              </a:extLst>
            </p:cNvPr>
            <p:cNvSpPr txBox="1">
              <a:spLocks noChangeArrowheads="1"/>
            </p:cNvSpPr>
            <p:nvPr/>
          </p:nvSpPr>
          <p:spPr bwMode="auto">
            <a:xfrm>
              <a:off x="332361" y="5561300"/>
              <a:ext cx="7543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Debe ser                         . Como                                                         el método es aplicable.  </a:t>
              </a:r>
            </a:p>
          </p:txBody>
        </p:sp>
        <p:graphicFrame>
          <p:nvGraphicFramePr>
            <p:cNvPr id="22547" name="32 Objeto">
              <a:extLst>
                <a:ext uri="{FF2B5EF4-FFF2-40B4-BE49-F238E27FC236}">
                  <a16:creationId xmlns:a16="http://schemas.microsoft.com/office/drawing/2014/main" id="{48F2FDE4-536F-475B-B4D8-F47EE2BE8F0F}"/>
                </a:ext>
              </a:extLst>
            </p:cNvPr>
            <p:cNvGraphicFramePr>
              <a:graphicFrameLocks noChangeAspect="1"/>
            </p:cNvGraphicFramePr>
            <p:nvPr/>
          </p:nvGraphicFramePr>
          <p:xfrm>
            <a:off x="3048000" y="5564613"/>
            <a:ext cx="2603687" cy="301151"/>
          </p:xfrm>
          <a:graphic>
            <a:graphicData uri="http://schemas.openxmlformats.org/presentationml/2006/ole">
              <mc:AlternateContent xmlns:mc="http://schemas.openxmlformats.org/markup-compatibility/2006">
                <mc:Choice xmlns:v="urn:schemas-microsoft-com:vml" Requires="v">
                  <p:oleObj name="Equation" r:id="rId17" imgW="1905000" imgH="228600" progId="Equation.DSMT4">
                    <p:embed/>
                  </p:oleObj>
                </mc:Choice>
                <mc:Fallback>
                  <p:oleObj name="Equation" r:id="rId17" imgW="1905000" imgH="228600" progId="Equation.DSMT4">
                    <p:embed/>
                    <p:pic>
                      <p:nvPicPr>
                        <p:cNvPr id="0" name="32 Objet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48000" y="5564613"/>
                          <a:ext cx="2603687" cy="30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2544" name="17 Objeto">
            <a:extLst>
              <a:ext uri="{FF2B5EF4-FFF2-40B4-BE49-F238E27FC236}">
                <a16:creationId xmlns:a16="http://schemas.microsoft.com/office/drawing/2014/main" id="{3CE14DBF-1C3D-418C-AC5F-95E485339E8B}"/>
              </a:ext>
            </a:extLst>
          </p:cNvPr>
          <p:cNvGraphicFramePr>
            <a:graphicFrameLocks noChangeAspect="1"/>
          </p:cNvGraphicFramePr>
          <p:nvPr/>
        </p:nvGraphicFramePr>
        <p:xfrm>
          <a:off x="4848225" y="4495800"/>
          <a:ext cx="3013075" cy="468313"/>
        </p:xfrm>
        <a:graphic>
          <a:graphicData uri="http://schemas.openxmlformats.org/presentationml/2006/ole">
            <mc:AlternateContent xmlns:mc="http://schemas.openxmlformats.org/markup-compatibility/2006">
              <mc:Choice xmlns:v="urn:schemas-microsoft-com:vml" Requires="v">
                <p:oleObj name="Equation" r:id="rId19" imgW="2451100" imgH="393700" progId="Equation.DSMT4">
                  <p:embed/>
                </p:oleObj>
              </mc:Choice>
              <mc:Fallback>
                <p:oleObj name="Equation" r:id="rId19" imgW="2451100" imgH="393700" progId="Equation.DSMT4">
                  <p:embed/>
                  <p:pic>
                    <p:nvPicPr>
                      <p:cNvPr id="0" name="17 Objeto"/>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48225" y="4495800"/>
                        <a:ext cx="30130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CuadroTexto 1">
            <a:extLst>
              <a:ext uri="{FF2B5EF4-FFF2-40B4-BE49-F238E27FC236}">
                <a16:creationId xmlns:a16="http://schemas.microsoft.com/office/drawing/2014/main" id="{28D1BC12-CBE7-4EA0-B4CC-456A7E668883}"/>
              </a:ext>
            </a:extLst>
          </p:cNvPr>
          <p:cNvSpPr txBox="1"/>
          <p:nvPr/>
        </p:nvSpPr>
        <p:spPr>
          <a:xfrm>
            <a:off x="9144000" y="4676001"/>
            <a:ext cx="3834832" cy="276999"/>
          </a:xfrm>
          <a:prstGeom prst="rect">
            <a:avLst/>
          </a:prstGeom>
          <a:noFill/>
        </p:spPr>
        <p:txBody>
          <a:bodyPr wrap="none" rtlCol="0">
            <a:spAutoFit/>
          </a:bodyPr>
          <a:lstStyle/>
          <a:p>
            <a:r>
              <a:rPr lang="es-ES" dirty="0">
                <a:solidFill>
                  <a:srgbClr val="FF0000"/>
                </a:solidFill>
              </a:rPr>
              <a:t>Test equivalente al de 1 proporción, ver aptes Antonio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FAB1556E-4E1E-4885-AAD2-E4E1D697D7DE}"/>
              </a:ext>
            </a:extLst>
          </p:cNvPr>
          <p:cNvSpPr txBox="1">
            <a:spLocks noChangeArrowheads="1"/>
          </p:cNvSpPr>
          <p:nvPr/>
        </p:nvSpPr>
        <p:spPr bwMode="auto">
          <a:xfrm>
            <a:off x="19050" y="301625"/>
            <a:ext cx="4737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Apareadas</a:t>
            </a:r>
            <a:endParaRPr lang="es-ES" altLang="es-ES" sz="1400" b="1"/>
          </a:p>
        </p:txBody>
      </p:sp>
      <p:sp>
        <p:nvSpPr>
          <p:cNvPr id="24579" name="16 CuadroTexto">
            <a:extLst>
              <a:ext uri="{FF2B5EF4-FFF2-40B4-BE49-F238E27FC236}">
                <a16:creationId xmlns:a16="http://schemas.microsoft.com/office/drawing/2014/main" id="{934DA2CF-6FA2-4EA8-B9DD-33B6723617B8}"/>
              </a:ext>
            </a:extLst>
          </p:cNvPr>
          <p:cNvSpPr txBox="1">
            <a:spLocks noChangeArrowheads="1"/>
          </p:cNvSpPr>
          <p:nvPr/>
        </p:nvSpPr>
        <p:spPr bwMode="auto">
          <a:xfrm>
            <a:off x="93663" y="685800"/>
            <a:ext cx="4505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5. Estadístico de contraste y nivel de significación </a:t>
            </a:r>
          </a:p>
        </p:txBody>
      </p:sp>
      <p:graphicFrame>
        <p:nvGraphicFramePr>
          <p:cNvPr id="24580" name="9 Objeto">
            <a:extLst>
              <a:ext uri="{FF2B5EF4-FFF2-40B4-BE49-F238E27FC236}">
                <a16:creationId xmlns:a16="http://schemas.microsoft.com/office/drawing/2014/main" id="{08454E73-2267-474E-8CB1-616FE5B17E4A}"/>
              </a:ext>
            </a:extLst>
          </p:cNvPr>
          <p:cNvGraphicFramePr>
            <a:graphicFrameLocks noChangeAspect="1"/>
          </p:cNvGraphicFramePr>
          <p:nvPr/>
        </p:nvGraphicFramePr>
        <p:xfrm>
          <a:off x="457200" y="1143000"/>
          <a:ext cx="3863975" cy="660400"/>
        </p:xfrm>
        <a:graphic>
          <a:graphicData uri="http://schemas.openxmlformats.org/presentationml/2006/ole">
            <mc:AlternateContent xmlns:mc="http://schemas.openxmlformats.org/markup-compatibility/2006">
              <mc:Choice xmlns:v="urn:schemas-microsoft-com:vml" Requires="v">
                <p:oleObj name="Equation" r:id="rId3" imgW="2717800" imgH="482600" progId="Equation.DSMT4">
                  <p:embed/>
                </p:oleObj>
              </mc:Choice>
              <mc:Fallback>
                <p:oleObj name="Equation" r:id="rId3" imgW="2717800" imgH="482600" progId="Equation.DSMT4">
                  <p:embed/>
                  <p:pic>
                    <p:nvPicPr>
                      <p:cNvPr id="0" name="9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143000"/>
                        <a:ext cx="38639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1" name="9 Objeto">
            <a:extLst>
              <a:ext uri="{FF2B5EF4-FFF2-40B4-BE49-F238E27FC236}">
                <a16:creationId xmlns:a16="http://schemas.microsoft.com/office/drawing/2014/main" id="{196727D1-B4A3-4940-AA5C-D5E4EB36D615}"/>
              </a:ext>
            </a:extLst>
          </p:cNvPr>
          <p:cNvGraphicFramePr>
            <a:graphicFrameLocks noChangeAspect="1"/>
          </p:cNvGraphicFramePr>
          <p:nvPr/>
        </p:nvGraphicFramePr>
        <p:xfrm>
          <a:off x="4913313" y="1600200"/>
          <a:ext cx="1411287" cy="179388"/>
        </p:xfrm>
        <a:graphic>
          <a:graphicData uri="http://schemas.openxmlformats.org/presentationml/2006/ole">
            <mc:AlternateContent xmlns:mc="http://schemas.openxmlformats.org/markup-compatibility/2006">
              <mc:Choice xmlns:v="urn:schemas-microsoft-com:vml" Requires="v">
                <p:oleObj name="Equation" r:id="rId5" imgW="1167893" imgH="152334" progId="Equation.DSMT4">
                  <p:embed/>
                </p:oleObj>
              </mc:Choice>
              <mc:Fallback>
                <p:oleObj name="Equation" r:id="rId5" imgW="1167893" imgH="152334" progId="Equation.DSMT4">
                  <p:embed/>
                  <p:pic>
                    <p:nvPicPr>
                      <p:cNvPr id="0" name="9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3313" y="1600200"/>
                        <a:ext cx="141128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2" name="9 Objeto">
            <a:extLst>
              <a:ext uri="{FF2B5EF4-FFF2-40B4-BE49-F238E27FC236}">
                <a16:creationId xmlns:a16="http://schemas.microsoft.com/office/drawing/2014/main" id="{A036EA0B-31DB-42AB-868B-D55D0E11A310}"/>
              </a:ext>
            </a:extLst>
          </p:cNvPr>
          <p:cNvGraphicFramePr>
            <a:graphicFrameLocks noChangeAspect="1"/>
          </p:cNvGraphicFramePr>
          <p:nvPr/>
        </p:nvGraphicFramePr>
        <p:xfrm>
          <a:off x="5005388" y="1339850"/>
          <a:ext cx="1228725" cy="215900"/>
        </p:xfrm>
        <a:graphic>
          <a:graphicData uri="http://schemas.openxmlformats.org/presentationml/2006/ole">
            <mc:AlternateContent xmlns:mc="http://schemas.openxmlformats.org/markup-compatibility/2006">
              <mc:Choice xmlns:v="urn:schemas-microsoft-com:vml" Requires="v">
                <p:oleObj name="Equation" r:id="rId7" imgW="977476" imgH="177723" progId="Equation.DSMT4">
                  <p:embed/>
                </p:oleObj>
              </mc:Choice>
              <mc:Fallback>
                <p:oleObj name="Equation" r:id="rId7" imgW="977476" imgH="177723" progId="Equation.DSMT4">
                  <p:embed/>
                  <p:pic>
                    <p:nvPicPr>
                      <p:cNvPr id="0" name="9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5388" y="1339850"/>
                        <a:ext cx="12287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8 CuadroTexto">
            <a:extLst>
              <a:ext uri="{FF2B5EF4-FFF2-40B4-BE49-F238E27FC236}">
                <a16:creationId xmlns:a16="http://schemas.microsoft.com/office/drawing/2014/main" id="{8B543A01-86FE-4D33-B094-ACE86E5A5854}"/>
              </a:ext>
            </a:extLst>
          </p:cNvPr>
          <p:cNvSpPr txBox="1">
            <a:spLocks noChangeArrowheads="1"/>
          </p:cNvSpPr>
          <p:nvPr/>
        </p:nvSpPr>
        <p:spPr bwMode="auto">
          <a:xfrm>
            <a:off x="285750" y="1990725"/>
            <a:ext cx="6877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No puede aceptar la homogeneidad de las dos terapias. A una se responde más que a la otra (la probabilidad de error implícita en esta afirmación es menor al 3%):</a:t>
            </a:r>
          </a:p>
        </p:txBody>
      </p:sp>
      <p:graphicFrame>
        <p:nvGraphicFramePr>
          <p:cNvPr id="24584" name="2 Objeto">
            <a:extLst>
              <a:ext uri="{FF2B5EF4-FFF2-40B4-BE49-F238E27FC236}">
                <a16:creationId xmlns:a16="http://schemas.microsoft.com/office/drawing/2014/main" id="{8CF91B04-7035-4952-9184-A7D535C7BCAD}"/>
              </a:ext>
            </a:extLst>
          </p:cNvPr>
          <p:cNvGraphicFramePr>
            <a:graphicFrameLocks noChangeAspect="1"/>
          </p:cNvGraphicFramePr>
          <p:nvPr/>
        </p:nvGraphicFramePr>
        <p:xfrm>
          <a:off x="381000" y="2609850"/>
          <a:ext cx="1030288" cy="573088"/>
        </p:xfrm>
        <a:graphic>
          <a:graphicData uri="http://schemas.openxmlformats.org/presentationml/2006/ole">
            <mc:AlternateContent xmlns:mc="http://schemas.openxmlformats.org/markup-compatibility/2006">
              <mc:Choice xmlns:v="urn:schemas-microsoft-com:vml" Requires="v">
                <p:oleObj name="Equation" r:id="rId9" imgW="837836" imgH="482391" progId="Equation.DSMT4">
                  <p:embed/>
                </p:oleObj>
              </mc:Choice>
              <mc:Fallback>
                <p:oleObj name="Equation" r:id="rId9" imgW="837836" imgH="482391" progId="Equation.DSMT4">
                  <p:embed/>
                  <p:pic>
                    <p:nvPicPr>
                      <p:cNvPr id="0" name="2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609850"/>
                        <a:ext cx="10302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4585" name="4 Conector recto de flecha">
            <a:extLst>
              <a:ext uri="{FF2B5EF4-FFF2-40B4-BE49-F238E27FC236}">
                <a16:creationId xmlns:a16="http://schemas.microsoft.com/office/drawing/2014/main" id="{27DCD6B6-6C5C-4922-B8E5-4363B8B0A8D3}"/>
              </a:ext>
            </a:extLst>
          </p:cNvPr>
          <p:cNvCxnSpPr>
            <a:cxnSpLocks noChangeShapeType="1"/>
          </p:cNvCxnSpPr>
          <p:nvPr/>
        </p:nvCxnSpPr>
        <p:spPr bwMode="auto">
          <a:xfrm>
            <a:off x="1600200" y="3048000"/>
            <a:ext cx="2286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6" name="8 CuadroTexto">
            <a:extLst>
              <a:ext uri="{FF2B5EF4-FFF2-40B4-BE49-F238E27FC236}">
                <a16:creationId xmlns:a16="http://schemas.microsoft.com/office/drawing/2014/main" id="{33938680-2739-4FFD-BD60-3EC827854F77}"/>
              </a:ext>
            </a:extLst>
          </p:cNvPr>
          <p:cNvSpPr txBox="1">
            <a:spLocks noChangeArrowheads="1"/>
          </p:cNvSpPr>
          <p:nvPr/>
        </p:nvSpPr>
        <p:spPr bwMode="auto">
          <a:xfrm>
            <a:off x="1885950" y="2886075"/>
            <a:ext cx="5867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A la terapia B se responde en mayor proporción que a la A</a:t>
            </a:r>
          </a:p>
        </p:txBody>
      </p:sp>
      <p:cxnSp>
        <p:nvCxnSpPr>
          <p:cNvPr id="24587" name="23 Conector recto de flecha">
            <a:extLst>
              <a:ext uri="{FF2B5EF4-FFF2-40B4-BE49-F238E27FC236}">
                <a16:creationId xmlns:a16="http://schemas.microsoft.com/office/drawing/2014/main" id="{D938BAC9-535A-4143-9C15-F196378F165B}"/>
              </a:ext>
            </a:extLst>
          </p:cNvPr>
          <p:cNvCxnSpPr>
            <a:cxnSpLocks noChangeShapeType="1"/>
          </p:cNvCxnSpPr>
          <p:nvPr/>
        </p:nvCxnSpPr>
        <p:spPr bwMode="auto">
          <a:xfrm>
            <a:off x="4495800" y="1447800"/>
            <a:ext cx="3429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4588" name="6 Objeto">
            <a:extLst>
              <a:ext uri="{FF2B5EF4-FFF2-40B4-BE49-F238E27FC236}">
                <a16:creationId xmlns:a16="http://schemas.microsoft.com/office/drawing/2014/main" id="{BCD3F1D4-2E21-4663-94B4-7D616787364B}"/>
              </a:ext>
            </a:extLst>
          </p:cNvPr>
          <p:cNvGraphicFramePr>
            <a:graphicFrameLocks noChangeAspect="1"/>
          </p:cNvGraphicFramePr>
          <p:nvPr/>
        </p:nvGraphicFramePr>
        <p:xfrm>
          <a:off x="5313363" y="1781175"/>
          <a:ext cx="609600" cy="165100"/>
        </p:xfrm>
        <a:graphic>
          <a:graphicData uri="http://schemas.openxmlformats.org/presentationml/2006/ole">
            <mc:AlternateContent xmlns:mc="http://schemas.openxmlformats.org/markup-compatibility/2006">
              <mc:Choice xmlns:v="urn:schemas-microsoft-com:vml" Requires="v">
                <p:oleObj name="Equation" r:id="rId11" imgW="609336" imgH="165028" progId="Equation.DSMT4">
                  <p:embed/>
                </p:oleObj>
              </mc:Choice>
              <mc:Fallback>
                <p:oleObj name="Equation" r:id="rId11" imgW="609336" imgH="165028" progId="Equation.DSMT4">
                  <p:embed/>
                  <p:pic>
                    <p:nvPicPr>
                      <p:cNvPr id="0" name="6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3363" y="1781175"/>
                        <a:ext cx="60960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9" name="16 CuadroTexto">
            <a:extLst>
              <a:ext uri="{FF2B5EF4-FFF2-40B4-BE49-F238E27FC236}">
                <a16:creationId xmlns:a16="http://schemas.microsoft.com/office/drawing/2014/main" id="{485BE839-339E-4E34-B2F1-6E7D943D7AB7}"/>
              </a:ext>
            </a:extLst>
          </p:cNvPr>
          <p:cNvSpPr txBox="1">
            <a:spLocks noChangeArrowheads="1"/>
          </p:cNvSpPr>
          <p:nvPr/>
        </p:nvSpPr>
        <p:spPr bwMode="auto">
          <a:xfrm>
            <a:off x="93663" y="3425825"/>
            <a:ext cx="83645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6. Estimación de la diferencia de porcentajes (efecto diferencial de la terapia B respecto a la A)</a:t>
            </a:r>
          </a:p>
        </p:txBody>
      </p:sp>
      <p:graphicFrame>
        <p:nvGraphicFramePr>
          <p:cNvPr id="24590" name="9 Objeto">
            <a:extLst>
              <a:ext uri="{FF2B5EF4-FFF2-40B4-BE49-F238E27FC236}">
                <a16:creationId xmlns:a16="http://schemas.microsoft.com/office/drawing/2014/main" id="{FBE4A10F-BDA0-47B7-83E1-69F9E27741F1}"/>
              </a:ext>
            </a:extLst>
          </p:cNvPr>
          <p:cNvGraphicFramePr>
            <a:graphicFrameLocks noChangeAspect="1"/>
          </p:cNvGraphicFramePr>
          <p:nvPr/>
        </p:nvGraphicFramePr>
        <p:xfrm>
          <a:off x="379413" y="3886200"/>
          <a:ext cx="5000625" cy="677863"/>
        </p:xfrm>
        <a:graphic>
          <a:graphicData uri="http://schemas.openxmlformats.org/presentationml/2006/ole">
            <mc:AlternateContent xmlns:mc="http://schemas.openxmlformats.org/markup-compatibility/2006">
              <mc:Choice xmlns:v="urn:schemas-microsoft-com:vml" Requires="v">
                <p:oleObj name="Equation" r:id="rId13" imgW="3517900" imgH="495300" progId="Equation.DSMT4">
                  <p:embed/>
                </p:oleObj>
              </mc:Choice>
              <mc:Fallback>
                <p:oleObj name="Equation" r:id="rId13" imgW="3517900" imgH="495300" progId="Equation.DSMT4">
                  <p:embed/>
                  <p:pic>
                    <p:nvPicPr>
                      <p:cNvPr id="0" name="9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9413" y="3886200"/>
                        <a:ext cx="5000625"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1" name="9 Objeto">
            <a:extLst>
              <a:ext uri="{FF2B5EF4-FFF2-40B4-BE49-F238E27FC236}">
                <a16:creationId xmlns:a16="http://schemas.microsoft.com/office/drawing/2014/main" id="{586A4F54-2308-46EA-BBD7-0A5015C9DEE2}"/>
              </a:ext>
            </a:extLst>
          </p:cNvPr>
          <p:cNvGraphicFramePr>
            <a:graphicFrameLocks noChangeAspect="1"/>
          </p:cNvGraphicFramePr>
          <p:nvPr/>
        </p:nvGraphicFramePr>
        <p:xfrm>
          <a:off x="379413" y="5105400"/>
          <a:ext cx="4964112" cy="347663"/>
        </p:xfrm>
        <a:graphic>
          <a:graphicData uri="http://schemas.openxmlformats.org/presentationml/2006/ole">
            <mc:AlternateContent xmlns:mc="http://schemas.openxmlformats.org/markup-compatibility/2006">
              <mc:Choice xmlns:v="urn:schemas-microsoft-com:vml" Requires="v">
                <p:oleObj name="Equation" r:id="rId15" imgW="3492500" imgH="254000" progId="Equation.DSMT4">
                  <p:embed/>
                </p:oleObj>
              </mc:Choice>
              <mc:Fallback>
                <p:oleObj name="Equation" r:id="rId15" imgW="3492500" imgH="254000" progId="Equation.DSMT4">
                  <p:embed/>
                  <p:pic>
                    <p:nvPicPr>
                      <p:cNvPr id="0" name="9 Objeto"/>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413" y="5105400"/>
                        <a:ext cx="496411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92" name="8 CuadroTexto">
            <a:extLst>
              <a:ext uri="{FF2B5EF4-FFF2-40B4-BE49-F238E27FC236}">
                <a16:creationId xmlns:a16="http://schemas.microsoft.com/office/drawing/2014/main" id="{85009D10-966F-4AC3-B154-7E3C23FAFBE3}"/>
              </a:ext>
            </a:extLst>
          </p:cNvPr>
          <p:cNvSpPr txBox="1">
            <a:spLocks noChangeArrowheads="1"/>
          </p:cNvSpPr>
          <p:nvPr/>
        </p:nvSpPr>
        <p:spPr bwMode="auto">
          <a:xfrm>
            <a:off x="304800" y="4648200"/>
            <a:ext cx="5867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Para un nivel de confianza del 95% (</a:t>
            </a:r>
            <a:r>
              <a:rPr lang="es-ES" altLang="es-ES" sz="1600" i="1">
                <a:latin typeface="Times New Roman" panose="02020603050405020304" pitchFamily="18" charset="0"/>
                <a:cs typeface="Times New Roman" panose="02020603050405020304" pitchFamily="18" charset="0"/>
              </a:rPr>
              <a:t>z</a:t>
            </a:r>
            <a:r>
              <a:rPr lang="es-ES" altLang="es-ES" sz="1600" baseline="-25000">
                <a:latin typeface="Symbol" panose="05050102010706020507" pitchFamily="18" charset="2"/>
              </a:rPr>
              <a:t>a</a:t>
            </a:r>
            <a:r>
              <a:rPr lang="es-ES" altLang="es-ES" sz="1400"/>
              <a:t>=1.96)</a:t>
            </a:r>
          </a:p>
        </p:txBody>
      </p:sp>
      <p:sp>
        <p:nvSpPr>
          <p:cNvPr id="24593" name="8 CuadroTexto">
            <a:extLst>
              <a:ext uri="{FF2B5EF4-FFF2-40B4-BE49-F238E27FC236}">
                <a16:creationId xmlns:a16="http://schemas.microsoft.com/office/drawing/2014/main" id="{5168C1E5-454C-4FBE-B036-EDDA9A6BA0EA}"/>
              </a:ext>
            </a:extLst>
          </p:cNvPr>
          <p:cNvSpPr txBox="1">
            <a:spLocks noChangeArrowheads="1"/>
          </p:cNvSpPr>
          <p:nvPr/>
        </p:nvSpPr>
        <p:spPr bwMode="auto">
          <a:xfrm>
            <a:off x="5524500" y="4114800"/>
            <a:ext cx="2933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sz="1400"/>
              <a:t>(método de Agresti-Min)</a:t>
            </a:r>
          </a:p>
        </p:txBody>
      </p:sp>
      <p:sp>
        <p:nvSpPr>
          <p:cNvPr id="24594" name="8 CuadroTexto">
            <a:extLst>
              <a:ext uri="{FF2B5EF4-FFF2-40B4-BE49-F238E27FC236}">
                <a16:creationId xmlns:a16="http://schemas.microsoft.com/office/drawing/2014/main" id="{9BFBA216-0AD3-4B88-85F6-7E890B9B51DA}"/>
              </a:ext>
            </a:extLst>
          </p:cNvPr>
          <p:cNvSpPr txBox="1">
            <a:spLocks noChangeArrowheads="1"/>
          </p:cNvSpPr>
          <p:nvPr/>
        </p:nvSpPr>
        <p:spPr bwMode="auto">
          <a:xfrm>
            <a:off x="304800" y="5661025"/>
            <a:ext cx="85344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La terapia B tiene mayor respuesta positiva que la A, puntualmente la diferencia es de un 9.5% de pacientes que responden a la B más que a la A. Con un 95% de confianza, esta diferencia es un valor superior al 1.66% e inferior al 17.39%</a:t>
            </a:r>
          </a:p>
        </p:txBody>
      </p:sp>
      <p:sp>
        <p:nvSpPr>
          <p:cNvPr id="24595" name="8 CuadroTexto">
            <a:extLst>
              <a:ext uri="{FF2B5EF4-FFF2-40B4-BE49-F238E27FC236}">
                <a16:creationId xmlns:a16="http://schemas.microsoft.com/office/drawing/2014/main" id="{805EC5D4-FF81-4D85-9A30-D91507934C70}"/>
              </a:ext>
            </a:extLst>
          </p:cNvPr>
          <p:cNvSpPr txBox="1">
            <a:spLocks noChangeArrowheads="1"/>
          </p:cNvSpPr>
          <p:nvPr/>
        </p:nvSpPr>
        <p:spPr bwMode="auto">
          <a:xfrm>
            <a:off x="5524500" y="4648200"/>
            <a:ext cx="3238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Obsérvese que como se ha rechazado la hipótesis de que los dos porcentajes sean homogéneos (iguales), la diferencia=“cero” no está contenida en el intervalo</a:t>
            </a:r>
          </a:p>
        </p:txBody>
      </p:sp>
      <p:sp>
        <p:nvSpPr>
          <p:cNvPr id="24596" name="7 Rectángulo redondeado">
            <a:extLst>
              <a:ext uri="{FF2B5EF4-FFF2-40B4-BE49-F238E27FC236}">
                <a16:creationId xmlns:a16="http://schemas.microsoft.com/office/drawing/2014/main" id="{6E03CB89-5CA5-4607-B2AB-A4D93E3343C8}"/>
              </a:ext>
            </a:extLst>
          </p:cNvPr>
          <p:cNvSpPr>
            <a:spLocks noChangeArrowheads="1"/>
          </p:cNvSpPr>
          <p:nvPr/>
        </p:nvSpPr>
        <p:spPr bwMode="auto">
          <a:xfrm>
            <a:off x="5486400" y="4629150"/>
            <a:ext cx="3352800" cy="874713"/>
          </a:xfrm>
          <a:prstGeom prst="roundRect">
            <a:avLst>
              <a:gd name="adj" fmla="val 10347"/>
            </a:avLst>
          </a:prstGeom>
          <a:noFill/>
          <a:ln w="9525" algn="ctr">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graphicFrame>
        <p:nvGraphicFramePr>
          <p:cNvPr id="24597" name="1 Objeto">
            <a:extLst>
              <a:ext uri="{FF2B5EF4-FFF2-40B4-BE49-F238E27FC236}">
                <a16:creationId xmlns:a16="http://schemas.microsoft.com/office/drawing/2014/main" id="{0017772C-A5A0-4A94-AE3D-682584C71E03}"/>
              </a:ext>
            </a:extLst>
          </p:cNvPr>
          <p:cNvGraphicFramePr>
            <a:graphicFrameLocks noChangeAspect="1"/>
          </p:cNvGraphicFramePr>
          <p:nvPr/>
        </p:nvGraphicFramePr>
        <p:xfrm>
          <a:off x="6400800" y="685800"/>
          <a:ext cx="2763838" cy="1339850"/>
        </p:xfrm>
        <a:graphic>
          <a:graphicData uri="http://schemas.openxmlformats.org/presentationml/2006/ole">
            <mc:AlternateContent xmlns:mc="http://schemas.openxmlformats.org/markup-compatibility/2006">
              <mc:Choice xmlns:v="urn:schemas-microsoft-com:vml" Requires="v">
                <p:oleObj name="Equation" r:id="rId17" imgW="2374560" imgH="1193760" progId="Equation.DSMT4">
                  <p:embed/>
                </p:oleObj>
              </mc:Choice>
              <mc:Fallback>
                <p:oleObj name="Equation" r:id="rId17" imgW="2374560" imgH="1193760" progId="Equation.DSMT4">
                  <p:embed/>
                  <p:pic>
                    <p:nvPicPr>
                      <p:cNvPr id="0" name="1 Objet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00800" y="685800"/>
                        <a:ext cx="276383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s-ES" altLang="es-E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s-ES" altLang="es-ES" sz="1200" b="0" i="0" u="none" strike="noStrike" cap="none" normalizeH="0" baseline="0" smtClean="0">
            <a:ln>
              <a:noFill/>
            </a:ln>
            <a:solidFill>
              <a:schemeClr val="tx1"/>
            </a:solidFill>
            <a:effectLst/>
            <a:latin typeface="Arial" charset="0"/>
          </a:defRPr>
        </a:defPPr>
      </a:lstStyle>
    </a:lnDef>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4297</TotalTime>
  <Words>1885</Words>
  <Application>Microsoft Macintosh PowerPoint</Application>
  <PresentationFormat>On-screen Show (4:3)</PresentationFormat>
  <Paragraphs>154</Paragraphs>
  <Slides>12</Slides>
  <Notes>12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7" baseType="lpstr">
      <vt:lpstr>Arial</vt:lpstr>
      <vt:lpstr>Symbol</vt:lpstr>
      <vt:lpstr>Times New Roman</vt:lpstr>
      <vt:lpstr>Diseño predeterminado</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Porto Alegre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Pedro Femia</dc:creator>
  <cp:lastModifiedBy>Miguel-Angel  Luque</cp:lastModifiedBy>
  <cp:revision>224</cp:revision>
  <cp:lastPrinted>2013-11-29T10:26:16Z</cp:lastPrinted>
  <dcterms:created xsi:type="dcterms:W3CDTF">2012-06-20T17:39:24Z</dcterms:created>
  <dcterms:modified xsi:type="dcterms:W3CDTF">2023-08-18T11:06:25Z</dcterms:modified>
</cp:coreProperties>
</file>